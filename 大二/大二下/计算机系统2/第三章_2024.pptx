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vml" ContentType="application/vnd.openxmlformats-officedocument.vmlDrawing"/>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9" r:id="rId2"/>
  </p:sldMasterIdLst>
  <p:notesMasterIdLst>
    <p:notesMasterId r:id="rId260"/>
  </p:notesMasterIdLst>
  <p:sldIdLst>
    <p:sldId id="318" r:id="rId3"/>
    <p:sldId id="295" r:id="rId4"/>
    <p:sldId id="294" r:id="rId5"/>
    <p:sldId id="266" r:id="rId6"/>
    <p:sldId id="273" r:id="rId7"/>
    <p:sldId id="274" r:id="rId8"/>
    <p:sldId id="322" r:id="rId9"/>
    <p:sldId id="330" r:id="rId10"/>
    <p:sldId id="325" r:id="rId11"/>
    <p:sldId id="320" r:id="rId12"/>
    <p:sldId id="327" r:id="rId13"/>
    <p:sldId id="329" r:id="rId14"/>
    <p:sldId id="365" r:id="rId15"/>
    <p:sldId id="364" r:id="rId16"/>
    <p:sldId id="358" r:id="rId17"/>
    <p:sldId id="562" r:id="rId18"/>
    <p:sldId id="361" r:id="rId19"/>
    <p:sldId id="362" r:id="rId20"/>
    <p:sldId id="363" r:id="rId21"/>
    <p:sldId id="366" r:id="rId22"/>
    <p:sldId id="563" r:id="rId23"/>
    <p:sldId id="566" r:id="rId24"/>
    <p:sldId id="564" r:id="rId25"/>
    <p:sldId id="565" r:id="rId26"/>
    <p:sldId id="267" r:id="rId27"/>
    <p:sldId id="369" r:id="rId28"/>
    <p:sldId id="370" r:id="rId29"/>
    <p:sldId id="371" r:id="rId30"/>
    <p:sldId id="396" r:id="rId31"/>
    <p:sldId id="398" r:id="rId32"/>
    <p:sldId id="568" r:id="rId33"/>
    <p:sldId id="399" r:id="rId34"/>
    <p:sldId id="458" r:id="rId35"/>
    <p:sldId id="459" r:id="rId36"/>
    <p:sldId id="429" r:id="rId37"/>
    <p:sldId id="400" r:id="rId38"/>
    <p:sldId id="402" r:id="rId39"/>
    <p:sldId id="403" r:id="rId40"/>
    <p:sldId id="401" r:id="rId41"/>
    <p:sldId id="424" r:id="rId42"/>
    <p:sldId id="425" r:id="rId43"/>
    <p:sldId id="426" r:id="rId44"/>
    <p:sldId id="427" r:id="rId45"/>
    <p:sldId id="428" r:id="rId46"/>
    <p:sldId id="488" r:id="rId47"/>
    <p:sldId id="489" r:id="rId48"/>
    <p:sldId id="508" r:id="rId49"/>
    <p:sldId id="509" r:id="rId50"/>
    <p:sldId id="510" r:id="rId51"/>
    <p:sldId id="573" r:id="rId52"/>
    <p:sldId id="512" r:id="rId53"/>
    <p:sldId id="574" r:id="rId54"/>
    <p:sldId id="575" r:id="rId55"/>
    <p:sldId id="576" r:id="rId56"/>
    <p:sldId id="569" r:id="rId57"/>
    <p:sldId id="570" r:id="rId58"/>
    <p:sldId id="571" r:id="rId59"/>
    <p:sldId id="572" r:id="rId60"/>
    <p:sldId id="319" r:id="rId61"/>
    <p:sldId id="567" r:id="rId62"/>
    <p:sldId id="577" r:id="rId63"/>
    <p:sldId id="578" r:id="rId64"/>
    <p:sldId id="579" r:id="rId65"/>
    <p:sldId id="580" r:id="rId66"/>
    <p:sldId id="628" r:id="rId67"/>
    <p:sldId id="629" r:id="rId68"/>
    <p:sldId id="630" r:id="rId69"/>
    <p:sldId id="631" r:id="rId70"/>
    <p:sldId id="632" r:id="rId71"/>
    <p:sldId id="633" r:id="rId72"/>
    <p:sldId id="634" r:id="rId73"/>
    <p:sldId id="635" r:id="rId74"/>
    <p:sldId id="636" r:id="rId75"/>
    <p:sldId id="637" r:id="rId76"/>
    <p:sldId id="638" r:id="rId77"/>
    <p:sldId id="639" r:id="rId78"/>
    <p:sldId id="640" r:id="rId79"/>
    <p:sldId id="641" r:id="rId80"/>
    <p:sldId id="642" r:id="rId81"/>
    <p:sldId id="643" r:id="rId82"/>
    <p:sldId id="644" r:id="rId83"/>
    <p:sldId id="645" r:id="rId84"/>
    <p:sldId id="646" r:id="rId85"/>
    <p:sldId id="647" r:id="rId86"/>
    <p:sldId id="649" r:id="rId87"/>
    <p:sldId id="648" r:id="rId88"/>
    <p:sldId id="650" r:id="rId89"/>
    <p:sldId id="651" r:id="rId90"/>
    <p:sldId id="652" r:id="rId91"/>
    <p:sldId id="653" r:id="rId92"/>
    <p:sldId id="672" r:id="rId93"/>
    <p:sldId id="674" r:id="rId94"/>
    <p:sldId id="673" r:id="rId95"/>
    <p:sldId id="675" r:id="rId96"/>
    <p:sldId id="676" r:id="rId97"/>
    <p:sldId id="677" r:id="rId98"/>
    <p:sldId id="678" r:id="rId99"/>
    <p:sldId id="679" r:id="rId100"/>
    <p:sldId id="698" r:id="rId101"/>
    <p:sldId id="699" r:id="rId102"/>
    <p:sldId id="700" r:id="rId103"/>
    <p:sldId id="701" r:id="rId104"/>
    <p:sldId id="702" r:id="rId105"/>
    <p:sldId id="703" r:id="rId106"/>
    <p:sldId id="704" r:id="rId107"/>
    <p:sldId id="705" r:id="rId108"/>
    <p:sldId id="716" r:id="rId109"/>
    <p:sldId id="706" r:id="rId110"/>
    <p:sldId id="707" r:id="rId111"/>
    <p:sldId id="708" r:id="rId112"/>
    <p:sldId id="709" r:id="rId113"/>
    <p:sldId id="710" r:id="rId114"/>
    <p:sldId id="711" r:id="rId115"/>
    <p:sldId id="712" r:id="rId116"/>
    <p:sldId id="713" r:id="rId117"/>
    <p:sldId id="717" r:id="rId118"/>
    <p:sldId id="743" r:id="rId119"/>
    <p:sldId id="744" r:id="rId120"/>
    <p:sldId id="746" r:id="rId121"/>
    <p:sldId id="747" r:id="rId122"/>
    <p:sldId id="748" r:id="rId123"/>
    <p:sldId id="749" r:id="rId124"/>
    <p:sldId id="750" r:id="rId125"/>
    <p:sldId id="751" r:id="rId126"/>
    <p:sldId id="752" r:id="rId127"/>
    <p:sldId id="753" r:id="rId128"/>
    <p:sldId id="755" r:id="rId129"/>
    <p:sldId id="745" r:id="rId130"/>
    <p:sldId id="757" r:id="rId131"/>
    <p:sldId id="758" r:id="rId132"/>
    <p:sldId id="759" r:id="rId133"/>
    <p:sldId id="768" r:id="rId134"/>
    <p:sldId id="769" r:id="rId135"/>
    <p:sldId id="763" r:id="rId136"/>
    <p:sldId id="764" r:id="rId137"/>
    <p:sldId id="765" r:id="rId138"/>
    <p:sldId id="766" r:id="rId139"/>
    <p:sldId id="767" r:id="rId140"/>
    <p:sldId id="770" r:id="rId141"/>
    <p:sldId id="756" r:id="rId142"/>
    <p:sldId id="771" r:id="rId143"/>
    <p:sldId id="772" r:id="rId144"/>
    <p:sldId id="773" r:id="rId145"/>
    <p:sldId id="774" r:id="rId146"/>
    <p:sldId id="775" r:id="rId147"/>
    <p:sldId id="776" r:id="rId148"/>
    <p:sldId id="800" r:id="rId149"/>
    <p:sldId id="801" r:id="rId150"/>
    <p:sldId id="802" r:id="rId151"/>
    <p:sldId id="803" r:id="rId152"/>
    <p:sldId id="804" r:id="rId153"/>
    <p:sldId id="805" r:id="rId154"/>
    <p:sldId id="806" r:id="rId155"/>
    <p:sldId id="807" r:id="rId156"/>
    <p:sldId id="808" r:id="rId157"/>
    <p:sldId id="809" r:id="rId158"/>
    <p:sldId id="810" r:id="rId159"/>
    <p:sldId id="811" r:id="rId160"/>
    <p:sldId id="815" r:id="rId161"/>
    <p:sldId id="816" r:id="rId162"/>
    <p:sldId id="817" r:id="rId163"/>
    <p:sldId id="820" r:id="rId164"/>
    <p:sldId id="818" r:id="rId165"/>
    <p:sldId id="819" r:id="rId166"/>
    <p:sldId id="821" r:id="rId167"/>
    <p:sldId id="822" r:id="rId168"/>
    <p:sldId id="824" r:id="rId169"/>
    <p:sldId id="825" r:id="rId170"/>
    <p:sldId id="812" r:id="rId171"/>
    <p:sldId id="813" r:id="rId172"/>
    <p:sldId id="814" r:id="rId173"/>
    <p:sldId id="826" r:id="rId174"/>
    <p:sldId id="827" r:id="rId175"/>
    <p:sldId id="831" r:id="rId176"/>
    <p:sldId id="830" r:id="rId177"/>
    <p:sldId id="828" r:id="rId178"/>
    <p:sldId id="829" r:id="rId179"/>
    <p:sldId id="832" r:id="rId180"/>
    <p:sldId id="833" r:id="rId181"/>
    <p:sldId id="834" r:id="rId182"/>
    <p:sldId id="835" r:id="rId183"/>
    <p:sldId id="857" r:id="rId184"/>
    <p:sldId id="858" r:id="rId185"/>
    <p:sldId id="859" r:id="rId186"/>
    <p:sldId id="860" r:id="rId187"/>
    <p:sldId id="861" r:id="rId188"/>
    <p:sldId id="862" r:id="rId189"/>
    <p:sldId id="863" r:id="rId190"/>
    <p:sldId id="864" r:id="rId191"/>
    <p:sldId id="865" r:id="rId192"/>
    <p:sldId id="866" r:id="rId193"/>
    <p:sldId id="867" r:id="rId194"/>
    <p:sldId id="868" r:id="rId195"/>
    <p:sldId id="869" r:id="rId196"/>
    <p:sldId id="870" r:id="rId197"/>
    <p:sldId id="871" r:id="rId198"/>
    <p:sldId id="872" r:id="rId199"/>
    <p:sldId id="873" r:id="rId200"/>
    <p:sldId id="874" r:id="rId201"/>
    <p:sldId id="875" r:id="rId202"/>
    <p:sldId id="876" r:id="rId203"/>
    <p:sldId id="877" r:id="rId204"/>
    <p:sldId id="878" r:id="rId205"/>
    <p:sldId id="879" r:id="rId206"/>
    <p:sldId id="880" r:id="rId207"/>
    <p:sldId id="881" r:id="rId208"/>
    <p:sldId id="943" r:id="rId209"/>
    <p:sldId id="944" r:id="rId210"/>
    <p:sldId id="945" r:id="rId211"/>
    <p:sldId id="946" r:id="rId212"/>
    <p:sldId id="947" r:id="rId213"/>
    <p:sldId id="948" r:id="rId214"/>
    <p:sldId id="949" r:id="rId215"/>
    <p:sldId id="882" r:id="rId216"/>
    <p:sldId id="883" r:id="rId217"/>
    <p:sldId id="884" r:id="rId218"/>
    <p:sldId id="885" r:id="rId219"/>
    <p:sldId id="886" r:id="rId220"/>
    <p:sldId id="887" r:id="rId221"/>
    <p:sldId id="888" r:id="rId222"/>
    <p:sldId id="906" r:id="rId223"/>
    <p:sldId id="907" r:id="rId224"/>
    <p:sldId id="908" r:id="rId225"/>
    <p:sldId id="909" r:id="rId226"/>
    <p:sldId id="910" r:id="rId227"/>
    <p:sldId id="911" r:id="rId228"/>
    <p:sldId id="912" r:id="rId229"/>
    <p:sldId id="913" r:id="rId230"/>
    <p:sldId id="914" r:id="rId231"/>
    <p:sldId id="915" r:id="rId232"/>
    <p:sldId id="916" r:id="rId233"/>
    <p:sldId id="917" r:id="rId234"/>
    <p:sldId id="918" r:id="rId235"/>
    <p:sldId id="919" r:id="rId236"/>
    <p:sldId id="920" r:id="rId237"/>
    <p:sldId id="921" r:id="rId238"/>
    <p:sldId id="922" r:id="rId239"/>
    <p:sldId id="923" r:id="rId240"/>
    <p:sldId id="924" r:id="rId241"/>
    <p:sldId id="925" r:id="rId242"/>
    <p:sldId id="926" r:id="rId243"/>
    <p:sldId id="927" r:id="rId244"/>
    <p:sldId id="928" r:id="rId245"/>
    <p:sldId id="932" r:id="rId246"/>
    <p:sldId id="929" r:id="rId247"/>
    <p:sldId id="930" r:id="rId248"/>
    <p:sldId id="934" r:id="rId249"/>
    <p:sldId id="935" r:id="rId250"/>
    <p:sldId id="936" r:id="rId251"/>
    <p:sldId id="937" r:id="rId252"/>
    <p:sldId id="938" r:id="rId253"/>
    <p:sldId id="931" r:id="rId254"/>
    <p:sldId id="939" r:id="rId255"/>
    <p:sldId id="940" r:id="rId256"/>
    <p:sldId id="941" r:id="rId257"/>
    <p:sldId id="942" r:id="rId258"/>
    <p:sldId id="272" r:id="rId259"/>
  </p:sldIdLst>
  <p:sldSz cx="9144000" cy="6858000" type="screen4x3"/>
  <p:notesSz cx="6858000" cy="9144000"/>
  <p:defaultTex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1600" algn="l" defTabSz="913765" rtl="0" eaLnBrk="1" latinLnBrk="0" hangingPunct="1">
      <a:defRPr sz="1800" kern="1200">
        <a:solidFill>
          <a:schemeClr val="tx1"/>
        </a:solidFill>
        <a:latin typeface="+mn-lt"/>
        <a:ea typeface="+mn-ea"/>
        <a:cs typeface="+mn-cs"/>
      </a:defRPr>
    </a:lvl4pPr>
    <a:lvl5pPr marL="1828800" algn="l" defTabSz="913765" rtl="0" eaLnBrk="1" latinLnBrk="0" hangingPunct="1">
      <a:defRPr sz="1800" kern="1200">
        <a:solidFill>
          <a:schemeClr val="tx1"/>
        </a:solidFill>
        <a:latin typeface="+mn-lt"/>
        <a:ea typeface="+mn-ea"/>
        <a:cs typeface="+mn-cs"/>
      </a:defRPr>
    </a:lvl5pPr>
    <a:lvl6pPr marL="2286000" algn="l" defTabSz="913765" rtl="0" eaLnBrk="1" latinLnBrk="0" hangingPunct="1">
      <a:defRPr sz="1800" kern="1200">
        <a:solidFill>
          <a:schemeClr val="tx1"/>
        </a:solidFill>
        <a:latin typeface="+mn-lt"/>
        <a:ea typeface="+mn-ea"/>
        <a:cs typeface="+mn-cs"/>
      </a:defRPr>
    </a:lvl6pPr>
    <a:lvl7pPr marL="2743200" algn="l" defTabSz="913765" rtl="0" eaLnBrk="1" latinLnBrk="0" hangingPunct="1">
      <a:defRPr sz="1800" kern="1200">
        <a:solidFill>
          <a:schemeClr val="tx1"/>
        </a:solidFill>
        <a:latin typeface="+mn-lt"/>
        <a:ea typeface="+mn-ea"/>
        <a:cs typeface="+mn-cs"/>
      </a:defRPr>
    </a:lvl7pPr>
    <a:lvl8pPr marL="3200400" algn="l" defTabSz="913765" rtl="0" eaLnBrk="1" latinLnBrk="0" hangingPunct="1">
      <a:defRPr sz="1800" kern="1200">
        <a:solidFill>
          <a:schemeClr val="tx1"/>
        </a:solidFill>
        <a:latin typeface="+mn-lt"/>
        <a:ea typeface="+mn-ea"/>
        <a:cs typeface="+mn-cs"/>
      </a:defRPr>
    </a:lvl8pPr>
    <a:lvl9pPr marL="3657600" algn="l" defTabSz="913765"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p15:clr>
            <a:srgbClr val="A4A3A4"/>
          </p15:clr>
        </p15:guide>
        <p15:guide id="2" orient="horz" pos="464">
          <p15:clr>
            <a:srgbClr val="A4A3A4"/>
          </p15:clr>
        </p15:guide>
        <p15:guide id="3" orient="horz" pos="3894">
          <p15:clr>
            <a:srgbClr val="A4A3A4"/>
          </p15:clr>
        </p15:guide>
        <p15:guide id="4" pos="2880">
          <p15:clr>
            <a:srgbClr val="A4A3A4"/>
          </p15:clr>
        </p15:guide>
        <p15:guide id="5" pos="2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4DAD"/>
    <a:srgbClr val="E86914"/>
    <a:srgbClr val="FF0000"/>
    <a:srgbClr val="FF99CC"/>
    <a:srgbClr val="ED7D31"/>
    <a:srgbClr val="FCE9DD"/>
    <a:srgbClr val="F70000"/>
    <a:srgbClr val="549EBE"/>
    <a:srgbClr val="0070C0"/>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27" autoAdjust="0"/>
    <p:restoredTop sz="94303" autoAdjust="0"/>
  </p:normalViewPr>
  <p:slideViewPr>
    <p:cSldViewPr snapToGrid="0" snapToObjects="1">
      <p:cViewPr varScale="1">
        <p:scale>
          <a:sx n="80" d="100"/>
          <a:sy n="80" d="100"/>
        </p:scale>
        <p:origin x="1296" y="58"/>
      </p:cViewPr>
      <p:guideLst>
        <p:guide orient="horz" pos="2448"/>
        <p:guide orient="horz" pos="464"/>
        <p:guide orient="horz" pos="3894"/>
        <p:guide pos="2880"/>
        <p:guide pos="225"/>
      </p:guideLst>
    </p:cSldViewPr>
  </p:slideViewPr>
  <p:notesTextViewPr>
    <p:cViewPr>
      <p:scale>
        <a:sx n="1" d="1"/>
        <a:sy n="1" d="1"/>
      </p:scale>
      <p:origin x="0" y="0"/>
    </p:cViewPr>
  </p:notesTextViewPr>
  <p:sorterViewPr>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63" Type="http://schemas.openxmlformats.org/officeDocument/2006/relationships/slide" Target="slides/slide61.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205" Type="http://schemas.openxmlformats.org/officeDocument/2006/relationships/slide" Target="slides/slide203.xml"/><Relationship Id="rId226" Type="http://schemas.openxmlformats.org/officeDocument/2006/relationships/slide" Target="slides/slide224.xml"/><Relationship Id="rId247" Type="http://schemas.openxmlformats.org/officeDocument/2006/relationships/slide" Target="slides/slide245.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58" Type="http://schemas.openxmlformats.org/officeDocument/2006/relationships/slide" Target="slides/slide256.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notesMaster" Target="notesMasters/notesMaster1.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50" Type="http://schemas.openxmlformats.org/officeDocument/2006/relationships/slide" Target="slides/slide248.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261" Type="http://schemas.openxmlformats.org/officeDocument/2006/relationships/presProps" Target="presProps.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slide" Target="slides/slide228.xml"/><Relationship Id="rId251" Type="http://schemas.openxmlformats.org/officeDocument/2006/relationships/slide" Target="slides/slide249.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262" Type="http://schemas.openxmlformats.org/officeDocument/2006/relationships/viewProps" Target="viewProps.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theme" Target="theme/theme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tableStyles" Target="tableStyle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slide" Target="slides/slide253.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256" Type="http://schemas.openxmlformats.org/officeDocument/2006/relationships/slide" Target="slides/slide254.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slide" Target="slides/slide244.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42" Type="http://schemas.openxmlformats.org/officeDocument/2006/relationships/slide" Target="slides/slide40.xml"/><Relationship Id="rId84" Type="http://schemas.openxmlformats.org/officeDocument/2006/relationships/slide" Target="slides/slide82.xml"/><Relationship Id="rId138" Type="http://schemas.openxmlformats.org/officeDocument/2006/relationships/slide" Target="slides/slide13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2024/6/27</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921904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23987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106646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9676462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0443494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4047304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20202782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73</a:t>
            </a:fld>
            <a:endParaRPr lang="zh-CN" altLang="en-US"/>
          </a:p>
        </p:txBody>
      </p:sp>
    </p:spTree>
    <p:extLst>
      <p:ext uri="{BB962C8B-B14F-4D97-AF65-F5344CB8AC3E}">
        <p14:creationId xmlns:p14="http://schemas.microsoft.com/office/powerpoint/2010/main" val="30640033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1517305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8346464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3103801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A6837353-30EB-4A48-80EB-173D804AEFBD}" type="slidenum">
              <a:rPr lang="zh-CN" altLang="en-US" smtClean="0"/>
              <a:t>252</a:t>
            </a:fld>
            <a:endParaRPr lang="zh-CN" altLang="en-US"/>
          </a:p>
        </p:txBody>
      </p:sp>
    </p:spTree>
    <p:extLst>
      <p:ext uri="{BB962C8B-B14F-4D97-AF65-F5344CB8AC3E}">
        <p14:creationId xmlns:p14="http://schemas.microsoft.com/office/powerpoint/2010/main" val="2246124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pic>
        <p:nvPicPr>
          <p:cNvPr id="3" name="图片 2"/>
          <p:cNvPicPr>
            <a:picLocks noChangeAspect="1"/>
          </p:cNvPicPr>
          <p:nvPr userDrawn="1"/>
        </p:nvPicPr>
        <p:blipFill rotWithShape="1">
          <a:blip r:embed="rId2"/>
          <a:srcRect l="61489" t="25058" r="12143" b="25081"/>
          <a:stretch>
            <a:fillRect/>
          </a:stretch>
        </p:blipFill>
        <p:spPr>
          <a:xfrm>
            <a:off x="2911736" y="1181451"/>
            <a:ext cx="3371328" cy="4495104"/>
          </a:xfrm>
          <a:prstGeom prst="ellipse">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文本占位符 7"/>
          <p:cNvSpPr>
            <a:spLocks noGrp="1"/>
          </p:cNvSpPr>
          <p:nvPr>
            <p:ph type="body" sz="quarter" idx="10" hasCustomPrompt="1"/>
          </p:nvPr>
        </p:nvSpPr>
        <p:spPr>
          <a:xfrm>
            <a:off x="494253" y="258233"/>
            <a:ext cx="3651088" cy="529569"/>
          </a:xfrm>
          <a:prstGeom prst="rect">
            <a:avLst/>
          </a:prstGeom>
          <a:ln w="12700" cmpd="sng">
            <a:solidFill>
              <a:schemeClr val="tx1"/>
            </a:solidFill>
          </a:ln>
        </p:spPr>
        <p:txBody>
          <a:bodyPr vert="horz" anchor="ctr"/>
          <a:lstStyle>
            <a:lvl1pPr marL="0" indent="0" algn="l">
              <a:buNone/>
              <a:defRPr sz="2400" b="1">
                <a:latin typeface="Segoe UI Light" panose="020B0502040204020203" charset="0"/>
                <a:ea typeface="Segoe UI Light" panose="020B0502040204020203" charset="0"/>
                <a:cs typeface="Segoe UI Light" panose="020B0502040204020203" charset="0"/>
              </a:defRPr>
            </a:lvl1pPr>
          </a:lstStyle>
          <a:p>
            <a:pPr lvl="0"/>
            <a:r>
              <a:rPr kumimoji="1" lang="en-US" altLang="zh-CN" dirty="0"/>
              <a:t>CLICK</a:t>
            </a:r>
            <a:r>
              <a:rPr kumimoji="1" lang="zh-CN" altLang="en-US" dirty="0"/>
              <a:t> </a:t>
            </a:r>
            <a:r>
              <a:rPr kumimoji="1" lang="en-US" altLang="zh-CN" dirty="0"/>
              <a:t>HERE</a:t>
            </a:r>
            <a:r>
              <a:rPr kumimoji="1" lang="zh-CN" altLang="en-US" dirty="0"/>
              <a:t> </a:t>
            </a:r>
            <a:r>
              <a:rPr kumimoji="1" lang="en-US" altLang="zh-CN" dirty="0"/>
              <a:t>TO</a:t>
            </a:r>
            <a:r>
              <a:rPr kumimoji="1" lang="zh-CN" altLang="en-US" dirty="0"/>
              <a:t> </a:t>
            </a:r>
            <a:r>
              <a:rPr kumimoji="1" lang="en-US" altLang="zh-CN" dirty="0"/>
              <a:t>ADD</a:t>
            </a:r>
            <a:r>
              <a:rPr kumimoji="1" lang="zh-CN" altLang="en-US" dirty="0"/>
              <a:t> </a:t>
            </a:r>
            <a:r>
              <a:rPr kumimoji="1" lang="en-US" altLang="zh-CN" dirty="0"/>
              <a:t>YOUR</a:t>
            </a:r>
            <a:r>
              <a:rPr kumimoji="1" lang="zh-CN" altLang="en-US" dirty="0"/>
              <a:t> </a:t>
            </a:r>
            <a:r>
              <a:rPr kumimoji="1" lang="en-US" altLang="zh-CN" dirty="0"/>
              <a:t>TITLE</a:t>
            </a:r>
            <a:endParaRPr kumimoji="1" lang="zh-CN" altLang="en-US" dirty="0"/>
          </a:p>
        </p:txBody>
      </p:sp>
      <p:sp>
        <p:nvSpPr>
          <p:cNvPr id="3" name="文本占位符 7"/>
          <p:cNvSpPr>
            <a:spLocks noGrp="1"/>
          </p:cNvSpPr>
          <p:nvPr>
            <p:ph type="body" sz="quarter" idx="13" hasCustomPrompt="1"/>
          </p:nvPr>
        </p:nvSpPr>
        <p:spPr>
          <a:xfrm>
            <a:off x="8539944" y="171547"/>
            <a:ext cx="604056" cy="616255"/>
          </a:xfrm>
          <a:prstGeom prst="rect">
            <a:avLst/>
          </a:prstGeom>
          <a:solidFill>
            <a:schemeClr val="tx1"/>
          </a:solidFill>
        </p:spPr>
        <p:txBody>
          <a:bodyPr vert="horz" anchor="ctr"/>
          <a:lstStyle>
            <a:lvl1pPr marL="0" indent="0" algn="ctr">
              <a:buNone/>
              <a:defRPr sz="2400" b="1">
                <a:solidFill>
                  <a:srgbClr val="FFFFFF"/>
                </a:solidFill>
                <a:latin typeface="Segoe UI Light" panose="020B0502040204020203" charset="0"/>
                <a:ea typeface="Segoe UI Light" panose="020B0502040204020203" charset="0"/>
                <a:cs typeface="Segoe UI Light" panose="020B0502040204020203" charset="0"/>
              </a:defRPr>
            </a:lvl1pPr>
          </a:lstStyle>
          <a:p>
            <a:pPr lvl="0"/>
            <a:r>
              <a:rPr kumimoji="1" lang="en-US" altLang="zh-CN" dirty="0"/>
              <a:t>01</a:t>
            </a:r>
            <a:endParaRPr kumimoji="1" lang="zh-CN" altLang="en-US" dirty="0"/>
          </a:p>
        </p:txBody>
      </p:sp>
      <p:sp>
        <p:nvSpPr>
          <p:cNvPr id="4" name="图片占位符 8"/>
          <p:cNvSpPr>
            <a:spLocks noGrp="1"/>
          </p:cNvSpPr>
          <p:nvPr>
            <p:ph type="pic" sz="quarter" idx="14" hasCustomPrompt="1"/>
          </p:nvPr>
        </p:nvSpPr>
        <p:spPr>
          <a:xfrm>
            <a:off x="282576" y="5989475"/>
            <a:ext cx="1470025" cy="533400"/>
          </a:xfrm>
          <a:prstGeom prst="rect">
            <a:avLst/>
          </a:prstGeom>
        </p:spPr>
        <p:txBody>
          <a:bodyPr vert="horz" anchor="ctr"/>
          <a:lstStyle>
            <a:lvl1pPr marL="0" indent="0" algn="ctr">
              <a:buNone/>
              <a:defRPr sz="1600" b="1">
                <a:latin typeface="Segoe UI Light" panose="020B0502040204020203" charset="0"/>
                <a:ea typeface="Segoe UI Light" panose="020B0502040204020203" charset="0"/>
                <a:cs typeface="Segoe UI Light" panose="020B0502040204020203" charset="0"/>
              </a:defRPr>
            </a:lvl1pPr>
          </a:lstStyle>
          <a:p>
            <a:r>
              <a:rPr kumimoji="1" lang="en-US" altLang="zh-CN" sz="1600" b="1" dirty="0"/>
              <a:t>LOGO&amp;PIC</a:t>
            </a:r>
            <a:r>
              <a:rPr kumimoji="1" lang="zh-CN" altLang="en-US" sz="1600" b="1" dirty="0"/>
              <a:t> </a:t>
            </a:r>
            <a:r>
              <a:rPr kumimoji="1" lang="en-US" altLang="zh-CN" sz="1600" b="1" dirty="0"/>
              <a:t>HERE</a:t>
            </a:r>
            <a:endParaRPr kumimoji="1"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4" name="矩形 3"/>
          <p:cNvSpPr/>
          <p:nvPr userDrawn="1"/>
        </p:nvSpPr>
        <p:spPr>
          <a:xfrm>
            <a:off x="330452" y="759873"/>
            <a:ext cx="1211580" cy="299085"/>
          </a:xfrm>
          <a:prstGeom prst="rect">
            <a:avLst/>
          </a:prstGeom>
        </p:spPr>
        <p:txBody>
          <a:bodyPr wrap="none">
            <a:spAutoFit/>
          </a:bodyPr>
          <a:lstStyle/>
          <a:p>
            <a:pPr defTabSz="608965"/>
            <a:r>
              <a:rPr lang="zh-CN" altLang="en-US" sz="1350" dirty="0">
                <a:solidFill>
                  <a:schemeClr val="tx1">
                    <a:lumMod val="75000"/>
                    <a:lumOff val="25000"/>
                  </a:schemeClr>
                </a:solidFill>
                <a:latin typeface="Segoe UI Light" panose="020B0502040204020203"/>
                <a:ea typeface="微软雅黑" panose="020B0503020204020204" charset="-122"/>
                <a:cs typeface="Segoe UI Light" panose="020B0502040204020203"/>
              </a:rPr>
              <a:t>背景图片素材</a:t>
            </a:r>
          </a:p>
        </p:txBody>
      </p:sp>
      <p:sp>
        <p:nvSpPr>
          <p:cNvPr id="5" name="矩形 4"/>
          <p:cNvSpPr/>
          <p:nvPr userDrawn="1"/>
        </p:nvSpPr>
        <p:spPr>
          <a:xfrm>
            <a:off x="330452" y="182445"/>
            <a:ext cx="622935" cy="206375"/>
          </a:xfrm>
          <a:prstGeom prst="rect">
            <a:avLst/>
          </a:prstGeom>
        </p:spPr>
        <p:txBody>
          <a:bodyPr wrap="none">
            <a:spAutoFit/>
          </a:bodyPr>
          <a:lstStyle/>
          <a:p>
            <a:pPr defTabSz="608965"/>
            <a:r>
              <a:rPr kumimoji="1" lang="en-US" altLang="zh-CN" sz="750" dirty="0">
                <a:solidFill>
                  <a:schemeClr val="tx1">
                    <a:lumMod val="75000"/>
                    <a:lumOff val="25000"/>
                  </a:schemeClr>
                </a:solidFill>
                <a:latin typeface="Segoe UI Light" panose="020B0502040204020203"/>
                <a:ea typeface="微软雅黑" panose="020B0503020204020204" charset="-122"/>
                <a:cs typeface="Segoe UI Light" panose="020B0502040204020203"/>
              </a:rPr>
              <a:t>OfficePLUS</a:t>
            </a:r>
            <a:endParaRPr lang="zh-CN" altLang="en-US" sz="750" dirty="0">
              <a:solidFill>
                <a:schemeClr val="tx1">
                  <a:lumMod val="75000"/>
                  <a:lumOff val="25000"/>
                </a:schemeClr>
              </a:solidFill>
              <a:latin typeface="Segoe UI Light" panose="020B0502040204020203"/>
              <a:ea typeface="微软雅黑" panose="020B0503020204020204" charset="-122"/>
              <a:cs typeface="Segoe UI Light" panose="020B0502040204020203"/>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188913"/>
            <a:ext cx="8229600" cy="561975"/>
          </a:xfrm>
        </p:spPr>
        <p:txBody>
          <a:bodyPr/>
          <a:lstStyle/>
          <a:p>
            <a:r>
              <a:rPr lang="zh-CN" altLang="en-US"/>
              <a:t>单击此处编辑母版标题样式</a:t>
            </a:r>
          </a:p>
        </p:txBody>
      </p:sp>
      <p:sp>
        <p:nvSpPr>
          <p:cNvPr id="3" name="内容占位符 2"/>
          <p:cNvSpPr>
            <a:spLocks noGrp="1"/>
          </p:cNvSpPr>
          <p:nvPr>
            <p:ph idx="1"/>
          </p:nvPr>
        </p:nvSpPr>
        <p:spPr>
          <a:xfrm>
            <a:off x="468313" y="836613"/>
            <a:ext cx="8229600" cy="5218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xfrm>
            <a:off x="457200" y="6245225"/>
            <a:ext cx="2133600" cy="476250"/>
          </a:xfr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245225"/>
            <a:ext cx="2133600" cy="476250"/>
          </a:xfrm>
        </p:spPr>
        <p:txBody>
          <a:bodyPr/>
          <a:lstStyle>
            <a:lvl1pPr>
              <a:defRPr/>
            </a:lvl1pPr>
          </a:lstStyle>
          <a:p>
            <a:pPr>
              <a:defRPr/>
            </a:pPr>
            <a:fld id="{6EE72959-4F3B-4C06-B980-320D7CB24F5B}"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457200" y="6245225"/>
            <a:ext cx="2133600" cy="476250"/>
          </a:xfrm>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xfrm>
            <a:off x="6553200" y="6245225"/>
            <a:ext cx="2133600" cy="476250"/>
          </a:xfrm>
        </p:spPr>
        <p:txBody>
          <a:bodyPr/>
          <a:lstStyle>
            <a:lvl1pPr>
              <a:defRPr/>
            </a:lvl1pPr>
          </a:lstStyle>
          <a:p>
            <a:pPr>
              <a:defRPr/>
            </a:pPr>
            <a:fld id="{F59B7ADE-09CB-4B03-B47F-5531046C8C21}"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097870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50"/>
            <a:ext cx="9152483" cy="6851650"/>
          </a:xfrm>
          <a:prstGeom prst="rect">
            <a:avLst/>
          </a:prstGeom>
        </p:spPr>
      </p:pic>
    </p:spTree>
    <p:extLst>
      <p:ext uri="{BB962C8B-B14F-4D97-AF65-F5344CB8AC3E}">
        <p14:creationId xmlns:p14="http://schemas.microsoft.com/office/powerpoint/2010/main" val="7472295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6350"/>
            <a:ext cx="9152483" cy="6851650"/>
          </a:xfrm>
          <a:prstGeom prst="rect">
            <a:avLst/>
          </a:prstGeom>
        </p:spPr>
      </p:pic>
      <p:sp>
        <p:nvSpPr>
          <p:cNvPr id="3" name="等腰三角形 2"/>
          <p:cNvSpPr/>
          <p:nvPr userDrawn="1"/>
        </p:nvSpPr>
        <p:spPr>
          <a:xfrm>
            <a:off x="8483" y="2805698"/>
            <a:ext cx="9144000" cy="4052303"/>
          </a:xfrm>
          <a:prstGeom prst="triangle">
            <a:avLst>
              <a:gd name="adj" fmla="val 100000"/>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
        <p:nvSpPr>
          <p:cNvPr id="4" name="等腰三角形 3"/>
          <p:cNvSpPr/>
          <p:nvPr userDrawn="1"/>
        </p:nvSpPr>
        <p:spPr>
          <a:xfrm>
            <a:off x="0" y="1"/>
            <a:ext cx="9144000" cy="6857999"/>
          </a:xfrm>
          <a:prstGeom prst="triangle">
            <a:avLst>
              <a:gd name="adj" fmla="val 0"/>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Tree>
    <p:extLst>
      <p:ext uri="{BB962C8B-B14F-4D97-AF65-F5344CB8AC3E}">
        <p14:creationId xmlns:p14="http://schemas.microsoft.com/office/powerpoint/2010/main" val="154923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_标题幻灯片">
    <p:bg>
      <p:bgPr>
        <a:solidFill>
          <a:schemeClr val="accent2">
            <a:lumMod val="50000"/>
            <a:alpha val="85000"/>
          </a:schemeClr>
        </a:solidFill>
        <a:effectLst/>
      </p:bgPr>
    </p:bg>
    <p:spTree>
      <p:nvGrpSpPr>
        <p:cNvPr id="1" name=""/>
        <p:cNvGrpSpPr/>
        <p:nvPr/>
      </p:nvGrpSpPr>
      <p:grpSpPr>
        <a:xfrm>
          <a:off x="0" y="0"/>
          <a:ext cx="0" cy="0"/>
          <a:chOff x="0" y="0"/>
          <a:chExt cx="0" cy="0"/>
        </a:xfrm>
      </p:grpSpPr>
      <p:sp>
        <p:nvSpPr>
          <p:cNvPr id="2" name="等腰三角形 1"/>
          <p:cNvSpPr/>
          <p:nvPr userDrawn="1"/>
        </p:nvSpPr>
        <p:spPr>
          <a:xfrm>
            <a:off x="8483" y="2805698"/>
            <a:ext cx="9144000" cy="4052303"/>
          </a:xfrm>
          <a:prstGeom prst="triangle">
            <a:avLst>
              <a:gd name="adj" fmla="val 100000"/>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
        <p:nvSpPr>
          <p:cNvPr id="3" name="等腰三角形 2"/>
          <p:cNvSpPr/>
          <p:nvPr userDrawn="1"/>
        </p:nvSpPr>
        <p:spPr>
          <a:xfrm>
            <a:off x="0" y="1"/>
            <a:ext cx="9144000" cy="6857999"/>
          </a:xfrm>
          <a:prstGeom prst="triangle">
            <a:avLst>
              <a:gd name="adj" fmla="val 0"/>
            </a:avLst>
          </a:prstGeom>
          <a:solidFill>
            <a:schemeClr val="accent2">
              <a:lumMod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ea typeface="微软雅黑" panose="020B0503020204020204" pitchFamily="34" charset="-122"/>
            </a:endParaRPr>
          </a:p>
        </p:txBody>
      </p:sp>
    </p:spTree>
    <p:extLst>
      <p:ext uri="{BB962C8B-B14F-4D97-AF65-F5344CB8AC3E}">
        <p14:creationId xmlns:p14="http://schemas.microsoft.com/office/powerpoint/2010/main" val="32246412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标题幻灯片">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0" y="133741"/>
            <a:ext cx="9144000"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
        <p:nvSpPr>
          <p:cNvPr id="3" name="矩形 2"/>
          <p:cNvSpPr/>
          <p:nvPr userDrawn="1"/>
        </p:nvSpPr>
        <p:spPr>
          <a:xfrm>
            <a:off x="0" y="6120883"/>
            <a:ext cx="9144000"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Tree>
    <p:extLst>
      <p:ext uri="{BB962C8B-B14F-4D97-AF65-F5344CB8AC3E}">
        <p14:creationId xmlns:p14="http://schemas.microsoft.com/office/powerpoint/2010/main" val="1526953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3_标题幻灯片">
    <p:bg>
      <p:bgPr>
        <a:pattFill prst="dotGrid">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4" name="矩形 3"/>
          <p:cNvSpPr/>
          <p:nvPr userDrawn="1"/>
        </p:nvSpPr>
        <p:spPr>
          <a:xfrm>
            <a:off x="1" y="133741"/>
            <a:ext cx="312821" cy="597160"/>
          </a:xfrm>
          <a:prstGeom prst="rect">
            <a:avLst/>
          </a:prstGeom>
          <a:solidFill>
            <a:schemeClr val="accent2">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
        <p:nvSpPr>
          <p:cNvPr id="3" name="矩形 2"/>
          <p:cNvSpPr/>
          <p:nvPr userDrawn="1"/>
        </p:nvSpPr>
        <p:spPr>
          <a:xfrm>
            <a:off x="445168" y="133741"/>
            <a:ext cx="8698832" cy="597160"/>
          </a:xfrm>
          <a:prstGeom prst="rect">
            <a:avLst/>
          </a:prstGeom>
          <a:solidFill>
            <a:schemeClr val="bg1">
              <a:alpha val="85098"/>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dirty="0">
              <a:ea typeface="微软雅黑" panose="020B0503020204020204" pitchFamily="34" charset="-122"/>
            </a:endParaRPr>
          </a:p>
        </p:txBody>
      </p:sp>
    </p:spTree>
    <p:extLst>
      <p:ext uri="{BB962C8B-B14F-4D97-AF65-F5344CB8AC3E}">
        <p14:creationId xmlns:p14="http://schemas.microsoft.com/office/powerpoint/2010/main" val="38097714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28650" y="6356351"/>
            <a:ext cx="2057400" cy="365125"/>
          </a:xfrm>
        </p:spPr>
        <p:txBody>
          <a:bodyPr/>
          <a:lstStyle/>
          <a:p>
            <a:fld id="{82F288E0-7875-42C4-84C8-98DBBD3BF4D2}" type="datetimeFigureOut">
              <a:rPr lang="zh-CN" altLang="en-US" smtClean="0"/>
              <a:t>2024/6/27</a:t>
            </a:fld>
            <a:endParaRPr lang="zh-CN" altLang="en-US"/>
          </a:p>
        </p:txBody>
      </p:sp>
      <p:sp>
        <p:nvSpPr>
          <p:cNvPr id="3" name="页脚占位符 2"/>
          <p:cNvSpPr>
            <a:spLocks noGrp="1"/>
          </p:cNvSpPr>
          <p:nvPr>
            <p:ph type="ftr" sz="quarter" idx="11"/>
          </p:nvPr>
        </p:nvSpPr>
        <p:spPr>
          <a:xfrm>
            <a:off x="3028950" y="6356351"/>
            <a:ext cx="3086100" cy="365125"/>
          </a:xfrm>
        </p:spPr>
        <p:txBody>
          <a:bodyPr/>
          <a:lstStyle/>
          <a:p>
            <a:endParaRPr lang="zh-CN" altLang="en-US"/>
          </a:p>
        </p:txBody>
      </p:sp>
      <p:sp>
        <p:nvSpPr>
          <p:cNvPr id="4" name="灯片编号占位符 3"/>
          <p:cNvSpPr>
            <a:spLocks noGrp="1"/>
          </p:cNvSpPr>
          <p:nvPr>
            <p:ph type="sldNum" sz="quarter" idx="12"/>
          </p:nvPr>
        </p:nvSpPr>
        <p:spPr>
          <a:xfrm>
            <a:off x="6457950" y="6356351"/>
            <a:ext cx="2057400" cy="365125"/>
          </a:xfrm>
        </p:spPr>
        <p:txBody>
          <a:bodyPr/>
          <a:lstStyle/>
          <a:p>
            <a:fld id="{7D9BB5D0-35E4-459D-AEF3-FE4D7C45CC19}" type="slidenum">
              <a:rPr lang="zh-CN" altLang="en-US" smtClean="0"/>
              <a:t>‹#›</a:t>
            </a:fld>
            <a:endParaRPr lang="zh-CN" altLang="en-US"/>
          </a:p>
        </p:txBody>
      </p:sp>
    </p:spTree>
    <p:extLst>
      <p:ext uri="{BB962C8B-B14F-4D97-AF65-F5344CB8AC3E}">
        <p14:creationId xmlns:p14="http://schemas.microsoft.com/office/powerpoint/2010/main" val="3149394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187626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7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5.xml"/><Relationship Id="rId1" Type="http://schemas.openxmlformats.org/officeDocument/2006/relationships/vmlDrawing" Target="../drawings/vmlDrawing1.vml"/><Relationship Id="rId4" Type="http://schemas.openxmlformats.org/officeDocument/2006/relationships/image" Target="../media/image32.png"/></Relationships>
</file>

<file path=ppt/slides/_rels/slide236.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4.xml"/><Relationship Id="rId1" Type="http://schemas.openxmlformats.org/officeDocument/2006/relationships/vmlDrawing" Target="../drawings/vmlDrawing2.vml"/><Relationship Id="rId4" Type="http://schemas.openxmlformats.org/officeDocument/2006/relationships/image" Target="../media/image32.png"/></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4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2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2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2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2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2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622616" y="1386595"/>
            <a:ext cx="3877985" cy="646331"/>
          </a:xfrm>
          <a:prstGeom prst="rect">
            <a:avLst/>
          </a:prstGeom>
          <a:noFill/>
        </p:spPr>
        <p:txBody>
          <a:bodyPr wrap="none" rtlCol="0">
            <a:spAutoFit/>
          </a:bodyPr>
          <a:lstStyle/>
          <a:p>
            <a:pPr algn="ctr" defTabSz="685324"/>
            <a:r>
              <a:rPr kumimoji="1" lang="zh-CN" altLang="en-US" sz="36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rPr>
              <a:t>计算机与软件学院</a:t>
            </a:r>
          </a:p>
        </p:txBody>
      </p:sp>
      <p:sp>
        <p:nvSpPr>
          <p:cNvPr id="3" name="文本框 2"/>
          <p:cNvSpPr txBox="1"/>
          <p:nvPr/>
        </p:nvSpPr>
        <p:spPr>
          <a:xfrm>
            <a:off x="85062" y="2069909"/>
            <a:ext cx="8953092" cy="923330"/>
          </a:xfrm>
          <a:prstGeom prst="rect">
            <a:avLst/>
          </a:prstGeom>
          <a:solidFill>
            <a:schemeClr val="accent2">
              <a:alpha val="90000"/>
            </a:schemeClr>
          </a:solidFill>
          <a:ln>
            <a:noFill/>
          </a:ln>
        </p:spPr>
        <p:txBody>
          <a:bodyPr wrap="none" rtlCol="0">
            <a:spAutoFit/>
          </a:bodyPr>
          <a:lstStyle/>
          <a:p>
            <a:r>
              <a:rPr lang="en-US" altLang="zh-CN" sz="5400" b="1" dirty="0">
                <a:solidFill>
                  <a:srgbClr val="2B2E30"/>
                </a:solidFill>
                <a:sym typeface="+mn-ea"/>
              </a:rPr>
              <a:t>chapter3.</a:t>
            </a:r>
            <a:r>
              <a:rPr lang="zh-CN" altLang="en-US" sz="5400" dirty="0">
                <a:sym typeface="+mn-ea"/>
              </a:rPr>
              <a:t>程序的机器级表示</a:t>
            </a:r>
            <a:endParaRPr lang="en-US" altLang="zh-CN" sz="5400" b="1" dirty="0"/>
          </a:p>
        </p:txBody>
      </p:sp>
      <p:sp>
        <p:nvSpPr>
          <p:cNvPr id="4" name="文本框 3"/>
          <p:cNvSpPr txBox="1"/>
          <p:nvPr/>
        </p:nvSpPr>
        <p:spPr>
          <a:xfrm>
            <a:off x="3122753" y="2993239"/>
            <a:ext cx="2877711" cy="415498"/>
          </a:xfrm>
          <a:prstGeom prst="rect">
            <a:avLst/>
          </a:prstGeom>
          <a:noFill/>
        </p:spPr>
        <p:txBody>
          <a:bodyPr wrap="none" rtlCol="0">
            <a:spAutoFit/>
          </a:bodyPr>
          <a:lstStyle/>
          <a:p>
            <a:pPr algn="ctr" defTabSz="685324"/>
            <a:r>
              <a:rPr kumimoji="1" lang="en-US" altLang="zh-CN" sz="21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rPr>
              <a:t>《</a:t>
            </a:r>
            <a:r>
              <a:rPr kumimoji="1" lang="zh-CN" altLang="en-US" sz="21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rPr>
              <a:t>计算机系统（二）</a:t>
            </a:r>
            <a:r>
              <a:rPr kumimoji="1" lang="en-US" altLang="zh-CN" sz="21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rPr>
              <a:t>》</a:t>
            </a:r>
            <a:endParaRPr kumimoji="1" lang="zh-CN" altLang="en-US" sz="2100" b="1" dirty="0">
              <a:solidFill>
                <a:srgbClr val="7E4460">
                  <a:lumMod val="50000"/>
                </a:srgbClr>
              </a:solidFill>
              <a:latin typeface="Century Gothic" panose="020B0502020202020204" pitchFamily="34" charset="0"/>
              <a:ea typeface="微软雅黑" panose="020B0503020204020204" pitchFamily="34" charset="-122"/>
              <a:cs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椭圆 34"/>
          <p:cNvSpPr/>
          <p:nvPr/>
        </p:nvSpPr>
        <p:spPr>
          <a:xfrm rot="5400000" flipV="1">
            <a:off x="7589520" y="3390265"/>
            <a:ext cx="1069340" cy="1381760"/>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gradFill>
            <a:gsLst>
              <a:gs pos="0">
                <a:schemeClr val="accent6">
                  <a:lumMod val="60000"/>
                  <a:lumOff val="40000"/>
                </a:schemeClr>
              </a:gs>
              <a:gs pos="100000">
                <a:srgbClr val="DF664A"/>
              </a:gs>
            </a:gsLst>
            <a:lin ang="81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nvGrpSpPr>
          <p:cNvPr id="44" name="组合 43"/>
          <p:cNvGrpSpPr/>
          <p:nvPr/>
        </p:nvGrpSpPr>
        <p:grpSpPr>
          <a:xfrm rot="5400000">
            <a:off x="685800" y="1146810"/>
            <a:ext cx="885825" cy="1577975"/>
            <a:chOff x="4020870" y="2194485"/>
            <a:chExt cx="1102258" cy="1432090"/>
          </a:xfrm>
          <a:effectLst>
            <a:outerShdw blurRad="444500" dist="254000" dir="8100000" algn="tr" rotWithShape="0">
              <a:prstClr val="black">
                <a:alpha val="50000"/>
              </a:prstClr>
            </a:outerShdw>
          </a:effectLst>
        </p:grpSpPr>
        <p:sp>
          <p:nvSpPr>
            <p:cNvPr id="45"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chemeClr val="bg1"/>
                </a:gs>
                <a:gs pos="55000">
                  <a:schemeClr val="bg1">
                    <a:lumMod val="95000"/>
                  </a:schemeClr>
                </a:gs>
                <a:gs pos="100000">
                  <a:schemeClr val="bg1">
                    <a:lumMod val="6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2"/>
                </a:solidFill>
                <a:cs typeface="+mn-ea"/>
              </a:endParaRPr>
            </a:p>
          </p:txBody>
        </p:sp>
        <p:sp>
          <p:nvSpPr>
            <p:cNvPr id="47"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chemeClr val="bg1"/>
                </a:gs>
                <a:gs pos="43000">
                  <a:schemeClr val="bg1">
                    <a:lumMod val="95000"/>
                  </a:schemeClr>
                </a:gs>
                <a:gs pos="100000">
                  <a:schemeClr val="bg1">
                    <a:lumMod val="75000"/>
                  </a:schemeClr>
                </a:gs>
              </a:gsLst>
              <a:lin ang="14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2"/>
                </a:solidFill>
                <a:cs typeface="+mn-ea"/>
              </a:endParaRPr>
            </a:p>
          </p:txBody>
        </p:sp>
      </p:grpSp>
      <p:grpSp>
        <p:nvGrpSpPr>
          <p:cNvPr id="22" name="组合 21"/>
          <p:cNvGrpSpPr/>
          <p:nvPr/>
        </p:nvGrpSpPr>
        <p:grpSpPr>
          <a:xfrm>
            <a:off x="2040255" y="1032510"/>
            <a:ext cx="6860540" cy="1730375"/>
            <a:chOff x="4304043" y="1286668"/>
            <a:chExt cx="3837944" cy="2757793"/>
          </a:xfrm>
          <a:effectLst>
            <a:outerShdw blurRad="381000" dist="254000" dir="8100000" algn="tr" rotWithShape="0">
              <a:prstClr val="black">
                <a:alpha val="40000"/>
              </a:prstClr>
            </a:outerShdw>
          </a:effectLst>
        </p:grpSpPr>
        <p:sp>
          <p:nvSpPr>
            <p:cNvPr id="23" name="圆角矩形 22"/>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2"/>
                </a:solidFill>
                <a:cs typeface="+mn-ea"/>
              </a:endParaRPr>
            </a:p>
          </p:txBody>
        </p:sp>
        <p:sp>
          <p:nvSpPr>
            <p:cNvPr id="29" name="圆角矩形 28"/>
            <p:cNvSpPr/>
            <p:nvPr/>
          </p:nvSpPr>
          <p:spPr>
            <a:xfrm>
              <a:off x="4351930" y="1330004"/>
              <a:ext cx="3742172" cy="26711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2"/>
                </a:solidFill>
                <a:cs typeface="+mn-ea"/>
              </a:endParaRPr>
            </a:p>
          </p:txBody>
        </p:sp>
      </p:grpSp>
      <p:grpSp>
        <p:nvGrpSpPr>
          <p:cNvPr id="30" name="组合 29"/>
          <p:cNvGrpSpPr/>
          <p:nvPr/>
        </p:nvGrpSpPr>
        <p:grpSpPr>
          <a:xfrm>
            <a:off x="937260" y="3201670"/>
            <a:ext cx="6377305" cy="2291715"/>
            <a:chOff x="4304043" y="1286668"/>
            <a:chExt cx="3837944" cy="2757793"/>
          </a:xfrm>
          <a:effectLst>
            <a:outerShdw blurRad="381000" dist="254000" dir="8100000" algn="tr" rotWithShape="0">
              <a:prstClr val="black">
                <a:alpha val="40000"/>
              </a:prstClr>
            </a:outerShdw>
          </a:effectLst>
        </p:grpSpPr>
        <p:sp>
          <p:nvSpPr>
            <p:cNvPr id="31" name="圆角矩形 30"/>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32" name="圆角矩形 31"/>
            <p:cNvSpPr/>
            <p:nvPr/>
          </p:nvSpPr>
          <p:spPr>
            <a:xfrm>
              <a:off x="4351930" y="1330004"/>
              <a:ext cx="3742172" cy="2671122"/>
            </a:xfrm>
            <a:prstGeom prst="roundRect">
              <a:avLst/>
            </a:prstGeom>
            <a:gradFill>
              <a:gsLst>
                <a:gs pos="0">
                  <a:schemeClr val="accent6">
                    <a:lumMod val="60000"/>
                    <a:lumOff val="40000"/>
                  </a:schemeClr>
                </a:gs>
                <a:gs pos="100000">
                  <a:srgbClr val="DF664A"/>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33" name="TextBox 23"/>
          <p:cNvSpPr>
            <a:spLocks noChangeArrowheads="1"/>
          </p:cNvSpPr>
          <p:nvPr/>
        </p:nvSpPr>
        <p:spPr bwMode="auto">
          <a:xfrm>
            <a:off x="2138045" y="1075690"/>
            <a:ext cx="6763385" cy="16617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400050" indent="-400050" algn="just">
              <a:lnSpc>
                <a:spcPct val="150000"/>
              </a:lnSpc>
              <a:buFont typeface="+mj-lt"/>
              <a:buAutoNum type="romanUcPeriod"/>
            </a:pPr>
            <a:r>
              <a:rPr lang="zh-CN" altLang="en-US" dirty="0">
                <a:solidFill>
                  <a:schemeClr val="tx2"/>
                </a:solidFill>
                <a:latin typeface="+mn-ea"/>
                <a:cs typeface="+mn-ea"/>
                <a:sym typeface="微软雅黑" panose="020B0503020204020204" charset="-122"/>
              </a:rPr>
              <a:t>了解高级语言与汇编语言、汇编语言与机器语言之间的关系</a:t>
            </a:r>
          </a:p>
          <a:p>
            <a:pPr marL="400050" indent="-400050" algn="just">
              <a:lnSpc>
                <a:spcPct val="150000"/>
              </a:lnSpc>
              <a:buFont typeface="+mj-lt"/>
              <a:buAutoNum type="romanUcPeriod"/>
            </a:pPr>
            <a:r>
              <a:rPr lang="zh-CN" altLang="en-US" dirty="0">
                <a:solidFill>
                  <a:schemeClr val="tx2"/>
                </a:solidFill>
                <a:latin typeface="+mn-ea"/>
                <a:cs typeface="+mn-ea"/>
                <a:sym typeface="微软雅黑" panose="020B0503020204020204" charset="-122"/>
              </a:rPr>
              <a:t>掌握有关指令格式、操作数类型、寻址方式、操作类型等内容</a:t>
            </a:r>
          </a:p>
          <a:p>
            <a:pPr marL="400050" indent="-400050" algn="just">
              <a:lnSpc>
                <a:spcPct val="150000"/>
              </a:lnSpc>
              <a:buFont typeface="+mj-lt"/>
              <a:buAutoNum type="romanUcPeriod"/>
            </a:pPr>
            <a:r>
              <a:rPr lang="zh-CN" altLang="en-US" dirty="0">
                <a:solidFill>
                  <a:schemeClr val="tx2"/>
                </a:solidFill>
                <a:latin typeface="+mn-ea"/>
                <a:cs typeface="+mn-ea"/>
                <a:sym typeface="微软雅黑" panose="020B0503020204020204" charset="-122"/>
              </a:rPr>
              <a:t>了解高级语言源程序中的语句与机器级代码之间的对应关系</a:t>
            </a:r>
          </a:p>
          <a:p>
            <a:pPr marL="400050" indent="-400050" algn="just">
              <a:lnSpc>
                <a:spcPct val="150000"/>
              </a:lnSpc>
              <a:buFont typeface="+mj-lt"/>
              <a:buAutoNum type="romanUcPeriod"/>
            </a:pPr>
            <a:r>
              <a:rPr lang="zh-CN" altLang="en-US" dirty="0">
                <a:solidFill>
                  <a:schemeClr val="tx2"/>
                </a:solidFill>
                <a:latin typeface="+mn-ea"/>
                <a:cs typeface="+mn-ea"/>
                <a:sym typeface="微软雅黑" panose="020B0503020204020204" charset="-122"/>
              </a:rPr>
              <a:t>了解复杂数据类型（数组、结构等）的机器级实现</a:t>
            </a:r>
          </a:p>
        </p:txBody>
      </p:sp>
      <p:sp>
        <p:nvSpPr>
          <p:cNvPr id="38" name="TextBox 24"/>
          <p:cNvSpPr>
            <a:spLocks noChangeArrowheads="1"/>
          </p:cNvSpPr>
          <p:nvPr/>
        </p:nvSpPr>
        <p:spPr bwMode="auto">
          <a:xfrm>
            <a:off x="462915" y="1697355"/>
            <a:ext cx="103441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000" b="1" dirty="0">
                <a:solidFill>
                  <a:schemeClr val="tx2"/>
                </a:solidFill>
                <a:latin typeface="+mn-ea"/>
                <a:cs typeface="+mn-ea"/>
              </a:rPr>
              <a:t>主要教学目标</a:t>
            </a:r>
          </a:p>
        </p:txBody>
      </p:sp>
      <p:sp>
        <p:nvSpPr>
          <p:cNvPr id="39" name="TextBox 31"/>
          <p:cNvSpPr>
            <a:spLocks noChangeArrowheads="1"/>
          </p:cNvSpPr>
          <p:nvPr/>
        </p:nvSpPr>
        <p:spPr bwMode="auto">
          <a:xfrm>
            <a:off x="7733030" y="3757295"/>
            <a:ext cx="1007745" cy="615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zh-CN" altLang="en-US" sz="2000" b="1" dirty="0">
                <a:solidFill>
                  <a:schemeClr val="bg1"/>
                </a:solidFill>
                <a:latin typeface="+mn-ea"/>
                <a:cs typeface="+mn-ea"/>
              </a:rPr>
              <a:t>主要教学内容</a:t>
            </a:r>
          </a:p>
        </p:txBody>
      </p:sp>
      <p:sp>
        <p:nvSpPr>
          <p:cNvPr id="40" name="TextBox 25"/>
          <p:cNvSpPr>
            <a:spLocks noChangeArrowheads="1"/>
          </p:cNvSpPr>
          <p:nvPr/>
        </p:nvSpPr>
        <p:spPr bwMode="auto">
          <a:xfrm>
            <a:off x="1280160" y="3295650"/>
            <a:ext cx="5893435" cy="207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marL="400050" indent="-400050" algn="just">
              <a:lnSpc>
                <a:spcPct val="150000"/>
              </a:lnSpc>
              <a:buFont typeface="+mj-lt"/>
              <a:buAutoNum type="romanUcPeriod"/>
            </a:pPr>
            <a:r>
              <a:rPr lang="zh-CN" altLang="en-US" dirty="0">
                <a:latin typeface="+mn-ea"/>
                <a:cs typeface="+mn-ea"/>
                <a:sym typeface="微软雅黑" panose="020B0503020204020204" charset="-122"/>
              </a:rPr>
              <a:t>介绍C语言程序与</a:t>
            </a:r>
            <a:r>
              <a:rPr lang="en-US" altLang="zh-CN" dirty="0">
                <a:latin typeface="+mn-ea"/>
                <a:cs typeface="+mn-ea"/>
                <a:sym typeface="微软雅黑" panose="020B0503020204020204" charset="-122"/>
              </a:rPr>
              <a:t>x86-64</a:t>
            </a:r>
            <a:r>
              <a:rPr lang="zh-CN" altLang="en-US" dirty="0">
                <a:latin typeface="+mn-ea"/>
                <a:cs typeface="+mn-ea"/>
                <a:sym typeface="微软雅黑" panose="020B0503020204020204" charset="-122"/>
              </a:rPr>
              <a:t>机器级指令之间的对应关系。</a:t>
            </a:r>
          </a:p>
          <a:p>
            <a:pPr marL="400050" indent="-400050" algn="just">
              <a:lnSpc>
                <a:spcPct val="150000"/>
              </a:lnSpc>
              <a:buFont typeface="+mj-lt"/>
              <a:buAutoNum type="romanUcPeriod"/>
            </a:pPr>
            <a:r>
              <a:rPr lang="zh-CN" altLang="en-US" dirty="0">
                <a:latin typeface="+mn-ea"/>
                <a:cs typeface="+mn-ea"/>
                <a:sym typeface="微软雅黑" panose="020B0503020204020204" charset="-122"/>
              </a:rPr>
              <a:t>主要包括：程序转换概述、</a:t>
            </a:r>
            <a:r>
              <a:rPr lang="en-US" altLang="zh-CN" dirty="0">
                <a:latin typeface="+mn-ea"/>
                <a:cs typeface="+mn-ea"/>
                <a:sym typeface="微软雅黑" panose="020B0503020204020204" charset="-122"/>
              </a:rPr>
              <a:t>x86-64</a:t>
            </a:r>
            <a:r>
              <a:rPr lang="zh-CN" altLang="en-US" dirty="0">
                <a:latin typeface="+mn-ea"/>
                <a:cs typeface="+mn-ea"/>
                <a:sym typeface="微软雅黑" panose="020B0503020204020204" charset="-122"/>
              </a:rPr>
              <a:t>指令系统、C语言中控制语句和过程调用等机器级实现、复杂数据类型（数组、结构等）的机器级实现等。</a:t>
            </a:r>
          </a:p>
          <a:p>
            <a:pPr marL="400050" indent="-400050" algn="just">
              <a:lnSpc>
                <a:spcPct val="150000"/>
              </a:lnSpc>
              <a:buFont typeface="+mj-lt"/>
              <a:buAutoNum type="romanUcPeriod"/>
            </a:pPr>
            <a:r>
              <a:rPr lang="zh-CN" altLang="en-US" dirty="0">
                <a:latin typeface="+mn-ea"/>
                <a:cs typeface="+mn-ea"/>
                <a:sym typeface="微软雅黑" panose="020B0503020204020204" charset="-122"/>
              </a:rPr>
              <a:t>本章所用的机器级表示主要以汇编语言形式表示为主。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strVal val="#ppt_w*0.05"/>
                                          </p:val>
                                        </p:tav>
                                        <p:tav tm="100000">
                                          <p:val>
                                            <p:strVal val="#ppt_w"/>
                                          </p:val>
                                        </p:tav>
                                      </p:tavLst>
                                    </p:anim>
                                    <p:anim calcmode="lin" valueType="num">
                                      <p:cBhvr>
                                        <p:cTn id="8" dur="500" fill="hold"/>
                                        <p:tgtEl>
                                          <p:spTgt spid="44"/>
                                        </p:tgtEl>
                                        <p:attrNameLst>
                                          <p:attrName>ppt_h</p:attrName>
                                        </p:attrNameLst>
                                      </p:cBhvr>
                                      <p:tavLst>
                                        <p:tav tm="0">
                                          <p:val>
                                            <p:strVal val="#ppt_h"/>
                                          </p:val>
                                        </p:tav>
                                        <p:tav tm="100000">
                                          <p:val>
                                            <p:strVal val="#ppt_h"/>
                                          </p:val>
                                        </p:tav>
                                      </p:tavLst>
                                    </p:anim>
                                    <p:anim calcmode="lin" valueType="num">
                                      <p:cBhvr>
                                        <p:cTn id="9" dur="500" fill="hold"/>
                                        <p:tgtEl>
                                          <p:spTgt spid="44"/>
                                        </p:tgtEl>
                                        <p:attrNameLst>
                                          <p:attrName>ppt_x</p:attrName>
                                        </p:attrNameLst>
                                      </p:cBhvr>
                                      <p:tavLst>
                                        <p:tav tm="0">
                                          <p:val>
                                            <p:strVal val="#ppt_x-.2"/>
                                          </p:val>
                                        </p:tav>
                                        <p:tav tm="100000">
                                          <p:val>
                                            <p:strVal val="#ppt_x"/>
                                          </p:val>
                                        </p:tav>
                                      </p:tavLst>
                                    </p:anim>
                                    <p:anim calcmode="lin" valueType="num">
                                      <p:cBhvr>
                                        <p:cTn id="10" dur="500" fill="hold"/>
                                        <p:tgtEl>
                                          <p:spTgt spid="44"/>
                                        </p:tgtEl>
                                        <p:attrNameLst>
                                          <p:attrName>ppt_y</p:attrName>
                                        </p:attrNameLst>
                                      </p:cBhvr>
                                      <p:tavLst>
                                        <p:tav tm="0">
                                          <p:val>
                                            <p:strVal val="#ppt_y"/>
                                          </p:val>
                                        </p:tav>
                                        <p:tav tm="100000">
                                          <p:val>
                                            <p:strVal val="#ppt_y"/>
                                          </p:val>
                                        </p:tav>
                                      </p:tavLst>
                                    </p:anim>
                                    <p:animEffect transition="in" filter="fade">
                                      <p:cBhvr>
                                        <p:cTn id="11" dur="500"/>
                                        <p:tgtEl>
                                          <p:spTgt spid="44"/>
                                        </p:tgtEl>
                                      </p:cBhvr>
                                    </p:animEffect>
                                  </p:childTnLst>
                                </p:cTn>
                              </p:par>
                              <p:par>
                                <p:cTn id="12" presetID="54" presetClass="entr" presetSubtype="0" accel="10000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 calcmode="lin" valueType="num">
                                      <p:cBhvr>
                                        <p:cTn id="14" dur="500" fill="hold"/>
                                        <p:tgtEl>
                                          <p:spTgt spid="22"/>
                                        </p:tgtEl>
                                        <p:attrNameLst>
                                          <p:attrName>ppt_w</p:attrName>
                                        </p:attrNameLst>
                                      </p:cBhvr>
                                      <p:tavLst>
                                        <p:tav tm="0">
                                          <p:val>
                                            <p:strVal val="#ppt_w*0.05"/>
                                          </p:val>
                                        </p:tav>
                                        <p:tav tm="100000">
                                          <p:val>
                                            <p:strVal val="#ppt_w"/>
                                          </p:val>
                                        </p:tav>
                                      </p:tavLst>
                                    </p:anim>
                                    <p:anim calcmode="lin" valueType="num">
                                      <p:cBhvr>
                                        <p:cTn id="15" dur="500" fill="hold"/>
                                        <p:tgtEl>
                                          <p:spTgt spid="22"/>
                                        </p:tgtEl>
                                        <p:attrNameLst>
                                          <p:attrName>ppt_h</p:attrName>
                                        </p:attrNameLst>
                                      </p:cBhvr>
                                      <p:tavLst>
                                        <p:tav tm="0">
                                          <p:val>
                                            <p:strVal val="#ppt_h"/>
                                          </p:val>
                                        </p:tav>
                                        <p:tav tm="100000">
                                          <p:val>
                                            <p:strVal val="#ppt_h"/>
                                          </p:val>
                                        </p:tav>
                                      </p:tavLst>
                                    </p:anim>
                                    <p:anim calcmode="lin" valueType="num">
                                      <p:cBhvr>
                                        <p:cTn id="16" dur="500" fill="hold"/>
                                        <p:tgtEl>
                                          <p:spTgt spid="22"/>
                                        </p:tgtEl>
                                        <p:attrNameLst>
                                          <p:attrName>ppt_x</p:attrName>
                                        </p:attrNameLst>
                                      </p:cBhvr>
                                      <p:tavLst>
                                        <p:tav tm="0">
                                          <p:val>
                                            <p:strVal val="#ppt_x-.2"/>
                                          </p:val>
                                        </p:tav>
                                        <p:tav tm="100000">
                                          <p:val>
                                            <p:strVal val="#ppt_x"/>
                                          </p:val>
                                        </p:tav>
                                      </p:tavLst>
                                    </p:anim>
                                    <p:anim calcmode="lin" valueType="num">
                                      <p:cBhvr>
                                        <p:cTn id="17" dur="500" fill="hold"/>
                                        <p:tgtEl>
                                          <p:spTgt spid="22"/>
                                        </p:tgtEl>
                                        <p:attrNameLst>
                                          <p:attrName>ppt_y</p:attrName>
                                        </p:attrNameLst>
                                      </p:cBhvr>
                                      <p:tavLst>
                                        <p:tav tm="0">
                                          <p:val>
                                            <p:strVal val="#ppt_y"/>
                                          </p:val>
                                        </p:tav>
                                        <p:tav tm="100000">
                                          <p:val>
                                            <p:strVal val="#ppt_y"/>
                                          </p:val>
                                        </p:tav>
                                      </p:tavLst>
                                    </p:anim>
                                    <p:animEffect transition="in" filter="fade">
                                      <p:cBhvr>
                                        <p:cTn id="18" dur="500"/>
                                        <p:tgtEl>
                                          <p:spTgt spid="22"/>
                                        </p:tgtEl>
                                      </p:cBhvr>
                                    </p:animEffect>
                                  </p:childTnLst>
                                </p:cTn>
                              </p:par>
                              <p:par>
                                <p:cTn id="19" presetID="54" presetClass="entr" presetSubtype="0" accel="10000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p:cTn id="21" dur="500" fill="hold"/>
                                        <p:tgtEl>
                                          <p:spTgt spid="38"/>
                                        </p:tgtEl>
                                        <p:attrNameLst>
                                          <p:attrName>ppt_w</p:attrName>
                                        </p:attrNameLst>
                                      </p:cBhvr>
                                      <p:tavLst>
                                        <p:tav tm="0">
                                          <p:val>
                                            <p:strVal val="#ppt_w*0.05"/>
                                          </p:val>
                                        </p:tav>
                                        <p:tav tm="100000">
                                          <p:val>
                                            <p:strVal val="#ppt_w"/>
                                          </p:val>
                                        </p:tav>
                                      </p:tavLst>
                                    </p:anim>
                                    <p:anim calcmode="lin" valueType="num">
                                      <p:cBhvr>
                                        <p:cTn id="22" dur="500" fill="hold"/>
                                        <p:tgtEl>
                                          <p:spTgt spid="38"/>
                                        </p:tgtEl>
                                        <p:attrNameLst>
                                          <p:attrName>ppt_h</p:attrName>
                                        </p:attrNameLst>
                                      </p:cBhvr>
                                      <p:tavLst>
                                        <p:tav tm="0">
                                          <p:val>
                                            <p:strVal val="#ppt_h"/>
                                          </p:val>
                                        </p:tav>
                                        <p:tav tm="100000">
                                          <p:val>
                                            <p:strVal val="#ppt_h"/>
                                          </p:val>
                                        </p:tav>
                                      </p:tavLst>
                                    </p:anim>
                                    <p:anim calcmode="lin" valueType="num">
                                      <p:cBhvr>
                                        <p:cTn id="23" dur="500" fill="hold"/>
                                        <p:tgtEl>
                                          <p:spTgt spid="38"/>
                                        </p:tgtEl>
                                        <p:attrNameLst>
                                          <p:attrName>ppt_x</p:attrName>
                                        </p:attrNameLst>
                                      </p:cBhvr>
                                      <p:tavLst>
                                        <p:tav tm="0">
                                          <p:val>
                                            <p:strVal val="#ppt_x-.2"/>
                                          </p:val>
                                        </p:tav>
                                        <p:tav tm="100000">
                                          <p:val>
                                            <p:strVal val="#ppt_x"/>
                                          </p:val>
                                        </p:tav>
                                      </p:tavLst>
                                    </p:anim>
                                    <p:anim calcmode="lin" valueType="num">
                                      <p:cBhvr>
                                        <p:cTn id="24" dur="500" fill="hold"/>
                                        <p:tgtEl>
                                          <p:spTgt spid="38"/>
                                        </p:tgtEl>
                                        <p:attrNameLst>
                                          <p:attrName>ppt_y</p:attrName>
                                        </p:attrNameLst>
                                      </p:cBhvr>
                                      <p:tavLst>
                                        <p:tav tm="0">
                                          <p:val>
                                            <p:strVal val="#ppt_y"/>
                                          </p:val>
                                        </p:tav>
                                        <p:tav tm="100000">
                                          <p:val>
                                            <p:strVal val="#ppt_y"/>
                                          </p:val>
                                        </p:tav>
                                      </p:tavLst>
                                    </p:anim>
                                    <p:animEffect transition="in" filter="fade">
                                      <p:cBhvr>
                                        <p:cTn id="25" dur="500"/>
                                        <p:tgtEl>
                                          <p:spTgt spid="38"/>
                                        </p:tgtEl>
                                      </p:cBhvr>
                                    </p:animEffect>
                                  </p:childTnLst>
                                </p:cTn>
                              </p:par>
                              <p:par>
                                <p:cTn id="26" presetID="54" presetClass="entr" presetSubtype="0" accel="10000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 calcmode="lin" valueType="num">
                                      <p:cBhvr>
                                        <p:cTn id="28" dur="500" fill="hold"/>
                                        <p:tgtEl>
                                          <p:spTgt spid="33"/>
                                        </p:tgtEl>
                                        <p:attrNameLst>
                                          <p:attrName>ppt_w</p:attrName>
                                        </p:attrNameLst>
                                      </p:cBhvr>
                                      <p:tavLst>
                                        <p:tav tm="0">
                                          <p:val>
                                            <p:strVal val="#ppt_w*0.05"/>
                                          </p:val>
                                        </p:tav>
                                        <p:tav tm="100000">
                                          <p:val>
                                            <p:strVal val="#ppt_w"/>
                                          </p:val>
                                        </p:tav>
                                      </p:tavLst>
                                    </p:anim>
                                    <p:anim calcmode="lin" valueType="num">
                                      <p:cBhvr>
                                        <p:cTn id="29" dur="500" fill="hold"/>
                                        <p:tgtEl>
                                          <p:spTgt spid="33"/>
                                        </p:tgtEl>
                                        <p:attrNameLst>
                                          <p:attrName>ppt_h</p:attrName>
                                        </p:attrNameLst>
                                      </p:cBhvr>
                                      <p:tavLst>
                                        <p:tav tm="0">
                                          <p:val>
                                            <p:strVal val="#ppt_h"/>
                                          </p:val>
                                        </p:tav>
                                        <p:tav tm="100000">
                                          <p:val>
                                            <p:strVal val="#ppt_h"/>
                                          </p:val>
                                        </p:tav>
                                      </p:tavLst>
                                    </p:anim>
                                    <p:anim calcmode="lin" valueType="num">
                                      <p:cBhvr>
                                        <p:cTn id="30" dur="500" fill="hold"/>
                                        <p:tgtEl>
                                          <p:spTgt spid="33"/>
                                        </p:tgtEl>
                                        <p:attrNameLst>
                                          <p:attrName>ppt_x</p:attrName>
                                        </p:attrNameLst>
                                      </p:cBhvr>
                                      <p:tavLst>
                                        <p:tav tm="0">
                                          <p:val>
                                            <p:strVal val="#ppt_x-.2"/>
                                          </p:val>
                                        </p:tav>
                                        <p:tav tm="100000">
                                          <p:val>
                                            <p:strVal val="#ppt_x"/>
                                          </p:val>
                                        </p:tav>
                                      </p:tavLst>
                                    </p:anim>
                                    <p:anim calcmode="lin" valueType="num">
                                      <p:cBhvr>
                                        <p:cTn id="31" dur="500" fill="hold"/>
                                        <p:tgtEl>
                                          <p:spTgt spid="33"/>
                                        </p:tgtEl>
                                        <p:attrNameLst>
                                          <p:attrName>ppt_y</p:attrName>
                                        </p:attrNameLst>
                                      </p:cBhvr>
                                      <p:tavLst>
                                        <p:tav tm="0">
                                          <p:val>
                                            <p:strVal val="#ppt_y"/>
                                          </p:val>
                                        </p:tav>
                                        <p:tav tm="100000">
                                          <p:val>
                                            <p:strVal val="#ppt_y"/>
                                          </p:val>
                                        </p:tav>
                                      </p:tavLst>
                                    </p:anim>
                                    <p:animEffect transition="in" filter="fade">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54" presetClass="entr" presetSubtype="0" accel="10000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 calcmode="lin" valueType="num">
                                      <p:cBhvr>
                                        <p:cTn id="37" dur="500" fill="hold"/>
                                        <p:tgtEl>
                                          <p:spTgt spid="43"/>
                                        </p:tgtEl>
                                        <p:attrNameLst>
                                          <p:attrName>ppt_w</p:attrName>
                                        </p:attrNameLst>
                                      </p:cBhvr>
                                      <p:tavLst>
                                        <p:tav tm="0">
                                          <p:val>
                                            <p:strVal val="#ppt_w*0.05"/>
                                          </p:val>
                                        </p:tav>
                                        <p:tav tm="100000">
                                          <p:val>
                                            <p:strVal val="#ppt_w"/>
                                          </p:val>
                                        </p:tav>
                                      </p:tavLst>
                                    </p:anim>
                                    <p:anim calcmode="lin" valueType="num">
                                      <p:cBhvr>
                                        <p:cTn id="38" dur="500" fill="hold"/>
                                        <p:tgtEl>
                                          <p:spTgt spid="43"/>
                                        </p:tgtEl>
                                        <p:attrNameLst>
                                          <p:attrName>ppt_h</p:attrName>
                                        </p:attrNameLst>
                                      </p:cBhvr>
                                      <p:tavLst>
                                        <p:tav tm="0">
                                          <p:val>
                                            <p:strVal val="#ppt_h"/>
                                          </p:val>
                                        </p:tav>
                                        <p:tav tm="100000">
                                          <p:val>
                                            <p:strVal val="#ppt_h"/>
                                          </p:val>
                                        </p:tav>
                                      </p:tavLst>
                                    </p:anim>
                                    <p:anim calcmode="lin" valueType="num">
                                      <p:cBhvr>
                                        <p:cTn id="39" dur="500" fill="hold"/>
                                        <p:tgtEl>
                                          <p:spTgt spid="43"/>
                                        </p:tgtEl>
                                        <p:attrNameLst>
                                          <p:attrName>ppt_x</p:attrName>
                                        </p:attrNameLst>
                                      </p:cBhvr>
                                      <p:tavLst>
                                        <p:tav tm="0">
                                          <p:val>
                                            <p:strVal val="#ppt_x-.2"/>
                                          </p:val>
                                        </p:tav>
                                        <p:tav tm="100000">
                                          <p:val>
                                            <p:strVal val="#ppt_x"/>
                                          </p:val>
                                        </p:tav>
                                      </p:tavLst>
                                    </p:anim>
                                    <p:anim calcmode="lin" valueType="num">
                                      <p:cBhvr>
                                        <p:cTn id="40" dur="500" fill="hold"/>
                                        <p:tgtEl>
                                          <p:spTgt spid="43"/>
                                        </p:tgtEl>
                                        <p:attrNameLst>
                                          <p:attrName>ppt_y</p:attrName>
                                        </p:attrNameLst>
                                      </p:cBhvr>
                                      <p:tavLst>
                                        <p:tav tm="0">
                                          <p:val>
                                            <p:strVal val="#ppt_y"/>
                                          </p:val>
                                        </p:tav>
                                        <p:tav tm="100000">
                                          <p:val>
                                            <p:strVal val="#ppt_y"/>
                                          </p:val>
                                        </p:tav>
                                      </p:tavLst>
                                    </p:anim>
                                    <p:animEffect transition="in" filter="fade">
                                      <p:cBhvr>
                                        <p:cTn id="41" dur="500"/>
                                        <p:tgtEl>
                                          <p:spTgt spid="43"/>
                                        </p:tgtEl>
                                      </p:cBhvr>
                                    </p:animEffect>
                                  </p:childTnLst>
                                </p:cTn>
                              </p:par>
                              <p:par>
                                <p:cTn id="42" presetID="54" presetClass="entr" presetSubtype="0" accel="10000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p:cTn id="44" dur="500" fill="hold"/>
                                        <p:tgtEl>
                                          <p:spTgt spid="30"/>
                                        </p:tgtEl>
                                        <p:attrNameLst>
                                          <p:attrName>ppt_w</p:attrName>
                                        </p:attrNameLst>
                                      </p:cBhvr>
                                      <p:tavLst>
                                        <p:tav tm="0">
                                          <p:val>
                                            <p:strVal val="#ppt_w*0.05"/>
                                          </p:val>
                                        </p:tav>
                                        <p:tav tm="100000">
                                          <p:val>
                                            <p:strVal val="#ppt_w"/>
                                          </p:val>
                                        </p:tav>
                                      </p:tavLst>
                                    </p:anim>
                                    <p:anim calcmode="lin" valueType="num">
                                      <p:cBhvr>
                                        <p:cTn id="45" dur="500" fill="hold"/>
                                        <p:tgtEl>
                                          <p:spTgt spid="30"/>
                                        </p:tgtEl>
                                        <p:attrNameLst>
                                          <p:attrName>ppt_h</p:attrName>
                                        </p:attrNameLst>
                                      </p:cBhvr>
                                      <p:tavLst>
                                        <p:tav tm="0">
                                          <p:val>
                                            <p:strVal val="#ppt_h"/>
                                          </p:val>
                                        </p:tav>
                                        <p:tav tm="100000">
                                          <p:val>
                                            <p:strVal val="#ppt_h"/>
                                          </p:val>
                                        </p:tav>
                                      </p:tavLst>
                                    </p:anim>
                                    <p:anim calcmode="lin" valueType="num">
                                      <p:cBhvr>
                                        <p:cTn id="46" dur="500" fill="hold"/>
                                        <p:tgtEl>
                                          <p:spTgt spid="30"/>
                                        </p:tgtEl>
                                        <p:attrNameLst>
                                          <p:attrName>ppt_x</p:attrName>
                                        </p:attrNameLst>
                                      </p:cBhvr>
                                      <p:tavLst>
                                        <p:tav tm="0">
                                          <p:val>
                                            <p:strVal val="#ppt_x-.2"/>
                                          </p:val>
                                        </p:tav>
                                        <p:tav tm="100000">
                                          <p:val>
                                            <p:strVal val="#ppt_x"/>
                                          </p:val>
                                        </p:tav>
                                      </p:tavLst>
                                    </p:anim>
                                    <p:anim calcmode="lin" valueType="num">
                                      <p:cBhvr>
                                        <p:cTn id="47" dur="500" fill="hold"/>
                                        <p:tgtEl>
                                          <p:spTgt spid="30"/>
                                        </p:tgtEl>
                                        <p:attrNameLst>
                                          <p:attrName>ppt_y</p:attrName>
                                        </p:attrNameLst>
                                      </p:cBhvr>
                                      <p:tavLst>
                                        <p:tav tm="0">
                                          <p:val>
                                            <p:strVal val="#ppt_y"/>
                                          </p:val>
                                        </p:tav>
                                        <p:tav tm="100000">
                                          <p:val>
                                            <p:strVal val="#ppt_y"/>
                                          </p:val>
                                        </p:tav>
                                      </p:tavLst>
                                    </p:anim>
                                    <p:animEffect transition="in" filter="fade">
                                      <p:cBhvr>
                                        <p:cTn id="48" dur="500"/>
                                        <p:tgtEl>
                                          <p:spTgt spid="30"/>
                                        </p:tgtEl>
                                      </p:cBhvr>
                                    </p:animEffect>
                                  </p:childTnLst>
                                </p:cTn>
                              </p:par>
                              <p:par>
                                <p:cTn id="49" presetID="54" presetClass="entr" presetSubtype="0" accel="10000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 calcmode="lin" valueType="num">
                                      <p:cBhvr>
                                        <p:cTn id="51" dur="500" fill="hold"/>
                                        <p:tgtEl>
                                          <p:spTgt spid="39"/>
                                        </p:tgtEl>
                                        <p:attrNameLst>
                                          <p:attrName>ppt_w</p:attrName>
                                        </p:attrNameLst>
                                      </p:cBhvr>
                                      <p:tavLst>
                                        <p:tav tm="0">
                                          <p:val>
                                            <p:strVal val="#ppt_w*0.05"/>
                                          </p:val>
                                        </p:tav>
                                        <p:tav tm="100000">
                                          <p:val>
                                            <p:strVal val="#ppt_w"/>
                                          </p:val>
                                        </p:tav>
                                      </p:tavLst>
                                    </p:anim>
                                    <p:anim calcmode="lin" valueType="num">
                                      <p:cBhvr>
                                        <p:cTn id="52" dur="500" fill="hold"/>
                                        <p:tgtEl>
                                          <p:spTgt spid="39"/>
                                        </p:tgtEl>
                                        <p:attrNameLst>
                                          <p:attrName>ppt_h</p:attrName>
                                        </p:attrNameLst>
                                      </p:cBhvr>
                                      <p:tavLst>
                                        <p:tav tm="0">
                                          <p:val>
                                            <p:strVal val="#ppt_h"/>
                                          </p:val>
                                        </p:tav>
                                        <p:tav tm="100000">
                                          <p:val>
                                            <p:strVal val="#ppt_h"/>
                                          </p:val>
                                        </p:tav>
                                      </p:tavLst>
                                    </p:anim>
                                    <p:anim calcmode="lin" valueType="num">
                                      <p:cBhvr>
                                        <p:cTn id="53" dur="500" fill="hold"/>
                                        <p:tgtEl>
                                          <p:spTgt spid="39"/>
                                        </p:tgtEl>
                                        <p:attrNameLst>
                                          <p:attrName>ppt_x</p:attrName>
                                        </p:attrNameLst>
                                      </p:cBhvr>
                                      <p:tavLst>
                                        <p:tav tm="0">
                                          <p:val>
                                            <p:strVal val="#ppt_x-.2"/>
                                          </p:val>
                                        </p:tav>
                                        <p:tav tm="100000">
                                          <p:val>
                                            <p:strVal val="#ppt_x"/>
                                          </p:val>
                                        </p:tav>
                                      </p:tavLst>
                                    </p:anim>
                                    <p:anim calcmode="lin" valueType="num">
                                      <p:cBhvr>
                                        <p:cTn id="54" dur="500" fill="hold"/>
                                        <p:tgtEl>
                                          <p:spTgt spid="39"/>
                                        </p:tgtEl>
                                        <p:attrNameLst>
                                          <p:attrName>ppt_y</p:attrName>
                                        </p:attrNameLst>
                                      </p:cBhvr>
                                      <p:tavLst>
                                        <p:tav tm="0">
                                          <p:val>
                                            <p:strVal val="#ppt_y"/>
                                          </p:val>
                                        </p:tav>
                                        <p:tav tm="100000">
                                          <p:val>
                                            <p:strVal val="#ppt_y"/>
                                          </p:val>
                                        </p:tav>
                                      </p:tavLst>
                                    </p:anim>
                                    <p:animEffect transition="in" filter="fade">
                                      <p:cBhvr>
                                        <p:cTn id="55" dur="500"/>
                                        <p:tgtEl>
                                          <p:spTgt spid="39"/>
                                        </p:tgtEl>
                                      </p:cBhvr>
                                    </p:animEffect>
                                  </p:childTnLst>
                                </p:cTn>
                              </p:par>
                              <p:par>
                                <p:cTn id="56" presetID="54" presetClass="entr" presetSubtype="0" accel="100000" fill="hold" grpId="0" nodeType="withEffect">
                                  <p:stCondLst>
                                    <p:cond delay="0"/>
                                  </p:stCondLst>
                                  <p:childTnLst>
                                    <p:set>
                                      <p:cBhvr>
                                        <p:cTn id="57" dur="1" fill="hold">
                                          <p:stCondLst>
                                            <p:cond delay="0"/>
                                          </p:stCondLst>
                                        </p:cTn>
                                        <p:tgtEl>
                                          <p:spTgt spid="40"/>
                                        </p:tgtEl>
                                        <p:attrNameLst>
                                          <p:attrName>style.visibility</p:attrName>
                                        </p:attrNameLst>
                                      </p:cBhvr>
                                      <p:to>
                                        <p:strVal val="visible"/>
                                      </p:to>
                                    </p:set>
                                    <p:anim calcmode="lin" valueType="num">
                                      <p:cBhvr>
                                        <p:cTn id="58" dur="500" fill="hold"/>
                                        <p:tgtEl>
                                          <p:spTgt spid="40"/>
                                        </p:tgtEl>
                                        <p:attrNameLst>
                                          <p:attrName>ppt_w</p:attrName>
                                        </p:attrNameLst>
                                      </p:cBhvr>
                                      <p:tavLst>
                                        <p:tav tm="0">
                                          <p:val>
                                            <p:strVal val="#ppt_w*0.05"/>
                                          </p:val>
                                        </p:tav>
                                        <p:tav tm="100000">
                                          <p:val>
                                            <p:strVal val="#ppt_w"/>
                                          </p:val>
                                        </p:tav>
                                      </p:tavLst>
                                    </p:anim>
                                    <p:anim calcmode="lin" valueType="num">
                                      <p:cBhvr>
                                        <p:cTn id="59" dur="500" fill="hold"/>
                                        <p:tgtEl>
                                          <p:spTgt spid="40"/>
                                        </p:tgtEl>
                                        <p:attrNameLst>
                                          <p:attrName>ppt_h</p:attrName>
                                        </p:attrNameLst>
                                      </p:cBhvr>
                                      <p:tavLst>
                                        <p:tav tm="0">
                                          <p:val>
                                            <p:strVal val="#ppt_h"/>
                                          </p:val>
                                        </p:tav>
                                        <p:tav tm="100000">
                                          <p:val>
                                            <p:strVal val="#ppt_h"/>
                                          </p:val>
                                        </p:tav>
                                      </p:tavLst>
                                    </p:anim>
                                    <p:anim calcmode="lin" valueType="num">
                                      <p:cBhvr>
                                        <p:cTn id="60" dur="500" fill="hold"/>
                                        <p:tgtEl>
                                          <p:spTgt spid="40"/>
                                        </p:tgtEl>
                                        <p:attrNameLst>
                                          <p:attrName>ppt_x</p:attrName>
                                        </p:attrNameLst>
                                      </p:cBhvr>
                                      <p:tavLst>
                                        <p:tav tm="0">
                                          <p:val>
                                            <p:strVal val="#ppt_x-.2"/>
                                          </p:val>
                                        </p:tav>
                                        <p:tav tm="100000">
                                          <p:val>
                                            <p:strVal val="#ppt_x"/>
                                          </p:val>
                                        </p:tav>
                                      </p:tavLst>
                                    </p:anim>
                                    <p:anim calcmode="lin" valueType="num">
                                      <p:cBhvr>
                                        <p:cTn id="61" dur="500" fill="hold"/>
                                        <p:tgtEl>
                                          <p:spTgt spid="40"/>
                                        </p:tgtEl>
                                        <p:attrNameLst>
                                          <p:attrName>ppt_y</p:attrName>
                                        </p:attrNameLst>
                                      </p:cBhvr>
                                      <p:tavLst>
                                        <p:tav tm="0">
                                          <p:val>
                                            <p:strVal val="#ppt_y"/>
                                          </p:val>
                                        </p:tav>
                                        <p:tav tm="100000">
                                          <p:val>
                                            <p:strVal val="#ppt_y"/>
                                          </p:val>
                                        </p:tav>
                                      </p:tavLst>
                                    </p:anim>
                                    <p:animEffect transition="in" filter="fade">
                                      <p:cBhvr>
                                        <p:cTn id="6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bldLvl="0" animBg="1"/>
      <p:bldP spid="33" grpId="0"/>
      <p:bldP spid="38" grpId="0"/>
      <p:bldP spid="39" grpId="0"/>
      <p:bldP spid="4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01"/>
          <p:cNvSpPr txBox="1"/>
          <p:nvPr/>
        </p:nvSpPr>
        <p:spPr>
          <a:xfrm>
            <a:off x="3368683" y="2227789"/>
            <a:ext cx="1098550" cy="275590"/>
          </a:xfrm>
          <a:prstGeom prst="rect">
            <a:avLst/>
          </a:prstGeom>
          <a:noFill/>
        </p:spPr>
        <p:txBody>
          <a:bodyPr wrap="none" rtlCol="0">
            <a:spAutoFit/>
          </a:bodyPr>
          <a:lstStyle/>
          <a:p>
            <a:pPr algn="ctr"/>
            <a:r>
              <a:rPr lang="en-US" altLang="zh-CN" sz="1200" dirty="0">
                <a:solidFill>
                  <a:srgbClr val="DF664A"/>
                </a:solidFill>
                <a:latin typeface="+mn-ea"/>
                <a:cs typeface="+mn-ea"/>
              </a:rPr>
              <a:t>（3.7 过程 ）</a:t>
            </a:r>
          </a:p>
        </p:txBody>
      </p:sp>
      <p:sp>
        <p:nvSpPr>
          <p:cNvPr id="6" name="任意多边形 5"/>
          <p:cNvSpPr/>
          <p:nvPr/>
        </p:nvSpPr>
        <p:spPr>
          <a:xfrm rot="20122964">
            <a:off x="2040737" y="2923540"/>
            <a:ext cx="4641850" cy="1802765"/>
          </a:xfrm>
          <a:custGeom>
            <a:avLst/>
            <a:gdLst>
              <a:gd name="connsiteX0" fmla="*/ 0 w 5660572"/>
              <a:gd name="connsiteY0" fmla="*/ 14514 h 1204692"/>
              <a:gd name="connsiteX1" fmla="*/ 1407886 w 5660572"/>
              <a:gd name="connsiteY1" fmla="*/ 1204685 h 1204692"/>
              <a:gd name="connsiteX2" fmla="*/ 2815772 w 5660572"/>
              <a:gd name="connsiteY2" fmla="*/ 0 h 1204692"/>
              <a:gd name="connsiteX3" fmla="*/ 4267200 w 5660572"/>
              <a:gd name="connsiteY3" fmla="*/ 1204685 h 1204692"/>
              <a:gd name="connsiteX4" fmla="*/ 5660572 w 5660572"/>
              <a:gd name="connsiteY4" fmla="*/ 0 h 1204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60572" h="1204692">
                <a:moveTo>
                  <a:pt x="0" y="14514"/>
                </a:moveTo>
                <a:cubicBezTo>
                  <a:pt x="469295" y="610809"/>
                  <a:pt x="938591" y="1207104"/>
                  <a:pt x="1407886" y="1204685"/>
                </a:cubicBezTo>
                <a:cubicBezTo>
                  <a:pt x="1877181" y="1202266"/>
                  <a:pt x="2339220" y="0"/>
                  <a:pt x="2815772" y="0"/>
                </a:cubicBezTo>
                <a:cubicBezTo>
                  <a:pt x="3292324" y="0"/>
                  <a:pt x="3793067" y="1204685"/>
                  <a:pt x="4267200" y="1204685"/>
                </a:cubicBezTo>
                <a:cubicBezTo>
                  <a:pt x="4741333" y="1204685"/>
                  <a:pt x="5411410" y="152400"/>
                  <a:pt x="5660572" y="0"/>
                </a:cubicBezTo>
              </a:path>
            </a:pathLst>
          </a:custGeom>
          <a:ln w="76200">
            <a:solidFill>
              <a:srgbClr val="4DA9E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solidFill>
                <a:srgbClr val="1A3F6C"/>
              </a:solidFill>
              <a:cs typeface="+mn-ea"/>
            </a:endParaRPr>
          </a:p>
        </p:txBody>
      </p:sp>
      <p:grpSp>
        <p:nvGrpSpPr>
          <p:cNvPr id="7" name="组合 6"/>
          <p:cNvGrpSpPr/>
          <p:nvPr/>
        </p:nvGrpSpPr>
        <p:grpSpPr>
          <a:xfrm>
            <a:off x="1706134" y="3870030"/>
            <a:ext cx="854279" cy="854279"/>
            <a:chOff x="1180871" y="1661152"/>
            <a:chExt cx="1139038" cy="1139038"/>
          </a:xfrm>
        </p:grpSpPr>
        <p:grpSp>
          <p:nvGrpSpPr>
            <p:cNvPr id="8" name="组合 7"/>
            <p:cNvGrpSpPr/>
            <p:nvPr/>
          </p:nvGrpSpPr>
          <p:grpSpPr>
            <a:xfrm>
              <a:off x="1180871" y="1661152"/>
              <a:ext cx="1139038" cy="1139038"/>
              <a:chOff x="304800" y="673100"/>
              <a:chExt cx="4000500" cy="4000500"/>
            </a:xfrm>
            <a:effectLst>
              <a:outerShdw blurRad="444500" dist="254000" dir="8100000" algn="tr" rotWithShape="0">
                <a:prstClr val="black">
                  <a:alpha val="50000"/>
                </a:prstClr>
              </a:outerShdw>
            </a:effectLst>
          </p:grpSpPr>
          <p:sp>
            <p:nvSpPr>
              <p:cNvPr id="9" name="同心圆 8"/>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sp>
            <p:nvSpPr>
              <p:cNvPr id="11" name="椭圆 10"/>
              <p:cNvSpPr/>
              <p:nvPr/>
            </p:nvSpPr>
            <p:spPr>
              <a:xfrm>
                <a:off x="392113" y="760413"/>
                <a:ext cx="3825874" cy="38258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cs typeface="+mn-ea"/>
                </a:endParaRPr>
              </a:p>
            </p:txBody>
          </p:sp>
        </p:grpSp>
        <p:sp>
          <p:nvSpPr>
            <p:cNvPr id="12" name="TextBox 133"/>
            <p:cNvSpPr txBox="1"/>
            <p:nvPr/>
          </p:nvSpPr>
          <p:spPr>
            <a:xfrm>
              <a:off x="1459284" y="1876728"/>
              <a:ext cx="614680" cy="737447"/>
            </a:xfrm>
            <a:prstGeom prst="rect">
              <a:avLst/>
            </a:prstGeom>
            <a:noFill/>
          </p:spPr>
          <p:txBody>
            <a:bodyPr wrap="none" rtlCol="0">
              <a:spAutoFit/>
            </a:bodyPr>
            <a:lstStyle/>
            <a:p>
              <a:r>
                <a:rPr lang="en-US" altLang="zh-CN" sz="3000" dirty="0">
                  <a:solidFill>
                    <a:schemeClr val="bg1"/>
                  </a:solidFill>
                  <a:latin typeface="Watford DB" pitchFamily="2" charset="0"/>
                  <a:cs typeface="+mn-ea"/>
                </a:rPr>
                <a:t>1</a:t>
              </a:r>
              <a:endParaRPr lang="zh-CN" altLang="en-US" sz="3000" dirty="0">
                <a:solidFill>
                  <a:schemeClr val="bg1"/>
                </a:solidFill>
                <a:latin typeface="Watford DB" pitchFamily="2" charset="0"/>
                <a:cs typeface="+mn-ea"/>
              </a:endParaRPr>
            </a:p>
          </p:txBody>
        </p:sp>
      </p:grpSp>
      <p:grpSp>
        <p:nvGrpSpPr>
          <p:cNvPr id="13" name="组合 12"/>
          <p:cNvGrpSpPr/>
          <p:nvPr/>
        </p:nvGrpSpPr>
        <p:grpSpPr>
          <a:xfrm>
            <a:off x="3339892" y="4777038"/>
            <a:ext cx="854279" cy="854279"/>
            <a:chOff x="2591676" y="2836786"/>
            <a:chExt cx="1139038" cy="1139038"/>
          </a:xfrm>
        </p:grpSpPr>
        <p:grpSp>
          <p:nvGrpSpPr>
            <p:cNvPr id="14" name="组合 13"/>
            <p:cNvGrpSpPr/>
            <p:nvPr/>
          </p:nvGrpSpPr>
          <p:grpSpPr>
            <a:xfrm>
              <a:off x="2591676" y="2836786"/>
              <a:ext cx="1139038" cy="1139038"/>
              <a:chOff x="304800" y="673100"/>
              <a:chExt cx="4000500" cy="4000500"/>
            </a:xfrm>
            <a:effectLst>
              <a:outerShdw blurRad="444500" dist="254000" dir="8100000" algn="tr" rotWithShape="0">
                <a:prstClr val="black">
                  <a:alpha val="50000"/>
                </a:prstClr>
              </a:outerShdw>
            </a:effectLst>
          </p:grpSpPr>
          <p:sp>
            <p:nvSpPr>
              <p:cNvPr id="15" name="同心圆 1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sp>
            <p:nvSpPr>
              <p:cNvPr id="16" name="椭圆 15"/>
              <p:cNvSpPr/>
              <p:nvPr/>
            </p:nvSpPr>
            <p:spPr>
              <a:xfrm>
                <a:off x="392113" y="760413"/>
                <a:ext cx="3825874" cy="3825874"/>
              </a:xfrm>
              <a:prstGeom prst="ellipse">
                <a:avLst/>
              </a:prstGeom>
              <a:gradFill>
                <a:gsLst>
                  <a:gs pos="0">
                    <a:schemeClr val="bg1"/>
                  </a:gs>
                  <a:gs pos="0">
                    <a:schemeClr val="bg1">
                      <a:lumMod val="95000"/>
                    </a:schemeClr>
                  </a:gs>
                  <a:gs pos="80000">
                    <a:srgbClr val="4DA9E2"/>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grpSp>
        <p:sp>
          <p:nvSpPr>
            <p:cNvPr id="17" name="TextBox 134"/>
            <p:cNvSpPr txBox="1"/>
            <p:nvPr/>
          </p:nvSpPr>
          <p:spPr>
            <a:xfrm>
              <a:off x="2870089" y="3052362"/>
              <a:ext cx="614680" cy="737447"/>
            </a:xfrm>
            <a:prstGeom prst="rect">
              <a:avLst/>
            </a:prstGeom>
            <a:noFill/>
          </p:spPr>
          <p:txBody>
            <a:bodyPr wrap="none" rtlCol="0">
              <a:spAutoFit/>
            </a:bodyPr>
            <a:lstStyle/>
            <a:p>
              <a:r>
                <a:rPr lang="en-US" altLang="zh-CN" sz="3000" dirty="0">
                  <a:solidFill>
                    <a:schemeClr val="bg1"/>
                  </a:solidFill>
                  <a:latin typeface="Watford DB" pitchFamily="2" charset="0"/>
                  <a:cs typeface="+mn-ea"/>
                </a:rPr>
                <a:t>2</a:t>
              </a:r>
              <a:endParaRPr lang="zh-CN" altLang="en-US" sz="3000" dirty="0">
                <a:solidFill>
                  <a:schemeClr val="bg1"/>
                </a:solidFill>
                <a:latin typeface="Watford DB" pitchFamily="2" charset="0"/>
                <a:cs typeface="+mn-ea"/>
              </a:endParaRPr>
            </a:p>
          </p:txBody>
        </p:sp>
      </p:grpSp>
      <p:grpSp>
        <p:nvGrpSpPr>
          <p:cNvPr id="18" name="组合 17"/>
          <p:cNvGrpSpPr/>
          <p:nvPr/>
        </p:nvGrpSpPr>
        <p:grpSpPr>
          <a:xfrm>
            <a:off x="3632263" y="2543804"/>
            <a:ext cx="854279" cy="854279"/>
            <a:chOff x="4002481" y="1661152"/>
            <a:chExt cx="1139038" cy="1139038"/>
          </a:xfrm>
        </p:grpSpPr>
        <p:grpSp>
          <p:nvGrpSpPr>
            <p:cNvPr id="19" name="组合 18"/>
            <p:cNvGrpSpPr/>
            <p:nvPr/>
          </p:nvGrpSpPr>
          <p:grpSpPr>
            <a:xfrm>
              <a:off x="4002481" y="1661152"/>
              <a:ext cx="1139038" cy="1139038"/>
              <a:chOff x="304800" y="673100"/>
              <a:chExt cx="4000500" cy="4000500"/>
            </a:xfrm>
            <a:effectLst>
              <a:outerShdw blurRad="444500" dist="254000" dir="8100000" algn="tr" rotWithShape="0">
                <a:prstClr val="black">
                  <a:alpha val="50000"/>
                </a:prstClr>
              </a:outerShdw>
            </a:effectLst>
          </p:grpSpPr>
          <p:sp>
            <p:nvSpPr>
              <p:cNvPr id="20" name="同心圆 19"/>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sp>
            <p:nvSpPr>
              <p:cNvPr id="21" name="椭圆 20"/>
              <p:cNvSpPr/>
              <p:nvPr/>
            </p:nvSpPr>
            <p:spPr>
              <a:xfrm>
                <a:off x="392113" y="760413"/>
                <a:ext cx="3825874" cy="382587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grpSp>
        <p:sp>
          <p:nvSpPr>
            <p:cNvPr id="22" name="TextBox 135"/>
            <p:cNvSpPr txBox="1"/>
            <p:nvPr/>
          </p:nvSpPr>
          <p:spPr>
            <a:xfrm>
              <a:off x="4280894" y="1876728"/>
              <a:ext cx="614680" cy="737447"/>
            </a:xfrm>
            <a:prstGeom prst="rect">
              <a:avLst/>
            </a:prstGeom>
            <a:noFill/>
          </p:spPr>
          <p:txBody>
            <a:bodyPr wrap="none" rtlCol="0">
              <a:spAutoFit/>
            </a:bodyPr>
            <a:lstStyle/>
            <a:p>
              <a:r>
                <a:rPr lang="en-US" altLang="zh-CN" sz="3000" dirty="0">
                  <a:solidFill>
                    <a:schemeClr val="bg1"/>
                  </a:solidFill>
                  <a:latin typeface="Watford DB" pitchFamily="2" charset="0"/>
                  <a:cs typeface="+mn-ea"/>
                </a:rPr>
                <a:t>3</a:t>
              </a:r>
              <a:endParaRPr lang="zh-CN" altLang="en-US" sz="3000" dirty="0">
                <a:solidFill>
                  <a:schemeClr val="bg1"/>
                </a:solidFill>
                <a:latin typeface="Watford DB" pitchFamily="2" charset="0"/>
                <a:cs typeface="+mn-ea"/>
              </a:endParaRPr>
            </a:p>
          </p:txBody>
        </p:sp>
      </p:grpSp>
      <p:grpSp>
        <p:nvGrpSpPr>
          <p:cNvPr id="23" name="组合 22"/>
          <p:cNvGrpSpPr/>
          <p:nvPr/>
        </p:nvGrpSpPr>
        <p:grpSpPr>
          <a:xfrm>
            <a:off x="5157807" y="3788176"/>
            <a:ext cx="854279" cy="854279"/>
            <a:chOff x="5413286" y="2836786"/>
            <a:chExt cx="1139038" cy="1139038"/>
          </a:xfrm>
        </p:grpSpPr>
        <p:grpSp>
          <p:nvGrpSpPr>
            <p:cNvPr id="24" name="组合 23"/>
            <p:cNvGrpSpPr/>
            <p:nvPr/>
          </p:nvGrpSpPr>
          <p:grpSpPr>
            <a:xfrm>
              <a:off x="5413286" y="2836786"/>
              <a:ext cx="1139038" cy="1139038"/>
              <a:chOff x="304800" y="673100"/>
              <a:chExt cx="4000500" cy="4000500"/>
            </a:xfrm>
            <a:effectLst>
              <a:outerShdw blurRad="444500" dist="254000" dir="8100000" algn="tr" rotWithShape="0">
                <a:prstClr val="black">
                  <a:alpha val="50000"/>
                </a:prstClr>
              </a:outerShdw>
            </a:effectLst>
          </p:grpSpPr>
          <p:sp>
            <p:nvSpPr>
              <p:cNvPr id="25" name="同心圆 24"/>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sp>
            <p:nvSpPr>
              <p:cNvPr id="26" name="椭圆 25"/>
              <p:cNvSpPr/>
              <p:nvPr/>
            </p:nvSpPr>
            <p:spPr>
              <a:xfrm>
                <a:off x="392113" y="760413"/>
                <a:ext cx="3825874" cy="3825874"/>
              </a:xfrm>
              <a:prstGeom prst="ellipse">
                <a:avLst/>
              </a:prstGeom>
              <a:gradFill>
                <a:gsLst>
                  <a:gs pos="0">
                    <a:schemeClr val="bg1"/>
                  </a:gs>
                  <a:gs pos="0">
                    <a:schemeClr val="bg1">
                      <a:lumMod val="95000"/>
                    </a:schemeClr>
                  </a:gs>
                  <a:gs pos="78000">
                    <a:srgbClr val="4DA9E2"/>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grpSp>
        <p:sp>
          <p:nvSpPr>
            <p:cNvPr id="27" name="TextBox 136"/>
            <p:cNvSpPr txBox="1"/>
            <p:nvPr/>
          </p:nvSpPr>
          <p:spPr>
            <a:xfrm>
              <a:off x="5691699" y="3052362"/>
              <a:ext cx="614680" cy="737447"/>
            </a:xfrm>
            <a:prstGeom prst="rect">
              <a:avLst/>
            </a:prstGeom>
            <a:noFill/>
          </p:spPr>
          <p:txBody>
            <a:bodyPr wrap="none" rtlCol="0">
              <a:spAutoFit/>
            </a:bodyPr>
            <a:lstStyle/>
            <a:p>
              <a:r>
                <a:rPr lang="en-US" altLang="zh-CN" sz="3000" dirty="0">
                  <a:solidFill>
                    <a:schemeClr val="bg1"/>
                  </a:solidFill>
                  <a:latin typeface="Watford DB" pitchFamily="2" charset="0"/>
                  <a:cs typeface="+mn-ea"/>
                </a:rPr>
                <a:t>4</a:t>
              </a:r>
              <a:endParaRPr lang="zh-CN" altLang="en-US" sz="3000" dirty="0">
                <a:solidFill>
                  <a:schemeClr val="bg1"/>
                </a:solidFill>
                <a:latin typeface="Watford DB" pitchFamily="2" charset="0"/>
                <a:cs typeface="+mn-ea"/>
              </a:endParaRPr>
            </a:p>
          </p:txBody>
        </p:sp>
      </p:grpSp>
      <p:grpSp>
        <p:nvGrpSpPr>
          <p:cNvPr id="28" name="组合 27"/>
          <p:cNvGrpSpPr/>
          <p:nvPr/>
        </p:nvGrpSpPr>
        <p:grpSpPr>
          <a:xfrm>
            <a:off x="5674388" y="2467711"/>
            <a:ext cx="854279" cy="854279"/>
            <a:chOff x="6824091" y="1661152"/>
            <a:chExt cx="1139038" cy="1139038"/>
          </a:xfrm>
        </p:grpSpPr>
        <p:grpSp>
          <p:nvGrpSpPr>
            <p:cNvPr id="29" name="组合 28"/>
            <p:cNvGrpSpPr/>
            <p:nvPr/>
          </p:nvGrpSpPr>
          <p:grpSpPr>
            <a:xfrm>
              <a:off x="6824091" y="1661152"/>
              <a:ext cx="1139038" cy="1139038"/>
              <a:chOff x="304800" y="673100"/>
              <a:chExt cx="4000500" cy="4000500"/>
            </a:xfrm>
            <a:effectLst>
              <a:outerShdw blurRad="444500" dist="254000" dir="8100000" algn="tr" rotWithShape="0">
                <a:prstClr val="black">
                  <a:alpha val="50000"/>
                </a:prstClr>
              </a:outerShdw>
            </a:effectLst>
          </p:grpSpPr>
          <p:sp>
            <p:nvSpPr>
              <p:cNvPr id="34" name="同心圆 3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sp>
            <p:nvSpPr>
              <p:cNvPr id="36" name="椭圆 35"/>
              <p:cNvSpPr/>
              <p:nvPr/>
            </p:nvSpPr>
            <p:spPr>
              <a:xfrm>
                <a:off x="392113" y="760413"/>
                <a:ext cx="3825874" cy="38258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grpSp>
        <p:sp>
          <p:nvSpPr>
            <p:cNvPr id="37" name="TextBox 141"/>
            <p:cNvSpPr txBox="1"/>
            <p:nvPr/>
          </p:nvSpPr>
          <p:spPr>
            <a:xfrm>
              <a:off x="7102504" y="1876728"/>
              <a:ext cx="614680" cy="737447"/>
            </a:xfrm>
            <a:prstGeom prst="rect">
              <a:avLst/>
            </a:prstGeom>
            <a:noFill/>
          </p:spPr>
          <p:txBody>
            <a:bodyPr wrap="none" rtlCol="0">
              <a:spAutoFit/>
            </a:bodyPr>
            <a:lstStyle/>
            <a:p>
              <a:r>
                <a:rPr lang="en-US" altLang="zh-CN" sz="3000" dirty="0">
                  <a:solidFill>
                    <a:schemeClr val="bg1"/>
                  </a:solidFill>
                  <a:latin typeface="Watford DB" pitchFamily="2" charset="0"/>
                  <a:cs typeface="+mn-ea"/>
                </a:rPr>
                <a:t>5</a:t>
              </a:r>
              <a:endParaRPr lang="zh-CN" altLang="en-US" sz="3000" dirty="0">
                <a:solidFill>
                  <a:schemeClr val="bg1"/>
                </a:solidFill>
                <a:latin typeface="Watford DB" pitchFamily="2" charset="0"/>
                <a:cs typeface="+mn-ea"/>
              </a:endParaRPr>
            </a:p>
          </p:txBody>
        </p:sp>
      </p:grpSp>
      <p:sp>
        <p:nvSpPr>
          <p:cNvPr id="38" name="TextBox 143"/>
          <p:cNvSpPr txBox="1"/>
          <p:nvPr/>
        </p:nvSpPr>
        <p:spPr>
          <a:xfrm>
            <a:off x="1282600" y="3182188"/>
            <a:ext cx="2214880" cy="337185"/>
          </a:xfrm>
          <a:prstGeom prst="rect">
            <a:avLst/>
          </a:prstGeom>
          <a:noFill/>
        </p:spPr>
        <p:txBody>
          <a:bodyPr wrap="none" rtlCol="0">
            <a:spAutoFit/>
          </a:bodyPr>
          <a:lstStyle/>
          <a:p>
            <a:pPr algn="l"/>
            <a:r>
              <a:rPr lang="zh-CN" altLang="en-US" sz="1600" dirty="0">
                <a:latin typeface="+mn-ea"/>
                <a:cs typeface="+mn-ea"/>
              </a:rPr>
              <a:t>第一讲：程序转换概述</a:t>
            </a:r>
          </a:p>
        </p:txBody>
      </p:sp>
      <p:sp>
        <p:nvSpPr>
          <p:cNvPr id="39" name="TextBox 144"/>
          <p:cNvSpPr txBox="1"/>
          <p:nvPr/>
        </p:nvSpPr>
        <p:spPr>
          <a:xfrm>
            <a:off x="2104619" y="5669276"/>
            <a:ext cx="3152775" cy="337185"/>
          </a:xfrm>
          <a:prstGeom prst="rect">
            <a:avLst/>
          </a:prstGeom>
          <a:noFill/>
        </p:spPr>
        <p:txBody>
          <a:bodyPr wrap="none" rtlCol="0">
            <a:spAutoFit/>
          </a:bodyPr>
          <a:lstStyle/>
          <a:p>
            <a:pPr algn="l"/>
            <a:r>
              <a:rPr lang="zh-CN" altLang="en-US" sz="1600" dirty="0">
                <a:latin typeface="+mn-ea"/>
                <a:cs typeface="+mn-ea"/>
              </a:rPr>
              <a:t>第二讲：IA-32 /x86-64指令系统</a:t>
            </a:r>
          </a:p>
        </p:txBody>
      </p:sp>
      <p:sp>
        <p:nvSpPr>
          <p:cNvPr id="40" name="TextBox 145"/>
          <p:cNvSpPr txBox="1"/>
          <p:nvPr/>
        </p:nvSpPr>
        <p:spPr>
          <a:xfrm>
            <a:off x="2228829" y="1955983"/>
            <a:ext cx="3223895" cy="337185"/>
          </a:xfrm>
          <a:prstGeom prst="rect">
            <a:avLst/>
          </a:prstGeom>
          <a:noFill/>
        </p:spPr>
        <p:txBody>
          <a:bodyPr wrap="none" rtlCol="0">
            <a:spAutoFit/>
          </a:bodyPr>
          <a:lstStyle/>
          <a:p>
            <a:pPr algn="l"/>
            <a:r>
              <a:rPr lang="zh-CN" altLang="en-US" sz="1600" dirty="0">
                <a:latin typeface="+mn-ea"/>
                <a:cs typeface="+mn-ea"/>
              </a:rPr>
              <a:t>第三讲： C语言程序的机器级表示</a:t>
            </a:r>
          </a:p>
        </p:txBody>
      </p:sp>
      <p:sp>
        <p:nvSpPr>
          <p:cNvPr id="147" name="TextBox 146"/>
          <p:cNvSpPr txBox="1"/>
          <p:nvPr/>
        </p:nvSpPr>
        <p:spPr>
          <a:xfrm>
            <a:off x="4451832" y="4761230"/>
            <a:ext cx="3434080" cy="337185"/>
          </a:xfrm>
          <a:prstGeom prst="rect">
            <a:avLst/>
          </a:prstGeom>
          <a:noFill/>
        </p:spPr>
        <p:txBody>
          <a:bodyPr wrap="square" rtlCol="0">
            <a:spAutoFit/>
          </a:bodyPr>
          <a:lstStyle/>
          <a:p>
            <a:pPr algn="l"/>
            <a:r>
              <a:rPr lang="zh-CN" altLang="en-US" sz="1600" dirty="0">
                <a:latin typeface="+mn-ea"/>
                <a:cs typeface="+mn-ea"/>
              </a:rPr>
              <a:t>第四讲：复杂数据类型的分配和访问</a:t>
            </a:r>
          </a:p>
        </p:txBody>
      </p:sp>
      <p:sp>
        <p:nvSpPr>
          <p:cNvPr id="148" name="TextBox 147"/>
          <p:cNvSpPr txBox="1"/>
          <p:nvPr/>
        </p:nvSpPr>
        <p:spPr>
          <a:xfrm>
            <a:off x="6077638" y="2000870"/>
            <a:ext cx="1808480" cy="583565"/>
          </a:xfrm>
          <a:prstGeom prst="rect">
            <a:avLst/>
          </a:prstGeom>
          <a:noFill/>
        </p:spPr>
        <p:txBody>
          <a:bodyPr wrap="none" rtlCol="0">
            <a:spAutoFit/>
          </a:bodyPr>
          <a:lstStyle/>
          <a:p>
            <a:pPr algn="l"/>
            <a:r>
              <a:rPr lang="zh-CN" altLang="en-US" sz="1600" dirty="0">
                <a:latin typeface="+mn-ea"/>
                <a:cs typeface="+mn-ea"/>
              </a:rPr>
              <a:t>第五讲：越界访问</a:t>
            </a:r>
          </a:p>
          <a:p>
            <a:pPr algn="l"/>
            <a:r>
              <a:rPr lang="zh-CN" altLang="en-US" sz="1600" dirty="0">
                <a:latin typeface="+mn-ea"/>
                <a:cs typeface="+mn-ea"/>
              </a:rPr>
              <a:t>和缓冲区溢出</a:t>
            </a:r>
          </a:p>
        </p:txBody>
      </p:sp>
      <p:sp>
        <p:nvSpPr>
          <p:cNvPr id="41" name="TextBox 148"/>
          <p:cNvSpPr txBox="1"/>
          <p:nvPr/>
        </p:nvSpPr>
        <p:spPr>
          <a:xfrm>
            <a:off x="1413754" y="3400111"/>
            <a:ext cx="1440180" cy="275590"/>
          </a:xfrm>
          <a:prstGeom prst="rect">
            <a:avLst/>
          </a:prstGeom>
          <a:noFill/>
        </p:spPr>
        <p:txBody>
          <a:bodyPr wrap="none" rtlCol="0">
            <a:spAutoFit/>
          </a:bodyPr>
          <a:lstStyle/>
          <a:p>
            <a:pPr algn="ctr"/>
            <a:r>
              <a:rPr lang="en-US" altLang="zh-CN" sz="1200" dirty="0">
                <a:solidFill>
                  <a:srgbClr val="DF664A"/>
                </a:solidFill>
                <a:latin typeface="+mn-ea"/>
                <a:cs typeface="+mn-ea"/>
              </a:rPr>
              <a:t>（3.1，3.2，3.3）</a:t>
            </a:r>
          </a:p>
        </p:txBody>
      </p:sp>
      <p:sp>
        <p:nvSpPr>
          <p:cNvPr id="150" name="TextBox 149"/>
          <p:cNvSpPr txBox="1"/>
          <p:nvPr/>
        </p:nvSpPr>
        <p:spPr>
          <a:xfrm>
            <a:off x="2904807" y="5944929"/>
            <a:ext cx="1209040" cy="275590"/>
          </a:xfrm>
          <a:prstGeom prst="rect">
            <a:avLst/>
          </a:prstGeom>
          <a:noFill/>
        </p:spPr>
        <p:txBody>
          <a:bodyPr wrap="none" rtlCol="0">
            <a:spAutoFit/>
          </a:bodyPr>
          <a:lstStyle/>
          <a:p>
            <a:pPr algn="ctr"/>
            <a:r>
              <a:rPr lang="en-US" altLang="zh-CN" sz="1200" dirty="0">
                <a:solidFill>
                  <a:srgbClr val="DF664A"/>
                </a:solidFill>
                <a:latin typeface="+mn-ea"/>
                <a:cs typeface="+mn-ea"/>
              </a:rPr>
              <a:t>（3.4,3.5,3.6）</a:t>
            </a:r>
          </a:p>
        </p:txBody>
      </p:sp>
      <p:sp>
        <p:nvSpPr>
          <p:cNvPr id="42" name="TextBox 150"/>
          <p:cNvSpPr txBox="1"/>
          <p:nvPr/>
        </p:nvSpPr>
        <p:spPr>
          <a:xfrm>
            <a:off x="4958976" y="5035400"/>
            <a:ext cx="2336165" cy="275590"/>
          </a:xfrm>
          <a:prstGeom prst="rect">
            <a:avLst/>
          </a:prstGeom>
          <a:noFill/>
        </p:spPr>
        <p:txBody>
          <a:bodyPr wrap="none" rtlCol="0">
            <a:spAutoFit/>
          </a:bodyPr>
          <a:lstStyle/>
          <a:p>
            <a:pPr algn="ctr"/>
            <a:r>
              <a:rPr lang="en-US" altLang="zh-CN" sz="1200" dirty="0">
                <a:solidFill>
                  <a:srgbClr val="DF664A"/>
                </a:solidFill>
                <a:latin typeface="+mn-ea"/>
                <a:cs typeface="+mn-ea"/>
              </a:rPr>
              <a:t>（3.8 数组的分配和访问</a:t>
            </a:r>
            <a:r>
              <a:rPr lang="zh-CN" altLang="en-US" sz="1200" dirty="0">
                <a:solidFill>
                  <a:srgbClr val="DF664A"/>
                </a:solidFill>
                <a:latin typeface="+mn-ea"/>
                <a:cs typeface="+mn-ea"/>
              </a:rPr>
              <a:t>，</a:t>
            </a:r>
            <a:r>
              <a:rPr lang="en-US" altLang="zh-CN" sz="1200" dirty="0">
                <a:solidFill>
                  <a:srgbClr val="DF664A"/>
                </a:solidFill>
                <a:latin typeface="+mn-ea"/>
                <a:cs typeface="+mn-ea"/>
              </a:rPr>
              <a:t>3.9）</a:t>
            </a:r>
          </a:p>
        </p:txBody>
      </p:sp>
      <p:sp>
        <p:nvSpPr>
          <p:cNvPr id="43" name="TextBox 151"/>
          <p:cNvSpPr txBox="1"/>
          <p:nvPr/>
        </p:nvSpPr>
        <p:spPr>
          <a:xfrm>
            <a:off x="6005212" y="3332233"/>
            <a:ext cx="1752600" cy="460375"/>
          </a:xfrm>
          <a:prstGeom prst="rect">
            <a:avLst/>
          </a:prstGeom>
          <a:noFill/>
        </p:spPr>
        <p:txBody>
          <a:bodyPr wrap="none" rtlCol="0">
            <a:spAutoFit/>
          </a:bodyPr>
          <a:lstStyle/>
          <a:p>
            <a:pPr algn="ctr"/>
            <a:r>
              <a:rPr lang="en-US" altLang="zh-CN" sz="1200" dirty="0">
                <a:solidFill>
                  <a:srgbClr val="DF664A"/>
                </a:solidFill>
                <a:latin typeface="+mn-ea"/>
                <a:cs typeface="+mn-ea"/>
              </a:rPr>
              <a:t>（3.10 存储器的越界引</a:t>
            </a:r>
          </a:p>
          <a:p>
            <a:pPr algn="ctr"/>
            <a:r>
              <a:rPr lang="en-US" altLang="zh-CN" sz="1200" dirty="0">
                <a:solidFill>
                  <a:srgbClr val="DF664A"/>
                </a:solidFill>
                <a:latin typeface="+mn-ea"/>
                <a:cs typeface="+mn-ea"/>
              </a:rPr>
              <a:t>用和缓冲区溢出）</a:t>
            </a:r>
          </a:p>
        </p:txBody>
      </p:sp>
      <p:pic>
        <p:nvPicPr>
          <p:cNvPr id="44" name="图片 43"/>
          <p:cNvPicPr>
            <a:picLocks noChangeAspect="1"/>
          </p:cNvPicPr>
          <p:nvPr/>
        </p:nvPicPr>
        <p:blipFill rotWithShape="1">
          <a:blip r:embed="rId2" cstate="print">
            <a:extLst>
              <a:ext uri="{28A0092B-C50C-407E-A947-70E740481C1C}">
                <a14:useLocalDpi xmlns:a14="http://schemas.microsoft.com/office/drawing/2010/main" val="0"/>
              </a:ext>
            </a:extLst>
          </a:blip>
          <a:srcRect l="54683" t="65627" r="6904"/>
          <a:stretch>
            <a:fillRect/>
          </a:stretch>
        </p:blipFill>
        <p:spPr>
          <a:xfrm>
            <a:off x="5291302" y="5844540"/>
            <a:ext cx="2536190" cy="1012825"/>
          </a:xfrm>
          <a:prstGeom prst="rect">
            <a:avLst/>
          </a:prstGeom>
        </p:spPr>
      </p:pic>
      <p:grpSp>
        <p:nvGrpSpPr>
          <p:cNvPr id="2" name="组合 1"/>
          <p:cNvGrpSpPr/>
          <p:nvPr/>
        </p:nvGrpSpPr>
        <p:grpSpPr>
          <a:xfrm>
            <a:off x="5760148" y="1184269"/>
            <a:ext cx="854279" cy="854279"/>
            <a:chOff x="4002481" y="1661152"/>
            <a:chExt cx="1139038" cy="1139038"/>
          </a:xfrm>
        </p:grpSpPr>
        <p:grpSp>
          <p:nvGrpSpPr>
            <p:cNvPr id="3" name="组合 2"/>
            <p:cNvGrpSpPr/>
            <p:nvPr/>
          </p:nvGrpSpPr>
          <p:grpSpPr>
            <a:xfrm>
              <a:off x="4002481" y="1661152"/>
              <a:ext cx="1139038" cy="1139038"/>
              <a:chOff x="304800" y="673100"/>
              <a:chExt cx="4000500" cy="4000500"/>
            </a:xfrm>
            <a:effectLst>
              <a:outerShdw blurRad="444500" dist="254000" dir="8100000" algn="tr" rotWithShape="0">
                <a:prstClr val="black">
                  <a:alpha val="50000"/>
                </a:prstClr>
              </a:outerShdw>
            </a:effectLst>
          </p:grpSpPr>
          <p:sp>
            <p:nvSpPr>
              <p:cNvPr id="4" name="同心圆 3"/>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sp>
            <p:nvSpPr>
              <p:cNvPr id="10" name="椭圆 9"/>
              <p:cNvSpPr/>
              <p:nvPr/>
            </p:nvSpPr>
            <p:spPr>
              <a:xfrm>
                <a:off x="392113" y="760413"/>
                <a:ext cx="3825874" cy="3825874"/>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4DA9E2"/>
                  </a:solidFill>
                  <a:cs typeface="+mn-ea"/>
                </a:endParaRPr>
              </a:p>
            </p:txBody>
          </p:sp>
        </p:grpSp>
        <p:sp>
          <p:nvSpPr>
            <p:cNvPr id="30" name="TextBox 135"/>
            <p:cNvSpPr txBox="1"/>
            <p:nvPr/>
          </p:nvSpPr>
          <p:spPr>
            <a:xfrm>
              <a:off x="4280894" y="1876728"/>
              <a:ext cx="614680" cy="737446"/>
            </a:xfrm>
            <a:prstGeom prst="rect">
              <a:avLst/>
            </a:prstGeom>
            <a:noFill/>
          </p:spPr>
          <p:txBody>
            <a:bodyPr wrap="none" rtlCol="0">
              <a:spAutoFit/>
            </a:bodyPr>
            <a:lstStyle/>
            <a:p>
              <a:r>
                <a:rPr lang="en-US" altLang="zh-CN" sz="3000" dirty="0">
                  <a:solidFill>
                    <a:schemeClr val="bg1"/>
                  </a:solidFill>
                  <a:latin typeface="Watford DB" pitchFamily="2" charset="0"/>
                  <a:cs typeface="+mn-ea"/>
                </a:rPr>
                <a:t>6</a:t>
              </a:r>
            </a:p>
          </p:txBody>
        </p:sp>
      </p:grpSp>
      <p:sp>
        <p:nvSpPr>
          <p:cNvPr id="33" name="TextBox 147"/>
          <p:cNvSpPr txBox="1"/>
          <p:nvPr/>
        </p:nvSpPr>
        <p:spPr>
          <a:xfrm>
            <a:off x="6019218" y="865490"/>
            <a:ext cx="1808480" cy="337185"/>
          </a:xfrm>
          <a:prstGeom prst="rect">
            <a:avLst/>
          </a:prstGeom>
          <a:noFill/>
        </p:spPr>
        <p:txBody>
          <a:bodyPr wrap="none" rtlCol="0">
            <a:spAutoFit/>
          </a:bodyPr>
          <a:lstStyle/>
          <a:p>
            <a:pPr algn="l"/>
            <a:r>
              <a:rPr lang="zh-CN" altLang="en-US" sz="1600" dirty="0">
                <a:latin typeface="+mn-ea"/>
                <a:cs typeface="+mn-ea"/>
              </a:rPr>
              <a:t>第六讲：浮点代码</a:t>
            </a:r>
          </a:p>
        </p:txBody>
      </p:sp>
      <p:sp>
        <p:nvSpPr>
          <p:cNvPr id="35" name="TextBox 151"/>
          <p:cNvSpPr txBox="1"/>
          <p:nvPr/>
        </p:nvSpPr>
        <p:spPr>
          <a:xfrm>
            <a:off x="6655452" y="1202443"/>
            <a:ext cx="838200" cy="275590"/>
          </a:xfrm>
          <a:prstGeom prst="rect">
            <a:avLst/>
          </a:prstGeom>
          <a:noFill/>
        </p:spPr>
        <p:txBody>
          <a:bodyPr wrap="none" rtlCol="0">
            <a:spAutoFit/>
          </a:bodyPr>
          <a:lstStyle/>
          <a:p>
            <a:pPr algn="ctr"/>
            <a:r>
              <a:rPr lang="en-US" altLang="zh-CN" sz="1200" dirty="0">
                <a:solidFill>
                  <a:srgbClr val="DF664A"/>
                </a:solidFill>
                <a:latin typeface="+mn-ea"/>
                <a:cs typeface="+mn-ea"/>
              </a:rPr>
              <a:t>（3.11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left)">
                                      <p:cBhvr>
                                        <p:cTn id="13" dur="3000"/>
                                        <p:tgtEl>
                                          <p:spTgt spid="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 calcmode="lin" valueType="num">
                                      <p:cBhvr additive="base">
                                        <p:cTn id="16" dur="500"/>
                                        <p:tgtEl>
                                          <p:spTgt spid="41"/>
                                        </p:tgtEl>
                                        <p:attrNameLst>
                                          <p:attrName>ppt_y</p:attrName>
                                        </p:attrNameLst>
                                      </p:cBhvr>
                                      <p:tavLst>
                                        <p:tav tm="0">
                                          <p:val>
                                            <p:strVal val="#ppt_y+#ppt_h*1.125000"/>
                                          </p:val>
                                        </p:tav>
                                        <p:tav tm="100000">
                                          <p:val>
                                            <p:strVal val="#ppt_y"/>
                                          </p:val>
                                        </p:tav>
                                      </p:tavLst>
                                    </p:anim>
                                    <p:animEffect transition="in" filter="wipe(up)">
                                      <p:cBhvr>
                                        <p:cTn id="17" dur="500"/>
                                        <p:tgtEl>
                                          <p:spTgt spid="41"/>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38"/>
                                        </p:tgtEl>
                                        <p:attrNameLst>
                                          <p:attrName>style.visibility</p:attrName>
                                        </p:attrNameLst>
                                      </p:cBhvr>
                                      <p:to>
                                        <p:strVal val="visible"/>
                                      </p:to>
                                    </p:set>
                                    <p:anim calcmode="lin" valueType="num">
                                      <p:cBhvr additive="base">
                                        <p:cTn id="20" dur="500"/>
                                        <p:tgtEl>
                                          <p:spTgt spid="38"/>
                                        </p:tgtEl>
                                        <p:attrNameLst>
                                          <p:attrName>ppt_y</p:attrName>
                                        </p:attrNameLst>
                                      </p:cBhvr>
                                      <p:tavLst>
                                        <p:tav tm="0">
                                          <p:val>
                                            <p:strVal val="#ppt_y+#ppt_h*1.125000"/>
                                          </p:val>
                                        </p:tav>
                                        <p:tav tm="100000">
                                          <p:val>
                                            <p:strVal val="#ppt_y"/>
                                          </p:val>
                                        </p:tav>
                                      </p:tavLst>
                                    </p:anim>
                                    <p:animEffect transition="in" filter="wipe(up)">
                                      <p:cBhvr>
                                        <p:cTn id="21" dur="500"/>
                                        <p:tgtEl>
                                          <p:spTgt spid="38"/>
                                        </p:tgtEl>
                                      </p:cBhvr>
                                    </p:animEffect>
                                  </p:childTnLst>
                                </p:cTn>
                              </p:par>
                              <p:par>
                                <p:cTn id="22" presetID="53" presetClass="entr" presetSubtype="16" fill="hold" nodeType="withEffect">
                                  <p:stCondLst>
                                    <p:cond delay="80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fltVal val="0"/>
                                          </p:val>
                                        </p:tav>
                                        <p:tav tm="100000">
                                          <p:val>
                                            <p:strVal val="#ppt_h"/>
                                          </p:val>
                                        </p:tav>
                                      </p:tavLst>
                                    </p:anim>
                                    <p:animEffect transition="in" filter="fade">
                                      <p:cBhvr>
                                        <p:cTn id="26" dur="500"/>
                                        <p:tgtEl>
                                          <p:spTgt spid="13"/>
                                        </p:tgtEl>
                                      </p:cBhvr>
                                    </p:animEffect>
                                  </p:childTnLst>
                                </p:cTn>
                              </p:par>
                              <p:par>
                                <p:cTn id="27" presetID="12" presetClass="entr" presetSubtype="1" fill="hold" grpId="0" nodeType="withEffect">
                                  <p:stCondLst>
                                    <p:cond delay="1300"/>
                                  </p:stCondLst>
                                  <p:childTnLst>
                                    <p:set>
                                      <p:cBhvr>
                                        <p:cTn id="28" dur="1" fill="hold">
                                          <p:stCondLst>
                                            <p:cond delay="0"/>
                                          </p:stCondLst>
                                        </p:cTn>
                                        <p:tgtEl>
                                          <p:spTgt spid="39"/>
                                        </p:tgtEl>
                                        <p:attrNameLst>
                                          <p:attrName>style.visibility</p:attrName>
                                        </p:attrNameLst>
                                      </p:cBhvr>
                                      <p:to>
                                        <p:strVal val="visible"/>
                                      </p:to>
                                    </p:set>
                                    <p:anim calcmode="lin" valueType="num">
                                      <p:cBhvr additive="base">
                                        <p:cTn id="29" dur="500"/>
                                        <p:tgtEl>
                                          <p:spTgt spid="39"/>
                                        </p:tgtEl>
                                        <p:attrNameLst>
                                          <p:attrName>ppt_y</p:attrName>
                                        </p:attrNameLst>
                                      </p:cBhvr>
                                      <p:tavLst>
                                        <p:tav tm="0">
                                          <p:val>
                                            <p:strVal val="#ppt_y-#ppt_h*1.125000"/>
                                          </p:val>
                                        </p:tav>
                                        <p:tav tm="100000">
                                          <p:val>
                                            <p:strVal val="#ppt_y"/>
                                          </p:val>
                                        </p:tav>
                                      </p:tavLst>
                                    </p:anim>
                                    <p:animEffect transition="in" filter="wipe(down)">
                                      <p:cBhvr>
                                        <p:cTn id="30" dur="500"/>
                                        <p:tgtEl>
                                          <p:spTgt spid="39"/>
                                        </p:tgtEl>
                                      </p:cBhvr>
                                    </p:animEffect>
                                  </p:childTnLst>
                                </p:cTn>
                              </p:par>
                              <p:par>
                                <p:cTn id="31" presetID="12" presetClass="entr" presetSubtype="1" fill="hold" grpId="0" nodeType="withEffect">
                                  <p:stCondLst>
                                    <p:cond delay="1300"/>
                                  </p:stCondLst>
                                  <p:childTnLst>
                                    <p:set>
                                      <p:cBhvr>
                                        <p:cTn id="32" dur="1" fill="hold">
                                          <p:stCondLst>
                                            <p:cond delay="0"/>
                                          </p:stCondLst>
                                        </p:cTn>
                                        <p:tgtEl>
                                          <p:spTgt spid="150"/>
                                        </p:tgtEl>
                                        <p:attrNameLst>
                                          <p:attrName>style.visibility</p:attrName>
                                        </p:attrNameLst>
                                      </p:cBhvr>
                                      <p:to>
                                        <p:strVal val="visible"/>
                                      </p:to>
                                    </p:set>
                                    <p:anim calcmode="lin" valueType="num">
                                      <p:cBhvr additive="base">
                                        <p:cTn id="33" dur="500"/>
                                        <p:tgtEl>
                                          <p:spTgt spid="150"/>
                                        </p:tgtEl>
                                        <p:attrNameLst>
                                          <p:attrName>ppt_y</p:attrName>
                                        </p:attrNameLst>
                                      </p:cBhvr>
                                      <p:tavLst>
                                        <p:tav tm="0">
                                          <p:val>
                                            <p:strVal val="#ppt_y-#ppt_h*1.125000"/>
                                          </p:val>
                                        </p:tav>
                                        <p:tav tm="100000">
                                          <p:val>
                                            <p:strVal val="#ppt_y"/>
                                          </p:val>
                                        </p:tav>
                                      </p:tavLst>
                                    </p:anim>
                                    <p:animEffect transition="in" filter="wipe(down)">
                                      <p:cBhvr>
                                        <p:cTn id="34" dur="500"/>
                                        <p:tgtEl>
                                          <p:spTgt spid="150"/>
                                        </p:tgtEl>
                                      </p:cBhvr>
                                    </p:animEffect>
                                  </p:childTnLst>
                                </p:cTn>
                              </p:par>
                              <p:par>
                                <p:cTn id="35" presetID="53" presetClass="entr" presetSubtype="16" fill="hold" nodeType="withEffect">
                                  <p:stCondLst>
                                    <p:cond delay="1400"/>
                                  </p:stCondLst>
                                  <p:childTnLst>
                                    <p:set>
                                      <p:cBhvr>
                                        <p:cTn id="36" dur="1" fill="hold">
                                          <p:stCondLst>
                                            <p:cond delay="0"/>
                                          </p:stCondLst>
                                        </p:cTn>
                                        <p:tgtEl>
                                          <p:spTgt spid="18"/>
                                        </p:tgtEl>
                                        <p:attrNameLst>
                                          <p:attrName>style.visibility</p:attrName>
                                        </p:attrNameLst>
                                      </p:cBhvr>
                                      <p:to>
                                        <p:strVal val="visible"/>
                                      </p:to>
                                    </p:set>
                                    <p:anim calcmode="lin" valueType="num">
                                      <p:cBhvr>
                                        <p:cTn id="37" dur="500" fill="hold"/>
                                        <p:tgtEl>
                                          <p:spTgt spid="18"/>
                                        </p:tgtEl>
                                        <p:attrNameLst>
                                          <p:attrName>ppt_w</p:attrName>
                                        </p:attrNameLst>
                                      </p:cBhvr>
                                      <p:tavLst>
                                        <p:tav tm="0">
                                          <p:val>
                                            <p:fltVal val="0"/>
                                          </p:val>
                                        </p:tav>
                                        <p:tav tm="100000">
                                          <p:val>
                                            <p:strVal val="#ppt_w"/>
                                          </p:val>
                                        </p:tav>
                                      </p:tavLst>
                                    </p:anim>
                                    <p:anim calcmode="lin" valueType="num">
                                      <p:cBhvr>
                                        <p:cTn id="38" dur="500" fill="hold"/>
                                        <p:tgtEl>
                                          <p:spTgt spid="18"/>
                                        </p:tgtEl>
                                        <p:attrNameLst>
                                          <p:attrName>ppt_h</p:attrName>
                                        </p:attrNameLst>
                                      </p:cBhvr>
                                      <p:tavLst>
                                        <p:tav tm="0">
                                          <p:val>
                                            <p:fltVal val="0"/>
                                          </p:val>
                                        </p:tav>
                                        <p:tav tm="100000">
                                          <p:val>
                                            <p:strVal val="#ppt_h"/>
                                          </p:val>
                                        </p:tav>
                                      </p:tavLst>
                                    </p:anim>
                                    <p:animEffect transition="in" filter="fade">
                                      <p:cBhvr>
                                        <p:cTn id="39" dur="500"/>
                                        <p:tgtEl>
                                          <p:spTgt spid="18"/>
                                        </p:tgtEl>
                                      </p:cBhvr>
                                    </p:animEffect>
                                  </p:childTnLst>
                                </p:cTn>
                              </p:par>
                              <p:par>
                                <p:cTn id="40" presetID="12" presetClass="entr" presetSubtype="4" fill="hold" grpId="0" nodeType="withEffect">
                                  <p:stCondLst>
                                    <p:cond delay="1900"/>
                                  </p:stCondLst>
                                  <p:childTnLst>
                                    <p:set>
                                      <p:cBhvr>
                                        <p:cTn id="41" dur="1" fill="hold">
                                          <p:stCondLst>
                                            <p:cond delay="0"/>
                                          </p:stCondLst>
                                        </p:cTn>
                                        <p:tgtEl>
                                          <p:spTgt spid="5"/>
                                        </p:tgtEl>
                                        <p:attrNameLst>
                                          <p:attrName>style.visibility</p:attrName>
                                        </p:attrNameLst>
                                      </p:cBhvr>
                                      <p:to>
                                        <p:strVal val="visible"/>
                                      </p:to>
                                    </p:set>
                                    <p:anim calcmode="lin" valueType="num">
                                      <p:cBhvr additive="base">
                                        <p:cTn id="42" dur="500"/>
                                        <p:tgtEl>
                                          <p:spTgt spid="5"/>
                                        </p:tgtEl>
                                        <p:attrNameLst>
                                          <p:attrName>ppt_y</p:attrName>
                                        </p:attrNameLst>
                                      </p:cBhvr>
                                      <p:tavLst>
                                        <p:tav tm="0">
                                          <p:val>
                                            <p:strVal val="#ppt_y+#ppt_h*1.125000"/>
                                          </p:val>
                                        </p:tav>
                                        <p:tav tm="100000">
                                          <p:val>
                                            <p:strVal val="#ppt_y"/>
                                          </p:val>
                                        </p:tav>
                                      </p:tavLst>
                                    </p:anim>
                                    <p:animEffect transition="in" filter="wipe(up)">
                                      <p:cBhvr>
                                        <p:cTn id="43" dur="500"/>
                                        <p:tgtEl>
                                          <p:spTgt spid="5"/>
                                        </p:tgtEl>
                                      </p:cBhvr>
                                    </p:animEffect>
                                  </p:childTnLst>
                                </p:cTn>
                              </p:par>
                              <p:par>
                                <p:cTn id="44" presetID="12" presetClass="entr" presetSubtype="4" fill="hold" grpId="0" nodeType="withEffect">
                                  <p:stCondLst>
                                    <p:cond delay="1900"/>
                                  </p:stCondLst>
                                  <p:childTnLst>
                                    <p:set>
                                      <p:cBhvr>
                                        <p:cTn id="45" dur="1" fill="hold">
                                          <p:stCondLst>
                                            <p:cond delay="0"/>
                                          </p:stCondLst>
                                        </p:cTn>
                                        <p:tgtEl>
                                          <p:spTgt spid="40"/>
                                        </p:tgtEl>
                                        <p:attrNameLst>
                                          <p:attrName>style.visibility</p:attrName>
                                        </p:attrNameLst>
                                      </p:cBhvr>
                                      <p:to>
                                        <p:strVal val="visible"/>
                                      </p:to>
                                    </p:set>
                                    <p:anim calcmode="lin" valueType="num">
                                      <p:cBhvr additive="base">
                                        <p:cTn id="46" dur="500"/>
                                        <p:tgtEl>
                                          <p:spTgt spid="40"/>
                                        </p:tgtEl>
                                        <p:attrNameLst>
                                          <p:attrName>ppt_y</p:attrName>
                                        </p:attrNameLst>
                                      </p:cBhvr>
                                      <p:tavLst>
                                        <p:tav tm="0">
                                          <p:val>
                                            <p:strVal val="#ppt_y+#ppt_h*1.125000"/>
                                          </p:val>
                                        </p:tav>
                                        <p:tav tm="100000">
                                          <p:val>
                                            <p:strVal val="#ppt_y"/>
                                          </p:val>
                                        </p:tav>
                                      </p:tavLst>
                                    </p:anim>
                                    <p:animEffect transition="in" filter="wipe(up)">
                                      <p:cBhvr>
                                        <p:cTn id="47" dur="500"/>
                                        <p:tgtEl>
                                          <p:spTgt spid="40"/>
                                        </p:tgtEl>
                                      </p:cBhvr>
                                    </p:animEffect>
                                  </p:childTnLst>
                                </p:cTn>
                              </p:par>
                              <p:par>
                                <p:cTn id="48" presetID="53" presetClass="entr" presetSubtype="16" fill="hold" nodeType="withEffect">
                                  <p:stCondLst>
                                    <p:cond delay="2200"/>
                                  </p:stCondLst>
                                  <p:childTnLst>
                                    <p:set>
                                      <p:cBhvr>
                                        <p:cTn id="49" dur="1" fill="hold">
                                          <p:stCondLst>
                                            <p:cond delay="0"/>
                                          </p:stCondLst>
                                        </p:cTn>
                                        <p:tgtEl>
                                          <p:spTgt spid="23"/>
                                        </p:tgtEl>
                                        <p:attrNameLst>
                                          <p:attrName>style.visibility</p:attrName>
                                        </p:attrNameLst>
                                      </p:cBhvr>
                                      <p:to>
                                        <p:strVal val="visible"/>
                                      </p:to>
                                    </p:set>
                                    <p:anim calcmode="lin" valueType="num">
                                      <p:cBhvr>
                                        <p:cTn id="50" dur="500" fill="hold"/>
                                        <p:tgtEl>
                                          <p:spTgt spid="23"/>
                                        </p:tgtEl>
                                        <p:attrNameLst>
                                          <p:attrName>ppt_w</p:attrName>
                                        </p:attrNameLst>
                                      </p:cBhvr>
                                      <p:tavLst>
                                        <p:tav tm="0">
                                          <p:val>
                                            <p:fltVal val="0"/>
                                          </p:val>
                                        </p:tav>
                                        <p:tav tm="100000">
                                          <p:val>
                                            <p:strVal val="#ppt_w"/>
                                          </p:val>
                                        </p:tav>
                                      </p:tavLst>
                                    </p:anim>
                                    <p:anim calcmode="lin" valueType="num">
                                      <p:cBhvr>
                                        <p:cTn id="51" dur="500" fill="hold"/>
                                        <p:tgtEl>
                                          <p:spTgt spid="23"/>
                                        </p:tgtEl>
                                        <p:attrNameLst>
                                          <p:attrName>ppt_h</p:attrName>
                                        </p:attrNameLst>
                                      </p:cBhvr>
                                      <p:tavLst>
                                        <p:tav tm="0">
                                          <p:val>
                                            <p:fltVal val="0"/>
                                          </p:val>
                                        </p:tav>
                                        <p:tav tm="100000">
                                          <p:val>
                                            <p:strVal val="#ppt_h"/>
                                          </p:val>
                                        </p:tav>
                                      </p:tavLst>
                                    </p:anim>
                                    <p:animEffect transition="in" filter="fade">
                                      <p:cBhvr>
                                        <p:cTn id="52" dur="500"/>
                                        <p:tgtEl>
                                          <p:spTgt spid="23"/>
                                        </p:tgtEl>
                                      </p:cBhvr>
                                    </p:animEffect>
                                  </p:childTnLst>
                                </p:cTn>
                              </p:par>
                              <p:par>
                                <p:cTn id="53" presetID="12" presetClass="entr" presetSubtype="1" fill="hold" grpId="0" nodeType="withEffect">
                                  <p:stCondLst>
                                    <p:cond delay="2700"/>
                                  </p:stCondLst>
                                  <p:childTnLst>
                                    <p:set>
                                      <p:cBhvr>
                                        <p:cTn id="54" dur="1" fill="hold">
                                          <p:stCondLst>
                                            <p:cond delay="0"/>
                                          </p:stCondLst>
                                        </p:cTn>
                                        <p:tgtEl>
                                          <p:spTgt spid="147"/>
                                        </p:tgtEl>
                                        <p:attrNameLst>
                                          <p:attrName>style.visibility</p:attrName>
                                        </p:attrNameLst>
                                      </p:cBhvr>
                                      <p:to>
                                        <p:strVal val="visible"/>
                                      </p:to>
                                    </p:set>
                                    <p:anim calcmode="lin" valueType="num">
                                      <p:cBhvr additive="base">
                                        <p:cTn id="55" dur="500"/>
                                        <p:tgtEl>
                                          <p:spTgt spid="147"/>
                                        </p:tgtEl>
                                        <p:attrNameLst>
                                          <p:attrName>ppt_y</p:attrName>
                                        </p:attrNameLst>
                                      </p:cBhvr>
                                      <p:tavLst>
                                        <p:tav tm="0">
                                          <p:val>
                                            <p:strVal val="#ppt_y-#ppt_h*1.125000"/>
                                          </p:val>
                                        </p:tav>
                                        <p:tav tm="100000">
                                          <p:val>
                                            <p:strVal val="#ppt_y"/>
                                          </p:val>
                                        </p:tav>
                                      </p:tavLst>
                                    </p:anim>
                                    <p:animEffect transition="in" filter="wipe(down)">
                                      <p:cBhvr>
                                        <p:cTn id="56" dur="500"/>
                                        <p:tgtEl>
                                          <p:spTgt spid="147"/>
                                        </p:tgtEl>
                                      </p:cBhvr>
                                    </p:animEffect>
                                  </p:childTnLst>
                                </p:cTn>
                              </p:par>
                              <p:par>
                                <p:cTn id="57" presetID="12" presetClass="entr" presetSubtype="1" fill="hold" grpId="0" nodeType="withEffect">
                                  <p:stCondLst>
                                    <p:cond delay="2700"/>
                                  </p:stCondLst>
                                  <p:childTnLst>
                                    <p:set>
                                      <p:cBhvr>
                                        <p:cTn id="58" dur="1" fill="hold">
                                          <p:stCondLst>
                                            <p:cond delay="0"/>
                                          </p:stCondLst>
                                        </p:cTn>
                                        <p:tgtEl>
                                          <p:spTgt spid="42"/>
                                        </p:tgtEl>
                                        <p:attrNameLst>
                                          <p:attrName>style.visibility</p:attrName>
                                        </p:attrNameLst>
                                      </p:cBhvr>
                                      <p:to>
                                        <p:strVal val="visible"/>
                                      </p:to>
                                    </p:set>
                                    <p:anim calcmode="lin" valueType="num">
                                      <p:cBhvr additive="base">
                                        <p:cTn id="59" dur="500"/>
                                        <p:tgtEl>
                                          <p:spTgt spid="42"/>
                                        </p:tgtEl>
                                        <p:attrNameLst>
                                          <p:attrName>ppt_y</p:attrName>
                                        </p:attrNameLst>
                                      </p:cBhvr>
                                      <p:tavLst>
                                        <p:tav tm="0">
                                          <p:val>
                                            <p:strVal val="#ppt_y-#ppt_h*1.125000"/>
                                          </p:val>
                                        </p:tav>
                                        <p:tav tm="100000">
                                          <p:val>
                                            <p:strVal val="#ppt_y"/>
                                          </p:val>
                                        </p:tav>
                                      </p:tavLst>
                                    </p:anim>
                                    <p:animEffect transition="in" filter="wipe(down)">
                                      <p:cBhvr>
                                        <p:cTn id="60" dur="500"/>
                                        <p:tgtEl>
                                          <p:spTgt spid="42"/>
                                        </p:tgtEl>
                                      </p:cBhvr>
                                    </p:animEffect>
                                  </p:childTnLst>
                                </p:cTn>
                              </p:par>
                              <p:par>
                                <p:cTn id="61" presetID="53" presetClass="entr" presetSubtype="16" fill="hold" nodeType="withEffect">
                                  <p:stCondLst>
                                    <p:cond delay="2800"/>
                                  </p:stCondLst>
                                  <p:childTnLst>
                                    <p:set>
                                      <p:cBhvr>
                                        <p:cTn id="62" dur="1" fill="hold">
                                          <p:stCondLst>
                                            <p:cond delay="0"/>
                                          </p:stCondLst>
                                        </p:cTn>
                                        <p:tgtEl>
                                          <p:spTgt spid="28"/>
                                        </p:tgtEl>
                                        <p:attrNameLst>
                                          <p:attrName>style.visibility</p:attrName>
                                        </p:attrNameLst>
                                      </p:cBhvr>
                                      <p:to>
                                        <p:strVal val="visible"/>
                                      </p:to>
                                    </p:set>
                                    <p:anim calcmode="lin" valueType="num">
                                      <p:cBhvr>
                                        <p:cTn id="63" dur="500" fill="hold"/>
                                        <p:tgtEl>
                                          <p:spTgt spid="28"/>
                                        </p:tgtEl>
                                        <p:attrNameLst>
                                          <p:attrName>ppt_w</p:attrName>
                                        </p:attrNameLst>
                                      </p:cBhvr>
                                      <p:tavLst>
                                        <p:tav tm="0">
                                          <p:val>
                                            <p:fltVal val="0"/>
                                          </p:val>
                                        </p:tav>
                                        <p:tav tm="100000">
                                          <p:val>
                                            <p:strVal val="#ppt_w"/>
                                          </p:val>
                                        </p:tav>
                                      </p:tavLst>
                                    </p:anim>
                                    <p:anim calcmode="lin" valueType="num">
                                      <p:cBhvr>
                                        <p:cTn id="64" dur="500" fill="hold"/>
                                        <p:tgtEl>
                                          <p:spTgt spid="28"/>
                                        </p:tgtEl>
                                        <p:attrNameLst>
                                          <p:attrName>ppt_h</p:attrName>
                                        </p:attrNameLst>
                                      </p:cBhvr>
                                      <p:tavLst>
                                        <p:tav tm="0">
                                          <p:val>
                                            <p:fltVal val="0"/>
                                          </p:val>
                                        </p:tav>
                                        <p:tav tm="100000">
                                          <p:val>
                                            <p:strVal val="#ppt_h"/>
                                          </p:val>
                                        </p:tav>
                                      </p:tavLst>
                                    </p:anim>
                                    <p:animEffect transition="in" filter="fade">
                                      <p:cBhvr>
                                        <p:cTn id="65" dur="500"/>
                                        <p:tgtEl>
                                          <p:spTgt spid="28"/>
                                        </p:tgtEl>
                                      </p:cBhvr>
                                    </p:animEffect>
                                  </p:childTnLst>
                                </p:cTn>
                              </p:par>
                              <p:par>
                                <p:cTn id="66" presetID="12" presetClass="entr" presetSubtype="4" fill="hold" grpId="0" nodeType="withEffect">
                                  <p:stCondLst>
                                    <p:cond delay="3200"/>
                                  </p:stCondLst>
                                  <p:childTnLst>
                                    <p:set>
                                      <p:cBhvr>
                                        <p:cTn id="67" dur="1" fill="hold">
                                          <p:stCondLst>
                                            <p:cond delay="0"/>
                                          </p:stCondLst>
                                        </p:cTn>
                                        <p:tgtEl>
                                          <p:spTgt spid="148"/>
                                        </p:tgtEl>
                                        <p:attrNameLst>
                                          <p:attrName>style.visibility</p:attrName>
                                        </p:attrNameLst>
                                      </p:cBhvr>
                                      <p:to>
                                        <p:strVal val="visible"/>
                                      </p:to>
                                    </p:set>
                                    <p:anim calcmode="lin" valueType="num">
                                      <p:cBhvr additive="base">
                                        <p:cTn id="68" dur="500"/>
                                        <p:tgtEl>
                                          <p:spTgt spid="148"/>
                                        </p:tgtEl>
                                        <p:attrNameLst>
                                          <p:attrName>ppt_y</p:attrName>
                                        </p:attrNameLst>
                                      </p:cBhvr>
                                      <p:tavLst>
                                        <p:tav tm="0">
                                          <p:val>
                                            <p:strVal val="#ppt_y+#ppt_h*1.125000"/>
                                          </p:val>
                                        </p:tav>
                                        <p:tav tm="100000">
                                          <p:val>
                                            <p:strVal val="#ppt_y"/>
                                          </p:val>
                                        </p:tav>
                                      </p:tavLst>
                                    </p:anim>
                                    <p:animEffect transition="in" filter="wipe(up)">
                                      <p:cBhvr>
                                        <p:cTn id="69" dur="500"/>
                                        <p:tgtEl>
                                          <p:spTgt spid="148"/>
                                        </p:tgtEl>
                                      </p:cBhvr>
                                    </p:animEffect>
                                  </p:childTnLst>
                                </p:cTn>
                              </p:par>
                              <p:par>
                                <p:cTn id="70" presetID="12" presetClass="entr" presetSubtype="4" fill="hold" grpId="0" nodeType="withEffect">
                                  <p:stCondLst>
                                    <p:cond delay="3200"/>
                                  </p:stCondLst>
                                  <p:childTnLst>
                                    <p:set>
                                      <p:cBhvr>
                                        <p:cTn id="71" dur="1" fill="hold">
                                          <p:stCondLst>
                                            <p:cond delay="0"/>
                                          </p:stCondLst>
                                        </p:cTn>
                                        <p:tgtEl>
                                          <p:spTgt spid="43"/>
                                        </p:tgtEl>
                                        <p:attrNameLst>
                                          <p:attrName>style.visibility</p:attrName>
                                        </p:attrNameLst>
                                      </p:cBhvr>
                                      <p:to>
                                        <p:strVal val="visible"/>
                                      </p:to>
                                    </p:set>
                                    <p:anim calcmode="lin" valueType="num">
                                      <p:cBhvr additive="base">
                                        <p:cTn id="72" dur="500"/>
                                        <p:tgtEl>
                                          <p:spTgt spid="43"/>
                                        </p:tgtEl>
                                        <p:attrNameLst>
                                          <p:attrName>ppt_y</p:attrName>
                                        </p:attrNameLst>
                                      </p:cBhvr>
                                      <p:tavLst>
                                        <p:tav tm="0">
                                          <p:val>
                                            <p:strVal val="#ppt_y+#ppt_h*1.125000"/>
                                          </p:val>
                                        </p:tav>
                                        <p:tav tm="100000">
                                          <p:val>
                                            <p:strVal val="#ppt_y"/>
                                          </p:val>
                                        </p:tav>
                                      </p:tavLst>
                                    </p:anim>
                                    <p:animEffect transition="in" filter="wipe(up)">
                                      <p:cBhvr>
                                        <p:cTn id="73" dur="500"/>
                                        <p:tgtEl>
                                          <p:spTgt spid="43"/>
                                        </p:tgtEl>
                                      </p:cBhvr>
                                    </p:animEffect>
                                  </p:childTnLst>
                                </p:cTn>
                              </p:par>
                              <p:par>
                                <p:cTn id="74" presetID="53" presetClass="entr" presetSubtype="16" fill="hold" nodeType="withEffect">
                                  <p:stCondLst>
                                    <p:cond delay="1400"/>
                                  </p:stCondLst>
                                  <p:childTnLst>
                                    <p:set>
                                      <p:cBhvr>
                                        <p:cTn id="75" dur="1" fill="hold">
                                          <p:stCondLst>
                                            <p:cond delay="0"/>
                                          </p:stCondLst>
                                        </p:cTn>
                                        <p:tgtEl>
                                          <p:spTgt spid="2"/>
                                        </p:tgtEl>
                                        <p:attrNameLst>
                                          <p:attrName>style.visibility</p:attrName>
                                        </p:attrNameLst>
                                      </p:cBhvr>
                                      <p:to>
                                        <p:strVal val="visible"/>
                                      </p:to>
                                    </p:set>
                                    <p:anim calcmode="lin" valueType="num">
                                      <p:cBhvr>
                                        <p:cTn id="76" dur="500" fill="hold"/>
                                        <p:tgtEl>
                                          <p:spTgt spid="2"/>
                                        </p:tgtEl>
                                        <p:attrNameLst>
                                          <p:attrName>ppt_w</p:attrName>
                                        </p:attrNameLst>
                                      </p:cBhvr>
                                      <p:tavLst>
                                        <p:tav tm="0">
                                          <p:val>
                                            <p:fltVal val="0"/>
                                          </p:val>
                                        </p:tav>
                                        <p:tav tm="100000">
                                          <p:val>
                                            <p:strVal val="#ppt_w"/>
                                          </p:val>
                                        </p:tav>
                                      </p:tavLst>
                                    </p:anim>
                                    <p:anim calcmode="lin" valueType="num">
                                      <p:cBhvr>
                                        <p:cTn id="77" dur="500" fill="hold"/>
                                        <p:tgtEl>
                                          <p:spTgt spid="2"/>
                                        </p:tgtEl>
                                        <p:attrNameLst>
                                          <p:attrName>ppt_h</p:attrName>
                                        </p:attrNameLst>
                                      </p:cBhvr>
                                      <p:tavLst>
                                        <p:tav tm="0">
                                          <p:val>
                                            <p:fltVal val="0"/>
                                          </p:val>
                                        </p:tav>
                                        <p:tav tm="100000">
                                          <p:val>
                                            <p:strVal val="#ppt_h"/>
                                          </p:val>
                                        </p:tav>
                                      </p:tavLst>
                                    </p:anim>
                                    <p:animEffect transition="in" filter="fade">
                                      <p:cBhvr>
                                        <p:cTn id="78" dur="500"/>
                                        <p:tgtEl>
                                          <p:spTgt spid="2"/>
                                        </p:tgtEl>
                                      </p:cBhvr>
                                    </p:animEffect>
                                  </p:childTnLst>
                                </p:cTn>
                              </p:par>
                              <p:par>
                                <p:cTn id="79" presetID="12" presetClass="entr" presetSubtype="4" fill="hold" grpId="0" nodeType="withEffect">
                                  <p:stCondLst>
                                    <p:cond delay="3200"/>
                                  </p:stCondLst>
                                  <p:childTnLst>
                                    <p:set>
                                      <p:cBhvr>
                                        <p:cTn id="80" dur="1" fill="hold">
                                          <p:stCondLst>
                                            <p:cond delay="0"/>
                                          </p:stCondLst>
                                        </p:cTn>
                                        <p:tgtEl>
                                          <p:spTgt spid="33"/>
                                        </p:tgtEl>
                                        <p:attrNameLst>
                                          <p:attrName>style.visibility</p:attrName>
                                        </p:attrNameLst>
                                      </p:cBhvr>
                                      <p:to>
                                        <p:strVal val="visible"/>
                                      </p:to>
                                    </p:set>
                                    <p:anim calcmode="lin" valueType="num">
                                      <p:cBhvr additive="base">
                                        <p:cTn id="81" dur="500"/>
                                        <p:tgtEl>
                                          <p:spTgt spid="33"/>
                                        </p:tgtEl>
                                        <p:attrNameLst>
                                          <p:attrName>ppt_y</p:attrName>
                                        </p:attrNameLst>
                                      </p:cBhvr>
                                      <p:tavLst>
                                        <p:tav tm="0">
                                          <p:val>
                                            <p:strVal val="#ppt_y+#ppt_h*1.125000"/>
                                          </p:val>
                                        </p:tav>
                                        <p:tav tm="100000">
                                          <p:val>
                                            <p:strVal val="#ppt_y"/>
                                          </p:val>
                                        </p:tav>
                                      </p:tavLst>
                                    </p:anim>
                                    <p:animEffect transition="in" filter="wipe(up)">
                                      <p:cBhvr>
                                        <p:cTn id="82" dur="500"/>
                                        <p:tgtEl>
                                          <p:spTgt spid="33"/>
                                        </p:tgtEl>
                                      </p:cBhvr>
                                    </p:animEffect>
                                  </p:childTnLst>
                                </p:cTn>
                              </p:par>
                              <p:par>
                                <p:cTn id="83" presetID="12" presetClass="entr" presetSubtype="4" fill="hold" grpId="0" nodeType="withEffect">
                                  <p:stCondLst>
                                    <p:cond delay="3200"/>
                                  </p:stCondLst>
                                  <p:childTnLst>
                                    <p:set>
                                      <p:cBhvr>
                                        <p:cTn id="84" dur="1" fill="hold">
                                          <p:stCondLst>
                                            <p:cond delay="0"/>
                                          </p:stCondLst>
                                        </p:cTn>
                                        <p:tgtEl>
                                          <p:spTgt spid="35"/>
                                        </p:tgtEl>
                                        <p:attrNameLst>
                                          <p:attrName>style.visibility</p:attrName>
                                        </p:attrNameLst>
                                      </p:cBhvr>
                                      <p:to>
                                        <p:strVal val="visible"/>
                                      </p:to>
                                    </p:set>
                                    <p:anim calcmode="lin" valueType="num">
                                      <p:cBhvr additive="base">
                                        <p:cTn id="85" dur="500"/>
                                        <p:tgtEl>
                                          <p:spTgt spid="35"/>
                                        </p:tgtEl>
                                        <p:attrNameLst>
                                          <p:attrName>ppt_y</p:attrName>
                                        </p:attrNameLst>
                                      </p:cBhvr>
                                      <p:tavLst>
                                        <p:tav tm="0">
                                          <p:val>
                                            <p:strVal val="#ppt_y+#ppt_h*1.125000"/>
                                          </p:val>
                                        </p:tav>
                                        <p:tav tm="100000">
                                          <p:val>
                                            <p:strVal val="#ppt_y"/>
                                          </p:val>
                                        </p:tav>
                                      </p:tavLst>
                                    </p:anim>
                                    <p:animEffect transition="in" filter="wipe(up)">
                                      <p:cBhvr>
                                        <p:cTn id="86" dur="500"/>
                                        <p:tgtEl>
                                          <p:spTgt spid="35"/>
                                        </p:tgtEl>
                                      </p:cBhvr>
                                    </p:animEffect>
                                  </p:childTnLst>
                                </p:cTn>
                              </p:par>
                            </p:childTnLst>
                          </p:cTn>
                        </p:par>
                        <p:par>
                          <p:cTn id="87" fill="hold">
                            <p:stCondLst>
                              <p:cond delay="3500"/>
                            </p:stCondLst>
                            <p:childTnLst>
                              <p:par>
                                <p:cTn id="88" presetID="2" presetClass="entr" presetSubtype="4" fill="hold" nodeType="afterEffect">
                                  <p:stCondLst>
                                    <p:cond delay="0"/>
                                  </p:stCondLst>
                                  <p:childTnLst>
                                    <p:set>
                                      <p:cBhvr>
                                        <p:cTn id="89" dur="1" fill="hold">
                                          <p:stCondLst>
                                            <p:cond delay="0"/>
                                          </p:stCondLst>
                                        </p:cTn>
                                        <p:tgtEl>
                                          <p:spTgt spid="44"/>
                                        </p:tgtEl>
                                        <p:attrNameLst>
                                          <p:attrName>style.visibility</p:attrName>
                                        </p:attrNameLst>
                                      </p:cBhvr>
                                      <p:to>
                                        <p:strVal val="visible"/>
                                      </p:to>
                                    </p:set>
                                    <p:anim calcmode="lin" valueType="num">
                                      <p:cBhvr additive="base">
                                        <p:cTn id="90" dur="500" fill="hold"/>
                                        <p:tgtEl>
                                          <p:spTgt spid="44"/>
                                        </p:tgtEl>
                                        <p:attrNameLst>
                                          <p:attrName>ppt_x</p:attrName>
                                        </p:attrNameLst>
                                      </p:cBhvr>
                                      <p:tavLst>
                                        <p:tav tm="0">
                                          <p:val>
                                            <p:strVal val="#ppt_x"/>
                                          </p:val>
                                        </p:tav>
                                        <p:tav tm="100000">
                                          <p:val>
                                            <p:strVal val="#ppt_x"/>
                                          </p:val>
                                        </p:tav>
                                      </p:tavLst>
                                    </p:anim>
                                    <p:anim calcmode="lin" valueType="num">
                                      <p:cBhvr additive="base">
                                        <p:cTn id="91"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bldLvl="0" animBg="1"/>
      <p:bldP spid="38" grpId="0"/>
      <p:bldP spid="39" grpId="0"/>
      <p:bldP spid="40" grpId="0"/>
      <p:bldP spid="147" grpId="0"/>
      <p:bldP spid="148" grpId="0"/>
      <p:bldP spid="41" grpId="0"/>
      <p:bldP spid="150" grpId="0"/>
      <p:bldP spid="42" grpId="0"/>
      <p:bldP spid="43" grpId="0"/>
      <p:bldP spid="33" grpId="0"/>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21195" y="3317593"/>
            <a:ext cx="2701610" cy="751205"/>
          </a:xfrm>
          <a:prstGeom prst="rect">
            <a:avLst/>
          </a:prstGeom>
          <a:noFill/>
        </p:spPr>
        <p:txBody>
          <a:bodyPr wrap="square" rtlCol="0">
            <a:spAutoFit/>
          </a:bodyPr>
          <a:lstStyle/>
          <a:p>
            <a:pPr algn="ctr" defTabSz="608965">
              <a:lnSpc>
                <a:spcPct val="130000"/>
              </a:lnSpc>
            </a:pPr>
            <a:r>
              <a:rPr lang="en-US" altLang="zh-CN" sz="3300" b="1" dirty="0">
                <a:latin typeface="+mj-lt"/>
                <a:ea typeface="微软雅黑" panose="020B0503020204020204" charset="-122"/>
              </a:rPr>
              <a:t>PART</a:t>
            </a:r>
            <a:r>
              <a:rPr lang="zh-CN" altLang="en-US" sz="3300" b="1" dirty="0">
                <a:latin typeface="+mj-lt"/>
                <a:ea typeface="微软雅黑" panose="020B0503020204020204" charset="-122"/>
              </a:rPr>
              <a:t> </a:t>
            </a:r>
            <a:r>
              <a:rPr lang="en-US" altLang="zh-CN" sz="3300" b="1" dirty="0">
                <a:latin typeface="+mj-lt"/>
                <a:ea typeface="微软雅黑" panose="020B0503020204020204" charset="-122"/>
              </a:rPr>
              <a:t>ONE</a:t>
            </a:r>
            <a:endParaRPr lang="zh-CN" altLang="en-US" sz="3300" b="1" dirty="0">
              <a:latin typeface="+mj-lt"/>
              <a:ea typeface="微软雅黑" panose="020B0503020204020204" charset="-122"/>
            </a:endParaRPr>
          </a:p>
        </p:txBody>
      </p:sp>
      <p:sp>
        <p:nvSpPr>
          <p:cNvPr id="3" name="文本框 2"/>
          <p:cNvSpPr txBox="1"/>
          <p:nvPr/>
        </p:nvSpPr>
        <p:spPr>
          <a:xfrm>
            <a:off x="1495901" y="2613184"/>
            <a:ext cx="6153150" cy="991235"/>
          </a:xfrm>
          <a:prstGeom prst="rect">
            <a:avLst/>
          </a:prstGeom>
          <a:noFill/>
        </p:spPr>
        <p:txBody>
          <a:bodyPr wrap="square" rtlCol="0">
            <a:spAutoFit/>
          </a:bodyPr>
          <a:lstStyle/>
          <a:p>
            <a:pPr algn="ctr" defTabSz="608965">
              <a:lnSpc>
                <a:spcPct val="130000"/>
              </a:lnSpc>
            </a:pPr>
            <a:r>
              <a:rPr lang="zh-CN" altLang="en-US" sz="4500" dirty="0">
                <a:latin typeface="+mn-ea"/>
                <a:cs typeface="+mn-ea"/>
                <a:sym typeface="+mn-ea"/>
              </a:rPr>
              <a:t>第一讲：程序转换概述</a:t>
            </a:r>
            <a:endParaRPr lang="zh-CN" altLang="en-US" sz="4500" dirty="0">
              <a:latin typeface="+mj-lt"/>
              <a:ea typeface="微软雅黑" panose="020B0503020204020204" charset="-122"/>
            </a:endParaRPr>
          </a:p>
        </p:txBody>
      </p:sp>
      <p:sp>
        <p:nvSpPr>
          <p:cNvPr id="4" name="矩形 3"/>
          <p:cNvSpPr/>
          <p:nvPr/>
        </p:nvSpPr>
        <p:spPr>
          <a:xfrm>
            <a:off x="3667363" y="3962018"/>
            <a:ext cx="1809275" cy="85006"/>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 219"/>
          <p:cNvSpPr/>
          <p:nvPr/>
        </p:nvSpPr>
        <p:spPr>
          <a:xfrm>
            <a:off x="683260" y="776605"/>
            <a:ext cx="1511300" cy="345440"/>
          </a:xfrm>
          <a:prstGeom prst="roundRect">
            <a:avLst>
              <a:gd name="adj" fmla="val 50000"/>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000">
              <a:solidFill>
                <a:srgbClr val="FFFFFF"/>
              </a:solidFill>
            </a:endParaRPr>
          </a:p>
        </p:txBody>
      </p:sp>
      <p:sp>
        <p:nvSpPr>
          <p:cNvPr id="11" name=" 11"/>
          <p:cNvSpPr/>
          <p:nvPr/>
        </p:nvSpPr>
        <p:spPr>
          <a:xfrm>
            <a:off x="719455" y="5702935"/>
            <a:ext cx="5426710" cy="850265"/>
          </a:xfrm>
          <a:prstGeom prst="homePlat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nSpc>
                <a:spcPct val="130000"/>
              </a:lnSpc>
            </a:pPr>
            <a:r>
              <a:rPr sz="2000" b="1" dirty="0">
                <a:solidFill>
                  <a:schemeClr val="bg1">
                    <a:lumMod val="50000"/>
                  </a:schemeClr>
                </a:solidFill>
                <a:latin typeface="微软雅黑" panose="020B0503020204020204" charset="-122"/>
                <a:ea typeface="微软雅黑" panose="020B0503020204020204" charset="-122"/>
                <a:sym typeface="+mn-ea"/>
              </a:rPr>
              <a:t>英特尔：x86，IA32，安腾，x86-64</a:t>
            </a:r>
            <a:r>
              <a:rPr lang="zh-CN" sz="2000" b="1" dirty="0">
                <a:solidFill>
                  <a:schemeClr val="bg1">
                    <a:lumMod val="50000"/>
                  </a:schemeClr>
                </a:solidFill>
                <a:latin typeface="微软雅黑" panose="020B0503020204020204" charset="-122"/>
                <a:ea typeface="微软雅黑" panose="020B0503020204020204" charset="-122"/>
                <a:sym typeface="+mn-ea"/>
              </a:rPr>
              <a:t>。</a:t>
            </a:r>
            <a:endParaRPr lang="zh-CN" sz="2000" b="1" dirty="0">
              <a:solidFill>
                <a:schemeClr val="bg1">
                  <a:lumMod val="50000"/>
                </a:schemeClr>
              </a:solidFill>
              <a:latin typeface="微软雅黑" panose="020B0503020204020204" charset="-122"/>
              <a:ea typeface="微软雅黑" panose="020B0503020204020204" charset="-122"/>
            </a:endParaRPr>
          </a:p>
          <a:p>
            <a:pPr>
              <a:lnSpc>
                <a:spcPct val="130000"/>
              </a:lnSpc>
            </a:pPr>
            <a:r>
              <a:rPr sz="2000" b="1" dirty="0">
                <a:solidFill>
                  <a:schemeClr val="bg1">
                    <a:lumMod val="50000"/>
                  </a:schemeClr>
                </a:solidFill>
                <a:latin typeface="微软雅黑" panose="020B0503020204020204" charset="-122"/>
                <a:ea typeface="微软雅黑" panose="020B0503020204020204" charset="-122"/>
                <a:sym typeface="+mn-ea"/>
              </a:rPr>
              <a:t>几乎所有的手机都使用ARM</a:t>
            </a:r>
            <a:r>
              <a:rPr lang="zh-CN" sz="2000" b="1" dirty="0">
                <a:solidFill>
                  <a:schemeClr val="bg1">
                    <a:lumMod val="50000"/>
                  </a:schemeClr>
                </a:solidFill>
                <a:latin typeface="微软雅黑" panose="020B0503020204020204" charset="-122"/>
                <a:ea typeface="微软雅黑" panose="020B0503020204020204" charset="-122"/>
                <a:sym typeface="+mn-ea"/>
              </a:rPr>
              <a:t>。</a:t>
            </a:r>
            <a:endParaRPr lang="zh-CN" altLang="en-US" sz="2000">
              <a:solidFill>
                <a:srgbClr val="FFFFFF"/>
              </a:solidFill>
            </a:endParaRPr>
          </a:p>
        </p:txBody>
      </p:sp>
      <p:sp>
        <p:nvSpPr>
          <p:cNvPr id="10" name=" 10"/>
          <p:cNvSpPr/>
          <p:nvPr/>
        </p:nvSpPr>
        <p:spPr>
          <a:xfrm>
            <a:off x="719455" y="4511040"/>
            <a:ext cx="7063105" cy="767715"/>
          </a:xfrm>
          <a:prstGeom prst="homePlate">
            <a:avLst/>
          </a:prstGeom>
          <a:gradFill>
            <a:gsLst>
              <a:gs pos="0">
                <a:schemeClr val="accent1">
                  <a:lumMod val="5000"/>
                  <a:lumOff val="95000"/>
                </a:schemeClr>
              </a:gs>
              <a:gs pos="33000">
                <a:schemeClr val="accent2">
                  <a:lumMod val="20000"/>
                  <a:lumOff val="80000"/>
                </a:schemeClr>
              </a:gs>
              <a:gs pos="90000">
                <a:schemeClr val="accent2">
                  <a:lumMod val="60000"/>
                  <a:lumOff val="40000"/>
                </a:schemeClr>
              </a:gs>
              <a:gs pos="64000">
                <a:schemeClr val="accent2">
                  <a:lumMod val="40000"/>
                  <a:lumOff val="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nSpc>
                <a:spcPct val="130000"/>
              </a:lnSpc>
            </a:pPr>
            <a:r>
              <a:rPr sz="2000" b="1" dirty="0">
                <a:solidFill>
                  <a:schemeClr val="bg1">
                    <a:lumMod val="50000"/>
                  </a:schemeClr>
                </a:solidFill>
                <a:latin typeface="微软雅黑" panose="020B0503020204020204" charset="-122"/>
                <a:ea typeface="微软雅黑" panose="020B0503020204020204" charset="-122"/>
                <a:sym typeface="+mn-ea"/>
              </a:rPr>
              <a:t>机器代码：处理器执行的字节级程序。汇编代码：机器代码的文本表示</a:t>
            </a:r>
            <a:r>
              <a:rPr lang="zh-CN" sz="2000" b="1" dirty="0">
                <a:solidFill>
                  <a:schemeClr val="bg1">
                    <a:lumMod val="50000"/>
                  </a:schemeClr>
                </a:solidFill>
                <a:latin typeface="微软雅黑" panose="020B0503020204020204" charset="-122"/>
                <a:ea typeface="微软雅黑" panose="020B0503020204020204" charset="-122"/>
                <a:sym typeface="+mn-ea"/>
              </a:rPr>
              <a:t>。</a:t>
            </a:r>
            <a:endParaRPr lang="zh-CN" altLang="en-US" sz="2000" b="1" dirty="0">
              <a:solidFill>
                <a:schemeClr val="bg1">
                  <a:lumMod val="50000"/>
                </a:schemeClr>
              </a:solidFill>
              <a:latin typeface="微软雅黑" panose="020B0503020204020204" charset="-122"/>
              <a:ea typeface="微软雅黑" panose="020B0503020204020204" charset="-122"/>
              <a:sym typeface="+mn-ea"/>
            </a:endParaRPr>
          </a:p>
        </p:txBody>
      </p:sp>
      <p:sp>
        <p:nvSpPr>
          <p:cNvPr id="4" name=" 4"/>
          <p:cNvSpPr/>
          <p:nvPr/>
        </p:nvSpPr>
        <p:spPr>
          <a:xfrm>
            <a:off x="719455" y="1647825"/>
            <a:ext cx="6673215" cy="1339215"/>
          </a:xfrm>
          <a:prstGeom prst="homePlate">
            <a:avLst/>
          </a:prstGeom>
          <a:gradFill>
            <a:gsLst>
              <a:gs pos="0">
                <a:schemeClr val="accent1">
                  <a:lumMod val="5000"/>
                  <a:lumOff val="95000"/>
                </a:schemeClr>
              </a:gs>
              <a:gs pos="33000">
                <a:schemeClr val="accent2">
                  <a:lumMod val="20000"/>
                  <a:lumOff val="80000"/>
                </a:schemeClr>
              </a:gs>
              <a:gs pos="90000">
                <a:schemeClr val="accent2">
                  <a:lumMod val="60000"/>
                  <a:lumOff val="40000"/>
                </a:schemeClr>
              </a:gs>
              <a:gs pos="64000">
                <a:schemeClr val="accent2">
                  <a:lumMod val="40000"/>
                  <a:lumOff val="6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nSpc>
                <a:spcPct val="130000"/>
              </a:lnSpc>
            </a:pPr>
            <a:r>
              <a:rPr sz="2000" b="1" dirty="0">
                <a:solidFill>
                  <a:schemeClr val="bg1">
                    <a:lumMod val="50000"/>
                  </a:schemeClr>
                </a:solidFill>
                <a:latin typeface="微软雅黑" panose="020B0503020204020204" charset="-122"/>
                <a:ea typeface="微软雅黑" panose="020B0503020204020204" charset="-122"/>
                <a:sym typeface="+mn-ea"/>
              </a:rPr>
              <a:t>也称为指令集体系结构，用于编写汇编/机器代码所需的处理器设计的部分。</a:t>
            </a:r>
          </a:p>
          <a:p>
            <a:pPr>
              <a:lnSpc>
                <a:spcPct val="130000"/>
              </a:lnSpc>
            </a:pPr>
            <a:r>
              <a:rPr sz="2000" b="1" dirty="0">
                <a:solidFill>
                  <a:schemeClr val="bg1">
                    <a:lumMod val="50000"/>
                  </a:schemeClr>
                </a:solidFill>
                <a:latin typeface="微软雅黑" panose="020B0503020204020204" charset="-122"/>
                <a:ea typeface="微软雅黑" panose="020B0503020204020204" charset="-122"/>
                <a:sym typeface="+mn-ea"/>
              </a:rPr>
              <a:t>示例：指令集规范、寄存器。</a:t>
            </a:r>
            <a:endParaRPr lang="zh-CN" altLang="en-US" sz="2000" b="1" dirty="0">
              <a:solidFill>
                <a:schemeClr val="bg1">
                  <a:lumMod val="50000"/>
                </a:schemeClr>
              </a:solidFill>
              <a:latin typeface="微软雅黑" panose="020B0503020204020204" charset="-122"/>
              <a:ea typeface="微软雅黑" panose="020B0503020204020204" charset="-122"/>
              <a:sym typeface="+mn-ea"/>
            </a:endParaRPr>
          </a:p>
        </p:txBody>
      </p:sp>
      <p:sp>
        <p:nvSpPr>
          <p:cNvPr id="220" name=" 220"/>
          <p:cNvSpPr/>
          <p:nvPr/>
        </p:nvSpPr>
        <p:spPr>
          <a:xfrm>
            <a:off x="719455" y="3550920"/>
            <a:ext cx="6532880" cy="545465"/>
          </a:xfrm>
          <a:prstGeom prst="homePlate">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nSpc>
                <a:spcPct val="130000"/>
              </a:lnSpc>
            </a:pPr>
            <a:r>
              <a:rPr sz="2000" b="1" dirty="0">
                <a:solidFill>
                  <a:schemeClr val="bg1">
                    <a:lumMod val="50000"/>
                  </a:schemeClr>
                </a:solidFill>
                <a:latin typeface="微软雅黑" panose="020B0503020204020204" charset="-122"/>
                <a:ea typeface="微软雅黑" panose="020B0503020204020204" charset="-122"/>
                <a:sym typeface="+mn-ea"/>
              </a:rPr>
              <a:t>架构的实现。例子：缓存大小和核心频率。</a:t>
            </a:r>
            <a:endParaRPr lang="zh-CN" altLang="en-US" sz="2000" b="1" dirty="0">
              <a:solidFill>
                <a:schemeClr val="bg1">
                  <a:lumMod val="50000"/>
                </a:schemeClr>
              </a:solidFill>
              <a:latin typeface="微软雅黑" panose="020B0503020204020204" charset="-122"/>
              <a:ea typeface="微软雅黑" panose="020B0503020204020204" charset="-122"/>
              <a:sym typeface="+mn-ea"/>
            </a:endParaRPr>
          </a:p>
        </p:txBody>
      </p:sp>
      <p:sp>
        <p:nvSpPr>
          <p:cNvPr id="2" name="矩形 1"/>
          <p:cNvSpPr/>
          <p:nvPr/>
        </p:nvSpPr>
        <p:spPr>
          <a:xfrm>
            <a:off x="0" y="38735"/>
            <a:ext cx="4637405" cy="398780"/>
          </a:xfrm>
          <a:prstGeom prst="rect">
            <a:avLst/>
          </a:prstGeom>
        </p:spPr>
        <p:txBody>
          <a:bodyPr wrap="square">
            <a:spAutoFit/>
          </a:bodyPr>
          <a:lstStyle/>
          <a:p>
            <a:pPr algn="l"/>
            <a:r>
              <a:rPr lang="en-US" altLang="zh-CN" sz="2000" b="1" dirty="0"/>
              <a:t>PART ONE 第一讲：程序转换概述</a:t>
            </a:r>
          </a:p>
        </p:txBody>
      </p:sp>
      <p:sp>
        <p:nvSpPr>
          <p:cNvPr id="3" name="椭圆 2"/>
          <p:cNvSpPr/>
          <p:nvPr/>
        </p:nvSpPr>
        <p:spPr>
          <a:xfrm>
            <a:off x="2117725" y="111760"/>
            <a:ext cx="113030" cy="85090"/>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grpSp>
        <p:nvGrpSpPr>
          <p:cNvPr id="13" name="组合 12"/>
          <p:cNvGrpSpPr/>
          <p:nvPr/>
        </p:nvGrpSpPr>
        <p:grpSpPr>
          <a:xfrm>
            <a:off x="683260" y="1233805"/>
            <a:ext cx="1990725" cy="382270"/>
            <a:chOff x="888096" y="1000203"/>
            <a:chExt cx="4259825" cy="944066"/>
          </a:xfrm>
        </p:grpSpPr>
        <p:sp>
          <p:nvSpPr>
            <p:cNvPr id="5" name="矩形 4"/>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6" name="椭圆 5"/>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7" name="椭圆 6"/>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8" name="椭圆 7"/>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9" name="椭圆 8"/>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grpSp>
      <p:sp>
        <p:nvSpPr>
          <p:cNvPr id="17" name="矩形 16"/>
          <p:cNvSpPr/>
          <p:nvPr/>
        </p:nvSpPr>
        <p:spPr>
          <a:xfrm>
            <a:off x="781050" y="1290320"/>
            <a:ext cx="1676400" cy="398780"/>
          </a:xfrm>
          <a:prstGeom prst="rect">
            <a:avLst/>
          </a:prstGeom>
        </p:spPr>
        <p:txBody>
          <a:bodyPr wrap="square">
            <a:spAutoFit/>
          </a:bodyPr>
          <a:lstStyle/>
          <a:p>
            <a:pPr algn="l"/>
            <a:r>
              <a:rPr lang="zh-CN" altLang="en-US" sz="2000" dirty="0"/>
              <a:t>体系结构：</a:t>
            </a:r>
          </a:p>
        </p:txBody>
      </p:sp>
      <p:grpSp>
        <p:nvGrpSpPr>
          <p:cNvPr id="19" name="组合 18"/>
          <p:cNvGrpSpPr/>
          <p:nvPr/>
        </p:nvGrpSpPr>
        <p:grpSpPr>
          <a:xfrm>
            <a:off x="683260" y="3136900"/>
            <a:ext cx="1990725" cy="382270"/>
            <a:chOff x="888096" y="1000203"/>
            <a:chExt cx="4259825" cy="944066"/>
          </a:xfrm>
        </p:grpSpPr>
        <p:sp>
          <p:nvSpPr>
            <p:cNvPr id="20" name="矩形 19"/>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21" name="椭圆 20"/>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22" name="椭圆 21"/>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23" name="椭圆 22"/>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24" name="椭圆 23"/>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grpSp>
      <p:sp>
        <p:nvSpPr>
          <p:cNvPr id="25" name="矩形 24"/>
          <p:cNvSpPr/>
          <p:nvPr/>
        </p:nvSpPr>
        <p:spPr>
          <a:xfrm>
            <a:off x="781050" y="3193415"/>
            <a:ext cx="2262505" cy="398780"/>
          </a:xfrm>
          <a:prstGeom prst="rect">
            <a:avLst/>
          </a:prstGeom>
        </p:spPr>
        <p:txBody>
          <a:bodyPr wrap="square">
            <a:spAutoFit/>
          </a:bodyPr>
          <a:lstStyle/>
          <a:p>
            <a:pPr algn="l"/>
            <a:r>
              <a:rPr lang="zh-CN" altLang="en-US" sz="2000" dirty="0"/>
              <a:t>微型体系结构：</a:t>
            </a:r>
          </a:p>
        </p:txBody>
      </p:sp>
      <p:grpSp>
        <p:nvGrpSpPr>
          <p:cNvPr id="27" name="组合 26"/>
          <p:cNvGrpSpPr/>
          <p:nvPr/>
        </p:nvGrpSpPr>
        <p:grpSpPr>
          <a:xfrm>
            <a:off x="683260" y="4096385"/>
            <a:ext cx="1990725" cy="382270"/>
            <a:chOff x="888096" y="1000203"/>
            <a:chExt cx="4259825" cy="944066"/>
          </a:xfrm>
        </p:grpSpPr>
        <p:sp>
          <p:nvSpPr>
            <p:cNvPr id="28" name="矩形 27"/>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29" name="椭圆 28"/>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30" name="椭圆 29"/>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31" name="椭圆 30"/>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32" name="椭圆 31"/>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grpSp>
      <p:sp>
        <p:nvSpPr>
          <p:cNvPr id="33" name="矩形 32"/>
          <p:cNvSpPr/>
          <p:nvPr/>
        </p:nvSpPr>
        <p:spPr>
          <a:xfrm>
            <a:off x="781050" y="4152900"/>
            <a:ext cx="1676400" cy="398780"/>
          </a:xfrm>
          <a:prstGeom prst="rect">
            <a:avLst/>
          </a:prstGeom>
        </p:spPr>
        <p:txBody>
          <a:bodyPr wrap="square">
            <a:spAutoFit/>
          </a:bodyPr>
          <a:lstStyle/>
          <a:p>
            <a:pPr algn="l"/>
            <a:r>
              <a:rPr lang="zh-CN" altLang="en-US" sz="2000" dirty="0"/>
              <a:t>代码形式：</a:t>
            </a:r>
          </a:p>
        </p:txBody>
      </p:sp>
      <p:grpSp>
        <p:nvGrpSpPr>
          <p:cNvPr id="35" name="组合 34"/>
          <p:cNvGrpSpPr/>
          <p:nvPr/>
        </p:nvGrpSpPr>
        <p:grpSpPr>
          <a:xfrm>
            <a:off x="683260" y="5288280"/>
            <a:ext cx="1990725" cy="382270"/>
            <a:chOff x="888096" y="1000203"/>
            <a:chExt cx="4259825" cy="944066"/>
          </a:xfrm>
        </p:grpSpPr>
        <p:sp>
          <p:nvSpPr>
            <p:cNvPr id="36" name="矩形 35"/>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37" name="椭圆 36"/>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38" name="椭圆 37"/>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39" name="椭圆 38"/>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sp>
          <p:nvSpPr>
            <p:cNvPr id="40" name="椭圆 39"/>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2000"/>
            </a:p>
          </p:txBody>
        </p:sp>
      </p:grpSp>
      <p:sp>
        <p:nvSpPr>
          <p:cNvPr id="41" name="矩形 40"/>
          <p:cNvSpPr/>
          <p:nvPr/>
        </p:nvSpPr>
        <p:spPr>
          <a:xfrm>
            <a:off x="781050" y="5344795"/>
            <a:ext cx="2516505" cy="398780"/>
          </a:xfrm>
          <a:prstGeom prst="rect">
            <a:avLst/>
          </a:prstGeom>
        </p:spPr>
        <p:txBody>
          <a:bodyPr wrap="square">
            <a:spAutoFit/>
          </a:bodyPr>
          <a:lstStyle/>
          <a:p>
            <a:pPr algn="l"/>
            <a:r>
              <a:rPr lang="zh-CN" altLang="en-US" sz="2000" dirty="0"/>
              <a:t>使用ISAs的例子：</a:t>
            </a:r>
          </a:p>
        </p:txBody>
      </p:sp>
      <p:sp>
        <p:nvSpPr>
          <p:cNvPr id="12" name="矩形 11"/>
          <p:cNvSpPr/>
          <p:nvPr/>
        </p:nvSpPr>
        <p:spPr>
          <a:xfrm>
            <a:off x="769620" y="776605"/>
            <a:ext cx="1676400" cy="398780"/>
          </a:xfrm>
          <a:prstGeom prst="rect">
            <a:avLst/>
          </a:prstGeom>
        </p:spPr>
        <p:txBody>
          <a:bodyPr wrap="square">
            <a:spAutoFit/>
          </a:bodyPr>
          <a:lstStyle/>
          <a:p>
            <a:r>
              <a:rPr lang="zh-CN" altLang="en-US" sz="2000" dirty="0"/>
              <a:t>相关概念：</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ppt_w*0.05"/>
                                          </p:val>
                                        </p:tav>
                                        <p:tav tm="100000">
                                          <p:val>
                                            <p:strVal val="#ppt_w"/>
                                          </p:val>
                                        </p:tav>
                                      </p:tavLst>
                                    </p:anim>
                                    <p:anim calcmode="lin" valueType="num">
                                      <p:cBhvr>
                                        <p:cTn id="8" dur="500" fill="hold"/>
                                        <p:tgtEl>
                                          <p:spTgt spid="4"/>
                                        </p:tgtEl>
                                        <p:attrNameLst>
                                          <p:attrName>ppt_h</p:attrName>
                                        </p:attrNameLst>
                                      </p:cBhvr>
                                      <p:tavLst>
                                        <p:tav tm="0">
                                          <p:val>
                                            <p:strVal val="#ppt_h"/>
                                          </p:val>
                                        </p:tav>
                                        <p:tav tm="100000">
                                          <p:val>
                                            <p:strVal val="#ppt_h"/>
                                          </p:val>
                                        </p:tav>
                                      </p:tavLst>
                                    </p:anim>
                                    <p:anim calcmode="lin" valueType="num">
                                      <p:cBhvr>
                                        <p:cTn id="9" dur="500" fill="hold"/>
                                        <p:tgtEl>
                                          <p:spTgt spid="4"/>
                                        </p:tgtEl>
                                        <p:attrNameLst>
                                          <p:attrName>ppt_x</p:attrName>
                                        </p:attrNameLst>
                                      </p:cBhvr>
                                      <p:tavLst>
                                        <p:tav tm="0">
                                          <p:val>
                                            <p:strVal val="#ppt_x-.2"/>
                                          </p:val>
                                        </p:tav>
                                        <p:tav tm="100000">
                                          <p:val>
                                            <p:strVal val="#ppt_x"/>
                                          </p:val>
                                        </p:tav>
                                      </p:tavLst>
                                    </p:anim>
                                    <p:anim calcmode="lin" valueType="num">
                                      <p:cBhvr>
                                        <p:cTn id="10" dur="500" fill="hold"/>
                                        <p:tgtEl>
                                          <p:spTgt spid="4"/>
                                        </p:tgtEl>
                                        <p:attrNameLst>
                                          <p:attrName>ppt_y</p:attrName>
                                        </p:attrNameLst>
                                      </p:cBhvr>
                                      <p:tavLst>
                                        <p:tav tm="0">
                                          <p:val>
                                            <p:strVal val="#ppt_y"/>
                                          </p:val>
                                        </p:tav>
                                        <p:tav tm="100000">
                                          <p:val>
                                            <p:strVal val="#ppt_y"/>
                                          </p:val>
                                        </p:tav>
                                      </p:tavLst>
                                    </p:anim>
                                    <p:animEffect transition="in" filter="fade">
                                      <p:cBhvr>
                                        <p:cTn id="11" dur="500"/>
                                        <p:tgtEl>
                                          <p:spTgt spid="4"/>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grpId="0" nodeType="clickEffect">
                                  <p:stCondLst>
                                    <p:cond delay="0"/>
                                  </p:stCondLst>
                                  <p:childTnLst>
                                    <p:set>
                                      <p:cBhvr>
                                        <p:cTn id="15" dur="1" fill="hold">
                                          <p:stCondLst>
                                            <p:cond delay="0"/>
                                          </p:stCondLst>
                                        </p:cTn>
                                        <p:tgtEl>
                                          <p:spTgt spid="220"/>
                                        </p:tgtEl>
                                        <p:attrNameLst>
                                          <p:attrName>style.visibility</p:attrName>
                                        </p:attrNameLst>
                                      </p:cBhvr>
                                      <p:to>
                                        <p:strVal val="visible"/>
                                      </p:to>
                                    </p:set>
                                    <p:anim calcmode="lin" valueType="num">
                                      <p:cBhvr>
                                        <p:cTn id="16" dur="500" fill="hold"/>
                                        <p:tgtEl>
                                          <p:spTgt spid="220"/>
                                        </p:tgtEl>
                                        <p:attrNameLst>
                                          <p:attrName>ppt_w</p:attrName>
                                        </p:attrNameLst>
                                      </p:cBhvr>
                                      <p:tavLst>
                                        <p:tav tm="0">
                                          <p:val>
                                            <p:strVal val="#ppt_w*0.05"/>
                                          </p:val>
                                        </p:tav>
                                        <p:tav tm="100000">
                                          <p:val>
                                            <p:strVal val="#ppt_w"/>
                                          </p:val>
                                        </p:tav>
                                      </p:tavLst>
                                    </p:anim>
                                    <p:anim calcmode="lin" valueType="num">
                                      <p:cBhvr>
                                        <p:cTn id="17" dur="500" fill="hold"/>
                                        <p:tgtEl>
                                          <p:spTgt spid="220"/>
                                        </p:tgtEl>
                                        <p:attrNameLst>
                                          <p:attrName>ppt_h</p:attrName>
                                        </p:attrNameLst>
                                      </p:cBhvr>
                                      <p:tavLst>
                                        <p:tav tm="0">
                                          <p:val>
                                            <p:strVal val="#ppt_h"/>
                                          </p:val>
                                        </p:tav>
                                        <p:tav tm="100000">
                                          <p:val>
                                            <p:strVal val="#ppt_h"/>
                                          </p:val>
                                        </p:tav>
                                      </p:tavLst>
                                    </p:anim>
                                    <p:anim calcmode="lin" valueType="num">
                                      <p:cBhvr>
                                        <p:cTn id="18" dur="500" fill="hold"/>
                                        <p:tgtEl>
                                          <p:spTgt spid="220"/>
                                        </p:tgtEl>
                                        <p:attrNameLst>
                                          <p:attrName>ppt_x</p:attrName>
                                        </p:attrNameLst>
                                      </p:cBhvr>
                                      <p:tavLst>
                                        <p:tav tm="0">
                                          <p:val>
                                            <p:strVal val="#ppt_x-.2"/>
                                          </p:val>
                                        </p:tav>
                                        <p:tav tm="100000">
                                          <p:val>
                                            <p:strVal val="#ppt_x"/>
                                          </p:val>
                                        </p:tav>
                                      </p:tavLst>
                                    </p:anim>
                                    <p:anim calcmode="lin" valueType="num">
                                      <p:cBhvr>
                                        <p:cTn id="19" dur="500" fill="hold"/>
                                        <p:tgtEl>
                                          <p:spTgt spid="220"/>
                                        </p:tgtEl>
                                        <p:attrNameLst>
                                          <p:attrName>ppt_y</p:attrName>
                                        </p:attrNameLst>
                                      </p:cBhvr>
                                      <p:tavLst>
                                        <p:tav tm="0">
                                          <p:val>
                                            <p:strVal val="#ppt_y"/>
                                          </p:val>
                                        </p:tav>
                                        <p:tav tm="100000">
                                          <p:val>
                                            <p:strVal val="#ppt_y"/>
                                          </p:val>
                                        </p:tav>
                                      </p:tavLst>
                                    </p:anim>
                                    <p:animEffect transition="in" filter="fade">
                                      <p:cBhvr>
                                        <p:cTn id="20" dur="500"/>
                                        <p:tgtEl>
                                          <p:spTgt spid="220"/>
                                        </p:tgtEl>
                                      </p:cBhvr>
                                    </p:animEffect>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ppt_w</p:attrName>
                                        </p:attrNameLst>
                                      </p:cBhvr>
                                      <p:tavLst>
                                        <p:tav tm="0">
                                          <p:val>
                                            <p:strVal val="#ppt_w*0.05"/>
                                          </p:val>
                                        </p:tav>
                                        <p:tav tm="100000">
                                          <p:val>
                                            <p:strVal val="#ppt_w"/>
                                          </p:val>
                                        </p:tav>
                                      </p:tavLst>
                                    </p:anim>
                                    <p:anim calcmode="lin" valueType="num">
                                      <p:cBhvr>
                                        <p:cTn id="26" dur="500" fill="hold"/>
                                        <p:tgtEl>
                                          <p:spTgt spid="10"/>
                                        </p:tgtEl>
                                        <p:attrNameLst>
                                          <p:attrName>ppt_h</p:attrName>
                                        </p:attrNameLst>
                                      </p:cBhvr>
                                      <p:tavLst>
                                        <p:tav tm="0">
                                          <p:val>
                                            <p:strVal val="#ppt_h"/>
                                          </p:val>
                                        </p:tav>
                                        <p:tav tm="100000">
                                          <p:val>
                                            <p:strVal val="#ppt_h"/>
                                          </p:val>
                                        </p:tav>
                                      </p:tavLst>
                                    </p:anim>
                                    <p:anim calcmode="lin" valueType="num">
                                      <p:cBhvr>
                                        <p:cTn id="27" dur="500" fill="hold"/>
                                        <p:tgtEl>
                                          <p:spTgt spid="10"/>
                                        </p:tgtEl>
                                        <p:attrNameLst>
                                          <p:attrName>ppt_x</p:attrName>
                                        </p:attrNameLst>
                                      </p:cBhvr>
                                      <p:tavLst>
                                        <p:tav tm="0">
                                          <p:val>
                                            <p:strVal val="#ppt_x-.2"/>
                                          </p:val>
                                        </p:tav>
                                        <p:tav tm="100000">
                                          <p:val>
                                            <p:strVal val="#ppt_x"/>
                                          </p:val>
                                        </p:tav>
                                      </p:tavLst>
                                    </p:anim>
                                    <p:anim calcmode="lin" valueType="num">
                                      <p:cBhvr>
                                        <p:cTn id="28" dur="500" fill="hold"/>
                                        <p:tgtEl>
                                          <p:spTgt spid="10"/>
                                        </p:tgtEl>
                                        <p:attrNameLst>
                                          <p:attrName>ppt_y</p:attrName>
                                        </p:attrNameLst>
                                      </p:cBhvr>
                                      <p:tavLst>
                                        <p:tav tm="0">
                                          <p:val>
                                            <p:strVal val="#ppt_y"/>
                                          </p:val>
                                        </p:tav>
                                        <p:tav tm="100000">
                                          <p:val>
                                            <p:strVal val="#ppt_y"/>
                                          </p:val>
                                        </p:tav>
                                      </p:tavLst>
                                    </p:anim>
                                    <p:animEffect transition="in" filter="fade">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54" presetClass="entr" presetSubtype="0" accel="10000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anim calcmode="lin" valueType="num">
                                      <p:cBhvr>
                                        <p:cTn id="34" dur="500" fill="hold"/>
                                        <p:tgtEl>
                                          <p:spTgt spid="11"/>
                                        </p:tgtEl>
                                        <p:attrNameLst>
                                          <p:attrName>ppt_w</p:attrName>
                                        </p:attrNameLst>
                                      </p:cBhvr>
                                      <p:tavLst>
                                        <p:tav tm="0">
                                          <p:val>
                                            <p:strVal val="#ppt_w*0.05"/>
                                          </p:val>
                                        </p:tav>
                                        <p:tav tm="100000">
                                          <p:val>
                                            <p:strVal val="#ppt_w"/>
                                          </p:val>
                                        </p:tav>
                                      </p:tavLst>
                                    </p:anim>
                                    <p:anim calcmode="lin" valueType="num">
                                      <p:cBhvr>
                                        <p:cTn id="35" dur="500" fill="hold"/>
                                        <p:tgtEl>
                                          <p:spTgt spid="11"/>
                                        </p:tgtEl>
                                        <p:attrNameLst>
                                          <p:attrName>ppt_h</p:attrName>
                                        </p:attrNameLst>
                                      </p:cBhvr>
                                      <p:tavLst>
                                        <p:tav tm="0">
                                          <p:val>
                                            <p:strVal val="#ppt_h"/>
                                          </p:val>
                                        </p:tav>
                                        <p:tav tm="100000">
                                          <p:val>
                                            <p:strVal val="#ppt_h"/>
                                          </p:val>
                                        </p:tav>
                                      </p:tavLst>
                                    </p:anim>
                                    <p:anim calcmode="lin" valueType="num">
                                      <p:cBhvr>
                                        <p:cTn id="36" dur="500" fill="hold"/>
                                        <p:tgtEl>
                                          <p:spTgt spid="11"/>
                                        </p:tgtEl>
                                        <p:attrNameLst>
                                          <p:attrName>ppt_x</p:attrName>
                                        </p:attrNameLst>
                                      </p:cBhvr>
                                      <p:tavLst>
                                        <p:tav tm="0">
                                          <p:val>
                                            <p:strVal val="#ppt_x-.2"/>
                                          </p:val>
                                        </p:tav>
                                        <p:tav tm="100000">
                                          <p:val>
                                            <p:strVal val="#ppt_x"/>
                                          </p:val>
                                        </p:tav>
                                      </p:tavLst>
                                    </p:anim>
                                    <p:anim calcmode="lin" valueType="num">
                                      <p:cBhvr>
                                        <p:cTn id="37" dur="500" fill="hold"/>
                                        <p:tgtEl>
                                          <p:spTgt spid="11"/>
                                        </p:tgtEl>
                                        <p:attrNameLst>
                                          <p:attrName>ppt_y</p:attrName>
                                        </p:attrNameLst>
                                      </p:cBhvr>
                                      <p:tavLst>
                                        <p:tav tm="0">
                                          <p:val>
                                            <p:strVal val="#ppt_y"/>
                                          </p:val>
                                        </p:tav>
                                        <p:tav tm="100000">
                                          <p:val>
                                            <p:strVal val="#ppt_y"/>
                                          </p:val>
                                        </p:tav>
                                      </p:tavLst>
                                    </p:anim>
                                    <p:animEffect transition="in" filter="fad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0" grpId="0" bldLvl="0" animBg="1"/>
      <p:bldP spid="4" grpId="0" bldLvl="0" animBg="1"/>
      <p:bldP spid="220"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矩形 1"/>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3" name="椭圆 2"/>
          <p:cNvSpPr/>
          <p:nvPr/>
        </p:nvSpPr>
        <p:spPr>
          <a:xfrm>
            <a:off x="21065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矩形 4"/>
          <p:cNvSpPr/>
          <p:nvPr/>
        </p:nvSpPr>
        <p:spPr>
          <a:xfrm>
            <a:off x="712781" y="606990"/>
            <a:ext cx="3044825" cy="460375"/>
          </a:xfrm>
          <a:prstGeom prst="rect">
            <a:avLst/>
          </a:prstGeom>
        </p:spPr>
        <p:txBody>
          <a:bodyPr wrap="none">
            <a:spAutoFit/>
          </a:bodyPr>
          <a:lstStyle/>
          <a:p>
            <a:pPr algn="l"/>
            <a:r>
              <a:rPr lang="en-US" altLang="zh-CN" sz="2400" dirty="0"/>
              <a:t>汇编/机器代码视图</a:t>
            </a:r>
            <a:r>
              <a:rPr lang="zh-CN" altLang="en-US" sz="2400" dirty="0"/>
              <a:t>：</a:t>
            </a:r>
          </a:p>
        </p:txBody>
      </p:sp>
      <p:sp>
        <p:nvSpPr>
          <p:cNvPr id="147462" name="Rectangle 6"/>
          <p:cNvSpPr>
            <a:spLocks noChangeArrowheads="1"/>
          </p:cNvSpPr>
          <p:nvPr/>
        </p:nvSpPr>
        <p:spPr bwMode="auto">
          <a:xfrm>
            <a:off x="800100" y="1097280"/>
            <a:ext cx="2400300" cy="1657350"/>
          </a:xfrm>
          <a:prstGeom prst="rect">
            <a:avLst/>
          </a:prstGeom>
          <a:solidFill>
            <a:srgbClr val="EFBFBF"/>
          </a:solidFill>
          <a:ln w="28575">
            <a:solidFill>
              <a:schemeClr val="tx1"/>
            </a:solidFill>
            <a:miter lim="800000"/>
          </a:ln>
          <a:effectLst/>
        </p:spPr>
        <p:txBody>
          <a:bodyPr lIns="67865" tIns="33337" rIns="67865" bIns="33337"/>
          <a:lstStyle/>
          <a:p>
            <a:pPr>
              <a:lnSpc>
                <a:spcPct val="100000"/>
              </a:lnSpc>
            </a:pPr>
            <a:r>
              <a:rPr lang="en-US" sz="1350" dirty="0">
                <a:latin typeface="Calibri" panose="020F0502020204030204" charset="0"/>
              </a:rPr>
              <a:t>CPU</a:t>
            </a:r>
          </a:p>
        </p:txBody>
      </p:sp>
      <p:sp>
        <p:nvSpPr>
          <p:cNvPr id="147460" name="Rectangle 4"/>
          <p:cNvSpPr>
            <a:spLocks noChangeArrowheads="1"/>
          </p:cNvSpPr>
          <p:nvPr/>
        </p:nvSpPr>
        <p:spPr bwMode="auto">
          <a:xfrm>
            <a:off x="1057275" y="1783080"/>
            <a:ext cx="400050" cy="342900"/>
          </a:xfrm>
          <a:prstGeom prst="rect">
            <a:avLst/>
          </a:prstGeom>
          <a:solidFill>
            <a:schemeClr val="accent3"/>
          </a:solidFill>
          <a:ln w="25400">
            <a:solidFill>
              <a:schemeClr val="tx1"/>
            </a:solidFill>
            <a:miter lim="800000"/>
          </a:ln>
          <a:effectLst/>
        </p:spPr>
        <p:txBody>
          <a:bodyPr wrap="none" anchor="ctr"/>
          <a:lstStyle/>
          <a:p>
            <a:pPr>
              <a:lnSpc>
                <a:spcPct val="100000"/>
              </a:lnSpc>
            </a:pPr>
            <a:r>
              <a:rPr lang="en-US" sz="1350" dirty="0">
                <a:latin typeface="Calibri" panose="020F0502020204030204" charset="0"/>
              </a:rPr>
              <a:t>PC</a:t>
            </a:r>
          </a:p>
        </p:txBody>
      </p:sp>
      <p:sp>
        <p:nvSpPr>
          <p:cNvPr id="147461" name="Rectangle 5"/>
          <p:cNvSpPr>
            <a:spLocks noChangeArrowheads="1"/>
          </p:cNvSpPr>
          <p:nvPr/>
        </p:nvSpPr>
        <p:spPr bwMode="auto">
          <a:xfrm>
            <a:off x="1771650" y="1325880"/>
            <a:ext cx="1257300" cy="571500"/>
          </a:xfrm>
          <a:prstGeom prst="rect">
            <a:avLst/>
          </a:prstGeom>
          <a:solidFill>
            <a:schemeClr val="accent3"/>
          </a:solidFill>
          <a:ln w="25400">
            <a:solidFill>
              <a:schemeClr val="tx1"/>
            </a:solidFill>
            <a:miter lim="800000"/>
          </a:ln>
          <a:effectLst/>
        </p:spPr>
        <p:txBody>
          <a:bodyPr wrap="none" anchor="ctr"/>
          <a:lstStyle/>
          <a:p>
            <a:pPr algn="ctr">
              <a:lnSpc>
                <a:spcPct val="100000"/>
              </a:lnSpc>
            </a:pPr>
            <a:r>
              <a:rPr lang="zh-CN" altLang="en-US" sz="1350" dirty="0">
                <a:latin typeface="Calibri" panose="020F0502020204030204" charset="0"/>
              </a:rPr>
              <a:t>寄存器</a:t>
            </a:r>
          </a:p>
        </p:txBody>
      </p:sp>
      <p:sp>
        <p:nvSpPr>
          <p:cNvPr id="147463" name="Rectangle 7"/>
          <p:cNvSpPr>
            <a:spLocks noChangeArrowheads="1"/>
          </p:cNvSpPr>
          <p:nvPr/>
        </p:nvSpPr>
        <p:spPr bwMode="auto">
          <a:xfrm>
            <a:off x="4514850" y="1097280"/>
            <a:ext cx="1314450" cy="1657350"/>
          </a:xfrm>
          <a:prstGeom prst="rect">
            <a:avLst/>
          </a:prstGeom>
          <a:solidFill>
            <a:schemeClr val="accent2">
              <a:lumMod val="20000"/>
              <a:lumOff val="80000"/>
            </a:schemeClr>
          </a:solidFill>
          <a:ln w="25400">
            <a:solidFill>
              <a:schemeClr val="tx1"/>
            </a:solidFill>
            <a:miter lim="800000"/>
          </a:ln>
          <a:effectLst/>
        </p:spPr>
        <p:txBody>
          <a:bodyPr wrap="none" anchorCtr="1"/>
          <a:lstStyle/>
          <a:p>
            <a:pPr algn="ctr">
              <a:lnSpc>
                <a:spcPct val="100000"/>
              </a:lnSpc>
            </a:pPr>
            <a:r>
              <a:rPr lang="zh-CN" altLang="en-US" sz="1350" dirty="0">
                <a:latin typeface="Calibri" panose="020F0502020204030204" charset="0"/>
              </a:rPr>
              <a:t>内存</a:t>
            </a:r>
          </a:p>
        </p:txBody>
      </p:sp>
      <p:sp>
        <p:nvSpPr>
          <p:cNvPr id="147464" name="Text Box 8"/>
          <p:cNvSpPr txBox="1">
            <a:spLocks noChangeArrowheads="1"/>
          </p:cNvSpPr>
          <p:nvPr/>
        </p:nvSpPr>
        <p:spPr bwMode="auto">
          <a:xfrm>
            <a:off x="4743450" y="1594756"/>
            <a:ext cx="857250" cy="758190"/>
          </a:xfrm>
          <a:prstGeom prst="rect">
            <a:avLst/>
          </a:prstGeom>
          <a:noFill/>
          <a:ln w="12700">
            <a:noFill/>
            <a:miter lim="800000"/>
          </a:ln>
          <a:effectLst/>
        </p:spPr>
        <p:txBody>
          <a:bodyPr wrap="square" lIns="67865" tIns="33337" rIns="67865" bIns="33337">
            <a:spAutoFit/>
          </a:bodyPr>
          <a:lstStyle/>
          <a:p>
            <a:pPr algn="ctr">
              <a:lnSpc>
                <a:spcPct val="100000"/>
              </a:lnSpc>
            </a:pPr>
            <a:r>
              <a:rPr lang="zh-CN" altLang="en-US" sz="1500" dirty="0">
                <a:latin typeface="Calibri" panose="020F0502020204030204" charset="0"/>
              </a:rPr>
              <a:t>代码</a:t>
            </a:r>
          </a:p>
          <a:p>
            <a:pPr algn="ctr">
              <a:lnSpc>
                <a:spcPct val="100000"/>
              </a:lnSpc>
            </a:pPr>
            <a:r>
              <a:rPr lang="zh-CN" altLang="en-US" sz="1500" dirty="0">
                <a:latin typeface="Calibri" panose="020F0502020204030204" charset="0"/>
              </a:rPr>
              <a:t>数据</a:t>
            </a:r>
          </a:p>
          <a:p>
            <a:pPr algn="ctr">
              <a:lnSpc>
                <a:spcPct val="100000"/>
              </a:lnSpc>
            </a:pPr>
            <a:r>
              <a:rPr lang="zh-CN" altLang="en-US" sz="1500" dirty="0">
                <a:latin typeface="Calibri" panose="020F0502020204030204" charset="0"/>
              </a:rPr>
              <a:t>堆栈</a:t>
            </a:r>
          </a:p>
        </p:txBody>
      </p:sp>
      <p:sp>
        <p:nvSpPr>
          <p:cNvPr id="147465" name="Line 9"/>
          <p:cNvSpPr>
            <a:spLocks noChangeShapeType="1"/>
          </p:cNvSpPr>
          <p:nvPr/>
        </p:nvSpPr>
        <p:spPr bwMode="auto">
          <a:xfrm>
            <a:off x="3200400" y="1573530"/>
            <a:ext cx="1314450" cy="0"/>
          </a:xfrm>
          <a:prstGeom prst="line">
            <a:avLst/>
          </a:prstGeom>
          <a:noFill/>
          <a:ln w="25400">
            <a:solidFill>
              <a:schemeClr val="tx1"/>
            </a:solidFill>
            <a:round/>
            <a:tailEnd type="triangle" w="lg" len="lg"/>
          </a:ln>
          <a:effectLst/>
        </p:spPr>
        <p:txBody>
          <a:bodyPr wrap="none" anchor="ctr"/>
          <a:lstStyle/>
          <a:p>
            <a:endParaRPr lang="en-US" sz="1350" dirty="0">
              <a:latin typeface="Calibri" panose="020F0502020204030204" charset="0"/>
            </a:endParaRPr>
          </a:p>
        </p:txBody>
      </p:sp>
      <p:sp>
        <p:nvSpPr>
          <p:cNvPr id="147466" name="Line 10"/>
          <p:cNvSpPr>
            <a:spLocks noChangeShapeType="1"/>
          </p:cNvSpPr>
          <p:nvPr/>
        </p:nvSpPr>
        <p:spPr bwMode="auto">
          <a:xfrm>
            <a:off x="3200400" y="1973580"/>
            <a:ext cx="1314450" cy="0"/>
          </a:xfrm>
          <a:prstGeom prst="line">
            <a:avLst/>
          </a:prstGeom>
          <a:noFill/>
          <a:ln w="25400">
            <a:solidFill>
              <a:schemeClr val="tx1"/>
            </a:solidFill>
            <a:round/>
            <a:headEnd type="triangle" w="lg" len="lg"/>
            <a:tailEnd type="triangle" w="lg" len="lg"/>
          </a:ln>
          <a:effectLst/>
        </p:spPr>
        <p:txBody>
          <a:bodyPr wrap="none" anchor="ctr"/>
          <a:lstStyle/>
          <a:p>
            <a:endParaRPr lang="en-US" sz="1350" dirty="0">
              <a:latin typeface="Calibri" panose="020F0502020204030204" charset="0"/>
            </a:endParaRPr>
          </a:p>
        </p:txBody>
      </p:sp>
      <p:sp>
        <p:nvSpPr>
          <p:cNvPr id="147467" name="Line 11"/>
          <p:cNvSpPr>
            <a:spLocks noChangeShapeType="1"/>
          </p:cNvSpPr>
          <p:nvPr/>
        </p:nvSpPr>
        <p:spPr bwMode="auto">
          <a:xfrm>
            <a:off x="3200400" y="2373630"/>
            <a:ext cx="1314450" cy="0"/>
          </a:xfrm>
          <a:prstGeom prst="line">
            <a:avLst/>
          </a:prstGeom>
          <a:noFill/>
          <a:ln w="25400">
            <a:solidFill>
              <a:schemeClr val="tx1"/>
            </a:solidFill>
            <a:round/>
            <a:headEnd type="triangle" w="lg" len="lg"/>
          </a:ln>
          <a:effectLst/>
        </p:spPr>
        <p:txBody>
          <a:bodyPr wrap="none" anchor="ctr"/>
          <a:lstStyle/>
          <a:p>
            <a:endParaRPr lang="en-US" sz="1350" dirty="0">
              <a:latin typeface="Calibri" panose="020F0502020204030204" charset="0"/>
            </a:endParaRPr>
          </a:p>
        </p:txBody>
      </p:sp>
      <p:sp>
        <p:nvSpPr>
          <p:cNvPr id="147468" name="Text Box 12"/>
          <p:cNvSpPr txBox="1">
            <a:spLocks noChangeArrowheads="1"/>
          </p:cNvSpPr>
          <p:nvPr/>
        </p:nvSpPr>
        <p:spPr bwMode="auto">
          <a:xfrm>
            <a:off x="3200400" y="1268730"/>
            <a:ext cx="1314450" cy="296545"/>
          </a:xfrm>
          <a:prstGeom prst="rect">
            <a:avLst/>
          </a:prstGeom>
          <a:noFill/>
          <a:ln w="12700">
            <a:noFill/>
            <a:miter lim="800000"/>
          </a:ln>
          <a:effectLst/>
        </p:spPr>
        <p:txBody>
          <a:bodyPr lIns="67865" tIns="33337" rIns="67865" bIns="33337">
            <a:spAutoFit/>
          </a:bodyPr>
          <a:lstStyle/>
          <a:p>
            <a:pPr algn="ctr">
              <a:lnSpc>
                <a:spcPct val="100000"/>
              </a:lnSpc>
            </a:pPr>
            <a:r>
              <a:rPr lang="zh-CN" altLang="en-US" sz="1500" b="0" dirty="0">
                <a:latin typeface="Calibri" panose="020F0502020204030204" charset="0"/>
              </a:rPr>
              <a:t>地址</a:t>
            </a:r>
          </a:p>
        </p:txBody>
      </p:sp>
      <p:sp>
        <p:nvSpPr>
          <p:cNvPr id="147469" name="Text Box 13"/>
          <p:cNvSpPr txBox="1">
            <a:spLocks noChangeArrowheads="1"/>
          </p:cNvSpPr>
          <p:nvPr/>
        </p:nvSpPr>
        <p:spPr bwMode="auto">
          <a:xfrm>
            <a:off x="3230880" y="1687830"/>
            <a:ext cx="1314450" cy="296545"/>
          </a:xfrm>
          <a:prstGeom prst="rect">
            <a:avLst/>
          </a:prstGeom>
          <a:noFill/>
          <a:ln w="12700">
            <a:noFill/>
            <a:miter lim="800000"/>
          </a:ln>
          <a:effectLst/>
        </p:spPr>
        <p:txBody>
          <a:bodyPr lIns="67865" tIns="33337" rIns="67865" bIns="33337">
            <a:spAutoFit/>
          </a:bodyPr>
          <a:lstStyle/>
          <a:p>
            <a:pPr algn="ctr">
              <a:lnSpc>
                <a:spcPct val="100000"/>
              </a:lnSpc>
            </a:pPr>
            <a:r>
              <a:rPr lang="zh-CN" altLang="en-US" sz="1500" b="0" dirty="0">
                <a:latin typeface="Calibri" panose="020F0502020204030204" charset="0"/>
              </a:rPr>
              <a:t>数据</a:t>
            </a:r>
          </a:p>
        </p:txBody>
      </p:sp>
      <p:sp>
        <p:nvSpPr>
          <p:cNvPr id="147470" name="Text Box 14"/>
          <p:cNvSpPr txBox="1">
            <a:spLocks noChangeArrowheads="1"/>
          </p:cNvSpPr>
          <p:nvPr/>
        </p:nvSpPr>
        <p:spPr bwMode="auto">
          <a:xfrm>
            <a:off x="3200400" y="2087880"/>
            <a:ext cx="1257300" cy="296545"/>
          </a:xfrm>
          <a:prstGeom prst="rect">
            <a:avLst/>
          </a:prstGeom>
          <a:noFill/>
          <a:ln w="12700">
            <a:noFill/>
            <a:miter lim="800000"/>
          </a:ln>
          <a:effectLst/>
        </p:spPr>
        <p:txBody>
          <a:bodyPr lIns="67865" tIns="33337" rIns="67865" bIns="33337">
            <a:spAutoFit/>
          </a:bodyPr>
          <a:lstStyle/>
          <a:p>
            <a:pPr algn="ctr">
              <a:lnSpc>
                <a:spcPct val="100000"/>
              </a:lnSpc>
            </a:pPr>
            <a:r>
              <a:rPr lang="zh-CN" altLang="en-US" sz="1500" b="0" dirty="0">
                <a:latin typeface="Calibri" panose="020F0502020204030204" charset="0"/>
              </a:rPr>
              <a:t>指令</a:t>
            </a:r>
          </a:p>
        </p:txBody>
      </p:sp>
      <p:sp>
        <p:nvSpPr>
          <p:cNvPr id="147472" name="Rectangle 16"/>
          <p:cNvSpPr>
            <a:spLocks noChangeArrowheads="1"/>
          </p:cNvSpPr>
          <p:nvPr/>
        </p:nvSpPr>
        <p:spPr bwMode="auto">
          <a:xfrm>
            <a:off x="2000250" y="2011680"/>
            <a:ext cx="800100" cy="514350"/>
          </a:xfrm>
          <a:prstGeom prst="rect">
            <a:avLst/>
          </a:prstGeom>
          <a:solidFill>
            <a:schemeClr val="accent3"/>
          </a:solidFill>
          <a:ln w="25400">
            <a:solidFill>
              <a:schemeClr val="tx1"/>
            </a:solidFill>
            <a:miter lim="800000"/>
          </a:ln>
          <a:effectLst/>
        </p:spPr>
        <p:txBody>
          <a:bodyPr wrap="none" anchor="ctr"/>
          <a:lstStyle/>
          <a:p>
            <a:pPr algn="ctr"/>
            <a:r>
              <a:rPr lang="zh-CN" altLang="en-US" sz="1350" dirty="0">
                <a:latin typeface="Calibri" panose="020F0502020204030204" charset="0"/>
              </a:rPr>
              <a:t>条件码</a:t>
            </a:r>
          </a:p>
        </p:txBody>
      </p:sp>
      <p:sp>
        <p:nvSpPr>
          <p:cNvPr id="10" name="文本框 9"/>
          <p:cNvSpPr txBox="1"/>
          <p:nvPr/>
        </p:nvSpPr>
        <p:spPr>
          <a:xfrm>
            <a:off x="3423285" y="2615565"/>
            <a:ext cx="3120390" cy="1678940"/>
          </a:xfrm>
          <a:prstGeom prst="rect">
            <a:avLst/>
          </a:prstGeom>
          <a:noFill/>
        </p:spPr>
        <p:txBody>
          <a:bodyPr wrap="square" rtlCol="0">
            <a:spAutoFit/>
          </a:bodyPr>
          <a:lstStyle/>
          <a:p>
            <a:pPr marL="338455" lvl="1" indent="0" algn="l" defTabSz="895350" fontAlgn="base">
              <a:spcBef>
                <a:spcPct val="20000"/>
              </a:spcBef>
              <a:buClr>
                <a:srgbClr val="990000"/>
              </a:buClr>
              <a:buSzPct val="110000"/>
              <a:buFont typeface="Wingdings" panose="05000000000000000000" pitchFamily="2" charset="2"/>
              <a:buNone/>
              <a:tabLst>
                <a:tab pos="1371600" algn="l"/>
                <a:tab pos="4572000" algn="l"/>
              </a:tabLst>
            </a:pPr>
            <a:endParaRPr lang="en-US" dirty="0"/>
          </a:p>
          <a:p>
            <a:pPr marL="560705" lvl="1" indent="-222250" algn="l" defTabSz="895350" fontAlgn="base">
              <a:spcBef>
                <a:spcPct val="20000"/>
              </a:spcBef>
              <a:buClr>
                <a:srgbClr val="0D0D0D"/>
              </a:buClr>
              <a:buSzPct val="110000"/>
              <a:buFont typeface="Wingdings" panose="05000000000000000000" pitchFamily="2" charset="2"/>
              <a:buChar char="§"/>
              <a:tabLst>
                <a:tab pos="1371600" algn="l"/>
                <a:tab pos="4572000" algn="l"/>
              </a:tabLst>
            </a:pPr>
            <a:r>
              <a:rPr lang="zh-CN" altLang="en-US" sz="2000" b="1" dirty="0"/>
              <a:t>条件码</a:t>
            </a:r>
          </a:p>
          <a:p>
            <a:pPr marL="840105" lvl="2" indent="-165100" algn="l" defTabSz="895350" fontAlgn="base">
              <a:spcBef>
                <a:spcPct val="20000"/>
              </a:spcBef>
              <a:buSzPct val="80000"/>
              <a:buFont typeface="Wingdings" panose="05000000000000000000" pitchFamily="2" charset="2"/>
              <a:buChar char="§"/>
              <a:tabLst>
                <a:tab pos="1371600" algn="l"/>
                <a:tab pos="4572000" algn="l"/>
              </a:tabLst>
            </a:pPr>
            <a:r>
              <a:rPr lang="en-US" dirty="0">
                <a:latin typeface="Calibri" panose="020F0502020204030204" charset="0"/>
                <a:sym typeface="+mn-ea"/>
              </a:rPr>
              <a:t>存储最近的算术或逻辑操作的状态信息</a:t>
            </a:r>
          </a:p>
          <a:p>
            <a:pPr marL="840105" lvl="2" indent="-165100" algn="l" defTabSz="895350" fontAlgn="base">
              <a:spcBef>
                <a:spcPct val="20000"/>
              </a:spcBef>
              <a:buSzPct val="80000"/>
              <a:buFont typeface="Wingdings" panose="05000000000000000000" pitchFamily="2" charset="2"/>
              <a:buChar char="§"/>
              <a:tabLst>
                <a:tab pos="1371600" algn="l"/>
                <a:tab pos="4572000" algn="l"/>
              </a:tabLst>
            </a:pPr>
            <a:r>
              <a:rPr lang="en-US" dirty="0">
                <a:latin typeface="Calibri" panose="020F0502020204030204" charset="0"/>
                <a:sym typeface="+mn-ea"/>
              </a:rPr>
              <a:t>用于条件分支</a:t>
            </a:r>
          </a:p>
        </p:txBody>
      </p:sp>
      <p:sp>
        <p:nvSpPr>
          <p:cNvPr id="147473" name="Rectangle 17"/>
          <p:cNvSpPr>
            <a:spLocks noGrp="1" noChangeArrowheads="1"/>
          </p:cNvSpPr>
          <p:nvPr/>
        </p:nvSpPr>
        <p:spPr>
          <a:xfrm>
            <a:off x="3611880" y="4264660"/>
            <a:ext cx="2714625" cy="1176338"/>
          </a:xfrm>
          <a:prstGeom prst="rect">
            <a:avLst/>
          </a:prstGeom>
          <a:noFill/>
          <a:ln w="9525">
            <a:noFill/>
            <a:miter lim="800000"/>
          </a:ln>
        </p:spPr>
        <p:txBody>
          <a:bodyPr vert="horz" wrap="square" lIns="68580" tIns="34290" rIns="68580" bIns="3429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8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4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18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18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18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18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18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1800">
                <a:solidFill>
                  <a:schemeClr val="tx1"/>
                </a:solidFill>
                <a:latin typeface="Arial" panose="020B0604020202020204" pitchFamily="34" charset="0"/>
              </a:defRPr>
            </a:lvl9pPr>
          </a:lstStyle>
          <a:p>
            <a:pPr marL="292100" lvl="1" indent="-177800">
              <a:buClr>
                <a:srgbClr val="0D0D0D"/>
              </a:buClr>
            </a:pPr>
            <a:r>
              <a:rPr lang="zh-CN" altLang="en-US" sz="2000" b="1" dirty="0"/>
              <a:t>内存</a:t>
            </a:r>
          </a:p>
          <a:p>
            <a:pPr marL="571500" lvl="2" indent="-165100"/>
            <a:r>
              <a:rPr lang="en-US" sz="1800" dirty="0"/>
              <a:t>代码和用户数据</a:t>
            </a:r>
          </a:p>
          <a:p>
            <a:pPr marL="571500" lvl="2" indent="-165100"/>
            <a:r>
              <a:rPr lang="en-US" sz="1800" dirty="0"/>
              <a:t>字节寻址阵列</a:t>
            </a:r>
          </a:p>
          <a:p>
            <a:pPr marL="571500" lvl="2" indent="-165100"/>
            <a:r>
              <a:rPr lang="en-US" sz="1800" dirty="0"/>
              <a:t>支持</a:t>
            </a:r>
            <a:r>
              <a:rPr lang="zh-CN" altLang="en-US" sz="1800" dirty="0"/>
              <a:t>过程调用</a:t>
            </a:r>
            <a:r>
              <a:rPr lang="en-US" sz="1800" dirty="0"/>
              <a:t>的堆栈</a:t>
            </a:r>
          </a:p>
          <a:p>
            <a:pPr marL="0" indent="0"/>
            <a:endParaRPr lang="en-US" sz="1800" dirty="0"/>
          </a:p>
        </p:txBody>
      </p:sp>
      <p:sp>
        <p:nvSpPr>
          <p:cNvPr id="12" name="文本框 11"/>
          <p:cNvSpPr txBox="1"/>
          <p:nvPr/>
        </p:nvSpPr>
        <p:spPr>
          <a:xfrm>
            <a:off x="571500" y="3006090"/>
            <a:ext cx="2852420" cy="2657475"/>
          </a:xfrm>
          <a:prstGeom prst="rect">
            <a:avLst/>
          </a:prstGeom>
          <a:noFill/>
        </p:spPr>
        <p:txBody>
          <a:bodyPr wrap="square" rtlCol="0">
            <a:spAutoFit/>
          </a:bodyPr>
          <a:lstStyle/>
          <a:p>
            <a:pPr marL="227330" indent="-227330" algn="l" defTabSz="895350" fontAlgn="base">
              <a:spcBef>
                <a:spcPct val="20000"/>
              </a:spcBef>
              <a:buClr>
                <a:srgbClr val="990000"/>
              </a:buClr>
              <a:buSzPct val="60000"/>
              <a:buFont typeface="Wingdings 2" panose="05020102010507070707" pitchFamily="18" charset="2"/>
              <a:buNone/>
              <a:tabLst>
                <a:tab pos="1371600" algn="l"/>
                <a:tab pos="4572000" algn="l"/>
              </a:tabLst>
            </a:pPr>
            <a:r>
              <a:rPr lang="zh-CN" dirty="0"/>
              <a:t>编程可见状态：</a:t>
            </a:r>
          </a:p>
          <a:p>
            <a:pPr marL="560705" lvl="1" indent="-222250" algn="l" defTabSz="895350" fontAlgn="base">
              <a:spcBef>
                <a:spcPct val="20000"/>
              </a:spcBef>
              <a:buClr>
                <a:srgbClr val="0D0D0D"/>
              </a:buClr>
              <a:buSzPct val="110000"/>
              <a:buFont typeface="Wingdings" panose="05000000000000000000" pitchFamily="2" charset="2"/>
              <a:buChar char="§"/>
              <a:tabLst>
                <a:tab pos="1371600" algn="l"/>
                <a:tab pos="4572000" algn="l"/>
              </a:tabLst>
            </a:pPr>
            <a:r>
              <a:rPr lang="en-US" sz="2000" b="1" dirty="0">
                <a:latin typeface="Calibri" panose="020F0502020204030204" charset="0"/>
                <a:sym typeface="+mn-ea"/>
              </a:rPr>
              <a:t>PC: </a:t>
            </a:r>
            <a:r>
              <a:rPr lang="zh-CN" altLang="en-US" sz="2000" b="1" dirty="0">
                <a:latin typeface="Calibri" panose="020F0502020204030204" charset="0"/>
                <a:sym typeface="+mn-ea"/>
              </a:rPr>
              <a:t>程序计数器</a:t>
            </a:r>
          </a:p>
          <a:p>
            <a:pPr marL="840105" lvl="2" indent="-165100" algn="l" defTabSz="895350" fontAlgn="base">
              <a:spcBef>
                <a:spcPct val="20000"/>
              </a:spcBef>
              <a:buSzPct val="80000"/>
              <a:buFont typeface="Wingdings" panose="05000000000000000000" pitchFamily="2" charset="2"/>
              <a:buChar char="§"/>
              <a:tabLst>
                <a:tab pos="1371600" algn="l"/>
                <a:tab pos="4572000" algn="l"/>
              </a:tabLst>
            </a:pPr>
            <a:r>
              <a:rPr lang="zh-CN" altLang="en-US" dirty="0"/>
              <a:t>下一条指令的地址</a:t>
            </a:r>
          </a:p>
          <a:p>
            <a:pPr marL="840105" lvl="2" indent="-165100" algn="l" defTabSz="895350" fontAlgn="base">
              <a:spcBef>
                <a:spcPct val="20000"/>
              </a:spcBef>
              <a:buSzPct val="80000"/>
              <a:buFont typeface="Wingdings" panose="05000000000000000000" pitchFamily="2" charset="2"/>
              <a:buChar char="§"/>
              <a:tabLst>
                <a:tab pos="1371600" algn="l"/>
                <a:tab pos="4572000" algn="l"/>
              </a:tabLst>
            </a:pPr>
            <a:r>
              <a:rPr lang="zh-CN" altLang="en-US" dirty="0">
                <a:latin typeface="Calibri" panose="020F0502020204030204" charset="0"/>
                <a:sym typeface="+mn-ea"/>
              </a:rPr>
              <a:t>用</a:t>
            </a:r>
            <a:r>
              <a:rPr lang="en-US" dirty="0">
                <a:latin typeface="Calibri" panose="020F0502020204030204" charset="0"/>
                <a:sym typeface="+mn-ea"/>
              </a:rPr>
              <a:t> “%RIP”</a:t>
            </a:r>
            <a:r>
              <a:rPr lang="zh-CN" altLang="en-US" dirty="0">
                <a:latin typeface="Calibri" panose="020F0502020204030204" charset="0"/>
                <a:sym typeface="+mn-ea"/>
              </a:rPr>
              <a:t>表示</a:t>
            </a:r>
            <a:r>
              <a:rPr lang="en-US" dirty="0">
                <a:latin typeface="Calibri" panose="020F0502020204030204" charset="0"/>
                <a:sym typeface="+mn-ea"/>
              </a:rPr>
              <a:t> (x86-64)</a:t>
            </a:r>
          </a:p>
          <a:p>
            <a:pPr marL="560705" lvl="1" indent="-222250" algn="l" defTabSz="895350" fontAlgn="base">
              <a:spcBef>
                <a:spcPct val="20000"/>
              </a:spcBef>
              <a:buClr>
                <a:srgbClr val="0D0D0D"/>
              </a:buClr>
              <a:buSzPct val="110000"/>
              <a:buFont typeface="Wingdings" panose="05000000000000000000" pitchFamily="2" charset="2"/>
              <a:buChar char="§"/>
              <a:tabLst>
                <a:tab pos="1371600" algn="l"/>
                <a:tab pos="4572000" algn="l"/>
              </a:tabLst>
            </a:pPr>
            <a:r>
              <a:rPr lang="zh-CN" altLang="en-US" sz="2000" b="1" dirty="0"/>
              <a:t>寄存器文件</a:t>
            </a:r>
          </a:p>
          <a:p>
            <a:pPr marL="840105" lvl="2" indent="-165100" algn="l" defTabSz="895350" fontAlgn="base">
              <a:spcBef>
                <a:spcPct val="20000"/>
              </a:spcBef>
              <a:buSzPct val="80000"/>
              <a:buFont typeface="Wingdings" panose="05000000000000000000" pitchFamily="2" charset="2"/>
              <a:buChar char="§"/>
              <a:tabLst>
                <a:tab pos="1371600" algn="l"/>
                <a:tab pos="4572000" algn="l"/>
              </a:tabLst>
            </a:pPr>
            <a:r>
              <a:rPr lang="en-US" dirty="0">
                <a:latin typeface="Calibri" panose="020F0502020204030204" charset="0"/>
                <a:sym typeface="+mn-ea"/>
              </a:rPr>
              <a:t>大量使用的程序数据</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anim calcmode="lin" valueType="num">
                                      <p:cBhvr>
                                        <p:cTn id="7" dur="500" fill="hold"/>
                                        <p:tgtEl>
                                          <p:spTgt spid="12">
                                            <p:txEl>
                                              <p:pRg st="1" end="1"/>
                                            </p:txEl>
                                          </p:spTgt>
                                        </p:tgtEl>
                                        <p:attrNameLst>
                                          <p:attrName>ppt_w</p:attrName>
                                        </p:attrNameLst>
                                      </p:cBhvr>
                                      <p:tavLst>
                                        <p:tav tm="0">
                                          <p:val>
                                            <p:strVal val="#ppt_w*0.05"/>
                                          </p:val>
                                        </p:tav>
                                        <p:tav tm="100000">
                                          <p:val>
                                            <p:strVal val="#ppt_w"/>
                                          </p:val>
                                        </p:tav>
                                      </p:tavLst>
                                    </p:anim>
                                    <p:anim calcmode="lin" valueType="num">
                                      <p:cBhvr>
                                        <p:cTn id="8" dur="500" fill="hold"/>
                                        <p:tgtEl>
                                          <p:spTgt spid="12">
                                            <p:txEl>
                                              <p:pRg st="1" end="1"/>
                                            </p:txEl>
                                          </p:spTgt>
                                        </p:tgtEl>
                                        <p:attrNameLst>
                                          <p:attrName>ppt_h</p:attrName>
                                        </p:attrNameLst>
                                      </p:cBhvr>
                                      <p:tavLst>
                                        <p:tav tm="0">
                                          <p:val>
                                            <p:strVal val="#ppt_h"/>
                                          </p:val>
                                        </p:tav>
                                        <p:tav tm="100000">
                                          <p:val>
                                            <p:strVal val="#ppt_h"/>
                                          </p:val>
                                        </p:tav>
                                      </p:tavLst>
                                    </p:anim>
                                    <p:anim calcmode="lin" valueType="num">
                                      <p:cBhvr>
                                        <p:cTn id="9" dur="500" fill="hold"/>
                                        <p:tgtEl>
                                          <p:spTgt spid="12">
                                            <p:txEl>
                                              <p:pRg st="1" end="1"/>
                                            </p:txEl>
                                          </p:spTgt>
                                        </p:tgtEl>
                                        <p:attrNameLst>
                                          <p:attrName>ppt_x</p:attrName>
                                        </p:attrNameLst>
                                      </p:cBhvr>
                                      <p:tavLst>
                                        <p:tav tm="0">
                                          <p:val>
                                            <p:strVal val="#ppt_x-.2"/>
                                          </p:val>
                                        </p:tav>
                                        <p:tav tm="100000">
                                          <p:val>
                                            <p:strVal val="#ppt_x"/>
                                          </p:val>
                                        </p:tav>
                                      </p:tavLst>
                                    </p:anim>
                                    <p:anim calcmode="lin" valueType="num">
                                      <p:cBhvr>
                                        <p:cTn id="10" dur="500" fill="hold"/>
                                        <p:tgtEl>
                                          <p:spTgt spid="12">
                                            <p:txEl>
                                              <p:pRg st="1" end="1"/>
                                            </p:txEl>
                                          </p:spTgt>
                                        </p:tgtEl>
                                        <p:attrNameLst>
                                          <p:attrName>ppt_y</p:attrName>
                                        </p:attrNameLst>
                                      </p:cBhvr>
                                      <p:tavLst>
                                        <p:tav tm="0">
                                          <p:val>
                                            <p:strVal val="#ppt_y"/>
                                          </p:val>
                                        </p:tav>
                                        <p:tav tm="100000">
                                          <p:val>
                                            <p:strVal val="#ppt_y"/>
                                          </p:val>
                                        </p:tav>
                                      </p:tavLst>
                                    </p:anim>
                                    <p:animEffect transition="in" filter="fade">
                                      <p:cBhvr>
                                        <p:cTn id="11" dur="500"/>
                                        <p:tgtEl>
                                          <p:spTgt spid="12">
                                            <p:txEl>
                                              <p:pRg st="1" end="1"/>
                                            </p:txEl>
                                          </p:spTgt>
                                        </p:tgtEl>
                                      </p:cBhvr>
                                    </p:animEffect>
                                  </p:childTnLst>
                                </p:cTn>
                              </p:par>
                              <p:par>
                                <p:cTn id="12" presetID="54" presetClass="entr" presetSubtype="0" accel="100000" fill="hold" nodeType="with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 calcmode="lin" valueType="num">
                                      <p:cBhvr>
                                        <p:cTn id="14" dur="500" fill="hold"/>
                                        <p:tgtEl>
                                          <p:spTgt spid="12">
                                            <p:txEl>
                                              <p:pRg st="2" end="2"/>
                                            </p:txEl>
                                          </p:spTgt>
                                        </p:tgtEl>
                                        <p:attrNameLst>
                                          <p:attrName>ppt_w</p:attrName>
                                        </p:attrNameLst>
                                      </p:cBhvr>
                                      <p:tavLst>
                                        <p:tav tm="0">
                                          <p:val>
                                            <p:strVal val="#ppt_w*0.05"/>
                                          </p:val>
                                        </p:tav>
                                        <p:tav tm="100000">
                                          <p:val>
                                            <p:strVal val="#ppt_w"/>
                                          </p:val>
                                        </p:tav>
                                      </p:tavLst>
                                    </p:anim>
                                    <p:anim calcmode="lin" valueType="num">
                                      <p:cBhvr>
                                        <p:cTn id="15" dur="500" fill="hold"/>
                                        <p:tgtEl>
                                          <p:spTgt spid="12">
                                            <p:txEl>
                                              <p:pRg st="2" end="2"/>
                                            </p:txEl>
                                          </p:spTgt>
                                        </p:tgtEl>
                                        <p:attrNameLst>
                                          <p:attrName>ppt_h</p:attrName>
                                        </p:attrNameLst>
                                      </p:cBhvr>
                                      <p:tavLst>
                                        <p:tav tm="0">
                                          <p:val>
                                            <p:strVal val="#ppt_h"/>
                                          </p:val>
                                        </p:tav>
                                        <p:tav tm="100000">
                                          <p:val>
                                            <p:strVal val="#ppt_h"/>
                                          </p:val>
                                        </p:tav>
                                      </p:tavLst>
                                    </p:anim>
                                    <p:anim calcmode="lin" valueType="num">
                                      <p:cBhvr>
                                        <p:cTn id="16" dur="500" fill="hold"/>
                                        <p:tgtEl>
                                          <p:spTgt spid="12">
                                            <p:txEl>
                                              <p:pRg st="2" end="2"/>
                                            </p:txEl>
                                          </p:spTgt>
                                        </p:tgtEl>
                                        <p:attrNameLst>
                                          <p:attrName>ppt_x</p:attrName>
                                        </p:attrNameLst>
                                      </p:cBhvr>
                                      <p:tavLst>
                                        <p:tav tm="0">
                                          <p:val>
                                            <p:strVal val="#ppt_x-.2"/>
                                          </p:val>
                                        </p:tav>
                                        <p:tav tm="100000">
                                          <p:val>
                                            <p:strVal val="#ppt_x"/>
                                          </p:val>
                                        </p:tav>
                                      </p:tavLst>
                                    </p:anim>
                                    <p:anim calcmode="lin" valueType="num">
                                      <p:cBhvr>
                                        <p:cTn id="17" dur="500" fill="hold"/>
                                        <p:tgtEl>
                                          <p:spTgt spid="12">
                                            <p:txEl>
                                              <p:pRg st="2" end="2"/>
                                            </p:txEl>
                                          </p:spTgt>
                                        </p:tgtEl>
                                        <p:attrNameLst>
                                          <p:attrName>ppt_y</p:attrName>
                                        </p:attrNameLst>
                                      </p:cBhvr>
                                      <p:tavLst>
                                        <p:tav tm="0">
                                          <p:val>
                                            <p:strVal val="#ppt_y"/>
                                          </p:val>
                                        </p:tav>
                                        <p:tav tm="100000">
                                          <p:val>
                                            <p:strVal val="#ppt_y"/>
                                          </p:val>
                                        </p:tav>
                                      </p:tavLst>
                                    </p:anim>
                                    <p:animEffect transition="in" filter="fade">
                                      <p:cBhvr>
                                        <p:cTn id="18" dur="500"/>
                                        <p:tgtEl>
                                          <p:spTgt spid="12">
                                            <p:txEl>
                                              <p:pRg st="2" end="2"/>
                                            </p:txEl>
                                          </p:spTgt>
                                        </p:tgtEl>
                                      </p:cBhvr>
                                    </p:animEffect>
                                  </p:childTnLst>
                                </p:cTn>
                              </p:par>
                              <p:par>
                                <p:cTn id="19" presetID="54" presetClass="entr" presetSubtype="0" accel="100000" fill="hold" nodeType="withEffect">
                                  <p:stCondLst>
                                    <p:cond delay="0"/>
                                  </p:stCondLst>
                                  <p:childTnLst>
                                    <p:set>
                                      <p:cBhvr>
                                        <p:cTn id="20" dur="1" fill="hold">
                                          <p:stCondLst>
                                            <p:cond delay="0"/>
                                          </p:stCondLst>
                                        </p:cTn>
                                        <p:tgtEl>
                                          <p:spTgt spid="12">
                                            <p:txEl>
                                              <p:pRg st="3" end="3"/>
                                            </p:txEl>
                                          </p:spTgt>
                                        </p:tgtEl>
                                        <p:attrNameLst>
                                          <p:attrName>style.visibility</p:attrName>
                                        </p:attrNameLst>
                                      </p:cBhvr>
                                      <p:to>
                                        <p:strVal val="visible"/>
                                      </p:to>
                                    </p:set>
                                    <p:anim calcmode="lin" valueType="num">
                                      <p:cBhvr>
                                        <p:cTn id="21" dur="500" fill="hold"/>
                                        <p:tgtEl>
                                          <p:spTgt spid="12">
                                            <p:txEl>
                                              <p:pRg st="3" end="3"/>
                                            </p:txEl>
                                          </p:spTgt>
                                        </p:tgtEl>
                                        <p:attrNameLst>
                                          <p:attrName>ppt_w</p:attrName>
                                        </p:attrNameLst>
                                      </p:cBhvr>
                                      <p:tavLst>
                                        <p:tav tm="0">
                                          <p:val>
                                            <p:strVal val="#ppt_w*0.05"/>
                                          </p:val>
                                        </p:tav>
                                        <p:tav tm="100000">
                                          <p:val>
                                            <p:strVal val="#ppt_w"/>
                                          </p:val>
                                        </p:tav>
                                      </p:tavLst>
                                    </p:anim>
                                    <p:anim calcmode="lin" valueType="num">
                                      <p:cBhvr>
                                        <p:cTn id="22" dur="500" fill="hold"/>
                                        <p:tgtEl>
                                          <p:spTgt spid="12">
                                            <p:txEl>
                                              <p:pRg st="3" end="3"/>
                                            </p:txEl>
                                          </p:spTgt>
                                        </p:tgtEl>
                                        <p:attrNameLst>
                                          <p:attrName>ppt_h</p:attrName>
                                        </p:attrNameLst>
                                      </p:cBhvr>
                                      <p:tavLst>
                                        <p:tav tm="0">
                                          <p:val>
                                            <p:strVal val="#ppt_h"/>
                                          </p:val>
                                        </p:tav>
                                        <p:tav tm="100000">
                                          <p:val>
                                            <p:strVal val="#ppt_h"/>
                                          </p:val>
                                        </p:tav>
                                      </p:tavLst>
                                    </p:anim>
                                    <p:anim calcmode="lin" valueType="num">
                                      <p:cBhvr>
                                        <p:cTn id="23" dur="500" fill="hold"/>
                                        <p:tgtEl>
                                          <p:spTgt spid="12">
                                            <p:txEl>
                                              <p:pRg st="3" end="3"/>
                                            </p:txEl>
                                          </p:spTgt>
                                        </p:tgtEl>
                                        <p:attrNameLst>
                                          <p:attrName>ppt_x</p:attrName>
                                        </p:attrNameLst>
                                      </p:cBhvr>
                                      <p:tavLst>
                                        <p:tav tm="0">
                                          <p:val>
                                            <p:strVal val="#ppt_x-.2"/>
                                          </p:val>
                                        </p:tav>
                                        <p:tav tm="100000">
                                          <p:val>
                                            <p:strVal val="#ppt_x"/>
                                          </p:val>
                                        </p:tav>
                                      </p:tavLst>
                                    </p:anim>
                                    <p:anim calcmode="lin" valueType="num">
                                      <p:cBhvr>
                                        <p:cTn id="24" dur="500" fill="hold"/>
                                        <p:tgtEl>
                                          <p:spTgt spid="12">
                                            <p:txEl>
                                              <p:pRg st="3" end="3"/>
                                            </p:txEl>
                                          </p:spTgt>
                                        </p:tgtEl>
                                        <p:attrNameLst>
                                          <p:attrName>ppt_y</p:attrName>
                                        </p:attrNameLst>
                                      </p:cBhvr>
                                      <p:tavLst>
                                        <p:tav tm="0">
                                          <p:val>
                                            <p:strVal val="#ppt_y"/>
                                          </p:val>
                                        </p:tav>
                                        <p:tav tm="100000">
                                          <p:val>
                                            <p:strVal val="#ppt_y"/>
                                          </p:val>
                                        </p:tav>
                                      </p:tavLst>
                                    </p:anim>
                                    <p:animEffect transition="in" filter="fade">
                                      <p:cBhvr>
                                        <p:cTn id="25" dur="500"/>
                                        <p:tgtEl>
                                          <p:spTgt spid="12">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4" presetClass="entr" presetSubtype="0" accel="100000" fill="hold" nodeType="clickEffect">
                                  <p:stCondLst>
                                    <p:cond delay="0"/>
                                  </p:stCondLst>
                                  <p:childTnLst>
                                    <p:set>
                                      <p:cBhvr>
                                        <p:cTn id="29" dur="1" fill="hold">
                                          <p:stCondLst>
                                            <p:cond delay="0"/>
                                          </p:stCondLst>
                                        </p:cTn>
                                        <p:tgtEl>
                                          <p:spTgt spid="12">
                                            <p:txEl>
                                              <p:pRg st="4" end="4"/>
                                            </p:txEl>
                                          </p:spTgt>
                                        </p:tgtEl>
                                        <p:attrNameLst>
                                          <p:attrName>style.visibility</p:attrName>
                                        </p:attrNameLst>
                                      </p:cBhvr>
                                      <p:to>
                                        <p:strVal val="visible"/>
                                      </p:to>
                                    </p:set>
                                    <p:anim calcmode="lin" valueType="num">
                                      <p:cBhvr>
                                        <p:cTn id="30" dur="500" fill="hold"/>
                                        <p:tgtEl>
                                          <p:spTgt spid="12">
                                            <p:txEl>
                                              <p:pRg st="4" end="4"/>
                                            </p:txEl>
                                          </p:spTgt>
                                        </p:tgtEl>
                                        <p:attrNameLst>
                                          <p:attrName>ppt_w</p:attrName>
                                        </p:attrNameLst>
                                      </p:cBhvr>
                                      <p:tavLst>
                                        <p:tav tm="0">
                                          <p:val>
                                            <p:strVal val="#ppt_w*0.05"/>
                                          </p:val>
                                        </p:tav>
                                        <p:tav tm="100000">
                                          <p:val>
                                            <p:strVal val="#ppt_w"/>
                                          </p:val>
                                        </p:tav>
                                      </p:tavLst>
                                    </p:anim>
                                    <p:anim calcmode="lin" valueType="num">
                                      <p:cBhvr>
                                        <p:cTn id="31" dur="500" fill="hold"/>
                                        <p:tgtEl>
                                          <p:spTgt spid="12">
                                            <p:txEl>
                                              <p:pRg st="4" end="4"/>
                                            </p:txEl>
                                          </p:spTgt>
                                        </p:tgtEl>
                                        <p:attrNameLst>
                                          <p:attrName>ppt_h</p:attrName>
                                        </p:attrNameLst>
                                      </p:cBhvr>
                                      <p:tavLst>
                                        <p:tav tm="0">
                                          <p:val>
                                            <p:strVal val="#ppt_h"/>
                                          </p:val>
                                        </p:tav>
                                        <p:tav tm="100000">
                                          <p:val>
                                            <p:strVal val="#ppt_h"/>
                                          </p:val>
                                        </p:tav>
                                      </p:tavLst>
                                    </p:anim>
                                    <p:anim calcmode="lin" valueType="num">
                                      <p:cBhvr>
                                        <p:cTn id="32" dur="500" fill="hold"/>
                                        <p:tgtEl>
                                          <p:spTgt spid="12">
                                            <p:txEl>
                                              <p:pRg st="4" end="4"/>
                                            </p:txEl>
                                          </p:spTgt>
                                        </p:tgtEl>
                                        <p:attrNameLst>
                                          <p:attrName>ppt_x</p:attrName>
                                        </p:attrNameLst>
                                      </p:cBhvr>
                                      <p:tavLst>
                                        <p:tav tm="0">
                                          <p:val>
                                            <p:strVal val="#ppt_x-.2"/>
                                          </p:val>
                                        </p:tav>
                                        <p:tav tm="100000">
                                          <p:val>
                                            <p:strVal val="#ppt_x"/>
                                          </p:val>
                                        </p:tav>
                                      </p:tavLst>
                                    </p:anim>
                                    <p:anim calcmode="lin" valueType="num">
                                      <p:cBhvr>
                                        <p:cTn id="33" dur="500" fill="hold"/>
                                        <p:tgtEl>
                                          <p:spTgt spid="12">
                                            <p:txEl>
                                              <p:pRg st="4" end="4"/>
                                            </p:txEl>
                                          </p:spTgt>
                                        </p:tgtEl>
                                        <p:attrNameLst>
                                          <p:attrName>ppt_y</p:attrName>
                                        </p:attrNameLst>
                                      </p:cBhvr>
                                      <p:tavLst>
                                        <p:tav tm="0">
                                          <p:val>
                                            <p:strVal val="#ppt_y"/>
                                          </p:val>
                                        </p:tav>
                                        <p:tav tm="100000">
                                          <p:val>
                                            <p:strVal val="#ppt_y"/>
                                          </p:val>
                                        </p:tav>
                                      </p:tavLst>
                                    </p:anim>
                                    <p:animEffect transition="in" filter="fade">
                                      <p:cBhvr>
                                        <p:cTn id="34" dur="500"/>
                                        <p:tgtEl>
                                          <p:spTgt spid="12">
                                            <p:txEl>
                                              <p:pRg st="4" end="4"/>
                                            </p:txEl>
                                          </p:spTgt>
                                        </p:tgtEl>
                                      </p:cBhvr>
                                    </p:animEffect>
                                  </p:childTnLst>
                                </p:cTn>
                              </p:par>
                              <p:par>
                                <p:cTn id="35" presetID="54" presetClass="entr" presetSubtype="0" accel="100000" fill="hold" nodeType="withEffect">
                                  <p:stCondLst>
                                    <p:cond delay="0"/>
                                  </p:stCondLst>
                                  <p:childTnLst>
                                    <p:set>
                                      <p:cBhvr>
                                        <p:cTn id="36" dur="1" fill="hold">
                                          <p:stCondLst>
                                            <p:cond delay="0"/>
                                          </p:stCondLst>
                                        </p:cTn>
                                        <p:tgtEl>
                                          <p:spTgt spid="12">
                                            <p:txEl>
                                              <p:pRg st="5" end="5"/>
                                            </p:txEl>
                                          </p:spTgt>
                                        </p:tgtEl>
                                        <p:attrNameLst>
                                          <p:attrName>style.visibility</p:attrName>
                                        </p:attrNameLst>
                                      </p:cBhvr>
                                      <p:to>
                                        <p:strVal val="visible"/>
                                      </p:to>
                                    </p:set>
                                    <p:anim calcmode="lin" valueType="num">
                                      <p:cBhvr>
                                        <p:cTn id="37" dur="500" fill="hold"/>
                                        <p:tgtEl>
                                          <p:spTgt spid="12">
                                            <p:txEl>
                                              <p:pRg st="5" end="5"/>
                                            </p:txEl>
                                          </p:spTgt>
                                        </p:tgtEl>
                                        <p:attrNameLst>
                                          <p:attrName>ppt_w</p:attrName>
                                        </p:attrNameLst>
                                      </p:cBhvr>
                                      <p:tavLst>
                                        <p:tav tm="0">
                                          <p:val>
                                            <p:strVal val="#ppt_w*0.05"/>
                                          </p:val>
                                        </p:tav>
                                        <p:tav tm="100000">
                                          <p:val>
                                            <p:strVal val="#ppt_w"/>
                                          </p:val>
                                        </p:tav>
                                      </p:tavLst>
                                    </p:anim>
                                    <p:anim calcmode="lin" valueType="num">
                                      <p:cBhvr>
                                        <p:cTn id="38" dur="500" fill="hold"/>
                                        <p:tgtEl>
                                          <p:spTgt spid="12">
                                            <p:txEl>
                                              <p:pRg st="5" end="5"/>
                                            </p:txEl>
                                          </p:spTgt>
                                        </p:tgtEl>
                                        <p:attrNameLst>
                                          <p:attrName>ppt_h</p:attrName>
                                        </p:attrNameLst>
                                      </p:cBhvr>
                                      <p:tavLst>
                                        <p:tav tm="0">
                                          <p:val>
                                            <p:strVal val="#ppt_h"/>
                                          </p:val>
                                        </p:tav>
                                        <p:tav tm="100000">
                                          <p:val>
                                            <p:strVal val="#ppt_h"/>
                                          </p:val>
                                        </p:tav>
                                      </p:tavLst>
                                    </p:anim>
                                    <p:anim calcmode="lin" valueType="num">
                                      <p:cBhvr>
                                        <p:cTn id="39" dur="500" fill="hold"/>
                                        <p:tgtEl>
                                          <p:spTgt spid="12">
                                            <p:txEl>
                                              <p:pRg st="5" end="5"/>
                                            </p:txEl>
                                          </p:spTgt>
                                        </p:tgtEl>
                                        <p:attrNameLst>
                                          <p:attrName>ppt_x</p:attrName>
                                        </p:attrNameLst>
                                      </p:cBhvr>
                                      <p:tavLst>
                                        <p:tav tm="0">
                                          <p:val>
                                            <p:strVal val="#ppt_x-.2"/>
                                          </p:val>
                                        </p:tav>
                                        <p:tav tm="100000">
                                          <p:val>
                                            <p:strVal val="#ppt_x"/>
                                          </p:val>
                                        </p:tav>
                                      </p:tavLst>
                                    </p:anim>
                                    <p:anim calcmode="lin" valueType="num">
                                      <p:cBhvr>
                                        <p:cTn id="40" dur="500" fill="hold"/>
                                        <p:tgtEl>
                                          <p:spTgt spid="12">
                                            <p:txEl>
                                              <p:pRg st="5" end="5"/>
                                            </p:txEl>
                                          </p:spTgt>
                                        </p:tgtEl>
                                        <p:attrNameLst>
                                          <p:attrName>ppt_y</p:attrName>
                                        </p:attrNameLst>
                                      </p:cBhvr>
                                      <p:tavLst>
                                        <p:tav tm="0">
                                          <p:val>
                                            <p:strVal val="#ppt_y"/>
                                          </p:val>
                                        </p:tav>
                                        <p:tav tm="100000">
                                          <p:val>
                                            <p:strVal val="#ppt_y"/>
                                          </p:val>
                                        </p:tav>
                                      </p:tavLst>
                                    </p:anim>
                                    <p:animEffect transition="in" filter="fade">
                                      <p:cBhvr>
                                        <p:cTn id="41" dur="500"/>
                                        <p:tgtEl>
                                          <p:spTgt spid="12">
                                            <p:txEl>
                                              <p:pRg st="5" end="5"/>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4" presetClass="entr" presetSubtype="0" accel="100000" fill="hold" nodeType="clickEffect">
                                  <p:stCondLst>
                                    <p:cond delay="0"/>
                                  </p:stCondLst>
                                  <p:childTnLst>
                                    <p:set>
                                      <p:cBhvr>
                                        <p:cTn id="45" dur="1" fill="hold">
                                          <p:stCondLst>
                                            <p:cond delay="0"/>
                                          </p:stCondLst>
                                        </p:cTn>
                                        <p:tgtEl>
                                          <p:spTgt spid="10">
                                            <p:txEl>
                                              <p:pRg st="1" end="1"/>
                                            </p:txEl>
                                          </p:spTgt>
                                        </p:tgtEl>
                                        <p:attrNameLst>
                                          <p:attrName>style.visibility</p:attrName>
                                        </p:attrNameLst>
                                      </p:cBhvr>
                                      <p:to>
                                        <p:strVal val="visible"/>
                                      </p:to>
                                    </p:set>
                                    <p:anim calcmode="lin" valueType="num">
                                      <p:cBhvr>
                                        <p:cTn id="46" dur="500" fill="hold"/>
                                        <p:tgtEl>
                                          <p:spTgt spid="10">
                                            <p:txEl>
                                              <p:pRg st="1" end="1"/>
                                            </p:txEl>
                                          </p:spTgt>
                                        </p:tgtEl>
                                        <p:attrNameLst>
                                          <p:attrName>ppt_w</p:attrName>
                                        </p:attrNameLst>
                                      </p:cBhvr>
                                      <p:tavLst>
                                        <p:tav tm="0">
                                          <p:val>
                                            <p:strVal val="#ppt_w*0.05"/>
                                          </p:val>
                                        </p:tav>
                                        <p:tav tm="100000">
                                          <p:val>
                                            <p:strVal val="#ppt_w"/>
                                          </p:val>
                                        </p:tav>
                                      </p:tavLst>
                                    </p:anim>
                                    <p:anim calcmode="lin" valueType="num">
                                      <p:cBhvr>
                                        <p:cTn id="47" dur="500" fill="hold"/>
                                        <p:tgtEl>
                                          <p:spTgt spid="10">
                                            <p:txEl>
                                              <p:pRg st="1" end="1"/>
                                            </p:txEl>
                                          </p:spTgt>
                                        </p:tgtEl>
                                        <p:attrNameLst>
                                          <p:attrName>ppt_h</p:attrName>
                                        </p:attrNameLst>
                                      </p:cBhvr>
                                      <p:tavLst>
                                        <p:tav tm="0">
                                          <p:val>
                                            <p:strVal val="#ppt_h"/>
                                          </p:val>
                                        </p:tav>
                                        <p:tav tm="100000">
                                          <p:val>
                                            <p:strVal val="#ppt_h"/>
                                          </p:val>
                                        </p:tav>
                                      </p:tavLst>
                                    </p:anim>
                                    <p:anim calcmode="lin" valueType="num">
                                      <p:cBhvr>
                                        <p:cTn id="48" dur="500" fill="hold"/>
                                        <p:tgtEl>
                                          <p:spTgt spid="10">
                                            <p:txEl>
                                              <p:pRg st="1" end="1"/>
                                            </p:txEl>
                                          </p:spTgt>
                                        </p:tgtEl>
                                        <p:attrNameLst>
                                          <p:attrName>ppt_x</p:attrName>
                                        </p:attrNameLst>
                                      </p:cBhvr>
                                      <p:tavLst>
                                        <p:tav tm="0">
                                          <p:val>
                                            <p:strVal val="#ppt_x-.2"/>
                                          </p:val>
                                        </p:tav>
                                        <p:tav tm="100000">
                                          <p:val>
                                            <p:strVal val="#ppt_x"/>
                                          </p:val>
                                        </p:tav>
                                      </p:tavLst>
                                    </p:anim>
                                    <p:anim calcmode="lin" valueType="num">
                                      <p:cBhvr>
                                        <p:cTn id="49" dur="500" fill="hold"/>
                                        <p:tgtEl>
                                          <p:spTgt spid="10">
                                            <p:txEl>
                                              <p:pRg st="1" end="1"/>
                                            </p:txEl>
                                          </p:spTgt>
                                        </p:tgtEl>
                                        <p:attrNameLst>
                                          <p:attrName>ppt_y</p:attrName>
                                        </p:attrNameLst>
                                      </p:cBhvr>
                                      <p:tavLst>
                                        <p:tav tm="0">
                                          <p:val>
                                            <p:strVal val="#ppt_y"/>
                                          </p:val>
                                        </p:tav>
                                        <p:tav tm="100000">
                                          <p:val>
                                            <p:strVal val="#ppt_y"/>
                                          </p:val>
                                        </p:tav>
                                      </p:tavLst>
                                    </p:anim>
                                    <p:animEffect transition="in" filter="fade">
                                      <p:cBhvr>
                                        <p:cTn id="50" dur="500"/>
                                        <p:tgtEl>
                                          <p:spTgt spid="10">
                                            <p:txEl>
                                              <p:pRg st="1" end="1"/>
                                            </p:txEl>
                                          </p:spTgt>
                                        </p:tgtEl>
                                      </p:cBhvr>
                                    </p:animEffect>
                                  </p:childTnLst>
                                </p:cTn>
                              </p:par>
                              <p:par>
                                <p:cTn id="51" presetID="54" presetClass="entr" presetSubtype="0" accel="100000" fill="hold" nodeType="withEffect">
                                  <p:stCondLst>
                                    <p:cond delay="0"/>
                                  </p:stCondLst>
                                  <p:childTnLst>
                                    <p:set>
                                      <p:cBhvr>
                                        <p:cTn id="52" dur="1" fill="hold">
                                          <p:stCondLst>
                                            <p:cond delay="0"/>
                                          </p:stCondLst>
                                        </p:cTn>
                                        <p:tgtEl>
                                          <p:spTgt spid="10">
                                            <p:txEl>
                                              <p:pRg st="2" end="2"/>
                                            </p:txEl>
                                          </p:spTgt>
                                        </p:tgtEl>
                                        <p:attrNameLst>
                                          <p:attrName>style.visibility</p:attrName>
                                        </p:attrNameLst>
                                      </p:cBhvr>
                                      <p:to>
                                        <p:strVal val="visible"/>
                                      </p:to>
                                    </p:set>
                                    <p:anim calcmode="lin" valueType="num">
                                      <p:cBhvr>
                                        <p:cTn id="53" dur="500" fill="hold"/>
                                        <p:tgtEl>
                                          <p:spTgt spid="10">
                                            <p:txEl>
                                              <p:pRg st="2" end="2"/>
                                            </p:txEl>
                                          </p:spTgt>
                                        </p:tgtEl>
                                        <p:attrNameLst>
                                          <p:attrName>ppt_w</p:attrName>
                                        </p:attrNameLst>
                                      </p:cBhvr>
                                      <p:tavLst>
                                        <p:tav tm="0">
                                          <p:val>
                                            <p:strVal val="#ppt_w*0.05"/>
                                          </p:val>
                                        </p:tav>
                                        <p:tav tm="100000">
                                          <p:val>
                                            <p:strVal val="#ppt_w"/>
                                          </p:val>
                                        </p:tav>
                                      </p:tavLst>
                                    </p:anim>
                                    <p:anim calcmode="lin" valueType="num">
                                      <p:cBhvr>
                                        <p:cTn id="54" dur="500" fill="hold"/>
                                        <p:tgtEl>
                                          <p:spTgt spid="10">
                                            <p:txEl>
                                              <p:pRg st="2" end="2"/>
                                            </p:txEl>
                                          </p:spTgt>
                                        </p:tgtEl>
                                        <p:attrNameLst>
                                          <p:attrName>ppt_h</p:attrName>
                                        </p:attrNameLst>
                                      </p:cBhvr>
                                      <p:tavLst>
                                        <p:tav tm="0">
                                          <p:val>
                                            <p:strVal val="#ppt_h"/>
                                          </p:val>
                                        </p:tav>
                                        <p:tav tm="100000">
                                          <p:val>
                                            <p:strVal val="#ppt_h"/>
                                          </p:val>
                                        </p:tav>
                                      </p:tavLst>
                                    </p:anim>
                                    <p:anim calcmode="lin" valueType="num">
                                      <p:cBhvr>
                                        <p:cTn id="55" dur="500" fill="hold"/>
                                        <p:tgtEl>
                                          <p:spTgt spid="10">
                                            <p:txEl>
                                              <p:pRg st="2" end="2"/>
                                            </p:txEl>
                                          </p:spTgt>
                                        </p:tgtEl>
                                        <p:attrNameLst>
                                          <p:attrName>ppt_x</p:attrName>
                                        </p:attrNameLst>
                                      </p:cBhvr>
                                      <p:tavLst>
                                        <p:tav tm="0">
                                          <p:val>
                                            <p:strVal val="#ppt_x-.2"/>
                                          </p:val>
                                        </p:tav>
                                        <p:tav tm="100000">
                                          <p:val>
                                            <p:strVal val="#ppt_x"/>
                                          </p:val>
                                        </p:tav>
                                      </p:tavLst>
                                    </p:anim>
                                    <p:anim calcmode="lin" valueType="num">
                                      <p:cBhvr>
                                        <p:cTn id="56" dur="500" fill="hold"/>
                                        <p:tgtEl>
                                          <p:spTgt spid="10">
                                            <p:txEl>
                                              <p:pRg st="2" end="2"/>
                                            </p:txEl>
                                          </p:spTgt>
                                        </p:tgtEl>
                                        <p:attrNameLst>
                                          <p:attrName>ppt_y</p:attrName>
                                        </p:attrNameLst>
                                      </p:cBhvr>
                                      <p:tavLst>
                                        <p:tav tm="0">
                                          <p:val>
                                            <p:strVal val="#ppt_y"/>
                                          </p:val>
                                        </p:tav>
                                        <p:tav tm="100000">
                                          <p:val>
                                            <p:strVal val="#ppt_y"/>
                                          </p:val>
                                        </p:tav>
                                      </p:tavLst>
                                    </p:anim>
                                    <p:animEffect transition="in" filter="fade">
                                      <p:cBhvr>
                                        <p:cTn id="57" dur="500"/>
                                        <p:tgtEl>
                                          <p:spTgt spid="10">
                                            <p:txEl>
                                              <p:pRg st="2" end="2"/>
                                            </p:txEl>
                                          </p:spTgt>
                                        </p:tgtEl>
                                      </p:cBhvr>
                                    </p:animEffect>
                                  </p:childTnLst>
                                </p:cTn>
                              </p:par>
                              <p:par>
                                <p:cTn id="58" presetID="54" presetClass="entr" presetSubtype="0" accel="100000" fill="hold" nodeType="withEffect">
                                  <p:stCondLst>
                                    <p:cond delay="0"/>
                                  </p:stCondLst>
                                  <p:childTnLst>
                                    <p:set>
                                      <p:cBhvr>
                                        <p:cTn id="59" dur="1" fill="hold">
                                          <p:stCondLst>
                                            <p:cond delay="0"/>
                                          </p:stCondLst>
                                        </p:cTn>
                                        <p:tgtEl>
                                          <p:spTgt spid="10">
                                            <p:txEl>
                                              <p:pRg st="3" end="3"/>
                                            </p:txEl>
                                          </p:spTgt>
                                        </p:tgtEl>
                                        <p:attrNameLst>
                                          <p:attrName>style.visibility</p:attrName>
                                        </p:attrNameLst>
                                      </p:cBhvr>
                                      <p:to>
                                        <p:strVal val="visible"/>
                                      </p:to>
                                    </p:set>
                                    <p:anim calcmode="lin" valueType="num">
                                      <p:cBhvr>
                                        <p:cTn id="60" dur="500" fill="hold"/>
                                        <p:tgtEl>
                                          <p:spTgt spid="10">
                                            <p:txEl>
                                              <p:pRg st="3" end="3"/>
                                            </p:txEl>
                                          </p:spTgt>
                                        </p:tgtEl>
                                        <p:attrNameLst>
                                          <p:attrName>ppt_w</p:attrName>
                                        </p:attrNameLst>
                                      </p:cBhvr>
                                      <p:tavLst>
                                        <p:tav tm="0">
                                          <p:val>
                                            <p:strVal val="#ppt_w*0.05"/>
                                          </p:val>
                                        </p:tav>
                                        <p:tav tm="100000">
                                          <p:val>
                                            <p:strVal val="#ppt_w"/>
                                          </p:val>
                                        </p:tav>
                                      </p:tavLst>
                                    </p:anim>
                                    <p:anim calcmode="lin" valueType="num">
                                      <p:cBhvr>
                                        <p:cTn id="61" dur="500" fill="hold"/>
                                        <p:tgtEl>
                                          <p:spTgt spid="10">
                                            <p:txEl>
                                              <p:pRg st="3" end="3"/>
                                            </p:txEl>
                                          </p:spTgt>
                                        </p:tgtEl>
                                        <p:attrNameLst>
                                          <p:attrName>ppt_h</p:attrName>
                                        </p:attrNameLst>
                                      </p:cBhvr>
                                      <p:tavLst>
                                        <p:tav tm="0">
                                          <p:val>
                                            <p:strVal val="#ppt_h"/>
                                          </p:val>
                                        </p:tav>
                                        <p:tav tm="100000">
                                          <p:val>
                                            <p:strVal val="#ppt_h"/>
                                          </p:val>
                                        </p:tav>
                                      </p:tavLst>
                                    </p:anim>
                                    <p:anim calcmode="lin" valueType="num">
                                      <p:cBhvr>
                                        <p:cTn id="62" dur="500" fill="hold"/>
                                        <p:tgtEl>
                                          <p:spTgt spid="10">
                                            <p:txEl>
                                              <p:pRg st="3" end="3"/>
                                            </p:txEl>
                                          </p:spTgt>
                                        </p:tgtEl>
                                        <p:attrNameLst>
                                          <p:attrName>ppt_x</p:attrName>
                                        </p:attrNameLst>
                                      </p:cBhvr>
                                      <p:tavLst>
                                        <p:tav tm="0">
                                          <p:val>
                                            <p:strVal val="#ppt_x-.2"/>
                                          </p:val>
                                        </p:tav>
                                        <p:tav tm="100000">
                                          <p:val>
                                            <p:strVal val="#ppt_x"/>
                                          </p:val>
                                        </p:tav>
                                      </p:tavLst>
                                    </p:anim>
                                    <p:anim calcmode="lin" valueType="num">
                                      <p:cBhvr>
                                        <p:cTn id="63" dur="500" fill="hold"/>
                                        <p:tgtEl>
                                          <p:spTgt spid="10">
                                            <p:txEl>
                                              <p:pRg st="3" end="3"/>
                                            </p:txEl>
                                          </p:spTgt>
                                        </p:tgtEl>
                                        <p:attrNameLst>
                                          <p:attrName>ppt_y</p:attrName>
                                        </p:attrNameLst>
                                      </p:cBhvr>
                                      <p:tavLst>
                                        <p:tav tm="0">
                                          <p:val>
                                            <p:strVal val="#ppt_y"/>
                                          </p:val>
                                        </p:tav>
                                        <p:tav tm="100000">
                                          <p:val>
                                            <p:strVal val="#ppt_y"/>
                                          </p:val>
                                        </p:tav>
                                      </p:tavLst>
                                    </p:anim>
                                    <p:animEffect transition="in" filter="fade">
                                      <p:cBhvr>
                                        <p:cTn id="64" dur="500"/>
                                        <p:tgtEl>
                                          <p:spTgt spid="10">
                                            <p:txEl>
                                              <p:pRg st="3" end="3"/>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54" presetClass="entr" presetSubtype="0" accel="100000" fill="hold" nodeType="clickEffect">
                                  <p:stCondLst>
                                    <p:cond delay="0"/>
                                  </p:stCondLst>
                                  <p:childTnLst>
                                    <p:set>
                                      <p:cBhvr>
                                        <p:cTn id="68" dur="1" fill="hold">
                                          <p:stCondLst>
                                            <p:cond delay="0"/>
                                          </p:stCondLst>
                                        </p:cTn>
                                        <p:tgtEl>
                                          <p:spTgt spid="147473">
                                            <p:txEl>
                                              <p:pRg st="0" end="0"/>
                                            </p:txEl>
                                          </p:spTgt>
                                        </p:tgtEl>
                                        <p:attrNameLst>
                                          <p:attrName>style.visibility</p:attrName>
                                        </p:attrNameLst>
                                      </p:cBhvr>
                                      <p:to>
                                        <p:strVal val="visible"/>
                                      </p:to>
                                    </p:set>
                                    <p:anim calcmode="lin" valueType="num">
                                      <p:cBhvr>
                                        <p:cTn id="69" dur="500" fill="hold"/>
                                        <p:tgtEl>
                                          <p:spTgt spid="147473">
                                            <p:txEl>
                                              <p:pRg st="0" end="0"/>
                                            </p:txEl>
                                          </p:spTgt>
                                        </p:tgtEl>
                                        <p:attrNameLst>
                                          <p:attrName>ppt_w</p:attrName>
                                        </p:attrNameLst>
                                      </p:cBhvr>
                                      <p:tavLst>
                                        <p:tav tm="0">
                                          <p:val>
                                            <p:strVal val="#ppt_w*0.05"/>
                                          </p:val>
                                        </p:tav>
                                        <p:tav tm="100000">
                                          <p:val>
                                            <p:strVal val="#ppt_w"/>
                                          </p:val>
                                        </p:tav>
                                      </p:tavLst>
                                    </p:anim>
                                    <p:anim calcmode="lin" valueType="num">
                                      <p:cBhvr>
                                        <p:cTn id="70" dur="500" fill="hold"/>
                                        <p:tgtEl>
                                          <p:spTgt spid="147473">
                                            <p:txEl>
                                              <p:pRg st="0" end="0"/>
                                            </p:txEl>
                                          </p:spTgt>
                                        </p:tgtEl>
                                        <p:attrNameLst>
                                          <p:attrName>ppt_h</p:attrName>
                                        </p:attrNameLst>
                                      </p:cBhvr>
                                      <p:tavLst>
                                        <p:tav tm="0">
                                          <p:val>
                                            <p:strVal val="#ppt_h"/>
                                          </p:val>
                                        </p:tav>
                                        <p:tav tm="100000">
                                          <p:val>
                                            <p:strVal val="#ppt_h"/>
                                          </p:val>
                                        </p:tav>
                                      </p:tavLst>
                                    </p:anim>
                                    <p:anim calcmode="lin" valueType="num">
                                      <p:cBhvr>
                                        <p:cTn id="71" dur="500" fill="hold"/>
                                        <p:tgtEl>
                                          <p:spTgt spid="147473">
                                            <p:txEl>
                                              <p:pRg st="0" end="0"/>
                                            </p:txEl>
                                          </p:spTgt>
                                        </p:tgtEl>
                                        <p:attrNameLst>
                                          <p:attrName>ppt_x</p:attrName>
                                        </p:attrNameLst>
                                      </p:cBhvr>
                                      <p:tavLst>
                                        <p:tav tm="0">
                                          <p:val>
                                            <p:strVal val="#ppt_x-.2"/>
                                          </p:val>
                                        </p:tav>
                                        <p:tav tm="100000">
                                          <p:val>
                                            <p:strVal val="#ppt_x"/>
                                          </p:val>
                                        </p:tav>
                                      </p:tavLst>
                                    </p:anim>
                                    <p:anim calcmode="lin" valueType="num">
                                      <p:cBhvr>
                                        <p:cTn id="72" dur="500" fill="hold"/>
                                        <p:tgtEl>
                                          <p:spTgt spid="147473">
                                            <p:txEl>
                                              <p:pRg st="0" end="0"/>
                                            </p:txEl>
                                          </p:spTgt>
                                        </p:tgtEl>
                                        <p:attrNameLst>
                                          <p:attrName>ppt_y</p:attrName>
                                        </p:attrNameLst>
                                      </p:cBhvr>
                                      <p:tavLst>
                                        <p:tav tm="0">
                                          <p:val>
                                            <p:strVal val="#ppt_y"/>
                                          </p:val>
                                        </p:tav>
                                        <p:tav tm="100000">
                                          <p:val>
                                            <p:strVal val="#ppt_y"/>
                                          </p:val>
                                        </p:tav>
                                      </p:tavLst>
                                    </p:anim>
                                    <p:animEffect transition="in" filter="fade">
                                      <p:cBhvr>
                                        <p:cTn id="73" dur="500"/>
                                        <p:tgtEl>
                                          <p:spTgt spid="147473">
                                            <p:txEl>
                                              <p:pRg st="0" end="0"/>
                                            </p:txEl>
                                          </p:spTgt>
                                        </p:tgtEl>
                                      </p:cBhvr>
                                    </p:animEffect>
                                  </p:childTnLst>
                                </p:cTn>
                              </p:par>
                              <p:par>
                                <p:cTn id="74" presetID="54" presetClass="entr" presetSubtype="0" accel="100000" fill="hold" nodeType="withEffect">
                                  <p:stCondLst>
                                    <p:cond delay="0"/>
                                  </p:stCondLst>
                                  <p:childTnLst>
                                    <p:set>
                                      <p:cBhvr>
                                        <p:cTn id="75" dur="1" fill="hold">
                                          <p:stCondLst>
                                            <p:cond delay="0"/>
                                          </p:stCondLst>
                                        </p:cTn>
                                        <p:tgtEl>
                                          <p:spTgt spid="147473">
                                            <p:txEl>
                                              <p:pRg st="1" end="1"/>
                                            </p:txEl>
                                          </p:spTgt>
                                        </p:tgtEl>
                                        <p:attrNameLst>
                                          <p:attrName>style.visibility</p:attrName>
                                        </p:attrNameLst>
                                      </p:cBhvr>
                                      <p:to>
                                        <p:strVal val="visible"/>
                                      </p:to>
                                    </p:set>
                                    <p:anim calcmode="lin" valueType="num">
                                      <p:cBhvr>
                                        <p:cTn id="76" dur="500" fill="hold"/>
                                        <p:tgtEl>
                                          <p:spTgt spid="147473">
                                            <p:txEl>
                                              <p:pRg st="1" end="1"/>
                                            </p:txEl>
                                          </p:spTgt>
                                        </p:tgtEl>
                                        <p:attrNameLst>
                                          <p:attrName>ppt_w</p:attrName>
                                        </p:attrNameLst>
                                      </p:cBhvr>
                                      <p:tavLst>
                                        <p:tav tm="0">
                                          <p:val>
                                            <p:strVal val="#ppt_w*0.05"/>
                                          </p:val>
                                        </p:tav>
                                        <p:tav tm="100000">
                                          <p:val>
                                            <p:strVal val="#ppt_w"/>
                                          </p:val>
                                        </p:tav>
                                      </p:tavLst>
                                    </p:anim>
                                    <p:anim calcmode="lin" valueType="num">
                                      <p:cBhvr>
                                        <p:cTn id="77" dur="500" fill="hold"/>
                                        <p:tgtEl>
                                          <p:spTgt spid="147473">
                                            <p:txEl>
                                              <p:pRg st="1" end="1"/>
                                            </p:txEl>
                                          </p:spTgt>
                                        </p:tgtEl>
                                        <p:attrNameLst>
                                          <p:attrName>ppt_h</p:attrName>
                                        </p:attrNameLst>
                                      </p:cBhvr>
                                      <p:tavLst>
                                        <p:tav tm="0">
                                          <p:val>
                                            <p:strVal val="#ppt_h"/>
                                          </p:val>
                                        </p:tav>
                                        <p:tav tm="100000">
                                          <p:val>
                                            <p:strVal val="#ppt_h"/>
                                          </p:val>
                                        </p:tav>
                                      </p:tavLst>
                                    </p:anim>
                                    <p:anim calcmode="lin" valueType="num">
                                      <p:cBhvr>
                                        <p:cTn id="78" dur="500" fill="hold"/>
                                        <p:tgtEl>
                                          <p:spTgt spid="147473">
                                            <p:txEl>
                                              <p:pRg st="1" end="1"/>
                                            </p:txEl>
                                          </p:spTgt>
                                        </p:tgtEl>
                                        <p:attrNameLst>
                                          <p:attrName>ppt_x</p:attrName>
                                        </p:attrNameLst>
                                      </p:cBhvr>
                                      <p:tavLst>
                                        <p:tav tm="0">
                                          <p:val>
                                            <p:strVal val="#ppt_x-.2"/>
                                          </p:val>
                                        </p:tav>
                                        <p:tav tm="100000">
                                          <p:val>
                                            <p:strVal val="#ppt_x"/>
                                          </p:val>
                                        </p:tav>
                                      </p:tavLst>
                                    </p:anim>
                                    <p:anim calcmode="lin" valueType="num">
                                      <p:cBhvr>
                                        <p:cTn id="79" dur="500" fill="hold"/>
                                        <p:tgtEl>
                                          <p:spTgt spid="147473">
                                            <p:txEl>
                                              <p:pRg st="1" end="1"/>
                                            </p:txEl>
                                          </p:spTgt>
                                        </p:tgtEl>
                                        <p:attrNameLst>
                                          <p:attrName>ppt_y</p:attrName>
                                        </p:attrNameLst>
                                      </p:cBhvr>
                                      <p:tavLst>
                                        <p:tav tm="0">
                                          <p:val>
                                            <p:strVal val="#ppt_y"/>
                                          </p:val>
                                        </p:tav>
                                        <p:tav tm="100000">
                                          <p:val>
                                            <p:strVal val="#ppt_y"/>
                                          </p:val>
                                        </p:tav>
                                      </p:tavLst>
                                    </p:anim>
                                    <p:animEffect transition="in" filter="fade">
                                      <p:cBhvr>
                                        <p:cTn id="80" dur="500"/>
                                        <p:tgtEl>
                                          <p:spTgt spid="147473">
                                            <p:txEl>
                                              <p:pRg st="1" end="1"/>
                                            </p:txEl>
                                          </p:spTgt>
                                        </p:tgtEl>
                                      </p:cBhvr>
                                    </p:animEffect>
                                  </p:childTnLst>
                                </p:cTn>
                              </p:par>
                              <p:par>
                                <p:cTn id="81" presetID="54" presetClass="entr" presetSubtype="0" accel="100000" fill="hold" nodeType="withEffect">
                                  <p:stCondLst>
                                    <p:cond delay="0"/>
                                  </p:stCondLst>
                                  <p:childTnLst>
                                    <p:set>
                                      <p:cBhvr>
                                        <p:cTn id="82" dur="1" fill="hold">
                                          <p:stCondLst>
                                            <p:cond delay="0"/>
                                          </p:stCondLst>
                                        </p:cTn>
                                        <p:tgtEl>
                                          <p:spTgt spid="147473">
                                            <p:txEl>
                                              <p:pRg st="2" end="2"/>
                                            </p:txEl>
                                          </p:spTgt>
                                        </p:tgtEl>
                                        <p:attrNameLst>
                                          <p:attrName>style.visibility</p:attrName>
                                        </p:attrNameLst>
                                      </p:cBhvr>
                                      <p:to>
                                        <p:strVal val="visible"/>
                                      </p:to>
                                    </p:set>
                                    <p:anim calcmode="lin" valueType="num">
                                      <p:cBhvr>
                                        <p:cTn id="83" dur="500" fill="hold"/>
                                        <p:tgtEl>
                                          <p:spTgt spid="147473">
                                            <p:txEl>
                                              <p:pRg st="2" end="2"/>
                                            </p:txEl>
                                          </p:spTgt>
                                        </p:tgtEl>
                                        <p:attrNameLst>
                                          <p:attrName>ppt_w</p:attrName>
                                        </p:attrNameLst>
                                      </p:cBhvr>
                                      <p:tavLst>
                                        <p:tav tm="0">
                                          <p:val>
                                            <p:strVal val="#ppt_w*0.05"/>
                                          </p:val>
                                        </p:tav>
                                        <p:tav tm="100000">
                                          <p:val>
                                            <p:strVal val="#ppt_w"/>
                                          </p:val>
                                        </p:tav>
                                      </p:tavLst>
                                    </p:anim>
                                    <p:anim calcmode="lin" valueType="num">
                                      <p:cBhvr>
                                        <p:cTn id="84" dur="500" fill="hold"/>
                                        <p:tgtEl>
                                          <p:spTgt spid="147473">
                                            <p:txEl>
                                              <p:pRg st="2" end="2"/>
                                            </p:txEl>
                                          </p:spTgt>
                                        </p:tgtEl>
                                        <p:attrNameLst>
                                          <p:attrName>ppt_h</p:attrName>
                                        </p:attrNameLst>
                                      </p:cBhvr>
                                      <p:tavLst>
                                        <p:tav tm="0">
                                          <p:val>
                                            <p:strVal val="#ppt_h"/>
                                          </p:val>
                                        </p:tav>
                                        <p:tav tm="100000">
                                          <p:val>
                                            <p:strVal val="#ppt_h"/>
                                          </p:val>
                                        </p:tav>
                                      </p:tavLst>
                                    </p:anim>
                                    <p:anim calcmode="lin" valueType="num">
                                      <p:cBhvr>
                                        <p:cTn id="85" dur="500" fill="hold"/>
                                        <p:tgtEl>
                                          <p:spTgt spid="147473">
                                            <p:txEl>
                                              <p:pRg st="2" end="2"/>
                                            </p:txEl>
                                          </p:spTgt>
                                        </p:tgtEl>
                                        <p:attrNameLst>
                                          <p:attrName>ppt_x</p:attrName>
                                        </p:attrNameLst>
                                      </p:cBhvr>
                                      <p:tavLst>
                                        <p:tav tm="0">
                                          <p:val>
                                            <p:strVal val="#ppt_x-.2"/>
                                          </p:val>
                                        </p:tav>
                                        <p:tav tm="100000">
                                          <p:val>
                                            <p:strVal val="#ppt_x"/>
                                          </p:val>
                                        </p:tav>
                                      </p:tavLst>
                                    </p:anim>
                                    <p:anim calcmode="lin" valueType="num">
                                      <p:cBhvr>
                                        <p:cTn id="86" dur="500" fill="hold"/>
                                        <p:tgtEl>
                                          <p:spTgt spid="147473">
                                            <p:txEl>
                                              <p:pRg st="2" end="2"/>
                                            </p:txEl>
                                          </p:spTgt>
                                        </p:tgtEl>
                                        <p:attrNameLst>
                                          <p:attrName>ppt_y</p:attrName>
                                        </p:attrNameLst>
                                      </p:cBhvr>
                                      <p:tavLst>
                                        <p:tav tm="0">
                                          <p:val>
                                            <p:strVal val="#ppt_y"/>
                                          </p:val>
                                        </p:tav>
                                        <p:tav tm="100000">
                                          <p:val>
                                            <p:strVal val="#ppt_y"/>
                                          </p:val>
                                        </p:tav>
                                      </p:tavLst>
                                    </p:anim>
                                    <p:animEffect transition="in" filter="fade">
                                      <p:cBhvr>
                                        <p:cTn id="87" dur="500"/>
                                        <p:tgtEl>
                                          <p:spTgt spid="147473">
                                            <p:txEl>
                                              <p:pRg st="2" end="2"/>
                                            </p:txEl>
                                          </p:spTgt>
                                        </p:tgtEl>
                                      </p:cBhvr>
                                    </p:animEffect>
                                  </p:childTnLst>
                                </p:cTn>
                              </p:par>
                              <p:par>
                                <p:cTn id="88" presetID="54" presetClass="entr" presetSubtype="0" accel="100000" fill="hold" nodeType="withEffect">
                                  <p:stCondLst>
                                    <p:cond delay="0"/>
                                  </p:stCondLst>
                                  <p:childTnLst>
                                    <p:set>
                                      <p:cBhvr>
                                        <p:cTn id="89" dur="1" fill="hold">
                                          <p:stCondLst>
                                            <p:cond delay="0"/>
                                          </p:stCondLst>
                                        </p:cTn>
                                        <p:tgtEl>
                                          <p:spTgt spid="147473">
                                            <p:txEl>
                                              <p:pRg st="3" end="3"/>
                                            </p:txEl>
                                          </p:spTgt>
                                        </p:tgtEl>
                                        <p:attrNameLst>
                                          <p:attrName>style.visibility</p:attrName>
                                        </p:attrNameLst>
                                      </p:cBhvr>
                                      <p:to>
                                        <p:strVal val="visible"/>
                                      </p:to>
                                    </p:set>
                                    <p:anim calcmode="lin" valueType="num">
                                      <p:cBhvr>
                                        <p:cTn id="90" dur="500" fill="hold"/>
                                        <p:tgtEl>
                                          <p:spTgt spid="147473">
                                            <p:txEl>
                                              <p:pRg st="3" end="3"/>
                                            </p:txEl>
                                          </p:spTgt>
                                        </p:tgtEl>
                                        <p:attrNameLst>
                                          <p:attrName>ppt_w</p:attrName>
                                        </p:attrNameLst>
                                      </p:cBhvr>
                                      <p:tavLst>
                                        <p:tav tm="0">
                                          <p:val>
                                            <p:strVal val="#ppt_w*0.05"/>
                                          </p:val>
                                        </p:tav>
                                        <p:tav tm="100000">
                                          <p:val>
                                            <p:strVal val="#ppt_w"/>
                                          </p:val>
                                        </p:tav>
                                      </p:tavLst>
                                    </p:anim>
                                    <p:anim calcmode="lin" valueType="num">
                                      <p:cBhvr>
                                        <p:cTn id="91" dur="500" fill="hold"/>
                                        <p:tgtEl>
                                          <p:spTgt spid="147473">
                                            <p:txEl>
                                              <p:pRg st="3" end="3"/>
                                            </p:txEl>
                                          </p:spTgt>
                                        </p:tgtEl>
                                        <p:attrNameLst>
                                          <p:attrName>ppt_h</p:attrName>
                                        </p:attrNameLst>
                                      </p:cBhvr>
                                      <p:tavLst>
                                        <p:tav tm="0">
                                          <p:val>
                                            <p:strVal val="#ppt_h"/>
                                          </p:val>
                                        </p:tav>
                                        <p:tav tm="100000">
                                          <p:val>
                                            <p:strVal val="#ppt_h"/>
                                          </p:val>
                                        </p:tav>
                                      </p:tavLst>
                                    </p:anim>
                                    <p:anim calcmode="lin" valueType="num">
                                      <p:cBhvr>
                                        <p:cTn id="92" dur="500" fill="hold"/>
                                        <p:tgtEl>
                                          <p:spTgt spid="147473">
                                            <p:txEl>
                                              <p:pRg st="3" end="3"/>
                                            </p:txEl>
                                          </p:spTgt>
                                        </p:tgtEl>
                                        <p:attrNameLst>
                                          <p:attrName>ppt_x</p:attrName>
                                        </p:attrNameLst>
                                      </p:cBhvr>
                                      <p:tavLst>
                                        <p:tav tm="0">
                                          <p:val>
                                            <p:strVal val="#ppt_x-.2"/>
                                          </p:val>
                                        </p:tav>
                                        <p:tav tm="100000">
                                          <p:val>
                                            <p:strVal val="#ppt_x"/>
                                          </p:val>
                                        </p:tav>
                                      </p:tavLst>
                                    </p:anim>
                                    <p:anim calcmode="lin" valueType="num">
                                      <p:cBhvr>
                                        <p:cTn id="93" dur="500" fill="hold"/>
                                        <p:tgtEl>
                                          <p:spTgt spid="147473">
                                            <p:txEl>
                                              <p:pRg st="3" end="3"/>
                                            </p:txEl>
                                          </p:spTgt>
                                        </p:tgtEl>
                                        <p:attrNameLst>
                                          <p:attrName>ppt_y</p:attrName>
                                        </p:attrNameLst>
                                      </p:cBhvr>
                                      <p:tavLst>
                                        <p:tav tm="0">
                                          <p:val>
                                            <p:strVal val="#ppt_y"/>
                                          </p:val>
                                        </p:tav>
                                        <p:tav tm="100000">
                                          <p:val>
                                            <p:strVal val="#ppt_y"/>
                                          </p:val>
                                        </p:tav>
                                      </p:tavLst>
                                    </p:anim>
                                    <p:animEffect transition="in" filter="fade">
                                      <p:cBhvr>
                                        <p:cTn id="94" dur="500"/>
                                        <p:tgtEl>
                                          <p:spTgt spid="14747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燕尾形 46"/>
          <p:cNvSpPr/>
          <p:nvPr/>
        </p:nvSpPr>
        <p:spPr>
          <a:xfrm>
            <a:off x="674694" y="4054934"/>
            <a:ext cx="612749" cy="665792"/>
          </a:xfrm>
          <a:prstGeom prst="chevron">
            <a:avLst>
              <a:gd name="adj" fmla="val 5442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73" tIns="34287" rIns="68573" bIns="34287" anchor="ctr"/>
          <a:lstStyle/>
          <a:p>
            <a:pPr algn="ctr" defTabSz="913765" fontAlgn="auto">
              <a:spcBef>
                <a:spcPts val="0"/>
              </a:spcBef>
              <a:spcAft>
                <a:spcPts val="0"/>
              </a:spcAft>
              <a:defRPr/>
            </a:pPr>
            <a:endParaRPr lang="zh-CN" altLang="en-US" sz="1870">
              <a:cs typeface="+mn-ea"/>
            </a:endParaRPr>
          </a:p>
        </p:txBody>
      </p:sp>
      <p:sp>
        <p:nvSpPr>
          <p:cNvPr id="48" name="燕尾形 47"/>
          <p:cNvSpPr/>
          <p:nvPr/>
        </p:nvSpPr>
        <p:spPr>
          <a:xfrm>
            <a:off x="1214754" y="4054934"/>
            <a:ext cx="613663" cy="665792"/>
          </a:xfrm>
          <a:prstGeom prst="chevron">
            <a:avLst>
              <a:gd name="adj" fmla="val 5442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73" tIns="34287" rIns="68573" bIns="34287" anchor="ctr"/>
          <a:lstStyle/>
          <a:p>
            <a:pPr algn="ctr" defTabSz="913765" fontAlgn="auto">
              <a:spcBef>
                <a:spcPts val="0"/>
              </a:spcBef>
              <a:spcAft>
                <a:spcPts val="0"/>
              </a:spcAft>
              <a:defRPr/>
            </a:pPr>
            <a:endParaRPr lang="zh-CN" altLang="en-US" sz="1870">
              <a:cs typeface="+mn-ea"/>
            </a:endParaRPr>
          </a:p>
        </p:txBody>
      </p:sp>
      <p:sp>
        <p:nvSpPr>
          <p:cNvPr id="50" name="燕尾形 49"/>
          <p:cNvSpPr/>
          <p:nvPr/>
        </p:nvSpPr>
        <p:spPr>
          <a:xfrm>
            <a:off x="1754814" y="4054934"/>
            <a:ext cx="613663" cy="665792"/>
          </a:xfrm>
          <a:prstGeom prst="chevron">
            <a:avLst>
              <a:gd name="adj" fmla="val 5442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68573" tIns="34287" rIns="68573" bIns="34287" anchor="ctr"/>
          <a:lstStyle/>
          <a:p>
            <a:pPr algn="ctr" defTabSz="913765" fontAlgn="auto">
              <a:spcBef>
                <a:spcPts val="0"/>
              </a:spcBef>
              <a:spcAft>
                <a:spcPts val="0"/>
              </a:spcAft>
              <a:defRPr/>
            </a:pPr>
            <a:endParaRPr lang="zh-CN" altLang="en-US" sz="1870">
              <a:cs typeface="+mn-ea"/>
            </a:endParaRPr>
          </a:p>
        </p:txBody>
      </p:sp>
      <p:sp>
        <p:nvSpPr>
          <p:cNvPr id="51" name="燕尾形 50"/>
          <p:cNvSpPr/>
          <p:nvPr/>
        </p:nvSpPr>
        <p:spPr>
          <a:xfrm>
            <a:off x="2275277" y="4054934"/>
            <a:ext cx="613663" cy="665792"/>
          </a:xfrm>
          <a:prstGeom prst="chevron">
            <a:avLst>
              <a:gd name="adj" fmla="val 5442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68573" tIns="34287" rIns="68573" bIns="34287" anchor="ctr"/>
          <a:lstStyle/>
          <a:p>
            <a:pPr algn="ctr" defTabSz="913765" fontAlgn="auto">
              <a:spcBef>
                <a:spcPts val="0"/>
              </a:spcBef>
              <a:spcAft>
                <a:spcPts val="0"/>
              </a:spcAft>
              <a:defRPr/>
            </a:pPr>
            <a:endParaRPr lang="zh-CN" altLang="en-US" sz="1870">
              <a:cs typeface="+mn-ea"/>
            </a:endParaRPr>
          </a:p>
        </p:txBody>
      </p:sp>
      <p:cxnSp>
        <p:nvCxnSpPr>
          <p:cNvPr id="52" name="直接连接符 51"/>
          <p:cNvCxnSpPr/>
          <p:nvPr/>
        </p:nvCxnSpPr>
        <p:spPr>
          <a:xfrm>
            <a:off x="4455319" y="2183606"/>
            <a:ext cx="0" cy="372618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1916832" y="3737856"/>
            <a:ext cx="0" cy="309935"/>
          </a:xfrm>
          <a:prstGeom prst="line">
            <a:avLst/>
          </a:prstGeom>
          <a:ln w="12700">
            <a:solidFill>
              <a:schemeClr val="bg1">
                <a:lumMod val="65000"/>
              </a:schemeClr>
            </a:solidFill>
            <a:headEnd type="stealth"/>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836771" y="3152775"/>
            <a:ext cx="0" cy="897255"/>
          </a:xfrm>
          <a:prstGeom prst="line">
            <a:avLst/>
          </a:prstGeom>
          <a:ln w="12700">
            <a:solidFill>
              <a:schemeClr val="bg1">
                <a:lumMod val="65000"/>
              </a:schemeClr>
            </a:solidFill>
            <a:headEnd type="stealt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flipV="1">
            <a:off x="2456892" y="4709966"/>
            <a:ext cx="21801" cy="709551"/>
          </a:xfrm>
          <a:prstGeom prst="line">
            <a:avLst/>
          </a:prstGeom>
          <a:ln w="12700">
            <a:solidFill>
              <a:schemeClr val="bg1">
                <a:lumMod val="65000"/>
              </a:schemeClr>
            </a:solidFill>
            <a:headEnd type="stealth"/>
          </a:ln>
        </p:spPr>
        <p:style>
          <a:lnRef idx="1">
            <a:schemeClr val="accent1"/>
          </a:lnRef>
          <a:fillRef idx="0">
            <a:schemeClr val="accent1"/>
          </a:fillRef>
          <a:effectRef idx="0">
            <a:schemeClr val="accent1"/>
          </a:effectRef>
          <a:fontRef idx="minor">
            <a:schemeClr val="tx1"/>
          </a:fontRef>
        </p:style>
      </p:cxnSp>
      <p:sp>
        <p:nvSpPr>
          <p:cNvPr id="57" name="五边形 56"/>
          <p:cNvSpPr/>
          <p:nvPr/>
        </p:nvSpPr>
        <p:spPr>
          <a:xfrm>
            <a:off x="-27384" y="4049372"/>
            <a:ext cx="4428491" cy="669549"/>
          </a:xfrm>
          <a:prstGeom prst="homePlate">
            <a:avLst>
              <a:gd name="adj" fmla="val 47961"/>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lIns="68573" tIns="34287" rIns="68573" bIns="34287" anchor="ctr"/>
          <a:lstStyle/>
          <a:p>
            <a:pPr algn="ctr" defTabSz="913765" fontAlgn="auto">
              <a:spcBef>
                <a:spcPts val="0"/>
              </a:spcBef>
              <a:spcAft>
                <a:spcPts val="0"/>
              </a:spcAft>
              <a:defRPr/>
            </a:pPr>
            <a:endParaRPr lang="zh-CN" altLang="en-US" sz="1870">
              <a:cs typeface="+mn-ea"/>
            </a:endParaRPr>
          </a:p>
        </p:txBody>
      </p:sp>
      <p:grpSp>
        <p:nvGrpSpPr>
          <p:cNvPr id="59" name="组合 58"/>
          <p:cNvGrpSpPr/>
          <p:nvPr/>
        </p:nvGrpSpPr>
        <p:grpSpPr>
          <a:xfrm>
            <a:off x="367189" y="2445068"/>
            <a:ext cx="3355658" cy="616268"/>
            <a:chOff x="814328" y="3219334"/>
            <a:chExt cx="2266827" cy="432536"/>
          </a:xfrm>
        </p:grpSpPr>
        <p:grpSp>
          <p:nvGrpSpPr>
            <p:cNvPr id="60" name="组合 59"/>
            <p:cNvGrpSpPr/>
            <p:nvPr/>
          </p:nvGrpSpPr>
          <p:grpSpPr>
            <a:xfrm>
              <a:off x="814328" y="3219334"/>
              <a:ext cx="2266827" cy="432536"/>
              <a:chOff x="2173927" y="3285519"/>
              <a:chExt cx="2876394" cy="548848"/>
            </a:xfrm>
          </p:grpSpPr>
          <p:grpSp>
            <p:nvGrpSpPr>
              <p:cNvPr id="62" name="组合 61"/>
              <p:cNvGrpSpPr/>
              <p:nvPr/>
            </p:nvGrpSpPr>
            <p:grpSpPr>
              <a:xfrm>
                <a:off x="2173927" y="3285519"/>
                <a:ext cx="2876394" cy="548848"/>
                <a:chOff x="4304043" y="1286668"/>
                <a:chExt cx="6414044" cy="2757793"/>
              </a:xfrm>
              <a:effectLst>
                <a:outerShdw blurRad="381000" dist="254000" dir="8100000" algn="tr" rotWithShape="0">
                  <a:prstClr val="black">
                    <a:alpha val="40000"/>
                  </a:prstClr>
                </a:outerShdw>
              </a:effectLst>
            </p:grpSpPr>
            <p:sp>
              <p:nvSpPr>
                <p:cNvPr id="64" name="圆角矩形 63"/>
                <p:cNvSpPr/>
                <p:nvPr/>
              </p:nvSpPr>
              <p:spPr>
                <a:xfrm>
                  <a:off x="4304043" y="1286668"/>
                  <a:ext cx="64140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5" name="圆角矩形 64"/>
                <p:cNvSpPr/>
                <p:nvPr/>
              </p:nvSpPr>
              <p:spPr>
                <a:xfrm>
                  <a:off x="4351923" y="1373339"/>
                  <a:ext cx="6323887" cy="2584450"/>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63" name="椭圆 62"/>
              <p:cNvSpPr/>
              <p:nvPr/>
            </p:nvSpPr>
            <p:spPr>
              <a:xfrm>
                <a:off x="2336364" y="3391186"/>
                <a:ext cx="328798" cy="314385"/>
              </a:xfrm>
              <a:prstGeom prst="ellipse">
                <a:avLst/>
              </a:prstGeom>
              <a:solidFill>
                <a:schemeClr val="accent2"/>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bg1"/>
                  </a:solidFill>
                  <a:cs typeface="+mn-ea"/>
                </a:endParaRPr>
              </a:p>
            </p:txBody>
          </p:sp>
        </p:grpSp>
        <p:sp>
          <p:nvSpPr>
            <p:cNvPr id="61" name="TextBox 60"/>
            <p:cNvSpPr txBox="1"/>
            <p:nvPr/>
          </p:nvSpPr>
          <p:spPr>
            <a:xfrm>
              <a:off x="1139540" y="3319207"/>
              <a:ext cx="1926672" cy="258942"/>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r>
                <a:rPr lang="zh-CN" altLang="en-US" sz="2400" dirty="0">
                  <a:solidFill>
                    <a:schemeClr val="accent2"/>
                  </a:solidFill>
                  <a:latin typeface="+mn-ea"/>
                  <a:ea typeface="+mn-ea"/>
                  <a:cs typeface="+mn-ea"/>
                </a:rPr>
                <a:t>机器级编程模型</a:t>
              </a:r>
            </a:p>
          </p:txBody>
        </p:sp>
      </p:grpSp>
      <p:grpSp>
        <p:nvGrpSpPr>
          <p:cNvPr id="73" name="组合 72"/>
          <p:cNvGrpSpPr/>
          <p:nvPr/>
        </p:nvGrpSpPr>
        <p:grpSpPr>
          <a:xfrm>
            <a:off x="1468755" y="3156585"/>
            <a:ext cx="7015480" cy="652263"/>
            <a:chOff x="814328" y="3219334"/>
            <a:chExt cx="2266829" cy="432536"/>
          </a:xfrm>
        </p:grpSpPr>
        <p:grpSp>
          <p:nvGrpSpPr>
            <p:cNvPr id="74" name="组合 73"/>
            <p:cNvGrpSpPr/>
            <p:nvPr/>
          </p:nvGrpSpPr>
          <p:grpSpPr>
            <a:xfrm>
              <a:off x="814328" y="3219334"/>
              <a:ext cx="2266829" cy="432536"/>
              <a:chOff x="2173927" y="3285519"/>
              <a:chExt cx="2876396" cy="548848"/>
            </a:xfrm>
          </p:grpSpPr>
          <p:grpSp>
            <p:nvGrpSpPr>
              <p:cNvPr id="76" name="组合 75"/>
              <p:cNvGrpSpPr/>
              <p:nvPr/>
            </p:nvGrpSpPr>
            <p:grpSpPr>
              <a:xfrm>
                <a:off x="2173927" y="3285519"/>
                <a:ext cx="2876396" cy="548848"/>
                <a:chOff x="4304043" y="1286668"/>
                <a:chExt cx="6414045" cy="2757793"/>
              </a:xfrm>
              <a:effectLst>
                <a:outerShdw blurRad="381000" dist="254000" dir="8100000" algn="tr" rotWithShape="0">
                  <a:prstClr val="black">
                    <a:alpha val="40000"/>
                  </a:prstClr>
                </a:outerShdw>
              </a:effectLst>
            </p:grpSpPr>
            <p:sp>
              <p:nvSpPr>
                <p:cNvPr id="78" name="圆角矩形 77"/>
                <p:cNvSpPr/>
                <p:nvPr/>
              </p:nvSpPr>
              <p:spPr>
                <a:xfrm>
                  <a:off x="4304043" y="1286668"/>
                  <a:ext cx="6414045"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9" name="圆角矩形 78"/>
                <p:cNvSpPr/>
                <p:nvPr/>
              </p:nvSpPr>
              <p:spPr>
                <a:xfrm>
                  <a:off x="4351923" y="1373339"/>
                  <a:ext cx="6323888" cy="2584450"/>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77" name="椭圆 76"/>
              <p:cNvSpPr/>
              <p:nvPr/>
            </p:nvSpPr>
            <p:spPr>
              <a:xfrm>
                <a:off x="2291279" y="3362434"/>
                <a:ext cx="148008" cy="384570"/>
              </a:xfrm>
              <a:prstGeom prst="ellipse">
                <a:avLst/>
              </a:prstGeom>
              <a:solidFill>
                <a:schemeClr val="accent4"/>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bg1"/>
                  </a:solidFill>
                  <a:cs typeface="+mn-ea"/>
                </a:endParaRPr>
              </a:p>
            </p:txBody>
          </p:sp>
        </p:grpSp>
        <p:sp>
          <p:nvSpPr>
            <p:cNvPr id="75" name="TextBox 74"/>
            <p:cNvSpPr txBox="1"/>
            <p:nvPr/>
          </p:nvSpPr>
          <p:spPr>
            <a:xfrm>
              <a:off x="1105478" y="3261864"/>
              <a:ext cx="1960495" cy="367189"/>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r>
                <a:rPr lang="en-US" altLang="zh-CN" sz="1800" dirty="0">
                  <a:solidFill>
                    <a:srgbClr val="FFC000"/>
                  </a:solidFill>
                  <a:sym typeface="+mn-ea"/>
                </a:rPr>
                <a:t>ISA (Instruction Set Architecture)</a:t>
              </a:r>
              <a:r>
                <a:rPr lang="zh-CN" altLang="en-US" sz="1800" dirty="0">
                  <a:solidFill>
                    <a:srgbClr val="FFC000"/>
                  </a:solidFill>
                  <a:sym typeface="+mn-ea"/>
                </a:rPr>
                <a:t>，定义了机器的指令格式及其功能、内部寄存器、存储器和</a:t>
              </a:r>
              <a:r>
                <a:rPr lang="en-US" altLang="zh-CN" sz="1800" dirty="0">
                  <a:solidFill>
                    <a:srgbClr val="FFC000"/>
                  </a:solidFill>
                  <a:sym typeface="+mn-ea"/>
                </a:rPr>
                <a:t>IO</a:t>
              </a:r>
              <a:r>
                <a:rPr lang="zh-CN" altLang="en-US" sz="1800" dirty="0">
                  <a:solidFill>
                    <a:srgbClr val="FFC000"/>
                  </a:solidFill>
                  <a:sym typeface="+mn-ea"/>
                </a:rPr>
                <a:t>组织等结构。</a:t>
              </a:r>
              <a:endParaRPr lang="zh-CN" altLang="en-US" sz="1800" dirty="0">
                <a:solidFill>
                  <a:srgbClr val="FFC000"/>
                </a:solidFill>
                <a:latin typeface="+mn-ea"/>
                <a:ea typeface="+mn-ea"/>
                <a:cs typeface="+mn-ea"/>
                <a:sym typeface="+mn-ea"/>
              </a:endParaRPr>
            </a:p>
          </p:txBody>
        </p:sp>
      </p:grpSp>
      <p:grpSp>
        <p:nvGrpSpPr>
          <p:cNvPr id="80" name="组合 79"/>
          <p:cNvGrpSpPr/>
          <p:nvPr/>
        </p:nvGrpSpPr>
        <p:grpSpPr>
          <a:xfrm>
            <a:off x="2294890" y="4954270"/>
            <a:ext cx="6305550" cy="893172"/>
            <a:chOff x="814328" y="3219334"/>
            <a:chExt cx="2266828" cy="432536"/>
          </a:xfrm>
        </p:grpSpPr>
        <p:grpSp>
          <p:nvGrpSpPr>
            <p:cNvPr id="81" name="组合 80"/>
            <p:cNvGrpSpPr/>
            <p:nvPr/>
          </p:nvGrpSpPr>
          <p:grpSpPr>
            <a:xfrm>
              <a:off x="814328" y="3219334"/>
              <a:ext cx="2266828" cy="432536"/>
              <a:chOff x="2173927" y="3285519"/>
              <a:chExt cx="2876395" cy="548848"/>
            </a:xfrm>
          </p:grpSpPr>
          <p:grpSp>
            <p:nvGrpSpPr>
              <p:cNvPr id="83" name="组合 82"/>
              <p:cNvGrpSpPr/>
              <p:nvPr/>
            </p:nvGrpSpPr>
            <p:grpSpPr>
              <a:xfrm>
                <a:off x="2173927" y="3285519"/>
                <a:ext cx="2876395" cy="548848"/>
                <a:chOff x="4304043" y="1286668"/>
                <a:chExt cx="6414045" cy="2757793"/>
              </a:xfrm>
              <a:effectLst>
                <a:outerShdw blurRad="381000" dist="254000" dir="8100000" algn="tr" rotWithShape="0">
                  <a:prstClr val="black">
                    <a:alpha val="40000"/>
                  </a:prstClr>
                </a:outerShdw>
              </a:effectLst>
            </p:grpSpPr>
            <p:sp>
              <p:nvSpPr>
                <p:cNvPr id="85" name="圆角矩形 84"/>
                <p:cNvSpPr/>
                <p:nvPr/>
              </p:nvSpPr>
              <p:spPr>
                <a:xfrm>
                  <a:off x="4304043" y="1286668"/>
                  <a:ext cx="6414045"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86" name="圆角矩形 85"/>
                <p:cNvSpPr/>
                <p:nvPr/>
              </p:nvSpPr>
              <p:spPr>
                <a:xfrm>
                  <a:off x="4351923" y="1373339"/>
                  <a:ext cx="6323888" cy="2584450"/>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84" name="椭圆 83"/>
              <p:cNvSpPr/>
              <p:nvPr/>
            </p:nvSpPr>
            <p:spPr>
              <a:xfrm>
                <a:off x="2284290" y="3435482"/>
                <a:ext cx="166269" cy="277258"/>
              </a:xfrm>
              <a:prstGeom prst="ellipse">
                <a:avLst/>
              </a:prstGeom>
              <a:solidFill>
                <a:schemeClr val="accent5"/>
              </a:solidFill>
              <a:ln>
                <a:noFill/>
              </a:ln>
              <a:effectLst>
                <a:outerShdw blurRad="88900" dist="63500" dir="8100000" algn="tr" rotWithShape="0">
                  <a:prstClr val="black">
                    <a:alpha val="5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bg1"/>
                  </a:solidFill>
                  <a:cs typeface="+mn-ea"/>
                </a:endParaRPr>
              </a:p>
            </p:txBody>
          </p:sp>
        </p:grpSp>
        <p:sp>
          <p:nvSpPr>
            <p:cNvPr id="82" name="TextBox 81"/>
            <p:cNvSpPr txBox="1"/>
            <p:nvPr/>
          </p:nvSpPr>
          <p:spPr>
            <a:xfrm>
              <a:off x="1066807" y="3233076"/>
              <a:ext cx="2014349" cy="402225"/>
            </a:xfrm>
            <a:prstGeom prst="rect">
              <a:avLst/>
            </a:prstGeom>
            <a:noFill/>
          </p:spPr>
          <p:txBody>
            <a:bodyPr wrap="square" lIns="0" tIns="0" rIns="0" bIns="0" rtlCol="0">
              <a:spAutoFit/>
            </a:bodyPr>
            <a:lstStyle>
              <a:defPPr>
                <a:defRPr lang="zh-CN"/>
              </a:defPPr>
              <a:lvl1pPr algn="ctr">
                <a:defRPr sz="1400" b="1">
                  <a:solidFill>
                    <a:schemeClr val="bg1"/>
                  </a:solidFill>
                  <a:latin typeface="微软雅黑" panose="020B0503020204020204" charset="-122"/>
                  <a:ea typeface="微软雅黑" panose="020B0503020204020204" charset="-122"/>
                </a:defRPr>
              </a:lvl1pPr>
            </a:lstStyle>
            <a:p>
              <a:r>
                <a:rPr lang="zh-CN" altLang="en-US" sz="1800" dirty="0">
                  <a:solidFill>
                    <a:schemeClr val="accent5"/>
                  </a:solidFill>
                  <a:latin typeface="+mn-ea"/>
                  <a:ea typeface="+mn-ea"/>
                  <a:cs typeface="+mn-ea"/>
                </a:rPr>
                <a:t>比C语言看到更多硬件细节：</a:t>
              </a:r>
            </a:p>
            <a:p>
              <a:r>
                <a:rPr lang="zh-CN" altLang="en-US" sz="1800" dirty="0">
                  <a:solidFill>
                    <a:schemeClr val="accent5"/>
                  </a:solidFill>
                  <a:latin typeface="+mn-ea"/>
                  <a:ea typeface="+mn-ea"/>
                  <a:cs typeface="+mn-ea"/>
                </a:rPr>
                <a:t>程序计数器PC；整数寄存器文件；状态寄存器；浮点寄存器</a:t>
              </a:r>
            </a:p>
          </p:txBody>
        </p:sp>
      </p:grpSp>
      <p:grpSp>
        <p:nvGrpSpPr>
          <p:cNvPr id="87" name="组合 86"/>
          <p:cNvGrpSpPr>
            <a:grpSpLocks noChangeAspect="1"/>
          </p:cNvGrpSpPr>
          <p:nvPr/>
        </p:nvGrpSpPr>
        <p:grpSpPr>
          <a:xfrm>
            <a:off x="2834934" y="3737856"/>
            <a:ext cx="1274176" cy="1215605"/>
            <a:chOff x="3197225" y="3458369"/>
            <a:chExt cx="533400" cy="487363"/>
          </a:xfrm>
          <a:solidFill>
            <a:schemeClr val="accent6"/>
          </a:solidFill>
        </p:grpSpPr>
        <p:sp>
          <p:nvSpPr>
            <p:cNvPr id="88" name="Oval 312"/>
            <p:cNvSpPr>
              <a:spLocks noChangeArrowheads="1"/>
            </p:cNvSpPr>
            <p:nvPr/>
          </p:nvSpPr>
          <p:spPr bwMode="auto">
            <a:xfrm>
              <a:off x="3568700" y="3458369"/>
              <a:ext cx="93663" cy="889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fontAlgn="auto">
                <a:spcBef>
                  <a:spcPts val="0"/>
                </a:spcBef>
                <a:spcAft>
                  <a:spcPts val="0"/>
                </a:spcAft>
                <a:defRPr/>
              </a:pPr>
              <a:endParaRPr lang="zh-CN" altLang="en-US" sz="1870">
                <a:cs typeface="+mn-ea"/>
              </a:endParaRPr>
            </a:p>
          </p:txBody>
        </p:sp>
        <p:sp>
          <p:nvSpPr>
            <p:cNvPr id="89" name="Freeform 313"/>
            <p:cNvSpPr/>
            <p:nvPr/>
          </p:nvSpPr>
          <p:spPr bwMode="auto">
            <a:xfrm>
              <a:off x="3197225" y="3513932"/>
              <a:ext cx="533400" cy="431800"/>
            </a:xfrm>
            <a:custGeom>
              <a:avLst/>
              <a:gdLst>
                <a:gd name="T0" fmla="*/ 7 w 142"/>
                <a:gd name="T1" fmla="*/ 60 h 115"/>
                <a:gd name="T2" fmla="*/ 9 w 142"/>
                <a:gd name="T3" fmla="*/ 60 h 115"/>
                <a:gd name="T4" fmla="*/ 36 w 142"/>
                <a:gd name="T5" fmla="*/ 60 h 115"/>
                <a:gd name="T6" fmla="*/ 77 w 142"/>
                <a:gd name="T7" fmla="*/ 12 h 115"/>
                <a:gd name="T8" fmla="*/ 67 w 142"/>
                <a:gd name="T9" fmla="*/ 12 h 115"/>
                <a:gd name="T10" fmla="*/ 48 w 142"/>
                <a:gd name="T11" fmla="*/ 34 h 115"/>
                <a:gd name="T12" fmla="*/ 43 w 142"/>
                <a:gd name="T13" fmla="*/ 36 h 115"/>
                <a:gd name="T14" fmla="*/ 37 w 142"/>
                <a:gd name="T15" fmla="*/ 30 h 115"/>
                <a:gd name="T16" fmla="*/ 39 w 142"/>
                <a:gd name="T17" fmla="*/ 25 h 115"/>
                <a:gd name="T18" fmla="*/ 59 w 142"/>
                <a:gd name="T19" fmla="*/ 2 h 115"/>
                <a:gd name="T20" fmla="*/ 64 w 142"/>
                <a:gd name="T21" fmla="*/ 0 h 115"/>
                <a:gd name="T22" fmla="*/ 93 w 142"/>
                <a:gd name="T23" fmla="*/ 0 h 115"/>
                <a:gd name="T24" fmla="*/ 114 w 142"/>
                <a:gd name="T25" fmla="*/ 15 h 115"/>
                <a:gd name="T26" fmla="*/ 114 w 142"/>
                <a:gd name="T27" fmla="*/ 32 h 115"/>
                <a:gd name="T28" fmla="*/ 135 w 142"/>
                <a:gd name="T29" fmla="*/ 32 h 115"/>
                <a:gd name="T30" fmla="*/ 139 w 142"/>
                <a:gd name="T31" fmla="*/ 34 h 115"/>
                <a:gd name="T32" fmla="*/ 139 w 142"/>
                <a:gd name="T33" fmla="*/ 43 h 115"/>
                <a:gd name="T34" fmla="*/ 135 w 142"/>
                <a:gd name="T35" fmla="*/ 45 h 115"/>
                <a:gd name="T36" fmla="*/ 109 w 142"/>
                <a:gd name="T37" fmla="*/ 45 h 115"/>
                <a:gd name="T38" fmla="*/ 101 w 142"/>
                <a:gd name="T39" fmla="*/ 38 h 115"/>
                <a:gd name="T40" fmla="*/ 101 w 142"/>
                <a:gd name="T41" fmla="*/ 27 h 115"/>
                <a:gd name="T42" fmla="*/ 86 w 142"/>
                <a:gd name="T43" fmla="*/ 45 h 115"/>
                <a:gd name="T44" fmla="*/ 100 w 142"/>
                <a:gd name="T45" fmla="*/ 59 h 115"/>
                <a:gd name="T46" fmla="*/ 101 w 142"/>
                <a:gd name="T47" fmla="*/ 69 h 115"/>
                <a:gd name="T48" fmla="*/ 92 w 142"/>
                <a:gd name="T49" fmla="*/ 109 h 115"/>
                <a:gd name="T50" fmla="*/ 85 w 142"/>
                <a:gd name="T51" fmla="*/ 115 h 115"/>
                <a:gd name="T52" fmla="*/ 77 w 142"/>
                <a:gd name="T53" fmla="*/ 108 h 115"/>
                <a:gd name="T54" fmla="*/ 77 w 142"/>
                <a:gd name="T55" fmla="*/ 106 h 115"/>
                <a:gd name="T56" fmla="*/ 85 w 142"/>
                <a:gd name="T57" fmla="*/ 72 h 115"/>
                <a:gd name="T58" fmla="*/ 66 w 142"/>
                <a:gd name="T59" fmla="*/ 54 h 115"/>
                <a:gd name="T60" fmla="*/ 50 w 142"/>
                <a:gd name="T61" fmla="*/ 72 h 115"/>
                <a:gd name="T62" fmla="*/ 41 w 142"/>
                <a:gd name="T63" fmla="*/ 75 h 115"/>
                <a:gd name="T64" fmla="*/ 8 w 142"/>
                <a:gd name="T65" fmla="*/ 75 h 115"/>
                <a:gd name="T66" fmla="*/ 1 w 142"/>
                <a:gd name="T67" fmla="*/ 69 h 115"/>
                <a:gd name="T68" fmla="*/ 7 w 142"/>
                <a:gd name="T69" fmla="*/ 6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2" h="115">
                  <a:moveTo>
                    <a:pt x="7" y="60"/>
                  </a:moveTo>
                  <a:cubicBezTo>
                    <a:pt x="7" y="60"/>
                    <a:pt x="8" y="60"/>
                    <a:pt x="9" y="60"/>
                  </a:cubicBezTo>
                  <a:cubicBezTo>
                    <a:pt x="36" y="60"/>
                    <a:pt x="36" y="60"/>
                    <a:pt x="36" y="60"/>
                  </a:cubicBezTo>
                  <a:cubicBezTo>
                    <a:pt x="77" y="12"/>
                    <a:pt x="77" y="12"/>
                    <a:pt x="77" y="12"/>
                  </a:cubicBezTo>
                  <a:cubicBezTo>
                    <a:pt x="67" y="12"/>
                    <a:pt x="67" y="12"/>
                    <a:pt x="67" y="12"/>
                  </a:cubicBezTo>
                  <a:cubicBezTo>
                    <a:pt x="48" y="34"/>
                    <a:pt x="48" y="34"/>
                    <a:pt x="48" y="34"/>
                  </a:cubicBezTo>
                  <a:cubicBezTo>
                    <a:pt x="47" y="35"/>
                    <a:pt x="45" y="36"/>
                    <a:pt x="43" y="36"/>
                  </a:cubicBezTo>
                  <a:cubicBezTo>
                    <a:pt x="40" y="36"/>
                    <a:pt x="37" y="33"/>
                    <a:pt x="37" y="30"/>
                  </a:cubicBezTo>
                  <a:cubicBezTo>
                    <a:pt x="37" y="28"/>
                    <a:pt x="38" y="26"/>
                    <a:pt x="39" y="25"/>
                  </a:cubicBezTo>
                  <a:cubicBezTo>
                    <a:pt x="59" y="2"/>
                    <a:pt x="59" y="2"/>
                    <a:pt x="59" y="2"/>
                  </a:cubicBezTo>
                  <a:cubicBezTo>
                    <a:pt x="61" y="1"/>
                    <a:pt x="62" y="0"/>
                    <a:pt x="64" y="0"/>
                  </a:cubicBezTo>
                  <a:cubicBezTo>
                    <a:pt x="93" y="0"/>
                    <a:pt x="93" y="0"/>
                    <a:pt x="93" y="0"/>
                  </a:cubicBezTo>
                  <a:cubicBezTo>
                    <a:pt x="93" y="0"/>
                    <a:pt x="112" y="14"/>
                    <a:pt x="114" y="15"/>
                  </a:cubicBezTo>
                  <a:cubicBezTo>
                    <a:pt x="114" y="32"/>
                    <a:pt x="114" y="32"/>
                    <a:pt x="114" y="32"/>
                  </a:cubicBezTo>
                  <a:cubicBezTo>
                    <a:pt x="135" y="32"/>
                    <a:pt x="135" y="32"/>
                    <a:pt x="135" y="32"/>
                  </a:cubicBezTo>
                  <a:cubicBezTo>
                    <a:pt x="137" y="32"/>
                    <a:pt x="138" y="33"/>
                    <a:pt x="139" y="34"/>
                  </a:cubicBezTo>
                  <a:cubicBezTo>
                    <a:pt x="142" y="36"/>
                    <a:pt x="142" y="40"/>
                    <a:pt x="139" y="43"/>
                  </a:cubicBezTo>
                  <a:cubicBezTo>
                    <a:pt x="138" y="44"/>
                    <a:pt x="137" y="44"/>
                    <a:pt x="135" y="45"/>
                  </a:cubicBezTo>
                  <a:cubicBezTo>
                    <a:pt x="109" y="45"/>
                    <a:pt x="109" y="45"/>
                    <a:pt x="109" y="45"/>
                  </a:cubicBezTo>
                  <a:cubicBezTo>
                    <a:pt x="101" y="44"/>
                    <a:pt x="101" y="38"/>
                    <a:pt x="101" y="38"/>
                  </a:cubicBezTo>
                  <a:cubicBezTo>
                    <a:pt x="101" y="27"/>
                    <a:pt x="101" y="27"/>
                    <a:pt x="101" y="27"/>
                  </a:cubicBezTo>
                  <a:cubicBezTo>
                    <a:pt x="86" y="45"/>
                    <a:pt x="86" y="45"/>
                    <a:pt x="86" y="45"/>
                  </a:cubicBezTo>
                  <a:cubicBezTo>
                    <a:pt x="100" y="59"/>
                    <a:pt x="100" y="59"/>
                    <a:pt x="100" y="59"/>
                  </a:cubicBezTo>
                  <a:cubicBezTo>
                    <a:pt x="100" y="59"/>
                    <a:pt x="103" y="62"/>
                    <a:pt x="101" y="69"/>
                  </a:cubicBezTo>
                  <a:cubicBezTo>
                    <a:pt x="92" y="109"/>
                    <a:pt x="92" y="109"/>
                    <a:pt x="92" y="109"/>
                  </a:cubicBezTo>
                  <a:cubicBezTo>
                    <a:pt x="92" y="113"/>
                    <a:pt x="88" y="115"/>
                    <a:pt x="85" y="115"/>
                  </a:cubicBezTo>
                  <a:cubicBezTo>
                    <a:pt x="80" y="115"/>
                    <a:pt x="77" y="112"/>
                    <a:pt x="77" y="108"/>
                  </a:cubicBezTo>
                  <a:cubicBezTo>
                    <a:pt x="77" y="107"/>
                    <a:pt x="77" y="106"/>
                    <a:pt x="77" y="106"/>
                  </a:cubicBezTo>
                  <a:cubicBezTo>
                    <a:pt x="85" y="72"/>
                    <a:pt x="85" y="72"/>
                    <a:pt x="85" y="72"/>
                  </a:cubicBezTo>
                  <a:cubicBezTo>
                    <a:pt x="66" y="54"/>
                    <a:pt x="66" y="54"/>
                    <a:pt x="66" y="54"/>
                  </a:cubicBezTo>
                  <a:cubicBezTo>
                    <a:pt x="50" y="72"/>
                    <a:pt x="50" y="72"/>
                    <a:pt x="50" y="72"/>
                  </a:cubicBezTo>
                  <a:cubicBezTo>
                    <a:pt x="50" y="72"/>
                    <a:pt x="48" y="75"/>
                    <a:pt x="41" y="75"/>
                  </a:cubicBezTo>
                  <a:cubicBezTo>
                    <a:pt x="8" y="75"/>
                    <a:pt x="8" y="75"/>
                    <a:pt x="8" y="75"/>
                  </a:cubicBezTo>
                  <a:cubicBezTo>
                    <a:pt x="5" y="75"/>
                    <a:pt x="2" y="73"/>
                    <a:pt x="1" y="69"/>
                  </a:cubicBezTo>
                  <a:cubicBezTo>
                    <a:pt x="0" y="65"/>
                    <a:pt x="2" y="61"/>
                    <a:pt x="7" y="6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913765" fontAlgn="auto">
                <a:spcBef>
                  <a:spcPts val="0"/>
                </a:spcBef>
                <a:spcAft>
                  <a:spcPts val="0"/>
                </a:spcAft>
                <a:defRPr/>
              </a:pPr>
              <a:endParaRPr lang="zh-CN" altLang="en-US" sz="1870">
                <a:cs typeface="+mn-ea"/>
              </a:endParaRPr>
            </a:p>
          </p:txBody>
        </p:sp>
      </p:grpSp>
      <p:pic>
        <p:nvPicPr>
          <p:cNvPr id="5" name="图片 4"/>
          <p:cNvPicPr>
            <a:picLocks noChangeAspect="1"/>
          </p:cNvPicPr>
          <p:nvPr/>
        </p:nvPicPr>
        <p:blipFill>
          <a:blip r:embed="rId2"/>
          <a:stretch>
            <a:fillRect/>
          </a:stretch>
        </p:blipFill>
        <p:spPr>
          <a:xfrm>
            <a:off x="0" y="514985"/>
            <a:ext cx="7448550" cy="1548130"/>
          </a:xfrm>
          <a:prstGeom prst="rect">
            <a:avLst/>
          </a:prstGeom>
        </p:spPr>
      </p:pic>
      <p:sp>
        <p:nvSpPr>
          <p:cNvPr id="6" name="矩形 5"/>
          <p:cNvSpPr/>
          <p:nvPr/>
        </p:nvSpPr>
        <p:spPr>
          <a:xfrm>
            <a:off x="0" y="-244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7" name="椭圆 6"/>
          <p:cNvSpPr/>
          <p:nvPr/>
        </p:nvSpPr>
        <p:spPr>
          <a:xfrm>
            <a:off x="2106533" y="484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400" fill="hold"/>
                                        <p:tgtEl>
                                          <p:spTgt spid="57"/>
                                        </p:tgtEl>
                                        <p:attrNameLst>
                                          <p:attrName>ppt_x</p:attrName>
                                        </p:attrNameLst>
                                      </p:cBhvr>
                                      <p:tavLst>
                                        <p:tav tm="0">
                                          <p:val>
                                            <p:strVal val="0-#ppt_w/2"/>
                                          </p:val>
                                        </p:tav>
                                        <p:tav tm="100000">
                                          <p:val>
                                            <p:strVal val="#ppt_x"/>
                                          </p:val>
                                        </p:tav>
                                      </p:tavLst>
                                    </p:anim>
                                    <p:anim calcmode="lin" valueType="num">
                                      <p:cBhvr additive="base">
                                        <p:cTn id="8" dur="400" fill="hold"/>
                                        <p:tgtEl>
                                          <p:spTgt spid="5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87"/>
                                        </p:tgtEl>
                                        <p:attrNameLst>
                                          <p:attrName>style.visibility</p:attrName>
                                        </p:attrNameLst>
                                      </p:cBhvr>
                                      <p:to>
                                        <p:strVal val="visible"/>
                                      </p:to>
                                    </p:set>
                                    <p:anim calcmode="lin" valueType="num">
                                      <p:cBhvr additive="base">
                                        <p:cTn id="12" dur="400" fill="hold"/>
                                        <p:tgtEl>
                                          <p:spTgt spid="87"/>
                                        </p:tgtEl>
                                        <p:attrNameLst>
                                          <p:attrName>ppt_x</p:attrName>
                                        </p:attrNameLst>
                                      </p:cBhvr>
                                      <p:tavLst>
                                        <p:tav tm="0">
                                          <p:val>
                                            <p:strVal val="0-#ppt_w/2"/>
                                          </p:val>
                                        </p:tav>
                                        <p:tav tm="100000">
                                          <p:val>
                                            <p:strVal val="#ppt_x"/>
                                          </p:val>
                                        </p:tav>
                                      </p:tavLst>
                                    </p:anim>
                                    <p:anim calcmode="lin" valueType="num">
                                      <p:cBhvr additive="base">
                                        <p:cTn id="13" dur="400" fill="hold"/>
                                        <p:tgtEl>
                                          <p:spTgt spid="8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12" presetClass="entr" presetSubtype="8" fill="hold" grpId="0" nodeType="afterEffect">
                                  <p:stCondLst>
                                    <p:cond delay="0"/>
                                  </p:stCondLst>
                                  <p:childTnLst>
                                    <p:set>
                                      <p:cBhvr>
                                        <p:cTn id="16" dur="1" fill="hold">
                                          <p:stCondLst>
                                            <p:cond delay="0"/>
                                          </p:stCondLst>
                                        </p:cTn>
                                        <p:tgtEl>
                                          <p:spTgt spid="47"/>
                                        </p:tgtEl>
                                        <p:attrNameLst>
                                          <p:attrName>style.visibility</p:attrName>
                                        </p:attrNameLst>
                                      </p:cBhvr>
                                      <p:to>
                                        <p:strVal val="visible"/>
                                      </p:to>
                                    </p:set>
                                    <p:anim calcmode="lin" valueType="num">
                                      <p:cBhvr additive="base">
                                        <p:cTn id="17" dur="400"/>
                                        <p:tgtEl>
                                          <p:spTgt spid="47"/>
                                        </p:tgtEl>
                                        <p:attrNameLst>
                                          <p:attrName>ppt_x</p:attrName>
                                        </p:attrNameLst>
                                      </p:cBhvr>
                                      <p:tavLst>
                                        <p:tav tm="0">
                                          <p:val>
                                            <p:strVal val="#ppt_x-#ppt_w*1.125000"/>
                                          </p:val>
                                        </p:tav>
                                        <p:tav tm="100000">
                                          <p:val>
                                            <p:strVal val="#ppt_x"/>
                                          </p:val>
                                        </p:tav>
                                      </p:tavLst>
                                    </p:anim>
                                    <p:animEffect transition="in" filter="wipe(right)">
                                      <p:cBhvr>
                                        <p:cTn id="18" dur="400"/>
                                        <p:tgtEl>
                                          <p:spTgt spid="47"/>
                                        </p:tgtEl>
                                      </p:cBhvr>
                                    </p:animEffect>
                                  </p:childTnLst>
                                </p:cTn>
                              </p:par>
                            </p:childTnLst>
                          </p:cTn>
                        </p:par>
                        <p:par>
                          <p:cTn id="19" fill="hold">
                            <p:stCondLst>
                              <p:cond delay="1500"/>
                            </p:stCondLst>
                            <p:childTnLst>
                              <p:par>
                                <p:cTn id="20" presetID="12" presetClass="entr" presetSubtype="4" fill="hold" nodeType="afterEffect">
                                  <p:stCondLst>
                                    <p:cond delay="0"/>
                                  </p:stCondLst>
                                  <p:childTnLst>
                                    <p:set>
                                      <p:cBhvr>
                                        <p:cTn id="21" dur="1" fill="hold">
                                          <p:stCondLst>
                                            <p:cond delay="0"/>
                                          </p:stCondLst>
                                        </p:cTn>
                                        <p:tgtEl>
                                          <p:spTgt spid="54"/>
                                        </p:tgtEl>
                                        <p:attrNameLst>
                                          <p:attrName>style.visibility</p:attrName>
                                        </p:attrNameLst>
                                      </p:cBhvr>
                                      <p:to>
                                        <p:strVal val="visible"/>
                                      </p:to>
                                    </p:set>
                                    <p:anim calcmode="lin" valueType="num">
                                      <p:cBhvr additive="base">
                                        <p:cTn id="22" dur="400"/>
                                        <p:tgtEl>
                                          <p:spTgt spid="54"/>
                                        </p:tgtEl>
                                        <p:attrNameLst>
                                          <p:attrName>ppt_y</p:attrName>
                                        </p:attrNameLst>
                                      </p:cBhvr>
                                      <p:tavLst>
                                        <p:tav tm="0">
                                          <p:val>
                                            <p:strVal val="#ppt_y+#ppt_h*1.125000"/>
                                          </p:val>
                                        </p:tav>
                                        <p:tav tm="100000">
                                          <p:val>
                                            <p:strVal val="#ppt_y"/>
                                          </p:val>
                                        </p:tav>
                                      </p:tavLst>
                                    </p:anim>
                                    <p:animEffect transition="in" filter="wipe(up)">
                                      <p:cBhvr>
                                        <p:cTn id="23" dur="400"/>
                                        <p:tgtEl>
                                          <p:spTgt spid="54"/>
                                        </p:tgtEl>
                                      </p:cBhvr>
                                    </p:animEffect>
                                  </p:childTnLst>
                                </p:cTn>
                              </p:par>
                            </p:childTnLst>
                          </p:cTn>
                        </p:par>
                        <p:par>
                          <p:cTn id="24" fill="hold">
                            <p:stCondLst>
                              <p:cond delay="2000"/>
                            </p:stCondLst>
                            <p:childTnLst>
                              <p:par>
                                <p:cTn id="25" presetID="53" presetClass="entr" presetSubtype="16" fill="hold" nodeType="afterEffect">
                                  <p:stCondLst>
                                    <p:cond delay="0"/>
                                  </p:stCondLst>
                                  <p:childTnLst>
                                    <p:set>
                                      <p:cBhvr>
                                        <p:cTn id="26" dur="1" fill="hold">
                                          <p:stCondLst>
                                            <p:cond delay="0"/>
                                          </p:stCondLst>
                                        </p:cTn>
                                        <p:tgtEl>
                                          <p:spTgt spid="59"/>
                                        </p:tgtEl>
                                        <p:attrNameLst>
                                          <p:attrName>style.visibility</p:attrName>
                                        </p:attrNameLst>
                                      </p:cBhvr>
                                      <p:to>
                                        <p:strVal val="visible"/>
                                      </p:to>
                                    </p:set>
                                    <p:anim calcmode="lin" valueType="num">
                                      <p:cBhvr>
                                        <p:cTn id="27" dur="500" fill="hold"/>
                                        <p:tgtEl>
                                          <p:spTgt spid="59"/>
                                        </p:tgtEl>
                                        <p:attrNameLst>
                                          <p:attrName>ppt_w</p:attrName>
                                        </p:attrNameLst>
                                      </p:cBhvr>
                                      <p:tavLst>
                                        <p:tav tm="0">
                                          <p:val>
                                            <p:fltVal val="0"/>
                                          </p:val>
                                        </p:tav>
                                        <p:tav tm="100000">
                                          <p:val>
                                            <p:strVal val="#ppt_w"/>
                                          </p:val>
                                        </p:tav>
                                      </p:tavLst>
                                    </p:anim>
                                    <p:anim calcmode="lin" valueType="num">
                                      <p:cBhvr>
                                        <p:cTn id="28" dur="500" fill="hold"/>
                                        <p:tgtEl>
                                          <p:spTgt spid="59"/>
                                        </p:tgtEl>
                                        <p:attrNameLst>
                                          <p:attrName>ppt_h</p:attrName>
                                        </p:attrNameLst>
                                      </p:cBhvr>
                                      <p:tavLst>
                                        <p:tav tm="0">
                                          <p:val>
                                            <p:fltVal val="0"/>
                                          </p:val>
                                        </p:tav>
                                        <p:tav tm="100000">
                                          <p:val>
                                            <p:strVal val="#ppt_h"/>
                                          </p:val>
                                        </p:tav>
                                      </p:tavLst>
                                    </p:anim>
                                    <p:animEffect transition="in" filter="fade">
                                      <p:cBhvr>
                                        <p:cTn id="29" dur="500"/>
                                        <p:tgtEl>
                                          <p:spTgt spid="59"/>
                                        </p:tgtEl>
                                      </p:cBhvr>
                                    </p:animEffect>
                                  </p:childTnLst>
                                </p:cTn>
                              </p:par>
                            </p:childTnLst>
                          </p:cTn>
                        </p:par>
                        <p:par>
                          <p:cTn id="30" fill="hold">
                            <p:stCondLst>
                              <p:cond delay="2500"/>
                            </p:stCondLst>
                            <p:childTnLst>
                              <p:par>
                                <p:cTn id="31" presetID="12" presetClass="entr" presetSubtype="8" fill="hold" grpId="0" nodeType="afterEffect">
                                  <p:stCondLst>
                                    <p:cond delay="0"/>
                                  </p:stCondLst>
                                  <p:childTnLst>
                                    <p:set>
                                      <p:cBhvr>
                                        <p:cTn id="32" dur="1" fill="hold">
                                          <p:stCondLst>
                                            <p:cond delay="0"/>
                                          </p:stCondLst>
                                        </p:cTn>
                                        <p:tgtEl>
                                          <p:spTgt spid="48"/>
                                        </p:tgtEl>
                                        <p:attrNameLst>
                                          <p:attrName>style.visibility</p:attrName>
                                        </p:attrNameLst>
                                      </p:cBhvr>
                                      <p:to>
                                        <p:strVal val="visible"/>
                                      </p:to>
                                    </p:set>
                                    <p:anim calcmode="lin" valueType="num">
                                      <p:cBhvr additive="base">
                                        <p:cTn id="33" dur="400"/>
                                        <p:tgtEl>
                                          <p:spTgt spid="48"/>
                                        </p:tgtEl>
                                        <p:attrNameLst>
                                          <p:attrName>ppt_x</p:attrName>
                                        </p:attrNameLst>
                                      </p:cBhvr>
                                      <p:tavLst>
                                        <p:tav tm="0">
                                          <p:val>
                                            <p:strVal val="#ppt_x-#ppt_w*1.125000"/>
                                          </p:val>
                                        </p:tav>
                                        <p:tav tm="100000">
                                          <p:val>
                                            <p:strVal val="#ppt_x"/>
                                          </p:val>
                                        </p:tav>
                                      </p:tavLst>
                                    </p:anim>
                                    <p:animEffect transition="in" filter="wipe(right)">
                                      <p:cBhvr>
                                        <p:cTn id="34" dur="400"/>
                                        <p:tgtEl>
                                          <p:spTgt spid="48"/>
                                        </p:tgtEl>
                                      </p:cBhvr>
                                    </p:animEffect>
                                  </p:childTnLst>
                                </p:cTn>
                              </p:par>
                            </p:childTnLst>
                          </p:cTn>
                        </p:par>
                        <p:par>
                          <p:cTn id="35" fill="hold">
                            <p:stCondLst>
                              <p:cond delay="3000"/>
                            </p:stCondLst>
                            <p:childTnLst>
                              <p:par>
                                <p:cTn id="36" presetID="12" presetClass="entr" presetSubtype="8" fill="hold" grpId="0" nodeType="after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additive="base">
                                        <p:cTn id="38" dur="400"/>
                                        <p:tgtEl>
                                          <p:spTgt spid="50"/>
                                        </p:tgtEl>
                                        <p:attrNameLst>
                                          <p:attrName>ppt_x</p:attrName>
                                        </p:attrNameLst>
                                      </p:cBhvr>
                                      <p:tavLst>
                                        <p:tav tm="0">
                                          <p:val>
                                            <p:strVal val="#ppt_x-#ppt_w*1.125000"/>
                                          </p:val>
                                        </p:tav>
                                        <p:tav tm="100000">
                                          <p:val>
                                            <p:strVal val="#ppt_x"/>
                                          </p:val>
                                        </p:tav>
                                      </p:tavLst>
                                    </p:anim>
                                    <p:animEffect transition="in" filter="wipe(right)">
                                      <p:cBhvr>
                                        <p:cTn id="39" dur="400"/>
                                        <p:tgtEl>
                                          <p:spTgt spid="50"/>
                                        </p:tgtEl>
                                      </p:cBhvr>
                                    </p:animEffect>
                                  </p:childTnLst>
                                </p:cTn>
                              </p:par>
                            </p:childTnLst>
                          </p:cTn>
                        </p:par>
                        <p:par>
                          <p:cTn id="40" fill="hold">
                            <p:stCondLst>
                              <p:cond delay="3500"/>
                            </p:stCondLst>
                            <p:childTnLst>
                              <p:par>
                                <p:cTn id="41" presetID="12" presetClass="entr" presetSubtype="4" fill="hold" nodeType="afterEffect">
                                  <p:stCondLst>
                                    <p:cond delay="0"/>
                                  </p:stCondLst>
                                  <p:childTnLst>
                                    <p:set>
                                      <p:cBhvr>
                                        <p:cTn id="42" dur="1" fill="hold">
                                          <p:stCondLst>
                                            <p:cond delay="0"/>
                                          </p:stCondLst>
                                        </p:cTn>
                                        <p:tgtEl>
                                          <p:spTgt spid="53"/>
                                        </p:tgtEl>
                                        <p:attrNameLst>
                                          <p:attrName>style.visibility</p:attrName>
                                        </p:attrNameLst>
                                      </p:cBhvr>
                                      <p:to>
                                        <p:strVal val="visible"/>
                                      </p:to>
                                    </p:set>
                                    <p:anim calcmode="lin" valueType="num">
                                      <p:cBhvr additive="base">
                                        <p:cTn id="43" dur="400"/>
                                        <p:tgtEl>
                                          <p:spTgt spid="53"/>
                                        </p:tgtEl>
                                        <p:attrNameLst>
                                          <p:attrName>ppt_y</p:attrName>
                                        </p:attrNameLst>
                                      </p:cBhvr>
                                      <p:tavLst>
                                        <p:tav tm="0">
                                          <p:val>
                                            <p:strVal val="#ppt_y+#ppt_h*1.125000"/>
                                          </p:val>
                                        </p:tav>
                                        <p:tav tm="100000">
                                          <p:val>
                                            <p:strVal val="#ppt_y"/>
                                          </p:val>
                                        </p:tav>
                                      </p:tavLst>
                                    </p:anim>
                                    <p:animEffect transition="in" filter="wipe(up)">
                                      <p:cBhvr>
                                        <p:cTn id="44" dur="400"/>
                                        <p:tgtEl>
                                          <p:spTgt spid="53"/>
                                        </p:tgtEl>
                                      </p:cBhvr>
                                    </p:animEffect>
                                  </p:childTnLst>
                                </p:cTn>
                              </p:par>
                            </p:childTnLst>
                          </p:cTn>
                        </p:par>
                        <p:par>
                          <p:cTn id="45" fill="hold">
                            <p:stCondLst>
                              <p:cond delay="4000"/>
                            </p:stCondLst>
                            <p:childTnLst>
                              <p:par>
                                <p:cTn id="46" presetID="53" presetClass="entr" presetSubtype="16" fill="hold" nodeType="afterEffect">
                                  <p:stCondLst>
                                    <p:cond delay="0"/>
                                  </p:stCondLst>
                                  <p:childTnLst>
                                    <p:set>
                                      <p:cBhvr>
                                        <p:cTn id="47" dur="1" fill="hold">
                                          <p:stCondLst>
                                            <p:cond delay="0"/>
                                          </p:stCondLst>
                                        </p:cTn>
                                        <p:tgtEl>
                                          <p:spTgt spid="73"/>
                                        </p:tgtEl>
                                        <p:attrNameLst>
                                          <p:attrName>style.visibility</p:attrName>
                                        </p:attrNameLst>
                                      </p:cBhvr>
                                      <p:to>
                                        <p:strVal val="visible"/>
                                      </p:to>
                                    </p:set>
                                    <p:anim calcmode="lin" valueType="num">
                                      <p:cBhvr>
                                        <p:cTn id="48" dur="500" fill="hold"/>
                                        <p:tgtEl>
                                          <p:spTgt spid="73"/>
                                        </p:tgtEl>
                                        <p:attrNameLst>
                                          <p:attrName>ppt_w</p:attrName>
                                        </p:attrNameLst>
                                      </p:cBhvr>
                                      <p:tavLst>
                                        <p:tav tm="0">
                                          <p:val>
                                            <p:fltVal val="0"/>
                                          </p:val>
                                        </p:tav>
                                        <p:tav tm="100000">
                                          <p:val>
                                            <p:strVal val="#ppt_w"/>
                                          </p:val>
                                        </p:tav>
                                      </p:tavLst>
                                    </p:anim>
                                    <p:anim calcmode="lin" valueType="num">
                                      <p:cBhvr>
                                        <p:cTn id="49" dur="500" fill="hold"/>
                                        <p:tgtEl>
                                          <p:spTgt spid="73"/>
                                        </p:tgtEl>
                                        <p:attrNameLst>
                                          <p:attrName>ppt_h</p:attrName>
                                        </p:attrNameLst>
                                      </p:cBhvr>
                                      <p:tavLst>
                                        <p:tav tm="0">
                                          <p:val>
                                            <p:fltVal val="0"/>
                                          </p:val>
                                        </p:tav>
                                        <p:tav tm="100000">
                                          <p:val>
                                            <p:strVal val="#ppt_h"/>
                                          </p:val>
                                        </p:tav>
                                      </p:tavLst>
                                    </p:anim>
                                    <p:animEffect transition="in" filter="fade">
                                      <p:cBhvr>
                                        <p:cTn id="50" dur="500"/>
                                        <p:tgtEl>
                                          <p:spTgt spid="73"/>
                                        </p:tgtEl>
                                      </p:cBhvr>
                                    </p:animEffect>
                                  </p:childTnLst>
                                </p:cTn>
                              </p:par>
                            </p:childTnLst>
                          </p:cTn>
                        </p:par>
                        <p:par>
                          <p:cTn id="51" fill="hold">
                            <p:stCondLst>
                              <p:cond delay="4500"/>
                            </p:stCondLst>
                            <p:childTnLst>
                              <p:par>
                                <p:cTn id="52" presetID="12" presetClass="entr" presetSubtype="8" fill="hold" grpId="0" nodeType="afterEffect">
                                  <p:stCondLst>
                                    <p:cond delay="0"/>
                                  </p:stCondLst>
                                  <p:childTnLst>
                                    <p:set>
                                      <p:cBhvr>
                                        <p:cTn id="53" dur="1" fill="hold">
                                          <p:stCondLst>
                                            <p:cond delay="0"/>
                                          </p:stCondLst>
                                        </p:cTn>
                                        <p:tgtEl>
                                          <p:spTgt spid="51"/>
                                        </p:tgtEl>
                                        <p:attrNameLst>
                                          <p:attrName>style.visibility</p:attrName>
                                        </p:attrNameLst>
                                      </p:cBhvr>
                                      <p:to>
                                        <p:strVal val="visible"/>
                                      </p:to>
                                    </p:set>
                                    <p:anim calcmode="lin" valueType="num">
                                      <p:cBhvr additive="base">
                                        <p:cTn id="54" dur="400"/>
                                        <p:tgtEl>
                                          <p:spTgt spid="51"/>
                                        </p:tgtEl>
                                        <p:attrNameLst>
                                          <p:attrName>ppt_x</p:attrName>
                                        </p:attrNameLst>
                                      </p:cBhvr>
                                      <p:tavLst>
                                        <p:tav tm="0">
                                          <p:val>
                                            <p:strVal val="#ppt_x-#ppt_w*1.125000"/>
                                          </p:val>
                                        </p:tav>
                                        <p:tav tm="100000">
                                          <p:val>
                                            <p:strVal val="#ppt_x"/>
                                          </p:val>
                                        </p:tav>
                                      </p:tavLst>
                                    </p:anim>
                                    <p:animEffect transition="in" filter="wipe(right)">
                                      <p:cBhvr>
                                        <p:cTn id="55" dur="400"/>
                                        <p:tgtEl>
                                          <p:spTgt spid="51"/>
                                        </p:tgtEl>
                                      </p:cBhvr>
                                    </p:animEffect>
                                  </p:childTnLst>
                                </p:cTn>
                              </p:par>
                            </p:childTnLst>
                          </p:cTn>
                        </p:par>
                        <p:par>
                          <p:cTn id="56" fill="hold">
                            <p:stCondLst>
                              <p:cond delay="5000"/>
                            </p:stCondLst>
                            <p:childTnLst>
                              <p:par>
                                <p:cTn id="57" presetID="12" presetClass="entr" presetSubtype="1" fill="hold" nodeType="afterEffect">
                                  <p:stCondLst>
                                    <p:cond delay="0"/>
                                  </p:stCondLst>
                                  <p:childTnLst>
                                    <p:set>
                                      <p:cBhvr>
                                        <p:cTn id="58" dur="1" fill="hold">
                                          <p:stCondLst>
                                            <p:cond delay="0"/>
                                          </p:stCondLst>
                                        </p:cTn>
                                        <p:tgtEl>
                                          <p:spTgt spid="55"/>
                                        </p:tgtEl>
                                        <p:attrNameLst>
                                          <p:attrName>style.visibility</p:attrName>
                                        </p:attrNameLst>
                                      </p:cBhvr>
                                      <p:to>
                                        <p:strVal val="visible"/>
                                      </p:to>
                                    </p:set>
                                    <p:anim calcmode="lin" valueType="num">
                                      <p:cBhvr additive="base">
                                        <p:cTn id="59" dur="400"/>
                                        <p:tgtEl>
                                          <p:spTgt spid="55"/>
                                        </p:tgtEl>
                                        <p:attrNameLst>
                                          <p:attrName>ppt_y</p:attrName>
                                        </p:attrNameLst>
                                      </p:cBhvr>
                                      <p:tavLst>
                                        <p:tav tm="0">
                                          <p:val>
                                            <p:strVal val="#ppt_y-#ppt_h*1.125000"/>
                                          </p:val>
                                        </p:tav>
                                        <p:tav tm="100000">
                                          <p:val>
                                            <p:strVal val="#ppt_y"/>
                                          </p:val>
                                        </p:tav>
                                      </p:tavLst>
                                    </p:anim>
                                    <p:animEffect transition="in" filter="wipe(down)">
                                      <p:cBhvr>
                                        <p:cTn id="60" dur="400"/>
                                        <p:tgtEl>
                                          <p:spTgt spid="55"/>
                                        </p:tgtEl>
                                      </p:cBhvr>
                                    </p:animEffect>
                                  </p:childTnLst>
                                </p:cTn>
                              </p:par>
                            </p:childTnLst>
                          </p:cTn>
                        </p:par>
                        <p:par>
                          <p:cTn id="61" fill="hold">
                            <p:stCondLst>
                              <p:cond delay="5500"/>
                            </p:stCondLst>
                            <p:childTnLst>
                              <p:par>
                                <p:cTn id="62" presetID="53" presetClass="entr" presetSubtype="16" fill="hold" nodeType="afterEffect">
                                  <p:stCondLst>
                                    <p:cond delay="0"/>
                                  </p:stCondLst>
                                  <p:childTnLst>
                                    <p:set>
                                      <p:cBhvr>
                                        <p:cTn id="63" dur="1" fill="hold">
                                          <p:stCondLst>
                                            <p:cond delay="0"/>
                                          </p:stCondLst>
                                        </p:cTn>
                                        <p:tgtEl>
                                          <p:spTgt spid="80"/>
                                        </p:tgtEl>
                                        <p:attrNameLst>
                                          <p:attrName>style.visibility</p:attrName>
                                        </p:attrNameLst>
                                      </p:cBhvr>
                                      <p:to>
                                        <p:strVal val="visible"/>
                                      </p:to>
                                    </p:set>
                                    <p:anim calcmode="lin" valueType="num">
                                      <p:cBhvr>
                                        <p:cTn id="64" dur="500" fill="hold"/>
                                        <p:tgtEl>
                                          <p:spTgt spid="80"/>
                                        </p:tgtEl>
                                        <p:attrNameLst>
                                          <p:attrName>ppt_w</p:attrName>
                                        </p:attrNameLst>
                                      </p:cBhvr>
                                      <p:tavLst>
                                        <p:tav tm="0">
                                          <p:val>
                                            <p:fltVal val="0"/>
                                          </p:val>
                                        </p:tav>
                                        <p:tav tm="100000">
                                          <p:val>
                                            <p:strVal val="#ppt_w"/>
                                          </p:val>
                                        </p:tav>
                                      </p:tavLst>
                                    </p:anim>
                                    <p:anim calcmode="lin" valueType="num">
                                      <p:cBhvr>
                                        <p:cTn id="65" dur="500" fill="hold"/>
                                        <p:tgtEl>
                                          <p:spTgt spid="80"/>
                                        </p:tgtEl>
                                        <p:attrNameLst>
                                          <p:attrName>ppt_h</p:attrName>
                                        </p:attrNameLst>
                                      </p:cBhvr>
                                      <p:tavLst>
                                        <p:tav tm="0">
                                          <p:val>
                                            <p:fltVal val="0"/>
                                          </p:val>
                                        </p:tav>
                                        <p:tav tm="100000">
                                          <p:val>
                                            <p:strVal val="#ppt_h"/>
                                          </p:val>
                                        </p:tav>
                                      </p:tavLst>
                                    </p:anim>
                                    <p:animEffect transition="in" filter="fade">
                                      <p:cBhvr>
                                        <p:cTn id="66" dur="500"/>
                                        <p:tgtEl>
                                          <p:spTgt spid="80"/>
                                        </p:tgtEl>
                                      </p:cBhvr>
                                    </p:animEffect>
                                  </p:childTnLst>
                                </p:cTn>
                              </p:par>
                            </p:childTnLst>
                          </p:cTn>
                        </p:par>
                        <p:par>
                          <p:cTn id="67" fill="hold">
                            <p:stCondLst>
                              <p:cond delay="6000"/>
                            </p:stCondLst>
                            <p:childTnLst>
                              <p:par>
                                <p:cTn id="68" presetID="16" presetClass="entr" presetSubtype="42" fill="hold" nodeType="afterEffect">
                                  <p:stCondLst>
                                    <p:cond delay="0"/>
                                  </p:stCondLst>
                                  <p:childTnLst>
                                    <p:set>
                                      <p:cBhvr>
                                        <p:cTn id="69" dur="1" fill="hold">
                                          <p:stCondLst>
                                            <p:cond delay="0"/>
                                          </p:stCondLst>
                                        </p:cTn>
                                        <p:tgtEl>
                                          <p:spTgt spid="52"/>
                                        </p:tgtEl>
                                        <p:attrNameLst>
                                          <p:attrName>style.visibility</p:attrName>
                                        </p:attrNameLst>
                                      </p:cBhvr>
                                      <p:to>
                                        <p:strVal val="visible"/>
                                      </p:to>
                                    </p:set>
                                    <p:animEffect transition="in" filter="barn(outHorizontal)">
                                      <p:cBhvr>
                                        <p:cTn id="70"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bldLvl="0" animBg="1"/>
      <p:bldP spid="48" grpId="0" bldLvl="0" animBg="1"/>
      <p:bldP spid="50" grpId="0" bldLvl="0" animBg="1"/>
      <p:bldP spid="51" grpId="0" bldLvl="0" animBg="1"/>
      <p:bldP spid="57"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158591" y="2577148"/>
            <a:ext cx="4996815" cy="684371"/>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7" name="等腰三角形 16"/>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椭圆 22"/>
          <p:cNvSpPr/>
          <p:nvPr/>
        </p:nvSpPr>
        <p:spPr>
          <a:xfrm flipH="1">
            <a:off x="194217" y="2534030"/>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nvSpPr>
        <p:spPr>
          <a:xfrm flipH="1">
            <a:off x="590364" y="3216911"/>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椭圆 24"/>
          <p:cNvSpPr/>
          <p:nvPr/>
        </p:nvSpPr>
        <p:spPr>
          <a:xfrm flipH="1">
            <a:off x="990600" y="2530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nvSpPr>
        <p:spPr>
          <a:xfrm flipH="1">
            <a:off x="1790700" y="2530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椭圆 26"/>
          <p:cNvSpPr/>
          <p:nvPr/>
        </p:nvSpPr>
        <p:spPr>
          <a:xfrm flipH="1">
            <a:off x="2590800" y="2530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nvSpPr>
        <p:spPr>
          <a:xfrm flipH="1">
            <a:off x="3390900" y="2530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nvSpPr>
        <p:spPr>
          <a:xfrm flipH="1">
            <a:off x="4191000" y="2530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7" name="椭圆 46"/>
          <p:cNvSpPr/>
          <p:nvPr/>
        </p:nvSpPr>
        <p:spPr>
          <a:xfrm flipH="1">
            <a:off x="1390650" y="3216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8" name="椭圆 47"/>
          <p:cNvSpPr/>
          <p:nvPr/>
        </p:nvSpPr>
        <p:spPr>
          <a:xfrm flipH="1">
            <a:off x="2190750" y="3216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9" name="椭圆 48"/>
          <p:cNvSpPr/>
          <p:nvPr/>
        </p:nvSpPr>
        <p:spPr>
          <a:xfrm flipH="1">
            <a:off x="2990850" y="3216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椭圆 49"/>
          <p:cNvSpPr/>
          <p:nvPr/>
        </p:nvSpPr>
        <p:spPr>
          <a:xfrm flipH="1">
            <a:off x="3790950" y="3216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1" name="椭圆 50"/>
          <p:cNvSpPr/>
          <p:nvPr/>
        </p:nvSpPr>
        <p:spPr>
          <a:xfrm flipH="1">
            <a:off x="4316730" y="115125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66" name="组合 65"/>
          <p:cNvGrpSpPr/>
          <p:nvPr/>
        </p:nvGrpSpPr>
        <p:grpSpPr>
          <a:xfrm>
            <a:off x="93345" y="1169035"/>
            <a:ext cx="2012950" cy="1191895"/>
            <a:chOff x="1356175" y="1093399"/>
            <a:chExt cx="2300757" cy="1589432"/>
          </a:xfrm>
        </p:grpSpPr>
        <p:sp>
          <p:nvSpPr>
            <p:cNvPr id="58" name="矩形 57"/>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59" name="椭圆 58"/>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60" name="椭圆 59"/>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61" name="椭圆 60"/>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62" name="椭圆 61"/>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grpSp>
        <p:nvGrpSpPr>
          <p:cNvPr id="68" name="组合 67"/>
          <p:cNvGrpSpPr/>
          <p:nvPr/>
        </p:nvGrpSpPr>
        <p:grpSpPr>
          <a:xfrm>
            <a:off x="2708771" y="1169299"/>
            <a:ext cx="1725568" cy="1192074"/>
            <a:chOff x="1356175" y="1093399"/>
            <a:chExt cx="2300757" cy="1589432"/>
          </a:xfrm>
        </p:grpSpPr>
        <p:sp>
          <p:nvSpPr>
            <p:cNvPr id="69" name="矩形 68"/>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0" name="椭圆 69"/>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1" name="椭圆 70"/>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2" name="椭圆 71"/>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3" name="椭圆 72"/>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grpSp>
        <p:nvGrpSpPr>
          <p:cNvPr id="80" name="组合 79"/>
          <p:cNvGrpSpPr/>
          <p:nvPr/>
        </p:nvGrpSpPr>
        <p:grpSpPr>
          <a:xfrm>
            <a:off x="3258026" y="3806349"/>
            <a:ext cx="1725454" cy="505301"/>
            <a:chOff x="1356175" y="1093399"/>
            <a:chExt cx="2300757" cy="1589432"/>
          </a:xfrm>
        </p:grpSpPr>
        <p:sp>
          <p:nvSpPr>
            <p:cNvPr id="81" name="矩形 80"/>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2" name="椭圆 81"/>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3" name="椭圆 82"/>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4" name="椭圆 83"/>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5" name="椭圆 84"/>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grpSp>
        <p:nvGrpSpPr>
          <p:cNvPr id="92" name="组合 91"/>
          <p:cNvGrpSpPr/>
          <p:nvPr/>
        </p:nvGrpSpPr>
        <p:grpSpPr>
          <a:xfrm>
            <a:off x="537210" y="3468211"/>
            <a:ext cx="1793558" cy="1192054"/>
            <a:chOff x="1356175" y="1093399"/>
            <a:chExt cx="2300757" cy="1589432"/>
          </a:xfrm>
        </p:grpSpPr>
        <p:sp>
          <p:nvSpPr>
            <p:cNvPr id="93" name="矩形 92"/>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4" name="椭圆 93"/>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5" name="椭圆 94"/>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6" name="椭圆 95"/>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7" name="椭圆 96"/>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98" name="矩形 97"/>
          <p:cNvSpPr/>
          <p:nvPr/>
        </p:nvSpPr>
        <p:spPr>
          <a:xfrm>
            <a:off x="17145" y="1274445"/>
            <a:ext cx="2183765" cy="706755"/>
          </a:xfrm>
          <a:prstGeom prst="rect">
            <a:avLst/>
          </a:prstGeom>
        </p:spPr>
        <p:txBody>
          <a:bodyPr wrap="square">
            <a:spAutoFit/>
          </a:bodyPr>
          <a:lstStyle/>
          <a:p>
            <a:pPr marL="342900" indent="-342900" algn="l">
              <a:buFont typeface="+mj-ea"/>
              <a:buAutoNum type="circleNumDbPlain"/>
            </a:pPr>
            <a:r>
              <a:rPr lang="en-US" altLang="zh-CN" sz="2000">
                <a:latin typeface="微软雅黑" panose="020B0503020204020204" charset="-122"/>
                <a:ea typeface="微软雅黑" panose="020B0503020204020204" charset="-122"/>
                <a:sym typeface="+mn-ea"/>
              </a:rPr>
              <a:t>ISA</a:t>
            </a:r>
            <a:r>
              <a:rPr lang="zh-CN" altLang="en-US" sz="2000">
                <a:latin typeface="微软雅黑" panose="020B0503020204020204" charset="-122"/>
                <a:ea typeface="微软雅黑" panose="020B0503020204020204" charset="-122"/>
                <a:sym typeface="+mn-ea"/>
              </a:rPr>
              <a:t>位于软件和硬件之间</a:t>
            </a:r>
            <a:endParaRPr lang="zh-CN" altLang="en-US" sz="2000" b="1" dirty="0">
              <a:latin typeface="微软雅黑" panose="020B0503020204020204" charset="-122"/>
              <a:ea typeface="微软雅黑" panose="020B0503020204020204" charset="-122"/>
              <a:sym typeface="+mn-ea"/>
            </a:endParaRPr>
          </a:p>
        </p:txBody>
      </p:sp>
      <p:sp>
        <p:nvSpPr>
          <p:cNvPr id="102" name="矩形 101"/>
          <p:cNvSpPr/>
          <p:nvPr/>
        </p:nvSpPr>
        <p:spPr>
          <a:xfrm>
            <a:off x="2717800" y="1175385"/>
            <a:ext cx="1707515" cy="1014730"/>
          </a:xfrm>
          <a:prstGeom prst="rect">
            <a:avLst/>
          </a:prstGeom>
        </p:spPr>
        <p:txBody>
          <a:bodyPr wrap="square">
            <a:spAutoFit/>
          </a:bodyPr>
          <a:lstStyle/>
          <a:p>
            <a:pPr marL="342900" indent="-342900" algn="l">
              <a:buFont typeface="+mj-ea"/>
              <a:buAutoNum type="circleNumDbPlain" startAt="2"/>
            </a:pPr>
            <a:r>
              <a:rPr lang="zh-CN" altLang="en-US" sz="2000">
                <a:latin typeface="微软雅黑" panose="020B0503020204020204" charset="-122"/>
                <a:ea typeface="微软雅黑" panose="020B0503020204020204" charset="-122"/>
                <a:sym typeface="+mn-ea"/>
              </a:rPr>
              <a:t>硬件的功能通过</a:t>
            </a:r>
            <a:r>
              <a:rPr lang="en-US" altLang="zh-CN" sz="2000">
                <a:latin typeface="微软雅黑" panose="020B0503020204020204" charset="-122"/>
                <a:ea typeface="微软雅黑" panose="020B0503020204020204" charset="-122"/>
                <a:sym typeface="+mn-ea"/>
              </a:rPr>
              <a:t>ISA</a:t>
            </a:r>
            <a:r>
              <a:rPr lang="zh-CN" altLang="en-US" sz="2000">
                <a:latin typeface="微软雅黑" panose="020B0503020204020204" charset="-122"/>
                <a:ea typeface="微软雅黑" panose="020B0503020204020204" charset="-122"/>
                <a:sym typeface="+mn-ea"/>
              </a:rPr>
              <a:t>提供出来</a:t>
            </a:r>
            <a:endParaRPr lang="zh-CN" altLang="en-US" sz="2000" b="1" dirty="0">
              <a:latin typeface="微软雅黑" panose="020B0503020204020204" charset="-122"/>
              <a:ea typeface="微软雅黑" panose="020B0503020204020204" charset="-122"/>
              <a:sym typeface="+mn-ea"/>
            </a:endParaRPr>
          </a:p>
        </p:txBody>
      </p:sp>
      <p:sp>
        <p:nvSpPr>
          <p:cNvPr id="104" name="矩形 103"/>
          <p:cNvSpPr/>
          <p:nvPr/>
        </p:nvSpPr>
        <p:spPr>
          <a:xfrm>
            <a:off x="460693" y="3544253"/>
            <a:ext cx="1946910" cy="1014730"/>
          </a:xfrm>
          <a:prstGeom prst="rect">
            <a:avLst/>
          </a:prstGeom>
        </p:spPr>
        <p:txBody>
          <a:bodyPr wrap="square">
            <a:spAutoFit/>
          </a:bodyPr>
          <a:lstStyle/>
          <a:p>
            <a:pPr marL="342900" indent="-342900" algn="l">
              <a:buFont typeface="+mj-ea"/>
              <a:buAutoNum type="circleNumDbPlain" startAt="3"/>
            </a:pPr>
            <a:r>
              <a:rPr lang="zh-CN" altLang="en-US" sz="2000">
                <a:latin typeface="微软雅黑" panose="020B0503020204020204" charset="-122"/>
                <a:ea typeface="微软雅黑" panose="020B0503020204020204" charset="-122"/>
                <a:sym typeface="+mn-ea"/>
              </a:rPr>
              <a:t>软件通过</a:t>
            </a:r>
            <a:r>
              <a:rPr lang="en-US" altLang="zh-CN" sz="2000">
                <a:latin typeface="微软雅黑" panose="020B0503020204020204" charset="-122"/>
                <a:ea typeface="微软雅黑" panose="020B0503020204020204" charset="-122"/>
                <a:sym typeface="+mn-ea"/>
              </a:rPr>
              <a:t>ISA</a:t>
            </a:r>
            <a:r>
              <a:rPr lang="zh-CN" altLang="en-US" sz="2000">
                <a:latin typeface="微软雅黑" panose="020B0503020204020204" charset="-122"/>
                <a:ea typeface="微软雅黑" panose="020B0503020204020204" charset="-122"/>
                <a:sym typeface="+mn-ea"/>
              </a:rPr>
              <a:t>规定的</a:t>
            </a:r>
            <a:r>
              <a:rPr lang="zh-CN" altLang="en-US" sz="2000">
                <a:solidFill>
                  <a:srgbClr val="CC3300"/>
                </a:solidFill>
                <a:latin typeface="微软雅黑" panose="020B0503020204020204" charset="-122"/>
                <a:ea typeface="微软雅黑" panose="020B0503020204020204" charset="-122"/>
                <a:sym typeface="+mn-ea"/>
              </a:rPr>
              <a:t>指令</a:t>
            </a:r>
            <a:r>
              <a:rPr lang="zh-CN" altLang="en-US" sz="2000">
                <a:latin typeface="微软雅黑" panose="020B0503020204020204" charset="-122"/>
                <a:ea typeface="微软雅黑" panose="020B0503020204020204" charset="-122"/>
                <a:sym typeface="+mn-ea"/>
              </a:rPr>
              <a:t>使用硬件</a:t>
            </a:r>
            <a:endParaRPr lang="zh-CN" altLang="en-US" sz="2000" b="1" dirty="0">
              <a:latin typeface="微软雅黑" panose="020B0503020204020204" charset="-122"/>
              <a:ea typeface="微软雅黑" panose="020B0503020204020204" charset="-122"/>
              <a:sym typeface="+mn-ea"/>
            </a:endParaRPr>
          </a:p>
        </p:txBody>
      </p:sp>
      <p:sp>
        <p:nvSpPr>
          <p:cNvPr id="106" name="矩形 105"/>
          <p:cNvSpPr/>
          <p:nvPr/>
        </p:nvSpPr>
        <p:spPr>
          <a:xfrm>
            <a:off x="3320534" y="3868971"/>
            <a:ext cx="1565275" cy="398780"/>
          </a:xfrm>
          <a:prstGeom prst="rect">
            <a:avLst/>
          </a:prstGeom>
        </p:spPr>
        <p:txBody>
          <a:bodyPr wrap="none">
            <a:spAutoFit/>
          </a:bodyPr>
          <a:lstStyle/>
          <a:p>
            <a:pPr algn="l"/>
            <a:r>
              <a:rPr lang="en-US" altLang="zh-CN" sz="2000" dirty="0">
                <a:sym typeface="+mn-ea"/>
              </a:rPr>
              <a:t>ISA</a:t>
            </a:r>
            <a:r>
              <a:rPr lang="zh-CN" altLang="en-US" sz="2000" dirty="0">
                <a:sym typeface="+mn-ea"/>
              </a:rPr>
              <a:t>规定了：</a:t>
            </a:r>
            <a:endParaRPr lang="zh-CN" altLang="en-US" sz="2000" b="1" dirty="0">
              <a:sym typeface="+mn-ea"/>
            </a:endParaRPr>
          </a:p>
        </p:txBody>
      </p:sp>
      <p:sp>
        <p:nvSpPr>
          <p:cNvPr id="4" name="矩形 3"/>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7" name="椭圆 6"/>
          <p:cNvSpPr/>
          <p:nvPr/>
        </p:nvSpPr>
        <p:spPr>
          <a:xfrm>
            <a:off x="21573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9" name="椭圆 18"/>
          <p:cNvSpPr/>
          <p:nvPr/>
        </p:nvSpPr>
        <p:spPr>
          <a:xfrm>
            <a:off x="3791024" y="2533698"/>
            <a:ext cx="103042" cy="103042"/>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21" name="椭圆 20"/>
          <p:cNvSpPr/>
          <p:nvPr/>
        </p:nvSpPr>
        <p:spPr>
          <a:xfrm>
            <a:off x="4777246" y="3175054"/>
            <a:ext cx="206083" cy="206083"/>
          </a:xfrm>
          <a:prstGeom prst="ellipse">
            <a:avLst/>
          </a:prstGeom>
          <a:solidFill>
            <a:schemeClr val="accent2"/>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36" name="TextBox 11"/>
          <p:cNvSpPr txBox="1"/>
          <p:nvPr/>
        </p:nvSpPr>
        <p:spPr>
          <a:xfrm>
            <a:off x="6434296" y="338773"/>
            <a:ext cx="2714625" cy="1107440"/>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fontAlgn="auto">
              <a:lnSpc>
                <a:spcPct val="150000"/>
              </a:lnSpc>
            </a:pPr>
            <a:r>
              <a:rPr lang="zh-CN" altLang="en-US" sz="1600" dirty="0">
                <a:ea typeface="+mn-ea"/>
                <a:cs typeface="+mn-ea"/>
              </a:rPr>
              <a:t>可执行的指令的集合，包括指令格式、操作种类以及每种操作对应的操作数的相应规定；</a:t>
            </a:r>
          </a:p>
        </p:txBody>
      </p:sp>
      <p:cxnSp>
        <p:nvCxnSpPr>
          <p:cNvPr id="37" name="直接连接符 36"/>
          <p:cNvCxnSpPr/>
          <p:nvPr/>
        </p:nvCxnSpPr>
        <p:spPr>
          <a:xfrm>
            <a:off x="5768850" y="930867"/>
            <a:ext cx="594066" cy="0"/>
          </a:xfrm>
          <a:prstGeom prst="line">
            <a:avLst/>
          </a:prstGeom>
          <a:ln w="6350">
            <a:solidFill>
              <a:schemeClr val="tx1"/>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38" name="TextBox 14"/>
          <p:cNvSpPr txBox="1"/>
          <p:nvPr/>
        </p:nvSpPr>
        <p:spPr>
          <a:xfrm>
            <a:off x="6523536" y="1438077"/>
            <a:ext cx="2592288" cy="73850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fontAlgn="auto">
              <a:lnSpc>
                <a:spcPct val="150000"/>
              </a:lnSpc>
            </a:pPr>
            <a:r>
              <a:rPr lang="zh-CN" altLang="en-US" sz="1600" dirty="0">
                <a:ea typeface="+mn-ea"/>
                <a:cs typeface="+mn-ea"/>
              </a:rPr>
              <a:t>指令可以接受的操作数的类型；</a:t>
            </a:r>
          </a:p>
        </p:txBody>
      </p:sp>
      <p:cxnSp>
        <p:nvCxnSpPr>
          <p:cNvPr id="39" name="直接连接符 38"/>
          <p:cNvCxnSpPr/>
          <p:nvPr/>
        </p:nvCxnSpPr>
        <p:spPr>
          <a:xfrm>
            <a:off x="5768850" y="1824732"/>
            <a:ext cx="594066" cy="0"/>
          </a:xfrm>
          <a:prstGeom prst="line">
            <a:avLst/>
          </a:prstGeom>
          <a:ln w="6350">
            <a:solidFill>
              <a:schemeClr val="tx1"/>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40" name="TextBox 17"/>
          <p:cNvSpPr txBox="1"/>
          <p:nvPr/>
        </p:nvSpPr>
        <p:spPr>
          <a:xfrm>
            <a:off x="6482896" y="2204104"/>
            <a:ext cx="2592288" cy="1107440"/>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fontAlgn="auto">
              <a:lnSpc>
                <a:spcPct val="150000"/>
              </a:lnSpc>
            </a:pPr>
            <a:r>
              <a:rPr lang="zh-CN" altLang="en-US" sz="1600" dirty="0">
                <a:ea typeface="+mn-ea"/>
                <a:cs typeface="+mn-ea"/>
              </a:rPr>
              <a:t>操作数所能存放的寄存器组的结构，包括每个寄存器的名称、编号、长度和用途；</a:t>
            </a:r>
          </a:p>
        </p:txBody>
      </p:sp>
      <p:cxnSp>
        <p:nvCxnSpPr>
          <p:cNvPr id="41" name="直接连接符 40"/>
          <p:cNvCxnSpPr/>
          <p:nvPr/>
        </p:nvCxnSpPr>
        <p:spPr>
          <a:xfrm>
            <a:off x="5768850" y="2558374"/>
            <a:ext cx="594066" cy="0"/>
          </a:xfrm>
          <a:prstGeom prst="line">
            <a:avLst/>
          </a:prstGeom>
          <a:ln w="6350">
            <a:solidFill>
              <a:schemeClr val="tx1"/>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42" name="TextBox 20"/>
          <p:cNvSpPr txBox="1"/>
          <p:nvPr/>
        </p:nvSpPr>
        <p:spPr>
          <a:xfrm>
            <a:off x="6523536" y="3511151"/>
            <a:ext cx="2592288" cy="73850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fontAlgn="auto">
              <a:lnSpc>
                <a:spcPct val="150000"/>
              </a:lnSpc>
            </a:pPr>
            <a:r>
              <a:rPr lang="zh-CN" altLang="en-US" sz="1600" dirty="0">
                <a:ea typeface="+mn-ea"/>
                <a:cs typeface="+mn-ea"/>
              </a:rPr>
              <a:t>操作数所能存放的存储空间的大小和编址方式；</a:t>
            </a:r>
          </a:p>
        </p:txBody>
      </p:sp>
      <p:cxnSp>
        <p:nvCxnSpPr>
          <p:cNvPr id="43" name="直接连接符 42"/>
          <p:cNvCxnSpPr/>
          <p:nvPr/>
        </p:nvCxnSpPr>
        <p:spPr>
          <a:xfrm>
            <a:off x="5768850" y="3647616"/>
            <a:ext cx="594066" cy="0"/>
          </a:xfrm>
          <a:prstGeom prst="line">
            <a:avLst/>
          </a:prstGeom>
          <a:ln w="6350">
            <a:solidFill>
              <a:schemeClr val="tx1"/>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44" name="TextBox 23"/>
          <p:cNvSpPr txBox="1"/>
          <p:nvPr/>
        </p:nvSpPr>
        <p:spPr>
          <a:xfrm>
            <a:off x="6523536" y="4324803"/>
            <a:ext cx="2592288" cy="73850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fontAlgn="auto">
              <a:lnSpc>
                <a:spcPct val="150000"/>
              </a:lnSpc>
            </a:pPr>
            <a:r>
              <a:rPr lang="zh-CN" altLang="en-US" sz="1600" dirty="0">
                <a:ea typeface="+mn-ea"/>
                <a:cs typeface="+mn-ea"/>
              </a:rPr>
              <a:t>操作数在存储空间存放时按照大端还是小端方式存放；</a:t>
            </a:r>
          </a:p>
        </p:txBody>
      </p:sp>
      <p:cxnSp>
        <p:nvCxnSpPr>
          <p:cNvPr id="45" name="直接连接符 44"/>
          <p:cNvCxnSpPr/>
          <p:nvPr/>
        </p:nvCxnSpPr>
        <p:spPr>
          <a:xfrm>
            <a:off x="5768850" y="4602238"/>
            <a:ext cx="594066" cy="0"/>
          </a:xfrm>
          <a:prstGeom prst="line">
            <a:avLst/>
          </a:prstGeom>
          <a:ln w="6350">
            <a:solidFill>
              <a:schemeClr val="tx1"/>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46" name="TextBox 26"/>
          <p:cNvSpPr txBox="1"/>
          <p:nvPr/>
        </p:nvSpPr>
        <p:spPr>
          <a:xfrm>
            <a:off x="6523536" y="5082575"/>
            <a:ext cx="2592288" cy="738505"/>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fontAlgn="auto">
              <a:lnSpc>
                <a:spcPct val="150000"/>
              </a:lnSpc>
            </a:pPr>
            <a:r>
              <a:rPr lang="zh-CN" altLang="en-US" sz="1600" dirty="0">
                <a:ea typeface="+mn-ea"/>
                <a:cs typeface="+mn-ea"/>
              </a:rPr>
              <a:t>指令获取操作数的方式，即寻址方式；</a:t>
            </a:r>
          </a:p>
        </p:txBody>
      </p:sp>
      <p:cxnSp>
        <p:nvCxnSpPr>
          <p:cNvPr id="57" name="直接连接符 56"/>
          <p:cNvCxnSpPr/>
          <p:nvPr/>
        </p:nvCxnSpPr>
        <p:spPr>
          <a:xfrm>
            <a:off x="5768850" y="5445100"/>
            <a:ext cx="594066" cy="0"/>
          </a:xfrm>
          <a:prstGeom prst="line">
            <a:avLst/>
          </a:prstGeom>
          <a:ln w="6350">
            <a:solidFill>
              <a:schemeClr val="tx1"/>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5610165" y="827825"/>
            <a:ext cx="206083" cy="206083"/>
          </a:xfrm>
          <a:prstGeom prst="ellipse">
            <a:avLst/>
          </a:prstGeom>
          <a:solidFill>
            <a:schemeClr val="accent2"/>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1</a:t>
            </a:r>
            <a:endParaRPr lang="zh-CN" altLang="en-US" sz="1350" dirty="0">
              <a:cs typeface="+mn-ea"/>
            </a:endParaRPr>
          </a:p>
        </p:txBody>
      </p:sp>
      <p:sp>
        <p:nvSpPr>
          <p:cNvPr id="64" name="椭圆 63"/>
          <p:cNvSpPr/>
          <p:nvPr/>
        </p:nvSpPr>
        <p:spPr>
          <a:xfrm>
            <a:off x="4362524" y="3207091"/>
            <a:ext cx="125418" cy="125418"/>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5" name="椭圆 64"/>
          <p:cNvSpPr/>
          <p:nvPr/>
        </p:nvSpPr>
        <p:spPr>
          <a:xfrm>
            <a:off x="4580325" y="2533864"/>
            <a:ext cx="103042" cy="103042"/>
          </a:xfrm>
          <a:prstGeom prst="ellipse">
            <a:avLst/>
          </a:prstGeom>
          <a:solidFill>
            <a:schemeClr val="accent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7" name="椭圆 66"/>
          <p:cNvSpPr/>
          <p:nvPr/>
        </p:nvSpPr>
        <p:spPr>
          <a:xfrm>
            <a:off x="5609343" y="1718741"/>
            <a:ext cx="206083" cy="206083"/>
          </a:xfrm>
          <a:prstGeom prst="ellipse">
            <a:avLst/>
          </a:prstGeom>
          <a:solidFill>
            <a:schemeClr val="accent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2</a:t>
            </a:r>
            <a:endParaRPr lang="zh-CN" altLang="en-US" sz="1350" dirty="0">
              <a:cs typeface="+mn-ea"/>
            </a:endParaRPr>
          </a:p>
        </p:txBody>
      </p:sp>
      <p:sp>
        <p:nvSpPr>
          <p:cNvPr id="74" name="椭圆 73"/>
          <p:cNvSpPr/>
          <p:nvPr/>
        </p:nvSpPr>
        <p:spPr>
          <a:xfrm>
            <a:off x="5609201" y="2456807"/>
            <a:ext cx="206083" cy="206083"/>
          </a:xfrm>
          <a:prstGeom prst="ellipse">
            <a:avLst/>
          </a:prstGeom>
          <a:solidFill>
            <a:schemeClr val="accent4"/>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3</a:t>
            </a:r>
            <a:endParaRPr lang="zh-CN" altLang="en-US" sz="1350" dirty="0">
              <a:cs typeface="+mn-ea"/>
            </a:endParaRPr>
          </a:p>
        </p:txBody>
      </p:sp>
      <p:sp>
        <p:nvSpPr>
          <p:cNvPr id="75" name="椭圆 74"/>
          <p:cNvSpPr/>
          <p:nvPr/>
        </p:nvSpPr>
        <p:spPr>
          <a:xfrm>
            <a:off x="5608379" y="3544573"/>
            <a:ext cx="206083" cy="206083"/>
          </a:xfrm>
          <a:prstGeom prst="ellipse">
            <a:avLst/>
          </a:prstGeom>
          <a:solidFill>
            <a:schemeClr val="accent6"/>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4</a:t>
            </a:r>
            <a:endParaRPr lang="zh-CN" altLang="en-US" sz="1350" dirty="0">
              <a:cs typeface="+mn-ea"/>
            </a:endParaRPr>
          </a:p>
        </p:txBody>
      </p:sp>
      <p:sp>
        <p:nvSpPr>
          <p:cNvPr id="76" name="椭圆 75"/>
          <p:cNvSpPr/>
          <p:nvPr/>
        </p:nvSpPr>
        <p:spPr>
          <a:xfrm>
            <a:off x="5610199" y="4497847"/>
            <a:ext cx="206083" cy="206083"/>
          </a:xfrm>
          <a:prstGeom prst="ellipse">
            <a:avLst/>
          </a:prstGeom>
          <a:solidFill>
            <a:schemeClr val="accent1"/>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5</a:t>
            </a:r>
            <a:endParaRPr lang="zh-CN" altLang="en-US" sz="1350" dirty="0">
              <a:cs typeface="+mn-ea"/>
            </a:endParaRPr>
          </a:p>
        </p:txBody>
      </p:sp>
      <p:sp>
        <p:nvSpPr>
          <p:cNvPr id="77" name="椭圆 76"/>
          <p:cNvSpPr/>
          <p:nvPr/>
        </p:nvSpPr>
        <p:spPr>
          <a:xfrm>
            <a:off x="5609377" y="5339233"/>
            <a:ext cx="206083" cy="206083"/>
          </a:xfrm>
          <a:prstGeom prst="ellipse">
            <a:avLst/>
          </a:prstGeom>
          <a:solidFill>
            <a:schemeClr val="accent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6</a:t>
            </a:r>
            <a:endParaRPr lang="zh-CN" altLang="en-US" sz="1350" dirty="0">
              <a:cs typeface="+mn-ea"/>
            </a:endParaRPr>
          </a:p>
        </p:txBody>
      </p:sp>
      <p:sp>
        <p:nvSpPr>
          <p:cNvPr id="78" name="TextBox 17"/>
          <p:cNvSpPr txBox="1"/>
          <p:nvPr/>
        </p:nvSpPr>
        <p:spPr>
          <a:xfrm>
            <a:off x="6472736" y="5791537"/>
            <a:ext cx="2592288" cy="1107440"/>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charset="-122"/>
                <a:ea typeface="微软雅黑" panose="020B0503020204020204" charset="-122"/>
              </a:defRPr>
            </a:lvl1pPr>
          </a:lstStyle>
          <a:p>
            <a:pPr fontAlgn="auto">
              <a:lnSpc>
                <a:spcPct val="150000"/>
              </a:lnSpc>
            </a:pPr>
            <a:r>
              <a:rPr lang="zh-CN" altLang="en-US" sz="1600" dirty="0">
                <a:ea typeface="+mn-ea"/>
                <a:cs typeface="+mn-ea"/>
              </a:rPr>
              <a:t>指令执行过程的控制方式，包括程序计数器、条件码定义等。</a:t>
            </a:r>
          </a:p>
        </p:txBody>
      </p:sp>
      <p:cxnSp>
        <p:nvCxnSpPr>
          <p:cNvPr id="79" name="直接连接符 78"/>
          <p:cNvCxnSpPr/>
          <p:nvPr/>
        </p:nvCxnSpPr>
        <p:spPr>
          <a:xfrm>
            <a:off x="5772660" y="6128344"/>
            <a:ext cx="594066" cy="0"/>
          </a:xfrm>
          <a:prstGeom prst="line">
            <a:avLst/>
          </a:prstGeom>
          <a:ln w="6350">
            <a:solidFill>
              <a:schemeClr val="tx1"/>
            </a:solidFill>
            <a:prstDash val="dash"/>
            <a:tailEnd type="oval" w="sm" len="sm"/>
          </a:ln>
        </p:spPr>
        <p:style>
          <a:lnRef idx="1">
            <a:schemeClr val="accent1"/>
          </a:lnRef>
          <a:fillRef idx="0">
            <a:schemeClr val="accent1"/>
          </a:fillRef>
          <a:effectRef idx="0">
            <a:schemeClr val="accent1"/>
          </a:effectRef>
          <a:fontRef idx="minor">
            <a:schemeClr val="tx1"/>
          </a:fontRef>
        </p:style>
      </p:cxnSp>
      <p:sp>
        <p:nvSpPr>
          <p:cNvPr id="100" name="椭圆 99"/>
          <p:cNvSpPr/>
          <p:nvPr/>
        </p:nvSpPr>
        <p:spPr>
          <a:xfrm>
            <a:off x="5613011" y="6026777"/>
            <a:ext cx="206083" cy="206083"/>
          </a:xfrm>
          <a:prstGeom prst="ellipse">
            <a:avLst/>
          </a:prstGeom>
          <a:solidFill>
            <a:schemeClr val="accent4"/>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7</a:t>
            </a:r>
          </a:p>
        </p:txBody>
      </p:sp>
      <p:sp>
        <p:nvSpPr>
          <p:cNvPr id="101" name="Freeform 31"/>
          <p:cNvSpPr/>
          <p:nvPr/>
        </p:nvSpPr>
        <p:spPr bwMode="auto">
          <a:xfrm flipV="1">
            <a:off x="4968875" y="4325620"/>
            <a:ext cx="566420" cy="287655"/>
          </a:xfrm>
          <a:custGeom>
            <a:avLst/>
            <a:gdLst>
              <a:gd name="T0" fmla="*/ 11 w 398"/>
              <a:gd name="T1" fmla="*/ 326 h 326"/>
              <a:gd name="T2" fmla="*/ 0 w 398"/>
              <a:gd name="T3" fmla="*/ 311 h 326"/>
              <a:gd name="T4" fmla="*/ 385 w 398"/>
              <a:gd name="T5" fmla="*/ 0 h 326"/>
              <a:gd name="T6" fmla="*/ 398 w 398"/>
              <a:gd name="T7" fmla="*/ 15 h 326"/>
              <a:gd name="T8" fmla="*/ 11 w 398"/>
              <a:gd name="T9" fmla="*/ 326 h 326"/>
            </a:gdLst>
            <a:ahLst/>
            <a:cxnLst>
              <a:cxn ang="0">
                <a:pos x="T0" y="T1"/>
              </a:cxn>
              <a:cxn ang="0">
                <a:pos x="T2" y="T3"/>
              </a:cxn>
              <a:cxn ang="0">
                <a:pos x="T4" y="T5"/>
              </a:cxn>
              <a:cxn ang="0">
                <a:pos x="T6" y="T7"/>
              </a:cxn>
              <a:cxn ang="0">
                <a:pos x="T8" y="T9"/>
              </a:cxn>
            </a:cxnLst>
            <a:rect l="0" t="0" r="r" b="b"/>
            <a:pathLst>
              <a:path w="398" h="326">
                <a:moveTo>
                  <a:pt x="11" y="326"/>
                </a:moveTo>
                <a:lnTo>
                  <a:pt x="0" y="311"/>
                </a:lnTo>
                <a:lnTo>
                  <a:pt x="385" y="0"/>
                </a:lnTo>
                <a:lnTo>
                  <a:pt x="398" y="15"/>
                </a:lnTo>
                <a:lnTo>
                  <a:pt x="11" y="326"/>
                </a:lnTo>
                <a:close/>
              </a:path>
            </a:pathLst>
          </a:custGeom>
          <a:solidFill>
            <a:srgbClr val="D2C5BC"/>
          </a:solidFill>
          <a:ln w="44450">
            <a:solidFill>
              <a:srgbClr val="D2C5BC"/>
            </a:solidFill>
          </a:ln>
        </p:spPr>
        <p:txBody>
          <a:bodyPr vert="horz" wrap="square" lIns="68580" tIns="34290" rIns="68580" bIns="34290" numCol="1" anchor="t" anchorCtr="0" compatLnSpc="1"/>
          <a:lstStyle/>
          <a:p>
            <a:endParaRPr lang="zh-CN" altLang="en-US" sz="1350">
              <a:solidFill>
                <a:schemeClr val="tx2"/>
              </a:solidFill>
              <a:cs typeface="+mn-ea"/>
            </a:endParaRPr>
          </a:p>
        </p:txBody>
      </p:sp>
      <p:sp>
        <p:nvSpPr>
          <p:cNvPr id="110" name="Freeform 31"/>
          <p:cNvSpPr/>
          <p:nvPr/>
        </p:nvSpPr>
        <p:spPr bwMode="auto">
          <a:xfrm flipV="1">
            <a:off x="4984115" y="4324985"/>
            <a:ext cx="628015" cy="1120140"/>
          </a:xfrm>
          <a:custGeom>
            <a:avLst/>
            <a:gdLst>
              <a:gd name="T0" fmla="*/ 11 w 398"/>
              <a:gd name="T1" fmla="*/ 326 h 326"/>
              <a:gd name="T2" fmla="*/ 0 w 398"/>
              <a:gd name="T3" fmla="*/ 311 h 326"/>
              <a:gd name="T4" fmla="*/ 385 w 398"/>
              <a:gd name="T5" fmla="*/ 0 h 326"/>
              <a:gd name="T6" fmla="*/ 398 w 398"/>
              <a:gd name="T7" fmla="*/ 15 h 326"/>
              <a:gd name="T8" fmla="*/ 11 w 398"/>
              <a:gd name="T9" fmla="*/ 326 h 326"/>
            </a:gdLst>
            <a:ahLst/>
            <a:cxnLst>
              <a:cxn ang="0">
                <a:pos x="T0" y="T1"/>
              </a:cxn>
              <a:cxn ang="0">
                <a:pos x="T2" y="T3"/>
              </a:cxn>
              <a:cxn ang="0">
                <a:pos x="T4" y="T5"/>
              </a:cxn>
              <a:cxn ang="0">
                <a:pos x="T6" y="T7"/>
              </a:cxn>
              <a:cxn ang="0">
                <a:pos x="T8" y="T9"/>
              </a:cxn>
            </a:cxnLst>
            <a:rect l="0" t="0" r="r" b="b"/>
            <a:pathLst>
              <a:path w="398" h="326">
                <a:moveTo>
                  <a:pt x="11" y="326"/>
                </a:moveTo>
                <a:lnTo>
                  <a:pt x="0" y="311"/>
                </a:lnTo>
                <a:lnTo>
                  <a:pt x="385" y="0"/>
                </a:lnTo>
                <a:lnTo>
                  <a:pt x="398" y="15"/>
                </a:lnTo>
                <a:lnTo>
                  <a:pt x="11" y="326"/>
                </a:lnTo>
                <a:close/>
              </a:path>
            </a:pathLst>
          </a:custGeom>
          <a:solidFill>
            <a:srgbClr val="D2C5B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chemeClr val="tx2"/>
              </a:solidFill>
              <a:cs typeface="+mn-ea"/>
            </a:endParaRPr>
          </a:p>
        </p:txBody>
      </p:sp>
      <p:sp>
        <p:nvSpPr>
          <p:cNvPr id="111" name="Freeform 31"/>
          <p:cNvSpPr/>
          <p:nvPr/>
        </p:nvSpPr>
        <p:spPr bwMode="auto">
          <a:xfrm>
            <a:off x="4968875" y="3653155"/>
            <a:ext cx="638810" cy="671830"/>
          </a:xfrm>
          <a:custGeom>
            <a:avLst/>
            <a:gdLst>
              <a:gd name="T0" fmla="*/ 11 w 398"/>
              <a:gd name="T1" fmla="*/ 326 h 326"/>
              <a:gd name="T2" fmla="*/ 0 w 398"/>
              <a:gd name="T3" fmla="*/ 311 h 326"/>
              <a:gd name="T4" fmla="*/ 385 w 398"/>
              <a:gd name="T5" fmla="*/ 0 h 326"/>
              <a:gd name="T6" fmla="*/ 398 w 398"/>
              <a:gd name="T7" fmla="*/ 15 h 326"/>
              <a:gd name="T8" fmla="*/ 11 w 398"/>
              <a:gd name="T9" fmla="*/ 326 h 326"/>
            </a:gdLst>
            <a:ahLst/>
            <a:cxnLst>
              <a:cxn ang="0">
                <a:pos x="T0" y="T1"/>
              </a:cxn>
              <a:cxn ang="0">
                <a:pos x="T2" y="T3"/>
              </a:cxn>
              <a:cxn ang="0">
                <a:pos x="T4" y="T5"/>
              </a:cxn>
              <a:cxn ang="0">
                <a:pos x="T6" y="T7"/>
              </a:cxn>
              <a:cxn ang="0">
                <a:pos x="T8" y="T9"/>
              </a:cxn>
            </a:cxnLst>
            <a:rect l="0" t="0" r="r" b="b"/>
            <a:pathLst>
              <a:path w="398" h="326">
                <a:moveTo>
                  <a:pt x="11" y="326"/>
                </a:moveTo>
                <a:lnTo>
                  <a:pt x="0" y="311"/>
                </a:lnTo>
                <a:lnTo>
                  <a:pt x="385" y="0"/>
                </a:lnTo>
                <a:lnTo>
                  <a:pt x="398" y="15"/>
                </a:lnTo>
                <a:lnTo>
                  <a:pt x="11" y="326"/>
                </a:lnTo>
                <a:close/>
              </a:path>
            </a:pathLst>
          </a:custGeom>
          <a:solidFill>
            <a:srgbClr val="D2C5B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chemeClr val="tx2"/>
              </a:solidFill>
              <a:cs typeface="+mn-ea"/>
            </a:endParaRPr>
          </a:p>
        </p:txBody>
      </p:sp>
      <p:sp>
        <p:nvSpPr>
          <p:cNvPr id="112" name="Freeform 31"/>
          <p:cNvSpPr/>
          <p:nvPr/>
        </p:nvSpPr>
        <p:spPr bwMode="auto">
          <a:xfrm flipV="1">
            <a:off x="4968875" y="4249420"/>
            <a:ext cx="640080" cy="1777365"/>
          </a:xfrm>
          <a:custGeom>
            <a:avLst/>
            <a:gdLst>
              <a:gd name="T0" fmla="*/ 11 w 398"/>
              <a:gd name="T1" fmla="*/ 326 h 326"/>
              <a:gd name="T2" fmla="*/ 0 w 398"/>
              <a:gd name="T3" fmla="*/ 311 h 326"/>
              <a:gd name="T4" fmla="*/ 385 w 398"/>
              <a:gd name="T5" fmla="*/ 0 h 326"/>
              <a:gd name="T6" fmla="*/ 398 w 398"/>
              <a:gd name="T7" fmla="*/ 15 h 326"/>
              <a:gd name="T8" fmla="*/ 11 w 398"/>
              <a:gd name="T9" fmla="*/ 326 h 326"/>
            </a:gdLst>
            <a:ahLst/>
            <a:cxnLst>
              <a:cxn ang="0">
                <a:pos x="T0" y="T1"/>
              </a:cxn>
              <a:cxn ang="0">
                <a:pos x="T2" y="T3"/>
              </a:cxn>
              <a:cxn ang="0">
                <a:pos x="T4" y="T5"/>
              </a:cxn>
              <a:cxn ang="0">
                <a:pos x="T6" y="T7"/>
              </a:cxn>
              <a:cxn ang="0">
                <a:pos x="T8" y="T9"/>
              </a:cxn>
            </a:cxnLst>
            <a:rect l="0" t="0" r="r" b="b"/>
            <a:pathLst>
              <a:path w="398" h="326">
                <a:moveTo>
                  <a:pt x="11" y="326"/>
                </a:moveTo>
                <a:lnTo>
                  <a:pt x="0" y="311"/>
                </a:lnTo>
                <a:lnTo>
                  <a:pt x="385" y="0"/>
                </a:lnTo>
                <a:lnTo>
                  <a:pt x="398" y="15"/>
                </a:lnTo>
                <a:lnTo>
                  <a:pt x="11" y="326"/>
                </a:lnTo>
                <a:close/>
              </a:path>
            </a:pathLst>
          </a:custGeom>
          <a:solidFill>
            <a:srgbClr val="D2C5B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chemeClr val="tx2"/>
              </a:solidFill>
              <a:cs typeface="+mn-ea"/>
            </a:endParaRPr>
          </a:p>
        </p:txBody>
      </p:sp>
      <p:sp>
        <p:nvSpPr>
          <p:cNvPr id="113" name="Freeform 31"/>
          <p:cNvSpPr/>
          <p:nvPr/>
        </p:nvSpPr>
        <p:spPr bwMode="auto">
          <a:xfrm>
            <a:off x="4982845" y="1925320"/>
            <a:ext cx="553720" cy="2400300"/>
          </a:xfrm>
          <a:custGeom>
            <a:avLst/>
            <a:gdLst>
              <a:gd name="T0" fmla="*/ 11 w 398"/>
              <a:gd name="T1" fmla="*/ 326 h 326"/>
              <a:gd name="T2" fmla="*/ 0 w 398"/>
              <a:gd name="T3" fmla="*/ 311 h 326"/>
              <a:gd name="T4" fmla="*/ 385 w 398"/>
              <a:gd name="T5" fmla="*/ 0 h 326"/>
              <a:gd name="T6" fmla="*/ 398 w 398"/>
              <a:gd name="T7" fmla="*/ 15 h 326"/>
              <a:gd name="T8" fmla="*/ 11 w 398"/>
              <a:gd name="T9" fmla="*/ 326 h 326"/>
            </a:gdLst>
            <a:ahLst/>
            <a:cxnLst>
              <a:cxn ang="0">
                <a:pos x="T0" y="T1"/>
              </a:cxn>
              <a:cxn ang="0">
                <a:pos x="T2" y="T3"/>
              </a:cxn>
              <a:cxn ang="0">
                <a:pos x="T4" y="T5"/>
              </a:cxn>
              <a:cxn ang="0">
                <a:pos x="T6" y="T7"/>
              </a:cxn>
              <a:cxn ang="0">
                <a:pos x="T8" y="T9"/>
              </a:cxn>
            </a:cxnLst>
            <a:rect l="0" t="0" r="r" b="b"/>
            <a:pathLst>
              <a:path w="398" h="326">
                <a:moveTo>
                  <a:pt x="11" y="326"/>
                </a:moveTo>
                <a:lnTo>
                  <a:pt x="0" y="311"/>
                </a:lnTo>
                <a:lnTo>
                  <a:pt x="385" y="0"/>
                </a:lnTo>
                <a:lnTo>
                  <a:pt x="398" y="15"/>
                </a:lnTo>
                <a:lnTo>
                  <a:pt x="11" y="326"/>
                </a:lnTo>
                <a:close/>
              </a:path>
            </a:pathLst>
          </a:custGeom>
          <a:solidFill>
            <a:srgbClr val="D2C5B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chemeClr val="tx2"/>
              </a:solidFill>
              <a:cs typeface="+mn-ea"/>
            </a:endParaRPr>
          </a:p>
        </p:txBody>
      </p:sp>
      <p:sp>
        <p:nvSpPr>
          <p:cNvPr id="114" name="Freeform 31"/>
          <p:cNvSpPr/>
          <p:nvPr/>
        </p:nvSpPr>
        <p:spPr bwMode="auto">
          <a:xfrm>
            <a:off x="4954270" y="2559050"/>
            <a:ext cx="658495" cy="1766570"/>
          </a:xfrm>
          <a:custGeom>
            <a:avLst/>
            <a:gdLst>
              <a:gd name="T0" fmla="*/ 11 w 398"/>
              <a:gd name="T1" fmla="*/ 326 h 326"/>
              <a:gd name="T2" fmla="*/ 0 w 398"/>
              <a:gd name="T3" fmla="*/ 311 h 326"/>
              <a:gd name="T4" fmla="*/ 385 w 398"/>
              <a:gd name="T5" fmla="*/ 0 h 326"/>
              <a:gd name="T6" fmla="*/ 398 w 398"/>
              <a:gd name="T7" fmla="*/ 15 h 326"/>
              <a:gd name="T8" fmla="*/ 11 w 398"/>
              <a:gd name="T9" fmla="*/ 326 h 326"/>
            </a:gdLst>
            <a:ahLst/>
            <a:cxnLst>
              <a:cxn ang="0">
                <a:pos x="T0" y="T1"/>
              </a:cxn>
              <a:cxn ang="0">
                <a:pos x="T2" y="T3"/>
              </a:cxn>
              <a:cxn ang="0">
                <a:pos x="T4" y="T5"/>
              </a:cxn>
              <a:cxn ang="0">
                <a:pos x="T6" y="T7"/>
              </a:cxn>
              <a:cxn ang="0">
                <a:pos x="T8" y="T9"/>
              </a:cxn>
            </a:cxnLst>
            <a:rect l="0" t="0" r="r" b="b"/>
            <a:pathLst>
              <a:path w="398" h="326">
                <a:moveTo>
                  <a:pt x="11" y="326"/>
                </a:moveTo>
                <a:lnTo>
                  <a:pt x="0" y="311"/>
                </a:lnTo>
                <a:lnTo>
                  <a:pt x="385" y="0"/>
                </a:lnTo>
                <a:lnTo>
                  <a:pt x="398" y="15"/>
                </a:lnTo>
                <a:lnTo>
                  <a:pt x="11" y="326"/>
                </a:lnTo>
                <a:close/>
              </a:path>
            </a:pathLst>
          </a:custGeom>
          <a:solidFill>
            <a:srgbClr val="D2C5B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chemeClr val="tx2"/>
              </a:solidFill>
              <a:cs typeface="+mn-ea"/>
            </a:endParaRPr>
          </a:p>
        </p:txBody>
      </p:sp>
      <p:sp>
        <p:nvSpPr>
          <p:cNvPr id="115" name="Freeform 31"/>
          <p:cNvSpPr/>
          <p:nvPr/>
        </p:nvSpPr>
        <p:spPr bwMode="auto">
          <a:xfrm>
            <a:off x="4982210" y="975360"/>
            <a:ext cx="553720" cy="3331845"/>
          </a:xfrm>
          <a:custGeom>
            <a:avLst/>
            <a:gdLst>
              <a:gd name="T0" fmla="*/ 11 w 398"/>
              <a:gd name="T1" fmla="*/ 326 h 326"/>
              <a:gd name="T2" fmla="*/ 0 w 398"/>
              <a:gd name="T3" fmla="*/ 311 h 326"/>
              <a:gd name="T4" fmla="*/ 385 w 398"/>
              <a:gd name="T5" fmla="*/ 0 h 326"/>
              <a:gd name="T6" fmla="*/ 398 w 398"/>
              <a:gd name="T7" fmla="*/ 15 h 326"/>
              <a:gd name="T8" fmla="*/ 11 w 398"/>
              <a:gd name="T9" fmla="*/ 326 h 326"/>
            </a:gdLst>
            <a:ahLst/>
            <a:cxnLst>
              <a:cxn ang="0">
                <a:pos x="T0" y="T1"/>
              </a:cxn>
              <a:cxn ang="0">
                <a:pos x="T2" y="T3"/>
              </a:cxn>
              <a:cxn ang="0">
                <a:pos x="T4" y="T5"/>
              </a:cxn>
              <a:cxn ang="0">
                <a:pos x="T6" y="T7"/>
              </a:cxn>
              <a:cxn ang="0">
                <a:pos x="T8" y="T9"/>
              </a:cxn>
            </a:cxnLst>
            <a:rect l="0" t="0" r="r" b="b"/>
            <a:pathLst>
              <a:path w="398" h="326">
                <a:moveTo>
                  <a:pt x="11" y="326"/>
                </a:moveTo>
                <a:lnTo>
                  <a:pt x="0" y="311"/>
                </a:lnTo>
                <a:lnTo>
                  <a:pt x="385" y="0"/>
                </a:lnTo>
                <a:lnTo>
                  <a:pt x="398" y="15"/>
                </a:lnTo>
                <a:lnTo>
                  <a:pt x="11" y="326"/>
                </a:lnTo>
                <a:close/>
              </a:path>
            </a:pathLst>
          </a:custGeom>
          <a:solidFill>
            <a:srgbClr val="D2C5B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solidFill>
                <a:schemeClr val="tx2"/>
              </a:solidFill>
              <a:cs typeface="+mn-ea"/>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21"/>
                                        </p:tgtEl>
                                        <p:attrNameLst>
                                          <p:attrName>style.visibility</p:attrName>
                                        </p:attrNameLst>
                                      </p:cBhvr>
                                      <p:to>
                                        <p:strVal val="visible"/>
                                      </p:to>
                                    </p:set>
                                    <p:anim calcmode="lin" valueType="num">
                                      <p:cBhvr>
                                        <p:cTn id="12" dur="500" fill="hold"/>
                                        <p:tgtEl>
                                          <p:spTgt spid="21"/>
                                        </p:tgtEl>
                                        <p:attrNameLst>
                                          <p:attrName>ppt_w</p:attrName>
                                        </p:attrNameLst>
                                      </p:cBhvr>
                                      <p:tavLst>
                                        <p:tav tm="0">
                                          <p:val>
                                            <p:fltVal val="0"/>
                                          </p:val>
                                        </p:tav>
                                        <p:tav tm="100000">
                                          <p:val>
                                            <p:strVal val="#ppt_w"/>
                                          </p:val>
                                        </p:tav>
                                      </p:tavLst>
                                    </p:anim>
                                    <p:anim calcmode="lin" valueType="num">
                                      <p:cBhvr>
                                        <p:cTn id="13" dur="500" fill="hold"/>
                                        <p:tgtEl>
                                          <p:spTgt spid="21"/>
                                        </p:tgtEl>
                                        <p:attrNameLst>
                                          <p:attrName>ppt_h</p:attrName>
                                        </p:attrNameLst>
                                      </p:cBhvr>
                                      <p:tavLst>
                                        <p:tav tm="0">
                                          <p:val>
                                            <p:fltVal val="0"/>
                                          </p:val>
                                        </p:tav>
                                        <p:tav tm="100000">
                                          <p:val>
                                            <p:strVal val="#ppt_h"/>
                                          </p:val>
                                        </p:tav>
                                      </p:tavLst>
                                    </p:anim>
                                    <p:animEffect transition="in" filter="fade">
                                      <p:cBhvr>
                                        <p:cTn id="14" dur="500"/>
                                        <p:tgtEl>
                                          <p:spTgt spid="21"/>
                                        </p:tgtEl>
                                      </p:cBhvr>
                                    </p:animEffect>
                                  </p:childTnLst>
                                </p:cTn>
                              </p:par>
                            </p:childTnLst>
                          </p:cTn>
                        </p:par>
                        <p:par>
                          <p:cTn id="15" fill="hold">
                            <p:stCondLst>
                              <p:cond delay="500"/>
                            </p:stCondLst>
                            <p:childTnLst>
                              <p:par>
                                <p:cTn id="16" presetID="53" presetClass="entr" presetSubtype="16" fill="hold" grpId="0" nodeType="afterEffect">
                                  <p:stCondLst>
                                    <p:cond delay="0"/>
                                  </p:stCondLst>
                                  <p:childTnLst>
                                    <p:set>
                                      <p:cBhvr>
                                        <p:cTn id="17" dur="1" fill="hold">
                                          <p:stCondLst>
                                            <p:cond delay="0"/>
                                          </p:stCondLst>
                                        </p:cTn>
                                        <p:tgtEl>
                                          <p:spTgt spid="63"/>
                                        </p:tgtEl>
                                        <p:attrNameLst>
                                          <p:attrName>style.visibility</p:attrName>
                                        </p:attrNameLst>
                                      </p:cBhvr>
                                      <p:to>
                                        <p:strVal val="visible"/>
                                      </p:to>
                                    </p:set>
                                    <p:anim calcmode="lin" valueType="num">
                                      <p:cBhvr>
                                        <p:cTn id="18" dur="500" fill="hold"/>
                                        <p:tgtEl>
                                          <p:spTgt spid="63"/>
                                        </p:tgtEl>
                                        <p:attrNameLst>
                                          <p:attrName>ppt_w</p:attrName>
                                        </p:attrNameLst>
                                      </p:cBhvr>
                                      <p:tavLst>
                                        <p:tav tm="0">
                                          <p:val>
                                            <p:fltVal val="0"/>
                                          </p:val>
                                        </p:tav>
                                        <p:tav tm="100000">
                                          <p:val>
                                            <p:strVal val="#ppt_w"/>
                                          </p:val>
                                        </p:tav>
                                      </p:tavLst>
                                    </p:anim>
                                    <p:anim calcmode="lin" valueType="num">
                                      <p:cBhvr>
                                        <p:cTn id="19" dur="500" fill="hold"/>
                                        <p:tgtEl>
                                          <p:spTgt spid="63"/>
                                        </p:tgtEl>
                                        <p:attrNameLst>
                                          <p:attrName>ppt_h</p:attrName>
                                        </p:attrNameLst>
                                      </p:cBhvr>
                                      <p:tavLst>
                                        <p:tav tm="0">
                                          <p:val>
                                            <p:fltVal val="0"/>
                                          </p:val>
                                        </p:tav>
                                        <p:tav tm="100000">
                                          <p:val>
                                            <p:strVal val="#ppt_h"/>
                                          </p:val>
                                        </p:tav>
                                      </p:tavLst>
                                    </p:anim>
                                    <p:animEffect transition="in" filter="fade">
                                      <p:cBhvr>
                                        <p:cTn id="20" dur="500"/>
                                        <p:tgtEl>
                                          <p:spTgt spid="63"/>
                                        </p:tgtEl>
                                      </p:cBhvr>
                                    </p:animEffect>
                                  </p:childTnLst>
                                </p:cTn>
                              </p:par>
                              <p:par>
                                <p:cTn id="21" presetID="53" presetClass="entr" presetSubtype="16" fill="hold" grpId="0" nodeType="withEffect">
                                  <p:stCondLst>
                                    <p:cond delay="100"/>
                                  </p:stCondLst>
                                  <p:childTnLst>
                                    <p:set>
                                      <p:cBhvr>
                                        <p:cTn id="22" dur="1" fill="hold">
                                          <p:stCondLst>
                                            <p:cond delay="0"/>
                                          </p:stCondLst>
                                        </p:cTn>
                                        <p:tgtEl>
                                          <p:spTgt spid="64"/>
                                        </p:tgtEl>
                                        <p:attrNameLst>
                                          <p:attrName>style.visibility</p:attrName>
                                        </p:attrNameLst>
                                      </p:cBhvr>
                                      <p:to>
                                        <p:strVal val="visible"/>
                                      </p:to>
                                    </p:set>
                                    <p:anim calcmode="lin" valueType="num">
                                      <p:cBhvr>
                                        <p:cTn id="23" dur="500" fill="hold"/>
                                        <p:tgtEl>
                                          <p:spTgt spid="64"/>
                                        </p:tgtEl>
                                        <p:attrNameLst>
                                          <p:attrName>ppt_w</p:attrName>
                                        </p:attrNameLst>
                                      </p:cBhvr>
                                      <p:tavLst>
                                        <p:tav tm="0">
                                          <p:val>
                                            <p:fltVal val="0"/>
                                          </p:val>
                                        </p:tav>
                                        <p:tav tm="100000">
                                          <p:val>
                                            <p:strVal val="#ppt_w"/>
                                          </p:val>
                                        </p:tav>
                                      </p:tavLst>
                                    </p:anim>
                                    <p:anim calcmode="lin" valueType="num">
                                      <p:cBhvr>
                                        <p:cTn id="24" dur="500" fill="hold"/>
                                        <p:tgtEl>
                                          <p:spTgt spid="64"/>
                                        </p:tgtEl>
                                        <p:attrNameLst>
                                          <p:attrName>ppt_h</p:attrName>
                                        </p:attrNameLst>
                                      </p:cBhvr>
                                      <p:tavLst>
                                        <p:tav tm="0">
                                          <p:val>
                                            <p:fltVal val="0"/>
                                          </p:val>
                                        </p:tav>
                                        <p:tav tm="100000">
                                          <p:val>
                                            <p:strVal val="#ppt_h"/>
                                          </p:val>
                                        </p:tav>
                                      </p:tavLst>
                                    </p:anim>
                                    <p:animEffect transition="in" filter="fade">
                                      <p:cBhvr>
                                        <p:cTn id="25" dur="500"/>
                                        <p:tgtEl>
                                          <p:spTgt spid="64"/>
                                        </p:tgtEl>
                                      </p:cBhvr>
                                    </p:animEffect>
                                  </p:childTnLst>
                                </p:cTn>
                              </p:par>
                              <p:par>
                                <p:cTn id="26" presetID="53" presetClass="entr" presetSubtype="16" fill="hold" grpId="0" nodeType="withEffect">
                                  <p:stCondLst>
                                    <p:cond delay="200"/>
                                  </p:stCondLst>
                                  <p:childTnLst>
                                    <p:set>
                                      <p:cBhvr>
                                        <p:cTn id="27" dur="1" fill="hold">
                                          <p:stCondLst>
                                            <p:cond delay="0"/>
                                          </p:stCondLst>
                                        </p:cTn>
                                        <p:tgtEl>
                                          <p:spTgt spid="65"/>
                                        </p:tgtEl>
                                        <p:attrNameLst>
                                          <p:attrName>style.visibility</p:attrName>
                                        </p:attrNameLst>
                                      </p:cBhvr>
                                      <p:to>
                                        <p:strVal val="visible"/>
                                      </p:to>
                                    </p:set>
                                    <p:anim calcmode="lin" valueType="num">
                                      <p:cBhvr>
                                        <p:cTn id="28" dur="500" fill="hold"/>
                                        <p:tgtEl>
                                          <p:spTgt spid="65"/>
                                        </p:tgtEl>
                                        <p:attrNameLst>
                                          <p:attrName>ppt_w</p:attrName>
                                        </p:attrNameLst>
                                      </p:cBhvr>
                                      <p:tavLst>
                                        <p:tav tm="0">
                                          <p:val>
                                            <p:fltVal val="0"/>
                                          </p:val>
                                        </p:tav>
                                        <p:tav tm="100000">
                                          <p:val>
                                            <p:strVal val="#ppt_w"/>
                                          </p:val>
                                        </p:tav>
                                      </p:tavLst>
                                    </p:anim>
                                    <p:anim calcmode="lin" valueType="num">
                                      <p:cBhvr>
                                        <p:cTn id="29" dur="500" fill="hold"/>
                                        <p:tgtEl>
                                          <p:spTgt spid="65"/>
                                        </p:tgtEl>
                                        <p:attrNameLst>
                                          <p:attrName>ppt_h</p:attrName>
                                        </p:attrNameLst>
                                      </p:cBhvr>
                                      <p:tavLst>
                                        <p:tav tm="0">
                                          <p:val>
                                            <p:fltVal val="0"/>
                                          </p:val>
                                        </p:tav>
                                        <p:tav tm="100000">
                                          <p:val>
                                            <p:strVal val="#ppt_h"/>
                                          </p:val>
                                        </p:tav>
                                      </p:tavLst>
                                    </p:anim>
                                    <p:animEffect transition="in" filter="fade">
                                      <p:cBhvr>
                                        <p:cTn id="30" dur="500"/>
                                        <p:tgtEl>
                                          <p:spTgt spid="65"/>
                                        </p:tgtEl>
                                      </p:cBhvr>
                                    </p:animEffect>
                                  </p:childTnLst>
                                </p:cTn>
                              </p:par>
                              <p:par>
                                <p:cTn id="31" presetID="53" presetClass="entr" presetSubtype="16" fill="hold" grpId="0" nodeType="withEffect">
                                  <p:stCondLst>
                                    <p:cond delay="300"/>
                                  </p:stCondLst>
                                  <p:childTnLst>
                                    <p:set>
                                      <p:cBhvr>
                                        <p:cTn id="32" dur="1" fill="hold">
                                          <p:stCondLst>
                                            <p:cond delay="0"/>
                                          </p:stCondLst>
                                        </p:cTn>
                                        <p:tgtEl>
                                          <p:spTgt spid="67"/>
                                        </p:tgtEl>
                                        <p:attrNameLst>
                                          <p:attrName>style.visibility</p:attrName>
                                        </p:attrNameLst>
                                      </p:cBhvr>
                                      <p:to>
                                        <p:strVal val="visible"/>
                                      </p:to>
                                    </p:set>
                                    <p:anim calcmode="lin" valueType="num">
                                      <p:cBhvr>
                                        <p:cTn id="33" dur="500" fill="hold"/>
                                        <p:tgtEl>
                                          <p:spTgt spid="67"/>
                                        </p:tgtEl>
                                        <p:attrNameLst>
                                          <p:attrName>ppt_w</p:attrName>
                                        </p:attrNameLst>
                                      </p:cBhvr>
                                      <p:tavLst>
                                        <p:tav tm="0">
                                          <p:val>
                                            <p:fltVal val="0"/>
                                          </p:val>
                                        </p:tav>
                                        <p:tav tm="100000">
                                          <p:val>
                                            <p:strVal val="#ppt_w"/>
                                          </p:val>
                                        </p:tav>
                                      </p:tavLst>
                                    </p:anim>
                                    <p:anim calcmode="lin" valueType="num">
                                      <p:cBhvr>
                                        <p:cTn id="34" dur="500" fill="hold"/>
                                        <p:tgtEl>
                                          <p:spTgt spid="67"/>
                                        </p:tgtEl>
                                        <p:attrNameLst>
                                          <p:attrName>ppt_h</p:attrName>
                                        </p:attrNameLst>
                                      </p:cBhvr>
                                      <p:tavLst>
                                        <p:tav tm="0">
                                          <p:val>
                                            <p:fltVal val="0"/>
                                          </p:val>
                                        </p:tav>
                                        <p:tav tm="100000">
                                          <p:val>
                                            <p:strVal val="#ppt_h"/>
                                          </p:val>
                                        </p:tav>
                                      </p:tavLst>
                                    </p:anim>
                                    <p:animEffect transition="in" filter="fade">
                                      <p:cBhvr>
                                        <p:cTn id="35" dur="500"/>
                                        <p:tgtEl>
                                          <p:spTgt spid="67"/>
                                        </p:tgtEl>
                                      </p:cBhvr>
                                    </p:animEffect>
                                  </p:childTnLst>
                                </p:cTn>
                              </p:par>
                              <p:par>
                                <p:cTn id="36" presetID="53" presetClass="entr" presetSubtype="16" fill="hold" grpId="0" nodeType="withEffect">
                                  <p:stCondLst>
                                    <p:cond delay="400"/>
                                  </p:stCondLst>
                                  <p:childTnLst>
                                    <p:set>
                                      <p:cBhvr>
                                        <p:cTn id="37" dur="1" fill="hold">
                                          <p:stCondLst>
                                            <p:cond delay="0"/>
                                          </p:stCondLst>
                                        </p:cTn>
                                        <p:tgtEl>
                                          <p:spTgt spid="74"/>
                                        </p:tgtEl>
                                        <p:attrNameLst>
                                          <p:attrName>style.visibility</p:attrName>
                                        </p:attrNameLst>
                                      </p:cBhvr>
                                      <p:to>
                                        <p:strVal val="visible"/>
                                      </p:to>
                                    </p:set>
                                    <p:anim calcmode="lin" valueType="num">
                                      <p:cBhvr>
                                        <p:cTn id="38" dur="500" fill="hold"/>
                                        <p:tgtEl>
                                          <p:spTgt spid="74"/>
                                        </p:tgtEl>
                                        <p:attrNameLst>
                                          <p:attrName>ppt_w</p:attrName>
                                        </p:attrNameLst>
                                      </p:cBhvr>
                                      <p:tavLst>
                                        <p:tav tm="0">
                                          <p:val>
                                            <p:fltVal val="0"/>
                                          </p:val>
                                        </p:tav>
                                        <p:tav tm="100000">
                                          <p:val>
                                            <p:strVal val="#ppt_w"/>
                                          </p:val>
                                        </p:tav>
                                      </p:tavLst>
                                    </p:anim>
                                    <p:anim calcmode="lin" valueType="num">
                                      <p:cBhvr>
                                        <p:cTn id="39" dur="500" fill="hold"/>
                                        <p:tgtEl>
                                          <p:spTgt spid="74"/>
                                        </p:tgtEl>
                                        <p:attrNameLst>
                                          <p:attrName>ppt_h</p:attrName>
                                        </p:attrNameLst>
                                      </p:cBhvr>
                                      <p:tavLst>
                                        <p:tav tm="0">
                                          <p:val>
                                            <p:fltVal val="0"/>
                                          </p:val>
                                        </p:tav>
                                        <p:tav tm="100000">
                                          <p:val>
                                            <p:strVal val="#ppt_h"/>
                                          </p:val>
                                        </p:tav>
                                      </p:tavLst>
                                    </p:anim>
                                    <p:animEffect transition="in" filter="fade">
                                      <p:cBhvr>
                                        <p:cTn id="40" dur="500"/>
                                        <p:tgtEl>
                                          <p:spTgt spid="74"/>
                                        </p:tgtEl>
                                      </p:cBhvr>
                                    </p:animEffect>
                                  </p:childTnLst>
                                </p:cTn>
                              </p:par>
                              <p:par>
                                <p:cTn id="41" presetID="53" presetClass="entr" presetSubtype="16" fill="hold" grpId="0" nodeType="withEffect">
                                  <p:stCondLst>
                                    <p:cond delay="500"/>
                                  </p:stCondLst>
                                  <p:childTnLst>
                                    <p:set>
                                      <p:cBhvr>
                                        <p:cTn id="42" dur="1" fill="hold">
                                          <p:stCondLst>
                                            <p:cond delay="0"/>
                                          </p:stCondLst>
                                        </p:cTn>
                                        <p:tgtEl>
                                          <p:spTgt spid="75"/>
                                        </p:tgtEl>
                                        <p:attrNameLst>
                                          <p:attrName>style.visibility</p:attrName>
                                        </p:attrNameLst>
                                      </p:cBhvr>
                                      <p:to>
                                        <p:strVal val="visible"/>
                                      </p:to>
                                    </p:set>
                                    <p:anim calcmode="lin" valueType="num">
                                      <p:cBhvr>
                                        <p:cTn id="43" dur="500" fill="hold"/>
                                        <p:tgtEl>
                                          <p:spTgt spid="75"/>
                                        </p:tgtEl>
                                        <p:attrNameLst>
                                          <p:attrName>ppt_w</p:attrName>
                                        </p:attrNameLst>
                                      </p:cBhvr>
                                      <p:tavLst>
                                        <p:tav tm="0">
                                          <p:val>
                                            <p:fltVal val="0"/>
                                          </p:val>
                                        </p:tav>
                                        <p:tav tm="100000">
                                          <p:val>
                                            <p:strVal val="#ppt_w"/>
                                          </p:val>
                                        </p:tav>
                                      </p:tavLst>
                                    </p:anim>
                                    <p:anim calcmode="lin" valueType="num">
                                      <p:cBhvr>
                                        <p:cTn id="44" dur="500" fill="hold"/>
                                        <p:tgtEl>
                                          <p:spTgt spid="75"/>
                                        </p:tgtEl>
                                        <p:attrNameLst>
                                          <p:attrName>ppt_h</p:attrName>
                                        </p:attrNameLst>
                                      </p:cBhvr>
                                      <p:tavLst>
                                        <p:tav tm="0">
                                          <p:val>
                                            <p:fltVal val="0"/>
                                          </p:val>
                                        </p:tav>
                                        <p:tav tm="100000">
                                          <p:val>
                                            <p:strVal val="#ppt_h"/>
                                          </p:val>
                                        </p:tav>
                                      </p:tavLst>
                                    </p:anim>
                                    <p:animEffect transition="in" filter="fade">
                                      <p:cBhvr>
                                        <p:cTn id="45" dur="500"/>
                                        <p:tgtEl>
                                          <p:spTgt spid="75"/>
                                        </p:tgtEl>
                                      </p:cBhvr>
                                    </p:animEffect>
                                  </p:childTnLst>
                                </p:cTn>
                              </p:par>
                              <p:par>
                                <p:cTn id="46" presetID="53" presetClass="entr" presetSubtype="16" fill="hold" grpId="0" nodeType="withEffect">
                                  <p:stCondLst>
                                    <p:cond delay="600"/>
                                  </p:stCondLst>
                                  <p:childTnLst>
                                    <p:set>
                                      <p:cBhvr>
                                        <p:cTn id="47" dur="1" fill="hold">
                                          <p:stCondLst>
                                            <p:cond delay="0"/>
                                          </p:stCondLst>
                                        </p:cTn>
                                        <p:tgtEl>
                                          <p:spTgt spid="76"/>
                                        </p:tgtEl>
                                        <p:attrNameLst>
                                          <p:attrName>style.visibility</p:attrName>
                                        </p:attrNameLst>
                                      </p:cBhvr>
                                      <p:to>
                                        <p:strVal val="visible"/>
                                      </p:to>
                                    </p:set>
                                    <p:anim calcmode="lin" valueType="num">
                                      <p:cBhvr>
                                        <p:cTn id="48" dur="500" fill="hold"/>
                                        <p:tgtEl>
                                          <p:spTgt spid="76"/>
                                        </p:tgtEl>
                                        <p:attrNameLst>
                                          <p:attrName>ppt_w</p:attrName>
                                        </p:attrNameLst>
                                      </p:cBhvr>
                                      <p:tavLst>
                                        <p:tav tm="0">
                                          <p:val>
                                            <p:fltVal val="0"/>
                                          </p:val>
                                        </p:tav>
                                        <p:tav tm="100000">
                                          <p:val>
                                            <p:strVal val="#ppt_w"/>
                                          </p:val>
                                        </p:tav>
                                      </p:tavLst>
                                    </p:anim>
                                    <p:anim calcmode="lin" valueType="num">
                                      <p:cBhvr>
                                        <p:cTn id="49" dur="500" fill="hold"/>
                                        <p:tgtEl>
                                          <p:spTgt spid="76"/>
                                        </p:tgtEl>
                                        <p:attrNameLst>
                                          <p:attrName>ppt_h</p:attrName>
                                        </p:attrNameLst>
                                      </p:cBhvr>
                                      <p:tavLst>
                                        <p:tav tm="0">
                                          <p:val>
                                            <p:fltVal val="0"/>
                                          </p:val>
                                        </p:tav>
                                        <p:tav tm="100000">
                                          <p:val>
                                            <p:strVal val="#ppt_h"/>
                                          </p:val>
                                        </p:tav>
                                      </p:tavLst>
                                    </p:anim>
                                    <p:animEffect transition="in" filter="fade">
                                      <p:cBhvr>
                                        <p:cTn id="50" dur="500"/>
                                        <p:tgtEl>
                                          <p:spTgt spid="76"/>
                                        </p:tgtEl>
                                      </p:cBhvr>
                                    </p:animEffect>
                                  </p:childTnLst>
                                </p:cTn>
                              </p:par>
                              <p:par>
                                <p:cTn id="51" presetID="53" presetClass="entr" presetSubtype="16" fill="hold" grpId="0" nodeType="withEffect">
                                  <p:stCondLst>
                                    <p:cond delay="700"/>
                                  </p:stCondLst>
                                  <p:childTnLst>
                                    <p:set>
                                      <p:cBhvr>
                                        <p:cTn id="52" dur="1" fill="hold">
                                          <p:stCondLst>
                                            <p:cond delay="0"/>
                                          </p:stCondLst>
                                        </p:cTn>
                                        <p:tgtEl>
                                          <p:spTgt spid="77"/>
                                        </p:tgtEl>
                                        <p:attrNameLst>
                                          <p:attrName>style.visibility</p:attrName>
                                        </p:attrNameLst>
                                      </p:cBhvr>
                                      <p:to>
                                        <p:strVal val="visible"/>
                                      </p:to>
                                    </p:set>
                                    <p:anim calcmode="lin" valueType="num">
                                      <p:cBhvr>
                                        <p:cTn id="53" dur="500" fill="hold"/>
                                        <p:tgtEl>
                                          <p:spTgt spid="77"/>
                                        </p:tgtEl>
                                        <p:attrNameLst>
                                          <p:attrName>ppt_w</p:attrName>
                                        </p:attrNameLst>
                                      </p:cBhvr>
                                      <p:tavLst>
                                        <p:tav tm="0">
                                          <p:val>
                                            <p:fltVal val="0"/>
                                          </p:val>
                                        </p:tav>
                                        <p:tav tm="100000">
                                          <p:val>
                                            <p:strVal val="#ppt_w"/>
                                          </p:val>
                                        </p:tav>
                                      </p:tavLst>
                                    </p:anim>
                                    <p:anim calcmode="lin" valueType="num">
                                      <p:cBhvr>
                                        <p:cTn id="54" dur="500" fill="hold"/>
                                        <p:tgtEl>
                                          <p:spTgt spid="77"/>
                                        </p:tgtEl>
                                        <p:attrNameLst>
                                          <p:attrName>ppt_h</p:attrName>
                                        </p:attrNameLst>
                                      </p:cBhvr>
                                      <p:tavLst>
                                        <p:tav tm="0">
                                          <p:val>
                                            <p:fltVal val="0"/>
                                          </p:val>
                                        </p:tav>
                                        <p:tav tm="100000">
                                          <p:val>
                                            <p:strVal val="#ppt_h"/>
                                          </p:val>
                                        </p:tav>
                                      </p:tavLst>
                                    </p:anim>
                                    <p:animEffect transition="in" filter="fade">
                                      <p:cBhvr>
                                        <p:cTn id="55" dur="500"/>
                                        <p:tgtEl>
                                          <p:spTgt spid="77"/>
                                        </p:tgtEl>
                                      </p:cBhvr>
                                    </p:animEffect>
                                  </p:childTnLst>
                                </p:cTn>
                              </p:par>
                              <p:par>
                                <p:cTn id="56" presetID="22" presetClass="entr" presetSubtype="8" fill="hold" nodeType="withEffect">
                                  <p:stCondLst>
                                    <p:cond delay="800"/>
                                  </p:stCondLst>
                                  <p:childTnLst>
                                    <p:set>
                                      <p:cBhvr>
                                        <p:cTn id="57" dur="1" fill="hold">
                                          <p:stCondLst>
                                            <p:cond delay="0"/>
                                          </p:stCondLst>
                                        </p:cTn>
                                        <p:tgtEl>
                                          <p:spTgt spid="37"/>
                                        </p:tgtEl>
                                        <p:attrNameLst>
                                          <p:attrName>style.visibility</p:attrName>
                                        </p:attrNameLst>
                                      </p:cBhvr>
                                      <p:to>
                                        <p:strVal val="visible"/>
                                      </p:to>
                                    </p:set>
                                    <p:animEffect transition="in" filter="wipe(left)">
                                      <p:cBhvr>
                                        <p:cTn id="58" dur="500"/>
                                        <p:tgtEl>
                                          <p:spTgt spid="37"/>
                                        </p:tgtEl>
                                      </p:cBhvr>
                                    </p:animEffect>
                                  </p:childTnLst>
                                </p:cTn>
                              </p:par>
                              <p:par>
                                <p:cTn id="59" presetID="22" presetClass="entr" presetSubtype="8" fill="hold" nodeType="withEffect">
                                  <p:stCondLst>
                                    <p:cond delay="900"/>
                                  </p:stCondLst>
                                  <p:childTnLst>
                                    <p:set>
                                      <p:cBhvr>
                                        <p:cTn id="60" dur="1" fill="hold">
                                          <p:stCondLst>
                                            <p:cond delay="0"/>
                                          </p:stCondLst>
                                        </p:cTn>
                                        <p:tgtEl>
                                          <p:spTgt spid="39"/>
                                        </p:tgtEl>
                                        <p:attrNameLst>
                                          <p:attrName>style.visibility</p:attrName>
                                        </p:attrNameLst>
                                      </p:cBhvr>
                                      <p:to>
                                        <p:strVal val="visible"/>
                                      </p:to>
                                    </p:set>
                                    <p:animEffect transition="in" filter="wipe(left)">
                                      <p:cBhvr>
                                        <p:cTn id="61" dur="500"/>
                                        <p:tgtEl>
                                          <p:spTgt spid="39"/>
                                        </p:tgtEl>
                                      </p:cBhvr>
                                    </p:animEffect>
                                  </p:childTnLst>
                                </p:cTn>
                              </p:par>
                              <p:par>
                                <p:cTn id="62" presetID="22" presetClass="entr" presetSubtype="8" fill="hold" nodeType="withEffect">
                                  <p:stCondLst>
                                    <p:cond delay="1000"/>
                                  </p:stCondLst>
                                  <p:childTnLst>
                                    <p:set>
                                      <p:cBhvr>
                                        <p:cTn id="63" dur="1" fill="hold">
                                          <p:stCondLst>
                                            <p:cond delay="0"/>
                                          </p:stCondLst>
                                        </p:cTn>
                                        <p:tgtEl>
                                          <p:spTgt spid="41"/>
                                        </p:tgtEl>
                                        <p:attrNameLst>
                                          <p:attrName>style.visibility</p:attrName>
                                        </p:attrNameLst>
                                      </p:cBhvr>
                                      <p:to>
                                        <p:strVal val="visible"/>
                                      </p:to>
                                    </p:set>
                                    <p:animEffect transition="in" filter="wipe(left)">
                                      <p:cBhvr>
                                        <p:cTn id="64" dur="500"/>
                                        <p:tgtEl>
                                          <p:spTgt spid="41"/>
                                        </p:tgtEl>
                                      </p:cBhvr>
                                    </p:animEffect>
                                  </p:childTnLst>
                                </p:cTn>
                              </p:par>
                              <p:par>
                                <p:cTn id="65" presetID="22" presetClass="entr" presetSubtype="8" fill="hold" nodeType="withEffect">
                                  <p:stCondLst>
                                    <p:cond delay="1100"/>
                                  </p:stCondLst>
                                  <p:childTnLst>
                                    <p:set>
                                      <p:cBhvr>
                                        <p:cTn id="66" dur="1" fill="hold">
                                          <p:stCondLst>
                                            <p:cond delay="0"/>
                                          </p:stCondLst>
                                        </p:cTn>
                                        <p:tgtEl>
                                          <p:spTgt spid="43"/>
                                        </p:tgtEl>
                                        <p:attrNameLst>
                                          <p:attrName>style.visibility</p:attrName>
                                        </p:attrNameLst>
                                      </p:cBhvr>
                                      <p:to>
                                        <p:strVal val="visible"/>
                                      </p:to>
                                    </p:set>
                                    <p:animEffect transition="in" filter="wipe(left)">
                                      <p:cBhvr>
                                        <p:cTn id="67" dur="500"/>
                                        <p:tgtEl>
                                          <p:spTgt spid="43"/>
                                        </p:tgtEl>
                                      </p:cBhvr>
                                    </p:animEffect>
                                  </p:childTnLst>
                                </p:cTn>
                              </p:par>
                              <p:par>
                                <p:cTn id="68" presetID="22" presetClass="entr" presetSubtype="8" fill="hold" nodeType="withEffect">
                                  <p:stCondLst>
                                    <p:cond delay="1200"/>
                                  </p:stCondLst>
                                  <p:childTnLst>
                                    <p:set>
                                      <p:cBhvr>
                                        <p:cTn id="69" dur="1" fill="hold">
                                          <p:stCondLst>
                                            <p:cond delay="0"/>
                                          </p:stCondLst>
                                        </p:cTn>
                                        <p:tgtEl>
                                          <p:spTgt spid="45"/>
                                        </p:tgtEl>
                                        <p:attrNameLst>
                                          <p:attrName>style.visibility</p:attrName>
                                        </p:attrNameLst>
                                      </p:cBhvr>
                                      <p:to>
                                        <p:strVal val="visible"/>
                                      </p:to>
                                    </p:set>
                                    <p:animEffect transition="in" filter="wipe(left)">
                                      <p:cBhvr>
                                        <p:cTn id="70" dur="500"/>
                                        <p:tgtEl>
                                          <p:spTgt spid="45"/>
                                        </p:tgtEl>
                                      </p:cBhvr>
                                    </p:animEffect>
                                  </p:childTnLst>
                                </p:cTn>
                              </p:par>
                              <p:par>
                                <p:cTn id="71" presetID="22" presetClass="entr" presetSubtype="8" fill="hold" nodeType="withEffect">
                                  <p:stCondLst>
                                    <p:cond delay="1300"/>
                                  </p:stCondLst>
                                  <p:childTnLst>
                                    <p:set>
                                      <p:cBhvr>
                                        <p:cTn id="72" dur="1" fill="hold">
                                          <p:stCondLst>
                                            <p:cond delay="0"/>
                                          </p:stCondLst>
                                        </p:cTn>
                                        <p:tgtEl>
                                          <p:spTgt spid="57"/>
                                        </p:tgtEl>
                                        <p:attrNameLst>
                                          <p:attrName>style.visibility</p:attrName>
                                        </p:attrNameLst>
                                      </p:cBhvr>
                                      <p:to>
                                        <p:strVal val="visible"/>
                                      </p:to>
                                    </p:set>
                                    <p:animEffect transition="in" filter="wipe(left)">
                                      <p:cBhvr>
                                        <p:cTn id="73" dur="500"/>
                                        <p:tgtEl>
                                          <p:spTgt spid="57"/>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1400"/>
                                  </p:stCondLst>
                                  <p:childTnLst>
                                    <p:set>
                                      <p:cBhvr>
                                        <p:cTn id="77" dur="1" fill="hold">
                                          <p:stCondLst>
                                            <p:cond delay="0"/>
                                          </p:stCondLst>
                                        </p:cTn>
                                        <p:tgtEl>
                                          <p:spTgt spid="36"/>
                                        </p:tgtEl>
                                        <p:attrNameLst>
                                          <p:attrName>style.visibility</p:attrName>
                                        </p:attrNameLst>
                                      </p:cBhvr>
                                      <p:to>
                                        <p:strVal val="visible"/>
                                      </p:to>
                                    </p:set>
                                    <p:animEffect transition="in" filter="wipe(left)">
                                      <p:cBhvr>
                                        <p:cTn id="78" dur="500"/>
                                        <p:tgtEl>
                                          <p:spTgt spid="36"/>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8" fill="hold" grpId="0" nodeType="clickEffect">
                                  <p:stCondLst>
                                    <p:cond delay="1500"/>
                                  </p:stCondLst>
                                  <p:childTnLst>
                                    <p:set>
                                      <p:cBhvr>
                                        <p:cTn id="82" dur="1" fill="hold">
                                          <p:stCondLst>
                                            <p:cond delay="0"/>
                                          </p:stCondLst>
                                        </p:cTn>
                                        <p:tgtEl>
                                          <p:spTgt spid="38"/>
                                        </p:tgtEl>
                                        <p:attrNameLst>
                                          <p:attrName>style.visibility</p:attrName>
                                        </p:attrNameLst>
                                      </p:cBhvr>
                                      <p:to>
                                        <p:strVal val="visible"/>
                                      </p:to>
                                    </p:set>
                                    <p:animEffect transition="in" filter="wipe(left)">
                                      <p:cBhvr>
                                        <p:cTn id="83" dur="500"/>
                                        <p:tgtEl>
                                          <p:spTgt spid="38"/>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grpId="0" nodeType="clickEffect">
                                  <p:stCondLst>
                                    <p:cond delay="1600"/>
                                  </p:stCondLst>
                                  <p:childTnLst>
                                    <p:set>
                                      <p:cBhvr>
                                        <p:cTn id="87" dur="1" fill="hold">
                                          <p:stCondLst>
                                            <p:cond delay="0"/>
                                          </p:stCondLst>
                                        </p:cTn>
                                        <p:tgtEl>
                                          <p:spTgt spid="40"/>
                                        </p:tgtEl>
                                        <p:attrNameLst>
                                          <p:attrName>style.visibility</p:attrName>
                                        </p:attrNameLst>
                                      </p:cBhvr>
                                      <p:to>
                                        <p:strVal val="visible"/>
                                      </p:to>
                                    </p:set>
                                    <p:animEffect transition="in" filter="wipe(left)">
                                      <p:cBhvr>
                                        <p:cTn id="88" dur="500"/>
                                        <p:tgtEl>
                                          <p:spTgt spid="40"/>
                                        </p:tgtEl>
                                      </p:cBhvr>
                                    </p:animEffec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1700"/>
                                  </p:stCondLst>
                                  <p:childTnLst>
                                    <p:set>
                                      <p:cBhvr>
                                        <p:cTn id="92" dur="1" fill="hold">
                                          <p:stCondLst>
                                            <p:cond delay="0"/>
                                          </p:stCondLst>
                                        </p:cTn>
                                        <p:tgtEl>
                                          <p:spTgt spid="42"/>
                                        </p:tgtEl>
                                        <p:attrNameLst>
                                          <p:attrName>style.visibility</p:attrName>
                                        </p:attrNameLst>
                                      </p:cBhvr>
                                      <p:to>
                                        <p:strVal val="visible"/>
                                      </p:to>
                                    </p:set>
                                    <p:animEffect transition="in" filter="wipe(left)">
                                      <p:cBhvr>
                                        <p:cTn id="93" dur="500"/>
                                        <p:tgtEl>
                                          <p:spTgt spid="42"/>
                                        </p:tgtEl>
                                      </p:cBhvr>
                                    </p:animEffect>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1800"/>
                                  </p:stCondLst>
                                  <p:childTnLst>
                                    <p:set>
                                      <p:cBhvr>
                                        <p:cTn id="97" dur="1" fill="hold">
                                          <p:stCondLst>
                                            <p:cond delay="0"/>
                                          </p:stCondLst>
                                        </p:cTn>
                                        <p:tgtEl>
                                          <p:spTgt spid="44"/>
                                        </p:tgtEl>
                                        <p:attrNameLst>
                                          <p:attrName>style.visibility</p:attrName>
                                        </p:attrNameLst>
                                      </p:cBhvr>
                                      <p:to>
                                        <p:strVal val="visible"/>
                                      </p:to>
                                    </p:set>
                                    <p:animEffect transition="in" filter="wipe(left)">
                                      <p:cBhvr>
                                        <p:cTn id="98" dur="500"/>
                                        <p:tgtEl>
                                          <p:spTgt spid="44"/>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8" fill="hold" grpId="0" nodeType="clickEffect">
                                  <p:stCondLst>
                                    <p:cond delay="1900"/>
                                  </p:stCondLst>
                                  <p:childTnLst>
                                    <p:set>
                                      <p:cBhvr>
                                        <p:cTn id="102" dur="1" fill="hold">
                                          <p:stCondLst>
                                            <p:cond delay="0"/>
                                          </p:stCondLst>
                                        </p:cTn>
                                        <p:tgtEl>
                                          <p:spTgt spid="46"/>
                                        </p:tgtEl>
                                        <p:attrNameLst>
                                          <p:attrName>style.visibility</p:attrName>
                                        </p:attrNameLst>
                                      </p:cBhvr>
                                      <p:to>
                                        <p:strVal val="visible"/>
                                      </p:to>
                                    </p:set>
                                    <p:animEffect transition="in" filter="wipe(left)">
                                      <p:cBhvr>
                                        <p:cTn id="103" dur="500"/>
                                        <p:tgtEl>
                                          <p:spTgt spid="46"/>
                                        </p:tgtEl>
                                      </p:cBhvr>
                                    </p:animEffect>
                                  </p:childTnLst>
                                </p:cTn>
                              </p:par>
                              <p:par>
                                <p:cTn id="104" presetID="53" presetClass="entr" presetSubtype="16" fill="hold" grpId="0" nodeType="withEffect">
                                  <p:stCondLst>
                                    <p:cond delay="400"/>
                                  </p:stCondLst>
                                  <p:childTnLst>
                                    <p:set>
                                      <p:cBhvr>
                                        <p:cTn id="105" dur="1" fill="hold">
                                          <p:stCondLst>
                                            <p:cond delay="0"/>
                                          </p:stCondLst>
                                        </p:cTn>
                                        <p:tgtEl>
                                          <p:spTgt spid="100"/>
                                        </p:tgtEl>
                                        <p:attrNameLst>
                                          <p:attrName>style.visibility</p:attrName>
                                        </p:attrNameLst>
                                      </p:cBhvr>
                                      <p:to>
                                        <p:strVal val="visible"/>
                                      </p:to>
                                    </p:set>
                                    <p:anim calcmode="lin" valueType="num">
                                      <p:cBhvr>
                                        <p:cTn id="106" dur="500" fill="hold"/>
                                        <p:tgtEl>
                                          <p:spTgt spid="100"/>
                                        </p:tgtEl>
                                        <p:attrNameLst>
                                          <p:attrName>ppt_w</p:attrName>
                                        </p:attrNameLst>
                                      </p:cBhvr>
                                      <p:tavLst>
                                        <p:tav tm="0">
                                          <p:val>
                                            <p:fltVal val="0"/>
                                          </p:val>
                                        </p:tav>
                                        <p:tav tm="100000">
                                          <p:val>
                                            <p:strVal val="#ppt_w"/>
                                          </p:val>
                                        </p:tav>
                                      </p:tavLst>
                                    </p:anim>
                                    <p:anim calcmode="lin" valueType="num">
                                      <p:cBhvr>
                                        <p:cTn id="107" dur="500" fill="hold"/>
                                        <p:tgtEl>
                                          <p:spTgt spid="100"/>
                                        </p:tgtEl>
                                        <p:attrNameLst>
                                          <p:attrName>ppt_h</p:attrName>
                                        </p:attrNameLst>
                                      </p:cBhvr>
                                      <p:tavLst>
                                        <p:tav tm="0">
                                          <p:val>
                                            <p:fltVal val="0"/>
                                          </p:val>
                                        </p:tav>
                                        <p:tav tm="100000">
                                          <p:val>
                                            <p:strVal val="#ppt_h"/>
                                          </p:val>
                                        </p:tav>
                                      </p:tavLst>
                                    </p:anim>
                                    <p:animEffect transition="in" filter="fade">
                                      <p:cBhvr>
                                        <p:cTn id="108" dur="500"/>
                                        <p:tgtEl>
                                          <p:spTgt spid="100"/>
                                        </p:tgtEl>
                                      </p:cBhvr>
                                    </p:animEffect>
                                  </p:childTnLst>
                                </p:cTn>
                              </p:par>
                              <p:par>
                                <p:cTn id="109" presetID="22" presetClass="entr" presetSubtype="8" fill="hold" nodeType="withEffect">
                                  <p:stCondLst>
                                    <p:cond delay="1000"/>
                                  </p:stCondLst>
                                  <p:childTnLst>
                                    <p:set>
                                      <p:cBhvr>
                                        <p:cTn id="110" dur="1" fill="hold">
                                          <p:stCondLst>
                                            <p:cond delay="0"/>
                                          </p:stCondLst>
                                        </p:cTn>
                                        <p:tgtEl>
                                          <p:spTgt spid="79"/>
                                        </p:tgtEl>
                                        <p:attrNameLst>
                                          <p:attrName>style.visibility</p:attrName>
                                        </p:attrNameLst>
                                      </p:cBhvr>
                                      <p:to>
                                        <p:strVal val="visible"/>
                                      </p:to>
                                    </p:set>
                                    <p:animEffect transition="in" filter="wipe(left)">
                                      <p:cBhvr>
                                        <p:cTn id="111" dur="500"/>
                                        <p:tgtEl>
                                          <p:spTgt spid="79"/>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1600"/>
                                  </p:stCondLst>
                                  <p:childTnLst>
                                    <p:set>
                                      <p:cBhvr>
                                        <p:cTn id="115" dur="1" fill="hold">
                                          <p:stCondLst>
                                            <p:cond delay="0"/>
                                          </p:stCondLst>
                                        </p:cTn>
                                        <p:tgtEl>
                                          <p:spTgt spid="78"/>
                                        </p:tgtEl>
                                        <p:attrNameLst>
                                          <p:attrName>style.visibility</p:attrName>
                                        </p:attrNameLst>
                                      </p:cBhvr>
                                      <p:to>
                                        <p:strVal val="visible"/>
                                      </p:to>
                                    </p:set>
                                    <p:animEffect transition="in" filter="wipe(left)">
                                      <p:cBhvr>
                                        <p:cTn id="116" dur="500"/>
                                        <p:tgtEl>
                                          <p:spTgt spid="78"/>
                                        </p:tgtEl>
                                      </p:cBhvr>
                                    </p:animEffect>
                                  </p:childTnLst>
                                </p:cTn>
                              </p:par>
                              <p:par>
                                <p:cTn id="117" presetID="22" presetClass="entr" presetSubtype="4" fill="hold" grpId="0" nodeType="withEffect">
                                  <p:stCondLst>
                                    <p:cond delay="0"/>
                                  </p:stCondLst>
                                  <p:childTnLst>
                                    <p:set>
                                      <p:cBhvr>
                                        <p:cTn id="118" dur="1" fill="hold">
                                          <p:stCondLst>
                                            <p:cond delay="0"/>
                                          </p:stCondLst>
                                        </p:cTn>
                                        <p:tgtEl>
                                          <p:spTgt spid="101"/>
                                        </p:tgtEl>
                                        <p:attrNameLst>
                                          <p:attrName>style.visibility</p:attrName>
                                        </p:attrNameLst>
                                      </p:cBhvr>
                                      <p:to>
                                        <p:strVal val="visible"/>
                                      </p:to>
                                    </p:set>
                                    <p:animEffect transition="in" filter="wipe(down)">
                                      <p:cBhvr>
                                        <p:cTn id="119" dur="500"/>
                                        <p:tgtEl>
                                          <p:spTgt spid="101"/>
                                        </p:tgtEl>
                                      </p:cBhvr>
                                    </p:animEffect>
                                  </p:childTnLst>
                                </p:cTn>
                              </p:par>
                              <p:par>
                                <p:cTn id="120" presetID="22" presetClass="entr" presetSubtype="4" fill="hold" grpId="0" nodeType="withEffect">
                                  <p:stCondLst>
                                    <p:cond delay="0"/>
                                  </p:stCondLst>
                                  <p:childTnLst>
                                    <p:set>
                                      <p:cBhvr>
                                        <p:cTn id="121" dur="1" fill="hold">
                                          <p:stCondLst>
                                            <p:cond delay="0"/>
                                          </p:stCondLst>
                                        </p:cTn>
                                        <p:tgtEl>
                                          <p:spTgt spid="110"/>
                                        </p:tgtEl>
                                        <p:attrNameLst>
                                          <p:attrName>style.visibility</p:attrName>
                                        </p:attrNameLst>
                                      </p:cBhvr>
                                      <p:to>
                                        <p:strVal val="visible"/>
                                      </p:to>
                                    </p:set>
                                    <p:animEffect transition="in" filter="wipe(down)">
                                      <p:cBhvr>
                                        <p:cTn id="122" dur="500"/>
                                        <p:tgtEl>
                                          <p:spTgt spid="110"/>
                                        </p:tgtEl>
                                      </p:cBhvr>
                                    </p:animEffect>
                                  </p:childTnLst>
                                </p:cTn>
                              </p:par>
                              <p:par>
                                <p:cTn id="123" presetID="22" presetClass="entr" presetSubtype="4" fill="hold" grpId="0" nodeType="withEffect">
                                  <p:stCondLst>
                                    <p:cond delay="0"/>
                                  </p:stCondLst>
                                  <p:childTnLst>
                                    <p:set>
                                      <p:cBhvr>
                                        <p:cTn id="124" dur="1" fill="hold">
                                          <p:stCondLst>
                                            <p:cond delay="0"/>
                                          </p:stCondLst>
                                        </p:cTn>
                                        <p:tgtEl>
                                          <p:spTgt spid="111"/>
                                        </p:tgtEl>
                                        <p:attrNameLst>
                                          <p:attrName>style.visibility</p:attrName>
                                        </p:attrNameLst>
                                      </p:cBhvr>
                                      <p:to>
                                        <p:strVal val="visible"/>
                                      </p:to>
                                    </p:set>
                                    <p:animEffect transition="in" filter="wipe(down)">
                                      <p:cBhvr>
                                        <p:cTn id="125" dur="500"/>
                                        <p:tgtEl>
                                          <p:spTgt spid="111"/>
                                        </p:tgtEl>
                                      </p:cBhvr>
                                    </p:animEffect>
                                  </p:childTnLst>
                                </p:cTn>
                              </p:par>
                              <p:par>
                                <p:cTn id="126" presetID="22" presetClass="entr" presetSubtype="4" fill="hold" grpId="0" nodeType="withEffect">
                                  <p:stCondLst>
                                    <p:cond delay="0"/>
                                  </p:stCondLst>
                                  <p:childTnLst>
                                    <p:set>
                                      <p:cBhvr>
                                        <p:cTn id="127" dur="1" fill="hold">
                                          <p:stCondLst>
                                            <p:cond delay="0"/>
                                          </p:stCondLst>
                                        </p:cTn>
                                        <p:tgtEl>
                                          <p:spTgt spid="112"/>
                                        </p:tgtEl>
                                        <p:attrNameLst>
                                          <p:attrName>style.visibility</p:attrName>
                                        </p:attrNameLst>
                                      </p:cBhvr>
                                      <p:to>
                                        <p:strVal val="visible"/>
                                      </p:to>
                                    </p:set>
                                    <p:animEffect transition="in" filter="wipe(down)">
                                      <p:cBhvr>
                                        <p:cTn id="128" dur="500"/>
                                        <p:tgtEl>
                                          <p:spTgt spid="112"/>
                                        </p:tgtEl>
                                      </p:cBhvr>
                                    </p:animEffect>
                                  </p:childTnLst>
                                </p:cTn>
                              </p:par>
                              <p:par>
                                <p:cTn id="129" presetID="22" presetClass="entr" presetSubtype="4" fill="hold" grpId="0" nodeType="withEffect">
                                  <p:stCondLst>
                                    <p:cond delay="0"/>
                                  </p:stCondLst>
                                  <p:childTnLst>
                                    <p:set>
                                      <p:cBhvr>
                                        <p:cTn id="130" dur="1" fill="hold">
                                          <p:stCondLst>
                                            <p:cond delay="0"/>
                                          </p:stCondLst>
                                        </p:cTn>
                                        <p:tgtEl>
                                          <p:spTgt spid="113"/>
                                        </p:tgtEl>
                                        <p:attrNameLst>
                                          <p:attrName>style.visibility</p:attrName>
                                        </p:attrNameLst>
                                      </p:cBhvr>
                                      <p:to>
                                        <p:strVal val="visible"/>
                                      </p:to>
                                    </p:set>
                                    <p:animEffect transition="in" filter="wipe(down)">
                                      <p:cBhvr>
                                        <p:cTn id="131" dur="500"/>
                                        <p:tgtEl>
                                          <p:spTgt spid="113"/>
                                        </p:tgtEl>
                                      </p:cBhvr>
                                    </p:animEffect>
                                  </p:childTnLst>
                                </p:cTn>
                              </p:par>
                              <p:par>
                                <p:cTn id="132" presetID="22" presetClass="entr" presetSubtype="4" fill="hold" grpId="0" nodeType="withEffect">
                                  <p:stCondLst>
                                    <p:cond delay="0"/>
                                  </p:stCondLst>
                                  <p:childTnLst>
                                    <p:set>
                                      <p:cBhvr>
                                        <p:cTn id="133" dur="1" fill="hold">
                                          <p:stCondLst>
                                            <p:cond delay="0"/>
                                          </p:stCondLst>
                                        </p:cTn>
                                        <p:tgtEl>
                                          <p:spTgt spid="114"/>
                                        </p:tgtEl>
                                        <p:attrNameLst>
                                          <p:attrName>style.visibility</p:attrName>
                                        </p:attrNameLst>
                                      </p:cBhvr>
                                      <p:to>
                                        <p:strVal val="visible"/>
                                      </p:to>
                                    </p:set>
                                    <p:animEffect transition="in" filter="wipe(down)">
                                      <p:cBhvr>
                                        <p:cTn id="134" dur="500"/>
                                        <p:tgtEl>
                                          <p:spTgt spid="114"/>
                                        </p:tgtEl>
                                      </p:cBhvr>
                                    </p:animEffect>
                                  </p:childTnLst>
                                </p:cTn>
                              </p:par>
                              <p:par>
                                <p:cTn id="135" presetID="22" presetClass="entr" presetSubtype="4" fill="hold" grpId="0" nodeType="withEffect">
                                  <p:stCondLst>
                                    <p:cond delay="0"/>
                                  </p:stCondLst>
                                  <p:childTnLst>
                                    <p:set>
                                      <p:cBhvr>
                                        <p:cTn id="136" dur="1" fill="hold">
                                          <p:stCondLst>
                                            <p:cond delay="0"/>
                                          </p:stCondLst>
                                        </p:cTn>
                                        <p:tgtEl>
                                          <p:spTgt spid="115"/>
                                        </p:tgtEl>
                                        <p:attrNameLst>
                                          <p:attrName>style.visibility</p:attrName>
                                        </p:attrNameLst>
                                      </p:cBhvr>
                                      <p:to>
                                        <p:strVal val="visible"/>
                                      </p:to>
                                    </p:set>
                                    <p:animEffect transition="in" filter="wipe(down)">
                                      <p:cBhvr>
                                        <p:cTn id="137" dur="5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ldLvl="0" animBg="1"/>
      <p:bldP spid="21" grpId="0" bldLvl="0" animBg="1"/>
      <p:bldP spid="36" grpId="0"/>
      <p:bldP spid="38" grpId="0"/>
      <p:bldP spid="40" grpId="0"/>
      <p:bldP spid="42" grpId="0"/>
      <p:bldP spid="44" grpId="0"/>
      <p:bldP spid="46" grpId="0"/>
      <p:bldP spid="63" grpId="0" bldLvl="0" animBg="1"/>
      <p:bldP spid="64" grpId="0" bldLvl="0" animBg="1"/>
      <p:bldP spid="65" grpId="0" bldLvl="0" animBg="1"/>
      <p:bldP spid="67" grpId="0" bldLvl="0" animBg="1"/>
      <p:bldP spid="74" grpId="0" bldLvl="0" animBg="1"/>
      <p:bldP spid="75" grpId="0" bldLvl="0" animBg="1"/>
      <p:bldP spid="76" grpId="0" bldLvl="0" animBg="1"/>
      <p:bldP spid="77" grpId="0" bldLvl="0" animBg="1"/>
      <p:bldP spid="78" grpId="0"/>
      <p:bldP spid="100" grpId="0" bldLvl="0" animBg="1"/>
      <p:bldP spid="101" grpId="0" bldLvl="0" animBg="1"/>
      <p:bldP spid="110" grpId="0" bldLvl="0" animBg="1"/>
      <p:bldP spid="111" grpId="0" bldLvl="0" animBg="1"/>
      <p:bldP spid="112" grpId="0" bldLvl="0" animBg="1"/>
      <p:bldP spid="113" grpId="0" bldLvl="0" animBg="1"/>
      <p:bldP spid="114" grpId="0" bldLvl="0" animBg="1"/>
      <p:bldP spid="115"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1" name="组合 20"/>
          <p:cNvGrpSpPr/>
          <p:nvPr/>
        </p:nvGrpSpPr>
        <p:grpSpPr>
          <a:xfrm>
            <a:off x="1024255" y="339090"/>
            <a:ext cx="7519670" cy="1017270"/>
            <a:chOff x="304800" y="673100"/>
            <a:chExt cx="4000500" cy="4000500"/>
          </a:xfrm>
          <a:effectLst>
            <a:outerShdw blurRad="444500" dist="254000" dir="8100000" algn="tr" rotWithShape="0">
              <a:prstClr val="black">
                <a:alpha val="50000"/>
              </a:prstClr>
            </a:outerShdw>
          </a:effectLst>
        </p:grpSpPr>
        <p:sp>
          <p:nvSpPr>
            <p:cNvPr id="22" name="同心圆 21"/>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cs typeface="+mn-ea"/>
              </a:endParaRPr>
            </a:p>
          </p:txBody>
        </p:sp>
        <p:sp>
          <p:nvSpPr>
            <p:cNvPr id="23" name="椭圆 22"/>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38" name="TextBox 37"/>
          <p:cNvSpPr txBox="1"/>
          <p:nvPr/>
        </p:nvSpPr>
        <p:spPr>
          <a:xfrm>
            <a:off x="778050" y="512296"/>
            <a:ext cx="7647305" cy="614045"/>
          </a:xfrm>
          <a:prstGeom prst="rect">
            <a:avLst/>
          </a:prstGeom>
          <a:noFill/>
        </p:spPr>
        <p:txBody>
          <a:bodyPr wrap="none" rtlCol="0">
            <a:spAutoFit/>
          </a:bodyPr>
          <a:lstStyle/>
          <a:p>
            <a:pPr lvl="1" algn="l"/>
            <a:r>
              <a:rPr lang="en-US" altLang="zh-CN" sz="1600" dirty="0">
                <a:sym typeface="+mn-ea"/>
              </a:rPr>
              <a:t>Intel</a:t>
            </a:r>
            <a:r>
              <a:rPr lang="zh-CN" altLang="en-US" dirty="0">
                <a:sym typeface="+mn-ea"/>
              </a:rPr>
              <a:t>术语：</a:t>
            </a:r>
          </a:p>
          <a:p>
            <a:pPr marL="1200150" lvl="2" indent="-285750" algn="l">
              <a:buFont typeface="Wingdings" panose="05000000000000000000" charset="0"/>
              <a:buChar char=""/>
            </a:pPr>
            <a:r>
              <a:rPr lang="zh-CN" altLang="en-US" sz="1600" dirty="0">
                <a:sym typeface="+mn-ea"/>
              </a:rPr>
              <a:t>字</a:t>
            </a:r>
            <a:r>
              <a:rPr lang="en-US" altLang="zh-CN" sz="1600" dirty="0">
                <a:sym typeface="+mn-ea"/>
              </a:rPr>
              <a:t>/word/16-bit</a:t>
            </a:r>
            <a:r>
              <a:rPr lang="zh-CN" altLang="en-US" sz="1600" dirty="0">
                <a:sym typeface="+mn-ea"/>
              </a:rPr>
              <a:t>；双字</a:t>
            </a:r>
            <a:r>
              <a:rPr lang="en-US" altLang="zh-CN" sz="1600" dirty="0">
                <a:sym typeface="+mn-ea"/>
              </a:rPr>
              <a:t>/double</a:t>
            </a:r>
            <a:r>
              <a:rPr lang="zh-CN" altLang="en-US" sz="1600" dirty="0">
                <a:sym typeface="+mn-ea"/>
              </a:rPr>
              <a:t> </a:t>
            </a:r>
            <a:r>
              <a:rPr lang="en-US" altLang="zh-CN" sz="1600" dirty="0">
                <a:sym typeface="+mn-ea"/>
              </a:rPr>
              <a:t>words/32-bit</a:t>
            </a:r>
            <a:r>
              <a:rPr lang="zh-CN" altLang="en-US" sz="1600" dirty="0">
                <a:sym typeface="+mn-ea"/>
              </a:rPr>
              <a:t>；四字</a:t>
            </a:r>
            <a:r>
              <a:rPr lang="en-US" altLang="zh-CN" sz="1600" dirty="0">
                <a:sym typeface="+mn-ea"/>
              </a:rPr>
              <a:t>/quad/words/64-bit</a:t>
            </a:r>
            <a:endParaRPr lang="en-US" altLang="zh-CN" sz="1600" b="1" dirty="0">
              <a:solidFill>
                <a:schemeClr val="accent1"/>
              </a:solidFill>
              <a:latin typeface="+mn-ea"/>
              <a:cs typeface="+mn-ea"/>
              <a:sym typeface="+mn-ea"/>
            </a:endParaRPr>
          </a:p>
        </p:txBody>
      </p:sp>
      <p:sp>
        <p:nvSpPr>
          <p:cNvPr id="42" name="椭圆 41"/>
          <p:cNvSpPr/>
          <p:nvPr/>
        </p:nvSpPr>
        <p:spPr>
          <a:xfrm>
            <a:off x="102776" y="339160"/>
            <a:ext cx="375681" cy="375681"/>
          </a:xfrm>
          <a:prstGeom prst="ellipse">
            <a:avLst/>
          </a:prstGeom>
          <a:gradFill>
            <a:gsLst>
              <a:gs pos="0">
                <a:schemeClr val="accent2"/>
              </a:gs>
              <a:gs pos="60000">
                <a:schemeClr val="accent1"/>
              </a:gs>
              <a:gs pos="100000">
                <a:schemeClr val="accent5"/>
              </a:gs>
            </a:gsLst>
            <a:lin ang="8400000" scaled="0"/>
          </a:gra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43" name="椭圆 42"/>
          <p:cNvSpPr/>
          <p:nvPr/>
        </p:nvSpPr>
        <p:spPr>
          <a:xfrm>
            <a:off x="287059" y="5725506"/>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48" name="椭圆 47"/>
          <p:cNvSpPr/>
          <p:nvPr/>
        </p:nvSpPr>
        <p:spPr>
          <a:xfrm>
            <a:off x="148" y="2175014"/>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49" name="椭圆 48"/>
          <p:cNvSpPr/>
          <p:nvPr/>
        </p:nvSpPr>
        <p:spPr>
          <a:xfrm>
            <a:off x="328443" y="2381402"/>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50" name="椭圆 49"/>
          <p:cNvSpPr/>
          <p:nvPr/>
        </p:nvSpPr>
        <p:spPr>
          <a:xfrm>
            <a:off x="52019" y="4066205"/>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51" name="椭圆 50"/>
          <p:cNvSpPr/>
          <p:nvPr/>
        </p:nvSpPr>
        <p:spPr>
          <a:xfrm>
            <a:off x="1348469" y="827474"/>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52" name="椭圆 51"/>
          <p:cNvSpPr/>
          <p:nvPr/>
        </p:nvSpPr>
        <p:spPr>
          <a:xfrm>
            <a:off x="1218782" y="475973"/>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0" name="椭圆 59"/>
          <p:cNvSpPr/>
          <p:nvPr/>
        </p:nvSpPr>
        <p:spPr>
          <a:xfrm>
            <a:off x="684141" y="5743885"/>
            <a:ext cx="187841" cy="187841"/>
          </a:xfrm>
          <a:prstGeom prst="ellipse">
            <a:avLst/>
          </a:prstGeom>
          <a:gradFill>
            <a:gsLst>
              <a:gs pos="0">
                <a:schemeClr val="accent2"/>
              </a:gs>
              <a:gs pos="60000">
                <a:schemeClr val="accent1"/>
              </a:gs>
              <a:gs pos="100000">
                <a:schemeClr val="accent5"/>
              </a:gs>
            </a:gsLst>
            <a:lin ang="8400000" scaled="0"/>
          </a:gra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1" name="椭圆 60"/>
          <p:cNvSpPr/>
          <p:nvPr/>
        </p:nvSpPr>
        <p:spPr>
          <a:xfrm>
            <a:off x="129383" y="1765161"/>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2" name="椭圆 61"/>
          <p:cNvSpPr/>
          <p:nvPr/>
        </p:nvSpPr>
        <p:spPr>
          <a:xfrm>
            <a:off x="80907" y="5171945"/>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3" name="椭圆 62"/>
          <p:cNvSpPr/>
          <p:nvPr/>
        </p:nvSpPr>
        <p:spPr>
          <a:xfrm>
            <a:off x="1115923" y="724585"/>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6" name="椭圆 65"/>
          <p:cNvSpPr/>
          <p:nvPr/>
        </p:nvSpPr>
        <p:spPr>
          <a:xfrm>
            <a:off x="51676" y="2760330"/>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7" name="椭圆 66"/>
          <p:cNvSpPr/>
          <p:nvPr/>
        </p:nvSpPr>
        <p:spPr>
          <a:xfrm>
            <a:off x="52106" y="2554541"/>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8" name="椭圆 67"/>
          <p:cNvSpPr/>
          <p:nvPr/>
        </p:nvSpPr>
        <p:spPr>
          <a:xfrm>
            <a:off x="52208" y="4471740"/>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9" name="椭圆 68"/>
          <p:cNvSpPr/>
          <p:nvPr/>
        </p:nvSpPr>
        <p:spPr>
          <a:xfrm>
            <a:off x="335693" y="900805"/>
            <a:ext cx="241613" cy="241613"/>
          </a:xfrm>
          <a:prstGeom prst="ellipse">
            <a:avLst/>
          </a:prstGeom>
          <a:gradFill>
            <a:gsLst>
              <a:gs pos="0">
                <a:schemeClr val="accent2"/>
              </a:gs>
              <a:gs pos="60000">
                <a:schemeClr val="accent1"/>
              </a:gs>
              <a:gs pos="100000">
                <a:schemeClr val="accent5"/>
              </a:gs>
            </a:gsLst>
            <a:lin ang="8400000" scaled="0"/>
          </a:gra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0" name="椭圆 69"/>
          <p:cNvSpPr/>
          <p:nvPr/>
        </p:nvSpPr>
        <p:spPr>
          <a:xfrm>
            <a:off x="51737" y="5505532"/>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1" name="椭圆 70"/>
          <p:cNvSpPr/>
          <p:nvPr/>
        </p:nvSpPr>
        <p:spPr>
          <a:xfrm>
            <a:off x="276500" y="1356243"/>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2" name="椭圆 71"/>
          <p:cNvSpPr/>
          <p:nvPr/>
        </p:nvSpPr>
        <p:spPr>
          <a:xfrm>
            <a:off x="62593" y="1454667"/>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3" name="椭圆 72"/>
          <p:cNvSpPr/>
          <p:nvPr/>
        </p:nvSpPr>
        <p:spPr>
          <a:xfrm>
            <a:off x="10908" y="4843846"/>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4" name="椭圆 73"/>
          <p:cNvSpPr/>
          <p:nvPr/>
        </p:nvSpPr>
        <p:spPr>
          <a:xfrm>
            <a:off x="276907" y="797870"/>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5" name="椭圆 74"/>
          <p:cNvSpPr/>
          <p:nvPr/>
        </p:nvSpPr>
        <p:spPr>
          <a:xfrm>
            <a:off x="1069909" y="930185"/>
            <a:ext cx="103042" cy="103042"/>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6" name="椭圆 75"/>
          <p:cNvSpPr/>
          <p:nvPr/>
        </p:nvSpPr>
        <p:spPr>
          <a:xfrm>
            <a:off x="454" y="900645"/>
            <a:ext cx="206083" cy="206083"/>
          </a:xfrm>
          <a:prstGeom prst="ellipse">
            <a:avLst/>
          </a:prstGeom>
          <a:gradFill>
            <a:gsLst>
              <a:gs pos="0">
                <a:schemeClr val="accent2"/>
              </a:gs>
              <a:gs pos="60000">
                <a:schemeClr val="accent1"/>
              </a:gs>
              <a:gs pos="100000">
                <a:schemeClr val="accent5"/>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nvGrpSpPr>
          <p:cNvPr id="2" name="组合 1"/>
          <p:cNvGrpSpPr/>
          <p:nvPr/>
        </p:nvGrpSpPr>
        <p:grpSpPr>
          <a:xfrm>
            <a:off x="967105" y="1454150"/>
            <a:ext cx="7141845" cy="1306195"/>
            <a:chOff x="304800" y="673100"/>
            <a:chExt cx="4000500" cy="4000500"/>
          </a:xfrm>
          <a:effectLst>
            <a:outerShdw blurRad="444500" dist="254000" dir="8100000" algn="tr" rotWithShape="0">
              <a:prstClr val="black">
                <a:alpha val="50000"/>
              </a:prstClr>
            </a:outerShdw>
          </a:effectLst>
        </p:grpSpPr>
        <p:sp>
          <p:nvSpPr>
            <p:cNvPr id="3" name="同心圆 2"/>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cs typeface="+mn-ea"/>
              </a:endParaRPr>
            </a:p>
          </p:txBody>
        </p:sp>
        <p:sp>
          <p:nvSpPr>
            <p:cNvPr id="4" name="椭圆 3"/>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5" name="TextBox 37"/>
          <p:cNvSpPr txBox="1"/>
          <p:nvPr/>
        </p:nvSpPr>
        <p:spPr>
          <a:xfrm>
            <a:off x="943150" y="1692126"/>
            <a:ext cx="6797675" cy="891540"/>
          </a:xfrm>
          <a:prstGeom prst="rect">
            <a:avLst/>
          </a:prstGeom>
          <a:noFill/>
        </p:spPr>
        <p:txBody>
          <a:bodyPr wrap="none" rtlCol="0">
            <a:spAutoFit/>
          </a:bodyPr>
          <a:lstStyle/>
          <a:p>
            <a:pPr lvl="1" algn="l"/>
            <a:r>
              <a:rPr lang="en-US" altLang="zh-CN" sz="1600" dirty="0">
                <a:sym typeface="+mn-ea"/>
              </a:rPr>
              <a:t>C</a:t>
            </a:r>
            <a:r>
              <a:rPr lang="zh-CN" altLang="en-US" sz="1600" dirty="0">
                <a:sym typeface="+mn-ea"/>
              </a:rPr>
              <a:t>语言数据在</a:t>
            </a:r>
            <a:r>
              <a:rPr lang="en-US" altLang="zh-CN" sz="1600" dirty="0">
                <a:sym typeface="+mn-ea"/>
              </a:rPr>
              <a:t>x86-64</a:t>
            </a:r>
            <a:r>
              <a:rPr lang="zh-CN" altLang="en-US" dirty="0">
                <a:sym typeface="+mn-ea"/>
              </a:rPr>
              <a:t>上的表示：</a:t>
            </a:r>
          </a:p>
          <a:p>
            <a:pPr marL="1200150" lvl="2" indent="-285750" algn="l">
              <a:buFont typeface="Wingdings" panose="05000000000000000000" charset="0"/>
              <a:buChar char=""/>
            </a:pPr>
            <a:r>
              <a:rPr lang="en-US" altLang="zh-CN" sz="1600" dirty="0">
                <a:sym typeface="+mn-ea"/>
              </a:rPr>
              <a:t>GCC</a:t>
            </a:r>
            <a:r>
              <a:rPr lang="zh-CN" altLang="en-US" dirty="0">
                <a:sym typeface="+mn-ea"/>
              </a:rPr>
              <a:t>生成的汇编指令都是用一个后缀表示操作数的大小</a:t>
            </a:r>
          </a:p>
          <a:p>
            <a:pPr marL="514350" lvl="1" indent="0" algn="l">
              <a:buNone/>
            </a:pPr>
            <a:r>
              <a:rPr lang="en-US" altLang="zh-CN" sz="1600" dirty="0">
                <a:sym typeface="+mn-ea"/>
              </a:rPr>
              <a:t>		</a:t>
            </a:r>
            <a:r>
              <a:rPr lang="zh-CN" altLang="en-US" sz="1600" dirty="0">
                <a:sym typeface="+mn-ea"/>
              </a:rPr>
              <a:t>例如</a:t>
            </a:r>
            <a:r>
              <a:rPr lang="en-US" altLang="zh-CN" sz="1600" dirty="0" err="1">
                <a:sym typeface="+mn-ea"/>
              </a:rPr>
              <a:t>mov</a:t>
            </a:r>
            <a:r>
              <a:rPr lang="zh-CN" altLang="en-US" sz="1600" dirty="0">
                <a:sym typeface="+mn-ea"/>
              </a:rPr>
              <a:t>指令可能会是</a:t>
            </a:r>
            <a:r>
              <a:rPr lang="en-US" altLang="zh-CN" sz="1600" dirty="0" err="1">
                <a:sym typeface="+mn-ea"/>
              </a:rPr>
              <a:t>movq</a:t>
            </a:r>
            <a:r>
              <a:rPr lang="zh-CN" altLang="en-US" sz="1600" dirty="0">
                <a:sym typeface="+mn-ea"/>
              </a:rPr>
              <a:t>或</a:t>
            </a:r>
            <a:r>
              <a:rPr lang="en-US" altLang="zh-CN" sz="1600" dirty="0" err="1">
                <a:sym typeface="+mn-ea"/>
              </a:rPr>
              <a:t>movw</a:t>
            </a:r>
            <a:r>
              <a:rPr lang="zh-CN" altLang="en-US" sz="1600" dirty="0">
                <a:sym typeface="+mn-ea"/>
              </a:rPr>
              <a:t>或</a:t>
            </a:r>
            <a:r>
              <a:rPr lang="en-US" altLang="zh-CN" sz="1600" dirty="0" err="1">
                <a:sym typeface="+mn-ea"/>
              </a:rPr>
              <a:t>movl</a:t>
            </a:r>
            <a:endParaRPr lang="en-US" altLang="zh-CN" sz="1600" b="1" dirty="0" err="1">
              <a:solidFill>
                <a:schemeClr val="accent1"/>
              </a:solidFill>
              <a:latin typeface="+mn-ea"/>
              <a:cs typeface="+mn-ea"/>
              <a:sym typeface="+mn-ea"/>
            </a:endParaRPr>
          </a:p>
        </p:txBody>
      </p:sp>
      <p:sp>
        <p:nvSpPr>
          <p:cNvPr id="6" name="椭圆 5"/>
          <p:cNvSpPr/>
          <p:nvPr/>
        </p:nvSpPr>
        <p:spPr>
          <a:xfrm>
            <a:off x="8665751" y="1171645"/>
            <a:ext cx="375681" cy="375681"/>
          </a:xfrm>
          <a:prstGeom prst="ellipse">
            <a:avLst/>
          </a:prstGeom>
          <a:gradFill>
            <a:gsLst>
              <a:gs pos="0">
                <a:srgbClr val="FFFF00"/>
              </a:gs>
              <a:gs pos="60000">
                <a:srgbClr val="A45EA3"/>
              </a:gs>
              <a:gs pos="100000">
                <a:srgbClr val="7030A0"/>
              </a:gs>
            </a:gsLst>
            <a:lin ang="8400000" scaled="0"/>
          </a:gra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7" name="椭圆 6"/>
          <p:cNvSpPr/>
          <p:nvPr/>
        </p:nvSpPr>
        <p:spPr>
          <a:xfrm>
            <a:off x="8369498" y="3944331"/>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8" name="椭圆 7"/>
          <p:cNvSpPr/>
          <p:nvPr/>
        </p:nvSpPr>
        <p:spPr>
          <a:xfrm>
            <a:off x="8596461" y="5711488"/>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9" name="椭圆 8"/>
          <p:cNvSpPr/>
          <p:nvPr/>
        </p:nvSpPr>
        <p:spPr>
          <a:xfrm>
            <a:off x="8108939" y="2342984"/>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0" name="椭圆 9"/>
          <p:cNvSpPr/>
          <p:nvPr/>
        </p:nvSpPr>
        <p:spPr>
          <a:xfrm>
            <a:off x="8750725" y="4066205"/>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1" name="椭圆 10"/>
          <p:cNvSpPr/>
          <p:nvPr/>
        </p:nvSpPr>
        <p:spPr>
          <a:xfrm>
            <a:off x="8006127" y="1482477"/>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2" name="椭圆 11"/>
          <p:cNvSpPr/>
          <p:nvPr/>
        </p:nvSpPr>
        <p:spPr>
          <a:xfrm>
            <a:off x="9041665" y="4515367"/>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3" name="椭圆 12"/>
          <p:cNvSpPr/>
          <p:nvPr/>
        </p:nvSpPr>
        <p:spPr>
          <a:xfrm>
            <a:off x="8956604" y="2455537"/>
            <a:ext cx="187841" cy="187841"/>
          </a:xfrm>
          <a:prstGeom prst="ellipse">
            <a:avLst/>
          </a:prstGeom>
          <a:gradFill>
            <a:gsLst>
              <a:gs pos="0">
                <a:srgbClr val="FFFF00"/>
              </a:gs>
              <a:gs pos="60000">
                <a:srgbClr val="A45EA3"/>
              </a:gs>
              <a:gs pos="100000">
                <a:srgbClr val="7030A0"/>
              </a:gs>
            </a:gsLst>
            <a:lin ang="8400000" scaled="0"/>
          </a:gra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4" name="椭圆 13"/>
          <p:cNvSpPr/>
          <p:nvPr/>
        </p:nvSpPr>
        <p:spPr>
          <a:xfrm>
            <a:off x="8544245" y="789801"/>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5" name="椭圆 14"/>
          <p:cNvSpPr/>
          <p:nvPr/>
        </p:nvSpPr>
        <p:spPr>
          <a:xfrm>
            <a:off x="8665790" y="1663569"/>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6" name="椭圆 15"/>
          <p:cNvSpPr/>
          <p:nvPr/>
        </p:nvSpPr>
        <p:spPr>
          <a:xfrm>
            <a:off x="8369686" y="2657684"/>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7" name="椭圆 16"/>
          <p:cNvSpPr/>
          <p:nvPr/>
        </p:nvSpPr>
        <p:spPr>
          <a:xfrm>
            <a:off x="8472252" y="4618022"/>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8" name="椭圆 17"/>
          <p:cNvSpPr/>
          <p:nvPr/>
        </p:nvSpPr>
        <p:spPr>
          <a:xfrm>
            <a:off x="8369494" y="1557432"/>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19" name="椭圆 18"/>
          <p:cNvSpPr/>
          <p:nvPr/>
        </p:nvSpPr>
        <p:spPr>
          <a:xfrm>
            <a:off x="8802349" y="4947514"/>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20" name="椭圆 19"/>
          <p:cNvSpPr/>
          <p:nvPr/>
        </p:nvSpPr>
        <p:spPr>
          <a:xfrm>
            <a:off x="8902955" y="5136890"/>
            <a:ext cx="241613" cy="241613"/>
          </a:xfrm>
          <a:prstGeom prst="ellipse">
            <a:avLst/>
          </a:prstGeom>
          <a:gradFill>
            <a:gsLst>
              <a:gs pos="0">
                <a:srgbClr val="FFFF00"/>
              </a:gs>
              <a:gs pos="60000">
                <a:srgbClr val="A45EA3"/>
              </a:gs>
              <a:gs pos="100000">
                <a:srgbClr val="7030A0"/>
              </a:gs>
            </a:gsLst>
            <a:lin ang="8400000" scaled="0"/>
          </a:gradFill>
          <a:ln>
            <a:noFill/>
          </a:ln>
          <a:effectLst>
            <a:outerShdw blurRad="317500" dist="1905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24" name="椭圆 23"/>
          <p:cNvSpPr/>
          <p:nvPr/>
        </p:nvSpPr>
        <p:spPr>
          <a:xfrm>
            <a:off x="8544227" y="2239568"/>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25" name="椭圆 24"/>
          <p:cNvSpPr/>
          <p:nvPr/>
        </p:nvSpPr>
        <p:spPr>
          <a:xfrm>
            <a:off x="8544200" y="133233"/>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26" name="椭圆 25"/>
          <p:cNvSpPr/>
          <p:nvPr/>
        </p:nvSpPr>
        <p:spPr>
          <a:xfrm>
            <a:off x="8957038" y="5711707"/>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27" name="椭圆 26"/>
          <p:cNvSpPr/>
          <p:nvPr/>
        </p:nvSpPr>
        <p:spPr>
          <a:xfrm>
            <a:off x="8266225" y="-73277"/>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28" name="椭圆 27"/>
          <p:cNvSpPr/>
          <p:nvPr/>
        </p:nvSpPr>
        <p:spPr>
          <a:xfrm>
            <a:off x="8938942" y="102545"/>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44" name="椭圆 43"/>
          <p:cNvSpPr/>
          <p:nvPr/>
        </p:nvSpPr>
        <p:spPr>
          <a:xfrm>
            <a:off x="8562750" y="1987460"/>
            <a:ext cx="103042" cy="103042"/>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45" name="椭圆 44"/>
          <p:cNvSpPr/>
          <p:nvPr/>
        </p:nvSpPr>
        <p:spPr>
          <a:xfrm>
            <a:off x="8750595" y="512025"/>
            <a:ext cx="206083" cy="206083"/>
          </a:xfrm>
          <a:prstGeom prst="ellipse">
            <a:avLst/>
          </a:prstGeom>
          <a:gradFill>
            <a:gsLst>
              <a:gs pos="0">
                <a:srgbClr val="FFFF00"/>
              </a:gs>
              <a:gs pos="60000">
                <a:srgbClr val="A45EA3"/>
              </a:gs>
              <a:gs pos="100000">
                <a:srgbClr val="7030A0"/>
              </a:gs>
            </a:gsLst>
            <a:lin ang="8400000" scaled="0"/>
          </a:gra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46" name="矩形 45"/>
          <p:cNvSpPr/>
          <p:nvPr/>
        </p:nvSpPr>
        <p:spPr>
          <a:xfrm>
            <a:off x="0" y="-244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47" name="椭圆 46"/>
          <p:cNvSpPr/>
          <p:nvPr/>
        </p:nvSpPr>
        <p:spPr>
          <a:xfrm>
            <a:off x="2106533" y="484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4" name="椭圆形标注 53"/>
          <p:cNvSpPr/>
          <p:nvPr/>
        </p:nvSpPr>
        <p:spPr>
          <a:xfrm>
            <a:off x="80645" y="2966720"/>
            <a:ext cx="3672840" cy="739775"/>
          </a:xfrm>
          <a:prstGeom prst="wedgeEllipseCallout">
            <a:avLst>
              <a:gd name="adj1" fmla="val 62465"/>
              <a:gd name="adj2" fmla="val 557"/>
            </a:avLst>
          </a:prstGeom>
          <a:gradFill>
            <a:gsLst>
              <a:gs pos="42000">
                <a:schemeClr val="bg1">
                  <a:lumMod val="85000"/>
                </a:schemeClr>
              </a:gs>
              <a:gs pos="0">
                <a:schemeClr val="bg1"/>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sym typeface="+mn-ea"/>
              </a:rPr>
              <a:t>IA32</a:t>
            </a:r>
            <a:r>
              <a:rPr lang="zh-CN" altLang="en-US" sz="1600" dirty="0">
                <a:solidFill>
                  <a:schemeClr val="tx1"/>
                </a:solidFill>
                <a:sym typeface="+mn-ea"/>
              </a:rPr>
              <a:t>上不能直接表示</a:t>
            </a:r>
            <a:r>
              <a:rPr lang="en-US" altLang="zh-CN" sz="1600" dirty="0">
                <a:solidFill>
                  <a:schemeClr val="tx1"/>
                </a:solidFill>
                <a:sym typeface="+mn-ea"/>
              </a:rPr>
              <a:t>64</a:t>
            </a:r>
            <a:r>
              <a:rPr lang="zh-CN" altLang="en-US" sz="1600" dirty="0">
                <a:solidFill>
                  <a:schemeClr val="tx1"/>
                </a:solidFill>
                <a:sym typeface="+mn-ea"/>
              </a:rPr>
              <a:t>位的</a:t>
            </a:r>
            <a:r>
              <a:rPr lang="en-US" altLang="zh-CN" sz="1600" dirty="0">
                <a:solidFill>
                  <a:schemeClr val="tx1"/>
                </a:solidFill>
                <a:sym typeface="+mn-ea"/>
              </a:rPr>
              <a:t>long</a:t>
            </a:r>
            <a:r>
              <a:rPr lang="zh-CN" altLang="en-US" sz="1600" dirty="0">
                <a:solidFill>
                  <a:schemeClr val="tx1"/>
                </a:solidFill>
                <a:sym typeface="+mn-ea"/>
              </a:rPr>
              <a:t> </a:t>
            </a:r>
            <a:r>
              <a:rPr lang="en-US" altLang="zh-CN" sz="1600" dirty="0">
                <a:solidFill>
                  <a:schemeClr val="tx1"/>
                </a:solidFill>
                <a:sym typeface="+mn-ea"/>
              </a:rPr>
              <a:t>long</a:t>
            </a:r>
            <a:r>
              <a:rPr lang="zh-CN" altLang="en-US" sz="1600" dirty="0">
                <a:solidFill>
                  <a:schemeClr val="tx1"/>
                </a:solidFill>
                <a:sym typeface="+mn-ea"/>
              </a:rPr>
              <a:t>，需要序列指令来处理</a:t>
            </a:r>
          </a:p>
        </p:txBody>
      </p:sp>
      <p:pic>
        <p:nvPicPr>
          <p:cNvPr id="29" name="图片 28"/>
          <p:cNvPicPr>
            <a:picLocks noChangeAspect="1"/>
          </p:cNvPicPr>
          <p:nvPr/>
        </p:nvPicPr>
        <p:blipFill>
          <a:blip r:embed="rId2"/>
          <a:stretch>
            <a:fillRect/>
          </a:stretch>
        </p:blipFill>
        <p:spPr>
          <a:xfrm>
            <a:off x="822960" y="3706495"/>
            <a:ext cx="7979410" cy="2331085"/>
          </a:xfrm>
          <a:prstGeom prst="rect">
            <a:avLst/>
          </a:prstGeom>
        </p:spPr>
      </p:pic>
      <p:sp>
        <p:nvSpPr>
          <p:cNvPr id="30" name="文本框 29"/>
          <p:cNvSpPr txBox="1"/>
          <p:nvPr/>
        </p:nvSpPr>
        <p:spPr>
          <a:xfrm>
            <a:off x="3176270" y="5974715"/>
            <a:ext cx="3750945" cy="368300"/>
          </a:xfrm>
          <a:prstGeom prst="rect">
            <a:avLst/>
          </a:prstGeom>
          <a:noFill/>
        </p:spPr>
        <p:txBody>
          <a:bodyPr wrap="square" rtlCol="0">
            <a:spAutoFit/>
          </a:bodyPr>
          <a:lstStyle/>
          <a:p>
            <a:r>
              <a:rPr lang="en-US" altLang="zh-CN" dirty="0"/>
              <a:t>C</a:t>
            </a:r>
            <a:r>
              <a:rPr lang="zh-CN" altLang="zh-CN" dirty="0"/>
              <a:t>语言数据类型在</a:t>
            </a:r>
            <a:r>
              <a:rPr lang="en-US" altLang="zh-CN" dirty="0"/>
              <a:t>x86-64</a:t>
            </a:r>
            <a:r>
              <a:rPr lang="zh-CN" altLang="en-US" dirty="0"/>
              <a:t>中的大小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anim calcmode="lin" valueType="num">
                                      <p:cBhvr>
                                        <p:cTn id="7" dur="500" fill="hold"/>
                                        <p:tgtEl>
                                          <p:spTgt spid="54"/>
                                        </p:tgtEl>
                                        <p:attrNameLst>
                                          <p:attrName>ppt_w</p:attrName>
                                        </p:attrNameLst>
                                      </p:cBhvr>
                                      <p:tavLst>
                                        <p:tav tm="0">
                                          <p:val>
                                            <p:strVal val="#ppt_w*0.05"/>
                                          </p:val>
                                        </p:tav>
                                        <p:tav tm="100000">
                                          <p:val>
                                            <p:strVal val="#ppt_w"/>
                                          </p:val>
                                        </p:tav>
                                      </p:tavLst>
                                    </p:anim>
                                    <p:anim calcmode="lin" valueType="num">
                                      <p:cBhvr>
                                        <p:cTn id="8" dur="500" fill="hold"/>
                                        <p:tgtEl>
                                          <p:spTgt spid="54"/>
                                        </p:tgtEl>
                                        <p:attrNameLst>
                                          <p:attrName>ppt_h</p:attrName>
                                        </p:attrNameLst>
                                      </p:cBhvr>
                                      <p:tavLst>
                                        <p:tav tm="0">
                                          <p:val>
                                            <p:strVal val="#ppt_h"/>
                                          </p:val>
                                        </p:tav>
                                        <p:tav tm="100000">
                                          <p:val>
                                            <p:strVal val="#ppt_h"/>
                                          </p:val>
                                        </p:tav>
                                      </p:tavLst>
                                    </p:anim>
                                    <p:anim calcmode="lin" valueType="num">
                                      <p:cBhvr>
                                        <p:cTn id="9" dur="500" fill="hold"/>
                                        <p:tgtEl>
                                          <p:spTgt spid="54"/>
                                        </p:tgtEl>
                                        <p:attrNameLst>
                                          <p:attrName>ppt_x</p:attrName>
                                        </p:attrNameLst>
                                      </p:cBhvr>
                                      <p:tavLst>
                                        <p:tav tm="0">
                                          <p:val>
                                            <p:strVal val="#ppt_x-.2"/>
                                          </p:val>
                                        </p:tav>
                                        <p:tav tm="100000">
                                          <p:val>
                                            <p:strVal val="#ppt_x"/>
                                          </p:val>
                                        </p:tav>
                                      </p:tavLst>
                                    </p:anim>
                                    <p:anim calcmode="lin" valueType="num">
                                      <p:cBhvr>
                                        <p:cTn id="10" dur="500" fill="hold"/>
                                        <p:tgtEl>
                                          <p:spTgt spid="54"/>
                                        </p:tgtEl>
                                        <p:attrNameLst>
                                          <p:attrName>ppt_y</p:attrName>
                                        </p:attrNameLst>
                                      </p:cBhvr>
                                      <p:tavLst>
                                        <p:tav tm="0">
                                          <p:val>
                                            <p:strVal val="#ppt_y"/>
                                          </p:val>
                                        </p:tav>
                                        <p:tav tm="100000">
                                          <p:val>
                                            <p:strVal val="#ppt_y"/>
                                          </p:val>
                                        </p:tav>
                                      </p:tavLst>
                                    </p:anim>
                                    <p:animEffect transition="in" filter="fade">
                                      <p:cBhvr>
                                        <p:cTn id="11"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ldLvl="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94839" y="154581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203692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4115276" y="203692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4575775" y="1229458"/>
            <a:ext cx="3689350" cy="829945"/>
          </a:xfrm>
          <a:prstGeom prst="rect">
            <a:avLst/>
          </a:prstGeom>
          <a:noFill/>
        </p:spPr>
        <p:txBody>
          <a:bodyPr wrap="none" rtlCol="0">
            <a:spAutoFit/>
          </a:bodyPr>
          <a:lstStyle/>
          <a:p>
            <a:pPr algn="ctr"/>
            <a:r>
              <a:rPr lang="zh-CN" altLang="en-US" sz="2400" b="1" dirty="0">
                <a:gradFill>
                  <a:gsLst>
                    <a:gs pos="0">
                      <a:srgbClr val="F17475"/>
                    </a:gs>
                    <a:gs pos="57000">
                      <a:srgbClr val="01B3C5"/>
                    </a:gs>
                    <a:gs pos="100000">
                      <a:srgbClr val="C65885"/>
                    </a:gs>
                  </a:gsLst>
                  <a:lin ang="8100000" scaled="0"/>
                </a:gradFill>
                <a:effectLst/>
                <a:latin typeface="黑体" panose="02010609060101010101" charset="-122"/>
                <a:cs typeface="黑体" panose="02010609060101010101" charset="-122"/>
              </a:rPr>
              <a:t>回顾具体的</a:t>
            </a:r>
            <a:r>
              <a:rPr lang="zh-CN" altLang="en-US" sz="2400" b="1" dirty="0">
                <a:gradFill>
                  <a:gsLst>
                    <a:gs pos="0">
                      <a:srgbClr val="F17475"/>
                    </a:gs>
                    <a:gs pos="57000">
                      <a:srgbClr val="01B3C5"/>
                    </a:gs>
                    <a:gs pos="100000">
                      <a:srgbClr val="C65885"/>
                    </a:gs>
                  </a:gsLst>
                  <a:lin ang="8100000" scaled="0"/>
                </a:gradFill>
                <a:effectLst/>
                <a:latin typeface="黑体" panose="02010609060101010101" charset="-122"/>
                <a:cs typeface="黑体" panose="02010609060101010101" charset="-122"/>
                <a:sym typeface="+mn-ea"/>
              </a:rPr>
              <a:t>冯.诺依曼结构</a:t>
            </a:r>
          </a:p>
          <a:p>
            <a:pPr algn="ctr"/>
            <a:r>
              <a:rPr lang="zh-CN" altLang="en-US" sz="2400" b="1" dirty="0">
                <a:gradFill>
                  <a:gsLst>
                    <a:gs pos="0">
                      <a:srgbClr val="F17475"/>
                    </a:gs>
                    <a:gs pos="57000">
                      <a:srgbClr val="01B3C5"/>
                    </a:gs>
                    <a:gs pos="100000">
                      <a:srgbClr val="C65885"/>
                    </a:gs>
                  </a:gsLst>
                  <a:lin ang="8100000" scaled="0"/>
                </a:gradFill>
                <a:effectLst/>
                <a:latin typeface="黑体" panose="02010609060101010101" charset="-122"/>
                <a:cs typeface="黑体" panose="02010609060101010101" charset="-122"/>
                <a:sym typeface="+mn-ea"/>
              </a:rPr>
              <a:t>计算机模型</a:t>
            </a:r>
          </a:p>
        </p:txBody>
      </p:sp>
      <p:sp>
        <p:nvSpPr>
          <p:cNvPr id="2" name="矩形 1"/>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319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740355" name="Text Box 3"/>
          <p:cNvSpPr txBox="1">
            <a:spLocks noChangeArrowheads="1"/>
          </p:cNvSpPr>
          <p:nvPr/>
        </p:nvSpPr>
        <p:spPr bwMode="auto">
          <a:xfrm>
            <a:off x="2573179" y="2989660"/>
            <a:ext cx="1113235" cy="368300"/>
          </a:xfrm>
          <a:prstGeom prst="rect">
            <a:avLst/>
          </a:prstGeom>
          <a:solidFill>
            <a:srgbClr val="0000FF">
              <a:alpha val="25999"/>
            </a:srgbClr>
          </a:solidFill>
          <a:ln w="9525" algn="ctr">
            <a:solidFill>
              <a:schemeClr val="tx1"/>
            </a:solidFill>
            <a:miter lim="800000"/>
          </a:ln>
          <a:effectLst/>
        </p:spPr>
        <p:txBody>
          <a:bodyPr>
            <a:spAutoFit/>
          </a:bodyPr>
          <a:lstStyle/>
          <a:p>
            <a:pPr marL="342900" indent="-342900"/>
            <a:r>
              <a:rPr lang="zh-CN" altLang="en-US"/>
              <a:t>  控制器</a:t>
            </a:r>
          </a:p>
        </p:txBody>
      </p:sp>
      <p:grpSp>
        <p:nvGrpSpPr>
          <p:cNvPr id="740356" name="Group 4"/>
          <p:cNvGrpSpPr/>
          <p:nvPr/>
        </p:nvGrpSpPr>
        <p:grpSpPr bwMode="auto">
          <a:xfrm>
            <a:off x="2336245" y="2382441"/>
            <a:ext cx="3712369" cy="3443288"/>
            <a:chOff x="215" y="1338"/>
            <a:chExt cx="3118" cy="2892"/>
          </a:xfrm>
        </p:grpSpPr>
        <p:sp>
          <p:nvSpPr>
            <p:cNvPr id="740357" name="Rectangle 5"/>
            <p:cNvSpPr>
              <a:spLocks noChangeArrowheads="1"/>
            </p:cNvSpPr>
            <p:nvPr/>
          </p:nvSpPr>
          <p:spPr bwMode="auto">
            <a:xfrm>
              <a:off x="215" y="1650"/>
              <a:ext cx="3118" cy="2580"/>
            </a:xfrm>
            <a:prstGeom prst="rect">
              <a:avLst/>
            </a:prstGeom>
            <a:noFill/>
            <a:ln w="38100" cap="rnd" algn="ctr">
              <a:solidFill>
                <a:schemeClr val="tx1"/>
              </a:solidFill>
              <a:prstDash val="sysDot"/>
              <a:miter lim="800000"/>
            </a:ln>
            <a:effectLst/>
          </p:spPr>
          <p:txBody>
            <a:bodyPr wrap="none" anchor="ctr"/>
            <a:lstStyle/>
            <a:p>
              <a:endParaRPr lang="zh-CN" altLang="en-US" sz="1350"/>
            </a:p>
          </p:txBody>
        </p:sp>
        <p:sp>
          <p:nvSpPr>
            <p:cNvPr id="740358" name="Text Box 6"/>
            <p:cNvSpPr txBox="1">
              <a:spLocks noChangeArrowheads="1"/>
            </p:cNvSpPr>
            <p:nvPr/>
          </p:nvSpPr>
          <p:spPr bwMode="auto">
            <a:xfrm>
              <a:off x="385" y="1338"/>
              <a:ext cx="538" cy="309"/>
            </a:xfrm>
            <a:prstGeom prst="rect">
              <a:avLst/>
            </a:prstGeom>
            <a:noFill/>
            <a:ln w="9525" algn="ctr">
              <a:noFill/>
              <a:miter lim="800000"/>
            </a:ln>
            <a:effectLst/>
          </p:spPr>
          <p:txBody>
            <a:bodyPr>
              <a:spAutoFit/>
            </a:bodyPr>
            <a:lstStyle/>
            <a:p>
              <a:pPr marL="342900" indent="-342900">
                <a:spcBef>
                  <a:spcPct val="50000"/>
                </a:spcBef>
              </a:pPr>
              <a:r>
                <a:rPr lang="en-US" altLang="zh-CN"/>
                <a:t>CPU</a:t>
              </a:r>
            </a:p>
          </p:txBody>
        </p:sp>
      </p:grpSp>
      <p:sp>
        <p:nvSpPr>
          <p:cNvPr id="740359" name="Text Box 7"/>
          <p:cNvSpPr txBox="1">
            <a:spLocks noChangeArrowheads="1"/>
          </p:cNvSpPr>
          <p:nvPr/>
        </p:nvSpPr>
        <p:spPr bwMode="auto">
          <a:xfrm>
            <a:off x="4091226" y="3057525"/>
            <a:ext cx="776288" cy="299085"/>
          </a:xfrm>
          <a:prstGeom prst="rect">
            <a:avLst/>
          </a:prstGeom>
          <a:solidFill>
            <a:srgbClr val="FF0000">
              <a:alpha val="17999"/>
            </a:srgbClr>
          </a:solidFill>
          <a:ln w="9525" algn="ctr">
            <a:solidFill>
              <a:schemeClr val="tx1"/>
            </a:solidFill>
            <a:miter lim="800000"/>
          </a:ln>
          <a:effectLst/>
        </p:spPr>
        <p:txBody>
          <a:bodyPr>
            <a:spAutoFit/>
          </a:bodyPr>
          <a:lstStyle/>
          <a:p>
            <a:pPr marL="342900" indent="-342900">
              <a:spcBef>
                <a:spcPct val="50000"/>
              </a:spcBef>
            </a:pPr>
            <a:r>
              <a:rPr lang="en-US" altLang="zh-CN" sz="1350">
                <a:solidFill>
                  <a:srgbClr val="008000"/>
                </a:solidFill>
              </a:rPr>
              <a:t>    PC</a:t>
            </a:r>
          </a:p>
        </p:txBody>
      </p:sp>
      <p:grpSp>
        <p:nvGrpSpPr>
          <p:cNvPr id="740360" name="Group 8"/>
          <p:cNvGrpSpPr/>
          <p:nvPr/>
        </p:nvGrpSpPr>
        <p:grpSpPr bwMode="auto">
          <a:xfrm>
            <a:off x="8008859" y="3327797"/>
            <a:ext cx="844153" cy="645319"/>
            <a:chOff x="4893" y="2132"/>
            <a:chExt cx="709" cy="542"/>
          </a:xfrm>
        </p:grpSpPr>
        <p:sp>
          <p:nvSpPr>
            <p:cNvPr id="740361" name="Text Box 9"/>
            <p:cNvSpPr txBox="1">
              <a:spLocks noChangeArrowheads="1"/>
            </p:cNvSpPr>
            <p:nvPr/>
          </p:nvSpPr>
          <p:spPr bwMode="auto">
            <a:xfrm>
              <a:off x="5205" y="2132"/>
              <a:ext cx="397" cy="542"/>
            </a:xfrm>
            <a:prstGeom prst="rect">
              <a:avLst/>
            </a:prstGeom>
            <a:solidFill>
              <a:srgbClr val="0000FF">
                <a:alpha val="25999"/>
              </a:srgbClr>
            </a:solidFill>
            <a:ln w="9525" algn="ctr">
              <a:solidFill>
                <a:schemeClr val="tx1"/>
              </a:solidFill>
              <a:miter lim="800000"/>
            </a:ln>
            <a:effectLst/>
          </p:spPr>
          <p:txBody>
            <a:bodyPr lIns="0" rIns="0">
              <a:spAutoFit/>
            </a:bodyPr>
            <a:lstStyle/>
            <a:p>
              <a:pPr marL="342900" indent="-342900"/>
              <a:r>
                <a:rPr lang="zh-CN" altLang="en-US">
                  <a:solidFill>
                    <a:srgbClr val="CC3300"/>
                  </a:solidFill>
                </a:rPr>
                <a:t>输入</a:t>
              </a:r>
            </a:p>
            <a:p>
              <a:pPr marL="342900" indent="-342900"/>
              <a:r>
                <a:rPr lang="zh-CN" altLang="en-US">
                  <a:solidFill>
                    <a:srgbClr val="CC3300"/>
                  </a:solidFill>
                </a:rPr>
                <a:t>设备</a:t>
              </a:r>
            </a:p>
          </p:txBody>
        </p:sp>
        <p:sp>
          <p:nvSpPr>
            <p:cNvPr id="740362" name="AutoShape 10"/>
            <p:cNvSpPr>
              <a:spLocks noChangeArrowheads="1"/>
            </p:cNvSpPr>
            <p:nvPr/>
          </p:nvSpPr>
          <p:spPr bwMode="auto">
            <a:xfrm>
              <a:off x="4893" y="2358"/>
              <a:ext cx="283" cy="141"/>
            </a:xfrm>
            <a:prstGeom prst="leftRightArrow">
              <a:avLst>
                <a:gd name="adj1" fmla="val 50000"/>
                <a:gd name="adj2" fmla="val 40142"/>
              </a:avLst>
            </a:prstGeom>
            <a:solidFill>
              <a:schemeClr val="bg1"/>
            </a:solidFill>
            <a:ln w="28575" algn="ctr">
              <a:solidFill>
                <a:srgbClr val="CC3300"/>
              </a:solidFill>
              <a:miter lim="800000"/>
            </a:ln>
            <a:effectLst/>
          </p:spPr>
          <p:txBody>
            <a:bodyPr wrap="none" anchor="ctr"/>
            <a:lstStyle/>
            <a:p>
              <a:pPr marL="342900" indent="-342900" algn="ctr"/>
              <a:endParaRPr lang="zh-CN" altLang="en-US" sz="1350">
                <a:solidFill>
                  <a:srgbClr val="CC3300"/>
                </a:solidFill>
              </a:endParaRPr>
            </a:p>
          </p:txBody>
        </p:sp>
      </p:grpSp>
      <p:grpSp>
        <p:nvGrpSpPr>
          <p:cNvPr id="740363" name="Group 11"/>
          <p:cNvGrpSpPr/>
          <p:nvPr/>
        </p:nvGrpSpPr>
        <p:grpSpPr bwMode="auto">
          <a:xfrm>
            <a:off x="8040291" y="4388882"/>
            <a:ext cx="844153" cy="645319"/>
            <a:chOff x="4893" y="3010"/>
            <a:chExt cx="709" cy="542"/>
          </a:xfrm>
        </p:grpSpPr>
        <p:sp>
          <p:nvSpPr>
            <p:cNvPr id="740364" name="Text Box 12"/>
            <p:cNvSpPr txBox="1">
              <a:spLocks noChangeArrowheads="1"/>
            </p:cNvSpPr>
            <p:nvPr/>
          </p:nvSpPr>
          <p:spPr bwMode="auto">
            <a:xfrm>
              <a:off x="5205" y="3010"/>
              <a:ext cx="397" cy="542"/>
            </a:xfrm>
            <a:prstGeom prst="rect">
              <a:avLst/>
            </a:prstGeom>
            <a:solidFill>
              <a:srgbClr val="0000FF">
                <a:alpha val="25999"/>
              </a:srgbClr>
            </a:solidFill>
            <a:ln w="9525" algn="ctr">
              <a:solidFill>
                <a:schemeClr val="tx1"/>
              </a:solidFill>
              <a:miter lim="800000"/>
            </a:ln>
            <a:effectLst/>
          </p:spPr>
          <p:txBody>
            <a:bodyPr lIns="0" rIns="0">
              <a:spAutoFit/>
            </a:bodyPr>
            <a:lstStyle/>
            <a:p>
              <a:pPr marL="342900" indent="-342900"/>
              <a:r>
                <a:rPr lang="zh-CN" altLang="en-US">
                  <a:solidFill>
                    <a:srgbClr val="CC3300"/>
                  </a:solidFill>
                </a:rPr>
                <a:t>输出</a:t>
              </a:r>
              <a:endParaRPr lang="en-US" altLang="zh-CN">
                <a:solidFill>
                  <a:srgbClr val="CC3300"/>
                </a:solidFill>
              </a:endParaRPr>
            </a:p>
            <a:p>
              <a:pPr marL="342900" indent="-342900"/>
              <a:r>
                <a:rPr lang="zh-CN" altLang="en-US">
                  <a:solidFill>
                    <a:srgbClr val="CC3300"/>
                  </a:solidFill>
                </a:rPr>
                <a:t>设备</a:t>
              </a:r>
            </a:p>
          </p:txBody>
        </p:sp>
        <p:sp>
          <p:nvSpPr>
            <p:cNvPr id="740365" name="AutoShape 13"/>
            <p:cNvSpPr>
              <a:spLocks noChangeArrowheads="1"/>
            </p:cNvSpPr>
            <p:nvPr/>
          </p:nvSpPr>
          <p:spPr bwMode="auto">
            <a:xfrm>
              <a:off x="4893" y="3180"/>
              <a:ext cx="283" cy="141"/>
            </a:xfrm>
            <a:prstGeom prst="leftRightArrow">
              <a:avLst>
                <a:gd name="adj1" fmla="val 50000"/>
                <a:gd name="adj2" fmla="val 40142"/>
              </a:avLst>
            </a:prstGeom>
            <a:solidFill>
              <a:schemeClr val="bg1"/>
            </a:solidFill>
            <a:ln w="28575" algn="ctr">
              <a:solidFill>
                <a:srgbClr val="CC3300"/>
              </a:solidFill>
              <a:miter lim="800000"/>
            </a:ln>
            <a:effectLst/>
          </p:spPr>
          <p:txBody>
            <a:bodyPr wrap="none" anchor="ctr"/>
            <a:lstStyle/>
            <a:p>
              <a:endParaRPr lang="zh-CN" altLang="en-US" sz="1350"/>
            </a:p>
          </p:txBody>
        </p:sp>
      </p:grpSp>
      <p:sp>
        <p:nvSpPr>
          <p:cNvPr id="740366" name="Text Box 14"/>
          <p:cNvSpPr txBox="1">
            <a:spLocks noChangeArrowheads="1"/>
          </p:cNvSpPr>
          <p:nvPr/>
        </p:nvSpPr>
        <p:spPr bwMode="auto">
          <a:xfrm>
            <a:off x="5069920" y="3057525"/>
            <a:ext cx="809625" cy="299085"/>
          </a:xfrm>
          <a:prstGeom prst="rect">
            <a:avLst/>
          </a:prstGeom>
          <a:solidFill>
            <a:srgbClr val="FF0000">
              <a:alpha val="17999"/>
            </a:srgbClr>
          </a:solidFill>
          <a:ln w="9525" algn="ctr">
            <a:solidFill>
              <a:schemeClr val="tx1"/>
            </a:solidFill>
            <a:miter lim="800000"/>
          </a:ln>
          <a:effectLst/>
        </p:spPr>
        <p:txBody>
          <a:bodyPr>
            <a:spAutoFit/>
          </a:bodyPr>
          <a:lstStyle/>
          <a:p>
            <a:pPr marL="342900" indent="-342900">
              <a:spcBef>
                <a:spcPct val="50000"/>
              </a:spcBef>
            </a:pPr>
            <a:r>
              <a:rPr lang="en-US" altLang="zh-CN" sz="1350">
                <a:solidFill>
                  <a:srgbClr val="008000"/>
                </a:solidFill>
              </a:rPr>
              <a:t>  MAR</a:t>
            </a:r>
          </a:p>
        </p:txBody>
      </p:sp>
      <p:sp>
        <p:nvSpPr>
          <p:cNvPr id="740367" name="Text Box 15"/>
          <p:cNvSpPr txBox="1">
            <a:spLocks noChangeArrowheads="1"/>
          </p:cNvSpPr>
          <p:nvPr/>
        </p:nvSpPr>
        <p:spPr bwMode="auto">
          <a:xfrm>
            <a:off x="5104448" y="5318522"/>
            <a:ext cx="809625" cy="299085"/>
          </a:xfrm>
          <a:prstGeom prst="rect">
            <a:avLst/>
          </a:prstGeom>
          <a:solidFill>
            <a:srgbClr val="FF0000">
              <a:alpha val="17999"/>
            </a:srgbClr>
          </a:solidFill>
          <a:ln w="9525" algn="ctr">
            <a:solidFill>
              <a:schemeClr val="tx1"/>
            </a:solidFill>
            <a:miter lim="800000"/>
          </a:ln>
          <a:effectLst/>
        </p:spPr>
        <p:txBody>
          <a:bodyPr>
            <a:spAutoFit/>
          </a:bodyPr>
          <a:lstStyle/>
          <a:p>
            <a:pPr marL="342900" indent="-342900">
              <a:spcBef>
                <a:spcPct val="50000"/>
              </a:spcBef>
            </a:pPr>
            <a:r>
              <a:rPr lang="en-US" altLang="zh-CN" sz="1350">
                <a:solidFill>
                  <a:schemeClr val="accent2"/>
                </a:solidFill>
              </a:rPr>
              <a:t>  MDR</a:t>
            </a:r>
          </a:p>
        </p:txBody>
      </p:sp>
      <p:sp>
        <p:nvSpPr>
          <p:cNvPr id="740368" name="Line 16"/>
          <p:cNvSpPr>
            <a:spLocks noChangeShapeType="1"/>
          </p:cNvSpPr>
          <p:nvPr/>
        </p:nvSpPr>
        <p:spPr bwMode="auto">
          <a:xfrm>
            <a:off x="3686414" y="3192066"/>
            <a:ext cx="404813" cy="0"/>
          </a:xfrm>
          <a:prstGeom prst="line">
            <a:avLst/>
          </a:prstGeom>
          <a:noFill/>
          <a:ln w="38100">
            <a:solidFill>
              <a:srgbClr val="FF3300"/>
            </a:solidFill>
            <a:prstDash val="dash"/>
            <a:round/>
            <a:tailEnd type="triangle" w="med" len="med"/>
          </a:ln>
          <a:effectLst/>
        </p:spPr>
        <p:txBody>
          <a:bodyPr/>
          <a:lstStyle/>
          <a:p>
            <a:endParaRPr lang="zh-CN" altLang="en-US" sz="1350"/>
          </a:p>
        </p:txBody>
      </p:sp>
      <p:sp>
        <p:nvSpPr>
          <p:cNvPr id="740369" name="Line 17"/>
          <p:cNvSpPr>
            <a:spLocks noChangeShapeType="1"/>
          </p:cNvSpPr>
          <p:nvPr/>
        </p:nvSpPr>
        <p:spPr bwMode="auto">
          <a:xfrm>
            <a:off x="4867514" y="3192066"/>
            <a:ext cx="203597" cy="0"/>
          </a:xfrm>
          <a:prstGeom prst="line">
            <a:avLst/>
          </a:prstGeom>
          <a:noFill/>
          <a:ln w="38100">
            <a:solidFill>
              <a:srgbClr val="007635"/>
            </a:solidFill>
            <a:round/>
            <a:tailEnd type="triangle" w="med" len="med"/>
          </a:ln>
          <a:effectLst/>
        </p:spPr>
        <p:txBody>
          <a:bodyPr/>
          <a:lstStyle/>
          <a:p>
            <a:endParaRPr lang="zh-CN" altLang="en-US" sz="1350"/>
          </a:p>
        </p:txBody>
      </p:sp>
      <p:sp>
        <p:nvSpPr>
          <p:cNvPr id="740370" name="Line 18"/>
          <p:cNvSpPr>
            <a:spLocks noChangeShapeType="1"/>
          </p:cNvSpPr>
          <p:nvPr/>
        </p:nvSpPr>
        <p:spPr bwMode="auto">
          <a:xfrm>
            <a:off x="5374720" y="4947047"/>
            <a:ext cx="0" cy="371475"/>
          </a:xfrm>
          <a:prstGeom prst="line">
            <a:avLst/>
          </a:prstGeom>
          <a:noFill/>
          <a:ln w="38100">
            <a:solidFill>
              <a:srgbClr val="3333CC"/>
            </a:solidFill>
            <a:round/>
            <a:headEnd type="triangle" w="med" len="med"/>
            <a:tailEnd type="triangle" w="med" len="med"/>
          </a:ln>
          <a:effectLst/>
        </p:spPr>
        <p:txBody>
          <a:bodyPr/>
          <a:lstStyle/>
          <a:p>
            <a:endParaRPr lang="zh-CN" altLang="en-US" sz="1350"/>
          </a:p>
        </p:txBody>
      </p:sp>
      <p:grpSp>
        <p:nvGrpSpPr>
          <p:cNvPr id="740371" name="Group 19"/>
          <p:cNvGrpSpPr/>
          <p:nvPr/>
        </p:nvGrpSpPr>
        <p:grpSpPr bwMode="auto">
          <a:xfrm>
            <a:off x="4159091" y="3631406"/>
            <a:ext cx="573881" cy="1113235"/>
            <a:chOff x="3135" y="2472"/>
            <a:chExt cx="454" cy="935"/>
          </a:xfrm>
        </p:grpSpPr>
        <p:grpSp>
          <p:nvGrpSpPr>
            <p:cNvPr id="740372" name="Group 20"/>
            <p:cNvGrpSpPr/>
            <p:nvPr/>
          </p:nvGrpSpPr>
          <p:grpSpPr bwMode="auto">
            <a:xfrm flipH="1">
              <a:off x="3135" y="2472"/>
              <a:ext cx="454" cy="935"/>
              <a:chOff x="3078" y="2330"/>
              <a:chExt cx="625" cy="1580"/>
            </a:xfrm>
          </p:grpSpPr>
          <p:sp>
            <p:nvSpPr>
              <p:cNvPr id="740373" name="Line 12"/>
              <p:cNvSpPr>
                <a:spLocks noChangeShapeType="1"/>
              </p:cNvSpPr>
              <p:nvPr/>
            </p:nvSpPr>
            <p:spPr bwMode="auto">
              <a:xfrm flipH="1">
                <a:off x="3078" y="2330"/>
                <a:ext cx="9" cy="691"/>
              </a:xfrm>
              <a:prstGeom prst="line">
                <a:avLst/>
              </a:prstGeom>
              <a:noFill/>
              <a:ln w="25400">
                <a:solidFill>
                  <a:schemeClr val="tx1"/>
                </a:solidFill>
                <a:round/>
              </a:ln>
            </p:spPr>
            <p:txBody>
              <a:bodyPr wrap="none" anchor="ctr"/>
              <a:lstStyle/>
              <a:p>
                <a:endParaRPr lang="zh-CN" altLang="en-US" sz="1350"/>
              </a:p>
            </p:txBody>
          </p:sp>
          <p:sp>
            <p:nvSpPr>
              <p:cNvPr id="740374" name="Line 13"/>
              <p:cNvSpPr>
                <a:spLocks noChangeShapeType="1"/>
              </p:cNvSpPr>
              <p:nvPr/>
            </p:nvSpPr>
            <p:spPr bwMode="auto">
              <a:xfrm>
                <a:off x="3107" y="2330"/>
                <a:ext cx="592" cy="307"/>
              </a:xfrm>
              <a:prstGeom prst="line">
                <a:avLst/>
              </a:prstGeom>
              <a:noFill/>
              <a:ln w="25400">
                <a:solidFill>
                  <a:schemeClr val="tx1"/>
                </a:solidFill>
                <a:round/>
              </a:ln>
            </p:spPr>
            <p:txBody>
              <a:bodyPr wrap="none" anchor="ctr"/>
              <a:lstStyle/>
              <a:p>
                <a:endParaRPr lang="zh-CN" altLang="en-US" sz="1350"/>
              </a:p>
            </p:txBody>
          </p:sp>
          <p:sp>
            <p:nvSpPr>
              <p:cNvPr id="740375" name="Line 14"/>
              <p:cNvSpPr>
                <a:spLocks noChangeShapeType="1"/>
              </p:cNvSpPr>
              <p:nvPr/>
            </p:nvSpPr>
            <p:spPr bwMode="auto">
              <a:xfrm>
                <a:off x="3087" y="3018"/>
                <a:ext cx="213" cy="110"/>
              </a:xfrm>
              <a:prstGeom prst="line">
                <a:avLst/>
              </a:prstGeom>
              <a:noFill/>
              <a:ln w="25400">
                <a:solidFill>
                  <a:schemeClr val="tx1"/>
                </a:solidFill>
                <a:round/>
              </a:ln>
            </p:spPr>
            <p:txBody>
              <a:bodyPr wrap="none" anchor="ctr"/>
              <a:lstStyle/>
              <a:p>
                <a:endParaRPr lang="zh-CN" altLang="en-US" sz="1350"/>
              </a:p>
            </p:txBody>
          </p:sp>
          <p:sp>
            <p:nvSpPr>
              <p:cNvPr id="740376" name="Line 16"/>
              <p:cNvSpPr>
                <a:spLocks noChangeShapeType="1"/>
              </p:cNvSpPr>
              <p:nvPr/>
            </p:nvSpPr>
            <p:spPr bwMode="auto">
              <a:xfrm>
                <a:off x="3693" y="2644"/>
                <a:ext cx="10" cy="457"/>
              </a:xfrm>
              <a:prstGeom prst="line">
                <a:avLst/>
              </a:prstGeom>
              <a:noFill/>
              <a:ln w="25400">
                <a:solidFill>
                  <a:schemeClr val="tx1"/>
                </a:solidFill>
                <a:round/>
              </a:ln>
            </p:spPr>
            <p:txBody>
              <a:bodyPr wrap="none" anchor="ctr"/>
              <a:lstStyle/>
              <a:p>
                <a:endParaRPr lang="zh-CN" altLang="en-US" sz="1350"/>
              </a:p>
            </p:txBody>
          </p:sp>
          <p:sp>
            <p:nvSpPr>
              <p:cNvPr id="740377" name="Line 18"/>
              <p:cNvSpPr>
                <a:spLocks noChangeShapeType="1"/>
              </p:cNvSpPr>
              <p:nvPr/>
            </p:nvSpPr>
            <p:spPr bwMode="auto">
              <a:xfrm flipV="1">
                <a:off x="3120" y="3256"/>
                <a:ext cx="0" cy="654"/>
              </a:xfrm>
              <a:prstGeom prst="line">
                <a:avLst/>
              </a:prstGeom>
              <a:noFill/>
              <a:ln w="25400">
                <a:solidFill>
                  <a:schemeClr val="tx1"/>
                </a:solidFill>
                <a:round/>
              </a:ln>
            </p:spPr>
            <p:txBody>
              <a:bodyPr wrap="none" anchor="ctr"/>
              <a:lstStyle/>
              <a:p>
                <a:endParaRPr lang="zh-CN" altLang="en-US" sz="1350"/>
              </a:p>
            </p:txBody>
          </p:sp>
          <p:sp>
            <p:nvSpPr>
              <p:cNvPr id="740378" name="Line 19"/>
              <p:cNvSpPr>
                <a:spLocks noChangeShapeType="1"/>
              </p:cNvSpPr>
              <p:nvPr/>
            </p:nvSpPr>
            <p:spPr bwMode="auto">
              <a:xfrm flipV="1">
                <a:off x="3135" y="3549"/>
                <a:ext cx="564" cy="349"/>
              </a:xfrm>
              <a:prstGeom prst="line">
                <a:avLst/>
              </a:prstGeom>
              <a:noFill/>
              <a:ln w="25400">
                <a:solidFill>
                  <a:schemeClr val="tx1"/>
                </a:solidFill>
                <a:round/>
              </a:ln>
            </p:spPr>
            <p:txBody>
              <a:bodyPr wrap="none" anchor="ctr"/>
              <a:lstStyle/>
              <a:p>
                <a:endParaRPr lang="zh-CN" altLang="en-US" sz="1350"/>
              </a:p>
            </p:txBody>
          </p:sp>
          <p:sp>
            <p:nvSpPr>
              <p:cNvPr id="740379" name="Line 20"/>
              <p:cNvSpPr>
                <a:spLocks noChangeShapeType="1"/>
              </p:cNvSpPr>
              <p:nvPr/>
            </p:nvSpPr>
            <p:spPr bwMode="auto">
              <a:xfrm flipV="1">
                <a:off x="3121" y="3125"/>
                <a:ext cx="171" cy="124"/>
              </a:xfrm>
              <a:prstGeom prst="line">
                <a:avLst/>
              </a:prstGeom>
              <a:noFill/>
              <a:ln w="25400">
                <a:solidFill>
                  <a:schemeClr val="tx1"/>
                </a:solidFill>
                <a:round/>
              </a:ln>
            </p:spPr>
            <p:txBody>
              <a:bodyPr wrap="none" anchor="ctr"/>
              <a:lstStyle/>
              <a:p>
                <a:endParaRPr lang="zh-CN" altLang="en-US" sz="1350"/>
              </a:p>
            </p:txBody>
          </p:sp>
          <p:sp>
            <p:nvSpPr>
              <p:cNvPr id="740380" name="Line 22"/>
              <p:cNvSpPr>
                <a:spLocks noChangeShapeType="1"/>
              </p:cNvSpPr>
              <p:nvPr/>
            </p:nvSpPr>
            <p:spPr bwMode="auto">
              <a:xfrm flipV="1">
                <a:off x="3702" y="3067"/>
                <a:ext cx="0" cy="481"/>
              </a:xfrm>
              <a:prstGeom prst="line">
                <a:avLst/>
              </a:prstGeom>
              <a:noFill/>
              <a:ln w="25400">
                <a:solidFill>
                  <a:schemeClr val="tx1"/>
                </a:solidFill>
                <a:round/>
              </a:ln>
            </p:spPr>
            <p:txBody>
              <a:bodyPr wrap="none" anchor="ctr"/>
              <a:lstStyle/>
              <a:p>
                <a:endParaRPr lang="zh-CN" altLang="en-US" sz="1350"/>
              </a:p>
            </p:txBody>
          </p:sp>
        </p:grpSp>
        <p:sp>
          <p:nvSpPr>
            <p:cNvPr id="740381" name="Rectangle 25"/>
            <p:cNvSpPr>
              <a:spLocks noChangeArrowheads="1"/>
            </p:cNvSpPr>
            <p:nvPr/>
          </p:nvSpPr>
          <p:spPr bwMode="auto">
            <a:xfrm rot="16200000" flipH="1">
              <a:off x="3033" y="2830"/>
              <a:ext cx="510" cy="249"/>
            </a:xfrm>
            <a:prstGeom prst="rect">
              <a:avLst/>
            </a:prstGeom>
            <a:noFill/>
            <a:ln w="12700">
              <a:noFill/>
              <a:miter lim="800000"/>
            </a:ln>
          </p:spPr>
          <p:txBody>
            <a:bodyPr lIns="67866" tIns="33337" rIns="67866" bIns="33337">
              <a:spAutoFit/>
            </a:bodyPr>
            <a:lstStyle/>
            <a:p>
              <a:pPr>
                <a:lnSpc>
                  <a:spcPct val="90000"/>
                </a:lnSpc>
              </a:pPr>
              <a:r>
                <a:rPr lang="en-US" altLang="zh-CN">
                  <a:latin typeface="Arial" panose="020B0604020202020204" pitchFamily="34" charset="0"/>
                  <a:ea typeface="宋体" panose="02010600030101010101" pitchFamily="2" charset="-122"/>
                  <a:cs typeface="Arial" panose="020B0604020202020204" pitchFamily="34" charset="0"/>
                </a:rPr>
                <a:t>ALU</a:t>
              </a:r>
            </a:p>
          </p:txBody>
        </p:sp>
      </p:grpSp>
      <p:grpSp>
        <p:nvGrpSpPr>
          <p:cNvPr id="740382" name="Group 30"/>
          <p:cNvGrpSpPr/>
          <p:nvPr/>
        </p:nvGrpSpPr>
        <p:grpSpPr bwMode="auto">
          <a:xfrm>
            <a:off x="4699635" y="3935016"/>
            <a:ext cx="303610" cy="607219"/>
            <a:chOff x="2030" y="2415"/>
            <a:chExt cx="341" cy="510"/>
          </a:xfrm>
        </p:grpSpPr>
        <p:sp>
          <p:nvSpPr>
            <p:cNvPr id="740383" name="Line 31"/>
            <p:cNvSpPr>
              <a:spLocks noChangeShapeType="1"/>
            </p:cNvSpPr>
            <p:nvPr/>
          </p:nvSpPr>
          <p:spPr bwMode="auto">
            <a:xfrm flipH="1">
              <a:off x="2031" y="2415"/>
              <a:ext cx="340" cy="0"/>
            </a:xfrm>
            <a:prstGeom prst="line">
              <a:avLst/>
            </a:prstGeom>
            <a:noFill/>
            <a:ln w="38100">
              <a:solidFill>
                <a:srgbClr val="3333CC"/>
              </a:solidFill>
              <a:round/>
              <a:tailEnd type="triangle" w="med" len="med"/>
            </a:ln>
            <a:effectLst/>
          </p:spPr>
          <p:txBody>
            <a:bodyPr/>
            <a:lstStyle/>
            <a:p>
              <a:endParaRPr lang="zh-CN" altLang="en-US" sz="1350"/>
            </a:p>
          </p:txBody>
        </p:sp>
        <p:sp>
          <p:nvSpPr>
            <p:cNvPr id="740384" name="Line 32"/>
            <p:cNvSpPr>
              <a:spLocks noChangeShapeType="1"/>
            </p:cNvSpPr>
            <p:nvPr/>
          </p:nvSpPr>
          <p:spPr bwMode="auto">
            <a:xfrm flipH="1">
              <a:off x="2030" y="2925"/>
              <a:ext cx="340" cy="0"/>
            </a:xfrm>
            <a:prstGeom prst="line">
              <a:avLst/>
            </a:prstGeom>
            <a:noFill/>
            <a:ln w="38100">
              <a:solidFill>
                <a:srgbClr val="3333CC"/>
              </a:solidFill>
              <a:round/>
              <a:tailEnd type="triangle" w="med" len="med"/>
            </a:ln>
            <a:effectLst/>
          </p:spPr>
          <p:txBody>
            <a:bodyPr/>
            <a:lstStyle/>
            <a:p>
              <a:endParaRPr lang="zh-CN" altLang="en-US" sz="1350"/>
            </a:p>
          </p:txBody>
        </p:sp>
      </p:grpSp>
      <p:sp>
        <p:nvSpPr>
          <p:cNvPr id="740385" name="Text Box 33"/>
          <p:cNvSpPr txBox="1">
            <a:spLocks noChangeArrowheads="1"/>
          </p:cNvSpPr>
          <p:nvPr/>
        </p:nvSpPr>
        <p:spPr bwMode="auto">
          <a:xfrm>
            <a:off x="3416141" y="3563541"/>
            <a:ext cx="338138" cy="1245235"/>
          </a:xfrm>
          <a:prstGeom prst="rect">
            <a:avLst/>
          </a:prstGeom>
          <a:solidFill>
            <a:srgbClr val="FF0000">
              <a:alpha val="17999"/>
            </a:srgbClr>
          </a:solidFill>
          <a:ln w="9525" algn="ctr">
            <a:solidFill>
              <a:schemeClr val="tx1"/>
            </a:solidFill>
            <a:miter lim="800000"/>
          </a:ln>
          <a:effectLst/>
        </p:spPr>
        <p:txBody>
          <a:bodyPr>
            <a:spAutoFit/>
          </a:bodyPr>
          <a:lstStyle/>
          <a:p>
            <a:pPr marL="342900" indent="-342900"/>
            <a:r>
              <a:rPr lang="zh-CN" altLang="en-US" sz="1500"/>
              <a:t>标</a:t>
            </a:r>
          </a:p>
          <a:p>
            <a:pPr marL="342900" indent="-342900"/>
            <a:r>
              <a:rPr lang="zh-CN" altLang="en-US" sz="1500"/>
              <a:t>志</a:t>
            </a:r>
          </a:p>
          <a:p>
            <a:pPr marL="342900" indent="-342900"/>
            <a:r>
              <a:rPr lang="zh-CN" altLang="en-US" sz="1500"/>
              <a:t>寄</a:t>
            </a:r>
          </a:p>
          <a:p>
            <a:pPr marL="342900" indent="-342900"/>
            <a:r>
              <a:rPr lang="zh-CN" altLang="en-US" sz="1500"/>
              <a:t>存</a:t>
            </a:r>
          </a:p>
          <a:p>
            <a:pPr marL="342900" indent="-342900"/>
            <a:r>
              <a:rPr lang="zh-CN" altLang="en-US" sz="1500"/>
              <a:t>器</a:t>
            </a:r>
            <a:endParaRPr lang="en-US" altLang="zh-CN" sz="1500"/>
          </a:p>
        </p:txBody>
      </p:sp>
      <p:sp>
        <p:nvSpPr>
          <p:cNvPr id="740386" name="Line 34"/>
          <p:cNvSpPr>
            <a:spLocks noChangeShapeType="1"/>
          </p:cNvSpPr>
          <p:nvPr/>
        </p:nvSpPr>
        <p:spPr bwMode="auto">
          <a:xfrm flipH="1">
            <a:off x="3754279" y="4002881"/>
            <a:ext cx="404813" cy="0"/>
          </a:xfrm>
          <a:prstGeom prst="line">
            <a:avLst/>
          </a:prstGeom>
          <a:noFill/>
          <a:ln w="38100">
            <a:solidFill>
              <a:srgbClr val="3333CC"/>
            </a:solidFill>
            <a:round/>
            <a:tailEnd type="triangle" w="med" len="med"/>
          </a:ln>
          <a:effectLst/>
        </p:spPr>
        <p:txBody>
          <a:bodyPr/>
          <a:lstStyle/>
          <a:p>
            <a:endParaRPr lang="zh-CN" altLang="en-US" sz="1350"/>
          </a:p>
        </p:txBody>
      </p:sp>
      <p:grpSp>
        <p:nvGrpSpPr>
          <p:cNvPr id="740387" name="Group 35"/>
          <p:cNvGrpSpPr/>
          <p:nvPr/>
        </p:nvGrpSpPr>
        <p:grpSpPr bwMode="auto">
          <a:xfrm>
            <a:off x="3213735" y="3327797"/>
            <a:ext cx="170260" cy="641747"/>
            <a:chOff x="895" y="1905"/>
            <a:chExt cx="143" cy="539"/>
          </a:xfrm>
        </p:grpSpPr>
        <p:sp>
          <p:nvSpPr>
            <p:cNvPr id="740388" name="Line 36"/>
            <p:cNvSpPr>
              <a:spLocks noChangeShapeType="1"/>
            </p:cNvSpPr>
            <p:nvPr/>
          </p:nvSpPr>
          <p:spPr bwMode="auto">
            <a:xfrm flipH="1">
              <a:off x="896" y="2443"/>
              <a:ext cx="142" cy="0"/>
            </a:xfrm>
            <a:prstGeom prst="line">
              <a:avLst/>
            </a:prstGeom>
            <a:noFill/>
            <a:ln w="28575">
              <a:solidFill>
                <a:srgbClr val="3333CC"/>
              </a:solidFill>
              <a:round/>
            </a:ln>
            <a:effectLst/>
          </p:spPr>
          <p:txBody>
            <a:bodyPr/>
            <a:lstStyle/>
            <a:p>
              <a:endParaRPr lang="zh-CN" altLang="en-US" sz="1350"/>
            </a:p>
          </p:txBody>
        </p:sp>
        <p:sp>
          <p:nvSpPr>
            <p:cNvPr id="740389" name="Line 37"/>
            <p:cNvSpPr>
              <a:spLocks noChangeShapeType="1"/>
            </p:cNvSpPr>
            <p:nvPr/>
          </p:nvSpPr>
          <p:spPr bwMode="auto">
            <a:xfrm flipV="1">
              <a:off x="895" y="1905"/>
              <a:ext cx="0" cy="539"/>
            </a:xfrm>
            <a:prstGeom prst="line">
              <a:avLst/>
            </a:prstGeom>
            <a:noFill/>
            <a:ln w="38100">
              <a:solidFill>
                <a:srgbClr val="3333CC"/>
              </a:solidFill>
              <a:round/>
              <a:tailEnd type="triangle" w="med" len="med"/>
            </a:ln>
            <a:effectLst/>
          </p:spPr>
          <p:txBody>
            <a:bodyPr/>
            <a:lstStyle/>
            <a:p>
              <a:endParaRPr lang="zh-CN" altLang="en-US" sz="1350"/>
            </a:p>
          </p:txBody>
        </p:sp>
      </p:grpSp>
      <p:sp>
        <p:nvSpPr>
          <p:cNvPr id="740390" name="Line 38"/>
          <p:cNvSpPr>
            <a:spLocks noChangeShapeType="1"/>
          </p:cNvSpPr>
          <p:nvPr/>
        </p:nvSpPr>
        <p:spPr bwMode="auto">
          <a:xfrm flipV="1">
            <a:off x="5475923" y="3361135"/>
            <a:ext cx="0" cy="404813"/>
          </a:xfrm>
          <a:prstGeom prst="line">
            <a:avLst/>
          </a:prstGeom>
          <a:noFill/>
          <a:ln w="38100">
            <a:solidFill>
              <a:srgbClr val="008000"/>
            </a:solidFill>
            <a:round/>
            <a:tailEnd type="triangle" w="med" len="med"/>
          </a:ln>
          <a:effectLst/>
        </p:spPr>
        <p:txBody>
          <a:bodyPr/>
          <a:lstStyle/>
          <a:p>
            <a:endParaRPr lang="zh-CN" altLang="en-US" sz="1350"/>
          </a:p>
        </p:txBody>
      </p:sp>
      <p:grpSp>
        <p:nvGrpSpPr>
          <p:cNvPr id="740391" name="Group 39"/>
          <p:cNvGrpSpPr/>
          <p:nvPr/>
        </p:nvGrpSpPr>
        <p:grpSpPr bwMode="auto">
          <a:xfrm>
            <a:off x="3956685" y="4270772"/>
            <a:ext cx="1147763" cy="1115615"/>
            <a:chOff x="1576" y="2924"/>
            <a:chExt cx="964" cy="937"/>
          </a:xfrm>
        </p:grpSpPr>
        <p:sp>
          <p:nvSpPr>
            <p:cNvPr id="740392" name="Line 40"/>
            <p:cNvSpPr>
              <a:spLocks noChangeShapeType="1"/>
            </p:cNvSpPr>
            <p:nvPr/>
          </p:nvSpPr>
          <p:spPr bwMode="auto">
            <a:xfrm>
              <a:off x="1576" y="2924"/>
              <a:ext cx="0" cy="935"/>
            </a:xfrm>
            <a:prstGeom prst="line">
              <a:avLst/>
            </a:prstGeom>
            <a:noFill/>
            <a:ln w="38100">
              <a:solidFill>
                <a:srgbClr val="3333CC"/>
              </a:solidFill>
              <a:round/>
            </a:ln>
            <a:effectLst/>
          </p:spPr>
          <p:txBody>
            <a:bodyPr/>
            <a:lstStyle/>
            <a:p>
              <a:endParaRPr lang="zh-CN" altLang="en-US" sz="1350"/>
            </a:p>
          </p:txBody>
        </p:sp>
        <p:sp>
          <p:nvSpPr>
            <p:cNvPr id="740393" name="Line 41"/>
            <p:cNvSpPr>
              <a:spLocks noChangeShapeType="1"/>
            </p:cNvSpPr>
            <p:nvPr/>
          </p:nvSpPr>
          <p:spPr bwMode="auto">
            <a:xfrm>
              <a:off x="1576" y="3861"/>
              <a:ext cx="964" cy="0"/>
            </a:xfrm>
            <a:prstGeom prst="line">
              <a:avLst/>
            </a:prstGeom>
            <a:noFill/>
            <a:ln w="38100">
              <a:solidFill>
                <a:srgbClr val="3333CC"/>
              </a:solidFill>
              <a:round/>
              <a:tailEnd type="triangle" w="med" len="med"/>
            </a:ln>
            <a:effectLst/>
          </p:spPr>
          <p:txBody>
            <a:bodyPr/>
            <a:lstStyle/>
            <a:p>
              <a:endParaRPr lang="zh-CN" altLang="en-US" sz="1350"/>
            </a:p>
          </p:txBody>
        </p:sp>
        <p:sp>
          <p:nvSpPr>
            <p:cNvPr id="740394" name="Line 42"/>
            <p:cNvSpPr>
              <a:spLocks noChangeShapeType="1"/>
            </p:cNvSpPr>
            <p:nvPr/>
          </p:nvSpPr>
          <p:spPr bwMode="auto">
            <a:xfrm flipH="1">
              <a:off x="1576" y="2924"/>
              <a:ext cx="171" cy="0"/>
            </a:xfrm>
            <a:prstGeom prst="line">
              <a:avLst/>
            </a:prstGeom>
            <a:noFill/>
            <a:ln w="28575">
              <a:solidFill>
                <a:srgbClr val="3333CC"/>
              </a:solidFill>
              <a:round/>
            </a:ln>
            <a:effectLst/>
          </p:spPr>
          <p:txBody>
            <a:bodyPr/>
            <a:lstStyle/>
            <a:p>
              <a:endParaRPr lang="zh-CN" altLang="en-US" sz="1350"/>
            </a:p>
          </p:txBody>
        </p:sp>
      </p:grpSp>
      <p:grpSp>
        <p:nvGrpSpPr>
          <p:cNvPr id="740395" name="Group 43"/>
          <p:cNvGrpSpPr/>
          <p:nvPr/>
        </p:nvGrpSpPr>
        <p:grpSpPr bwMode="auto">
          <a:xfrm>
            <a:off x="4598432" y="4845844"/>
            <a:ext cx="370284" cy="539354"/>
            <a:chOff x="2115" y="3405"/>
            <a:chExt cx="311" cy="453"/>
          </a:xfrm>
        </p:grpSpPr>
        <p:sp>
          <p:nvSpPr>
            <p:cNvPr id="740396" name="Line 44"/>
            <p:cNvSpPr>
              <a:spLocks noChangeShapeType="1"/>
            </p:cNvSpPr>
            <p:nvPr/>
          </p:nvSpPr>
          <p:spPr bwMode="auto">
            <a:xfrm flipV="1">
              <a:off x="2115" y="3405"/>
              <a:ext cx="0" cy="453"/>
            </a:xfrm>
            <a:prstGeom prst="line">
              <a:avLst/>
            </a:prstGeom>
            <a:noFill/>
            <a:ln w="38100">
              <a:solidFill>
                <a:srgbClr val="3333CC"/>
              </a:solidFill>
              <a:round/>
            </a:ln>
            <a:effectLst/>
          </p:spPr>
          <p:txBody>
            <a:bodyPr/>
            <a:lstStyle/>
            <a:p>
              <a:endParaRPr lang="zh-CN" altLang="en-US" sz="1350"/>
            </a:p>
          </p:txBody>
        </p:sp>
        <p:sp>
          <p:nvSpPr>
            <p:cNvPr id="740397" name="Line 45"/>
            <p:cNvSpPr>
              <a:spLocks noChangeShapeType="1"/>
            </p:cNvSpPr>
            <p:nvPr/>
          </p:nvSpPr>
          <p:spPr bwMode="auto">
            <a:xfrm>
              <a:off x="2115" y="3407"/>
              <a:ext cx="311" cy="0"/>
            </a:xfrm>
            <a:prstGeom prst="line">
              <a:avLst/>
            </a:prstGeom>
            <a:noFill/>
            <a:ln w="38100">
              <a:solidFill>
                <a:srgbClr val="3333CC"/>
              </a:solidFill>
              <a:round/>
              <a:tailEnd type="triangle" w="med" len="med"/>
            </a:ln>
            <a:effectLst/>
          </p:spPr>
          <p:txBody>
            <a:bodyPr/>
            <a:lstStyle/>
            <a:p>
              <a:endParaRPr lang="zh-CN" altLang="en-US" sz="1350"/>
            </a:p>
          </p:txBody>
        </p:sp>
      </p:grpSp>
      <p:grpSp>
        <p:nvGrpSpPr>
          <p:cNvPr id="740398" name="Group 46"/>
          <p:cNvGrpSpPr/>
          <p:nvPr/>
        </p:nvGrpSpPr>
        <p:grpSpPr bwMode="auto">
          <a:xfrm>
            <a:off x="2943464" y="3358754"/>
            <a:ext cx="3544490" cy="1724025"/>
            <a:chOff x="725" y="2158"/>
            <a:chExt cx="2977" cy="1448"/>
          </a:xfrm>
        </p:grpSpPr>
        <p:sp>
          <p:nvSpPr>
            <p:cNvPr id="740399" name="Line 47"/>
            <p:cNvSpPr>
              <a:spLocks noChangeShapeType="1"/>
            </p:cNvSpPr>
            <p:nvPr/>
          </p:nvSpPr>
          <p:spPr bwMode="auto">
            <a:xfrm flipV="1">
              <a:off x="725" y="3606"/>
              <a:ext cx="2977" cy="0"/>
            </a:xfrm>
            <a:prstGeom prst="line">
              <a:avLst/>
            </a:prstGeom>
            <a:noFill/>
            <a:ln w="38100">
              <a:solidFill>
                <a:srgbClr val="FF3300"/>
              </a:solidFill>
              <a:prstDash val="dash"/>
              <a:round/>
            </a:ln>
            <a:effectLst/>
          </p:spPr>
          <p:txBody>
            <a:bodyPr/>
            <a:lstStyle/>
            <a:p>
              <a:endParaRPr lang="zh-CN" altLang="en-US" sz="1350"/>
            </a:p>
          </p:txBody>
        </p:sp>
        <p:sp>
          <p:nvSpPr>
            <p:cNvPr id="740400" name="Line 48"/>
            <p:cNvSpPr>
              <a:spLocks noChangeShapeType="1"/>
            </p:cNvSpPr>
            <p:nvPr/>
          </p:nvSpPr>
          <p:spPr bwMode="auto">
            <a:xfrm>
              <a:off x="754" y="2158"/>
              <a:ext cx="0" cy="1389"/>
            </a:xfrm>
            <a:prstGeom prst="line">
              <a:avLst/>
            </a:prstGeom>
            <a:noFill/>
            <a:ln w="38100">
              <a:solidFill>
                <a:srgbClr val="FF3300"/>
              </a:solidFill>
              <a:prstDash val="dash"/>
              <a:round/>
            </a:ln>
            <a:effectLst/>
          </p:spPr>
          <p:txBody>
            <a:bodyPr/>
            <a:lstStyle/>
            <a:p>
              <a:endParaRPr lang="zh-CN" altLang="en-US" sz="1350"/>
            </a:p>
          </p:txBody>
        </p:sp>
        <p:sp>
          <p:nvSpPr>
            <p:cNvPr id="740401" name="Line 49"/>
            <p:cNvSpPr>
              <a:spLocks noChangeShapeType="1"/>
            </p:cNvSpPr>
            <p:nvPr/>
          </p:nvSpPr>
          <p:spPr bwMode="auto">
            <a:xfrm flipV="1">
              <a:off x="1916" y="3209"/>
              <a:ext cx="0" cy="369"/>
            </a:xfrm>
            <a:prstGeom prst="line">
              <a:avLst/>
            </a:prstGeom>
            <a:noFill/>
            <a:ln w="38100">
              <a:solidFill>
                <a:srgbClr val="FF3300"/>
              </a:solidFill>
              <a:prstDash val="dash"/>
              <a:round/>
              <a:tailEnd type="triangle" w="med" len="med"/>
            </a:ln>
            <a:effectLst/>
          </p:spPr>
          <p:txBody>
            <a:bodyPr/>
            <a:lstStyle/>
            <a:p>
              <a:endParaRPr lang="zh-CN" altLang="en-US" sz="1350"/>
            </a:p>
          </p:txBody>
        </p:sp>
      </p:grpSp>
      <p:sp>
        <p:nvSpPr>
          <p:cNvPr id="740402" name="Text Box 50"/>
          <p:cNvSpPr txBox="1">
            <a:spLocks noChangeArrowheads="1"/>
          </p:cNvSpPr>
          <p:nvPr/>
        </p:nvSpPr>
        <p:spPr bwMode="auto">
          <a:xfrm>
            <a:off x="2573179" y="5353050"/>
            <a:ext cx="776288" cy="299085"/>
          </a:xfrm>
          <a:prstGeom prst="rect">
            <a:avLst/>
          </a:prstGeom>
          <a:solidFill>
            <a:srgbClr val="FF0000">
              <a:alpha val="17999"/>
            </a:srgbClr>
          </a:solidFill>
          <a:ln w="9525" algn="ctr">
            <a:solidFill>
              <a:schemeClr val="tx1"/>
            </a:solidFill>
            <a:miter lim="800000"/>
          </a:ln>
          <a:effectLst/>
        </p:spPr>
        <p:txBody>
          <a:bodyPr>
            <a:spAutoFit/>
          </a:bodyPr>
          <a:lstStyle/>
          <a:p>
            <a:pPr marL="342900" indent="-342900">
              <a:spcBef>
                <a:spcPct val="50000"/>
              </a:spcBef>
            </a:pPr>
            <a:r>
              <a:rPr lang="en-US" altLang="zh-CN" sz="1350">
                <a:solidFill>
                  <a:srgbClr val="FF3300"/>
                </a:solidFill>
              </a:rPr>
              <a:t>    </a:t>
            </a:r>
            <a:r>
              <a:rPr lang="en-US" altLang="zh-CN" sz="1350">
                <a:solidFill>
                  <a:schemeClr val="hlink"/>
                </a:solidFill>
              </a:rPr>
              <a:t>IR</a:t>
            </a:r>
          </a:p>
        </p:txBody>
      </p:sp>
      <p:sp>
        <p:nvSpPr>
          <p:cNvPr id="740403" name="Line 51"/>
          <p:cNvSpPr>
            <a:spLocks noChangeShapeType="1"/>
          </p:cNvSpPr>
          <p:nvPr/>
        </p:nvSpPr>
        <p:spPr bwMode="auto">
          <a:xfrm flipH="1">
            <a:off x="3349466" y="5520929"/>
            <a:ext cx="1756172" cy="0"/>
          </a:xfrm>
          <a:prstGeom prst="line">
            <a:avLst/>
          </a:prstGeom>
          <a:noFill/>
          <a:ln w="38100">
            <a:solidFill>
              <a:schemeClr val="hlink"/>
            </a:solidFill>
            <a:round/>
            <a:tailEnd type="triangle" w="med" len="med"/>
          </a:ln>
          <a:effectLst/>
        </p:spPr>
        <p:txBody>
          <a:bodyPr/>
          <a:lstStyle/>
          <a:p>
            <a:endParaRPr lang="zh-CN" altLang="en-US" sz="1350"/>
          </a:p>
        </p:txBody>
      </p:sp>
      <p:sp>
        <p:nvSpPr>
          <p:cNvPr id="740404" name="Line 52"/>
          <p:cNvSpPr>
            <a:spLocks noChangeShapeType="1"/>
          </p:cNvSpPr>
          <p:nvPr/>
        </p:nvSpPr>
        <p:spPr bwMode="auto">
          <a:xfrm flipV="1">
            <a:off x="2707720" y="3327797"/>
            <a:ext cx="0" cy="2025253"/>
          </a:xfrm>
          <a:prstGeom prst="line">
            <a:avLst/>
          </a:prstGeom>
          <a:noFill/>
          <a:ln w="38100">
            <a:solidFill>
              <a:schemeClr val="hlink"/>
            </a:solidFill>
            <a:round/>
            <a:tailEnd type="triangle" w="med" len="med"/>
          </a:ln>
          <a:effectLst/>
        </p:spPr>
        <p:txBody>
          <a:bodyPr/>
          <a:lstStyle/>
          <a:p>
            <a:endParaRPr lang="zh-CN" altLang="en-US" sz="1350"/>
          </a:p>
        </p:txBody>
      </p:sp>
      <p:grpSp>
        <p:nvGrpSpPr>
          <p:cNvPr id="740405" name="Group 53"/>
          <p:cNvGrpSpPr/>
          <p:nvPr/>
        </p:nvGrpSpPr>
        <p:grpSpPr bwMode="auto">
          <a:xfrm>
            <a:off x="6049804" y="2753916"/>
            <a:ext cx="946547" cy="2902744"/>
            <a:chOff x="3333" y="1650"/>
            <a:chExt cx="795" cy="2438"/>
          </a:xfrm>
        </p:grpSpPr>
        <p:sp>
          <p:nvSpPr>
            <p:cNvPr id="740406" name="Text Box 54"/>
            <p:cNvSpPr txBox="1">
              <a:spLocks noChangeArrowheads="1"/>
            </p:cNvSpPr>
            <p:nvPr/>
          </p:nvSpPr>
          <p:spPr bwMode="auto">
            <a:xfrm>
              <a:off x="3447" y="1650"/>
              <a:ext cx="539" cy="270"/>
            </a:xfrm>
            <a:prstGeom prst="rect">
              <a:avLst/>
            </a:prstGeom>
            <a:noFill/>
            <a:ln w="9525" algn="ctr">
              <a:noFill/>
              <a:miter lim="800000"/>
            </a:ln>
            <a:effectLst/>
          </p:spPr>
          <p:txBody>
            <a:bodyPr>
              <a:spAutoFit/>
            </a:bodyPr>
            <a:lstStyle/>
            <a:p>
              <a:pPr marL="342900" indent="-342900">
                <a:spcBef>
                  <a:spcPct val="50000"/>
                </a:spcBef>
              </a:pPr>
              <a:r>
                <a:rPr lang="zh-CN" altLang="en-US" sz="1500">
                  <a:solidFill>
                    <a:srgbClr val="008000"/>
                  </a:solidFill>
                </a:rPr>
                <a:t>地址</a:t>
              </a:r>
            </a:p>
          </p:txBody>
        </p:sp>
        <p:sp>
          <p:nvSpPr>
            <p:cNvPr id="740407" name="AutoShape 55"/>
            <p:cNvSpPr>
              <a:spLocks noChangeArrowheads="1"/>
            </p:cNvSpPr>
            <p:nvPr/>
          </p:nvSpPr>
          <p:spPr bwMode="auto">
            <a:xfrm>
              <a:off x="3362" y="2756"/>
              <a:ext cx="765" cy="284"/>
            </a:xfrm>
            <a:prstGeom prst="leftRightArrow">
              <a:avLst>
                <a:gd name="adj1" fmla="val 50000"/>
                <a:gd name="adj2" fmla="val 53873"/>
              </a:avLst>
            </a:prstGeom>
            <a:solidFill>
              <a:schemeClr val="bg1"/>
            </a:solidFill>
            <a:ln w="28575" algn="ctr">
              <a:solidFill>
                <a:srgbClr val="FF3300"/>
              </a:solidFill>
              <a:miter lim="800000"/>
            </a:ln>
            <a:effectLst/>
          </p:spPr>
          <p:txBody>
            <a:bodyPr wrap="none" anchor="ctr"/>
            <a:lstStyle/>
            <a:p>
              <a:endParaRPr lang="zh-CN" altLang="en-US" sz="1350"/>
            </a:p>
          </p:txBody>
        </p:sp>
        <p:sp>
          <p:nvSpPr>
            <p:cNvPr id="740408" name="Text Box 56"/>
            <p:cNvSpPr txBox="1">
              <a:spLocks noChangeArrowheads="1"/>
            </p:cNvSpPr>
            <p:nvPr/>
          </p:nvSpPr>
          <p:spPr bwMode="auto">
            <a:xfrm>
              <a:off x="3532" y="3634"/>
              <a:ext cx="482" cy="270"/>
            </a:xfrm>
            <a:prstGeom prst="rect">
              <a:avLst/>
            </a:prstGeom>
            <a:noFill/>
            <a:ln w="9525" algn="ctr">
              <a:noFill/>
              <a:miter lim="800000"/>
            </a:ln>
            <a:effectLst/>
          </p:spPr>
          <p:txBody>
            <a:bodyPr>
              <a:spAutoFit/>
            </a:bodyPr>
            <a:lstStyle/>
            <a:p>
              <a:pPr marL="342900" indent="-342900">
                <a:spcBef>
                  <a:spcPct val="50000"/>
                </a:spcBef>
              </a:pPr>
              <a:r>
                <a:rPr lang="zh-CN" altLang="en-US" sz="1500">
                  <a:solidFill>
                    <a:srgbClr val="3333CC"/>
                  </a:solidFill>
                </a:rPr>
                <a:t>数据</a:t>
              </a:r>
            </a:p>
          </p:txBody>
        </p:sp>
        <p:sp>
          <p:nvSpPr>
            <p:cNvPr id="740409" name="AutoShape 57"/>
            <p:cNvSpPr>
              <a:spLocks noChangeArrowheads="1"/>
            </p:cNvSpPr>
            <p:nvPr/>
          </p:nvSpPr>
          <p:spPr bwMode="auto">
            <a:xfrm>
              <a:off x="3334" y="3804"/>
              <a:ext cx="794" cy="284"/>
            </a:xfrm>
            <a:prstGeom prst="leftRightArrow">
              <a:avLst>
                <a:gd name="adj1" fmla="val 50000"/>
                <a:gd name="adj2" fmla="val 55915"/>
              </a:avLst>
            </a:prstGeom>
            <a:solidFill>
              <a:schemeClr val="bg1"/>
            </a:solidFill>
            <a:ln w="28575" algn="ctr">
              <a:solidFill>
                <a:srgbClr val="3333CC"/>
              </a:solidFill>
              <a:miter lim="800000"/>
            </a:ln>
            <a:effectLst/>
          </p:spPr>
          <p:txBody>
            <a:bodyPr wrap="none" anchor="ctr"/>
            <a:lstStyle/>
            <a:p>
              <a:endParaRPr lang="zh-CN" altLang="en-US" sz="1350"/>
            </a:p>
          </p:txBody>
        </p:sp>
        <p:sp>
          <p:nvSpPr>
            <p:cNvPr id="740410" name="Text Box 58"/>
            <p:cNvSpPr txBox="1">
              <a:spLocks noChangeArrowheads="1"/>
            </p:cNvSpPr>
            <p:nvPr/>
          </p:nvSpPr>
          <p:spPr bwMode="auto">
            <a:xfrm>
              <a:off x="3504" y="2534"/>
              <a:ext cx="539" cy="270"/>
            </a:xfrm>
            <a:prstGeom prst="rect">
              <a:avLst/>
            </a:prstGeom>
            <a:noFill/>
            <a:ln w="9525" algn="ctr">
              <a:noFill/>
              <a:miter lim="800000"/>
            </a:ln>
            <a:effectLst/>
          </p:spPr>
          <p:txBody>
            <a:bodyPr>
              <a:spAutoFit/>
            </a:bodyPr>
            <a:lstStyle/>
            <a:p>
              <a:pPr marL="342900" indent="-342900">
                <a:spcBef>
                  <a:spcPct val="50000"/>
                </a:spcBef>
              </a:pPr>
              <a:r>
                <a:rPr lang="zh-CN" altLang="en-US" sz="1500">
                  <a:solidFill>
                    <a:srgbClr val="FF3300"/>
                  </a:solidFill>
                </a:rPr>
                <a:t>控制</a:t>
              </a:r>
            </a:p>
          </p:txBody>
        </p:sp>
        <p:sp>
          <p:nvSpPr>
            <p:cNvPr id="740411" name="AutoShape 59"/>
            <p:cNvSpPr>
              <a:spLocks noChangeArrowheads="1"/>
            </p:cNvSpPr>
            <p:nvPr/>
          </p:nvSpPr>
          <p:spPr bwMode="auto">
            <a:xfrm>
              <a:off x="3333" y="1843"/>
              <a:ext cx="794" cy="341"/>
            </a:xfrm>
            <a:prstGeom prst="rightArrow">
              <a:avLst>
                <a:gd name="adj1" fmla="val 50000"/>
                <a:gd name="adj2" fmla="val 58211"/>
              </a:avLst>
            </a:prstGeom>
            <a:solidFill>
              <a:schemeClr val="bg1"/>
            </a:solidFill>
            <a:ln w="28575" algn="ctr">
              <a:solidFill>
                <a:srgbClr val="008000"/>
              </a:solidFill>
              <a:miter lim="800000"/>
            </a:ln>
            <a:effectLst/>
          </p:spPr>
          <p:txBody>
            <a:bodyPr wrap="none" anchor="ctr"/>
            <a:lstStyle/>
            <a:p>
              <a:endParaRPr lang="zh-CN" altLang="en-US" sz="1350"/>
            </a:p>
          </p:txBody>
        </p:sp>
        <p:sp>
          <p:nvSpPr>
            <p:cNvPr id="740412" name="Line 60"/>
            <p:cNvSpPr>
              <a:spLocks noChangeShapeType="1"/>
            </p:cNvSpPr>
            <p:nvPr/>
          </p:nvSpPr>
          <p:spPr bwMode="auto">
            <a:xfrm flipV="1">
              <a:off x="3731" y="2982"/>
              <a:ext cx="0" cy="624"/>
            </a:xfrm>
            <a:prstGeom prst="line">
              <a:avLst/>
            </a:prstGeom>
            <a:noFill/>
            <a:ln w="38100">
              <a:solidFill>
                <a:srgbClr val="FF3300"/>
              </a:solidFill>
              <a:prstDash val="dash"/>
              <a:round/>
              <a:tailEnd type="triangle" w="med" len="med"/>
            </a:ln>
            <a:effectLst/>
          </p:spPr>
          <p:txBody>
            <a:bodyPr/>
            <a:lstStyle/>
            <a:p>
              <a:endParaRPr lang="zh-CN" altLang="en-US" sz="1350"/>
            </a:p>
          </p:txBody>
        </p:sp>
      </p:grpSp>
      <p:grpSp>
        <p:nvGrpSpPr>
          <p:cNvPr id="740413" name="Group 61"/>
          <p:cNvGrpSpPr/>
          <p:nvPr/>
        </p:nvGrpSpPr>
        <p:grpSpPr bwMode="auto">
          <a:xfrm>
            <a:off x="4698445" y="3390900"/>
            <a:ext cx="1316831" cy="1619250"/>
            <a:chOff x="2199" y="2185"/>
            <a:chExt cx="1106" cy="1360"/>
          </a:xfrm>
        </p:grpSpPr>
        <p:sp>
          <p:nvSpPr>
            <p:cNvPr id="740414" name="Text Box 62"/>
            <p:cNvSpPr txBox="1">
              <a:spLocks noChangeArrowheads="1"/>
            </p:cNvSpPr>
            <p:nvPr/>
          </p:nvSpPr>
          <p:spPr bwMode="auto">
            <a:xfrm>
              <a:off x="2199" y="2185"/>
              <a:ext cx="737" cy="309"/>
            </a:xfrm>
            <a:prstGeom prst="rect">
              <a:avLst/>
            </a:prstGeom>
            <a:noFill/>
            <a:ln w="9525" algn="ctr">
              <a:noFill/>
              <a:miter lim="800000"/>
            </a:ln>
            <a:effectLst/>
          </p:spPr>
          <p:txBody>
            <a:bodyPr>
              <a:spAutoFit/>
            </a:bodyPr>
            <a:lstStyle/>
            <a:p>
              <a:pPr marL="342900" indent="-342900">
                <a:spcBef>
                  <a:spcPct val="50000"/>
                </a:spcBef>
              </a:pPr>
              <a:r>
                <a:rPr lang="en-US" altLang="zh-CN"/>
                <a:t>GPRs</a:t>
              </a:r>
            </a:p>
          </p:txBody>
        </p:sp>
        <p:grpSp>
          <p:nvGrpSpPr>
            <p:cNvPr id="740415" name="Group 63"/>
            <p:cNvGrpSpPr/>
            <p:nvPr/>
          </p:nvGrpSpPr>
          <p:grpSpPr bwMode="auto">
            <a:xfrm>
              <a:off x="2452" y="2500"/>
              <a:ext cx="853" cy="1045"/>
              <a:chOff x="2398" y="2273"/>
              <a:chExt cx="853" cy="1045"/>
            </a:xfrm>
          </p:grpSpPr>
          <p:grpSp>
            <p:nvGrpSpPr>
              <p:cNvPr id="740416" name="Group 64"/>
              <p:cNvGrpSpPr/>
              <p:nvPr/>
            </p:nvGrpSpPr>
            <p:grpSpPr bwMode="auto">
              <a:xfrm>
                <a:off x="2398" y="2273"/>
                <a:ext cx="652" cy="992"/>
                <a:chOff x="2228" y="1678"/>
                <a:chExt cx="737" cy="992"/>
              </a:xfrm>
            </p:grpSpPr>
            <p:sp>
              <p:nvSpPr>
                <p:cNvPr id="740417" name="Rectangle 65"/>
                <p:cNvSpPr>
                  <a:spLocks noChangeArrowheads="1"/>
                </p:cNvSpPr>
                <p:nvPr/>
              </p:nvSpPr>
              <p:spPr bwMode="auto">
                <a:xfrm>
                  <a:off x="2228" y="1678"/>
                  <a:ext cx="737" cy="992"/>
                </a:xfrm>
                <a:prstGeom prst="rect">
                  <a:avLst/>
                </a:prstGeom>
                <a:solidFill>
                  <a:schemeClr val="bg1"/>
                </a:solidFill>
                <a:ln w="28575" algn="ctr">
                  <a:solidFill>
                    <a:schemeClr val="tx1"/>
                  </a:solidFill>
                  <a:miter lim="800000"/>
                </a:ln>
                <a:effectLst/>
              </p:spPr>
              <p:txBody>
                <a:bodyPr wrap="none" anchor="ctr"/>
                <a:lstStyle/>
                <a:p>
                  <a:endParaRPr lang="zh-CN" altLang="en-US" sz="1350"/>
                </a:p>
              </p:txBody>
            </p:sp>
            <p:sp>
              <p:nvSpPr>
                <p:cNvPr id="740418" name="Line 66"/>
                <p:cNvSpPr>
                  <a:spLocks noChangeShapeType="1"/>
                </p:cNvSpPr>
                <p:nvPr/>
              </p:nvSpPr>
              <p:spPr bwMode="auto">
                <a:xfrm>
                  <a:off x="2228" y="1933"/>
                  <a:ext cx="736" cy="0"/>
                </a:xfrm>
                <a:prstGeom prst="line">
                  <a:avLst/>
                </a:prstGeom>
                <a:noFill/>
                <a:ln w="9525">
                  <a:solidFill>
                    <a:schemeClr val="tx1"/>
                  </a:solidFill>
                  <a:round/>
                </a:ln>
                <a:effectLst/>
              </p:spPr>
              <p:txBody>
                <a:bodyPr/>
                <a:lstStyle/>
                <a:p>
                  <a:endParaRPr lang="zh-CN" altLang="en-US" sz="1350"/>
                </a:p>
              </p:txBody>
            </p:sp>
            <p:sp>
              <p:nvSpPr>
                <p:cNvPr id="740419" name="Line 67"/>
                <p:cNvSpPr>
                  <a:spLocks noChangeShapeType="1"/>
                </p:cNvSpPr>
                <p:nvPr/>
              </p:nvSpPr>
              <p:spPr bwMode="auto">
                <a:xfrm>
                  <a:off x="2228" y="2188"/>
                  <a:ext cx="736" cy="0"/>
                </a:xfrm>
                <a:prstGeom prst="line">
                  <a:avLst/>
                </a:prstGeom>
                <a:noFill/>
                <a:ln w="9525">
                  <a:solidFill>
                    <a:schemeClr val="tx1"/>
                  </a:solidFill>
                  <a:round/>
                </a:ln>
                <a:effectLst/>
              </p:spPr>
              <p:txBody>
                <a:bodyPr/>
                <a:lstStyle/>
                <a:p>
                  <a:endParaRPr lang="zh-CN" altLang="en-US" sz="1350"/>
                </a:p>
              </p:txBody>
            </p:sp>
            <p:sp>
              <p:nvSpPr>
                <p:cNvPr id="740420" name="Line 68"/>
                <p:cNvSpPr>
                  <a:spLocks noChangeShapeType="1"/>
                </p:cNvSpPr>
                <p:nvPr/>
              </p:nvSpPr>
              <p:spPr bwMode="auto">
                <a:xfrm>
                  <a:off x="2228" y="2415"/>
                  <a:ext cx="736" cy="0"/>
                </a:xfrm>
                <a:prstGeom prst="line">
                  <a:avLst/>
                </a:prstGeom>
                <a:noFill/>
                <a:ln w="9525">
                  <a:solidFill>
                    <a:schemeClr val="tx1"/>
                  </a:solidFill>
                  <a:round/>
                </a:ln>
                <a:effectLst/>
              </p:spPr>
              <p:txBody>
                <a:bodyPr/>
                <a:lstStyle/>
                <a:p>
                  <a:endParaRPr lang="zh-CN" altLang="en-US" sz="1350"/>
                </a:p>
              </p:txBody>
            </p:sp>
          </p:grpSp>
          <p:sp>
            <p:nvSpPr>
              <p:cNvPr id="740421" name="Text Box 69"/>
              <p:cNvSpPr txBox="1">
                <a:spLocks noChangeArrowheads="1"/>
              </p:cNvSpPr>
              <p:nvPr/>
            </p:nvSpPr>
            <p:spPr bwMode="auto">
              <a:xfrm>
                <a:off x="3051" y="2282"/>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t>0</a:t>
                </a:r>
              </a:p>
            </p:txBody>
          </p:sp>
          <p:sp>
            <p:nvSpPr>
              <p:cNvPr id="740422" name="Text Box 70"/>
              <p:cNvSpPr txBox="1">
                <a:spLocks noChangeArrowheads="1"/>
              </p:cNvSpPr>
              <p:nvPr/>
            </p:nvSpPr>
            <p:spPr bwMode="auto">
              <a:xfrm>
                <a:off x="3052" y="2525"/>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t>1</a:t>
                </a:r>
              </a:p>
            </p:txBody>
          </p:sp>
          <p:sp>
            <p:nvSpPr>
              <p:cNvPr id="740423" name="Text Box 71"/>
              <p:cNvSpPr txBox="1">
                <a:spLocks noChangeArrowheads="1"/>
              </p:cNvSpPr>
              <p:nvPr/>
            </p:nvSpPr>
            <p:spPr bwMode="auto">
              <a:xfrm>
                <a:off x="3052" y="2784"/>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t>2</a:t>
                </a:r>
              </a:p>
            </p:txBody>
          </p:sp>
          <p:sp>
            <p:nvSpPr>
              <p:cNvPr id="740424" name="Text Box 72"/>
              <p:cNvSpPr txBox="1">
                <a:spLocks noChangeArrowheads="1"/>
              </p:cNvSpPr>
              <p:nvPr/>
            </p:nvSpPr>
            <p:spPr bwMode="auto">
              <a:xfrm>
                <a:off x="3051" y="3067"/>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t>3</a:t>
                </a:r>
              </a:p>
            </p:txBody>
          </p:sp>
        </p:grpSp>
        <p:sp>
          <p:nvSpPr>
            <p:cNvPr id="740425" name="Rectangle 73"/>
            <p:cNvSpPr>
              <a:spLocks noChangeArrowheads="1"/>
            </p:cNvSpPr>
            <p:nvPr/>
          </p:nvSpPr>
          <p:spPr bwMode="auto">
            <a:xfrm>
              <a:off x="2455" y="2500"/>
              <a:ext cx="652" cy="992"/>
            </a:xfrm>
            <a:prstGeom prst="rect">
              <a:avLst/>
            </a:prstGeom>
            <a:solidFill>
              <a:srgbClr val="008000">
                <a:alpha val="17000"/>
              </a:srgbClr>
            </a:solidFill>
            <a:ln w="9525" algn="ctr">
              <a:noFill/>
              <a:miter lim="800000"/>
            </a:ln>
            <a:effectLst/>
          </p:spPr>
          <p:txBody>
            <a:bodyPr wrap="none" anchor="ctr"/>
            <a:lstStyle/>
            <a:p>
              <a:endParaRPr lang="zh-CN" altLang="en-US" sz="1350"/>
            </a:p>
          </p:txBody>
        </p:sp>
      </p:grpSp>
      <p:grpSp>
        <p:nvGrpSpPr>
          <p:cNvPr id="740426" name="Group 74"/>
          <p:cNvGrpSpPr/>
          <p:nvPr/>
        </p:nvGrpSpPr>
        <p:grpSpPr bwMode="auto">
          <a:xfrm>
            <a:off x="6993970" y="2652713"/>
            <a:ext cx="1047750" cy="3061097"/>
            <a:chOff x="4127" y="1565"/>
            <a:chExt cx="880" cy="2571"/>
          </a:xfrm>
        </p:grpSpPr>
        <p:grpSp>
          <p:nvGrpSpPr>
            <p:cNvPr id="740427" name="Group 75"/>
            <p:cNvGrpSpPr/>
            <p:nvPr/>
          </p:nvGrpSpPr>
          <p:grpSpPr bwMode="auto">
            <a:xfrm>
              <a:off x="4127" y="1565"/>
              <a:ext cx="880" cy="2571"/>
              <a:chOff x="4156" y="1565"/>
              <a:chExt cx="908" cy="2571"/>
            </a:xfrm>
          </p:grpSpPr>
          <p:sp>
            <p:nvSpPr>
              <p:cNvPr id="740428" name="Text Box 76"/>
              <p:cNvSpPr txBox="1">
                <a:spLocks noChangeArrowheads="1"/>
              </p:cNvSpPr>
              <p:nvPr/>
            </p:nvSpPr>
            <p:spPr bwMode="auto">
              <a:xfrm>
                <a:off x="4156" y="1565"/>
                <a:ext cx="737" cy="542"/>
              </a:xfrm>
              <a:prstGeom prst="rect">
                <a:avLst/>
              </a:prstGeom>
              <a:solidFill>
                <a:srgbClr val="0000FF">
                  <a:alpha val="25999"/>
                </a:srgbClr>
              </a:solidFill>
              <a:ln w="9525" algn="ctr">
                <a:noFill/>
                <a:miter lim="800000"/>
              </a:ln>
              <a:effectLst/>
            </p:spPr>
            <p:txBody>
              <a:bodyPr>
                <a:spAutoFit/>
              </a:bodyPr>
              <a:lstStyle/>
              <a:p>
                <a:pPr marL="342900" indent="-342900">
                  <a:spcBef>
                    <a:spcPct val="50000"/>
                  </a:spcBef>
                </a:pPr>
                <a:r>
                  <a:rPr lang="zh-CN" altLang="en-US"/>
                  <a:t>存储器</a:t>
                </a:r>
              </a:p>
            </p:txBody>
          </p:sp>
          <p:grpSp>
            <p:nvGrpSpPr>
              <p:cNvPr id="740429" name="Group 77"/>
              <p:cNvGrpSpPr/>
              <p:nvPr/>
            </p:nvGrpSpPr>
            <p:grpSpPr bwMode="auto">
              <a:xfrm>
                <a:off x="4156" y="1877"/>
                <a:ext cx="737" cy="2211"/>
                <a:chOff x="3447" y="1423"/>
                <a:chExt cx="879" cy="2211"/>
              </a:xfrm>
            </p:grpSpPr>
            <p:sp>
              <p:nvSpPr>
                <p:cNvPr id="740430" name="Rectangle 78"/>
                <p:cNvSpPr>
                  <a:spLocks noChangeArrowheads="1"/>
                </p:cNvSpPr>
                <p:nvPr/>
              </p:nvSpPr>
              <p:spPr bwMode="auto">
                <a:xfrm>
                  <a:off x="3447" y="1423"/>
                  <a:ext cx="879" cy="2211"/>
                </a:xfrm>
                <a:prstGeom prst="rect">
                  <a:avLst/>
                </a:prstGeom>
                <a:solidFill>
                  <a:schemeClr val="bg1"/>
                </a:solidFill>
                <a:ln w="28575" algn="ctr">
                  <a:solidFill>
                    <a:schemeClr val="tx1"/>
                  </a:solidFill>
                  <a:miter lim="800000"/>
                </a:ln>
                <a:effectLst/>
              </p:spPr>
              <p:txBody>
                <a:bodyPr wrap="none" anchor="ctr"/>
                <a:lstStyle/>
                <a:p>
                  <a:endParaRPr lang="zh-CN" altLang="en-US" sz="1350"/>
                </a:p>
              </p:txBody>
            </p:sp>
            <p:sp>
              <p:nvSpPr>
                <p:cNvPr id="740431" name="Line 79"/>
                <p:cNvSpPr>
                  <a:spLocks noChangeShapeType="1"/>
                </p:cNvSpPr>
                <p:nvPr/>
              </p:nvSpPr>
              <p:spPr bwMode="auto">
                <a:xfrm>
                  <a:off x="3447" y="1678"/>
                  <a:ext cx="878" cy="0"/>
                </a:xfrm>
                <a:prstGeom prst="line">
                  <a:avLst/>
                </a:prstGeom>
                <a:noFill/>
                <a:ln w="9525">
                  <a:solidFill>
                    <a:schemeClr val="tx1"/>
                  </a:solidFill>
                  <a:round/>
                </a:ln>
                <a:effectLst/>
              </p:spPr>
              <p:txBody>
                <a:bodyPr/>
                <a:lstStyle/>
                <a:p>
                  <a:endParaRPr lang="zh-CN" altLang="en-US" sz="1350"/>
                </a:p>
              </p:txBody>
            </p:sp>
            <p:sp>
              <p:nvSpPr>
                <p:cNvPr id="740432" name="Line 80"/>
                <p:cNvSpPr>
                  <a:spLocks noChangeShapeType="1"/>
                </p:cNvSpPr>
                <p:nvPr/>
              </p:nvSpPr>
              <p:spPr bwMode="auto">
                <a:xfrm>
                  <a:off x="3447" y="1962"/>
                  <a:ext cx="878" cy="0"/>
                </a:xfrm>
                <a:prstGeom prst="line">
                  <a:avLst/>
                </a:prstGeom>
                <a:noFill/>
                <a:ln w="9525">
                  <a:solidFill>
                    <a:schemeClr val="tx1"/>
                  </a:solidFill>
                  <a:round/>
                </a:ln>
                <a:effectLst/>
              </p:spPr>
              <p:txBody>
                <a:bodyPr/>
                <a:lstStyle/>
                <a:p>
                  <a:endParaRPr lang="zh-CN" altLang="en-US" sz="1350"/>
                </a:p>
              </p:txBody>
            </p:sp>
            <p:sp>
              <p:nvSpPr>
                <p:cNvPr id="740433" name="Line 81"/>
                <p:cNvSpPr>
                  <a:spLocks noChangeShapeType="1"/>
                </p:cNvSpPr>
                <p:nvPr/>
              </p:nvSpPr>
              <p:spPr bwMode="auto">
                <a:xfrm>
                  <a:off x="3447" y="2245"/>
                  <a:ext cx="878" cy="0"/>
                </a:xfrm>
                <a:prstGeom prst="line">
                  <a:avLst/>
                </a:prstGeom>
                <a:noFill/>
                <a:ln w="9525">
                  <a:solidFill>
                    <a:schemeClr val="tx1"/>
                  </a:solidFill>
                  <a:round/>
                </a:ln>
                <a:effectLst/>
              </p:spPr>
              <p:txBody>
                <a:bodyPr/>
                <a:lstStyle/>
                <a:p>
                  <a:endParaRPr lang="zh-CN" altLang="en-US" sz="1350"/>
                </a:p>
              </p:txBody>
            </p:sp>
            <p:sp>
              <p:nvSpPr>
                <p:cNvPr id="740434" name="Line 82"/>
                <p:cNvSpPr>
                  <a:spLocks noChangeShapeType="1"/>
                </p:cNvSpPr>
                <p:nvPr/>
              </p:nvSpPr>
              <p:spPr bwMode="auto">
                <a:xfrm>
                  <a:off x="3447" y="2529"/>
                  <a:ext cx="878" cy="0"/>
                </a:xfrm>
                <a:prstGeom prst="line">
                  <a:avLst/>
                </a:prstGeom>
                <a:noFill/>
                <a:ln w="9525">
                  <a:solidFill>
                    <a:schemeClr val="tx1"/>
                  </a:solidFill>
                  <a:round/>
                </a:ln>
                <a:effectLst/>
              </p:spPr>
              <p:txBody>
                <a:bodyPr/>
                <a:lstStyle/>
                <a:p>
                  <a:endParaRPr lang="zh-CN" altLang="en-US" sz="1350"/>
                </a:p>
              </p:txBody>
            </p:sp>
            <p:sp>
              <p:nvSpPr>
                <p:cNvPr id="740435" name="Line 83"/>
                <p:cNvSpPr>
                  <a:spLocks noChangeShapeType="1"/>
                </p:cNvSpPr>
                <p:nvPr/>
              </p:nvSpPr>
              <p:spPr bwMode="auto">
                <a:xfrm>
                  <a:off x="3447" y="2812"/>
                  <a:ext cx="878" cy="0"/>
                </a:xfrm>
                <a:prstGeom prst="line">
                  <a:avLst/>
                </a:prstGeom>
                <a:noFill/>
                <a:ln w="9525">
                  <a:solidFill>
                    <a:schemeClr val="tx1"/>
                  </a:solidFill>
                  <a:round/>
                </a:ln>
                <a:effectLst/>
              </p:spPr>
              <p:txBody>
                <a:bodyPr/>
                <a:lstStyle/>
                <a:p>
                  <a:endParaRPr lang="zh-CN" altLang="en-US" sz="1350"/>
                </a:p>
              </p:txBody>
            </p:sp>
            <p:sp>
              <p:nvSpPr>
                <p:cNvPr id="740436" name="Line 84"/>
                <p:cNvSpPr>
                  <a:spLocks noChangeShapeType="1"/>
                </p:cNvSpPr>
                <p:nvPr/>
              </p:nvSpPr>
              <p:spPr bwMode="auto">
                <a:xfrm>
                  <a:off x="3447" y="3096"/>
                  <a:ext cx="878" cy="0"/>
                </a:xfrm>
                <a:prstGeom prst="line">
                  <a:avLst/>
                </a:prstGeom>
                <a:noFill/>
                <a:ln w="9525">
                  <a:solidFill>
                    <a:schemeClr val="tx1"/>
                  </a:solidFill>
                  <a:round/>
                </a:ln>
                <a:effectLst/>
              </p:spPr>
              <p:txBody>
                <a:bodyPr/>
                <a:lstStyle/>
                <a:p>
                  <a:endParaRPr lang="zh-CN" altLang="en-US" sz="1350"/>
                </a:p>
              </p:txBody>
            </p:sp>
            <p:sp>
              <p:nvSpPr>
                <p:cNvPr id="740437" name="Line 85"/>
                <p:cNvSpPr>
                  <a:spLocks noChangeShapeType="1"/>
                </p:cNvSpPr>
                <p:nvPr/>
              </p:nvSpPr>
              <p:spPr bwMode="auto">
                <a:xfrm>
                  <a:off x="3447" y="3379"/>
                  <a:ext cx="878" cy="0"/>
                </a:xfrm>
                <a:prstGeom prst="line">
                  <a:avLst/>
                </a:prstGeom>
                <a:noFill/>
                <a:ln w="9525">
                  <a:solidFill>
                    <a:schemeClr val="tx1"/>
                  </a:solidFill>
                  <a:round/>
                </a:ln>
                <a:effectLst/>
              </p:spPr>
              <p:txBody>
                <a:bodyPr/>
                <a:lstStyle/>
                <a:p>
                  <a:endParaRPr lang="zh-CN" altLang="en-US" sz="1350"/>
                </a:p>
              </p:txBody>
            </p:sp>
          </p:grpSp>
          <p:sp>
            <p:nvSpPr>
              <p:cNvPr id="740438" name="Text Box 86"/>
              <p:cNvSpPr txBox="1">
                <a:spLocks noChangeArrowheads="1"/>
              </p:cNvSpPr>
              <p:nvPr/>
            </p:nvSpPr>
            <p:spPr bwMode="auto">
              <a:xfrm>
                <a:off x="4864" y="1941"/>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solidFill>
                      <a:srgbClr val="008000"/>
                    </a:solidFill>
                  </a:rPr>
                  <a:t>0</a:t>
                </a:r>
              </a:p>
            </p:txBody>
          </p:sp>
          <p:sp>
            <p:nvSpPr>
              <p:cNvPr id="740439" name="Text Box 87"/>
              <p:cNvSpPr txBox="1">
                <a:spLocks noChangeArrowheads="1"/>
              </p:cNvSpPr>
              <p:nvPr/>
            </p:nvSpPr>
            <p:spPr bwMode="auto">
              <a:xfrm>
                <a:off x="4865" y="2160"/>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solidFill>
                      <a:srgbClr val="008000"/>
                    </a:solidFill>
                  </a:rPr>
                  <a:t>1</a:t>
                </a:r>
              </a:p>
            </p:txBody>
          </p:sp>
          <p:sp>
            <p:nvSpPr>
              <p:cNvPr id="740440" name="Text Box 88"/>
              <p:cNvSpPr txBox="1">
                <a:spLocks noChangeArrowheads="1"/>
              </p:cNvSpPr>
              <p:nvPr/>
            </p:nvSpPr>
            <p:spPr bwMode="auto">
              <a:xfrm>
                <a:off x="4865" y="2472"/>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solidFill>
                      <a:srgbClr val="008000"/>
                    </a:solidFill>
                  </a:rPr>
                  <a:t>2</a:t>
                </a:r>
              </a:p>
            </p:txBody>
          </p:sp>
          <p:sp>
            <p:nvSpPr>
              <p:cNvPr id="740441" name="Text Box 89"/>
              <p:cNvSpPr txBox="1">
                <a:spLocks noChangeArrowheads="1"/>
              </p:cNvSpPr>
              <p:nvPr/>
            </p:nvSpPr>
            <p:spPr bwMode="auto">
              <a:xfrm>
                <a:off x="4864" y="2755"/>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solidFill>
                      <a:srgbClr val="008000"/>
                    </a:solidFill>
                  </a:rPr>
                  <a:t>3</a:t>
                </a:r>
              </a:p>
            </p:txBody>
          </p:sp>
          <p:sp>
            <p:nvSpPr>
              <p:cNvPr id="740442" name="Text Box 90"/>
              <p:cNvSpPr txBox="1">
                <a:spLocks noChangeArrowheads="1"/>
              </p:cNvSpPr>
              <p:nvPr/>
            </p:nvSpPr>
            <p:spPr bwMode="auto">
              <a:xfrm>
                <a:off x="4865" y="2982"/>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solidFill>
                      <a:srgbClr val="008000"/>
                    </a:solidFill>
                  </a:rPr>
                  <a:t>4</a:t>
                </a:r>
              </a:p>
            </p:txBody>
          </p:sp>
          <p:sp>
            <p:nvSpPr>
              <p:cNvPr id="740443" name="Text Box 91"/>
              <p:cNvSpPr txBox="1">
                <a:spLocks noChangeArrowheads="1"/>
              </p:cNvSpPr>
              <p:nvPr/>
            </p:nvSpPr>
            <p:spPr bwMode="auto">
              <a:xfrm>
                <a:off x="4865" y="3322"/>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solidFill>
                      <a:srgbClr val="008000"/>
                    </a:solidFill>
                  </a:rPr>
                  <a:t>5</a:t>
                </a:r>
              </a:p>
            </p:txBody>
          </p:sp>
          <p:sp>
            <p:nvSpPr>
              <p:cNvPr id="740444" name="Text Box 92"/>
              <p:cNvSpPr txBox="1">
                <a:spLocks noChangeArrowheads="1"/>
              </p:cNvSpPr>
              <p:nvPr/>
            </p:nvSpPr>
            <p:spPr bwMode="auto">
              <a:xfrm>
                <a:off x="4864" y="3578"/>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solidFill>
                      <a:srgbClr val="008000"/>
                    </a:solidFill>
                  </a:rPr>
                  <a:t>6</a:t>
                </a:r>
              </a:p>
            </p:txBody>
          </p:sp>
          <p:sp>
            <p:nvSpPr>
              <p:cNvPr id="740445" name="Text Box 93"/>
              <p:cNvSpPr txBox="1">
                <a:spLocks noChangeArrowheads="1"/>
              </p:cNvSpPr>
              <p:nvPr/>
            </p:nvSpPr>
            <p:spPr bwMode="auto">
              <a:xfrm>
                <a:off x="4864" y="3885"/>
                <a:ext cx="199" cy="251"/>
              </a:xfrm>
              <a:prstGeom prst="rect">
                <a:avLst/>
              </a:prstGeom>
              <a:noFill/>
              <a:ln w="9525" algn="ctr">
                <a:noFill/>
                <a:miter lim="800000"/>
              </a:ln>
              <a:effectLst/>
            </p:spPr>
            <p:txBody>
              <a:bodyPr>
                <a:spAutoFit/>
              </a:bodyPr>
              <a:lstStyle/>
              <a:p>
                <a:pPr marL="342900" indent="-342900">
                  <a:spcBef>
                    <a:spcPct val="50000"/>
                  </a:spcBef>
                </a:pPr>
                <a:r>
                  <a:rPr lang="en-US" altLang="zh-CN" sz="1350">
                    <a:solidFill>
                      <a:srgbClr val="008000"/>
                    </a:solidFill>
                  </a:rPr>
                  <a:t>7</a:t>
                </a:r>
              </a:p>
            </p:txBody>
          </p:sp>
        </p:grpSp>
        <p:sp>
          <p:nvSpPr>
            <p:cNvPr id="740446" name="Rectangle 94"/>
            <p:cNvSpPr>
              <a:spLocks noChangeArrowheads="1"/>
            </p:cNvSpPr>
            <p:nvPr/>
          </p:nvSpPr>
          <p:spPr bwMode="auto">
            <a:xfrm>
              <a:off x="4127" y="1877"/>
              <a:ext cx="708" cy="2211"/>
            </a:xfrm>
            <a:prstGeom prst="rect">
              <a:avLst/>
            </a:prstGeom>
            <a:solidFill>
              <a:srgbClr val="008000">
                <a:alpha val="17000"/>
              </a:srgbClr>
            </a:solidFill>
            <a:ln w="9525" algn="ctr">
              <a:noFill/>
              <a:miter lim="800000"/>
            </a:ln>
            <a:effectLst/>
          </p:spPr>
          <p:txBody>
            <a:bodyPr wrap="none" anchor="ctr"/>
            <a:lstStyle/>
            <a:p>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500"/>
                                        <p:tgtEl>
                                          <p:spTgt spid="10"/>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12"/>
                                        </p:tgtEl>
                                        <p:attrNameLst>
                                          <p:attrName>style.visibility</p:attrName>
                                        </p:attrNameLst>
                                      </p:cBhvr>
                                      <p:to>
                                        <p:strVal val="visible"/>
                                      </p:to>
                                    </p:set>
                                    <p:anim by="(-#ppt_w*2)" calcmode="lin" valueType="num">
                                      <p:cBhvr rctx="PPT">
                                        <p:cTn id="20" dur="500" autoRev="1" fill="hold">
                                          <p:stCondLst>
                                            <p:cond delay="0"/>
                                          </p:stCondLst>
                                        </p:cTn>
                                        <p:tgtEl>
                                          <p:spTgt spid="12"/>
                                        </p:tgtEl>
                                        <p:attrNameLst>
                                          <p:attrName>ppt_w</p:attrName>
                                        </p:attrNameLst>
                                      </p:cBhvr>
                                    </p:anim>
                                    <p:anim by="(#ppt_w*0.50)" calcmode="lin" valueType="num">
                                      <p:cBhvr>
                                        <p:cTn id="21" dur="500" decel="50000" autoRev="1" fill="hold">
                                          <p:stCondLst>
                                            <p:cond delay="0"/>
                                          </p:stCondLst>
                                        </p:cTn>
                                        <p:tgtEl>
                                          <p:spTgt spid="12"/>
                                        </p:tgtEl>
                                        <p:attrNameLst>
                                          <p:attrName>ppt_x</p:attrName>
                                        </p:attrNameLst>
                                      </p:cBhvr>
                                    </p:anim>
                                    <p:anim from="(-#ppt_h/2)" to="(#ppt_y)" calcmode="lin" valueType="num">
                                      <p:cBhvr>
                                        <p:cTn id="22" dur="1000" fill="hold">
                                          <p:stCondLst>
                                            <p:cond delay="0"/>
                                          </p:stCondLst>
                                        </p:cTn>
                                        <p:tgtEl>
                                          <p:spTgt spid="12"/>
                                        </p:tgtEl>
                                        <p:attrNameLst>
                                          <p:attrName>ppt_y</p:attrName>
                                        </p:attrNameLst>
                                      </p:cBhvr>
                                    </p:anim>
                                    <p:animRot by="21600000">
                                      <p:cBhvr>
                                        <p:cTn id="23" dur="1000" fill="hold">
                                          <p:stCondLst>
                                            <p:cond delay="0"/>
                                          </p:stCondLst>
                                        </p:cTn>
                                        <p:tgtEl>
                                          <p:spTgt spid="12"/>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12"/>
                                        </p:tgtEl>
                                        <p:attrNameLst>
                                          <p:attrName>style.visibility</p:attrName>
                                        </p:attrNameLst>
                                      </p:cBhvr>
                                      <p:to>
                                        <p:strVal val="visible"/>
                                      </p:to>
                                    </p:set>
                                    <p:anim calcmode="lin" valueType="num">
                                      <p:cBhvr>
                                        <p:cTn id="26" dur="10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12"/>
                                        </p:tgtEl>
                                        <p:attrNameLst>
                                          <p:attrName>ppt_y</p:attrName>
                                        </p:attrNameLst>
                                      </p:cBhvr>
                                      <p:tavLst>
                                        <p:tav tm="0">
                                          <p:val>
                                            <p:strVal val="#ppt_y"/>
                                          </p:val>
                                        </p:tav>
                                        <p:tav tm="100000">
                                          <p:val>
                                            <p:strVal val="#ppt_y"/>
                                          </p:val>
                                        </p:tav>
                                      </p:tavLst>
                                    </p:anim>
                                    <p:anim calcmode="lin" valueType="num">
                                      <p:cBhvr>
                                        <p:cTn id="28" dur="10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p:bldP spid="12" grpId="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94839" y="25422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74533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4115276" y="74533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4801201" y="307438"/>
            <a:ext cx="3230880" cy="460375"/>
          </a:xfrm>
          <a:prstGeom prst="rect">
            <a:avLst/>
          </a:prstGeom>
          <a:noFill/>
        </p:spPr>
        <p:txBody>
          <a:bodyPr wrap="none" rtlCol="0">
            <a:spAutoFit/>
          </a:bodyPr>
          <a:lstStyle/>
          <a:p>
            <a:pPr algn="ctr"/>
            <a:r>
              <a:rPr lang="zh-CN" altLang="en-US" sz="2400" b="1" dirty="0">
                <a:gradFill>
                  <a:gsLst>
                    <a:gs pos="0">
                      <a:srgbClr val="F17475"/>
                    </a:gs>
                    <a:gs pos="57000">
                      <a:srgbClr val="01B3C5"/>
                    </a:gs>
                    <a:gs pos="100000">
                      <a:srgbClr val="C65885"/>
                    </a:gs>
                  </a:gsLst>
                  <a:lin ang="8100000" scaled="0"/>
                </a:gradFill>
                <a:effectLst/>
                <a:latin typeface="黑体" panose="02010609060101010101" charset="-122"/>
                <a:cs typeface="黑体" panose="02010609060101010101" charset="-122"/>
              </a:rPr>
              <a:t>计算机是如何工作的？</a:t>
            </a:r>
            <a:endParaRPr lang="zh-CN" altLang="en-US" sz="2400" dirty="0">
              <a:solidFill>
                <a:schemeClr val="tx1"/>
              </a:solidFill>
              <a:effectLst/>
              <a:latin typeface="黑体" panose="02010609060101010101" charset="-122"/>
              <a:cs typeface="黑体" panose="02010609060101010101" charset="-122"/>
            </a:endParaRPr>
          </a:p>
        </p:txBody>
      </p:sp>
      <p:sp>
        <p:nvSpPr>
          <p:cNvPr id="2" name="矩形 1"/>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740447" name="Text Box 95"/>
          <p:cNvSpPr txBox="1">
            <a:spLocks noChangeArrowheads="1"/>
          </p:cNvSpPr>
          <p:nvPr/>
        </p:nvSpPr>
        <p:spPr bwMode="auto">
          <a:xfrm>
            <a:off x="3646646" y="1015365"/>
            <a:ext cx="6176963" cy="679450"/>
          </a:xfrm>
          <a:prstGeom prst="rect">
            <a:avLst/>
          </a:prstGeom>
          <a:noFill/>
          <a:ln w="9525" algn="ctr">
            <a:noFill/>
            <a:miter lim="800000"/>
          </a:ln>
          <a:effectLst/>
        </p:spPr>
        <p:txBody>
          <a:bodyPr>
            <a:spAutoFit/>
          </a:bodyPr>
          <a:lstStyle/>
          <a:p>
            <a:pPr marL="342900" indent="-342900">
              <a:spcBef>
                <a:spcPct val="20000"/>
              </a:spcBef>
            </a:pPr>
            <a:r>
              <a:rPr lang="zh-CN" altLang="en-US">
                <a:latin typeface="黑体" panose="02010609060101010101" charset="-122"/>
                <a:ea typeface="黑体" panose="02010609060101010101" charset="-122"/>
              </a:rPr>
              <a:t>先想象一下妈妈是怎样做一桌你喜欢（</a:t>
            </a:r>
            <a:r>
              <a:rPr lang="zh-CN" altLang="en-US">
                <a:solidFill>
                  <a:srgbClr val="FF3300"/>
                </a:solidFill>
                <a:latin typeface="黑体" panose="02010609060101010101" charset="-122"/>
                <a:ea typeface="黑体" panose="02010609060101010101" charset="-122"/>
              </a:rPr>
              <a:t>指定</a:t>
            </a:r>
            <a:r>
              <a:rPr lang="zh-CN" altLang="en-US">
                <a:latin typeface="黑体" panose="02010609060101010101" charset="-122"/>
                <a:ea typeface="黑体" panose="02010609060101010101" charset="-122"/>
              </a:rPr>
              <a:t>）的菜的？</a:t>
            </a:r>
          </a:p>
          <a:p>
            <a:pPr marL="342900" indent="-342900">
              <a:lnSpc>
                <a:spcPct val="115000"/>
              </a:lnSpc>
              <a:spcBef>
                <a:spcPct val="20000"/>
              </a:spcBef>
            </a:pPr>
            <a:r>
              <a:rPr lang="zh-CN" altLang="en-US" sz="1500">
                <a:solidFill>
                  <a:srgbClr val="3333CC"/>
                </a:solidFill>
                <a:latin typeface="黑体" panose="02010609060101010101" charset="-122"/>
                <a:ea typeface="黑体" panose="02010609060101010101" charset="-122"/>
              </a:rPr>
              <a:t>    </a:t>
            </a:r>
          </a:p>
        </p:txBody>
      </p:sp>
      <p:sp>
        <p:nvSpPr>
          <p:cNvPr id="740448" name="Text Box 96"/>
          <p:cNvSpPr txBox="1">
            <a:spLocks noChangeArrowheads="1"/>
          </p:cNvSpPr>
          <p:nvPr/>
        </p:nvSpPr>
        <p:spPr bwMode="auto">
          <a:xfrm>
            <a:off x="2423795" y="1423670"/>
            <a:ext cx="6699250" cy="368300"/>
          </a:xfrm>
          <a:prstGeom prst="rect">
            <a:avLst/>
          </a:prstGeom>
          <a:noFill/>
          <a:ln w="9525" algn="ctr">
            <a:noFill/>
            <a:miter lim="800000"/>
          </a:ln>
          <a:effectLst/>
        </p:spPr>
        <p:txBody>
          <a:bodyPr wrap="square">
            <a:spAutoFit/>
          </a:bodyPr>
          <a:lstStyle/>
          <a:p>
            <a:pPr marL="342900" indent="-342900">
              <a:spcBef>
                <a:spcPct val="50000"/>
              </a:spcBef>
            </a:pPr>
            <a:r>
              <a:rPr lang="zh-CN" altLang="en-US">
                <a:solidFill>
                  <a:schemeClr val="accent2"/>
                </a:solidFill>
                <a:latin typeface="黑体" panose="02010609060101010101" charset="-122"/>
                <a:ea typeface="黑体" panose="02010609060101010101" charset="-122"/>
              </a:rPr>
              <a:t>厨房</a:t>
            </a:r>
            <a:r>
              <a:rPr lang="en-US" altLang="zh-CN">
                <a:solidFill>
                  <a:schemeClr val="accent2"/>
                </a:solidFill>
                <a:latin typeface="黑体" panose="02010609060101010101" charset="-122"/>
                <a:ea typeface="黑体" panose="02010609060101010101" charset="-122"/>
              </a:rPr>
              <a:t>-</a:t>
            </a:r>
            <a:r>
              <a:rPr lang="en-US" altLang="zh-CN">
                <a:solidFill>
                  <a:srgbClr val="FF3300"/>
                </a:solidFill>
                <a:latin typeface="黑体" panose="02010609060101010101" charset="-122"/>
                <a:ea typeface="黑体" panose="02010609060101010101" charset="-122"/>
              </a:rPr>
              <a:t>CPU</a:t>
            </a:r>
            <a:r>
              <a:rPr lang="zh-CN" altLang="en-US">
                <a:solidFill>
                  <a:schemeClr val="accent2"/>
                </a:solidFill>
                <a:latin typeface="黑体" panose="02010609060101010101" charset="-122"/>
                <a:ea typeface="黑体" panose="02010609060101010101" charset="-122"/>
              </a:rPr>
              <a:t>，妈妈</a:t>
            </a:r>
            <a:r>
              <a:rPr lang="en-US" altLang="zh-CN">
                <a:solidFill>
                  <a:schemeClr val="accent2"/>
                </a:solidFill>
                <a:latin typeface="黑体" panose="02010609060101010101" charset="-122"/>
                <a:ea typeface="黑体" panose="02010609060101010101" charset="-122"/>
              </a:rPr>
              <a:t>-</a:t>
            </a:r>
            <a:r>
              <a:rPr lang="zh-CN" altLang="en-US">
                <a:solidFill>
                  <a:srgbClr val="FF3300"/>
                </a:solidFill>
                <a:latin typeface="黑体" panose="02010609060101010101" charset="-122"/>
                <a:ea typeface="黑体" panose="02010609060101010101" charset="-122"/>
              </a:rPr>
              <a:t>控制器</a:t>
            </a:r>
            <a:r>
              <a:rPr lang="zh-CN" altLang="en-US">
                <a:solidFill>
                  <a:schemeClr val="accent2"/>
                </a:solidFill>
                <a:latin typeface="黑体" panose="02010609060101010101" charset="-122"/>
                <a:ea typeface="黑体" panose="02010609060101010101" charset="-122"/>
              </a:rPr>
              <a:t>，盘</a:t>
            </a:r>
            <a:r>
              <a:rPr lang="en-US" altLang="zh-CN">
                <a:solidFill>
                  <a:schemeClr val="accent2"/>
                </a:solidFill>
                <a:latin typeface="黑体" panose="02010609060101010101" charset="-122"/>
                <a:ea typeface="黑体" panose="02010609060101010101" charset="-122"/>
              </a:rPr>
              <a:t>-</a:t>
            </a:r>
            <a:r>
              <a:rPr lang="en-US" altLang="zh-CN">
                <a:solidFill>
                  <a:srgbClr val="FF3300"/>
                </a:solidFill>
                <a:latin typeface="黑体" panose="02010609060101010101" charset="-122"/>
                <a:ea typeface="黑体" panose="02010609060101010101" charset="-122"/>
              </a:rPr>
              <a:t>GPRs</a:t>
            </a:r>
            <a:r>
              <a:rPr lang="zh-CN" altLang="en-US">
                <a:solidFill>
                  <a:schemeClr val="accent2"/>
                </a:solidFill>
                <a:latin typeface="黑体" panose="02010609060101010101" charset="-122"/>
                <a:ea typeface="黑体" panose="02010609060101010101" charset="-122"/>
              </a:rPr>
              <a:t>，锅灶等</a:t>
            </a:r>
            <a:r>
              <a:rPr lang="en-US" altLang="zh-CN">
                <a:solidFill>
                  <a:schemeClr val="accent2"/>
                </a:solidFill>
                <a:latin typeface="黑体" panose="02010609060101010101" charset="-122"/>
                <a:ea typeface="黑体" panose="02010609060101010101" charset="-122"/>
              </a:rPr>
              <a:t>-</a:t>
            </a:r>
            <a:r>
              <a:rPr lang="en-US" altLang="zh-CN">
                <a:solidFill>
                  <a:srgbClr val="FF3300"/>
                </a:solidFill>
                <a:latin typeface="黑体" panose="02010609060101010101" charset="-122"/>
                <a:ea typeface="黑体" panose="02010609060101010101" charset="-122"/>
              </a:rPr>
              <a:t>ALU </a:t>
            </a:r>
            <a:r>
              <a:rPr lang="zh-CN" altLang="en-US">
                <a:solidFill>
                  <a:schemeClr val="accent2"/>
                </a:solidFill>
                <a:latin typeface="黑体" panose="02010609060101010101" charset="-122"/>
                <a:ea typeface="黑体" panose="02010609060101010101" charset="-122"/>
              </a:rPr>
              <a:t>，架子</a:t>
            </a:r>
            <a:r>
              <a:rPr lang="en-US" altLang="zh-CN">
                <a:solidFill>
                  <a:schemeClr val="accent2"/>
                </a:solidFill>
                <a:latin typeface="黑体" panose="02010609060101010101" charset="-122"/>
                <a:ea typeface="黑体" panose="02010609060101010101" charset="-122"/>
              </a:rPr>
              <a:t>-</a:t>
            </a:r>
            <a:r>
              <a:rPr lang="zh-CN" altLang="en-US">
                <a:solidFill>
                  <a:srgbClr val="FF3300"/>
                </a:solidFill>
                <a:latin typeface="黑体" panose="02010609060101010101" charset="-122"/>
                <a:ea typeface="黑体" panose="02010609060101010101" charset="-122"/>
              </a:rPr>
              <a:t>存储器</a:t>
            </a:r>
          </a:p>
        </p:txBody>
      </p:sp>
      <p:sp>
        <p:nvSpPr>
          <p:cNvPr id="14" name="TextBox 14"/>
          <p:cNvSpPr txBox="1"/>
          <p:nvPr/>
        </p:nvSpPr>
        <p:spPr>
          <a:xfrm>
            <a:off x="1904140" y="1920249"/>
            <a:ext cx="944880" cy="398780"/>
          </a:xfrm>
          <a:prstGeom prst="rect">
            <a:avLst/>
          </a:prstGeom>
          <a:noFill/>
        </p:spPr>
        <p:txBody>
          <a:bodyPr wrap="none" rtlCol="0">
            <a:spAutoFit/>
          </a:bodyPr>
          <a:lstStyle/>
          <a:p>
            <a:r>
              <a:rPr lang="zh-CN" altLang="en-US" sz="2000" dirty="0">
                <a:latin typeface="黑体" panose="02010609060101010101" charset="-122"/>
                <a:ea typeface="黑体" panose="02010609060101010101" charset="-122"/>
                <a:cs typeface="黑体" panose="02010609060101010101" charset="-122"/>
              </a:rPr>
              <a:t>做菜前</a:t>
            </a:r>
          </a:p>
        </p:txBody>
      </p:sp>
      <p:sp>
        <p:nvSpPr>
          <p:cNvPr id="26" name="TextBox 18"/>
          <p:cNvSpPr txBox="1"/>
          <p:nvPr/>
        </p:nvSpPr>
        <p:spPr>
          <a:xfrm>
            <a:off x="2765108" y="1952943"/>
            <a:ext cx="6286976" cy="2245360"/>
          </a:xfrm>
          <a:prstGeom prst="rect">
            <a:avLst/>
          </a:prstGeom>
          <a:noFill/>
        </p:spPr>
        <p:txBody>
          <a:bodyPr wrap="square" rtlCol="0">
            <a:spAutoFit/>
          </a:bodyPr>
          <a:lstStyle/>
          <a:p>
            <a:pPr algn="l"/>
            <a:r>
              <a:rPr lang="en-US" altLang="zh-CN" sz="2000" dirty="0">
                <a:solidFill>
                  <a:srgbClr val="DF664A"/>
                </a:solidFill>
                <a:latin typeface="黑体" panose="02010609060101010101" charset="-122"/>
                <a:ea typeface="黑体" panose="02010609060101010101" charset="-122"/>
                <a:cs typeface="黑体" panose="02010609060101010101" charset="-122"/>
              </a:rPr>
              <a:t>原材料（</a:t>
            </a:r>
            <a:r>
              <a:rPr lang="en-US" altLang="zh-CN" sz="2000" dirty="0">
                <a:solidFill>
                  <a:schemeClr val="tx1"/>
                </a:solidFill>
                <a:latin typeface="黑体" panose="02010609060101010101" charset="-122"/>
                <a:ea typeface="黑体" panose="02010609060101010101" charset="-122"/>
                <a:cs typeface="黑体" panose="02010609060101010101" charset="-122"/>
              </a:rPr>
              <a:t>数据</a:t>
            </a:r>
            <a:r>
              <a:rPr lang="en-US" altLang="zh-CN" sz="2000" dirty="0">
                <a:solidFill>
                  <a:srgbClr val="DF664A"/>
                </a:solidFill>
                <a:latin typeface="黑体" panose="02010609060101010101" charset="-122"/>
                <a:ea typeface="黑体" panose="02010609060101010101" charset="-122"/>
                <a:cs typeface="黑体" panose="02010609060101010101" charset="-122"/>
              </a:rPr>
              <a:t>）和菜谱（</a:t>
            </a:r>
            <a:r>
              <a:rPr lang="en-US" altLang="zh-CN" sz="2000" dirty="0">
                <a:solidFill>
                  <a:schemeClr val="tx1"/>
                </a:solidFill>
                <a:latin typeface="黑体" panose="02010609060101010101" charset="-122"/>
                <a:ea typeface="黑体" panose="02010609060101010101" charset="-122"/>
                <a:cs typeface="黑体" panose="02010609060101010101" charset="-122"/>
              </a:rPr>
              <a:t>指令</a:t>
            </a:r>
            <a:r>
              <a:rPr lang="en-US" altLang="zh-CN" sz="2000" dirty="0">
                <a:solidFill>
                  <a:srgbClr val="DF664A"/>
                </a:solidFill>
                <a:latin typeface="黑体" panose="02010609060101010101" charset="-122"/>
                <a:ea typeface="黑体" panose="02010609060101010101" charset="-122"/>
                <a:cs typeface="黑体" panose="02010609060101010101" charset="-122"/>
              </a:rPr>
              <a:t>）都按序放在厨房外的架子（</a:t>
            </a:r>
            <a:r>
              <a:rPr lang="en-US" altLang="zh-CN" sz="2000" dirty="0">
                <a:latin typeface="黑体" panose="02010609060101010101" charset="-122"/>
                <a:ea typeface="黑体" panose="02010609060101010101" charset="-122"/>
                <a:cs typeface="黑体" panose="02010609060101010101" charset="-122"/>
              </a:rPr>
              <a:t>存储器</a:t>
            </a:r>
            <a:r>
              <a:rPr lang="en-US" altLang="zh-CN" sz="2000" dirty="0">
                <a:solidFill>
                  <a:srgbClr val="DF664A"/>
                </a:solidFill>
                <a:latin typeface="黑体" panose="02010609060101010101" charset="-122"/>
                <a:ea typeface="黑体" panose="02010609060101010101" charset="-122"/>
                <a:cs typeface="黑体" panose="02010609060101010101" charset="-122"/>
              </a:rPr>
              <a:t>）上， 每个架子有编号（</a:t>
            </a:r>
            <a:r>
              <a:rPr lang="en-US" altLang="zh-CN" sz="2000" dirty="0">
                <a:latin typeface="黑体" panose="02010609060101010101" charset="-122"/>
                <a:ea typeface="黑体" panose="02010609060101010101" charset="-122"/>
                <a:cs typeface="黑体" panose="02010609060101010101" charset="-122"/>
              </a:rPr>
              <a:t>存储单元地址</a:t>
            </a:r>
            <a:r>
              <a:rPr lang="en-US" altLang="zh-CN" sz="2000" dirty="0">
                <a:solidFill>
                  <a:srgbClr val="DF664A"/>
                </a:solidFill>
                <a:latin typeface="黑体" panose="02010609060101010101" charset="-122"/>
                <a:ea typeface="黑体" panose="02010609060101010101" charset="-122"/>
                <a:cs typeface="黑体" panose="02010609060101010101" charset="-122"/>
              </a:rPr>
              <a:t>）。</a:t>
            </a:r>
          </a:p>
          <a:p>
            <a:pPr algn="l"/>
            <a:r>
              <a:rPr lang="en-US" altLang="zh-CN" sz="2000" dirty="0">
                <a:solidFill>
                  <a:srgbClr val="DF664A"/>
                </a:solidFill>
                <a:latin typeface="黑体" panose="02010609060101010101" charset="-122"/>
                <a:ea typeface="黑体" panose="02010609060101010101" charset="-122"/>
                <a:cs typeface="黑体" panose="02010609060101010101" charset="-122"/>
              </a:rPr>
              <a:t>菜谱上信息：原料位置、做法、做好的菜放在哪里等</a:t>
            </a:r>
            <a:r>
              <a:rPr lang="zh-CN" altLang="en-US" sz="2000" dirty="0">
                <a:solidFill>
                  <a:srgbClr val="DF664A"/>
                </a:solidFill>
                <a:latin typeface="黑体" panose="02010609060101010101" charset="-122"/>
                <a:ea typeface="黑体" panose="02010609060101010101" charset="-122"/>
                <a:cs typeface="黑体" panose="02010609060101010101" charset="-122"/>
              </a:rPr>
              <a:t>（</a:t>
            </a:r>
            <a:r>
              <a:rPr lang="en-US" altLang="zh-CN" sz="2000" dirty="0">
                <a:latin typeface="黑体" panose="02010609060101010101" charset="-122"/>
                <a:ea typeface="黑体" panose="02010609060101010101" charset="-122"/>
                <a:cs typeface="黑体" panose="02010609060101010101" charset="-122"/>
              </a:rPr>
              <a:t>例如，把10、11号架上的原料一起炒，并装入3号盘</a:t>
            </a:r>
            <a:r>
              <a:rPr lang="zh-CN" altLang="en-US" sz="2000" dirty="0">
                <a:solidFill>
                  <a:srgbClr val="DF664A"/>
                </a:solidFill>
                <a:latin typeface="黑体" panose="02010609060101010101" charset="-122"/>
                <a:ea typeface="黑体" panose="02010609060101010101" charset="-122"/>
                <a:cs typeface="黑体" panose="02010609060101010101" charset="-122"/>
              </a:rPr>
              <a:t>）。</a:t>
            </a:r>
          </a:p>
          <a:p>
            <a:pPr algn="l"/>
            <a:r>
              <a:rPr lang="en-US" altLang="zh-CN" sz="2000" dirty="0">
                <a:solidFill>
                  <a:srgbClr val="DF664A"/>
                </a:solidFill>
                <a:latin typeface="黑体" panose="02010609060101010101" charset="-122"/>
                <a:ea typeface="黑体" panose="02010609060101010101" charset="-122"/>
                <a:cs typeface="黑体" panose="02010609060101010101" charset="-122"/>
              </a:rPr>
              <a:t>然后，我告诉妈妈从第5个架上（</a:t>
            </a:r>
            <a:r>
              <a:rPr lang="en-US" altLang="zh-CN" sz="2000" dirty="0">
                <a:latin typeface="黑体" panose="02010609060101010101" charset="-122"/>
                <a:ea typeface="黑体" panose="02010609060101010101" charset="-122"/>
                <a:cs typeface="黑体" panose="02010609060101010101" charset="-122"/>
              </a:rPr>
              <a:t>起始PC=5</a:t>
            </a:r>
            <a:r>
              <a:rPr lang="en-US" altLang="zh-CN" sz="2000" dirty="0">
                <a:solidFill>
                  <a:srgbClr val="DF664A"/>
                </a:solidFill>
                <a:latin typeface="黑体" panose="02010609060101010101" charset="-122"/>
                <a:ea typeface="黑体" panose="02010609060101010101" charset="-122"/>
                <a:cs typeface="黑体" panose="02010609060101010101" charset="-122"/>
              </a:rPr>
              <a:t>）指定菜谱开始做</a:t>
            </a:r>
            <a:r>
              <a:rPr lang="zh-CN" altLang="en-US" sz="2000" dirty="0">
                <a:solidFill>
                  <a:srgbClr val="DF664A"/>
                </a:solidFill>
                <a:latin typeface="黑体" panose="02010609060101010101" charset="-122"/>
                <a:ea typeface="黑体" panose="02010609060101010101" charset="-122"/>
                <a:cs typeface="黑体" panose="02010609060101010101" charset="-122"/>
              </a:rPr>
              <a:t>。</a:t>
            </a:r>
          </a:p>
        </p:txBody>
      </p:sp>
      <p:sp>
        <p:nvSpPr>
          <p:cNvPr id="39" name="椭圆 38"/>
          <p:cNvSpPr/>
          <p:nvPr/>
        </p:nvSpPr>
        <p:spPr>
          <a:xfrm>
            <a:off x="1729444" y="1975163"/>
            <a:ext cx="206083" cy="206083"/>
          </a:xfrm>
          <a:prstGeom prst="ellipse">
            <a:avLst/>
          </a:prstGeom>
          <a:solidFill>
            <a:srgbClr val="DF664A">
              <a:alpha val="50196"/>
            </a:srgbClr>
          </a:solidFill>
          <a:ln>
            <a:noFill/>
          </a:ln>
          <a:effectLst>
            <a:outerShdw blurRad="254000" dist="127000" dir="8100000" algn="tr" rotWithShape="0">
              <a:prstClr val="black">
                <a:alpha val="60000"/>
              </a:prst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a:solidFill>
                <a:srgbClr val="1A3F6C"/>
              </a:solidFill>
              <a:cs typeface="黑体" panose="02010609060101010101" charset="-122"/>
            </a:endParaRPr>
          </a:p>
        </p:txBody>
      </p:sp>
      <p:sp>
        <p:nvSpPr>
          <p:cNvPr id="15" name="TextBox 14"/>
          <p:cNvSpPr txBox="1"/>
          <p:nvPr/>
        </p:nvSpPr>
        <p:spPr>
          <a:xfrm>
            <a:off x="1821590" y="4281815"/>
            <a:ext cx="1198880" cy="398780"/>
          </a:xfrm>
          <a:prstGeom prst="rect">
            <a:avLst/>
          </a:prstGeom>
          <a:noFill/>
        </p:spPr>
        <p:txBody>
          <a:bodyPr wrap="none" rtlCol="0">
            <a:spAutoFit/>
          </a:bodyPr>
          <a:lstStyle/>
          <a:p>
            <a:r>
              <a:rPr lang="zh-CN" altLang="en-US" sz="2000" dirty="0">
                <a:latin typeface="黑体" panose="02010609060101010101" charset="-122"/>
                <a:ea typeface="黑体" panose="02010609060101010101" charset="-122"/>
                <a:cs typeface="黑体" panose="02010609060101010101" charset="-122"/>
              </a:rPr>
              <a:t>开始做菜</a:t>
            </a:r>
          </a:p>
        </p:txBody>
      </p:sp>
      <p:sp>
        <p:nvSpPr>
          <p:cNvPr id="16" name="TextBox 18"/>
          <p:cNvSpPr txBox="1"/>
          <p:nvPr/>
        </p:nvSpPr>
        <p:spPr>
          <a:xfrm>
            <a:off x="2724468" y="4281964"/>
            <a:ext cx="6286976" cy="2553335"/>
          </a:xfrm>
          <a:prstGeom prst="rect">
            <a:avLst/>
          </a:prstGeom>
          <a:noFill/>
        </p:spPr>
        <p:txBody>
          <a:bodyPr wrap="square" rtlCol="0">
            <a:spAutoFit/>
          </a:bodyPr>
          <a:lstStyle/>
          <a:p>
            <a:pPr algn="l"/>
            <a:r>
              <a:rPr lang="en-US" altLang="zh-CN" sz="2000" dirty="0">
                <a:latin typeface="黑体" panose="02010609060101010101" charset="-122"/>
                <a:ea typeface="黑体" panose="02010609060101010101" charset="-122"/>
                <a:cs typeface="黑体" panose="02010609060101010101" charset="-122"/>
              </a:rPr>
              <a:t>    </a:t>
            </a:r>
            <a:r>
              <a:rPr lang="en-US" altLang="zh-CN" sz="2000" dirty="0">
                <a:solidFill>
                  <a:srgbClr val="DF664A"/>
                </a:solidFill>
                <a:latin typeface="黑体" panose="02010609060101010101" charset="-122"/>
                <a:ea typeface="黑体" panose="02010609060101010101" charset="-122"/>
                <a:cs typeface="黑体" panose="02010609060101010101" charset="-122"/>
              </a:rPr>
              <a:t>第一步：从5号架上取菜谱</a:t>
            </a:r>
            <a:r>
              <a:rPr lang="en-US" altLang="zh-CN" sz="2000" dirty="0">
                <a:latin typeface="黑体" panose="02010609060101010101" charset="-122"/>
                <a:ea typeface="黑体" panose="02010609060101010101" charset="-122"/>
                <a:cs typeface="黑体" panose="02010609060101010101" charset="-122"/>
              </a:rPr>
              <a:t>（根据PC取指令）</a:t>
            </a:r>
          </a:p>
          <a:p>
            <a:pPr algn="l"/>
            <a:r>
              <a:rPr lang="en-US" altLang="zh-CN" sz="2000" dirty="0">
                <a:latin typeface="黑体" panose="02010609060101010101" charset="-122"/>
                <a:ea typeface="黑体" panose="02010609060101010101" charset="-122"/>
                <a:cs typeface="黑体" panose="02010609060101010101" charset="-122"/>
              </a:rPr>
              <a:t>    </a:t>
            </a:r>
            <a:r>
              <a:rPr lang="en-US" altLang="zh-CN" sz="2000" dirty="0">
                <a:solidFill>
                  <a:srgbClr val="DF664A"/>
                </a:solidFill>
                <a:latin typeface="黑体" panose="02010609060101010101" charset="-122"/>
                <a:ea typeface="黑体" panose="02010609060101010101" charset="-122"/>
                <a:cs typeface="黑体" panose="02010609060101010101" charset="-122"/>
              </a:rPr>
              <a:t>第二步：看菜谱</a:t>
            </a:r>
            <a:r>
              <a:rPr lang="en-US" altLang="zh-CN" sz="2000" dirty="0">
                <a:latin typeface="黑体" panose="02010609060101010101" charset="-122"/>
                <a:ea typeface="黑体" panose="02010609060101010101" charset="-122"/>
                <a:cs typeface="黑体" panose="02010609060101010101" charset="-122"/>
              </a:rPr>
              <a:t>（指令译码）</a:t>
            </a:r>
          </a:p>
          <a:p>
            <a:pPr algn="l"/>
            <a:r>
              <a:rPr lang="en-US" altLang="zh-CN" sz="2000" dirty="0">
                <a:latin typeface="黑体" panose="02010609060101010101" charset="-122"/>
                <a:ea typeface="黑体" panose="02010609060101010101" charset="-122"/>
                <a:cs typeface="黑体" panose="02010609060101010101" charset="-122"/>
              </a:rPr>
              <a:t>    </a:t>
            </a:r>
            <a:r>
              <a:rPr lang="en-US" altLang="zh-CN" sz="2000" dirty="0">
                <a:solidFill>
                  <a:srgbClr val="DF664A"/>
                </a:solidFill>
                <a:latin typeface="黑体" panose="02010609060101010101" charset="-122"/>
                <a:ea typeface="黑体" panose="02010609060101010101" charset="-122"/>
                <a:cs typeface="黑体" panose="02010609060101010101" charset="-122"/>
              </a:rPr>
              <a:t>第三步：从架上或盘中取原材料</a:t>
            </a:r>
            <a:r>
              <a:rPr lang="en-US" altLang="zh-CN" sz="2000" dirty="0">
                <a:latin typeface="黑体" panose="02010609060101010101" charset="-122"/>
                <a:ea typeface="黑体" panose="02010609060101010101" charset="-122"/>
                <a:cs typeface="黑体" panose="02010609060101010101" charset="-122"/>
              </a:rPr>
              <a:t>（取操作数）</a:t>
            </a:r>
          </a:p>
          <a:p>
            <a:pPr algn="l"/>
            <a:r>
              <a:rPr lang="en-US" altLang="zh-CN" sz="2000" dirty="0">
                <a:latin typeface="黑体" panose="02010609060101010101" charset="-122"/>
                <a:ea typeface="黑体" panose="02010609060101010101" charset="-122"/>
                <a:cs typeface="黑体" panose="02010609060101010101" charset="-122"/>
              </a:rPr>
              <a:t>    </a:t>
            </a:r>
            <a:r>
              <a:rPr lang="en-US" altLang="zh-CN" sz="2000" dirty="0">
                <a:solidFill>
                  <a:srgbClr val="DF664A"/>
                </a:solidFill>
                <a:latin typeface="黑体" panose="02010609060101010101" charset="-122"/>
                <a:ea typeface="黑体" panose="02010609060101010101" charset="-122"/>
                <a:cs typeface="黑体" panose="02010609060101010101" charset="-122"/>
              </a:rPr>
              <a:t>第四步：洗、切、炒等具体操作</a:t>
            </a:r>
            <a:r>
              <a:rPr lang="en-US" altLang="zh-CN" sz="2000" dirty="0">
                <a:latin typeface="黑体" panose="02010609060101010101" charset="-122"/>
                <a:ea typeface="黑体" panose="02010609060101010101" charset="-122"/>
                <a:cs typeface="黑体" panose="02010609060101010101" charset="-122"/>
              </a:rPr>
              <a:t>（指令执行）</a:t>
            </a:r>
          </a:p>
          <a:p>
            <a:pPr algn="l"/>
            <a:r>
              <a:rPr lang="en-US" altLang="zh-CN" sz="2000" dirty="0">
                <a:latin typeface="黑体" panose="02010609060101010101" charset="-122"/>
                <a:ea typeface="黑体" panose="02010609060101010101" charset="-122"/>
                <a:cs typeface="黑体" panose="02010609060101010101" charset="-122"/>
              </a:rPr>
              <a:t>    </a:t>
            </a:r>
            <a:r>
              <a:rPr lang="en-US" altLang="zh-CN" sz="2000" dirty="0">
                <a:solidFill>
                  <a:srgbClr val="DF664A"/>
                </a:solidFill>
                <a:latin typeface="黑体" panose="02010609060101010101" charset="-122"/>
                <a:ea typeface="黑体" panose="02010609060101010101" charset="-122"/>
                <a:cs typeface="黑体" panose="02010609060101010101" charset="-122"/>
              </a:rPr>
              <a:t>第五步：装盘或直接送桌</a:t>
            </a:r>
            <a:r>
              <a:rPr lang="en-US" altLang="zh-CN" sz="2000" dirty="0">
                <a:latin typeface="黑体" panose="02010609060101010101" charset="-122"/>
                <a:ea typeface="黑体" panose="02010609060101010101" charset="-122"/>
                <a:cs typeface="黑体" panose="02010609060101010101" charset="-122"/>
              </a:rPr>
              <a:t>（回写结果）</a:t>
            </a:r>
          </a:p>
          <a:p>
            <a:pPr algn="l"/>
            <a:r>
              <a:rPr lang="en-US" altLang="zh-CN" sz="2000" dirty="0">
                <a:latin typeface="黑体" panose="02010609060101010101" charset="-122"/>
                <a:ea typeface="黑体" panose="02010609060101010101" charset="-122"/>
                <a:cs typeface="黑体" panose="02010609060101010101" charset="-122"/>
              </a:rPr>
              <a:t>    </a:t>
            </a:r>
            <a:r>
              <a:rPr lang="en-US" altLang="zh-CN" sz="2000" dirty="0">
                <a:solidFill>
                  <a:srgbClr val="DF664A"/>
                </a:solidFill>
                <a:latin typeface="黑体" panose="02010609060101010101" charset="-122"/>
                <a:ea typeface="黑体" panose="02010609060101010101" charset="-122"/>
                <a:cs typeface="黑体" panose="02010609060101010101" charset="-122"/>
              </a:rPr>
              <a:t>第六步：算出下一菜谱所在架子号6=5+1</a:t>
            </a:r>
            <a:r>
              <a:rPr lang="en-US" altLang="zh-CN" sz="2000" dirty="0">
                <a:latin typeface="黑体" panose="02010609060101010101" charset="-122"/>
                <a:ea typeface="黑体" panose="02010609060101010101" charset="-122"/>
                <a:cs typeface="黑体" panose="02010609060101010101" charset="-122"/>
              </a:rPr>
              <a:t>（修改PC的值）</a:t>
            </a:r>
          </a:p>
          <a:p>
            <a:pPr algn="l"/>
            <a:r>
              <a:rPr lang="en-US" altLang="zh-CN" sz="2000" dirty="0">
                <a:latin typeface="黑体" panose="02010609060101010101" charset="-122"/>
                <a:ea typeface="黑体" panose="02010609060101010101" charset="-122"/>
                <a:cs typeface="黑体" panose="02010609060101010101" charset="-122"/>
              </a:rPr>
              <a:t>    </a:t>
            </a:r>
            <a:r>
              <a:rPr lang="zh-CN" altLang="en-US" sz="2000" dirty="0">
                <a:latin typeface="黑体" panose="02010609060101010101" charset="-122"/>
                <a:ea typeface="黑体" panose="02010609060101010101" charset="-122"/>
                <a:cs typeface="黑体" panose="02010609060101010101" charset="-122"/>
              </a:rPr>
              <a:t>继续做下一道菜（</a:t>
            </a:r>
            <a:r>
              <a:rPr lang="en-US" altLang="zh-CN" sz="2000" dirty="0">
                <a:solidFill>
                  <a:srgbClr val="DF664A"/>
                </a:solidFill>
                <a:latin typeface="黑体" panose="02010609060101010101" charset="-122"/>
                <a:ea typeface="黑体" panose="02010609060101010101" charset="-122"/>
                <a:cs typeface="黑体" panose="02010609060101010101" charset="-122"/>
                <a:sym typeface="+mn-ea"/>
              </a:rPr>
              <a:t>执行下一条指令</a:t>
            </a:r>
            <a:r>
              <a:rPr lang="zh-CN" altLang="en-US" sz="2000" dirty="0">
                <a:latin typeface="黑体" panose="02010609060101010101" charset="-122"/>
                <a:ea typeface="黑体" panose="02010609060101010101" charset="-122"/>
                <a:cs typeface="黑体" panose="02010609060101010101" charset="-122"/>
              </a:rPr>
              <a:t>）</a:t>
            </a:r>
          </a:p>
        </p:txBody>
      </p:sp>
      <p:sp>
        <p:nvSpPr>
          <p:cNvPr id="18" name="椭圆 17"/>
          <p:cNvSpPr/>
          <p:nvPr/>
        </p:nvSpPr>
        <p:spPr>
          <a:xfrm>
            <a:off x="1646894" y="4336728"/>
            <a:ext cx="206083" cy="206083"/>
          </a:xfrm>
          <a:prstGeom prst="ellipse">
            <a:avLst/>
          </a:prstGeom>
          <a:solidFill>
            <a:srgbClr val="DF664A">
              <a:alpha val="50196"/>
            </a:srgbClr>
          </a:solidFill>
          <a:ln>
            <a:noFill/>
          </a:ln>
          <a:effectLst>
            <a:outerShdw blurRad="254000" dist="127000" dir="8100000" algn="tr" rotWithShape="0">
              <a:prstClr val="black">
                <a:alpha val="60000"/>
              </a:prst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a:solidFill>
                <a:srgbClr val="1A3F6C"/>
              </a:solidFill>
              <a:cs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500"/>
                                        <p:tgtEl>
                                          <p:spTgt spid="10"/>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12"/>
                                        </p:tgtEl>
                                        <p:attrNameLst>
                                          <p:attrName>style.visibility</p:attrName>
                                        </p:attrNameLst>
                                      </p:cBhvr>
                                      <p:to>
                                        <p:strVal val="visible"/>
                                      </p:to>
                                    </p:set>
                                    <p:anim by="(-#ppt_w*2)" calcmode="lin" valueType="num">
                                      <p:cBhvr rctx="PPT">
                                        <p:cTn id="20" dur="500" autoRev="1" fill="hold">
                                          <p:stCondLst>
                                            <p:cond delay="0"/>
                                          </p:stCondLst>
                                        </p:cTn>
                                        <p:tgtEl>
                                          <p:spTgt spid="12"/>
                                        </p:tgtEl>
                                        <p:attrNameLst>
                                          <p:attrName>ppt_w</p:attrName>
                                        </p:attrNameLst>
                                      </p:cBhvr>
                                    </p:anim>
                                    <p:anim by="(#ppt_w*0.50)" calcmode="lin" valueType="num">
                                      <p:cBhvr>
                                        <p:cTn id="21" dur="500" decel="50000" autoRev="1" fill="hold">
                                          <p:stCondLst>
                                            <p:cond delay="0"/>
                                          </p:stCondLst>
                                        </p:cTn>
                                        <p:tgtEl>
                                          <p:spTgt spid="12"/>
                                        </p:tgtEl>
                                        <p:attrNameLst>
                                          <p:attrName>ppt_x</p:attrName>
                                        </p:attrNameLst>
                                      </p:cBhvr>
                                    </p:anim>
                                    <p:anim from="(-#ppt_h/2)" to="(#ppt_y)" calcmode="lin" valueType="num">
                                      <p:cBhvr>
                                        <p:cTn id="22" dur="1000" fill="hold">
                                          <p:stCondLst>
                                            <p:cond delay="0"/>
                                          </p:stCondLst>
                                        </p:cTn>
                                        <p:tgtEl>
                                          <p:spTgt spid="12"/>
                                        </p:tgtEl>
                                        <p:attrNameLst>
                                          <p:attrName>ppt_y</p:attrName>
                                        </p:attrNameLst>
                                      </p:cBhvr>
                                    </p:anim>
                                    <p:animRot by="21600000">
                                      <p:cBhvr>
                                        <p:cTn id="23" dur="1000" fill="hold">
                                          <p:stCondLst>
                                            <p:cond delay="0"/>
                                          </p:stCondLst>
                                        </p:cTn>
                                        <p:tgtEl>
                                          <p:spTgt spid="12"/>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12"/>
                                        </p:tgtEl>
                                        <p:attrNameLst>
                                          <p:attrName>style.visibility</p:attrName>
                                        </p:attrNameLst>
                                      </p:cBhvr>
                                      <p:to>
                                        <p:strVal val="visible"/>
                                      </p:to>
                                    </p:set>
                                    <p:anim calcmode="lin" valueType="num">
                                      <p:cBhvr>
                                        <p:cTn id="26" dur="10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12"/>
                                        </p:tgtEl>
                                        <p:attrNameLst>
                                          <p:attrName>ppt_y</p:attrName>
                                        </p:attrNameLst>
                                      </p:cBhvr>
                                      <p:tavLst>
                                        <p:tav tm="0">
                                          <p:val>
                                            <p:strVal val="#ppt_y"/>
                                          </p:val>
                                        </p:tav>
                                        <p:tav tm="100000">
                                          <p:val>
                                            <p:strVal val="#ppt_y"/>
                                          </p:val>
                                        </p:tav>
                                      </p:tavLst>
                                    </p:anim>
                                    <p:anim calcmode="lin" valueType="num">
                                      <p:cBhvr>
                                        <p:cTn id="28" dur="10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40447">
                                            <p:txEl>
                                              <p:pRg st="0" end="0"/>
                                            </p:txEl>
                                          </p:spTgt>
                                        </p:tgtEl>
                                        <p:attrNameLst>
                                          <p:attrName>style.visibility</p:attrName>
                                        </p:attrNameLst>
                                      </p:cBhvr>
                                      <p:to>
                                        <p:strVal val="visible"/>
                                      </p:to>
                                    </p:set>
                                    <p:animEffect transition="in" filter="blinds(horizontal)">
                                      <p:cBhvr>
                                        <p:cTn id="35" dur="500"/>
                                        <p:tgtEl>
                                          <p:spTgt spid="740447">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740448"/>
                                        </p:tgtEl>
                                        <p:attrNameLst>
                                          <p:attrName>style.visibility</p:attrName>
                                        </p:attrNameLst>
                                      </p:cBhvr>
                                      <p:to>
                                        <p:strVal val="visible"/>
                                      </p:to>
                                    </p:set>
                                    <p:animEffect transition="in" filter="blinds(horizontal)">
                                      <p:cBhvr>
                                        <p:cTn id="40" dur="500"/>
                                        <p:tgtEl>
                                          <p:spTgt spid="740448"/>
                                        </p:tgtEl>
                                      </p:cBhvr>
                                    </p:animEffect>
                                  </p:childTnLst>
                                </p:cTn>
                              </p:par>
                            </p:childTnLst>
                          </p:cTn>
                        </p:par>
                      </p:childTnLst>
                    </p:cTn>
                  </p:par>
                  <p:par>
                    <p:cTn id="41" fill="hold">
                      <p:stCondLst>
                        <p:cond delay="indefinite"/>
                      </p:stCondLst>
                      <p:childTnLst>
                        <p:par>
                          <p:cTn id="42" fill="hold">
                            <p:stCondLst>
                              <p:cond delay="0"/>
                            </p:stCondLst>
                            <p:childTnLst>
                              <p:par>
                                <p:cTn id="43" presetID="12" presetClass="entr" presetSubtype="8"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anim calcmode="lin" valueType="num">
                                      <p:cBhvr additive="base">
                                        <p:cTn id="45" dur="500"/>
                                        <p:tgtEl>
                                          <p:spTgt spid="39"/>
                                        </p:tgtEl>
                                        <p:attrNameLst>
                                          <p:attrName>ppt_x</p:attrName>
                                        </p:attrNameLst>
                                      </p:cBhvr>
                                      <p:tavLst>
                                        <p:tav tm="0">
                                          <p:val>
                                            <p:strVal val="#ppt_x-#ppt_w*1.125000"/>
                                          </p:val>
                                        </p:tav>
                                        <p:tav tm="100000">
                                          <p:val>
                                            <p:strVal val="#ppt_x"/>
                                          </p:val>
                                        </p:tav>
                                      </p:tavLst>
                                    </p:anim>
                                    <p:animEffect transition="in" filter="wipe(right)">
                                      <p:cBhvr>
                                        <p:cTn id="46" dur="500"/>
                                        <p:tgtEl>
                                          <p:spTgt spid="39"/>
                                        </p:tgtEl>
                                      </p:cBhvr>
                                    </p:animEffect>
                                  </p:childTnLst>
                                </p:cTn>
                              </p:par>
                              <p:par>
                                <p:cTn id="47" presetID="12" presetClass="entr" presetSubtype="8" fill="hold" grpId="0" nodeType="withEffect">
                                  <p:stCondLst>
                                    <p:cond delay="30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p:tgtEl>
                                          <p:spTgt spid="14"/>
                                        </p:tgtEl>
                                        <p:attrNameLst>
                                          <p:attrName>ppt_x</p:attrName>
                                        </p:attrNameLst>
                                      </p:cBhvr>
                                      <p:tavLst>
                                        <p:tav tm="0">
                                          <p:val>
                                            <p:strVal val="#ppt_x-#ppt_w*1.125000"/>
                                          </p:val>
                                        </p:tav>
                                        <p:tav tm="100000">
                                          <p:val>
                                            <p:strVal val="#ppt_x"/>
                                          </p:val>
                                        </p:tav>
                                      </p:tavLst>
                                    </p:anim>
                                    <p:animEffect transition="in" filter="wipe(right)">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12" presetClass="entr" presetSubtype="8" fill="hold" grpId="0"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additive="base">
                                        <p:cTn id="55" dur="500"/>
                                        <p:tgtEl>
                                          <p:spTgt spid="18"/>
                                        </p:tgtEl>
                                        <p:attrNameLst>
                                          <p:attrName>ppt_x</p:attrName>
                                        </p:attrNameLst>
                                      </p:cBhvr>
                                      <p:tavLst>
                                        <p:tav tm="0">
                                          <p:val>
                                            <p:strVal val="#ppt_x-#ppt_w*1.125000"/>
                                          </p:val>
                                        </p:tav>
                                        <p:tav tm="100000">
                                          <p:val>
                                            <p:strVal val="#ppt_x"/>
                                          </p:val>
                                        </p:tav>
                                      </p:tavLst>
                                    </p:anim>
                                    <p:animEffect transition="in" filter="wipe(right)">
                                      <p:cBhvr>
                                        <p:cTn id="56" dur="500"/>
                                        <p:tgtEl>
                                          <p:spTgt spid="18"/>
                                        </p:tgtEl>
                                      </p:cBhvr>
                                    </p:animEffect>
                                  </p:childTnLst>
                                </p:cTn>
                              </p:par>
                              <p:par>
                                <p:cTn id="57" presetID="12" presetClass="entr" presetSubtype="8" fill="hold" grpId="0" nodeType="withEffect">
                                  <p:stCondLst>
                                    <p:cond delay="30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500"/>
                                        <p:tgtEl>
                                          <p:spTgt spid="15"/>
                                        </p:tgtEl>
                                        <p:attrNameLst>
                                          <p:attrName>ppt_x</p:attrName>
                                        </p:attrNameLst>
                                      </p:cBhvr>
                                      <p:tavLst>
                                        <p:tav tm="0">
                                          <p:val>
                                            <p:strVal val="#ppt_x-#ppt_w*1.125000"/>
                                          </p:val>
                                        </p:tav>
                                        <p:tav tm="100000">
                                          <p:val>
                                            <p:strVal val="#ppt_x"/>
                                          </p:val>
                                        </p:tav>
                                      </p:tavLst>
                                    </p:anim>
                                    <p:animEffect transition="in" filter="wipe(right)">
                                      <p:cBhvr>
                                        <p:cTn id="60" dur="500"/>
                                        <p:tgtEl>
                                          <p:spTgt spid="15"/>
                                        </p:tgtEl>
                                      </p:cBhvr>
                                    </p:animEffect>
                                  </p:childTnLst>
                                </p:cTn>
                              </p:par>
                            </p:childTnLst>
                          </p:cTn>
                        </p:par>
                      </p:childTnLst>
                    </p:cTn>
                  </p:par>
                  <p:par>
                    <p:cTn id="61" fill="hold">
                      <p:stCondLst>
                        <p:cond delay="indefinite"/>
                      </p:stCondLst>
                      <p:childTnLst>
                        <p:par>
                          <p:cTn id="62" fill="hold">
                            <p:stCondLst>
                              <p:cond delay="0"/>
                            </p:stCondLst>
                            <p:childTnLst>
                              <p:par>
                                <p:cTn id="63" presetID="54" presetClass="entr" presetSubtype="0" accel="100000" fill="hold" nodeType="clickEffect">
                                  <p:stCondLst>
                                    <p:cond delay="0"/>
                                  </p:stCondLst>
                                  <p:childTnLst>
                                    <p:set>
                                      <p:cBhvr>
                                        <p:cTn id="64" dur="1" fill="hold">
                                          <p:stCondLst>
                                            <p:cond delay="0"/>
                                          </p:stCondLst>
                                        </p:cTn>
                                        <p:tgtEl>
                                          <p:spTgt spid="26">
                                            <p:txEl>
                                              <p:pRg st="0" end="0"/>
                                            </p:txEl>
                                          </p:spTgt>
                                        </p:tgtEl>
                                        <p:attrNameLst>
                                          <p:attrName>style.visibility</p:attrName>
                                        </p:attrNameLst>
                                      </p:cBhvr>
                                      <p:to>
                                        <p:strVal val="visible"/>
                                      </p:to>
                                    </p:set>
                                    <p:anim calcmode="lin" valueType="num">
                                      <p:cBhvr>
                                        <p:cTn id="65" dur="500" fill="hold"/>
                                        <p:tgtEl>
                                          <p:spTgt spid="26">
                                            <p:txEl>
                                              <p:pRg st="0" end="0"/>
                                            </p:txEl>
                                          </p:spTgt>
                                        </p:tgtEl>
                                        <p:attrNameLst>
                                          <p:attrName>ppt_w</p:attrName>
                                        </p:attrNameLst>
                                      </p:cBhvr>
                                      <p:tavLst>
                                        <p:tav tm="0">
                                          <p:val>
                                            <p:strVal val="#ppt_w*0.05"/>
                                          </p:val>
                                        </p:tav>
                                        <p:tav tm="100000">
                                          <p:val>
                                            <p:strVal val="#ppt_w"/>
                                          </p:val>
                                        </p:tav>
                                      </p:tavLst>
                                    </p:anim>
                                    <p:anim calcmode="lin" valueType="num">
                                      <p:cBhvr>
                                        <p:cTn id="66" dur="500" fill="hold"/>
                                        <p:tgtEl>
                                          <p:spTgt spid="26">
                                            <p:txEl>
                                              <p:pRg st="0" end="0"/>
                                            </p:txEl>
                                          </p:spTgt>
                                        </p:tgtEl>
                                        <p:attrNameLst>
                                          <p:attrName>ppt_h</p:attrName>
                                        </p:attrNameLst>
                                      </p:cBhvr>
                                      <p:tavLst>
                                        <p:tav tm="0">
                                          <p:val>
                                            <p:strVal val="#ppt_h"/>
                                          </p:val>
                                        </p:tav>
                                        <p:tav tm="100000">
                                          <p:val>
                                            <p:strVal val="#ppt_h"/>
                                          </p:val>
                                        </p:tav>
                                      </p:tavLst>
                                    </p:anim>
                                    <p:anim calcmode="lin" valueType="num">
                                      <p:cBhvr>
                                        <p:cTn id="67" dur="500" fill="hold"/>
                                        <p:tgtEl>
                                          <p:spTgt spid="26">
                                            <p:txEl>
                                              <p:pRg st="0" end="0"/>
                                            </p:txEl>
                                          </p:spTgt>
                                        </p:tgtEl>
                                        <p:attrNameLst>
                                          <p:attrName>ppt_x</p:attrName>
                                        </p:attrNameLst>
                                      </p:cBhvr>
                                      <p:tavLst>
                                        <p:tav tm="0">
                                          <p:val>
                                            <p:strVal val="#ppt_x-.2"/>
                                          </p:val>
                                        </p:tav>
                                        <p:tav tm="100000">
                                          <p:val>
                                            <p:strVal val="#ppt_x"/>
                                          </p:val>
                                        </p:tav>
                                      </p:tavLst>
                                    </p:anim>
                                    <p:anim calcmode="lin" valueType="num">
                                      <p:cBhvr>
                                        <p:cTn id="68" dur="500" fill="hold"/>
                                        <p:tgtEl>
                                          <p:spTgt spid="26">
                                            <p:txEl>
                                              <p:pRg st="0" end="0"/>
                                            </p:txEl>
                                          </p:spTgt>
                                        </p:tgtEl>
                                        <p:attrNameLst>
                                          <p:attrName>ppt_y</p:attrName>
                                        </p:attrNameLst>
                                      </p:cBhvr>
                                      <p:tavLst>
                                        <p:tav tm="0">
                                          <p:val>
                                            <p:strVal val="#ppt_y"/>
                                          </p:val>
                                        </p:tav>
                                        <p:tav tm="100000">
                                          <p:val>
                                            <p:strVal val="#ppt_y"/>
                                          </p:val>
                                        </p:tav>
                                      </p:tavLst>
                                    </p:anim>
                                    <p:animEffect transition="in" filter="fade">
                                      <p:cBhvr>
                                        <p:cTn id="69" dur="500"/>
                                        <p:tgtEl>
                                          <p:spTgt spid="26">
                                            <p:txEl>
                                              <p:pRg st="0" end="0"/>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54" presetClass="entr" presetSubtype="0" accel="100000" fill="hold" nodeType="clickEffect">
                                  <p:stCondLst>
                                    <p:cond delay="0"/>
                                  </p:stCondLst>
                                  <p:childTnLst>
                                    <p:set>
                                      <p:cBhvr>
                                        <p:cTn id="73" dur="1" fill="hold">
                                          <p:stCondLst>
                                            <p:cond delay="0"/>
                                          </p:stCondLst>
                                        </p:cTn>
                                        <p:tgtEl>
                                          <p:spTgt spid="26">
                                            <p:txEl>
                                              <p:pRg st="1" end="1"/>
                                            </p:txEl>
                                          </p:spTgt>
                                        </p:tgtEl>
                                        <p:attrNameLst>
                                          <p:attrName>style.visibility</p:attrName>
                                        </p:attrNameLst>
                                      </p:cBhvr>
                                      <p:to>
                                        <p:strVal val="visible"/>
                                      </p:to>
                                    </p:set>
                                    <p:anim calcmode="lin" valueType="num">
                                      <p:cBhvr>
                                        <p:cTn id="74" dur="500" fill="hold"/>
                                        <p:tgtEl>
                                          <p:spTgt spid="26">
                                            <p:txEl>
                                              <p:pRg st="1" end="1"/>
                                            </p:txEl>
                                          </p:spTgt>
                                        </p:tgtEl>
                                        <p:attrNameLst>
                                          <p:attrName>ppt_w</p:attrName>
                                        </p:attrNameLst>
                                      </p:cBhvr>
                                      <p:tavLst>
                                        <p:tav tm="0">
                                          <p:val>
                                            <p:strVal val="#ppt_w*0.05"/>
                                          </p:val>
                                        </p:tav>
                                        <p:tav tm="100000">
                                          <p:val>
                                            <p:strVal val="#ppt_w"/>
                                          </p:val>
                                        </p:tav>
                                      </p:tavLst>
                                    </p:anim>
                                    <p:anim calcmode="lin" valueType="num">
                                      <p:cBhvr>
                                        <p:cTn id="75" dur="500" fill="hold"/>
                                        <p:tgtEl>
                                          <p:spTgt spid="26">
                                            <p:txEl>
                                              <p:pRg st="1" end="1"/>
                                            </p:txEl>
                                          </p:spTgt>
                                        </p:tgtEl>
                                        <p:attrNameLst>
                                          <p:attrName>ppt_h</p:attrName>
                                        </p:attrNameLst>
                                      </p:cBhvr>
                                      <p:tavLst>
                                        <p:tav tm="0">
                                          <p:val>
                                            <p:strVal val="#ppt_h"/>
                                          </p:val>
                                        </p:tav>
                                        <p:tav tm="100000">
                                          <p:val>
                                            <p:strVal val="#ppt_h"/>
                                          </p:val>
                                        </p:tav>
                                      </p:tavLst>
                                    </p:anim>
                                    <p:anim calcmode="lin" valueType="num">
                                      <p:cBhvr>
                                        <p:cTn id="76" dur="500" fill="hold"/>
                                        <p:tgtEl>
                                          <p:spTgt spid="26">
                                            <p:txEl>
                                              <p:pRg st="1" end="1"/>
                                            </p:txEl>
                                          </p:spTgt>
                                        </p:tgtEl>
                                        <p:attrNameLst>
                                          <p:attrName>ppt_x</p:attrName>
                                        </p:attrNameLst>
                                      </p:cBhvr>
                                      <p:tavLst>
                                        <p:tav tm="0">
                                          <p:val>
                                            <p:strVal val="#ppt_x-.2"/>
                                          </p:val>
                                        </p:tav>
                                        <p:tav tm="100000">
                                          <p:val>
                                            <p:strVal val="#ppt_x"/>
                                          </p:val>
                                        </p:tav>
                                      </p:tavLst>
                                    </p:anim>
                                    <p:anim calcmode="lin" valueType="num">
                                      <p:cBhvr>
                                        <p:cTn id="77" dur="500" fill="hold"/>
                                        <p:tgtEl>
                                          <p:spTgt spid="26">
                                            <p:txEl>
                                              <p:pRg st="1" end="1"/>
                                            </p:txEl>
                                          </p:spTgt>
                                        </p:tgtEl>
                                        <p:attrNameLst>
                                          <p:attrName>ppt_y</p:attrName>
                                        </p:attrNameLst>
                                      </p:cBhvr>
                                      <p:tavLst>
                                        <p:tav tm="0">
                                          <p:val>
                                            <p:strVal val="#ppt_y"/>
                                          </p:val>
                                        </p:tav>
                                        <p:tav tm="100000">
                                          <p:val>
                                            <p:strVal val="#ppt_y"/>
                                          </p:val>
                                        </p:tav>
                                      </p:tavLst>
                                    </p:anim>
                                    <p:animEffect transition="in" filter="fade">
                                      <p:cBhvr>
                                        <p:cTn id="78" dur="500"/>
                                        <p:tgtEl>
                                          <p:spTgt spid="26">
                                            <p:txEl>
                                              <p:pRg st="1" end="1"/>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54" presetClass="entr" presetSubtype="0" accel="100000" fill="hold" nodeType="clickEffect">
                                  <p:stCondLst>
                                    <p:cond delay="0"/>
                                  </p:stCondLst>
                                  <p:childTnLst>
                                    <p:set>
                                      <p:cBhvr>
                                        <p:cTn id="82" dur="1" fill="hold">
                                          <p:stCondLst>
                                            <p:cond delay="0"/>
                                          </p:stCondLst>
                                        </p:cTn>
                                        <p:tgtEl>
                                          <p:spTgt spid="26">
                                            <p:txEl>
                                              <p:pRg st="2" end="2"/>
                                            </p:txEl>
                                          </p:spTgt>
                                        </p:tgtEl>
                                        <p:attrNameLst>
                                          <p:attrName>style.visibility</p:attrName>
                                        </p:attrNameLst>
                                      </p:cBhvr>
                                      <p:to>
                                        <p:strVal val="visible"/>
                                      </p:to>
                                    </p:set>
                                    <p:anim calcmode="lin" valueType="num">
                                      <p:cBhvr>
                                        <p:cTn id="83" dur="500" fill="hold"/>
                                        <p:tgtEl>
                                          <p:spTgt spid="26">
                                            <p:txEl>
                                              <p:pRg st="2" end="2"/>
                                            </p:txEl>
                                          </p:spTgt>
                                        </p:tgtEl>
                                        <p:attrNameLst>
                                          <p:attrName>ppt_w</p:attrName>
                                        </p:attrNameLst>
                                      </p:cBhvr>
                                      <p:tavLst>
                                        <p:tav tm="0">
                                          <p:val>
                                            <p:strVal val="#ppt_w*0.05"/>
                                          </p:val>
                                        </p:tav>
                                        <p:tav tm="100000">
                                          <p:val>
                                            <p:strVal val="#ppt_w"/>
                                          </p:val>
                                        </p:tav>
                                      </p:tavLst>
                                    </p:anim>
                                    <p:anim calcmode="lin" valueType="num">
                                      <p:cBhvr>
                                        <p:cTn id="84" dur="500" fill="hold"/>
                                        <p:tgtEl>
                                          <p:spTgt spid="26">
                                            <p:txEl>
                                              <p:pRg st="2" end="2"/>
                                            </p:txEl>
                                          </p:spTgt>
                                        </p:tgtEl>
                                        <p:attrNameLst>
                                          <p:attrName>ppt_h</p:attrName>
                                        </p:attrNameLst>
                                      </p:cBhvr>
                                      <p:tavLst>
                                        <p:tav tm="0">
                                          <p:val>
                                            <p:strVal val="#ppt_h"/>
                                          </p:val>
                                        </p:tav>
                                        <p:tav tm="100000">
                                          <p:val>
                                            <p:strVal val="#ppt_h"/>
                                          </p:val>
                                        </p:tav>
                                      </p:tavLst>
                                    </p:anim>
                                    <p:anim calcmode="lin" valueType="num">
                                      <p:cBhvr>
                                        <p:cTn id="85" dur="500" fill="hold"/>
                                        <p:tgtEl>
                                          <p:spTgt spid="26">
                                            <p:txEl>
                                              <p:pRg st="2" end="2"/>
                                            </p:txEl>
                                          </p:spTgt>
                                        </p:tgtEl>
                                        <p:attrNameLst>
                                          <p:attrName>ppt_x</p:attrName>
                                        </p:attrNameLst>
                                      </p:cBhvr>
                                      <p:tavLst>
                                        <p:tav tm="0">
                                          <p:val>
                                            <p:strVal val="#ppt_x-.2"/>
                                          </p:val>
                                        </p:tav>
                                        <p:tav tm="100000">
                                          <p:val>
                                            <p:strVal val="#ppt_x"/>
                                          </p:val>
                                        </p:tav>
                                      </p:tavLst>
                                    </p:anim>
                                    <p:anim calcmode="lin" valueType="num">
                                      <p:cBhvr>
                                        <p:cTn id="86" dur="500" fill="hold"/>
                                        <p:tgtEl>
                                          <p:spTgt spid="26">
                                            <p:txEl>
                                              <p:pRg st="2" end="2"/>
                                            </p:txEl>
                                          </p:spTgt>
                                        </p:tgtEl>
                                        <p:attrNameLst>
                                          <p:attrName>ppt_y</p:attrName>
                                        </p:attrNameLst>
                                      </p:cBhvr>
                                      <p:tavLst>
                                        <p:tav tm="0">
                                          <p:val>
                                            <p:strVal val="#ppt_y"/>
                                          </p:val>
                                        </p:tav>
                                        <p:tav tm="100000">
                                          <p:val>
                                            <p:strVal val="#ppt_y"/>
                                          </p:val>
                                        </p:tav>
                                      </p:tavLst>
                                    </p:anim>
                                    <p:animEffect transition="in" filter="fade">
                                      <p:cBhvr>
                                        <p:cTn id="87" dur="500"/>
                                        <p:tgtEl>
                                          <p:spTgt spid="26">
                                            <p:txEl>
                                              <p:pRg st="2" end="2"/>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54" presetClass="entr" presetSubtype="0" accel="100000" fill="hold" nodeType="clickEffect">
                                  <p:stCondLst>
                                    <p:cond delay="0"/>
                                  </p:stCondLst>
                                  <p:childTnLst>
                                    <p:set>
                                      <p:cBhvr>
                                        <p:cTn id="91" dur="1" fill="hold">
                                          <p:stCondLst>
                                            <p:cond delay="0"/>
                                          </p:stCondLst>
                                        </p:cTn>
                                        <p:tgtEl>
                                          <p:spTgt spid="16">
                                            <p:txEl>
                                              <p:pRg st="0" end="0"/>
                                            </p:txEl>
                                          </p:spTgt>
                                        </p:tgtEl>
                                        <p:attrNameLst>
                                          <p:attrName>style.visibility</p:attrName>
                                        </p:attrNameLst>
                                      </p:cBhvr>
                                      <p:to>
                                        <p:strVal val="visible"/>
                                      </p:to>
                                    </p:set>
                                    <p:anim calcmode="lin" valueType="num">
                                      <p:cBhvr>
                                        <p:cTn id="92" dur="500" fill="hold"/>
                                        <p:tgtEl>
                                          <p:spTgt spid="16">
                                            <p:txEl>
                                              <p:pRg st="0" end="0"/>
                                            </p:txEl>
                                          </p:spTgt>
                                        </p:tgtEl>
                                        <p:attrNameLst>
                                          <p:attrName>ppt_w</p:attrName>
                                        </p:attrNameLst>
                                      </p:cBhvr>
                                      <p:tavLst>
                                        <p:tav tm="0">
                                          <p:val>
                                            <p:strVal val="#ppt_w*0.05"/>
                                          </p:val>
                                        </p:tav>
                                        <p:tav tm="100000">
                                          <p:val>
                                            <p:strVal val="#ppt_w"/>
                                          </p:val>
                                        </p:tav>
                                      </p:tavLst>
                                    </p:anim>
                                    <p:anim calcmode="lin" valueType="num">
                                      <p:cBhvr>
                                        <p:cTn id="93" dur="500" fill="hold"/>
                                        <p:tgtEl>
                                          <p:spTgt spid="16">
                                            <p:txEl>
                                              <p:pRg st="0" end="0"/>
                                            </p:txEl>
                                          </p:spTgt>
                                        </p:tgtEl>
                                        <p:attrNameLst>
                                          <p:attrName>ppt_h</p:attrName>
                                        </p:attrNameLst>
                                      </p:cBhvr>
                                      <p:tavLst>
                                        <p:tav tm="0">
                                          <p:val>
                                            <p:strVal val="#ppt_h"/>
                                          </p:val>
                                        </p:tav>
                                        <p:tav tm="100000">
                                          <p:val>
                                            <p:strVal val="#ppt_h"/>
                                          </p:val>
                                        </p:tav>
                                      </p:tavLst>
                                    </p:anim>
                                    <p:anim calcmode="lin" valueType="num">
                                      <p:cBhvr>
                                        <p:cTn id="94" dur="500" fill="hold"/>
                                        <p:tgtEl>
                                          <p:spTgt spid="16">
                                            <p:txEl>
                                              <p:pRg st="0" end="0"/>
                                            </p:txEl>
                                          </p:spTgt>
                                        </p:tgtEl>
                                        <p:attrNameLst>
                                          <p:attrName>ppt_x</p:attrName>
                                        </p:attrNameLst>
                                      </p:cBhvr>
                                      <p:tavLst>
                                        <p:tav tm="0">
                                          <p:val>
                                            <p:strVal val="#ppt_x-.2"/>
                                          </p:val>
                                        </p:tav>
                                        <p:tav tm="100000">
                                          <p:val>
                                            <p:strVal val="#ppt_x"/>
                                          </p:val>
                                        </p:tav>
                                      </p:tavLst>
                                    </p:anim>
                                    <p:anim calcmode="lin" valueType="num">
                                      <p:cBhvr>
                                        <p:cTn id="95" dur="500" fill="hold"/>
                                        <p:tgtEl>
                                          <p:spTgt spid="16">
                                            <p:txEl>
                                              <p:pRg st="0" end="0"/>
                                            </p:txEl>
                                          </p:spTgt>
                                        </p:tgtEl>
                                        <p:attrNameLst>
                                          <p:attrName>ppt_y</p:attrName>
                                        </p:attrNameLst>
                                      </p:cBhvr>
                                      <p:tavLst>
                                        <p:tav tm="0">
                                          <p:val>
                                            <p:strVal val="#ppt_y"/>
                                          </p:val>
                                        </p:tav>
                                        <p:tav tm="100000">
                                          <p:val>
                                            <p:strVal val="#ppt_y"/>
                                          </p:val>
                                        </p:tav>
                                      </p:tavLst>
                                    </p:anim>
                                    <p:animEffect transition="in" filter="fade">
                                      <p:cBhvr>
                                        <p:cTn id="96" dur="500"/>
                                        <p:tgtEl>
                                          <p:spTgt spid="16">
                                            <p:txEl>
                                              <p:pRg st="0" end="0"/>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54" presetClass="entr" presetSubtype="0" accel="100000" fill="hold" nodeType="clickEffect">
                                  <p:stCondLst>
                                    <p:cond delay="0"/>
                                  </p:stCondLst>
                                  <p:childTnLst>
                                    <p:set>
                                      <p:cBhvr>
                                        <p:cTn id="100" dur="1" fill="hold">
                                          <p:stCondLst>
                                            <p:cond delay="0"/>
                                          </p:stCondLst>
                                        </p:cTn>
                                        <p:tgtEl>
                                          <p:spTgt spid="16">
                                            <p:txEl>
                                              <p:pRg st="1" end="1"/>
                                            </p:txEl>
                                          </p:spTgt>
                                        </p:tgtEl>
                                        <p:attrNameLst>
                                          <p:attrName>style.visibility</p:attrName>
                                        </p:attrNameLst>
                                      </p:cBhvr>
                                      <p:to>
                                        <p:strVal val="visible"/>
                                      </p:to>
                                    </p:set>
                                    <p:anim calcmode="lin" valueType="num">
                                      <p:cBhvr>
                                        <p:cTn id="101" dur="500" fill="hold"/>
                                        <p:tgtEl>
                                          <p:spTgt spid="16">
                                            <p:txEl>
                                              <p:pRg st="1" end="1"/>
                                            </p:txEl>
                                          </p:spTgt>
                                        </p:tgtEl>
                                        <p:attrNameLst>
                                          <p:attrName>ppt_w</p:attrName>
                                        </p:attrNameLst>
                                      </p:cBhvr>
                                      <p:tavLst>
                                        <p:tav tm="0">
                                          <p:val>
                                            <p:strVal val="#ppt_w*0.05"/>
                                          </p:val>
                                        </p:tav>
                                        <p:tav tm="100000">
                                          <p:val>
                                            <p:strVal val="#ppt_w"/>
                                          </p:val>
                                        </p:tav>
                                      </p:tavLst>
                                    </p:anim>
                                    <p:anim calcmode="lin" valueType="num">
                                      <p:cBhvr>
                                        <p:cTn id="102" dur="500" fill="hold"/>
                                        <p:tgtEl>
                                          <p:spTgt spid="16">
                                            <p:txEl>
                                              <p:pRg st="1" end="1"/>
                                            </p:txEl>
                                          </p:spTgt>
                                        </p:tgtEl>
                                        <p:attrNameLst>
                                          <p:attrName>ppt_h</p:attrName>
                                        </p:attrNameLst>
                                      </p:cBhvr>
                                      <p:tavLst>
                                        <p:tav tm="0">
                                          <p:val>
                                            <p:strVal val="#ppt_h"/>
                                          </p:val>
                                        </p:tav>
                                        <p:tav tm="100000">
                                          <p:val>
                                            <p:strVal val="#ppt_h"/>
                                          </p:val>
                                        </p:tav>
                                      </p:tavLst>
                                    </p:anim>
                                    <p:anim calcmode="lin" valueType="num">
                                      <p:cBhvr>
                                        <p:cTn id="103" dur="500" fill="hold"/>
                                        <p:tgtEl>
                                          <p:spTgt spid="16">
                                            <p:txEl>
                                              <p:pRg st="1" end="1"/>
                                            </p:txEl>
                                          </p:spTgt>
                                        </p:tgtEl>
                                        <p:attrNameLst>
                                          <p:attrName>ppt_x</p:attrName>
                                        </p:attrNameLst>
                                      </p:cBhvr>
                                      <p:tavLst>
                                        <p:tav tm="0">
                                          <p:val>
                                            <p:strVal val="#ppt_x-.2"/>
                                          </p:val>
                                        </p:tav>
                                        <p:tav tm="100000">
                                          <p:val>
                                            <p:strVal val="#ppt_x"/>
                                          </p:val>
                                        </p:tav>
                                      </p:tavLst>
                                    </p:anim>
                                    <p:anim calcmode="lin" valueType="num">
                                      <p:cBhvr>
                                        <p:cTn id="104" dur="500" fill="hold"/>
                                        <p:tgtEl>
                                          <p:spTgt spid="16">
                                            <p:txEl>
                                              <p:pRg st="1" end="1"/>
                                            </p:txEl>
                                          </p:spTgt>
                                        </p:tgtEl>
                                        <p:attrNameLst>
                                          <p:attrName>ppt_y</p:attrName>
                                        </p:attrNameLst>
                                      </p:cBhvr>
                                      <p:tavLst>
                                        <p:tav tm="0">
                                          <p:val>
                                            <p:strVal val="#ppt_y"/>
                                          </p:val>
                                        </p:tav>
                                        <p:tav tm="100000">
                                          <p:val>
                                            <p:strVal val="#ppt_y"/>
                                          </p:val>
                                        </p:tav>
                                      </p:tavLst>
                                    </p:anim>
                                    <p:animEffect transition="in" filter="fade">
                                      <p:cBhvr>
                                        <p:cTn id="105" dur="500"/>
                                        <p:tgtEl>
                                          <p:spTgt spid="16">
                                            <p:txEl>
                                              <p:pRg st="1" end="1"/>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54" presetClass="entr" presetSubtype="0" accel="100000" fill="hold" nodeType="clickEffect">
                                  <p:stCondLst>
                                    <p:cond delay="0"/>
                                  </p:stCondLst>
                                  <p:childTnLst>
                                    <p:set>
                                      <p:cBhvr>
                                        <p:cTn id="109" dur="1" fill="hold">
                                          <p:stCondLst>
                                            <p:cond delay="0"/>
                                          </p:stCondLst>
                                        </p:cTn>
                                        <p:tgtEl>
                                          <p:spTgt spid="16">
                                            <p:txEl>
                                              <p:pRg st="2" end="2"/>
                                            </p:txEl>
                                          </p:spTgt>
                                        </p:tgtEl>
                                        <p:attrNameLst>
                                          <p:attrName>style.visibility</p:attrName>
                                        </p:attrNameLst>
                                      </p:cBhvr>
                                      <p:to>
                                        <p:strVal val="visible"/>
                                      </p:to>
                                    </p:set>
                                    <p:anim calcmode="lin" valueType="num">
                                      <p:cBhvr>
                                        <p:cTn id="110" dur="500" fill="hold"/>
                                        <p:tgtEl>
                                          <p:spTgt spid="16">
                                            <p:txEl>
                                              <p:pRg st="2" end="2"/>
                                            </p:txEl>
                                          </p:spTgt>
                                        </p:tgtEl>
                                        <p:attrNameLst>
                                          <p:attrName>ppt_w</p:attrName>
                                        </p:attrNameLst>
                                      </p:cBhvr>
                                      <p:tavLst>
                                        <p:tav tm="0">
                                          <p:val>
                                            <p:strVal val="#ppt_w*0.05"/>
                                          </p:val>
                                        </p:tav>
                                        <p:tav tm="100000">
                                          <p:val>
                                            <p:strVal val="#ppt_w"/>
                                          </p:val>
                                        </p:tav>
                                      </p:tavLst>
                                    </p:anim>
                                    <p:anim calcmode="lin" valueType="num">
                                      <p:cBhvr>
                                        <p:cTn id="111" dur="500" fill="hold"/>
                                        <p:tgtEl>
                                          <p:spTgt spid="16">
                                            <p:txEl>
                                              <p:pRg st="2" end="2"/>
                                            </p:txEl>
                                          </p:spTgt>
                                        </p:tgtEl>
                                        <p:attrNameLst>
                                          <p:attrName>ppt_h</p:attrName>
                                        </p:attrNameLst>
                                      </p:cBhvr>
                                      <p:tavLst>
                                        <p:tav tm="0">
                                          <p:val>
                                            <p:strVal val="#ppt_h"/>
                                          </p:val>
                                        </p:tav>
                                        <p:tav tm="100000">
                                          <p:val>
                                            <p:strVal val="#ppt_h"/>
                                          </p:val>
                                        </p:tav>
                                      </p:tavLst>
                                    </p:anim>
                                    <p:anim calcmode="lin" valueType="num">
                                      <p:cBhvr>
                                        <p:cTn id="112" dur="500" fill="hold"/>
                                        <p:tgtEl>
                                          <p:spTgt spid="16">
                                            <p:txEl>
                                              <p:pRg st="2" end="2"/>
                                            </p:txEl>
                                          </p:spTgt>
                                        </p:tgtEl>
                                        <p:attrNameLst>
                                          <p:attrName>ppt_x</p:attrName>
                                        </p:attrNameLst>
                                      </p:cBhvr>
                                      <p:tavLst>
                                        <p:tav tm="0">
                                          <p:val>
                                            <p:strVal val="#ppt_x-.2"/>
                                          </p:val>
                                        </p:tav>
                                        <p:tav tm="100000">
                                          <p:val>
                                            <p:strVal val="#ppt_x"/>
                                          </p:val>
                                        </p:tav>
                                      </p:tavLst>
                                    </p:anim>
                                    <p:anim calcmode="lin" valueType="num">
                                      <p:cBhvr>
                                        <p:cTn id="113" dur="500" fill="hold"/>
                                        <p:tgtEl>
                                          <p:spTgt spid="16">
                                            <p:txEl>
                                              <p:pRg st="2" end="2"/>
                                            </p:txEl>
                                          </p:spTgt>
                                        </p:tgtEl>
                                        <p:attrNameLst>
                                          <p:attrName>ppt_y</p:attrName>
                                        </p:attrNameLst>
                                      </p:cBhvr>
                                      <p:tavLst>
                                        <p:tav tm="0">
                                          <p:val>
                                            <p:strVal val="#ppt_y"/>
                                          </p:val>
                                        </p:tav>
                                        <p:tav tm="100000">
                                          <p:val>
                                            <p:strVal val="#ppt_y"/>
                                          </p:val>
                                        </p:tav>
                                      </p:tavLst>
                                    </p:anim>
                                    <p:animEffect transition="in" filter="fade">
                                      <p:cBhvr>
                                        <p:cTn id="114" dur="500"/>
                                        <p:tgtEl>
                                          <p:spTgt spid="16">
                                            <p:txEl>
                                              <p:pRg st="2" end="2"/>
                                            </p:txEl>
                                          </p:spTgt>
                                        </p:tgtEl>
                                      </p:cBhvr>
                                    </p:animEffect>
                                  </p:childTnLst>
                                </p:cTn>
                              </p:par>
                            </p:childTnLst>
                          </p:cTn>
                        </p:par>
                      </p:childTnLst>
                    </p:cTn>
                  </p:par>
                  <p:par>
                    <p:cTn id="115" fill="hold">
                      <p:stCondLst>
                        <p:cond delay="indefinite"/>
                      </p:stCondLst>
                      <p:childTnLst>
                        <p:par>
                          <p:cTn id="116" fill="hold">
                            <p:stCondLst>
                              <p:cond delay="0"/>
                            </p:stCondLst>
                            <p:childTnLst>
                              <p:par>
                                <p:cTn id="117" presetID="54" presetClass="entr" presetSubtype="0" accel="100000" fill="hold" nodeType="clickEffect">
                                  <p:stCondLst>
                                    <p:cond delay="0"/>
                                  </p:stCondLst>
                                  <p:childTnLst>
                                    <p:set>
                                      <p:cBhvr>
                                        <p:cTn id="118" dur="1" fill="hold">
                                          <p:stCondLst>
                                            <p:cond delay="0"/>
                                          </p:stCondLst>
                                        </p:cTn>
                                        <p:tgtEl>
                                          <p:spTgt spid="16">
                                            <p:txEl>
                                              <p:pRg st="3" end="3"/>
                                            </p:txEl>
                                          </p:spTgt>
                                        </p:tgtEl>
                                        <p:attrNameLst>
                                          <p:attrName>style.visibility</p:attrName>
                                        </p:attrNameLst>
                                      </p:cBhvr>
                                      <p:to>
                                        <p:strVal val="visible"/>
                                      </p:to>
                                    </p:set>
                                    <p:anim calcmode="lin" valueType="num">
                                      <p:cBhvr>
                                        <p:cTn id="119" dur="500" fill="hold"/>
                                        <p:tgtEl>
                                          <p:spTgt spid="16">
                                            <p:txEl>
                                              <p:pRg st="3" end="3"/>
                                            </p:txEl>
                                          </p:spTgt>
                                        </p:tgtEl>
                                        <p:attrNameLst>
                                          <p:attrName>ppt_w</p:attrName>
                                        </p:attrNameLst>
                                      </p:cBhvr>
                                      <p:tavLst>
                                        <p:tav tm="0">
                                          <p:val>
                                            <p:strVal val="#ppt_w*0.05"/>
                                          </p:val>
                                        </p:tav>
                                        <p:tav tm="100000">
                                          <p:val>
                                            <p:strVal val="#ppt_w"/>
                                          </p:val>
                                        </p:tav>
                                      </p:tavLst>
                                    </p:anim>
                                    <p:anim calcmode="lin" valueType="num">
                                      <p:cBhvr>
                                        <p:cTn id="120" dur="500" fill="hold"/>
                                        <p:tgtEl>
                                          <p:spTgt spid="16">
                                            <p:txEl>
                                              <p:pRg st="3" end="3"/>
                                            </p:txEl>
                                          </p:spTgt>
                                        </p:tgtEl>
                                        <p:attrNameLst>
                                          <p:attrName>ppt_h</p:attrName>
                                        </p:attrNameLst>
                                      </p:cBhvr>
                                      <p:tavLst>
                                        <p:tav tm="0">
                                          <p:val>
                                            <p:strVal val="#ppt_h"/>
                                          </p:val>
                                        </p:tav>
                                        <p:tav tm="100000">
                                          <p:val>
                                            <p:strVal val="#ppt_h"/>
                                          </p:val>
                                        </p:tav>
                                      </p:tavLst>
                                    </p:anim>
                                    <p:anim calcmode="lin" valueType="num">
                                      <p:cBhvr>
                                        <p:cTn id="121" dur="500" fill="hold"/>
                                        <p:tgtEl>
                                          <p:spTgt spid="16">
                                            <p:txEl>
                                              <p:pRg st="3" end="3"/>
                                            </p:txEl>
                                          </p:spTgt>
                                        </p:tgtEl>
                                        <p:attrNameLst>
                                          <p:attrName>ppt_x</p:attrName>
                                        </p:attrNameLst>
                                      </p:cBhvr>
                                      <p:tavLst>
                                        <p:tav tm="0">
                                          <p:val>
                                            <p:strVal val="#ppt_x-.2"/>
                                          </p:val>
                                        </p:tav>
                                        <p:tav tm="100000">
                                          <p:val>
                                            <p:strVal val="#ppt_x"/>
                                          </p:val>
                                        </p:tav>
                                      </p:tavLst>
                                    </p:anim>
                                    <p:anim calcmode="lin" valueType="num">
                                      <p:cBhvr>
                                        <p:cTn id="122" dur="500" fill="hold"/>
                                        <p:tgtEl>
                                          <p:spTgt spid="16">
                                            <p:txEl>
                                              <p:pRg st="3" end="3"/>
                                            </p:txEl>
                                          </p:spTgt>
                                        </p:tgtEl>
                                        <p:attrNameLst>
                                          <p:attrName>ppt_y</p:attrName>
                                        </p:attrNameLst>
                                      </p:cBhvr>
                                      <p:tavLst>
                                        <p:tav tm="0">
                                          <p:val>
                                            <p:strVal val="#ppt_y"/>
                                          </p:val>
                                        </p:tav>
                                        <p:tav tm="100000">
                                          <p:val>
                                            <p:strVal val="#ppt_y"/>
                                          </p:val>
                                        </p:tav>
                                      </p:tavLst>
                                    </p:anim>
                                    <p:animEffect transition="in" filter="fade">
                                      <p:cBhvr>
                                        <p:cTn id="123" dur="500"/>
                                        <p:tgtEl>
                                          <p:spTgt spid="16">
                                            <p:txEl>
                                              <p:pRg st="3" end="3"/>
                                            </p:txEl>
                                          </p:spTgt>
                                        </p:tgtEl>
                                      </p:cBhvr>
                                    </p:animEffect>
                                  </p:childTnLst>
                                </p:cTn>
                              </p:par>
                            </p:childTnLst>
                          </p:cTn>
                        </p:par>
                      </p:childTnLst>
                    </p:cTn>
                  </p:par>
                  <p:par>
                    <p:cTn id="124" fill="hold">
                      <p:stCondLst>
                        <p:cond delay="indefinite"/>
                      </p:stCondLst>
                      <p:childTnLst>
                        <p:par>
                          <p:cTn id="125" fill="hold">
                            <p:stCondLst>
                              <p:cond delay="0"/>
                            </p:stCondLst>
                            <p:childTnLst>
                              <p:par>
                                <p:cTn id="126" presetID="54" presetClass="entr" presetSubtype="0" accel="100000" fill="hold" nodeType="clickEffect">
                                  <p:stCondLst>
                                    <p:cond delay="0"/>
                                  </p:stCondLst>
                                  <p:childTnLst>
                                    <p:set>
                                      <p:cBhvr>
                                        <p:cTn id="127" dur="1" fill="hold">
                                          <p:stCondLst>
                                            <p:cond delay="0"/>
                                          </p:stCondLst>
                                        </p:cTn>
                                        <p:tgtEl>
                                          <p:spTgt spid="16">
                                            <p:txEl>
                                              <p:pRg st="4" end="4"/>
                                            </p:txEl>
                                          </p:spTgt>
                                        </p:tgtEl>
                                        <p:attrNameLst>
                                          <p:attrName>style.visibility</p:attrName>
                                        </p:attrNameLst>
                                      </p:cBhvr>
                                      <p:to>
                                        <p:strVal val="visible"/>
                                      </p:to>
                                    </p:set>
                                    <p:anim calcmode="lin" valueType="num">
                                      <p:cBhvr>
                                        <p:cTn id="128" dur="500" fill="hold"/>
                                        <p:tgtEl>
                                          <p:spTgt spid="16">
                                            <p:txEl>
                                              <p:pRg st="4" end="4"/>
                                            </p:txEl>
                                          </p:spTgt>
                                        </p:tgtEl>
                                        <p:attrNameLst>
                                          <p:attrName>ppt_w</p:attrName>
                                        </p:attrNameLst>
                                      </p:cBhvr>
                                      <p:tavLst>
                                        <p:tav tm="0">
                                          <p:val>
                                            <p:strVal val="#ppt_w*0.05"/>
                                          </p:val>
                                        </p:tav>
                                        <p:tav tm="100000">
                                          <p:val>
                                            <p:strVal val="#ppt_w"/>
                                          </p:val>
                                        </p:tav>
                                      </p:tavLst>
                                    </p:anim>
                                    <p:anim calcmode="lin" valueType="num">
                                      <p:cBhvr>
                                        <p:cTn id="129" dur="500" fill="hold"/>
                                        <p:tgtEl>
                                          <p:spTgt spid="16">
                                            <p:txEl>
                                              <p:pRg st="4" end="4"/>
                                            </p:txEl>
                                          </p:spTgt>
                                        </p:tgtEl>
                                        <p:attrNameLst>
                                          <p:attrName>ppt_h</p:attrName>
                                        </p:attrNameLst>
                                      </p:cBhvr>
                                      <p:tavLst>
                                        <p:tav tm="0">
                                          <p:val>
                                            <p:strVal val="#ppt_h"/>
                                          </p:val>
                                        </p:tav>
                                        <p:tav tm="100000">
                                          <p:val>
                                            <p:strVal val="#ppt_h"/>
                                          </p:val>
                                        </p:tav>
                                      </p:tavLst>
                                    </p:anim>
                                    <p:anim calcmode="lin" valueType="num">
                                      <p:cBhvr>
                                        <p:cTn id="130" dur="500" fill="hold"/>
                                        <p:tgtEl>
                                          <p:spTgt spid="16">
                                            <p:txEl>
                                              <p:pRg st="4" end="4"/>
                                            </p:txEl>
                                          </p:spTgt>
                                        </p:tgtEl>
                                        <p:attrNameLst>
                                          <p:attrName>ppt_x</p:attrName>
                                        </p:attrNameLst>
                                      </p:cBhvr>
                                      <p:tavLst>
                                        <p:tav tm="0">
                                          <p:val>
                                            <p:strVal val="#ppt_x-.2"/>
                                          </p:val>
                                        </p:tav>
                                        <p:tav tm="100000">
                                          <p:val>
                                            <p:strVal val="#ppt_x"/>
                                          </p:val>
                                        </p:tav>
                                      </p:tavLst>
                                    </p:anim>
                                    <p:anim calcmode="lin" valueType="num">
                                      <p:cBhvr>
                                        <p:cTn id="131" dur="500" fill="hold"/>
                                        <p:tgtEl>
                                          <p:spTgt spid="16">
                                            <p:txEl>
                                              <p:pRg st="4" end="4"/>
                                            </p:txEl>
                                          </p:spTgt>
                                        </p:tgtEl>
                                        <p:attrNameLst>
                                          <p:attrName>ppt_y</p:attrName>
                                        </p:attrNameLst>
                                      </p:cBhvr>
                                      <p:tavLst>
                                        <p:tav tm="0">
                                          <p:val>
                                            <p:strVal val="#ppt_y"/>
                                          </p:val>
                                        </p:tav>
                                        <p:tav tm="100000">
                                          <p:val>
                                            <p:strVal val="#ppt_y"/>
                                          </p:val>
                                        </p:tav>
                                      </p:tavLst>
                                    </p:anim>
                                    <p:animEffect transition="in" filter="fade">
                                      <p:cBhvr>
                                        <p:cTn id="132" dur="500"/>
                                        <p:tgtEl>
                                          <p:spTgt spid="16">
                                            <p:txEl>
                                              <p:pRg st="4" end="4"/>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54" presetClass="entr" presetSubtype="0" accel="100000" fill="hold" nodeType="clickEffect">
                                  <p:stCondLst>
                                    <p:cond delay="0"/>
                                  </p:stCondLst>
                                  <p:childTnLst>
                                    <p:set>
                                      <p:cBhvr>
                                        <p:cTn id="136" dur="1" fill="hold">
                                          <p:stCondLst>
                                            <p:cond delay="0"/>
                                          </p:stCondLst>
                                        </p:cTn>
                                        <p:tgtEl>
                                          <p:spTgt spid="16">
                                            <p:txEl>
                                              <p:pRg st="5" end="5"/>
                                            </p:txEl>
                                          </p:spTgt>
                                        </p:tgtEl>
                                        <p:attrNameLst>
                                          <p:attrName>style.visibility</p:attrName>
                                        </p:attrNameLst>
                                      </p:cBhvr>
                                      <p:to>
                                        <p:strVal val="visible"/>
                                      </p:to>
                                    </p:set>
                                    <p:anim calcmode="lin" valueType="num">
                                      <p:cBhvr>
                                        <p:cTn id="137" dur="500" fill="hold"/>
                                        <p:tgtEl>
                                          <p:spTgt spid="16">
                                            <p:txEl>
                                              <p:pRg st="5" end="5"/>
                                            </p:txEl>
                                          </p:spTgt>
                                        </p:tgtEl>
                                        <p:attrNameLst>
                                          <p:attrName>ppt_w</p:attrName>
                                        </p:attrNameLst>
                                      </p:cBhvr>
                                      <p:tavLst>
                                        <p:tav tm="0">
                                          <p:val>
                                            <p:strVal val="#ppt_w*0.05"/>
                                          </p:val>
                                        </p:tav>
                                        <p:tav tm="100000">
                                          <p:val>
                                            <p:strVal val="#ppt_w"/>
                                          </p:val>
                                        </p:tav>
                                      </p:tavLst>
                                    </p:anim>
                                    <p:anim calcmode="lin" valueType="num">
                                      <p:cBhvr>
                                        <p:cTn id="138" dur="500" fill="hold"/>
                                        <p:tgtEl>
                                          <p:spTgt spid="16">
                                            <p:txEl>
                                              <p:pRg st="5" end="5"/>
                                            </p:txEl>
                                          </p:spTgt>
                                        </p:tgtEl>
                                        <p:attrNameLst>
                                          <p:attrName>ppt_h</p:attrName>
                                        </p:attrNameLst>
                                      </p:cBhvr>
                                      <p:tavLst>
                                        <p:tav tm="0">
                                          <p:val>
                                            <p:strVal val="#ppt_h"/>
                                          </p:val>
                                        </p:tav>
                                        <p:tav tm="100000">
                                          <p:val>
                                            <p:strVal val="#ppt_h"/>
                                          </p:val>
                                        </p:tav>
                                      </p:tavLst>
                                    </p:anim>
                                    <p:anim calcmode="lin" valueType="num">
                                      <p:cBhvr>
                                        <p:cTn id="139" dur="500" fill="hold"/>
                                        <p:tgtEl>
                                          <p:spTgt spid="16">
                                            <p:txEl>
                                              <p:pRg st="5" end="5"/>
                                            </p:txEl>
                                          </p:spTgt>
                                        </p:tgtEl>
                                        <p:attrNameLst>
                                          <p:attrName>ppt_x</p:attrName>
                                        </p:attrNameLst>
                                      </p:cBhvr>
                                      <p:tavLst>
                                        <p:tav tm="0">
                                          <p:val>
                                            <p:strVal val="#ppt_x-.2"/>
                                          </p:val>
                                        </p:tav>
                                        <p:tav tm="100000">
                                          <p:val>
                                            <p:strVal val="#ppt_x"/>
                                          </p:val>
                                        </p:tav>
                                      </p:tavLst>
                                    </p:anim>
                                    <p:anim calcmode="lin" valueType="num">
                                      <p:cBhvr>
                                        <p:cTn id="140" dur="500" fill="hold"/>
                                        <p:tgtEl>
                                          <p:spTgt spid="16">
                                            <p:txEl>
                                              <p:pRg st="5" end="5"/>
                                            </p:txEl>
                                          </p:spTgt>
                                        </p:tgtEl>
                                        <p:attrNameLst>
                                          <p:attrName>ppt_y</p:attrName>
                                        </p:attrNameLst>
                                      </p:cBhvr>
                                      <p:tavLst>
                                        <p:tav tm="0">
                                          <p:val>
                                            <p:strVal val="#ppt_y"/>
                                          </p:val>
                                        </p:tav>
                                        <p:tav tm="100000">
                                          <p:val>
                                            <p:strVal val="#ppt_y"/>
                                          </p:val>
                                        </p:tav>
                                      </p:tavLst>
                                    </p:anim>
                                    <p:animEffect transition="in" filter="fade">
                                      <p:cBhvr>
                                        <p:cTn id="141" dur="500"/>
                                        <p:tgtEl>
                                          <p:spTgt spid="16">
                                            <p:txEl>
                                              <p:pRg st="5" end="5"/>
                                            </p:txEl>
                                          </p:spTgt>
                                        </p:tgtEl>
                                      </p:cBhvr>
                                    </p:animEffect>
                                  </p:childTnLst>
                                </p:cTn>
                              </p:par>
                            </p:childTnLst>
                          </p:cTn>
                        </p:par>
                      </p:childTnLst>
                    </p:cTn>
                  </p:par>
                  <p:par>
                    <p:cTn id="142" fill="hold">
                      <p:stCondLst>
                        <p:cond delay="indefinite"/>
                      </p:stCondLst>
                      <p:childTnLst>
                        <p:par>
                          <p:cTn id="143" fill="hold">
                            <p:stCondLst>
                              <p:cond delay="0"/>
                            </p:stCondLst>
                            <p:childTnLst>
                              <p:par>
                                <p:cTn id="144" presetID="54" presetClass="entr" presetSubtype="0" accel="100000" fill="hold" nodeType="clickEffect">
                                  <p:stCondLst>
                                    <p:cond delay="0"/>
                                  </p:stCondLst>
                                  <p:childTnLst>
                                    <p:set>
                                      <p:cBhvr>
                                        <p:cTn id="145" dur="1" fill="hold">
                                          <p:stCondLst>
                                            <p:cond delay="0"/>
                                          </p:stCondLst>
                                        </p:cTn>
                                        <p:tgtEl>
                                          <p:spTgt spid="16">
                                            <p:txEl>
                                              <p:pRg st="6" end="6"/>
                                            </p:txEl>
                                          </p:spTgt>
                                        </p:tgtEl>
                                        <p:attrNameLst>
                                          <p:attrName>style.visibility</p:attrName>
                                        </p:attrNameLst>
                                      </p:cBhvr>
                                      <p:to>
                                        <p:strVal val="visible"/>
                                      </p:to>
                                    </p:set>
                                    <p:anim calcmode="lin" valueType="num">
                                      <p:cBhvr>
                                        <p:cTn id="146" dur="500" fill="hold"/>
                                        <p:tgtEl>
                                          <p:spTgt spid="16">
                                            <p:txEl>
                                              <p:pRg st="6" end="6"/>
                                            </p:txEl>
                                          </p:spTgt>
                                        </p:tgtEl>
                                        <p:attrNameLst>
                                          <p:attrName>ppt_w</p:attrName>
                                        </p:attrNameLst>
                                      </p:cBhvr>
                                      <p:tavLst>
                                        <p:tav tm="0">
                                          <p:val>
                                            <p:strVal val="#ppt_w*0.05"/>
                                          </p:val>
                                        </p:tav>
                                        <p:tav tm="100000">
                                          <p:val>
                                            <p:strVal val="#ppt_w"/>
                                          </p:val>
                                        </p:tav>
                                      </p:tavLst>
                                    </p:anim>
                                    <p:anim calcmode="lin" valueType="num">
                                      <p:cBhvr>
                                        <p:cTn id="147" dur="500" fill="hold"/>
                                        <p:tgtEl>
                                          <p:spTgt spid="16">
                                            <p:txEl>
                                              <p:pRg st="6" end="6"/>
                                            </p:txEl>
                                          </p:spTgt>
                                        </p:tgtEl>
                                        <p:attrNameLst>
                                          <p:attrName>ppt_h</p:attrName>
                                        </p:attrNameLst>
                                      </p:cBhvr>
                                      <p:tavLst>
                                        <p:tav tm="0">
                                          <p:val>
                                            <p:strVal val="#ppt_h"/>
                                          </p:val>
                                        </p:tav>
                                        <p:tav tm="100000">
                                          <p:val>
                                            <p:strVal val="#ppt_h"/>
                                          </p:val>
                                        </p:tav>
                                      </p:tavLst>
                                    </p:anim>
                                    <p:anim calcmode="lin" valueType="num">
                                      <p:cBhvr>
                                        <p:cTn id="148" dur="500" fill="hold"/>
                                        <p:tgtEl>
                                          <p:spTgt spid="16">
                                            <p:txEl>
                                              <p:pRg st="6" end="6"/>
                                            </p:txEl>
                                          </p:spTgt>
                                        </p:tgtEl>
                                        <p:attrNameLst>
                                          <p:attrName>ppt_x</p:attrName>
                                        </p:attrNameLst>
                                      </p:cBhvr>
                                      <p:tavLst>
                                        <p:tav tm="0">
                                          <p:val>
                                            <p:strVal val="#ppt_x-.2"/>
                                          </p:val>
                                        </p:tav>
                                        <p:tav tm="100000">
                                          <p:val>
                                            <p:strVal val="#ppt_x"/>
                                          </p:val>
                                        </p:tav>
                                      </p:tavLst>
                                    </p:anim>
                                    <p:anim calcmode="lin" valueType="num">
                                      <p:cBhvr>
                                        <p:cTn id="149" dur="500" fill="hold"/>
                                        <p:tgtEl>
                                          <p:spTgt spid="16">
                                            <p:txEl>
                                              <p:pRg st="6" end="6"/>
                                            </p:txEl>
                                          </p:spTgt>
                                        </p:tgtEl>
                                        <p:attrNameLst>
                                          <p:attrName>ppt_y</p:attrName>
                                        </p:attrNameLst>
                                      </p:cBhvr>
                                      <p:tavLst>
                                        <p:tav tm="0">
                                          <p:val>
                                            <p:strVal val="#ppt_y"/>
                                          </p:val>
                                        </p:tav>
                                        <p:tav tm="100000">
                                          <p:val>
                                            <p:strVal val="#ppt_y"/>
                                          </p:val>
                                        </p:tav>
                                      </p:tavLst>
                                    </p:anim>
                                    <p:animEffect transition="in" filter="fade">
                                      <p:cBhvr>
                                        <p:cTn id="150" dur="500"/>
                                        <p:tgtEl>
                                          <p:spTgt spid="1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p:bldP spid="12" grpId="1"/>
      <p:bldP spid="740448" grpId="0" bldLvl="0" animBg="1"/>
      <p:bldP spid="14" grpId="0"/>
      <p:bldP spid="39" grpId="0" bldLvl="0" animBg="1"/>
      <p:bldP spid="15" grpId="0"/>
      <p:bldP spid="1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94839" y="25422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74533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4115276" y="74533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4801201" y="307438"/>
            <a:ext cx="3230880" cy="460375"/>
          </a:xfrm>
          <a:prstGeom prst="rect">
            <a:avLst/>
          </a:prstGeom>
          <a:noFill/>
        </p:spPr>
        <p:txBody>
          <a:bodyPr wrap="none" rtlCol="0">
            <a:spAutoFit/>
          </a:bodyPr>
          <a:lstStyle/>
          <a:p>
            <a:pPr algn="ctr"/>
            <a:r>
              <a:rPr lang="zh-CN" altLang="en-US" sz="2400" b="1" dirty="0">
                <a:gradFill>
                  <a:gsLst>
                    <a:gs pos="0">
                      <a:srgbClr val="F17475"/>
                    </a:gs>
                    <a:gs pos="57000">
                      <a:srgbClr val="01B3C5"/>
                    </a:gs>
                    <a:gs pos="100000">
                      <a:srgbClr val="C65885"/>
                    </a:gs>
                  </a:gsLst>
                  <a:lin ang="8100000" scaled="0"/>
                </a:gradFill>
                <a:effectLst/>
                <a:latin typeface="黑体" panose="02010609060101010101" charset="-122"/>
                <a:cs typeface="黑体" panose="02010609060101010101" charset="-122"/>
              </a:rPr>
              <a:t>计算机是如何工作的？</a:t>
            </a:r>
            <a:endParaRPr lang="zh-CN" altLang="en-US" sz="24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2" name="矩形 1"/>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4" name="TextBox 14"/>
          <p:cNvSpPr txBox="1"/>
          <p:nvPr/>
        </p:nvSpPr>
        <p:spPr>
          <a:xfrm>
            <a:off x="1313590" y="1281439"/>
            <a:ext cx="1706880" cy="398780"/>
          </a:xfrm>
          <a:prstGeom prst="rect">
            <a:avLst/>
          </a:prstGeom>
          <a:noFill/>
        </p:spPr>
        <p:txBody>
          <a:bodyPr wrap="none" rtlCol="0">
            <a:spAutoFit/>
          </a:bodyPr>
          <a:lstStyle/>
          <a:p>
            <a:pPr algn="l"/>
            <a:r>
              <a:rPr lang="zh-CN" altLang="en-US" sz="2000" dirty="0">
                <a:latin typeface="黑体" panose="02010609060101010101" charset="-122"/>
                <a:cs typeface="黑体" panose="02010609060101010101" charset="-122"/>
              </a:rPr>
              <a:t>程序在执行前</a:t>
            </a:r>
          </a:p>
        </p:txBody>
      </p:sp>
      <p:sp>
        <p:nvSpPr>
          <p:cNvPr id="26" name="TextBox 18"/>
          <p:cNvSpPr txBox="1"/>
          <p:nvPr/>
        </p:nvSpPr>
        <p:spPr>
          <a:xfrm>
            <a:off x="3028474" y="1281589"/>
            <a:ext cx="6115050" cy="1630045"/>
          </a:xfrm>
          <a:prstGeom prst="rect">
            <a:avLst/>
          </a:prstGeom>
          <a:noFill/>
        </p:spPr>
        <p:txBody>
          <a:bodyPr wrap="square" rtlCol="0">
            <a:spAutoFit/>
          </a:bodyPr>
          <a:lstStyle/>
          <a:p>
            <a:pPr algn="l"/>
            <a:r>
              <a:rPr lang="en-US" altLang="zh-CN" sz="2000" dirty="0">
                <a:latin typeface="黑体" panose="02010609060101010101" charset="-122"/>
                <a:cs typeface="黑体" panose="02010609060101010101" charset="-122"/>
              </a:rPr>
              <a:t>数据和指令事先存放在存储器中，每条指令和每个数据都有地址，指令按序存放，指令由OP、ADDR字段组成，程序起始地址置PC</a:t>
            </a:r>
          </a:p>
          <a:p>
            <a:pPr algn="l"/>
            <a:r>
              <a:rPr lang="en-US" altLang="zh-CN" sz="2000" dirty="0">
                <a:solidFill>
                  <a:srgbClr val="DF664A"/>
                </a:solidFill>
                <a:latin typeface="黑体" panose="02010609060101010101" charset="-122"/>
                <a:cs typeface="黑体" panose="02010609060101010101" charset="-122"/>
              </a:rPr>
              <a:t>（原材料和菜谱都放在厨房外的架子上， 每个架子有编号。妈妈从第5个架上指定菜谱开始做）</a:t>
            </a:r>
          </a:p>
        </p:txBody>
      </p:sp>
      <p:sp>
        <p:nvSpPr>
          <p:cNvPr id="39" name="椭圆 38"/>
          <p:cNvSpPr/>
          <p:nvPr/>
        </p:nvSpPr>
        <p:spPr>
          <a:xfrm>
            <a:off x="1150324" y="1336353"/>
            <a:ext cx="206083" cy="206083"/>
          </a:xfrm>
          <a:prstGeom prst="ellipse">
            <a:avLst/>
          </a:prstGeom>
          <a:solidFill>
            <a:srgbClr val="DF664A">
              <a:alpha val="50196"/>
            </a:srgbClr>
          </a:solidFill>
          <a:ln>
            <a:noFill/>
          </a:ln>
          <a:effectLst>
            <a:outerShdw blurRad="254000" dist="127000" dir="8100000" algn="tr" rotWithShape="0">
              <a:prstClr val="black">
                <a:alpha val="60000"/>
              </a:prst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a:solidFill>
                <a:srgbClr val="1A3F6C"/>
              </a:solidFill>
              <a:cs typeface="黑体" panose="02010609060101010101" charset="-122"/>
            </a:endParaRPr>
          </a:p>
        </p:txBody>
      </p:sp>
      <p:sp>
        <p:nvSpPr>
          <p:cNvPr id="15" name="TextBox 14"/>
          <p:cNvSpPr txBox="1"/>
          <p:nvPr/>
        </p:nvSpPr>
        <p:spPr>
          <a:xfrm>
            <a:off x="1332640" y="2943870"/>
            <a:ext cx="1706880" cy="398780"/>
          </a:xfrm>
          <a:prstGeom prst="rect">
            <a:avLst/>
          </a:prstGeom>
          <a:noFill/>
        </p:spPr>
        <p:txBody>
          <a:bodyPr wrap="none" rtlCol="0">
            <a:spAutoFit/>
          </a:bodyPr>
          <a:lstStyle/>
          <a:p>
            <a:pPr algn="l"/>
            <a:r>
              <a:rPr lang="zh-CN" altLang="en-US" sz="2000">
                <a:sym typeface="+mn-ea"/>
              </a:rPr>
              <a:t>开始执行程序</a:t>
            </a:r>
            <a:endParaRPr lang="zh-CN" altLang="en-US" sz="2000" dirty="0">
              <a:latin typeface="黑体" panose="02010609060101010101" charset="-122"/>
              <a:cs typeface="黑体" panose="02010609060101010101" charset="-122"/>
              <a:sym typeface="+mn-ea"/>
            </a:endParaRPr>
          </a:p>
        </p:txBody>
      </p:sp>
      <p:sp>
        <p:nvSpPr>
          <p:cNvPr id="16" name="TextBox 18"/>
          <p:cNvSpPr txBox="1"/>
          <p:nvPr/>
        </p:nvSpPr>
        <p:spPr>
          <a:xfrm>
            <a:off x="2467928" y="2944019"/>
            <a:ext cx="6286976" cy="2553335"/>
          </a:xfrm>
          <a:prstGeom prst="rect">
            <a:avLst/>
          </a:prstGeom>
          <a:noFill/>
        </p:spPr>
        <p:txBody>
          <a:bodyPr wrap="square" rtlCol="0">
            <a:spAutoFit/>
          </a:bodyPr>
          <a:lstStyle/>
          <a:p>
            <a:pPr algn="l"/>
            <a:r>
              <a:rPr lang="en-US" altLang="zh-CN" sz="2000" dirty="0">
                <a:latin typeface="黑体" panose="02010609060101010101" charset="-122"/>
                <a:cs typeface="黑体" panose="02010609060101010101" charset="-122"/>
              </a:rPr>
              <a:t>    第一步：根据PC取指令</a:t>
            </a:r>
            <a:r>
              <a:rPr lang="en-US" altLang="zh-CN" sz="2000" dirty="0">
                <a:solidFill>
                  <a:srgbClr val="DF664A"/>
                </a:solidFill>
                <a:latin typeface="黑体" panose="02010609060101010101" charset="-122"/>
                <a:cs typeface="黑体" panose="02010609060101010101" charset="-122"/>
              </a:rPr>
              <a:t>（从5号架上取菜谱）</a:t>
            </a:r>
          </a:p>
          <a:p>
            <a:pPr algn="l"/>
            <a:r>
              <a:rPr lang="en-US" altLang="zh-CN" sz="2000" dirty="0">
                <a:latin typeface="黑体" panose="02010609060101010101" charset="-122"/>
                <a:cs typeface="黑体" panose="02010609060101010101" charset="-122"/>
              </a:rPr>
              <a:t>    第二步：指令译码</a:t>
            </a:r>
            <a:r>
              <a:rPr lang="en-US" altLang="zh-CN" sz="2000" dirty="0">
                <a:solidFill>
                  <a:srgbClr val="DF664A"/>
                </a:solidFill>
                <a:latin typeface="黑体" panose="02010609060101010101" charset="-122"/>
                <a:cs typeface="黑体" panose="02010609060101010101" charset="-122"/>
              </a:rPr>
              <a:t>（看菜谱）</a:t>
            </a:r>
          </a:p>
          <a:p>
            <a:pPr algn="l"/>
            <a:r>
              <a:rPr lang="en-US" altLang="zh-CN" sz="2000" dirty="0">
                <a:latin typeface="黑体" panose="02010609060101010101" charset="-122"/>
                <a:cs typeface="黑体" panose="02010609060101010101" charset="-122"/>
              </a:rPr>
              <a:t>    第三步：取操作数</a:t>
            </a:r>
            <a:r>
              <a:rPr lang="en-US" altLang="zh-CN" sz="2000" dirty="0">
                <a:solidFill>
                  <a:srgbClr val="DF664A"/>
                </a:solidFill>
                <a:latin typeface="黑体" panose="02010609060101010101" charset="-122"/>
                <a:cs typeface="黑体" panose="02010609060101010101" charset="-122"/>
              </a:rPr>
              <a:t>（从架上或盘中取原材料）</a:t>
            </a:r>
          </a:p>
          <a:p>
            <a:pPr algn="l"/>
            <a:r>
              <a:rPr lang="en-US" altLang="zh-CN" sz="2000" dirty="0">
                <a:latin typeface="黑体" panose="02010609060101010101" charset="-122"/>
                <a:cs typeface="黑体" panose="02010609060101010101" charset="-122"/>
              </a:rPr>
              <a:t>    第四步：指令执行</a:t>
            </a:r>
            <a:r>
              <a:rPr lang="en-US" altLang="zh-CN" sz="2000" dirty="0">
                <a:solidFill>
                  <a:srgbClr val="DF664A"/>
                </a:solidFill>
                <a:latin typeface="黑体" panose="02010609060101010101" charset="-122"/>
                <a:cs typeface="黑体" panose="02010609060101010101" charset="-122"/>
              </a:rPr>
              <a:t>（洗、切、炒等具体操作）</a:t>
            </a:r>
          </a:p>
          <a:p>
            <a:pPr algn="l"/>
            <a:r>
              <a:rPr lang="en-US" altLang="zh-CN" sz="2000" dirty="0">
                <a:latin typeface="黑体" panose="02010609060101010101" charset="-122"/>
                <a:cs typeface="黑体" panose="02010609060101010101" charset="-122"/>
              </a:rPr>
              <a:t>    第五步：回写结果</a:t>
            </a:r>
            <a:r>
              <a:rPr lang="en-US" altLang="zh-CN" sz="2000" dirty="0">
                <a:solidFill>
                  <a:srgbClr val="DF664A"/>
                </a:solidFill>
                <a:latin typeface="黑体" panose="02010609060101010101" charset="-122"/>
                <a:cs typeface="黑体" panose="02010609060101010101" charset="-122"/>
              </a:rPr>
              <a:t>（装盘或直接送桌）</a:t>
            </a:r>
          </a:p>
          <a:p>
            <a:pPr algn="l"/>
            <a:r>
              <a:rPr lang="en-US" altLang="zh-CN" sz="2000" dirty="0">
                <a:latin typeface="黑体" panose="02010609060101010101" charset="-122"/>
                <a:cs typeface="黑体" panose="02010609060101010101" charset="-122"/>
              </a:rPr>
              <a:t>    第六步：修改PC的值</a:t>
            </a:r>
            <a:r>
              <a:rPr lang="en-US" altLang="zh-CN" sz="2000" dirty="0">
                <a:solidFill>
                  <a:srgbClr val="DF664A"/>
                </a:solidFill>
                <a:latin typeface="黑体" panose="02010609060101010101" charset="-122"/>
                <a:cs typeface="黑体" panose="02010609060101010101" charset="-122"/>
              </a:rPr>
              <a:t>（算出下一菜谱所在架子号6=5+1）</a:t>
            </a:r>
          </a:p>
          <a:p>
            <a:pPr algn="l"/>
            <a:r>
              <a:rPr lang="en-US" altLang="zh-CN" sz="2000" dirty="0">
                <a:latin typeface="黑体" panose="02010609060101010101" charset="-122"/>
                <a:cs typeface="黑体" panose="02010609060101010101" charset="-122"/>
              </a:rPr>
              <a:t>    </a:t>
            </a:r>
            <a:r>
              <a:rPr lang="en-US" altLang="zh-CN" sz="2000" dirty="0">
                <a:solidFill>
                  <a:srgbClr val="DF664A"/>
                </a:solidFill>
                <a:latin typeface="黑体" panose="02010609060101010101" charset="-122"/>
                <a:cs typeface="黑体" panose="02010609060101010101" charset="-122"/>
              </a:rPr>
              <a:t>继续执行下一条指令</a:t>
            </a:r>
            <a:r>
              <a:rPr lang="en-US" altLang="zh-CN" sz="2000" dirty="0">
                <a:latin typeface="黑体" panose="02010609060101010101" charset="-122"/>
                <a:cs typeface="黑体" panose="02010609060101010101" charset="-122"/>
              </a:rPr>
              <a:t>（继续做下一道菜）</a:t>
            </a:r>
          </a:p>
        </p:txBody>
      </p:sp>
      <p:sp>
        <p:nvSpPr>
          <p:cNvPr id="18" name="椭圆 17"/>
          <p:cNvSpPr/>
          <p:nvPr/>
        </p:nvSpPr>
        <p:spPr>
          <a:xfrm>
            <a:off x="1169374" y="2998783"/>
            <a:ext cx="206083" cy="206083"/>
          </a:xfrm>
          <a:prstGeom prst="ellipse">
            <a:avLst/>
          </a:prstGeom>
          <a:solidFill>
            <a:srgbClr val="DF664A">
              <a:alpha val="50196"/>
            </a:srgbClr>
          </a:solidFill>
          <a:ln>
            <a:noFill/>
          </a:ln>
          <a:effectLst>
            <a:outerShdw blurRad="254000" dist="127000" dir="8100000" algn="tr" rotWithShape="0">
              <a:prstClr val="black">
                <a:alpha val="60000"/>
              </a:prst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a:solidFill>
                <a:srgbClr val="1A3F6C"/>
              </a:solidFill>
              <a:cs typeface="黑体" panose="02010609060101010101" charset="-122"/>
            </a:endParaRPr>
          </a:p>
        </p:txBody>
      </p:sp>
      <p:sp>
        <p:nvSpPr>
          <p:cNvPr id="742497" name="Rectangle 97"/>
          <p:cNvSpPr>
            <a:spLocks noChangeArrowheads="1"/>
          </p:cNvSpPr>
          <p:nvPr/>
        </p:nvSpPr>
        <p:spPr bwMode="auto">
          <a:xfrm>
            <a:off x="4823936" y="893207"/>
            <a:ext cx="2753916" cy="398780"/>
          </a:xfrm>
          <a:prstGeom prst="rect">
            <a:avLst/>
          </a:prstGeom>
          <a:noFill/>
          <a:ln w="9525" algn="ctr">
            <a:noFill/>
            <a:miter lim="800000"/>
          </a:ln>
          <a:effectLst/>
        </p:spPr>
        <p:txBody>
          <a:bodyPr>
            <a:spAutoFit/>
          </a:bodyPr>
          <a:lstStyle/>
          <a:p>
            <a:pPr marL="342900" indent="-342900">
              <a:spcBef>
                <a:spcPct val="50000"/>
              </a:spcBef>
            </a:pPr>
            <a:r>
              <a:rPr lang="zh-CN" altLang="en-US" sz="2000">
                <a:solidFill>
                  <a:srgbClr val="008000"/>
                </a:solidFill>
                <a:latin typeface="黑体" panose="02010609060101010101" charset="-122"/>
                <a:ea typeface="黑体" panose="02010609060101010101" charset="-122"/>
              </a:rPr>
              <a:t>“存储程序”工作方式！</a:t>
            </a:r>
          </a:p>
        </p:txBody>
      </p:sp>
      <p:sp>
        <p:nvSpPr>
          <p:cNvPr id="13" name="TextBox 14"/>
          <p:cNvSpPr txBox="1"/>
          <p:nvPr/>
        </p:nvSpPr>
        <p:spPr>
          <a:xfrm>
            <a:off x="1112295" y="5636269"/>
            <a:ext cx="8056880" cy="1211580"/>
          </a:xfrm>
          <a:prstGeom prst="rect">
            <a:avLst/>
          </a:prstGeom>
          <a:noFill/>
        </p:spPr>
        <p:txBody>
          <a:bodyPr wrap="none" rtlCol="0">
            <a:spAutoFit/>
          </a:bodyPr>
          <a:lstStyle/>
          <a:p>
            <a:pPr marL="342900" indent="-342900" algn="l">
              <a:spcBef>
                <a:spcPct val="20000"/>
              </a:spcBef>
            </a:pPr>
            <a:r>
              <a:rPr lang="zh-CN" altLang="en-US" sz="2000">
                <a:latin typeface="黑体" panose="02010609060101010101" charset="-122"/>
                <a:ea typeface="黑体" panose="02010609060101010101" charset="-122"/>
                <a:sym typeface="+mn-ea"/>
              </a:rPr>
              <a:t>妈妈会做的菜和厨师会做的菜不一样，同一个菜谱的做法也可能不同</a:t>
            </a:r>
          </a:p>
          <a:p>
            <a:pPr marL="342900" indent="-342900" algn="l">
              <a:spcBef>
                <a:spcPct val="20000"/>
              </a:spcBef>
            </a:pPr>
            <a:endParaRPr lang="zh-CN" altLang="en-US" sz="2400">
              <a:solidFill>
                <a:srgbClr val="0066FF"/>
              </a:solidFill>
              <a:latin typeface="黑体" panose="02010609060101010101" charset="-122"/>
              <a:ea typeface="黑体" panose="02010609060101010101" charset="-122"/>
              <a:sym typeface="+mn-ea"/>
            </a:endParaRPr>
          </a:p>
          <a:p>
            <a:pPr marL="342900" indent="-342900" algn="l">
              <a:spcBef>
                <a:spcPct val="20000"/>
              </a:spcBef>
            </a:pPr>
            <a:r>
              <a:rPr lang="zh-CN" altLang="en-US" sz="2000">
                <a:solidFill>
                  <a:srgbClr val="FF3300"/>
                </a:solidFill>
                <a:latin typeface="黑体" panose="02010609060101010101" charset="-122"/>
                <a:ea typeface="黑体" panose="02010609060101010101" charset="-122"/>
                <a:sym typeface="+mn-ea"/>
              </a:rPr>
              <a:t>不同架构支持的指令集不同，同一种指令的实现方式和功能也可能不同</a:t>
            </a:r>
            <a:endParaRPr lang="zh-CN" altLang="en-US" sz="2000" dirty="0">
              <a:solidFill>
                <a:srgbClr val="FF3300"/>
              </a:solidFill>
              <a:latin typeface="黑体" panose="02010609060101010101" charset="-122"/>
              <a:ea typeface="黑体" panose="02010609060101010101" charset="-122"/>
              <a:cs typeface="黑体" panose="02010609060101010101" charset="-122"/>
              <a:sym typeface="+mn-ea"/>
            </a:endParaRPr>
          </a:p>
        </p:txBody>
      </p:sp>
      <p:sp>
        <p:nvSpPr>
          <p:cNvPr id="19" name="椭圆 18"/>
          <p:cNvSpPr/>
          <p:nvPr/>
        </p:nvSpPr>
        <p:spPr>
          <a:xfrm>
            <a:off x="943949" y="5717218"/>
            <a:ext cx="206083" cy="206083"/>
          </a:xfrm>
          <a:prstGeom prst="ellipse">
            <a:avLst/>
          </a:prstGeom>
          <a:solidFill>
            <a:srgbClr val="DF664A">
              <a:alpha val="50196"/>
            </a:srgbClr>
          </a:solidFill>
          <a:ln>
            <a:noFill/>
          </a:ln>
          <a:effectLst>
            <a:outerShdw blurRad="254000" dist="127000" dir="8100000" algn="tr" rotWithShape="0">
              <a:prstClr val="black">
                <a:alpha val="60000"/>
              </a:prst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a:solidFill>
                <a:srgbClr val="1A3F6C"/>
              </a:solidFill>
              <a:cs typeface="黑体" panose="02010609060101010101" charset="-122"/>
            </a:endParaRPr>
          </a:p>
        </p:txBody>
      </p:sp>
      <p:sp>
        <p:nvSpPr>
          <p:cNvPr id="20" name="上下箭头 19"/>
          <p:cNvSpPr/>
          <p:nvPr/>
        </p:nvSpPr>
        <p:spPr>
          <a:xfrm>
            <a:off x="5161915" y="5962015"/>
            <a:ext cx="217170" cy="494665"/>
          </a:xfrm>
          <a:prstGeom prst="up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500"/>
                                        <p:tgtEl>
                                          <p:spTgt spid="10"/>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12"/>
                                        </p:tgtEl>
                                        <p:attrNameLst>
                                          <p:attrName>style.visibility</p:attrName>
                                        </p:attrNameLst>
                                      </p:cBhvr>
                                      <p:to>
                                        <p:strVal val="visible"/>
                                      </p:to>
                                    </p:set>
                                    <p:anim by="(-#ppt_w*2)" calcmode="lin" valueType="num">
                                      <p:cBhvr rctx="PPT">
                                        <p:cTn id="20" dur="500" autoRev="1" fill="hold">
                                          <p:stCondLst>
                                            <p:cond delay="0"/>
                                          </p:stCondLst>
                                        </p:cTn>
                                        <p:tgtEl>
                                          <p:spTgt spid="12"/>
                                        </p:tgtEl>
                                        <p:attrNameLst>
                                          <p:attrName>ppt_w</p:attrName>
                                        </p:attrNameLst>
                                      </p:cBhvr>
                                    </p:anim>
                                    <p:anim by="(#ppt_w*0.50)" calcmode="lin" valueType="num">
                                      <p:cBhvr>
                                        <p:cTn id="21" dur="500" decel="50000" autoRev="1" fill="hold">
                                          <p:stCondLst>
                                            <p:cond delay="0"/>
                                          </p:stCondLst>
                                        </p:cTn>
                                        <p:tgtEl>
                                          <p:spTgt spid="12"/>
                                        </p:tgtEl>
                                        <p:attrNameLst>
                                          <p:attrName>ppt_x</p:attrName>
                                        </p:attrNameLst>
                                      </p:cBhvr>
                                    </p:anim>
                                    <p:anim from="(-#ppt_h/2)" to="(#ppt_y)" calcmode="lin" valueType="num">
                                      <p:cBhvr>
                                        <p:cTn id="22" dur="1000" fill="hold">
                                          <p:stCondLst>
                                            <p:cond delay="0"/>
                                          </p:stCondLst>
                                        </p:cTn>
                                        <p:tgtEl>
                                          <p:spTgt spid="12"/>
                                        </p:tgtEl>
                                        <p:attrNameLst>
                                          <p:attrName>ppt_y</p:attrName>
                                        </p:attrNameLst>
                                      </p:cBhvr>
                                    </p:anim>
                                    <p:animRot by="21600000">
                                      <p:cBhvr>
                                        <p:cTn id="23" dur="1000" fill="hold">
                                          <p:stCondLst>
                                            <p:cond delay="0"/>
                                          </p:stCondLst>
                                        </p:cTn>
                                        <p:tgtEl>
                                          <p:spTgt spid="12"/>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12"/>
                                        </p:tgtEl>
                                        <p:attrNameLst>
                                          <p:attrName>style.visibility</p:attrName>
                                        </p:attrNameLst>
                                      </p:cBhvr>
                                      <p:to>
                                        <p:strVal val="visible"/>
                                      </p:to>
                                    </p:set>
                                    <p:anim calcmode="lin" valueType="num">
                                      <p:cBhvr>
                                        <p:cTn id="26" dur="10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12"/>
                                        </p:tgtEl>
                                        <p:attrNameLst>
                                          <p:attrName>ppt_y</p:attrName>
                                        </p:attrNameLst>
                                      </p:cBhvr>
                                      <p:tavLst>
                                        <p:tav tm="0">
                                          <p:val>
                                            <p:strVal val="#ppt_y"/>
                                          </p:val>
                                        </p:tav>
                                        <p:tav tm="100000">
                                          <p:val>
                                            <p:strVal val="#ppt_y"/>
                                          </p:val>
                                        </p:tav>
                                      </p:tavLst>
                                    </p:anim>
                                    <p:anim calcmode="lin" valueType="num">
                                      <p:cBhvr>
                                        <p:cTn id="28" dur="10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54" presetClass="entr" presetSubtype="0" accel="100000" fill="hold" grpId="0" nodeType="clickEffect">
                                  <p:stCondLst>
                                    <p:cond delay="0"/>
                                  </p:stCondLst>
                                  <p:childTnLst>
                                    <p:set>
                                      <p:cBhvr>
                                        <p:cTn id="34" dur="1" fill="hold">
                                          <p:stCondLst>
                                            <p:cond delay="0"/>
                                          </p:stCondLst>
                                        </p:cTn>
                                        <p:tgtEl>
                                          <p:spTgt spid="742497"/>
                                        </p:tgtEl>
                                        <p:attrNameLst>
                                          <p:attrName>style.visibility</p:attrName>
                                        </p:attrNameLst>
                                      </p:cBhvr>
                                      <p:to>
                                        <p:strVal val="visible"/>
                                      </p:to>
                                    </p:set>
                                    <p:anim calcmode="lin" valueType="num">
                                      <p:cBhvr>
                                        <p:cTn id="35" dur="500" fill="hold"/>
                                        <p:tgtEl>
                                          <p:spTgt spid="742497"/>
                                        </p:tgtEl>
                                        <p:attrNameLst>
                                          <p:attrName>ppt_w</p:attrName>
                                        </p:attrNameLst>
                                      </p:cBhvr>
                                      <p:tavLst>
                                        <p:tav tm="0">
                                          <p:val>
                                            <p:strVal val="#ppt_w*0.05"/>
                                          </p:val>
                                        </p:tav>
                                        <p:tav tm="100000">
                                          <p:val>
                                            <p:strVal val="#ppt_w"/>
                                          </p:val>
                                        </p:tav>
                                      </p:tavLst>
                                    </p:anim>
                                    <p:anim calcmode="lin" valueType="num">
                                      <p:cBhvr>
                                        <p:cTn id="36" dur="500" fill="hold"/>
                                        <p:tgtEl>
                                          <p:spTgt spid="742497"/>
                                        </p:tgtEl>
                                        <p:attrNameLst>
                                          <p:attrName>ppt_h</p:attrName>
                                        </p:attrNameLst>
                                      </p:cBhvr>
                                      <p:tavLst>
                                        <p:tav tm="0">
                                          <p:val>
                                            <p:strVal val="#ppt_h"/>
                                          </p:val>
                                        </p:tav>
                                        <p:tav tm="100000">
                                          <p:val>
                                            <p:strVal val="#ppt_h"/>
                                          </p:val>
                                        </p:tav>
                                      </p:tavLst>
                                    </p:anim>
                                    <p:anim calcmode="lin" valueType="num">
                                      <p:cBhvr>
                                        <p:cTn id="37" dur="500" fill="hold"/>
                                        <p:tgtEl>
                                          <p:spTgt spid="742497"/>
                                        </p:tgtEl>
                                        <p:attrNameLst>
                                          <p:attrName>ppt_x</p:attrName>
                                        </p:attrNameLst>
                                      </p:cBhvr>
                                      <p:tavLst>
                                        <p:tav tm="0">
                                          <p:val>
                                            <p:strVal val="#ppt_x-.2"/>
                                          </p:val>
                                        </p:tav>
                                        <p:tav tm="100000">
                                          <p:val>
                                            <p:strVal val="#ppt_x"/>
                                          </p:val>
                                        </p:tav>
                                      </p:tavLst>
                                    </p:anim>
                                    <p:anim calcmode="lin" valueType="num">
                                      <p:cBhvr>
                                        <p:cTn id="38" dur="500" fill="hold"/>
                                        <p:tgtEl>
                                          <p:spTgt spid="742497"/>
                                        </p:tgtEl>
                                        <p:attrNameLst>
                                          <p:attrName>ppt_y</p:attrName>
                                        </p:attrNameLst>
                                      </p:cBhvr>
                                      <p:tavLst>
                                        <p:tav tm="0">
                                          <p:val>
                                            <p:strVal val="#ppt_y"/>
                                          </p:val>
                                        </p:tav>
                                        <p:tav tm="100000">
                                          <p:val>
                                            <p:strVal val="#ppt_y"/>
                                          </p:val>
                                        </p:tav>
                                      </p:tavLst>
                                    </p:anim>
                                    <p:animEffect transition="in" filter="fade">
                                      <p:cBhvr>
                                        <p:cTn id="39" dur="500"/>
                                        <p:tgtEl>
                                          <p:spTgt spid="742497"/>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8" fill="hold" grpId="0" nodeType="click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p:tgtEl>
                                          <p:spTgt spid="39"/>
                                        </p:tgtEl>
                                        <p:attrNameLst>
                                          <p:attrName>ppt_x</p:attrName>
                                        </p:attrNameLst>
                                      </p:cBhvr>
                                      <p:tavLst>
                                        <p:tav tm="0">
                                          <p:val>
                                            <p:strVal val="#ppt_x-#ppt_w*1.125000"/>
                                          </p:val>
                                        </p:tav>
                                        <p:tav tm="100000">
                                          <p:val>
                                            <p:strVal val="#ppt_x"/>
                                          </p:val>
                                        </p:tav>
                                      </p:tavLst>
                                    </p:anim>
                                    <p:animEffect transition="in" filter="wipe(right)">
                                      <p:cBhvr>
                                        <p:cTn id="45" dur="500"/>
                                        <p:tgtEl>
                                          <p:spTgt spid="39"/>
                                        </p:tgtEl>
                                      </p:cBhvr>
                                    </p:animEffect>
                                  </p:childTnLst>
                                </p:cTn>
                              </p:par>
                              <p:par>
                                <p:cTn id="46" presetID="12" presetClass="entr" presetSubtype="8" fill="hold" grpId="0" nodeType="withEffect">
                                  <p:stCondLst>
                                    <p:cond delay="300"/>
                                  </p:stCondLst>
                                  <p:childTnLst>
                                    <p:set>
                                      <p:cBhvr>
                                        <p:cTn id="47" dur="1" fill="hold">
                                          <p:stCondLst>
                                            <p:cond delay="0"/>
                                          </p:stCondLst>
                                        </p:cTn>
                                        <p:tgtEl>
                                          <p:spTgt spid="14"/>
                                        </p:tgtEl>
                                        <p:attrNameLst>
                                          <p:attrName>style.visibility</p:attrName>
                                        </p:attrNameLst>
                                      </p:cBhvr>
                                      <p:to>
                                        <p:strVal val="visible"/>
                                      </p:to>
                                    </p:set>
                                    <p:anim calcmode="lin" valueType="num">
                                      <p:cBhvr additive="base">
                                        <p:cTn id="48" dur="500"/>
                                        <p:tgtEl>
                                          <p:spTgt spid="14"/>
                                        </p:tgtEl>
                                        <p:attrNameLst>
                                          <p:attrName>ppt_x</p:attrName>
                                        </p:attrNameLst>
                                      </p:cBhvr>
                                      <p:tavLst>
                                        <p:tav tm="0">
                                          <p:val>
                                            <p:strVal val="#ppt_x-#ppt_w*1.125000"/>
                                          </p:val>
                                        </p:tav>
                                        <p:tav tm="100000">
                                          <p:val>
                                            <p:strVal val="#ppt_x"/>
                                          </p:val>
                                        </p:tav>
                                      </p:tavLst>
                                    </p:anim>
                                    <p:animEffect transition="in" filter="wipe(right)">
                                      <p:cBhvr>
                                        <p:cTn id="49" dur="500"/>
                                        <p:tgtEl>
                                          <p:spTgt spid="14"/>
                                        </p:tgtEl>
                                      </p:cBhvr>
                                    </p:animEffect>
                                  </p:childTnLst>
                                </p:cTn>
                              </p:par>
                            </p:childTnLst>
                          </p:cTn>
                        </p:par>
                      </p:childTnLst>
                    </p:cTn>
                  </p:par>
                  <p:par>
                    <p:cTn id="50" fill="hold">
                      <p:stCondLst>
                        <p:cond delay="indefinite"/>
                      </p:stCondLst>
                      <p:childTnLst>
                        <p:par>
                          <p:cTn id="51" fill="hold">
                            <p:stCondLst>
                              <p:cond delay="0"/>
                            </p:stCondLst>
                            <p:childTnLst>
                              <p:par>
                                <p:cTn id="52" presetID="12" presetClass="entr" presetSubtype="8" fill="hold" grpId="0" nodeType="clickEffect">
                                  <p:stCondLst>
                                    <p:cond delay="60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500"/>
                                        <p:tgtEl>
                                          <p:spTgt spid="26"/>
                                        </p:tgtEl>
                                        <p:attrNameLst>
                                          <p:attrName>ppt_x</p:attrName>
                                        </p:attrNameLst>
                                      </p:cBhvr>
                                      <p:tavLst>
                                        <p:tav tm="0">
                                          <p:val>
                                            <p:strVal val="#ppt_x-#ppt_w*1.125000"/>
                                          </p:val>
                                        </p:tav>
                                        <p:tav tm="100000">
                                          <p:val>
                                            <p:strVal val="#ppt_x"/>
                                          </p:val>
                                        </p:tav>
                                      </p:tavLst>
                                    </p:anim>
                                    <p:animEffect transition="in" filter="wipe(right)">
                                      <p:cBhvr>
                                        <p:cTn id="55" dur="500"/>
                                        <p:tgtEl>
                                          <p:spTgt spid="26"/>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8" fill="hold" grpId="0" nodeType="click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500"/>
                                        <p:tgtEl>
                                          <p:spTgt spid="18"/>
                                        </p:tgtEl>
                                        <p:attrNameLst>
                                          <p:attrName>ppt_x</p:attrName>
                                        </p:attrNameLst>
                                      </p:cBhvr>
                                      <p:tavLst>
                                        <p:tav tm="0">
                                          <p:val>
                                            <p:strVal val="#ppt_x-#ppt_w*1.125000"/>
                                          </p:val>
                                        </p:tav>
                                        <p:tav tm="100000">
                                          <p:val>
                                            <p:strVal val="#ppt_x"/>
                                          </p:val>
                                        </p:tav>
                                      </p:tavLst>
                                    </p:anim>
                                    <p:animEffect transition="in" filter="wipe(right)">
                                      <p:cBhvr>
                                        <p:cTn id="61" dur="500"/>
                                        <p:tgtEl>
                                          <p:spTgt spid="18"/>
                                        </p:tgtEl>
                                      </p:cBhvr>
                                    </p:animEffect>
                                  </p:childTnLst>
                                </p:cTn>
                              </p:par>
                              <p:par>
                                <p:cTn id="62" presetID="12" presetClass="entr" presetSubtype="8" fill="hold" grpId="0" nodeType="withEffect">
                                  <p:stCondLst>
                                    <p:cond delay="300"/>
                                  </p:stCondLst>
                                  <p:childTnLst>
                                    <p:set>
                                      <p:cBhvr>
                                        <p:cTn id="63" dur="1" fill="hold">
                                          <p:stCondLst>
                                            <p:cond delay="0"/>
                                          </p:stCondLst>
                                        </p:cTn>
                                        <p:tgtEl>
                                          <p:spTgt spid="15"/>
                                        </p:tgtEl>
                                        <p:attrNameLst>
                                          <p:attrName>style.visibility</p:attrName>
                                        </p:attrNameLst>
                                      </p:cBhvr>
                                      <p:to>
                                        <p:strVal val="visible"/>
                                      </p:to>
                                    </p:set>
                                    <p:anim calcmode="lin" valueType="num">
                                      <p:cBhvr additive="base">
                                        <p:cTn id="64" dur="500"/>
                                        <p:tgtEl>
                                          <p:spTgt spid="15"/>
                                        </p:tgtEl>
                                        <p:attrNameLst>
                                          <p:attrName>ppt_x</p:attrName>
                                        </p:attrNameLst>
                                      </p:cBhvr>
                                      <p:tavLst>
                                        <p:tav tm="0">
                                          <p:val>
                                            <p:strVal val="#ppt_x-#ppt_w*1.125000"/>
                                          </p:val>
                                        </p:tav>
                                        <p:tav tm="100000">
                                          <p:val>
                                            <p:strVal val="#ppt_x"/>
                                          </p:val>
                                        </p:tav>
                                      </p:tavLst>
                                    </p:anim>
                                    <p:animEffect transition="in" filter="wipe(right)">
                                      <p:cBhvr>
                                        <p:cTn id="65" dur="500"/>
                                        <p:tgtEl>
                                          <p:spTgt spid="15"/>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8" fill="hold" grpId="0" nodeType="clickEffect">
                                  <p:stCondLst>
                                    <p:cond delay="6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p:tgtEl>
                                          <p:spTgt spid="16"/>
                                        </p:tgtEl>
                                        <p:attrNameLst>
                                          <p:attrName>ppt_x</p:attrName>
                                        </p:attrNameLst>
                                      </p:cBhvr>
                                      <p:tavLst>
                                        <p:tav tm="0">
                                          <p:val>
                                            <p:strVal val="#ppt_x-#ppt_w*1.125000"/>
                                          </p:val>
                                        </p:tav>
                                        <p:tav tm="100000">
                                          <p:val>
                                            <p:strVal val="#ppt_x"/>
                                          </p:val>
                                        </p:tav>
                                      </p:tavLst>
                                    </p:anim>
                                    <p:animEffect transition="in" filter="wipe(right)">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54" presetClass="entr" presetSubtype="0" accel="100000" fill="hold" nodeType="clickEffect">
                                  <p:stCondLst>
                                    <p:cond delay="0"/>
                                  </p:stCondLst>
                                  <p:childTnLst>
                                    <p:set>
                                      <p:cBhvr>
                                        <p:cTn id="75" dur="1" fill="hold">
                                          <p:stCondLst>
                                            <p:cond delay="0"/>
                                          </p:stCondLst>
                                        </p:cTn>
                                        <p:tgtEl>
                                          <p:spTgt spid="13">
                                            <p:txEl>
                                              <p:pRg st="0" end="0"/>
                                            </p:txEl>
                                          </p:spTgt>
                                        </p:tgtEl>
                                        <p:attrNameLst>
                                          <p:attrName>style.visibility</p:attrName>
                                        </p:attrNameLst>
                                      </p:cBhvr>
                                      <p:to>
                                        <p:strVal val="visible"/>
                                      </p:to>
                                    </p:set>
                                    <p:anim calcmode="lin" valueType="num">
                                      <p:cBhvr>
                                        <p:cTn id="76" dur="500" fill="hold"/>
                                        <p:tgtEl>
                                          <p:spTgt spid="13">
                                            <p:txEl>
                                              <p:pRg st="0" end="0"/>
                                            </p:txEl>
                                          </p:spTgt>
                                        </p:tgtEl>
                                        <p:attrNameLst>
                                          <p:attrName>ppt_w</p:attrName>
                                        </p:attrNameLst>
                                      </p:cBhvr>
                                      <p:tavLst>
                                        <p:tav tm="0">
                                          <p:val>
                                            <p:strVal val="#ppt_w*0.05"/>
                                          </p:val>
                                        </p:tav>
                                        <p:tav tm="100000">
                                          <p:val>
                                            <p:strVal val="#ppt_w"/>
                                          </p:val>
                                        </p:tav>
                                      </p:tavLst>
                                    </p:anim>
                                    <p:anim calcmode="lin" valueType="num">
                                      <p:cBhvr>
                                        <p:cTn id="77" dur="500" fill="hold"/>
                                        <p:tgtEl>
                                          <p:spTgt spid="13">
                                            <p:txEl>
                                              <p:pRg st="0" end="0"/>
                                            </p:txEl>
                                          </p:spTgt>
                                        </p:tgtEl>
                                        <p:attrNameLst>
                                          <p:attrName>ppt_h</p:attrName>
                                        </p:attrNameLst>
                                      </p:cBhvr>
                                      <p:tavLst>
                                        <p:tav tm="0">
                                          <p:val>
                                            <p:strVal val="#ppt_h"/>
                                          </p:val>
                                        </p:tav>
                                        <p:tav tm="100000">
                                          <p:val>
                                            <p:strVal val="#ppt_h"/>
                                          </p:val>
                                        </p:tav>
                                      </p:tavLst>
                                    </p:anim>
                                    <p:anim calcmode="lin" valueType="num">
                                      <p:cBhvr>
                                        <p:cTn id="78" dur="500" fill="hold"/>
                                        <p:tgtEl>
                                          <p:spTgt spid="13">
                                            <p:txEl>
                                              <p:pRg st="0" end="0"/>
                                            </p:txEl>
                                          </p:spTgt>
                                        </p:tgtEl>
                                        <p:attrNameLst>
                                          <p:attrName>ppt_x</p:attrName>
                                        </p:attrNameLst>
                                      </p:cBhvr>
                                      <p:tavLst>
                                        <p:tav tm="0">
                                          <p:val>
                                            <p:strVal val="#ppt_x-.2"/>
                                          </p:val>
                                        </p:tav>
                                        <p:tav tm="100000">
                                          <p:val>
                                            <p:strVal val="#ppt_x"/>
                                          </p:val>
                                        </p:tav>
                                      </p:tavLst>
                                    </p:anim>
                                    <p:anim calcmode="lin" valueType="num">
                                      <p:cBhvr>
                                        <p:cTn id="79" dur="500" fill="hold"/>
                                        <p:tgtEl>
                                          <p:spTgt spid="13">
                                            <p:txEl>
                                              <p:pRg st="0" end="0"/>
                                            </p:txEl>
                                          </p:spTgt>
                                        </p:tgtEl>
                                        <p:attrNameLst>
                                          <p:attrName>ppt_y</p:attrName>
                                        </p:attrNameLst>
                                      </p:cBhvr>
                                      <p:tavLst>
                                        <p:tav tm="0">
                                          <p:val>
                                            <p:strVal val="#ppt_y"/>
                                          </p:val>
                                        </p:tav>
                                        <p:tav tm="100000">
                                          <p:val>
                                            <p:strVal val="#ppt_y"/>
                                          </p:val>
                                        </p:tav>
                                      </p:tavLst>
                                    </p:anim>
                                    <p:animEffect transition="in" filter="fade">
                                      <p:cBhvr>
                                        <p:cTn id="80" dur="500"/>
                                        <p:tgtEl>
                                          <p:spTgt spid="13">
                                            <p:txEl>
                                              <p:pRg st="0" end="0"/>
                                            </p:txEl>
                                          </p:spTgt>
                                        </p:tgtEl>
                                      </p:cBhvr>
                                    </p:animEffect>
                                  </p:childTnLst>
                                </p:cTn>
                              </p:par>
                              <p:par>
                                <p:cTn id="81" presetID="12" presetClass="entr" presetSubtype="8"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anim calcmode="lin" valueType="num">
                                      <p:cBhvr additive="base">
                                        <p:cTn id="83" dur="500"/>
                                        <p:tgtEl>
                                          <p:spTgt spid="19"/>
                                        </p:tgtEl>
                                        <p:attrNameLst>
                                          <p:attrName>ppt_x</p:attrName>
                                        </p:attrNameLst>
                                      </p:cBhvr>
                                      <p:tavLst>
                                        <p:tav tm="0">
                                          <p:val>
                                            <p:strVal val="#ppt_x-#ppt_w*1.125000"/>
                                          </p:val>
                                        </p:tav>
                                        <p:tav tm="100000">
                                          <p:val>
                                            <p:strVal val="#ppt_x"/>
                                          </p:val>
                                        </p:tav>
                                      </p:tavLst>
                                    </p:anim>
                                    <p:animEffect transition="in" filter="wipe(right)">
                                      <p:cBhvr>
                                        <p:cTn id="84" dur="500"/>
                                        <p:tgtEl>
                                          <p:spTgt spid="19"/>
                                        </p:tgtEl>
                                      </p:cBhvr>
                                    </p:animEffect>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20"/>
                                        </p:tgtEl>
                                        <p:attrNameLst>
                                          <p:attrName>style.visibility</p:attrName>
                                        </p:attrNameLst>
                                      </p:cBhvr>
                                      <p:to>
                                        <p:strVal val="visible"/>
                                      </p:to>
                                    </p:set>
                                    <p:anim calcmode="lin" valueType="num">
                                      <p:cBhvr additive="base">
                                        <p:cTn id="89" dur="500" fill="hold"/>
                                        <p:tgtEl>
                                          <p:spTgt spid="20"/>
                                        </p:tgtEl>
                                        <p:attrNameLst>
                                          <p:attrName>ppt_x</p:attrName>
                                        </p:attrNameLst>
                                      </p:cBhvr>
                                      <p:tavLst>
                                        <p:tav tm="0">
                                          <p:val>
                                            <p:strVal val="#ppt_x"/>
                                          </p:val>
                                        </p:tav>
                                        <p:tav tm="100000">
                                          <p:val>
                                            <p:strVal val="#ppt_x"/>
                                          </p:val>
                                        </p:tav>
                                      </p:tavLst>
                                    </p:anim>
                                    <p:anim calcmode="lin" valueType="num">
                                      <p:cBhvr additive="base">
                                        <p:cTn id="9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54" presetClass="entr" presetSubtype="0" accel="100000" fill="hold" nodeType="clickEffect">
                                  <p:stCondLst>
                                    <p:cond delay="0"/>
                                  </p:stCondLst>
                                  <p:childTnLst>
                                    <p:set>
                                      <p:cBhvr>
                                        <p:cTn id="94" dur="1" fill="hold">
                                          <p:stCondLst>
                                            <p:cond delay="0"/>
                                          </p:stCondLst>
                                        </p:cTn>
                                        <p:tgtEl>
                                          <p:spTgt spid="13">
                                            <p:txEl>
                                              <p:pRg st="2" end="2"/>
                                            </p:txEl>
                                          </p:spTgt>
                                        </p:tgtEl>
                                        <p:attrNameLst>
                                          <p:attrName>style.visibility</p:attrName>
                                        </p:attrNameLst>
                                      </p:cBhvr>
                                      <p:to>
                                        <p:strVal val="visible"/>
                                      </p:to>
                                    </p:set>
                                    <p:anim calcmode="lin" valueType="num">
                                      <p:cBhvr>
                                        <p:cTn id="95" dur="500" fill="hold"/>
                                        <p:tgtEl>
                                          <p:spTgt spid="13">
                                            <p:txEl>
                                              <p:pRg st="2" end="2"/>
                                            </p:txEl>
                                          </p:spTgt>
                                        </p:tgtEl>
                                        <p:attrNameLst>
                                          <p:attrName>ppt_w</p:attrName>
                                        </p:attrNameLst>
                                      </p:cBhvr>
                                      <p:tavLst>
                                        <p:tav tm="0">
                                          <p:val>
                                            <p:strVal val="#ppt_w*0.05"/>
                                          </p:val>
                                        </p:tav>
                                        <p:tav tm="100000">
                                          <p:val>
                                            <p:strVal val="#ppt_w"/>
                                          </p:val>
                                        </p:tav>
                                      </p:tavLst>
                                    </p:anim>
                                    <p:anim calcmode="lin" valueType="num">
                                      <p:cBhvr>
                                        <p:cTn id="96" dur="500" fill="hold"/>
                                        <p:tgtEl>
                                          <p:spTgt spid="13">
                                            <p:txEl>
                                              <p:pRg st="2" end="2"/>
                                            </p:txEl>
                                          </p:spTgt>
                                        </p:tgtEl>
                                        <p:attrNameLst>
                                          <p:attrName>ppt_h</p:attrName>
                                        </p:attrNameLst>
                                      </p:cBhvr>
                                      <p:tavLst>
                                        <p:tav tm="0">
                                          <p:val>
                                            <p:strVal val="#ppt_h"/>
                                          </p:val>
                                        </p:tav>
                                        <p:tav tm="100000">
                                          <p:val>
                                            <p:strVal val="#ppt_h"/>
                                          </p:val>
                                        </p:tav>
                                      </p:tavLst>
                                    </p:anim>
                                    <p:anim calcmode="lin" valueType="num">
                                      <p:cBhvr>
                                        <p:cTn id="97" dur="500" fill="hold"/>
                                        <p:tgtEl>
                                          <p:spTgt spid="13">
                                            <p:txEl>
                                              <p:pRg st="2" end="2"/>
                                            </p:txEl>
                                          </p:spTgt>
                                        </p:tgtEl>
                                        <p:attrNameLst>
                                          <p:attrName>ppt_x</p:attrName>
                                        </p:attrNameLst>
                                      </p:cBhvr>
                                      <p:tavLst>
                                        <p:tav tm="0">
                                          <p:val>
                                            <p:strVal val="#ppt_x-.2"/>
                                          </p:val>
                                        </p:tav>
                                        <p:tav tm="100000">
                                          <p:val>
                                            <p:strVal val="#ppt_x"/>
                                          </p:val>
                                        </p:tav>
                                      </p:tavLst>
                                    </p:anim>
                                    <p:anim calcmode="lin" valueType="num">
                                      <p:cBhvr>
                                        <p:cTn id="98" dur="500" fill="hold"/>
                                        <p:tgtEl>
                                          <p:spTgt spid="13">
                                            <p:txEl>
                                              <p:pRg st="2" end="2"/>
                                            </p:txEl>
                                          </p:spTgt>
                                        </p:tgtEl>
                                        <p:attrNameLst>
                                          <p:attrName>ppt_y</p:attrName>
                                        </p:attrNameLst>
                                      </p:cBhvr>
                                      <p:tavLst>
                                        <p:tav tm="0">
                                          <p:val>
                                            <p:strVal val="#ppt_y"/>
                                          </p:val>
                                        </p:tav>
                                        <p:tav tm="100000">
                                          <p:val>
                                            <p:strVal val="#ppt_y"/>
                                          </p:val>
                                        </p:tav>
                                      </p:tavLst>
                                    </p:anim>
                                    <p:animEffect transition="in" filter="fade">
                                      <p:cBhvr>
                                        <p:cTn id="99" dur="500"/>
                                        <p:tgtEl>
                                          <p:spTgt spid="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p:bldP spid="12" grpId="1"/>
      <p:bldP spid="14" grpId="0"/>
      <p:bldP spid="26" grpId="0"/>
      <p:bldP spid="39" grpId="0" bldLvl="0" animBg="1"/>
      <p:bldP spid="15" grpId="0"/>
      <p:bldP spid="16" grpId="0"/>
      <p:bldP spid="18" grpId="0" bldLvl="0" animBg="1"/>
      <p:bldP spid="742497" grpId="0" bldLvl="0" animBg="1"/>
      <p:bldP spid="19" grpId="0" bldLvl="0" animBg="1"/>
      <p:bldP spid="20"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573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749572" name="Text Box 4"/>
          <p:cNvSpPr txBox="1">
            <a:spLocks noChangeArrowheads="1"/>
          </p:cNvSpPr>
          <p:nvPr/>
        </p:nvSpPr>
        <p:spPr bwMode="auto">
          <a:xfrm>
            <a:off x="67945" y="3122930"/>
            <a:ext cx="9056370" cy="2306955"/>
          </a:xfrm>
          <a:prstGeom prst="rect">
            <a:avLst/>
          </a:prstGeom>
          <a:noFill/>
          <a:ln w="9525">
            <a:noFill/>
            <a:miter lim="800000"/>
          </a:ln>
          <a:effectLst/>
        </p:spPr>
        <p:txBody>
          <a:bodyPr wrap="square">
            <a:spAutoFit/>
          </a:bodyPr>
          <a:lstStyle/>
          <a:p>
            <a:pPr marL="342900" indent="-342900" eaLnBrk="1" hangingPunct="1">
              <a:spcBef>
                <a:spcPct val="50000"/>
              </a:spcBef>
              <a:buFont typeface="Wingdings" panose="05000000000000000000" charset="0"/>
              <a:buChar char=""/>
            </a:pPr>
            <a:r>
              <a:rPr lang="en-US" altLang="zh-CN" sz="2400" dirty="0">
                <a:solidFill>
                  <a:srgbClr val="DF664A"/>
                </a:solidFill>
                <a:latin typeface="黑体" panose="02010609060101010101" charset="-122"/>
                <a:ea typeface="黑体" panose="02010609060101010101" charset="-122"/>
                <a:cs typeface="黑体" panose="02010609060101010101" charset="-122"/>
              </a:rPr>
              <a:t>指令中需给出的信息：</a:t>
            </a:r>
          </a:p>
          <a:p>
            <a:pPr marL="342900" indent="-342900" eaLnBrk="1" hangingPunct="1">
              <a:spcBef>
                <a:spcPct val="50000"/>
              </a:spcBef>
              <a:buClr>
                <a:srgbClr val="F8A578"/>
              </a:buClr>
              <a:buFont typeface="Arial" panose="020B0604020202020204" pitchFamily="34" charset="0"/>
              <a:buChar char="•"/>
            </a:pPr>
            <a:r>
              <a:rPr lang="zh-CN" altLang="en-US" sz="2000" b="1" dirty="0">
                <a:highlight>
                  <a:srgbClr val="FFFF00"/>
                </a:highlight>
                <a:latin typeface="黑体" panose="02010609060101010101" charset="-122"/>
                <a:ea typeface="黑体" panose="02010609060101010101" charset="-122"/>
              </a:rPr>
              <a:t>操作性质（操作码）</a:t>
            </a:r>
          </a:p>
          <a:p>
            <a:pPr marL="342900" indent="-342900" eaLnBrk="1" hangingPunct="1">
              <a:spcBef>
                <a:spcPct val="50000"/>
              </a:spcBef>
              <a:buClr>
                <a:srgbClr val="F8A578"/>
              </a:buClr>
              <a:buFont typeface="Arial" panose="020B0604020202020204" pitchFamily="34" charset="0"/>
              <a:buChar char="•"/>
            </a:pPr>
            <a:r>
              <a:rPr lang="zh-CN" altLang="en-US" sz="2000" b="1" dirty="0">
                <a:latin typeface="黑体" panose="02010609060101010101" charset="-122"/>
                <a:ea typeface="黑体" panose="02010609060101010101" charset="-122"/>
              </a:rPr>
              <a:t>源操作数1 或/</a:t>
            </a:r>
            <a:r>
              <a:rPr lang="zh-CN" altLang="en-US" sz="2000" b="1" dirty="0">
                <a:highlight>
                  <a:srgbClr val="FFFF00"/>
                </a:highlight>
                <a:latin typeface="黑体" panose="02010609060101010101" charset="-122"/>
                <a:ea typeface="黑体" panose="02010609060101010101" charset="-122"/>
              </a:rPr>
              <a:t>和 源操作数2（</a:t>
            </a:r>
            <a:r>
              <a:rPr lang="zh-CN" altLang="en-US" sz="2000" b="1" dirty="0">
                <a:latin typeface="黑体" panose="02010609060101010101" charset="-122"/>
                <a:ea typeface="黑体" panose="02010609060101010101" charset="-122"/>
              </a:rPr>
              <a:t>立即数、寄存器编号、存储地址）</a:t>
            </a:r>
          </a:p>
          <a:p>
            <a:pPr marL="342900" indent="-342900" eaLnBrk="1" hangingPunct="1">
              <a:spcBef>
                <a:spcPct val="50000"/>
              </a:spcBef>
              <a:buClr>
                <a:srgbClr val="F8A578"/>
              </a:buClr>
              <a:buFont typeface="Arial" panose="020B0604020202020204" pitchFamily="34" charset="0"/>
              <a:buChar char="•"/>
            </a:pPr>
            <a:r>
              <a:rPr lang="zh-CN" altLang="en-US" sz="2000" b="1" dirty="0">
                <a:latin typeface="黑体" panose="02010609060101010101" charset="-122"/>
                <a:ea typeface="黑体" panose="02010609060101010101" charset="-122"/>
              </a:rPr>
              <a:t>目的操作数地址   （寄存器编号、存储地址）</a:t>
            </a:r>
          </a:p>
          <a:p>
            <a:pPr marL="342900" indent="-342900" eaLnBrk="1" hangingPunct="1">
              <a:spcBef>
                <a:spcPct val="50000"/>
              </a:spcBef>
              <a:buFont typeface="Wingdings" panose="05000000000000000000" charset="0"/>
              <a:buChar char=""/>
            </a:pPr>
            <a:r>
              <a:rPr lang="en-US" altLang="zh-CN" sz="2000" b="1" dirty="0">
                <a:latin typeface="黑体" panose="02010609060101010101" charset="-122"/>
                <a:ea typeface="黑体" panose="02010609060101010101" charset="-122"/>
              </a:rPr>
              <a:t>	</a:t>
            </a:r>
            <a:r>
              <a:rPr lang="zh-CN" altLang="en-US" sz="2000" b="1" dirty="0">
                <a:latin typeface="黑体" panose="02010609060101010101" charset="-122"/>
                <a:ea typeface="黑体" panose="02010609060101010101" charset="-122"/>
              </a:rPr>
              <a:t>存储地址的描述与操作数的数据结构有关！</a:t>
            </a:r>
          </a:p>
        </p:txBody>
      </p:sp>
      <p:sp>
        <p:nvSpPr>
          <p:cNvPr id="749571" name="Rectangle 3"/>
          <p:cNvSpPr>
            <a:spLocks noGrp="1" noChangeArrowheads="1"/>
          </p:cNvSpPr>
          <p:nvPr/>
        </p:nvSpPr>
        <p:spPr>
          <a:xfrm>
            <a:off x="0" y="920115"/>
            <a:ext cx="9124950" cy="2228215"/>
          </a:xfrm>
          <a:prstGeom prst="rect">
            <a:avLst/>
          </a:prstGeom>
          <a:noFill/>
          <a:ln w="9525">
            <a:noFill/>
            <a:miter lim="800000"/>
          </a:ln>
        </p:spPr>
        <p:txBody>
          <a:bodyPr vert="horz" wrap="square" lIns="68580" tIns="34290" rIns="68580" bIns="3429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a:lnSpc>
                <a:spcPct val="120000"/>
              </a:lnSpc>
            </a:pPr>
            <a:r>
              <a:rPr lang="zh-CN" altLang="en-US" sz="2000">
                <a:solidFill>
                  <a:srgbClr val="F49D4A"/>
                </a:solidFill>
                <a:latin typeface="黑体" panose="02010609060101010101" charset="-122"/>
                <a:ea typeface="黑体" panose="02010609060101010101" charset="-122"/>
              </a:rPr>
              <a:t>程序启动前，</a:t>
            </a:r>
            <a:r>
              <a:rPr lang="zh-CN" altLang="en-US" sz="2000">
                <a:latin typeface="黑体" panose="02010609060101010101" charset="-122"/>
                <a:ea typeface="黑体" panose="02010609060101010101" charset="-122"/>
              </a:rPr>
              <a:t>指令和数据都存放在存储器中，形式上没有差别，都是</a:t>
            </a:r>
            <a:r>
              <a:rPr lang="en-US" altLang="zh-CN" sz="2000">
                <a:latin typeface="黑体" panose="02010609060101010101" charset="-122"/>
                <a:ea typeface="黑体" panose="02010609060101010101" charset="-122"/>
              </a:rPr>
              <a:t>0/1</a:t>
            </a:r>
            <a:r>
              <a:rPr lang="zh-CN" altLang="en-US" sz="2000">
                <a:latin typeface="黑体" panose="02010609060101010101" charset="-122"/>
                <a:ea typeface="黑体" panose="02010609060101010101" charset="-122"/>
              </a:rPr>
              <a:t>序列</a:t>
            </a:r>
          </a:p>
          <a:p>
            <a:pPr>
              <a:lnSpc>
                <a:spcPct val="120000"/>
              </a:lnSpc>
              <a:buClr>
                <a:srgbClr val="F8A578"/>
              </a:buClr>
              <a:buFont typeface="Arial" panose="020B0604020202020204" pitchFamily="34" charset="0"/>
              <a:buChar char="•"/>
            </a:pPr>
            <a:r>
              <a:rPr lang="zh-CN" altLang="en-US" sz="2000">
                <a:latin typeface="黑体" panose="02010609060101010101" charset="-122"/>
                <a:ea typeface="黑体" panose="02010609060101010101" charset="-122"/>
              </a:rPr>
              <a:t>采用”</a:t>
            </a:r>
            <a:r>
              <a:rPr lang="zh-CN" altLang="en-US" sz="2000">
                <a:solidFill>
                  <a:srgbClr val="F49D4A"/>
                </a:solidFill>
                <a:latin typeface="黑体" panose="02010609060101010101" charset="-122"/>
                <a:ea typeface="黑体" panose="02010609060101010101" charset="-122"/>
              </a:rPr>
              <a:t>存储程序</a:t>
            </a:r>
            <a:r>
              <a:rPr lang="zh-CN" altLang="en-US" sz="2000">
                <a:latin typeface="黑体" panose="02010609060101010101" charset="-122"/>
                <a:ea typeface="黑体" panose="02010609060101010101" charset="-122"/>
              </a:rPr>
              <a:t>“工作方式：</a:t>
            </a:r>
          </a:p>
          <a:p>
            <a:pPr lvl="1">
              <a:lnSpc>
                <a:spcPct val="120000"/>
              </a:lnSpc>
            </a:pPr>
            <a:r>
              <a:rPr lang="zh-CN" altLang="en-US" sz="2000">
                <a:solidFill>
                  <a:schemeClr val="tx1"/>
                </a:solidFill>
                <a:latin typeface="黑体" panose="02010609060101010101" charset="-122"/>
                <a:ea typeface="黑体" panose="02010609060101010101" charset="-122"/>
              </a:rPr>
              <a:t>程序由指令组成，程序被启动后，计算机能自动取出一条一条指令执行，在执行过程中无需人的干预。</a:t>
            </a:r>
          </a:p>
          <a:p>
            <a:pPr>
              <a:lnSpc>
                <a:spcPct val="120000"/>
              </a:lnSpc>
            </a:pPr>
            <a:r>
              <a:rPr lang="zh-CN" altLang="en-US" sz="2000">
                <a:solidFill>
                  <a:srgbClr val="F49D4A"/>
                </a:solidFill>
                <a:latin typeface="黑体" panose="02010609060101010101" charset="-122"/>
                <a:ea typeface="黑体" panose="02010609060101010101" charset="-122"/>
              </a:rPr>
              <a:t>指令执行过程中，</a:t>
            </a:r>
            <a:r>
              <a:rPr lang="zh-CN" altLang="en-US" sz="2000">
                <a:latin typeface="黑体" panose="02010609060101010101" charset="-122"/>
                <a:ea typeface="黑体" panose="02010609060101010101" charset="-122"/>
              </a:rPr>
              <a:t>指令和数据被从存储器取到</a:t>
            </a:r>
            <a:r>
              <a:rPr lang="en-US" altLang="zh-CN" sz="2000">
                <a:latin typeface="黑体" panose="02010609060101010101" charset="-122"/>
                <a:ea typeface="黑体" panose="02010609060101010101" charset="-122"/>
              </a:rPr>
              <a:t>CPU</a:t>
            </a:r>
            <a:r>
              <a:rPr lang="zh-CN" altLang="en-US" sz="2000">
                <a:latin typeface="黑体" panose="02010609060101010101" charset="-122"/>
                <a:ea typeface="黑体" panose="02010609060101010101" charset="-122"/>
              </a:rPr>
              <a:t>，存放在</a:t>
            </a:r>
            <a:r>
              <a:rPr lang="en-US" altLang="zh-CN" sz="2000">
                <a:latin typeface="黑体" panose="02010609060101010101" charset="-122"/>
                <a:ea typeface="黑体" panose="02010609060101010101" charset="-122"/>
              </a:rPr>
              <a:t>CPU</a:t>
            </a:r>
            <a:r>
              <a:rPr lang="zh-CN" altLang="en-US" sz="2000">
                <a:latin typeface="黑体" panose="02010609060101010101" charset="-122"/>
                <a:ea typeface="黑体" panose="02010609060101010101" charset="-122"/>
              </a:rPr>
              <a:t>内的寄存器中</a:t>
            </a:r>
          </a:p>
          <a:p>
            <a:pPr>
              <a:lnSpc>
                <a:spcPct val="105000"/>
              </a:lnSpc>
              <a:buFontTx/>
              <a:buNone/>
            </a:pPr>
            <a:endParaRPr lang="zh-CN" altLang="en-US" sz="2000">
              <a:latin typeface="黑体" panose="02010609060101010101" charset="-122"/>
              <a:ea typeface="黑体" panose="02010609060101010101" charset="-122"/>
            </a:endParaRPr>
          </a:p>
        </p:txBody>
      </p:sp>
      <p:sp>
        <p:nvSpPr>
          <p:cNvPr id="3" name="文本框 2"/>
          <p:cNvSpPr txBox="1"/>
          <p:nvPr/>
        </p:nvSpPr>
        <p:spPr>
          <a:xfrm>
            <a:off x="68104" y="511334"/>
            <a:ext cx="3211830" cy="460375"/>
          </a:xfrm>
          <a:prstGeom prst="rect">
            <a:avLst/>
          </a:prstGeom>
          <a:noFill/>
        </p:spPr>
        <p:txBody>
          <a:bodyPr wrap="square" rtlCol="0">
            <a:spAutoFit/>
          </a:bodyPr>
          <a:lstStyle/>
          <a:p>
            <a:pPr marL="342900" indent="-342900">
              <a:buClr>
                <a:srgbClr val="ED7D31"/>
              </a:buClr>
              <a:buFont typeface="Wingdings" panose="05000000000000000000" charset="0"/>
              <a:buChar char=""/>
            </a:pPr>
            <a:r>
              <a:rPr lang="en-US" altLang="zh-CN" sz="2400" dirty="0">
                <a:solidFill>
                  <a:srgbClr val="DF664A"/>
                </a:solidFill>
                <a:latin typeface="黑体" panose="02010609060101010101" charset="-122"/>
                <a:cs typeface="黑体" panose="02010609060101010101" charset="-122"/>
              </a:rPr>
              <a:t>程序VS指令：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9571">
                                            <p:txEl>
                                              <p:pRg st="0" end="0"/>
                                            </p:txEl>
                                          </p:spTgt>
                                        </p:tgtEl>
                                        <p:attrNameLst>
                                          <p:attrName>style.visibility</p:attrName>
                                        </p:attrNameLst>
                                      </p:cBhvr>
                                      <p:to>
                                        <p:strVal val="visible"/>
                                      </p:to>
                                    </p:set>
                                    <p:animEffect transition="in" filter="blinds(horizontal)">
                                      <p:cBhvr>
                                        <p:cTn id="7" dur="500"/>
                                        <p:tgtEl>
                                          <p:spTgt spid="7495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49571">
                                            <p:txEl>
                                              <p:pRg st="1" end="1"/>
                                            </p:txEl>
                                          </p:spTgt>
                                        </p:tgtEl>
                                        <p:attrNameLst>
                                          <p:attrName>style.visibility</p:attrName>
                                        </p:attrNameLst>
                                      </p:cBhvr>
                                      <p:to>
                                        <p:strVal val="visible"/>
                                      </p:to>
                                    </p:set>
                                    <p:animEffect transition="in" filter="blinds(horizontal)">
                                      <p:cBhvr>
                                        <p:cTn id="12" dur="500"/>
                                        <p:tgtEl>
                                          <p:spTgt spid="749571">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749571">
                                            <p:txEl>
                                              <p:pRg st="2" end="2"/>
                                            </p:txEl>
                                          </p:spTgt>
                                        </p:tgtEl>
                                        <p:attrNameLst>
                                          <p:attrName>style.visibility</p:attrName>
                                        </p:attrNameLst>
                                      </p:cBhvr>
                                      <p:to>
                                        <p:strVal val="visible"/>
                                      </p:to>
                                    </p:set>
                                    <p:animEffect transition="in" filter="blinds(horizontal)">
                                      <p:cBhvr>
                                        <p:cTn id="15" dur="500"/>
                                        <p:tgtEl>
                                          <p:spTgt spid="74957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49571">
                                            <p:txEl>
                                              <p:pRg st="3" end="3"/>
                                            </p:txEl>
                                          </p:spTgt>
                                        </p:tgtEl>
                                        <p:attrNameLst>
                                          <p:attrName>style.visibility</p:attrName>
                                        </p:attrNameLst>
                                      </p:cBhvr>
                                      <p:to>
                                        <p:strVal val="visible"/>
                                      </p:to>
                                    </p:set>
                                    <p:animEffect transition="in" filter="blinds(horizontal)">
                                      <p:cBhvr>
                                        <p:cTn id="20" dur="500"/>
                                        <p:tgtEl>
                                          <p:spTgt spid="74957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749572">
                                            <p:txEl>
                                              <p:pRg st="0" end="0"/>
                                            </p:txEl>
                                          </p:spTgt>
                                        </p:tgtEl>
                                        <p:attrNameLst>
                                          <p:attrName>style.visibility</p:attrName>
                                        </p:attrNameLst>
                                      </p:cBhvr>
                                      <p:to>
                                        <p:strVal val="visible"/>
                                      </p:to>
                                    </p:set>
                                    <p:animEffect transition="in" filter="blinds(horizontal)">
                                      <p:cBhvr>
                                        <p:cTn id="25" dur="500"/>
                                        <p:tgtEl>
                                          <p:spTgt spid="749572">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749572">
                                            <p:txEl>
                                              <p:pRg st="1" end="1"/>
                                            </p:txEl>
                                          </p:spTgt>
                                        </p:tgtEl>
                                        <p:attrNameLst>
                                          <p:attrName>style.visibility</p:attrName>
                                        </p:attrNameLst>
                                      </p:cBhvr>
                                      <p:to>
                                        <p:strVal val="visible"/>
                                      </p:to>
                                    </p:set>
                                    <p:animEffect transition="in" filter="blinds(horizontal)">
                                      <p:cBhvr>
                                        <p:cTn id="30" dur="500"/>
                                        <p:tgtEl>
                                          <p:spTgt spid="749572">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49572">
                                            <p:txEl>
                                              <p:pRg st="2" end="2"/>
                                            </p:txEl>
                                          </p:spTgt>
                                        </p:tgtEl>
                                        <p:attrNameLst>
                                          <p:attrName>style.visibility</p:attrName>
                                        </p:attrNameLst>
                                      </p:cBhvr>
                                      <p:to>
                                        <p:strVal val="visible"/>
                                      </p:to>
                                    </p:set>
                                    <p:animEffect transition="in" filter="blinds(horizontal)">
                                      <p:cBhvr>
                                        <p:cTn id="35" dur="500"/>
                                        <p:tgtEl>
                                          <p:spTgt spid="749572">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749572">
                                            <p:txEl>
                                              <p:pRg st="3" end="3"/>
                                            </p:txEl>
                                          </p:spTgt>
                                        </p:tgtEl>
                                        <p:attrNameLst>
                                          <p:attrName>style.visibility</p:attrName>
                                        </p:attrNameLst>
                                      </p:cBhvr>
                                      <p:to>
                                        <p:strVal val="visible"/>
                                      </p:to>
                                    </p:set>
                                    <p:animEffect transition="in" filter="blinds(horizontal)">
                                      <p:cBhvr>
                                        <p:cTn id="40" dur="500"/>
                                        <p:tgtEl>
                                          <p:spTgt spid="749572">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749572">
                                            <p:txEl>
                                              <p:pRg st="4" end="4"/>
                                            </p:txEl>
                                          </p:spTgt>
                                        </p:tgtEl>
                                        <p:attrNameLst>
                                          <p:attrName>style.visibility</p:attrName>
                                        </p:attrNameLst>
                                      </p:cBhvr>
                                      <p:to>
                                        <p:strVal val="visible"/>
                                      </p:to>
                                    </p:set>
                                    <p:animEffect transition="in" filter="blinds(horizontal)">
                                      <p:cBhvr>
                                        <p:cTn id="45" dur="500"/>
                                        <p:tgtEl>
                                          <p:spTgt spid="74957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空心弧 36"/>
          <p:cNvSpPr/>
          <p:nvPr/>
        </p:nvSpPr>
        <p:spPr>
          <a:xfrm rot="5400000">
            <a:off x="-784900" y="1958111"/>
            <a:ext cx="2357234" cy="2193536"/>
          </a:xfrm>
          <a:prstGeom prst="blockArc">
            <a:avLst>
              <a:gd name="adj1" fmla="val 10897210"/>
              <a:gd name="adj2" fmla="val 6953"/>
              <a:gd name="adj3" fmla="val 1246"/>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3" tIns="34287" rIns="68573" bIns="34287" anchor="ctr"/>
          <a:lstStyle/>
          <a:p>
            <a:pPr algn="ctr" defTabSz="913765" fontAlgn="auto">
              <a:spcBef>
                <a:spcPts val="0"/>
              </a:spcBef>
              <a:spcAft>
                <a:spcPts val="0"/>
              </a:spcAft>
              <a:defRPr/>
            </a:pPr>
            <a:endParaRPr lang="zh-CN" altLang="en-US" sz="1870">
              <a:solidFill>
                <a:schemeClr val="tx1"/>
              </a:solidFill>
              <a:latin typeface="Arial" panose="020B0604020202020204" pitchFamily="34" charset="0"/>
              <a:cs typeface="+mn-ea"/>
            </a:endParaRPr>
          </a:p>
        </p:txBody>
      </p:sp>
      <p:cxnSp>
        <p:nvCxnSpPr>
          <p:cNvPr id="38" name="直接连接符 37"/>
          <p:cNvCxnSpPr/>
          <p:nvPr/>
        </p:nvCxnSpPr>
        <p:spPr bwMode="auto">
          <a:xfrm>
            <a:off x="907925" y="1987743"/>
            <a:ext cx="1081088" cy="0"/>
          </a:xfrm>
          <a:prstGeom prst="line">
            <a:avLst/>
          </a:prstGeom>
          <a:ln w="12700">
            <a:solidFill>
              <a:srgbClr val="9DA8B1"/>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auto">
          <a:xfrm>
            <a:off x="1561640" y="3166137"/>
            <a:ext cx="1000600" cy="0"/>
          </a:xfrm>
          <a:prstGeom prst="line">
            <a:avLst/>
          </a:prstGeom>
          <a:ln w="12700">
            <a:solidFill>
              <a:srgbClr val="9DA8B1"/>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bwMode="auto">
          <a:xfrm>
            <a:off x="858917" y="4122053"/>
            <a:ext cx="1080525" cy="0"/>
          </a:xfrm>
          <a:prstGeom prst="line">
            <a:avLst/>
          </a:prstGeom>
          <a:ln w="12700">
            <a:solidFill>
              <a:srgbClr val="9DA8B1"/>
            </a:solidFill>
          </a:ln>
        </p:spPr>
        <p:style>
          <a:lnRef idx="1">
            <a:schemeClr val="accent1"/>
          </a:lnRef>
          <a:fillRef idx="0">
            <a:schemeClr val="accent1"/>
          </a:fillRef>
          <a:effectRef idx="0">
            <a:schemeClr val="accent1"/>
          </a:effectRef>
          <a:fontRef idx="minor">
            <a:schemeClr val="tx1"/>
          </a:fontRef>
        </p:style>
      </p:cxnSp>
      <p:sp>
        <p:nvSpPr>
          <p:cNvPr id="42" name="矩形 41"/>
          <p:cNvSpPr/>
          <p:nvPr/>
        </p:nvSpPr>
        <p:spPr>
          <a:xfrm>
            <a:off x="2703767" y="1492628"/>
            <a:ext cx="948690" cy="313055"/>
          </a:xfrm>
          <a:prstGeom prst="rect">
            <a:avLst/>
          </a:prstGeom>
        </p:spPr>
        <p:txBody>
          <a:bodyPr wrap="none" lIns="68573" tIns="34287" rIns="68573" bIns="34287">
            <a:spAutoFit/>
          </a:bodyPr>
          <a:lstStyle/>
          <a:p>
            <a:r>
              <a:rPr lang="zh-CN" altLang="en-US" sz="1600" b="1" dirty="0">
                <a:solidFill>
                  <a:srgbClr val="DF664A"/>
                </a:solidFill>
                <a:latin typeface="+mn-ea"/>
                <a:cs typeface="+mn-ea"/>
              </a:rPr>
              <a:t>机器指令</a:t>
            </a:r>
          </a:p>
        </p:txBody>
      </p:sp>
      <p:sp>
        <p:nvSpPr>
          <p:cNvPr id="43" name="矩形 47"/>
          <p:cNvSpPr>
            <a:spLocks noChangeArrowheads="1"/>
          </p:cNvSpPr>
          <p:nvPr/>
        </p:nvSpPr>
        <p:spPr bwMode="auto">
          <a:xfrm>
            <a:off x="2681605" y="1680210"/>
            <a:ext cx="3941445" cy="854710"/>
          </a:xfrm>
          <a:prstGeom prst="rect">
            <a:avLst/>
          </a:prstGeom>
          <a:noFill/>
          <a:ln>
            <a:noFill/>
          </a:ln>
        </p:spPr>
        <p:txBody>
          <a:bodyPr wrap="square" lIns="68573" tIns="34287" rIns="68573" bIns="34287">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nSpc>
                <a:spcPct val="150000"/>
              </a:lnSpc>
              <a:buNone/>
            </a:pPr>
            <a:r>
              <a:rPr lang="zh-CN" altLang="en-US" sz="1600">
                <a:solidFill>
                  <a:schemeClr val="tx1"/>
                </a:solidFill>
                <a:sym typeface="+mn-ea"/>
              </a:rPr>
              <a:t>处于硬件和软件的交界面。</a:t>
            </a:r>
          </a:p>
          <a:p>
            <a:pPr>
              <a:lnSpc>
                <a:spcPct val="150000"/>
              </a:lnSpc>
              <a:buNone/>
            </a:pPr>
            <a:r>
              <a:rPr lang="zh-CN" altLang="en-US" sz="1600">
                <a:solidFill>
                  <a:schemeClr val="tx1"/>
                </a:solidFill>
                <a:sym typeface="+mn-ea"/>
              </a:rPr>
              <a:t>相当于一个菜谱指定的一个完整做菜过程。</a:t>
            </a:r>
            <a:endParaRPr lang="zh-CN" altLang="en-US" sz="1600" dirty="0">
              <a:solidFill>
                <a:schemeClr val="tx1"/>
              </a:solidFill>
              <a:ea typeface="+mn-ea"/>
              <a:cs typeface="+mn-ea"/>
              <a:sym typeface="+mn-ea"/>
            </a:endParaRPr>
          </a:p>
        </p:txBody>
      </p:sp>
      <p:sp>
        <p:nvSpPr>
          <p:cNvPr id="47" name="椭圆 46"/>
          <p:cNvSpPr/>
          <p:nvPr/>
        </p:nvSpPr>
        <p:spPr>
          <a:xfrm>
            <a:off x="737544" y="1825385"/>
            <a:ext cx="279983" cy="279983"/>
          </a:xfrm>
          <a:prstGeom prst="ellipse">
            <a:avLst/>
          </a:prstGeom>
          <a:solidFill>
            <a:schemeClr val="accent2"/>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1</a:t>
            </a:r>
            <a:endParaRPr lang="zh-CN" altLang="en-US" sz="1350" dirty="0">
              <a:cs typeface="+mn-ea"/>
            </a:endParaRPr>
          </a:p>
        </p:txBody>
      </p:sp>
      <p:sp>
        <p:nvSpPr>
          <p:cNvPr id="48" name="椭圆 47"/>
          <p:cNvSpPr/>
          <p:nvPr/>
        </p:nvSpPr>
        <p:spPr>
          <a:xfrm>
            <a:off x="1331610" y="3014706"/>
            <a:ext cx="279983" cy="279983"/>
          </a:xfrm>
          <a:prstGeom prst="ellipse">
            <a:avLst/>
          </a:prstGeom>
          <a:solidFill>
            <a:schemeClr val="accent3"/>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2</a:t>
            </a:r>
            <a:endParaRPr lang="zh-CN" altLang="en-US" sz="1350" dirty="0">
              <a:cs typeface="+mn-ea"/>
            </a:endParaRPr>
          </a:p>
        </p:txBody>
      </p:sp>
      <p:sp>
        <p:nvSpPr>
          <p:cNvPr id="49" name="椭圆 48"/>
          <p:cNvSpPr/>
          <p:nvPr/>
        </p:nvSpPr>
        <p:spPr>
          <a:xfrm>
            <a:off x="721545" y="3968671"/>
            <a:ext cx="279983" cy="279983"/>
          </a:xfrm>
          <a:prstGeom prst="ellipse">
            <a:avLst/>
          </a:prstGeom>
          <a:solidFill>
            <a:schemeClr val="accent4"/>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350" dirty="0">
                <a:cs typeface="+mn-ea"/>
              </a:rPr>
              <a:t>3</a:t>
            </a:r>
            <a:endParaRPr lang="zh-CN" altLang="en-US" sz="1350" dirty="0">
              <a:cs typeface="+mn-ea"/>
            </a:endParaRPr>
          </a:p>
        </p:txBody>
      </p:sp>
      <p:grpSp>
        <p:nvGrpSpPr>
          <p:cNvPr id="51" name="组合 50"/>
          <p:cNvGrpSpPr/>
          <p:nvPr/>
        </p:nvGrpSpPr>
        <p:grpSpPr>
          <a:xfrm>
            <a:off x="1974953" y="1667222"/>
            <a:ext cx="644217" cy="644217"/>
            <a:chOff x="3989630" y="984316"/>
            <a:chExt cx="858956" cy="858956"/>
          </a:xfrm>
        </p:grpSpPr>
        <p:grpSp>
          <p:nvGrpSpPr>
            <p:cNvPr id="52" name="组合 51"/>
            <p:cNvGrpSpPr/>
            <p:nvPr/>
          </p:nvGrpSpPr>
          <p:grpSpPr>
            <a:xfrm>
              <a:off x="3989630" y="984316"/>
              <a:ext cx="858956" cy="858956"/>
              <a:chOff x="304800" y="673100"/>
              <a:chExt cx="4000500" cy="4000500"/>
            </a:xfrm>
            <a:effectLst>
              <a:outerShdw blurRad="444500" dist="254000" dir="8100000" algn="tr" rotWithShape="0">
                <a:prstClr val="black">
                  <a:alpha val="50000"/>
                </a:prstClr>
              </a:outerShdw>
            </a:effectLst>
          </p:grpSpPr>
          <p:sp>
            <p:nvSpPr>
              <p:cNvPr id="56" name="同心圆 5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cs typeface="+mn-ea"/>
                </a:endParaRPr>
              </a:p>
            </p:txBody>
          </p:sp>
          <p:sp>
            <p:nvSpPr>
              <p:cNvPr id="57" name="椭圆 5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grpSp>
          <p:nvGrpSpPr>
            <p:cNvPr id="53" name="组合 54"/>
            <p:cNvGrpSpPr>
              <a:grpSpLocks noChangeAspect="1"/>
            </p:cNvGrpSpPr>
            <p:nvPr/>
          </p:nvGrpSpPr>
          <p:grpSpPr bwMode="auto">
            <a:xfrm>
              <a:off x="4230408" y="1145668"/>
              <a:ext cx="389996" cy="469766"/>
              <a:chOff x="3452849" y="2667439"/>
              <a:chExt cx="239345" cy="288607"/>
            </a:xfrm>
          </p:grpSpPr>
          <p:sp>
            <p:nvSpPr>
              <p:cNvPr id="54" name="Freeform 846"/>
              <p:cNvSpPr/>
              <p:nvPr/>
            </p:nvSpPr>
            <p:spPr bwMode="auto">
              <a:xfrm>
                <a:off x="3452849" y="2721892"/>
                <a:ext cx="239345" cy="234154"/>
              </a:xfrm>
              <a:custGeom>
                <a:avLst/>
                <a:gdLst>
                  <a:gd name="T0" fmla="*/ 29 w 48"/>
                  <a:gd name="T1" fmla="*/ 0 h 47"/>
                  <a:gd name="T2" fmla="*/ 29 w 48"/>
                  <a:gd name="T3" fmla="*/ 7 h 47"/>
                  <a:gd name="T4" fmla="*/ 41 w 48"/>
                  <a:gd name="T5" fmla="*/ 23 h 47"/>
                  <a:gd name="T6" fmla="*/ 24 w 48"/>
                  <a:gd name="T7" fmla="*/ 41 h 47"/>
                  <a:gd name="T8" fmla="*/ 6 w 48"/>
                  <a:gd name="T9" fmla="*/ 23 h 47"/>
                  <a:gd name="T10" fmla="*/ 18 w 48"/>
                  <a:gd name="T11" fmla="*/ 7 h 47"/>
                  <a:gd name="T12" fmla="*/ 18 w 48"/>
                  <a:gd name="T13" fmla="*/ 0 h 47"/>
                  <a:gd name="T14" fmla="*/ 0 w 48"/>
                  <a:gd name="T15" fmla="*/ 23 h 47"/>
                  <a:gd name="T16" fmla="*/ 24 w 48"/>
                  <a:gd name="T17" fmla="*/ 47 h 47"/>
                  <a:gd name="T18" fmla="*/ 48 w 48"/>
                  <a:gd name="T19" fmla="*/ 23 h 47"/>
                  <a:gd name="T20" fmla="*/ 29 w 48"/>
                  <a:gd name="T21"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8" h="47">
                    <a:moveTo>
                      <a:pt x="29" y="0"/>
                    </a:moveTo>
                    <a:cubicBezTo>
                      <a:pt x="29" y="7"/>
                      <a:pt x="29" y="7"/>
                      <a:pt x="29" y="7"/>
                    </a:cubicBezTo>
                    <a:cubicBezTo>
                      <a:pt x="36" y="9"/>
                      <a:pt x="41" y="16"/>
                      <a:pt x="41" y="23"/>
                    </a:cubicBezTo>
                    <a:cubicBezTo>
                      <a:pt x="41" y="33"/>
                      <a:pt x="33" y="41"/>
                      <a:pt x="24" y="41"/>
                    </a:cubicBezTo>
                    <a:cubicBezTo>
                      <a:pt x="14" y="41"/>
                      <a:pt x="6" y="33"/>
                      <a:pt x="6" y="23"/>
                    </a:cubicBezTo>
                    <a:cubicBezTo>
                      <a:pt x="6" y="16"/>
                      <a:pt x="11" y="9"/>
                      <a:pt x="18" y="7"/>
                    </a:cubicBezTo>
                    <a:cubicBezTo>
                      <a:pt x="18" y="0"/>
                      <a:pt x="18" y="0"/>
                      <a:pt x="18" y="0"/>
                    </a:cubicBezTo>
                    <a:cubicBezTo>
                      <a:pt x="7" y="2"/>
                      <a:pt x="0" y="12"/>
                      <a:pt x="0" y="23"/>
                    </a:cubicBezTo>
                    <a:cubicBezTo>
                      <a:pt x="0" y="37"/>
                      <a:pt x="10" y="47"/>
                      <a:pt x="24" y="47"/>
                    </a:cubicBezTo>
                    <a:cubicBezTo>
                      <a:pt x="37" y="47"/>
                      <a:pt x="48" y="37"/>
                      <a:pt x="48" y="23"/>
                    </a:cubicBezTo>
                    <a:cubicBezTo>
                      <a:pt x="48" y="12"/>
                      <a:pt x="40" y="2"/>
                      <a:pt x="29" y="0"/>
                    </a:cubicBezTo>
                    <a:close/>
                  </a:path>
                </a:pathLst>
              </a:custGeom>
              <a:solidFill>
                <a:schemeClr val="accent2"/>
              </a:solidFill>
              <a:ln>
                <a:noFill/>
              </a:ln>
            </p:spPr>
            <p:txBody>
              <a:bodyPr lIns="91440" tIns="45720" rIns="91440" bIns="45720"/>
              <a:lstStyle/>
              <a:p>
                <a:pPr defTabSz="913765" fontAlgn="auto">
                  <a:spcBef>
                    <a:spcPts val="0"/>
                  </a:spcBef>
                  <a:spcAft>
                    <a:spcPts val="0"/>
                  </a:spcAft>
                  <a:defRPr/>
                </a:pPr>
                <a:endParaRPr lang="zh-CN" altLang="en-US" sz="1870">
                  <a:latin typeface="Arial" panose="020B0604020202020204" pitchFamily="34" charset="0"/>
                  <a:cs typeface="+mn-ea"/>
                </a:endParaRPr>
              </a:p>
            </p:txBody>
          </p:sp>
          <p:sp>
            <p:nvSpPr>
              <p:cNvPr id="55" name="Freeform 847"/>
              <p:cNvSpPr/>
              <p:nvPr/>
            </p:nvSpPr>
            <p:spPr bwMode="auto">
              <a:xfrm>
                <a:off x="3547138" y="2667439"/>
                <a:ext cx="44424" cy="138859"/>
              </a:xfrm>
              <a:custGeom>
                <a:avLst/>
                <a:gdLst>
                  <a:gd name="T0" fmla="*/ 7 w 9"/>
                  <a:gd name="T1" fmla="*/ 0 h 28"/>
                  <a:gd name="T2" fmla="*/ 2 w 9"/>
                  <a:gd name="T3" fmla="*/ 0 h 28"/>
                  <a:gd name="T4" fmla="*/ 0 w 9"/>
                  <a:gd name="T5" fmla="*/ 2 h 28"/>
                  <a:gd name="T6" fmla="*/ 0 w 9"/>
                  <a:gd name="T7" fmla="*/ 10 h 28"/>
                  <a:gd name="T8" fmla="*/ 0 w 9"/>
                  <a:gd name="T9" fmla="*/ 16 h 28"/>
                  <a:gd name="T10" fmla="*/ 0 w 9"/>
                  <a:gd name="T11" fmla="*/ 26 h 28"/>
                  <a:gd name="T12" fmla="*/ 2 w 9"/>
                  <a:gd name="T13" fmla="*/ 28 h 28"/>
                  <a:gd name="T14" fmla="*/ 7 w 9"/>
                  <a:gd name="T15" fmla="*/ 28 h 28"/>
                  <a:gd name="T16" fmla="*/ 9 w 9"/>
                  <a:gd name="T17" fmla="*/ 26 h 28"/>
                  <a:gd name="T18" fmla="*/ 9 w 9"/>
                  <a:gd name="T19" fmla="*/ 16 h 28"/>
                  <a:gd name="T20" fmla="*/ 9 w 9"/>
                  <a:gd name="T21" fmla="*/ 10 h 28"/>
                  <a:gd name="T22" fmla="*/ 9 w 9"/>
                  <a:gd name="T23" fmla="*/ 2 h 28"/>
                  <a:gd name="T24" fmla="*/ 7 w 9"/>
                  <a:gd name="T25"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28">
                    <a:moveTo>
                      <a:pt x="7" y="0"/>
                    </a:moveTo>
                    <a:cubicBezTo>
                      <a:pt x="2" y="0"/>
                      <a:pt x="2" y="0"/>
                      <a:pt x="2" y="0"/>
                    </a:cubicBezTo>
                    <a:cubicBezTo>
                      <a:pt x="1" y="0"/>
                      <a:pt x="0" y="1"/>
                      <a:pt x="0" y="2"/>
                    </a:cubicBezTo>
                    <a:cubicBezTo>
                      <a:pt x="0" y="10"/>
                      <a:pt x="0" y="10"/>
                      <a:pt x="0" y="10"/>
                    </a:cubicBezTo>
                    <a:cubicBezTo>
                      <a:pt x="0" y="16"/>
                      <a:pt x="0" y="16"/>
                      <a:pt x="0" y="16"/>
                    </a:cubicBezTo>
                    <a:cubicBezTo>
                      <a:pt x="0" y="26"/>
                      <a:pt x="0" y="26"/>
                      <a:pt x="0" y="26"/>
                    </a:cubicBezTo>
                    <a:cubicBezTo>
                      <a:pt x="0" y="27"/>
                      <a:pt x="1" y="28"/>
                      <a:pt x="2" y="28"/>
                    </a:cubicBezTo>
                    <a:cubicBezTo>
                      <a:pt x="7" y="28"/>
                      <a:pt x="7" y="28"/>
                      <a:pt x="7" y="28"/>
                    </a:cubicBezTo>
                    <a:cubicBezTo>
                      <a:pt x="8" y="28"/>
                      <a:pt x="9" y="27"/>
                      <a:pt x="9" y="26"/>
                    </a:cubicBezTo>
                    <a:cubicBezTo>
                      <a:pt x="9" y="16"/>
                      <a:pt x="9" y="16"/>
                      <a:pt x="9" y="16"/>
                    </a:cubicBezTo>
                    <a:cubicBezTo>
                      <a:pt x="9" y="10"/>
                      <a:pt x="9" y="10"/>
                      <a:pt x="9" y="10"/>
                    </a:cubicBezTo>
                    <a:cubicBezTo>
                      <a:pt x="9" y="2"/>
                      <a:pt x="9" y="2"/>
                      <a:pt x="9" y="2"/>
                    </a:cubicBezTo>
                    <a:cubicBezTo>
                      <a:pt x="9" y="1"/>
                      <a:pt x="8" y="0"/>
                      <a:pt x="7" y="0"/>
                    </a:cubicBezTo>
                    <a:close/>
                  </a:path>
                </a:pathLst>
              </a:custGeom>
              <a:solidFill>
                <a:schemeClr val="accent2"/>
              </a:solidFill>
              <a:ln>
                <a:noFill/>
              </a:ln>
            </p:spPr>
            <p:txBody>
              <a:bodyPr lIns="91440" tIns="45720" rIns="91440" bIns="45720"/>
              <a:lstStyle/>
              <a:p>
                <a:pPr defTabSz="913765" fontAlgn="auto">
                  <a:spcBef>
                    <a:spcPts val="0"/>
                  </a:spcBef>
                  <a:spcAft>
                    <a:spcPts val="0"/>
                  </a:spcAft>
                  <a:defRPr/>
                </a:pPr>
                <a:endParaRPr lang="zh-CN" altLang="en-US" sz="1870">
                  <a:latin typeface="Arial" panose="020B0604020202020204" pitchFamily="34" charset="0"/>
                  <a:cs typeface="+mn-ea"/>
                </a:endParaRPr>
              </a:p>
            </p:txBody>
          </p:sp>
        </p:grpSp>
      </p:grpSp>
      <p:grpSp>
        <p:nvGrpSpPr>
          <p:cNvPr id="58" name="组合 57"/>
          <p:cNvGrpSpPr/>
          <p:nvPr/>
        </p:nvGrpSpPr>
        <p:grpSpPr>
          <a:xfrm>
            <a:off x="2496264" y="2798565"/>
            <a:ext cx="644217" cy="644217"/>
            <a:chOff x="4684712" y="1948340"/>
            <a:chExt cx="858956" cy="858956"/>
          </a:xfrm>
        </p:grpSpPr>
        <p:grpSp>
          <p:nvGrpSpPr>
            <p:cNvPr id="59" name="组合 58"/>
            <p:cNvGrpSpPr/>
            <p:nvPr/>
          </p:nvGrpSpPr>
          <p:grpSpPr>
            <a:xfrm>
              <a:off x="4684712" y="1948340"/>
              <a:ext cx="858956" cy="858956"/>
              <a:chOff x="304800" y="673100"/>
              <a:chExt cx="4000500" cy="4000500"/>
            </a:xfrm>
            <a:effectLst>
              <a:outerShdw blurRad="444500" dist="254000" dir="8100000" algn="tr" rotWithShape="0">
                <a:prstClr val="black">
                  <a:alpha val="50000"/>
                </a:prstClr>
              </a:outerShdw>
            </a:effectLst>
          </p:grpSpPr>
          <p:sp>
            <p:nvSpPr>
              <p:cNvPr id="61" name="同心圆 60"/>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cs typeface="+mn-ea"/>
                </a:endParaRPr>
              </a:p>
            </p:txBody>
          </p:sp>
          <p:sp>
            <p:nvSpPr>
              <p:cNvPr id="62" name="椭圆 61"/>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60" name="Freeform 168"/>
            <p:cNvSpPr>
              <a:spLocks noChangeAspect="1" noEditPoints="1"/>
            </p:cNvSpPr>
            <p:nvPr/>
          </p:nvSpPr>
          <p:spPr bwMode="auto">
            <a:xfrm>
              <a:off x="4918327" y="2222412"/>
              <a:ext cx="425533" cy="364326"/>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chemeClr val="accent3"/>
            </a:solidFill>
            <a:ln>
              <a:noFill/>
            </a:ln>
          </p:spPr>
          <p:txBody>
            <a:bodyPr lIns="91440" tIns="45720" rIns="91440" bIns="45720"/>
            <a:lstStyle/>
            <a:p>
              <a:pPr defTabSz="913765" fontAlgn="auto">
                <a:spcBef>
                  <a:spcPts val="0"/>
                </a:spcBef>
                <a:spcAft>
                  <a:spcPts val="0"/>
                </a:spcAft>
                <a:defRPr/>
              </a:pPr>
              <a:endParaRPr lang="zh-CN" altLang="en-US" sz="1870">
                <a:latin typeface="Arial" panose="020B0604020202020204" pitchFamily="34" charset="0"/>
                <a:cs typeface="+mn-ea"/>
              </a:endParaRPr>
            </a:p>
          </p:txBody>
        </p:sp>
      </p:grpSp>
      <p:grpSp>
        <p:nvGrpSpPr>
          <p:cNvPr id="63" name="组合 62"/>
          <p:cNvGrpSpPr/>
          <p:nvPr/>
        </p:nvGrpSpPr>
        <p:grpSpPr>
          <a:xfrm>
            <a:off x="1925382" y="3799945"/>
            <a:ext cx="644217" cy="644217"/>
            <a:chOff x="4716016" y="2993953"/>
            <a:chExt cx="858956" cy="858956"/>
          </a:xfrm>
        </p:grpSpPr>
        <p:grpSp>
          <p:nvGrpSpPr>
            <p:cNvPr id="64" name="组合 63"/>
            <p:cNvGrpSpPr/>
            <p:nvPr/>
          </p:nvGrpSpPr>
          <p:grpSpPr>
            <a:xfrm>
              <a:off x="4716016" y="2993953"/>
              <a:ext cx="858956" cy="858956"/>
              <a:chOff x="304800" y="673100"/>
              <a:chExt cx="4000500" cy="4000500"/>
            </a:xfrm>
            <a:effectLst>
              <a:outerShdw blurRad="444500" dist="254000" dir="8100000" algn="tr" rotWithShape="0">
                <a:prstClr val="black">
                  <a:alpha val="50000"/>
                </a:prstClr>
              </a:outerShdw>
            </a:effectLst>
          </p:grpSpPr>
          <p:sp>
            <p:nvSpPr>
              <p:cNvPr id="66" name="同心圆 6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cs typeface="+mn-ea"/>
                </a:endParaRPr>
              </a:p>
            </p:txBody>
          </p:sp>
          <p:sp>
            <p:nvSpPr>
              <p:cNvPr id="67" name="椭圆 6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65" name="Freeform 203"/>
            <p:cNvSpPr>
              <a:spLocks noChangeAspect="1" noEditPoints="1"/>
            </p:cNvSpPr>
            <p:nvPr/>
          </p:nvSpPr>
          <p:spPr bwMode="auto">
            <a:xfrm>
              <a:off x="4972990" y="3242045"/>
              <a:ext cx="370870" cy="356606"/>
            </a:xfrm>
            <a:custGeom>
              <a:avLst/>
              <a:gdLst>
                <a:gd name="T0" fmla="*/ 88 w 218"/>
                <a:gd name="T1" fmla="*/ 43 h 209"/>
                <a:gd name="T2" fmla="*/ 36 w 218"/>
                <a:gd name="T3" fmla="*/ 43 h 209"/>
                <a:gd name="T4" fmla="*/ 26 w 218"/>
                <a:gd name="T5" fmla="*/ 57 h 209"/>
                <a:gd name="T6" fmla="*/ 36 w 218"/>
                <a:gd name="T7" fmla="*/ 71 h 209"/>
                <a:gd name="T8" fmla="*/ 88 w 218"/>
                <a:gd name="T9" fmla="*/ 71 h 209"/>
                <a:gd name="T10" fmla="*/ 88 w 218"/>
                <a:gd name="T11" fmla="*/ 43 h 209"/>
                <a:gd name="T12" fmla="*/ 88 w 218"/>
                <a:gd name="T13" fmla="*/ 43 h 209"/>
                <a:gd name="T14" fmla="*/ 126 w 218"/>
                <a:gd name="T15" fmla="*/ 71 h 209"/>
                <a:gd name="T16" fmla="*/ 187 w 218"/>
                <a:gd name="T17" fmla="*/ 71 h 209"/>
                <a:gd name="T18" fmla="*/ 194 w 218"/>
                <a:gd name="T19" fmla="*/ 71 h 209"/>
                <a:gd name="T20" fmla="*/ 197 w 218"/>
                <a:gd name="T21" fmla="*/ 76 h 209"/>
                <a:gd name="T22" fmla="*/ 213 w 218"/>
                <a:gd name="T23" fmla="*/ 102 h 209"/>
                <a:gd name="T24" fmla="*/ 218 w 218"/>
                <a:gd name="T25" fmla="*/ 109 h 209"/>
                <a:gd name="T26" fmla="*/ 213 w 218"/>
                <a:gd name="T27" fmla="*/ 114 h 209"/>
                <a:gd name="T28" fmla="*/ 197 w 218"/>
                <a:gd name="T29" fmla="*/ 140 h 209"/>
                <a:gd name="T30" fmla="*/ 194 w 218"/>
                <a:gd name="T31" fmla="*/ 147 h 209"/>
                <a:gd name="T32" fmla="*/ 187 w 218"/>
                <a:gd name="T33" fmla="*/ 147 h 209"/>
                <a:gd name="T34" fmla="*/ 126 w 218"/>
                <a:gd name="T35" fmla="*/ 147 h 209"/>
                <a:gd name="T36" fmla="*/ 126 w 218"/>
                <a:gd name="T37" fmla="*/ 180 h 209"/>
                <a:gd name="T38" fmla="*/ 180 w 218"/>
                <a:gd name="T39" fmla="*/ 180 h 209"/>
                <a:gd name="T40" fmla="*/ 180 w 218"/>
                <a:gd name="T41" fmla="*/ 209 h 209"/>
                <a:gd name="T42" fmla="*/ 40 w 218"/>
                <a:gd name="T43" fmla="*/ 209 h 209"/>
                <a:gd name="T44" fmla="*/ 40 w 218"/>
                <a:gd name="T45" fmla="*/ 180 h 209"/>
                <a:gd name="T46" fmla="*/ 90 w 218"/>
                <a:gd name="T47" fmla="*/ 180 h 209"/>
                <a:gd name="T48" fmla="*/ 90 w 218"/>
                <a:gd name="T49" fmla="*/ 95 h 209"/>
                <a:gd name="T50" fmla="*/ 29 w 218"/>
                <a:gd name="T51" fmla="*/ 95 h 209"/>
                <a:gd name="T52" fmla="*/ 22 w 218"/>
                <a:gd name="T53" fmla="*/ 95 h 209"/>
                <a:gd name="T54" fmla="*/ 19 w 218"/>
                <a:gd name="T55" fmla="*/ 88 h 209"/>
                <a:gd name="T56" fmla="*/ 3 w 218"/>
                <a:gd name="T57" fmla="*/ 62 h 209"/>
                <a:gd name="T58" fmla="*/ 0 w 218"/>
                <a:gd name="T59" fmla="*/ 57 h 209"/>
                <a:gd name="T60" fmla="*/ 3 w 218"/>
                <a:gd name="T61" fmla="*/ 50 h 209"/>
                <a:gd name="T62" fmla="*/ 19 w 218"/>
                <a:gd name="T63" fmla="*/ 24 h 209"/>
                <a:gd name="T64" fmla="*/ 22 w 218"/>
                <a:gd name="T65" fmla="*/ 19 h 209"/>
                <a:gd name="T66" fmla="*/ 29 w 218"/>
                <a:gd name="T67" fmla="*/ 19 h 209"/>
                <a:gd name="T68" fmla="*/ 90 w 218"/>
                <a:gd name="T69" fmla="*/ 19 h 209"/>
                <a:gd name="T70" fmla="*/ 90 w 218"/>
                <a:gd name="T71" fmla="*/ 15 h 209"/>
                <a:gd name="T72" fmla="*/ 109 w 218"/>
                <a:gd name="T73" fmla="*/ 0 h 209"/>
                <a:gd name="T74" fmla="*/ 126 w 218"/>
                <a:gd name="T75" fmla="*/ 15 h 209"/>
                <a:gd name="T76" fmla="*/ 126 w 218"/>
                <a:gd name="T77" fmla="*/ 71 h 209"/>
                <a:gd name="T78" fmla="*/ 126 w 218"/>
                <a:gd name="T79" fmla="*/ 71 h 209"/>
                <a:gd name="T80" fmla="*/ 182 w 218"/>
                <a:gd name="T81" fmla="*/ 93 h 209"/>
                <a:gd name="T82" fmla="*/ 128 w 218"/>
                <a:gd name="T83" fmla="*/ 93 h 209"/>
                <a:gd name="T84" fmla="*/ 128 w 218"/>
                <a:gd name="T85" fmla="*/ 123 h 209"/>
                <a:gd name="T86" fmla="*/ 182 w 218"/>
                <a:gd name="T87" fmla="*/ 123 h 209"/>
                <a:gd name="T88" fmla="*/ 192 w 218"/>
                <a:gd name="T89" fmla="*/ 109 h 209"/>
                <a:gd name="T90" fmla="*/ 182 w 218"/>
                <a:gd name="T91" fmla="*/ 93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18" h="209">
                  <a:moveTo>
                    <a:pt x="88" y="43"/>
                  </a:moveTo>
                  <a:lnTo>
                    <a:pt x="36" y="43"/>
                  </a:lnTo>
                  <a:lnTo>
                    <a:pt x="26" y="57"/>
                  </a:lnTo>
                  <a:lnTo>
                    <a:pt x="36" y="71"/>
                  </a:lnTo>
                  <a:lnTo>
                    <a:pt x="88" y="71"/>
                  </a:lnTo>
                  <a:lnTo>
                    <a:pt x="88" y="43"/>
                  </a:lnTo>
                  <a:lnTo>
                    <a:pt x="88" y="43"/>
                  </a:lnTo>
                  <a:close/>
                  <a:moveTo>
                    <a:pt x="126" y="71"/>
                  </a:moveTo>
                  <a:lnTo>
                    <a:pt x="187" y="71"/>
                  </a:lnTo>
                  <a:lnTo>
                    <a:pt x="194" y="71"/>
                  </a:lnTo>
                  <a:lnTo>
                    <a:pt x="197" y="76"/>
                  </a:lnTo>
                  <a:lnTo>
                    <a:pt x="213" y="102"/>
                  </a:lnTo>
                  <a:lnTo>
                    <a:pt x="218" y="109"/>
                  </a:lnTo>
                  <a:lnTo>
                    <a:pt x="213" y="114"/>
                  </a:lnTo>
                  <a:lnTo>
                    <a:pt x="197" y="140"/>
                  </a:lnTo>
                  <a:lnTo>
                    <a:pt x="194" y="147"/>
                  </a:lnTo>
                  <a:lnTo>
                    <a:pt x="187" y="147"/>
                  </a:lnTo>
                  <a:lnTo>
                    <a:pt x="126" y="147"/>
                  </a:lnTo>
                  <a:lnTo>
                    <a:pt x="126" y="180"/>
                  </a:lnTo>
                  <a:lnTo>
                    <a:pt x="180" y="180"/>
                  </a:lnTo>
                  <a:lnTo>
                    <a:pt x="180" y="209"/>
                  </a:lnTo>
                  <a:lnTo>
                    <a:pt x="40" y="209"/>
                  </a:lnTo>
                  <a:lnTo>
                    <a:pt x="40" y="180"/>
                  </a:lnTo>
                  <a:lnTo>
                    <a:pt x="90" y="180"/>
                  </a:lnTo>
                  <a:lnTo>
                    <a:pt x="90" y="95"/>
                  </a:lnTo>
                  <a:lnTo>
                    <a:pt x="29" y="95"/>
                  </a:lnTo>
                  <a:lnTo>
                    <a:pt x="22" y="95"/>
                  </a:lnTo>
                  <a:lnTo>
                    <a:pt x="19" y="88"/>
                  </a:lnTo>
                  <a:lnTo>
                    <a:pt x="3" y="62"/>
                  </a:lnTo>
                  <a:lnTo>
                    <a:pt x="0" y="57"/>
                  </a:lnTo>
                  <a:lnTo>
                    <a:pt x="3" y="50"/>
                  </a:lnTo>
                  <a:lnTo>
                    <a:pt x="19" y="24"/>
                  </a:lnTo>
                  <a:lnTo>
                    <a:pt x="22" y="19"/>
                  </a:lnTo>
                  <a:lnTo>
                    <a:pt x="29" y="19"/>
                  </a:lnTo>
                  <a:lnTo>
                    <a:pt x="90" y="19"/>
                  </a:lnTo>
                  <a:lnTo>
                    <a:pt x="90" y="15"/>
                  </a:lnTo>
                  <a:lnTo>
                    <a:pt x="109" y="0"/>
                  </a:lnTo>
                  <a:lnTo>
                    <a:pt x="126" y="15"/>
                  </a:lnTo>
                  <a:lnTo>
                    <a:pt x="126" y="71"/>
                  </a:lnTo>
                  <a:lnTo>
                    <a:pt x="126" y="71"/>
                  </a:lnTo>
                  <a:close/>
                  <a:moveTo>
                    <a:pt x="182" y="93"/>
                  </a:moveTo>
                  <a:lnTo>
                    <a:pt x="128" y="93"/>
                  </a:lnTo>
                  <a:lnTo>
                    <a:pt x="128" y="123"/>
                  </a:lnTo>
                  <a:lnTo>
                    <a:pt x="182" y="123"/>
                  </a:lnTo>
                  <a:lnTo>
                    <a:pt x="192" y="109"/>
                  </a:lnTo>
                  <a:lnTo>
                    <a:pt x="182" y="93"/>
                  </a:lnTo>
                  <a:close/>
                </a:path>
              </a:pathLst>
            </a:custGeom>
            <a:solidFill>
              <a:schemeClr val="accent4"/>
            </a:solidFill>
            <a:ln>
              <a:noFill/>
            </a:ln>
          </p:spPr>
          <p:txBody>
            <a:bodyPr lIns="91440" tIns="45720" rIns="91440" bIns="45720"/>
            <a:lstStyle/>
            <a:p>
              <a:pPr defTabSz="913765" fontAlgn="auto">
                <a:spcBef>
                  <a:spcPts val="0"/>
                </a:spcBef>
                <a:spcAft>
                  <a:spcPts val="0"/>
                </a:spcAft>
                <a:defRPr/>
              </a:pPr>
              <a:endParaRPr lang="zh-CN" altLang="en-US" sz="1870">
                <a:latin typeface="Arial" panose="020B0604020202020204" pitchFamily="34" charset="0"/>
                <a:cs typeface="+mn-ea"/>
              </a:endParaRPr>
            </a:p>
          </p:txBody>
        </p:sp>
      </p:grpSp>
      <p:sp>
        <p:nvSpPr>
          <p:cNvPr id="73" name="矩形 72"/>
          <p:cNvSpPr/>
          <p:nvPr/>
        </p:nvSpPr>
        <p:spPr>
          <a:xfrm>
            <a:off x="3189821" y="2644609"/>
            <a:ext cx="745490" cy="313055"/>
          </a:xfrm>
          <a:prstGeom prst="rect">
            <a:avLst/>
          </a:prstGeom>
        </p:spPr>
        <p:txBody>
          <a:bodyPr wrap="none" lIns="68573" tIns="34287" rIns="68573" bIns="34287">
            <a:spAutoFit/>
          </a:bodyPr>
          <a:lstStyle/>
          <a:p>
            <a:r>
              <a:rPr lang="zh-CN" altLang="en-US" sz="1600" b="1" dirty="0">
                <a:solidFill>
                  <a:srgbClr val="FFC000"/>
                </a:solidFill>
                <a:latin typeface="+mn-ea"/>
                <a:cs typeface="+mn-ea"/>
              </a:rPr>
              <a:t>微指令</a:t>
            </a:r>
          </a:p>
        </p:txBody>
      </p:sp>
      <p:sp>
        <p:nvSpPr>
          <p:cNvPr id="74" name="矩形 47"/>
          <p:cNvSpPr>
            <a:spLocks noChangeArrowheads="1"/>
          </p:cNvSpPr>
          <p:nvPr/>
        </p:nvSpPr>
        <p:spPr bwMode="auto">
          <a:xfrm>
            <a:off x="3168015" y="2907665"/>
            <a:ext cx="3687445" cy="952500"/>
          </a:xfrm>
          <a:prstGeom prst="rect">
            <a:avLst/>
          </a:prstGeom>
          <a:noFill/>
          <a:ln>
            <a:noFill/>
          </a:ln>
        </p:spPr>
        <p:txBody>
          <a:bodyPr wrap="square" lIns="68573" tIns="34287" rIns="68573" bIns="34287">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indent="0">
              <a:lnSpc>
                <a:spcPct val="110000"/>
              </a:lnSpc>
              <a:spcBef>
                <a:spcPct val="30000"/>
              </a:spcBef>
              <a:buNone/>
            </a:pPr>
            <a:r>
              <a:rPr lang="zh-CN" altLang="en-US" sz="1600">
                <a:solidFill>
                  <a:schemeClr val="tx1"/>
                </a:solidFill>
                <a:sym typeface="+mn-ea"/>
              </a:rPr>
              <a:t>是微程序级命令，属于硬件范畴。</a:t>
            </a:r>
            <a:endParaRPr lang="zh-CN" altLang="en-US" sz="1600">
              <a:solidFill>
                <a:schemeClr val="tx1"/>
              </a:solidFill>
              <a:latin typeface="微软雅黑" panose="020B0503020204020204" charset="-122"/>
              <a:ea typeface="微软雅黑" panose="020B0503020204020204" charset="-122"/>
              <a:sym typeface="+mn-ea"/>
            </a:endParaRPr>
          </a:p>
          <a:p>
            <a:pPr>
              <a:lnSpc>
                <a:spcPct val="110000"/>
              </a:lnSpc>
              <a:spcBef>
                <a:spcPct val="30000"/>
              </a:spcBef>
              <a:buFontTx/>
              <a:buNone/>
            </a:pPr>
            <a:r>
              <a:rPr lang="zh-CN" altLang="en-US" sz="1600">
                <a:solidFill>
                  <a:schemeClr val="tx1"/>
                </a:solidFill>
                <a:sym typeface="+mn-ea"/>
              </a:rPr>
              <a:t>相当于洗、切、煮、炒等做菜“微过程</a:t>
            </a:r>
            <a:r>
              <a:rPr lang="en-US" altLang="zh-CN" sz="1600">
                <a:solidFill>
                  <a:schemeClr val="tx1"/>
                </a:solidFill>
                <a:sym typeface="+mn-ea"/>
              </a:rPr>
              <a:t>”</a:t>
            </a:r>
            <a:r>
              <a:rPr lang="zh-CN" altLang="en-US" sz="1600">
                <a:solidFill>
                  <a:schemeClr val="tx1"/>
                </a:solidFill>
                <a:sym typeface="+mn-ea"/>
              </a:rPr>
              <a:t>。</a:t>
            </a:r>
            <a:endParaRPr lang="zh-CN" altLang="en-US" sz="1600" dirty="0">
              <a:solidFill>
                <a:schemeClr val="tx1"/>
              </a:solidFill>
              <a:ea typeface="+mn-ea"/>
              <a:cs typeface="+mn-ea"/>
              <a:sym typeface="+mn-ea"/>
            </a:endParaRPr>
          </a:p>
        </p:txBody>
      </p:sp>
      <p:sp>
        <p:nvSpPr>
          <p:cNvPr id="75" name="矩形 74"/>
          <p:cNvSpPr/>
          <p:nvPr/>
        </p:nvSpPr>
        <p:spPr>
          <a:xfrm>
            <a:off x="2651379" y="3825510"/>
            <a:ext cx="745490" cy="313055"/>
          </a:xfrm>
          <a:prstGeom prst="rect">
            <a:avLst/>
          </a:prstGeom>
        </p:spPr>
        <p:txBody>
          <a:bodyPr wrap="none" lIns="68573" tIns="34287" rIns="68573" bIns="34287">
            <a:spAutoFit/>
          </a:bodyPr>
          <a:lstStyle/>
          <a:p>
            <a:r>
              <a:rPr lang="zh-CN" altLang="en-US" sz="1600" b="1" dirty="0">
                <a:solidFill>
                  <a:schemeClr val="accent1"/>
                </a:solidFill>
                <a:latin typeface="+mn-ea"/>
                <a:cs typeface="+mn-ea"/>
              </a:rPr>
              <a:t>伪指令</a:t>
            </a:r>
          </a:p>
        </p:txBody>
      </p:sp>
      <p:sp>
        <p:nvSpPr>
          <p:cNvPr id="80" name="矩形 47"/>
          <p:cNvSpPr>
            <a:spLocks noChangeArrowheads="1"/>
          </p:cNvSpPr>
          <p:nvPr/>
        </p:nvSpPr>
        <p:spPr bwMode="auto">
          <a:xfrm>
            <a:off x="2568575" y="3986530"/>
            <a:ext cx="4649470" cy="854710"/>
          </a:xfrm>
          <a:prstGeom prst="rect">
            <a:avLst/>
          </a:prstGeom>
          <a:noFill/>
          <a:ln>
            <a:noFill/>
          </a:ln>
        </p:spPr>
        <p:txBody>
          <a:bodyPr wrap="square" lIns="68573" tIns="34287" rIns="68573" bIns="34287">
            <a:spAutoFit/>
          </a:bodyPr>
          <a:lstStyle>
            <a:lvl1pPr>
              <a:spcBef>
                <a:spcPct val="20000"/>
              </a:spcBef>
              <a:buFont typeface="Arial" panose="020B0604020202020204" pitchFamily="34" charset="0"/>
              <a:buChar char="•"/>
              <a:defRPr sz="3200">
                <a:solidFill>
                  <a:schemeClr val="tx1"/>
                </a:solidFill>
                <a:latin typeface="微软雅黑" panose="020B0503020204020204" charset="-122"/>
                <a:ea typeface="微软雅黑" panose="020B0503020204020204" charset="-122"/>
                <a:sym typeface="Calibri" panose="020F0502020204030204" charset="0"/>
              </a:defRPr>
            </a:lvl1pPr>
            <a:lvl2pPr marL="742950" indent="-285750">
              <a:spcBef>
                <a:spcPct val="20000"/>
              </a:spcBef>
              <a:buFont typeface="Arial" panose="020B0604020202020204" pitchFamily="34" charset="0"/>
              <a:buChar char="–"/>
              <a:defRPr sz="2800">
                <a:solidFill>
                  <a:schemeClr val="tx1"/>
                </a:solidFill>
                <a:latin typeface="微软雅黑" panose="020B0503020204020204" charset="-122"/>
                <a:ea typeface="微软雅黑" panose="020B0503020204020204" charset="-122"/>
                <a:sym typeface="Calibri" panose="020F0502020204030204" charset="0"/>
              </a:defRPr>
            </a:lvl2pPr>
            <a:lvl3pPr marL="1143000" indent="-228600">
              <a:spcBef>
                <a:spcPct val="20000"/>
              </a:spcBef>
              <a:buFont typeface="Arial" panose="020B0604020202020204" pitchFamily="34" charset="0"/>
              <a:buChar char="•"/>
              <a:defRPr sz="2400">
                <a:solidFill>
                  <a:schemeClr val="tx1"/>
                </a:solidFill>
                <a:latin typeface="微软雅黑" panose="020B0503020204020204" charset="-122"/>
                <a:ea typeface="微软雅黑" panose="020B0503020204020204" charset="-122"/>
                <a:sym typeface="Calibri" panose="020F0502020204030204" charset="0"/>
              </a:defRPr>
            </a:lvl3pPr>
            <a:lvl4pPr marL="16002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4pPr>
            <a:lvl5pPr marL="2057400" indent="-228600">
              <a:spcBef>
                <a:spcPct val="20000"/>
              </a:spcBef>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微软雅黑" panose="020B0503020204020204" charset="-122"/>
                <a:ea typeface="微软雅黑" panose="020B0503020204020204" charset="-122"/>
                <a:sym typeface="Calibri" panose="020F0502020204030204" charset="0"/>
              </a:defRPr>
            </a:lvl9pPr>
          </a:lstStyle>
          <a:p>
            <a:pPr>
              <a:lnSpc>
                <a:spcPct val="150000"/>
              </a:lnSpc>
              <a:buNone/>
            </a:pPr>
            <a:r>
              <a:rPr lang="zh-CN" altLang="en-US" sz="1600" dirty="0">
                <a:ea typeface="+mn-ea"/>
                <a:cs typeface="+mn-ea"/>
              </a:rPr>
              <a:t>是由若干机器指令组成的指令序列，属于软件范畴。</a:t>
            </a:r>
          </a:p>
          <a:p>
            <a:pPr>
              <a:lnSpc>
                <a:spcPct val="150000"/>
              </a:lnSpc>
              <a:buNone/>
            </a:pPr>
            <a:r>
              <a:rPr lang="zh-CN" altLang="en-US" sz="1600" dirty="0">
                <a:ea typeface="+mn-ea"/>
                <a:cs typeface="+mn-ea"/>
              </a:rPr>
              <a:t>相当于由多个菜谱合成一个”大菜“的过程。</a:t>
            </a:r>
          </a:p>
        </p:txBody>
      </p:sp>
      <p:sp>
        <p:nvSpPr>
          <p:cNvPr id="2" name="矩形 1"/>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446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3" name="椭圆 2"/>
          <p:cNvSpPr/>
          <p:nvPr/>
        </p:nvSpPr>
        <p:spPr>
          <a:xfrm>
            <a:off x="55880" y="2419985"/>
            <a:ext cx="1094740" cy="1022985"/>
          </a:xfrm>
          <a:prstGeom prst="ellipse">
            <a:avLst/>
          </a:prstGeom>
          <a:gradFill>
            <a:gsLst>
              <a:gs pos="0">
                <a:schemeClr val="accent1">
                  <a:lumMod val="5000"/>
                  <a:lumOff val="95000"/>
                </a:schemeClr>
              </a:gs>
              <a:gs pos="24000">
                <a:schemeClr val="bg1">
                  <a:lumMod val="9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a:solidFill>
                  <a:srgbClr val="ED7D31"/>
                </a:solidFill>
                <a:latin typeface="微软雅黑" panose="020B0503020204020204" charset="-122"/>
                <a:ea typeface="微软雅黑" panose="020B0503020204020204" charset="-122"/>
                <a:sym typeface="+mn-ea"/>
              </a:rPr>
              <a:t>计算机中的指令</a:t>
            </a:r>
          </a:p>
        </p:txBody>
      </p:sp>
      <p:sp>
        <p:nvSpPr>
          <p:cNvPr id="4" name="云形标注 3"/>
          <p:cNvSpPr/>
          <p:nvPr/>
        </p:nvSpPr>
        <p:spPr>
          <a:xfrm>
            <a:off x="3832225" y="375920"/>
            <a:ext cx="2429510" cy="1259205"/>
          </a:xfrm>
          <a:prstGeom prst="cloudCallout">
            <a:avLst>
              <a:gd name="adj1" fmla="val -56691"/>
              <a:gd name="adj2" fmla="val 5294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a:t>汇编指令是机器指令的汇编表示形式，即符号表示</a:t>
            </a:r>
          </a:p>
        </p:txBody>
      </p:sp>
      <p:sp>
        <p:nvSpPr>
          <p:cNvPr id="11" name="Text Box 1030"/>
          <p:cNvSpPr txBox="1">
            <a:spLocks noChangeArrowheads="1"/>
          </p:cNvSpPr>
          <p:nvPr/>
        </p:nvSpPr>
        <p:spPr bwMode="auto">
          <a:xfrm>
            <a:off x="6947059" y="1244918"/>
            <a:ext cx="1559719" cy="895350"/>
          </a:xfrm>
          <a:prstGeom prst="rect">
            <a:avLst/>
          </a:prstGeom>
          <a:solidFill>
            <a:srgbClr val="FFFFFF"/>
          </a:solidFill>
          <a:ln w="9525">
            <a:noFill/>
            <a:miter lim="800000"/>
          </a:ln>
        </p:spPr>
        <p:txBody>
          <a:bodyPr lIns="0" tIns="0" rIns="0" bIns="0"/>
          <a:lstStyle/>
          <a:p>
            <a:pPr algn="just"/>
            <a:r>
              <a:rPr lang="en-US" altLang="zh-CN" sz="2000" dirty="0">
                <a:latin typeface="Arial" panose="020B0604020202020204" pitchFamily="34" charset="0"/>
                <a:ea typeface="宋体" panose="02010600030101010101" pitchFamily="2" charset="-122"/>
              </a:rPr>
              <a:t>temp = v[k];</a:t>
            </a:r>
          </a:p>
          <a:p>
            <a:pPr algn="just"/>
            <a:r>
              <a:rPr lang="en-US" altLang="zh-CN" sz="2000" dirty="0">
                <a:latin typeface="Arial" panose="020B0604020202020204" pitchFamily="34" charset="0"/>
                <a:ea typeface="宋体" panose="02010600030101010101" pitchFamily="2" charset="-122"/>
              </a:rPr>
              <a:t>v[k] = v[k+1];</a:t>
            </a:r>
          </a:p>
          <a:p>
            <a:pPr algn="just"/>
            <a:r>
              <a:rPr lang="en-US" altLang="zh-CN" sz="2000" dirty="0">
                <a:latin typeface="Arial" panose="020B0604020202020204" pitchFamily="34" charset="0"/>
                <a:ea typeface="宋体" panose="02010600030101010101" pitchFamily="2" charset="-122"/>
              </a:rPr>
              <a:t>v[k+1] = temp;</a:t>
            </a:r>
          </a:p>
        </p:txBody>
      </p:sp>
      <p:sp>
        <p:nvSpPr>
          <p:cNvPr id="598022" name="Text Box 1031"/>
          <p:cNvSpPr txBox="1">
            <a:spLocks noChangeArrowheads="1"/>
          </p:cNvSpPr>
          <p:nvPr/>
        </p:nvSpPr>
        <p:spPr bwMode="auto">
          <a:xfrm>
            <a:off x="6946821" y="2787015"/>
            <a:ext cx="2010965" cy="972741"/>
          </a:xfrm>
          <a:prstGeom prst="rect">
            <a:avLst/>
          </a:prstGeom>
          <a:solidFill>
            <a:srgbClr val="FFFFFF"/>
          </a:solidFill>
          <a:ln w="9525">
            <a:noFill/>
            <a:miter lim="800000"/>
          </a:ln>
        </p:spPr>
        <p:txBody>
          <a:bodyPr lIns="0" tIns="0" rIns="0" bIns="0"/>
          <a:lstStyle/>
          <a:p>
            <a:pPr algn="just"/>
            <a:r>
              <a:rPr lang="en-US" altLang="zh-CN" sz="2000">
                <a:solidFill>
                  <a:schemeClr val="accent2"/>
                </a:solidFill>
                <a:latin typeface="Arial" panose="020B0604020202020204" pitchFamily="34" charset="0"/>
                <a:ea typeface="宋体" panose="02010600030101010101" pitchFamily="2" charset="-122"/>
              </a:rPr>
              <a:t>lw $15, 0($2)</a:t>
            </a:r>
          </a:p>
          <a:p>
            <a:pPr algn="just"/>
            <a:r>
              <a:rPr lang="en-US" altLang="zh-CN" sz="2000">
                <a:solidFill>
                  <a:schemeClr val="accent2"/>
                </a:solidFill>
                <a:latin typeface="Arial" panose="020B0604020202020204" pitchFamily="34" charset="0"/>
                <a:ea typeface="宋体" panose="02010600030101010101" pitchFamily="2" charset="-122"/>
              </a:rPr>
              <a:t>lw $16, 4($2)</a:t>
            </a:r>
          </a:p>
          <a:p>
            <a:pPr algn="just"/>
            <a:r>
              <a:rPr lang="en-US" altLang="zh-CN" sz="2000">
                <a:solidFill>
                  <a:schemeClr val="accent2"/>
                </a:solidFill>
                <a:latin typeface="Arial" panose="020B0604020202020204" pitchFamily="34" charset="0"/>
                <a:ea typeface="宋体" panose="02010600030101010101" pitchFamily="2" charset="-122"/>
              </a:rPr>
              <a:t>sw $16, 0($2)</a:t>
            </a:r>
          </a:p>
          <a:p>
            <a:pPr algn="just"/>
            <a:r>
              <a:rPr lang="en-US" altLang="zh-CN" sz="2000">
                <a:solidFill>
                  <a:schemeClr val="accent2"/>
                </a:solidFill>
                <a:latin typeface="Arial" panose="020B0604020202020204" pitchFamily="34" charset="0"/>
                <a:ea typeface="宋体" panose="02010600030101010101" pitchFamily="2" charset="-122"/>
              </a:rPr>
              <a:t>sw $15, 4($2)</a:t>
            </a:r>
          </a:p>
          <a:p>
            <a:pPr algn="ctr"/>
            <a:endParaRPr lang="en-US" altLang="zh-CN" sz="2000">
              <a:solidFill>
                <a:schemeClr val="accent2"/>
              </a:solidFill>
              <a:latin typeface="Arial" panose="020B0604020202020204" pitchFamily="34" charset="0"/>
              <a:ea typeface="宋体" panose="02010600030101010101" pitchFamily="2" charset="-122"/>
            </a:endParaRPr>
          </a:p>
        </p:txBody>
      </p:sp>
      <p:sp>
        <p:nvSpPr>
          <p:cNvPr id="598023" name="Text Box 1032"/>
          <p:cNvSpPr txBox="1">
            <a:spLocks noChangeArrowheads="1"/>
          </p:cNvSpPr>
          <p:nvPr/>
        </p:nvSpPr>
        <p:spPr bwMode="auto">
          <a:xfrm>
            <a:off x="60960" y="4950460"/>
            <a:ext cx="4715510" cy="801370"/>
          </a:xfrm>
          <a:prstGeom prst="rect">
            <a:avLst/>
          </a:prstGeom>
          <a:solidFill>
            <a:srgbClr val="FFFFFF"/>
          </a:solidFill>
          <a:ln w="9525">
            <a:noFill/>
            <a:miter lim="800000"/>
          </a:ln>
        </p:spPr>
        <p:txBody>
          <a:bodyPr lIns="0" tIns="0" rIns="0" bIns="0"/>
          <a:lstStyle/>
          <a:p>
            <a:pPr algn="just"/>
            <a:r>
              <a:rPr lang="en-US" altLang="zh-CN">
                <a:solidFill>
                  <a:srgbClr val="ED1611"/>
                </a:solidFill>
                <a:latin typeface="Arial" panose="020B0604020202020204" pitchFamily="34" charset="0"/>
                <a:ea typeface="宋体" panose="02010600030101010101" pitchFamily="2" charset="-122"/>
              </a:rPr>
              <a:t>100011 </a:t>
            </a:r>
            <a:r>
              <a:rPr lang="en-US" altLang="zh-CN">
                <a:solidFill>
                  <a:srgbClr val="008000"/>
                </a:solidFill>
                <a:latin typeface="Arial" panose="020B0604020202020204" pitchFamily="34" charset="0"/>
                <a:ea typeface="宋体" panose="02010600030101010101" pitchFamily="2" charset="-122"/>
              </a:rPr>
              <a:t>00010</a:t>
            </a:r>
            <a:r>
              <a:rPr lang="en-US" altLang="zh-CN">
                <a:solidFill>
                  <a:srgbClr val="ED1611"/>
                </a:solidFill>
                <a:latin typeface="Arial" panose="020B0604020202020204" pitchFamily="34" charset="0"/>
                <a:ea typeface="宋体" panose="02010600030101010101" pitchFamily="2" charset="-122"/>
              </a:rPr>
              <a:t> </a:t>
            </a:r>
            <a:r>
              <a:rPr lang="en-US" altLang="zh-CN">
                <a:solidFill>
                  <a:srgbClr val="3333CC"/>
                </a:solidFill>
                <a:latin typeface="Arial" panose="020B0604020202020204" pitchFamily="34" charset="0"/>
                <a:ea typeface="宋体" panose="02010600030101010101" pitchFamily="2" charset="-122"/>
              </a:rPr>
              <a:t>01111</a:t>
            </a:r>
            <a:r>
              <a:rPr lang="en-US" altLang="zh-CN">
                <a:solidFill>
                  <a:srgbClr val="ED1611"/>
                </a:solidFill>
                <a:latin typeface="Arial" panose="020B0604020202020204" pitchFamily="34" charset="0"/>
                <a:ea typeface="宋体" panose="02010600030101010101" pitchFamily="2" charset="-122"/>
              </a:rPr>
              <a:t> </a:t>
            </a:r>
            <a:r>
              <a:rPr lang="en-US" altLang="zh-CN">
                <a:solidFill>
                  <a:schemeClr val="tx2"/>
                </a:solidFill>
                <a:latin typeface="Arial" panose="020B0604020202020204" pitchFamily="34" charset="0"/>
                <a:ea typeface="宋体" panose="02010600030101010101" pitchFamily="2" charset="-122"/>
              </a:rPr>
              <a:t>0000 0000 0000 0000</a:t>
            </a:r>
          </a:p>
          <a:p>
            <a:pPr algn="just"/>
            <a:r>
              <a:rPr lang="en-US" altLang="zh-CN">
                <a:solidFill>
                  <a:srgbClr val="ED1611"/>
                </a:solidFill>
                <a:latin typeface="Arial" panose="020B0604020202020204" pitchFamily="34" charset="0"/>
                <a:ea typeface="宋体" panose="02010600030101010101" pitchFamily="2" charset="-122"/>
              </a:rPr>
              <a:t>100011</a:t>
            </a:r>
            <a:r>
              <a:rPr lang="en-US" altLang="zh-CN">
                <a:solidFill>
                  <a:srgbClr val="008000"/>
                </a:solidFill>
                <a:latin typeface="Arial" panose="020B0604020202020204" pitchFamily="34" charset="0"/>
                <a:ea typeface="宋体" panose="02010600030101010101" pitchFamily="2" charset="-122"/>
              </a:rPr>
              <a:t> 00010</a:t>
            </a:r>
            <a:r>
              <a:rPr lang="en-US" altLang="zh-CN">
                <a:solidFill>
                  <a:srgbClr val="ED1611"/>
                </a:solidFill>
                <a:latin typeface="Arial" panose="020B0604020202020204" pitchFamily="34" charset="0"/>
                <a:ea typeface="宋体" panose="02010600030101010101" pitchFamily="2" charset="-122"/>
              </a:rPr>
              <a:t> </a:t>
            </a:r>
            <a:r>
              <a:rPr lang="en-US" altLang="zh-CN">
                <a:solidFill>
                  <a:srgbClr val="3333CC"/>
                </a:solidFill>
                <a:latin typeface="Arial" panose="020B0604020202020204" pitchFamily="34" charset="0"/>
                <a:ea typeface="宋体" panose="02010600030101010101" pitchFamily="2" charset="-122"/>
              </a:rPr>
              <a:t>10000</a:t>
            </a:r>
            <a:r>
              <a:rPr lang="en-US" altLang="zh-CN">
                <a:solidFill>
                  <a:srgbClr val="ED1611"/>
                </a:solidFill>
                <a:latin typeface="Arial" panose="020B0604020202020204" pitchFamily="34" charset="0"/>
                <a:ea typeface="宋体" panose="02010600030101010101" pitchFamily="2" charset="-122"/>
              </a:rPr>
              <a:t> </a:t>
            </a:r>
            <a:r>
              <a:rPr lang="en-US" altLang="zh-CN">
                <a:solidFill>
                  <a:schemeClr val="tx2"/>
                </a:solidFill>
                <a:latin typeface="Arial" panose="020B0604020202020204" pitchFamily="34" charset="0"/>
                <a:ea typeface="宋体" panose="02010600030101010101" pitchFamily="2" charset="-122"/>
              </a:rPr>
              <a:t>0000 0000 0000 0100</a:t>
            </a:r>
          </a:p>
          <a:p>
            <a:pPr algn="just"/>
            <a:r>
              <a:rPr lang="en-US" altLang="zh-CN">
                <a:solidFill>
                  <a:srgbClr val="ED1611"/>
                </a:solidFill>
                <a:latin typeface="Arial" panose="020B0604020202020204" pitchFamily="34" charset="0"/>
                <a:ea typeface="宋体" panose="02010600030101010101" pitchFamily="2" charset="-122"/>
              </a:rPr>
              <a:t>101011 </a:t>
            </a:r>
            <a:r>
              <a:rPr lang="en-US" altLang="zh-CN">
                <a:solidFill>
                  <a:srgbClr val="008000"/>
                </a:solidFill>
                <a:latin typeface="Arial" panose="020B0604020202020204" pitchFamily="34" charset="0"/>
                <a:ea typeface="宋体" panose="02010600030101010101" pitchFamily="2" charset="-122"/>
              </a:rPr>
              <a:t>00010</a:t>
            </a:r>
            <a:r>
              <a:rPr lang="en-US" altLang="zh-CN">
                <a:solidFill>
                  <a:srgbClr val="ED1611"/>
                </a:solidFill>
                <a:latin typeface="Arial" panose="020B0604020202020204" pitchFamily="34" charset="0"/>
                <a:ea typeface="宋体" panose="02010600030101010101" pitchFamily="2" charset="-122"/>
              </a:rPr>
              <a:t> </a:t>
            </a:r>
            <a:r>
              <a:rPr lang="en-US" altLang="zh-CN">
                <a:solidFill>
                  <a:srgbClr val="3333CC"/>
                </a:solidFill>
                <a:latin typeface="Arial" panose="020B0604020202020204" pitchFamily="34" charset="0"/>
                <a:ea typeface="宋体" panose="02010600030101010101" pitchFamily="2" charset="-122"/>
              </a:rPr>
              <a:t>10000</a:t>
            </a:r>
            <a:r>
              <a:rPr lang="en-US" altLang="zh-CN">
                <a:solidFill>
                  <a:srgbClr val="ED1611"/>
                </a:solidFill>
                <a:latin typeface="Arial" panose="020B0604020202020204" pitchFamily="34" charset="0"/>
                <a:ea typeface="宋体" panose="02010600030101010101" pitchFamily="2" charset="-122"/>
              </a:rPr>
              <a:t> </a:t>
            </a:r>
            <a:r>
              <a:rPr lang="en-US" altLang="zh-CN">
                <a:solidFill>
                  <a:schemeClr val="tx2"/>
                </a:solidFill>
                <a:latin typeface="Arial" panose="020B0604020202020204" pitchFamily="34" charset="0"/>
                <a:ea typeface="宋体" panose="02010600030101010101" pitchFamily="2" charset="-122"/>
              </a:rPr>
              <a:t>0000 0000 0000 0000</a:t>
            </a:r>
          </a:p>
          <a:p>
            <a:pPr algn="just"/>
            <a:r>
              <a:rPr lang="en-US" altLang="zh-CN">
                <a:solidFill>
                  <a:srgbClr val="ED1611"/>
                </a:solidFill>
                <a:latin typeface="Arial" panose="020B0604020202020204" pitchFamily="34" charset="0"/>
                <a:ea typeface="宋体" panose="02010600030101010101" pitchFamily="2" charset="-122"/>
              </a:rPr>
              <a:t>101011 </a:t>
            </a:r>
            <a:r>
              <a:rPr lang="en-US" altLang="zh-CN">
                <a:solidFill>
                  <a:srgbClr val="008000"/>
                </a:solidFill>
                <a:latin typeface="Arial" panose="020B0604020202020204" pitchFamily="34" charset="0"/>
                <a:ea typeface="宋体" panose="02010600030101010101" pitchFamily="2" charset="-122"/>
              </a:rPr>
              <a:t>00010</a:t>
            </a:r>
            <a:r>
              <a:rPr lang="en-US" altLang="zh-CN">
                <a:solidFill>
                  <a:srgbClr val="ED1611"/>
                </a:solidFill>
                <a:latin typeface="Arial" panose="020B0604020202020204" pitchFamily="34" charset="0"/>
                <a:ea typeface="宋体" panose="02010600030101010101" pitchFamily="2" charset="-122"/>
              </a:rPr>
              <a:t> </a:t>
            </a:r>
            <a:r>
              <a:rPr lang="en-US" altLang="zh-CN">
                <a:solidFill>
                  <a:srgbClr val="3333CC"/>
                </a:solidFill>
                <a:latin typeface="Arial" panose="020B0604020202020204" pitchFamily="34" charset="0"/>
                <a:ea typeface="宋体" panose="02010600030101010101" pitchFamily="2" charset="-122"/>
              </a:rPr>
              <a:t>01111</a:t>
            </a:r>
            <a:r>
              <a:rPr lang="en-US" altLang="zh-CN">
                <a:solidFill>
                  <a:srgbClr val="ED1611"/>
                </a:solidFill>
                <a:latin typeface="Arial" panose="020B0604020202020204" pitchFamily="34" charset="0"/>
                <a:ea typeface="宋体" panose="02010600030101010101" pitchFamily="2" charset="-122"/>
              </a:rPr>
              <a:t> </a:t>
            </a:r>
            <a:r>
              <a:rPr lang="en-US" altLang="zh-CN">
                <a:solidFill>
                  <a:schemeClr val="tx2"/>
                </a:solidFill>
                <a:latin typeface="Arial" panose="020B0604020202020204" pitchFamily="34" charset="0"/>
                <a:ea typeface="宋体" panose="02010600030101010101" pitchFamily="2" charset="-122"/>
              </a:rPr>
              <a:t>0000 0000 0000 0100</a:t>
            </a:r>
          </a:p>
          <a:p>
            <a:pPr algn="ctr"/>
            <a:endParaRPr lang="en-US" altLang="zh-CN" b="0">
              <a:solidFill>
                <a:schemeClr val="tx2"/>
              </a:solidFill>
              <a:latin typeface="Arial" panose="020B0604020202020204" pitchFamily="34" charset="0"/>
              <a:ea typeface="宋体" panose="02010600030101010101" pitchFamily="2" charset="-122"/>
            </a:endParaRPr>
          </a:p>
        </p:txBody>
      </p:sp>
      <p:sp>
        <p:nvSpPr>
          <p:cNvPr id="598020" name="Text Box 1029"/>
          <p:cNvSpPr txBox="1">
            <a:spLocks noChangeArrowheads="1"/>
          </p:cNvSpPr>
          <p:nvPr/>
        </p:nvSpPr>
        <p:spPr bwMode="auto">
          <a:xfrm>
            <a:off x="4657725" y="4809490"/>
            <a:ext cx="4446270" cy="647700"/>
          </a:xfrm>
          <a:prstGeom prst="rect">
            <a:avLst/>
          </a:prstGeom>
          <a:solidFill>
            <a:srgbClr val="FFFFFF"/>
          </a:solidFill>
          <a:ln w="9525">
            <a:noFill/>
            <a:miter lim="800000"/>
          </a:ln>
        </p:spPr>
        <p:txBody>
          <a:bodyPr lIns="0" tIns="0" rIns="0" bIns="0"/>
          <a:lstStyle/>
          <a:p>
            <a:pPr algn="just"/>
            <a:r>
              <a:rPr lang="pt-BR" altLang="zh-CN" sz="2000">
                <a:latin typeface="Arial" panose="020B0604020202020204" pitchFamily="34" charset="0"/>
                <a:ea typeface="宋体" panose="02010600030101010101" pitchFamily="2" charset="-122"/>
              </a:rPr>
              <a:t>… , EXTop=1,ALUSelA=1,ALUSelB=11,ALUop=add,</a:t>
            </a:r>
          </a:p>
          <a:p>
            <a:pPr algn="just"/>
            <a:r>
              <a:rPr lang="pt-BR" altLang="zh-CN" sz="2000">
                <a:latin typeface="Arial" panose="020B0604020202020204" pitchFamily="34" charset="0"/>
                <a:ea typeface="宋体" panose="02010600030101010101" pitchFamily="2" charset="-122"/>
              </a:rPr>
              <a:t>IorD=1,Read,MemtoReg=1,RegWr=1,......</a:t>
            </a:r>
            <a:endParaRPr lang="en-US" altLang="zh-CN" sz="2000">
              <a:latin typeface="Arial" panose="020B0604020202020204" pitchFamily="34" charset="0"/>
              <a:ea typeface="宋体" panose="02010600030101010101" pitchFamily="2" charset="-122"/>
            </a:endParaRPr>
          </a:p>
        </p:txBody>
      </p:sp>
      <p:sp>
        <p:nvSpPr>
          <p:cNvPr id="598040" name="Text Box 24"/>
          <p:cNvSpPr txBox="1">
            <a:spLocks noChangeArrowheads="1"/>
          </p:cNvSpPr>
          <p:nvPr/>
        </p:nvSpPr>
        <p:spPr bwMode="auto">
          <a:xfrm>
            <a:off x="5353685" y="6381750"/>
            <a:ext cx="3245485" cy="398780"/>
          </a:xfrm>
          <a:prstGeom prst="rect">
            <a:avLst/>
          </a:prstGeom>
          <a:noFill/>
          <a:ln w="9525">
            <a:noFill/>
            <a:miter lim="800000"/>
          </a:ln>
          <a:effectLst/>
        </p:spPr>
        <p:txBody>
          <a:bodyPr wrap="square">
            <a:spAutoFit/>
          </a:bodyPr>
          <a:lstStyle/>
          <a:p>
            <a:pPr eaLnBrk="1" hangingPunct="1">
              <a:spcBef>
                <a:spcPct val="50000"/>
              </a:spcBef>
            </a:pPr>
            <a:r>
              <a:rPr lang="en-US" altLang="zh-CN" sz="2000">
                <a:solidFill>
                  <a:srgbClr val="3A803A"/>
                </a:solidFill>
              </a:rPr>
              <a:t>… 1 1 11 100 1 0 1 1 …</a:t>
            </a:r>
          </a:p>
        </p:txBody>
      </p:sp>
      <p:cxnSp>
        <p:nvCxnSpPr>
          <p:cNvPr id="12" name="直接箭头连接符 11"/>
          <p:cNvCxnSpPr/>
          <p:nvPr/>
        </p:nvCxnSpPr>
        <p:spPr>
          <a:xfrm>
            <a:off x="4149725" y="6450330"/>
            <a:ext cx="1183005"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3189605" y="6279991"/>
            <a:ext cx="1074420" cy="398780"/>
          </a:xfrm>
          <a:prstGeom prst="rect">
            <a:avLst/>
          </a:prstGeom>
          <a:noFill/>
        </p:spPr>
        <p:txBody>
          <a:bodyPr wrap="square" rtlCol="0">
            <a:spAutoFit/>
          </a:bodyPr>
          <a:lstStyle/>
          <a:p>
            <a:r>
              <a:rPr lang="en-US" altLang="zh-CN" sz="2000">
                <a:solidFill>
                  <a:srgbClr val="3A803A"/>
                </a:solidFill>
              </a:rPr>
              <a:t>微指令</a:t>
            </a:r>
            <a:endParaRPr lang="zh-CN" altLang="en-US" sz="2000"/>
          </a:p>
        </p:txBody>
      </p:sp>
      <p:cxnSp>
        <p:nvCxnSpPr>
          <p:cNvPr id="18" name="直接箭头连接符 17"/>
          <p:cNvCxnSpPr/>
          <p:nvPr/>
        </p:nvCxnSpPr>
        <p:spPr>
          <a:xfrm>
            <a:off x="228600" y="4780915"/>
            <a:ext cx="630555" cy="1695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59055" y="4382135"/>
            <a:ext cx="1551940" cy="398780"/>
          </a:xfrm>
          <a:prstGeom prst="rect">
            <a:avLst/>
          </a:prstGeom>
          <a:noFill/>
        </p:spPr>
        <p:txBody>
          <a:bodyPr wrap="square" rtlCol="0">
            <a:spAutoFit/>
          </a:bodyPr>
          <a:lstStyle/>
          <a:p>
            <a:r>
              <a:rPr lang="en-US" altLang="zh-CN" sz="2000">
                <a:solidFill>
                  <a:srgbClr val="ED1611"/>
                </a:solidFill>
                <a:latin typeface="Arial" panose="020B0604020202020204" pitchFamily="34" charset="0"/>
                <a:ea typeface="宋体" panose="02010600030101010101" pitchFamily="2" charset="-122"/>
              </a:rPr>
              <a:t>机器指令</a:t>
            </a:r>
            <a:endParaRPr lang="zh-CN" altLang="en-US" sz="2000"/>
          </a:p>
        </p:txBody>
      </p:sp>
      <p:sp>
        <p:nvSpPr>
          <p:cNvPr id="22" name="文本框 21"/>
          <p:cNvSpPr txBox="1"/>
          <p:nvPr/>
        </p:nvSpPr>
        <p:spPr>
          <a:xfrm>
            <a:off x="6855619" y="2419350"/>
            <a:ext cx="1545908" cy="398780"/>
          </a:xfrm>
          <a:prstGeom prst="rect">
            <a:avLst/>
          </a:prstGeom>
          <a:noFill/>
        </p:spPr>
        <p:txBody>
          <a:bodyPr wrap="square" rtlCol="0">
            <a:spAutoFit/>
          </a:bodyPr>
          <a:lstStyle/>
          <a:p>
            <a:r>
              <a:rPr lang="zh-CN" altLang="en-US" sz="2000"/>
              <a:t>汇编指令</a:t>
            </a:r>
          </a:p>
        </p:txBody>
      </p:sp>
      <p:sp>
        <p:nvSpPr>
          <p:cNvPr id="25" name="文本框 24"/>
          <p:cNvSpPr txBox="1"/>
          <p:nvPr/>
        </p:nvSpPr>
        <p:spPr>
          <a:xfrm>
            <a:off x="6855619" y="902494"/>
            <a:ext cx="1545908" cy="398780"/>
          </a:xfrm>
          <a:prstGeom prst="rect">
            <a:avLst/>
          </a:prstGeom>
          <a:noFill/>
        </p:spPr>
        <p:txBody>
          <a:bodyPr wrap="square" rtlCol="0">
            <a:spAutoFit/>
          </a:bodyPr>
          <a:lstStyle/>
          <a:p>
            <a:r>
              <a:rPr lang="en-US" altLang="zh-CN" sz="2000" dirty="0">
                <a:latin typeface="Arial" panose="020B0604020202020204" pitchFamily="34" charset="0"/>
              </a:rPr>
              <a:t>C</a:t>
            </a:r>
            <a:r>
              <a:rPr lang="zh-CN" altLang="en-US" sz="2000" dirty="0">
                <a:latin typeface="Arial" panose="020B0604020202020204" pitchFamily="34" charset="0"/>
              </a:rPr>
              <a:t>语言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strVal val="#ppt_w*0.05"/>
                                          </p:val>
                                        </p:tav>
                                        <p:tav tm="100000">
                                          <p:val>
                                            <p:strVal val="#ppt_w"/>
                                          </p:val>
                                        </p:tav>
                                      </p:tavLst>
                                    </p:anim>
                                    <p:anim calcmode="lin" valueType="num">
                                      <p:cBhvr>
                                        <p:cTn id="8" dur="500" fill="hold"/>
                                        <p:tgtEl>
                                          <p:spTgt spid="42"/>
                                        </p:tgtEl>
                                        <p:attrNameLst>
                                          <p:attrName>ppt_h</p:attrName>
                                        </p:attrNameLst>
                                      </p:cBhvr>
                                      <p:tavLst>
                                        <p:tav tm="0">
                                          <p:val>
                                            <p:strVal val="#ppt_h"/>
                                          </p:val>
                                        </p:tav>
                                        <p:tav tm="100000">
                                          <p:val>
                                            <p:strVal val="#ppt_h"/>
                                          </p:val>
                                        </p:tav>
                                      </p:tavLst>
                                    </p:anim>
                                    <p:anim calcmode="lin" valueType="num">
                                      <p:cBhvr>
                                        <p:cTn id="9" dur="500" fill="hold"/>
                                        <p:tgtEl>
                                          <p:spTgt spid="42"/>
                                        </p:tgtEl>
                                        <p:attrNameLst>
                                          <p:attrName>ppt_x</p:attrName>
                                        </p:attrNameLst>
                                      </p:cBhvr>
                                      <p:tavLst>
                                        <p:tav tm="0">
                                          <p:val>
                                            <p:strVal val="#ppt_x-.2"/>
                                          </p:val>
                                        </p:tav>
                                        <p:tav tm="100000">
                                          <p:val>
                                            <p:strVal val="#ppt_x"/>
                                          </p:val>
                                        </p:tav>
                                      </p:tavLst>
                                    </p:anim>
                                    <p:anim calcmode="lin" valueType="num">
                                      <p:cBhvr>
                                        <p:cTn id="10" dur="500" fill="hold"/>
                                        <p:tgtEl>
                                          <p:spTgt spid="42"/>
                                        </p:tgtEl>
                                        <p:attrNameLst>
                                          <p:attrName>ppt_y</p:attrName>
                                        </p:attrNameLst>
                                      </p:cBhvr>
                                      <p:tavLst>
                                        <p:tav tm="0">
                                          <p:val>
                                            <p:strVal val="#ppt_y"/>
                                          </p:val>
                                        </p:tav>
                                        <p:tav tm="100000">
                                          <p:val>
                                            <p:strVal val="#ppt_y"/>
                                          </p:val>
                                        </p:tav>
                                      </p:tavLst>
                                    </p:anim>
                                    <p:animEffect transition="in" filter="fade">
                                      <p:cBhvr>
                                        <p:cTn id="11" dur="500"/>
                                        <p:tgtEl>
                                          <p:spTgt spid="42"/>
                                        </p:tgtEl>
                                      </p:cBhvr>
                                    </p:animEffect>
                                  </p:childTnLst>
                                </p:cTn>
                              </p:par>
                            </p:childTnLst>
                          </p:cTn>
                        </p:par>
                      </p:childTnLst>
                    </p:cTn>
                  </p:par>
                  <p:par>
                    <p:cTn id="12" fill="hold">
                      <p:stCondLst>
                        <p:cond delay="indefinite"/>
                      </p:stCondLst>
                      <p:childTnLst>
                        <p:par>
                          <p:cTn id="13" fill="hold">
                            <p:stCondLst>
                              <p:cond delay="0"/>
                            </p:stCondLst>
                            <p:childTnLst>
                              <p:par>
                                <p:cTn id="14" presetID="54" presetClass="entr" presetSubtype="0" accel="100000" fill="hold" grpId="0" nodeType="clickEffect">
                                  <p:stCondLst>
                                    <p:cond delay="0"/>
                                  </p:stCondLst>
                                  <p:childTnLst>
                                    <p:set>
                                      <p:cBhvr>
                                        <p:cTn id="15" dur="1" fill="hold">
                                          <p:stCondLst>
                                            <p:cond delay="0"/>
                                          </p:stCondLst>
                                        </p:cTn>
                                        <p:tgtEl>
                                          <p:spTgt spid="73"/>
                                        </p:tgtEl>
                                        <p:attrNameLst>
                                          <p:attrName>style.visibility</p:attrName>
                                        </p:attrNameLst>
                                      </p:cBhvr>
                                      <p:to>
                                        <p:strVal val="visible"/>
                                      </p:to>
                                    </p:set>
                                    <p:anim calcmode="lin" valueType="num">
                                      <p:cBhvr>
                                        <p:cTn id="16" dur="500" fill="hold"/>
                                        <p:tgtEl>
                                          <p:spTgt spid="73"/>
                                        </p:tgtEl>
                                        <p:attrNameLst>
                                          <p:attrName>ppt_w</p:attrName>
                                        </p:attrNameLst>
                                      </p:cBhvr>
                                      <p:tavLst>
                                        <p:tav tm="0">
                                          <p:val>
                                            <p:strVal val="#ppt_w*0.05"/>
                                          </p:val>
                                        </p:tav>
                                        <p:tav tm="100000">
                                          <p:val>
                                            <p:strVal val="#ppt_w"/>
                                          </p:val>
                                        </p:tav>
                                      </p:tavLst>
                                    </p:anim>
                                    <p:anim calcmode="lin" valueType="num">
                                      <p:cBhvr>
                                        <p:cTn id="17" dur="500" fill="hold"/>
                                        <p:tgtEl>
                                          <p:spTgt spid="73"/>
                                        </p:tgtEl>
                                        <p:attrNameLst>
                                          <p:attrName>ppt_h</p:attrName>
                                        </p:attrNameLst>
                                      </p:cBhvr>
                                      <p:tavLst>
                                        <p:tav tm="0">
                                          <p:val>
                                            <p:strVal val="#ppt_h"/>
                                          </p:val>
                                        </p:tav>
                                        <p:tav tm="100000">
                                          <p:val>
                                            <p:strVal val="#ppt_h"/>
                                          </p:val>
                                        </p:tav>
                                      </p:tavLst>
                                    </p:anim>
                                    <p:anim calcmode="lin" valueType="num">
                                      <p:cBhvr>
                                        <p:cTn id="18" dur="500" fill="hold"/>
                                        <p:tgtEl>
                                          <p:spTgt spid="73"/>
                                        </p:tgtEl>
                                        <p:attrNameLst>
                                          <p:attrName>ppt_x</p:attrName>
                                        </p:attrNameLst>
                                      </p:cBhvr>
                                      <p:tavLst>
                                        <p:tav tm="0">
                                          <p:val>
                                            <p:strVal val="#ppt_x-.2"/>
                                          </p:val>
                                        </p:tav>
                                        <p:tav tm="100000">
                                          <p:val>
                                            <p:strVal val="#ppt_x"/>
                                          </p:val>
                                        </p:tav>
                                      </p:tavLst>
                                    </p:anim>
                                    <p:anim calcmode="lin" valueType="num">
                                      <p:cBhvr>
                                        <p:cTn id="19" dur="500" fill="hold"/>
                                        <p:tgtEl>
                                          <p:spTgt spid="73"/>
                                        </p:tgtEl>
                                        <p:attrNameLst>
                                          <p:attrName>ppt_y</p:attrName>
                                        </p:attrNameLst>
                                      </p:cBhvr>
                                      <p:tavLst>
                                        <p:tav tm="0">
                                          <p:val>
                                            <p:strVal val="#ppt_y"/>
                                          </p:val>
                                        </p:tav>
                                        <p:tav tm="100000">
                                          <p:val>
                                            <p:strVal val="#ppt_y"/>
                                          </p:val>
                                        </p:tav>
                                      </p:tavLst>
                                    </p:anim>
                                    <p:animEffect transition="in" filter="fade">
                                      <p:cBhvr>
                                        <p:cTn id="20" dur="500"/>
                                        <p:tgtEl>
                                          <p:spTgt spid="73"/>
                                        </p:tgtEl>
                                      </p:cBhvr>
                                    </p:animEffect>
                                  </p:childTnLst>
                                </p:cTn>
                              </p:par>
                            </p:childTnLst>
                          </p:cTn>
                        </p:par>
                      </p:childTnLst>
                    </p:cTn>
                  </p:par>
                  <p:par>
                    <p:cTn id="21" fill="hold">
                      <p:stCondLst>
                        <p:cond delay="indefinite"/>
                      </p:stCondLst>
                      <p:childTnLst>
                        <p:par>
                          <p:cTn id="22" fill="hold">
                            <p:stCondLst>
                              <p:cond delay="0"/>
                            </p:stCondLst>
                            <p:childTnLst>
                              <p:par>
                                <p:cTn id="23" presetID="54" presetClass="entr" presetSubtype="0" accel="100000" fill="hold" grpId="0" nodeType="clickEffect">
                                  <p:stCondLst>
                                    <p:cond delay="0"/>
                                  </p:stCondLst>
                                  <p:childTnLst>
                                    <p:set>
                                      <p:cBhvr>
                                        <p:cTn id="24" dur="1" fill="hold">
                                          <p:stCondLst>
                                            <p:cond delay="0"/>
                                          </p:stCondLst>
                                        </p:cTn>
                                        <p:tgtEl>
                                          <p:spTgt spid="75"/>
                                        </p:tgtEl>
                                        <p:attrNameLst>
                                          <p:attrName>style.visibility</p:attrName>
                                        </p:attrNameLst>
                                      </p:cBhvr>
                                      <p:to>
                                        <p:strVal val="visible"/>
                                      </p:to>
                                    </p:set>
                                    <p:anim calcmode="lin" valueType="num">
                                      <p:cBhvr>
                                        <p:cTn id="25" dur="500" fill="hold"/>
                                        <p:tgtEl>
                                          <p:spTgt spid="75"/>
                                        </p:tgtEl>
                                        <p:attrNameLst>
                                          <p:attrName>ppt_w</p:attrName>
                                        </p:attrNameLst>
                                      </p:cBhvr>
                                      <p:tavLst>
                                        <p:tav tm="0">
                                          <p:val>
                                            <p:strVal val="#ppt_w*0.05"/>
                                          </p:val>
                                        </p:tav>
                                        <p:tav tm="100000">
                                          <p:val>
                                            <p:strVal val="#ppt_w"/>
                                          </p:val>
                                        </p:tav>
                                      </p:tavLst>
                                    </p:anim>
                                    <p:anim calcmode="lin" valueType="num">
                                      <p:cBhvr>
                                        <p:cTn id="26" dur="500" fill="hold"/>
                                        <p:tgtEl>
                                          <p:spTgt spid="75"/>
                                        </p:tgtEl>
                                        <p:attrNameLst>
                                          <p:attrName>ppt_h</p:attrName>
                                        </p:attrNameLst>
                                      </p:cBhvr>
                                      <p:tavLst>
                                        <p:tav tm="0">
                                          <p:val>
                                            <p:strVal val="#ppt_h"/>
                                          </p:val>
                                        </p:tav>
                                        <p:tav tm="100000">
                                          <p:val>
                                            <p:strVal val="#ppt_h"/>
                                          </p:val>
                                        </p:tav>
                                      </p:tavLst>
                                    </p:anim>
                                    <p:anim calcmode="lin" valueType="num">
                                      <p:cBhvr>
                                        <p:cTn id="27" dur="500" fill="hold"/>
                                        <p:tgtEl>
                                          <p:spTgt spid="75"/>
                                        </p:tgtEl>
                                        <p:attrNameLst>
                                          <p:attrName>ppt_x</p:attrName>
                                        </p:attrNameLst>
                                      </p:cBhvr>
                                      <p:tavLst>
                                        <p:tav tm="0">
                                          <p:val>
                                            <p:strVal val="#ppt_x-.2"/>
                                          </p:val>
                                        </p:tav>
                                        <p:tav tm="100000">
                                          <p:val>
                                            <p:strVal val="#ppt_x"/>
                                          </p:val>
                                        </p:tav>
                                      </p:tavLst>
                                    </p:anim>
                                    <p:anim calcmode="lin" valueType="num">
                                      <p:cBhvr>
                                        <p:cTn id="28" dur="500" fill="hold"/>
                                        <p:tgtEl>
                                          <p:spTgt spid="75"/>
                                        </p:tgtEl>
                                        <p:attrNameLst>
                                          <p:attrName>ppt_y</p:attrName>
                                        </p:attrNameLst>
                                      </p:cBhvr>
                                      <p:tavLst>
                                        <p:tav tm="0">
                                          <p:val>
                                            <p:strVal val="#ppt_y"/>
                                          </p:val>
                                        </p:tav>
                                        <p:tav tm="100000">
                                          <p:val>
                                            <p:strVal val="#ppt_y"/>
                                          </p:val>
                                        </p:tav>
                                      </p:tavLst>
                                    </p:anim>
                                    <p:animEffect transition="in" filter="fade">
                                      <p:cBhvr>
                                        <p:cTn id="29" dur="500"/>
                                        <p:tgtEl>
                                          <p:spTgt spid="75"/>
                                        </p:tgtEl>
                                      </p:cBhvr>
                                    </p:animEffect>
                                  </p:childTnLst>
                                </p:cTn>
                              </p:par>
                            </p:childTnLst>
                          </p:cTn>
                        </p:par>
                      </p:childTnLst>
                    </p:cTn>
                  </p:par>
                  <p:par>
                    <p:cTn id="30" fill="hold">
                      <p:stCondLst>
                        <p:cond delay="indefinite"/>
                      </p:stCondLst>
                      <p:childTnLst>
                        <p:par>
                          <p:cTn id="31" fill="hold">
                            <p:stCondLst>
                              <p:cond delay="0"/>
                            </p:stCondLst>
                            <p:childTnLst>
                              <p:par>
                                <p:cTn id="32" presetID="54" presetClass="entr" presetSubtype="0" accel="100000" fill="hold" grpId="0" nodeType="clickEffect">
                                  <p:stCondLst>
                                    <p:cond delay="0"/>
                                  </p:stCondLst>
                                  <p:childTnLst>
                                    <p:set>
                                      <p:cBhvr>
                                        <p:cTn id="33" dur="1" fill="hold">
                                          <p:stCondLst>
                                            <p:cond delay="0"/>
                                          </p:stCondLst>
                                        </p:cTn>
                                        <p:tgtEl>
                                          <p:spTgt spid="43"/>
                                        </p:tgtEl>
                                        <p:attrNameLst>
                                          <p:attrName>style.visibility</p:attrName>
                                        </p:attrNameLst>
                                      </p:cBhvr>
                                      <p:to>
                                        <p:strVal val="visible"/>
                                      </p:to>
                                    </p:set>
                                    <p:anim calcmode="lin" valueType="num">
                                      <p:cBhvr>
                                        <p:cTn id="34" dur="500" fill="hold"/>
                                        <p:tgtEl>
                                          <p:spTgt spid="43"/>
                                        </p:tgtEl>
                                        <p:attrNameLst>
                                          <p:attrName>ppt_w</p:attrName>
                                        </p:attrNameLst>
                                      </p:cBhvr>
                                      <p:tavLst>
                                        <p:tav tm="0">
                                          <p:val>
                                            <p:strVal val="#ppt_w*0.05"/>
                                          </p:val>
                                        </p:tav>
                                        <p:tav tm="100000">
                                          <p:val>
                                            <p:strVal val="#ppt_w"/>
                                          </p:val>
                                        </p:tav>
                                      </p:tavLst>
                                    </p:anim>
                                    <p:anim calcmode="lin" valueType="num">
                                      <p:cBhvr>
                                        <p:cTn id="35" dur="500" fill="hold"/>
                                        <p:tgtEl>
                                          <p:spTgt spid="43"/>
                                        </p:tgtEl>
                                        <p:attrNameLst>
                                          <p:attrName>ppt_h</p:attrName>
                                        </p:attrNameLst>
                                      </p:cBhvr>
                                      <p:tavLst>
                                        <p:tav tm="0">
                                          <p:val>
                                            <p:strVal val="#ppt_h"/>
                                          </p:val>
                                        </p:tav>
                                        <p:tav tm="100000">
                                          <p:val>
                                            <p:strVal val="#ppt_h"/>
                                          </p:val>
                                        </p:tav>
                                      </p:tavLst>
                                    </p:anim>
                                    <p:anim calcmode="lin" valueType="num">
                                      <p:cBhvr>
                                        <p:cTn id="36" dur="500" fill="hold"/>
                                        <p:tgtEl>
                                          <p:spTgt spid="43"/>
                                        </p:tgtEl>
                                        <p:attrNameLst>
                                          <p:attrName>ppt_x</p:attrName>
                                        </p:attrNameLst>
                                      </p:cBhvr>
                                      <p:tavLst>
                                        <p:tav tm="0">
                                          <p:val>
                                            <p:strVal val="#ppt_x-.2"/>
                                          </p:val>
                                        </p:tav>
                                        <p:tav tm="100000">
                                          <p:val>
                                            <p:strVal val="#ppt_x"/>
                                          </p:val>
                                        </p:tav>
                                      </p:tavLst>
                                    </p:anim>
                                    <p:anim calcmode="lin" valueType="num">
                                      <p:cBhvr>
                                        <p:cTn id="37" dur="500" fill="hold"/>
                                        <p:tgtEl>
                                          <p:spTgt spid="43"/>
                                        </p:tgtEl>
                                        <p:attrNameLst>
                                          <p:attrName>ppt_y</p:attrName>
                                        </p:attrNameLst>
                                      </p:cBhvr>
                                      <p:tavLst>
                                        <p:tav tm="0">
                                          <p:val>
                                            <p:strVal val="#ppt_y"/>
                                          </p:val>
                                        </p:tav>
                                        <p:tav tm="100000">
                                          <p:val>
                                            <p:strVal val="#ppt_y"/>
                                          </p:val>
                                        </p:tav>
                                      </p:tavLst>
                                    </p:anim>
                                    <p:animEffect transition="in" filter="fade">
                                      <p:cBhvr>
                                        <p:cTn id="38" dur="500"/>
                                        <p:tgtEl>
                                          <p:spTgt spid="43"/>
                                        </p:tgtEl>
                                      </p:cBhvr>
                                    </p:animEffect>
                                  </p:childTnLst>
                                </p:cTn>
                              </p:par>
                            </p:childTnLst>
                          </p:cTn>
                        </p:par>
                      </p:childTnLst>
                    </p:cTn>
                  </p:par>
                  <p:par>
                    <p:cTn id="39" fill="hold">
                      <p:stCondLst>
                        <p:cond delay="indefinite"/>
                      </p:stCondLst>
                      <p:childTnLst>
                        <p:par>
                          <p:cTn id="40" fill="hold">
                            <p:stCondLst>
                              <p:cond delay="0"/>
                            </p:stCondLst>
                            <p:childTnLst>
                              <p:par>
                                <p:cTn id="41" presetID="54" presetClass="entr" presetSubtype="0" accel="100000"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p:cTn id="43" dur="500" fill="hold"/>
                                        <p:tgtEl>
                                          <p:spTgt spid="4"/>
                                        </p:tgtEl>
                                        <p:attrNameLst>
                                          <p:attrName>ppt_w</p:attrName>
                                        </p:attrNameLst>
                                      </p:cBhvr>
                                      <p:tavLst>
                                        <p:tav tm="0">
                                          <p:val>
                                            <p:strVal val="#ppt_w*0.05"/>
                                          </p:val>
                                        </p:tav>
                                        <p:tav tm="100000">
                                          <p:val>
                                            <p:strVal val="#ppt_w"/>
                                          </p:val>
                                        </p:tav>
                                      </p:tavLst>
                                    </p:anim>
                                    <p:anim calcmode="lin" valueType="num">
                                      <p:cBhvr>
                                        <p:cTn id="44" dur="500" fill="hold"/>
                                        <p:tgtEl>
                                          <p:spTgt spid="4"/>
                                        </p:tgtEl>
                                        <p:attrNameLst>
                                          <p:attrName>ppt_h</p:attrName>
                                        </p:attrNameLst>
                                      </p:cBhvr>
                                      <p:tavLst>
                                        <p:tav tm="0">
                                          <p:val>
                                            <p:strVal val="#ppt_h"/>
                                          </p:val>
                                        </p:tav>
                                        <p:tav tm="100000">
                                          <p:val>
                                            <p:strVal val="#ppt_h"/>
                                          </p:val>
                                        </p:tav>
                                      </p:tavLst>
                                    </p:anim>
                                    <p:anim calcmode="lin" valueType="num">
                                      <p:cBhvr>
                                        <p:cTn id="45" dur="500" fill="hold"/>
                                        <p:tgtEl>
                                          <p:spTgt spid="4"/>
                                        </p:tgtEl>
                                        <p:attrNameLst>
                                          <p:attrName>ppt_x</p:attrName>
                                        </p:attrNameLst>
                                      </p:cBhvr>
                                      <p:tavLst>
                                        <p:tav tm="0">
                                          <p:val>
                                            <p:strVal val="#ppt_x-.2"/>
                                          </p:val>
                                        </p:tav>
                                        <p:tav tm="100000">
                                          <p:val>
                                            <p:strVal val="#ppt_x"/>
                                          </p:val>
                                        </p:tav>
                                      </p:tavLst>
                                    </p:anim>
                                    <p:anim calcmode="lin" valueType="num">
                                      <p:cBhvr>
                                        <p:cTn id="46" dur="500" fill="hold"/>
                                        <p:tgtEl>
                                          <p:spTgt spid="4"/>
                                        </p:tgtEl>
                                        <p:attrNameLst>
                                          <p:attrName>ppt_y</p:attrName>
                                        </p:attrNameLst>
                                      </p:cBhvr>
                                      <p:tavLst>
                                        <p:tav tm="0">
                                          <p:val>
                                            <p:strVal val="#ppt_y"/>
                                          </p:val>
                                        </p:tav>
                                        <p:tav tm="100000">
                                          <p:val>
                                            <p:strVal val="#ppt_y"/>
                                          </p:val>
                                        </p:tav>
                                      </p:tavLst>
                                    </p:anim>
                                    <p:animEffect transition="in" filter="fade">
                                      <p:cBhvr>
                                        <p:cTn id="47" dur="500"/>
                                        <p:tgtEl>
                                          <p:spTgt spid="4"/>
                                        </p:tgtEl>
                                      </p:cBhvr>
                                    </p:animEffect>
                                  </p:childTnLst>
                                </p:cTn>
                              </p:par>
                            </p:childTnLst>
                          </p:cTn>
                        </p:par>
                      </p:childTnLst>
                    </p:cTn>
                  </p:par>
                  <p:par>
                    <p:cTn id="48" fill="hold">
                      <p:stCondLst>
                        <p:cond delay="indefinite"/>
                      </p:stCondLst>
                      <p:childTnLst>
                        <p:par>
                          <p:cTn id="49" fill="hold">
                            <p:stCondLst>
                              <p:cond delay="0"/>
                            </p:stCondLst>
                            <p:childTnLst>
                              <p:par>
                                <p:cTn id="50" presetID="54" presetClass="entr" presetSubtype="0" accel="100000" fill="hold" grpId="0" nodeType="clickEffect">
                                  <p:stCondLst>
                                    <p:cond delay="0"/>
                                  </p:stCondLst>
                                  <p:childTnLst>
                                    <p:set>
                                      <p:cBhvr>
                                        <p:cTn id="51" dur="1" fill="hold">
                                          <p:stCondLst>
                                            <p:cond delay="0"/>
                                          </p:stCondLst>
                                        </p:cTn>
                                        <p:tgtEl>
                                          <p:spTgt spid="598023"/>
                                        </p:tgtEl>
                                        <p:attrNameLst>
                                          <p:attrName>style.visibility</p:attrName>
                                        </p:attrNameLst>
                                      </p:cBhvr>
                                      <p:to>
                                        <p:strVal val="visible"/>
                                      </p:to>
                                    </p:set>
                                    <p:anim calcmode="lin" valueType="num">
                                      <p:cBhvr>
                                        <p:cTn id="52" dur="500" fill="hold"/>
                                        <p:tgtEl>
                                          <p:spTgt spid="598023"/>
                                        </p:tgtEl>
                                        <p:attrNameLst>
                                          <p:attrName>ppt_w</p:attrName>
                                        </p:attrNameLst>
                                      </p:cBhvr>
                                      <p:tavLst>
                                        <p:tav tm="0">
                                          <p:val>
                                            <p:strVal val="#ppt_w*0.05"/>
                                          </p:val>
                                        </p:tav>
                                        <p:tav tm="100000">
                                          <p:val>
                                            <p:strVal val="#ppt_w"/>
                                          </p:val>
                                        </p:tav>
                                      </p:tavLst>
                                    </p:anim>
                                    <p:anim calcmode="lin" valueType="num">
                                      <p:cBhvr>
                                        <p:cTn id="53" dur="500" fill="hold"/>
                                        <p:tgtEl>
                                          <p:spTgt spid="598023"/>
                                        </p:tgtEl>
                                        <p:attrNameLst>
                                          <p:attrName>ppt_h</p:attrName>
                                        </p:attrNameLst>
                                      </p:cBhvr>
                                      <p:tavLst>
                                        <p:tav tm="0">
                                          <p:val>
                                            <p:strVal val="#ppt_h"/>
                                          </p:val>
                                        </p:tav>
                                        <p:tav tm="100000">
                                          <p:val>
                                            <p:strVal val="#ppt_h"/>
                                          </p:val>
                                        </p:tav>
                                      </p:tavLst>
                                    </p:anim>
                                    <p:anim calcmode="lin" valueType="num">
                                      <p:cBhvr>
                                        <p:cTn id="54" dur="500" fill="hold"/>
                                        <p:tgtEl>
                                          <p:spTgt spid="598023"/>
                                        </p:tgtEl>
                                        <p:attrNameLst>
                                          <p:attrName>ppt_x</p:attrName>
                                        </p:attrNameLst>
                                      </p:cBhvr>
                                      <p:tavLst>
                                        <p:tav tm="0">
                                          <p:val>
                                            <p:strVal val="#ppt_x-.2"/>
                                          </p:val>
                                        </p:tav>
                                        <p:tav tm="100000">
                                          <p:val>
                                            <p:strVal val="#ppt_x"/>
                                          </p:val>
                                        </p:tav>
                                      </p:tavLst>
                                    </p:anim>
                                    <p:anim calcmode="lin" valueType="num">
                                      <p:cBhvr>
                                        <p:cTn id="55" dur="500" fill="hold"/>
                                        <p:tgtEl>
                                          <p:spTgt spid="598023"/>
                                        </p:tgtEl>
                                        <p:attrNameLst>
                                          <p:attrName>ppt_y</p:attrName>
                                        </p:attrNameLst>
                                      </p:cBhvr>
                                      <p:tavLst>
                                        <p:tav tm="0">
                                          <p:val>
                                            <p:strVal val="#ppt_y"/>
                                          </p:val>
                                        </p:tav>
                                        <p:tav tm="100000">
                                          <p:val>
                                            <p:strVal val="#ppt_y"/>
                                          </p:val>
                                        </p:tav>
                                      </p:tavLst>
                                    </p:anim>
                                    <p:animEffect transition="in" filter="fade">
                                      <p:cBhvr>
                                        <p:cTn id="56" dur="500"/>
                                        <p:tgtEl>
                                          <p:spTgt spid="598023"/>
                                        </p:tgtEl>
                                      </p:cBhvr>
                                    </p:animEffect>
                                  </p:childTnLst>
                                </p:cTn>
                              </p:par>
                              <p:par>
                                <p:cTn id="57" presetID="54" presetClass="entr" presetSubtype="0" accel="100000" fill="hold" nodeType="with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p:cTn id="59" dur="500" fill="hold"/>
                                        <p:tgtEl>
                                          <p:spTgt spid="18"/>
                                        </p:tgtEl>
                                        <p:attrNameLst>
                                          <p:attrName>ppt_w</p:attrName>
                                        </p:attrNameLst>
                                      </p:cBhvr>
                                      <p:tavLst>
                                        <p:tav tm="0">
                                          <p:val>
                                            <p:strVal val="#ppt_w*0.05"/>
                                          </p:val>
                                        </p:tav>
                                        <p:tav tm="100000">
                                          <p:val>
                                            <p:strVal val="#ppt_w"/>
                                          </p:val>
                                        </p:tav>
                                      </p:tavLst>
                                    </p:anim>
                                    <p:anim calcmode="lin" valueType="num">
                                      <p:cBhvr>
                                        <p:cTn id="60" dur="500" fill="hold"/>
                                        <p:tgtEl>
                                          <p:spTgt spid="18"/>
                                        </p:tgtEl>
                                        <p:attrNameLst>
                                          <p:attrName>ppt_h</p:attrName>
                                        </p:attrNameLst>
                                      </p:cBhvr>
                                      <p:tavLst>
                                        <p:tav tm="0">
                                          <p:val>
                                            <p:strVal val="#ppt_h"/>
                                          </p:val>
                                        </p:tav>
                                        <p:tav tm="100000">
                                          <p:val>
                                            <p:strVal val="#ppt_h"/>
                                          </p:val>
                                        </p:tav>
                                      </p:tavLst>
                                    </p:anim>
                                    <p:anim calcmode="lin" valueType="num">
                                      <p:cBhvr>
                                        <p:cTn id="61" dur="500" fill="hold"/>
                                        <p:tgtEl>
                                          <p:spTgt spid="18"/>
                                        </p:tgtEl>
                                        <p:attrNameLst>
                                          <p:attrName>ppt_x</p:attrName>
                                        </p:attrNameLst>
                                      </p:cBhvr>
                                      <p:tavLst>
                                        <p:tav tm="0">
                                          <p:val>
                                            <p:strVal val="#ppt_x-.2"/>
                                          </p:val>
                                        </p:tav>
                                        <p:tav tm="100000">
                                          <p:val>
                                            <p:strVal val="#ppt_x"/>
                                          </p:val>
                                        </p:tav>
                                      </p:tavLst>
                                    </p:anim>
                                    <p:anim calcmode="lin" valueType="num">
                                      <p:cBhvr>
                                        <p:cTn id="62" dur="500" fill="hold"/>
                                        <p:tgtEl>
                                          <p:spTgt spid="18"/>
                                        </p:tgtEl>
                                        <p:attrNameLst>
                                          <p:attrName>ppt_y</p:attrName>
                                        </p:attrNameLst>
                                      </p:cBhvr>
                                      <p:tavLst>
                                        <p:tav tm="0">
                                          <p:val>
                                            <p:strVal val="#ppt_y"/>
                                          </p:val>
                                        </p:tav>
                                        <p:tav tm="100000">
                                          <p:val>
                                            <p:strVal val="#ppt_y"/>
                                          </p:val>
                                        </p:tav>
                                      </p:tavLst>
                                    </p:anim>
                                    <p:animEffect transition="in" filter="fade">
                                      <p:cBhvr>
                                        <p:cTn id="63" dur="500"/>
                                        <p:tgtEl>
                                          <p:spTgt spid="18"/>
                                        </p:tgtEl>
                                      </p:cBhvr>
                                    </p:animEffect>
                                  </p:childTnLst>
                                </p:cTn>
                              </p:par>
                              <p:par>
                                <p:cTn id="64" presetID="54" presetClass="entr" presetSubtype="0" accel="10000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 calcmode="lin" valueType="num">
                                      <p:cBhvr>
                                        <p:cTn id="66" dur="500" fill="hold"/>
                                        <p:tgtEl>
                                          <p:spTgt spid="21"/>
                                        </p:tgtEl>
                                        <p:attrNameLst>
                                          <p:attrName>ppt_w</p:attrName>
                                        </p:attrNameLst>
                                      </p:cBhvr>
                                      <p:tavLst>
                                        <p:tav tm="0">
                                          <p:val>
                                            <p:strVal val="#ppt_w*0.05"/>
                                          </p:val>
                                        </p:tav>
                                        <p:tav tm="100000">
                                          <p:val>
                                            <p:strVal val="#ppt_w"/>
                                          </p:val>
                                        </p:tav>
                                      </p:tavLst>
                                    </p:anim>
                                    <p:anim calcmode="lin" valueType="num">
                                      <p:cBhvr>
                                        <p:cTn id="67" dur="500" fill="hold"/>
                                        <p:tgtEl>
                                          <p:spTgt spid="21"/>
                                        </p:tgtEl>
                                        <p:attrNameLst>
                                          <p:attrName>ppt_h</p:attrName>
                                        </p:attrNameLst>
                                      </p:cBhvr>
                                      <p:tavLst>
                                        <p:tav tm="0">
                                          <p:val>
                                            <p:strVal val="#ppt_h"/>
                                          </p:val>
                                        </p:tav>
                                        <p:tav tm="100000">
                                          <p:val>
                                            <p:strVal val="#ppt_h"/>
                                          </p:val>
                                        </p:tav>
                                      </p:tavLst>
                                    </p:anim>
                                    <p:anim calcmode="lin" valueType="num">
                                      <p:cBhvr>
                                        <p:cTn id="68" dur="500" fill="hold"/>
                                        <p:tgtEl>
                                          <p:spTgt spid="21"/>
                                        </p:tgtEl>
                                        <p:attrNameLst>
                                          <p:attrName>ppt_x</p:attrName>
                                        </p:attrNameLst>
                                      </p:cBhvr>
                                      <p:tavLst>
                                        <p:tav tm="0">
                                          <p:val>
                                            <p:strVal val="#ppt_x-.2"/>
                                          </p:val>
                                        </p:tav>
                                        <p:tav tm="100000">
                                          <p:val>
                                            <p:strVal val="#ppt_x"/>
                                          </p:val>
                                        </p:tav>
                                      </p:tavLst>
                                    </p:anim>
                                    <p:anim calcmode="lin" valueType="num">
                                      <p:cBhvr>
                                        <p:cTn id="69" dur="500" fill="hold"/>
                                        <p:tgtEl>
                                          <p:spTgt spid="21"/>
                                        </p:tgtEl>
                                        <p:attrNameLst>
                                          <p:attrName>ppt_y</p:attrName>
                                        </p:attrNameLst>
                                      </p:cBhvr>
                                      <p:tavLst>
                                        <p:tav tm="0">
                                          <p:val>
                                            <p:strVal val="#ppt_y"/>
                                          </p:val>
                                        </p:tav>
                                        <p:tav tm="100000">
                                          <p:val>
                                            <p:strVal val="#ppt_y"/>
                                          </p:val>
                                        </p:tav>
                                      </p:tavLst>
                                    </p:anim>
                                    <p:animEffect transition="in" filter="fade">
                                      <p:cBhvr>
                                        <p:cTn id="70" dur="500"/>
                                        <p:tgtEl>
                                          <p:spTgt spid="21"/>
                                        </p:tgtEl>
                                      </p:cBhvr>
                                    </p:animEffect>
                                  </p:childTnLst>
                                </p:cTn>
                              </p:par>
                            </p:childTnLst>
                          </p:cTn>
                        </p:par>
                      </p:childTnLst>
                    </p:cTn>
                  </p:par>
                  <p:par>
                    <p:cTn id="71" fill="hold">
                      <p:stCondLst>
                        <p:cond delay="indefinite"/>
                      </p:stCondLst>
                      <p:childTnLst>
                        <p:par>
                          <p:cTn id="72" fill="hold">
                            <p:stCondLst>
                              <p:cond delay="0"/>
                            </p:stCondLst>
                            <p:childTnLst>
                              <p:par>
                                <p:cTn id="73" presetID="54" presetClass="entr" presetSubtype="0" accel="100000" fill="hold" grpId="0" nodeType="clickEffect">
                                  <p:stCondLst>
                                    <p:cond delay="0"/>
                                  </p:stCondLst>
                                  <p:childTnLst>
                                    <p:set>
                                      <p:cBhvr>
                                        <p:cTn id="74" dur="1" fill="hold">
                                          <p:stCondLst>
                                            <p:cond delay="0"/>
                                          </p:stCondLst>
                                        </p:cTn>
                                        <p:tgtEl>
                                          <p:spTgt spid="598022"/>
                                        </p:tgtEl>
                                        <p:attrNameLst>
                                          <p:attrName>style.visibility</p:attrName>
                                        </p:attrNameLst>
                                      </p:cBhvr>
                                      <p:to>
                                        <p:strVal val="visible"/>
                                      </p:to>
                                    </p:set>
                                    <p:anim calcmode="lin" valueType="num">
                                      <p:cBhvr>
                                        <p:cTn id="75" dur="500" fill="hold"/>
                                        <p:tgtEl>
                                          <p:spTgt spid="598022"/>
                                        </p:tgtEl>
                                        <p:attrNameLst>
                                          <p:attrName>ppt_w</p:attrName>
                                        </p:attrNameLst>
                                      </p:cBhvr>
                                      <p:tavLst>
                                        <p:tav tm="0">
                                          <p:val>
                                            <p:strVal val="#ppt_w*0.05"/>
                                          </p:val>
                                        </p:tav>
                                        <p:tav tm="100000">
                                          <p:val>
                                            <p:strVal val="#ppt_w"/>
                                          </p:val>
                                        </p:tav>
                                      </p:tavLst>
                                    </p:anim>
                                    <p:anim calcmode="lin" valueType="num">
                                      <p:cBhvr>
                                        <p:cTn id="76" dur="500" fill="hold"/>
                                        <p:tgtEl>
                                          <p:spTgt spid="598022"/>
                                        </p:tgtEl>
                                        <p:attrNameLst>
                                          <p:attrName>ppt_h</p:attrName>
                                        </p:attrNameLst>
                                      </p:cBhvr>
                                      <p:tavLst>
                                        <p:tav tm="0">
                                          <p:val>
                                            <p:strVal val="#ppt_h"/>
                                          </p:val>
                                        </p:tav>
                                        <p:tav tm="100000">
                                          <p:val>
                                            <p:strVal val="#ppt_h"/>
                                          </p:val>
                                        </p:tav>
                                      </p:tavLst>
                                    </p:anim>
                                    <p:anim calcmode="lin" valueType="num">
                                      <p:cBhvr>
                                        <p:cTn id="77" dur="500" fill="hold"/>
                                        <p:tgtEl>
                                          <p:spTgt spid="598022"/>
                                        </p:tgtEl>
                                        <p:attrNameLst>
                                          <p:attrName>ppt_x</p:attrName>
                                        </p:attrNameLst>
                                      </p:cBhvr>
                                      <p:tavLst>
                                        <p:tav tm="0">
                                          <p:val>
                                            <p:strVal val="#ppt_x-.2"/>
                                          </p:val>
                                        </p:tav>
                                        <p:tav tm="100000">
                                          <p:val>
                                            <p:strVal val="#ppt_x"/>
                                          </p:val>
                                        </p:tav>
                                      </p:tavLst>
                                    </p:anim>
                                    <p:anim calcmode="lin" valueType="num">
                                      <p:cBhvr>
                                        <p:cTn id="78" dur="500" fill="hold"/>
                                        <p:tgtEl>
                                          <p:spTgt spid="598022"/>
                                        </p:tgtEl>
                                        <p:attrNameLst>
                                          <p:attrName>ppt_y</p:attrName>
                                        </p:attrNameLst>
                                      </p:cBhvr>
                                      <p:tavLst>
                                        <p:tav tm="0">
                                          <p:val>
                                            <p:strVal val="#ppt_y"/>
                                          </p:val>
                                        </p:tav>
                                        <p:tav tm="100000">
                                          <p:val>
                                            <p:strVal val="#ppt_y"/>
                                          </p:val>
                                        </p:tav>
                                      </p:tavLst>
                                    </p:anim>
                                    <p:animEffect transition="in" filter="fade">
                                      <p:cBhvr>
                                        <p:cTn id="79" dur="500"/>
                                        <p:tgtEl>
                                          <p:spTgt spid="598022"/>
                                        </p:tgtEl>
                                      </p:cBhvr>
                                    </p:animEffect>
                                  </p:childTnLst>
                                </p:cTn>
                              </p:par>
                              <p:par>
                                <p:cTn id="80" presetID="54" presetClass="entr" presetSubtype="0" accel="100000" fill="hold" grpId="0" nodeType="withEffect">
                                  <p:stCondLst>
                                    <p:cond delay="0"/>
                                  </p:stCondLst>
                                  <p:childTnLst>
                                    <p:set>
                                      <p:cBhvr>
                                        <p:cTn id="81" dur="1" fill="hold">
                                          <p:stCondLst>
                                            <p:cond delay="0"/>
                                          </p:stCondLst>
                                        </p:cTn>
                                        <p:tgtEl>
                                          <p:spTgt spid="22"/>
                                        </p:tgtEl>
                                        <p:attrNameLst>
                                          <p:attrName>style.visibility</p:attrName>
                                        </p:attrNameLst>
                                      </p:cBhvr>
                                      <p:to>
                                        <p:strVal val="visible"/>
                                      </p:to>
                                    </p:set>
                                    <p:anim calcmode="lin" valueType="num">
                                      <p:cBhvr>
                                        <p:cTn id="82" dur="500" fill="hold"/>
                                        <p:tgtEl>
                                          <p:spTgt spid="22"/>
                                        </p:tgtEl>
                                        <p:attrNameLst>
                                          <p:attrName>ppt_w</p:attrName>
                                        </p:attrNameLst>
                                      </p:cBhvr>
                                      <p:tavLst>
                                        <p:tav tm="0">
                                          <p:val>
                                            <p:strVal val="#ppt_w*0.05"/>
                                          </p:val>
                                        </p:tav>
                                        <p:tav tm="100000">
                                          <p:val>
                                            <p:strVal val="#ppt_w"/>
                                          </p:val>
                                        </p:tav>
                                      </p:tavLst>
                                    </p:anim>
                                    <p:anim calcmode="lin" valueType="num">
                                      <p:cBhvr>
                                        <p:cTn id="83" dur="500" fill="hold"/>
                                        <p:tgtEl>
                                          <p:spTgt spid="22"/>
                                        </p:tgtEl>
                                        <p:attrNameLst>
                                          <p:attrName>ppt_h</p:attrName>
                                        </p:attrNameLst>
                                      </p:cBhvr>
                                      <p:tavLst>
                                        <p:tav tm="0">
                                          <p:val>
                                            <p:strVal val="#ppt_h"/>
                                          </p:val>
                                        </p:tav>
                                        <p:tav tm="100000">
                                          <p:val>
                                            <p:strVal val="#ppt_h"/>
                                          </p:val>
                                        </p:tav>
                                      </p:tavLst>
                                    </p:anim>
                                    <p:anim calcmode="lin" valueType="num">
                                      <p:cBhvr>
                                        <p:cTn id="84" dur="500" fill="hold"/>
                                        <p:tgtEl>
                                          <p:spTgt spid="22"/>
                                        </p:tgtEl>
                                        <p:attrNameLst>
                                          <p:attrName>ppt_x</p:attrName>
                                        </p:attrNameLst>
                                      </p:cBhvr>
                                      <p:tavLst>
                                        <p:tav tm="0">
                                          <p:val>
                                            <p:strVal val="#ppt_x-.2"/>
                                          </p:val>
                                        </p:tav>
                                        <p:tav tm="100000">
                                          <p:val>
                                            <p:strVal val="#ppt_x"/>
                                          </p:val>
                                        </p:tav>
                                      </p:tavLst>
                                    </p:anim>
                                    <p:anim calcmode="lin" valueType="num">
                                      <p:cBhvr>
                                        <p:cTn id="85" dur="500" fill="hold"/>
                                        <p:tgtEl>
                                          <p:spTgt spid="22"/>
                                        </p:tgtEl>
                                        <p:attrNameLst>
                                          <p:attrName>ppt_y</p:attrName>
                                        </p:attrNameLst>
                                      </p:cBhvr>
                                      <p:tavLst>
                                        <p:tav tm="0">
                                          <p:val>
                                            <p:strVal val="#ppt_y"/>
                                          </p:val>
                                        </p:tav>
                                        <p:tav tm="100000">
                                          <p:val>
                                            <p:strVal val="#ppt_y"/>
                                          </p:val>
                                        </p:tav>
                                      </p:tavLst>
                                    </p:anim>
                                    <p:animEffect transition="in" filter="fade">
                                      <p:cBhvr>
                                        <p:cTn id="86" dur="500"/>
                                        <p:tgtEl>
                                          <p:spTgt spid="22"/>
                                        </p:tgtEl>
                                      </p:cBhvr>
                                    </p:animEffect>
                                  </p:childTnLst>
                                </p:cTn>
                              </p:par>
                            </p:childTnLst>
                          </p:cTn>
                        </p:par>
                      </p:childTnLst>
                    </p:cTn>
                  </p:par>
                  <p:par>
                    <p:cTn id="87" fill="hold">
                      <p:stCondLst>
                        <p:cond delay="indefinite"/>
                      </p:stCondLst>
                      <p:childTnLst>
                        <p:par>
                          <p:cTn id="88" fill="hold">
                            <p:stCondLst>
                              <p:cond delay="0"/>
                            </p:stCondLst>
                            <p:childTnLst>
                              <p:par>
                                <p:cTn id="89" presetID="54" presetClass="entr" presetSubtype="0" accel="100000" fill="hold" grpId="0" nodeType="clickEffect">
                                  <p:stCondLst>
                                    <p:cond delay="0"/>
                                  </p:stCondLst>
                                  <p:childTnLst>
                                    <p:set>
                                      <p:cBhvr>
                                        <p:cTn id="90" dur="1" fill="hold">
                                          <p:stCondLst>
                                            <p:cond delay="0"/>
                                          </p:stCondLst>
                                        </p:cTn>
                                        <p:tgtEl>
                                          <p:spTgt spid="74"/>
                                        </p:tgtEl>
                                        <p:attrNameLst>
                                          <p:attrName>style.visibility</p:attrName>
                                        </p:attrNameLst>
                                      </p:cBhvr>
                                      <p:to>
                                        <p:strVal val="visible"/>
                                      </p:to>
                                    </p:set>
                                    <p:anim calcmode="lin" valueType="num">
                                      <p:cBhvr>
                                        <p:cTn id="91" dur="500" fill="hold"/>
                                        <p:tgtEl>
                                          <p:spTgt spid="74"/>
                                        </p:tgtEl>
                                        <p:attrNameLst>
                                          <p:attrName>ppt_w</p:attrName>
                                        </p:attrNameLst>
                                      </p:cBhvr>
                                      <p:tavLst>
                                        <p:tav tm="0">
                                          <p:val>
                                            <p:strVal val="#ppt_w*0.05"/>
                                          </p:val>
                                        </p:tav>
                                        <p:tav tm="100000">
                                          <p:val>
                                            <p:strVal val="#ppt_w"/>
                                          </p:val>
                                        </p:tav>
                                      </p:tavLst>
                                    </p:anim>
                                    <p:anim calcmode="lin" valueType="num">
                                      <p:cBhvr>
                                        <p:cTn id="92" dur="500" fill="hold"/>
                                        <p:tgtEl>
                                          <p:spTgt spid="74"/>
                                        </p:tgtEl>
                                        <p:attrNameLst>
                                          <p:attrName>ppt_h</p:attrName>
                                        </p:attrNameLst>
                                      </p:cBhvr>
                                      <p:tavLst>
                                        <p:tav tm="0">
                                          <p:val>
                                            <p:strVal val="#ppt_h"/>
                                          </p:val>
                                        </p:tav>
                                        <p:tav tm="100000">
                                          <p:val>
                                            <p:strVal val="#ppt_h"/>
                                          </p:val>
                                        </p:tav>
                                      </p:tavLst>
                                    </p:anim>
                                    <p:anim calcmode="lin" valueType="num">
                                      <p:cBhvr>
                                        <p:cTn id="93" dur="500" fill="hold"/>
                                        <p:tgtEl>
                                          <p:spTgt spid="74"/>
                                        </p:tgtEl>
                                        <p:attrNameLst>
                                          <p:attrName>ppt_x</p:attrName>
                                        </p:attrNameLst>
                                      </p:cBhvr>
                                      <p:tavLst>
                                        <p:tav tm="0">
                                          <p:val>
                                            <p:strVal val="#ppt_x-.2"/>
                                          </p:val>
                                        </p:tav>
                                        <p:tav tm="100000">
                                          <p:val>
                                            <p:strVal val="#ppt_x"/>
                                          </p:val>
                                        </p:tav>
                                      </p:tavLst>
                                    </p:anim>
                                    <p:anim calcmode="lin" valueType="num">
                                      <p:cBhvr>
                                        <p:cTn id="94" dur="500" fill="hold"/>
                                        <p:tgtEl>
                                          <p:spTgt spid="74"/>
                                        </p:tgtEl>
                                        <p:attrNameLst>
                                          <p:attrName>ppt_y</p:attrName>
                                        </p:attrNameLst>
                                      </p:cBhvr>
                                      <p:tavLst>
                                        <p:tav tm="0">
                                          <p:val>
                                            <p:strVal val="#ppt_y"/>
                                          </p:val>
                                        </p:tav>
                                        <p:tav tm="100000">
                                          <p:val>
                                            <p:strVal val="#ppt_y"/>
                                          </p:val>
                                        </p:tav>
                                      </p:tavLst>
                                    </p:anim>
                                    <p:animEffect transition="in" filter="fade">
                                      <p:cBhvr>
                                        <p:cTn id="95" dur="500"/>
                                        <p:tgtEl>
                                          <p:spTgt spid="74"/>
                                        </p:tgtEl>
                                      </p:cBhvr>
                                    </p:animEffect>
                                  </p:childTnLst>
                                </p:cTn>
                              </p:par>
                            </p:childTnLst>
                          </p:cTn>
                        </p:par>
                      </p:childTnLst>
                    </p:cTn>
                  </p:par>
                  <p:par>
                    <p:cTn id="96" fill="hold">
                      <p:stCondLst>
                        <p:cond delay="indefinite"/>
                      </p:stCondLst>
                      <p:childTnLst>
                        <p:par>
                          <p:cTn id="97" fill="hold">
                            <p:stCondLst>
                              <p:cond delay="0"/>
                            </p:stCondLst>
                            <p:childTnLst>
                              <p:par>
                                <p:cTn id="98" presetID="54" presetClass="entr" presetSubtype="0" accel="100000" fill="hold" grpId="0" nodeType="clickEffect">
                                  <p:stCondLst>
                                    <p:cond delay="0"/>
                                  </p:stCondLst>
                                  <p:childTnLst>
                                    <p:set>
                                      <p:cBhvr>
                                        <p:cTn id="99" dur="1" fill="hold">
                                          <p:stCondLst>
                                            <p:cond delay="0"/>
                                          </p:stCondLst>
                                        </p:cTn>
                                        <p:tgtEl>
                                          <p:spTgt spid="598020"/>
                                        </p:tgtEl>
                                        <p:attrNameLst>
                                          <p:attrName>style.visibility</p:attrName>
                                        </p:attrNameLst>
                                      </p:cBhvr>
                                      <p:to>
                                        <p:strVal val="visible"/>
                                      </p:to>
                                    </p:set>
                                    <p:anim calcmode="lin" valueType="num">
                                      <p:cBhvr>
                                        <p:cTn id="100" dur="500" fill="hold"/>
                                        <p:tgtEl>
                                          <p:spTgt spid="598020"/>
                                        </p:tgtEl>
                                        <p:attrNameLst>
                                          <p:attrName>ppt_w</p:attrName>
                                        </p:attrNameLst>
                                      </p:cBhvr>
                                      <p:tavLst>
                                        <p:tav tm="0">
                                          <p:val>
                                            <p:strVal val="#ppt_w*0.05"/>
                                          </p:val>
                                        </p:tav>
                                        <p:tav tm="100000">
                                          <p:val>
                                            <p:strVal val="#ppt_w"/>
                                          </p:val>
                                        </p:tav>
                                      </p:tavLst>
                                    </p:anim>
                                    <p:anim calcmode="lin" valueType="num">
                                      <p:cBhvr>
                                        <p:cTn id="101" dur="500" fill="hold"/>
                                        <p:tgtEl>
                                          <p:spTgt spid="598020"/>
                                        </p:tgtEl>
                                        <p:attrNameLst>
                                          <p:attrName>ppt_h</p:attrName>
                                        </p:attrNameLst>
                                      </p:cBhvr>
                                      <p:tavLst>
                                        <p:tav tm="0">
                                          <p:val>
                                            <p:strVal val="#ppt_h"/>
                                          </p:val>
                                        </p:tav>
                                        <p:tav tm="100000">
                                          <p:val>
                                            <p:strVal val="#ppt_h"/>
                                          </p:val>
                                        </p:tav>
                                      </p:tavLst>
                                    </p:anim>
                                    <p:anim calcmode="lin" valueType="num">
                                      <p:cBhvr>
                                        <p:cTn id="102" dur="500" fill="hold"/>
                                        <p:tgtEl>
                                          <p:spTgt spid="598020"/>
                                        </p:tgtEl>
                                        <p:attrNameLst>
                                          <p:attrName>ppt_x</p:attrName>
                                        </p:attrNameLst>
                                      </p:cBhvr>
                                      <p:tavLst>
                                        <p:tav tm="0">
                                          <p:val>
                                            <p:strVal val="#ppt_x-.2"/>
                                          </p:val>
                                        </p:tav>
                                        <p:tav tm="100000">
                                          <p:val>
                                            <p:strVal val="#ppt_x"/>
                                          </p:val>
                                        </p:tav>
                                      </p:tavLst>
                                    </p:anim>
                                    <p:anim calcmode="lin" valueType="num">
                                      <p:cBhvr>
                                        <p:cTn id="103" dur="500" fill="hold"/>
                                        <p:tgtEl>
                                          <p:spTgt spid="598020"/>
                                        </p:tgtEl>
                                        <p:attrNameLst>
                                          <p:attrName>ppt_y</p:attrName>
                                        </p:attrNameLst>
                                      </p:cBhvr>
                                      <p:tavLst>
                                        <p:tav tm="0">
                                          <p:val>
                                            <p:strVal val="#ppt_y"/>
                                          </p:val>
                                        </p:tav>
                                        <p:tav tm="100000">
                                          <p:val>
                                            <p:strVal val="#ppt_y"/>
                                          </p:val>
                                        </p:tav>
                                      </p:tavLst>
                                    </p:anim>
                                    <p:animEffect transition="in" filter="fade">
                                      <p:cBhvr>
                                        <p:cTn id="104" dur="500"/>
                                        <p:tgtEl>
                                          <p:spTgt spid="598020"/>
                                        </p:tgtEl>
                                      </p:cBhvr>
                                    </p:animEffect>
                                  </p:childTnLst>
                                </p:cTn>
                              </p:par>
                              <p:par>
                                <p:cTn id="105" presetID="54" presetClass="entr" presetSubtype="0" accel="100000" fill="hold" grpId="0" nodeType="withEffect">
                                  <p:stCondLst>
                                    <p:cond delay="0"/>
                                  </p:stCondLst>
                                  <p:childTnLst>
                                    <p:set>
                                      <p:cBhvr>
                                        <p:cTn id="106" dur="1" fill="hold">
                                          <p:stCondLst>
                                            <p:cond delay="0"/>
                                          </p:stCondLst>
                                        </p:cTn>
                                        <p:tgtEl>
                                          <p:spTgt spid="598040"/>
                                        </p:tgtEl>
                                        <p:attrNameLst>
                                          <p:attrName>style.visibility</p:attrName>
                                        </p:attrNameLst>
                                      </p:cBhvr>
                                      <p:to>
                                        <p:strVal val="visible"/>
                                      </p:to>
                                    </p:set>
                                    <p:anim calcmode="lin" valueType="num">
                                      <p:cBhvr>
                                        <p:cTn id="107" dur="500" fill="hold"/>
                                        <p:tgtEl>
                                          <p:spTgt spid="598040"/>
                                        </p:tgtEl>
                                        <p:attrNameLst>
                                          <p:attrName>ppt_w</p:attrName>
                                        </p:attrNameLst>
                                      </p:cBhvr>
                                      <p:tavLst>
                                        <p:tav tm="0">
                                          <p:val>
                                            <p:strVal val="#ppt_w*0.05"/>
                                          </p:val>
                                        </p:tav>
                                        <p:tav tm="100000">
                                          <p:val>
                                            <p:strVal val="#ppt_w"/>
                                          </p:val>
                                        </p:tav>
                                      </p:tavLst>
                                    </p:anim>
                                    <p:anim calcmode="lin" valueType="num">
                                      <p:cBhvr>
                                        <p:cTn id="108" dur="500" fill="hold"/>
                                        <p:tgtEl>
                                          <p:spTgt spid="598040"/>
                                        </p:tgtEl>
                                        <p:attrNameLst>
                                          <p:attrName>ppt_h</p:attrName>
                                        </p:attrNameLst>
                                      </p:cBhvr>
                                      <p:tavLst>
                                        <p:tav tm="0">
                                          <p:val>
                                            <p:strVal val="#ppt_h"/>
                                          </p:val>
                                        </p:tav>
                                        <p:tav tm="100000">
                                          <p:val>
                                            <p:strVal val="#ppt_h"/>
                                          </p:val>
                                        </p:tav>
                                      </p:tavLst>
                                    </p:anim>
                                    <p:anim calcmode="lin" valueType="num">
                                      <p:cBhvr>
                                        <p:cTn id="109" dur="500" fill="hold"/>
                                        <p:tgtEl>
                                          <p:spTgt spid="598040"/>
                                        </p:tgtEl>
                                        <p:attrNameLst>
                                          <p:attrName>ppt_x</p:attrName>
                                        </p:attrNameLst>
                                      </p:cBhvr>
                                      <p:tavLst>
                                        <p:tav tm="0">
                                          <p:val>
                                            <p:strVal val="#ppt_x-.2"/>
                                          </p:val>
                                        </p:tav>
                                        <p:tav tm="100000">
                                          <p:val>
                                            <p:strVal val="#ppt_x"/>
                                          </p:val>
                                        </p:tav>
                                      </p:tavLst>
                                    </p:anim>
                                    <p:anim calcmode="lin" valueType="num">
                                      <p:cBhvr>
                                        <p:cTn id="110" dur="500" fill="hold"/>
                                        <p:tgtEl>
                                          <p:spTgt spid="598040"/>
                                        </p:tgtEl>
                                        <p:attrNameLst>
                                          <p:attrName>ppt_y</p:attrName>
                                        </p:attrNameLst>
                                      </p:cBhvr>
                                      <p:tavLst>
                                        <p:tav tm="0">
                                          <p:val>
                                            <p:strVal val="#ppt_y"/>
                                          </p:val>
                                        </p:tav>
                                        <p:tav tm="100000">
                                          <p:val>
                                            <p:strVal val="#ppt_y"/>
                                          </p:val>
                                        </p:tav>
                                      </p:tavLst>
                                    </p:anim>
                                    <p:animEffect transition="in" filter="fade">
                                      <p:cBhvr>
                                        <p:cTn id="111" dur="500"/>
                                        <p:tgtEl>
                                          <p:spTgt spid="598040"/>
                                        </p:tgtEl>
                                      </p:cBhvr>
                                    </p:animEffect>
                                  </p:childTnLst>
                                </p:cTn>
                              </p:par>
                              <p:par>
                                <p:cTn id="112" presetID="54" presetClass="entr" presetSubtype="0" accel="100000" fill="hold" nodeType="withEffect">
                                  <p:stCondLst>
                                    <p:cond delay="0"/>
                                  </p:stCondLst>
                                  <p:childTnLst>
                                    <p:set>
                                      <p:cBhvr>
                                        <p:cTn id="113" dur="1" fill="hold">
                                          <p:stCondLst>
                                            <p:cond delay="0"/>
                                          </p:stCondLst>
                                        </p:cTn>
                                        <p:tgtEl>
                                          <p:spTgt spid="12"/>
                                        </p:tgtEl>
                                        <p:attrNameLst>
                                          <p:attrName>style.visibility</p:attrName>
                                        </p:attrNameLst>
                                      </p:cBhvr>
                                      <p:to>
                                        <p:strVal val="visible"/>
                                      </p:to>
                                    </p:set>
                                    <p:anim calcmode="lin" valueType="num">
                                      <p:cBhvr>
                                        <p:cTn id="114" dur="500" fill="hold"/>
                                        <p:tgtEl>
                                          <p:spTgt spid="12"/>
                                        </p:tgtEl>
                                        <p:attrNameLst>
                                          <p:attrName>ppt_w</p:attrName>
                                        </p:attrNameLst>
                                      </p:cBhvr>
                                      <p:tavLst>
                                        <p:tav tm="0">
                                          <p:val>
                                            <p:strVal val="#ppt_w*0.05"/>
                                          </p:val>
                                        </p:tav>
                                        <p:tav tm="100000">
                                          <p:val>
                                            <p:strVal val="#ppt_w"/>
                                          </p:val>
                                        </p:tav>
                                      </p:tavLst>
                                    </p:anim>
                                    <p:anim calcmode="lin" valueType="num">
                                      <p:cBhvr>
                                        <p:cTn id="115" dur="500" fill="hold"/>
                                        <p:tgtEl>
                                          <p:spTgt spid="12"/>
                                        </p:tgtEl>
                                        <p:attrNameLst>
                                          <p:attrName>ppt_h</p:attrName>
                                        </p:attrNameLst>
                                      </p:cBhvr>
                                      <p:tavLst>
                                        <p:tav tm="0">
                                          <p:val>
                                            <p:strVal val="#ppt_h"/>
                                          </p:val>
                                        </p:tav>
                                        <p:tav tm="100000">
                                          <p:val>
                                            <p:strVal val="#ppt_h"/>
                                          </p:val>
                                        </p:tav>
                                      </p:tavLst>
                                    </p:anim>
                                    <p:anim calcmode="lin" valueType="num">
                                      <p:cBhvr>
                                        <p:cTn id="116" dur="500" fill="hold"/>
                                        <p:tgtEl>
                                          <p:spTgt spid="12"/>
                                        </p:tgtEl>
                                        <p:attrNameLst>
                                          <p:attrName>ppt_x</p:attrName>
                                        </p:attrNameLst>
                                      </p:cBhvr>
                                      <p:tavLst>
                                        <p:tav tm="0">
                                          <p:val>
                                            <p:strVal val="#ppt_x-.2"/>
                                          </p:val>
                                        </p:tav>
                                        <p:tav tm="100000">
                                          <p:val>
                                            <p:strVal val="#ppt_x"/>
                                          </p:val>
                                        </p:tav>
                                      </p:tavLst>
                                    </p:anim>
                                    <p:anim calcmode="lin" valueType="num">
                                      <p:cBhvr>
                                        <p:cTn id="117" dur="500" fill="hold"/>
                                        <p:tgtEl>
                                          <p:spTgt spid="12"/>
                                        </p:tgtEl>
                                        <p:attrNameLst>
                                          <p:attrName>ppt_y</p:attrName>
                                        </p:attrNameLst>
                                      </p:cBhvr>
                                      <p:tavLst>
                                        <p:tav tm="0">
                                          <p:val>
                                            <p:strVal val="#ppt_y"/>
                                          </p:val>
                                        </p:tav>
                                        <p:tav tm="100000">
                                          <p:val>
                                            <p:strVal val="#ppt_y"/>
                                          </p:val>
                                        </p:tav>
                                      </p:tavLst>
                                    </p:anim>
                                    <p:animEffect transition="in" filter="fade">
                                      <p:cBhvr>
                                        <p:cTn id="118" dur="500"/>
                                        <p:tgtEl>
                                          <p:spTgt spid="12"/>
                                        </p:tgtEl>
                                      </p:cBhvr>
                                    </p:animEffect>
                                  </p:childTnLst>
                                </p:cTn>
                              </p:par>
                              <p:par>
                                <p:cTn id="119" presetID="54" presetClass="entr" presetSubtype="0" accel="100000" fill="hold" grpId="0" nodeType="withEffect">
                                  <p:stCondLst>
                                    <p:cond delay="0"/>
                                  </p:stCondLst>
                                  <p:childTnLst>
                                    <p:set>
                                      <p:cBhvr>
                                        <p:cTn id="120" dur="1" fill="hold">
                                          <p:stCondLst>
                                            <p:cond delay="0"/>
                                          </p:stCondLst>
                                        </p:cTn>
                                        <p:tgtEl>
                                          <p:spTgt spid="14"/>
                                        </p:tgtEl>
                                        <p:attrNameLst>
                                          <p:attrName>style.visibility</p:attrName>
                                        </p:attrNameLst>
                                      </p:cBhvr>
                                      <p:to>
                                        <p:strVal val="visible"/>
                                      </p:to>
                                    </p:set>
                                    <p:anim calcmode="lin" valueType="num">
                                      <p:cBhvr>
                                        <p:cTn id="121" dur="500" fill="hold"/>
                                        <p:tgtEl>
                                          <p:spTgt spid="14"/>
                                        </p:tgtEl>
                                        <p:attrNameLst>
                                          <p:attrName>ppt_w</p:attrName>
                                        </p:attrNameLst>
                                      </p:cBhvr>
                                      <p:tavLst>
                                        <p:tav tm="0">
                                          <p:val>
                                            <p:strVal val="#ppt_w*0.05"/>
                                          </p:val>
                                        </p:tav>
                                        <p:tav tm="100000">
                                          <p:val>
                                            <p:strVal val="#ppt_w"/>
                                          </p:val>
                                        </p:tav>
                                      </p:tavLst>
                                    </p:anim>
                                    <p:anim calcmode="lin" valueType="num">
                                      <p:cBhvr>
                                        <p:cTn id="122" dur="500" fill="hold"/>
                                        <p:tgtEl>
                                          <p:spTgt spid="14"/>
                                        </p:tgtEl>
                                        <p:attrNameLst>
                                          <p:attrName>ppt_h</p:attrName>
                                        </p:attrNameLst>
                                      </p:cBhvr>
                                      <p:tavLst>
                                        <p:tav tm="0">
                                          <p:val>
                                            <p:strVal val="#ppt_h"/>
                                          </p:val>
                                        </p:tav>
                                        <p:tav tm="100000">
                                          <p:val>
                                            <p:strVal val="#ppt_h"/>
                                          </p:val>
                                        </p:tav>
                                      </p:tavLst>
                                    </p:anim>
                                    <p:anim calcmode="lin" valueType="num">
                                      <p:cBhvr>
                                        <p:cTn id="123" dur="500" fill="hold"/>
                                        <p:tgtEl>
                                          <p:spTgt spid="14"/>
                                        </p:tgtEl>
                                        <p:attrNameLst>
                                          <p:attrName>ppt_x</p:attrName>
                                        </p:attrNameLst>
                                      </p:cBhvr>
                                      <p:tavLst>
                                        <p:tav tm="0">
                                          <p:val>
                                            <p:strVal val="#ppt_x-.2"/>
                                          </p:val>
                                        </p:tav>
                                        <p:tav tm="100000">
                                          <p:val>
                                            <p:strVal val="#ppt_x"/>
                                          </p:val>
                                        </p:tav>
                                      </p:tavLst>
                                    </p:anim>
                                    <p:anim calcmode="lin" valueType="num">
                                      <p:cBhvr>
                                        <p:cTn id="124" dur="500" fill="hold"/>
                                        <p:tgtEl>
                                          <p:spTgt spid="14"/>
                                        </p:tgtEl>
                                        <p:attrNameLst>
                                          <p:attrName>ppt_y</p:attrName>
                                        </p:attrNameLst>
                                      </p:cBhvr>
                                      <p:tavLst>
                                        <p:tav tm="0">
                                          <p:val>
                                            <p:strVal val="#ppt_y"/>
                                          </p:val>
                                        </p:tav>
                                        <p:tav tm="100000">
                                          <p:val>
                                            <p:strVal val="#ppt_y"/>
                                          </p:val>
                                        </p:tav>
                                      </p:tavLst>
                                    </p:anim>
                                    <p:animEffect transition="in" filter="fade">
                                      <p:cBhvr>
                                        <p:cTn id="125" dur="500"/>
                                        <p:tgtEl>
                                          <p:spTgt spid="14"/>
                                        </p:tgtEl>
                                      </p:cBhvr>
                                    </p:animEffect>
                                  </p:childTnLst>
                                </p:cTn>
                              </p:par>
                            </p:childTnLst>
                          </p:cTn>
                        </p:par>
                      </p:childTnLst>
                    </p:cTn>
                  </p:par>
                  <p:par>
                    <p:cTn id="126" fill="hold">
                      <p:stCondLst>
                        <p:cond delay="indefinite"/>
                      </p:stCondLst>
                      <p:childTnLst>
                        <p:par>
                          <p:cTn id="127" fill="hold">
                            <p:stCondLst>
                              <p:cond delay="0"/>
                            </p:stCondLst>
                            <p:childTnLst>
                              <p:par>
                                <p:cTn id="128" presetID="54" presetClass="entr" presetSubtype="0" accel="100000" fill="hold" grpId="0" nodeType="clickEffect">
                                  <p:stCondLst>
                                    <p:cond delay="0"/>
                                  </p:stCondLst>
                                  <p:childTnLst>
                                    <p:set>
                                      <p:cBhvr>
                                        <p:cTn id="129" dur="1" fill="hold">
                                          <p:stCondLst>
                                            <p:cond delay="0"/>
                                          </p:stCondLst>
                                        </p:cTn>
                                        <p:tgtEl>
                                          <p:spTgt spid="80"/>
                                        </p:tgtEl>
                                        <p:attrNameLst>
                                          <p:attrName>style.visibility</p:attrName>
                                        </p:attrNameLst>
                                      </p:cBhvr>
                                      <p:to>
                                        <p:strVal val="visible"/>
                                      </p:to>
                                    </p:set>
                                    <p:anim calcmode="lin" valueType="num">
                                      <p:cBhvr>
                                        <p:cTn id="130" dur="500" fill="hold"/>
                                        <p:tgtEl>
                                          <p:spTgt spid="80"/>
                                        </p:tgtEl>
                                        <p:attrNameLst>
                                          <p:attrName>ppt_w</p:attrName>
                                        </p:attrNameLst>
                                      </p:cBhvr>
                                      <p:tavLst>
                                        <p:tav tm="0">
                                          <p:val>
                                            <p:strVal val="#ppt_w*0.05"/>
                                          </p:val>
                                        </p:tav>
                                        <p:tav tm="100000">
                                          <p:val>
                                            <p:strVal val="#ppt_w"/>
                                          </p:val>
                                        </p:tav>
                                      </p:tavLst>
                                    </p:anim>
                                    <p:anim calcmode="lin" valueType="num">
                                      <p:cBhvr>
                                        <p:cTn id="131" dur="500" fill="hold"/>
                                        <p:tgtEl>
                                          <p:spTgt spid="80"/>
                                        </p:tgtEl>
                                        <p:attrNameLst>
                                          <p:attrName>ppt_h</p:attrName>
                                        </p:attrNameLst>
                                      </p:cBhvr>
                                      <p:tavLst>
                                        <p:tav tm="0">
                                          <p:val>
                                            <p:strVal val="#ppt_h"/>
                                          </p:val>
                                        </p:tav>
                                        <p:tav tm="100000">
                                          <p:val>
                                            <p:strVal val="#ppt_h"/>
                                          </p:val>
                                        </p:tav>
                                      </p:tavLst>
                                    </p:anim>
                                    <p:anim calcmode="lin" valueType="num">
                                      <p:cBhvr>
                                        <p:cTn id="132" dur="500" fill="hold"/>
                                        <p:tgtEl>
                                          <p:spTgt spid="80"/>
                                        </p:tgtEl>
                                        <p:attrNameLst>
                                          <p:attrName>ppt_x</p:attrName>
                                        </p:attrNameLst>
                                      </p:cBhvr>
                                      <p:tavLst>
                                        <p:tav tm="0">
                                          <p:val>
                                            <p:strVal val="#ppt_x-.2"/>
                                          </p:val>
                                        </p:tav>
                                        <p:tav tm="100000">
                                          <p:val>
                                            <p:strVal val="#ppt_x"/>
                                          </p:val>
                                        </p:tav>
                                      </p:tavLst>
                                    </p:anim>
                                    <p:anim calcmode="lin" valueType="num">
                                      <p:cBhvr>
                                        <p:cTn id="133" dur="500" fill="hold"/>
                                        <p:tgtEl>
                                          <p:spTgt spid="80"/>
                                        </p:tgtEl>
                                        <p:attrNameLst>
                                          <p:attrName>ppt_y</p:attrName>
                                        </p:attrNameLst>
                                      </p:cBhvr>
                                      <p:tavLst>
                                        <p:tav tm="0">
                                          <p:val>
                                            <p:strVal val="#ppt_y"/>
                                          </p:val>
                                        </p:tav>
                                        <p:tav tm="100000">
                                          <p:val>
                                            <p:strVal val="#ppt_y"/>
                                          </p:val>
                                        </p:tav>
                                      </p:tavLst>
                                    </p:anim>
                                    <p:animEffect transition="in" filter="fade">
                                      <p:cBhvr>
                                        <p:cTn id="134"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73" grpId="0"/>
      <p:bldP spid="74" grpId="0"/>
      <p:bldP spid="75" grpId="0"/>
      <p:bldP spid="80" grpId="0"/>
      <p:bldP spid="4" grpId="0" bldLvl="0" animBg="1"/>
      <p:bldP spid="598022" grpId="0" bldLvl="0" animBg="1"/>
      <p:bldP spid="598023" grpId="0" bldLvl="0" animBg="1"/>
      <p:bldP spid="598020" grpId="0" bldLvl="0" animBg="1"/>
      <p:bldP spid="598040" grpId="0" bldLvl="0" animBg="1"/>
      <p:bldP spid="14" grpId="0"/>
      <p:bldP spid="21" grpId="0"/>
      <p:bldP spid="2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061199" y="27962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77073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2743676" y="77073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2991451" y="-10062"/>
            <a:ext cx="3535680" cy="829945"/>
          </a:xfrm>
          <a:prstGeom prst="rect">
            <a:avLst/>
          </a:prstGeom>
          <a:noFill/>
        </p:spPr>
        <p:txBody>
          <a:bodyPr wrap="none" rtlCol="0">
            <a:spAutoFit/>
          </a:bodyPr>
          <a:lstStyle/>
          <a:p>
            <a:pPr algn="ctr"/>
            <a:r>
              <a:rPr lang="zh-CN" altLang="en-US" sz="2400" b="1" dirty="0">
                <a:gradFill>
                  <a:gsLst>
                    <a:gs pos="0">
                      <a:srgbClr val="F17475"/>
                    </a:gs>
                    <a:gs pos="57000">
                      <a:srgbClr val="01B3C5"/>
                    </a:gs>
                    <a:gs pos="100000">
                      <a:srgbClr val="C65885"/>
                    </a:gs>
                  </a:gsLst>
                  <a:lin ang="8100000" scaled="0"/>
                </a:gradFill>
                <a:effectLst/>
                <a:latin typeface="黑体" panose="02010609060101010101" charset="-122"/>
                <a:cs typeface="黑体" panose="02010609060101010101" charset="-122"/>
              </a:rPr>
              <a:t>高级语言程序转换为</a:t>
            </a:r>
          </a:p>
          <a:p>
            <a:pPr algn="ctr"/>
            <a:r>
              <a:rPr lang="zh-CN" altLang="en-US" sz="2400" b="1" dirty="0">
                <a:gradFill>
                  <a:gsLst>
                    <a:gs pos="0">
                      <a:srgbClr val="F17475"/>
                    </a:gs>
                    <a:gs pos="57000">
                      <a:srgbClr val="01B3C5"/>
                    </a:gs>
                    <a:gs pos="100000">
                      <a:srgbClr val="C65885"/>
                    </a:gs>
                  </a:gsLst>
                  <a:lin ang="8100000" scaled="0"/>
                </a:gradFill>
                <a:effectLst/>
                <a:latin typeface="黑体" panose="02010609060101010101" charset="-122"/>
                <a:cs typeface="黑体" panose="02010609060101010101" charset="-122"/>
              </a:rPr>
              <a:t>机器代码的具体过程分析</a:t>
            </a:r>
            <a:endParaRPr lang="zh-CN" altLang="en-US" sz="2400" dirty="0">
              <a:solidFill>
                <a:schemeClr val="tx1"/>
              </a:soli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2" name="矩形 1"/>
          <p:cNvSpPr/>
          <p:nvPr/>
        </p:nvSpPr>
        <p:spPr>
          <a:xfrm>
            <a:off x="0" y="13642"/>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865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pic>
        <p:nvPicPr>
          <p:cNvPr id="551944" name="Picture 8"/>
          <p:cNvPicPr>
            <a:picLocks noChangeAspect="1" noChangeArrowheads="1"/>
          </p:cNvPicPr>
          <p:nvPr/>
        </p:nvPicPr>
        <p:blipFill>
          <a:blip r:embed="rId3"/>
          <a:srcRect/>
          <a:stretch>
            <a:fillRect/>
          </a:stretch>
        </p:blipFill>
        <p:spPr bwMode="auto">
          <a:xfrm>
            <a:off x="4445" y="1231900"/>
            <a:ext cx="6000750" cy="1770380"/>
          </a:xfrm>
          <a:prstGeom prst="rect">
            <a:avLst/>
          </a:prstGeom>
          <a:noFill/>
        </p:spPr>
      </p:pic>
      <p:sp>
        <p:nvSpPr>
          <p:cNvPr id="551941" name="Rectangle 4"/>
          <p:cNvSpPr>
            <a:spLocks noGrp="1" noChangeArrowheads="1"/>
          </p:cNvSpPr>
          <p:nvPr/>
        </p:nvSpPr>
        <p:spPr>
          <a:xfrm>
            <a:off x="-34290" y="3064510"/>
            <a:ext cx="6886575" cy="2396490"/>
          </a:xfrm>
          <a:prstGeom prst="rect">
            <a:avLst/>
          </a:prstGeom>
          <a:noFill/>
          <a:ln w="9525">
            <a:noFill/>
            <a:miter lim="800000"/>
          </a:ln>
        </p:spPr>
        <p:txBody>
          <a:bodyPr vert="horz" wrap="square" lIns="28575" tIns="28575" rIns="28575" bIns="28575"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marL="317500" lvl="1" indent="0" eaLnBrk="1" hangingPunct="1">
              <a:spcBef>
                <a:spcPct val="25000"/>
              </a:spcBef>
              <a:buFontTx/>
              <a:buNone/>
            </a:pPr>
            <a:r>
              <a:rPr lang="en-US" altLang="zh-CN" b="0" dirty="0">
                <a:solidFill>
                  <a:srgbClr val="DF664A"/>
                </a:solidFill>
                <a:latin typeface="黑体" panose="02010609060101010101" charset="-122"/>
                <a:ea typeface="黑体" panose="02010609060101010101" charset="-122"/>
                <a:cs typeface="黑体" panose="02010609060101010101" charset="-122"/>
              </a:rPr>
              <a:t>预处理</a:t>
            </a:r>
            <a:r>
              <a:rPr lang="zh-CN" altLang="en-US" dirty="0">
                <a:solidFill>
                  <a:schemeClr val="tx1"/>
                </a:solidFill>
                <a:latin typeface="黑体" panose="02010609060101010101" charset="-122"/>
                <a:ea typeface="黑体" panose="02010609060101010101" charset="-122"/>
              </a:rPr>
              <a:t>：在高级语言源程序中插入所有用</a:t>
            </a:r>
            <a:r>
              <a:rPr lang="en-US" altLang="zh-CN" dirty="0">
                <a:solidFill>
                  <a:schemeClr val="tx1"/>
                </a:solidFill>
                <a:latin typeface="黑体" panose="02010609060101010101" charset="-122"/>
                <a:ea typeface="黑体" panose="02010609060101010101" charset="-122"/>
              </a:rPr>
              <a:t>#include</a:t>
            </a:r>
            <a:r>
              <a:rPr lang="zh-CN" altLang="en-US" dirty="0">
                <a:solidFill>
                  <a:schemeClr val="tx1"/>
                </a:solidFill>
                <a:latin typeface="黑体" panose="02010609060101010101" charset="-122"/>
                <a:ea typeface="黑体" panose="02010609060101010101" charset="-122"/>
              </a:rPr>
              <a:t>命令指定的文件和用</a:t>
            </a:r>
            <a:r>
              <a:rPr lang="en-US" altLang="zh-CN" dirty="0">
                <a:solidFill>
                  <a:schemeClr val="tx1"/>
                </a:solidFill>
                <a:latin typeface="黑体" panose="02010609060101010101" charset="-122"/>
                <a:ea typeface="黑体" panose="02010609060101010101" charset="-122"/>
              </a:rPr>
              <a:t>#define</a:t>
            </a:r>
            <a:r>
              <a:rPr lang="zh-CN" altLang="en-US" dirty="0">
                <a:solidFill>
                  <a:schemeClr val="tx1"/>
                </a:solidFill>
                <a:latin typeface="黑体" panose="02010609060101010101" charset="-122"/>
                <a:ea typeface="黑体" panose="02010609060101010101" charset="-122"/>
              </a:rPr>
              <a:t>声明指定的宏。</a:t>
            </a:r>
          </a:p>
          <a:p>
            <a:pPr marL="317500" lvl="1" indent="0" eaLnBrk="1" hangingPunct="1">
              <a:spcBef>
                <a:spcPct val="25000"/>
              </a:spcBef>
              <a:buFontTx/>
              <a:buNone/>
            </a:pPr>
            <a:r>
              <a:rPr lang="zh-CN" altLang="en-US" dirty="0">
                <a:solidFill>
                  <a:schemeClr val="tx1"/>
                </a:solidFill>
                <a:latin typeface="黑体" panose="02010609060101010101" charset="-122"/>
                <a:ea typeface="黑体" panose="02010609060101010101" charset="-122"/>
              </a:rPr>
              <a:t>编译：将预处理后的源程序文件编译生成相应的</a:t>
            </a:r>
            <a:r>
              <a:rPr lang="zh-CN" altLang="en-US" dirty="0">
                <a:solidFill>
                  <a:srgbClr val="53ABE2"/>
                </a:solidFill>
                <a:latin typeface="黑体" panose="02010609060101010101" charset="-122"/>
                <a:ea typeface="黑体" panose="02010609060101010101" charset="-122"/>
              </a:rPr>
              <a:t>汇编语言程序。</a:t>
            </a:r>
          </a:p>
          <a:p>
            <a:pPr marL="317500" lvl="1" indent="0" eaLnBrk="1" hangingPunct="1">
              <a:spcBef>
                <a:spcPct val="25000"/>
              </a:spcBef>
              <a:buFontTx/>
              <a:buNone/>
            </a:pPr>
            <a:r>
              <a:rPr lang="en-US" altLang="zh-CN" b="0" dirty="0">
                <a:solidFill>
                  <a:srgbClr val="DF664A"/>
                </a:solidFill>
                <a:latin typeface="黑体" panose="02010609060101010101" charset="-122"/>
                <a:ea typeface="黑体" panose="02010609060101010101" charset="-122"/>
                <a:cs typeface="黑体" panose="02010609060101010101" charset="-122"/>
              </a:rPr>
              <a:t>汇编：</a:t>
            </a:r>
            <a:r>
              <a:rPr lang="zh-CN" altLang="en-US" dirty="0">
                <a:solidFill>
                  <a:schemeClr val="tx1"/>
                </a:solidFill>
                <a:latin typeface="黑体" panose="02010609060101010101" charset="-122"/>
                <a:ea typeface="黑体" panose="02010609060101010101" charset="-122"/>
              </a:rPr>
              <a:t>由</a:t>
            </a:r>
            <a:r>
              <a:rPr lang="zh-CN" altLang="en-US" dirty="0">
                <a:solidFill>
                  <a:srgbClr val="53ABE2"/>
                </a:solidFill>
                <a:latin typeface="黑体" panose="02010609060101010101" charset="-122"/>
                <a:ea typeface="黑体" panose="02010609060101010101" charset="-122"/>
              </a:rPr>
              <a:t>汇编程序</a:t>
            </a:r>
            <a:r>
              <a:rPr lang="zh-CN" altLang="en-US" dirty="0">
                <a:solidFill>
                  <a:schemeClr val="tx1"/>
                </a:solidFill>
                <a:latin typeface="黑体" panose="02010609060101010101" charset="-122"/>
                <a:ea typeface="黑体" panose="02010609060101010101" charset="-122"/>
              </a:rPr>
              <a:t>将</a:t>
            </a:r>
            <a:r>
              <a:rPr lang="zh-CN" altLang="en-US" dirty="0">
                <a:solidFill>
                  <a:srgbClr val="53ABE2"/>
                </a:solidFill>
                <a:latin typeface="黑体" panose="02010609060101010101" charset="-122"/>
                <a:ea typeface="黑体" panose="02010609060101010101" charset="-122"/>
              </a:rPr>
              <a:t>汇编语言源程序</a:t>
            </a:r>
            <a:r>
              <a:rPr lang="zh-CN" altLang="en-US" dirty="0">
                <a:solidFill>
                  <a:schemeClr val="tx1"/>
                </a:solidFill>
                <a:latin typeface="黑体" panose="02010609060101010101" charset="-122"/>
                <a:ea typeface="黑体" panose="02010609060101010101" charset="-122"/>
              </a:rPr>
              <a:t>文件转换为</a:t>
            </a:r>
            <a:r>
              <a:rPr lang="zh-CN" altLang="en-US" dirty="0">
                <a:solidFill>
                  <a:srgbClr val="53ABE2"/>
                </a:solidFill>
                <a:latin typeface="黑体" panose="02010609060101010101" charset="-122"/>
                <a:ea typeface="黑体" panose="02010609060101010101" charset="-122"/>
              </a:rPr>
              <a:t>可重定位的机器语言目标代码文件。</a:t>
            </a:r>
          </a:p>
          <a:p>
            <a:pPr marL="317500" lvl="1" indent="0" eaLnBrk="1" hangingPunct="1">
              <a:spcBef>
                <a:spcPct val="25000"/>
              </a:spcBef>
              <a:buFontTx/>
              <a:buNone/>
            </a:pPr>
            <a:r>
              <a:rPr lang="en-US" altLang="zh-CN" b="0" dirty="0">
                <a:solidFill>
                  <a:srgbClr val="DF664A"/>
                </a:solidFill>
                <a:latin typeface="黑体" panose="02010609060101010101" charset="-122"/>
                <a:ea typeface="黑体" panose="02010609060101010101" charset="-122"/>
                <a:cs typeface="黑体" panose="02010609060101010101" charset="-122"/>
              </a:rPr>
              <a:t>链接：</a:t>
            </a:r>
            <a:r>
              <a:rPr lang="zh-CN" altLang="en-US" dirty="0">
                <a:solidFill>
                  <a:schemeClr val="tx1"/>
                </a:solidFill>
                <a:latin typeface="黑体" panose="02010609060101010101" charset="-122"/>
                <a:ea typeface="黑体" panose="02010609060101010101" charset="-122"/>
              </a:rPr>
              <a:t>由链接器将多个可重定位的机器语言目标文件以及库例程（如</a:t>
            </a:r>
            <a:r>
              <a:rPr lang="en-US" altLang="zh-CN" dirty="0" err="1">
                <a:solidFill>
                  <a:schemeClr val="tx1"/>
                </a:solidFill>
                <a:latin typeface="黑体" panose="02010609060101010101" charset="-122"/>
                <a:ea typeface="黑体" panose="02010609060101010101" charset="-122"/>
              </a:rPr>
              <a:t>printf</a:t>
            </a:r>
            <a:r>
              <a:rPr lang="en-US" altLang="zh-CN" dirty="0">
                <a:solidFill>
                  <a:schemeClr val="tx1"/>
                </a:solidFill>
                <a:latin typeface="黑体" panose="02010609060101010101" charset="-122"/>
                <a:ea typeface="黑体" panose="02010609060101010101" charset="-122"/>
              </a:rPr>
              <a:t>()</a:t>
            </a:r>
            <a:r>
              <a:rPr lang="zh-CN" altLang="en-US" dirty="0">
                <a:solidFill>
                  <a:schemeClr val="tx1"/>
                </a:solidFill>
                <a:latin typeface="黑体" panose="02010609060101010101" charset="-122"/>
                <a:ea typeface="黑体" panose="02010609060101010101" charset="-122"/>
              </a:rPr>
              <a:t>库函数）链接起来，生成最终的</a:t>
            </a:r>
            <a:r>
              <a:rPr lang="zh-CN" altLang="en-US" dirty="0">
                <a:solidFill>
                  <a:srgbClr val="53ABE2"/>
                </a:solidFill>
                <a:latin typeface="黑体" panose="02010609060101010101" charset="-122"/>
                <a:ea typeface="黑体" panose="02010609060101010101" charset="-122"/>
              </a:rPr>
              <a:t>可执行目标文件。 </a:t>
            </a:r>
          </a:p>
        </p:txBody>
      </p:sp>
      <p:sp>
        <p:nvSpPr>
          <p:cNvPr id="551945" name="Text Box 9"/>
          <p:cNvSpPr txBox="1">
            <a:spLocks noChangeArrowheads="1"/>
          </p:cNvSpPr>
          <p:nvPr/>
        </p:nvSpPr>
        <p:spPr bwMode="auto">
          <a:xfrm>
            <a:off x="0" y="838359"/>
            <a:ext cx="4083844" cy="398780"/>
          </a:xfrm>
          <a:prstGeom prst="rect">
            <a:avLst/>
          </a:prstGeom>
          <a:noFill/>
          <a:ln w="9525">
            <a:noFill/>
            <a:miter lim="800000"/>
          </a:ln>
          <a:effectLst/>
        </p:spPr>
        <p:txBody>
          <a:bodyPr>
            <a:spAutoFit/>
          </a:bodyPr>
          <a:lstStyle/>
          <a:p>
            <a:pPr eaLnBrk="1" hangingPunct="1">
              <a:spcBef>
                <a:spcPct val="50000"/>
              </a:spcBef>
            </a:pPr>
            <a:r>
              <a:rPr lang="en-US" altLang="zh-CN" sz="2000" dirty="0">
                <a:solidFill>
                  <a:srgbClr val="DF664A"/>
                </a:solidFill>
                <a:latin typeface="黑体" panose="02010609060101010101" charset="-122"/>
                <a:cs typeface="黑体" panose="02010609060101010101" charset="-122"/>
              </a:rPr>
              <a:t>用GCC编译器套件进行转换的过程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500"/>
                                        <p:tgtEl>
                                          <p:spTgt spid="10"/>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12"/>
                                        </p:tgtEl>
                                        <p:attrNameLst>
                                          <p:attrName>style.visibility</p:attrName>
                                        </p:attrNameLst>
                                      </p:cBhvr>
                                      <p:to>
                                        <p:strVal val="visible"/>
                                      </p:to>
                                    </p:set>
                                    <p:anim by="(-#ppt_w*2)" calcmode="lin" valueType="num">
                                      <p:cBhvr rctx="PPT">
                                        <p:cTn id="20" dur="500" autoRev="1" fill="hold">
                                          <p:stCondLst>
                                            <p:cond delay="0"/>
                                          </p:stCondLst>
                                        </p:cTn>
                                        <p:tgtEl>
                                          <p:spTgt spid="12"/>
                                        </p:tgtEl>
                                        <p:attrNameLst>
                                          <p:attrName>ppt_w</p:attrName>
                                        </p:attrNameLst>
                                      </p:cBhvr>
                                    </p:anim>
                                    <p:anim by="(#ppt_w*0.50)" calcmode="lin" valueType="num">
                                      <p:cBhvr>
                                        <p:cTn id="21" dur="500" decel="50000" autoRev="1" fill="hold">
                                          <p:stCondLst>
                                            <p:cond delay="0"/>
                                          </p:stCondLst>
                                        </p:cTn>
                                        <p:tgtEl>
                                          <p:spTgt spid="12"/>
                                        </p:tgtEl>
                                        <p:attrNameLst>
                                          <p:attrName>ppt_x</p:attrName>
                                        </p:attrNameLst>
                                      </p:cBhvr>
                                    </p:anim>
                                    <p:anim from="(-#ppt_h/2)" to="(#ppt_y)" calcmode="lin" valueType="num">
                                      <p:cBhvr>
                                        <p:cTn id="22" dur="1000" fill="hold">
                                          <p:stCondLst>
                                            <p:cond delay="0"/>
                                          </p:stCondLst>
                                        </p:cTn>
                                        <p:tgtEl>
                                          <p:spTgt spid="12"/>
                                        </p:tgtEl>
                                        <p:attrNameLst>
                                          <p:attrName>ppt_y</p:attrName>
                                        </p:attrNameLst>
                                      </p:cBhvr>
                                    </p:anim>
                                    <p:animRot by="21600000">
                                      <p:cBhvr>
                                        <p:cTn id="23" dur="1000" fill="hold">
                                          <p:stCondLst>
                                            <p:cond delay="0"/>
                                          </p:stCondLst>
                                        </p:cTn>
                                        <p:tgtEl>
                                          <p:spTgt spid="12"/>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12"/>
                                        </p:tgtEl>
                                        <p:attrNameLst>
                                          <p:attrName>style.visibility</p:attrName>
                                        </p:attrNameLst>
                                      </p:cBhvr>
                                      <p:to>
                                        <p:strVal val="visible"/>
                                      </p:to>
                                    </p:set>
                                    <p:anim calcmode="lin" valueType="num">
                                      <p:cBhvr>
                                        <p:cTn id="26" dur="10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12"/>
                                        </p:tgtEl>
                                        <p:attrNameLst>
                                          <p:attrName>ppt_y</p:attrName>
                                        </p:attrNameLst>
                                      </p:cBhvr>
                                      <p:tavLst>
                                        <p:tav tm="0">
                                          <p:val>
                                            <p:strVal val="#ppt_y"/>
                                          </p:val>
                                        </p:tav>
                                        <p:tav tm="100000">
                                          <p:val>
                                            <p:strVal val="#ppt_y"/>
                                          </p:val>
                                        </p:tav>
                                      </p:tavLst>
                                    </p:anim>
                                    <p:anim calcmode="lin" valueType="num">
                                      <p:cBhvr>
                                        <p:cTn id="28" dur="10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551941">
                                            <p:txEl>
                                              <p:pRg st="0" end="0"/>
                                            </p:txEl>
                                          </p:spTgt>
                                        </p:tgtEl>
                                        <p:attrNameLst>
                                          <p:attrName>style.visibility</p:attrName>
                                        </p:attrNameLst>
                                      </p:cBhvr>
                                      <p:to>
                                        <p:strVal val="visible"/>
                                      </p:to>
                                    </p:set>
                                    <p:animEffect transition="in" filter="blinds(horizontal)">
                                      <p:cBhvr>
                                        <p:cTn id="35" dur="500"/>
                                        <p:tgtEl>
                                          <p:spTgt spid="551941">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551941">
                                            <p:txEl>
                                              <p:pRg st="1" end="1"/>
                                            </p:txEl>
                                          </p:spTgt>
                                        </p:tgtEl>
                                        <p:attrNameLst>
                                          <p:attrName>style.visibility</p:attrName>
                                        </p:attrNameLst>
                                      </p:cBhvr>
                                      <p:to>
                                        <p:strVal val="visible"/>
                                      </p:to>
                                    </p:set>
                                    <p:animEffect transition="in" filter="blinds(horizontal)">
                                      <p:cBhvr>
                                        <p:cTn id="40" dur="500"/>
                                        <p:tgtEl>
                                          <p:spTgt spid="551941">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551941">
                                            <p:txEl>
                                              <p:pRg st="2" end="2"/>
                                            </p:txEl>
                                          </p:spTgt>
                                        </p:tgtEl>
                                        <p:attrNameLst>
                                          <p:attrName>style.visibility</p:attrName>
                                        </p:attrNameLst>
                                      </p:cBhvr>
                                      <p:to>
                                        <p:strVal val="visible"/>
                                      </p:to>
                                    </p:set>
                                    <p:animEffect transition="in" filter="blinds(horizontal)">
                                      <p:cBhvr>
                                        <p:cTn id="45" dur="500"/>
                                        <p:tgtEl>
                                          <p:spTgt spid="551941">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551941">
                                            <p:txEl>
                                              <p:pRg st="3" end="3"/>
                                            </p:txEl>
                                          </p:spTgt>
                                        </p:tgtEl>
                                        <p:attrNameLst>
                                          <p:attrName>style.visibility</p:attrName>
                                        </p:attrNameLst>
                                      </p:cBhvr>
                                      <p:to>
                                        <p:strVal val="visible"/>
                                      </p:to>
                                    </p:set>
                                    <p:animEffect transition="in" filter="blinds(horizontal)">
                                      <p:cBhvr>
                                        <p:cTn id="50" dur="500"/>
                                        <p:tgtEl>
                                          <p:spTgt spid="55194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p:bldP spid="1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3642"/>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865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48499" name="Rectangle 19"/>
          <p:cNvSpPr>
            <a:spLocks noGrp="1" noChangeArrowheads="1"/>
          </p:cNvSpPr>
          <p:nvPr/>
        </p:nvSpPr>
        <p:spPr>
          <a:xfrm>
            <a:off x="-317" y="371475"/>
            <a:ext cx="8307387" cy="146367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560705" lvl="1" indent="-222250" defTabSz="895350">
              <a:buClr>
                <a:srgbClr val="0D0D0D"/>
              </a:buClr>
              <a:tabLst>
                <a:tab pos="2286000" algn="l"/>
                <a:tab pos="3543300" algn="l"/>
              </a:tabLst>
            </a:pPr>
            <a:r>
              <a:rPr lang="zh-CN" altLang="en-US" dirty="0"/>
              <a:t>代码文件：</a:t>
            </a:r>
            <a:r>
              <a:rPr lang="en-US" dirty="0"/>
              <a:t>  </a:t>
            </a:r>
            <a:r>
              <a:rPr lang="en-US" b="1" dirty="0">
                <a:latin typeface="Courier New" panose="02070309020205020404" charset="0"/>
              </a:rPr>
              <a:t>p1.c p2.c</a:t>
            </a:r>
            <a:endParaRPr lang="en-US" b="1" dirty="0">
              <a:latin typeface="Courier" pitchFamily="49" charset="0"/>
            </a:endParaRPr>
          </a:p>
          <a:p>
            <a:pPr marL="560705" lvl="1" indent="-222250" defTabSz="895350">
              <a:buClr>
                <a:srgbClr val="000000"/>
              </a:buClr>
              <a:tabLst>
                <a:tab pos="2286000" algn="l"/>
                <a:tab pos="3543300" algn="l"/>
              </a:tabLst>
            </a:pPr>
            <a:r>
              <a:rPr lang="zh-CN" altLang="en-US" dirty="0"/>
              <a:t>用命令编译</a:t>
            </a:r>
            <a:r>
              <a:rPr lang="en-US" dirty="0"/>
              <a:t>:  </a:t>
            </a:r>
            <a:r>
              <a:rPr lang="en-US" b="1" dirty="0" err="1">
                <a:latin typeface="Courier New" panose="02070309020205020404" charset="0"/>
              </a:rPr>
              <a:t>gcc</a:t>
            </a:r>
            <a:r>
              <a:rPr lang="en-US" b="1" dirty="0">
                <a:latin typeface="Courier New" panose="02070309020205020404" charset="0"/>
              </a:rPr>
              <a:t> –</a:t>
            </a:r>
            <a:r>
              <a:rPr lang="en-US" b="1" dirty="0" err="1">
                <a:latin typeface="Courier New" panose="02070309020205020404" charset="0"/>
              </a:rPr>
              <a:t>Og</a:t>
            </a:r>
            <a:r>
              <a:rPr lang="en-US" b="1" dirty="0">
                <a:latin typeface="Courier New" panose="02070309020205020404" charset="0"/>
              </a:rPr>
              <a:t> p1.c p2.c -o p</a:t>
            </a:r>
            <a:endParaRPr lang="en-US" b="1" dirty="0">
              <a:latin typeface="Courier" pitchFamily="49" charset="0"/>
            </a:endParaRPr>
          </a:p>
          <a:p>
            <a:pPr marL="840105" lvl="2" indent="-165100" defTabSz="895350">
              <a:tabLst>
                <a:tab pos="2286000" algn="l"/>
                <a:tab pos="3543300" algn="l"/>
              </a:tabLst>
            </a:pPr>
            <a:r>
              <a:rPr lang="zh-CN" altLang="en-US" dirty="0"/>
              <a:t>使用基本优化 (</a:t>
            </a:r>
            <a:r>
              <a:rPr lang="en-US" b="1" dirty="0">
                <a:solidFill>
                  <a:schemeClr val="tx1"/>
                </a:solidFill>
                <a:latin typeface="Courier New" panose="02070309020205020404" charset="0"/>
              </a:rPr>
              <a:t>-Og</a:t>
            </a:r>
            <a:r>
              <a:rPr lang="zh-CN" altLang="en-US" dirty="0"/>
              <a:t>) [ GCC新版本]</a:t>
            </a:r>
          </a:p>
          <a:p>
            <a:pPr marL="840105" lvl="2" indent="-165100" defTabSz="895350">
              <a:tabLst>
                <a:tab pos="2286000" algn="l"/>
                <a:tab pos="3543300" algn="l"/>
              </a:tabLst>
            </a:pPr>
            <a:r>
              <a:rPr lang="zh-CN" altLang="en-US" dirty="0"/>
              <a:t>将生成的二进制结果放入文件</a:t>
            </a:r>
            <a:r>
              <a:rPr lang="en-US" dirty="0"/>
              <a:t>p</a:t>
            </a:r>
          </a:p>
        </p:txBody>
      </p:sp>
      <p:sp>
        <p:nvSpPr>
          <p:cNvPr id="148482" name="Rectangle 2"/>
          <p:cNvSpPr>
            <a:spLocks noChangeArrowheads="1"/>
          </p:cNvSpPr>
          <p:nvPr/>
        </p:nvSpPr>
        <p:spPr bwMode="auto">
          <a:xfrm>
            <a:off x="885825" y="2019300"/>
            <a:ext cx="727075" cy="365760"/>
          </a:xfrm>
          <a:prstGeom prst="rect">
            <a:avLst/>
          </a:prstGeom>
          <a:noFill/>
          <a:ln w="12700">
            <a:noFill/>
            <a:miter lim="800000"/>
          </a:ln>
          <a:effectLst/>
        </p:spPr>
        <p:txBody>
          <a:bodyPr lIns="90487" tIns="44450" rIns="90487" bIns="44450">
            <a:spAutoFit/>
          </a:bodyPr>
          <a:lstStyle/>
          <a:p>
            <a:pPr algn="r">
              <a:lnSpc>
                <a:spcPct val="100000"/>
              </a:lnSpc>
            </a:pPr>
            <a:r>
              <a:rPr lang="en-US" i="1" dirty="0">
                <a:latin typeface="Calibri" panose="020F0502020204030204" charset="0"/>
              </a:rPr>
              <a:t>text</a:t>
            </a:r>
          </a:p>
        </p:txBody>
      </p:sp>
      <p:sp>
        <p:nvSpPr>
          <p:cNvPr id="148483" name="Rectangle 3"/>
          <p:cNvSpPr>
            <a:spLocks noChangeArrowheads="1"/>
          </p:cNvSpPr>
          <p:nvPr/>
        </p:nvSpPr>
        <p:spPr bwMode="auto">
          <a:xfrm>
            <a:off x="885825" y="3160400"/>
            <a:ext cx="727075" cy="365760"/>
          </a:xfrm>
          <a:prstGeom prst="rect">
            <a:avLst/>
          </a:prstGeom>
          <a:noFill/>
          <a:ln w="12700">
            <a:noFill/>
            <a:miter lim="800000"/>
          </a:ln>
          <a:effectLst/>
        </p:spPr>
        <p:txBody>
          <a:bodyPr lIns="90487" tIns="44450" rIns="90487" bIns="44450">
            <a:spAutoFit/>
          </a:bodyPr>
          <a:lstStyle/>
          <a:p>
            <a:pPr algn="r">
              <a:lnSpc>
                <a:spcPct val="100000"/>
              </a:lnSpc>
            </a:pPr>
            <a:r>
              <a:rPr lang="en-US" i="1" dirty="0">
                <a:latin typeface="Calibri" panose="020F0502020204030204" charset="0"/>
              </a:rPr>
              <a:t>text</a:t>
            </a:r>
          </a:p>
        </p:txBody>
      </p:sp>
      <p:sp>
        <p:nvSpPr>
          <p:cNvPr id="148484" name="Rectangle 4"/>
          <p:cNvSpPr>
            <a:spLocks noChangeArrowheads="1"/>
          </p:cNvSpPr>
          <p:nvPr/>
        </p:nvSpPr>
        <p:spPr bwMode="auto">
          <a:xfrm>
            <a:off x="612775" y="4229100"/>
            <a:ext cx="1000125" cy="365760"/>
          </a:xfrm>
          <a:prstGeom prst="rect">
            <a:avLst/>
          </a:prstGeom>
          <a:noFill/>
          <a:ln w="12700">
            <a:noFill/>
            <a:miter lim="800000"/>
          </a:ln>
          <a:effectLst/>
        </p:spPr>
        <p:txBody>
          <a:bodyPr lIns="90487" tIns="44450" rIns="90487" bIns="44450">
            <a:spAutoFit/>
          </a:bodyPr>
          <a:lstStyle/>
          <a:p>
            <a:pPr algn="r">
              <a:lnSpc>
                <a:spcPct val="100000"/>
              </a:lnSpc>
            </a:pPr>
            <a:r>
              <a:rPr lang="en-US" i="1" dirty="0">
                <a:latin typeface="Calibri" panose="020F0502020204030204" charset="0"/>
              </a:rPr>
              <a:t>binary</a:t>
            </a:r>
          </a:p>
        </p:txBody>
      </p:sp>
      <p:sp>
        <p:nvSpPr>
          <p:cNvPr id="148485" name="Rectangle 5"/>
          <p:cNvSpPr>
            <a:spLocks noChangeArrowheads="1"/>
          </p:cNvSpPr>
          <p:nvPr/>
        </p:nvSpPr>
        <p:spPr bwMode="auto">
          <a:xfrm>
            <a:off x="612775" y="5372100"/>
            <a:ext cx="1000125" cy="365760"/>
          </a:xfrm>
          <a:prstGeom prst="rect">
            <a:avLst/>
          </a:prstGeom>
          <a:noFill/>
          <a:ln w="12700">
            <a:noFill/>
            <a:miter lim="800000"/>
          </a:ln>
          <a:effectLst/>
        </p:spPr>
        <p:txBody>
          <a:bodyPr lIns="90487" tIns="44450" rIns="90487" bIns="44450">
            <a:spAutoFit/>
          </a:bodyPr>
          <a:lstStyle/>
          <a:p>
            <a:pPr algn="r">
              <a:lnSpc>
                <a:spcPct val="100000"/>
              </a:lnSpc>
            </a:pPr>
            <a:r>
              <a:rPr lang="en-US" i="1" dirty="0">
                <a:latin typeface="Calibri" panose="020F0502020204030204" charset="0"/>
              </a:rPr>
              <a:t>binary</a:t>
            </a:r>
          </a:p>
        </p:txBody>
      </p:sp>
      <p:sp>
        <p:nvSpPr>
          <p:cNvPr id="148486" name="Line 6"/>
          <p:cNvSpPr>
            <a:spLocks noChangeShapeType="1"/>
          </p:cNvSpPr>
          <p:nvPr/>
        </p:nvSpPr>
        <p:spPr bwMode="auto">
          <a:xfrm>
            <a:off x="3773805" y="2482215"/>
            <a:ext cx="635" cy="542925"/>
          </a:xfrm>
          <a:prstGeom prst="line">
            <a:avLst/>
          </a:prstGeom>
          <a:noFill/>
          <a:ln w="28575">
            <a:solidFill>
              <a:schemeClr val="tx1"/>
            </a:solidFill>
            <a:round/>
            <a:tailEnd type="triangle" w="med" len="med"/>
          </a:ln>
          <a:effectLst/>
        </p:spPr>
        <p:txBody>
          <a:bodyPr wrap="square" lIns="90487" tIns="44450" rIns="90487" bIns="44450">
            <a:spAutoFit/>
          </a:bodyPr>
          <a:lstStyle/>
          <a:p>
            <a:endParaRPr lang="en-US" dirty="0">
              <a:latin typeface="Calibri" panose="020F0502020204030204" charset="0"/>
            </a:endParaRPr>
          </a:p>
        </p:txBody>
      </p:sp>
      <p:sp>
        <p:nvSpPr>
          <p:cNvPr id="148487" name="Rectangle 7"/>
          <p:cNvSpPr>
            <a:spLocks noChangeArrowheads="1"/>
          </p:cNvSpPr>
          <p:nvPr/>
        </p:nvSpPr>
        <p:spPr bwMode="auto">
          <a:xfrm>
            <a:off x="4079874" y="2628900"/>
            <a:ext cx="3032125" cy="396240"/>
          </a:xfrm>
          <a:prstGeom prst="rect">
            <a:avLst/>
          </a:prstGeom>
          <a:noFill/>
          <a:ln w="12700">
            <a:noFill/>
            <a:miter lim="800000"/>
          </a:ln>
          <a:effectLst/>
        </p:spPr>
        <p:txBody>
          <a:bodyPr wrap="square" lIns="90487" tIns="44450" rIns="90487" bIns="44450">
            <a:spAutoFit/>
          </a:bodyPr>
          <a:lstStyle/>
          <a:p>
            <a:pPr algn="l">
              <a:lnSpc>
                <a:spcPct val="100000"/>
              </a:lnSpc>
            </a:pPr>
            <a:r>
              <a:rPr lang="en-US" sz="2000" dirty="0">
                <a:latin typeface="Calibri" panose="020F0502020204030204" charset="0"/>
              </a:rPr>
              <a:t>编译器 (</a:t>
            </a:r>
            <a:r>
              <a:rPr lang="en-US" sz="2000" dirty="0" err="1">
                <a:latin typeface="Courier New" panose="02070309020205020404" charset="0"/>
              </a:rPr>
              <a:t>gcc</a:t>
            </a:r>
            <a:r>
              <a:rPr lang="en-US" sz="2000" dirty="0">
                <a:latin typeface="Courier New" panose="02070309020205020404" charset="0"/>
              </a:rPr>
              <a:t> –</a:t>
            </a:r>
            <a:r>
              <a:rPr lang="en-US" sz="2000" dirty="0" err="1">
                <a:latin typeface="Courier New" panose="02070309020205020404" charset="0"/>
              </a:rPr>
              <a:t>Og</a:t>
            </a:r>
            <a:r>
              <a:rPr lang="en-US" sz="2000" dirty="0">
                <a:latin typeface="Courier New" panose="02070309020205020404" charset="0"/>
              </a:rPr>
              <a:t> -S</a:t>
            </a:r>
            <a:r>
              <a:rPr lang="en-US" sz="2000" dirty="0">
                <a:latin typeface="Calibri" panose="020F0502020204030204" charset="0"/>
              </a:rPr>
              <a:t>)</a:t>
            </a:r>
          </a:p>
        </p:txBody>
      </p:sp>
      <p:sp>
        <p:nvSpPr>
          <p:cNvPr id="148488" name="Rectangle 8"/>
          <p:cNvSpPr>
            <a:spLocks noChangeArrowheads="1"/>
          </p:cNvSpPr>
          <p:nvPr/>
        </p:nvSpPr>
        <p:spPr bwMode="auto">
          <a:xfrm>
            <a:off x="4064000" y="3695700"/>
            <a:ext cx="3048000" cy="396240"/>
          </a:xfrm>
          <a:prstGeom prst="rect">
            <a:avLst/>
          </a:prstGeom>
          <a:noFill/>
          <a:ln w="12700">
            <a:noFill/>
            <a:miter lim="800000"/>
          </a:ln>
          <a:effectLst/>
        </p:spPr>
        <p:txBody>
          <a:bodyPr lIns="90487" tIns="44450" rIns="90487" bIns="44450">
            <a:spAutoFit/>
          </a:bodyPr>
          <a:lstStyle/>
          <a:p>
            <a:pPr algn="l">
              <a:lnSpc>
                <a:spcPct val="100000"/>
              </a:lnSpc>
            </a:pPr>
            <a:r>
              <a:rPr lang="en-US" sz="2000" dirty="0">
                <a:latin typeface="Calibri" panose="020F0502020204030204" charset="0"/>
              </a:rPr>
              <a:t>汇编</a:t>
            </a:r>
            <a:r>
              <a:rPr lang="zh-CN" altLang="en-US" sz="2000" dirty="0">
                <a:latin typeface="Calibri" panose="020F0502020204030204" charset="0"/>
              </a:rPr>
              <a:t>器</a:t>
            </a:r>
            <a:r>
              <a:rPr lang="en-US" sz="2000" dirty="0">
                <a:latin typeface="Calibri" panose="020F0502020204030204" charset="0"/>
              </a:rPr>
              <a:t> (</a:t>
            </a:r>
            <a:r>
              <a:rPr lang="en-US" sz="2000" dirty="0" err="1">
                <a:latin typeface="Courier New" panose="02070309020205020404" charset="0"/>
              </a:rPr>
              <a:t>gcc</a:t>
            </a:r>
            <a:r>
              <a:rPr lang="en-US" sz="2000" dirty="0">
                <a:latin typeface="Calibri" panose="020F0502020204030204" charset="0"/>
              </a:rPr>
              <a:t> or </a:t>
            </a:r>
            <a:r>
              <a:rPr lang="en-US" sz="2000" dirty="0">
                <a:latin typeface="Courier New" panose="02070309020205020404" charset="0"/>
              </a:rPr>
              <a:t>as</a:t>
            </a:r>
            <a:r>
              <a:rPr lang="en-US" sz="2000" dirty="0">
                <a:latin typeface="Calibri" panose="020F0502020204030204" charset="0"/>
              </a:rPr>
              <a:t>)</a:t>
            </a:r>
          </a:p>
        </p:txBody>
      </p:sp>
      <p:sp>
        <p:nvSpPr>
          <p:cNvPr id="148489" name="Rectangle 9"/>
          <p:cNvSpPr>
            <a:spLocks noChangeArrowheads="1"/>
          </p:cNvSpPr>
          <p:nvPr/>
        </p:nvSpPr>
        <p:spPr bwMode="auto">
          <a:xfrm>
            <a:off x="4079875" y="4838700"/>
            <a:ext cx="2638425" cy="396240"/>
          </a:xfrm>
          <a:prstGeom prst="rect">
            <a:avLst/>
          </a:prstGeom>
          <a:noFill/>
          <a:ln w="12700">
            <a:noFill/>
            <a:miter lim="800000"/>
          </a:ln>
          <a:effectLst/>
        </p:spPr>
        <p:txBody>
          <a:bodyPr lIns="90487" tIns="44450" rIns="90487" bIns="44450">
            <a:spAutoFit/>
          </a:bodyPr>
          <a:lstStyle/>
          <a:p>
            <a:pPr algn="l">
              <a:lnSpc>
                <a:spcPct val="100000"/>
              </a:lnSpc>
            </a:pPr>
            <a:r>
              <a:rPr lang="zh-CN" altLang="en-US" sz="2000" dirty="0">
                <a:latin typeface="Calibri" panose="020F0502020204030204" charset="0"/>
              </a:rPr>
              <a:t>链接器</a:t>
            </a:r>
            <a:r>
              <a:rPr lang="en-US" sz="2000" dirty="0">
                <a:latin typeface="Calibri" panose="020F0502020204030204" charset="0"/>
              </a:rPr>
              <a:t> (</a:t>
            </a:r>
            <a:r>
              <a:rPr lang="en-US" sz="2000" dirty="0" err="1">
                <a:latin typeface="Courier New" panose="02070309020205020404" charset="0"/>
              </a:rPr>
              <a:t>gcc</a:t>
            </a:r>
            <a:r>
              <a:rPr lang="en-US" sz="2000" dirty="0">
                <a:latin typeface="Calibri" panose="020F0502020204030204" charset="0"/>
              </a:rPr>
              <a:t> or</a:t>
            </a:r>
            <a:r>
              <a:rPr lang="en-US" sz="2000" dirty="0">
                <a:latin typeface="Courier" pitchFamily="49" charset="0"/>
              </a:rPr>
              <a:t> </a:t>
            </a:r>
            <a:r>
              <a:rPr lang="en-US" sz="2000" dirty="0">
                <a:latin typeface="Courier New" panose="02070309020205020404" charset="0"/>
              </a:rPr>
              <a:t>ld</a:t>
            </a:r>
            <a:r>
              <a:rPr lang="en-US" sz="2000" dirty="0">
                <a:latin typeface="Calibri" panose="020F0502020204030204" charset="0"/>
              </a:rPr>
              <a:t>)</a:t>
            </a:r>
          </a:p>
        </p:txBody>
      </p:sp>
      <p:sp>
        <p:nvSpPr>
          <p:cNvPr id="148490" name="Rectangle 10"/>
          <p:cNvSpPr>
            <a:spLocks noChangeArrowheads="1"/>
          </p:cNvSpPr>
          <p:nvPr/>
        </p:nvSpPr>
        <p:spPr bwMode="auto">
          <a:xfrm>
            <a:off x="2157413" y="2084388"/>
            <a:ext cx="3263900" cy="396240"/>
          </a:xfrm>
          <a:prstGeom prst="rect">
            <a:avLst/>
          </a:prstGeom>
          <a:solidFill>
            <a:srgbClr val="F6F5BD"/>
          </a:solidFill>
          <a:ln w="28575">
            <a:solidFill>
              <a:schemeClr val="tx1"/>
            </a:solidFill>
            <a:miter lim="800000"/>
          </a:ln>
          <a:effectLst/>
        </p:spPr>
        <p:txBody>
          <a:bodyPr lIns="90487" tIns="44450" rIns="90487" bIns="44450">
            <a:spAutoFit/>
          </a:bodyPr>
          <a:lstStyle/>
          <a:p>
            <a:pPr algn="ctr">
              <a:lnSpc>
                <a:spcPct val="100000"/>
              </a:lnSpc>
            </a:pPr>
            <a:r>
              <a:rPr lang="en-US" sz="2000" dirty="0">
                <a:latin typeface="Calibri" panose="020F0502020204030204" charset="0"/>
              </a:rPr>
              <a:t>C </a:t>
            </a:r>
            <a:r>
              <a:rPr lang="zh-CN" altLang="en-US" sz="2000" dirty="0">
                <a:latin typeface="Calibri" panose="020F0502020204030204" charset="0"/>
              </a:rPr>
              <a:t>程序</a:t>
            </a:r>
            <a:r>
              <a:rPr lang="en-US" sz="2000" dirty="0">
                <a:latin typeface="Calibri" panose="020F0502020204030204" charset="0"/>
              </a:rPr>
              <a:t> (</a:t>
            </a:r>
            <a:r>
              <a:rPr lang="en-US" sz="2000" dirty="0">
                <a:latin typeface="Courier New" panose="02070309020205020404" charset="0"/>
              </a:rPr>
              <a:t>p1.c p2.c</a:t>
            </a:r>
            <a:r>
              <a:rPr lang="en-US" sz="2000" dirty="0">
                <a:latin typeface="Calibri" panose="020F0502020204030204" charset="0"/>
              </a:rPr>
              <a:t>)</a:t>
            </a:r>
          </a:p>
        </p:txBody>
      </p:sp>
      <p:sp>
        <p:nvSpPr>
          <p:cNvPr id="148491" name="Rectangle 11"/>
          <p:cNvSpPr>
            <a:spLocks noChangeArrowheads="1"/>
          </p:cNvSpPr>
          <p:nvPr/>
        </p:nvSpPr>
        <p:spPr bwMode="auto">
          <a:xfrm>
            <a:off x="2043113" y="3162300"/>
            <a:ext cx="3492500" cy="396240"/>
          </a:xfrm>
          <a:prstGeom prst="rect">
            <a:avLst/>
          </a:prstGeom>
          <a:solidFill>
            <a:srgbClr val="F6F5BD"/>
          </a:solidFill>
          <a:ln w="28575">
            <a:solidFill>
              <a:schemeClr val="tx1"/>
            </a:solidFill>
            <a:miter lim="800000"/>
          </a:ln>
          <a:effectLst/>
        </p:spPr>
        <p:txBody>
          <a:bodyPr lIns="90487" tIns="44450" rIns="90487" bIns="44450">
            <a:spAutoFit/>
          </a:bodyPr>
          <a:lstStyle/>
          <a:p>
            <a:pPr algn="ctr">
              <a:lnSpc>
                <a:spcPct val="100000"/>
              </a:lnSpc>
            </a:pPr>
            <a:r>
              <a:rPr lang="en-US" sz="2000" dirty="0" err="1">
                <a:latin typeface="Calibri" panose="020F0502020204030204" charset="0"/>
              </a:rPr>
              <a:t>Asm</a:t>
            </a:r>
            <a:r>
              <a:rPr lang="en-US" sz="2000" dirty="0">
                <a:latin typeface="Calibri" panose="020F0502020204030204" charset="0"/>
              </a:rPr>
              <a:t> </a:t>
            </a:r>
            <a:r>
              <a:rPr lang="zh-CN" altLang="en-US" sz="2000" dirty="0">
                <a:latin typeface="Calibri" panose="020F0502020204030204" charset="0"/>
              </a:rPr>
              <a:t>程序</a:t>
            </a:r>
            <a:r>
              <a:rPr lang="en-US" sz="2000" dirty="0">
                <a:latin typeface="Calibri" panose="020F0502020204030204" charset="0"/>
              </a:rPr>
              <a:t> (</a:t>
            </a:r>
            <a:r>
              <a:rPr lang="en-US" sz="2000" dirty="0">
                <a:latin typeface="Courier New" panose="02070309020205020404" charset="0"/>
              </a:rPr>
              <a:t>p1.s p2.s</a:t>
            </a:r>
            <a:r>
              <a:rPr lang="en-US" sz="2000" dirty="0">
                <a:latin typeface="Calibri" panose="020F0502020204030204" charset="0"/>
              </a:rPr>
              <a:t>)</a:t>
            </a:r>
          </a:p>
        </p:txBody>
      </p:sp>
      <p:sp>
        <p:nvSpPr>
          <p:cNvPr id="148492" name="Rectangle 12"/>
          <p:cNvSpPr>
            <a:spLocks noChangeArrowheads="1"/>
          </p:cNvSpPr>
          <p:nvPr/>
        </p:nvSpPr>
        <p:spPr bwMode="auto">
          <a:xfrm>
            <a:off x="1928813" y="4305300"/>
            <a:ext cx="3721100" cy="396240"/>
          </a:xfrm>
          <a:prstGeom prst="rect">
            <a:avLst/>
          </a:prstGeom>
          <a:solidFill>
            <a:schemeClr val="accent2">
              <a:lumMod val="20000"/>
              <a:lumOff val="80000"/>
            </a:schemeClr>
          </a:solidFill>
          <a:ln w="28575">
            <a:solidFill>
              <a:schemeClr val="tx1"/>
            </a:solidFill>
            <a:miter lim="800000"/>
          </a:ln>
          <a:effectLst/>
        </p:spPr>
        <p:txBody>
          <a:bodyPr lIns="90487" tIns="44450" rIns="90487" bIns="44450">
            <a:spAutoFit/>
          </a:bodyPr>
          <a:lstStyle/>
          <a:p>
            <a:pPr algn="ctr">
              <a:lnSpc>
                <a:spcPct val="100000"/>
              </a:lnSpc>
            </a:pPr>
            <a:r>
              <a:rPr lang="zh-CN" altLang="en-US" sz="2000" dirty="0">
                <a:latin typeface="Calibri" panose="020F0502020204030204" charset="0"/>
              </a:rPr>
              <a:t>目标程序</a:t>
            </a:r>
            <a:r>
              <a:rPr lang="en-US" sz="2000" dirty="0">
                <a:latin typeface="Calibri" panose="020F0502020204030204" charset="0"/>
              </a:rPr>
              <a:t> (</a:t>
            </a:r>
            <a:r>
              <a:rPr lang="en-US" sz="2000" dirty="0">
                <a:latin typeface="Courier New" panose="02070309020205020404" charset="0"/>
              </a:rPr>
              <a:t>p1.o p2.o</a:t>
            </a:r>
            <a:r>
              <a:rPr lang="en-US" sz="2000" dirty="0">
                <a:latin typeface="Calibri" panose="020F0502020204030204" charset="0"/>
              </a:rPr>
              <a:t>)</a:t>
            </a:r>
          </a:p>
        </p:txBody>
      </p:sp>
      <p:sp>
        <p:nvSpPr>
          <p:cNvPr id="148493" name="Rectangle 13"/>
          <p:cNvSpPr>
            <a:spLocks noChangeArrowheads="1"/>
          </p:cNvSpPr>
          <p:nvPr/>
        </p:nvSpPr>
        <p:spPr bwMode="auto">
          <a:xfrm>
            <a:off x="1915319" y="5448300"/>
            <a:ext cx="3748088" cy="396240"/>
          </a:xfrm>
          <a:prstGeom prst="rect">
            <a:avLst/>
          </a:prstGeom>
          <a:solidFill>
            <a:srgbClr val="FF9999"/>
          </a:solidFill>
          <a:ln w="28575">
            <a:solidFill>
              <a:schemeClr val="tx1"/>
            </a:solidFill>
            <a:miter lim="800000"/>
          </a:ln>
          <a:effectLst/>
        </p:spPr>
        <p:txBody>
          <a:bodyPr lIns="90487" tIns="44450" rIns="90487" bIns="44450">
            <a:spAutoFit/>
          </a:bodyPr>
          <a:lstStyle/>
          <a:p>
            <a:pPr algn="ctr">
              <a:lnSpc>
                <a:spcPct val="100000"/>
              </a:lnSpc>
            </a:pPr>
            <a:r>
              <a:rPr lang="zh-CN" altLang="en-US" sz="2000" dirty="0">
                <a:latin typeface="Calibri" panose="020F0502020204030204" charset="0"/>
              </a:rPr>
              <a:t>可执行程序</a:t>
            </a:r>
            <a:r>
              <a:rPr lang="en-US" sz="2000" dirty="0">
                <a:latin typeface="Calibri" panose="020F0502020204030204" charset="0"/>
              </a:rPr>
              <a:t> (</a:t>
            </a:r>
            <a:r>
              <a:rPr lang="en-US" sz="2000" dirty="0">
                <a:latin typeface="Courier New" panose="02070309020205020404" charset="0"/>
              </a:rPr>
              <a:t>p</a:t>
            </a:r>
            <a:r>
              <a:rPr lang="en-US" sz="2000" dirty="0">
                <a:latin typeface="Calibri" panose="020F0502020204030204" charset="0"/>
              </a:rPr>
              <a:t>)</a:t>
            </a:r>
          </a:p>
        </p:txBody>
      </p:sp>
      <p:sp>
        <p:nvSpPr>
          <p:cNvPr id="148494" name="Line 14"/>
          <p:cNvSpPr>
            <a:spLocks noChangeShapeType="1"/>
          </p:cNvSpPr>
          <p:nvPr/>
        </p:nvSpPr>
        <p:spPr bwMode="auto">
          <a:xfrm>
            <a:off x="3773805" y="3558540"/>
            <a:ext cx="635" cy="670560"/>
          </a:xfrm>
          <a:prstGeom prst="line">
            <a:avLst/>
          </a:prstGeom>
          <a:noFill/>
          <a:ln w="28575">
            <a:solidFill>
              <a:schemeClr val="tx1"/>
            </a:solidFill>
            <a:round/>
            <a:tailEnd type="triangle" w="med" len="med"/>
          </a:ln>
          <a:effectLst/>
        </p:spPr>
        <p:txBody>
          <a:bodyPr wrap="square" lIns="90487" tIns="44450" rIns="90487" bIns="44450">
            <a:spAutoFit/>
          </a:bodyPr>
          <a:lstStyle/>
          <a:p>
            <a:endParaRPr lang="en-US" dirty="0">
              <a:latin typeface="Calibri" panose="020F0502020204030204" charset="0"/>
            </a:endParaRPr>
          </a:p>
        </p:txBody>
      </p:sp>
      <p:sp>
        <p:nvSpPr>
          <p:cNvPr id="148495" name="Line 15"/>
          <p:cNvSpPr>
            <a:spLocks noChangeShapeType="1"/>
          </p:cNvSpPr>
          <p:nvPr/>
        </p:nvSpPr>
        <p:spPr bwMode="auto">
          <a:xfrm>
            <a:off x="3773805" y="4702810"/>
            <a:ext cx="635" cy="668655"/>
          </a:xfrm>
          <a:prstGeom prst="line">
            <a:avLst/>
          </a:prstGeom>
          <a:noFill/>
          <a:ln w="28575">
            <a:solidFill>
              <a:schemeClr val="tx1"/>
            </a:solidFill>
            <a:round/>
            <a:tailEnd type="triangle" w="med" len="med"/>
          </a:ln>
          <a:effectLst/>
        </p:spPr>
        <p:txBody>
          <a:bodyPr wrap="square" lIns="90487" tIns="44450" rIns="90487" bIns="44450">
            <a:spAutoFit/>
          </a:bodyPr>
          <a:lstStyle/>
          <a:p>
            <a:endParaRPr lang="en-US" dirty="0">
              <a:latin typeface="Calibri" panose="020F0502020204030204" charset="0"/>
            </a:endParaRPr>
          </a:p>
        </p:txBody>
      </p:sp>
      <p:sp>
        <p:nvSpPr>
          <p:cNvPr id="148496" name="Rectangle 16"/>
          <p:cNvSpPr>
            <a:spLocks noChangeArrowheads="1"/>
          </p:cNvSpPr>
          <p:nvPr/>
        </p:nvSpPr>
        <p:spPr bwMode="auto">
          <a:xfrm>
            <a:off x="6718300" y="4838700"/>
            <a:ext cx="2044700" cy="396240"/>
          </a:xfrm>
          <a:prstGeom prst="rect">
            <a:avLst/>
          </a:prstGeom>
          <a:solidFill>
            <a:schemeClr val="accent2">
              <a:lumMod val="20000"/>
              <a:lumOff val="80000"/>
            </a:schemeClr>
          </a:solidFill>
          <a:ln w="28575">
            <a:solidFill>
              <a:schemeClr val="tx1"/>
            </a:solidFill>
            <a:miter lim="800000"/>
          </a:ln>
          <a:effectLst/>
        </p:spPr>
        <p:txBody>
          <a:bodyPr lIns="90487" tIns="44450" rIns="90487" bIns="44450">
            <a:spAutoFit/>
          </a:bodyPr>
          <a:lstStyle/>
          <a:p>
            <a:pPr algn="ctr">
              <a:lnSpc>
                <a:spcPct val="100000"/>
              </a:lnSpc>
            </a:pPr>
            <a:r>
              <a:rPr lang="zh-CN" altLang="en-US" sz="2000" dirty="0">
                <a:latin typeface="Calibri" panose="020F0502020204030204" charset="0"/>
              </a:rPr>
              <a:t>静态库</a:t>
            </a:r>
            <a:r>
              <a:rPr lang="en-US" sz="2000" dirty="0">
                <a:latin typeface="Calibri" panose="020F0502020204030204" charset="0"/>
              </a:rPr>
              <a:t>(</a:t>
            </a:r>
            <a:r>
              <a:rPr lang="en-US" sz="2000" dirty="0">
                <a:latin typeface="Courier New" panose="02070309020205020404" charset="0"/>
              </a:rPr>
              <a:t>.a</a:t>
            </a:r>
            <a:r>
              <a:rPr lang="en-US" sz="2000" dirty="0">
                <a:latin typeface="Calibri" panose="020F0502020204030204" charset="0"/>
              </a:rPr>
              <a:t>)</a:t>
            </a:r>
          </a:p>
        </p:txBody>
      </p:sp>
      <p:sp>
        <p:nvSpPr>
          <p:cNvPr id="148497" name="Line 17"/>
          <p:cNvSpPr>
            <a:spLocks noChangeShapeType="1"/>
          </p:cNvSpPr>
          <p:nvPr/>
        </p:nvSpPr>
        <p:spPr bwMode="auto">
          <a:xfrm flipH="1">
            <a:off x="5727383" y="5234940"/>
            <a:ext cx="990600" cy="365760"/>
          </a:xfrm>
          <a:prstGeom prst="line">
            <a:avLst/>
          </a:prstGeom>
          <a:noFill/>
          <a:ln w="28575">
            <a:solidFill>
              <a:schemeClr val="tx1"/>
            </a:solidFill>
            <a:round/>
            <a:tailEnd type="triangle" w="med" len="med"/>
          </a:ln>
          <a:effectLst/>
        </p:spPr>
        <p:txBody>
          <a:bodyPr lIns="90487" tIns="44450" rIns="90487" bIns="44450">
            <a:spAutoFit/>
          </a:bodyPr>
          <a:lstStyle/>
          <a:p>
            <a:endParaRPr lang="en-US" dirty="0">
              <a:latin typeface="Calibri" panose="020F050202020403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177619" y="543136"/>
            <a:ext cx="2498725"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t>GCC使用举例</a:t>
            </a:r>
          </a:p>
        </p:txBody>
      </p:sp>
      <p:grpSp>
        <p:nvGrpSpPr>
          <p:cNvPr id="4" name="组合 3"/>
          <p:cNvGrpSpPr/>
          <p:nvPr/>
        </p:nvGrpSpPr>
        <p:grpSpPr>
          <a:xfrm>
            <a:off x="3971657" y="637760"/>
            <a:ext cx="975830" cy="975830"/>
            <a:chOff x="2262782" y="1446400"/>
            <a:chExt cx="1301106" cy="1301106"/>
          </a:xfrm>
        </p:grpSpPr>
        <p:sp>
          <p:nvSpPr>
            <p:cNvPr id="5" name="椭圆 4"/>
            <p:cNvSpPr/>
            <p:nvPr/>
          </p:nvSpPr>
          <p:spPr>
            <a:xfrm>
              <a:off x="2262782" y="1446400"/>
              <a:ext cx="1301106" cy="130110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2569626" y="1834674"/>
              <a:ext cx="687417" cy="585444"/>
            </a:xfrm>
            <a:custGeom>
              <a:avLst/>
              <a:gdLst>
                <a:gd name="T0" fmla="*/ 432030 w 2125663"/>
                <a:gd name="T1" fmla="*/ 1344893 h 1811338"/>
                <a:gd name="T2" fmla="*/ 462740 w 2125663"/>
                <a:gd name="T3" fmla="*/ 1477960 h 1811338"/>
                <a:gd name="T4" fmla="*/ 513638 w 2125663"/>
                <a:gd name="T5" fmla="*/ 1557743 h 1811338"/>
                <a:gd name="T6" fmla="*/ 516481 w 2125663"/>
                <a:gd name="T7" fmla="*/ 1336346 h 1811338"/>
                <a:gd name="T8" fmla="*/ 503401 w 2125663"/>
                <a:gd name="T9" fmla="*/ 1310416 h 1811338"/>
                <a:gd name="T10" fmla="*/ 515913 w 2125663"/>
                <a:gd name="T11" fmla="*/ 1250009 h 1811338"/>
                <a:gd name="T12" fmla="*/ 618846 w 2125663"/>
                <a:gd name="T13" fmla="*/ 1242885 h 1811338"/>
                <a:gd name="T14" fmla="*/ 643583 w 2125663"/>
                <a:gd name="T15" fmla="*/ 1263116 h 1811338"/>
                <a:gd name="T16" fmla="*/ 642446 w 2125663"/>
                <a:gd name="T17" fmla="*/ 1324948 h 1811338"/>
                <a:gd name="T18" fmla="*/ 619414 w 2125663"/>
                <a:gd name="T19" fmla="*/ 1342899 h 1811338"/>
                <a:gd name="T20" fmla="*/ 664057 w 2125663"/>
                <a:gd name="T21" fmla="*/ 1524691 h 1811338"/>
                <a:gd name="T22" fmla="*/ 704434 w 2125663"/>
                <a:gd name="T23" fmla="*/ 1417553 h 1811338"/>
                <a:gd name="T24" fmla="*/ 725191 w 2125663"/>
                <a:gd name="T25" fmla="*/ 1259697 h 1811338"/>
                <a:gd name="T26" fmla="*/ 857412 w 2125663"/>
                <a:gd name="T27" fmla="*/ 1192451 h 1811338"/>
                <a:gd name="T28" fmla="*/ 923096 w 2125663"/>
                <a:gd name="T29" fmla="*/ 1212682 h 1811338"/>
                <a:gd name="T30" fmla="*/ 970013 w 2125663"/>
                <a:gd name="T31" fmla="*/ 1259697 h 1811338"/>
                <a:gd name="T32" fmla="*/ 990201 w 2125663"/>
                <a:gd name="T33" fmla="*/ 1325233 h 1811338"/>
                <a:gd name="T34" fmla="*/ 980818 w 2125663"/>
                <a:gd name="T35" fmla="*/ 1537228 h 1811338"/>
                <a:gd name="T36" fmla="*/ 935891 w 2125663"/>
                <a:gd name="T37" fmla="*/ 1570566 h 1811338"/>
                <a:gd name="T38" fmla="*/ 798837 w 2125663"/>
                <a:gd name="T39" fmla="*/ 1607608 h 1811338"/>
                <a:gd name="T40" fmla="*/ 617424 w 2125663"/>
                <a:gd name="T41" fmla="*/ 1622140 h 1811338"/>
                <a:gd name="T42" fmla="*/ 428049 w 2125663"/>
                <a:gd name="T43" fmla="*/ 1615872 h 1811338"/>
                <a:gd name="T44" fmla="*/ 264551 w 2125663"/>
                <a:gd name="T45" fmla="*/ 1588232 h 1811338"/>
                <a:gd name="T46" fmla="*/ 180669 w 2125663"/>
                <a:gd name="T47" fmla="*/ 1549481 h 1811338"/>
                <a:gd name="T48" fmla="*/ 159912 w 2125663"/>
                <a:gd name="T49" fmla="*/ 1517283 h 1811338"/>
                <a:gd name="T50" fmla="*/ 167873 w 2125663"/>
                <a:gd name="T51" fmla="*/ 1284201 h 1811338"/>
                <a:gd name="T52" fmla="*/ 205123 w 2125663"/>
                <a:gd name="T53" fmla="*/ 1228638 h 1811338"/>
                <a:gd name="T54" fmla="*/ 264266 w 2125663"/>
                <a:gd name="T55" fmla="*/ 1196440 h 1811338"/>
                <a:gd name="T56" fmla="*/ 421225 w 2125663"/>
                <a:gd name="T57" fmla="*/ 1183048 h 1811338"/>
                <a:gd name="T58" fmla="*/ 433514 w 2125663"/>
                <a:gd name="T59" fmla="*/ 761303 h 1811338"/>
                <a:gd name="T60" fmla="*/ 391450 w 2125663"/>
                <a:gd name="T61" fmla="*/ 813630 h 1811338"/>
                <a:gd name="T62" fmla="*/ 379229 w 2125663"/>
                <a:gd name="T63" fmla="*/ 902075 h 1811338"/>
                <a:gd name="T64" fmla="*/ 414756 w 2125663"/>
                <a:gd name="T65" fmla="*/ 1016114 h 1811338"/>
                <a:gd name="T66" fmla="*/ 487516 w 2125663"/>
                <a:gd name="T67" fmla="*/ 1099439 h 1811338"/>
                <a:gd name="T68" fmla="*/ 567666 w 2125663"/>
                <a:gd name="T69" fmla="*/ 1135272 h 1811338"/>
                <a:gd name="T70" fmla="*/ 645542 w 2125663"/>
                <a:gd name="T71" fmla="*/ 1111099 h 1811338"/>
                <a:gd name="T72" fmla="*/ 722282 w 2125663"/>
                <a:gd name="T73" fmla="*/ 1035452 h 1811338"/>
                <a:gd name="T74" fmla="*/ 767757 w 2125663"/>
                <a:gd name="T75" fmla="*/ 926248 h 1811338"/>
                <a:gd name="T76" fmla="*/ 666290 w 2125663"/>
                <a:gd name="T77" fmla="*/ 863967 h 1811338"/>
                <a:gd name="T78" fmla="*/ 546918 w 2125663"/>
                <a:gd name="T79" fmla="*/ 832116 h 1811338"/>
                <a:gd name="T80" fmla="*/ 484389 w 2125663"/>
                <a:gd name="T81" fmla="*/ 790595 h 1811338"/>
                <a:gd name="T82" fmla="*/ 452273 w 2125663"/>
                <a:gd name="T83" fmla="*/ 760734 h 1811338"/>
                <a:gd name="T84" fmla="*/ 568234 w 2125663"/>
                <a:gd name="T85" fmla="*/ 587258 h 1811338"/>
                <a:gd name="T86" fmla="*/ 631616 w 2125663"/>
                <a:gd name="T87" fmla="*/ 594937 h 1811338"/>
                <a:gd name="T88" fmla="*/ 705513 w 2125663"/>
                <a:gd name="T89" fmla="*/ 631054 h 1811338"/>
                <a:gd name="T90" fmla="*/ 790210 w 2125663"/>
                <a:gd name="T91" fmla="*/ 732864 h 1811338"/>
                <a:gd name="T92" fmla="*/ 826306 w 2125663"/>
                <a:gd name="T93" fmla="*/ 873920 h 1811338"/>
                <a:gd name="T94" fmla="*/ 818064 w 2125663"/>
                <a:gd name="T95" fmla="*/ 959237 h 1811338"/>
                <a:gd name="T96" fmla="*/ 780831 w 2125663"/>
                <a:gd name="T97" fmla="*/ 1048534 h 1811338"/>
                <a:gd name="T98" fmla="*/ 687607 w 2125663"/>
                <a:gd name="T99" fmla="*/ 1148922 h 1811338"/>
                <a:gd name="T100" fmla="*/ 588983 w 2125663"/>
                <a:gd name="T101" fmla="*/ 1190727 h 1811338"/>
                <a:gd name="T102" fmla="*/ 525033 w 2125663"/>
                <a:gd name="T103" fmla="*/ 1182480 h 1811338"/>
                <a:gd name="T104" fmla="*/ 421293 w 2125663"/>
                <a:gd name="T105" fmla="*/ 1115081 h 1811338"/>
                <a:gd name="T106" fmla="*/ 345406 w 2125663"/>
                <a:gd name="T107" fmla="*/ 1002463 h 1811338"/>
                <a:gd name="T108" fmla="*/ 325511 w 2125663"/>
                <a:gd name="T109" fmla="*/ 929092 h 1811338"/>
                <a:gd name="T110" fmla="*/ 330627 w 2125663"/>
                <a:gd name="T111" fmla="*/ 813915 h 1811338"/>
                <a:gd name="T112" fmla="*/ 388324 w 2125663"/>
                <a:gd name="T113" fmla="*/ 686510 h 1811338"/>
                <a:gd name="T114" fmla="*/ 482400 w 2125663"/>
                <a:gd name="T115" fmla="*/ 608303 h 1811338"/>
                <a:gd name="T116" fmla="*/ 542939 w 2125663"/>
                <a:gd name="T117" fmla="*/ 589534 h 1811338"/>
                <a:gd name="T118" fmla="*/ 0 w 2125663"/>
                <a:gd name="T119" fmla="*/ 0 h 1811338"/>
                <a:gd name="T120" fmla="*/ 174993 w 2125663"/>
                <a:gd name="T121" fmla="*/ 1118883 h 181133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2125663" h="1811338">
                  <a:moveTo>
                    <a:pt x="470017" y="1320800"/>
                  </a:moveTo>
                  <a:lnTo>
                    <a:pt x="470335" y="1343069"/>
                  </a:lnTo>
                  <a:lnTo>
                    <a:pt x="471286" y="1364382"/>
                  </a:lnTo>
                  <a:lnTo>
                    <a:pt x="472238" y="1385696"/>
                  </a:lnTo>
                  <a:lnTo>
                    <a:pt x="473190" y="1406374"/>
                  </a:lnTo>
                  <a:lnTo>
                    <a:pt x="474459" y="1426415"/>
                  </a:lnTo>
                  <a:lnTo>
                    <a:pt x="476363" y="1446139"/>
                  </a:lnTo>
                  <a:lnTo>
                    <a:pt x="478267" y="1464908"/>
                  </a:lnTo>
                  <a:lnTo>
                    <a:pt x="480170" y="1483677"/>
                  </a:lnTo>
                  <a:lnTo>
                    <a:pt x="482074" y="1501491"/>
                  </a:lnTo>
                  <a:lnTo>
                    <a:pt x="484612" y="1518988"/>
                  </a:lnTo>
                  <a:lnTo>
                    <a:pt x="487468" y="1535530"/>
                  </a:lnTo>
                  <a:lnTo>
                    <a:pt x="490323" y="1552072"/>
                  </a:lnTo>
                  <a:lnTo>
                    <a:pt x="493179" y="1567660"/>
                  </a:lnTo>
                  <a:lnTo>
                    <a:pt x="496352" y="1582611"/>
                  </a:lnTo>
                  <a:lnTo>
                    <a:pt x="500159" y="1597563"/>
                  </a:lnTo>
                  <a:lnTo>
                    <a:pt x="503649" y="1611560"/>
                  </a:lnTo>
                  <a:lnTo>
                    <a:pt x="507774" y="1624921"/>
                  </a:lnTo>
                  <a:lnTo>
                    <a:pt x="511899" y="1637646"/>
                  </a:lnTo>
                  <a:lnTo>
                    <a:pt x="516341" y="1650052"/>
                  </a:lnTo>
                  <a:lnTo>
                    <a:pt x="520783" y="1661505"/>
                  </a:lnTo>
                  <a:lnTo>
                    <a:pt x="525859" y="1672639"/>
                  </a:lnTo>
                  <a:lnTo>
                    <a:pt x="530936" y="1683137"/>
                  </a:lnTo>
                  <a:lnTo>
                    <a:pt x="536329" y="1692998"/>
                  </a:lnTo>
                  <a:lnTo>
                    <a:pt x="541723" y="1702224"/>
                  </a:lnTo>
                  <a:lnTo>
                    <a:pt x="547752" y="1710813"/>
                  </a:lnTo>
                  <a:lnTo>
                    <a:pt x="553463" y="1718766"/>
                  </a:lnTo>
                  <a:lnTo>
                    <a:pt x="559808" y="1726083"/>
                  </a:lnTo>
                  <a:lnTo>
                    <a:pt x="566154" y="1732763"/>
                  </a:lnTo>
                  <a:lnTo>
                    <a:pt x="573134" y="1739125"/>
                  </a:lnTo>
                  <a:lnTo>
                    <a:pt x="580114" y="1744215"/>
                  </a:lnTo>
                  <a:lnTo>
                    <a:pt x="587412" y="1749305"/>
                  </a:lnTo>
                  <a:lnTo>
                    <a:pt x="594709" y="1753123"/>
                  </a:lnTo>
                  <a:lnTo>
                    <a:pt x="594709" y="1499901"/>
                  </a:lnTo>
                  <a:lnTo>
                    <a:pt x="591537" y="1499264"/>
                  </a:lnTo>
                  <a:lnTo>
                    <a:pt x="588047" y="1498310"/>
                  </a:lnTo>
                  <a:lnTo>
                    <a:pt x="584874" y="1497038"/>
                  </a:lnTo>
                  <a:lnTo>
                    <a:pt x="582018" y="1495765"/>
                  </a:lnTo>
                  <a:lnTo>
                    <a:pt x="579163" y="1494175"/>
                  </a:lnTo>
                  <a:lnTo>
                    <a:pt x="576307" y="1491948"/>
                  </a:lnTo>
                  <a:lnTo>
                    <a:pt x="573769" y="1489721"/>
                  </a:lnTo>
                  <a:lnTo>
                    <a:pt x="571548" y="1487494"/>
                  </a:lnTo>
                  <a:lnTo>
                    <a:pt x="569327" y="1484949"/>
                  </a:lnTo>
                  <a:lnTo>
                    <a:pt x="567106" y="1482404"/>
                  </a:lnTo>
                  <a:lnTo>
                    <a:pt x="565519" y="1479223"/>
                  </a:lnTo>
                  <a:lnTo>
                    <a:pt x="564250" y="1476360"/>
                  </a:lnTo>
                  <a:lnTo>
                    <a:pt x="563298" y="1473179"/>
                  </a:lnTo>
                  <a:lnTo>
                    <a:pt x="562347" y="1469998"/>
                  </a:lnTo>
                  <a:lnTo>
                    <a:pt x="562029" y="1466180"/>
                  </a:lnTo>
                  <a:lnTo>
                    <a:pt x="561712" y="1462999"/>
                  </a:lnTo>
                  <a:lnTo>
                    <a:pt x="561712" y="1425143"/>
                  </a:lnTo>
                  <a:lnTo>
                    <a:pt x="562029" y="1421007"/>
                  </a:lnTo>
                  <a:lnTo>
                    <a:pt x="562664" y="1417508"/>
                  </a:lnTo>
                  <a:lnTo>
                    <a:pt x="563616" y="1414009"/>
                  </a:lnTo>
                  <a:lnTo>
                    <a:pt x="564885" y="1410191"/>
                  </a:lnTo>
                  <a:lnTo>
                    <a:pt x="566154" y="1407010"/>
                  </a:lnTo>
                  <a:lnTo>
                    <a:pt x="568375" y="1403829"/>
                  </a:lnTo>
                  <a:lnTo>
                    <a:pt x="570596" y="1400966"/>
                  </a:lnTo>
                  <a:lnTo>
                    <a:pt x="572817" y="1398103"/>
                  </a:lnTo>
                  <a:lnTo>
                    <a:pt x="575673" y="1395558"/>
                  </a:lnTo>
                  <a:lnTo>
                    <a:pt x="578528" y="1393649"/>
                  </a:lnTo>
                  <a:lnTo>
                    <a:pt x="581701" y="1391741"/>
                  </a:lnTo>
                  <a:lnTo>
                    <a:pt x="584874" y="1390150"/>
                  </a:lnTo>
                  <a:lnTo>
                    <a:pt x="588364" y="1388878"/>
                  </a:lnTo>
                  <a:lnTo>
                    <a:pt x="592171" y="1387605"/>
                  </a:lnTo>
                  <a:lnTo>
                    <a:pt x="595979" y="1386969"/>
                  </a:lnTo>
                  <a:lnTo>
                    <a:pt x="599786" y="1386969"/>
                  </a:lnTo>
                  <a:lnTo>
                    <a:pt x="682597" y="1386969"/>
                  </a:lnTo>
                  <a:lnTo>
                    <a:pt x="686721" y="1386969"/>
                  </a:lnTo>
                  <a:lnTo>
                    <a:pt x="690529" y="1387605"/>
                  </a:lnTo>
                  <a:lnTo>
                    <a:pt x="694019" y="1388878"/>
                  </a:lnTo>
                  <a:lnTo>
                    <a:pt x="697826" y="1390150"/>
                  </a:lnTo>
                  <a:lnTo>
                    <a:pt x="700999" y="1391741"/>
                  </a:lnTo>
                  <a:lnTo>
                    <a:pt x="704172" y="1393649"/>
                  </a:lnTo>
                  <a:lnTo>
                    <a:pt x="707345" y="1395558"/>
                  </a:lnTo>
                  <a:lnTo>
                    <a:pt x="709883" y="1398103"/>
                  </a:lnTo>
                  <a:lnTo>
                    <a:pt x="712104" y="1400966"/>
                  </a:lnTo>
                  <a:lnTo>
                    <a:pt x="714325" y="1403829"/>
                  </a:lnTo>
                  <a:lnTo>
                    <a:pt x="716229" y="1407010"/>
                  </a:lnTo>
                  <a:lnTo>
                    <a:pt x="718132" y="1410191"/>
                  </a:lnTo>
                  <a:lnTo>
                    <a:pt x="719402" y="1414009"/>
                  </a:lnTo>
                  <a:lnTo>
                    <a:pt x="720353" y="1417508"/>
                  </a:lnTo>
                  <a:lnTo>
                    <a:pt x="720671" y="1421007"/>
                  </a:lnTo>
                  <a:lnTo>
                    <a:pt x="720988" y="1425143"/>
                  </a:lnTo>
                  <a:lnTo>
                    <a:pt x="720988" y="1462999"/>
                  </a:lnTo>
                  <a:lnTo>
                    <a:pt x="720988" y="1466180"/>
                  </a:lnTo>
                  <a:lnTo>
                    <a:pt x="720353" y="1469998"/>
                  </a:lnTo>
                  <a:lnTo>
                    <a:pt x="719719" y="1473179"/>
                  </a:lnTo>
                  <a:lnTo>
                    <a:pt x="718450" y="1476360"/>
                  </a:lnTo>
                  <a:lnTo>
                    <a:pt x="716863" y="1479223"/>
                  </a:lnTo>
                  <a:lnTo>
                    <a:pt x="715277" y="1482404"/>
                  </a:lnTo>
                  <a:lnTo>
                    <a:pt x="713373" y="1484949"/>
                  </a:lnTo>
                  <a:lnTo>
                    <a:pt x="711469" y="1487494"/>
                  </a:lnTo>
                  <a:lnTo>
                    <a:pt x="708931" y="1489721"/>
                  </a:lnTo>
                  <a:lnTo>
                    <a:pt x="706710" y="1491948"/>
                  </a:lnTo>
                  <a:lnTo>
                    <a:pt x="703537" y="1494175"/>
                  </a:lnTo>
                  <a:lnTo>
                    <a:pt x="700682" y="1495765"/>
                  </a:lnTo>
                  <a:lnTo>
                    <a:pt x="697826" y="1497038"/>
                  </a:lnTo>
                  <a:lnTo>
                    <a:pt x="694653" y="1498310"/>
                  </a:lnTo>
                  <a:lnTo>
                    <a:pt x="691163" y="1499264"/>
                  </a:lnTo>
                  <a:lnTo>
                    <a:pt x="687991" y="1499901"/>
                  </a:lnTo>
                  <a:lnTo>
                    <a:pt x="687991" y="1753123"/>
                  </a:lnTo>
                  <a:lnTo>
                    <a:pt x="695605" y="1749305"/>
                  </a:lnTo>
                  <a:lnTo>
                    <a:pt x="702586" y="1744215"/>
                  </a:lnTo>
                  <a:lnTo>
                    <a:pt x="709566" y="1739125"/>
                  </a:lnTo>
                  <a:lnTo>
                    <a:pt x="716229" y="1732763"/>
                  </a:lnTo>
                  <a:lnTo>
                    <a:pt x="722892" y="1726083"/>
                  </a:lnTo>
                  <a:lnTo>
                    <a:pt x="729237" y="1718766"/>
                  </a:lnTo>
                  <a:lnTo>
                    <a:pt x="734948" y="1710813"/>
                  </a:lnTo>
                  <a:lnTo>
                    <a:pt x="740977" y="1702224"/>
                  </a:lnTo>
                  <a:lnTo>
                    <a:pt x="746371" y="1692998"/>
                  </a:lnTo>
                  <a:lnTo>
                    <a:pt x="751447" y="1683137"/>
                  </a:lnTo>
                  <a:lnTo>
                    <a:pt x="756841" y="1672639"/>
                  </a:lnTo>
                  <a:lnTo>
                    <a:pt x="761600" y="1661505"/>
                  </a:lnTo>
                  <a:lnTo>
                    <a:pt x="766359" y="1650052"/>
                  </a:lnTo>
                  <a:lnTo>
                    <a:pt x="770801" y="1637646"/>
                  </a:lnTo>
                  <a:lnTo>
                    <a:pt x="774926" y="1624921"/>
                  </a:lnTo>
                  <a:lnTo>
                    <a:pt x="779051" y="1611560"/>
                  </a:lnTo>
                  <a:lnTo>
                    <a:pt x="782541" y="1597563"/>
                  </a:lnTo>
                  <a:lnTo>
                    <a:pt x="786031" y="1582611"/>
                  </a:lnTo>
                  <a:lnTo>
                    <a:pt x="789521" y="1567660"/>
                  </a:lnTo>
                  <a:lnTo>
                    <a:pt x="792377" y="1552072"/>
                  </a:lnTo>
                  <a:lnTo>
                    <a:pt x="795232" y="1535530"/>
                  </a:lnTo>
                  <a:lnTo>
                    <a:pt x="797770" y="1518988"/>
                  </a:lnTo>
                  <a:lnTo>
                    <a:pt x="800626" y="1501491"/>
                  </a:lnTo>
                  <a:lnTo>
                    <a:pt x="802530" y="1483677"/>
                  </a:lnTo>
                  <a:lnTo>
                    <a:pt x="804751" y="1464908"/>
                  </a:lnTo>
                  <a:lnTo>
                    <a:pt x="806337" y="1446139"/>
                  </a:lnTo>
                  <a:lnTo>
                    <a:pt x="807923" y="1426415"/>
                  </a:lnTo>
                  <a:lnTo>
                    <a:pt x="809193" y="1406374"/>
                  </a:lnTo>
                  <a:lnTo>
                    <a:pt x="810779" y="1385696"/>
                  </a:lnTo>
                  <a:lnTo>
                    <a:pt x="811731" y="1364382"/>
                  </a:lnTo>
                  <a:lnTo>
                    <a:pt x="812365" y="1343069"/>
                  </a:lnTo>
                  <a:lnTo>
                    <a:pt x="813000" y="1320800"/>
                  </a:lnTo>
                  <a:lnTo>
                    <a:pt x="840921" y="1322709"/>
                  </a:lnTo>
                  <a:lnTo>
                    <a:pt x="866621" y="1324300"/>
                  </a:lnTo>
                  <a:lnTo>
                    <a:pt x="909771" y="1327481"/>
                  </a:lnTo>
                  <a:lnTo>
                    <a:pt x="938644" y="1330026"/>
                  </a:lnTo>
                  <a:lnTo>
                    <a:pt x="948797" y="1330980"/>
                  </a:lnTo>
                  <a:lnTo>
                    <a:pt x="956729" y="1331298"/>
                  </a:lnTo>
                  <a:lnTo>
                    <a:pt x="964661" y="1331934"/>
                  </a:lnTo>
                  <a:lnTo>
                    <a:pt x="972593" y="1332889"/>
                  </a:lnTo>
                  <a:lnTo>
                    <a:pt x="980208" y="1334161"/>
                  </a:lnTo>
                  <a:lnTo>
                    <a:pt x="987823" y="1335752"/>
                  </a:lnTo>
                  <a:lnTo>
                    <a:pt x="995437" y="1337979"/>
                  </a:lnTo>
                  <a:lnTo>
                    <a:pt x="1002418" y="1340205"/>
                  </a:lnTo>
                  <a:lnTo>
                    <a:pt x="1009715" y="1343387"/>
                  </a:lnTo>
                  <a:lnTo>
                    <a:pt x="1016378" y="1346250"/>
                  </a:lnTo>
                  <a:lnTo>
                    <a:pt x="1023358" y="1349749"/>
                  </a:lnTo>
                  <a:lnTo>
                    <a:pt x="1030021" y="1353885"/>
                  </a:lnTo>
                  <a:lnTo>
                    <a:pt x="1036050" y="1357702"/>
                  </a:lnTo>
                  <a:lnTo>
                    <a:pt x="1042395" y="1361837"/>
                  </a:lnTo>
                  <a:lnTo>
                    <a:pt x="1048106" y="1366927"/>
                  </a:lnTo>
                  <a:lnTo>
                    <a:pt x="1053817" y="1371699"/>
                  </a:lnTo>
                  <a:lnTo>
                    <a:pt x="1059211" y="1377107"/>
                  </a:lnTo>
                  <a:lnTo>
                    <a:pt x="1064605" y="1382197"/>
                  </a:lnTo>
                  <a:lnTo>
                    <a:pt x="1069364" y="1388241"/>
                  </a:lnTo>
                  <a:lnTo>
                    <a:pt x="1073806" y="1393967"/>
                  </a:lnTo>
                  <a:lnTo>
                    <a:pt x="1078248" y="1400012"/>
                  </a:lnTo>
                  <a:lnTo>
                    <a:pt x="1082373" y="1406374"/>
                  </a:lnTo>
                  <a:lnTo>
                    <a:pt x="1085863" y="1413054"/>
                  </a:lnTo>
                  <a:lnTo>
                    <a:pt x="1089670" y="1419735"/>
                  </a:lnTo>
                  <a:lnTo>
                    <a:pt x="1092843" y="1426734"/>
                  </a:lnTo>
                  <a:lnTo>
                    <a:pt x="1095381" y="1433732"/>
                  </a:lnTo>
                  <a:lnTo>
                    <a:pt x="1097920" y="1441049"/>
                  </a:lnTo>
                  <a:lnTo>
                    <a:pt x="1100141" y="1448684"/>
                  </a:lnTo>
                  <a:lnTo>
                    <a:pt x="1101727" y="1456000"/>
                  </a:lnTo>
                  <a:lnTo>
                    <a:pt x="1103314" y="1463635"/>
                  </a:lnTo>
                  <a:lnTo>
                    <a:pt x="1104265" y="1471588"/>
                  </a:lnTo>
                  <a:lnTo>
                    <a:pt x="1104900" y="1479541"/>
                  </a:lnTo>
                  <a:lnTo>
                    <a:pt x="1104900" y="1487494"/>
                  </a:lnTo>
                  <a:lnTo>
                    <a:pt x="1104900" y="1686000"/>
                  </a:lnTo>
                  <a:lnTo>
                    <a:pt x="1104900" y="1690135"/>
                  </a:lnTo>
                  <a:lnTo>
                    <a:pt x="1104265" y="1693953"/>
                  </a:lnTo>
                  <a:lnTo>
                    <a:pt x="1103631" y="1697770"/>
                  </a:lnTo>
                  <a:lnTo>
                    <a:pt x="1102362" y="1701906"/>
                  </a:lnTo>
                  <a:lnTo>
                    <a:pt x="1101093" y="1705405"/>
                  </a:lnTo>
                  <a:lnTo>
                    <a:pt x="1099189" y="1709222"/>
                  </a:lnTo>
                  <a:lnTo>
                    <a:pt x="1096968" y="1713040"/>
                  </a:lnTo>
                  <a:lnTo>
                    <a:pt x="1094430" y="1716221"/>
                  </a:lnTo>
                  <a:lnTo>
                    <a:pt x="1091891" y="1719720"/>
                  </a:lnTo>
                  <a:lnTo>
                    <a:pt x="1089036" y="1722901"/>
                  </a:lnTo>
                  <a:lnTo>
                    <a:pt x="1085546" y="1726719"/>
                  </a:lnTo>
                  <a:lnTo>
                    <a:pt x="1082056" y="1729900"/>
                  </a:lnTo>
                  <a:lnTo>
                    <a:pt x="1078248" y="1732763"/>
                  </a:lnTo>
                  <a:lnTo>
                    <a:pt x="1074124" y="1736262"/>
                  </a:lnTo>
                  <a:lnTo>
                    <a:pt x="1069682" y="1739125"/>
                  </a:lnTo>
                  <a:lnTo>
                    <a:pt x="1065240" y="1741989"/>
                  </a:lnTo>
                  <a:lnTo>
                    <a:pt x="1055404" y="1748033"/>
                  </a:lnTo>
                  <a:lnTo>
                    <a:pt x="1044299" y="1753441"/>
                  </a:lnTo>
                  <a:lnTo>
                    <a:pt x="1032560" y="1758531"/>
                  </a:lnTo>
                  <a:lnTo>
                    <a:pt x="1019868" y="1763939"/>
                  </a:lnTo>
                  <a:lnTo>
                    <a:pt x="1005908" y="1768392"/>
                  </a:lnTo>
                  <a:lnTo>
                    <a:pt x="991630" y="1773164"/>
                  </a:lnTo>
                  <a:lnTo>
                    <a:pt x="976718" y="1777300"/>
                  </a:lnTo>
                  <a:lnTo>
                    <a:pt x="960854" y="1781117"/>
                  </a:lnTo>
                  <a:lnTo>
                    <a:pt x="944038" y="1784934"/>
                  </a:lnTo>
                  <a:lnTo>
                    <a:pt x="927222" y="1788434"/>
                  </a:lnTo>
                  <a:lnTo>
                    <a:pt x="909454" y="1791615"/>
                  </a:lnTo>
                  <a:lnTo>
                    <a:pt x="891369" y="1794796"/>
                  </a:lnTo>
                  <a:lnTo>
                    <a:pt x="872332" y="1797341"/>
                  </a:lnTo>
                  <a:lnTo>
                    <a:pt x="853295" y="1799886"/>
                  </a:lnTo>
                  <a:lnTo>
                    <a:pt x="833941" y="1801795"/>
                  </a:lnTo>
                  <a:lnTo>
                    <a:pt x="813952" y="1804022"/>
                  </a:lnTo>
                  <a:lnTo>
                    <a:pt x="793328" y="1805930"/>
                  </a:lnTo>
                  <a:lnTo>
                    <a:pt x="773022" y="1807203"/>
                  </a:lnTo>
                  <a:lnTo>
                    <a:pt x="752399" y="1808475"/>
                  </a:lnTo>
                  <a:lnTo>
                    <a:pt x="731458" y="1809748"/>
                  </a:lnTo>
                  <a:lnTo>
                    <a:pt x="710200" y="1810384"/>
                  </a:lnTo>
                  <a:lnTo>
                    <a:pt x="688942" y="1811020"/>
                  </a:lnTo>
                  <a:lnTo>
                    <a:pt x="667684" y="1811338"/>
                  </a:lnTo>
                  <a:lnTo>
                    <a:pt x="646427" y="1811338"/>
                  </a:lnTo>
                  <a:lnTo>
                    <a:pt x="625486" y="1811338"/>
                  </a:lnTo>
                  <a:lnTo>
                    <a:pt x="603911" y="1811020"/>
                  </a:lnTo>
                  <a:lnTo>
                    <a:pt x="582653" y="1810384"/>
                  </a:lnTo>
                  <a:lnTo>
                    <a:pt x="561395" y="1809748"/>
                  </a:lnTo>
                  <a:lnTo>
                    <a:pt x="540137" y="1808475"/>
                  </a:lnTo>
                  <a:lnTo>
                    <a:pt x="518879" y="1807203"/>
                  </a:lnTo>
                  <a:lnTo>
                    <a:pt x="498573" y="1805930"/>
                  </a:lnTo>
                  <a:lnTo>
                    <a:pt x="477632" y="1804022"/>
                  </a:lnTo>
                  <a:lnTo>
                    <a:pt x="457326" y="1801795"/>
                  </a:lnTo>
                  <a:lnTo>
                    <a:pt x="437337" y="1799886"/>
                  </a:lnTo>
                  <a:lnTo>
                    <a:pt x="417983" y="1797341"/>
                  </a:lnTo>
                  <a:lnTo>
                    <a:pt x="398629" y="1794796"/>
                  </a:lnTo>
                  <a:lnTo>
                    <a:pt x="379909" y="1791615"/>
                  </a:lnTo>
                  <a:lnTo>
                    <a:pt x="361824" y="1788434"/>
                  </a:lnTo>
                  <a:lnTo>
                    <a:pt x="344056" y="1784934"/>
                  </a:lnTo>
                  <a:lnTo>
                    <a:pt x="327240" y="1781117"/>
                  </a:lnTo>
                  <a:lnTo>
                    <a:pt x="310741" y="1777300"/>
                  </a:lnTo>
                  <a:lnTo>
                    <a:pt x="295195" y="1773164"/>
                  </a:lnTo>
                  <a:lnTo>
                    <a:pt x="280600" y="1768392"/>
                  </a:lnTo>
                  <a:lnTo>
                    <a:pt x="266322" y="1763939"/>
                  </a:lnTo>
                  <a:lnTo>
                    <a:pt x="252996" y="1758531"/>
                  </a:lnTo>
                  <a:lnTo>
                    <a:pt x="240622" y="1753441"/>
                  </a:lnTo>
                  <a:lnTo>
                    <a:pt x="229517" y="1748033"/>
                  </a:lnTo>
                  <a:lnTo>
                    <a:pt x="219047" y="1741989"/>
                  </a:lnTo>
                  <a:lnTo>
                    <a:pt x="214288" y="1739125"/>
                  </a:lnTo>
                  <a:lnTo>
                    <a:pt x="209846" y="1736262"/>
                  </a:lnTo>
                  <a:lnTo>
                    <a:pt x="205404" y="1732763"/>
                  </a:lnTo>
                  <a:lnTo>
                    <a:pt x="201596" y="1729900"/>
                  </a:lnTo>
                  <a:lnTo>
                    <a:pt x="198106" y="1726719"/>
                  </a:lnTo>
                  <a:lnTo>
                    <a:pt x="194299" y="1722901"/>
                  </a:lnTo>
                  <a:lnTo>
                    <a:pt x="191443" y="1719720"/>
                  </a:lnTo>
                  <a:lnTo>
                    <a:pt x="188588" y="1716221"/>
                  </a:lnTo>
                  <a:lnTo>
                    <a:pt x="186367" y="1713040"/>
                  </a:lnTo>
                  <a:lnTo>
                    <a:pt x="183828" y="1709222"/>
                  </a:lnTo>
                  <a:lnTo>
                    <a:pt x="181925" y="1705405"/>
                  </a:lnTo>
                  <a:lnTo>
                    <a:pt x="180338" y="1701906"/>
                  </a:lnTo>
                  <a:lnTo>
                    <a:pt x="179386" y="1697770"/>
                  </a:lnTo>
                  <a:lnTo>
                    <a:pt x="178435" y="1693953"/>
                  </a:lnTo>
                  <a:lnTo>
                    <a:pt x="177800" y="1690135"/>
                  </a:lnTo>
                  <a:lnTo>
                    <a:pt x="177800" y="1686000"/>
                  </a:lnTo>
                  <a:lnTo>
                    <a:pt x="177800" y="1487494"/>
                  </a:lnTo>
                  <a:lnTo>
                    <a:pt x="178117" y="1479541"/>
                  </a:lnTo>
                  <a:lnTo>
                    <a:pt x="178435" y="1471588"/>
                  </a:lnTo>
                  <a:lnTo>
                    <a:pt x="179386" y="1463635"/>
                  </a:lnTo>
                  <a:lnTo>
                    <a:pt x="180973" y="1456000"/>
                  </a:lnTo>
                  <a:lnTo>
                    <a:pt x="182559" y="1448684"/>
                  </a:lnTo>
                  <a:lnTo>
                    <a:pt x="184463" y="1441049"/>
                  </a:lnTo>
                  <a:lnTo>
                    <a:pt x="187318" y="1433732"/>
                  </a:lnTo>
                  <a:lnTo>
                    <a:pt x="190174" y="1426734"/>
                  </a:lnTo>
                  <a:lnTo>
                    <a:pt x="193030" y="1419735"/>
                  </a:lnTo>
                  <a:lnTo>
                    <a:pt x="196520" y="1413054"/>
                  </a:lnTo>
                  <a:lnTo>
                    <a:pt x="200327" y="1406374"/>
                  </a:lnTo>
                  <a:lnTo>
                    <a:pt x="204452" y="1400012"/>
                  </a:lnTo>
                  <a:lnTo>
                    <a:pt x="208576" y="1393967"/>
                  </a:lnTo>
                  <a:lnTo>
                    <a:pt x="213336" y="1388241"/>
                  </a:lnTo>
                  <a:lnTo>
                    <a:pt x="218095" y="1382197"/>
                  </a:lnTo>
                  <a:lnTo>
                    <a:pt x="223489" y="1377107"/>
                  </a:lnTo>
                  <a:lnTo>
                    <a:pt x="228883" y="1371699"/>
                  </a:lnTo>
                  <a:lnTo>
                    <a:pt x="234594" y="1366927"/>
                  </a:lnTo>
                  <a:lnTo>
                    <a:pt x="240305" y="1361837"/>
                  </a:lnTo>
                  <a:lnTo>
                    <a:pt x="246650" y="1357702"/>
                  </a:lnTo>
                  <a:lnTo>
                    <a:pt x="252679" y="1353885"/>
                  </a:lnTo>
                  <a:lnTo>
                    <a:pt x="259659" y="1349749"/>
                  </a:lnTo>
                  <a:lnTo>
                    <a:pt x="266005" y="1346250"/>
                  </a:lnTo>
                  <a:lnTo>
                    <a:pt x="272985" y="1343387"/>
                  </a:lnTo>
                  <a:lnTo>
                    <a:pt x="280282" y="1340205"/>
                  </a:lnTo>
                  <a:lnTo>
                    <a:pt x="287263" y="1337979"/>
                  </a:lnTo>
                  <a:lnTo>
                    <a:pt x="294877" y="1335752"/>
                  </a:lnTo>
                  <a:lnTo>
                    <a:pt x="302492" y="1334161"/>
                  </a:lnTo>
                  <a:lnTo>
                    <a:pt x="310107" y="1332889"/>
                  </a:lnTo>
                  <a:lnTo>
                    <a:pt x="318039" y="1331934"/>
                  </a:lnTo>
                  <a:lnTo>
                    <a:pt x="325971" y="1331298"/>
                  </a:lnTo>
                  <a:lnTo>
                    <a:pt x="333903" y="1330980"/>
                  </a:lnTo>
                  <a:lnTo>
                    <a:pt x="344056" y="1330026"/>
                  </a:lnTo>
                  <a:lnTo>
                    <a:pt x="372929" y="1327481"/>
                  </a:lnTo>
                  <a:lnTo>
                    <a:pt x="415762" y="1324300"/>
                  </a:lnTo>
                  <a:lnTo>
                    <a:pt x="441779" y="1322709"/>
                  </a:lnTo>
                  <a:lnTo>
                    <a:pt x="470017" y="1320800"/>
                  </a:lnTo>
                  <a:close/>
                  <a:moveTo>
                    <a:pt x="1004887" y="995363"/>
                  </a:moveTo>
                  <a:lnTo>
                    <a:pt x="1176337" y="995363"/>
                  </a:lnTo>
                  <a:lnTo>
                    <a:pt x="1176337" y="1265238"/>
                  </a:lnTo>
                  <a:lnTo>
                    <a:pt x="1004887" y="1265238"/>
                  </a:lnTo>
                  <a:lnTo>
                    <a:pt x="1004887" y="995363"/>
                  </a:lnTo>
                  <a:close/>
                  <a:moveTo>
                    <a:pt x="493561" y="847408"/>
                  </a:moveTo>
                  <a:lnTo>
                    <a:pt x="491024" y="847726"/>
                  </a:lnTo>
                  <a:lnTo>
                    <a:pt x="488804" y="848043"/>
                  </a:lnTo>
                  <a:lnTo>
                    <a:pt x="485950" y="848996"/>
                  </a:lnTo>
                  <a:lnTo>
                    <a:pt x="483730" y="849948"/>
                  </a:lnTo>
                  <a:lnTo>
                    <a:pt x="481510" y="851218"/>
                  </a:lnTo>
                  <a:lnTo>
                    <a:pt x="479290" y="852806"/>
                  </a:lnTo>
                  <a:lnTo>
                    <a:pt x="475167" y="856933"/>
                  </a:lnTo>
                  <a:lnTo>
                    <a:pt x="470727" y="861061"/>
                  </a:lnTo>
                  <a:lnTo>
                    <a:pt x="466604" y="865823"/>
                  </a:lnTo>
                  <a:lnTo>
                    <a:pt x="462482" y="871221"/>
                  </a:lnTo>
                  <a:lnTo>
                    <a:pt x="454553" y="882651"/>
                  </a:lnTo>
                  <a:lnTo>
                    <a:pt x="448527" y="890906"/>
                  </a:lnTo>
                  <a:lnTo>
                    <a:pt x="442819" y="899478"/>
                  </a:lnTo>
                  <a:lnTo>
                    <a:pt x="436793" y="908368"/>
                  </a:lnTo>
                  <a:lnTo>
                    <a:pt x="431402" y="917893"/>
                  </a:lnTo>
                  <a:lnTo>
                    <a:pt x="429499" y="926783"/>
                  </a:lnTo>
                  <a:lnTo>
                    <a:pt x="427596" y="935673"/>
                  </a:lnTo>
                  <a:lnTo>
                    <a:pt x="426010" y="945198"/>
                  </a:lnTo>
                  <a:lnTo>
                    <a:pt x="424742" y="954406"/>
                  </a:lnTo>
                  <a:lnTo>
                    <a:pt x="423790" y="963931"/>
                  </a:lnTo>
                  <a:lnTo>
                    <a:pt x="423156" y="973773"/>
                  </a:lnTo>
                  <a:lnTo>
                    <a:pt x="422839" y="982981"/>
                  </a:lnTo>
                  <a:lnTo>
                    <a:pt x="422839" y="992823"/>
                  </a:lnTo>
                  <a:lnTo>
                    <a:pt x="423156" y="1007111"/>
                  </a:lnTo>
                  <a:lnTo>
                    <a:pt x="424107" y="1020764"/>
                  </a:lnTo>
                  <a:lnTo>
                    <a:pt x="426010" y="1034099"/>
                  </a:lnTo>
                  <a:lnTo>
                    <a:pt x="428547" y="1047434"/>
                  </a:lnTo>
                  <a:lnTo>
                    <a:pt x="432036" y="1060769"/>
                  </a:lnTo>
                  <a:lnTo>
                    <a:pt x="435525" y="1073469"/>
                  </a:lnTo>
                  <a:lnTo>
                    <a:pt x="439965" y="1086169"/>
                  </a:lnTo>
                  <a:lnTo>
                    <a:pt x="445039" y="1098551"/>
                  </a:lnTo>
                  <a:lnTo>
                    <a:pt x="450430" y="1110934"/>
                  </a:lnTo>
                  <a:lnTo>
                    <a:pt x="456456" y="1122999"/>
                  </a:lnTo>
                  <a:lnTo>
                    <a:pt x="462799" y="1134429"/>
                  </a:lnTo>
                  <a:lnTo>
                    <a:pt x="469459" y="1145541"/>
                  </a:lnTo>
                  <a:lnTo>
                    <a:pt x="477070" y="1156019"/>
                  </a:lnTo>
                  <a:lnTo>
                    <a:pt x="484364" y="1166496"/>
                  </a:lnTo>
                  <a:lnTo>
                    <a:pt x="492293" y="1176656"/>
                  </a:lnTo>
                  <a:lnTo>
                    <a:pt x="500539" y="1186181"/>
                  </a:lnTo>
                  <a:lnTo>
                    <a:pt x="508784" y="1195389"/>
                  </a:lnTo>
                  <a:lnTo>
                    <a:pt x="517347" y="1204279"/>
                  </a:lnTo>
                  <a:lnTo>
                    <a:pt x="526227" y="1212216"/>
                  </a:lnTo>
                  <a:lnTo>
                    <a:pt x="535107" y="1220154"/>
                  </a:lnTo>
                  <a:lnTo>
                    <a:pt x="543987" y="1227456"/>
                  </a:lnTo>
                  <a:lnTo>
                    <a:pt x="553184" y="1234124"/>
                  </a:lnTo>
                  <a:lnTo>
                    <a:pt x="562381" y="1240474"/>
                  </a:lnTo>
                  <a:lnTo>
                    <a:pt x="571578" y="1245871"/>
                  </a:lnTo>
                  <a:lnTo>
                    <a:pt x="580775" y="1250951"/>
                  </a:lnTo>
                  <a:lnTo>
                    <a:pt x="589655" y="1255079"/>
                  </a:lnTo>
                  <a:lnTo>
                    <a:pt x="598853" y="1258889"/>
                  </a:lnTo>
                  <a:lnTo>
                    <a:pt x="607732" y="1262381"/>
                  </a:lnTo>
                  <a:lnTo>
                    <a:pt x="616612" y="1264604"/>
                  </a:lnTo>
                  <a:lnTo>
                    <a:pt x="624858" y="1266509"/>
                  </a:lnTo>
                  <a:lnTo>
                    <a:pt x="633421" y="1267461"/>
                  </a:lnTo>
                  <a:lnTo>
                    <a:pt x="641349" y="1267779"/>
                  </a:lnTo>
                  <a:lnTo>
                    <a:pt x="649595" y="1267461"/>
                  </a:lnTo>
                  <a:lnTo>
                    <a:pt x="657524" y="1266509"/>
                  </a:lnTo>
                  <a:lnTo>
                    <a:pt x="666404" y="1264604"/>
                  </a:lnTo>
                  <a:lnTo>
                    <a:pt x="674967" y="1262381"/>
                  </a:lnTo>
                  <a:lnTo>
                    <a:pt x="684164" y="1258889"/>
                  </a:lnTo>
                  <a:lnTo>
                    <a:pt x="692726" y="1255079"/>
                  </a:lnTo>
                  <a:lnTo>
                    <a:pt x="701924" y="1250951"/>
                  </a:lnTo>
                  <a:lnTo>
                    <a:pt x="711121" y="1245871"/>
                  </a:lnTo>
                  <a:lnTo>
                    <a:pt x="720318" y="1240474"/>
                  </a:lnTo>
                  <a:lnTo>
                    <a:pt x="729515" y="1234124"/>
                  </a:lnTo>
                  <a:lnTo>
                    <a:pt x="738395" y="1227456"/>
                  </a:lnTo>
                  <a:lnTo>
                    <a:pt x="747592" y="1220154"/>
                  </a:lnTo>
                  <a:lnTo>
                    <a:pt x="756472" y="1212216"/>
                  </a:lnTo>
                  <a:lnTo>
                    <a:pt x="765352" y="1204279"/>
                  </a:lnTo>
                  <a:lnTo>
                    <a:pt x="773915" y="1195389"/>
                  </a:lnTo>
                  <a:lnTo>
                    <a:pt x="782160" y="1186181"/>
                  </a:lnTo>
                  <a:lnTo>
                    <a:pt x="790406" y="1176656"/>
                  </a:lnTo>
                  <a:lnTo>
                    <a:pt x="798652" y="1166496"/>
                  </a:lnTo>
                  <a:lnTo>
                    <a:pt x="805946" y="1156019"/>
                  </a:lnTo>
                  <a:lnTo>
                    <a:pt x="813240" y="1145541"/>
                  </a:lnTo>
                  <a:lnTo>
                    <a:pt x="819900" y="1134429"/>
                  </a:lnTo>
                  <a:lnTo>
                    <a:pt x="826243" y="1122999"/>
                  </a:lnTo>
                  <a:lnTo>
                    <a:pt x="831952" y="1110934"/>
                  </a:lnTo>
                  <a:lnTo>
                    <a:pt x="837660" y="1098551"/>
                  </a:lnTo>
                  <a:lnTo>
                    <a:pt x="842417" y="1086169"/>
                  </a:lnTo>
                  <a:lnTo>
                    <a:pt x="847174" y="1073469"/>
                  </a:lnTo>
                  <a:lnTo>
                    <a:pt x="850980" y="1060769"/>
                  </a:lnTo>
                  <a:lnTo>
                    <a:pt x="853834" y="1047434"/>
                  </a:lnTo>
                  <a:lnTo>
                    <a:pt x="856689" y="1034099"/>
                  </a:lnTo>
                  <a:lnTo>
                    <a:pt x="858592" y="1020764"/>
                  </a:lnTo>
                  <a:lnTo>
                    <a:pt x="859543" y="1007111"/>
                  </a:lnTo>
                  <a:lnTo>
                    <a:pt x="860177" y="992823"/>
                  </a:lnTo>
                  <a:lnTo>
                    <a:pt x="859860" y="984886"/>
                  </a:lnTo>
                  <a:lnTo>
                    <a:pt x="859543" y="976313"/>
                  </a:lnTo>
                  <a:lnTo>
                    <a:pt x="837343" y="975361"/>
                  </a:lnTo>
                  <a:lnTo>
                    <a:pt x="814509" y="973773"/>
                  </a:lnTo>
                  <a:lnTo>
                    <a:pt x="791040" y="970916"/>
                  </a:lnTo>
                  <a:lnTo>
                    <a:pt x="767255" y="968058"/>
                  </a:lnTo>
                  <a:lnTo>
                    <a:pt x="743469" y="964566"/>
                  </a:lnTo>
                  <a:lnTo>
                    <a:pt x="719366" y="960438"/>
                  </a:lnTo>
                  <a:lnTo>
                    <a:pt x="695898" y="955041"/>
                  </a:lnTo>
                  <a:lnTo>
                    <a:pt x="684481" y="952501"/>
                  </a:lnTo>
                  <a:lnTo>
                    <a:pt x="673064" y="949643"/>
                  </a:lnTo>
                  <a:lnTo>
                    <a:pt x="661964" y="946468"/>
                  </a:lnTo>
                  <a:lnTo>
                    <a:pt x="651181" y="943293"/>
                  </a:lnTo>
                  <a:lnTo>
                    <a:pt x="640398" y="940118"/>
                  </a:lnTo>
                  <a:lnTo>
                    <a:pt x="629932" y="936308"/>
                  </a:lnTo>
                  <a:lnTo>
                    <a:pt x="620101" y="932816"/>
                  </a:lnTo>
                  <a:lnTo>
                    <a:pt x="610270" y="929006"/>
                  </a:lnTo>
                  <a:lnTo>
                    <a:pt x="601073" y="924878"/>
                  </a:lnTo>
                  <a:lnTo>
                    <a:pt x="592510" y="921068"/>
                  </a:lnTo>
                  <a:lnTo>
                    <a:pt x="583947" y="916941"/>
                  </a:lnTo>
                  <a:lnTo>
                    <a:pt x="576018" y="912178"/>
                  </a:lnTo>
                  <a:lnTo>
                    <a:pt x="568724" y="907733"/>
                  </a:lnTo>
                  <a:lnTo>
                    <a:pt x="561747" y="903288"/>
                  </a:lnTo>
                  <a:lnTo>
                    <a:pt x="555404" y="898208"/>
                  </a:lnTo>
                  <a:lnTo>
                    <a:pt x="550013" y="893128"/>
                  </a:lnTo>
                  <a:lnTo>
                    <a:pt x="544938" y="887731"/>
                  </a:lnTo>
                  <a:lnTo>
                    <a:pt x="540498" y="882651"/>
                  </a:lnTo>
                  <a:lnTo>
                    <a:pt x="536376" y="876936"/>
                  </a:lnTo>
                  <a:lnTo>
                    <a:pt x="532253" y="872173"/>
                  </a:lnTo>
                  <a:lnTo>
                    <a:pt x="528447" y="867728"/>
                  </a:lnTo>
                  <a:lnTo>
                    <a:pt x="524641" y="863601"/>
                  </a:lnTo>
                  <a:lnTo>
                    <a:pt x="520836" y="860426"/>
                  </a:lnTo>
                  <a:lnTo>
                    <a:pt x="517347" y="857251"/>
                  </a:lnTo>
                  <a:lnTo>
                    <a:pt x="514176" y="854393"/>
                  </a:lnTo>
                  <a:lnTo>
                    <a:pt x="511004" y="852488"/>
                  </a:lnTo>
                  <a:lnTo>
                    <a:pt x="507833" y="850583"/>
                  </a:lnTo>
                  <a:lnTo>
                    <a:pt x="504661" y="849313"/>
                  </a:lnTo>
                  <a:lnTo>
                    <a:pt x="501807" y="848361"/>
                  </a:lnTo>
                  <a:lnTo>
                    <a:pt x="499270" y="847726"/>
                  </a:lnTo>
                  <a:lnTo>
                    <a:pt x="496099" y="847408"/>
                  </a:lnTo>
                  <a:lnTo>
                    <a:pt x="493561" y="847408"/>
                  </a:lnTo>
                  <a:close/>
                  <a:moveTo>
                    <a:pt x="1304925" y="828675"/>
                  </a:moveTo>
                  <a:lnTo>
                    <a:pt x="1476375" y="828675"/>
                  </a:lnTo>
                  <a:lnTo>
                    <a:pt x="1476375" y="1252538"/>
                  </a:lnTo>
                  <a:lnTo>
                    <a:pt x="1304925" y="1252538"/>
                  </a:lnTo>
                  <a:lnTo>
                    <a:pt x="1304925" y="828675"/>
                  </a:lnTo>
                  <a:close/>
                  <a:moveTo>
                    <a:pt x="634055" y="655638"/>
                  </a:moveTo>
                  <a:lnTo>
                    <a:pt x="641349" y="655638"/>
                  </a:lnTo>
                  <a:lnTo>
                    <a:pt x="648644" y="655638"/>
                  </a:lnTo>
                  <a:lnTo>
                    <a:pt x="655938" y="655956"/>
                  </a:lnTo>
                  <a:lnTo>
                    <a:pt x="662915" y="656591"/>
                  </a:lnTo>
                  <a:lnTo>
                    <a:pt x="669892" y="657226"/>
                  </a:lnTo>
                  <a:lnTo>
                    <a:pt x="677187" y="658178"/>
                  </a:lnTo>
                  <a:lnTo>
                    <a:pt x="684164" y="659766"/>
                  </a:lnTo>
                  <a:lnTo>
                    <a:pt x="691141" y="661036"/>
                  </a:lnTo>
                  <a:lnTo>
                    <a:pt x="698118" y="662623"/>
                  </a:lnTo>
                  <a:lnTo>
                    <a:pt x="704778" y="664211"/>
                  </a:lnTo>
                  <a:lnTo>
                    <a:pt x="711438" y="666433"/>
                  </a:lnTo>
                  <a:lnTo>
                    <a:pt x="718415" y="668338"/>
                  </a:lnTo>
                  <a:lnTo>
                    <a:pt x="724758" y="670878"/>
                  </a:lnTo>
                  <a:lnTo>
                    <a:pt x="731418" y="673418"/>
                  </a:lnTo>
                  <a:lnTo>
                    <a:pt x="737761" y="676276"/>
                  </a:lnTo>
                  <a:lnTo>
                    <a:pt x="744421" y="679133"/>
                  </a:lnTo>
                  <a:lnTo>
                    <a:pt x="750446" y="682308"/>
                  </a:lnTo>
                  <a:lnTo>
                    <a:pt x="763132" y="688976"/>
                  </a:lnTo>
                  <a:lnTo>
                    <a:pt x="775500" y="696596"/>
                  </a:lnTo>
                  <a:lnTo>
                    <a:pt x="787235" y="704533"/>
                  </a:lnTo>
                  <a:lnTo>
                    <a:pt x="798652" y="713423"/>
                  </a:lnTo>
                  <a:lnTo>
                    <a:pt x="809435" y="722631"/>
                  </a:lnTo>
                  <a:lnTo>
                    <a:pt x="819900" y="732791"/>
                  </a:lnTo>
                  <a:lnTo>
                    <a:pt x="830049" y="743586"/>
                  </a:lnTo>
                  <a:lnTo>
                    <a:pt x="839880" y="754698"/>
                  </a:lnTo>
                  <a:lnTo>
                    <a:pt x="849394" y="766446"/>
                  </a:lnTo>
                  <a:lnTo>
                    <a:pt x="858274" y="778511"/>
                  </a:lnTo>
                  <a:lnTo>
                    <a:pt x="866520" y="791211"/>
                  </a:lnTo>
                  <a:lnTo>
                    <a:pt x="874449" y="804546"/>
                  </a:lnTo>
                  <a:lnTo>
                    <a:pt x="881743" y="818198"/>
                  </a:lnTo>
                  <a:lnTo>
                    <a:pt x="888403" y="832168"/>
                  </a:lnTo>
                  <a:lnTo>
                    <a:pt x="894746" y="847091"/>
                  </a:lnTo>
                  <a:lnTo>
                    <a:pt x="900137" y="861696"/>
                  </a:lnTo>
                  <a:lnTo>
                    <a:pt x="905529" y="876936"/>
                  </a:lnTo>
                  <a:lnTo>
                    <a:pt x="909651" y="892811"/>
                  </a:lnTo>
                  <a:lnTo>
                    <a:pt x="913457" y="908686"/>
                  </a:lnTo>
                  <a:lnTo>
                    <a:pt x="916946" y="924878"/>
                  </a:lnTo>
                  <a:lnTo>
                    <a:pt x="919166" y="941706"/>
                  </a:lnTo>
                  <a:lnTo>
                    <a:pt x="921068" y="958533"/>
                  </a:lnTo>
                  <a:lnTo>
                    <a:pt x="922020" y="975678"/>
                  </a:lnTo>
                  <a:lnTo>
                    <a:pt x="922337" y="992823"/>
                  </a:lnTo>
                  <a:lnTo>
                    <a:pt x="922337" y="1002031"/>
                  </a:lnTo>
                  <a:lnTo>
                    <a:pt x="922020" y="1010921"/>
                  </a:lnTo>
                  <a:lnTo>
                    <a:pt x="921386" y="1019811"/>
                  </a:lnTo>
                  <a:lnTo>
                    <a:pt x="920434" y="1028384"/>
                  </a:lnTo>
                  <a:lnTo>
                    <a:pt x="919483" y="1037274"/>
                  </a:lnTo>
                  <a:lnTo>
                    <a:pt x="918214" y="1045846"/>
                  </a:lnTo>
                  <a:lnTo>
                    <a:pt x="916628" y="1054419"/>
                  </a:lnTo>
                  <a:lnTo>
                    <a:pt x="915043" y="1062674"/>
                  </a:lnTo>
                  <a:lnTo>
                    <a:pt x="912823" y="1070929"/>
                  </a:lnTo>
                  <a:lnTo>
                    <a:pt x="910603" y="1079501"/>
                  </a:lnTo>
                  <a:lnTo>
                    <a:pt x="908383" y="1087756"/>
                  </a:lnTo>
                  <a:lnTo>
                    <a:pt x="906163" y="1095694"/>
                  </a:lnTo>
                  <a:lnTo>
                    <a:pt x="903309" y="1103631"/>
                  </a:lnTo>
                  <a:lnTo>
                    <a:pt x="900137" y="1111569"/>
                  </a:lnTo>
                  <a:lnTo>
                    <a:pt x="897283" y="1119189"/>
                  </a:lnTo>
                  <a:lnTo>
                    <a:pt x="894111" y="1126809"/>
                  </a:lnTo>
                  <a:lnTo>
                    <a:pt x="887134" y="1141731"/>
                  </a:lnTo>
                  <a:lnTo>
                    <a:pt x="879523" y="1156336"/>
                  </a:lnTo>
                  <a:lnTo>
                    <a:pt x="871277" y="1170624"/>
                  </a:lnTo>
                  <a:lnTo>
                    <a:pt x="862714" y="1184276"/>
                  </a:lnTo>
                  <a:lnTo>
                    <a:pt x="853517" y="1197611"/>
                  </a:lnTo>
                  <a:lnTo>
                    <a:pt x="843686" y="1209994"/>
                  </a:lnTo>
                  <a:lnTo>
                    <a:pt x="833854" y="1222376"/>
                  </a:lnTo>
                  <a:lnTo>
                    <a:pt x="823389" y="1233806"/>
                  </a:lnTo>
                  <a:lnTo>
                    <a:pt x="812606" y="1244919"/>
                  </a:lnTo>
                  <a:lnTo>
                    <a:pt x="801823" y="1255396"/>
                  </a:lnTo>
                  <a:lnTo>
                    <a:pt x="790406" y="1265239"/>
                  </a:lnTo>
                  <a:lnTo>
                    <a:pt x="778989" y="1274446"/>
                  </a:lnTo>
                  <a:lnTo>
                    <a:pt x="767255" y="1282701"/>
                  </a:lnTo>
                  <a:lnTo>
                    <a:pt x="755521" y="1290956"/>
                  </a:lnTo>
                  <a:lnTo>
                    <a:pt x="743786" y="1298259"/>
                  </a:lnTo>
                  <a:lnTo>
                    <a:pt x="732052" y="1304609"/>
                  </a:lnTo>
                  <a:lnTo>
                    <a:pt x="720318" y="1310641"/>
                  </a:lnTo>
                  <a:lnTo>
                    <a:pt x="708584" y="1315721"/>
                  </a:lnTo>
                  <a:lnTo>
                    <a:pt x="696849" y="1320166"/>
                  </a:lnTo>
                  <a:lnTo>
                    <a:pt x="685432" y="1323659"/>
                  </a:lnTo>
                  <a:lnTo>
                    <a:pt x="674015" y="1326516"/>
                  </a:lnTo>
                  <a:lnTo>
                    <a:pt x="662915" y="1328421"/>
                  </a:lnTo>
                  <a:lnTo>
                    <a:pt x="657207" y="1329374"/>
                  </a:lnTo>
                  <a:lnTo>
                    <a:pt x="652132" y="1329691"/>
                  </a:lnTo>
                  <a:lnTo>
                    <a:pt x="646424" y="1330009"/>
                  </a:lnTo>
                  <a:lnTo>
                    <a:pt x="641349" y="1330326"/>
                  </a:lnTo>
                  <a:lnTo>
                    <a:pt x="635958" y="1330009"/>
                  </a:lnTo>
                  <a:lnTo>
                    <a:pt x="630884" y="1329691"/>
                  </a:lnTo>
                  <a:lnTo>
                    <a:pt x="625492" y="1329374"/>
                  </a:lnTo>
                  <a:lnTo>
                    <a:pt x="620101" y="1328421"/>
                  </a:lnTo>
                  <a:lnTo>
                    <a:pt x="609001" y="1326516"/>
                  </a:lnTo>
                  <a:lnTo>
                    <a:pt x="597584" y="1323659"/>
                  </a:lnTo>
                  <a:lnTo>
                    <a:pt x="585850" y="1320166"/>
                  </a:lnTo>
                  <a:lnTo>
                    <a:pt x="574433" y="1315721"/>
                  </a:lnTo>
                  <a:lnTo>
                    <a:pt x="562698" y="1310641"/>
                  </a:lnTo>
                  <a:lnTo>
                    <a:pt x="550647" y="1304609"/>
                  </a:lnTo>
                  <a:lnTo>
                    <a:pt x="538913" y="1298259"/>
                  </a:lnTo>
                  <a:lnTo>
                    <a:pt x="527179" y="1290956"/>
                  </a:lnTo>
                  <a:lnTo>
                    <a:pt x="515444" y="1282701"/>
                  </a:lnTo>
                  <a:lnTo>
                    <a:pt x="503710" y="1274446"/>
                  </a:lnTo>
                  <a:lnTo>
                    <a:pt x="492293" y="1265239"/>
                  </a:lnTo>
                  <a:lnTo>
                    <a:pt x="481193" y="1255396"/>
                  </a:lnTo>
                  <a:lnTo>
                    <a:pt x="470093" y="1244919"/>
                  </a:lnTo>
                  <a:lnTo>
                    <a:pt x="459310" y="1233806"/>
                  </a:lnTo>
                  <a:lnTo>
                    <a:pt x="448845" y="1222376"/>
                  </a:lnTo>
                  <a:lnTo>
                    <a:pt x="438696" y="1209994"/>
                  </a:lnTo>
                  <a:lnTo>
                    <a:pt x="429499" y="1197611"/>
                  </a:lnTo>
                  <a:lnTo>
                    <a:pt x="419985" y="1184276"/>
                  </a:lnTo>
                  <a:lnTo>
                    <a:pt x="411422" y="1170624"/>
                  </a:lnTo>
                  <a:lnTo>
                    <a:pt x="403176" y="1156336"/>
                  </a:lnTo>
                  <a:lnTo>
                    <a:pt x="395565" y="1141731"/>
                  </a:lnTo>
                  <a:lnTo>
                    <a:pt x="388588" y="1126809"/>
                  </a:lnTo>
                  <a:lnTo>
                    <a:pt x="385416" y="1119189"/>
                  </a:lnTo>
                  <a:lnTo>
                    <a:pt x="382245" y="1111569"/>
                  </a:lnTo>
                  <a:lnTo>
                    <a:pt x="379390" y="1103631"/>
                  </a:lnTo>
                  <a:lnTo>
                    <a:pt x="376853" y="1095694"/>
                  </a:lnTo>
                  <a:lnTo>
                    <a:pt x="374316" y="1087756"/>
                  </a:lnTo>
                  <a:lnTo>
                    <a:pt x="372096" y="1079501"/>
                  </a:lnTo>
                  <a:lnTo>
                    <a:pt x="369559" y="1070929"/>
                  </a:lnTo>
                  <a:lnTo>
                    <a:pt x="367656" y="1062674"/>
                  </a:lnTo>
                  <a:lnTo>
                    <a:pt x="366071" y="1054419"/>
                  </a:lnTo>
                  <a:lnTo>
                    <a:pt x="364485" y="1045846"/>
                  </a:lnTo>
                  <a:lnTo>
                    <a:pt x="363216" y="1037274"/>
                  </a:lnTo>
                  <a:lnTo>
                    <a:pt x="362265" y="1028384"/>
                  </a:lnTo>
                  <a:lnTo>
                    <a:pt x="361313" y="1019811"/>
                  </a:lnTo>
                  <a:lnTo>
                    <a:pt x="360996" y="1010921"/>
                  </a:lnTo>
                  <a:lnTo>
                    <a:pt x="360362" y="1002031"/>
                  </a:lnTo>
                  <a:lnTo>
                    <a:pt x="360362" y="992823"/>
                  </a:lnTo>
                  <a:lnTo>
                    <a:pt x="360679" y="975678"/>
                  </a:lnTo>
                  <a:lnTo>
                    <a:pt x="361948" y="958533"/>
                  </a:lnTo>
                  <a:lnTo>
                    <a:pt x="363533" y="941706"/>
                  </a:lnTo>
                  <a:lnTo>
                    <a:pt x="366071" y="924878"/>
                  </a:lnTo>
                  <a:lnTo>
                    <a:pt x="368925" y="908686"/>
                  </a:lnTo>
                  <a:lnTo>
                    <a:pt x="373048" y="892811"/>
                  </a:lnTo>
                  <a:lnTo>
                    <a:pt x="377171" y="876936"/>
                  </a:lnTo>
                  <a:lnTo>
                    <a:pt x="382245" y="861696"/>
                  </a:lnTo>
                  <a:lnTo>
                    <a:pt x="387953" y="847091"/>
                  </a:lnTo>
                  <a:lnTo>
                    <a:pt x="393979" y="832168"/>
                  </a:lnTo>
                  <a:lnTo>
                    <a:pt x="400956" y="818198"/>
                  </a:lnTo>
                  <a:lnTo>
                    <a:pt x="408568" y="804546"/>
                  </a:lnTo>
                  <a:lnTo>
                    <a:pt x="416179" y="791211"/>
                  </a:lnTo>
                  <a:lnTo>
                    <a:pt x="424425" y="778511"/>
                  </a:lnTo>
                  <a:lnTo>
                    <a:pt x="433305" y="766446"/>
                  </a:lnTo>
                  <a:lnTo>
                    <a:pt x="442819" y="754698"/>
                  </a:lnTo>
                  <a:lnTo>
                    <a:pt x="452650" y="743586"/>
                  </a:lnTo>
                  <a:lnTo>
                    <a:pt x="462482" y="732791"/>
                  </a:lnTo>
                  <a:lnTo>
                    <a:pt x="473264" y="722631"/>
                  </a:lnTo>
                  <a:lnTo>
                    <a:pt x="484047" y="713423"/>
                  </a:lnTo>
                  <a:lnTo>
                    <a:pt x="495464" y="704533"/>
                  </a:lnTo>
                  <a:lnTo>
                    <a:pt x="507516" y="696596"/>
                  </a:lnTo>
                  <a:lnTo>
                    <a:pt x="519567" y="688976"/>
                  </a:lnTo>
                  <a:lnTo>
                    <a:pt x="531936" y="682308"/>
                  </a:lnTo>
                  <a:lnTo>
                    <a:pt x="538278" y="679133"/>
                  </a:lnTo>
                  <a:lnTo>
                    <a:pt x="544938" y="676276"/>
                  </a:lnTo>
                  <a:lnTo>
                    <a:pt x="551281" y="673418"/>
                  </a:lnTo>
                  <a:lnTo>
                    <a:pt x="557941" y="670878"/>
                  </a:lnTo>
                  <a:lnTo>
                    <a:pt x="564284" y="668338"/>
                  </a:lnTo>
                  <a:lnTo>
                    <a:pt x="571261" y="666433"/>
                  </a:lnTo>
                  <a:lnTo>
                    <a:pt x="577921" y="664211"/>
                  </a:lnTo>
                  <a:lnTo>
                    <a:pt x="584898" y="662623"/>
                  </a:lnTo>
                  <a:lnTo>
                    <a:pt x="591875" y="661036"/>
                  </a:lnTo>
                  <a:lnTo>
                    <a:pt x="598535" y="659766"/>
                  </a:lnTo>
                  <a:lnTo>
                    <a:pt x="605830" y="658178"/>
                  </a:lnTo>
                  <a:lnTo>
                    <a:pt x="612490" y="657226"/>
                  </a:lnTo>
                  <a:lnTo>
                    <a:pt x="619784" y="656591"/>
                  </a:lnTo>
                  <a:lnTo>
                    <a:pt x="627078" y="655956"/>
                  </a:lnTo>
                  <a:lnTo>
                    <a:pt x="634055" y="655638"/>
                  </a:lnTo>
                  <a:close/>
                  <a:moveTo>
                    <a:pt x="1604962" y="463550"/>
                  </a:moveTo>
                  <a:lnTo>
                    <a:pt x="1776412" y="463550"/>
                  </a:lnTo>
                  <a:lnTo>
                    <a:pt x="1776412" y="1252538"/>
                  </a:lnTo>
                  <a:lnTo>
                    <a:pt x="1604962" y="1252538"/>
                  </a:lnTo>
                  <a:lnTo>
                    <a:pt x="1604962" y="463550"/>
                  </a:lnTo>
                  <a:close/>
                  <a:moveTo>
                    <a:pt x="0" y="0"/>
                  </a:moveTo>
                  <a:lnTo>
                    <a:pt x="2125663" y="0"/>
                  </a:lnTo>
                  <a:lnTo>
                    <a:pt x="2125663" y="171553"/>
                  </a:lnTo>
                  <a:lnTo>
                    <a:pt x="2039621" y="171553"/>
                  </a:lnTo>
                  <a:lnTo>
                    <a:pt x="2039621" y="1577975"/>
                  </a:lnTo>
                  <a:lnTo>
                    <a:pt x="1252220" y="1577975"/>
                  </a:lnTo>
                  <a:lnTo>
                    <a:pt x="1252220" y="1449310"/>
                  </a:lnTo>
                  <a:lnTo>
                    <a:pt x="1911033" y="1449310"/>
                  </a:lnTo>
                  <a:lnTo>
                    <a:pt x="1911033" y="171553"/>
                  </a:lnTo>
                  <a:lnTo>
                    <a:pt x="195263" y="171553"/>
                  </a:lnTo>
                  <a:lnTo>
                    <a:pt x="195263" y="1249164"/>
                  </a:lnTo>
                  <a:lnTo>
                    <a:pt x="66675" y="1249164"/>
                  </a:lnTo>
                  <a:lnTo>
                    <a:pt x="66675" y="171553"/>
                  </a:lnTo>
                  <a:lnTo>
                    <a:pt x="0" y="171553"/>
                  </a:lnTo>
                  <a:lnTo>
                    <a:pt x="0"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grpSp>
      <p:sp>
        <p:nvSpPr>
          <p:cNvPr id="22" name="椭圆 21"/>
          <p:cNvSpPr/>
          <p:nvPr/>
        </p:nvSpPr>
        <p:spPr>
          <a:xfrm>
            <a:off x="2382811" y="2929533"/>
            <a:ext cx="206083" cy="206083"/>
          </a:xfrm>
          <a:prstGeom prst="ellipse">
            <a:avLst/>
          </a:prstGeom>
          <a:solidFill>
            <a:srgbClr val="DF664A">
              <a:alpha val="50196"/>
            </a:srgbClr>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23" name="椭圆 22"/>
          <p:cNvSpPr/>
          <p:nvPr/>
        </p:nvSpPr>
        <p:spPr>
          <a:xfrm>
            <a:off x="2382811" y="3834612"/>
            <a:ext cx="206083" cy="206083"/>
          </a:xfrm>
          <a:prstGeom prst="ellipse">
            <a:avLst/>
          </a:prstGeom>
          <a:solidFill>
            <a:srgbClr val="DF664A">
              <a:alpha val="50196"/>
            </a:srgbClr>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6" name="矩形 5"/>
          <p:cNvSpPr/>
          <p:nvPr/>
        </p:nvSpPr>
        <p:spPr>
          <a:xfrm>
            <a:off x="0" y="1155541"/>
            <a:ext cx="3759518"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7" name="矩形 6"/>
          <p:cNvSpPr/>
          <p:nvPr/>
        </p:nvSpPr>
        <p:spPr>
          <a:xfrm>
            <a:off x="5109504" y="1155612"/>
            <a:ext cx="4023066" cy="67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8" name="矩形 7"/>
          <p:cNvSpPr/>
          <p:nvPr/>
        </p:nvSpPr>
        <p:spPr>
          <a:xfrm>
            <a:off x="0" y="13642"/>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865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605187" name="Rectangle 3"/>
          <p:cNvSpPr>
            <a:spLocks noGrp="1" noChangeArrowheads="1"/>
          </p:cNvSpPr>
          <p:nvPr/>
        </p:nvSpPr>
        <p:spPr>
          <a:xfrm>
            <a:off x="2369820" y="1499235"/>
            <a:ext cx="7038975" cy="1283335"/>
          </a:xfrm>
          <a:prstGeom prst="rect">
            <a:avLst/>
          </a:prstGeom>
          <a:noFill/>
          <a:ln w="9525">
            <a:noFill/>
            <a:miter lim="800000"/>
          </a:ln>
        </p:spPr>
        <p:txBody>
          <a:bodyPr vert="horz" wrap="square" lIns="68580" tIns="34290" rIns="68580" bIns="3429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a:lnSpc>
                <a:spcPct val="105000"/>
              </a:lnSpc>
            </a:pPr>
            <a:r>
              <a:rPr lang="zh-CN" altLang="en-US" dirty="0">
                <a:latin typeface="黑体" panose="02010609060101010101" charset="-122"/>
                <a:ea typeface="黑体" panose="02010609060101010101" charset="-122"/>
              </a:rPr>
              <a:t>两个源程序文件</a:t>
            </a:r>
            <a:r>
              <a:rPr lang="en-US" altLang="zh-CN" dirty="0">
                <a:latin typeface="黑体" panose="02010609060101010101" charset="-122"/>
                <a:ea typeface="黑体" panose="02010609060101010101" charset="-122"/>
              </a:rPr>
              <a:t>test1.c</a:t>
            </a:r>
            <a:r>
              <a:rPr lang="zh-CN" altLang="en-US" dirty="0">
                <a:latin typeface="黑体" panose="02010609060101010101" charset="-122"/>
                <a:ea typeface="黑体" panose="02010609060101010101" charset="-122"/>
              </a:rPr>
              <a:t>和</a:t>
            </a:r>
            <a:r>
              <a:rPr lang="en-US" altLang="zh-CN" dirty="0">
                <a:latin typeface="黑体" panose="02010609060101010101" charset="-122"/>
                <a:ea typeface="黑体" panose="02010609060101010101" charset="-122"/>
              </a:rPr>
              <a:t>test2.c</a:t>
            </a:r>
            <a:r>
              <a:rPr lang="zh-CN" altLang="en-US" dirty="0">
                <a:latin typeface="黑体" panose="02010609060101010101" charset="-122"/>
                <a:ea typeface="黑体" panose="02010609060101010101" charset="-122"/>
              </a:rPr>
              <a:t>，最终生成</a:t>
            </a:r>
          </a:p>
          <a:p>
            <a:pPr marL="0" indent="0">
              <a:lnSpc>
                <a:spcPct val="105000"/>
              </a:lnSpc>
              <a:buNone/>
            </a:pPr>
            <a:r>
              <a:rPr lang="zh-CN" altLang="en-US" dirty="0">
                <a:latin typeface="黑体" panose="02010609060101010101" charset="-122"/>
                <a:ea typeface="黑体" panose="02010609060101010101" charset="-122"/>
              </a:rPr>
              <a:t>可执行文件为</a:t>
            </a:r>
            <a:r>
              <a:rPr lang="en-US" altLang="zh-CN" dirty="0">
                <a:latin typeface="黑体" panose="02010609060101010101" charset="-122"/>
                <a:ea typeface="黑体" panose="02010609060101010101" charset="-122"/>
              </a:rPr>
              <a:t>test</a:t>
            </a:r>
          </a:p>
          <a:p>
            <a:pPr lvl="1">
              <a:lnSpc>
                <a:spcPct val="105000"/>
              </a:lnSpc>
              <a:buFontTx/>
              <a:buNone/>
            </a:pPr>
            <a:r>
              <a:rPr lang="en-US" altLang="zh-CN" dirty="0" err="1">
                <a:solidFill>
                  <a:srgbClr val="E7AA9C"/>
                </a:solidFill>
                <a:latin typeface="黑体" panose="02010609060101010101" charset="-122"/>
                <a:ea typeface="黑体" panose="02010609060101010101" charset="-122"/>
              </a:rPr>
              <a:t>gcc</a:t>
            </a:r>
            <a:r>
              <a:rPr lang="en-US" altLang="zh-CN" dirty="0">
                <a:solidFill>
                  <a:srgbClr val="E7AA9C"/>
                </a:solidFill>
                <a:latin typeface="黑体" panose="02010609060101010101" charset="-122"/>
                <a:ea typeface="黑体" panose="02010609060101010101" charset="-122"/>
              </a:rPr>
              <a:t> -O1 test1.c test2.c -o test</a:t>
            </a:r>
          </a:p>
          <a:p>
            <a:pPr>
              <a:lnSpc>
                <a:spcPct val="105000"/>
              </a:lnSpc>
            </a:pPr>
            <a:r>
              <a:rPr lang="zh-CN" altLang="en-US" dirty="0">
                <a:latin typeface="黑体" panose="02010609060101010101" charset="-122"/>
                <a:ea typeface="黑体" panose="02010609060101010101" charset="-122"/>
              </a:rPr>
              <a:t>选项</a:t>
            </a:r>
            <a:r>
              <a:rPr lang="en-US" altLang="zh-CN" dirty="0">
                <a:latin typeface="黑体" panose="02010609060101010101" charset="-122"/>
                <a:ea typeface="黑体" panose="02010609060101010101" charset="-122"/>
              </a:rPr>
              <a:t>-O1</a:t>
            </a:r>
            <a:r>
              <a:rPr lang="zh-CN" altLang="en-US" dirty="0">
                <a:latin typeface="黑体" panose="02010609060101010101" charset="-122"/>
                <a:ea typeface="黑体" panose="02010609060101010101" charset="-122"/>
              </a:rPr>
              <a:t>表示一级优化，</a:t>
            </a:r>
            <a:r>
              <a:rPr lang="en-US" altLang="zh-CN" dirty="0">
                <a:latin typeface="黑体" panose="02010609060101010101" charset="-122"/>
                <a:ea typeface="黑体" panose="02010609060101010101" charset="-122"/>
              </a:rPr>
              <a:t>-O2</a:t>
            </a:r>
            <a:r>
              <a:rPr lang="zh-CN" altLang="en-US" dirty="0">
                <a:latin typeface="黑体" panose="02010609060101010101" charset="-122"/>
                <a:ea typeface="黑体" panose="02010609060101010101" charset="-122"/>
              </a:rPr>
              <a:t>为二级优化，选项</a:t>
            </a:r>
          </a:p>
          <a:p>
            <a:pPr marL="0" indent="0">
              <a:lnSpc>
                <a:spcPct val="105000"/>
              </a:lnSpc>
              <a:buNone/>
            </a:pPr>
            <a:r>
              <a:rPr lang="en-US" altLang="zh-CN" dirty="0">
                <a:latin typeface="黑体" panose="02010609060101010101" charset="-122"/>
                <a:ea typeface="黑体" panose="02010609060101010101" charset="-122"/>
              </a:rPr>
              <a:t>-o</a:t>
            </a:r>
            <a:r>
              <a:rPr lang="zh-CN" altLang="en-US" dirty="0">
                <a:latin typeface="黑体" panose="02010609060101010101" charset="-122"/>
                <a:ea typeface="黑体" panose="02010609060101010101" charset="-122"/>
              </a:rPr>
              <a:t>指出输出文件名</a:t>
            </a:r>
          </a:p>
          <a:p>
            <a:pPr>
              <a:lnSpc>
                <a:spcPct val="105000"/>
              </a:lnSpc>
            </a:pPr>
            <a:r>
              <a:rPr lang="zh-CN" altLang="en-US" dirty="0">
                <a:latin typeface="黑体" panose="02010609060101010101" charset="-122"/>
                <a:ea typeface="黑体" panose="02010609060101010101" charset="-122"/>
              </a:rPr>
              <a:t>目标文件可用“</a:t>
            </a:r>
            <a:r>
              <a:rPr lang="en-US" altLang="zh-CN" dirty="0" err="1">
                <a:latin typeface="黑体" panose="02010609060101010101" charset="-122"/>
                <a:ea typeface="黑体" panose="02010609060101010101" charset="-122"/>
              </a:rPr>
              <a:t>objdump</a:t>
            </a:r>
            <a:r>
              <a:rPr lang="en-US" altLang="zh-CN" dirty="0">
                <a:latin typeface="黑体" panose="02010609060101010101" charset="-122"/>
                <a:ea typeface="黑体" panose="02010609060101010101" charset="-122"/>
              </a:rPr>
              <a:t> -d </a:t>
            </a:r>
            <a:r>
              <a:rPr lang="en-US" altLang="zh-CN" dirty="0" err="1">
                <a:latin typeface="黑体" panose="02010609060101010101" charset="-122"/>
                <a:ea typeface="黑体" panose="02010609060101010101" charset="-122"/>
              </a:rPr>
              <a:t>test.o</a:t>
            </a:r>
            <a:r>
              <a:rPr lang="en-US" altLang="zh-CN" dirty="0">
                <a:latin typeface="黑体" panose="02010609060101010101" charset="-122"/>
                <a:ea typeface="黑体" panose="02010609060101010101" charset="-122"/>
              </a:rPr>
              <a:t>” </a:t>
            </a:r>
            <a:r>
              <a:rPr lang="zh-CN" altLang="en-US" dirty="0">
                <a:solidFill>
                  <a:srgbClr val="ED7D31"/>
                </a:solidFill>
                <a:latin typeface="黑体" panose="02010609060101010101" charset="-122"/>
                <a:ea typeface="黑体" panose="02010609060101010101" charset="-122"/>
              </a:rPr>
              <a:t>反汇编</a:t>
            </a:r>
          </a:p>
          <a:p>
            <a:pPr marL="0" indent="0">
              <a:lnSpc>
                <a:spcPct val="105000"/>
              </a:lnSpc>
              <a:buNone/>
            </a:pPr>
            <a:r>
              <a:rPr lang="zh-CN" altLang="en-US" dirty="0">
                <a:latin typeface="黑体" panose="02010609060101010101" charset="-122"/>
                <a:ea typeface="黑体" panose="02010609060101010101" charset="-122"/>
              </a:rPr>
              <a:t>为</a:t>
            </a:r>
            <a:r>
              <a:rPr lang="zh-CN" altLang="en-US" dirty="0">
                <a:solidFill>
                  <a:srgbClr val="ED7D31"/>
                </a:solidFill>
                <a:latin typeface="黑体" panose="02010609060101010101" charset="-122"/>
                <a:ea typeface="黑体" panose="02010609060101010101" charset="-122"/>
              </a:rPr>
              <a:t>汇编语言程序</a:t>
            </a:r>
          </a:p>
        </p:txBody>
      </p:sp>
      <p:sp>
        <p:nvSpPr>
          <p:cNvPr id="9" name="椭圆 8"/>
          <p:cNvSpPr/>
          <p:nvPr/>
        </p:nvSpPr>
        <p:spPr>
          <a:xfrm>
            <a:off x="2382811" y="1613382"/>
            <a:ext cx="206083" cy="206083"/>
          </a:xfrm>
          <a:prstGeom prst="ellipse">
            <a:avLst/>
          </a:prstGeom>
          <a:solidFill>
            <a:srgbClr val="DF664A">
              <a:alpha val="50196"/>
            </a:srgbClr>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cxnSp>
        <p:nvCxnSpPr>
          <p:cNvPr id="10" name="肘形连接符 9"/>
          <p:cNvCxnSpPr/>
          <p:nvPr/>
        </p:nvCxnSpPr>
        <p:spPr>
          <a:xfrm flipV="1">
            <a:off x="461010" y="5609749"/>
            <a:ext cx="3434239" cy="377190"/>
          </a:xfrm>
          <a:prstGeom prst="bentConnector3">
            <a:avLst>
              <a:gd name="adj1" fmla="val 50007"/>
            </a:avLst>
          </a:prstGeom>
        </p:spPr>
        <p:style>
          <a:lnRef idx="1">
            <a:schemeClr val="accent1"/>
          </a:lnRef>
          <a:fillRef idx="0">
            <a:schemeClr val="accent1"/>
          </a:fillRef>
          <a:effectRef idx="0">
            <a:schemeClr val="accent1"/>
          </a:effectRef>
          <a:fontRef idx="minor">
            <a:schemeClr val="tx1"/>
          </a:fontRef>
        </p:style>
      </p:cxnSp>
      <p:cxnSp>
        <p:nvCxnSpPr>
          <p:cNvPr id="11" name="肘形连接符 10"/>
          <p:cNvCxnSpPr/>
          <p:nvPr/>
        </p:nvCxnSpPr>
        <p:spPr>
          <a:xfrm flipV="1">
            <a:off x="2950845" y="5159216"/>
            <a:ext cx="1920240" cy="455295"/>
          </a:xfrm>
          <a:prstGeom prst="bentConnector3">
            <a:avLst>
              <a:gd name="adj1" fmla="val 50025"/>
            </a:avLst>
          </a:prstGeom>
        </p:spPr>
        <p:style>
          <a:lnRef idx="1">
            <a:schemeClr val="accent1"/>
          </a:lnRef>
          <a:fillRef idx="0">
            <a:schemeClr val="accent1"/>
          </a:fillRef>
          <a:effectRef idx="0">
            <a:schemeClr val="accent1"/>
          </a:effectRef>
          <a:fontRef idx="minor">
            <a:schemeClr val="tx1"/>
          </a:fontRef>
        </p:style>
      </p:cxnSp>
      <p:cxnSp>
        <p:nvCxnSpPr>
          <p:cNvPr id="12" name="肘形连接符 11"/>
          <p:cNvCxnSpPr/>
          <p:nvPr/>
        </p:nvCxnSpPr>
        <p:spPr>
          <a:xfrm flipV="1">
            <a:off x="4130040" y="4827746"/>
            <a:ext cx="3150870" cy="331470"/>
          </a:xfrm>
          <a:prstGeom prst="bentConnector3">
            <a:avLst>
              <a:gd name="adj1" fmla="val 50015"/>
            </a:avLst>
          </a:prstGeom>
        </p:spPr>
        <p:style>
          <a:lnRef idx="1">
            <a:schemeClr val="accent1"/>
          </a:lnRef>
          <a:fillRef idx="0">
            <a:schemeClr val="accent1"/>
          </a:fillRef>
          <a:effectRef idx="0">
            <a:schemeClr val="accent1"/>
          </a:effectRef>
          <a:fontRef idx="minor">
            <a:schemeClr val="tx1"/>
          </a:fontRef>
        </p:style>
      </p:cxnSp>
      <p:sp>
        <p:nvSpPr>
          <p:cNvPr id="13" name="文本框 12"/>
          <p:cNvSpPr txBox="1"/>
          <p:nvPr/>
        </p:nvSpPr>
        <p:spPr>
          <a:xfrm>
            <a:off x="365125" y="5671820"/>
            <a:ext cx="1854835" cy="299085"/>
          </a:xfrm>
          <a:prstGeom prst="rect">
            <a:avLst/>
          </a:prstGeom>
          <a:noFill/>
        </p:spPr>
        <p:txBody>
          <a:bodyPr wrap="square" rtlCol="0">
            <a:spAutoFit/>
          </a:bodyPr>
          <a:lstStyle/>
          <a:p>
            <a:r>
              <a:rPr lang="en-US" altLang="zh-CN" sz="1350"/>
              <a:t>gcc-E test.c -o test.i</a:t>
            </a:r>
            <a:endParaRPr lang="zh-CN" altLang="en-US" sz="1350"/>
          </a:p>
        </p:txBody>
      </p:sp>
      <p:sp>
        <p:nvSpPr>
          <p:cNvPr id="15" name="文本框 14"/>
          <p:cNvSpPr txBox="1"/>
          <p:nvPr/>
        </p:nvSpPr>
        <p:spPr>
          <a:xfrm>
            <a:off x="2086610" y="5332730"/>
            <a:ext cx="2091690" cy="299085"/>
          </a:xfrm>
          <a:prstGeom prst="rect">
            <a:avLst/>
          </a:prstGeom>
          <a:noFill/>
        </p:spPr>
        <p:txBody>
          <a:bodyPr wrap="square" rtlCol="0">
            <a:spAutoFit/>
          </a:bodyPr>
          <a:lstStyle/>
          <a:p>
            <a:r>
              <a:rPr lang="en-US" altLang="zh-CN" sz="1350"/>
              <a:t>gcc-S test.i -o test.s</a:t>
            </a:r>
            <a:endParaRPr lang="zh-CN" altLang="en-US" sz="1350"/>
          </a:p>
        </p:txBody>
      </p:sp>
      <p:sp>
        <p:nvSpPr>
          <p:cNvPr id="25" name="文本框 24"/>
          <p:cNvSpPr txBox="1"/>
          <p:nvPr/>
        </p:nvSpPr>
        <p:spPr>
          <a:xfrm>
            <a:off x="3849529" y="4863941"/>
            <a:ext cx="1928813" cy="299085"/>
          </a:xfrm>
          <a:prstGeom prst="rect">
            <a:avLst/>
          </a:prstGeom>
          <a:noFill/>
        </p:spPr>
        <p:txBody>
          <a:bodyPr wrap="square" rtlCol="0">
            <a:spAutoFit/>
          </a:bodyPr>
          <a:lstStyle/>
          <a:p>
            <a:r>
              <a:rPr lang="en-US" altLang="zh-CN" sz="1350"/>
              <a:t>gcc-c test.s -o test.o</a:t>
            </a:r>
            <a:endParaRPr lang="zh-CN" altLang="en-US" sz="1350"/>
          </a:p>
        </p:txBody>
      </p:sp>
      <p:sp>
        <p:nvSpPr>
          <p:cNvPr id="26" name="文本框 25"/>
          <p:cNvSpPr txBox="1"/>
          <p:nvPr/>
        </p:nvSpPr>
        <p:spPr>
          <a:xfrm>
            <a:off x="5641181" y="4551521"/>
            <a:ext cx="1928813" cy="299085"/>
          </a:xfrm>
          <a:prstGeom prst="rect">
            <a:avLst/>
          </a:prstGeom>
          <a:noFill/>
        </p:spPr>
        <p:txBody>
          <a:bodyPr wrap="square" rtlCol="0">
            <a:spAutoFit/>
          </a:bodyPr>
          <a:lstStyle/>
          <a:p>
            <a:r>
              <a:rPr lang="en-US" altLang="zh-CN" sz="1350"/>
              <a:t>gcc- test.o -o test</a:t>
            </a:r>
            <a:endParaRPr lang="zh-CN" altLang="en-US" sz="1350"/>
          </a:p>
        </p:txBody>
      </p:sp>
      <p:sp>
        <p:nvSpPr>
          <p:cNvPr id="27" name="文本框 26"/>
          <p:cNvSpPr txBox="1"/>
          <p:nvPr/>
        </p:nvSpPr>
        <p:spPr>
          <a:xfrm>
            <a:off x="469583" y="6071711"/>
            <a:ext cx="1784509" cy="299085"/>
          </a:xfrm>
          <a:prstGeom prst="rect">
            <a:avLst/>
          </a:prstGeom>
          <a:noFill/>
        </p:spPr>
        <p:txBody>
          <a:bodyPr wrap="square" rtlCol="0">
            <a:spAutoFit/>
          </a:bodyPr>
          <a:lstStyle/>
          <a:p>
            <a:r>
              <a:rPr lang="zh-CN" altLang="zh-CN" sz="1350"/>
              <a:t>预处理（预处理器）</a:t>
            </a:r>
            <a:endParaRPr lang="en-US" altLang="zh-CN" sz="1350"/>
          </a:p>
        </p:txBody>
      </p:sp>
      <p:sp>
        <p:nvSpPr>
          <p:cNvPr id="28" name="文本框 27"/>
          <p:cNvSpPr txBox="1"/>
          <p:nvPr/>
        </p:nvSpPr>
        <p:spPr>
          <a:xfrm>
            <a:off x="2195513" y="5694521"/>
            <a:ext cx="2124551" cy="299085"/>
          </a:xfrm>
          <a:prstGeom prst="rect">
            <a:avLst/>
          </a:prstGeom>
          <a:noFill/>
        </p:spPr>
        <p:txBody>
          <a:bodyPr wrap="square" rtlCol="0">
            <a:spAutoFit/>
          </a:bodyPr>
          <a:lstStyle/>
          <a:p>
            <a:r>
              <a:rPr lang="zh-CN" altLang="en-US" sz="1350"/>
              <a:t>编译成汇编代码（编译器）</a:t>
            </a:r>
          </a:p>
        </p:txBody>
      </p:sp>
      <p:sp>
        <p:nvSpPr>
          <p:cNvPr id="30" name="文本框 29"/>
          <p:cNvSpPr txBox="1"/>
          <p:nvPr/>
        </p:nvSpPr>
        <p:spPr>
          <a:xfrm>
            <a:off x="3921443" y="5237321"/>
            <a:ext cx="2781776" cy="299085"/>
          </a:xfrm>
          <a:prstGeom prst="rect">
            <a:avLst/>
          </a:prstGeom>
          <a:noFill/>
        </p:spPr>
        <p:txBody>
          <a:bodyPr wrap="square" rtlCol="0">
            <a:spAutoFit/>
          </a:bodyPr>
          <a:lstStyle/>
          <a:p>
            <a:r>
              <a:rPr lang="zh-CN" altLang="en-US" sz="1350"/>
              <a:t>生成可重定位目标程序（汇编器）</a:t>
            </a:r>
          </a:p>
        </p:txBody>
      </p:sp>
      <p:sp>
        <p:nvSpPr>
          <p:cNvPr id="31" name="文本框 30"/>
          <p:cNvSpPr txBox="1"/>
          <p:nvPr/>
        </p:nvSpPr>
        <p:spPr>
          <a:xfrm>
            <a:off x="5750243" y="4871561"/>
            <a:ext cx="2734151" cy="299085"/>
          </a:xfrm>
          <a:prstGeom prst="rect">
            <a:avLst/>
          </a:prstGeom>
          <a:noFill/>
        </p:spPr>
        <p:txBody>
          <a:bodyPr wrap="square" rtlCol="0">
            <a:spAutoFit/>
          </a:bodyPr>
          <a:lstStyle/>
          <a:p>
            <a:r>
              <a:rPr lang="zh-CN" altLang="en-US" sz="1350"/>
              <a:t>链接生成可执行文件（链接器）</a:t>
            </a:r>
          </a:p>
        </p:txBody>
      </p:sp>
      <p:pic>
        <p:nvPicPr>
          <p:cNvPr id="605188" name="Picture 4"/>
          <p:cNvPicPr>
            <a:picLocks noChangeAspect="1" noChangeArrowheads="1"/>
          </p:cNvPicPr>
          <p:nvPr/>
        </p:nvPicPr>
        <p:blipFill>
          <a:blip r:embed="rId2"/>
          <a:srcRect/>
          <a:stretch>
            <a:fillRect/>
          </a:stretch>
        </p:blipFill>
        <p:spPr bwMode="auto">
          <a:xfrm>
            <a:off x="-38179" y="1223328"/>
            <a:ext cx="2382440" cy="2126456"/>
          </a:xfrm>
          <a:prstGeom prst="rect">
            <a:avLst/>
          </a:prstGeom>
          <a:noFill/>
          <a:ln w="9525">
            <a:noFill/>
            <a:miter lim="800000"/>
            <a:headEnd/>
            <a:tailEnd/>
          </a:ln>
        </p:spPr>
      </p:pic>
      <p:sp>
        <p:nvSpPr>
          <p:cNvPr id="32" name="左右箭头 31"/>
          <p:cNvSpPr/>
          <p:nvPr/>
        </p:nvSpPr>
        <p:spPr>
          <a:xfrm rot="720000">
            <a:off x="5472589" y="5838825"/>
            <a:ext cx="885349" cy="421958"/>
          </a:xfrm>
          <a:prstGeom prst="leftRightArrow">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文本框 33"/>
          <p:cNvSpPr txBox="1"/>
          <p:nvPr/>
        </p:nvSpPr>
        <p:spPr>
          <a:xfrm>
            <a:off x="6555581" y="5986939"/>
            <a:ext cx="1928813" cy="299085"/>
          </a:xfrm>
          <a:prstGeom prst="rect">
            <a:avLst/>
          </a:prstGeom>
          <a:noFill/>
        </p:spPr>
        <p:txBody>
          <a:bodyPr wrap="square" rtlCol="0">
            <a:spAutoFit/>
          </a:bodyPr>
          <a:lstStyle/>
          <a:p>
            <a:r>
              <a:rPr lang="en-US" altLang="zh-CN" sz="1350"/>
              <a:t>gcc- o test  test.c</a:t>
            </a:r>
            <a:endParaRPr lang="zh-CN" altLang="en-US" sz="1350"/>
          </a:p>
        </p:txBody>
      </p:sp>
      <p:cxnSp>
        <p:nvCxnSpPr>
          <p:cNvPr id="35" name="直接连接符 34"/>
          <p:cNvCxnSpPr/>
          <p:nvPr/>
        </p:nvCxnSpPr>
        <p:spPr>
          <a:xfrm flipV="1">
            <a:off x="6553200" y="6263164"/>
            <a:ext cx="1680210" cy="25718"/>
          </a:xfrm>
          <a:prstGeom prst="line">
            <a:avLst/>
          </a:prstGeom>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6427470" y="6380321"/>
            <a:ext cx="2158841" cy="299085"/>
          </a:xfrm>
          <a:prstGeom prst="rect">
            <a:avLst/>
          </a:prstGeom>
          <a:noFill/>
        </p:spPr>
        <p:txBody>
          <a:bodyPr wrap="square" rtlCol="0">
            <a:spAutoFit/>
          </a:bodyPr>
          <a:lstStyle/>
          <a:p>
            <a:r>
              <a:rPr lang="zh-CN" altLang="en-US" sz="1350"/>
              <a:t>直接生成可执行目标程序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p:tgtEl>
                                          <p:spTgt spid="4"/>
                                        </p:tgtEl>
                                        <p:attrNameLst>
                                          <p:attrName>ppt_x</p:attrName>
                                        </p:attrNameLst>
                                      </p:cBhvr>
                                      <p:tavLst>
                                        <p:tav tm="0">
                                          <p:val>
                                            <p:strVal val="#ppt_x+#ppt_w*1.125000"/>
                                          </p:val>
                                        </p:tav>
                                        <p:tav tm="100000">
                                          <p:val>
                                            <p:strVal val="#ppt_x"/>
                                          </p:val>
                                        </p:tav>
                                      </p:tavLst>
                                    </p:anim>
                                    <p:animEffect transition="in" filter="wipe(left)">
                                      <p:cBhvr>
                                        <p:cTn id="8" dur="500"/>
                                        <p:tgtEl>
                                          <p:spTgt spid="4"/>
                                        </p:tgtEl>
                                      </p:cBhvr>
                                    </p:animEffect>
                                  </p:childTnLst>
                                </p:cTn>
                              </p:par>
                              <p:par>
                                <p:cTn id="9" presetID="12" presetClass="entr" presetSubtype="8"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p:tgtEl>
                                          <p:spTgt spid="3"/>
                                        </p:tgtEl>
                                        <p:attrNameLst>
                                          <p:attrName>ppt_x</p:attrName>
                                        </p:attrNameLst>
                                      </p:cBhvr>
                                      <p:tavLst>
                                        <p:tav tm="0">
                                          <p:val>
                                            <p:strVal val="#ppt_x-#ppt_w*1.125000"/>
                                          </p:val>
                                        </p:tav>
                                        <p:tav tm="100000">
                                          <p:val>
                                            <p:strVal val="#ppt_x"/>
                                          </p:val>
                                        </p:tav>
                                      </p:tavLst>
                                    </p:anim>
                                    <p:animEffect transition="in" filter="wipe(right)">
                                      <p:cBhvr>
                                        <p:cTn id="12" dur="500"/>
                                        <p:tgtEl>
                                          <p:spTgt spid="3"/>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right)">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54" presetClass="entr" presetSubtype="0" accel="100000" fill="hold" nodeType="clickEffect">
                                  <p:stCondLst>
                                    <p:cond delay="0"/>
                                  </p:stCondLst>
                                  <p:childTnLst>
                                    <p:set>
                                      <p:cBhvr>
                                        <p:cTn id="23" dur="1" fill="hold">
                                          <p:stCondLst>
                                            <p:cond delay="0"/>
                                          </p:stCondLst>
                                        </p:cTn>
                                        <p:tgtEl>
                                          <p:spTgt spid="605187">
                                            <p:txEl>
                                              <p:pRg st="0" end="0"/>
                                            </p:txEl>
                                          </p:spTgt>
                                        </p:tgtEl>
                                        <p:attrNameLst>
                                          <p:attrName>style.visibility</p:attrName>
                                        </p:attrNameLst>
                                      </p:cBhvr>
                                      <p:to>
                                        <p:strVal val="visible"/>
                                      </p:to>
                                    </p:set>
                                    <p:anim calcmode="lin" valueType="num">
                                      <p:cBhvr>
                                        <p:cTn id="24" dur="500" fill="hold"/>
                                        <p:tgtEl>
                                          <p:spTgt spid="605187">
                                            <p:txEl>
                                              <p:pRg st="0" end="0"/>
                                            </p:txEl>
                                          </p:spTgt>
                                        </p:tgtEl>
                                        <p:attrNameLst>
                                          <p:attrName>ppt_w</p:attrName>
                                        </p:attrNameLst>
                                      </p:cBhvr>
                                      <p:tavLst>
                                        <p:tav tm="0">
                                          <p:val>
                                            <p:strVal val="#ppt_w*0.05"/>
                                          </p:val>
                                        </p:tav>
                                        <p:tav tm="100000">
                                          <p:val>
                                            <p:strVal val="#ppt_w"/>
                                          </p:val>
                                        </p:tav>
                                      </p:tavLst>
                                    </p:anim>
                                    <p:anim calcmode="lin" valueType="num">
                                      <p:cBhvr>
                                        <p:cTn id="25" dur="500" fill="hold"/>
                                        <p:tgtEl>
                                          <p:spTgt spid="605187">
                                            <p:txEl>
                                              <p:pRg st="0" end="0"/>
                                            </p:txEl>
                                          </p:spTgt>
                                        </p:tgtEl>
                                        <p:attrNameLst>
                                          <p:attrName>ppt_h</p:attrName>
                                        </p:attrNameLst>
                                      </p:cBhvr>
                                      <p:tavLst>
                                        <p:tav tm="0">
                                          <p:val>
                                            <p:strVal val="#ppt_h"/>
                                          </p:val>
                                        </p:tav>
                                        <p:tav tm="100000">
                                          <p:val>
                                            <p:strVal val="#ppt_h"/>
                                          </p:val>
                                        </p:tav>
                                      </p:tavLst>
                                    </p:anim>
                                    <p:anim calcmode="lin" valueType="num">
                                      <p:cBhvr>
                                        <p:cTn id="26" dur="500" fill="hold"/>
                                        <p:tgtEl>
                                          <p:spTgt spid="605187">
                                            <p:txEl>
                                              <p:pRg st="0" end="0"/>
                                            </p:txEl>
                                          </p:spTgt>
                                        </p:tgtEl>
                                        <p:attrNameLst>
                                          <p:attrName>ppt_x</p:attrName>
                                        </p:attrNameLst>
                                      </p:cBhvr>
                                      <p:tavLst>
                                        <p:tav tm="0">
                                          <p:val>
                                            <p:strVal val="#ppt_x-.2"/>
                                          </p:val>
                                        </p:tav>
                                        <p:tav tm="100000">
                                          <p:val>
                                            <p:strVal val="#ppt_x"/>
                                          </p:val>
                                        </p:tav>
                                      </p:tavLst>
                                    </p:anim>
                                    <p:anim calcmode="lin" valueType="num">
                                      <p:cBhvr>
                                        <p:cTn id="27" dur="500" fill="hold"/>
                                        <p:tgtEl>
                                          <p:spTgt spid="605187">
                                            <p:txEl>
                                              <p:pRg st="0" end="0"/>
                                            </p:txEl>
                                          </p:spTgt>
                                        </p:tgtEl>
                                        <p:attrNameLst>
                                          <p:attrName>ppt_y</p:attrName>
                                        </p:attrNameLst>
                                      </p:cBhvr>
                                      <p:tavLst>
                                        <p:tav tm="0">
                                          <p:val>
                                            <p:strVal val="#ppt_y"/>
                                          </p:val>
                                        </p:tav>
                                        <p:tav tm="100000">
                                          <p:val>
                                            <p:strVal val="#ppt_y"/>
                                          </p:val>
                                        </p:tav>
                                      </p:tavLst>
                                    </p:anim>
                                    <p:animEffect transition="in" filter="fade">
                                      <p:cBhvr>
                                        <p:cTn id="28" dur="500"/>
                                        <p:tgtEl>
                                          <p:spTgt spid="605187">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4" presetClass="entr" presetSubtype="0" accel="100000" fill="hold" nodeType="clickEffect">
                                  <p:stCondLst>
                                    <p:cond delay="0"/>
                                  </p:stCondLst>
                                  <p:childTnLst>
                                    <p:set>
                                      <p:cBhvr>
                                        <p:cTn id="32" dur="1" fill="hold">
                                          <p:stCondLst>
                                            <p:cond delay="0"/>
                                          </p:stCondLst>
                                        </p:cTn>
                                        <p:tgtEl>
                                          <p:spTgt spid="605187">
                                            <p:txEl>
                                              <p:pRg st="1" end="1"/>
                                            </p:txEl>
                                          </p:spTgt>
                                        </p:tgtEl>
                                        <p:attrNameLst>
                                          <p:attrName>style.visibility</p:attrName>
                                        </p:attrNameLst>
                                      </p:cBhvr>
                                      <p:to>
                                        <p:strVal val="visible"/>
                                      </p:to>
                                    </p:set>
                                    <p:anim calcmode="lin" valueType="num">
                                      <p:cBhvr>
                                        <p:cTn id="33" dur="500" fill="hold"/>
                                        <p:tgtEl>
                                          <p:spTgt spid="605187">
                                            <p:txEl>
                                              <p:pRg st="1" end="1"/>
                                            </p:txEl>
                                          </p:spTgt>
                                        </p:tgtEl>
                                        <p:attrNameLst>
                                          <p:attrName>ppt_w</p:attrName>
                                        </p:attrNameLst>
                                      </p:cBhvr>
                                      <p:tavLst>
                                        <p:tav tm="0">
                                          <p:val>
                                            <p:strVal val="#ppt_w*0.05"/>
                                          </p:val>
                                        </p:tav>
                                        <p:tav tm="100000">
                                          <p:val>
                                            <p:strVal val="#ppt_w"/>
                                          </p:val>
                                        </p:tav>
                                      </p:tavLst>
                                    </p:anim>
                                    <p:anim calcmode="lin" valueType="num">
                                      <p:cBhvr>
                                        <p:cTn id="34" dur="500" fill="hold"/>
                                        <p:tgtEl>
                                          <p:spTgt spid="605187">
                                            <p:txEl>
                                              <p:pRg st="1" end="1"/>
                                            </p:txEl>
                                          </p:spTgt>
                                        </p:tgtEl>
                                        <p:attrNameLst>
                                          <p:attrName>ppt_h</p:attrName>
                                        </p:attrNameLst>
                                      </p:cBhvr>
                                      <p:tavLst>
                                        <p:tav tm="0">
                                          <p:val>
                                            <p:strVal val="#ppt_h"/>
                                          </p:val>
                                        </p:tav>
                                        <p:tav tm="100000">
                                          <p:val>
                                            <p:strVal val="#ppt_h"/>
                                          </p:val>
                                        </p:tav>
                                      </p:tavLst>
                                    </p:anim>
                                    <p:anim calcmode="lin" valueType="num">
                                      <p:cBhvr>
                                        <p:cTn id="35" dur="500" fill="hold"/>
                                        <p:tgtEl>
                                          <p:spTgt spid="605187">
                                            <p:txEl>
                                              <p:pRg st="1" end="1"/>
                                            </p:txEl>
                                          </p:spTgt>
                                        </p:tgtEl>
                                        <p:attrNameLst>
                                          <p:attrName>ppt_x</p:attrName>
                                        </p:attrNameLst>
                                      </p:cBhvr>
                                      <p:tavLst>
                                        <p:tav tm="0">
                                          <p:val>
                                            <p:strVal val="#ppt_x-.2"/>
                                          </p:val>
                                        </p:tav>
                                        <p:tav tm="100000">
                                          <p:val>
                                            <p:strVal val="#ppt_x"/>
                                          </p:val>
                                        </p:tav>
                                      </p:tavLst>
                                    </p:anim>
                                    <p:anim calcmode="lin" valueType="num">
                                      <p:cBhvr>
                                        <p:cTn id="36" dur="500" fill="hold"/>
                                        <p:tgtEl>
                                          <p:spTgt spid="605187">
                                            <p:txEl>
                                              <p:pRg st="1" end="1"/>
                                            </p:txEl>
                                          </p:spTgt>
                                        </p:tgtEl>
                                        <p:attrNameLst>
                                          <p:attrName>ppt_y</p:attrName>
                                        </p:attrNameLst>
                                      </p:cBhvr>
                                      <p:tavLst>
                                        <p:tav tm="0">
                                          <p:val>
                                            <p:strVal val="#ppt_y"/>
                                          </p:val>
                                        </p:tav>
                                        <p:tav tm="100000">
                                          <p:val>
                                            <p:strVal val="#ppt_y"/>
                                          </p:val>
                                        </p:tav>
                                      </p:tavLst>
                                    </p:anim>
                                    <p:animEffect transition="in" filter="fade">
                                      <p:cBhvr>
                                        <p:cTn id="37" dur="500"/>
                                        <p:tgtEl>
                                          <p:spTgt spid="605187">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4" presetClass="entr" presetSubtype="0" accel="100000" fill="hold" nodeType="clickEffect">
                                  <p:stCondLst>
                                    <p:cond delay="0"/>
                                  </p:stCondLst>
                                  <p:childTnLst>
                                    <p:set>
                                      <p:cBhvr>
                                        <p:cTn id="41" dur="1" fill="hold">
                                          <p:stCondLst>
                                            <p:cond delay="0"/>
                                          </p:stCondLst>
                                        </p:cTn>
                                        <p:tgtEl>
                                          <p:spTgt spid="605187">
                                            <p:txEl>
                                              <p:pRg st="2" end="2"/>
                                            </p:txEl>
                                          </p:spTgt>
                                        </p:tgtEl>
                                        <p:attrNameLst>
                                          <p:attrName>style.visibility</p:attrName>
                                        </p:attrNameLst>
                                      </p:cBhvr>
                                      <p:to>
                                        <p:strVal val="visible"/>
                                      </p:to>
                                    </p:set>
                                    <p:anim calcmode="lin" valueType="num">
                                      <p:cBhvr>
                                        <p:cTn id="42" dur="500" fill="hold"/>
                                        <p:tgtEl>
                                          <p:spTgt spid="605187">
                                            <p:txEl>
                                              <p:pRg st="2" end="2"/>
                                            </p:txEl>
                                          </p:spTgt>
                                        </p:tgtEl>
                                        <p:attrNameLst>
                                          <p:attrName>ppt_w</p:attrName>
                                        </p:attrNameLst>
                                      </p:cBhvr>
                                      <p:tavLst>
                                        <p:tav tm="0">
                                          <p:val>
                                            <p:strVal val="#ppt_w*0.05"/>
                                          </p:val>
                                        </p:tav>
                                        <p:tav tm="100000">
                                          <p:val>
                                            <p:strVal val="#ppt_w"/>
                                          </p:val>
                                        </p:tav>
                                      </p:tavLst>
                                    </p:anim>
                                    <p:anim calcmode="lin" valueType="num">
                                      <p:cBhvr>
                                        <p:cTn id="43" dur="500" fill="hold"/>
                                        <p:tgtEl>
                                          <p:spTgt spid="605187">
                                            <p:txEl>
                                              <p:pRg st="2" end="2"/>
                                            </p:txEl>
                                          </p:spTgt>
                                        </p:tgtEl>
                                        <p:attrNameLst>
                                          <p:attrName>ppt_h</p:attrName>
                                        </p:attrNameLst>
                                      </p:cBhvr>
                                      <p:tavLst>
                                        <p:tav tm="0">
                                          <p:val>
                                            <p:strVal val="#ppt_h"/>
                                          </p:val>
                                        </p:tav>
                                        <p:tav tm="100000">
                                          <p:val>
                                            <p:strVal val="#ppt_h"/>
                                          </p:val>
                                        </p:tav>
                                      </p:tavLst>
                                    </p:anim>
                                    <p:anim calcmode="lin" valueType="num">
                                      <p:cBhvr>
                                        <p:cTn id="44" dur="500" fill="hold"/>
                                        <p:tgtEl>
                                          <p:spTgt spid="605187">
                                            <p:txEl>
                                              <p:pRg st="2" end="2"/>
                                            </p:txEl>
                                          </p:spTgt>
                                        </p:tgtEl>
                                        <p:attrNameLst>
                                          <p:attrName>ppt_x</p:attrName>
                                        </p:attrNameLst>
                                      </p:cBhvr>
                                      <p:tavLst>
                                        <p:tav tm="0">
                                          <p:val>
                                            <p:strVal val="#ppt_x-.2"/>
                                          </p:val>
                                        </p:tav>
                                        <p:tav tm="100000">
                                          <p:val>
                                            <p:strVal val="#ppt_x"/>
                                          </p:val>
                                        </p:tav>
                                      </p:tavLst>
                                    </p:anim>
                                    <p:anim calcmode="lin" valueType="num">
                                      <p:cBhvr>
                                        <p:cTn id="45" dur="500" fill="hold"/>
                                        <p:tgtEl>
                                          <p:spTgt spid="605187">
                                            <p:txEl>
                                              <p:pRg st="2" end="2"/>
                                            </p:txEl>
                                          </p:spTgt>
                                        </p:tgtEl>
                                        <p:attrNameLst>
                                          <p:attrName>ppt_y</p:attrName>
                                        </p:attrNameLst>
                                      </p:cBhvr>
                                      <p:tavLst>
                                        <p:tav tm="0">
                                          <p:val>
                                            <p:strVal val="#ppt_y"/>
                                          </p:val>
                                        </p:tav>
                                        <p:tav tm="100000">
                                          <p:val>
                                            <p:strVal val="#ppt_y"/>
                                          </p:val>
                                        </p:tav>
                                      </p:tavLst>
                                    </p:anim>
                                    <p:animEffect transition="in" filter="fade">
                                      <p:cBhvr>
                                        <p:cTn id="46" dur="500"/>
                                        <p:tgtEl>
                                          <p:spTgt spid="605187">
                                            <p:txEl>
                                              <p:pRg st="2" end="2"/>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54" presetClass="entr" presetSubtype="0" accel="100000" fill="hold" nodeType="clickEffect">
                                  <p:stCondLst>
                                    <p:cond delay="0"/>
                                  </p:stCondLst>
                                  <p:childTnLst>
                                    <p:set>
                                      <p:cBhvr>
                                        <p:cTn id="50" dur="1" fill="hold">
                                          <p:stCondLst>
                                            <p:cond delay="0"/>
                                          </p:stCondLst>
                                        </p:cTn>
                                        <p:tgtEl>
                                          <p:spTgt spid="605187">
                                            <p:txEl>
                                              <p:pRg st="3" end="3"/>
                                            </p:txEl>
                                          </p:spTgt>
                                        </p:tgtEl>
                                        <p:attrNameLst>
                                          <p:attrName>style.visibility</p:attrName>
                                        </p:attrNameLst>
                                      </p:cBhvr>
                                      <p:to>
                                        <p:strVal val="visible"/>
                                      </p:to>
                                    </p:set>
                                    <p:anim calcmode="lin" valueType="num">
                                      <p:cBhvr>
                                        <p:cTn id="51" dur="500" fill="hold"/>
                                        <p:tgtEl>
                                          <p:spTgt spid="605187">
                                            <p:txEl>
                                              <p:pRg st="3" end="3"/>
                                            </p:txEl>
                                          </p:spTgt>
                                        </p:tgtEl>
                                        <p:attrNameLst>
                                          <p:attrName>ppt_w</p:attrName>
                                        </p:attrNameLst>
                                      </p:cBhvr>
                                      <p:tavLst>
                                        <p:tav tm="0">
                                          <p:val>
                                            <p:strVal val="#ppt_w*0.05"/>
                                          </p:val>
                                        </p:tav>
                                        <p:tav tm="100000">
                                          <p:val>
                                            <p:strVal val="#ppt_w"/>
                                          </p:val>
                                        </p:tav>
                                      </p:tavLst>
                                    </p:anim>
                                    <p:anim calcmode="lin" valueType="num">
                                      <p:cBhvr>
                                        <p:cTn id="52" dur="500" fill="hold"/>
                                        <p:tgtEl>
                                          <p:spTgt spid="605187">
                                            <p:txEl>
                                              <p:pRg st="3" end="3"/>
                                            </p:txEl>
                                          </p:spTgt>
                                        </p:tgtEl>
                                        <p:attrNameLst>
                                          <p:attrName>ppt_h</p:attrName>
                                        </p:attrNameLst>
                                      </p:cBhvr>
                                      <p:tavLst>
                                        <p:tav tm="0">
                                          <p:val>
                                            <p:strVal val="#ppt_h"/>
                                          </p:val>
                                        </p:tav>
                                        <p:tav tm="100000">
                                          <p:val>
                                            <p:strVal val="#ppt_h"/>
                                          </p:val>
                                        </p:tav>
                                      </p:tavLst>
                                    </p:anim>
                                    <p:anim calcmode="lin" valueType="num">
                                      <p:cBhvr>
                                        <p:cTn id="53" dur="500" fill="hold"/>
                                        <p:tgtEl>
                                          <p:spTgt spid="605187">
                                            <p:txEl>
                                              <p:pRg st="3" end="3"/>
                                            </p:txEl>
                                          </p:spTgt>
                                        </p:tgtEl>
                                        <p:attrNameLst>
                                          <p:attrName>ppt_x</p:attrName>
                                        </p:attrNameLst>
                                      </p:cBhvr>
                                      <p:tavLst>
                                        <p:tav tm="0">
                                          <p:val>
                                            <p:strVal val="#ppt_x-.2"/>
                                          </p:val>
                                        </p:tav>
                                        <p:tav tm="100000">
                                          <p:val>
                                            <p:strVal val="#ppt_x"/>
                                          </p:val>
                                        </p:tav>
                                      </p:tavLst>
                                    </p:anim>
                                    <p:anim calcmode="lin" valueType="num">
                                      <p:cBhvr>
                                        <p:cTn id="54" dur="500" fill="hold"/>
                                        <p:tgtEl>
                                          <p:spTgt spid="605187">
                                            <p:txEl>
                                              <p:pRg st="3" end="3"/>
                                            </p:txEl>
                                          </p:spTgt>
                                        </p:tgtEl>
                                        <p:attrNameLst>
                                          <p:attrName>ppt_y</p:attrName>
                                        </p:attrNameLst>
                                      </p:cBhvr>
                                      <p:tavLst>
                                        <p:tav tm="0">
                                          <p:val>
                                            <p:strVal val="#ppt_y"/>
                                          </p:val>
                                        </p:tav>
                                        <p:tav tm="100000">
                                          <p:val>
                                            <p:strVal val="#ppt_y"/>
                                          </p:val>
                                        </p:tav>
                                      </p:tavLst>
                                    </p:anim>
                                    <p:animEffect transition="in" filter="fade">
                                      <p:cBhvr>
                                        <p:cTn id="55" dur="500"/>
                                        <p:tgtEl>
                                          <p:spTgt spid="605187">
                                            <p:txEl>
                                              <p:pRg st="3" end="3"/>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54" presetClass="entr" presetSubtype="0" accel="100000" fill="hold" nodeType="clickEffect">
                                  <p:stCondLst>
                                    <p:cond delay="0"/>
                                  </p:stCondLst>
                                  <p:childTnLst>
                                    <p:set>
                                      <p:cBhvr>
                                        <p:cTn id="59" dur="1" fill="hold">
                                          <p:stCondLst>
                                            <p:cond delay="0"/>
                                          </p:stCondLst>
                                        </p:cTn>
                                        <p:tgtEl>
                                          <p:spTgt spid="605187">
                                            <p:txEl>
                                              <p:pRg st="4" end="4"/>
                                            </p:txEl>
                                          </p:spTgt>
                                        </p:tgtEl>
                                        <p:attrNameLst>
                                          <p:attrName>style.visibility</p:attrName>
                                        </p:attrNameLst>
                                      </p:cBhvr>
                                      <p:to>
                                        <p:strVal val="visible"/>
                                      </p:to>
                                    </p:set>
                                    <p:anim calcmode="lin" valueType="num">
                                      <p:cBhvr>
                                        <p:cTn id="60" dur="500" fill="hold"/>
                                        <p:tgtEl>
                                          <p:spTgt spid="605187">
                                            <p:txEl>
                                              <p:pRg st="4" end="4"/>
                                            </p:txEl>
                                          </p:spTgt>
                                        </p:tgtEl>
                                        <p:attrNameLst>
                                          <p:attrName>ppt_w</p:attrName>
                                        </p:attrNameLst>
                                      </p:cBhvr>
                                      <p:tavLst>
                                        <p:tav tm="0">
                                          <p:val>
                                            <p:strVal val="#ppt_w*0.05"/>
                                          </p:val>
                                        </p:tav>
                                        <p:tav tm="100000">
                                          <p:val>
                                            <p:strVal val="#ppt_w"/>
                                          </p:val>
                                        </p:tav>
                                      </p:tavLst>
                                    </p:anim>
                                    <p:anim calcmode="lin" valueType="num">
                                      <p:cBhvr>
                                        <p:cTn id="61" dur="500" fill="hold"/>
                                        <p:tgtEl>
                                          <p:spTgt spid="605187">
                                            <p:txEl>
                                              <p:pRg st="4" end="4"/>
                                            </p:txEl>
                                          </p:spTgt>
                                        </p:tgtEl>
                                        <p:attrNameLst>
                                          <p:attrName>ppt_h</p:attrName>
                                        </p:attrNameLst>
                                      </p:cBhvr>
                                      <p:tavLst>
                                        <p:tav tm="0">
                                          <p:val>
                                            <p:strVal val="#ppt_h"/>
                                          </p:val>
                                        </p:tav>
                                        <p:tav tm="100000">
                                          <p:val>
                                            <p:strVal val="#ppt_h"/>
                                          </p:val>
                                        </p:tav>
                                      </p:tavLst>
                                    </p:anim>
                                    <p:anim calcmode="lin" valueType="num">
                                      <p:cBhvr>
                                        <p:cTn id="62" dur="500" fill="hold"/>
                                        <p:tgtEl>
                                          <p:spTgt spid="605187">
                                            <p:txEl>
                                              <p:pRg st="4" end="4"/>
                                            </p:txEl>
                                          </p:spTgt>
                                        </p:tgtEl>
                                        <p:attrNameLst>
                                          <p:attrName>ppt_x</p:attrName>
                                        </p:attrNameLst>
                                      </p:cBhvr>
                                      <p:tavLst>
                                        <p:tav tm="0">
                                          <p:val>
                                            <p:strVal val="#ppt_x-.2"/>
                                          </p:val>
                                        </p:tav>
                                        <p:tav tm="100000">
                                          <p:val>
                                            <p:strVal val="#ppt_x"/>
                                          </p:val>
                                        </p:tav>
                                      </p:tavLst>
                                    </p:anim>
                                    <p:anim calcmode="lin" valueType="num">
                                      <p:cBhvr>
                                        <p:cTn id="63" dur="500" fill="hold"/>
                                        <p:tgtEl>
                                          <p:spTgt spid="605187">
                                            <p:txEl>
                                              <p:pRg st="4" end="4"/>
                                            </p:txEl>
                                          </p:spTgt>
                                        </p:tgtEl>
                                        <p:attrNameLst>
                                          <p:attrName>ppt_y</p:attrName>
                                        </p:attrNameLst>
                                      </p:cBhvr>
                                      <p:tavLst>
                                        <p:tav tm="0">
                                          <p:val>
                                            <p:strVal val="#ppt_y"/>
                                          </p:val>
                                        </p:tav>
                                        <p:tav tm="100000">
                                          <p:val>
                                            <p:strVal val="#ppt_y"/>
                                          </p:val>
                                        </p:tav>
                                      </p:tavLst>
                                    </p:anim>
                                    <p:animEffect transition="in" filter="fade">
                                      <p:cBhvr>
                                        <p:cTn id="64" dur="500"/>
                                        <p:tgtEl>
                                          <p:spTgt spid="605187">
                                            <p:txEl>
                                              <p:pRg st="4" end="4"/>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54" presetClass="entr" presetSubtype="0" accel="100000" fill="hold" nodeType="clickEffect">
                                  <p:stCondLst>
                                    <p:cond delay="0"/>
                                  </p:stCondLst>
                                  <p:childTnLst>
                                    <p:set>
                                      <p:cBhvr>
                                        <p:cTn id="68" dur="1" fill="hold">
                                          <p:stCondLst>
                                            <p:cond delay="0"/>
                                          </p:stCondLst>
                                        </p:cTn>
                                        <p:tgtEl>
                                          <p:spTgt spid="605187">
                                            <p:txEl>
                                              <p:pRg st="5" end="5"/>
                                            </p:txEl>
                                          </p:spTgt>
                                        </p:tgtEl>
                                        <p:attrNameLst>
                                          <p:attrName>style.visibility</p:attrName>
                                        </p:attrNameLst>
                                      </p:cBhvr>
                                      <p:to>
                                        <p:strVal val="visible"/>
                                      </p:to>
                                    </p:set>
                                    <p:anim calcmode="lin" valueType="num">
                                      <p:cBhvr>
                                        <p:cTn id="69" dur="500" fill="hold"/>
                                        <p:tgtEl>
                                          <p:spTgt spid="605187">
                                            <p:txEl>
                                              <p:pRg st="5" end="5"/>
                                            </p:txEl>
                                          </p:spTgt>
                                        </p:tgtEl>
                                        <p:attrNameLst>
                                          <p:attrName>ppt_w</p:attrName>
                                        </p:attrNameLst>
                                      </p:cBhvr>
                                      <p:tavLst>
                                        <p:tav tm="0">
                                          <p:val>
                                            <p:strVal val="#ppt_w*0.05"/>
                                          </p:val>
                                        </p:tav>
                                        <p:tav tm="100000">
                                          <p:val>
                                            <p:strVal val="#ppt_w"/>
                                          </p:val>
                                        </p:tav>
                                      </p:tavLst>
                                    </p:anim>
                                    <p:anim calcmode="lin" valueType="num">
                                      <p:cBhvr>
                                        <p:cTn id="70" dur="500" fill="hold"/>
                                        <p:tgtEl>
                                          <p:spTgt spid="605187">
                                            <p:txEl>
                                              <p:pRg st="5" end="5"/>
                                            </p:txEl>
                                          </p:spTgt>
                                        </p:tgtEl>
                                        <p:attrNameLst>
                                          <p:attrName>ppt_h</p:attrName>
                                        </p:attrNameLst>
                                      </p:cBhvr>
                                      <p:tavLst>
                                        <p:tav tm="0">
                                          <p:val>
                                            <p:strVal val="#ppt_h"/>
                                          </p:val>
                                        </p:tav>
                                        <p:tav tm="100000">
                                          <p:val>
                                            <p:strVal val="#ppt_h"/>
                                          </p:val>
                                        </p:tav>
                                      </p:tavLst>
                                    </p:anim>
                                    <p:anim calcmode="lin" valueType="num">
                                      <p:cBhvr>
                                        <p:cTn id="71" dur="500" fill="hold"/>
                                        <p:tgtEl>
                                          <p:spTgt spid="605187">
                                            <p:txEl>
                                              <p:pRg st="5" end="5"/>
                                            </p:txEl>
                                          </p:spTgt>
                                        </p:tgtEl>
                                        <p:attrNameLst>
                                          <p:attrName>ppt_x</p:attrName>
                                        </p:attrNameLst>
                                      </p:cBhvr>
                                      <p:tavLst>
                                        <p:tav tm="0">
                                          <p:val>
                                            <p:strVal val="#ppt_x-.2"/>
                                          </p:val>
                                        </p:tav>
                                        <p:tav tm="100000">
                                          <p:val>
                                            <p:strVal val="#ppt_x"/>
                                          </p:val>
                                        </p:tav>
                                      </p:tavLst>
                                    </p:anim>
                                    <p:anim calcmode="lin" valueType="num">
                                      <p:cBhvr>
                                        <p:cTn id="72" dur="500" fill="hold"/>
                                        <p:tgtEl>
                                          <p:spTgt spid="605187">
                                            <p:txEl>
                                              <p:pRg st="5" end="5"/>
                                            </p:txEl>
                                          </p:spTgt>
                                        </p:tgtEl>
                                        <p:attrNameLst>
                                          <p:attrName>ppt_y</p:attrName>
                                        </p:attrNameLst>
                                      </p:cBhvr>
                                      <p:tavLst>
                                        <p:tav tm="0">
                                          <p:val>
                                            <p:strVal val="#ppt_y"/>
                                          </p:val>
                                        </p:tav>
                                        <p:tav tm="100000">
                                          <p:val>
                                            <p:strVal val="#ppt_y"/>
                                          </p:val>
                                        </p:tav>
                                      </p:tavLst>
                                    </p:anim>
                                    <p:animEffect transition="in" filter="fade">
                                      <p:cBhvr>
                                        <p:cTn id="73" dur="500"/>
                                        <p:tgtEl>
                                          <p:spTgt spid="605187">
                                            <p:txEl>
                                              <p:pRg st="5" end="5"/>
                                            </p:txEl>
                                          </p:spTgt>
                                        </p:tgtEl>
                                      </p:cBhvr>
                                    </p:animEffect>
                                  </p:childTnLst>
                                </p:cTn>
                              </p:par>
                              <p:par>
                                <p:cTn id="74" presetID="54" presetClass="entr" presetSubtype="0" accel="100000" fill="hold" nodeType="withEffect">
                                  <p:stCondLst>
                                    <p:cond delay="0"/>
                                  </p:stCondLst>
                                  <p:childTnLst>
                                    <p:set>
                                      <p:cBhvr>
                                        <p:cTn id="75" dur="1" fill="hold">
                                          <p:stCondLst>
                                            <p:cond delay="0"/>
                                          </p:stCondLst>
                                        </p:cTn>
                                        <p:tgtEl>
                                          <p:spTgt spid="605187">
                                            <p:txEl>
                                              <p:pRg st="6" end="6"/>
                                            </p:txEl>
                                          </p:spTgt>
                                        </p:tgtEl>
                                        <p:attrNameLst>
                                          <p:attrName>style.visibility</p:attrName>
                                        </p:attrNameLst>
                                      </p:cBhvr>
                                      <p:to>
                                        <p:strVal val="visible"/>
                                      </p:to>
                                    </p:set>
                                    <p:anim calcmode="lin" valueType="num">
                                      <p:cBhvr>
                                        <p:cTn id="76" dur="500" fill="hold"/>
                                        <p:tgtEl>
                                          <p:spTgt spid="605187">
                                            <p:txEl>
                                              <p:pRg st="6" end="6"/>
                                            </p:txEl>
                                          </p:spTgt>
                                        </p:tgtEl>
                                        <p:attrNameLst>
                                          <p:attrName>ppt_w</p:attrName>
                                        </p:attrNameLst>
                                      </p:cBhvr>
                                      <p:tavLst>
                                        <p:tav tm="0">
                                          <p:val>
                                            <p:strVal val="#ppt_w*0.05"/>
                                          </p:val>
                                        </p:tav>
                                        <p:tav tm="100000">
                                          <p:val>
                                            <p:strVal val="#ppt_w"/>
                                          </p:val>
                                        </p:tav>
                                      </p:tavLst>
                                    </p:anim>
                                    <p:anim calcmode="lin" valueType="num">
                                      <p:cBhvr>
                                        <p:cTn id="77" dur="500" fill="hold"/>
                                        <p:tgtEl>
                                          <p:spTgt spid="605187">
                                            <p:txEl>
                                              <p:pRg st="6" end="6"/>
                                            </p:txEl>
                                          </p:spTgt>
                                        </p:tgtEl>
                                        <p:attrNameLst>
                                          <p:attrName>ppt_h</p:attrName>
                                        </p:attrNameLst>
                                      </p:cBhvr>
                                      <p:tavLst>
                                        <p:tav tm="0">
                                          <p:val>
                                            <p:strVal val="#ppt_h"/>
                                          </p:val>
                                        </p:tav>
                                        <p:tav tm="100000">
                                          <p:val>
                                            <p:strVal val="#ppt_h"/>
                                          </p:val>
                                        </p:tav>
                                      </p:tavLst>
                                    </p:anim>
                                    <p:anim calcmode="lin" valueType="num">
                                      <p:cBhvr>
                                        <p:cTn id="78" dur="500" fill="hold"/>
                                        <p:tgtEl>
                                          <p:spTgt spid="605187">
                                            <p:txEl>
                                              <p:pRg st="6" end="6"/>
                                            </p:txEl>
                                          </p:spTgt>
                                        </p:tgtEl>
                                        <p:attrNameLst>
                                          <p:attrName>ppt_x</p:attrName>
                                        </p:attrNameLst>
                                      </p:cBhvr>
                                      <p:tavLst>
                                        <p:tav tm="0">
                                          <p:val>
                                            <p:strVal val="#ppt_x-.2"/>
                                          </p:val>
                                        </p:tav>
                                        <p:tav tm="100000">
                                          <p:val>
                                            <p:strVal val="#ppt_x"/>
                                          </p:val>
                                        </p:tav>
                                      </p:tavLst>
                                    </p:anim>
                                    <p:anim calcmode="lin" valueType="num">
                                      <p:cBhvr>
                                        <p:cTn id="79" dur="500" fill="hold"/>
                                        <p:tgtEl>
                                          <p:spTgt spid="605187">
                                            <p:txEl>
                                              <p:pRg st="6" end="6"/>
                                            </p:txEl>
                                          </p:spTgt>
                                        </p:tgtEl>
                                        <p:attrNameLst>
                                          <p:attrName>ppt_y</p:attrName>
                                        </p:attrNameLst>
                                      </p:cBhvr>
                                      <p:tavLst>
                                        <p:tav tm="0">
                                          <p:val>
                                            <p:strVal val="#ppt_y"/>
                                          </p:val>
                                        </p:tav>
                                        <p:tav tm="100000">
                                          <p:val>
                                            <p:strVal val="#ppt_y"/>
                                          </p:val>
                                        </p:tav>
                                      </p:tavLst>
                                    </p:anim>
                                    <p:animEffect transition="in" filter="fade">
                                      <p:cBhvr>
                                        <p:cTn id="80" dur="500"/>
                                        <p:tgtEl>
                                          <p:spTgt spid="605187">
                                            <p:txEl>
                                              <p:pRg st="6" end="6"/>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54" presetClass="entr" presetSubtype="0" accel="100000" fill="hold" grpId="0" nodeType="clickEffect">
                                  <p:stCondLst>
                                    <p:cond delay="0"/>
                                  </p:stCondLst>
                                  <p:childTnLst>
                                    <p:set>
                                      <p:cBhvr>
                                        <p:cTn id="84" dur="1" fill="hold">
                                          <p:stCondLst>
                                            <p:cond delay="0"/>
                                          </p:stCondLst>
                                        </p:cTn>
                                        <p:tgtEl>
                                          <p:spTgt spid="13"/>
                                        </p:tgtEl>
                                        <p:attrNameLst>
                                          <p:attrName>style.visibility</p:attrName>
                                        </p:attrNameLst>
                                      </p:cBhvr>
                                      <p:to>
                                        <p:strVal val="visible"/>
                                      </p:to>
                                    </p:set>
                                    <p:anim calcmode="lin" valueType="num">
                                      <p:cBhvr>
                                        <p:cTn id="85" dur="500" fill="hold"/>
                                        <p:tgtEl>
                                          <p:spTgt spid="13"/>
                                        </p:tgtEl>
                                        <p:attrNameLst>
                                          <p:attrName>ppt_w</p:attrName>
                                        </p:attrNameLst>
                                      </p:cBhvr>
                                      <p:tavLst>
                                        <p:tav tm="0">
                                          <p:val>
                                            <p:strVal val="#ppt_w*0.05"/>
                                          </p:val>
                                        </p:tav>
                                        <p:tav tm="100000">
                                          <p:val>
                                            <p:strVal val="#ppt_w"/>
                                          </p:val>
                                        </p:tav>
                                      </p:tavLst>
                                    </p:anim>
                                    <p:anim calcmode="lin" valueType="num">
                                      <p:cBhvr>
                                        <p:cTn id="86" dur="500" fill="hold"/>
                                        <p:tgtEl>
                                          <p:spTgt spid="13"/>
                                        </p:tgtEl>
                                        <p:attrNameLst>
                                          <p:attrName>ppt_h</p:attrName>
                                        </p:attrNameLst>
                                      </p:cBhvr>
                                      <p:tavLst>
                                        <p:tav tm="0">
                                          <p:val>
                                            <p:strVal val="#ppt_h"/>
                                          </p:val>
                                        </p:tav>
                                        <p:tav tm="100000">
                                          <p:val>
                                            <p:strVal val="#ppt_h"/>
                                          </p:val>
                                        </p:tav>
                                      </p:tavLst>
                                    </p:anim>
                                    <p:anim calcmode="lin" valueType="num">
                                      <p:cBhvr>
                                        <p:cTn id="87" dur="500" fill="hold"/>
                                        <p:tgtEl>
                                          <p:spTgt spid="13"/>
                                        </p:tgtEl>
                                        <p:attrNameLst>
                                          <p:attrName>ppt_x</p:attrName>
                                        </p:attrNameLst>
                                      </p:cBhvr>
                                      <p:tavLst>
                                        <p:tav tm="0">
                                          <p:val>
                                            <p:strVal val="#ppt_x-.2"/>
                                          </p:val>
                                        </p:tav>
                                        <p:tav tm="100000">
                                          <p:val>
                                            <p:strVal val="#ppt_x"/>
                                          </p:val>
                                        </p:tav>
                                      </p:tavLst>
                                    </p:anim>
                                    <p:anim calcmode="lin" valueType="num">
                                      <p:cBhvr>
                                        <p:cTn id="88" dur="500" fill="hold"/>
                                        <p:tgtEl>
                                          <p:spTgt spid="13"/>
                                        </p:tgtEl>
                                        <p:attrNameLst>
                                          <p:attrName>ppt_y</p:attrName>
                                        </p:attrNameLst>
                                      </p:cBhvr>
                                      <p:tavLst>
                                        <p:tav tm="0">
                                          <p:val>
                                            <p:strVal val="#ppt_y"/>
                                          </p:val>
                                        </p:tav>
                                        <p:tav tm="100000">
                                          <p:val>
                                            <p:strVal val="#ppt_y"/>
                                          </p:val>
                                        </p:tav>
                                      </p:tavLst>
                                    </p:anim>
                                    <p:animEffect transition="in" filter="fade">
                                      <p:cBhvr>
                                        <p:cTn id="89" dur="500"/>
                                        <p:tgtEl>
                                          <p:spTgt spid="13"/>
                                        </p:tgtEl>
                                      </p:cBhvr>
                                    </p:animEffect>
                                  </p:childTnLst>
                                </p:cTn>
                              </p:par>
                            </p:childTnLst>
                          </p:cTn>
                        </p:par>
                      </p:childTnLst>
                    </p:cTn>
                  </p:par>
                  <p:par>
                    <p:cTn id="90" fill="hold">
                      <p:stCondLst>
                        <p:cond delay="indefinite"/>
                      </p:stCondLst>
                      <p:childTnLst>
                        <p:par>
                          <p:cTn id="91" fill="hold">
                            <p:stCondLst>
                              <p:cond delay="0"/>
                            </p:stCondLst>
                            <p:childTnLst>
                              <p:par>
                                <p:cTn id="92" presetID="54" presetClass="entr" presetSubtype="0" accel="100000" fill="hold" grpId="0" nodeType="clickEffect">
                                  <p:stCondLst>
                                    <p:cond delay="0"/>
                                  </p:stCondLst>
                                  <p:childTnLst>
                                    <p:set>
                                      <p:cBhvr>
                                        <p:cTn id="93" dur="1" fill="hold">
                                          <p:stCondLst>
                                            <p:cond delay="0"/>
                                          </p:stCondLst>
                                        </p:cTn>
                                        <p:tgtEl>
                                          <p:spTgt spid="27"/>
                                        </p:tgtEl>
                                        <p:attrNameLst>
                                          <p:attrName>style.visibility</p:attrName>
                                        </p:attrNameLst>
                                      </p:cBhvr>
                                      <p:to>
                                        <p:strVal val="visible"/>
                                      </p:to>
                                    </p:set>
                                    <p:anim calcmode="lin" valueType="num">
                                      <p:cBhvr>
                                        <p:cTn id="94" dur="500" fill="hold"/>
                                        <p:tgtEl>
                                          <p:spTgt spid="27"/>
                                        </p:tgtEl>
                                        <p:attrNameLst>
                                          <p:attrName>ppt_w</p:attrName>
                                        </p:attrNameLst>
                                      </p:cBhvr>
                                      <p:tavLst>
                                        <p:tav tm="0">
                                          <p:val>
                                            <p:strVal val="#ppt_w*0.05"/>
                                          </p:val>
                                        </p:tav>
                                        <p:tav tm="100000">
                                          <p:val>
                                            <p:strVal val="#ppt_w"/>
                                          </p:val>
                                        </p:tav>
                                      </p:tavLst>
                                    </p:anim>
                                    <p:anim calcmode="lin" valueType="num">
                                      <p:cBhvr>
                                        <p:cTn id="95" dur="500" fill="hold"/>
                                        <p:tgtEl>
                                          <p:spTgt spid="27"/>
                                        </p:tgtEl>
                                        <p:attrNameLst>
                                          <p:attrName>ppt_h</p:attrName>
                                        </p:attrNameLst>
                                      </p:cBhvr>
                                      <p:tavLst>
                                        <p:tav tm="0">
                                          <p:val>
                                            <p:strVal val="#ppt_h"/>
                                          </p:val>
                                        </p:tav>
                                        <p:tav tm="100000">
                                          <p:val>
                                            <p:strVal val="#ppt_h"/>
                                          </p:val>
                                        </p:tav>
                                      </p:tavLst>
                                    </p:anim>
                                    <p:anim calcmode="lin" valueType="num">
                                      <p:cBhvr>
                                        <p:cTn id="96" dur="500" fill="hold"/>
                                        <p:tgtEl>
                                          <p:spTgt spid="27"/>
                                        </p:tgtEl>
                                        <p:attrNameLst>
                                          <p:attrName>ppt_x</p:attrName>
                                        </p:attrNameLst>
                                      </p:cBhvr>
                                      <p:tavLst>
                                        <p:tav tm="0">
                                          <p:val>
                                            <p:strVal val="#ppt_x-.2"/>
                                          </p:val>
                                        </p:tav>
                                        <p:tav tm="100000">
                                          <p:val>
                                            <p:strVal val="#ppt_x"/>
                                          </p:val>
                                        </p:tav>
                                      </p:tavLst>
                                    </p:anim>
                                    <p:anim calcmode="lin" valueType="num">
                                      <p:cBhvr>
                                        <p:cTn id="97" dur="500" fill="hold"/>
                                        <p:tgtEl>
                                          <p:spTgt spid="27"/>
                                        </p:tgtEl>
                                        <p:attrNameLst>
                                          <p:attrName>ppt_y</p:attrName>
                                        </p:attrNameLst>
                                      </p:cBhvr>
                                      <p:tavLst>
                                        <p:tav tm="0">
                                          <p:val>
                                            <p:strVal val="#ppt_y"/>
                                          </p:val>
                                        </p:tav>
                                        <p:tav tm="100000">
                                          <p:val>
                                            <p:strVal val="#ppt_y"/>
                                          </p:val>
                                        </p:tav>
                                      </p:tavLst>
                                    </p:anim>
                                    <p:animEffect transition="in" filter="fade">
                                      <p:cBhvr>
                                        <p:cTn id="98" dur="500"/>
                                        <p:tgtEl>
                                          <p:spTgt spid="27"/>
                                        </p:tgtEl>
                                      </p:cBhvr>
                                    </p:animEffect>
                                  </p:childTnLst>
                                </p:cTn>
                              </p:par>
                            </p:childTnLst>
                          </p:cTn>
                        </p:par>
                      </p:childTnLst>
                    </p:cTn>
                  </p:par>
                  <p:par>
                    <p:cTn id="99" fill="hold">
                      <p:stCondLst>
                        <p:cond delay="indefinite"/>
                      </p:stCondLst>
                      <p:childTnLst>
                        <p:par>
                          <p:cTn id="100" fill="hold">
                            <p:stCondLst>
                              <p:cond delay="0"/>
                            </p:stCondLst>
                            <p:childTnLst>
                              <p:par>
                                <p:cTn id="101" presetID="54" presetClass="entr" presetSubtype="0" accel="100000" fill="hold" grpId="0" nodeType="clickEffect">
                                  <p:stCondLst>
                                    <p:cond delay="0"/>
                                  </p:stCondLst>
                                  <p:childTnLst>
                                    <p:set>
                                      <p:cBhvr>
                                        <p:cTn id="102" dur="1" fill="hold">
                                          <p:stCondLst>
                                            <p:cond delay="0"/>
                                          </p:stCondLst>
                                        </p:cTn>
                                        <p:tgtEl>
                                          <p:spTgt spid="15"/>
                                        </p:tgtEl>
                                        <p:attrNameLst>
                                          <p:attrName>style.visibility</p:attrName>
                                        </p:attrNameLst>
                                      </p:cBhvr>
                                      <p:to>
                                        <p:strVal val="visible"/>
                                      </p:to>
                                    </p:set>
                                    <p:anim calcmode="lin" valueType="num">
                                      <p:cBhvr>
                                        <p:cTn id="103" dur="500" fill="hold"/>
                                        <p:tgtEl>
                                          <p:spTgt spid="15"/>
                                        </p:tgtEl>
                                        <p:attrNameLst>
                                          <p:attrName>ppt_w</p:attrName>
                                        </p:attrNameLst>
                                      </p:cBhvr>
                                      <p:tavLst>
                                        <p:tav tm="0">
                                          <p:val>
                                            <p:strVal val="#ppt_w*0.05"/>
                                          </p:val>
                                        </p:tav>
                                        <p:tav tm="100000">
                                          <p:val>
                                            <p:strVal val="#ppt_w"/>
                                          </p:val>
                                        </p:tav>
                                      </p:tavLst>
                                    </p:anim>
                                    <p:anim calcmode="lin" valueType="num">
                                      <p:cBhvr>
                                        <p:cTn id="104" dur="500" fill="hold"/>
                                        <p:tgtEl>
                                          <p:spTgt spid="15"/>
                                        </p:tgtEl>
                                        <p:attrNameLst>
                                          <p:attrName>ppt_h</p:attrName>
                                        </p:attrNameLst>
                                      </p:cBhvr>
                                      <p:tavLst>
                                        <p:tav tm="0">
                                          <p:val>
                                            <p:strVal val="#ppt_h"/>
                                          </p:val>
                                        </p:tav>
                                        <p:tav tm="100000">
                                          <p:val>
                                            <p:strVal val="#ppt_h"/>
                                          </p:val>
                                        </p:tav>
                                      </p:tavLst>
                                    </p:anim>
                                    <p:anim calcmode="lin" valueType="num">
                                      <p:cBhvr>
                                        <p:cTn id="105" dur="500" fill="hold"/>
                                        <p:tgtEl>
                                          <p:spTgt spid="15"/>
                                        </p:tgtEl>
                                        <p:attrNameLst>
                                          <p:attrName>ppt_x</p:attrName>
                                        </p:attrNameLst>
                                      </p:cBhvr>
                                      <p:tavLst>
                                        <p:tav tm="0">
                                          <p:val>
                                            <p:strVal val="#ppt_x-.2"/>
                                          </p:val>
                                        </p:tav>
                                        <p:tav tm="100000">
                                          <p:val>
                                            <p:strVal val="#ppt_x"/>
                                          </p:val>
                                        </p:tav>
                                      </p:tavLst>
                                    </p:anim>
                                    <p:anim calcmode="lin" valueType="num">
                                      <p:cBhvr>
                                        <p:cTn id="106" dur="500" fill="hold"/>
                                        <p:tgtEl>
                                          <p:spTgt spid="15"/>
                                        </p:tgtEl>
                                        <p:attrNameLst>
                                          <p:attrName>ppt_y</p:attrName>
                                        </p:attrNameLst>
                                      </p:cBhvr>
                                      <p:tavLst>
                                        <p:tav tm="0">
                                          <p:val>
                                            <p:strVal val="#ppt_y"/>
                                          </p:val>
                                        </p:tav>
                                        <p:tav tm="100000">
                                          <p:val>
                                            <p:strVal val="#ppt_y"/>
                                          </p:val>
                                        </p:tav>
                                      </p:tavLst>
                                    </p:anim>
                                    <p:animEffect transition="in" filter="fade">
                                      <p:cBhvr>
                                        <p:cTn id="107" dur="500"/>
                                        <p:tgtEl>
                                          <p:spTgt spid="15"/>
                                        </p:tgtEl>
                                      </p:cBhvr>
                                    </p:animEffect>
                                  </p:childTnLst>
                                </p:cTn>
                              </p:par>
                            </p:childTnLst>
                          </p:cTn>
                        </p:par>
                      </p:childTnLst>
                    </p:cTn>
                  </p:par>
                  <p:par>
                    <p:cTn id="108" fill="hold">
                      <p:stCondLst>
                        <p:cond delay="indefinite"/>
                      </p:stCondLst>
                      <p:childTnLst>
                        <p:par>
                          <p:cTn id="109" fill="hold">
                            <p:stCondLst>
                              <p:cond delay="0"/>
                            </p:stCondLst>
                            <p:childTnLst>
                              <p:par>
                                <p:cTn id="110" presetID="54" presetClass="entr" presetSubtype="0" accel="100000" fill="hold" grpId="0" nodeType="clickEffect">
                                  <p:stCondLst>
                                    <p:cond delay="0"/>
                                  </p:stCondLst>
                                  <p:childTnLst>
                                    <p:set>
                                      <p:cBhvr>
                                        <p:cTn id="111" dur="1" fill="hold">
                                          <p:stCondLst>
                                            <p:cond delay="0"/>
                                          </p:stCondLst>
                                        </p:cTn>
                                        <p:tgtEl>
                                          <p:spTgt spid="28"/>
                                        </p:tgtEl>
                                        <p:attrNameLst>
                                          <p:attrName>style.visibility</p:attrName>
                                        </p:attrNameLst>
                                      </p:cBhvr>
                                      <p:to>
                                        <p:strVal val="visible"/>
                                      </p:to>
                                    </p:set>
                                    <p:anim calcmode="lin" valueType="num">
                                      <p:cBhvr>
                                        <p:cTn id="112" dur="500" fill="hold"/>
                                        <p:tgtEl>
                                          <p:spTgt spid="28"/>
                                        </p:tgtEl>
                                        <p:attrNameLst>
                                          <p:attrName>ppt_w</p:attrName>
                                        </p:attrNameLst>
                                      </p:cBhvr>
                                      <p:tavLst>
                                        <p:tav tm="0">
                                          <p:val>
                                            <p:strVal val="#ppt_w*0.05"/>
                                          </p:val>
                                        </p:tav>
                                        <p:tav tm="100000">
                                          <p:val>
                                            <p:strVal val="#ppt_w"/>
                                          </p:val>
                                        </p:tav>
                                      </p:tavLst>
                                    </p:anim>
                                    <p:anim calcmode="lin" valueType="num">
                                      <p:cBhvr>
                                        <p:cTn id="113" dur="500" fill="hold"/>
                                        <p:tgtEl>
                                          <p:spTgt spid="28"/>
                                        </p:tgtEl>
                                        <p:attrNameLst>
                                          <p:attrName>ppt_h</p:attrName>
                                        </p:attrNameLst>
                                      </p:cBhvr>
                                      <p:tavLst>
                                        <p:tav tm="0">
                                          <p:val>
                                            <p:strVal val="#ppt_h"/>
                                          </p:val>
                                        </p:tav>
                                        <p:tav tm="100000">
                                          <p:val>
                                            <p:strVal val="#ppt_h"/>
                                          </p:val>
                                        </p:tav>
                                      </p:tavLst>
                                    </p:anim>
                                    <p:anim calcmode="lin" valueType="num">
                                      <p:cBhvr>
                                        <p:cTn id="114" dur="500" fill="hold"/>
                                        <p:tgtEl>
                                          <p:spTgt spid="28"/>
                                        </p:tgtEl>
                                        <p:attrNameLst>
                                          <p:attrName>ppt_x</p:attrName>
                                        </p:attrNameLst>
                                      </p:cBhvr>
                                      <p:tavLst>
                                        <p:tav tm="0">
                                          <p:val>
                                            <p:strVal val="#ppt_x-.2"/>
                                          </p:val>
                                        </p:tav>
                                        <p:tav tm="100000">
                                          <p:val>
                                            <p:strVal val="#ppt_x"/>
                                          </p:val>
                                        </p:tav>
                                      </p:tavLst>
                                    </p:anim>
                                    <p:anim calcmode="lin" valueType="num">
                                      <p:cBhvr>
                                        <p:cTn id="115" dur="500" fill="hold"/>
                                        <p:tgtEl>
                                          <p:spTgt spid="28"/>
                                        </p:tgtEl>
                                        <p:attrNameLst>
                                          <p:attrName>ppt_y</p:attrName>
                                        </p:attrNameLst>
                                      </p:cBhvr>
                                      <p:tavLst>
                                        <p:tav tm="0">
                                          <p:val>
                                            <p:strVal val="#ppt_y"/>
                                          </p:val>
                                        </p:tav>
                                        <p:tav tm="100000">
                                          <p:val>
                                            <p:strVal val="#ppt_y"/>
                                          </p:val>
                                        </p:tav>
                                      </p:tavLst>
                                    </p:anim>
                                    <p:animEffect transition="in" filter="fade">
                                      <p:cBhvr>
                                        <p:cTn id="116" dur="500"/>
                                        <p:tgtEl>
                                          <p:spTgt spid="28"/>
                                        </p:tgtEl>
                                      </p:cBhvr>
                                    </p:animEffect>
                                  </p:childTnLst>
                                </p:cTn>
                              </p:par>
                            </p:childTnLst>
                          </p:cTn>
                        </p:par>
                      </p:childTnLst>
                    </p:cTn>
                  </p:par>
                  <p:par>
                    <p:cTn id="117" fill="hold">
                      <p:stCondLst>
                        <p:cond delay="indefinite"/>
                      </p:stCondLst>
                      <p:childTnLst>
                        <p:par>
                          <p:cTn id="118" fill="hold">
                            <p:stCondLst>
                              <p:cond delay="0"/>
                            </p:stCondLst>
                            <p:childTnLst>
                              <p:par>
                                <p:cTn id="119" presetID="54" presetClass="entr" presetSubtype="0" accel="100000" fill="hold" grpId="0" nodeType="clickEffect">
                                  <p:stCondLst>
                                    <p:cond delay="0"/>
                                  </p:stCondLst>
                                  <p:childTnLst>
                                    <p:set>
                                      <p:cBhvr>
                                        <p:cTn id="120" dur="1" fill="hold">
                                          <p:stCondLst>
                                            <p:cond delay="0"/>
                                          </p:stCondLst>
                                        </p:cTn>
                                        <p:tgtEl>
                                          <p:spTgt spid="25"/>
                                        </p:tgtEl>
                                        <p:attrNameLst>
                                          <p:attrName>style.visibility</p:attrName>
                                        </p:attrNameLst>
                                      </p:cBhvr>
                                      <p:to>
                                        <p:strVal val="visible"/>
                                      </p:to>
                                    </p:set>
                                    <p:anim calcmode="lin" valueType="num">
                                      <p:cBhvr>
                                        <p:cTn id="121" dur="500" fill="hold"/>
                                        <p:tgtEl>
                                          <p:spTgt spid="25"/>
                                        </p:tgtEl>
                                        <p:attrNameLst>
                                          <p:attrName>ppt_w</p:attrName>
                                        </p:attrNameLst>
                                      </p:cBhvr>
                                      <p:tavLst>
                                        <p:tav tm="0">
                                          <p:val>
                                            <p:strVal val="#ppt_w*0.05"/>
                                          </p:val>
                                        </p:tav>
                                        <p:tav tm="100000">
                                          <p:val>
                                            <p:strVal val="#ppt_w"/>
                                          </p:val>
                                        </p:tav>
                                      </p:tavLst>
                                    </p:anim>
                                    <p:anim calcmode="lin" valueType="num">
                                      <p:cBhvr>
                                        <p:cTn id="122" dur="500" fill="hold"/>
                                        <p:tgtEl>
                                          <p:spTgt spid="25"/>
                                        </p:tgtEl>
                                        <p:attrNameLst>
                                          <p:attrName>ppt_h</p:attrName>
                                        </p:attrNameLst>
                                      </p:cBhvr>
                                      <p:tavLst>
                                        <p:tav tm="0">
                                          <p:val>
                                            <p:strVal val="#ppt_h"/>
                                          </p:val>
                                        </p:tav>
                                        <p:tav tm="100000">
                                          <p:val>
                                            <p:strVal val="#ppt_h"/>
                                          </p:val>
                                        </p:tav>
                                      </p:tavLst>
                                    </p:anim>
                                    <p:anim calcmode="lin" valueType="num">
                                      <p:cBhvr>
                                        <p:cTn id="123" dur="500" fill="hold"/>
                                        <p:tgtEl>
                                          <p:spTgt spid="25"/>
                                        </p:tgtEl>
                                        <p:attrNameLst>
                                          <p:attrName>ppt_x</p:attrName>
                                        </p:attrNameLst>
                                      </p:cBhvr>
                                      <p:tavLst>
                                        <p:tav tm="0">
                                          <p:val>
                                            <p:strVal val="#ppt_x-.2"/>
                                          </p:val>
                                        </p:tav>
                                        <p:tav tm="100000">
                                          <p:val>
                                            <p:strVal val="#ppt_x"/>
                                          </p:val>
                                        </p:tav>
                                      </p:tavLst>
                                    </p:anim>
                                    <p:anim calcmode="lin" valueType="num">
                                      <p:cBhvr>
                                        <p:cTn id="124" dur="500" fill="hold"/>
                                        <p:tgtEl>
                                          <p:spTgt spid="25"/>
                                        </p:tgtEl>
                                        <p:attrNameLst>
                                          <p:attrName>ppt_y</p:attrName>
                                        </p:attrNameLst>
                                      </p:cBhvr>
                                      <p:tavLst>
                                        <p:tav tm="0">
                                          <p:val>
                                            <p:strVal val="#ppt_y"/>
                                          </p:val>
                                        </p:tav>
                                        <p:tav tm="100000">
                                          <p:val>
                                            <p:strVal val="#ppt_y"/>
                                          </p:val>
                                        </p:tav>
                                      </p:tavLst>
                                    </p:anim>
                                    <p:animEffect transition="in" filter="fade">
                                      <p:cBhvr>
                                        <p:cTn id="125" dur="500"/>
                                        <p:tgtEl>
                                          <p:spTgt spid="25"/>
                                        </p:tgtEl>
                                      </p:cBhvr>
                                    </p:animEffect>
                                  </p:childTnLst>
                                </p:cTn>
                              </p:par>
                            </p:childTnLst>
                          </p:cTn>
                        </p:par>
                      </p:childTnLst>
                    </p:cTn>
                  </p:par>
                  <p:par>
                    <p:cTn id="126" fill="hold">
                      <p:stCondLst>
                        <p:cond delay="indefinite"/>
                      </p:stCondLst>
                      <p:childTnLst>
                        <p:par>
                          <p:cTn id="127" fill="hold">
                            <p:stCondLst>
                              <p:cond delay="0"/>
                            </p:stCondLst>
                            <p:childTnLst>
                              <p:par>
                                <p:cTn id="128" presetID="54" presetClass="entr" presetSubtype="0" accel="100000" fill="hold" grpId="0" nodeType="clickEffect">
                                  <p:stCondLst>
                                    <p:cond delay="0"/>
                                  </p:stCondLst>
                                  <p:childTnLst>
                                    <p:set>
                                      <p:cBhvr>
                                        <p:cTn id="129" dur="1" fill="hold">
                                          <p:stCondLst>
                                            <p:cond delay="0"/>
                                          </p:stCondLst>
                                        </p:cTn>
                                        <p:tgtEl>
                                          <p:spTgt spid="30"/>
                                        </p:tgtEl>
                                        <p:attrNameLst>
                                          <p:attrName>style.visibility</p:attrName>
                                        </p:attrNameLst>
                                      </p:cBhvr>
                                      <p:to>
                                        <p:strVal val="visible"/>
                                      </p:to>
                                    </p:set>
                                    <p:anim calcmode="lin" valueType="num">
                                      <p:cBhvr>
                                        <p:cTn id="130" dur="500" fill="hold"/>
                                        <p:tgtEl>
                                          <p:spTgt spid="30"/>
                                        </p:tgtEl>
                                        <p:attrNameLst>
                                          <p:attrName>ppt_w</p:attrName>
                                        </p:attrNameLst>
                                      </p:cBhvr>
                                      <p:tavLst>
                                        <p:tav tm="0">
                                          <p:val>
                                            <p:strVal val="#ppt_w*0.05"/>
                                          </p:val>
                                        </p:tav>
                                        <p:tav tm="100000">
                                          <p:val>
                                            <p:strVal val="#ppt_w"/>
                                          </p:val>
                                        </p:tav>
                                      </p:tavLst>
                                    </p:anim>
                                    <p:anim calcmode="lin" valueType="num">
                                      <p:cBhvr>
                                        <p:cTn id="131" dur="500" fill="hold"/>
                                        <p:tgtEl>
                                          <p:spTgt spid="30"/>
                                        </p:tgtEl>
                                        <p:attrNameLst>
                                          <p:attrName>ppt_h</p:attrName>
                                        </p:attrNameLst>
                                      </p:cBhvr>
                                      <p:tavLst>
                                        <p:tav tm="0">
                                          <p:val>
                                            <p:strVal val="#ppt_h"/>
                                          </p:val>
                                        </p:tav>
                                        <p:tav tm="100000">
                                          <p:val>
                                            <p:strVal val="#ppt_h"/>
                                          </p:val>
                                        </p:tav>
                                      </p:tavLst>
                                    </p:anim>
                                    <p:anim calcmode="lin" valueType="num">
                                      <p:cBhvr>
                                        <p:cTn id="132" dur="500" fill="hold"/>
                                        <p:tgtEl>
                                          <p:spTgt spid="30"/>
                                        </p:tgtEl>
                                        <p:attrNameLst>
                                          <p:attrName>ppt_x</p:attrName>
                                        </p:attrNameLst>
                                      </p:cBhvr>
                                      <p:tavLst>
                                        <p:tav tm="0">
                                          <p:val>
                                            <p:strVal val="#ppt_x-.2"/>
                                          </p:val>
                                        </p:tav>
                                        <p:tav tm="100000">
                                          <p:val>
                                            <p:strVal val="#ppt_x"/>
                                          </p:val>
                                        </p:tav>
                                      </p:tavLst>
                                    </p:anim>
                                    <p:anim calcmode="lin" valueType="num">
                                      <p:cBhvr>
                                        <p:cTn id="133" dur="500" fill="hold"/>
                                        <p:tgtEl>
                                          <p:spTgt spid="30"/>
                                        </p:tgtEl>
                                        <p:attrNameLst>
                                          <p:attrName>ppt_y</p:attrName>
                                        </p:attrNameLst>
                                      </p:cBhvr>
                                      <p:tavLst>
                                        <p:tav tm="0">
                                          <p:val>
                                            <p:strVal val="#ppt_y"/>
                                          </p:val>
                                        </p:tav>
                                        <p:tav tm="100000">
                                          <p:val>
                                            <p:strVal val="#ppt_y"/>
                                          </p:val>
                                        </p:tav>
                                      </p:tavLst>
                                    </p:anim>
                                    <p:animEffect transition="in" filter="fade">
                                      <p:cBhvr>
                                        <p:cTn id="134" dur="500"/>
                                        <p:tgtEl>
                                          <p:spTgt spid="30"/>
                                        </p:tgtEl>
                                      </p:cBhvr>
                                    </p:animEffect>
                                  </p:childTnLst>
                                </p:cTn>
                              </p:par>
                            </p:childTnLst>
                          </p:cTn>
                        </p:par>
                      </p:childTnLst>
                    </p:cTn>
                  </p:par>
                  <p:par>
                    <p:cTn id="135" fill="hold">
                      <p:stCondLst>
                        <p:cond delay="indefinite"/>
                      </p:stCondLst>
                      <p:childTnLst>
                        <p:par>
                          <p:cTn id="136" fill="hold">
                            <p:stCondLst>
                              <p:cond delay="0"/>
                            </p:stCondLst>
                            <p:childTnLst>
                              <p:par>
                                <p:cTn id="137" presetID="54" presetClass="entr" presetSubtype="0" accel="100000" fill="hold" grpId="0" nodeType="clickEffect">
                                  <p:stCondLst>
                                    <p:cond delay="0"/>
                                  </p:stCondLst>
                                  <p:childTnLst>
                                    <p:set>
                                      <p:cBhvr>
                                        <p:cTn id="138" dur="1" fill="hold">
                                          <p:stCondLst>
                                            <p:cond delay="0"/>
                                          </p:stCondLst>
                                        </p:cTn>
                                        <p:tgtEl>
                                          <p:spTgt spid="26"/>
                                        </p:tgtEl>
                                        <p:attrNameLst>
                                          <p:attrName>style.visibility</p:attrName>
                                        </p:attrNameLst>
                                      </p:cBhvr>
                                      <p:to>
                                        <p:strVal val="visible"/>
                                      </p:to>
                                    </p:set>
                                    <p:anim calcmode="lin" valueType="num">
                                      <p:cBhvr>
                                        <p:cTn id="139" dur="500" fill="hold"/>
                                        <p:tgtEl>
                                          <p:spTgt spid="26"/>
                                        </p:tgtEl>
                                        <p:attrNameLst>
                                          <p:attrName>ppt_w</p:attrName>
                                        </p:attrNameLst>
                                      </p:cBhvr>
                                      <p:tavLst>
                                        <p:tav tm="0">
                                          <p:val>
                                            <p:strVal val="#ppt_w*0.05"/>
                                          </p:val>
                                        </p:tav>
                                        <p:tav tm="100000">
                                          <p:val>
                                            <p:strVal val="#ppt_w"/>
                                          </p:val>
                                        </p:tav>
                                      </p:tavLst>
                                    </p:anim>
                                    <p:anim calcmode="lin" valueType="num">
                                      <p:cBhvr>
                                        <p:cTn id="140" dur="500" fill="hold"/>
                                        <p:tgtEl>
                                          <p:spTgt spid="26"/>
                                        </p:tgtEl>
                                        <p:attrNameLst>
                                          <p:attrName>ppt_h</p:attrName>
                                        </p:attrNameLst>
                                      </p:cBhvr>
                                      <p:tavLst>
                                        <p:tav tm="0">
                                          <p:val>
                                            <p:strVal val="#ppt_h"/>
                                          </p:val>
                                        </p:tav>
                                        <p:tav tm="100000">
                                          <p:val>
                                            <p:strVal val="#ppt_h"/>
                                          </p:val>
                                        </p:tav>
                                      </p:tavLst>
                                    </p:anim>
                                    <p:anim calcmode="lin" valueType="num">
                                      <p:cBhvr>
                                        <p:cTn id="141" dur="500" fill="hold"/>
                                        <p:tgtEl>
                                          <p:spTgt spid="26"/>
                                        </p:tgtEl>
                                        <p:attrNameLst>
                                          <p:attrName>ppt_x</p:attrName>
                                        </p:attrNameLst>
                                      </p:cBhvr>
                                      <p:tavLst>
                                        <p:tav tm="0">
                                          <p:val>
                                            <p:strVal val="#ppt_x-.2"/>
                                          </p:val>
                                        </p:tav>
                                        <p:tav tm="100000">
                                          <p:val>
                                            <p:strVal val="#ppt_x"/>
                                          </p:val>
                                        </p:tav>
                                      </p:tavLst>
                                    </p:anim>
                                    <p:anim calcmode="lin" valueType="num">
                                      <p:cBhvr>
                                        <p:cTn id="142" dur="500" fill="hold"/>
                                        <p:tgtEl>
                                          <p:spTgt spid="26"/>
                                        </p:tgtEl>
                                        <p:attrNameLst>
                                          <p:attrName>ppt_y</p:attrName>
                                        </p:attrNameLst>
                                      </p:cBhvr>
                                      <p:tavLst>
                                        <p:tav tm="0">
                                          <p:val>
                                            <p:strVal val="#ppt_y"/>
                                          </p:val>
                                        </p:tav>
                                        <p:tav tm="100000">
                                          <p:val>
                                            <p:strVal val="#ppt_y"/>
                                          </p:val>
                                        </p:tav>
                                      </p:tavLst>
                                    </p:anim>
                                    <p:animEffect transition="in" filter="fade">
                                      <p:cBhvr>
                                        <p:cTn id="143" dur="500"/>
                                        <p:tgtEl>
                                          <p:spTgt spid="26"/>
                                        </p:tgtEl>
                                      </p:cBhvr>
                                    </p:animEffect>
                                  </p:childTnLst>
                                </p:cTn>
                              </p:par>
                            </p:childTnLst>
                          </p:cTn>
                        </p:par>
                      </p:childTnLst>
                    </p:cTn>
                  </p:par>
                  <p:par>
                    <p:cTn id="144" fill="hold">
                      <p:stCondLst>
                        <p:cond delay="indefinite"/>
                      </p:stCondLst>
                      <p:childTnLst>
                        <p:par>
                          <p:cTn id="145" fill="hold">
                            <p:stCondLst>
                              <p:cond delay="0"/>
                            </p:stCondLst>
                            <p:childTnLst>
                              <p:par>
                                <p:cTn id="146" presetID="54" presetClass="entr" presetSubtype="0" accel="100000" fill="hold" grpId="0" nodeType="clickEffect">
                                  <p:stCondLst>
                                    <p:cond delay="0"/>
                                  </p:stCondLst>
                                  <p:childTnLst>
                                    <p:set>
                                      <p:cBhvr>
                                        <p:cTn id="147" dur="1" fill="hold">
                                          <p:stCondLst>
                                            <p:cond delay="0"/>
                                          </p:stCondLst>
                                        </p:cTn>
                                        <p:tgtEl>
                                          <p:spTgt spid="31"/>
                                        </p:tgtEl>
                                        <p:attrNameLst>
                                          <p:attrName>style.visibility</p:attrName>
                                        </p:attrNameLst>
                                      </p:cBhvr>
                                      <p:to>
                                        <p:strVal val="visible"/>
                                      </p:to>
                                    </p:set>
                                    <p:anim calcmode="lin" valueType="num">
                                      <p:cBhvr>
                                        <p:cTn id="148" dur="500" fill="hold"/>
                                        <p:tgtEl>
                                          <p:spTgt spid="31"/>
                                        </p:tgtEl>
                                        <p:attrNameLst>
                                          <p:attrName>ppt_w</p:attrName>
                                        </p:attrNameLst>
                                      </p:cBhvr>
                                      <p:tavLst>
                                        <p:tav tm="0">
                                          <p:val>
                                            <p:strVal val="#ppt_w*0.05"/>
                                          </p:val>
                                        </p:tav>
                                        <p:tav tm="100000">
                                          <p:val>
                                            <p:strVal val="#ppt_w"/>
                                          </p:val>
                                        </p:tav>
                                      </p:tavLst>
                                    </p:anim>
                                    <p:anim calcmode="lin" valueType="num">
                                      <p:cBhvr>
                                        <p:cTn id="149" dur="500" fill="hold"/>
                                        <p:tgtEl>
                                          <p:spTgt spid="31"/>
                                        </p:tgtEl>
                                        <p:attrNameLst>
                                          <p:attrName>ppt_h</p:attrName>
                                        </p:attrNameLst>
                                      </p:cBhvr>
                                      <p:tavLst>
                                        <p:tav tm="0">
                                          <p:val>
                                            <p:strVal val="#ppt_h"/>
                                          </p:val>
                                        </p:tav>
                                        <p:tav tm="100000">
                                          <p:val>
                                            <p:strVal val="#ppt_h"/>
                                          </p:val>
                                        </p:tav>
                                      </p:tavLst>
                                    </p:anim>
                                    <p:anim calcmode="lin" valueType="num">
                                      <p:cBhvr>
                                        <p:cTn id="150" dur="500" fill="hold"/>
                                        <p:tgtEl>
                                          <p:spTgt spid="31"/>
                                        </p:tgtEl>
                                        <p:attrNameLst>
                                          <p:attrName>ppt_x</p:attrName>
                                        </p:attrNameLst>
                                      </p:cBhvr>
                                      <p:tavLst>
                                        <p:tav tm="0">
                                          <p:val>
                                            <p:strVal val="#ppt_x-.2"/>
                                          </p:val>
                                        </p:tav>
                                        <p:tav tm="100000">
                                          <p:val>
                                            <p:strVal val="#ppt_x"/>
                                          </p:val>
                                        </p:tav>
                                      </p:tavLst>
                                    </p:anim>
                                    <p:anim calcmode="lin" valueType="num">
                                      <p:cBhvr>
                                        <p:cTn id="151" dur="500" fill="hold"/>
                                        <p:tgtEl>
                                          <p:spTgt spid="31"/>
                                        </p:tgtEl>
                                        <p:attrNameLst>
                                          <p:attrName>ppt_y</p:attrName>
                                        </p:attrNameLst>
                                      </p:cBhvr>
                                      <p:tavLst>
                                        <p:tav tm="0">
                                          <p:val>
                                            <p:strVal val="#ppt_y"/>
                                          </p:val>
                                        </p:tav>
                                        <p:tav tm="100000">
                                          <p:val>
                                            <p:strVal val="#ppt_y"/>
                                          </p:val>
                                        </p:tav>
                                      </p:tavLst>
                                    </p:anim>
                                    <p:animEffect transition="in" filter="fade">
                                      <p:cBhvr>
                                        <p:cTn id="152" dur="50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54" presetClass="entr" presetSubtype="0" accel="100000" fill="hold" grpId="0" nodeType="clickEffect">
                                  <p:stCondLst>
                                    <p:cond delay="0"/>
                                  </p:stCondLst>
                                  <p:childTnLst>
                                    <p:set>
                                      <p:cBhvr>
                                        <p:cTn id="156" dur="1" fill="hold">
                                          <p:stCondLst>
                                            <p:cond delay="0"/>
                                          </p:stCondLst>
                                        </p:cTn>
                                        <p:tgtEl>
                                          <p:spTgt spid="32"/>
                                        </p:tgtEl>
                                        <p:attrNameLst>
                                          <p:attrName>style.visibility</p:attrName>
                                        </p:attrNameLst>
                                      </p:cBhvr>
                                      <p:to>
                                        <p:strVal val="visible"/>
                                      </p:to>
                                    </p:set>
                                    <p:anim calcmode="lin" valueType="num">
                                      <p:cBhvr>
                                        <p:cTn id="157" dur="500" fill="hold"/>
                                        <p:tgtEl>
                                          <p:spTgt spid="32"/>
                                        </p:tgtEl>
                                        <p:attrNameLst>
                                          <p:attrName>ppt_w</p:attrName>
                                        </p:attrNameLst>
                                      </p:cBhvr>
                                      <p:tavLst>
                                        <p:tav tm="0">
                                          <p:val>
                                            <p:strVal val="#ppt_w*0.05"/>
                                          </p:val>
                                        </p:tav>
                                        <p:tav tm="100000">
                                          <p:val>
                                            <p:strVal val="#ppt_w"/>
                                          </p:val>
                                        </p:tav>
                                      </p:tavLst>
                                    </p:anim>
                                    <p:anim calcmode="lin" valueType="num">
                                      <p:cBhvr>
                                        <p:cTn id="158" dur="500" fill="hold"/>
                                        <p:tgtEl>
                                          <p:spTgt spid="32"/>
                                        </p:tgtEl>
                                        <p:attrNameLst>
                                          <p:attrName>ppt_h</p:attrName>
                                        </p:attrNameLst>
                                      </p:cBhvr>
                                      <p:tavLst>
                                        <p:tav tm="0">
                                          <p:val>
                                            <p:strVal val="#ppt_h"/>
                                          </p:val>
                                        </p:tav>
                                        <p:tav tm="100000">
                                          <p:val>
                                            <p:strVal val="#ppt_h"/>
                                          </p:val>
                                        </p:tav>
                                      </p:tavLst>
                                    </p:anim>
                                    <p:anim calcmode="lin" valueType="num">
                                      <p:cBhvr>
                                        <p:cTn id="159" dur="500" fill="hold"/>
                                        <p:tgtEl>
                                          <p:spTgt spid="32"/>
                                        </p:tgtEl>
                                        <p:attrNameLst>
                                          <p:attrName>ppt_x</p:attrName>
                                        </p:attrNameLst>
                                      </p:cBhvr>
                                      <p:tavLst>
                                        <p:tav tm="0">
                                          <p:val>
                                            <p:strVal val="#ppt_x-.2"/>
                                          </p:val>
                                        </p:tav>
                                        <p:tav tm="100000">
                                          <p:val>
                                            <p:strVal val="#ppt_x"/>
                                          </p:val>
                                        </p:tav>
                                      </p:tavLst>
                                    </p:anim>
                                    <p:anim calcmode="lin" valueType="num">
                                      <p:cBhvr>
                                        <p:cTn id="160" dur="500" fill="hold"/>
                                        <p:tgtEl>
                                          <p:spTgt spid="32"/>
                                        </p:tgtEl>
                                        <p:attrNameLst>
                                          <p:attrName>ppt_y</p:attrName>
                                        </p:attrNameLst>
                                      </p:cBhvr>
                                      <p:tavLst>
                                        <p:tav tm="0">
                                          <p:val>
                                            <p:strVal val="#ppt_y"/>
                                          </p:val>
                                        </p:tav>
                                        <p:tav tm="100000">
                                          <p:val>
                                            <p:strVal val="#ppt_y"/>
                                          </p:val>
                                        </p:tav>
                                      </p:tavLst>
                                    </p:anim>
                                    <p:animEffect transition="in" filter="fade">
                                      <p:cBhvr>
                                        <p:cTn id="161" dur="500"/>
                                        <p:tgtEl>
                                          <p:spTgt spid="32"/>
                                        </p:tgtEl>
                                      </p:cBhvr>
                                    </p:animEffect>
                                  </p:childTnLst>
                                </p:cTn>
                              </p:par>
                            </p:childTnLst>
                          </p:cTn>
                        </p:par>
                      </p:childTnLst>
                    </p:cTn>
                  </p:par>
                  <p:par>
                    <p:cTn id="162" fill="hold">
                      <p:stCondLst>
                        <p:cond delay="indefinite"/>
                      </p:stCondLst>
                      <p:childTnLst>
                        <p:par>
                          <p:cTn id="163" fill="hold">
                            <p:stCondLst>
                              <p:cond delay="0"/>
                            </p:stCondLst>
                            <p:childTnLst>
                              <p:par>
                                <p:cTn id="164" presetID="54" presetClass="entr" presetSubtype="0" accel="100000" fill="hold" grpId="0" nodeType="clickEffect">
                                  <p:stCondLst>
                                    <p:cond delay="0"/>
                                  </p:stCondLst>
                                  <p:childTnLst>
                                    <p:set>
                                      <p:cBhvr>
                                        <p:cTn id="165" dur="1" fill="hold">
                                          <p:stCondLst>
                                            <p:cond delay="0"/>
                                          </p:stCondLst>
                                        </p:cTn>
                                        <p:tgtEl>
                                          <p:spTgt spid="34"/>
                                        </p:tgtEl>
                                        <p:attrNameLst>
                                          <p:attrName>style.visibility</p:attrName>
                                        </p:attrNameLst>
                                      </p:cBhvr>
                                      <p:to>
                                        <p:strVal val="visible"/>
                                      </p:to>
                                    </p:set>
                                    <p:anim calcmode="lin" valueType="num">
                                      <p:cBhvr>
                                        <p:cTn id="166" dur="500" fill="hold"/>
                                        <p:tgtEl>
                                          <p:spTgt spid="34"/>
                                        </p:tgtEl>
                                        <p:attrNameLst>
                                          <p:attrName>ppt_w</p:attrName>
                                        </p:attrNameLst>
                                      </p:cBhvr>
                                      <p:tavLst>
                                        <p:tav tm="0">
                                          <p:val>
                                            <p:strVal val="#ppt_w*0.05"/>
                                          </p:val>
                                        </p:tav>
                                        <p:tav tm="100000">
                                          <p:val>
                                            <p:strVal val="#ppt_w"/>
                                          </p:val>
                                        </p:tav>
                                      </p:tavLst>
                                    </p:anim>
                                    <p:anim calcmode="lin" valueType="num">
                                      <p:cBhvr>
                                        <p:cTn id="167" dur="500" fill="hold"/>
                                        <p:tgtEl>
                                          <p:spTgt spid="34"/>
                                        </p:tgtEl>
                                        <p:attrNameLst>
                                          <p:attrName>ppt_h</p:attrName>
                                        </p:attrNameLst>
                                      </p:cBhvr>
                                      <p:tavLst>
                                        <p:tav tm="0">
                                          <p:val>
                                            <p:strVal val="#ppt_h"/>
                                          </p:val>
                                        </p:tav>
                                        <p:tav tm="100000">
                                          <p:val>
                                            <p:strVal val="#ppt_h"/>
                                          </p:val>
                                        </p:tav>
                                      </p:tavLst>
                                    </p:anim>
                                    <p:anim calcmode="lin" valueType="num">
                                      <p:cBhvr>
                                        <p:cTn id="168" dur="500" fill="hold"/>
                                        <p:tgtEl>
                                          <p:spTgt spid="34"/>
                                        </p:tgtEl>
                                        <p:attrNameLst>
                                          <p:attrName>ppt_x</p:attrName>
                                        </p:attrNameLst>
                                      </p:cBhvr>
                                      <p:tavLst>
                                        <p:tav tm="0">
                                          <p:val>
                                            <p:strVal val="#ppt_x-.2"/>
                                          </p:val>
                                        </p:tav>
                                        <p:tav tm="100000">
                                          <p:val>
                                            <p:strVal val="#ppt_x"/>
                                          </p:val>
                                        </p:tav>
                                      </p:tavLst>
                                    </p:anim>
                                    <p:anim calcmode="lin" valueType="num">
                                      <p:cBhvr>
                                        <p:cTn id="169" dur="500" fill="hold"/>
                                        <p:tgtEl>
                                          <p:spTgt spid="34"/>
                                        </p:tgtEl>
                                        <p:attrNameLst>
                                          <p:attrName>ppt_y</p:attrName>
                                        </p:attrNameLst>
                                      </p:cBhvr>
                                      <p:tavLst>
                                        <p:tav tm="0">
                                          <p:val>
                                            <p:strVal val="#ppt_y"/>
                                          </p:val>
                                        </p:tav>
                                        <p:tav tm="100000">
                                          <p:val>
                                            <p:strVal val="#ppt_y"/>
                                          </p:val>
                                        </p:tav>
                                      </p:tavLst>
                                    </p:anim>
                                    <p:animEffect transition="in" filter="fade">
                                      <p:cBhvr>
                                        <p:cTn id="170" dur="500"/>
                                        <p:tgtEl>
                                          <p:spTgt spid="34"/>
                                        </p:tgtEl>
                                      </p:cBhvr>
                                    </p:animEffect>
                                  </p:childTnLst>
                                </p:cTn>
                              </p:par>
                            </p:childTnLst>
                          </p:cTn>
                        </p:par>
                      </p:childTnLst>
                    </p:cTn>
                  </p:par>
                  <p:par>
                    <p:cTn id="171" fill="hold">
                      <p:stCondLst>
                        <p:cond delay="indefinite"/>
                      </p:stCondLst>
                      <p:childTnLst>
                        <p:par>
                          <p:cTn id="172" fill="hold">
                            <p:stCondLst>
                              <p:cond delay="0"/>
                            </p:stCondLst>
                            <p:childTnLst>
                              <p:par>
                                <p:cTn id="173" presetID="54" presetClass="entr" presetSubtype="0" accel="100000" fill="hold" grpId="0" nodeType="clickEffect">
                                  <p:stCondLst>
                                    <p:cond delay="0"/>
                                  </p:stCondLst>
                                  <p:childTnLst>
                                    <p:set>
                                      <p:cBhvr>
                                        <p:cTn id="174" dur="1" fill="hold">
                                          <p:stCondLst>
                                            <p:cond delay="0"/>
                                          </p:stCondLst>
                                        </p:cTn>
                                        <p:tgtEl>
                                          <p:spTgt spid="36"/>
                                        </p:tgtEl>
                                        <p:attrNameLst>
                                          <p:attrName>style.visibility</p:attrName>
                                        </p:attrNameLst>
                                      </p:cBhvr>
                                      <p:to>
                                        <p:strVal val="visible"/>
                                      </p:to>
                                    </p:set>
                                    <p:anim calcmode="lin" valueType="num">
                                      <p:cBhvr>
                                        <p:cTn id="175" dur="500" fill="hold"/>
                                        <p:tgtEl>
                                          <p:spTgt spid="36"/>
                                        </p:tgtEl>
                                        <p:attrNameLst>
                                          <p:attrName>ppt_w</p:attrName>
                                        </p:attrNameLst>
                                      </p:cBhvr>
                                      <p:tavLst>
                                        <p:tav tm="0">
                                          <p:val>
                                            <p:strVal val="#ppt_w*0.05"/>
                                          </p:val>
                                        </p:tav>
                                        <p:tav tm="100000">
                                          <p:val>
                                            <p:strVal val="#ppt_w"/>
                                          </p:val>
                                        </p:tav>
                                      </p:tavLst>
                                    </p:anim>
                                    <p:anim calcmode="lin" valueType="num">
                                      <p:cBhvr>
                                        <p:cTn id="176" dur="500" fill="hold"/>
                                        <p:tgtEl>
                                          <p:spTgt spid="36"/>
                                        </p:tgtEl>
                                        <p:attrNameLst>
                                          <p:attrName>ppt_h</p:attrName>
                                        </p:attrNameLst>
                                      </p:cBhvr>
                                      <p:tavLst>
                                        <p:tav tm="0">
                                          <p:val>
                                            <p:strVal val="#ppt_h"/>
                                          </p:val>
                                        </p:tav>
                                        <p:tav tm="100000">
                                          <p:val>
                                            <p:strVal val="#ppt_h"/>
                                          </p:val>
                                        </p:tav>
                                      </p:tavLst>
                                    </p:anim>
                                    <p:anim calcmode="lin" valueType="num">
                                      <p:cBhvr>
                                        <p:cTn id="177" dur="500" fill="hold"/>
                                        <p:tgtEl>
                                          <p:spTgt spid="36"/>
                                        </p:tgtEl>
                                        <p:attrNameLst>
                                          <p:attrName>ppt_x</p:attrName>
                                        </p:attrNameLst>
                                      </p:cBhvr>
                                      <p:tavLst>
                                        <p:tav tm="0">
                                          <p:val>
                                            <p:strVal val="#ppt_x-.2"/>
                                          </p:val>
                                        </p:tav>
                                        <p:tav tm="100000">
                                          <p:val>
                                            <p:strVal val="#ppt_x"/>
                                          </p:val>
                                        </p:tav>
                                      </p:tavLst>
                                    </p:anim>
                                    <p:anim calcmode="lin" valueType="num">
                                      <p:cBhvr>
                                        <p:cTn id="178" dur="500" fill="hold"/>
                                        <p:tgtEl>
                                          <p:spTgt spid="36"/>
                                        </p:tgtEl>
                                        <p:attrNameLst>
                                          <p:attrName>ppt_y</p:attrName>
                                        </p:attrNameLst>
                                      </p:cBhvr>
                                      <p:tavLst>
                                        <p:tav tm="0">
                                          <p:val>
                                            <p:strVal val="#ppt_y"/>
                                          </p:val>
                                        </p:tav>
                                        <p:tav tm="100000">
                                          <p:val>
                                            <p:strVal val="#ppt_y"/>
                                          </p:val>
                                        </p:tav>
                                      </p:tavLst>
                                    </p:anim>
                                    <p:animEffect transition="in" filter="fade">
                                      <p:cBhvr>
                                        <p:cTn id="17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ldLvl="0" animBg="1"/>
      <p:bldP spid="7" grpId="0" bldLvl="0" animBg="1"/>
      <p:bldP spid="13" grpId="0"/>
      <p:bldP spid="15" grpId="0"/>
      <p:bldP spid="25" grpId="0"/>
      <p:bldP spid="26" grpId="0"/>
      <p:bldP spid="27" grpId="0"/>
      <p:bldP spid="28" grpId="0"/>
      <p:bldP spid="30" grpId="0"/>
      <p:bldP spid="31" grpId="0"/>
      <p:bldP spid="32" grpId="0" bldLvl="0" animBg="1"/>
      <p:bldP spid="34" grpId="0"/>
      <p:bldP spid="36"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矩形 14"/>
          <p:cNvSpPr/>
          <p:nvPr/>
        </p:nvSpPr>
        <p:spPr>
          <a:xfrm>
            <a:off x="175895" y="2252345"/>
            <a:ext cx="2453640" cy="2583815"/>
          </a:xfrm>
          <a:prstGeom prst="rect">
            <a:avLst/>
          </a:prstGeom>
          <a:solidFill>
            <a:schemeClr val="accent2">
              <a:alpha val="5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13642"/>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865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605191" name="Rectangle 7"/>
          <p:cNvSpPr>
            <a:spLocks noChangeArrowheads="1"/>
          </p:cNvSpPr>
          <p:nvPr/>
        </p:nvSpPr>
        <p:spPr bwMode="auto">
          <a:xfrm>
            <a:off x="175975" y="2252464"/>
            <a:ext cx="2452688" cy="2584450"/>
          </a:xfrm>
          <a:prstGeom prst="rect">
            <a:avLst/>
          </a:prstGeom>
          <a:noFill/>
          <a:ln w="9525">
            <a:solidFill>
              <a:schemeClr val="tx1">
                <a:lumMod val="95000"/>
                <a:lumOff val="5000"/>
              </a:schemeClr>
            </a:solidFill>
            <a:miter lim="800000"/>
          </a:ln>
          <a:effectLst/>
        </p:spPr>
        <p:txBody>
          <a:bodyPr wrap="square" anchor="ctr">
            <a:spAutoFit/>
          </a:bodyPr>
          <a:lstStyle/>
          <a:p>
            <a:pPr indent="288925" eaLnBrk="1" hangingPunct="1"/>
            <a:r>
              <a:rPr lang="en-US" altLang="zh-CN" sz="1350">
                <a:latin typeface="Arial" panose="020B0604020202020204" pitchFamily="34" charset="0"/>
                <a:ea typeface="宋体" panose="02010600030101010101" pitchFamily="2" charset="-122"/>
              </a:rPr>
              <a:t>add: </a:t>
            </a:r>
          </a:p>
          <a:p>
            <a:pPr indent="288925" eaLnBrk="1" hangingPunct="1"/>
            <a:r>
              <a:rPr lang="en-US" altLang="zh-CN" sz="1350">
                <a:latin typeface="Arial" panose="020B0604020202020204" pitchFamily="34" charset="0"/>
                <a:ea typeface="宋体" panose="02010600030101010101" pitchFamily="2" charset="-122"/>
              </a:rPr>
              <a:t>pushl	%ebp</a:t>
            </a:r>
          </a:p>
          <a:p>
            <a:pPr indent="288925" eaLnBrk="1" hangingPunct="1"/>
            <a:r>
              <a:rPr lang="en-US" altLang="zh-CN" sz="1350">
                <a:latin typeface="Arial" panose="020B0604020202020204" pitchFamily="34" charset="0"/>
                <a:ea typeface="宋体" panose="02010600030101010101" pitchFamily="2" charset="-122"/>
              </a:rPr>
              <a:t>movl	%esp, %ebp</a:t>
            </a:r>
          </a:p>
          <a:p>
            <a:pPr indent="288925" eaLnBrk="1" hangingPunct="1"/>
            <a:r>
              <a:rPr lang="en-US" altLang="zh-CN" sz="1350">
                <a:latin typeface="Arial" panose="020B0604020202020204" pitchFamily="34" charset="0"/>
                <a:ea typeface="宋体" panose="02010600030101010101" pitchFamily="2" charset="-122"/>
              </a:rPr>
              <a:t>subl 	$16, %esp </a:t>
            </a:r>
          </a:p>
          <a:p>
            <a:pPr indent="288925" eaLnBrk="1" hangingPunct="1"/>
            <a:r>
              <a:rPr lang="en-US" altLang="zh-CN" sz="1350">
                <a:latin typeface="Arial" panose="020B0604020202020204" pitchFamily="34" charset="0"/>
                <a:ea typeface="宋体" panose="02010600030101010101" pitchFamily="2" charset="-122"/>
              </a:rPr>
              <a:t>movl	12(%ebp), %eax</a:t>
            </a:r>
          </a:p>
          <a:p>
            <a:pPr indent="288925" eaLnBrk="1" hangingPunct="1"/>
            <a:r>
              <a:rPr lang="en-US" altLang="zh-CN" sz="1350">
                <a:latin typeface="Arial" panose="020B0604020202020204" pitchFamily="34" charset="0"/>
                <a:ea typeface="宋体" panose="02010600030101010101" pitchFamily="2" charset="-122"/>
              </a:rPr>
              <a:t>movl	8(%ebp), %edx</a:t>
            </a:r>
          </a:p>
          <a:p>
            <a:pPr indent="288925" eaLnBrk="1" hangingPunct="1"/>
            <a:r>
              <a:rPr lang="en-US" altLang="zh-CN" sz="1350">
                <a:latin typeface="Arial" panose="020B0604020202020204" pitchFamily="34" charset="0"/>
                <a:ea typeface="宋体" panose="02010600030101010101" pitchFamily="2" charset="-122"/>
              </a:rPr>
              <a:t>leal  	(%edx, %eax), %eax</a:t>
            </a:r>
          </a:p>
          <a:p>
            <a:pPr indent="288925" eaLnBrk="1" hangingPunct="1"/>
            <a:r>
              <a:rPr lang="en-US" altLang="zh-CN" sz="1350">
                <a:latin typeface="Arial" panose="020B0604020202020204" pitchFamily="34" charset="0"/>
                <a:ea typeface="宋体" panose="02010600030101010101" pitchFamily="2" charset="-122"/>
              </a:rPr>
              <a:t>movl	%eax, -4(%ebp)</a:t>
            </a:r>
          </a:p>
          <a:p>
            <a:pPr indent="288925" eaLnBrk="1" hangingPunct="1"/>
            <a:r>
              <a:rPr lang="en-US" altLang="zh-CN" sz="1350">
                <a:latin typeface="Arial" panose="020B0604020202020204" pitchFamily="34" charset="0"/>
                <a:ea typeface="宋体" panose="02010600030101010101" pitchFamily="2" charset="-122"/>
              </a:rPr>
              <a:t>movl	-4(%ebp), %eax</a:t>
            </a:r>
          </a:p>
          <a:p>
            <a:pPr indent="288925" eaLnBrk="1" hangingPunct="1"/>
            <a:r>
              <a:rPr lang="en-US" altLang="zh-CN" sz="1350">
                <a:latin typeface="Arial" panose="020B0604020202020204" pitchFamily="34" charset="0"/>
                <a:ea typeface="宋体" panose="02010600030101010101" pitchFamily="2" charset="-122"/>
              </a:rPr>
              <a:t>leave</a:t>
            </a:r>
          </a:p>
          <a:p>
            <a:pPr indent="288925" eaLnBrk="1" hangingPunct="1"/>
            <a:r>
              <a:rPr lang="en-US" altLang="zh-CN" sz="1350">
                <a:latin typeface="Arial" panose="020B0604020202020204" pitchFamily="34" charset="0"/>
                <a:ea typeface="宋体" panose="02010600030101010101" pitchFamily="2" charset="-122"/>
              </a:rPr>
              <a:t>ret</a:t>
            </a:r>
          </a:p>
        </p:txBody>
      </p:sp>
      <p:sp>
        <p:nvSpPr>
          <p:cNvPr id="3" name="Rectangle 9"/>
          <p:cNvSpPr>
            <a:spLocks noChangeArrowheads="1"/>
          </p:cNvSpPr>
          <p:nvPr/>
        </p:nvSpPr>
        <p:spPr bwMode="auto">
          <a:xfrm>
            <a:off x="2797969" y="2054146"/>
            <a:ext cx="3915966" cy="2489200"/>
          </a:xfrm>
          <a:prstGeom prst="rect">
            <a:avLst/>
          </a:prstGeom>
          <a:noFill/>
          <a:ln w="9525">
            <a:noFill/>
            <a:miter lim="800000"/>
          </a:ln>
          <a:effectLst/>
        </p:spPr>
        <p:txBody>
          <a:bodyPr anchor="ctr">
            <a:spAutoFit/>
          </a:bodyPr>
          <a:lstStyle/>
          <a:p>
            <a:pPr indent="288925" eaLnBrk="1" hangingPunct="1">
              <a:lnSpc>
                <a:spcPct val="105000"/>
              </a:lnSpc>
            </a:pPr>
            <a:r>
              <a:rPr lang="en-US" altLang="zh-CN" sz="1350">
                <a:latin typeface="Arial" panose="020B0604020202020204" pitchFamily="34" charset="0"/>
                <a:ea typeface="宋体" panose="02010600030101010101" pitchFamily="2" charset="-122"/>
              </a:rPr>
              <a:t>00000000 &lt;add&gt;: </a:t>
            </a:r>
          </a:p>
          <a:p>
            <a:pPr indent="288925" eaLnBrk="1" hangingPunct="1">
              <a:lnSpc>
                <a:spcPct val="105000"/>
              </a:lnSpc>
            </a:pPr>
            <a:r>
              <a:rPr lang="en-US" altLang="zh-CN" sz="1350">
                <a:latin typeface="Arial" panose="020B0604020202020204" pitchFamily="34" charset="0"/>
                <a:ea typeface="宋体" panose="02010600030101010101" pitchFamily="2" charset="-122"/>
              </a:rPr>
              <a:t>   0:    55	   push   %ebp</a:t>
            </a:r>
          </a:p>
          <a:p>
            <a:pPr indent="288925" eaLnBrk="1" hangingPunct="1">
              <a:lnSpc>
                <a:spcPct val="105000"/>
              </a:lnSpc>
            </a:pPr>
            <a:r>
              <a:rPr lang="en-US" altLang="zh-CN" sz="1350">
                <a:latin typeface="Arial" panose="020B0604020202020204" pitchFamily="34" charset="0"/>
                <a:ea typeface="宋体" panose="02010600030101010101" pitchFamily="2" charset="-122"/>
              </a:rPr>
              <a:t>   1:    89 e5	   mov   %esp, %ebp</a:t>
            </a:r>
          </a:p>
          <a:p>
            <a:pPr indent="288925" eaLnBrk="1" hangingPunct="1">
              <a:lnSpc>
                <a:spcPct val="105000"/>
              </a:lnSpc>
            </a:pPr>
            <a:r>
              <a:rPr lang="en-US" altLang="zh-CN" sz="1350">
                <a:latin typeface="Arial" panose="020B0604020202020204" pitchFamily="34" charset="0"/>
                <a:ea typeface="宋体" panose="02010600030101010101" pitchFamily="2" charset="-122"/>
              </a:rPr>
              <a:t>   3:    83 ec 10   sub    $0x10, %esp</a:t>
            </a:r>
          </a:p>
          <a:p>
            <a:pPr indent="288925" eaLnBrk="1" hangingPunct="1">
              <a:lnSpc>
                <a:spcPct val="105000"/>
              </a:lnSpc>
            </a:pPr>
            <a:r>
              <a:rPr lang="en-US" altLang="zh-CN" sz="1350">
                <a:latin typeface="Arial" panose="020B0604020202020204" pitchFamily="34" charset="0"/>
                <a:ea typeface="宋体" panose="02010600030101010101" pitchFamily="2" charset="-122"/>
              </a:rPr>
              <a:t>   6:    8b 45 0c   mov   0xc(%ebp), %eax</a:t>
            </a:r>
          </a:p>
          <a:p>
            <a:pPr indent="288925" eaLnBrk="1" hangingPunct="1">
              <a:lnSpc>
                <a:spcPct val="105000"/>
              </a:lnSpc>
            </a:pPr>
            <a:r>
              <a:rPr lang="en-US" altLang="zh-CN" sz="1350">
                <a:latin typeface="Arial" panose="020B0604020202020204" pitchFamily="34" charset="0"/>
                <a:ea typeface="宋体" panose="02010600030101010101" pitchFamily="2" charset="-122"/>
              </a:rPr>
              <a:t>   9:    8b 55 08   mov   0x8(%ebp), %edx</a:t>
            </a:r>
          </a:p>
          <a:p>
            <a:pPr indent="288925" eaLnBrk="1" hangingPunct="1">
              <a:lnSpc>
                <a:spcPct val="105000"/>
              </a:lnSpc>
            </a:pPr>
            <a:r>
              <a:rPr lang="en-US" altLang="zh-CN" sz="1350">
                <a:latin typeface="Arial" panose="020B0604020202020204" pitchFamily="34" charset="0"/>
                <a:ea typeface="宋体" panose="02010600030101010101" pitchFamily="2" charset="-122"/>
              </a:rPr>
              <a:t>   c:    8d 04 02   lea     (%edx,%eax,1), %eax</a:t>
            </a:r>
          </a:p>
          <a:p>
            <a:pPr indent="288925" eaLnBrk="1" hangingPunct="1">
              <a:lnSpc>
                <a:spcPct val="105000"/>
              </a:lnSpc>
            </a:pPr>
            <a:r>
              <a:rPr lang="en-US" altLang="zh-CN" sz="1350">
                <a:latin typeface="Arial" panose="020B0604020202020204" pitchFamily="34" charset="0"/>
                <a:ea typeface="宋体" panose="02010600030101010101" pitchFamily="2" charset="-122"/>
              </a:rPr>
              <a:t>   f:     89 45 fc    mov   %eax, -0x4(%ebp)</a:t>
            </a:r>
          </a:p>
          <a:p>
            <a:pPr indent="288925" eaLnBrk="1" hangingPunct="1">
              <a:lnSpc>
                <a:spcPct val="105000"/>
              </a:lnSpc>
            </a:pPr>
            <a:r>
              <a:rPr lang="en-US" altLang="zh-CN" sz="1350">
                <a:latin typeface="Arial" panose="020B0604020202020204" pitchFamily="34" charset="0"/>
                <a:ea typeface="宋体" panose="02010600030101010101" pitchFamily="2" charset="-122"/>
              </a:rPr>
              <a:t>   12:  8b 45 fc    mov   -0x4(%ebp), %eax</a:t>
            </a:r>
          </a:p>
          <a:p>
            <a:pPr indent="288925" eaLnBrk="1" hangingPunct="1">
              <a:lnSpc>
                <a:spcPct val="105000"/>
              </a:lnSpc>
            </a:pPr>
            <a:r>
              <a:rPr lang="en-US" altLang="zh-CN" sz="1350">
                <a:latin typeface="Arial" panose="020B0604020202020204" pitchFamily="34" charset="0"/>
                <a:ea typeface="宋体" panose="02010600030101010101" pitchFamily="2" charset="-122"/>
              </a:rPr>
              <a:t>   15:  c9             leave  </a:t>
            </a:r>
          </a:p>
          <a:p>
            <a:pPr indent="288925" eaLnBrk="1" hangingPunct="1">
              <a:lnSpc>
                <a:spcPct val="105000"/>
              </a:lnSpc>
            </a:pPr>
            <a:r>
              <a:rPr lang="en-US" altLang="zh-CN" sz="1350">
                <a:latin typeface="Arial" panose="020B0604020202020204" pitchFamily="34" charset="0"/>
                <a:ea typeface="宋体" panose="02010600030101010101" pitchFamily="2" charset="-122"/>
              </a:rPr>
              <a:t>   16:  c3             ret </a:t>
            </a:r>
          </a:p>
        </p:txBody>
      </p:sp>
      <p:grpSp>
        <p:nvGrpSpPr>
          <p:cNvPr id="605215" name="Group 31"/>
          <p:cNvGrpSpPr/>
          <p:nvPr/>
        </p:nvGrpSpPr>
        <p:grpSpPr bwMode="auto">
          <a:xfrm>
            <a:off x="2717800" y="2337515"/>
            <a:ext cx="835819" cy="2906853"/>
            <a:chOff x="2200" y="1630"/>
            <a:chExt cx="702" cy="2599"/>
          </a:xfrm>
        </p:grpSpPr>
        <p:sp>
          <p:nvSpPr>
            <p:cNvPr id="605204" name="Rectangle 20"/>
            <p:cNvSpPr>
              <a:spLocks noChangeArrowheads="1"/>
            </p:cNvSpPr>
            <p:nvPr/>
          </p:nvSpPr>
          <p:spPr bwMode="auto">
            <a:xfrm>
              <a:off x="2590" y="1630"/>
              <a:ext cx="312" cy="1871"/>
            </a:xfrm>
            <a:prstGeom prst="rect">
              <a:avLst/>
            </a:prstGeom>
            <a:solidFill>
              <a:srgbClr val="FFFF00">
                <a:alpha val="27000"/>
              </a:srgbClr>
            </a:solidFill>
            <a:ln w="9525">
              <a:solidFill>
                <a:schemeClr val="tx1"/>
              </a:solidFill>
              <a:miter lim="800000"/>
            </a:ln>
            <a:effectLst/>
          </p:spPr>
          <p:txBody>
            <a:bodyPr wrap="none" anchor="ctr"/>
            <a:lstStyle/>
            <a:p>
              <a:endParaRPr lang="zh-CN" altLang="en-US" sz="1350"/>
            </a:p>
          </p:txBody>
        </p:sp>
        <p:grpSp>
          <p:nvGrpSpPr>
            <p:cNvPr id="605207" name="Group 23"/>
            <p:cNvGrpSpPr/>
            <p:nvPr/>
          </p:nvGrpSpPr>
          <p:grpSpPr bwMode="auto">
            <a:xfrm>
              <a:off x="2200" y="3492"/>
              <a:ext cx="567" cy="737"/>
              <a:chOff x="2143" y="3634"/>
              <a:chExt cx="567" cy="737"/>
            </a:xfrm>
          </p:grpSpPr>
          <p:sp>
            <p:nvSpPr>
              <p:cNvPr id="605205" name="Text Box 21"/>
              <p:cNvSpPr txBox="1">
                <a:spLocks noChangeArrowheads="1"/>
              </p:cNvSpPr>
              <p:nvPr/>
            </p:nvSpPr>
            <p:spPr bwMode="auto">
              <a:xfrm>
                <a:off x="2143" y="3918"/>
                <a:ext cx="567" cy="453"/>
              </a:xfrm>
              <a:prstGeom prst="rect">
                <a:avLst/>
              </a:prstGeom>
              <a:noFill/>
              <a:ln w="9525">
                <a:noFill/>
                <a:miter lim="800000"/>
              </a:ln>
              <a:effectLst/>
            </p:spPr>
            <p:txBody>
              <a:bodyPr>
                <a:spAutoFit/>
              </a:bodyPr>
              <a:lstStyle/>
              <a:p>
                <a:pPr eaLnBrk="1" hangingPunct="1">
                  <a:spcBef>
                    <a:spcPct val="50000"/>
                  </a:spcBef>
                </a:pPr>
                <a:r>
                  <a:rPr lang="zh-CN" altLang="en-US" sz="1350">
                    <a:solidFill>
                      <a:srgbClr val="FF3300"/>
                    </a:solidFill>
                    <a:latin typeface="Arial" panose="020B0604020202020204" pitchFamily="34" charset="0"/>
                  </a:rPr>
                  <a:t>位移量</a:t>
                </a:r>
              </a:p>
            </p:txBody>
          </p:sp>
          <p:sp>
            <p:nvSpPr>
              <p:cNvPr id="605206" name="Line 22"/>
              <p:cNvSpPr>
                <a:spLocks noChangeShapeType="1"/>
              </p:cNvSpPr>
              <p:nvPr/>
            </p:nvSpPr>
            <p:spPr bwMode="auto">
              <a:xfrm flipV="1">
                <a:off x="2483" y="3634"/>
                <a:ext cx="199" cy="284"/>
              </a:xfrm>
              <a:prstGeom prst="line">
                <a:avLst/>
              </a:prstGeom>
              <a:noFill/>
              <a:ln w="38100">
                <a:solidFill>
                  <a:srgbClr val="FF3300"/>
                </a:solidFill>
                <a:round/>
                <a:tailEnd type="triangle" w="med" len="med"/>
              </a:ln>
              <a:effectLst/>
            </p:spPr>
            <p:txBody>
              <a:bodyPr/>
              <a:lstStyle/>
              <a:p>
                <a:endParaRPr lang="zh-CN" altLang="en-US" sz="1350"/>
              </a:p>
            </p:txBody>
          </p:sp>
        </p:grpSp>
      </p:grpSp>
      <p:grpSp>
        <p:nvGrpSpPr>
          <p:cNvPr id="4" name="Group 32"/>
          <p:cNvGrpSpPr/>
          <p:nvPr/>
        </p:nvGrpSpPr>
        <p:grpSpPr bwMode="auto">
          <a:xfrm>
            <a:off x="3359547" y="2338705"/>
            <a:ext cx="1012031" cy="2732285"/>
            <a:chOff x="2710" y="1621"/>
            <a:chExt cx="850" cy="2430"/>
          </a:xfrm>
        </p:grpSpPr>
        <p:sp>
          <p:nvSpPr>
            <p:cNvPr id="5" name="Rectangle 17"/>
            <p:cNvSpPr>
              <a:spLocks noChangeArrowheads="1"/>
            </p:cNvSpPr>
            <p:nvPr/>
          </p:nvSpPr>
          <p:spPr bwMode="auto">
            <a:xfrm>
              <a:off x="2880" y="1621"/>
              <a:ext cx="680" cy="1871"/>
            </a:xfrm>
            <a:prstGeom prst="rect">
              <a:avLst/>
            </a:prstGeom>
            <a:solidFill>
              <a:schemeClr val="accent1">
                <a:alpha val="25999"/>
              </a:schemeClr>
            </a:solidFill>
            <a:ln w="9525">
              <a:solidFill>
                <a:schemeClr val="tx1"/>
              </a:solidFill>
              <a:miter lim="800000"/>
            </a:ln>
            <a:effectLst/>
          </p:spPr>
          <p:txBody>
            <a:bodyPr wrap="none" anchor="ctr"/>
            <a:lstStyle/>
            <a:p>
              <a:endParaRPr lang="zh-CN" altLang="en-US" sz="1350"/>
            </a:p>
          </p:txBody>
        </p:sp>
        <p:grpSp>
          <p:nvGrpSpPr>
            <p:cNvPr id="6" name="Group 24"/>
            <p:cNvGrpSpPr/>
            <p:nvPr/>
          </p:nvGrpSpPr>
          <p:grpSpPr bwMode="auto">
            <a:xfrm>
              <a:off x="2710" y="3501"/>
              <a:ext cx="737" cy="550"/>
              <a:chOff x="2143" y="3634"/>
              <a:chExt cx="567" cy="550"/>
            </a:xfrm>
          </p:grpSpPr>
          <p:sp>
            <p:nvSpPr>
              <p:cNvPr id="7" name="Text Box 25"/>
              <p:cNvSpPr txBox="1">
                <a:spLocks noChangeArrowheads="1"/>
              </p:cNvSpPr>
              <p:nvPr/>
            </p:nvSpPr>
            <p:spPr bwMode="auto">
              <a:xfrm>
                <a:off x="2143" y="3918"/>
                <a:ext cx="567" cy="266"/>
              </a:xfrm>
              <a:prstGeom prst="rect">
                <a:avLst/>
              </a:prstGeom>
              <a:noFill/>
              <a:ln w="9525">
                <a:noFill/>
                <a:miter lim="800000"/>
              </a:ln>
              <a:effectLst/>
            </p:spPr>
            <p:txBody>
              <a:bodyPr>
                <a:spAutoFit/>
              </a:bodyPr>
              <a:lstStyle/>
              <a:p>
                <a:pPr eaLnBrk="1" hangingPunct="1">
                  <a:spcBef>
                    <a:spcPct val="50000"/>
                  </a:spcBef>
                </a:pPr>
                <a:r>
                  <a:rPr lang="zh-CN" altLang="en-US" sz="1350">
                    <a:solidFill>
                      <a:srgbClr val="FF3300"/>
                    </a:solidFill>
                    <a:latin typeface="Arial" panose="020B0604020202020204" pitchFamily="34" charset="0"/>
                  </a:rPr>
                  <a:t>机器指令</a:t>
                </a:r>
              </a:p>
            </p:txBody>
          </p:sp>
          <p:sp>
            <p:nvSpPr>
              <p:cNvPr id="9" name="Line 26"/>
              <p:cNvSpPr>
                <a:spLocks noChangeShapeType="1"/>
              </p:cNvSpPr>
              <p:nvPr/>
            </p:nvSpPr>
            <p:spPr bwMode="auto">
              <a:xfrm flipV="1">
                <a:off x="2483" y="3634"/>
                <a:ext cx="199" cy="284"/>
              </a:xfrm>
              <a:prstGeom prst="line">
                <a:avLst/>
              </a:prstGeom>
              <a:noFill/>
              <a:ln w="38100">
                <a:solidFill>
                  <a:srgbClr val="FF3300"/>
                </a:solidFill>
                <a:round/>
                <a:tailEnd type="triangle" w="med" len="med"/>
              </a:ln>
              <a:effectLst/>
            </p:spPr>
            <p:txBody>
              <a:bodyPr/>
              <a:lstStyle/>
              <a:p>
                <a:endParaRPr lang="zh-CN" altLang="en-US" sz="1350"/>
              </a:p>
            </p:txBody>
          </p:sp>
        </p:grpSp>
      </p:grpSp>
      <p:grpSp>
        <p:nvGrpSpPr>
          <p:cNvPr id="10" name="Group 33"/>
          <p:cNvGrpSpPr/>
          <p:nvPr/>
        </p:nvGrpSpPr>
        <p:grpSpPr bwMode="auto">
          <a:xfrm>
            <a:off x="4406106" y="2317671"/>
            <a:ext cx="2362200" cy="2740487"/>
            <a:chOff x="3776" y="1621"/>
            <a:chExt cx="1984" cy="2451"/>
          </a:xfrm>
        </p:grpSpPr>
        <p:sp>
          <p:nvSpPr>
            <p:cNvPr id="11" name="Rectangle 18"/>
            <p:cNvSpPr>
              <a:spLocks noChangeArrowheads="1"/>
            </p:cNvSpPr>
            <p:nvPr/>
          </p:nvSpPr>
          <p:spPr bwMode="auto">
            <a:xfrm>
              <a:off x="3776" y="1621"/>
              <a:ext cx="1984" cy="1900"/>
            </a:xfrm>
            <a:prstGeom prst="rect">
              <a:avLst/>
            </a:prstGeom>
            <a:solidFill>
              <a:srgbClr val="FF0000">
                <a:alpha val="17000"/>
              </a:srgbClr>
            </a:solidFill>
            <a:ln w="9525">
              <a:solidFill>
                <a:schemeClr val="tx1"/>
              </a:solidFill>
              <a:miter lim="800000"/>
            </a:ln>
            <a:effectLst/>
          </p:spPr>
          <p:txBody>
            <a:bodyPr wrap="none" anchor="ctr"/>
            <a:lstStyle/>
            <a:p>
              <a:endParaRPr lang="zh-CN" altLang="en-US" sz="1350"/>
            </a:p>
          </p:txBody>
        </p:sp>
        <p:grpSp>
          <p:nvGrpSpPr>
            <p:cNvPr id="12" name="Group 27"/>
            <p:cNvGrpSpPr/>
            <p:nvPr/>
          </p:nvGrpSpPr>
          <p:grpSpPr bwMode="auto">
            <a:xfrm>
              <a:off x="4059" y="3521"/>
              <a:ext cx="737" cy="551"/>
              <a:chOff x="2143" y="3634"/>
              <a:chExt cx="567" cy="551"/>
            </a:xfrm>
          </p:grpSpPr>
          <p:sp>
            <p:nvSpPr>
              <p:cNvPr id="13" name="Text Box 28"/>
              <p:cNvSpPr txBox="1">
                <a:spLocks noChangeArrowheads="1"/>
              </p:cNvSpPr>
              <p:nvPr/>
            </p:nvSpPr>
            <p:spPr bwMode="auto">
              <a:xfrm>
                <a:off x="2143" y="3918"/>
                <a:ext cx="567" cy="267"/>
              </a:xfrm>
              <a:prstGeom prst="rect">
                <a:avLst/>
              </a:prstGeom>
              <a:noFill/>
              <a:ln w="9525">
                <a:noFill/>
                <a:miter lim="800000"/>
              </a:ln>
              <a:effectLst/>
            </p:spPr>
            <p:txBody>
              <a:bodyPr>
                <a:spAutoFit/>
              </a:bodyPr>
              <a:lstStyle/>
              <a:p>
                <a:pPr eaLnBrk="1" hangingPunct="1">
                  <a:spcBef>
                    <a:spcPct val="50000"/>
                  </a:spcBef>
                </a:pPr>
                <a:r>
                  <a:rPr lang="zh-CN" altLang="en-US" sz="1350">
                    <a:solidFill>
                      <a:srgbClr val="FF3300"/>
                    </a:solidFill>
                    <a:latin typeface="Arial" panose="020B0604020202020204" pitchFamily="34" charset="0"/>
                  </a:rPr>
                  <a:t>汇编指令</a:t>
                </a:r>
              </a:p>
            </p:txBody>
          </p:sp>
          <p:sp>
            <p:nvSpPr>
              <p:cNvPr id="14" name="Line 29"/>
              <p:cNvSpPr>
                <a:spLocks noChangeShapeType="1"/>
              </p:cNvSpPr>
              <p:nvPr/>
            </p:nvSpPr>
            <p:spPr bwMode="auto">
              <a:xfrm flipV="1">
                <a:off x="2483" y="3634"/>
                <a:ext cx="199" cy="284"/>
              </a:xfrm>
              <a:prstGeom prst="line">
                <a:avLst/>
              </a:prstGeom>
              <a:noFill/>
              <a:ln w="38100">
                <a:solidFill>
                  <a:srgbClr val="FF3300"/>
                </a:solidFill>
                <a:round/>
                <a:tailEnd type="triangle" w="med" len="med"/>
              </a:ln>
              <a:effectLst/>
            </p:spPr>
            <p:txBody>
              <a:bodyPr/>
              <a:lstStyle/>
              <a:p>
                <a:endParaRPr lang="zh-CN" altLang="en-US" sz="1350"/>
              </a:p>
            </p:txBody>
          </p:sp>
        </p:grpSp>
      </p:grpSp>
      <p:sp>
        <p:nvSpPr>
          <p:cNvPr id="16" name="文本框 15"/>
          <p:cNvSpPr txBox="1"/>
          <p:nvPr/>
        </p:nvSpPr>
        <p:spPr>
          <a:xfrm>
            <a:off x="176213" y="1969770"/>
            <a:ext cx="1314450" cy="506730"/>
          </a:xfrm>
          <a:prstGeom prst="rect">
            <a:avLst/>
          </a:prstGeom>
          <a:noFill/>
        </p:spPr>
        <p:txBody>
          <a:bodyPr wrap="square" rtlCol="0">
            <a:spAutoFit/>
          </a:bodyPr>
          <a:lstStyle/>
          <a:p>
            <a:r>
              <a:rPr lang="en-US" altLang="zh-CN" sz="1350">
                <a:latin typeface="Arial" panose="020B0604020202020204" pitchFamily="34" charset="0"/>
                <a:ea typeface="宋体" panose="02010600030101010101" pitchFamily="2" charset="-122"/>
                <a:sym typeface="+mn-ea"/>
              </a:rPr>
              <a:t>test.s</a:t>
            </a:r>
            <a:endParaRPr lang="en-US" altLang="zh-CN" sz="1350">
              <a:solidFill>
                <a:srgbClr val="3333CC"/>
              </a:solidFill>
              <a:latin typeface="Arial" panose="020B0604020202020204" pitchFamily="34" charset="0"/>
              <a:ea typeface="宋体" panose="02010600030101010101" pitchFamily="2" charset="-122"/>
            </a:endParaRPr>
          </a:p>
          <a:p>
            <a:endParaRPr lang="zh-CN" altLang="en-US" sz="1350"/>
          </a:p>
        </p:txBody>
      </p:sp>
      <p:sp>
        <p:nvSpPr>
          <p:cNvPr id="18" name="文本框 17"/>
          <p:cNvSpPr txBox="1"/>
          <p:nvPr/>
        </p:nvSpPr>
        <p:spPr>
          <a:xfrm>
            <a:off x="262890" y="1473041"/>
            <a:ext cx="3175635" cy="368300"/>
          </a:xfrm>
          <a:prstGeom prst="rect">
            <a:avLst/>
          </a:prstGeom>
          <a:noFill/>
        </p:spPr>
        <p:txBody>
          <a:bodyPr wrap="square" rtlCol="0">
            <a:spAutoFit/>
          </a:bodyPr>
          <a:lstStyle/>
          <a:p>
            <a:r>
              <a:rPr lang="zh-CN" altLang="en-US" b="1">
                <a:effectLst/>
              </a:rPr>
              <a:t>编译得到结果：</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5191"/>
                                        </p:tgtEl>
                                        <p:attrNameLst>
                                          <p:attrName>style.visibility</p:attrName>
                                        </p:attrNameLst>
                                      </p:cBhvr>
                                      <p:to>
                                        <p:strVal val="visible"/>
                                      </p:to>
                                    </p:set>
                                    <p:animEffect transition="in" filter="blinds(horizontal)">
                                      <p:cBhvr>
                                        <p:cTn id="7" dur="500"/>
                                        <p:tgtEl>
                                          <p:spTgt spid="6051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05215"/>
                                        </p:tgtEl>
                                        <p:attrNameLst>
                                          <p:attrName>style.visibility</p:attrName>
                                        </p:attrNameLst>
                                      </p:cBhvr>
                                      <p:to>
                                        <p:strVal val="visible"/>
                                      </p:to>
                                    </p:set>
                                    <p:animEffect transition="in" filter="blinds(horizontal)">
                                      <p:cBhvr>
                                        <p:cTn id="17" dur="500"/>
                                        <p:tgtEl>
                                          <p:spTgt spid="60521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linds(horizont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91" grpId="0" bldLvl="0" animBg="1"/>
      <p:bldP spid="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矩形 7"/>
          <p:cNvSpPr/>
          <p:nvPr/>
        </p:nvSpPr>
        <p:spPr>
          <a:xfrm>
            <a:off x="0" y="13642"/>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865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8" name="文本框 17"/>
          <p:cNvSpPr txBox="1"/>
          <p:nvPr/>
        </p:nvSpPr>
        <p:spPr>
          <a:xfrm>
            <a:off x="262890" y="1473041"/>
            <a:ext cx="3175635" cy="368300"/>
          </a:xfrm>
          <a:prstGeom prst="rect">
            <a:avLst/>
          </a:prstGeom>
          <a:noFill/>
        </p:spPr>
        <p:txBody>
          <a:bodyPr wrap="square" rtlCol="0">
            <a:spAutoFit/>
          </a:bodyPr>
          <a:lstStyle/>
          <a:p>
            <a:r>
              <a:rPr lang="zh-CN" altLang="en-US" b="1">
                <a:effectLst/>
              </a:rPr>
              <a:t>反汇编得到结果：</a:t>
            </a:r>
          </a:p>
        </p:txBody>
      </p:sp>
      <p:sp>
        <p:nvSpPr>
          <p:cNvPr id="607235" name="Rectangle 3"/>
          <p:cNvSpPr>
            <a:spLocks noGrp="1" noChangeArrowheads="1"/>
          </p:cNvSpPr>
          <p:nvPr/>
        </p:nvSpPr>
        <p:spPr>
          <a:xfrm>
            <a:off x="3834765" y="1893570"/>
            <a:ext cx="3011805" cy="371475"/>
          </a:xfrm>
          <a:prstGeom prst="rect">
            <a:avLst/>
          </a:prstGeom>
          <a:noFill/>
          <a:ln w="9525">
            <a:noFill/>
            <a:miter lim="800000"/>
          </a:ln>
        </p:spPr>
        <p:txBody>
          <a:bodyPr vert="horz" wrap="square" lIns="68580" tIns="34290" rIns="68580" bIns="3429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a:lnSpc>
                <a:spcPct val="105000"/>
              </a:lnSpc>
              <a:buFontTx/>
              <a:buNone/>
            </a:pPr>
            <a:r>
              <a:rPr lang="en-US" altLang="zh-CN" sz="1800" b="0">
                <a:solidFill>
                  <a:srgbClr val="007635"/>
                </a:solidFill>
                <a:latin typeface="微软雅黑" panose="020B0503020204020204" charset="-122"/>
                <a:ea typeface="微软雅黑" panose="020B0503020204020204" charset="-122"/>
              </a:rPr>
              <a:t>“objdump -d test” </a:t>
            </a:r>
            <a:r>
              <a:rPr lang="zh-CN" altLang="en-US" sz="1800" b="0">
                <a:solidFill>
                  <a:srgbClr val="007635"/>
                </a:solidFill>
                <a:latin typeface="微软雅黑" panose="020B0503020204020204" charset="-122"/>
                <a:ea typeface="微软雅黑" panose="020B0503020204020204" charset="-122"/>
              </a:rPr>
              <a:t>结果</a:t>
            </a:r>
          </a:p>
        </p:txBody>
      </p:sp>
      <p:sp>
        <p:nvSpPr>
          <p:cNvPr id="607238" name="Rectangle 6"/>
          <p:cNvSpPr>
            <a:spLocks noChangeArrowheads="1"/>
          </p:cNvSpPr>
          <p:nvPr/>
        </p:nvSpPr>
        <p:spPr bwMode="auto">
          <a:xfrm>
            <a:off x="34290" y="2227977"/>
            <a:ext cx="4205288" cy="2489200"/>
          </a:xfrm>
          <a:prstGeom prst="rect">
            <a:avLst/>
          </a:prstGeom>
          <a:noFill/>
          <a:ln w="9525">
            <a:noFill/>
            <a:miter lim="800000"/>
          </a:ln>
          <a:effectLst/>
        </p:spPr>
        <p:txBody>
          <a:bodyPr anchor="ctr">
            <a:spAutoFit/>
          </a:bodyPr>
          <a:lstStyle/>
          <a:p>
            <a:pPr indent="288925" eaLnBrk="1" hangingPunct="1">
              <a:lnSpc>
                <a:spcPct val="105000"/>
              </a:lnSpc>
            </a:pPr>
            <a:r>
              <a:rPr lang="en-US" altLang="zh-CN" sz="1350" dirty="0">
                <a:solidFill>
                  <a:srgbClr val="FF3300"/>
                </a:solidFill>
                <a:latin typeface="Arial" panose="020B0604020202020204" pitchFamily="34" charset="0"/>
                <a:ea typeface="宋体" panose="02010600030101010101" pitchFamily="2" charset="-122"/>
              </a:rPr>
              <a:t>00000000</a:t>
            </a:r>
            <a:r>
              <a:rPr lang="en-US" altLang="zh-CN" sz="1350" dirty="0">
                <a:latin typeface="Arial" panose="020B0604020202020204" pitchFamily="34" charset="0"/>
                <a:ea typeface="宋体" panose="02010600030101010101" pitchFamily="2" charset="-122"/>
              </a:rPr>
              <a:t> &lt;add&gt;: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0:    55	   push   %</a:t>
            </a:r>
            <a:r>
              <a:rPr lang="en-US" altLang="zh-CN" sz="1350" dirty="0" err="1">
                <a:latin typeface="Arial" panose="020B0604020202020204" pitchFamily="34" charset="0"/>
                <a:ea typeface="宋体" panose="02010600030101010101" pitchFamily="2" charset="-122"/>
              </a:rPr>
              <a:t>ebp</a:t>
            </a:r>
            <a:endParaRPr lang="en-US" altLang="zh-CN" sz="1350" dirty="0">
              <a:latin typeface="Arial" panose="020B0604020202020204" pitchFamily="34" charset="0"/>
              <a:ea typeface="宋体" panose="02010600030101010101" pitchFamily="2" charset="-122"/>
            </a:endParaRPr>
          </a:p>
          <a:p>
            <a:pPr indent="288925" eaLnBrk="1" hangingPunct="1">
              <a:lnSpc>
                <a:spcPct val="105000"/>
              </a:lnSpc>
            </a:pPr>
            <a:r>
              <a:rPr lang="en-US" altLang="zh-CN" sz="1350" dirty="0">
                <a:latin typeface="Arial" panose="020B0604020202020204" pitchFamily="34" charset="0"/>
                <a:ea typeface="宋体" panose="02010600030101010101" pitchFamily="2" charset="-122"/>
              </a:rPr>
              <a:t>   1:    89 e5	   mov   %</a:t>
            </a:r>
            <a:r>
              <a:rPr lang="en-US" altLang="zh-CN" sz="1350" dirty="0" err="1">
                <a:latin typeface="Arial" panose="020B0604020202020204" pitchFamily="34" charset="0"/>
                <a:ea typeface="宋体" panose="02010600030101010101" pitchFamily="2" charset="-122"/>
              </a:rPr>
              <a:t>esp</a:t>
            </a:r>
            <a:r>
              <a:rPr lang="en-US" altLang="zh-CN" sz="1350" dirty="0">
                <a:latin typeface="Arial" panose="020B0604020202020204" pitchFamily="34" charset="0"/>
                <a:ea typeface="宋体" panose="02010600030101010101" pitchFamily="2" charset="-122"/>
              </a:rPr>
              <a:t>, %</a:t>
            </a:r>
            <a:r>
              <a:rPr lang="en-US" altLang="zh-CN" sz="1350" dirty="0" err="1">
                <a:latin typeface="Arial" panose="020B0604020202020204" pitchFamily="34" charset="0"/>
                <a:ea typeface="宋体" panose="02010600030101010101" pitchFamily="2" charset="-122"/>
              </a:rPr>
              <a:t>ebp</a:t>
            </a:r>
            <a:endParaRPr lang="en-US" altLang="zh-CN" sz="1350" dirty="0">
              <a:latin typeface="Arial" panose="020B0604020202020204" pitchFamily="34" charset="0"/>
              <a:ea typeface="宋体" panose="02010600030101010101" pitchFamily="2" charset="-122"/>
            </a:endParaRPr>
          </a:p>
          <a:p>
            <a:pPr indent="288925" eaLnBrk="1" hangingPunct="1">
              <a:lnSpc>
                <a:spcPct val="105000"/>
              </a:lnSpc>
            </a:pPr>
            <a:r>
              <a:rPr lang="en-US" altLang="zh-CN" sz="1350" dirty="0">
                <a:latin typeface="Arial" panose="020B0604020202020204" pitchFamily="34" charset="0"/>
                <a:ea typeface="宋体" panose="02010600030101010101" pitchFamily="2" charset="-122"/>
              </a:rPr>
              <a:t>   3:    83 </a:t>
            </a:r>
            <a:r>
              <a:rPr lang="en-US" altLang="zh-CN" sz="1350" dirty="0" err="1">
                <a:latin typeface="Arial" panose="020B0604020202020204" pitchFamily="34" charset="0"/>
                <a:ea typeface="宋体" panose="02010600030101010101" pitchFamily="2" charset="-122"/>
              </a:rPr>
              <a:t>ec</a:t>
            </a:r>
            <a:r>
              <a:rPr lang="en-US" altLang="zh-CN" sz="1350" dirty="0">
                <a:latin typeface="Arial" panose="020B0604020202020204" pitchFamily="34" charset="0"/>
                <a:ea typeface="宋体" panose="02010600030101010101" pitchFamily="2" charset="-122"/>
              </a:rPr>
              <a:t> 10   sub    $0x10, %</a:t>
            </a:r>
            <a:r>
              <a:rPr lang="en-US" altLang="zh-CN" sz="1350" dirty="0" err="1">
                <a:latin typeface="Arial" panose="020B0604020202020204" pitchFamily="34" charset="0"/>
                <a:ea typeface="宋体" panose="02010600030101010101" pitchFamily="2" charset="-122"/>
              </a:rPr>
              <a:t>esp</a:t>
            </a:r>
            <a:endParaRPr lang="en-US" altLang="zh-CN" sz="1350" dirty="0">
              <a:latin typeface="Arial" panose="020B0604020202020204" pitchFamily="34" charset="0"/>
              <a:ea typeface="宋体" panose="02010600030101010101" pitchFamily="2" charset="-122"/>
            </a:endParaRPr>
          </a:p>
          <a:p>
            <a:pPr indent="288925" eaLnBrk="1" hangingPunct="1">
              <a:lnSpc>
                <a:spcPct val="105000"/>
              </a:lnSpc>
            </a:pPr>
            <a:r>
              <a:rPr lang="en-US" altLang="zh-CN" sz="1350" dirty="0">
                <a:latin typeface="Arial" panose="020B0604020202020204" pitchFamily="34" charset="0"/>
                <a:ea typeface="宋体" panose="02010600030101010101" pitchFamily="2" charset="-122"/>
              </a:rPr>
              <a:t>   6:    8b 45 0c   mov   0xc(%</a:t>
            </a:r>
            <a:r>
              <a:rPr lang="en-US" altLang="zh-CN" sz="1350" dirty="0" err="1">
                <a:latin typeface="Arial" panose="020B0604020202020204" pitchFamily="34" charset="0"/>
                <a:ea typeface="宋体" panose="02010600030101010101" pitchFamily="2" charset="-122"/>
              </a:rPr>
              <a:t>ebp</a:t>
            </a:r>
            <a:r>
              <a:rPr lang="en-US" altLang="zh-CN" sz="1350" dirty="0">
                <a:latin typeface="Arial" panose="020B0604020202020204" pitchFamily="34" charset="0"/>
                <a:ea typeface="宋体" panose="02010600030101010101" pitchFamily="2" charset="-122"/>
              </a:rPr>
              <a:t>), %</a:t>
            </a:r>
            <a:r>
              <a:rPr lang="en-US" altLang="zh-CN" sz="1350" dirty="0" err="1">
                <a:latin typeface="Arial" panose="020B0604020202020204" pitchFamily="34" charset="0"/>
                <a:ea typeface="宋体" panose="02010600030101010101" pitchFamily="2" charset="-122"/>
              </a:rPr>
              <a:t>eax</a:t>
            </a:r>
            <a:endParaRPr lang="en-US" altLang="zh-CN" sz="1350" dirty="0">
              <a:latin typeface="Arial" panose="020B0604020202020204" pitchFamily="34" charset="0"/>
              <a:ea typeface="宋体" panose="02010600030101010101" pitchFamily="2" charset="-122"/>
            </a:endParaRPr>
          </a:p>
          <a:p>
            <a:pPr indent="288925" eaLnBrk="1" hangingPunct="1">
              <a:lnSpc>
                <a:spcPct val="105000"/>
              </a:lnSpc>
            </a:pPr>
            <a:r>
              <a:rPr lang="en-US" altLang="zh-CN" sz="1350" dirty="0">
                <a:latin typeface="Arial" panose="020B0604020202020204" pitchFamily="34" charset="0"/>
                <a:ea typeface="宋体" panose="02010600030101010101" pitchFamily="2" charset="-122"/>
              </a:rPr>
              <a:t>   9:    8b 55 08   mov   0x8(%</a:t>
            </a:r>
            <a:r>
              <a:rPr lang="en-US" altLang="zh-CN" sz="1350" dirty="0" err="1">
                <a:latin typeface="Arial" panose="020B0604020202020204" pitchFamily="34" charset="0"/>
                <a:ea typeface="宋体" panose="02010600030101010101" pitchFamily="2" charset="-122"/>
              </a:rPr>
              <a:t>ebp</a:t>
            </a:r>
            <a:r>
              <a:rPr lang="en-US" altLang="zh-CN" sz="1350" dirty="0">
                <a:latin typeface="Arial" panose="020B0604020202020204" pitchFamily="34" charset="0"/>
                <a:ea typeface="宋体" panose="02010600030101010101" pitchFamily="2" charset="-122"/>
              </a:rPr>
              <a:t>), %</a:t>
            </a:r>
            <a:r>
              <a:rPr lang="en-US" altLang="zh-CN" sz="1350" dirty="0" err="1">
                <a:latin typeface="Arial" panose="020B0604020202020204" pitchFamily="34" charset="0"/>
                <a:ea typeface="宋体" panose="02010600030101010101" pitchFamily="2" charset="-122"/>
              </a:rPr>
              <a:t>edx</a:t>
            </a:r>
            <a:endParaRPr lang="en-US" altLang="zh-CN" sz="1350" dirty="0">
              <a:latin typeface="Arial" panose="020B0604020202020204" pitchFamily="34" charset="0"/>
              <a:ea typeface="宋体" panose="02010600030101010101" pitchFamily="2" charset="-122"/>
            </a:endParaRPr>
          </a:p>
          <a:p>
            <a:pPr indent="288925" eaLnBrk="1" hangingPunct="1">
              <a:lnSpc>
                <a:spcPct val="105000"/>
              </a:lnSpc>
            </a:pPr>
            <a:r>
              <a:rPr lang="en-US" altLang="zh-CN" sz="1350" dirty="0">
                <a:latin typeface="Arial" panose="020B0604020202020204" pitchFamily="34" charset="0"/>
                <a:ea typeface="宋体" panose="02010600030101010101" pitchFamily="2" charset="-122"/>
              </a:rPr>
              <a:t>   c:    8d 04 02   lea     (%edx,%eax,1), %</a:t>
            </a:r>
            <a:r>
              <a:rPr lang="en-US" altLang="zh-CN" sz="1350" dirty="0" err="1">
                <a:latin typeface="Arial" panose="020B0604020202020204" pitchFamily="34" charset="0"/>
                <a:ea typeface="宋体" panose="02010600030101010101" pitchFamily="2" charset="-122"/>
              </a:rPr>
              <a:t>eax</a:t>
            </a:r>
            <a:endParaRPr lang="en-US" altLang="zh-CN" sz="1350" dirty="0">
              <a:latin typeface="Arial" panose="020B0604020202020204" pitchFamily="34" charset="0"/>
              <a:ea typeface="宋体" panose="02010600030101010101" pitchFamily="2" charset="-122"/>
            </a:endParaRPr>
          </a:p>
          <a:p>
            <a:pPr indent="288925" eaLnBrk="1" hangingPunct="1">
              <a:lnSpc>
                <a:spcPct val="105000"/>
              </a:lnSpc>
            </a:pPr>
            <a:r>
              <a:rPr lang="en-US" altLang="zh-CN" sz="1350" dirty="0">
                <a:latin typeface="Arial" panose="020B0604020202020204" pitchFamily="34" charset="0"/>
                <a:ea typeface="宋体" panose="02010600030101010101" pitchFamily="2" charset="-122"/>
              </a:rPr>
              <a:t>   f:     89 45 fc    mov   %</a:t>
            </a:r>
            <a:r>
              <a:rPr lang="en-US" altLang="zh-CN" sz="1350" dirty="0" err="1">
                <a:latin typeface="Arial" panose="020B0604020202020204" pitchFamily="34" charset="0"/>
                <a:ea typeface="宋体" panose="02010600030101010101" pitchFamily="2" charset="-122"/>
              </a:rPr>
              <a:t>eax</a:t>
            </a:r>
            <a:r>
              <a:rPr lang="en-US" altLang="zh-CN" sz="1350" dirty="0">
                <a:latin typeface="Arial" panose="020B0604020202020204" pitchFamily="34" charset="0"/>
                <a:ea typeface="宋体" panose="02010600030101010101" pitchFamily="2" charset="-122"/>
              </a:rPr>
              <a:t>, -0x4(%</a:t>
            </a:r>
            <a:r>
              <a:rPr lang="en-US" altLang="zh-CN" sz="1350" dirty="0" err="1">
                <a:latin typeface="Arial" panose="020B0604020202020204" pitchFamily="34" charset="0"/>
                <a:ea typeface="宋体" panose="02010600030101010101" pitchFamily="2" charset="-122"/>
              </a:rPr>
              <a:t>ebp</a:t>
            </a:r>
            <a:r>
              <a:rPr lang="en-US" altLang="zh-CN" sz="1350" dirty="0">
                <a:latin typeface="Arial" panose="020B0604020202020204" pitchFamily="34" charset="0"/>
                <a:ea typeface="宋体" panose="02010600030101010101" pitchFamily="2" charset="-122"/>
              </a:rPr>
              <a:t>)</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12:  8b 45 fc    mov   -0x4(%</a:t>
            </a:r>
            <a:r>
              <a:rPr lang="en-US" altLang="zh-CN" sz="1350" dirty="0" err="1">
                <a:latin typeface="Arial" panose="020B0604020202020204" pitchFamily="34" charset="0"/>
                <a:ea typeface="宋体" panose="02010600030101010101" pitchFamily="2" charset="-122"/>
              </a:rPr>
              <a:t>ebp</a:t>
            </a:r>
            <a:r>
              <a:rPr lang="en-US" altLang="zh-CN" sz="1350" dirty="0">
                <a:latin typeface="Arial" panose="020B0604020202020204" pitchFamily="34" charset="0"/>
                <a:ea typeface="宋体" panose="02010600030101010101" pitchFamily="2" charset="-122"/>
              </a:rPr>
              <a:t>), %</a:t>
            </a:r>
            <a:r>
              <a:rPr lang="en-US" altLang="zh-CN" sz="1350" dirty="0" err="1">
                <a:latin typeface="Arial" panose="020B0604020202020204" pitchFamily="34" charset="0"/>
                <a:ea typeface="宋体" panose="02010600030101010101" pitchFamily="2" charset="-122"/>
              </a:rPr>
              <a:t>eax</a:t>
            </a:r>
            <a:endParaRPr lang="en-US" altLang="zh-CN" sz="1350" dirty="0">
              <a:latin typeface="Arial" panose="020B0604020202020204" pitchFamily="34" charset="0"/>
              <a:ea typeface="宋体" panose="02010600030101010101" pitchFamily="2" charset="-122"/>
            </a:endParaRPr>
          </a:p>
          <a:p>
            <a:pPr indent="288925" eaLnBrk="1" hangingPunct="1">
              <a:lnSpc>
                <a:spcPct val="105000"/>
              </a:lnSpc>
            </a:pPr>
            <a:r>
              <a:rPr lang="en-US" altLang="zh-CN" sz="1350" dirty="0">
                <a:latin typeface="Arial" panose="020B0604020202020204" pitchFamily="34" charset="0"/>
                <a:ea typeface="宋体" panose="02010600030101010101" pitchFamily="2" charset="-122"/>
              </a:rPr>
              <a:t>   15:  c9             leave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16:  c3             ret </a:t>
            </a:r>
          </a:p>
        </p:txBody>
      </p:sp>
      <p:sp>
        <p:nvSpPr>
          <p:cNvPr id="607256" name="Rectangle 24"/>
          <p:cNvSpPr>
            <a:spLocks noChangeArrowheads="1"/>
          </p:cNvSpPr>
          <p:nvPr/>
        </p:nvSpPr>
        <p:spPr bwMode="auto">
          <a:xfrm>
            <a:off x="3902631" y="2236311"/>
            <a:ext cx="2834878" cy="2489200"/>
          </a:xfrm>
          <a:prstGeom prst="rect">
            <a:avLst/>
          </a:prstGeom>
          <a:noFill/>
          <a:ln w="9525">
            <a:noFill/>
            <a:miter lim="800000"/>
          </a:ln>
          <a:effectLst/>
        </p:spPr>
        <p:txBody>
          <a:bodyPr anchor="ctr">
            <a:spAutoFit/>
          </a:bodyPr>
          <a:lstStyle/>
          <a:p>
            <a:pPr indent="288925" eaLnBrk="1" hangingPunct="1">
              <a:lnSpc>
                <a:spcPct val="105000"/>
              </a:lnSpc>
            </a:pPr>
            <a:r>
              <a:rPr lang="en-US" altLang="zh-CN" sz="1350" dirty="0">
                <a:solidFill>
                  <a:srgbClr val="FF3300"/>
                </a:solidFill>
                <a:latin typeface="Arial" panose="020B0604020202020204" pitchFamily="34" charset="0"/>
                <a:ea typeface="宋体" panose="02010600030101010101" pitchFamily="2" charset="-122"/>
              </a:rPr>
              <a:t>080483d4 </a:t>
            </a:r>
            <a:r>
              <a:rPr lang="en-US" altLang="zh-CN" sz="1350" dirty="0">
                <a:latin typeface="Arial" panose="020B0604020202020204" pitchFamily="34" charset="0"/>
                <a:ea typeface="宋体" panose="02010600030101010101" pitchFamily="2" charset="-122"/>
              </a:rPr>
              <a:t>&lt;add&gt;:</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80483d4:    55              push ...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80483d5:    89 e5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80483d7:    83 </a:t>
            </a:r>
            <a:r>
              <a:rPr lang="en-US" altLang="zh-CN" sz="1350" dirty="0" err="1">
                <a:latin typeface="Arial" panose="020B0604020202020204" pitchFamily="34" charset="0"/>
                <a:ea typeface="宋体" panose="02010600030101010101" pitchFamily="2" charset="-122"/>
              </a:rPr>
              <a:t>ec</a:t>
            </a:r>
            <a:r>
              <a:rPr lang="en-US" altLang="zh-CN" sz="1350" dirty="0">
                <a:latin typeface="Arial" panose="020B0604020202020204" pitchFamily="34" charset="0"/>
                <a:ea typeface="宋体" panose="02010600030101010101" pitchFamily="2" charset="-122"/>
              </a:rPr>
              <a:t> 10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80483da:    8b 45 0c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80483dd:    8b 55 08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80483e0:    8d 04 02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80483e3:    89 45 fc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80483e6:    8b 45 fc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80483e9:    c9                 …</a:t>
            </a:r>
          </a:p>
          <a:p>
            <a:pPr indent="288925" eaLnBrk="1" hangingPunct="1">
              <a:lnSpc>
                <a:spcPct val="105000"/>
              </a:lnSpc>
            </a:pPr>
            <a:r>
              <a:rPr lang="en-US" altLang="zh-CN" sz="1350" dirty="0">
                <a:latin typeface="Arial" panose="020B0604020202020204" pitchFamily="34" charset="0"/>
                <a:ea typeface="宋体" panose="02010600030101010101" pitchFamily="2" charset="-122"/>
              </a:rPr>
              <a:t> 80483ea:    c3</a:t>
            </a:r>
            <a:r>
              <a:rPr lang="en-US" altLang="zh-CN" sz="1350" b="0" dirty="0">
                <a:latin typeface="Arial" panose="020B0604020202020204" pitchFamily="34" charset="0"/>
                <a:ea typeface="宋体" panose="02010600030101010101" pitchFamily="2" charset="-122"/>
              </a:rPr>
              <a:t>                 </a:t>
            </a:r>
            <a:r>
              <a:rPr lang="en-US" altLang="zh-CN" sz="1350" dirty="0">
                <a:latin typeface="Arial" panose="020B0604020202020204" pitchFamily="34" charset="0"/>
                <a:ea typeface="宋体" panose="02010600030101010101" pitchFamily="2" charset="-122"/>
              </a:rPr>
              <a:t>ret</a:t>
            </a:r>
            <a:r>
              <a:rPr lang="en-US" altLang="zh-CN" sz="1350" b="0" dirty="0">
                <a:latin typeface="Arial" panose="020B0604020202020204" pitchFamily="34" charset="0"/>
                <a:ea typeface="宋体" panose="02010600030101010101" pitchFamily="2" charset="-122"/>
              </a:rPr>
              <a:t>       </a:t>
            </a:r>
          </a:p>
        </p:txBody>
      </p:sp>
      <p:sp>
        <p:nvSpPr>
          <p:cNvPr id="607257" name="Rectangle 25"/>
          <p:cNvSpPr>
            <a:spLocks noChangeArrowheads="1"/>
          </p:cNvSpPr>
          <p:nvPr/>
        </p:nvSpPr>
        <p:spPr bwMode="auto">
          <a:xfrm>
            <a:off x="222409" y="1890634"/>
            <a:ext cx="3308747" cy="303609"/>
          </a:xfrm>
          <a:prstGeom prst="rect">
            <a:avLst/>
          </a:prstGeom>
          <a:noFill/>
          <a:ln w="9525">
            <a:noFill/>
            <a:miter lim="800000"/>
          </a:ln>
        </p:spPr>
        <p:txBody>
          <a:bodyPr/>
          <a:lstStyle/>
          <a:p>
            <a:pPr marL="342900" indent="-342900">
              <a:lnSpc>
                <a:spcPct val="105000"/>
              </a:lnSpc>
              <a:spcBef>
                <a:spcPct val="20000"/>
              </a:spcBef>
            </a:pPr>
            <a:r>
              <a:rPr lang="en-US" altLang="zh-CN">
                <a:solidFill>
                  <a:srgbClr val="007635"/>
                </a:solidFill>
              </a:rPr>
              <a:t>“objdump -d test.o”</a:t>
            </a:r>
            <a:r>
              <a:rPr lang="zh-CN" altLang="en-US">
                <a:solidFill>
                  <a:srgbClr val="007635"/>
                </a:solidFill>
              </a:rPr>
              <a:t>结果</a:t>
            </a:r>
          </a:p>
        </p:txBody>
      </p:sp>
      <p:sp>
        <p:nvSpPr>
          <p:cNvPr id="607258" name="Rectangle 26"/>
          <p:cNvSpPr>
            <a:spLocks noChangeArrowheads="1"/>
          </p:cNvSpPr>
          <p:nvPr/>
        </p:nvSpPr>
        <p:spPr bwMode="auto">
          <a:xfrm>
            <a:off x="4171712" y="2481977"/>
            <a:ext cx="877490" cy="2227659"/>
          </a:xfrm>
          <a:prstGeom prst="rect">
            <a:avLst/>
          </a:prstGeom>
          <a:solidFill>
            <a:schemeClr val="accent1">
              <a:alpha val="28000"/>
            </a:schemeClr>
          </a:solidFill>
          <a:ln w="9525">
            <a:solidFill>
              <a:schemeClr val="tx1"/>
            </a:solidFill>
            <a:miter lim="800000"/>
          </a:ln>
          <a:effectLst/>
        </p:spPr>
        <p:txBody>
          <a:bodyPr wrap="none" anchor="ctr"/>
          <a:lstStyle/>
          <a:p>
            <a:endParaRPr lang="zh-CN" altLang="en-US" sz="1350"/>
          </a:p>
        </p:txBody>
      </p:sp>
      <p:sp>
        <p:nvSpPr>
          <p:cNvPr id="607259" name="Rectangle 27"/>
          <p:cNvSpPr>
            <a:spLocks noChangeArrowheads="1"/>
          </p:cNvSpPr>
          <p:nvPr/>
        </p:nvSpPr>
        <p:spPr bwMode="auto">
          <a:xfrm>
            <a:off x="358140" y="2481977"/>
            <a:ext cx="371475" cy="2194322"/>
          </a:xfrm>
          <a:prstGeom prst="rect">
            <a:avLst/>
          </a:prstGeom>
          <a:solidFill>
            <a:schemeClr val="accent1">
              <a:alpha val="28000"/>
            </a:schemeClr>
          </a:solidFill>
          <a:ln w="9525">
            <a:solidFill>
              <a:schemeClr val="tx1"/>
            </a:solidFill>
            <a:miter lim="800000"/>
          </a:ln>
          <a:effectLst/>
        </p:spPr>
        <p:txBody>
          <a:bodyPr wrap="none" anchor="ctr"/>
          <a:lstStyle/>
          <a:p>
            <a:endParaRPr lang="zh-CN" altLang="en-US" sz="1350"/>
          </a:p>
        </p:txBody>
      </p:sp>
      <p:sp>
        <p:nvSpPr>
          <p:cNvPr id="21" name="线形标注 1(带强调线) 20"/>
          <p:cNvSpPr/>
          <p:nvPr/>
        </p:nvSpPr>
        <p:spPr>
          <a:xfrm>
            <a:off x="4272280" y="699135"/>
            <a:ext cx="2241550" cy="1119505"/>
          </a:xfrm>
          <a:prstGeom prst="accentCallout1">
            <a:avLst>
              <a:gd name="adj1" fmla="val 18750"/>
              <a:gd name="adj2" fmla="val -8333"/>
              <a:gd name="adj3" fmla="val 155019"/>
              <a:gd name="adj4" fmla="val -38470"/>
            </a:avLst>
          </a:prstGeom>
          <a:gradFill>
            <a:gsLst>
              <a:gs pos="0">
                <a:schemeClr val="accent1">
                  <a:lumMod val="5000"/>
                  <a:lumOff val="95000"/>
                </a:schemeClr>
              </a:gs>
              <a:gs pos="24000">
                <a:schemeClr val="bg1">
                  <a:lumMod val="95000"/>
                </a:schemeClr>
              </a:gs>
              <a:gs pos="100000">
                <a:schemeClr val="accent1">
                  <a:lumMod val="30000"/>
                  <a:lumOff val="70000"/>
                </a:schemeClr>
              </a:gs>
            </a:gsLst>
            <a:lin ang="54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rgbClr val="FF3300"/>
                </a:solidFill>
                <a:latin typeface="Arial" panose="020B0604020202020204" pitchFamily="34" charset="0"/>
                <a:ea typeface="宋体" panose="02010600030101010101" pitchFamily="2" charset="-122"/>
              </a:rPr>
              <a:t>test.o中的代码从地址0开始，test中的代码从80483d4开始！</a:t>
            </a:r>
          </a:p>
        </p:txBody>
      </p:sp>
      <p:cxnSp>
        <p:nvCxnSpPr>
          <p:cNvPr id="23" name="直接连接符 22"/>
          <p:cNvCxnSpPr/>
          <p:nvPr/>
        </p:nvCxnSpPr>
        <p:spPr>
          <a:xfrm>
            <a:off x="262890" y="2467451"/>
            <a:ext cx="5383530" cy="1476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7238"/>
                                        </p:tgtEl>
                                        <p:attrNameLst>
                                          <p:attrName>style.visibility</p:attrName>
                                        </p:attrNameLst>
                                      </p:cBhvr>
                                      <p:to>
                                        <p:strVal val="visible"/>
                                      </p:to>
                                    </p:set>
                                    <p:animEffect transition="in" filter="blinds(horizontal)">
                                      <p:cBhvr>
                                        <p:cTn id="7" dur="500"/>
                                        <p:tgtEl>
                                          <p:spTgt spid="6072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7259"/>
                                        </p:tgtEl>
                                        <p:attrNameLst>
                                          <p:attrName>style.visibility</p:attrName>
                                        </p:attrNameLst>
                                      </p:cBhvr>
                                      <p:to>
                                        <p:strVal val="visible"/>
                                      </p:to>
                                    </p:set>
                                    <p:animEffect transition="in" filter="blinds(horizontal)">
                                      <p:cBhvr>
                                        <p:cTn id="12" dur="500"/>
                                        <p:tgtEl>
                                          <p:spTgt spid="60725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7256"/>
                                        </p:tgtEl>
                                        <p:attrNameLst>
                                          <p:attrName>style.visibility</p:attrName>
                                        </p:attrNameLst>
                                      </p:cBhvr>
                                      <p:to>
                                        <p:strVal val="visible"/>
                                      </p:to>
                                    </p:set>
                                    <p:animEffect transition="in" filter="blinds(horizontal)">
                                      <p:cBhvr>
                                        <p:cTn id="17" dur="500"/>
                                        <p:tgtEl>
                                          <p:spTgt spid="60725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07258"/>
                                        </p:tgtEl>
                                        <p:attrNameLst>
                                          <p:attrName>style.visibility</p:attrName>
                                        </p:attrNameLst>
                                      </p:cBhvr>
                                      <p:to>
                                        <p:strVal val="visible"/>
                                      </p:to>
                                    </p:set>
                                    <p:animEffect transition="in" filter="blinds(horizontal)">
                                      <p:cBhvr>
                                        <p:cTn id="22" dur="500"/>
                                        <p:tgtEl>
                                          <p:spTgt spid="607258"/>
                                        </p:tgtEl>
                                      </p:cBhvr>
                                    </p:animEffect>
                                  </p:childTnLst>
                                </p:cTn>
                              </p:par>
                            </p:childTnLst>
                          </p:cTn>
                        </p:par>
                      </p:childTnLst>
                    </p:cTn>
                  </p:par>
                  <p:par>
                    <p:cTn id="23" fill="hold">
                      <p:stCondLst>
                        <p:cond delay="indefinite"/>
                      </p:stCondLst>
                      <p:childTnLst>
                        <p:par>
                          <p:cTn id="24" fill="hold">
                            <p:stCondLst>
                              <p:cond delay="0"/>
                            </p:stCondLst>
                            <p:childTnLst>
                              <p:par>
                                <p:cTn id="25" presetID="54" presetClass="entr" presetSubtype="0" accel="100000" fill="hold" nodeType="clickEffect">
                                  <p:stCondLst>
                                    <p:cond delay="0"/>
                                  </p:stCondLst>
                                  <p:childTnLst>
                                    <p:set>
                                      <p:cBhvr>
                                        <p:cTn id="26" dur="1" fill="hold">
                                          <p:stCondLst>
                                            <p:cond delay="0"/>
                                          </p:stCondLst>
                                        </p:cTn>
                                        <p:tgtEl>
                                          <p:spTgt spid="23"/>
                                        </p:tgtEl>
                                        <p:attrNameLst>
                                          <p:attrName>style.visibility</p:attrName>
                                        </p:attrNameLst>
                                      </p:cBhvr>
                                      <p:to>
                                        <p:strVal val="visible"/>
                                      </p:to>
                                    </p:set>
                                    <p:anim calcmode="lin" valueType="num">
                                      <p:cBhvr>
                                        <p:cTn id="27" dur="500" fill="hold"/>
                                        <p:tgtEl>
                                          <p:spTgt spid="23"/>
                                        </p:tgtEl>
                                        <p:attrNameLst>
                                          <p:attrName>ppt_w</p:attrName>
                                        </p:attrNameLst>
                                      </p:cBhvr>
                                      <p:tavLst>
                                        <p:tav tm="0">
                                          <p:val>
                                            <p:strVal val="#ppt_w*0.05"/>
                                          </p:val>
                                        </p:tav>
                                        <p:tav tm="100000">
                                          <p:val>
                                            <p:strVal val="#ppt_w"/>
                                          </p:val>
                                        </p:tav>
                                      </p:tavLst>
                                    </p:anim>
                                    <p:anim calcmode="lin" valueType="num">
                                      <p:cBhvr>
                                        <p:cTn id="28" dur="500" fill="hold"/>
                                        <p:tgtEl>
                                          <p:spTgt spid="23"/>
                                        </p:tgtEl>
                                        <p:attrNameLst>
                                          <p:attrName>ppt_h</p:attrName>
                                        </p:attrNameLst>
                                      </p:cBhvr>
                                      <p:tavLst>
                                        <p:tav tm="0">
                                          <p:val>
                                            <p:strVal val="#ppt_h"/>
                                          </p:val>
                                        </p:tav>
                                        <p:tav tm="100000">
                                          <p:val>
                                            <p:strVal val="#ppt_h"/>
                                          </p:val>
                                        </p:tav>
                                      </p:tavLst>
                                    </p:anim>
                                    <p:anim calcmode="lin" valueType="num">
                                      <p:cBhvr>
                                        <p:cTn id="29" dur="500" fill="hold"/>
                                        <p:tgtEl>
                                          <p:spTgt spid="23"/>
                                        </p:tgtEl>
                                        <p:attrNameLst>
                                          <p:attrName>ppt_x</p:attrName>
                                        </p:attrNameLst>
                                      </p:cBhvr>
                                      <p:tavLst>
                                        <p:tav tm="0">
                                          <p:val>
                                            <p:strVal val="#ppt_x-.2"/>
                                          </p:val>
                                        </p:tav>
                                        <p:tav tm="100000">
                                          <p:val>
                                            <p:strVal val="#ppt_x"/>
                                          </p:val>
                                        </p:tav>
                                      </p:tavLst>
                                    </p:anim>
                                    <p:anim calcmode="lin" valueType="num">
                                      <p:cBhvr>
                                        <p:cTn id="30" dur="500" fill="hold"/>
                                        <p:tgtEl>
                                          <p:spTgt spid="23"/>
                                        </p:tgtEl>
                                        <p:attrNameLst>
                                          <p:attrName>ppt_y</p:attrName>
                                        </p:attrNameLst>
                                      </p:cBhvr>
                                      <p:tavLst>
                                        <p:tav tm="0">
                                          <p:val>
                                            <p:strVal val="#ppt_y"/>
                                          </p:val>
                                        </p:tav>
                                        <p:tav tm="100000">
                                          <p:val>
                                            <p:strVal val="#ppt_y"/>
                                          </p:val>
                                        </p:tav>
                                      </p:tavLst>
                                    </p:anim>
                                    <p:animEffect transition="in" filter="fade">
                                      <p:cBhvr>
                                        <p:cTn id="31" dur="500"/>
                                        <p:tgtEl>
                                          <p:spTgt spid="23"/>
                                        </p:tgtEl>
                                      </p:cBhvr>
                                    </p:animEffect>
                                  </p:childTnLst>
                                </p:cTn>
                              </p:par>
                            </p:childTnLst>
                          </p:cTn>
                        </p:par>
                      </p:childTnLst>
                    </p:cTn>
                  </p:par>
                  <p:par>
                    <p:cTn id="32" fill="hold">
                      <p:stCondLst>
                        <p:cond delay="indefinite"/>
                      </p:stCondLst>
                      <p:childTnLst>
                        <p:par>
                          <p:cTn id="33" fill="hold">
                            <p:stCondLst>
                              <p:cond delay="0"/>
                            </p:stCondLst>
                            <p:childTnLst>
                              <p:par>
                                <p:cTn id="34" presetID="54" presetClass="entr" presetSubtype="0" accel="10000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 calcmode="lin" valueType="num">
                                      <p:cBhvr>
                                        <p:cTn id="36" dur="500" fill="hold"/>
                                        <p:tgtEl>
                                          <p:spTgt spid="21"/>
                                        </p:tgtEl>
                                        <p:attrNameLst>
                                          <p:attrName>ppt_w</p:attrName>
                                        </p:attrNameLst>
                                      </p:cBhvr>
                                      <p:tavLst>
                                        <p:tav tm="0">
                                          <p:val>
                                            <p:strVal val="#ppt_w*0.05"/>
                                          </p:val>
                                        </p:tav>
                                        <p:tav tm="100000">
                                          <p:val>
                                            <p:strVal val="#ppt_w"/>
                                          </p:val>
                                        </p:tav>
                                      </p:tavLst>
                                    </p:anim>
                                    <p:anim calcmode="lin" valueType="num">
                                      <p:cBhvr>
                                        <p:cTn id="37" dur="500" fill="hold"/>
                                        <p:tgtEl>
                                          <p:spTgt spid="21"/>
                                        </p:tgtEl>
                                        <p:attrNameLst>
                                          <p:attrName>ppt_h</p:attrName>
                                        </p:attrNameLst>
                                      </p:cBhvr>
                                      <p:tavLst>
                                        <p:tav tm="0">
                                          <p:val>
                                            <p:strVal val="#ppt_h"/>
                                          </p:val>
                                        </p:tav>
                                        <p:tav tm="100000">
                                          <p:val>
                                            <p:strVal val="#ppt_h"/>
                                          </p:val>
                                        </p:tav>
                                      </p:tavLst>
                                    </p:anim>
                                    <p:anim calcmode="lin" valueType="num">
                                      <p:cBhvr>
                                        <p:cTn id="38" dur="500" fill="hold"/>
                                        <p:tgtEl>
                                          <p:spTgt spid="21"/>
                                        </p:tgtEl>
                                        <p:attrNameLst>
                                          <p:attrName>ppt_x</p:attrName>
                                        </p:attrNameLst>
                                      </p:cBhvr>
                                      <p:tavLst>
                                        <p:tav tm="0">
                                          <p:val>
                                            <p:strVal val="#ppt_x-.2"/>
                                          </p:val>
                                        </p:tav>
                                        <p:tav tm="100000">
                                          <p:val>
                                            <p:strVal val="#ppt_x"/>
                                          </p:val>
                                        </p:tav>
                                      </p:tavLst>
                                    </p:anim>
                                    <p:anim calcmode="lin" valueType="num">
                                      <p:cBhvr>
                                        <p:cTn id="39" dur="500" fill="hold"/>
                                        <p:tgtEl>
                                          <p:spTgt spid="21"/>
                                        </p:tgtEl>
                                        <p:attrNameLst>
                                          <p:attrName>ppt_y</p:attrName>
                                        </p:attrNameLst>
                                      </p:cBhvr>
                                      <p:tavLst>
                                        <p:tav tm="0">
                                          <p:val>
                                            <p:strVal val="#ppt_y"/>
                                          </p:val>
                                        </p:tav>
                                        <p:tav tm="100000">
                                          <p:val>
                                            <p:strVal val="#ppt_y"/>
                                          </p:val>
                                        </p:tav>
                                      </p:tavLst>
                                    </p:anim>
                                    <p:animEffect transition="in" filter="fade">
                                      <p:cBhvr>
                                        <p:cTn id="4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238" grpId="0" bldLvl="0" animBg="1"/>
      <p:bldP spid="607256" grpId="0" bldLvl="0" animBg="1"/>
      <p:bldP spid="607258" grpId="0" bldLvl="0" animBg="1"/>
      <p:bldP spid="607259" grpId="0" bldLvl="0" animBg="1"/>
      <p:bldP spid="21"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747523" name="Text Box 12"/>
          <p:cNvSpPr txBox="1">
            <a:spLocks noChangeArrowheads="1"/>
          </p:cNvSpPr>
          <p:nvPr/>
        </p:nvSpPr>
        <p:spPr bwMode="auto">
          <a:xfrm>
            <a:off x="2319814" y="1940719"/>
            <a:ext cx="227330" cy="273050"/>
          </a:xfrm>
          <a:prstGeom prst="rect">
            <a:avLst/>
          </a:prstGeom>
          <a:noFill/>
          <a:ln w="9525">
            <a:noFill/>
            <a:round/>
          </a:ln>
        </p:spPr>
        <p:txBody>
          <a:bodyPr wrap="none" lIns="67500" tIns="35100" rIns="67500" bIns="351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0</a:t>
            </a:r>
          </a:p>
        </p:txBody>
      </p:sp>
      <p:sp>
        <p:nvSpPr>
          <p:cNvPr id="747524" name="Text Box 25"/>
          <p:cNvSpPr txBox="1">
            <a:spLocks noChangeArrowheads="1"/>
          </p:cNvSpPr>
          <p:nvPr/>
        </p:nvSpPr>
        <p:spPr bwMode="auto">
          <a:xfrm>
            <a:off x="5872639" y="2244329"/>
            <a:ext cx="704850" cy="467995"/>
          </a:xfrm>
          <a:prstGeom prst="rect">
            <a:avLst/>
          </a:prstGeom>
          <a:noFill/>
          <a:ln w="9525">
            <a:noFill/>
            <a:round/>
          </a:ln>
        </p:spPr>
        <p:txBody>
          <a:bodyPr lIns="67500" tIns="35100" rIns="67500" bIns="351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%esp </a:t>
            </a:r>
          </a:p>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a:t>
            </a:r>
            <a:r>
              <a:rPr lang="zh-CN" altLang="en-GB" sz="1350">
                <a:cs typeface="msgothic"/>
              </a:rPr>
              <a:t>栈顶</a:t>
            </a:r>
            <a:r>
              <a:rPr lang="en-GB" altLang="zh-CN" sz="1350">
                <a:cs typeface="msgothic"/>
              </a:rPr>
              <a:t>)</a:t>
            </a:r>
          </a:p>
        </p:txBody>
      </p:sp>
      <p:sp>
        <p:nvSpPr>
          <p:cNvPr id="747525" name="Line 26"/>
          <p:cNvSpPr>
            <a:spLocks noChangeShapeType="1"/>
          </p:cNvSpPr>
          <p:nvPr/>
        </p:nvSpPr>
        <p:spPr bwMode="auto">
          <a:xfrm flipH="1">
            <a:off x="5588080" y="2370535"/>
            <a:ext cx="288131" cy="1190"/>
          </a:xfrm>
          <a:prstGeom prst="line">
            <a:avLst/>
          </a:prstGeom>
          <a:noFill/>
          <a:ln w="3240">
            <a:solidFill>
              <a:srgbClr val="000066"/>
            </a:solidFill>
            <a:miter lim="800000"/>
            <a:tailEnd type="triangle" w="med" len="med"/>
          </a:ln>
        </p:spPr>
        <p:txBody>
          <a:bodyPr/>
          <a:lstStyle/>
          <a:p>
            <a:endParaRPr lang="zh-CN" altLang="en-US" sz="1350"/>
          </a:p>
        </p:txBody>
      </p:sp>
      <p:sp>
        <p:nvSpPr>
          <p:cNvPr id="747526" name="Line 28"/>
          <p:cNvSpPr>
            <a:spLocks noChangeShapeType="1"/>
          </p:cNvSpPr>
          <p:nvPr/>
        </p:nvSpPr>
        <p:spPr bwMode="auto">
          <a:xfrm flipV="1">
            <a:off x="5642849" y="1543050"/>
            <a:ext cx="1190" cy="345281"/>
          </a:xfrm>
          <a:prstGeom prst="line">
            <a:avLst/>
          </a:prstGeom>
          <a:noFill/>
          <a:ln w="3240">
            <a:solidFill>
              <a:schemeClr val="tx1"/>
            </a:solidFill>
            <a:miter lim="800000"/>
            <a:tailEnd type="triangle" w="med" len="med"/>
          </a:ln>
        </p:spPr>
        <p:txBody>
          <a:bodyPr/>
          <a:lstStyle/>
          <a:p>
            <a:endParaRPr lang="zh-CN" altLang="en-US" sz="1350"/>
          </a:p>
        </p:txBody>
      </p:sp>
      <p:sp>
        <p:nvSpPr>
          <p:cNvPr id="747527" name="Text Box 29"/>
          <p:cNvSpPr txBox="1">
            <a:spLocks noChangeArrowheads="1"/>
          </p:cNvSpPr>
          <p:nvPr/>
        </p:nvSpPr>
        <p:spPr bwMode="auto">
          <a:xfrm>
            <a:off x="5890499" y="3912394"/>
            <a:ext cx="394335" cy="276225"/>
          </a:xfrm>
          <a:prstGeom prst="rect">
            <a:avLst/>
          </a:prstGeom>
          <a:noFill/>
          <a:ln w="9525">
            <a:noFill/>
            <a:round/>
          </a:ln>
        </p:spPr>
        <p:txBody>
          <a:bodyPr wrap="none" lIns="67500" tIns="35100" rIns="67500" bIns="351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425">
                <a:cs typeface="msgothic"/>
              </a:rPr>
              <a:t>brk</a:t>
            </a:r>
          </a:p>
        </p:txBody>
      </p:sp>
      <p:sp>
        <p:nvSpPr>
          <p:cNvPr id="747528" name="Line 30"/>
          <p:cNvSpPr>
            <a:spLocks noChangeShapeType="1"/>
          </p:cNvSpPr>
          <p:nvPr/>
        </p:nvSpPr>
        <p:spPr bwMode="auto">
          <a:xfrm flipH="1">
            <a:off x="5602367" y="4037410"/>
            <a:ext cx="288131" cy="1190"/>
          </a:xfrm>
          <a:prstGeom prst="line">
            <a:avLst/>
          </a:prstGeom>
          <a:noFill/>
          <a:ln w="3240">
            <a:solidFill>
              <a:srgbClr val="000066"/>
            </a:solidFill>
            <a:miter lim="800000"/>
            <a:tailEnd type="triangle" w="med" len="med"/>
          </a:ln>
        </p:spPr>
        <p:txBody>
          <a:bodyPr/>
          <a:lstStyle/>
          <a:p>
            <a:endParaRPr lang="zh-CN" altLang="en-US" sz="1350"/>
          </a:p>
        </p:txBody>
      </p:sp>
      <p:sp>
        <p:nvSpPr>
          <p:cNvPr id="747529" name="Text Box 31"/>
          <p:cNvSpPr txBox="1">
            <a:spLocks noChangeArrowheads="1"/>
          </p:cNvSpPr>
          <p:nvPr/>
        </p:nvSpPr>
        <p:spPr bwMode="auto">
          <a:xfrm>
            <a:off x="2322195" y="1750219"/>
            <a:ext cx="1036320" cy="242570"/>
          </a:xfrm>
          <a:prstGeom prst="rect">
            <a:avLst/>
          </a:prstGeom>
          <a:noFill/>
          <a:ln w="9525">
            <a:noFill/>
            <a:round/>
          </a:ln>
        </p:spPr>
        <p:txBody>
          <a:bodyPr wrap="none" lIns="67500" tIns="35100" rIns="67500" bIns="351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200">
                <a:cs typeface="msgothic"/>
              </a:rPr>
              <a:t>0xC00000000</a:t>
            </a:r>
          </a:p>
        </p:txBody>
      </p:sp>
      <p:sp>
        <p:nvSpPr>
          <p:cNvPr id="747530" name="Text Box 32"/>
          <p:cNvSpPr txBox="1">
            <a:spLocks noChangeArrowheads="1"/>
          </p:cNvSpPr>
          <p:nvPr/>
        </p:nvSpPr>
        <p:spPr bwMode="auto">
          <a:xfrm>
            <a:off x="2411492" y="5380435"/>
            <a:ext cx="941705" cy="242570"/>
          </a:xfrm>
          <a:prstGeom prst="rect">
            <a:avLst/>
          </a:prstGeom>
          <a:noFill/>
          <a:ln w="9525">
            <a:noFill/>
            <a:round/>
          </a:ln>
        </p:spPr>
        <p:txBody>
          <a:bodyPr wrap="none" lIns="67500" tIns="35100" rIns="67500" bIns="35100">
            <a:spAutoFit/>
          </a:bodyPr>
          <a:lstStyle/>
          <a:p>
            <a:pPr>
              <a:lnSpc>
                <a:spcPct val="94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200">
                <a:cs typeface="msgothic"/>
              </a:rPr>
              <a:t>0x08048000</a:t>
            </a:r>
          </a:p>
        </p:txBody>
      </p:sp>
      <p:grpSp>
        <p:nvGrpSpPr>
          <p:cNvPr id="747531" name="Group 11"/>
          <p:cNvGrpSpPr/>
          <p:nvPr/>
        </p:nvGrpSpPr>
        <p:grpSpPr bwMode="auto">
          <a:xfrm>
            <a:off x="3225880" y="1553766"/>
            <a:ext cx="2324100" cy="4448249"/>
            <a:chOff x="2785" y="795"/>
            <a:chExt cx="1924" cy="3517"/>
          </a:xfrm>
        </p:grpSpPr>
        <p:sp>
          <p:nvSpPr>
            <p:cNvPr id="747532" name="Rectangle 14"/>
            <p:cNvSpPr>
              <a:spLocks noChangeArrowheads="1"/>
            </p:cNvSpPr>
            <p:nvPr/>
          </p:nvSpPr>
          <p:spPr bwMode="auto">
            <a:xfrm>
              <a:off x="2952" y="795"/>
              <a:ext cx="1757" cy="307"/>
            </a:xfrm>
            <a:prstGeom prst="rect">
              <a:avLst/>
            </a:prstGeom>
            <a:solidFill>
              <a:srgbClr val="F1C7C7"/>
            </a:solidFill>
            <a:ln w="3240">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Kernel virtual memory</a:t>
              </a:r>
            </a:p>
          </p:txBody>
        </p:sp>
        <p:sp>
          <p:nvSpPr>
            <p:cNvPr id="747533" name="Rectangle 15"/>
            <p:cNvSpPr>
              <a:spLocks noChangeArrowheads="1"/>
            </p:cNvSpPr>
            <p:nvPr/>
          </p:nvSpPr>
          <p:spPr bwMode="auto">
            <a:xfrm>
              <a:off x="2952" y="1867"/>
              <a:ext cx="1757" cy="422"/>
            </a:xfrm>
            <a:prstGeom prst="rect">
              <a:avLst/>
            </a:prstGeom>
            <a:solidFill>
              <a:srgbClr val="D5F1CF"/>
            </a:solidFill>
            <a:ln w="3240">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Memory-mapped region</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 for shared</a:t>
              </a:r>
              <a:r>
                <a:rPr lang="en-GB" altLang="zh-CN" sz="1200">
                  <a:latin typeface="Calibri" panose="020F0502020204030204" charset="0"/>
                  <a:cs typeface="msgothic"/>
                </a:rPr>
                <a:t> </a:t>
              </a:r>
              <a:r>
                <a:rPr lang="en-GB" altLang="zh-CN" sz="1350">
                  <a:cs typeface="msgothic"/>
                </a:rPr>
                <a:t>libraries</a:t>
              </a:r>
            </a:p>
          </p:txBody>
        </p:sp>
        <p:sp>
          <p:nvSpPr>
            <p:cNvPr id="33808" name="Rectangle 16"/>
            <p:cNvSpPr>
              <a:spLocks noChangeArrowheads="1"/>
            </p:cNvSpPr>
            <p:nvPr/>
          </p:nvSpPr>
          <p:spPr bwMode="auto">
            <a:xfrm>
              <a:off x="2952" y="2286"/>
              <a:ext cx="1757" cy="456"/>
            </a:xfrm>
            <a:prstGeom prst="rect">
              <a:avLst/>
            </a:prstGeom>
            <a:solidFill>
              <a:schemeClr val="bg1">
                <a:lumMod val="75000"/>
              </a:schemeClr>
            </a:solidFill>
            <a:ln w="3240">
              <a:solidFill>
                <a:schemeClr val="tx1"/>
              </a:solidFill>
              <a:miter lim="800000"/>
            </a:ln>
            <a:effectLst/>
          </p:spPr>
          <p:txBody>
            <a:bodyPr wrap="none" anchor="ctr"/>
            <a:lstStyle/>
            <a:p>
              <a:pPr>
                <a:defRPr/>
              </a:pPr>
              <a:endParaRPr lang="en-US">
                <a:latin typeface="Arial Narrow" panose="020B0606020202030204" pitchFamily="34" charset="0"/>
                <a:ea typeface="+mn-ea"/>
              </a:endParaRPr>
            </a:p>
          </p:txBody>
        </p:sp>
        <p:sp>
          <p:nvSpPr>
            <p:cNvPr id="747535" name="Rectangle 17"/>
            <p:cNvSpPr>
              <a:spLocks noChangeArrowheads="1"/>
            </p:cNvSpPr>
            <p:nvPr/>
          </p:nvSpPr>
          <p:spPr bwMode="auto">
            <a:xfrm>
              <a:off x="2952" y="2741"/>
              <a:ext cx="1757" cy="422"/>
            </a:xfrm>
            <a:prstGeom prst="rect">
              <a:avLst/>
            </a:prstGeom>
            <a:solidFill>
              <a:srgbClr val="D5F1CF"/>
            </a:solidFill>
            <a:ln w="3240">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Run-time heap</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(created by</a:t>
              </a:r>
              <a:r>
                <a:rPr lang="en-GB" altLang="zh-CN" sz="1200">
                  <a:latin typeface="Calibri" panose="020F0502020204030204" charset="0"/>
                  <a:cs typeface="msgothic"/>
                </a:rPr>
                <a:t> </a:t>
              </a:r>
              <a:r>
                <a:rPr lang="en-GB" altLang="zh-CN" sz="1350">
                  <a:cs typeface="msgothic"/>
                </a:rPr>
                <a:t>malloc</a:t>
              </a:r>
              <a:r>
                <a:rPr lang="en-GB" altLang="zh-CN" sz="1200">
                  <a:latin typeface="Calibri" panose="020F0502020204030204" charset="0"/>
                  <a:cs typeface="msgothic"/>
                </a:rPr>
                <a:t>)</a:t>
              </a:r>
            </a:p>
          </p:txBody>
        </p:sp>
        <p:sp>
          <p:nvSpPr>
            <p:cNvPr id="33810" name="Rectangle 18"/>
            <p:cNvSpPr>
              <a:spLocks noChangeArrowheads="1"/>
            </p:cNvSpPr>
            <p:nvPr/>
          </p:nvSpPr>
          <p:spPr bwMode="auto">
            <a:xfrm>
              <a:off x="2952" y="1294"/>
              <a:ext cx="1757" cy="571"/>
            </a:xfrm>
            <a:prstGeom prst="rect">
              <a:avLst/>
            </a:prstGeom>
            <a:solidFill>
              <a:schemeClr val="bg1">
                <a:lumMod val="75000"/>
              </a:schemeClr>
            </a:solidFill>
            <a:ln w="3240">
              <a:solidFill>
                <a:schemeClr val="tx1"/>
              </a:solidFill>
              <a:miter lim="800000"/>
            </a:ln>
            <a:effectLst/>
          </p:spPr>
          <p:txBody>
            <a:bodyPr wrap="none" anchor="ctr"/>
            <a:lstStyle/>
            <a:p>
              <a:pPr>
                <a:defRPr/>
              </a:pPr>
              <a:endParaRPr lang="en-US">
                <a:latin typeface="Arial Narrow" panose="020B0606020202030204" pitchFamily="34" charset="0"/>
                <a:ea typeface="+mn-ea"/>
              </a:endParaRPr>
            </a:p>
          </p:txBody>
        </p:sp>
        <p:sp>
          <p:nvSpPr>
            <p:cNvPr id="747537" name="Line 19"/>
            <p:cNvSpPr>
              <a:spLocks noChangeShapeType="1"/>
            </p:cNvSpPr>
            <p:nvPr/>
          </p:nvSpPr>
          <p:spPr bwMode="auto">
            <a:xfrm flipV="1">
              <a:off x="3828" y="2493"/>
              <a:ext cx="1" cy="242"/>
            </a:xfrm>
            <a:prstGeom prst="line">
              <a:avLst/>
            </a:prstGeom>
            <a:noFill/>
            <a:ln w="3240">
              <a:solidFill>
                <a:schemeClr val="tx1"/>
              </a:solidFill>
              <a:miter lim="800000"/>
              <a:tailEnd type="triangle" w="med" len="med"/>
            </a:ln>
          </p:spPr>
          <p:txBody>
            <a:bodyPr/>
            <a:lstStyle/>
            <a:p>
              <a:endParaRPr lang="zh-CN" altLang="en-US" sz="1350"/>
            </a:p>
          </p:txBody>
        </p:sp>
        <p:sp>
          <p:nvSpPr>
            <p:cNvPr id="747538" name="Rectangle 20"/>
            <p:cNvSpPr>
              <a:spLocks noChangeArrowheads="1"/>
            </p:cNvSpPr>
            <p:nvPr/>
          </p:nvSpPr>
          <p:spPr bwMode="auto">
            <a:xfrm>
              <a:off x="2952" y="1083"/>
              <a:ext cx="1757" cy="355"/>
            </a:xfrm>
            <a:prstGeom prst="rect">
              <a:avLst/>
            </a:prstGeom>
            <a:solidFill>
              <a:srgbClr val="D5F1CF"/>
            </a:solidFill>
            <a:ln w="3240">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Use</a:t>
              </a:r>
              <a:r>
                <a:rPr lang="en-GB" altLang="zh-CN" sz="1200">
                  <a:latin typeface="Calibri" panose="020F0502020204030204" charset="0"/>
                  <a:cs typeface="msgothic"/>
                </a:rPr>
                <a:t>r </a:t>
              </a:r>
              <a:r>
                <a:rPr lang="en-GB" altLang="zh-CN" sz="1350">
                  <a:cs typeface="msgothic"/>
                </a:rPr>
                <a:t>stack</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200">
                  <a:latin typeface="Calibri" panose="020F0502020204030204" charset="0"/>
                  <a:cs typeface="msgothic"/>
                </a:rPr>
                <a:t>(</a:t>
              </a:r>
              <a:r>
                <a:rPr lang="en-GB" altLang="zh-CN" sz="1350">
                  <a:cs typeface="msgothic"/>
                </a:rPr>
                <a:t>created</a:t>
              </a:r>
              <a:r>
                <a:rPr lang="en-GB" altLang="zh-CN" sz="1200">
                  <a:latin typeface="Calibri" panose="020F0502020204030204" charset="0"/>
                  <a:cs typeface="msgothic"/>
                </a:rPr>
                <a:t> </a:t>
              </a:r>
              <a:r>
                <a:rPr lang="en-GB" altLang="zh-CN" sz="1350">
                  <a:cs typeface="msgothic"/>
                </a:rPr>
                <a:t>at</a:t>
              </a:r>
              <a:r>
                <a:rPr lang="en-GB" altLang="zh-CN" sz="1200">
                  <a:latin typeface="Calibri" panose="020F0502020204030204" charset="0"/>
                  <a:cs typeface="msgothic"/>
                </a:rPr>
                <a:t> </a:t>
              </a:r>
              <a:r>
                <a:rPr lang="en-GB" altLang="zh-CN" sz="1350">
                  <a:cs typeface="msgothic"/>
                </a:rPr>
                <a:t>runtime</a:t>
              </a:r>
              <a:r>
                <a:rPr lang="en-GB" altLang="zh-CN" sz="1200">
                  <a:latin typeface="Calibri" panose="020F0502020204030204" charset="0"/>
                  <a:cs typeface="msgothic"/>
                </a:rPr>
                <a:t>)</a:t>
              </a:r>
            </a:p>
          </p:txBody>
        </p:sp>
        <p:sp>
          <p:nvSpPr>
            <p:cNvPr id="747539" name="Line 21"/>
            <p:cNvSpPr>
              <a:spLocks noChangeShapeType="1"/>
            </p:cNvSpPr>
            <p:nvPr/>
          </p:nvSpPr>
          <p:spPr bwMode="auto">
            <a:xfrm flipV="1">
              <a:off x="3828" y="1725"/>
              <a:ext cx="1" cy="146"/>
            </a:xfrm>
            <a:prstGeom prst="line">
              <a:avLst/>
            </a:prstGeom>
            <a:noFill/>
            <a:ln w="3240">
              <a:solidFill>
                <a:schemeClr val="tx1"/>
              </a:solidFill>
              <a:miter lim="800000"/>
              <a:tailEnd type="triangle" w="med" len="med"/>
            </a:ln>
          </p:spPr>
          <p:txBody>
            <a:bodyPr/>
            <a:lstStyle/>
            <a:p>
              <a:endParaRPr lang="zh-CN" altLang="en-US" sz="1350"/>
            </a:p>
          </p:txBody>
        </p:sp>
        <p:sp>
          <p:nvSpPr>
            <p:cNvPr id="747540" name="Line 22"/>
            <p:cNvSpPr>
              <a:spLocks noChangeShapeType="1"/>
            </p:cNvSpPr>
            <p:nvPr/>
          </p:nvSpPr>
          <p:spPr bwMode="auto">
            <a:xfrm>
              <a:off x="3828" y="1438"/>
              <a:ext cx="1" cy="144"/>
            </a:xfrm>
            <a:prstGeom prst="line">
              <a:avLst/>
            </a:prstGeom>
            <a:noFill/>
            <a:ln w="3240">
              <a:solidFill>
                <a:schemeClr val="tx1"/>
              </a:solidFill>
              <a:miter lim="800000"/>
              <a:tailEnd type="triangle" w="med" len="med"/>
            </a:ln>
          </p:spPr>
          <p:txBody>
            <a:bodyPr/>
            <a:lstStyle/>
            <a:p>
              <a:endParaRPr lang="zh-CN" altLang="en-US" sz="1350"/>
            </a:p>
          </p:txBody>
        </p:sp>
        <p:sp>
          <p:nvSpPr>
            <p:cNvPr id="33815" name="Rectangle 23"/>
            <p:cNvSpPr>
              <a:spLocks noChangeArrowheads="1"/>
            </p:cNvSpPr>
            <p:nvPr/>
          </p:nvSpPr>
          <p:spPr bwMode="auto">
            <a:xfrm>
              <a:off x="2952" y="3977"/>
              <a:ext cx="1757" cy="250"/>
            </a:xfrm>
            <a:prstGeom prst="rect">
              <a:avLst/>
            </a:prstGeom>
            <a:solidFill>
              <a:schemeClr val="bg1">
                <a:lumMod val="75000"/>
              </a:schemeClr>
            </a:solidFill>
            <a:ln w="324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Unused</a:t>
              </a:r>
            </a:p>
          </p:txBody>
        </p:sp>
        <p:sp>
          <p:nvSpPr>
            <p:cNvPr id="747542" name="Text Box 24"/>
            <p:cNvSpPr txBox="1">
              <a:spLocks noChangeArrowheads="1"/>
            </p:cNvSpPr>
            <p:nvPr/>
          </p:nvSpPr>
          <p:spPr bwMode="auto">
            <a:xfrm>
              <a:off x="2785" y="4114"/>
              <a:ext cx="196" cy="198"/>
            </a:xfrm>
            <a:prstGeom prst="rect">
              <a:avLst/>
            </a:prstGeom>
            <a:noFill/>
            <a:ln w="9525">
              <a:noFill/>
              <a:round/>
            </a:ln>
          </p:spPr>
          <p:txBody>
            <a:bodyPr wrap="none" lIns="67500" tIns="35100" rIns="67500" bIns="351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200">
                  <a:latin typeface="Arial Black" panose="020B0A04020102020204" pitchFamily="34" charset="0"/>
                  <a:ea typeface="msgothic"/>
                  <a:cs typeface="msgothic"/>
                </a:rPr>
                <a:t>0</a:t>
              </a:r>
            </a:p>
          </p:txBody>
        </p:sp>
        <p:sp>
          <p:nvSpPr>
            <p:cNvPr id="33826" name="Rectangle 34"/>
            <p:cNvSpPr>
              <a:spLocks noChangeArrowheads="1"/>
            </p:cNvSpPr>
            <p:nvPr/>
          </p:nvSpPr>
          <p:spPr bwMode="auto">
            <a:xfrm>
              <a:off x="2952" y="3161"/>
              <a:ext cx="1757" cy="423"/>
            </a:xfrm>
            <a:prstGeom prst="rect">
              <a:avLst/>
            </a:prstGeom>
            <a:solidFill>
              <a:schemeClr val="accent2">
                <a:lumMod val="20000"/>
                <a:lumOff val="80000"/>
              </a:schemeClr>
            </a:solidFill>
            <a:ln w="324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Read/write</a:t>
              </a:r>
              <a:r>
                <a:rPr lang="en-GB" altLang="zh-CN" sz="1200" dirty="0">
                  <a:latin typeface="Calibri" panose="020F0502020204030204" charset="0"/>
                  <a:cs typeface="msgothic"/>
                </a:rPr>
                <a:t> </a:t>
              </a:r>
              <a:r>
                <a:rPr lang="en-GB" altLang="zh-CN" sz="1350" dirty="0">
                  <a:cs typeface="msgothic"/>
                </a:rPr>
                <a:t>segment</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(.data, .</a:t>
              </a:r>
              <a:r>
                <a:rPr lang="en-GB" altLang="zh-CN" sz="1350" dirty="0" err="1">
                  <a:cs typeface="msgothic"/>
                </a:rPr>
                <a:t>bss</a:t>
              </a:r>
              <a:r>
                <a:rPr lang="en-GB" altLang="zh-CN" sz="1350" dirty="0">
                  <a:cs typeface="msgothic"/>
                </a:rPr>
                <a:t>)</a:t>
              </a:r>
            </a:p>
          </p:txBody>
        </p:sp>
        <p:sp>
          <p:nvSpPr>
            <p:cNvPr id="747544" name="Rectangle 35"/>
            <p:cNvSpPr>
              <a:spLocks noChangeArrowheads="1"/>
            </p:cNvSpPr>
            <p:nvPr/>
          </p:nvSpPr>
          <p:spPr bwMode="auto">
            <a:xfrm>
              <a:off x="2952" y="3555"/>
              <a:ext cx="1757" cy="422"/>
            </a:xfrm>
            <a:prstGeom prst="rect">
              <a:avLst/>
            </a:prstGeom>
            <a:solidFill>
              <a:srgbClr val="F6F5BD"/>
            </a:solidFill>
            <a:ln w="3240">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Read-only segment</a:t>
              </a:r>
            </a:p>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a:t>
              </a:r>
              <a:r>
                <a:rPr lang="en-GB" altLang="zh-CN" sz="1350" dirty="0" err="1">
                  <a:cs typeface="msgothic"/>
                </a:rPr>
                <a:t>init</a:t>
              </a:r>
              <a:r>
                <a:rPr lang="en-GB" altLang="zh-CN" sz="1350" dirty="0">
                  <a:cs typeface="msgothic"/>
                </a:rPr>
                <a:t>, .text</a:t>
              </a:r>
              <a:r>
                <a:rPr lang="en-GB" altLang="zh-CN" sz="1200" dirty="0">
                  <a:latin typeface="Calibri" panose="020F0502020204030204" charset="0"/>
                  <a:cs typeface="msgothic"/>
                </a:rPr>
                <a:t>, </a:t>
              </a:r>
              <a:r>
                <a:rPr lang="en-GB" altLang="zh-CN" sz="1350" dirty="0">
                  <a:cs typeface="msgothic"/>
                </a:rPr>
                <a:t>.</a:t>
              </a:r>
              <a:r>
                <a:rPr lang="en-GB" altLang="zh-CN" sz="1350" dirty="0" err="1">
                  <a:cs typeface="msgothic"/>
                </a:rPr>
                <a:t>rodata</a:t>
              </a:r>
              <a:r>
                <a:rPr lang="en-GB" altLang="zh-CN" sz="1200" dirty="0">
                  <a:latin typeface="Calibri" panose="020F0502020204030204" charset="0"/>
                  <a:cs typeface="msgothic"/>
                </a:rPr>
                <a:t>)</a:t>
              </a:r>
            </a:p>
          </p:txBody>
        </p:sp>
      </p:grpSp>
      <p:sp>
        <p:nvSpPr>
          <p:cNvPr id="747545" name="AutoShape 36"/>
          <p:cNvSpPr/>
          <p:nvPr/>
        </p:nvSpPr>
        <p:spPr bwMode="auto">
          <a:xfrm>
            <a:off x="5574983" y="4626769"/>
            <a:ext cx="166688" cy="971550"/>
          </a:xfrm>
          <a:prstGeom prst="rightBrace">
            <a:avLst>
              <a:gd name="adj1" fmla="val 48571"/>
              <a:gd name="adj2" fmla="val 50000"/>
            </a:avLst>
          </a:prstGeom>
          <a:noFill/>
          <a:ln w="38100">
            <a:solidFill>
              <a:srgbClr val="F49D4A"/>
            </a:solidFill>
            <a:miter lim="800000"/>
          </a:ln>
        </p:spPr>
        <p:txBody>
          <a:bodyPr wrap="none" anchor="ctr"/>
          <a:lstStyle/>
          <a:p>
            <a:endParaRPr lang="en-US" altLang="zh-CN">
              <a:latin typeface="Arial Narrow" panose="020B0606020202030204" pitchFamily="34" charset="0"/>
              <a:ea typeface="宋体" panose="02010600030101010101" pitchFamily="2" charset="-122"/>
            </a:endParaRPr>
          </a:p>
        </p:txBody>
      </p:sp>
      <p:sp>
        <p:nvSpPr>
          <p:cNvPr id="747546" name="Text Box 37"/>
          <p:cNvSpPr txBox="1">
            <a:spLocks noChangeArrowheads="1"/>
          </p:cNvSpPr>
          <p:nvPr/>
        </p:nvSpPr>
        <p:spPr bwMode="auto">
          <a:xfrm>
            <a:off x="5830967" y="4602956"/>
            <a:ext cx="559594" cy="931545"/>
          </a:xfrm>
          <a:prstGeom prst="rect">
            <a:avLst/>
          </a:prstGeom>
          <a:noFill/>
          <a:ln w="9525">
            <a:noFill/>
            <a:round/>
          </a:ln>
        </p:spPr>
        <p:txBody>
          <a:bodyPr lIns="67500" tIns="35100" rIns="67500" bIns="35100">
            <a:spAutoFit/>
          </a:bodyPr>
          <a:lstStyle/>
          <a:p>
            <a:pP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1425">
                <a:solidFill>
                  <a:srgbClr val="F49D4A"/>
                </a:solidFill>
                <a:latin typeface="Calibri" panose="020F0502020204030204" charset="0"/>
                <a:cs typeface="msgothic"/>
              </a:rPr>
              <a:t>从可执行文件装入</a:t>
            </a:r>
          </a:p>
        </p:txBody>
      </p:sp>
      <p:sp>
        <p:nvSpPr>
          <p:cNvPr id="747547" name="Line 27"/>
          <p:cNvSpPr>
            <a:spLocks noChangeShapeType="1"/>
          </p:cNvSpPr>
          <p:nvPr/>
        </p:nvSpPr>
        <p:spPr bwMode="auto">
          <a:xfrm>
            <a:off x="2361486" y="3357563"/>
            <a:ext cx="1066800" cy="1951435"/>
          </a:xfrm>
          <a:prstGeom prst="line">
            <a:avLst/>
          </a:prstGeom>
          <a:noFill/>
          <a:ln w="38100">
            <a:solidFill>
              <a:srgbClr val="F49D4A"/>
            </a:solidFill>
            <a:round/>
            <a:tailEnd type="triangle" w="med" len="med"/>
          </a:ln>
          <a:effectLst/>
        </p:spPr>
        <p:txBody>
          <a:bodyPr/>
          <a:lstStyle/>
          <a:p>
            <a:endParaRPr lang="zh-CN" altLang="en-US" sz="1350"/>
          </a:p>
        </p:txBody>
      </p:sp>
      <p:sp>
        <p:nvSpPr>
          <p:cNvPr id="747548" name="Line 28"/>
          <p:cNvSpPr>
            <a:spLocks noChangeShapeType="1"/>
          </p:cNvSpPr>
          <p:nvPr/>
        </p:nvSpPr>
        <p:spPr bwMode="auto">
          <a:xfrm>
            <a:off x="2362676" y="4119563"/>
            <a:ext cx="1065610" cy="727472"/>
          </a:xfrm>
          <a:prstGeom prst="line">
            <a:avLst/>
          </a:prstGeom>
          <a:noFill/>
          <a:ln w="38100">
            <a:solidFill>
              <a:srgbClr val="F49D4A"/>
            </a:solidFill>
            <a:round/>
            <a:tailEnd type="triangle" w="med" len="med"/>
          </a:ln>
          <a:effectLst/>
        </p:spPr>
        <p:txBody>
          <a:bodyPr/>
          <a:lstStyle/>
          <a:p>
            <a:endParaRPr lang="zh-CN" altLang="en-US" sz="1350"/>
          </a:p>
        </p:txBody>
      </p:sp>
      <p:sp>
        <p:nvSpPr>
          <p:cNvPr id="747549" name="Text Box 29"/>
          <p:cNvSpPr txBox="1">
            <a:spLocks noChangeArrowheads="1"/>
          </p:cNvSpPr>
          <p:nvPr/>
        </p:nvSpPr>
        <p:spPr bwMode="auto">
          <a:xfrm>
            <a:off x="150495" y="1477566"/>
            <a:ext cx="2451497" cy="311150"/>
          </a:xfrm>
          <a:prstGeom prst="rect">
            <a:avLst/>
          </a:prstGeom>
          <a:noFill/>
          <a:ln w="9525">
            <a:noFill/>
            <a:miter lim="800000"/>
          </a:ln>
          <a:effectLst/>
        </p:spPr>
        <p:txBody>
          <a:bodyPr>
            <a:spAutoFit/>
          </a:bodyPr>
          <a:lstStyle/>
          <a:p>
            <a:pPr eaLnBrk="1" hangingPunct="1">
              <a:spcBef>
                <a:spcPct val="50000"/>
              </a:spcBef>
            </a:pPr>
            <a:r>
              <a:rPr lang="zh-CN" altLang="en-US" sz="1425">
                <a:solidFill>
                  <a:srgbClr val="F49D4A"/>
                </a:solidFill>
              </a:rPr>
              <a:t>程序</a:t>
            </a:r>
            <a:r>
              <a:rPr lang="en-US" altLang="zh-CN" sz="1425">
                <a:solidFill>
                  <a:srgbClr val="F49D4A"/>
                </a:solidFill>
              </a:rPr>
              <a:t>(</a:t>
            </a:r>
            <a:r>
              <a:rPr lang="zh-CN" altLang="en-US" sz="1425">
                <a:solidFill>
                  <a:srgbClr val="F49D4A"/>
                </a:solidFill>
              </a:rPr>
              <a:t>段</a:t>
            </a:r>
            <a:r>
              <a:rPr lang="en-US" altLang="zh-CN" sz="1425">
                <a:solidFill>
                  <a:srgbClr val="F49D4A"/>
                </a:solidFill>
              </a:rPr>
              <a:t>)</a:t>
            </a:r>
            <a:r>
              <a:rPr lang="zh-CN" altLang="en-US" sz="1425">
                <a:solidFill>
                  <a:srgbClr val="F49D4A"/>
                </a:solidFill>
              </a:rPr>
              <a:t>头表描述如何映射</a:t>
            </a:r>
          </a:p>
        </p:txBody>
      </p:sp>
      <p:grpSp>
        <p:nvGrpSpPr>
          <p:cNvPr id="747550" name="Group 30"/>
          <p:cNvGrpSpPr/>
          <p:nvPr/>
        </p:nvGrpSpPr>
        <p:grpSpPr bwMode="auto">
          <a:xfrm>
            <a:off x="95726" y="2022872"/>
            <a:ext cx="2228850" cy="3782615"/>
            <a:chOff x="201" y="943"/>
            <a:chExt cx="1872" cy="3177"/>
          </a:xfrm>
        </p:grpSpPr>
        <p:sp>
          <p:nvSpPr>
            <p:cNvPr id="33794" name="Rectangle 2"/>
            <p:cNvSpPr>
              <a:spLocks noChangeArrowheads="1"/>
            </p:cNvSpPr>
            <p:nvPr/>
          </p:nvSpPr>
          <p:spPr bwMode="auto">
            <a:xfrm>
              <a:off x="201" y="943"/>
              <a:ext cx="1872" cy="274"/>
            </a:xfrm>
            <a:prstGeom prst="rect">
              <a:avLst/>
            </a:prstGeom>
            <a:solidFill>
              <a:schemeClr val="bg1">
                <a:lumMod val="95000"/>
              </a:schemeClr>
            </a:solidFill>
            <a:ln w="2556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ELF header</a:t>
              </a:r>
            </a:p>
          </p:txBody>
        </p:sp>
        <p:sp>
          <p:nvSpPr>
            <p:cNvPr id="33795" name="Rectangle 3"/>
            <p:cNvSpPr>
              <a:spLocks noChangeArrowheads="1"/>
            </p:cNvSpPr>
            <p:nvPr/>
          </p:nvSpPr>
          <p:spPr bwMode="auto">
            <a:xfrm>
              <a:off x="201" y="1217"/>
              <a:ext cx="1872" cy="438"/>
            </a:xfrm>
            <a:prstGeom prst="rect">
              <a:avLst/>
            </a:prstGeom>
            <a:solidFill>
              <a:srgbClr val="FF0000">
                <a:alpha val="24001"/>
              </a:srgbClr>
            </a:solidFill>
            <a:ln w="25527">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Segment header table</a:t>
              </a:r>
            </a:p>
          </p:txBody>
        </p:sp>
        <p:sp>
          <p:nvSpPr>
            <p:cNvPr id="747553" name="Rectangle 4"/>
            <p:cNvSpPr>
              <a:spLocks noChangeArrowheads="1"/>
            </p:cNvSpPr>
            <p:nvPr/>
          </p:nvSpPr>
          <p:spPr bwMode="auto">
            <a:xfrm>
              <a:off x="201" y="1929"/>
              <a:ext cx="1872" cy="274"/>
            </a:xfrm>
            <a:prstGeom prst="rect">
              <a:avLst/>
            </a:prstGeom>
            <a:solidFill>
              <a:srgbClr val="F6F5BD"/>
            </a:solidFill>
            <a:ln w="25560">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.text section</a:t>
              </a:r>
            </a:p>
          </p:txBody>
        </p:sp>
        <p:sp>
          <p:nvSpPr>
            <p:cNvPr id="33797" name="Rectangle 5"/>
            <p:cNvSpPr>
              <a:spLocks noChangeArrowheads="1"/>
            </p:cNvSpPr>
            <p:nvPr/>
          </p:nvSpPr>
          <p:spPr bwMode="auto">
            <a:xfrm>
              <a:off x="201" y="2477"/>
              <a:ext cx="1872" cy="274"/>
            </a:xfrm>
            <a:prstGeom prst="rect">
              <a:avLst/>
            </a:prstGeom>
            <a:solidFill>
              <a:schemeClr val="accent2">
                <a:lumMod val="20000"/>
                <a:lumOff val="80000"/>
              </a:schemeClr>
            </a:solidFill>
            <a:ln w="2556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.data section</a:t>
              </a:r>
            </a:p>
          </p:txBody>
        </p:sp>
        <p:sp>
          <p:nvSpPr>
            <p:cNvPr id="33798" name="Rectangle 6"/>
            <p:cNvSpPr>
              <a:spLocks noChangeArrowheads="1"/>
            </p:cNvSpPr>
            <p:nvPr/>
          </p:nvSpPr>
          <p:spPr bwMode="auto">
            <a:xfrm>
              <a:off x="201" y="2751"/>
              <a:ext cx="1872" cy="273"/>
            </a:xfrm>
            <a:prstGeom prst="rect">
              <a:avLst/>
            </a:prstGeom>
            <a:solidFill>
              <a:schemeClr val="accent2">
                <a:lumMod val="20000"/>
                <a:lumOff val="80000"/>
              </a:schemeClr>
            </a:solidFill>
            <a:ln w="2556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a:t>
              </a:r>
              <a:r>
                <a:rPr lang="en-GB" altLang="zh-CN" sz="1350" dirty="0" err="1">
                  <a:cs typeface="msgothic"/>
                </a:rPr>
                <a:t>bss</a:t>
              </a:r>
              <a:r>
                <a:rPr lang="en-GB" altLang="zh-CN" sz="1350" dirty="0">
                  <a:cs typeface="msgothic"/>
                </a:rPr>
                <a:t> section</a:t>
              </a:r>
            </a:p>
          </p:txBody>
        </p:sp>
        <p:sp>
          <p:nvSpPr>
            <p:cNvPr id="33799" name="Rectangle 7"/>
            <p:cNvSpPr>
              <a:spLocks noChangeArrowheads="1"/>
            </p:cNvSpPr>
            <p:nvPr/>
          </p:nvSpPr>
          <p:spPr bwMode="auto">
            <a:xfrm>
              <a:off x="201" y="3024"/>
              <a:ext cx="1872" cy="274"/>
            </a:xfrm>
            <a:prstGeom prst="rect">
              <a:avLst/>
            </a:prstGeom>
            <a:solidFill>
              <a:schemeClr val="bg1">
                <a:lumMod val="95000"/>
              </a:schemeClr>
            </a:solidFill>
            <a:ln w="2556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a:t>
              </a:r>
              <a:r>
                <a:rPr lang="en-GB" altLang="zh-CN" sz="1350" dirty="0" err="1">
                  <a:cs typeface="msgothic"/>
                </a:rPr>
                <a:t>symtab</a:t>
              </a:r>
              <a:endParaRPr lang="en-GB" altLang="zh-CN" sz="1350" dirty="0">
                <a:cs typeface="msgothic"/>
              </a:endParaRPr>
            </a:p>
          </p:txBody>
        </p:sp>
        <p:sp>
          <p:nvSpPr>
            <p:cNvPr id="33802" name="Rectangle 10"/>
            <p:cNvSpPr>
              <a:spLocks noChangeArrowheads="1"/>
            </p:cNvSpPr>
            <p:nvPr/>
          </p:nvSpPr>
          <p:spPr bwMode="auto">
            <a:xfrm>
              <a:off x="201" y="3298"/>
              <a:ext cx="1872" cy="274"/>
            </a:xfrm>
            <a:prstGeom prst="rect">
              <a:avLst/>
            </a:prstGeom>
            <a:solidFill>
              <a:schemeClr val="bg1">
                <a:lumMod val="95000"/>
              </a:schemeClr>
            </a:solidFill>
            <a:ln w="2556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.debug</a:t>
              </a:r>
            </a:p>
          </p:txBody>
        </p:sp>
        <p:sp>
          <p:nvSpPr>
            <p:cNvPr id="747558" name="Rectangle 5"/>
            <p:cNvSpPr>
              <a:spLocks noChangeArrowheads="1"/>
            </p:cNvSpPr>
            <p:nvPr/>
          </p:nvSpPr>
          <p:spPr bwMode="auto">
            <a:xfrm>
              <a:off x="201" y="2203"/>
              <a:ext cx="1872" cy="274"/>
            </a:xfrm>
            <a:prstGeom prst="rect">
              <a:avLst/>
            </a:prstGeom>
            <a:solidFill>
              <a:srgbClr val="F6F5BD"/>
            </a:solidFill>
            <a:ln w="25560">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dirty="0">
                  <a:cs typeface="msgothic"/>
                </a:rPr>
                <a:t>.</a:t>
              </a:r>
              <a:r>
                <a:rPr lang="en-GB" altLang="zh-CN" sz="1350" dirty="0" err="1">
                  <a:cs typeface="msgothic"/>
                </a:rPr>
                <a:t>rodata</a:t>
              </a:r>
              <a:r>
                <a:rPr lang="en-GB" altLang="zh-CN" sz="1350" dirty="0">
                  <a:cs typeface="msgothic"/>
                </a:rPr>
                <a:t> section</a:t>
              </a:r>
            </a:p>
          </p:txBody>
        </p:sp>
        <p:sp>
          <p:nvSpPr>
            <p:cNvPr id="40" name="Rectangle 10"/>
            <p:cNvSpPr>
              <a:spLocks noChangeArrowheads="1"/>
            </p:cNvSpPr>
            <p:nvPr/>
          </p:nvSpPr>
          <p:spPr bwMode="auto">
            <a:xfrm>
              <a:off x="201" y="3572"/>
              <a:ext cx="1872" cy="274"/>
            </a:xfrm>
            <a:prstGeom prst="rect">
              <a:avLst/>
            </a:prstGeom>
            <a:solidFill>
              <a:schemeClr val="bg1">
                <a:lumMod val="95000"/>
              </a:schemeClr>
            </a:solidFill>
            <a:ln w="2556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.line</a:t>
              </a:r>
            </a:p>
          </p:txBody>
        </p:sp>
        <p:sp>
          <p:nvSpPr>
            <p:cNvPr id="747560" name="Rectangle 4"/>
            <p:cNvSpPr>
              <a:spLocks noChangeArrowheads="1"/>
            </p:cNvSpPr>
            <p:nvPr/>
          </p:nvSpPr>
          <p:spPr bwMode="auto">
            <a:xfrm>
              <a:off x="201" y="1655"/>
              <a:ext cx="1872" cy="274"/>
            </a:xfrm>
            <a:prstGeom prst="rect">
              <a:avLst/>
            </a:prstGeom>
            <a:solidFill>
              <a:srgbClr val="F6F5BD"/>
            </a:solidFill>
            <a:ln w="25560">
              <a:solidFill>
                <a:schemeClr val="tx1"/>
              </a:solidFill>
              <a:miter lim="800000"/>
            </a:ln>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.init section</a:t>
              </a:r>
            </a:p>
          </p:txBody>
        </p:sp>
        <p:sp>
          <p:nvSpPr>
            <p:cNvPr id="42" name="Rectangle 10"/>
            <p:cNvSpPr>
              <a:spLocks noChangeArrowheads="1"/>
            </p:cNvSpPr>
            <p:nvPr/>
          </p:nvSpPr>
          <p:spPr bwMode="auto">
            <a:xfrm>
              <a:off x="201" y="3846"/>
              <a:ext cx="1872" cy="274"/>
            </a:xfrm>
            <a:prstGeom prst="rect">
              <a:avLst/>
            </a:prstGeom>
            <a:solidFill>
              <a:schemeClr val="bg1">
                <a:lumMod val="95000"/>
              </a:schemeClr>
            </a:solidFill>
            <a:ln w="25560">
              <a:solidFill>
                <a:schemeClr val="tx1"/>
              </a:solidFill>
              <a:miter lim="800000"/>
            </a:ln>
            <a:effectLst/>
          </p:spPr>
          <p:txBody>
            <a:bodyPr wrap="none" lIns="67500" tIns="35100" rIns="67500" bIns="35100" anchor="ctr"/>
            <a:lstStyle/>
            <a:p>
              <a:pPr algn="ctr">
                <a:lnSpc>
                  <a:spcPct val="98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zh-CN" sz="1350">
                  <a:cs typeface="msgothic"/>
                </a:rPr>
                <a:t>.strtab</a:t>
              </a:r>
            </a:p>
          </p:txBody>
        </p:sp>
      </p:grpSp>
      <p:sp>
        <p:nvSpPr>
          <p:cNvPr id="747562" name="Text Box 42"/>
          <p:cNvSpPr txBox="1">
            <a:spLocks noChangeArrowheads="1"/>
          </p:cNvSpPr>
          <p:nvPr/>
        </p:nvSpPr>
        <p:spPr bwMode="auto">
          <a:xfrm>
            <a:off x="5551170" y="1988344"/>
            <a:ext cx="609600" cy="321945"/>
          </a:xfrm>
          <a:prstGeom prst="rect">
            <a:avLst/>
          </a:prstGeom>
          <a:noFill/>
          <a:ln w="9525">
            <a:noFill/>
            <a:miter lim="800000"/>
          </a:ln>
          <a:effectLst/>
        </p:spPr>
        <p:txBody>
          <a:bodyPr>
            <a:spAutoFit/>
          </a:bodyPr>
          <a:lstStyle/>
          <a:p>
            <a:pPr eaLnBrk="1" hangingPunct="1">
              <a:spcBef>
                <a:spcPct val="50000"/>
              </a:spcBef>
            </a:pPr>
            <a:r>
              <a:rPr lang="zh-CN" altLang="en-US" sz="1500">
                <a:solidFill>
                  <a:srgbClr val="F49D4A"/>
                </a:solidFill>
                <a:latin typeface="Arial" panose="020B0604020202020204" pitchFamily="34" charset="0"/>
              </a:rPr>
              <a:t>栈区</a:t>
            </a:r>
          </a:p>
        </p:txBody>
      </p:sp>
      <p:sp>
        <p:nvSpPr>
          <p:cNvPr id="747563" name="Text Box 43"/>
          <p:cNvSpPr txBox="1">
            <a:spLocks noChangeArrowheads="1"/>
          </p:cNvSpPr>
          <p:nvPr/>
        </p:nvSpPr>
        <p:spPr bwMode="auto">
          <a:xfrm>
            <a:off x="5564267" y="4169569"/>
            <a:ext cx="609600" cy="321945"/>
          </a:xfrm>
          <a:prstGeom prst="rect">
            <a:avLst/>
          </a:prstGeom>
          <a:noFill/>
          <a:ln w="9525">
            <a:noFill/>
            <a:miter lim="800000"/>
          </a:ln>
          <a:effectLst/>
        </p:spPr>
        <p:txBody>
          <a:bodyPr>
            <a:spAutoFit/>
          </a:bodyPr>
          <a:lstStyle/>
          <a:p>
            <a:pPr eaLnBrk="1" hangingPunct="1">
              <a:spcBef>
                <a:spcPct val="50000"/>
              </a:spcBef>
            </a:pPr>
            <a:r>
              <a:rPr lang="zh-CN" altLang="en-US" sz="1500">
                <a:solidFill>
                  <a:srgbClr val="F49D4A"/>
                </a:solidFill>
                <a:latin typeface="Arial" panose="020B0604020202020204" pitchFamily="34" charset="0"/>
              </a:rPr>
              <a:t>堆区</a:t>
            </a:r>
          </a:p>
        </p:txBody>
      </p:sp>
      <p:sp>
        <p:nvSpPr>
          <p:cNvPr id="747564" name="Text Box 44"/>
          <p:cNvSpPr txBox="1">
            <a:spLocks noChangeArrowheads="1"/>
          </p:cNvSpPr>
          <p:nvPr/>
        </p:nvSpPr>
        <p:spPr bwMode="auto">
          <a:xfrm>
            <a:off x="5602367" y="2949178"/>
            <a:ext cx="838200" cy="553085"/>
          </a:xfrm>
          <a:prstGeom prst="rect">
            <a:avLst/>
          </a:prstGeom>
          <a:noFill/>
          <a:ln w="9525">
            <a:noFill/>
            <a:miter lim="800000"/>
          </a:ln>
          <a:effectLst/>
        </p:spPr>
        <p:txBody>
          <a:bodyPr>
            <a:spAutoFit/>
          </a:bodyPr>
          <a:lstStyle/>
          <a:p>
            <a:pPr eaLnBrk="1" hangingPunct="1">
              <a:spcBef>
                <a:spcPct val="50000"/>
              </a:spcBef>
            </a:pPr>
            <a:r>
              <a:rPr lang="zh-CN" altLang="en-US" sz="1500">
                <a:solidFill>
                  <a:srgbClr val="F49D4A"/>
                </a:solidFill>
                <a:latin typeface="Arial" panose="020B0604020202020204" pitchFamily="34" charset="0"/>
              </a:rPr>
              <a:t>共享库的代码</a:t>
            </a:r>
          </a:p>
        </p:txBody>
      </p:sp>
      <p:sp>
        <p:nvSpPr>
          <p:cNvPr id="747565" name="Text Box 45"/>
          <p:cNvSpPr txBox="1">
            <a:spLocks noChangeArrowheads="1"/>
          </p:cNvSpPr>
          <p:nvPr/>
        </p:nvSpPr>
        <p:spPr bwMode="auto">
          <a:xfrm>
            <a:off x="5674995" y="1589485"/>
            <a:ext cx="794147" cy="321945"/>
          </a:xfrm>
          <a:prstGeom prst="rect">
            <a:avLst/>
          </a:prstGeom>
          <a:noFill/>
          <a:ln w="9525">
            <a:noFill/>
            <a:miter lim="800000"/>
          </a:ln>
          <a:effectLst/>
        </p:spPr>
        <p:txBody>
          <a:bodyPr>
            <a:spAutoFit/>
          </a:bodyPr>
          <a:lstStyle/>
          <a:p>
            <a:pPr eaLnBrk="1" hangingPunct="1">
              <a:spcBef>
                <a:spcPct val="50000"/>
              </a:spcBef>
            </a:pPr>
            <a:r>
              <a:rPr lang="zh-CN" altLang="en-US" sz="1500">
                <a:solidFill>
                  <a:srgbClr val="F49D4A"/>
                </a:solidFill>
                <a:latin typeface="Arial" panose="020B0604020202020204" pitchFamily="34" charset="0"/>
              </a:rPr>
              <a:t>内核区</a:t>
            </a:r>
          </a:p>
        </p:txBody>
      </p:sp>
      <p:sp>
        <p:nvSpPr>
          <p:cNvPr id="747522" name="Rectangle 1"/>
          <p:cNvSpPr>
            <a:spLocks noGrp="1" noChangeArrowheads="1"/>
          </p:cNvSpPr>
          <p:nvPr/>
        </p:nvSpPr>
        <p:spPr>
          <a:xfrm>
            <a:off x="50959" y="1062514"/>
            <a:ext cx="6206966" cy="463391"/>
          </a:xfrm>
          <a:prstGeom prst="rect">
            <a:avLst/>
          </a:prstGeom>
          <a:noFill/>
          <a:ln w="9525">
            <a:noFill/>
            <a:miter lim="800000"/>
          </a:ln>
        </p:spPr>
        <p:txBody>
          <a:bodyPr vert="horz" wrap="square" lIns="68580" tIns="34290" rIns="68580" bIns="34290" numCol="1" anchor="ctr" anchorCtr="0" compatLnSpc="1"/>
          <a:lstStyle>
            <a:lvl1pPr algn="ctr" rtl="0" eaLnBrk="0" fontAlgn="base" hangingPunct="0">
              <a:spcBef>
                <a:spcPct val="0"/>
              </a:spcBef>
              <a:spcAft>
                <a:spcPct val="0"/>
              </a:spcAft>
              <a:defRPr sz="4000" b="1">
                <a:solidFill>
                  <a:srgbClr val="CC3300"/>
                </a:solidFill>
                <a:latin typeface="+mj-lt"/>
                <a:ea typeface="黑体" panose="02010609060101010101" charset="-122"/>
                <a:cs typeface="+mj-cs"/>
              </a:defRPr>
            </a:lvl1pPr>
            <a:lvl2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charset="-122"/>
              </a:defRPr>
            </a:lvl2pPr>
            <a:lvl3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charset="-122"/>
              </a:defRPr>
            </a:lvl3pPr>
            <a:lvl4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charset="-122"/>
              </a:defRPr>
            </a:lvl4pPr>
            <a:lvl5pPr algn="ctr" rtl="0" eaLnBrk="0" fontAlgn="base" hangingPunct="0">
              <a:spcBef>
                <a:spcPct val="0"/>
              </a:spcBef>
              <a:spcAft>
                <a:spcPct val="0"/>
              </a:spcAft>
              <a:defRPr sz="4000" b="1">
                <a:solidFill>
                  <a:srgbClr val="CC3300"/>
                </a:solidFill>
                <a:latin typeface="Arial" panose="020B0604020202020204" pitchFamily="34" charset="0"/>
                <a:ea typeface="黑体" panose="02010609060101010101" charset="-122"/>
              </a:defRPr>
            </a:lvl5pPr>
            <a:lvl6pPr marL="4572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000" b="1">
                <a:solidFill>
                  <a:srgbClr val="CC3300"/>
                </a:solidFill>
                <a:latin typeface="Arial" panose="020B0604020202020204" pitchFamily="34" charset="0"/>
                <a:ea typeface="宋体" panose="02010600030101010101" pitchFamily="2" charset="-122"/>
              </a:defRPr>
            </a:lvl9pPr>
          </a:lstStyle>
          <a:p>
            <a:pPr marL="119380" indent="-11938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zh-CN" altLang="en-GB" sz="2100" b="0">
                <a:solidFill>
                  <a:srgbClr val="FFC2C2"/>
                </a:solidFill>
              </a:rPr>
              <a:t>可执行文件的存储器映像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7549">
                                            <p:txEl>
                                              <p:pRg st="0" end="0"/>
                                            </p:txEl>
                                          </p:spTgt>
                                        </p:tgtEl>
                                        <p:attrNameLst>
                                          <p:attrName>style.visibility</p:attrName>
                                        </p:attrNameLst>
                                      </p:cBhvr>
                                      <p:to>
                                        <p:strVal val="visible"/>
                                      </p:to>
                                    </p:set>
                                    <p:animEffect transition="in" filter="blinds(horizontal)">
                                      <p:cBhvr>
                                        <p:cTn id="7" dur="500"/>
                                        <p:tgtEl>
                                          <p:spTgt spid="74754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7546"/>
                                        </p:tgtEl>
                                        <p:attrNameLst>
                                          <p:attrName>style.visibility</p:attrName>
                                        </p:attrNameLst>
                                      </p:cBhvr>
                                      <p:to>
                                        <p:strVal val="visible"/>
                                      </p:to>
                                    </p:set>
                                    <p:animEffect transition="in" filter="blinds(horizontal)">
                                      <p:cBhvr>
                                        <p:cTn id="12" dur="500"/>
                                        <p:tgtEl>
                                          <p:spTgt spid="747546"/>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747545"/>
                                        </p:tgtEl>
                                        <p:attrNameLst>
                                          <p:attrName>style.visibility</p:attrName>
                                        </p:attrNameLst>
                                      </p:cBhvr>
                                      <p:to>
                                        <p:strVal val="visible"/>
                                      </p:to>
                                    </p:set>
                                    <p:animEffect transition="in" filter="blinds(horizontal)">
                                      <p:cBhvr>
                                        <p:cTn id="15" dur="500"/>
                                        <p:tgtEl>
                                          <p:spTgt spid="74754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47547"/>
                                        </p:tgtEl>
                                        <p:attrNameLst>
                                          <p:attrName>style.visibility</p:attrName>
                                        </p:attrNameLst>
                                      </p:cBhvr>
                                      <p:to>
                                        <p:strVal val="visible"/>
                                      </p:to>
                                    </p:set>
                                    <p:animEffect transition="in" filter="blinds(horizontal)">
                                      <p:cBhvr>
                                        <p:cTn id="20" dur="500"/>
                                        <p:tgtEl>
                                          <p:spTgt spid="74754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47548"/>
                                        </p:tgtEl>
                                        <p:attrNameLst>
                                          <p:attrName>style.visibility</p:attrName>
                                        </p:attrNameLst>
                                      </p:cBhvr>
                                      <p:to>
                                        <p:strVal val="visible"/>
                                      </p:to>
                                    </p:set>
                                    <p:animEffect transition="in" filter="blinds(horizontal)">
                                      <p:cBhvr>
                                        <p:cTn id="25" dur="500"/>
                                        <p:tgtEl>
                                          <p:spTgt spid="74754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47563"/>
                                        </p:tgtEl>
                                        <p:attrNameLst>
                                          <p:attrName>style.visibility</p:attrName>
                                        </p:attrNameLst>
                                      </p:cBhvr>
                                      <p:to>
                                        <p:strVal val="visible"/>
                                      </p:to>
                                    </p:set>
                                    <p:animEffect transition="in" filter="blinds(horizontal)">
                                      <p:cBhvr>
                                        <p:cTn id="30" dur="500"/>
                                        <p:tgtEl>
                                          <p:spTgt spid="74756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47562"/>
                                        </p:tgtEl>
                                        <p:attrNameLst>
                                          <p:attrName>style.visibility</p:attrName>
                                        </p:attrNameLst>
                                      </p:cBhvr>
                                      <p:to>
                                        <p:strVal val="visible"/>
                                      </p:to>
                                    </p:set>
                                    <p:animEffect transition="in" filter="blinds(horizontal)">
                                      <p:cBhvr>
                                        <p:cTn id="35" dur="500"/>
                                        <p:tgtEl>
                                          <p:spTgt spid="74756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747564"/>
                                        </p:tgtEl>
                                        <p:attrNameLst>
                                          <p:attrName>style.visibility</p:attrName>
                                        </p:attrNameLst>
                                      </p:cBhvr>
                                      <p:to>
                                        <p:strVal val="visible"/>
                                      </p:to>
                                    </p:set>
                                    <p:animEffect transition="in" filter="blinds(horizontal)">
                                      <p:cBhvr>
                                        <p:cTn id="40" dur="500"/>
                                        <p:tgtEl>
                                          <p:spTgt spid="747564"/>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747565"/>
                                        </p:tgtEl>
                                        <p:attrNameLst>
                                          <p:attrName>style.visibility</p:attrName>
                                        </p:attrNameLst>
                                      </p:cBhvr>
                                      <p:to>
                                        <p:strVal val="visible"/>
                                      </p:to>
                                    </p:set>
                                    <p:animEffect transition="in" filter="blinds(horizontal)">
                                      <p:cBhvr>
                                        <p:cTn id="45" dur="500"/>
                                        <p:tgtEl>
                                          <p:spTgt spid="747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5" grpId="0" bldLvl="0" animBg="1"/>
      <p:bldP spid="747546" grpId="0"/>
      <p:bldP spid="747547" grpId="0" bldLvl="0" animBg="1"/>
      <p:bldP spid="747548" grpId="0" bldLvl="0" animBg="1"/>
      <p:bldP spid="747562" grpId="0" bldLvl="0" animBg="1"/>
      <p:bldP spid="747563" grpId="0" bldLvl="0" animBg="1"/>
      <p:bldP spid="747564" grpId="0" bldLvl="0" animBg="1"/>
      <p:bldP spid="747565"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TextBox 1"/>
          <p:cNvSpPr txBox="1"/>
          <p:nvPr/>
        </p:nvSpPr>
        <p:spPr>
          <a:xfrm>
            <a:off x="5264537" y="412857"/>
            <a:ext cx="2087880"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zh-CN" sz="3000" dirty="0"/>
              <a:t>另一个例子</a:t>
            </a:r>
          </a:p>
        </p:txBody>
      </p:sp>
      <p:sp>
        <p:nvSpPr>
          <p:cNvPr id="5" name="椭圆 4"/>
          <p:cNvSpPr/>
          <p:nvPr/>
        </p:nvSpPr>
        <p:spPr>
          <a:xfrm>
            <a:off x="3662839" y="5375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911441" y="7389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10552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743926" y="1055211"/>
            <a:ext cx="440007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149507" name="Rectangle 3"/>
          <p:cNvSpPr>
            <a:spLocks noGrp="1" noChangeArrowheads="1"/>
          </p:cNvSpPr>
          <p:nvPr/>
        </p:nvSpPr>
        <p:spPr>
          <a:xfrm>
            <a:off x="189230" y="1269365"/>
            <a:ext cx="2438400" cy="363538"/>
          </a:xfrm>
          <a:prstGeom prst="rect">
            <a:avLst/>
          </a:prstGeom>
          <a:noFill/>
          <a:ln w="9525">
            <a:noFill/>
            <a:miter lim="800000"/>
          </a:ln>
        </p:spPr>
        <p:txBody>
          <a:bodyPr vert="horz" wrap="square" lIns="90487" tIns="44450" rIns="90487" bIns="4445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None/>
            </a:pPr>
            <a:r>
              <a:rPr lang="en-US" dirty="0"/>
              <a:t>C Code (</a:t>
            </a:r>
            <a:r>
              <a:rPr lang="en-US" dirty="0" err="1"/>
              <a:t>sum.c</a:t>
            </a:r>
            <a:r>
              <a:rPr lang="en-US" dirty="0"/>
              <a:t>)</a:t>
            </a:r>
          </a:p>
          <a:p>
            <a:pPr>
              <a:buNone/>
            </a:pPr>
            <a:endParaRPr lang="en-US" dirty="0"/>
          </a:p>
        </p:txBody>
      </p:sp>
      <p:sp>
        <p:nvSpPr>
          <p:cNvPr id="149508" name="Rectangle 4"/>
          <p:cNvSpPr>
            <a:spLocks noChangeArrowheads="1"/>
          </p:cNvSpPr>
          <p:nvPr/>
        </p:nvSpPr>
        <p:spPr bwMode="auto">
          <a:xfrm>
            <a:off x="103505" y="1785620"/>
            <a:ext cx="4343400" cy="2305760"/>
          </a:xfrm>
          <a:prstGeom prst="rect">
            <a:avLst/>
          </a:prstGeom>
          <a:solidFill>
            <a:srgbClr val="F6F5BD"/>
          </a:solidFill>
          <a:ln w="12700">
            <a:solidFill>
              <a:schemeClr val="tx1"/>
            </a:solidFill>
            <a:miter lim="800000"/>
          </a:ln>
          <a:effectLst/>
        </p:spPr>
        <p:txBody>
          <a:bodyPr wrap="square" lIns="90487" tIns="44450" rIns="90487" bIns="44450">
            <a:spAutoFit/>
          </a:bodyPr>
          <a:lstStyle/>
          <a:p>
            <a:pPr>
              <a:tabLst>
                <a:tab pos="457200" algn="l"/>
                <a:tab pos="1485900" algn="l"/>
              </a:tabLst>
            </a:pPr>
            <a:r>
              <a:rPr lang="en-US" sz="1800" dirty="0">
                <a:latin typeface="Courier New" panose="02070309020205020404" charset="0"/>
              </a:rPr>
              <a:t>long plus(long x, long y); </a:t>
            </a:r>
          </a:p>
          <a:p>
            <a:pPr>
              <a:tabLst>
                <a:tab pos="457200" algn="l"/>
                <a:tab pos="1485900" algn="l"/>
              </a:tabLst>
            </a:pPr>
            <a:endParaRPr lang="en-US" sz="1800" dirty="0">
              <a:latin typeface="Courier New" panose="02070309020205020404" charset="0"/>
            </a:endParaRPr>
          </a:p>
          <a:p>
            <a:pPr>
              <a:tabLst>
                <a:tab pos="457200" algn="l"/>
                <a:tab pos="1485900" algn="l"/>
              </a:tabLst>
            </a:pPr>
            <a:r>
              <a:rPr lang="en-US" sz="1800" dirty="0">
                <a:latin typeface="Courier New" panose="02070309020205020404" charset="0"/>
              </a:rPr>
              <a:t>void </a:t>
            </a:r>
            <a:r>
              <a:rPr lang="en-US" sz="1800" dirty="0" err="1">
                <a:latin typeface="Courier New" panose="02070309020205020404" charset="0"/>
              </a:rPr>
              <a:t>sumstore</a:t>
            </a:r>
            <a:r>
              <a:rPr lang="en-US" sz="1800" dirty="0">
                <a:latin typeface="Courier New" panose="02070309020205020404" charset="0"/>
              </a:rPr>
              <a:t>(long x, long y, </a:t>
            </a:r>
          </a:p>
          <a:p>
            <a:pPr>
              <a:tabLst>
                <a:tab pos="457200" algn="l"/>
                <a:tab pos="1485900" algn="l"/>
              </a:tabLst>
            </a:pPr>
            <a:r>
              <a:rPr lang="en-US" sz="1800" dirty="0">
                <a:latin typeface="Courier New" panose="02070309020205020404" charset="0"/>
              </a:rPr>
              <a:t>              long *</a:t>
            </a:r>
            <a:r>
              <a:rPr lang="en-US" sz="1800" dirty="0" err="1">
                <a:latin typeface="Courier New" panose="02070309020205020404" charset="0"/>
              </a:rPr>
              <a:t>dest</a:t>
            </a:r>
            <a:r>
              <a:rPr lang="en-US" sz="1800" dirty="0">
                <a:latin typeface="Courier New" panose="02070309020205020404" charset="0"/>
              </a:rPr>
              <a:t>)</a:t>
            </a:r>
          </a:p>
          <a:p>
            <a:pPr>
              <a:tabLst>
                <a:tab pos="457200" algn="l"/>
                <a:tab pos="1485900" algn="l"/>
              </a:tabLst>
            </a:pPr>
            <a:r>
              <a:rPr lang="en-US" sz="1800" dirty="0">
                <a:latin typeface="Courier New" panose="02070309020205020404" charset="0"/>
              </a:rPr>
              <a:t>{</a:t>
            </a:r>
          </a:p>
          <a:p>
            <a:pPr>
              <a:tabLst>
                <a:tab pos="457200" algn="l"/>
                <a:tab pos="1485900" algn="l"/>
              </a:tabLst>
            </a:pPr>
            <a:r>
              <a:rPr lang="en-US" sz="1800" dirty="0">
                <a:latin typeface="Courier New" panose="02070309020205020404" charset="0"/>
              </a:rPr>
              <a:t>    long t = plus(x, y);</a:t>
            </a:r>
          </a:p>
          <a:p>
            <a:pPr>
              <a:tabLst>
                <a:tab pos="457200" algn="l"/>
                <a:tab pos="1485900" algn="l"/>
              </a:tabLst>
            </a:pPr>
            <a:r>
              <a:rPr lang="en-US" sz="1800" dirty="0">
                <a:latin typeface="Courier New" panose="02070309020205020404" charset="0"/>
              </a:rPr>
              <a:t>    *</a:t>
            </a:r>
            <a:r>
              <a:rPr lang="en-US" sz="1800" dirty="0" err="1">
                <a:latin typeface="Courier New" panose="02070309020205020404" charset="0"/>
              </a:rPr>
              <a:t>dest</a:t>
            </a:r>
            <a:r>
              <a:rPr lang="en-US" sz="1800" dirty="0">
                <a:latin typeface="Courier New" panose="02070309020205020404" charset="0"/>
              </a:rPr>
              <a:t> = t;</a:t>
            </a:r>
          </a:p>
          <a:p>
            <a:pPr>
              <a:tabLst>
                <a:tab pos="457200" algn="l"/>
                <a:tab pos="1485900" algn="l"/>
              </a:tabLst>
            </a:pPr>
            <a:r>
              <a:rPr lang="en-US" sz="1800" dirty="0">
                <a:latin typeface="Courier New" panose="02070309020205020404" charset="0"/>
              </a:rPr>
              <a:t>}</a:t>
            </a:r>
          </a:p>
        </p:txBody>
      </p:sp>
      <p:sp>
        <p:nvSpPr>
          <p:cNvPr id="149509" name="Rectangle 5"/>
          <p:cNvSpPr>
            <a:spLocks noChangeArrowheads="1"/>
          </p:cNvSpPr>
          <p:nvPr/>
        </p:nvSpPr>
        <p:spPr bwMode="auto">
          <a:xfrm>
            <a:off x="5114925" y="3785235"/>
            <a:ext cx="3260090" cy="412750"/>
          </a:xfrm>
          <a:prstGeom prst="rect">
            <a:avLst/>
          </a:prstGeom>
          <a:noFill/>
          <a:ln w="12700">
            <a:noFill/>
            <a:miter lim="800000"/>
          </a:ln>
          <a:effectLst/>
        </p:spPr>
        <p:txBody>
          <a:bodyPr lIns="90487" tIns="44450" rIns="90487" bIns="44450"/>
          <a:lstStyle/>
          <a:p>
            <a:pPr marL="224155" indent="-224155" algn="l" defTabSz="895350">
              <a:spcBef>
                <a:spcPct val="30000"/>
              </a:spcBef>
            </a:pPr>
            <a:r>
              <a:rPr lang="en-US" sz="2400" dirty="0">
                <a:solidFill>
                  <a:schemeClr val="tx2"/>
                </a:solidFill>
                <a:latin typeface="Calibri" panose="020F0502020204030204" charset="0"/>
              </a:rPr>
              <a:t>生成的x86-64汇编</a:t>
            </a:r>
            <a:r>
              <a:rPr lang="zh-CN" altLang="en-US" sz="2400" dirty="0">
                <a:solidFill>
                  <a:schemeClr val="tx2"/>
                </a:solidFill>
                <a:latin typeface="Calibri" panose="020F0502020204030204" charset="0"/>
              </a:rPr>
              <a:t>语言</a:t>
            </a:r>
          </a:p>
          <a:p>
            <a:pPr marL="224155" indent="-224155" defTabSz="895350">
              <a:lnSpc>
                <a:spcPct val="100000"/>
              </a:lnSpc>
            </a:pPr>
            <a:endParaRPr lang="en-US" sz="2400" dirty="0">
              <a:solidFill>
                <a:schemeClr val="tx2"/>
              </a:solidFill>
              <a:latin typeface="Calibri" panose="020F0502020204030204" charset="0"/>
            </a:endParaRPr>
          </a:p>
        </p:txBody>
      </p:sp>
      <p:sp>
        <p:nvSpPr>
          <p:cNvPr id="149510" name="Rectangle 6"/>
          <p:cNvSpPr>
            <a:spLocks noChangeArrowheads="1"/>
          </p:cNvSpPr>
          <p:nvPr/>
        </p:nvSpPr>
        <p:spPr bwMode="auto">
          <a:xfrm>
            <a:off x="4744085" y="4509453"/>
            <a:ext cx="4195763" cy="2028761"/>
          </a:xfrm>
          <a:prstGeom prst="rect">
            <a:avLst/>
          </a:prstGeom>
          <a:solidFill>
            <a:srgbClr val="F6F5BD"/>
          </a:solidFill>
          <a:ln w="12700">
            <a:solidFill>
              <a:schemeClr val="tx1"/>
            </a:solidFill>
            <a:miter lim="800000"/>
          </a:ln>
          <a:effectLst/>
        </p:spPr>
        <p:txBody>
          <a:bodyPr lIns="90487" tIns="44450" rIns="90487" bIns="44450">
            <a:spAutoFit/>
          </a:bodyPr>
          <a:lstStyle/>
          <a:p>
            <a:pPr>
              <a:tabLst>
                <a:tab pos="457200" algn="l"/>
                <a:tab pos="1485900" algn="l"/>
              </a:tabLst>
            </a:pPr>
            <a:r>
              <a:rPr lang="en-US" sz="1800" dirty="0" err="1">
                <a:latin typeface="Courier New" panose="02070309020205020404" charset="0"/>
              </a:rPr>
              <a:t>sumstore</a:t>
            </a:r>
            <a:r>
              <a:rPr lang="en-US" sz="1800" dirty="0">
                <a:latin typeface="Courier New" panose="02070309020205020404" charset="0"/>
              </a:rPr>
              <a:t>:</a:t>
            </a:r>
          </a:p>
          <a:p>
            <a:pPr>
              <a:tabLst>
                <a:tab pos="457200" algn="l"/>
                <a:tab pos="1485900" algn="l"/>
              </a:tabLst>
            </a:pPr>
            <a:r>
              <a:rPr lang="en-US" sz="1800" dirty="0">
                <a:latin typeface="Courier New" panose="02070309020205020404" charset="0"/>
              </a:rPr>
              <a:t>   </a:t>
            </a:r>
            <a:r>
              <a:rPr lang="en-US" sz="1800" dirty="0" err="1">
                <a:latin typeface="Courier New" panose="02070309020205020404" charset="0"/>
              </a:rPr>
              <a:t>pushq</a:t>
            </a:r>
            <a:r>
              <a:rPr lang="en-US" sz="1800" dirty="0">
                <a:latin typeface="Courier New" panose="02070309020205020404" charset="0"/>
              </a:rPr>
              <a:t>   %</a:t>
            </a:r>
            <a:r>
              <a:rPr lang="en-US" sz="1800" dirty="0" err="1">
                <a:latin typeface="Courier New" panose="02070309020205020404" charset="0"/>
              </a:rPr>
              <a:t>rbx</a:t>
            </a:r>
            <a:endParaRPr lang="en-US" sz="1800" dirty="0">
              <a:latin typeface="Courier New" panose="02070309020205020404" charset="0"/>
            </a:endParaRPr>
          </a:p>
          <a:p>
            <a:pPr>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rdx</a:t>
            </a:r>
            <a:r>
              <a:rPr lang="en-US" sz="1800" dirty="0">
                <a:latin typeface="Courier New" panose="02070309020205020404" charset="0"/>
              </a:rPr>
              <a:t>, %</a:t>
            </a:r>
            <a:r>
              <a:rPr lang="en-US" sz="1800" dirty="0" err="1">
                <a:latin typeface="Courier New" panose="02070309020205020404" charset="0"/>
              </a:rPr>
              <a:t>rbx</a:t>
            </a:r>
            <a:endParaRPr lang="en-US" sz="1800" dirty="0">
              <a:latin typeface="Courier New" panose="02070309020205020404" charset="0"/>
            </a:endParaRPr>
          </a:p>
          <a:p>
            <a:pPr>
              <a:tabLst>
                <a:tab pos="457200" algn="l"/>
                <a:tab pos="1485900" algn="l"/>
              </a:tabLst>
            </a:pPr>
            <a:r>
              <a:rPr lang="en-US" sz="1800" dirty="0">
                <a:latin typeface="Courier New" panose="02070309020205020404" charset="0"/>
              </a:rPr>
              <a:t>   call    plus</a:t>
            </a:r>
          </a:p>
          <a:p>
            <a:pPr>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rax</a:t>
            </a:r>
            <a:r>
              <a:rPr lang="en-US" sz="1800" dirty="0">
                <a:latin typeface="Courier New" panose="02070309020205020404" charset="0"/>
              </a:rPr>
              <a:t>, (%</a:t>
            </a:r>
            <a:r>
              <a:rPr lang="en-US" sz="1800" dirty="0" err="1">
                <a:latin typeface="Courier New" panose="02070309020205020404" charset="0"/>
              </a:rPr>
              <a:t>rbx</a:t>
            </a:r>
            <a:r>
              <a:rPr lang="en-US" sz="1800" dirty="0">
                <a:latin typeface="Courier New" panose="02070309020205020404" charset="0"/>
              </a:rPr>
              <a:t>)</a:t>
            </a:r>
          </a:p>
          <a:p>
            <a:pPr>
              <a:tabLst>
                <a:tab pos="457200" algn="l"/>
                <a:tab pos="1485900" algn="l"/>
              </a:tabLst>
            </a:pPr>
            <a:r>
              <a:rPr lang="en-US" sz="1800" dirty="0">
                <a:latin typeface="Courier New" panose="02070309020205020404" charset="0"/>
              </a:rPr>
              <a:t>   </a:t>
            </a:r>
            <a:r>
              <a:rPr lang="en-US" sz="1800" dirty="0" err="1">
                <a:latin typeface="Courier New" panose="02070309020205020404" charset="0"/>
              </a:rPr>
              <a:t>popq</a:t>
            </a:r>
            <a:r>
              <a:rPr lang="en-US" sz="1800" dirty="0">
                <a:latin typeface="Courier New" panose="02070309020205020404" charset="0"/>
              </a:rPr>
              <a:t>    %</a:t>
            </a:r>
            <a:r>
              <a:rPr lang="en-US" sz="1800" dirty="0" err="1">
                <a:latin typeface="Courier New" panose="02070309020205020404" charset="0"/>
              </a:rPr>
              <a:t>rbx</a:t>
            </a:r>
            <a:endParaRPr lang="en-US" sz="1800" dirty="0">
              <a:latin typeface="Courier New" panose="02070309020205020404" charset="0"/>
            </a:endParaRPr>
          </a:p>
          <a:p>
            <a:pPr>
              <a:tabLst>
                <a:tab pos="457200" algn="l"/>
                <a:tab pos="1485900" algn="l"/>
              </a:tabLst>
            </a:pPr>
            <a:r>
              <a:rPr lang="en-US" sz="1800" dirty="0">
                <a:latin typeface="Courier New" panose="02070309020205020404" charset="0"/>
              </a:rPr>
              <a:t>   ret</a:t>
            </a:r>
          </a:p>
        </p:txBody>
      </p:sp>
      <p:sp>
        <p:nvSpPr>
          <p:cNvPr id="3" name="直角双向箭头 2"/>
          <p:cNvSpPr/>
          <p:nvPr/>
        </p:nvSpPr>
        <p:spPr>
          <a:xfrm rot="5400000">
            <a:off x="1477010" y="3146425"/>
            <a:ext cx="1917700" cy="4023360"/>
          </a:xfrm>
          <a:prstGeom prst="leftUpArrow">
            <a:avLst>
              <a:gd name="adj1" fmla="val 24966"/>
              <a:gd name="adj2" fmla="val 25000"/>
              <a:gd name="adj3" fmla="val 25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1336040" y="4890135"/>
            <a:ext cx="2621280" cy="398780"/>
          </a:xfrm>
          <a:prstGeom prst="rect">
            <a:avLst/>
          </a:prstGeom>
          <a:noFill/>
        </p:spPr>
        <p:txBody>
          <a:bodyPr wrap="none" rtlCol="0" anchor="t">
            <a:spAutoFit/>
          </a:bodyPr>
          <a:lstStyle/>
          <a:p>
            <a:r>
              <a:rPr lang="en-US" sz="2000" dirty="0" err="1">
                <a:latin typeface="Courier New" panose="02070309020205020404" charset="0"/>
                <a:sym typeface="+mn-ea"/>
              </a:rPr>
              <a:t>gcc</a:t>
            </a:r>
            <a:r>
              <a:rPr lang="en-US" sz="2000" dirty="0">
                <a:latin typeface="Courier New" panose="02070309020205020404" charset="0"/>
                <a:sym typeface="+mn-ea"/>
              </a:rPr>
              <a:t> –</a:t>
            </a:r>
            <a:r>
              <a:rPr lang="en-US" sz="2000" dirty="0" err="1">
                <a:latin typeface="Courier New" panose="02070309020205020404" charset="0"/>
                <a:sym typeface="+mn-ea"/>
              </a:rPr>
              <a:t>Og</a:t>
            </a:r>
            <a:r>
              <a:rPr lang="en-US" sz="2000" dirty="0">
                <a:latin typeface="Courier New" panose="02070309020205020404" charset="0"/>
                <a:sym typeface="+mn-ea"/>
              </a:rPr>
              <a:t> –S </a:t>
            </a:r>
            <a:r>
              <a:rPr lang="en-US" sz="2000" dirty="0" err="1">
                <a:latin typeface="Courier New" panose="02070309020205020404" charset="0"/>
                <a:sym typeface="+mn-ea"/>
              </a:rPr>
              <a:t>sum.c</a:t>
            </a:r>
            <a:endParaRPr lang="en-US" altLang="en-US" sz="2000" dirty="0" err="1">
              <a:latin typeface="Courier New" panose="020703090202050204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
                                          </p:val>
                                        </p:tav>
                                        <p:tav tm="100000">
                                          <p:val>
                                            <p:strVal val="#ppt_x"/>
                                          </p:val>
                                        </p:tav>
                                      </p:tavLst>
                                    </p:anim>
                                    <p:anim calcmode="lin" valueType="num">
                                      <p:cBhvr additive="base">
                                        <p:cTn id="2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 calcmode="lin" valueType="num">
                                      <p:cBhvr additive="base">
                                        <p:cTn id="26" dur="500" fill="hold"/>
                                        <p:tgtEl>
                                          <p:spTgt spid="4"/>
                                        </p:tgtEl>
                                        <p:attrNameLst>
                                          <p:attrName>ppt_x</p:attrName>
                                        </p:attrNameLst>
                                      </p:cBhvr>
                                      <p:tavLst>
                                        <p:tav tm="0">
                                          <p:val>
                                            <p:strVal val="#ppt_x"/>
                                          </p:val>
                                        </p:tav>
                                        <p:tav tm="100000">
                                          <p:val>
                                            <p:strVal val="#ppt_x"/>
                                          </p:val>
                                        </p:tav>
                                      </p:tavLst>
                                    </p:anim>
                                    <p:anim calcmode="lin" valueType="num">
                                      <p:cBhvr additive="base">
                                        <p:cTn id="2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149509"/>
                                        </p:tgtEl>
                                        <p:attrNameLst>
                                          <p:attrName>style.visibility</p:attrName>
                                        </p:attrNameLst>
                                      </p:cBhvr>
                                      <p:to>
                                        <p:strVal val="visible"/>
                                      </p:to>
                                    </p:set>
                                    <p:anim calcmode="lin" valueType="num">
                                      <p:cBhvr additive="base">
                                        <p:cTn id="32" dur="500" fill="hold"/>
                                        <p:tgtEl>
                                          <p:spTgt spid="149509"/>
                                        </p:tgtEl>
                                        <p:attrNameLst>
                                          <p:attrName>ppt_x</p:attrName>
                                        </p:attrNameLst>
                                      </p:cBhvr>
                                      <p:tavLst>
                                        <p:tav tm="0">
                                          <p:val>
                                            <p:strVal val="#ppt_x"/>
                                          </p:val>
                                        </p:tav>
                                        <p:tav tm="100000">
                                          <p:val>
                                            <p:strVal val="#ppt_x"/>
                                          </p:val>
                                        </p:tav>
                                      </p:tavLst>
                                    </p:anim>
                                    <p:anim calcmode="lin" valueType="num">
                                      <p:cBhvr additive="base">
                                        <p:cTn id="33" dur="500" fill="hold"/>
                                        <p:tgtEl>
                                          <p:spTgt spid="149509"/>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49510"/>
                                        </p:tgtEl>
                                        <p:attrNameLst>
                                          <p:attrName>style.visibility</p:attrName>
                                        </p:attrNameLst>
                                      </p:cBhvr>
                                      <p:to>
                                        <p:strVal val="visible"/>
                                      </p:to>
                                    </p:set>
                                    <p:anim calcmode="lin" valueType="num">
                                      <p:cBhvr additive="base">
                                        <p:cTn id="36" dur="500" fill="hold"/>
                                        <p:tgtEl>
                                          <p:spTgt spid="149510"/>
                                        </p:tgtEl>
                                        <p:attrNameLst>
                                          <p:attrName>ppt_x</p:attrName>
                                        </p:attrNameLst>
                                      </p:cBhvr>
                                      <p:tavLst>
                                        <p:tav tm="0">
                                          <p:val>
                                            <p:strVal val="#ppt_x"/>
                                          </p:val>
                                        </p:tav>
                                        <p:tav tm="100000">
                                          <p:val>
                                            <p:strVal val="#ppt_x"/>
                                          </p:val>
                                        </p:tav>
                                      </p:tavLst>
                                    </p:anim>
                                    <p:anim calcmode="lin" valueType="num">
                                      <p:cBhvr additive="base">
                                        <p:cTn id="37" dur="500" fill="hold"/>
                                        <p:tgtEl>
                                          <p:spTgt spid="1495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P spid="149509" grpId="0" animBg="1"/>
      <p:bldP spid="149510" grpId="0" animBg="1"/>
      <p:bldP spid="3" grpId="0" animBg="1"/>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53605" name="Rectangle 5"/>
          <p:cNvSpPr>
            <a:spLocks noGrp="1" noChangeArrowheads="1"/>
          </p:cNvSpPr>
          <p:nvPr/>
        </p:nvSpPr>
        <p:spPr>
          <a:xfrm>
            <a:off x="146050" y="843280"/>
            <a:ext cx="8140700" cy="2249488"/>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7F7F7F"/>
              </a:buClr>
            </a:pPr>
            <a:r>
              <a:rPr lang="zh-CN" altLang="en-US" dirty="0"/>
              <a:t>反汇编</a:t>
            </a:r>
          </a:p>
          <a:p>
            <a:pPr lvl="1">
              <a:buFont typeface="Wingdings" panose="05000000000000000000" pitchFamily="2" charset="2"/>
              <a:buNone/>
            </a:pPr>
            <a:r>
              <a:rPr lang="en-US" b="1" dirty="0" err="1">
                <a:latin typeface="Courier New" panose="02070309020205020404" charset="0"/>
              </a:rPr>
              <a:t>objdump</a:t>
            </a:r>
            <a:r>
              <a:rPr lang="en-US" b="1" dirty="0">
                <a:latin typeface="Courier New" panose="02070309020205020404" charset="0"/>
              </a:rPr>
              <a:t> –d sum</a:t>
            </a:r>
          </a:p>
          <a:p>
            <a:pPr lvl="1">
              <a:buClr>
                <a:srgbClr val="7F7F7F"/>
              </a:buClr>
            </a:pPr>
            <a:r>
              <a:rPr lang="en-US" dirty="0"/>
              <a:t>检查目标代码的有用工具</a:t>
            </a:r>
          </a:p>
          <a:p>
            <a:pPr lvl="1">
              <a:buClr>
                <a:srgbClr val="7F7F7F"/>
              </a:buClr>
            </a:pPr>
            <a:r>
              <a:rPr lang="en-US" dirty="0"/>
              <a:t>分析一系列指令的位模式</a:t>
            </a:r>
          </a:p>
          <a:p>
            <a:pPr lvl="1">
              <a:buClr>
                <a:srgbClr val="7F7F7F"/>
              </a:buClr>
            </a:pPr>
            <a:r>
              <a:rPr lang="en-US" dirty="0"/>
              <a:t>生成汇编代码的近似表达式</a:t>
            </a:r>
          </a:p>
          <a:p>
            <a:pPr lvl="1">
              <a:buClr>
                <a:srgbClr val="7F7F7F"/>
              </a:buClr>
            </a:pPr>
            <a:r>
              <a:rPr lang="en-US" dirty="0" err="1"/>
              <a:t>可以运行在任何a.out（完整的可执行文件</a:t>
            </a:r>
            <a:r>
              <a:rPr lang="zh-CN" altLang="en-US" dirty="0"/>
              <a:t>）</a:t>
            </a:r>
            <a:r>
              <a:rPr lang="en-US" dirty="0" err="1"/>
              <a:t>或.o文件</a:t>
            </a:r>
            <a:endParaRPr lang="en-US" dirty="0"/>
          </a:p>
        </p:txBody>
      </p:sp>
      <p:sp>
        <p:nvSpPr>
          <p:cNvPr id="6" name="Rectangle 3"/>
          <p:cNvSpPr>
            <a:spLocks noChangeArrowheads="1"/>
          </p:cNvSpPr>
          <p:nvPr/>
        </p:nvSpPr>
        <p:spPr bwMode="auto">
          <a:xfrm>
            <a:off x="565785" y="3695129"/>
            <a:ext cx="7493000" cy="2028761"/>
          </a:xfrm>
          <a:prstGeom prst="rect">
            <a:avLst/>
          </a:prstGeom>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ln w="12700">
            <a:solidFill>
              <a:schemeClr val="tx1"/>
            </a:solidFill>
            <a:miter lim="800000"/>
          </a:ln>
          <a:effectLst/>
        </p:spPr>
        <p:txBody>
          <a:bodyPr wrap="square" lIns="90487" tIns="44450" rIns="90487" bIns="44450">
            <a:spAutoFit/>
          </a:bodyPr>
          <a:lstStyle/>
          <a:p>
            <a:pPr>
              <a:tabLst>
                <a:tab pos="457200" algn="l"/>
                <a:tab pos="1485900" algn="l"/>
              </a:tabLst>
            </a:pPr>
            <a:r>
              <a:rPr lang="en-US" sz="1800" dirty="0">
                <a:latin typeface="Courier New" panose="02070309020205020404" charset="0"/>
              </a:rPr>
              <a:t>0000000000400595 &lt;</a:t>
            </a:r>
            <a:r>
              <a:rPr lang="en-US" sz="1800" dirty="0" err="1">
                <a:latin typeface="Courier New" panose="02070309020205020404" charset="0"/>
              </a:rPr>
              <a:t>sumstore</a:t>
            </a:r>
            <a:r>
              <a:rPr lang="en-US" sz="1800" dirty="0">
                <a:latin typeface="Courier New" panose="02070309020205020404" charset="0"/>
              </a:rPr>
              <a:t>&gt;:</a:t>
            </a:r>
          </a:p>
          <a:p>
            <a:pPr>
              <a:tabLst>
                <a:tab pos="457200" algn="l"/>
                <a:tab pos="1485900" algn="l"/>
              </a:tabLst>
            </a:pPr>
            <a:r>
              <a:rPr lang="en-US" sz="1800" dirty="0">
                <a:latin typeface="Courier New" panose="02070309020205020404" charset="0"/>
              </a:rPr>
              <a:t>  400595:  53               push   %</a:t>
            </a:r>
            <a:r>
              <a:rPr lang="en-US" sz="1800" dirty="0" err="1">
                <a:latin typeface="Courier New" panose="02070309020205020404" charset="0"/>
              </a:rPr>
              <a:t>rbx</a:t>
            </a:r>
            <a:endParaRPr lang="en-US" sz="1800" dirty="0">
              <a:latin typeface="Courier New" panose="02070309020205020404" charset="0"/>
            </a:endParaRPr>
          </a:p>
          <a:p>
            <a:pPr>
              <a:tabLst>
                <a:tab pos="457200" algn="l"/>
                <a:tab pos="1485900" algn="l"/>
              </a:tabLst>
            </a:pPr>
            <a:r>
              <a:rPr lang="en-US" sz="1800" dirty="0">
                <a:latin typeface="Courier New" panose="02070309020205020404" charset="0"/>
              </a:rPr>
              <a:t>  400596:  48 89 d3         </a:t>
            </a:r>
            <a:r>
              <a:rPr lang="en-US" sz="1800" dirty="0" err="1">
                <a:latin typeface="Courier New" panose="02070309020205020404" charset="0"/>
              </a:rPr>
              <a:t>mov</a:t>
            </a:r>
            <a:r>
              <a:rPr lang="en-US" sz="1800" dirty="0">
                <a:latin typeface="Courier New" panose="02070309020205020404" charset="0"/>
              </a:rPr>
              <a:t>    %</a:t>
            </a:r>
            <a:r>
              <a:rPr lang="en-US" sz="1800" dirty="0" err="1">
                <a:latin typeface="Courier New" panose="02070309020205020404" charset="0"/>
              </a:rPr>
              <a:t>rdx</a:t>
            </a:r>
            <a:r>
              <a:rPr lang="en-US" sz="1800" dirty="0">
                <a:latin typeface="Courier New" panose="02070309020205020404" charset="0"/>
              </a:rPr>
              <a:t>,%</a:t>
            </a:r>
            <a:r>
              <a:rPr lang="en-US" sz="1800" dirty="0" err="1">
                <a:latin typeface="Courier New" panose="02070309020205020404" charset="0"/>
              </a:rPr>
              <a:t>rbx</a:t>
            </a:r>
            <a:endParaRPr lang="en-US" sz="1800" dirty="0">
              <a:latin typeface="Courier New" panose="02070309020205020404" charset="0"/>
            </a:endParaRPr>
          </a:p>
          <a:p>
            <a:pPr>
              <a:tabLst>
                <a:tab pos="457200" algn="l"/>
                <a:tab pos="1485900" algn="l"/>
              </a:tabLst>
            </a:pPr>
            <a:r>
              <a:rPr lang="en-US" sz="1800" dirty="0">
                <a:latin typeface="Courier New" panose="02070309020205020404" charset="0"/>
              </a:rPr>
              <a:t>  400599:  e8 f2 </a:t>
            </a:r>
            <a:r>
              <a:rPr lang="en-US" sz="1800" dirty="0" err="1">
                <a:latin typeface="Courier New" panose="02070309020205020404" charset="0"/>
              </a:rPr>
              <a:t>ff</a:t>
            </a:r>
            <a:r>
              <a:rPr lang="en-US" sz="1800" dirty="0">
                <a:latin typeface="Courier New" panose="02070309020205020404" charset="0"/>
              </a:rPr>
              <a:t> </a:t>
            </a:r>
            <a:r>
              <a:rPr lang="en-US" sz="1800" dirty="0" err="1">
                <a:latin typeface="Courier New" panose="02070309020205020404" charset="0"/>
              </a:rPr>
              <a:t>ff</a:t>
            </a:r>
            <a:r>
              <a:rPr lang="en-US" sz="1800" dirty="0">
                <a:latin typeface="Courier New" panose="02070309020205020404" charset="0"/>
              </a:rPr>
              <a:t> </a:t>
            </a:r>
            <a:r>
              <a:rPr lang="en-US" sz="1800" dirty="0" err="1">
                <a:latin typeface="Courier New" panose="02070309020205020404" charset="0"/>
              </a:rPr>
              <a:t>ff</a:t>
            </a:r>
            <a:r>
              <a:rPr lang="en-US" sz="1800" dirty="0">
                <a:latin typeface="Courier New" panose="02070309020205020404" charset="0"/>
              </a:rPr>
              <a:t>   </a:t>
            </a:r>
            <a:r>
              <a:rPr lang="en-US" sz="1800" dirty="0" err="1">
                <a:latin typeface="Courier New" panose="02070309020205020404" charset="0"/>
              </a:rPr>
              <a:t>callq</a:t>
            </a:r>
            <a:r>
              <a:rPr lang="en-US" sz="1800" dirty="0">
                <a:latin typeface="Courier New" panose="02070309020205020404" charset="0"/>
              </a:rPr>
              <a:t>  400590 &lt;plus&gt;</a:t>
            </a:r>
          </a:p>
          <a:p>
            <a:pPr>
              <a:tabLst>
                <a:tab pos="457200" algn="l"/>
                <a:tab pos="1485900" algn="l"/>
              </a:tabLst>
            </a:pPr>
            <a:r>
              <a:rPr lang="en-US" sz="1800" dirty="0">
                <a:latin typeface="Courier New" panose="02070309020205020404" charset="0"/>
              </a:rPr>
              <a:t>  40059e:  48 89 03         </a:t>
            </a:r>
            <a:r>
              <a:rPr lang="en-US" sz="1800" dirty="0" err="1">
                <a:latin typeface="Courier New" panose="02070309020205020404" charset="0"/>
              </a:rPr>
              <a:t>mov</a:t>
            </a:r>
            <a:r>
              <a:rPr lang="en-US" sz="1800" dirty="0">
                <a:latin typeface="Courier New" panose="02070309020205020404" charset="0"/>
              </a:rPr>
              <a:t>    %</a:t>
            </a:r>
            <a:r>
              <a:rPr lang="en-US" sz="1800" dirty="0" err="1">
                <a:latin typeface="Courier New" panose="02070309020205020404" charset="0"/>
              </a:rPr>
              <a:t>rax</a:t>
            </a:r>
            <a:r>
              <a:rPr lang="en-US" sz="1800" dirty="0">
                <a:latin typeface="Courier New" panose="02070309020205020404" charset="0"/>
              </a:rPr>
              <a:t>,(%</a:t>
            </a:r>
            <a:r>
              <a:rPr lang="en-US" sz="1800" dirty="0" err="1">
                <a:latin typeface="Courier New" panose="02070309020205020404" charset="0"/>
              </a:rPr>
              <a:t>rbx</a:t>
            </a:r>
            <a:r>
              <a:rPr lang="en-US" sz="1800" dirty="0">
                <a:latin typeface="Courier New" panose="02070309020205020404" charset="0"/>
              </a:rPr>
              <a:t>)</a:t>
            </a:r>
          </a:p>
          <a:p>
            <a:pPr>
              <a:tabLst>
                <a:tab pos="457200" algn="l"/>
                <a:tab pos="1485900" algn="l"/>
              </a:tabLst>
            </a:pPr>
            <a:r>
              <a:rPr lang="en-US" sz="1800" dirty="0">
                <a:latin typeface="Courier New" panose="02070309020205020404" charset="0"/>
              </a:rPr>
              <a:t>  4005a1:  5b               pop    %</a:t>
            </a:r>
            <a:r>
              <a:rPr lang="en-US" sz="1800" dirty="0" err="1">
                <a:latin typeface="Courier New" panose="02070309020205020404" charset="0"/>
              </a:rPr>
              <a:t>rbx</a:t>
            </a:r>
            <a:endParaRPr lang="en-US" sz="1800" dirty="0">
              <a:latin typeface="Courier New" panose="02070309020205020404" charset="0"/>
            </a:endParaRPr>
          </a:p>
          <a:p>
            <a:pPr>
              <a:tabLst>
                <a:tab pos="457200" algn="l"/>
                <a:tab pos="1485900" algn="l"/>
              </a:tabLst>
            </a:pPr>
            <a:r>
              <a:rPr lang="en-US" sz="1800" dirty="0">
                <a:latin typeface="Courier New" panose="02070309020205020404" charset="0"/>
              </a:rPr>
              <a:t>  4005a2:  c3               </a:t>
            </a:r>
            <a:r>
              <a:rPr lang="en-US" sz="1800" dirty="0" err="1">
                <a:latin typeface="Courier New" panose="02070309020205020404" charset="0"/>
              </a:rPr>
              <a:t>retq</a:t>
            </a:r>
            <a:endParaRPr lang="en-US" sz="1800" dirty="0">
              <a:latin typeface="Courier New" panose="02070309020205020404" charset="0"/>
            </a:endParaRPr>
          </a:p>
        </p:txBody>
      </p:sp>
      <p:sp>
        <p:nvSpPr>
          <p:cNvPr id="2" name="云形标注 1"/>
          <p:cNvSpPr/>
          <p:nvPr/>
        </p:nvSpPr>
        <p:spPr>
          <a:xfrm>
            <a:off x="3472180" y="-12700"/>
            <a:ext cx="5666105" cy="1933575"/>
          </a:xfrm>
          <a:prstGeom prst="cloudCallout">
            <a:avLst>
              <a:gd name="adj1" fmla="val -82623"/>
              <a:gd name="adj2" fmla="val 6379"/>
            </a:avLst>
          </a:prstGeom>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lumMod val="95000"/>
                    <a:lumOff val="5000"/>
                  </a:schemeClr>
                </a:solidFill>
              </a:rPr>
              <a:t>什么类型的文件可以被反汇编？</a:t>
            </a:r>
          </a:p>
          <a:p>
            <a:pPr marL="285750" indent="-285750" algn="ctr">
              <a:buFont typeface="Wingdings" panose="05000000000000000000" charset="0"/>
              <a:buChar char=""/>
            </a:pPr>
            <a:r>
              <a:rPr lang="zh-CN" altLang="en-US" dirty="0">
                <a:solidFill>
                  <a:schemeClr val="tx1">
                    <a:lumMod val="95000"/>
                    <a:lumOff val="5000"/>
                  </a:schemeClr>
                </a:solidFill>
              </a:rPr>
              <a:t>任何可以被解释为可执行代码的文件</a:t>
            </a:r>
          </a:p>
          <a:p>
            <a:pPr marL="285750" indent="-285750" algn="ctr">
              <a:buFont typeface="Wingdings" panose="05000000000000000000" charset="0"/>
              <a:buChar char=""/>
            </a:pPr>
            <a:r>
              <a:rPr lang="zh-CN" altLang="en-US" dirty="0">
                <a:solidFill>
                  <a:schemeClr val="tx1">
                    <a:lumMod val="95000"/>
                    <a:lumOff val="5000"/>
                  </a:schemeClr>
                </a:solidFill>
              </a:rPr>
              <a:t>反汇编字节进行考察的汇编源代码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153605">
                                            <p:txEl>
                                              <p:pRg st="2" end="2"/>
                                            </p:txEl>
                                          </p:spTgt>
                                        </p:tgtEl>
                                        <p:attrNameLst>
                                          <p:attrName>style.visibility</p:attrName>
                                        </p:attrNameLst>
                                      </p:cBhvr>
                                      <p:to>
                                        <p:strVal val="visible"/>
                                      </p:to>
                                    </p:set>
                                    <p:animEffect transition="in" filter="wipe(down)">
                                      <p:cBhvr>
                                        <p:cTn id="13" dur="500"/>
                                        <p:tgtEl>
                                          <p:spTgt spid="153605">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153605">
                                            <p:txEl>
                                              <p:pRg st="3" end="3"/>
                                            </p:txEl>
                                          </p:spTgt>
                                        </p:tgtEl>
                                        <p:attrNameLst>
                                          <p:attrName>style.visibility</p:attrName>
                                        </p:attrNameLst>
                                      </p:cBhvr>
                                      <p:to>
                                        <p:strVal val="visible"/>
                                      </p:to>
                                    </p:set>
                                    <p:animEffect transition="in" filter="wipe(down)">
                                      <p:cBhvr>
                                        <p:cTn id="18" dur="500"/>
                                        <p:tgtEl>
                                          <p:spTgt spid="15360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153605">
                                            <p:txEl>
                                              <p:pRg st="4" end="4"/>
                                            </p:txEl>
                                          </p:spTgt>
                                        </p:tgtEl>
                                        <p:attrNameLst>
                                          <p:attrName>style.visibility</p:attrName>
                                        </p:attrNameLst>
                                      </p:cBhvr>
                                      <p:to>
                                        <p:strVal val="visible"/>
                                      </p:to>
                                    </p:set>
                                    <p:animEffect transition="in" filter="wipe(down)">
                                      <p:cBhvr>
                                        <p:cTn id="23" dur="500"/>
                                        <p:tgtEl>
                                          <p:spTgt spid="153605">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153605">
                                            <p:txEl>
                                              <p:pRg st="5" end="5"/>
                                            </p:txEl>
                                          </p:spTgt>
                                        </p:tgtEl>
                                        <p:attrNameLst>
                                          <p:attrName>style.visibility</p:attrName>
                                        </p:attrNameLst>
                                      </p:cBhvr>
                                      <p:to>
                                        <p:strVal val="visible"/>
                                      </p:to>
                                    </p:set>
                                    <p:animEffect transition="in" filter="wipe(down)">
                                      <p:cBhvr>
                                        <p:cTn id="28" dur="500"/>
                                        <p:tgtEl>
                                          <p:spTgt spid="153605">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6" name="菱形 5"/>
          <p:cNvSpPr/>
          <p:nvPr/>
        </p:nvSpPr>
        <p:spPr>
          <a:xfrm>
            <a:off x="726440" y="48260"/>
            <a:ext cx="7691120" cy="3538220"/>
          </a:xfrm>
          <a:prstGeom prst="diamond">
            <a:avLst/>
          </a:prstGeom>
          <a:gradFill flip="none" rotWithShape="1">
            <a:gsLst>
              <a:gs pos="0">
                <a:schemeClr val="accent3">
                  <a:lumMod val="5000"/>
                  <a:lumOff val="95000"/>
                  <a:alpha val="3000"/>
                </a:schemeClr>
              </a:gs>
              <a:gs pos="83000">
                <a:schemeClr val="accent3">
                  <a:lumMod val="45000"/>
                  <a:lumOff val="55000"/>
                  <a:alpha val="57000"/>
                </a:schemeClr>
              </a:gs>
              <a:gs pos="100000">
                <a:schemeClr val="accent3">
                  <a:lumMod val="30000"/>
                  <a:lumOff val="70000"/>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chemeClr val="tx1">
                    <a:lumMod val="75000"/>
                    <a:lumOff val="25000"/>
                  </a:schemeClr>
                </a:solidFill>
              </a:rPr>
              <a:t>汇编器：</a:t>
            </a:r>
          </a:p>
          <a:p>
            <a:pPr marL="285750" indent="-285750" algn="ctr">
              <a:buFont typeface="Wingdings" panose="05000000000000000000" charset="0"/>
              <a:buChar char=""/>
            </a:pPr>
            <a:r>
              <a:rPr lang="zh-CN" altLang="en-US" b="1" dirty="0">
                <a:solidFill>
                  <a:schemeClr val="tx1">
                    <a:lumMod val="75000"/>
                    <a:lumOff val="25000"/>
                  </a:schemeClr>
                </a:solidFill>
              </a:rPr>
              <a:t>将</a:t>
            </a:r>
            <a:r>
              <a:rPr lang="en-US" altLang="zh-CN" b="1" dirty="0">
                <a:solidFill>
                  <a:schemeClr val="tx1">
                    <a:lumMod val="75000"/>
                    <a:lumOff val="25000"/>
                  </a:schemeClr>
                </a:solidFill>
              </a:rPr>
              <a:t>.s</a:t>
            </a:r>
            <a:r>
              <a:rPr lang="zh-CN" altLang="en-US" b="1" dirty="0">
                <a:solidFill>
                  <a:schemeClr val="tx1">
                    <a:lumMod val="75000"/>
                    <a:lumOff val="25000"/>
                  </a:schemeClr>
                </a:solidFill>
              </a:rPr>
              <a:t>文件转换为</a:t>
            </a:r>
            <a:r>
              <a:rPr lang="en-US" altLang="zh-CN" b="1" dirty="0">
                <a:solidFill>
                  <a:schemeClr val="tx1">
                    <a:lumMod val="75000"/>
                    <a:lumOff val="25000"/>
                  </a:schemeClr>
                </a:solidFill>
              </a:rPr>
              <a:t>.o</a:t>
            </a:r>
            <a:r>
              <a:rPr lang="zh-CN" altLang="en-US" b="1" dirty="0">
                <a:solidFill>
                  <a:schemeClr val="tx1">
                    <a:lumMod val="75000"/>
                    <a:lumOff val="25000"/>
                  </a:schemeClr>
                </a:solidFill>
              </a:rPr>
              <a:t>文件</a:t>
            </a:r>
          </a:p>
          <a:p>
            <a:pPr marL="285750" indent="-285750" algn="ctr">
              <a:buFont typeface="Wingdings" panose="05000000000000000000" charset="0"/>
              <a:buChar char=""/>
            </a:pPr>
            <a:r>
              <a:rPr lang="zh-CN" altLang="en-US" b="1" dirty="0">
                <a:solidFill>
                  <a:schemeClr val="tx1">
                    <a:lumMod val="75000"/>
                    <a:lumOff val="25000"/>
                  </a:schemeClr>
                </a:solidFill>
              </a:rPr>
              <a:t>得到每条指令的二进制编码</a:t>
            </a:r>
          </a:p>
          <a:p>
            <a:pPr marL="285750" indent="-285750" algn="ctr">
              <a:buFont typeface="Wingdings" panose="05000000000000000000" charset="0"/>
              <a:buChar char=""/>
            </a:pPr>
            <a:r>
              <a:rPr lang="zh-CN" altLang="en-US" b="1" dirty="0">
                <a:solidFill>
                  <a:schemeClr val="tx1">
                    <a:lumMod val="75000"/>
                    <a:lumOff val="25000"/>
                  </a:schemeClr>
                </a:solidFill>
              </a:rPr>
              <a:t>几乎完整的可执行代码映像</a:t>
            </a:r>
          </a:p>
          <a:p>
            <a:pPr marL="285750" indent="-285750" algn="ctr">
              <a:buFont typeface="Wingdings" panose="05000000000000000000" charset="0"/>
              <a:buChar char=""/>
            </a:pPr>
            <a:r>
              <a:rPr lang="zh-CN" altLang="en-US" b="1" dirty="0">
                <a:solidFill>
                  <a:schemeClr val="tx1">
                    <a:lumMod val="75000"/>
                    <a:lumOff val="25000"/>
                  </a:schemeClr>
                </a:solidFill>
              </a:rPr>
              <a:t>不同文件中的代码之间缺少联系</a:t>
            </a:r>
          </a:p>
        </p:txBody>
      </p:sp>
      <p:sp>
        <p:nvSpPr>
          <p:cNvPr id="2" name="菱形 1"/>
          <p:cNvSpPr/>
          <p:nvPr/>
        </p:nvSpPr>
        <p:spPr>
          <a:xfrm>
            <a:off x="625475" y="3454400"/>
            <a:ext cx="7893050" cy="3321685"/>
          </a:xfrm>
          <a:prstGeom prst="diamond">
            <a:avLst/>
          </a:prstGeom>
          <a:gradFill flip="none" rotWithShape="1">
            <a:gsLst>
              <a:gs pos="0">
                <a:schemeClr val="accent3">
                  <a:lumMod val="5000"/>
                  <a:lumOff val="95000"/>
                  <a:alpha val="3000"/>
                </a:schemeClr>
              </a:gs>
              <a:gs pos="83000">
                <a:schemeClr val="accent3">
                  <a:lumMod val="45000"/>
                  <a:lumOff val="55000"/>
                  <a:alpha val="57000"/>
                </a:schemeClr>
              </a:gs>
              <a:gs pos="100000">
                <a:schemeClr val="accent3">
                  <a:lumMod val="30000"/>
                  <a:lumOff val="70000"/>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a:buFont typeface="Wingdings" panose="05000000000000000000" charset="0"/>
              <a:buNone/>
            </a:pPr>
            <a:r>
              <a:rPr lang="zh-CN" altLang="en-US" sz="2400" b="1" dirty="0">
                <a:solidFill>
                  <a:schemeClr val="tx1">
                    <a:lumMod val="75000"/>
                    <a:lumOff val="25000"/>
                  </a:schemeClr>
                </a:solidFill>
              </a:rPr>
              <a:t>链接器：</a:t>
            </a:r>
          </a:p>
          <a:p>
            <a:pPr marL="285750" indent="-285750" algn="ctr">
              <a:buFont typeface="Wingdings" panose="05000000000000000000" charset="0"/>
              <a:buChar char=""/>
            </a:pPr>
            <a:r>
              <a:rPr lang="zh-CN" altLang="en-US" sz="1800" b="1" dirty="0">
                <a:solidFill>
                  <a:schemeClr val="tx1">
                    <a:lumMod val="75000"/>
                    <a:lumOff val="25000"/>
                  </a:schemeClr>
                </a:solidFill>
              </a:rPr>
              <a:t>解析文件之间的引用</a:t>
            </a:r>
          </a:p>
          <a:p>
            <a:pPr marL="285750" indent="-285750" algn="ctr">
              <a:buFont typeface="Wingdings" panose="05000000000000000000" charset="0"/>
              <a:buChar char=""/>
            </a:pPr>
            <a:r>
              <a:rPr lang="zh-CN" altLang="en-US" sz="1800" b="1" dirty="0">
                <a:solidFill>
                  <a:schemeClr val="tx1">
                    <a:lumMod val="75000"/>
                    <a:lumOff val="25000"/>
                  </a:schemeClr>
                </a:solidFill>
              </a:rPr>
              <a:t>与静态运行库相结合</a:t>
            </a:r>
          </a:p>
          <a:p>
            <a:pPr marL="285750" indent="-285750" algn="ctr">
              <a:buFont typeface="Arial" panose="020B0604020202020204" pitchFamily="34" charset="0"/>
              <a:buChar char="•"/>
            </a:pPr>
            <a:r>
              <a:rPr lang="zh-CN" altLang="en-US" sz="1800" b="1" dirty="0">
                <a:solidFill>
                  <a:schemeClr val="tx1">
                    <a:lumMod val="75000"/>
                    <a:lumOff val="25000"/>
                  </a:schemeClr>
                </a:solidFill>
              </a:rPr>
              <a:t>例如</a:t>
            </a:r>
            <a:r>
              <a:rPr lang="zh-CN" altLang="en-US" b="1" dirty="0">
                <a:solidFill>
                  <a:schemeClr val="tx1">
                    <a:lumMod val="75000"/>
                    <a:lumOff val="25000"/>
                  </a:schemeClr>
                </a:solidFill>
                <a:sym typeface="+mn-ea"/>
              </a:rPr>
              <a:t>malloc, printf</a:t>
            </a:r>
          </a:p>
          <a:p>
            <a:pPr marL="285750" indent="-285750" algn="ctr">
              <a:buFont typeface="Wingdings" panose="05000000000000000000" charset="0"/>
              <a:buChar char=""/>
            </a:pPr>
            <a:r>
              <a:rPr lang="zh-CN" altLang="en-US" sz="1800" b="1" dirty="0">
                <a:solidFill>
                  <a:schemeClr val="tx1">
                    <a:lumMod val="75000"/>
                    <a:lumOff val="25000"/>
                  </a:schemeClr>
                </a:solidFill>
              </a:rPr>
              <a:t>一些库是动态链接的</a:t>
            </a:r>
          </a:p>
          <a:p>
            <a:pPr marL="285750" indent="-285750" algn="ctr">
              <a:buFont typeface="Arial" panose="020B0604020202020204" pitchFamily="34" charset="0"/>
              <a:buChar char="•"/>
            </a:pPr>
            <a:r>
              <a:rPr lang="zh-CN" altLang="en-US" sz="1800" b="1" dirty="0">
                <a:solidFill>
                  <a:schemeClr val="tx1">
                    <a:lumMod val="75000"/>
                    <a:lumOff val="25000"/>
                  </a:schemeClr>
                </a:solidFill>
              </a:rPr>
              <a:t>当程序开始执行时发生链接。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wipe(down)">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wipe(down)">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wipe(down)">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wipe(down)">
                                      <p:cBhvr>
                                        <p:cTn id="22" dur="500"/>
                                        <p:tgtEl>
                                          <p:spTgt spid="6">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1" end="1"/>
                                            </p:txEl>
                                          </p:spTgt>
                                        </p:tgtEl>
                                        <p:attrNameLst>
                                          <p:attrName>style.visibility</p:attrName>
                                        </p:attrNameLst>
                                      </p:cBhvr>
                                      <p:to>
                                        <p:strVal val="visible"/>
                                      </p:to>
                                    </p:set>
                                    <p:animEffect transition="in" filter="wipe(down)">
                                      <p:cBhvr>
                                        <p:cTn id="27" dur="500"/>
                                        <p:tgtEl>
                                          <p:spTgt spid="2">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xEl>
                                              <p:pRg st="2" end="2"/>
                                            </p:txEl>
                                          </p:spTgt>
                                        </p:tgtEl>
                                        <p:attrNameLst>
                                          <p:attrName>style.visibility</p:attrName>
                                        </p:attrNameLst>
                                      </p:cBhvr>
                                      <p:to>
                                        <p:strVal val="visible"/>
                                      </p:to>
                                    </p:set>
                                    <p:animEffect transition="in" filter="wipe(down)">
                                      <p:cBhvr>
                                        <p:cTn id="32" dur="500"/>
                                        <p:tgtEl>
                                          <p:spTgt spid="2">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
                                            <p:txEl>
                                              <p:pRg st="3" end="3"/>
                                            </p:txEl>
                                          </p:spTgt>
                                        </p:tgtEl>
                                        <p:attrNameLst>
                                          <p:attrName>style.visibility</p:attrName>
                                        </p:attrNameLst>
                                      </p:cBhvr>
                                      <p:to>
                                        <p:strVal val="visible"/>
                                      </p:to>
                                    </p:set>
                                    <p:animEffect transition="in" filter="wipe(down)">
                                      <p:cBhvr>
                                        <p:cTn id="37" dur="500"/>
                                        <p:tgtEl>
                                          <p:spTgt spid="2">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wipe(down)">
                                      <p:cBhvr>
                                        <p:cTn id="42" dur="500"/>
                                        <p:tgtEl>
                                          <p:spTgt spid="2">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
                                            <p:txEl>
                                              <p:pRg st="5" end="5"/>
                                            </p:txEl>
                                          </p:spTgt>
                                        </p:tgtEl>
                                        <p:attrNameLst>
                                          <p:attrName>style.visibility</p:attrName>
                                        </p:attrNameLst>
                                      </p:cBhvr>
                                      <p:to>
                                        <p:strVal val="visible"/>
                                      </p:to>
                                    </p:set>
                                    <p:animEffect transition="in" filter="wipe(down)">
                                      <p:cBhvr>
                                        <p:cTn id="47"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11758"/>
            <a:ext cx="2208530" cy="252730"/>
          </a:xfrm>
          <a:prstGeom prst="rect">
            <a:avLst/>
          </a:prstGeom>
        </p:spPr>
        <p:txBody>
          <a:bodyPr wrap="none">
            <a:spAutoFit/>
          </a:bodyPr>
          <a:lstStyle/>
          <a:p>
            <a:pPr algn="l"/>
            <a:r>
              <a:rPr lang="en-US" altLang="zh-CN" sz="1050" b="1" dirty="0"/>
              <a:t>PART ONE </a:t>
            </a:r>
            <a:r>
              <a:rPr lang="en-US" altLang="zh-CN" sz="1050" b="1" dirty="0">
                <a:sym typeface="+mn-ea"/>
              </a:rPr>
              <a:t>第一讲：程序转换概述</a:t>
            </a:r>
            <a:endParaRPr lang="zh-CN" altLang="en-US" sz="1050" b="1" dirty="0"/>
          </a:p>
        </p:txBody>
      </p:sp>
      <p:sp>
        <p:nvSpPr>
          <p:cNvPr id="17" name="椭圆 16"/>
          <p:cNvSpPr/>
          <p:nvPr/>
        </p:nvSpPr>
        <p:spPr>
          <a:xfrm>
            <a:off x="2106533" y="61155"/>
            <a:ext cx="98188" cy="85006"/>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52579" name="Rectangle 3"/>
          <p:cNvSpPr>
            <a:spLocks noGrp="1" noChangeArrowheads="1"/>
          </p:cNvSpPr>
          <p:nvPr/>
        </p:nvSpPr>
        <p:spPr>
          <a:xfrm>
            <a:off x="280670" y="614680"/>
            <a:ext cx="4572000" cy="579120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24155" indent="-224155" defTabSz="895350">
              <a:buClr>
                <a:srgbClr val="53ABE2"/>
              </a:buClr>
              <a:tabLst>
                <a:tab pos="1603375" algn="l"/>
                <a:tab pos="2514600" algn="l"/>
              </a:tabLst>
            </a:pPr>
            <a:r>
              <a:rPr lang="en-US" dirty="0"/>
              <a:t>C </a:t>
            </a:r>
            <a:r>
              <a:rPr lang="zh-CN" altLang="en-US" dirty="0"/>
              <a:t>代码</a:t>
            </a:r>
          </a:p>
          <a:p>
            <a:pPr marL="560705" lvl="1" indent="-222250" defTabSz="895350">
              <a:buClr>
                <a:srgbClr val="53ABE2"/>
              </a:buClr>
              <a:tabLst>
                <a:tab pos="1603375" algn="l"/>
                <a:tab pos="2514600" algn="l"/>
              </a:tabLst>
            </a:pPr>
            <a:r>
              <a:rPr lang="en-US" dirty="0" err="1"/>
              <a:t>t存储在指定的目标</a:t>
            </a:r>
            <a:r>
              <a:rPr lang="zh-CN" altLang="en-US" dirty="0"/>
              <a:t>地址</a:t>
            </a:r>
          </a:p>
          <a:p>
            <a:pPr marL="224155" indent="-224155" defTabSz="895350">
              <a:buClr>
                <a:srgbClr val="53ABE2"/>
              </a:buClr>
              <a:tabLst>
                <a:tab pos="1603375" algn="l"/>
                <a:tab pos="2514600" algn="l"/>
              </a:tabLst>
            </a:pPr>
            <a:r>
              <a:rPr lang="zh-CN" altLang="en-US" dirty="0"/>
              <a:t>汇编</a:t>
            </a:r>
          </a:p>
          <a:p>
            <a:pPr marL="560705" lvl="1" indent="-222250" defTabSz="895350">
              <a:buClr>
                <a:srgbClr val="53ABE2"/>
              </a:buClr>
              <a:tabLst>
                <a:tab pos="1603375" algn="l"/>
                <a:tab pos="2514600" algn="l"/>
              </a:tabLst>
            </a:pPr>
            <a:r>
              <a:rPr lang="zh-CN" altLang="en-US" dirty="0"/>
              <a:t>数值（</a:t>
            </a:r>
            <a:r>
              <a:rPr lang="en-US" altLang="zh-CN" dirty="0"/>
              <a:t>8</a:t>
            </a:r>
            <a:r>
              <a:rPr lang="zh-CN" altLang="en-US" dirty="0"/>
              <a:t>字节）存到内存</a:t>
            </a:r>
            <a:endParaRPr lang="en-US" dirty="0"/>
          </a:p>
          <a:p>
            <a:pPr marL="560705" lvl="1" indent="-222250" defTabSz="895350">
              <a:buClr>
                <a:srgbClr val="53ABE2"/>
              </a:buClr>
              <a:tabLst>
                <a:tab pos="1603375" algn="l"/>
                <a:tab pos="2514600" algn="l"/>
              </a:tabLst>
            </a:pPr>
            <a:r>
              <a:rPr lang="zh-CN" altLang="en-US" dirty="0"/>
              <a:t>操作数</a:t>
            </a:r>
            <a:r>
              <a:rPr lang="en-US" dirty="0"/>
              <a:t>:</a:t>
            </a:r>
          </a:p>
          <a:p>
            <a:pPr marL="840105" lvl="2" indent="-165100" defTabSz="895350">
              <a:buNone/>
              <a:tabLst>
                <a:tab pos="1603375" algn="l"/>
                <a:tab pos="2514600" algn="l"/>
              </a:tabLst>
            </a:pPr>
            <a:r>
              <a:rPr lang="en-US" b="1" dirty="0">
                <a:latin typeface="Courier New" panose="02070309020205020404" charset="0"/>
              </a:rPr>
              <a:t>t</a:t>
            </a:r>
            <a:r>
              <a:rPr lang="en-US" b="1" dirty="0"/>
              <a:t>:	</a:t>
            </a:r>
            <a:r>
              <a:rPr lang="zh-CN" altLang="en-US" dirty="0"/>
              <a:t>寄存器</a:t>
            </a:r>
            <a:r>
              <a:rPr lang="en-US" dirty="0"/>
              <a:t>	</a:t>
            </a:r>
            <a:r>
              <a:rPr lang="en-US" b="1" dirty="0">
                <a:latin typeface="Courier New" panose="02070309020205020404" charset="0"/>
              </a:rPr>
              <a:t>%</a:t>
            </a:r>
            <a:r>
              <a:rPr lang="en-US" b="1" dirty="0" err="1">
                <a:latin typeface="Courier New" panose="02070309020205020404" charset="0"/>
              </a:rPr>
              <a:t>rax</a:t>
            </a:r>
            <a:endParaRPr lang="en-US" b="1" dirty="0">
              <a:latin typeface="Courier New" panose="02070309020205020404" charset="0"/>
            </a:endParaRPr>
          </a:p>
          <a:p>
            <a:pPr marL="840105" lvl="2" indent="-165100" defTabSz="895350">
              <a:buFont typeface="Wingdings" panose="05000000000000000000" pitchFamily="2" charset="2"/>
              <a:buNone/>
              <a:tabLst>
                <a:tab pos="1603375" algn="l"/>
                <a:tab pos="2514600" algn="l"/>
              </a:tabLst>
            </a:pPr>
            <a:r>
              <a:rPr lang="en-US" b="1" dirty="0" err="1">
                <a:latin typeface="Courier New" panose="02070309020205020404" charset="0"/>
              </a:rPr>
              <a:t>dest</a:t>
            </a:r>
            <a:r>
              <a:rPr lang="en-US" b="1" dirty="0"/>
              <a:t>:</a:t>
            </a:r>
            <a:r>
              <a:rPr lang="en-US" dirty="0"/>
              <a:t>	</a:t>
            </a:r>
            <a:r>
              <a:rPr lang="zh-CN" altLang="en-US" dirty="0"/>
              <a:t>寄存器</a:t>
            </a:r>
            <a:r>
              <a:rPr lang="en-US" dirty="0"/>
              <a:t>	</a:t>
            </a:r>
            <a:r>
              <a:rPr lang="en-US" b="1" dirty="0">
                <a:solidFill>
                  <a:schemeClr val="tx1"/>
                </a:solidFill>
                <a:latin typeface="Courier New" panose="02070309020205020404" charset="0"/>
              </a:rPr>
              <a:t>%</a:t>
            </a:r>
            <a:r>
              <a:rPr lang="en-US" b="1" dirty="0" err="1">
                <a:solidFill>
                  <a:schemeClr val="tx1"/>
                </a:solidFill>
                <a:latin typeface="Courier New" panose="02070309020205020404" charset="0"/>
              </a:rPr>
              <a:t>rbx</a:t>
            </a:r>
            <a:endParaRPr lang="en-US" b="1" dirty="0">
              <a:solidFill>
                <a:schemeClr val="tx1"/>
              </a:solidFill>
              <a:latin typeface="Courier New" panose="02070309020205020404" charset="0"/>
            </a:endParaRPr>
          </a:p>
          <a:p>
            <a:pPr marL="840105" lvl="2" indent="-165100" defTabSz="895350">
              <a:buFont typeface="Wingdings" panose="05000000000000000000" pitchFamily="2" charset="2"/>
              <a:buNone/>
              <a:tabLst>
                <a:tab pos="1603375" algn="l"/>
                <a:tab pos="2514600" algn="l"/>
              </a:tabLst>
            </a:pPr>
            <a:r>
              <a:rPr lang="en-US" b="1" dirty="0">
                <a:latin typeface="Courier New" panose="02070309020205020404" charset="0"/>
              </a:rPr>
              <a:t>*</a:t>
            </a:r>
            <a:r>
              <a:rPr lang="en-US" b="1" dirty="0" err="1">
                <a:latin typeface="Courier New" panose="02070309020205020404" charset="0"/>
              </a:rPr>
              <a:t>dest</a:t>
            </a:r>
            <a:r>
              <a:rPr lang="en-US" b="1" dirty="0"/>
              <a:t>:</a:t>
            </a:r>
            <a:r>
              <a:rPr lang="en-US" dirty="0"/>
              <a:t> 	</a:t>
            </a:r>
            <a:r>
              <a:rPr lang="zh-CN" altLang="en-US" dirty="0"/>
              <a:t>内存</a:t>
            </a:r>
            <a:r>
              <a:rPr lang="en-US" dirty="0"/>
              <a:t>	</a:t>
            </a:r>
            <a:r>
              <a:rPr lang="en-US" b="1" dirty="0"/>
              <a:t>M[</a:t>
            </a:r>
            <a:r>
              <a:rPr lang="en-US" b="1" dirty="0">
                <a:solidFill>
                  <a:schemeClr val="tx1"/>
                </a:solidFill>
                <a:latin typeface="Courier New" panose="02070309020205020404" charset="0"/>
              </a:rPr>
              <a:t>%</a:t>
            </a:r>
            <a:r>
              <a:rPr lang="en-US" b="1" dirty="0" err="1">
                <a:solidFill>
                  <a:schemeClr val="tx1"/>
                </a:solidFill>
                <a:latin typeface="Courier New" panose="02070309020205020404" charset="0"/>
              </a:rPr>
              <a:t>rbx</a:t>
            </a:r>
            <a:r>
              <a:rPr lang="en-US" b="1" dirty="0">
                <a:solidFill>
                  <a:schemeClr val="tx1"/>
                </a:solidFill>
                <a:latin typeface="Courier New" panose="02070309020205020404" charset="0"/>
              </a:rPr>
              <a:t>]</a:t>
            </a:r>
            <a:endParaRPr lang="en-US" b="1" dirty="0"/>
          </a:p>
          <a:p>
            <a:pPr marL="224155" indent="-224155" defTabSz="895350">
              <a:buClr>
                <a:srgbClr val="53ABE2"/>
              </a:buClr>
              <a:tabLst>
                <a:tab pos="1603375" algn="l"/>
                <a:tab pos="2514600" algn="l"/>
              </a:tabLst>
            </a:pPr>
            <a:r>
              <a:rPr lang="zh-CN" altLang="en-US" dirty="0"/>
              <a:t>目标代码</a:t>
            </a:r>
          </a:p>
          <a:p>
            <a:pPr marL="560705" lvl="1" indent="-222250" defTabSz="895350">
              <a:buClr>
                <a:srgbClr val="53ABE2"/>
              </a:buClr>
              <a:tabLst>
                <a:tab pos="1603375" algn="l"/>
                <a:tab pos="2514600" algn="l"/>
              </a:tabLst>
            </a:pPr>
            <a:r>
              <a:rPr lang="en-US" dirty="0"/>
              <a:t>3</a:t>
            </a:r>
            <a:r>
              <a:rPr lang="zh-CN" altLang="en-US" dirty="0"/>
              <a:t>字节指令</a:t>
            </a:r>
          </a:p>
          <a:p>
            <a:pPr marL="560705" lvl="1" indent="-222250" defTabSz="895350">
              <a:buClr>
                <a:srgbClr val="53ABE2"/>
              </a:buClr>
              <a:tabLst>
                <a:tab pos="1603375" algn="l"/>
                <a:tab pos="2514600" algn="l"/>
              </a:tabLst>
            </a:pPr>
            <a:r>
              <a:rPr lang="en-US" dirty="0"/>
              <a:t>存储在地址0x40059e</a:t>
            </a:r>
          </a:p>
        </p:txBody>
      </p:sp>
      <p:sp>
        <p:nvSpPr>
          <p:cNvPr id="152580" name="Rectangle 4"/>
          <p:cNvSpPr>
            <a:spLocks noChangeArrowheads="1"/>
          </p:cNvSpPr>
          <p:nvPr/>
        </p:nvSpPr>
        <p:spPr bwMode="auto">
          <a:xfrm>
            <a:off x="4852670" y="759460"/>
            <a:ext cx="3883025" cy="37623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12700">
            <a:solidFill>
              <a:schemeClr val="tx1"/>
            </a:solidFill>
            <a:miter lim="800000"/>
          </a:ln>
          <a:effectLst/>
        </p:spPr>
        <p:txBody>
          <a:bodyPr lIns="90487" tIns="44450" rIns="90487" bIns="44450">
            <a:spAutoFit/>
          </a:bodyPr>
          <a:lstStyle/>
          <a:p>
            <a:pPr algn="l">
              <a:lnSpc>
                <a:spcPct val="100000"/>
              </a:lnSpc>
            </a:pPr>
            <a:r>
              <a:rPr lang="en-US" sz="1800" dirty="0">
                <a:latin typeface="Courier New" panose="02070309020205020404" charset="0"/>
              </a:rPr>
              <a:t>*</a:t>
            </a:r>
            <a:r>
              <a:rPr lang="en-US" sz="1800" dirty="0" err="1">
                <a:latin typeface="Courier New" panose="02070309020205020404" charset="0"/>
              </a:rPr>
              <a:t>dest</a:t>
            </a:r>
            <a:r>
              <a:rPr lang="en-US" sz="1800" dirty="0">
                <a:latin typeface="Courier New" panose="02070309020205020404" charset="0"/>
              </a:rPr>
              <a:t> = t;</a:t>
            </a:r>
          </a:p>
        </p:txBody>
      </p:sp>
      <p:sp>
        <p:nvSpPr>
          <p:cNvPr id="152581" name="Rectangle 5"/>
          <p:cNvSpPr>
            <a:spLocks noChangeArrowheads="1"/>
          </p:cNvSpPr>
          <p:nvPr/>
        </p:nvSpPr>
        <p:spPr bwMode="auto">
          <a:xfrm>
            <a:off x="4849495" y="1706880"/>
            <a:ext cx="3886200" cy="37623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12700">
            <a:solidFill>
              <a:schemeClr val="tx1"/>
            </a:solidFill>
            <a:miter lim="800000"/>
          </a:ln>
          <a:effectLst/>
        </p:spPr>
        <p:txBody>
          <a:bodyPr lIns="90487" tIns="44450" rIns="90487" bIns="44450">
            <a:spAutoFit/>
          </a:bodyPr>
          <a:lstStyle/>
          <a:p>
            <a:pPr algn="l">
              <a:lnSpc>
                <a:spcPct val="100000"/>
              </a:lnSpc>
              <a:tabLst>
                <a:tab pos="457200" algn="l"/>
                <a:tab pos="1549400" algn="l"/>
              </a:tabLst>
            </a:pP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rax</a:t>
            </a:r>
            <a:r>
              <a:rPr lang="en-US" sz="1800" dirty="0">
                <a:latin typeface="Courier New" panose="02070309020205020404" charset="0"/>
              </a:rPr>
              <a:t>, </a:t>
            </a:r>
            <a:r>
              <a:rPr lang="en-US" sz="1800" dirty="0">
                <a:highlight>
                  <a:srgbClr val="FFFF00"/>
                </a:highlight>
                <a:latin typeface="Courier New" panose="02070309020205020404" charset="0"/>
              </a:rPr>
              <a:t>(%</a:t>
            </a:r>
            <a:r>
              <a:rPr lang="en-US" sz="1800" dirty="0" err="1">
                <a:highlight>
                  <a:srgbClr val="FFFF00"/>
                </a:highlight>
                <a:latin typeface="Courier New" panose="02070309020205020404" charset="0"/>
              </a:rPr>
              <a:t>rbx</a:t>
            </a:r>
            <a:r>
              <a:rPr lang="en-US" sz="1800" dirty="0">
                <a:highlight>
                  <a:srgbClr val="FFFF00"/>
                </a:highlight>
                <a:latin typeface="Courier New" panose="02070309020205020404" charset="0"/>
              </a:rPr>
              <a:t>)</a:t>
            </a:r>
          </a:p>
        </p:txBody>
      </p:sp>
      <p:sp>
        <p:nvSpPr>
          <p:cNvPr id="152582" name="Rectangle 6"/>
          <p:cNvSpPr>
            <a:spLocks noChangeArrowheads="1"/>
          </p:cNvSpPr>
          <p:nvPr/>
        </p:nvSpPr>
        <p:spPr bwMode="auto">
          <a:xfrm>
            <a:off x="4849495" y="4280694"/>
            <a:ext cx="3886200" cy="376238"/>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0"/>
          </a:gradFill>
          <a:ln w="12700">
            <a:solidFill>
              <a:schemeClr val="tx1"/>
            </a:solidFill>
            <a:miter lim="800000"/>
          </a:ln>
          <a:effectLst/>
        </p:spPr>
        <p:txBody>
          <a:bodyPr lIns="90487" tIns="44450" rIns="90487" bIns="44450">
            <a:spAutoFit/>
          </a:bodyPr>
          <a:lstStyle/>
          <a:p>
            <a:pPr algn="l">
              <a:lnSpc>
                <a:spcPct val="100000"/>
              </a:lnSpc>
              <a:tabLst>
                <a:tab pos="292100" algn="l"/>
              </a:tabLst>
            </a:pPr>
            <a:r>
              <a:rPr lang="en-US" sz="1800" dirty="0">
                <a:latin typeface="Courier New" panose="02070309020205020404" charset="0"/>
              </a:rPr>
              <a:t>0x40059e:  48 89 03</a:t>
            </a:r>
          </a:p>
        </p:txBody>
      </p:sp>
      <p:sp>
        <p:nvSpPr>
          <p:cNvPr id="2" name="下箭头 1"/>
          <p:cNvSpPr/>
          <p:nvPr/>
        </p:nvSpPr>
        <p:spPr>
          <a:xfrm>
            <a:off x="6509385" y="1216660"/>
            <a:ext cx="289560" cy="43942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下箭头 2"/>
          <p:cNvSpPr/>
          <p:nvPr/>
        </p:nvSpPr>
        <p:spPr>
          <a:xfrm>
            <a:off x="6509385" y="2307590"/>
            <a:ext cx="289560" cy="1749425"/>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2579">
                                            <p:txEl>
                                              <p:pRg st="1" end="1"/>
                                            </p:txEl>
                                          </p:spTgt>
                                        </p:tgtEl>
                                        <p:attrNameLst>
                                          <p:attrName>style.visibility</p:attrName>
                                        </p:attrNameLst>
                                      </p:cBhvr>
                                      <p:to>
                                        <p:strVal val="visible"/>
                                      </p:to>
                                    </p:set>
                                    <p:anim calcmode="lin" valueType="num">
                                      <p:cBhvr additive="base">
                                        <p:cTn id="7" dur="500" fill="hold"/>
                                        <p:tgtEl>
                                          <p:spTgt spid="15257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257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2579">
                                            <p:txEl>
                                              <p:pRg st="3" end="3"/>
                                            </p:txEl>
                                          </p:spTgt>
                                        </p:tgtEl>
                                        <p:attrNameLst>
                                          <p:attrName>style.visibility</p:attrName>
                                        </p:attrNameLst>
                                      </p:cBhvr>
                                      <p:to>
                                        <p:strVal val="visible"/>
                                      </p:to>
                                    </p:set>
                                    <p:anim calcmode="lin" valueType="num">
                                      <p:cBhvr additive="base">
                                        <p:cTn id="13" dur="500" fill="hold"/>
                                        <p:tgtEl>
                                          <p:spTgt spid="15257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257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52579">
                                            <p:txEl>
                                              <p:pRg st="4" end="4"/>
                                            </p:txEl>
                                          </p:spTgt>
                                        </p:tgtEl>
                                        <p:attrNameLst>
                                          <p:attrName>style.visibility</p:attrName>
                                        </p:attrNameLst>
                                      </p:cBhvr>
                                      <p:to>
                                        <p:strVal val="visible"/>
                                      </p:to>
                                    </p:set>
                                    <p:anim calcmode="lin" valueType="num">
                                      <p:cBhvr additive="base">
                                        <p:cTn id="19" dur="500" fill="hold"/>
                                        <p:tgtEl>
                                          <p:spTgt spid="15257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257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52579">
                                            <p:txEl>
                                              <p:pRg st="5" end="5"/>
                                            </p:txEl>
                                          </p:spTgt>
                                        </p:tgtEl>
                                        <p:attrNameLst>
                                          <p:attrName>style.visibility</p:attrName>
                                        </p:attrNameLst>
                                      </p:cBhvr>
                                      <p:to>
                                        <p:strVal val="visible"/>
                                      </p:to>
                                    </p:set>
                                    <p:anim calcmode="lin" valueType="num">
                                      <p:cBhvr additive="base">
                                        <p:cTn id="25" dur="500" fill="hold"/>
                                        <p:tgtEl>
                                          <p:spTgt spid="152579">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52579">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52579">
                                            <p:txEl>
                                              <p:pRg st="6" end="6"/>
                                            </p:txEl>
                                          </p:spTgt>
                                        </p:tgtEl>
                                        <p:attrNameLst>
                                          <p:attrName>style.visibility</p:attrName>
                                        </p:attrNameLst>
                                      </p:cBhvr>
                                      <p:to>
                                        <p:strVal val="visible"/>
                                      </p:to>
                                    </p:set>
                                    <p:anim calcmode="lin" valueType="num">
                                      <p:cBhvr additive="base">
                                        <p:cTn id="29" dur="500" fill="hold"/>
                                        <p:tgtEl>
                                          <p:spTgt spid="152579">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52579">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52579">
                                            <p:txEl>
                                              <p:pRg st="7" end="7"/>
                                            </p:txEl>
                                          </p:spTgt>
                                        </p:tgtEl>
                                        <p:attrNameLst>
                                          <p:attrName>style.visibility</p:attrName>
                                        </p:attrNameLst>
                                      </p:cBhvr>
                                      <p:to>
                                        <p:strVal val="visible"/>
                                      </p:to>
                                    </p:set>
                                    <p:anim calcmode="lin" valueType="num">
                                      <p:cBhvr additive="base">
                                        <p:cTn id="33" dur="500" fill="hold"/>
                                        <p:tgtEl>
                                          <p:spTgt spid="152579">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5257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52579">
                                            <p:txEl>
                                              <p:pRg st="9" end="9"/>
                                            </p:txEl>
                                          </p:spTgt>
                                        </p:tgtEl>
                                        <p:attrNameLst>
                                          <p:attrName>style.visibility</p:attrName>
                                        </p:attrNameLst>
                                      </p:cBhvr>
                                      <p:to>
                                        <p:strVal val="visible"/>
                                      </p:to>
                                    </p:set>
                                    <p:anim calcmode="lin" valueType="num">
                                      <p:cBhvr additive="base">
                                        <p:cTn id="39" dur="500" fill="hold"/>
                                        <p:tgtEl>
                                          <p:spTgt spid="152579">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5257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152579">
                                            <p:txEl>
                                              <p:pRg st="10" end="10"/>
                                            </p:txEl>
                                          </p:spTgt>
                                        </p:tgtEl>
                                        <p:attrNameLst>
                                          <p:attrName>style.visibility</p:attrName>
                                        </p:attrNameLst>
                                      </p:cBhvr>
                                      <p:to>
                                        <p:strVal val="visible"/>
                                      </p:to>
                                    </p:set>
                                    <p:anim calcmode="lin" valueType="num">
                                      <p:cBhvr additive="base">
                                        <p:cTn id="45" dur="500" fill="hold"/>
                                        <p:tgtEl>
                                          <p:spTgt spid="152579">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5257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21195" y="3317593"/>
            <a:ext cx="2701610" cy="751205"/>
          </a:xfrm>
          <a:prstGeom prst="rect">
            <a:avLst/>
          </a:prstGeom>
          <a:noFill/>
        </p:spPr>
        <p:txBody>
          <a:bodyPr wrap="square" rtlCol="0">
            <a:spAutoFit/>
          </a:bodyPr>
          <a:lstStyle/>
          <a:p>
            <a:pPr algn="ctr" defTabSz="608965">
              <a:lnSpc>
                <a:spcPct val="130000"/>
              </a:lnSpc>
            </a:pPr>
            <a:r>
              <a:rPr lang="en-US" altLang="zh-CN" sz="3300" b="1" dirty="0">
                <a:latin typeface="+mj-lt"/>
                <a:ea typeface="微软雅黑" panose="020B0503020204020204" charset="-122"/>
              </a:rPr>
              <a:t>PART TWO</a:t>
            </a:r>
          </a:p>
        </p:txBody>
      </p:sp>
      <p:sp>
        <p:nvSpPr>
          <p:cNvPr id="3" name="文本框 2"/>
          <p:cNvSpPr txBox="1"/>
          <p:nvPr/>
        </p:nvSpPr>
        <p:spPr>
          <a:xfrm>
            <a:off x="415290" y="2670334"/>
            <a:ext cx="8473916" cy="991235"/>
          </a:xfrm>
          <a:prstGeom prst="rect">
            <a:avLst/>
          </a:prstGeom>
          <a:noFill/>
        </p:spPr>
        <p:txBody>
          <a:bodyPr wrap="square" rtlCol="0">
            <a:spAutoFit/>
          </a:bodyPr>
          <a:lstStyle/>
          <a:p>
            <a:pPr algn="ctr" defTabSz="608965">
              <a:lnSpc>
                <a:spcPct val="130000"/>
              </a:lnSpc>
            </a:pPr>
            <a:r>
              <a:rPr lang="zh-CN" altLang="en-US" sz="4500" dirty="0">
                <a:latin typeface="+mj-lt"/>
                <a:ea typeface="微软雅黑" panose="020B0503020204020204" charset="-122"/>
              </a:rPr>
              <a:t>第二讲：IA-32 /x86-64指令系统</a:t>
            </a:r>
          </a:p>
        </p:txBody>
      </p:sp>
      <p:sp>
        <p:nvSpPr>
          <p:cNvPr id="4" name="矩形 3"/>
          <p:cNvSpPr/>
          <p:nvPr/>
        </p:nvSpPr>
        <p:spPr>
          <a:xfrm>
            <a:off x="3667363" y="3962018"/>
            <a:ext cx="1809275" cy="85006"/>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3837" y="412857"/>
            <a:ext cx="4392295"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t>IA-32/x64指令系统概述</a:t>
            </a:r>
          </a:p>
        </p:txBody>
      </p:sp>
      <p:sp>
        <p:nvSpPr>
          <p:cNvPr id="5" name="椭圆 4"/>
          <p:cNvSpPr/>
          <p:nvPr/>
        </p:nvSpPr>
        <p:spPr>
          <a:xfrm>
            <a:off x="3662839" y="5375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911441" y="7389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10552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743926" y="1055211"/>
            <a:ext cx="440007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606211" name="Rectangle 3"/>
          <p:cNvSpPr>
            <a:spLocks noGrp="1" noChangeArrowheads="1"/>
          </p:cNvSpPr>
          <p:nvPr/>
        </p:nvSpPr>
        <p:spPr>
          <a:xfrm>
            <a:off x="-476" y="1480344"/>
            <a:ext cx="6250781" cy="3465195"/>
          </a:xfrm>
          <a:prstGeom prst="rect">
            <a:avLst/>
          </a:prstGeom>
          <a:noFill/>
          <a:ln w="9525">
            <a:noFill/>
            <a:miter lim="800000"/>
          </a:ln>
        </p:spPr>
        <p:txBody>
          <a:bodyPr vert="horz" wrap="square" lIns="68580" tIns="34290" rIns="68580" bIns="3429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a:lnSpc>
                <a:spcPct val="100000"/>
              </a:lnSpc>
              <a:spcBef>
                <a:spcPct val="45000"/>
              </a:spcBef>
            </a:pPr>
            <a:r>
              <a:rPr lang="en-US" altLang="zh-CN" sz="2000">
                <a:latin typeface="微软雅黑" panose="020B0503020204020204" charset="-122"/>
                <a:ea typeface="微软雅黑" panose="020B0503020204020204" charset="-122"/>
              </a:rPr>
              <a:t>x86</a:t>
            </a:r>
            <a:r>
              <a:rPr lang="zh-CN" altLang="en-US" sz="2000">
                <a:latin typeface="微软雅黑" panose="020B0503020204020204" charset="-122"/>
                <a:ea typeface="微软雅黑" panose="020B0503020204020204" charset="-122"/>
              </a:rPr>
              <a:t>是</a:t>
            </a:r>
            <a:r>
              <a:rPr lang="en-US" altLang="zh-CN" sz="2000">
                <a:latin typeface="微软雅黑" panose="020B0503020204020204" charset="-122"/>
                <a:ea typeface="微软雅黑" panose="020B0503020204020204" charset="-122"/>
              </a:rPr>
              <a:t>Intel</a:t>
            </a:r>
            <a:r>
              <a:rPr lang="zh-CN" altLang="en-US" sz="2000">
                <a:latin typeface="微软雅黑" panose="020B0503020204020204" charset="-122"/>
                <a:ea typeface="微软雅黑" panose="020B0503020204020204" charset="-122"/>
              </a:rPr>
              <a:t>开发的一类处理器体系结构的泛称</a:t>
            </a:r>
          </a:p>
          <a:p>
            <a:pPr lvl="1">
              <a:lnSpc>
                <a:spcPct val="100000"/>
              </a:lnSpc>
              <a:spcBef>
                <a:spcPct val="45000"/>
              </a:spcBef>
            </a:pPr>
            <a:r>
              <a:rPr lang="zh-CN" altLang="en-US" sz="1800">
                <a:solidFill>
                  <a:srgbClr val="F8A578"/>
                </a:solidFill>
                <a:latin typeface="微软雅黑" panose="020B0503020204020204" charset="-122"/>
                <a:ea typeface="微软雅黑" panose="020B0503020204020204" charset="-122"/>
              </a:rPr>
              <a:t>包括 </a:t>
            </a:r>
            <a:r>
              <a:rPr lang="en-US" altLang="zh-CN" sz="1800">
                <a:solidFill>
                  <a:srgbClr val="F8A578"/>
                </a:solidFill>
                <a:latin typeface="微软雅黑" panose="020B0503020204020204" charset="-122"/>
                <a:ea typeface="微软雅黑" panose="020B0503020204020204" charset="-122"/>
              </a:rPr>
              <a:t>Intel 8086</a:t>
            </a:r>
            <a:r>
              <a:rPr lang="zh-CN" altLang="en-US" sz="1800">
                <a:solidFill>
                  <a:srgbClr val="F8A578"/>
                </a:solidFill>
                <a:latin typeface="微软雅黑" panose="020B0503020204020204" charset="-122"/>
                <a:ea typeface="微软雅黑" panose="020B0503020204020204" charset="-122"/>
              </a:rPr>
              <a:t>、</a:t>
            </a:r>
            <a:r>
              <a:rPr lang="en-US" altLang="zh-CN" sz="1800">
                <a:solidFill>
                  <a:srgbClr val="F8A578"/>
                </a:solidFill>
                <a:latin typeface="微软雅黑" panose="020B0503020204020204" charset="-122"/>
                <a:ea typeface="微软雅黑" panose="020B0503020204020204" charset="-122"/>
              </a:rPr>
              <a:t>80286</a:t>
            </a:r>
            <a:r>
              <a:rPr lang="zh-CN" altLang="en-US" sz="1800">
                <a:solidFill>
                  <a:srgbClr val="F8A578"/>
                </a:solidFill>
                <a:latin typeface="微软雅黑" panose="020B0503020204020204" charset="-122"/>
                <a:ea typeface="微软雅黑" panose="020B0503020204020204" charset="-122"/>
              </a:rPr>
              <a:t>、</a:t>
            </a:r>
            <a:r>
              <a:rPr lang="en-US" altLang="zh-CN" sz="1800">
                <a:solidFill>
                  <a:srgbClr val="F8A578"/>
                </a:solidFill>
                <a:latin typeface="微软雅黑" panose="020B0503020204020204" charset="-122"/>
                <a:ea typeface="微软雅黑" panose="020B0503020204020204" charset="-122"/>
              </a:rPr>
              <a:t>i386</a:t>
            </a:r>
            <a:r>
              <a:rPr lang="zh-CN" altLang="en-US" sz="1800">
                <a:solidFill>
                  <a:srgbClr val="F8A578"/>
                </a:solidFill>
                <a:latin typeface="微软雅黑" panose="020B0503020204020204" charset="-122"/>
                <a:ea typeface="微软雅黑" panose="020B0503020204020204" charset="-122"/>
              </a:rPr>
              <a:t>和</a:t>
            </a:r>
            <a:r>
              <a:rPr lang="en-US" altLang="zh-CN" sz="1800">
                <a:solidFill>
                  <a:srgbClr val="F8A578"/>
                </a:solidFill>
                <a:latin typeface="微软雅黑" panose="020B0503020204020204" charset="-122"/>
                <a:ea typeface="微软雅黑" panose="020B0503020204020204" charset="-122"/>
              </a:rPr>
              <a:t>i486</a:t>
            </a:r>
            <a:r>
              <a:rPr lang="zh-CN" altLang="en-US" sz="1800">
                <a:solidFill>
                  <a:srgbClr val="F8A578"/>
                </a:solidFill>
                <a:latin typeface="微软雅黑" panose="020B0503020204020204" charset="-122"/>
                <a:ea typeface="微软雅黑" panose="020B0503020204020204" charset="-122"/>
              </a:rPr>
              <a:t>等，因此其架构被称为“</a:t>
            </a:r>
            <a:r>
              <a:rPr lang="en-US" altLang="zh-CN" sz="1800">
                <a:solidFill>
                  <a:srgbClr val="F8A578"/>
                </a:solidFill>
                <a:latin typeface="微软雅黑" panose="020B0503020204020204" charset="-122"/>
                <a:ea typeface="微软雅黑" panose="020B0503020204020204" charset="-122"/>
              </a:rPr>
              <a:t>x86”</a:t>
            </a:r>
          </a:p>
          <a:p>
            <a:pPr lvl="1">
              <a:lnSpc>
                <a:spcPct val="100000"/>
              </a:lnSpc>
              <a:spcBef>
                <a:spcPct val="45000"/>
              </a:spcBef>
            </a:pPr>
            <a:r>
              <a:rPr lang="zh-CN" altLang="en-US" sz="1800">
                <a:solidFill>
                  <a:srgbClr val="F8A578"/>
                </a:solidFill>
                <a:latin typeface="微软雅黑" panose="020B0503020204020204" charset="-122"/>
                <a:ea typeface="微软雅黑" panose="020B0503020204020204" charset="-122"/>
              </a:rPr>
              <a:t>由于数字并不能作为注册商标，因此，后来使用了可注册的名称，如</a:t>
            </a:r>
            <a:r>
              <a:rPr lang="en-US" altLang="zh-CN" sz="1800">
                <a:solidFill>
                  <a:srgbClr val="F8A578"/>
                </a:solidFill>
                <a:latin typeface="微软雅黑" panose="020B0503020204020204" charset="-122"/>
                <a:ea typeface="微软雅黑" panose="020B0503020204020204" charset="-122"/>
              </a:rPr>
              <a:t>Pentium</a:t>
            </a:r>
            <a:r>
              <a:rPr lang="zh-CN" altLang="en-US" sz="1800">
                <a:solidFill>
                  <a:srgbClr val="F8A578"/>
                </a:solidFill>
                <a:latin typeface="微软雅黑" panose="020B0503020204020204" charset="-122"/>
                <a:ea typeface="微软雅黑" panose="020B0503020204020204" charset="-122"/>
              </a:rPr>
              <a:t>、</a:t>
            </a:r>
            <a:r>
              <a:rPr lang="en-US" altLang="zh-CN" sz="1800">
                <a:solidFill>
                  <a:srgbClr val="F8A578"/>
                </a:solidFill>
                <a:latin typeface="微软雅黑" panose="020B0503020204020204" charset="-122"/>
                <a:ea typeface="微软雅黑" panose="020B0503020204020204" charset="-122"/>
              </a:rPr>
              <a:t>PentiumPro</a:t>
            </a:r>
            <a:r>
              <a:rPr lang="zh-CN" altLang="en-US" sz="1800">
                <a:solidFill>
                  <a:srgbClr val="F8A578"/>
                </a:solidFill>
                <a:latin typeface="微软雅黑" panose="020B0503020204020204" charset="-122"/>
                <a:ea typeface="微软雅黑" panose="020B0503020204020204" charset="-122"/>
              </a:rPr>
              <a:t>、</a:t>
            </a:r>
            <a:r>
              <a:rPr lang="en-US" altLang="zh-CN" sz="1800">
                <a:solidFill>
                  <a:srgbClr val="F8A578"/>
                </a:solidFill>
                <a:latin typeface="微软雅黑" panose="020B0503020204020204" charset="-122"/>
                <a:ea typeface="微软雅黑" panose="020B0503020204020204" charset="-122"/>
              </a:rPr>
              <a:t>Core 2</a:t>
            </a:r>
            <a:r>
              <a:rPr lang="zh-CN" altLang="en-US" sz="1800">
                <a:solidFill>
                  <a:srgbClr val="F8A578"/>
                </a:solidFill>
                <a:latin typeface="微软雅黑" panose="020B0503020204020204" charset="-122"/>
                <a:ea typeface="微软雅黑" panose="020B0503020204020204" charset="-122"/>
              </a:rPr>
              <a:t>、</a:t>
            </a:r>
            <a:r>
              <a:rPr lang="en-US" altLang="zh-CN" sz="1800">
                <a:solidFill>
                  <a:srgbClr val="F8A578"/>
                </a:solidFill>
                <a:latin typeface="微软雅黑" panose="020B0503020204020204" charset="-122"/>
                <a:ea typeface="微软雅黑" panose="020B0503020204020204" charset="-122"/>
              </a:rPr>
              <a:t>Core i7</a:t>
            </a:r>
            <a:r>
              <a:rPr lang="zh-CN" altLang="en-US" sz="1800">
                <a:solidFill>
                  <a:srgbClr val="F8A578"/>
                </a:solidFill>
                <a:latin typeface="微软雅黑" panose="020B0503020204020204" charset="-122"/>
                <a:ea typeface="微软雅黑" panose="020B0503020204020204" charset="-122"/>
              </a:rPr>
              <a:t>等</a:t>
            </a:r>
          </a:p>
          <a:p>
            <a:pPr lvl="1">
              <a:lnSpc>
                <a:spcPct val="100000"/>
              </a:lnSpc>
              <a:spcBef>
                <a:spcPct val="45000"/>
              </a:spcBef>
            </a:pPr>
            <a:r>
              <a:rPr lang="zh-CN" altLang="en-US" sz="1800">
                <a:solidFill>
                  <a:srgbClr val="F8A578"/>
                </a:solidFill>
                <a:latin typeface="微软雅黑" panose="020B0503020204020204" charset="-122"/>
                <a:ea typeface="微软雅黑" panose="020B0503020204020204" charset="-122"/>
              </a:rPr>
              <a:t>现在</a:t>
            </a:r>
            <a:r>
              <a:rPr lang="en-US" altLang="zh-CN" sz="1800">
                <a:solidFill>
                  <a:srgbClr val="F8A578"/>
                </a:solidFill>
                <a:latin typeface="微软雅黑" panose="020B0503020204020204" charset="-122"/>
                <a:ea typeface="微软雅黑" panose="020B0503020204020204" charset="-122"/>
              </a:rPr>
              <a:t>Intel</a:t>
            </a:r>
            <a:r>
              <a:rPr lang="zh-CN" altLang="en-US" sz="1800">
                <a:solidFill>
                  <a:srgbClr val="F8A578"/>
                </a:solidFill>
                <a:latin typeface="微软雅黑" panose="020B0503020204020204" charset="-122"/>
                <a:ea typeface="微软雅黑" panose="020B0503020204020204" charset="-122"/>
              </a:rPr>
              <a:t>把</a:t>
            </a:r>
            <a:r>
              <a:rPr lang="en-US" altLang="zh-CN" sz="1800">
                <a:solidFill>
                  <a:srgbClr val="F8A578"/>
                </a:solidFill>
                <a:latin typeface="微软雅黑" panose="020B0503020204020204" charset="-122"/>
                <a:ea typeface="微软雅黑" panose="020B0503020204020204" charset="-122"/>
              </a:rPr>
              <a:t>32</a:t>
            </a:r>
            <a:r>
              <a:rPr lang="zh-CN" altLang="en-US" sz="1800">
                <a:solidFill>
                  <a:srgbClr val="F8A578"/>
                </a:solidFill>
                <a:latin typeface="微软雅黑" panose="020B0503020204020204" charset="-122"/>
                <a:ea typeface="微软雅黑" panose="020B0503020204020204" charset="-122"/>
              </a:rPr>
              <a:t>位</a:t>
            </a:r>
            <a:r>
              <a:rPr lang="en-US" altLang="zh-CN" sz="1800">
                <a:solidFill>
                  <a:srgbClr val="F8A578"/>
                </a:solidFill>
                <a:latin typeface="微软雅黑" panose="020B0503020204020204" charset="-122"/>
                <a:ea typeface="微软雅黑" panose="020B0503020204020204" charset="-122"/>
              </a:rPr>
              <a:t>x86</a:t>
            </a:r>
            <a:r>
              <a:rPr lang="zh-CN" altLang="en-US" sz="1800">
                <a:solidFill>
                  <a:srgbClr val="F8A578"/>
                </a:solidFill>
                <a:latin typeface="微软雅黑" panose="020B0503020204020204" charset="-122"/>
                <a:ea typeface="微软雅黑" panose="020B0503020204020204" charset="-122"/>
              </a:rPr>
              <a:t>架构的名称</a:t>
            </a:r>
            <a:r>
              <a:rPr lang="en-US" altLang="zh-CN" sz="1800">
                <a:solidFill>
                  <a:srgbClr val="F8A578"/>
                </a:solidFill>
                <a:latin typeface="微软雅黑" panose="020B0503020204020204" charset="-122"/>
                <a:ea typeface="微软雅黑" panose="020B0503020204020204" charset="-122"/>
              </a:rPr>
              <a:t>x86-32</a:t>
            </a:r>
            <a:r>
              <a:rPr lang="zh-CN" altLang="en-US" sz="1800">
                <a:solidFill>
                  <a:srgbClr val="FF3300"/>
                </a:solidFill>
                <a:latin typeface="微软雅黑" panose="020B0503020204020204" charset="-122"/>
                <a:ea typeface="微软雅黑" panose="020B0503020204020204" charset="-122"/>
              </a:rPr>
              <a:t>改称为</a:t>
            </a:r>
            <a:r>
              <a:rPr lang="en-US" altLang="zh-CN">
                <a:solidFill>
                  <a:srgbClr val="FF3300"/>
                </a:solidFill>
                <a:latin typeface="微软雅黑" panose="020B0503020204020204" charset="-122"/>
                <a:ea typeface="微软雅黑" panose="020B0503020204020204" charset="-122"/>
              </a:rPr>
              <a:t>IA-32</a:t>
            </a:r>
          </a:p>
          <a:p>
            <a:pPr>
              <a:lnSpc>
                <a:spcPct val="100000"/>
              </a:lnSpc>
              <a:spcBef>
                <a:spcPct val="45000"/>
              </a:spcBef>
            </a:pPr>
            <a:r>
              <a:rPr lang="zh-CN" altLang="en-US" sz="2000">
                <a:latin typeface="微软雅黑" panose="020B0503020204020204" charset="-122"/>
                <a:ea typeface="微软雅黑" panose="020B0503020204020204" charset="-122"/>
              </a:rPr>
              <a:t>由</a:t>
            </a:r>
            <a:r>
              <a:rPr lang="en-US" altLang="zh-CN" sz="2000">
                <a:latin typeface="微软雅黑" panose="020B0503020204020204" charset="-122"/>
                <a:ea typeface="微软雅黑" panose="020B0503020204020204" charset="-122"/>
              </a:rPr>
              <a:t>AMD</a:t>
            </a:r>
            <a:r>
              <a:rPr lang="zh-CN" altLang="en-US" sz="2000">
                <a:latin typeface="微软雅黑" panose="020B0503020204020204" charset="-122"/>
                <a:ea typeface="微软雅黑" panose="020B0503020204020204" charset="-122"/>
              </a:rPr>
              <a:t>首先提出了一个兼容</a:t>
            </a:r>
            <a:r>
              <a:rPr lang="en-US" altLang="zh-CN" sz="2000">
                <a:latin typeface="微软雅黑" panose="020B0503020204020204" charset="-122"/>
                <a:ea typeface="微软雅黑" panose="020B0503020204020204" charset="-122"/>
              </a:rPr>
              <a:t>IA-32</a:t>
            </a:r>
            <a:r>
              <a:rPr lang="zh-CN" altLang="en-US" sz="2000">
                <a:latin typeface="微软雅黑" panose="020B0503020204020204" charset="-122"/>
                <a:ea typeface="微软雅黑" panose="020B0503020204020204" charset="-122"/>
              </a:rPr>
              <a:t>指令集的</a:t>
            </a:r>
            <a:r>
              <a:rPr lang="en-US" altLang="zh-CN" sz="2000">
                <a:latin typeface="微软雅黑" panose="020B0503020204020204" charset="-122"/>
                <a:ea typeface="微软雅黑" panose="020B0503020204020204" charset="-122"/>
              </a:rPr>
              <a:t>64</a:t>
            </a:r>
            <a:r>
              <a:rPr lang="zh-CN" altLang="en-US" sz="2000">
                <a:latin typeface="微软雅黑" panose="020B0503020204020204" charset="-122"/>
                <a:ea typeface="微软雅黑" panose="020B0503020204020204" charset="-122"/>
              </a:rPr>
              <a:t>位版本</a:t>
            </a:r>
          </a:p>
          <a:p>
            <a:pPr lvl="1">
              <a:lnSpc>
                <a:spcPct val="100000"/>
              </a:lnSpc>
              <a:spcBef>
                <a:spcPct val="45000"/>
              </a:spcBef>
            </a:pPr>
            <a:r>
              <a:rPr lang="zh-CN" altLang="en-US" sz="1800">
                <a:solidFill>
                  <a:srgbClr val="F8A578"/>
                </a:solidFill>
                <a:latin typeface="微软雅黑" panose="020B0503020204020204" charset="-122"/>
                <a:ea typeface="微软雅黑" panose="020B0503020204020204" charset="-122"/>
              </a:rPr>
              <a:t>扩充了指令及寄存器长度和个数等，更新了参数传送方式</a:t>
            </a:r>
          </a:p>
          <a:p>
            <a:pPr lvl="1" algn="l">
              <a:lnSpc>
                <a:spcPct val="100000"/>
              </a:lnSpc>
              <a:spcBef>
                <a:spcPct val="45000"/>
              </a:spcBef>
            </a:pPr>
            <a:r>
              <a:rPr lang="en-US" altLang="zh-CN" sz="1800">
                <a:solidFill>
                  <a:srgbClr val="F8A578"/>
                </a:solidFill>
                <a:latin typeface="微软雅黑" panose="020B0503020204020204" charset="-122"/>
                <a:ea typeface="微软雅黑" panose="020B0503020204020204" charset="-122"/>
              </a:rPr>
              <a:t>AMD</a:t>
            </a:r>
            <a:r>
              <a:rPr lang="zh-CN" altLang="en-US" sz="1800">
                <a:solidFill>
                  <a:srgbClr val="F8A578"/>
                </a:solidFill>
                <a:latin typeface="微软雅黑" panose="020B0503020204020204" charset="-122"/>
                <a:ea typeface="微软雅黑" panose="020B0503020204020204" charset="-122"/>
              </a:rPr>
              <a:t>称其为</a:t>
            </a:r>
            <a:r>
              <a:rPr lang="en-US" altLang="zh-CN" sz="1800">
                <a:solidFill>
                  <a:srgbClr val="F8A578"/>
                </a:solidFill>
                <a:latin typeface="微软雅黑" panose="020B0503020204020204" charset="-122"/>
                <a:ea typeface="微软雅黑" panose="020B0503020204020204" charset="-122"/>
              </a:rPr>
              <a:t>AMD64</a:t>
            </a:r>
            <a:r>
              <a:rPr lang="zh-CN" altLang="en-US" sz="1800">
                <a:solidFill>
                  <a:srgbClr val="F8A578"/>
                </a:solidFill>
                <a:latin typeface="微软雅黑" panose="020B0503020204020204" charset="-122"/>
                <a:ea typeface="微软雅黑" panose="020B0503020204020204" charset="-122"/>
              </a:rPr>
              <a:t>，</a:t>
            </a:r>
            <a:r>
              <a:rPr lang="en-US" altLang="zh-CN" sz="1800">
                <a:solidFill>
                  <a:srgbClr val="F8A578"/>
                </a:solidFill>
                <a:latin typeface="微软雅黑" panose="020B0503020204020204" charset="-122"/>
                <a:ea typeface="微软雅黑" panose="020B0503020204020204" charset="-122"/>
              </a:rPr>
              <a:t>Intel</a:t>
            </a:r>
            <a:r>
              <a:rPr lang="zh-CN" altLang="en-US" sz="1800">
                <a:solidFill>
                  <a:srgbClr val="F8A578"/>
                </a:solidFill>
                <a:latin typeface="微软雅黑" panose="020B0503020204020204" charset="-122"/>
                <a:ea typeface="微软雅黑" panose="020B0503020204020204" charset="-122"/>
              </a:rPr>
              <a:t>称其为</a:t>
            </a:r>
            <a:r>
              <a:rPr lang="en-US" altLang="zh-CN" sz="1800">
                <a:solidFill>
                  <a:srgbClr val="F8A578"/>
                </a:solidFill>
                <a:latin typeface="微软雅黑" panose="020B0503020204020204" charset="-122"/>
                <a:ea typeface="微软雅黑" panose="020B0503020204020204" charset="-122"/>
              </a:rPr>
              <a:t>Intl64</a:t>
            </a:r>
            <a:r>
              <a:rPr lang="en-US" altLang="zh-CN" sz="1800">
                <a:solidFill>
                  <a:srgbClr val="FF3300"/>
                </a:solidFill>
                <a:latin typeface="微软雅黑" panose="020B0503020204020204" charset="-122"/>
                <a:ea typeface="微软雅黑" panose="020B0503020204020204" charset="-122"/>
              </a:rPr>
              <a:t>（不同于IA-64）</a:t>
            </a:r>
          </a:p>
          <a:p>
            <a:pPr lvl="1">
              <a:lnSpc>
                <a:spcPct val="100000"/>
              </a:lnSpc>
              <a:spcBef>
                <a:spcPct val="45000"/>
              </a:spcBef>
            </a:pPr>
            <a:r>
              <a:rPr lang="zh-CN" altLang="en-US" sz="1800">
                <a:solidFill>
                  <a:srgbClr val="F8A578"/>
                </a:solidFill>
                <a:latin typeface="微软雅黑" panose="020B0503020204020204" charset="-122"/>
                <a:ea typeface="微软雅黑" panose="020B0503020204020204" charset="-122"/>
              </a:rPr>
              <a:t>命名为“</a:t>
            </a:r>
            <a:r>
              <a:rPr lang="en-US" altLang="zh-CN" sz="1800">
                <a:solidFill>
                  <a:srgbClr val="F8A578"/>
                </a:solidFill>
                <a:latin typeface="微软雅黑" panose="020B0503020204020204" charset="-122"/>
                <a:ea typeface="微软雅黑" panose="020B0503020204020204" charset="-122"/>
              </a:rPr>
              <a:t>x86-64” </a:t>
            </a:r>
            <a:r>
              <a:rPr lang="zh-CN" altLang="en-US" sz="1800">
                <a:solidFill>
                  <a:srgbClr val="F8A578"/>
                </a:solidFill>
                <a:latin typeface="微软雅黑" panose="020B0503020204020204" charset="-122"/>
                <a:ea typeface="微软雅黑" panose="020B0503020204020204" charset="-122"/>
              </a:rPr>
              <a:t>，有时也</a:t>
            </a:r>
            <a:r>
              <a:rPr lang="zh-CN" altLang="en-US" sz="1800">
                <a:solidFill>
                  <a:srgbClr val="FF3300"/>
                </a:solidFill>
                <a:latin typeface="微软雅黑" panose="020B0503020204020204" charset="-122"/>
                <a:ea typeface="微软雅黑" panose="020B0503020204020204" charset="-122"/>
              </a:rPr>
              <a:t>简称为</a:t>
            </a:r>
            <a:r>
              <a:rPr lang="en-US" altLang="zh-CN" sz="1800">
                <a:solidFill>
                  <a:srgbClr val="FF3300"/>
                </a:solidFill>
                <a:latin typeface="微软雅黑" panose="020B0503020204020204" charset="-122"/>
                <a:ea typeface="微软雅黑" panose="020B0503020204020204" charset="-122"/>
              </a:rPr>
              <a:t>x64</a:t>
            </a:r>
          </a:p>
        </p:txBody>
      </p:sp>
      <p:sp>
        <p:nvSpPr>
          <p:cNvPr id="6" name="线形标注 1(带强调线) 5"/>
          <p:cNvSpPr/>
          <p:nvPr/>
        </p:nvSpPr>
        <p:spPr>
          <a:xfrm>
            <a:off x="6389370" y="1560354"/>
            <a:ext cx="2754630" cy="1862138"/>
          </a:xfrm>
          <a:prstGeom prst="accentCallout1">
            <a:avLst>
              <a:gd name="adj1" fmla="val 78900"/>
              <a:gd name="adj2" fmla="val -8333"/>
              <a:gd name="adj3" fmla="val 107749"/>
              <a:gd name="adj4" fmla="val -17219"/>
            </a:avLst>
          </a:prstGeom>
          <a:gradFill>
            <a:gsLst>
              <a:gs pos="0">
                <a:srgbClr val="BFBFBF"/>
              </a:gs>
              <a:gs pos="80000">
                <a:srgbClr val="FFFFFF"/>
              </a:gs>
              <a:gs pos="100000">
                <a:schemeClr val="bg1"/>
              </a:gs>
            </a:gsLst>
            <a:lin ang="2700000" scaled="0"/>
          </a:gra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charset="0"/>
              <a:buChar char=""/>
            </a:pPr>
            <a:r>
              <a:rPr lang="zh-CN" altLang="en-US" sz="1350">
                <a:solidFill>
                  <a:schemeClr val="tx1"/>
                </a:solidFill>
              </a:rPr>
              <a:t>8个GPR（0~7），一个EFLAGs，PC为EIP</a:t>
            </a:r>
          </a:p>
          <a:p>
            <a:pPr marL="285750" indent="-285750" algn="ctr">
              <a:buFont typeface="Wingdings" panose="05000000000000000000" charset="0"/>
              <a:buChar char=""/>
            </a:pPr>
            <a:r>
              <a:rPr lang="zh-CN" altLang="en-US" sz="1350">
                <a:solidFill>
                  <a:schemeClr val="tx1"/>
                </a:solidFill>
              </a:rPr>
              <a:t>可寻址空间4GB（编号为0~0xFFFFFFFF）</a:t>
            </a:r>
          </a:p>
          <a:p>
            <a:pPr marL="285750" indent="-285750" algn="ctr">
              <a:buFont typeface="Wingdings" panose="05000000000000000000" charset="0"/>
              <a:buChar char=""/>
            </a:pPr>
            <a:r>
              <a:rPr lang="zh-CN" altLang="en-US" sz="1350">
                <a:solidFill>
                  <a:schemeClr val="tx1"/>
                </a:solidFill>
              </a:rPr>
              <a:t>指令格式变长，操作码变长</a:t>
            </a:r>
          </a:p>
          <a:p>
            <a:pPr marL="285750" indent="-285750" algn="ctr">
              <a:buFont typeface="Wingdings" panose="05000000000000000000" charset="0"/>
              <a:buChar char=""/>
            </a:pPr>
            <a:r>
              <a:rPr lang="zh-CN" altLang="en-US" sz="1350">
                <a:solidFill>
                  <a:schemeClr val="tx1"/>
                </a:solidFill>
              </a:rPr>
              <a:t>由若干字段（OP、Mod、SIB等）组成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606211">
                                            <p:txEl>
                                              <p:pRg st="1" end="1"/>
                                            </p:txEl>
                                          </p:spTgt>
                                        </p:tgtEl>
                                        <p:attrNameLst>
                                          <p:attrName>style.visibility</p:attrName>
                                        </p:attrNameLst>
                                      </p:cBhvr>
                                      <p:to>
                                        <p:strVal val="visible"/>
                                      </p:to>
                                    </p:set>
                                    <p:animEffect transition="in" filter="blinds(horizontal)">
                                      <p:cBhvr>
                                        <p:cTn id="20" dur="500"/>
                                        <p:tgtEl>
                                          <p:spTgt spid="606211">
                                            <p:txEl>
                                              <p:pRg st="1" end="1"/>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606211">
                                            <p:txEl>
                                              <p:pRg st="2" end="2"/>
                                            </p:txEl>
                                          </p:spTgt>
                                        </p:tgtEl>
                                        <p:attrNameLst>
                                          <p:attrName>style.visibility</p:attrName>
                                        </p:attrNameLst>
                                      </p:cBhvr>
                                      <p:to>
                                        <p:strVal val="visible"/>
                                      </p:to>
                                    </p:set>
                                    <p:animEffect transition="in" filter="blinds(horizontal)">
                                      <p:cBhvr>
                                        <p:cTn id="23" dur="500"/>
                                        <p:tgtEl>
                                          <p:spTgt spid="606211">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06211">
                                            <p:txEl>
                                              <p:pRg st="3" end="3"/>
                                            </p:txEl>
                                          </p:spTgt>
                                        </p:tgtEl>
                                        <p:attrNameLst>
                                          <p:attrName>style.visibility</p:attrName>
                                        </p:attrNameLst>
                                      </p:cBhvr>
                                      <p:to>
                                        <p:strVal val="visible"/>
                                      </p:to>
                                    </p:set>
                                    <p:animEffect transition="in" filter="blinds(horizontal)">
                                      <p:cBhvr>
                                        <p:cTn id="26" dur="500"/>
                                        <p:tgtEl>
                                          <p:spTgt spid="606211">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606211">
                                            <p:txEl>
                                              <p:pRg st="5" end="5"/>
                                            </p:txEl>
                                          </p:spTgt>
                                        </p:tgtEl>
                                        <p:attrNameLst>
                                          <p:attrName>style.visibility</p:attrName>
                                        </p:attrNameLst>
                                      </p:cBhvr>
                                      <p:to>
                                        <p:strVal val="visible"/>
                                      </p:to>
                                    </p:set>
                                    <p:animEffect transition="in" filter="blinds(horizontal)">
                                      <p:cBhvr>
                                        <p:cTn id="31" dur="500"/>
                                        <p:tgtEl>
                                          <p:spTgt spid="606211">
                                            <p:txEl>
                                              <p:pRg st="5" end="5"/>
                                            </p:txEl>
                                          </p:spTgt>
                                        </p:tgtEl>
                                      </p:cBhvr>
                                    </p:animEffect>
                                  </p:childTnLst>
                                </p:cTn>
                              </p:par>
                              <p:par>
                                <p:cTn id="32" presetID="3" presetClass="entr" presetSubtype="10" fill="hold" nodeType="withEffect">
                                  <p:stCondLst>
                                    <p:cond delay="0"/>
                                  </p:stCondLst>
                                  <p:childTnLst>
                                    <p:set>
                                      <p:cBhvr>
                                        <p:cTn id="33" dur="1" fill="hold">
                                          <p:stCondLst>
                                            <p:cond delay="0"/>
                                          </p:stCondLst>
                                        </p:cTn>
                                        <p:tgtEl>
                                          <p:spTgt spid="606211">
                                            <p:txEl>
                                              <p:pRg st="6" end="6"/>
                                            </p:txEl>
                                          </p:spTgt>
                                        </p:tgtEl>
                                        <p:attrNameLst>
                                          <p:attrName>style.visibility</p:attrName>
                                        </p:attrNameLst>
                                      </p:cBhvr>
                                      <p:to>
                                        <p:strVal val="visible"/>
                                      </p:to>
                                    </p:set>
                                    <p:animEffect transition="in" filter="blinds(horizontal)">
                                      <p:cBhvr>
                                        <p:cTn id="34" dur="500"/>
                                        <p:tgtEl>
                                          <p:spTgt spid="606211">
                                            <p:txEl>
                                              <p:pRg st="6" end="6"/>
                                            </p:txEl>
                                          </p:spTgt>
                                        </p:tgtEl>
                                      </p:cBhvr>
                                    </p:animEffect>
                                  </p:childTnLst>
                                </p:cTn>
                              </p:par>
                              <p:par>
                                <p:cTn id="35" presetID="54" presetClass="entr" presetSubtype="0" accel="100000" fill="hold" nodeType="withEffect">
                                  <p:stCondLst>
                                    <p:cond delay="0"/>
                                  </p:stCondLst>
                                  <p:childTnLst>
                                    <p:set>
                                      <p:cBhvr>
                                        <p:cTn id="36" dur="1" fill="hold">
                                          <p:stCondLst>
                                            <p:cond delay="0"/>
                                          </p:stCondLst>
                                        </p:cTn>
                                        <p:tgtEl>
                                          <p:spTgt spid="606211">
                                            <p:txEl>
                                              <p:pRg st="7" end="7"/>
                                            </p:txEl>
                                          </p:spTgt>
                                        </p:tgtEl>
                                        <p:attrNameLst>
                                          <p:attrName>style.visibility</p:attrName>
                                        </p:attrNameLst>
                                      </p:cBhvr>
                                      <p:to>
                                        <p:strVal val="visible"/>
                                      </p:to>
                                    </p:set>
                                    <p:anim calcmode="lin" valueType="num">
                                      <p:cBhvr>
                                        <p:cTn id="37" dur="500" fill="hold"/>
                                        <p:tgtEl>
                                          <p:spTgt spid="606211">
                                            <p:txEl>
                                              <p:pRg st="7" end="7"/>
                                            </p:txEl>
                                          </p:spTgt>
                                        </p:tgtEl>
                                        <p:attrNameLst>
                                          <p:attrName>ppt_w</p:attrName>
                                        </p:attrNameLst>
                                      </p:cBhvr>
                                      <p:tavLst>
                                        <p:tav tm="0">
                                          <p:val>
                                            <p:strVal val="#ppt_w*0.05"/>
                                          </p:val>
                                        </p:tav>
                                        <p:tav tm="100000">
                                          <p:val>
                                            <p:strVal val="#ppt_w"/>
                                          </p:val>
                                        </p:tav>
                                      </p:tavLst>
                                    </p:anim>
                                    <p:anim calcmode="lin" valueType="num">
                                      <p:cBhvr>
                                        <p:cTn id="38" dur="500" fill="hold"/>
                                        <p:tgtEl>
                                          <p:spTgt spid="606211">
                                            <p:txEl>
                                              <p:pRg st="7" end="7"/>
                                            </p:txEl>
                                          </p:spTgt>
                                        </p:tgtEl>
                                        <p:attrNameLst>
                                          <p:attrName>ppt_h</p:attrName>
                                        </p:attrNameLst>
                                      </p:cBhvr>
                                      <p:tavLst>
                                        <p:tav tm="0">
                                          <p:val>
                                            <p:strVal val="#ppt_h"/>
                                          </p:val>
                                        </p:tav>
                                        <p:tav tm="100000">
                                          <p:val>
                                            <p:strVal val="#ppt_h"/>
                                          </p:val>
                                        </p:tav>
                                      </p:tavLst>
                                    </p:anim>
                                    <p:anim calcmode="lin" valueType="num">
                                      <p:cBhvr>
                                        <p:cTn id="39" dur="500" fill="hold"/>
                                        <p:tgtEl>
                                          <p:spTgt spid="606211">
                                            <p:txEl>
                                              <p:pRg st="7" end="7"/>
                                            </p:txEl>
                                          </p:spTgt>
                                        </p:tgtEl>
                                        <p:attrNameLst>
                                          <p:attrName>ppt_x</p:attrName>
                                        </p:attrNameLst>
                                      </p:cBhvr>
                                      <p:tavLst>
                                        <p:tav tm="0">
                                          <p:val>
                                            <p:strVal val="#ppt_x-.2"/>
                                          </p:val>
                                        </p:tav>
                                        <p:tav tm="100000">
                                          <p:val>
                                            <p:strVal val="#ppt_x"/>
                                          </p:val>
                                        </p:tav>
                                      </p:tavLst>
                                    </p:anim>
                                    <p:anim calcmode="lin" valueType="num">
                                      <p:cBhvr>
                                        <p:cTn id="40" dur="500" fill="hold"/>
                                        <p:tgtEl>
                                          <p:spTgt spid="606211">
                                            <p:txEl>
                                              <p:pRg st="7" end="7"/>
                                            </p:txEl>
                                          </p:spTgt>
                                        </p:tgtEl>
                                        <p:attrNameLst>
                                          <p:attrName>ppt_y</p:attrName>
                                        </p:attrNameLst>
                                      </p:cBhvr>
                                      <p:tavLst>
                                        <p:tav tm="0">
                                          <p:val>
                                            <p:strVal val="#ppt_y"/>
                                          </p:val>
                                        </p:tav>
                                        <p:tav tm="100000">
                                          <p:val>
                                            <p:strVal val="#ppt_y"/>
                                          </p:val>
                                        </p:tav>
                                      </p:tavLst>
                                    </p:anim>
                                    <p:animEffect transition="in" filter="fade">
                                      <p:cBhvr>
                                        <p:cTn id="41" dur="500"/>
                                        <p:tgtEl>
                                          <p:spTgt spid="606211">
                                            <p:txEl>
                                              <p:pRg st="7" end="7"/>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54" presetClass="entr" presetSubtype="0" accel="10000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 calcmode="lin" valueType="num">
                                      <p:cBhvr>
                                        <p:cTn id="46" dur="500" fill="hold"/>
                                        <p:tgtEl>
                                          <p:spTgt spid="6"/>
                                        </p:tgtEl>
                                        <p:attrNameLst>
                                          <p:attrName>ppt_w</p:attrName>
                                        </p:attrNameLst>
                                      </p:cBhvr>
                                      <p:tavLst>
                                        <p:tav tm="0">
                                          <p:val>
                                            <p:strVal val="#ppt_w*0.05"/>
                                          </p:val>
                                        </p:tav>
                                        <p:tav tm="100000">
                                          <p:val>
                                            <p:strVal val="#ppt_w"/>
                                          </p:val>
                                        </p:tav>
                                      </p:tavLst>
                                    </p:anim>
                                    <p:anim calcmode="lin" valueType="num">
                                      <p:cBhvr>
                                        <p:cTn id="47" dur="500" fill="hold"/>
                                        <p:tgtEl>
                                          <p:spTgt spid="6"/>
                                        </p:tgtEl>
                                        <p:attrNameLst>
                                          <p:attrName>ppt_h</p:attrName>
                                        </p:attrNameLst>
                                      </p:cBhvr>
                                      <p:tavLst>
                                        <p:tav tm="0">
                                          <p:val>
                                            <p:strVal val="#ppt_h"/>
                                          </p:val>
                                        </p:tav>
                                        <p:tav tm="100000">
                                          <p:val>
                                            <p:strVal val="#ppt_h"/>
                                          </p:val>
                                        </p:tav>
                                      </p:tavLst>
                                    </p:anim>
                                    <p:anim calcmode="lin" valueType="num">
                                      <p:cBhvr>
                                        <p:cTn id="48" dur="500" fill="hold"/>
                                        <p:tgtEl>
                                          <p:spTgt spid="6"/>
                                        </p:tgtEl>
                                        <p:attrNameLst>
                                          <p:attrName>ppt_x</p:attrName>
                                        </p:attrNameLst>
                                      </p:cBhvr>
                                      <p:tavLst>
                                        <p:tav tm="0">
                                          <p:val>
                                            <p:strVal val="#ppt_x-.2"/>
                                          </p:val>
                                        </p:tav>
                                        <p:tav tm="100000">
                                          <p:val>
                                            <p:strVal val="#ppt_x"/>
                                          </p:val>
                                        </p:tav>
                                      </p:tavLst>
                                    </p:anim>
                                    <p:anim calcmode="lin" valueType="num">
                                      <p:cBhvr>
                                        <p:cTn id="49" dur="500" fill="hold"/>
                                        <p:tgtEl>
                                          <p:spTgt spid="6"/>
                                        </p:tgtEl>
                                        <p:attrNameLst>
                                          <p:attrName>ppt_y</p:attrName>
                                        </p:attrNameLst>
                                      </p:cBhvr>
                                      <p:tavLst>
                                        <p:tav tm="0">
                                          <p:val>
                                            <p:strVal val="#ppt_y"/>
                                          </p:val>
                                        </p:tav>
                                        <p:tav tm="100000">
                                          <p:val>
                                            <p:strVal val="#ppt_y"/>
                                          </p:val>
                                        </p:tav>
                                      </p:tavLst>
                                    </p:anim>
                                    <p:animEffect transition="in" filter="fade">
                                      <p:cBhvr>
                                        <p:cTn id="5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P spid="6"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1013" y="38866"/>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1749354" y="865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7649" name="Rectangle 1"/>
          <p:cNvSpPr/>
          <p:nvPr/>
        </p:nvSpPr>
        <p:spPr bwMode="auto">
          <a:xfrm>
            <a:off x="2051178" y="4457700"/>
            <a:ext cx="2667000" cy="400050"/>
          </a:xfrm>
          <a:prstGeom prst="rect">
            <a:avLst/>
          </a:prstGeom>
          <a:solidFill>
            <a:srgbClr val="EFBFBF"/>
          </a:solidFill>
          <a:ln w="25400" cap="flat">
            <a:solidFill>
              <a:schemeClr val="tx1"/>
            </a:solidFill>
            <a:prstDash val="solid"/>
            <a:miter lim="800000"/>
            <a:headEnd type="none" w="med" len="med"/>
            <a:tailEnd type="none" w="med" len="med"/>
          </a:ln>
        </p:spPr>
        <p:txBody>
          <a:bodyPr lIns="28575" tIns="28575" rIns="28575" bIns="28575" anchor="ctr"/>
          <a:lstStyle/>
          <a:p>
            <a:pPr algn="l"/>
            <a:r>
              <a:rPr lang="en-US" dirty="0">
                <a:solidFill>
                  <a:schemeClr val="tx1"/>
                </a:solidFill>
                <a:latin typeface="Courier New Bold" charset="0"/>
                <a:cs typeface="Courier New Bold" charset="0"/>
                <a:sym typeface="Courier New Bold" charset="0"/>
              </a:rPr>
              <a:t>%</a:t>
            </a:r>
            <a:r>
              <a:rPr lang="en-US" dirty="0" err="1">
                <a:solidFill>
                  <a:schemeClr val="tx1"/>
                </a:solidFill>
                <a:latin typeface="Courier New Bold" charset="0"/>
                <a:cs typeface="Courier New Bold" charset="0"/>
                <a:sym typeface="Courier New Bold" charset="0"/>
              </a:rPr>
              <a:t>rsp</a:t>
            </a:r>
            <a:endParaRPr lang="en-US" dirty="0">
              <a:solidFill>
                <a:schemeClr val="tx1"/>
              </a:solidFill>
              <a:latin typeface="Courier New Bold" charset="0"/>
              <a:cs typeface="Courier New Bold" charset="0"/>
              <a:sym typeface="Courier New Bold" charset="0"/>
            </a:endParaRPr>
          </a:p>
        </p:txBody>
      </p:sp>
      <p:sp>
        <p:nvSpPr>
          <p:cNvPr id="27654" name="Rectangle 6"/>
          <p:cNvSpPr/>
          <p:nvPr/>
        </p:nvSpPr>
        <p:spPr bwMode="auto">
          <a:xfrm>
            <a:off x="3394203" y="17430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%eax</a:t>
            </a:r>
          </a:p>
        </p:txBody>
      </p:sp>
      <p:sp>
        <p:nvSpPr>
          <p:cNvPr id="27655" name="Rectangle 7"/>
          <p:cNvSpPr/>
          <p:nvPr/>
        </p:nvSpPr>
        <p:spPr bwMode="auto">
          <a:xfrm>
            <a:off x="3394203" y="22002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%ebx</a:t>
            </a:r>
          </a:p>
        </p:txBody>
      </p:sp>
      <p:sp>
        <p:nvSpPr>
          <p:cNvPr id="27656" name="Rectangle 8"/>
          <p:cNvSpPr/>
          <p:nvPr/>
        </p:nvSpPr>
        <p:spPr bwMode="auto">
          <a:xfrm>
            <a:off x="3394203" y="26574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%ecx</a:t>
            </a:r>
          </a:p>
        </p:txBody>
      </p:sp>
      <p:sp>
        <p:nvSpPr>
          <p:cNvPr id="27657" name="Rectangle 9"/>
          <p:cNvSpPr/>
          <p:nvPr/>
        </p:nvSpPr>
        <p:spPr bwMode="auto">
          <a:xfrm>
            <a:off x="3394203" y="31146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%edx</a:t>
            </a:r>
          </a:p>
        </p:txBody>
      </p:sp>
      <p:sp>
        <p:nvSpPr>
          <p:cNvPr id="27658" name="Rectangle 10"/>
          <p:cNvSpPr/>
          <p:nvPr/>
        </p:nvSpPr>
        <p:spPr bwMode="auto">
          <a:xfrm>
            <a:off x="3394203" y="35718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%esi</a:t>
            </a:r>
          </a:p>
        </p:txBody>
      </p:sp>
      <p:sp>
        <p:nvSpPr>
          <p:cNvPr id="27659" name="Rectangle 11"/>
          <p:cNvSpPr/>
          <p:nvPr/>
        </p:nvSpPr>
        <p:spPr bwMode="auto">
          <a:xfrm>
            <a:off x="3394203" y="40290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%edi</a:t>
            </a:r>
          </a:p>
        </p:txBody>
      </p:sp>
      <p:sp>
        <p:nvSpPr>
          <p:cNvPr id="27660" name="Rectangle 12"/>
          <p:cNvSpPr/>
          <p:nvPr/>
        </p:nvSpPr>
        <p:spPr bwMode="auto">
          <a:xfrm>
            <a:off x="3394203" y="4486275"/>
            <a:ext cx="1314450" cy="333375"/>
          </a:xfrm>
          <a:prstGeom prst="rect">
            <a:avLst/>
          </a:prstGeom>
          <a:solidFill>
            <a:srgbClr val="FF9999"/>
          </a:solidFill>
          <a:ln w="12700"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%esp</a:t>
            </a:r>
          </a:p>
        </p:txBody>
      </p:sp>
      <p:sp>
        <p:nvSpPr>
          <p:cNvPr id="27661" name="Rectangle 13"/>
          <p:cNvSpPr/>
          <p:nvPr/>
        </p:nvSpPr>
        <p:spPr bwMode="auto">
          <a:xfrm>
            <a:off x="3394203" y="4933950"/>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%ebp</a:t>
            </a:r>
          </a:p>
        </p:txBody>
      </p:sp>
      <p:sp>
        <p:nvSpPr>
          <p:cNvPr id="27662" name="Rectangle 14"/>
          <p:cNvSpPr/>
          <p:nvPr/>
        </p:nvSpPr>
        <p:spPr bwMode="auto">
          <a:xfrm>
            <a:off x="6366003" y="17430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%r8d</a:t>
            </a:r>
          </a:p>
        </p:txBody>
      </p:sp>
      <p:sp>
        <p:nvSpPr>
          <p:cNvPr id="27663" name="Rectangle 15"/>
          <p:cNvSpPr/>
          <p:nvPr/>
        </p:nvSpPr>
        <p:spPr bwMode="auto">
          <a:xfrm>
            <a:off x="6366003" y="22002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%r9d</a:t>
            </a:r>
          </a:p>
        </p:txBody>
      </p:sp>
      <p:sp>
        <p:nvSpPr>
          <p:cNvPr id="27664" name="Rectangle 16"/>
          <p:cNvSpPr/>
          <p:nvPr/>
        </p:nvSpPr>
        <p:spPr bwMode="auto">
          <a:xfrm>
            <a:off x="6366003" y="26574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%r10d</a:t>
            </a:r>
          </a:p>
        </p:txBody>
      </p:sp>
      <p:sp>
        <p:nvSpPr>
          <p:cNvPr id="27665" name="Rectangle 17"/>
          <p:cNvSpPr/>
          <p:nvPr/>
        </p:nvSpPr>
        <p:spPr bwMode="auto">
          <a:xfrm>
            <a:off x="6366003" y="31146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%r11d</a:t>
            </a:r>
          </a:p>
        </p:txBody>
      </p:sp>
      <p:sp>
        <p:nvSpPr>
          <p:cNvPr id="27666" name="Rectangle 18"/>
          <p:cNvSpPr/>
          <p:nvPr/>
        </p:nvSpPr>
        <p:spPr bwMode="auto">
          <a:xfrm>
            <a:off x="6366003" y="35718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%r12d</a:t>
            </a:r>
          </a:p>
        </p:txBody>
      </p:sp>
      <p:sp>
        <p:nvSpPr>
          <p:cNvPr id="27667" name="Rectangle 19"/>
          <p:cNvSpPr/>
          <p:nvPr/>
        </p:nvSpPr>
        <p:spPr bwMode="auto">
          <a:xfrm>
            <a:off x="6366003" y="40290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%r13d</a:t>
            </a:r>
          </a:p>
        </p:txBody>
      </p:sp>
      <p:sp>
        <p:nvSpPr>
          <p:cNvPr id="27668" name="Rectangle 20"/>
          <p:cNvSpPr/>
          <p:nvPr/>
        </p:nvSpPr>
        <p:spPr bwMode="auto">
          <a:xfrm>
            <a:off x="6366003" y="44862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%r14d</a:t>
            </a:r>
          </a:p>
        </p:txBody>
      </p:sp>
      <p:sp>
        <p:nvSpPr>
          <p:cNvPr id="27669" name="Rectangle 21"/>
          <p:cNvSpPr/>
          <p:nvPr/>
        </p:nvSpPr>
        <p:spPr bwMode="auto">
          <a:xfrm>
            <a:off x="6366003" y="4943475"/>
            <a:ext cx="1323975" cy="333375"/>
          </a:xfrm>
          <a:prstGeom prst="rect">
            <a:avLst/>
          </a:prstGeom>
          <a:solidFill>
            <a:srgbClr val="D8D8D8"/>
          </a:solidFill>
          <a:ln w="9525" cap="flat">
            <a:solidFill>
              <a:schemeClr val="tx1"/>
            </a:solidFill>
            <a:prstDash val="solid"/>
            <a:miter lim="800000"/>
            <a:headEnd type="none" w="med" len="med"/>
            <a:tailEnd type="none" w="med" len="med"/>
          </a:ln>
        </p:spPr>
        <p:txBody>
          <a:bodyPr lIns="28575" tIns="28575" rIns="28575" bIns="28575" anchor="ctr"/>
          <a:lstStyle/>
          <a:p>
            <a:pPr algn="l"/>
            <a:r>
              <a:rPr lang="en-US" sz="1350">
                <a:solidFill>
                  <a:schemeClr val="tx1"/>
                </a:solidFill>
                <a:latin typeface="Courier New Bold" charset="0"/>
                <a:cs typeface="Courier New Bold" charset="0"/>
                <a:sym typeface="Courier New Bold" charset="0"/>
              </a:rPr>
              <a:t>%r15d</a:t>
            </a:r>
          </a:p>
        </p:txBody>
      </p:sp>
      <p:sp>
        <p:nvSpPr>
          <p:cNvPr id="27670" name="Rectangle 22"/>
          <p:cNvSpPr/>
          <p:nvPr/>
        </p:nvSpPr>
        <p:spPr bwMode="auto">
          <a:xfrm>
            <a:off x="5022978" y="17145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%r8</a:t>
            </a:r>
          </a:p>
        </p:txBody>
      </p:sp>
      <p:sp>
        <p:nvSpPr>
          <p:cNvPr id="27671" name="Rectangle 23"/>
          <p:cNvSpPr/>
          <p:nvPr/>
        </p:nvSpPr>
        <p:spPr bwMode="auto">
          <a:xfrm>
            <a:off x="5022978" y="21717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%r9</a:t>
            </a:r>
          </a:p>
        </p:txBody>
      </p:sp>
      <p:sp>
        <p:nvSpPr>
          <p:cNvPr id="27672" name="Rectangle 24"/>
          <p:cNvSpPr/>
          <p:nvPr/>
        </p:nvSpPr>
        <p:spPr bwMode="auto">
          <a:xfrm>
            <a:off x="5022978" y="26289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%r10</a:t>
            </a:r>
          </a:p>
        </p:txBody>
      </p:sp>
      <p:sp>
        <p:nvSpPr>
          <p:cNvPr id="27673" name="Rectangle 25"/>
          <p:cNvSpPr/>
          <p:nvPr/>
        </p:nvSpPr>
        <p:spPr bwMode="auto">
          <a:xfrm>
            <a:off x="5022978" y="30861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%r11</a:t>
            </a:r>
          </a:p>
        </p:txBody>
      </p:sp>
      <p:sp>
        <p:nvSpPr>
          <p:cNvPr id="27674" name="Rectangle 26"/>
          <p:cNvSpPr/>
          <p:nvPr/>
        </p:nvSpPr>
        <p:spPr bwMode="auto">
          <a:xfrm>
            <a:off x="5022978" y="35433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%r12</a:t>
            </a:r>
          </a:p>
        </p:txBody>
      </p:sp>
      <p:sp>
        <p:nvSpPr>
          <p:cNvPr id="27675" name="Rectangle 27"/>
          <p:cNvSpPr/>
          <p:nvPr/>
        </p:nvSpPr>
        <p:spPr bwMode="auto">
          <a:xfrm>
            <a:off x="5022978" y="40005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%r13</a:t>
            </a:r>
          </a:p>
        </p:txBody>
      </p:sp>
      <p:sp>
        <p:nvSpPr>
          <p:cNvPr id="27676" name="Rectangle 28"/>
          <p:cNvSpPr/>
          <p:nvPr/>
        </p:nvSpPr>
        <p:spPr bwMode="auto">
          <a:xfrm>
            <a:off x="5022978" y="44577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%r14</a:t>
            </a:r>
          </a:p>
        </p:txBody>
      </p:sp>
      <p:sp>
        <p:nvSpPr>
          <p:cNvPr id="27677" name="Rectangle 29"/>
          <p:cNvSpPr/>
          <p:nvPr/>
        </p:nvSpPr>
        <p:spPr bwMode="auto">
          <a:xfrm>
            <a:off x="5022978" y="49149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%r15</a:t>
            </a:r>
          </a:p>
        </p:txBody>
      </p:sp>
      <p:sp>
        <p:nvSpPr>
          <p:cNvPr id="27678" name="Rectangle 30"/>
          <p:cNvSpPr/>
          <p:nvPr/>
        </p:nvSpPr>
        <p:spPr bwMode="auto">
          <a:xfrm>
            <a:off x="2051178" y="17145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dirty="0">
                <a:solidFill>
                  <a:schemeClr val="tx1"/>
                </a:solidFill>
                <a:latin typeface="Courier New Bold" charset="0"/>
                <a:cs typeface="Courier New Bold" charset="0"/>
                <a:sym typeface="Courier New Bold" charset="0"/>
              </a:rPr>
              <a:t>%</a:t>
            </a:r>
            <a:r>
              <a:rPr lang="en-US" dirty="0" err="1">
                <a:solidFill>
                  <a:schemeClr val="tx1"/>
                </a:solidFill>
                <a:latin typeface="Courier New Bold" charset="0"/>
                <a:cs typeface="Courier New Bold" charset="0"/>
                <a:sym typeface="Courier New Bold" charset="0"/>
              </a:rPr>
              <a:t>rax</a:t>
            </a:r>
            <a:endParaRPr lang="en-US" dirty="0">
              <a:solidFill>
                <a:schemeClr val="tx1"/>
              </a:solidFill>
              <a:latin typeface="Courier New Bold" charset="0"/>
              <a:cs typeface="Courier New Bold" charset="0"/>
              <a:sym typeface="Courier New Bold" charset="0"/>
            </a:endParaRPr>
          </a:p>
        </p:txBody>
      </p:sp>
      <p:sp>
        <p:nvSpPr>
          <p:cNvPr id="27679" name="Rectangle 31"/>
          <p:cNvSpPr/>
          <p:nvPr/>
        </p:nvSpPr>
        <p:spPr bwMode="auto">
          <a:xfrm>
            <a:off x="2051178" y="21717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dirty="0">
                <a:solidFill>
                  <a:schemeClr val="tx1"/>
                </a:solidFill>
                <a:latin typeface="Courier New Bold" charset="0"/>
                <a:cs typeface="Courier New Bold" charset="0"/>
                <a:sym typeface="Courier New Bold" charset="0"/>
              </a:rPr>
              <a:t>%</a:t>
            </a:r>
            <a:r>
              <a:rPr lang="en-US" dirty="0" err="1">
                <a:solidFill>
                  <a:schemeClr val="tx1"/>
                </a:solidFill>
                <a:latin typeface="Courier New Bold" charset="0"/>
                <a:cs typeface="Courier New Bold" charset="0"/>
                <a:sym typeface="Courier New Bold" charset="0"/>
              </a:rPr>
              <a:t>rbx</a:t>
            </a:r>
            <a:endParaRPr lang="en-US" dirty="0">
              <a:solidFill>
                <a:schemeClr val="tx1"/>
              </a:solidFill>
              <a:latin typeface="Courier New Bold" charset="0"/>
              <a:cs typeface="Courier New Bold" charset="0"/>
              <a:sym typeface="Courier New Bold" charset="0"/>
            </a:endParaRPr>
          </a:p>
        </p:txBody>
      </p:sp>
      <p:sp>
        <p:nvSpPr>
          <p:cNvPr id="27680" name="Rectangle 32"/>
          <p:cNvSpPr/>
          <p:nvPr/>
        </p:nvSpPr>
        <p:spPr bwMode="auto">
          <a:xfrm>
            <a:off x="2051178" y="26289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%rcx</a:t>
            </a:r>
          </a:p>
        </p:txBody>
      </p:sp>
      <p:sp>
        <p:nvSpPr>
          <p:cNvPr id="27681" name="Rectangle 33"/>
          <p:cNvSpPr/>
          <p:nvPr/>
        </p:nvSpPr>
        <p:spPr bwMode="auto">
          <a:xfrm>
            <a:off x="2051178" y="30861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%rdx</a:t>
            </a:r>
          </a:p>
        </p:txBody>
      </p:sp>
      <p:sp>
        <p:nvSpPr>
          <p:cNvPr id="27682" name="Rectangle 34"/>
          <p:cNvSpPr/>
          <p:nvPr/>
        </p:nvSpPr>
        <p:spPr bwMode="auto">
          <a:xfrm>
            <a:off x="2051178" y="35433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%rsi</a:t>
            </a:r>
          </a:p>
        </p:txBody>
      </p:sp>
      <p:sp>
        <p:nvSpPr>
          <p:cNvPr id="27683" name="Rectangle 35"/>
          <p:cNvSpPr/>
          <p:nvPr/>
        </p:nvSpPr>
        <p:spPr bwMode="auto">
          <a:xfrm>
            <a:off x="2051178" y="40005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%rdi</a:t>
            </a:r>
          </a:p>
        </p:txBody>
      </p:sp>
      <p:sp>
        <p:nvSpPr>
          <p:cNvPr id="27684" name="Rectangle 36"/>
          <p:cNvSpPr/>
          <p:nvPr/>
        </p:nvSpPr>
        <p:spPr bwMode="auto">
          <a:xfrm>
            <a:off x="2051178" y="4914900"/>
            <a:ext cx="2667000" cy="400050"/>
          </a:xfrm>
          <a:prstGeom prst="rect">
            <a:avLst/>
          </a:prstGeom>
          <a:noFill/>
          <a:ln w="25400" cap="flat">
            <a:solidFill>
              <a:schemeClr val="tx1"/>
            </a:solidFill>
            <a:prstDash val="solid"/>
            <a:miter lim="800000"/>
            <a:headEnd type="none" w="med" len="med"/>
            <a:tailEnd type="none" w="med" len="med"/>
          </a:ln>
        </p:spPr>
        <p:txBody>
          <a:bodyPr lIns="28575" tIns="28575" rIns="28575" bIns="28575" anchor="ctr"/>
          <a:lstStyle/>
          <a:p>
            <a:pPr algn="l"/>
            <a:r>
              <a:rPr lang="en-US">
                <a:solidFill>
                  <a:schemeClr val="tx1"/>
                </a:solidFill>
                <a:latin typeface="Courier New Bold" charset="0"/>
                <a:cs typeface="Courier New Bold" charset="0"/>
                <a:sym typeface="Courier New Bold" charset="0"/>
              </a:rPr>
              <a:t>%rbp</a:t>
            </a:r>
          </a:p>
        </p:txBody>
      </p:sp>
      <p:sp>
        <p:nvSpPr>
          <p:cNvPr id="2" name="文本框 1"/>
          <p:cNvSpPr txBox="1"/>
          <p:nvPr/>
        </p:nvSpPr>
        <p:spPr>
          <a:xfrm>
            <a:off x="2714118" y="5477351"/>
            <a:ext cx="4531519" cy="368300"/>
          </a:xfrm>
          <a:prstGeom prst="rect">
            <a:avLst/>
          </a:prstGeom>
          <a:noFill/>
        </p:spPr>
        <p:txBody>
          <a:bodyPr wrap="square" rtlCol="0">
            <a:spAutoFit/>
          </a:bodyPr>
          <a:lstStyle/>
          <a:p>
            <a:pPr marL="285750" indent="-285750">
              <a:buFont typeface="Wingdings" panose="05000000000000000000" charset="0"/>
              <a:buChar char=""/>
            </a:pPr>
            <a:r>
              <a:rPr lang="zh-CN" altLang="en-US"/>
              <a:t>可以用低阶4字节（或者低阶1和2字节）</a:t>
            </a:r>
          </a:p>
        </p:txBody>
      </p:sp>
      <p:sp>
        <p:nvSpPr>
          <p:cNvPr id="27652" name="Rectangle 4"/>
          <p:cNvSpPr>
            <a:spLocks noGrp="1" noChangeArrowheads="1"/>
          </p:cNvSpPr>
          <p:nvPr/>
        </p:nvSpPr>
        <p:spPr>
          <a:xfrm>
            <a:off x="2051289" y="975411"/>
            <a:ext cx="5694070" cy="571500"/>
          </a:xfrm>
          <a:prstGeom prst="rect">
            <a:avLst/>
          </a:prstGeom>
          <a:noFill/>
          <a:ln w="9525">
            <a:noFill/>
            <a:miter lim="800000"/>
          </a:ln>
        </p:spPr>
        <p:txBody>
          <a:bodyPr vert="horz" wrap="square" lIns="68580" tIns="34290" rIns="68580" bIns="3429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pPr marL="119380" indent="-119380"/>
            <a:r>
              <a:rPr lang="en-US" sz="2700"/>
              <a:t>x86-64 </a:t>
            </a:r>
            <a:r>
              <a:rPr lang="zh-CN" altLang="en-US" sz="2700"/>
              <a:t>整数寄存器</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36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865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Title 1"/>
          <p:cNvSpPr>
            <a:spLocks noGrp="1"/>
          </p:cNvSpPr>
          <p:nvPr/>
        </p:nvSpPr>
        <p:spPr>
          <a:xfrm>
            <a:off x="4874" y="1184009"/>
            <a:ext cx="5694070" cy="571500"/>
          </a:xfrm>
          <a:prstGeom prst="rect">
            <a:avLst/>
          </a:prstGeom>
          <a:noFill/>
          <a:ln w="9525">
            <a:noFill/>
            <a:miter lim="800000"/>
          </a:ln>
        </p:spPr>
        <p:txBody>
          <a:bodyPr vert="horz" wrap="square" lIns="68580" tIns="34290" rIns="68580" bIns="3429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r>
              <a:rPr lang="zh-CN" altLang="en-US" sz="2700" dirty="0"/>
              <a:t>历史</a:t>
            </a:r>
            <a:r>
              <a:rPr lang="en-US" sz="2700" dirty="0"/>
              <a:t>: IA32 </a:t>
            </a:r>
            <a:r>
              <a:rPr lang="zh-CN" altLang="en-US" sz="2700" dirty="0"/>
              <a:t>寄存器</a:t>
            </a:r>
          </a:p>
        </p:txBody>
      </p:sp>
      <p:grpSp>
        <p:nvGrpSpPr>
          <p:cNvPr id="3" name="Group 12"/>
          <p:cNvGrpSpPr/>
          <p:nvPr/>
        </p:nvGrpSpPr>
        <p:grpSpPr bwMode="auto">
          <a:xfrm>
            <a:off x="697230" y="1857376"/>
            <a:ext cx="4286250" cy="3400427"/>
            <a:chOff x="3984" y="1008"/>
            <a:chExt cx="1584" cy="2256"/>
          </a:xfrm>
        </p:grpSpPr>
        <p:sp>
          <p:nvSpPr>
            <p:cNvPr id="5" name="Rectangle 4"/>
            <p:cNvSpPr>
              <a:spLocks noChangeArrowheads="1"/>
            </p:cNvSpPr>
            <p:nvPr/>
          </p:nvSpPr>
          <p:spPr bwMode="auto">
            <a:xfrm>
              <a:off x="3984" y="1008"/>
              <a:ext cx="1584" cy="24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350" dirty="0">
                  <a:latin typeface="Courier New" panose="02070309020205020404" charset="0"/>
                </a:rPr>
                <a:t>%</a:t>
              </a:r>
              <a:r>
                <a:rPr lang="en-US" sz="1350" dirty="0" err="1">
                  <a:latin typeface="Courier New" panose="02070309020205020404" charset="0"/>
                </a:rPr>
                <a:t>eax</a:t>
              </a:r>
              <a:endParaRPr lang="en-US" sz="1350" dirty="0">
                <a:latin typeface="Courier New" panose="02070309020205020404" charset="0"/>
              </a:endParaRPr>
            </a:p>
          </p:txBody>
        </p:sp>
        <p:sp>
          <p:nvSpPr>
            <p:cNvPr id="6" name="Rectangle 5"/>
            <p:cNvSpPr>
              <a:spLocks noChangeArrowheads="1"/>
            </p:cNvSpPr>
            <p:nvPr/>
          </p:nvSpPr>
          <p:spPr bwMode="auto">
            <a:xfrm>
              <a:off x="3984" y="1296"/>
              <a:ext cx="1584" cy="24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350" dirty="0">
                  <a:latin typeface="Courier New" panose="02070309020205020404" charset="0"/>
                </a:rPr>
                <a:t>%</a:t>
              </a:r>
              <a:r>
                <a:rPr lang="en-US" sz="1350" dirty="0" err="1">
                  <a:latin typeface="Courier New" panose="02070309020205020404" charset="0"/>
                </a:rPr>
                <a:t>ecx</a:t>
              </a:r>
              <a:endParaRPr lang="en-US" sz="1350" dirty="0">
                <a:latin typeface="Courier New" panose="02070309020205020404" charset="0"/>
              </a:endParaRPr>
            </a:p>
          </p:txBody>
        </p:sp>
        <p:sp>
          <p:nvSpPr>
            <p:cNvPr id="7" name="Rectangle 6"/>
            <p:cNvSpPr>
              <a:spLocks noChangeArrowheads="1"/>
            </p:cNvSpPr>
            <p:nvPr/>
          </p:nvSpPr>
          <p:spPr bwMode="auto">
            <a:xfrm>
              <a:off x="3984" y="1584"/>
              <a:ext cx="1584" cy="24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350" dirty="0">
                  <a:latin typeface="Courier New" panose="02070309020205020404" charset="0"/>
                </a:rPr>
                <a:t>%</a:t>
              </a:r>
              <a:r>
                <a:rPr lang="en-US" sz="1350" dirty="0" err="1">
                  <a:latin typeface="Courier New" panose="02070309020205020404" charset="0"/>
                </a:rPr>
                <a:t>edx</a:t>
              </a:r>
              <a:endParaRPr lang="en-US" sz="1350" dirty="0">
                <a:latin typeface="Courier New" panose="02070309020205020404" charset="0"/>
              </a:endParaRPr>
            </a:p>
          </p:txBody>
        </p:sp>
        <p:sp>
          <p:nvSpPr>
            <p:cNvPr id="8" name="Rectangle 7"/>
            <p:cNvSpPr>
              <a:spLocks noChangeArrowheads="1"/>
            </p:cNvSpPr>
            <p:nvPr/>
          </p:nvSpPr>
          <p:spPr bwMode="auto">
            <a:xfrm>
              <a:off x="3984" y="1872"/>
              <a:ext cx="1584" cy="24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350">
                  <a:latin typeface="Courier New" panose="02070309020205020404" charset="0"/>
                </a:rPr>
                <a:t>%ebx</a:t>
              </a:r>
            </a:p>
          </p:txBody>
        </p:sp>
        <p:sp>
          <p:nvSpPr>
            <p:cNvPr id="9" name="Rectangle 8"/>
            <p:cNvSpPr>
              <a:spLocks noChangeArrowheads="1"/>
            </p:cNvSpPr>
            <p:nvPr/>
          </p:nvSpPr>
          <p:spPr bwMode="auto">
            <a:xfrm>
              <a:off x="3984" y="2160"/>
              <a:ext cx="1584" cy="24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350">
                  <a:latin typeface="Courier New" panose="02070309020205020404" charset="0"/>
                </a:rPr>
                <a:t>%esi</a:t>
              </a:r>
            </a:p>
          </p:txBody>
        </p:sp>
        <p:sp>
          <p:nvSpPr>
            <p:cNvPr id="10" name="Rectangle 9"/>
            <p:cNvSpPr>
              <a:spLocks noChangeArrowheads="1"/>
            </p:cNvSpPr>
            <p:nvPr/>
          </p:nvSpPr>
          <p:spPr bwMode="auto">
            <a:xfrm>
              <a:off x="3984" y="2448"/>
              <a:ext cx="1584" cy="24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350">
                  <a:latin typeface="Courier New" panose="02070309020205020404" charset="0"/>
                </a:rPr>
                <a:t>%edi</a:t>
              </a:r>
            </a:p>
          </p:txBody>
        </p:sp>
        <p:sp>
          <p:nvSpPr>
            <p:cNvPr id="11" name="Rectangle 10"/>
            <p:cNvSpPr>
              <a:spLocks noChangeArrowheads="1"/>
            </p:cNvSpPr>
            <p:nvPr/>
          </p:nvSpPr>
          <p:spPr bwMode="auto">
            <a:xfrm>
              <a:off x="3984" y="2736"/>
              <a:ext cx="1584" cy="240"/>
            </a:xfrm>
            <a:prstGeom prst="rect">
              <a:avLst/>
            </a:prstGeom>
            <a:solidFill>
              <a:srgbClr val="EFBFBF"/>
            </a:solidFill>
            <a:ln w="25400">
              <a:solidFill>
                <a:schemeClr val="tx1"/>
              </a:solidFill>
              <a:miter lim="800000"/>
            </a:ln>
            <a:effectLst/>
          </p:spPr>
          <p:txBody>
            <a:bodyPr wrap="none" anchor="ctr"/>
            <a:lstStyle/>
            <a:p>
              <a:pPr>
                <a:lnSpc>
                  <a:spcPct val="100000"/>
                </a:lnSpc>
              </a:pPr>
              <a:r>
                <a:rPr lang="en-US" sz="1350">
                  <a:latin typeface="Courier New" panose="02070309020205020404" charset="0"/>
                </a:rPr>
                <a:t>%esp</a:t>
              </a:r>
            </a:p>
          </p:txBody>
        </p:sp>
        <p:sp>
          <p:nvSpPr>
            <p:cNvPr id="12" name="Rectangle 11"/>
            <p:cNvSpPr>
              <a:spLocks noChangeArrowheads="1"/>
            </p:cNvSpPr>
            <p:nvPr/>
          </p:nvSpPr>
          <p:spPr bwMode="auto">
            <a:xfrm>
              <a:off x="3984" y="3024"/>
              <a:ext cx="1584" cy="240"/>
            </a:xfrm>
            <a:prstGeom prst="rect">
              <a:avLst/>
            </a:prstGeom>
            <a:solidFill>
              <a:srgbClr val="EFBFBF"/>
            </a:solidFill>
            <a:ln w="25400">
              <a:solidFill>
                <a:schemeClr val="tx1"/>
              </a:solidFill>
              <a:miter lim="800000"/>
            </a:ln>
            <a:effectLst/>
          </p:spPr>
          <p:txBody>
            <a:bodyPr wrap="none" anchor="ctr"/>
            <a:lstStyle/>
            <a:p>
              <a:pPr>
                <a:lnSpc>
                  <a:spcPct val="100000"/>
                </a:lnSpc>
              </a:pPr>
              <a:r>
                <a:rPr lang="en-US" sz="1350">
                  <a:latin typeface="Courier New" panose="02070309020205020404" charset="0"/>
                </a:rPr>
                <a:t>%ebp</a:t>
              </a:r>
            </a:p>
          </p:txBody>
        </p:sp>
      </p:grpSp>
      <p:grpSp>
        <p:nvGrpSpPr>
          <p:cNvPr id="22" name="Group 21"/>
          <p:cNvGrpSpPr/>
          <p:nvPr/>
        </p:nvGrpSpPr>
        <p:grpSpPr>
          <a:xfrm>
            <a:off x="2863925" y="1910978"/>
            <a:ext cx="2114550" cy="257771"/>
            <a:chOff x="4495800" y="1404970"/>
            <a:chExt cx="2819400" cy="343694"/>
          </a:xfrm>
        </p:grpSpPr>
        <p:sp>
          <p:nvSpPr>
            <p:cNvPr id="13" name="Rectangle 12"/>
            <p:cNvSpPr/>
            <p:nvPr/>
          </p:nvSpPr>
          <p:spPr bwMode="auto">
            <a:xfrm>
              <a:off x="4495800" y="1404970"/>
              <a:ext cx="2819400" cy="34290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b="1" i="0" u="none" strike="noStrike" cap="none" normalizeH="0" baseline="0">
                <a:ln>
                  <a:noFill/>
                </a:ln>
                <a:solidFill>
                  <a:schemeClr val="tx1"/>
                </a:solidFill>
                <a:effectLst/>
                <a:latin typeface="Arial Narrow" panose="020B0606020202030204" pitchFamily="34" charset="0"/>
              </a:endParaRPr>
            </a:p>
          </p:txBody>
        </p:sp>
        <p:cxnSp>
          <p:nvCxnSpPr>
            <p:cNvPr id="19" name="Straight Connector 18"/>
            <p:cNvCxnSpPr>
              <a:stCxn id="13" idx="0"/>
              <a:endCxn id="13" idx="2"/>
            </p:cNvCxnSpPr>
            <p:nvPr/>
          </p:nvCxnSpPr>
          <p:spPr bwMode="auto">
            <a:xfrm rot="16200000" flipH="1">
              <a:off x="5734050" y="1576420"/>
              <a:ext cx="342900" cy="1588"/>
            </a:xfrm>
            <a:prstGeom prst="line">
              <a:avLst/>
            </a:prstGeom>
            <a:noFill/>
            <a:ln w="12700" cap="flat" cmpd="sng" algn="ctr">
              <a:solidFill>
                <a:schemeClr val="tx1"/>
              </a:solidFill>
              <a:prstDash val="solid"/>
              <a:round/>
              <a:headEnd type="none" w="med" len="med"/>
              <a:tailEnd type="none" w="med" len="med"/>
            </a:ln>
            <a:effectLst/>
          </p:spPr>
        </p:cxnSp>
      </p:grpSp>
      <p:grpSp>
        <p:nvGrpSpPr>
          <p:cNvPr id="23" name="Group 22"/>
          <p:cNvGrpSpPr/>
          <p:nvPr/>
        </p:nvGrpSpPr>
        <p:grpSpPr>
          <a:xfrm>
            <a:off x="2863925" y="2349018"/>
            <a:ext cx="2114550" cy="257771"/>
            <a:chOff x="4495800" y="1404970"/>
            <a:chExt cx="2819400" cy="343694"/>
          </a:xfrm>
        </p:grpSpPr>
        <p:sp>
          <p:nvSpPr>
            <p:cNvPr id="24" name="Rectangle 23"/>
            <p:cNvSpPr/>
            <p:nvPr/>
          </p:nvSpPr>
          <p:spPr bwMode="auto">
            <a:xfrm>
              <a:off x="4495800" y="1404970"/>
              <a:ext cx="2819400" cy="34290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b="1" i="0" u="none" strike="noStrike" cap="none" normalizeH="0" baseline="0">
                <a:ln>
                  <a:noFill/>
                </a:ln>
                <a:solidFill>
                  <a:schemeClr val="tx1"/>
                </a:solidFill>
                <a:effectLst/>
                <a:latin typeface="Arial Narrow" panose="020B0606020202030204" pitchFamily="34" charset="0"/>
              </a:endParaRPr>
            </a:p>
          </p:txBody>
        </p:sp>
        <p:cxnSp>
          <p:nvCxnSpPr>
            <p:cNvPr id="25" name="Straight Connector 24"/>
            <p:cNvCxnSpPr>
              <a:stCxn id="24" idx="0"/>
              <a:endCxn id="24" idx="2"/>
            </p:cNvCxnSpPr>
            <p:nvPr/>
          </p:nvCxnSpPr>
          <p:spPr bwMode="auto">
            <a:xfrm rot="16200000" flipH="1">
              <a:off x="5734050" y="1576420"/>
              <a:ext cx="342900" cy="1588"/>
            </a:xfrm>
            <a:prstGeom prst="line">
              <a:avLst/>
            </a:prstGeom>
            <a:noFill/>
            <a:ln w="12700" cap="flat" cmpd="sng" algn="ctr">
              <a:solidFill>
                <a:schemeClr val="tx1"/>
              </a:solidFill>
              <a:prstDash val="solid"/>
              <a:round/>
              <a:headEnd type="none" w="med" len="med"/>
              <a:tailEnd type="none" w="med" len="med"/>
            </a:ln>
            <a:effectLst/>
          </p:spPr>
        </p:cxnSp>
      </p:grpSp>
      <p:grpSp>
        <p:nvGrpSpPr>
          <p:cNvPr id="26" name="Group 25"/>
          <p:cNvGrpSpPr/>
          <p:nvPr/>
        </p:nvGrpSpPr>
        <p:grpSpPr>
          <a:xfrm>
            <a:off x="2863925" y="2776185"/>
            <a:ext cx="2114550" cy="257771"/>
            <a:chOff x="4495800" y="1404970"/>
            <a:chExt cx="2819400" cy="343694"/>
          </a:xfrm>
        </p:grpSpPr>
        <p:sp>
          <p:nvSpPr>
            <p:cNvPr id="27" name="Rectangle 26"/>
            <p:cNvSpPr/>
            <p:nvPr/>
          </p:nvSpPr>
          <p:spPr bwMode="auto">
            <a:xfrm>
              <a:off x="4495800" y="1404970"/>
              <a:ext cx="2819400" cy="34290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b="1" i="0" u="none" strike="noStrike" cap="none" normalizeH="0" baseline="0">
                <a:ln>
                  <a:noFill/>
                </a:ln>
                <a:solidFill>
                  <a:schemeClr val="tx1"/>
                </a:solidFill>
                <a:effectLst/>
                <a:latin typeface="Arial Narrow" panose="020B0606020202030204" pitchFamily="34" charset="0"/>
              </a:endParaRPr>
            </a:p>
          </p:txBody>
        </p:sp>
        <p:cxnSp>
          <p:nvCxnSpPr>
            <p:cNvPr id="28" name="Straight Connector 27"/>
            <p:cNvCxnSpPr>
              <a:stCxn id="27" idx="0"/>
              <a:endCxn id="27" idx="2"/>
            </p:cNvCxnSpPr>
            <p:nvPr/>
          </p:nvCxnSpPr>
          <p:spPr bwMode="auto">
            <a:xfrm rot="16200000" flipH="1">
              <a:off x="5734050" y="1576420"/>
              <a:ext cx="342900" cy="1588"/>
            </a:xfrm>
            <a:prstGeom prst="line">
              <a:avLst/>
            </a:prstGeom>
            <a:noFill/>
            <a:ln w="12700" cap="flat" cmpd="sng" algn="ctr">
              <a:solidFill>
                <a:schemeClr val="tx1"/>
              </a:solidFill>
              <a:prstDash val="solid"/>
              <a:round/>
              <a:headEnd type="none" w="med" len="med"/>
              <a:tailEnd type="none" w="med" len="med"/>
            </a:ln>
            <a:effectLst/>
          </p:spPr>
        </p:cxnSp>
      </p:grpSp>
      <p:grpSp>
        <p:nvGrpSpPr>
          <p:cNvPr id="29" name="Group 28"/>
          <p:cNvGrpSpPr/>
          <p:nvPr/>
        </p:nvGrpSpPr>
        <p:grpSpPr>
          <a:xfrm>
            <a:off x="2863925" y="3213363"/>
            <a:ext cx="2114550" cy="257771"/>
            <a:chOff x="4495800" y="1404970"/>
            <a:chExt cx="2819400" cy="343694"/>
          </a:xfrm>
        </p:grpSpPr>
        <p:sp>
          <p:nvSpPr>
            <p:cNvPr id="30" name="Rectangle 29"/>
            <p:cNvSpPr/>
            <p:nvPr/>
          </p:nvSpPr>
          <p:spPr bwMode="auto">
            <a:xfrm>
              <a:off x="4495800" y="1404970"/>
              <a:ext cx="2819400" cy="342900"/>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b="1" i="0" u="none" strike="noStrike" cap="none" normalizeH="0" baseline="0">
                <a:ln>
                  <a:noFill/>
                </a:ln>
                <a:solidFill>
                  <a:schemeClr val="tx1"/>
                </a:solidFill>
                <a:effectLst/>
                <a:latin typeface="Arial Narrow" panose="020B0606020202030204" pitchFamily="34" charset="0"/>
              </a:endParaRPr>
            </a:p>
          </p:txBody>
        </p:sp>
        <p:cxnSp>
          <p:nvCxnSpPr>
            <p:cNvPr id="31" name="Straight Connector 30"/>
            <p:cNvCxnSpPr>
              <a:stCxn id="30" idx="0"/>
              <a:endCxn id="30" idx="2"/>
            </p:cNvCxnSpPr>
            <p:nvPr/>
          </p:nvCxnSpPr>
          <p:spPr bwMode="auto">
            <a:xfrm rot="16200000" flipH="1">
              <a:off x="5734050" y="1576420"/>
              <a:ext cx="342900" cy="1588"/>
            </a:xfrm>
            <a:prstGeom prst="line">
              <a:avLst/>
            </a:prstGeom>
            <a:noFill/>
            <a:ln w="12700" cap="flat" cmpd="sng" algn="ctr">
              <a:solidFill>
                <a:schemeClr val="tx1"/>
              </a:solidFill>
              <a:prstDash val="solid"/>
              <a:round/>
              <a:headEnd type="none" w="med" len="med"/>
              <a:tailEnd type="none" w="med" len="med"/>
            </a:ln>
            <a:effectLst/>
          </p:spPr>
        </p:cxnSp>
      </p:grpSp>
      <p:sp>
        <p:nvSpPr>
          <p:cNvPr id="33" name="Rectangle 32"/>
          <p:cNvSpPr/>
          <p:nvPr/>
        </p:nvSpPr>
        <p:spPr bwMode="auto">
          <a:xfrm>
            <a:off x="2863925" y="3645500"/>
            <a:ext cx="2114550" cy="257175"/>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b="1" i="0" u="none" strike="noStrike" cap="none" normalizeH="0" baseline="0">
              <a:ln>
                <a:noFill/>
              </a:ln>
              <a:solidFill>
                <a:schemeClr val="tx1"/>
              </a:solidFill>
              <a:effectLst/>
              <a:latin typeface="Arial Narrow" panose="020B0606020202030204" pitchFamily="34" charset="0"/>
            </a:endParaRPr>
          </a:p>
        </p:txBody>
      </p:sp>
      <p:sp>
        <p:nvSpPr>
          <p:cNvPr id="36" name="Rectangle 35"/>
          <p:cNvSpPr/>
          <p:nvPr/>
        </p:nvSpPr>
        <p:spPr bwMode="auto">
          <a:xfrm>
            <a:off x="2863925" y="4083540"/>
            <a:ext cx="2114550" cy="257175"/>
          </a:xfrm>
          <a:prstGeom prst="rect">
            <a:avLst/>
          </a:prstGeom>
          <a:solidFill>
            <a:schemeClr val="bg1">
              <a:lumMod val="85000"/>
            </a:schemeClr>
          </a:solidFill>
          <a:ln w="12700" cap="flat" cmpd="sng" algn="ctr">
            <a:solidFill>
              <a:schemeClr val="tx1"/>
            </a:solidFill>
            <a:prstDash val="solid"/>
            <a:round/>
            <a:headEnd type="none" w="med" len="med"/>
            <a:tailEnd type="triangl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b="1" i="0" u="none" strike="noStrike" cap="none" normalizeH="0" baseline="0">
              <a:ln>
                <a:noFill/>
              </a:ln>
              <a:solidFill>
                <a:schemeClr val="tx1"/>
              </a:solidFill>
              <a:effectLst/>
              <a:latin typeface="Arial Narrow" panose="020B0606020202030204" pitchFamily="34" charset="0"/>
            </a:endParaRPr>
          </a:p>
        </p:txBody>
      </p:sp>
      <p:sp>
        <p:nvSpPr>
          <p:cNvPr id="39" name="Rectangle 38"/>
          <p:cNvSpPr/>
          <p:nvPr/>
        </p:nvSpPr>
        <p:spPr bwMode="auto">
          <a:xfrm>
            <a:off x="2863925" y="4510707"/>
            <a:ext cx="2114550" cy="257175"/>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68580" tIns="34290" rIns="68580" bIns="3429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en-US" b="1" i="0" u="none" strike="noStrike" cap="none" normalizeH="0" baseline="0">
              <a:ln>
                <a:noFill/>
              </a:ln>
              <a:solidFill>
                <a:schemeClr val="tx1"/>
              </a:solidFill>
              <a:effectLst/>
              <a:latin typeface="Arial Narrow" panose="020B0606020202030204" pitchFamily="34" charset="0"/>
            </a:endParaRPr>
          </a:p>
        </p:txBody>
      </p:sp>
      <p:sp>
        <p:nvSpPr>
          <p:cNvPr id="42" name="Rectangle 41"/>
          <p:cNvSpPr/>
          <p:nvPr/>
        </p:nvSpPr>
        <p:spPr bwMode="auto">
          <a:xfrm>
            <a:off x="2863925" y="4947885"/>
            <a:ext cx="2114550" cy="257175"/>
          </a:xfrm>
          <a:prstGeom prst="rect">
            <a:avLst/>
          </a:prstGeom>
          <a:solidFill>
            <a:srgbClr val="FF9999"/>
          </a:solidFill>
          <a:ln w="12700" cap="flat" cmpd="sng" algn="ctr">
            <a:solidFill>
              <a:schemeClr val="tx1"/>
            </a:solidFill>
            <a:prstDash val="solid"/>
            <a:round/>
            <a:headEnd type="none" w="med" len="med"/>
            <a:tailEnd type="triangle" w="med" len="med"/>
          </a:ln>
          <a:effectLst/>
        </p:spPr>
        <p:txBody>
          <a:bodyPr vert="horz" wrap="square" lIns="68580" tIns="34290" rIns="68580" bIns="34290" numCol="1" rtlCol="0" anchor="t" anchorCtr="0" compatLnSpc="1"/>
          <a:lstStyle/>
          <a:p>
            <a:endParaRPr lang="en-US" sz="1350"/>
          </a:p>
        </p:txBody>
      </p:sp>
      <p:sp>
        <p:nvSpPr>
          <p:cNvPr id="53" name="TextBox 52"/>
          <p:cNvSpPr txBox="1"/>
          <p:nvPr/>
        </p:nvSpPr>
        <p:spPr>
          <a:xfrm>
            <a:off x="2411730" y="1900967"/>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%ax</a:t>
            </a:r>
          </a:p>
        </p:txBody>
      </p:sp>
      <p:sp>
        <p:nvSpPr>
          <p:cNvPr id="54" name="TextBox 53"/>
          <p:cNvSpPr txBox="1"/>
          <p:nvPr/>
        </p:nvSpPr>
        <p:spPr>
          <a:xfrm>
            <a:off x="2411730" y="2338829"/>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cx</a:t>
            </a:r>
            <a:endParaRPr lang="en-US" sz="1350" dirty="0">
              <a:latin typeface="Courier New" panose="02070309020205020404" charset="0"/>
              <a:cs typeface="Courier New" panose="02070309020205020404" charset="0"/>
            </a:endParaRPr>
          </a:p>
        </p:txBody>
      </p:sp>
      <p:sp>
        <p:nvSpPr>
          <p:cNvPr id="55" name="TextBox 54"/>
          <p:cNvSpPr txBox="1"/>
          <p:nvPr/>
        </p:nvSpPr>
        <p:spPr>
          <a:xfrm>
            <a:off x="2411730" y="2763222"/>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dx</a:t>
            </a:r>
            <a:endParaRPr lang="en-US" sz="1350" dirty="0">
              <a:latin typeface="Courier New" panose="02070309020205020404" charset="0"/>
              <a:cs typeface="Courier New" panose="02070309020205020404" charset="0"/>
            </a:endParaRPr>
          </a:p>
        </p:txBody>
      </p:sp>
      <p:sp>
        <p:nvSpPr>
          <p:cNvPr id="56" name="TextBox 55"/>
          <p:cNvSpPr txBox="1"/>
          <p:nvPr/>
        </p:nvSpPr>
        <p:spPr>
          <a:xfrm>
            <a:off x="2411730" y="3206089"/>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bx</a:t>
            </a:r>
            <a:endParaRPr lang="en-US" sz="1350" dirty="0">
              <a:latin typeface="Courier New" panose="02070309020205020404" charset="0"/>
              <a:cs typeface="Courier New" panose="02070309020205020404" charset="0"/>
            </a:endParaRPr>
          </a:p>
        </p:txBody>
      </p:sp>
      <p:sp>
        <p:nvSpPr>
          <p:cNvPr id="57" name="TextBox 56"/>
          <p:cNvSpPr txBox="1"/>
          <p:nvPr/>
        </p:nvSpPr>
        <p:spPr>
          <a:xfrm>
            <a:off x="2411730" y="3638262"/>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si</a:t>
            </a:r>
            <a:endParaRPr lang="en-US" sz="1350" dirty="0">
              <a:latin typeface="Courier New" panose="02070309020205020404" charset="0"/>
              <a:cs typeface="Courier New" panose="02070309020205020404" charset="0"/>
            </a:endParaRPr>
          </a:p>
        </p:txBody>
      </p:sp>
      <p:sp>
        <p:nvSpPr>
          <p:cNvPr id="58" name="TextBox 57"/>
          <p:cNvSpPr txBox="1"/>
          <p:nvPr/>
        </p:nvSpPr>
        <p:spPr>
          <a:xfrm>
            <a:off x="2411730" y="4072667"/>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di</a:t>
            </a:r>
            <a:endParaRPr lang="en-US" sz="1350" dirty="0">
              <a:latin typeface="Courier New" panose="02070309020205020404" charset="0"/>
              <a:cs typeface="Courier New" panose="02070309020205020404" charset="0"/>
            </a:endParaRPr>
          </a:p>
        </p:txBody>
      </p:sp>
      <p:sp>
        <p:nvSpPr>
          <p:cNvPr id="59" name="TextBox 58"/>
          <p:cNvSpPr txBox="1"/>
          <p:nvPr/>
        </p:nvSpPr>
        <p:spPr>
          <a:xfrm>
            <a:off x="2411730" y="4500518"/>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%sp</a:t>
            </a:r>
          </a:p>
        </p:txBody>
      </p:sp>
      <p:sp>
        <p:nvSpPr>
          <p:cNvPr id="60" name="TextBox 59"/>
          <p:cNvSpPr txBox="1"/>
          <p:nvPr/>
        </p:nvSpPr>
        <p:spPr>
          <a:xfrm>
            <a:off x="2411730" y="4939928"/>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bp</a:t>
            </a:r>
            <a:endParaRPr lang="en-US" sz="1350" dirty="0">
              <a:latin typeface="Courier New" panose="02070309020205020404" charset="0"/>
              <a:cs typeface="Courier New" panose="02070309020205020404" charset="0"/>
            </a:endParaRPr>
          </a:p>
        </p:txBody>
      </p:sp>
      <p:sp>
        <p:nvSpPr>
          <p:cNvPr id="61" name="TextBox 60"/>
          <p:cNvSpPr txBox="1"/>
          <p:nvPr/>
        </p:nvSpPr>
        <p:spPr>
          <a:xfrm>
            <a:off x="3154680" y="1900967"/>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%ah</a:t>
            </a:r>
          </a:p>
        </p:txBody>
      </p:sp>
      <p:sp>
        <p:nvSpPr>
          <p:cNvPr id="62" name="TextBox 61"/>
          <p:cNvSpPr txBox="1"/>
          <p:nvPr/>
        </p:nvSpPr>
        <p:spPr>
          <a:xfrm>
            <a:off x="3154680" y="2338829"/>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ch</a:t>
            </a:r>
            <a:endParaRPr lang="en-US" sz="1350" dirty="0">
              <a:latin typeface="Courier New" panose="02070309020205020404" charset="0"/>
              <a:cs typeface="Courier New" panose="02070309020205020404" charset="0"/>
            </a:endParaRPr>
          </a:p>
        </p:txBody>
      </p:sp>
      <p:sp>
        <p:nvSpPr>
          <p:cNvPr id="63" name="TextBox 62"/>
          <p:cNvSpPr txBox="1"/>
          <p:nvPr/>
        </p:nvSpPr>
        <p:spPr>
          <a:xfrm>
            <a:off x="3154680" y="2763222"/>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%dh</a:t>
            </a:r>
          </a:p>
        </p:txBody>
      </p:sp>
      <p:sp>
        <p:nvSpPr>
          <p:cNvPr id="64" name="TextBox 63"/>
          <p:cNvSpPr txBox="1"/>
          <p:nvPr/>
        </p:nvSpPr>
        <p:spPr>
          <a:xfrm>
            <a:off x="3154680" y="3206089"/>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bh</a:t>
            </a:r>
            <a:endParaRPr lang="en-US" sz="1350" dirty="0">
              <a:latin typeface="Courier New" panose="02070309020205020404" charset="0"/>
              <a:cs typeface="Courier New" panose="02070309020205020404" charset="0"/>
            </a:endParaRPr>
          </a:p>
        </p:txBody>
      </p:sp>
      <p:sp>
        <p:nvSpPr>
          <p:cNvPr id="69" name="TextBox 68"/>
          <p:cNvSpPr txBox="1"/>
          <p:nvPr/>
        </p:nvSpPr>
        <p:spPr>
          <a:xfrm>
            <a:off x="4183380" y="1900967"/>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%al</a:t>
            </a:r>
          </a:p>
        </p:txBody>
      </p:sp>
      <p:sp>
        <p:nvSpPr>
          <p:cNvPr id="70" name="TextBox 69"/>
          <p:cNvSpPr txBox="1"/>
          <p:nvPr/>
        </p:nvSpPr>
        <p:spPr>
          <a:xfrm>
            <a:off x="4183380" y="2338829"/>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cl</a:t>
            </a:r>
            <a:endParaRPr lang="en-US" sz="1350" dirty="0">
              <a:latin typeface="Courier New" panose="02070309020205020404" charset="0"/>
              <a:cs typeface="Courier New" panose="02070309020205020404" charset="0"/>
            </a:endParaRPr>
          </a:p>
        </p:txBody>
      </p:sp>
      <p:sp>
        <p:nvSpPr>
          <p:cNvPr id="71" name="TextBox 70"/>
          <p:cNvSpPr txBox="1"/>
          <p:nvPr/>
        </p:nvSpPr>
        <p:spPr>
          <a:xfrm>
            <a:off x="4183380" y="2763222"/>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%dl</a:t>
            </a:r>
          </a:p>
        </p:txBody>
      </p:sp>
      <p:sp>
        <p:nvSpPr>
          <p:cNvPr id="72" name="TextBox 71"/>
          <p:cNvSpPr txBox="1"/>
          <p:nvPr/>
        </p:nvSpPr>
        <p:spPr>
          <a:xfrm>
            <a:off x="4183380" y="3206089"/>
            <a:ext cx="491490" cy="299085"/>
          </a:xfrm>
          <a:prstGeom prst="rect">
            <a:avLst/>
          </a:prstGeom>
          <a:noFill/>
        </p:spPr>
        <p:txBody>
          <a:bodyPr wrap="none" rtlCol="0">
            <a:spAutoFit/>
          </a:bodyPr>
          <a:lstStyle/>
          <a:p>
            <a:r>
              <a:rPr lang="en-US" sz="1350" dirty="0">
                <a:latin typeface="Courier New" panose="02070309020205020404" charset="0"/>
                <a:cs typeface="Courier New" panose="02070309020205020404" charset="0"/>
              </a:rPr>
              <a:t>%</a:t>
            </a:r>
            <a:r>
              <a:rPr lang="en-US" sz="1350" dirty="0" err="1">
                <a:latin typeface="Courier New" panose="02070309020205020404" charset="0"/>
                <a:cs typeface="Courier New" panose="02070309020205020404" charset="0"/>
              </a:rPr>
              <a:t>bl</a:t>
            </a:r>
            <a:endParaRPr lang="en-US" sz="1350" dirty="0">
              <a:latin typeface="Courier New" panose="02070309020205020404" charset="0"/>
              <a:cs typeface="Courier New" panose="02070309020205020404" charset="0"/>
            </a:endParaRPr>
          </a:p>
        </p:txBody>
      </p:sp>
      <p:sp>
        <p:nvSpPr>
          <p:cNvPr id="73" name="AutoShape 7"/>
          <p:cNvSpPr/>
          <p:nvPr/>
        </p:nvSpPr>
        <p:spPr bwMode="auto">
          <a:xfrm rot="5400000">
            <a:off x="3814667" y="4360693"/>
            <a:ext cx="209550" cy="2118064"/>
          </a:xfrm>
          <a:prstGeom prst="rightBrace">
            <a:avLst>
              <a:gd name="adj1" fmla="val 25000"/>
              <a:gd name="adj2" fmla="val 50000"/>
            </a:avLst>
          </a:prstGeom>
          <a:noFill/>
          <a:ln w="25400">
            <a:solidFill>
              <a:schemeClr val="tx1"/>
            </a:solidFill>
            <a:round/>
          </a:ln>
          <a:effectLst/>
        </p:spPr>
        <p:txBody>
          <a:bodyPr wrap="none" anchor="ctr"/>
          <a:lstStyle/>
          <a:p>
            <a:endParaRPr lang="en-US" sz="1350" dirty="0">
              <a:latin typeface="Calibri" panose="020F0502020204030204" charset="0"/>
            </a:endParaRPr>
          </a:p>
        </p:txBody>
      </p:sp>
      <p:sp>
        <p:nvSpPr>
          <p:cNvPr id="74" name="TextBox 73"/>
          <p:cNvSpPr txBox="1"/>
          <p:nvPr/>
        </p:nvSpPr>
        <p:spPr>
          <a:xfrm>
            <a:off x="3356798" y="5486400"/>
            <a:ext cx="1134110" cy="506730"/>
          </a:xfrm>
          <a:prstGeom prst="rect">
            <a:avLst/>
          </a:prstGeom>
          <a:noFill/>
        </p:spPr>
        <p:txBody>
          <a:bodyPr wrap="none" rtlCol="0">
            <a:spAutoFit/>
          </a:bodyPr>
          <a:lstStyle/>
          <a:p>
            <a:pPr algn="ctr"/>
            <a:r>
              <a:rPr lang="en-US" sz="1350" dirty="0">
                <a:latin typeface="Calibri" panose="020F0502020204030204" charset="0"/>
              </a:rPr>
              <a:t>16</a:t>
            </a:r>
            <a:r>
              <a:rPr lang="zh-CN" altLang="en-US" sz="1350" dirty="0">
                <a:latin typeface="Calibri" panose="020F0502020204030204" charset="0"/>
              </a:rPr>
              <a:t>位</a:t>
            </a:r>
            <a:r>
              <a:rPr lang="en-US" sz="1350" dirty="0">
                <a:latin typeface="Calibri" panose="020F0502020204030204" charset="0"/>
              </a:rPr>
              <a:t> -</a:t>
            </a:r>
            <a:r>
              <a:rPr lang="zh-CN" altLang="en-US" sz="1350" dirty="0">
                <a:latin typeface="Calibri" panose="020F0502020204030204" charset="0"/>
              </a:rPr>
              <a:t>寄存器</a:t>
            </a:r>
            <a:endParaRPr lang="en-US" sz="1350" dirty="0">
              <a:latin typeface="Calibri" panose="020F0502020204030204" charset="0"/>
            </a:endParaRPr>
          </a:p>
          <a:p>
            <a:pPr algn="ctr"/>
            <a:r>
              <a:rPr lang="en-US" sz="1350" dirty="0">
                <a:latin typeface="Calibri" panose="020F0502020204030204" charset="0"/>
              </a:rPr>
              <a:t>(</a:t>
            </a:r>
            <a:r>
              <a:rPr lang="zh-CN" altLang="en-US" sz="1350" dirty="0">
                <a:latin typeface="Calibri" panose="020F0502020204030204" charset="0"/>
              </a:rPr>
              <a:t>向后兼容</a:t>
            </a:r>
            <a:r>
              <a:rPr lang="en-US" sz="1350" dirty="0">
                <a:latin typeface="Calibri" panose="020F0502020204030204" charset="0"/>
              </a:rPr>
              <a:t>)</a:t>
            </a:r>
          </a:p>
        </p:txBody>
      </p:sp>
      <p:sp>
        <p:nvSpPr>
          <p:cNvPr id="75" name="AutoShape 7"/>
          <p:cNvSpPr/>
          <p:nvPr/>
        </p:nvSpPr>
        <p:spPr bwMode="auto">
          <a:xfrm rot="10800000">
            <a:off x="411480" y="1857375"/>
            <a:ext cx="209550" cy="2532233"/>
          </a:xfrm>
          <a:prstGeom prst="rightBrace">
            <a:avLst>
              <a:gd name="adj1" fmla="val 25000"/>
              <a:gd name="adj2" fmla="val 50000"/>
            </a:avLst>
          </a:prstGeom>
          <a:noFill/>
          <a:ln w="25400">
            <a:solidFill>
              <a:schemeClr val="tx1"/>
            </a:solidFill>
            <a:round/>
          </a:ln>
          <a:effectLst/>
        </p:spPr>
        <p:txBody>
          <a:bodyPr wrap="none" anchor="ctr"/>
          <a:lstStyle/>
          <a:p>
            <a:endParaRPr lang="en-US" sz="1350" dirty="0">
              <a:latin typeface="Calibri" panose="020F0502020204030204" charset="0"/>
            </a:endParaRPr>
          </a:p>
        </p:txBody>
      </p:sp>
      <p:sp>
        <p:nvSpPr>
          <p:cNvPr id="78" name="TextBox 77"/>
          <p:cNvSpPr txBox="1"/>
          <p:nvPr/>
        </p:nvSpPr>
        <p:spPr>
          <a:xfrm>
            <a:off x="5392049" y="2338829"/>
            <a:ext cx="849630" cy="252730"/>
          </a:xfrm>
          <a:prstGeom prst="rect">
            <a:avLst/>
          </a:prstGeom>
          <a:noFill/>
        </p:spPr>
        <p:txBody>
          <a:bodyPr wrap="none" rtlCol="0">
            <a:spAutoFit/>
          </a:bodyPr>
          <a:lstStyle/>
          <a:p>
            <a:r>
              <a:rPr lang="zh-CN" altLang="en-US" sz="1050" i="1" dirty="0">
                <a:solidFill>
                  <a:schemeClr val="bg1">
                    <a:lumMod val="50000"/>
                  </a:schemeClr>
                </a:solidFill>
                <a:latin typeface="Courier New" panose="02070309020205020404" charset="0"/>
                <a:cs typeface="Courier New" panose="02070309020205020404" charset="0"/>
              </a:rPr>
              <a:t>计数寄存器</a:t>
            </a:r>
          </a:p>
        </p:txBody>
      </p:sp>
      <p:sp>
        <p:nvSpPr>
          <p:cNvPr id="79" name="TextBox 78"/>
          <p:cNvSpPr txBox="1"/>
          <p:nvPr/>
        </p:nvSpPr>
        <p:spPr>
          <a:xfrm>
            <a:off x="5392049" y="2763222"/>
            <a:ext cx="849630" cy="252730"/>
          </a:xfrm>
          <a:prstGeom prst="rect">
            <a:avLst/>
          </a:prstGeom>
          <a:noFill/>
        </p:spPr>
        <p:txBody>
          <a:bodyPr wrap="none" rtlCol="0">
            <a:spAutoFit/>
          </a:bodyPr>
          <a:lstStyle/>
          <a:p>
            <a:r>
              <a:rPr lang="zh-CN" altLang="en-US" sz="1050" i="1" dirty="0">
                <a:solidFill>
                  <a:schemeClr val="bg1">
                    <a:lumMod val="50000"/>
                  </a:schemeClr>
                </a:solidFill>
                <a:latin typeface="Courier New" panose="02070309020205020404" charset="0"/>
                <a:cs typeface="Courier New" panose="02070309020205020404" charset="0"/>
              </a:rPr>
              <a:t>数据寄存器</a:t>
            </a:r>
          </a:p>
        </p:txBody>
      </p:sp>
      <p:sp>
        <p:nvSpPr>
          <p:cNvPr id="80" name="TextBox 79"/>
          <p:cNvSpPr txBox="1"/>
          <p:nvPr/>
        </p:nvSpPr>
        <p:spPr>
          <a:xfrm>
            <a:off x="5392049" y="3206089"/>
            <a:ext cx="849630" cy="252730"/>
          </a:xfrm>
          <a:prstGeom prst="rect">
            <a:avLst/>
          </a:prstGeom>
          <a:noFill/>
        </p:spPr>
        <p:txBody>
          <a:bodyPr wrap="none" rtlCol="0">
            <a:spAutoFit/>
          </a:bodyPr>
          <a:lstStyle/>
          <a:p>
            <a:r>
              <a:rPr lang="zh-CN" altLang="en-US" sz="1050" i="1" dirty="0">
                <a:solidFill>
                  <a:schemeClr val="bg1">
                    <a:lumMod val="50000"/>
                  </a:schemeClr>
                </a:solidFill>
                <a:latin typeface="Courier New" panose="02070309020205020404" charset="0"/>
                <a:cs typeface="Courier New" panose="02070309020205020404" charset="0"/>
              </a:rPr>
              <a:t>基址寄存器</a:t>
            </a:r>
          </a:p>
        </p:txBody>
      </p:sp>
      <p:sp>
        <p:nvSpPr>
          <p:cNvPr id="81" name="TextBox 80"/>
          <p:cNvSpPr txBox="1"/>
          <p:nvPr/>
        </p:nvSpPr>
        <p:spPr>
          <a:xfrm>
            <a:off x="5392049" y="3577377"/>
            <a:ext cx="982980" cy="252730"/>
          </a:xfrm>
          <a:prstGeom prst="rect">
            <a:avLst/>
          </a:prstGeom>
          <a:noFill/>
        </p:spPr>
        <p:txBody>
          <a:bodyPr wrap="none" rtlCol="0">
            <a:spAutoFit/>
          </a:bodyPr>
          <a:lstStyle/>
          <a:p>
            <a:r>
              <a:rPr lang="zh-CN" altLang="en-US" sz="1050" i="1" dirty="0">
                <a:solidFill>
                  <a:schemeClr val="bg1">
                    <a:lumMod val="50000"/>
                  </a:schemeClr>
                </a:solidFill>
                <a:latin typeface="Courier New" panose="02070309020205020404" charset="0"/>
                <a:cs typeface="Courier New" panose="02070309020205020404" charset="0"/>
              </a:rPr>
              <a:t>源变址寄存器</a:t>
            </a:r>
          </a:p>
        </p:txBody>
      </p:sp>
      <p:sp>
        <p:nvSpPr>
          <p:cNvPr id="82" name="TextBox 81"/>
          <p:cNvSpPr txBox="1"/>
          <p:nvPr/>
        </p:nvSpPr>
        <p:spPr>
          <a:xfrm>
            <a:off x="5392049" y="4010736"/>
            <a:ext cx="1116330" cy="252730"/>
          </a:xfrm>
          <a:prstGeom prst="rect">
            <a:avLst/>
          </a:prstGeom>
          <a:noFill/>
        </p:spPr>
        <p:txBody>
          <a:bodyPr wrap="none" rtlCol="0">
            <a:spAutoFit/>
          </a:bodyPr>
          <a:lstStyle/>
          <a:p>
            <a:r>
              <a:rPr lang="zh-CN" altLang="en-US" sz="1050" i="1" dirty="0">
                <a:solidFill>
                  <a:schemeClr val="bg1">
                    <a:lumMod val="50000"/>
                  </a:schemeClr>
                </a:solidFill>
                <a:latin typeface="Courier New" panose="02070309020205020404" charset="0"/>
                <a:cs typeface="Courier New" panose="02070309020205020404" charset="0"/>
              </a:rPr>
              <a:t>目标变址寄存器</a:t>
            </a:r>
          </a:p>
        </p:txBody>
      </p:sp>
      <p:sp>
        <p:nvSpPr>
          <p:cNvPr id="83" name="TextBox 82"/>
          <p:cNvSpPr txBox="1"/>
          <p:nvPr/>
        </p:nvSpPr>
        <p:spPr>
          <a:xfrm>
            <a:off x="5392049" y="4474678"/>
            <a:ext cx="868680" cy="299085"/>
          </a:xfrm>
          <a:prstGeom prst="rect">
            <a:avLst/>
          </a:prstGeom>
          <a:noFill/>
        </p:spPr>
        <p:txBody>
          <a:bodyPr wrap="none" rtlCol="0">
            <a:spAutoFit/>
          </a:bodyPr>
          <a:lstStyle/>
          <a:p>
            <a:r>
              <a:rPr lang="zh-CN" altLang="en-US" sz="1350" i="1" dirty="0">
                <a:latin typeface="Courier New" panose="02070309020205020404" charset="0"/>
                <a:cs typeface="Courier New" panose="02070309020205020404" charset="0"/>
              </a:rPr>
              <a:t>栈顶指针</a:t>
            </a:r>
          </a:p>
        </p:txBody>
      </p:sp>
      <p:sp>
        <p:nvSpPr>
          <p:cNvPr id="84" name="TextBox 83"/>
          <p:cNvSpPr txBox="1"/>
          <p:nvPr/>
        </p:nvSpPr>
        <p:spPr>
          <a:xfrm>
            <a:off x="5392049" y="4922406"/>
            <a:ext cx="868680" cy="299085"/>
          </a:xfrm>
          <a:prstGeom prst="rect">
            <a:avLst/>
          </a:prstGeom>
          <a:noFill/>
        </p:spPr>
        <p:txBody>
          <a:bodyPr wrap="none" rtlCol="0">
            <a:spAutoFit/>
          </a:bodyPr>
          <a:lstStyle/>
          <a:p>
            <a:r>
              <a:rPr lang="zh-CN" altLang="en-US" sz="1350" i="1" dirty="0">
                <a:latin typeface="Courier New" panose="02070309020205020404" charset="0"/>
                <a:cs typeface="Courier New" panose="02070309020205020404" charset="0"/>
              </a:rPr>
              <a:t>栈底指针</a:t>
            </a:r>
          </a:p>
        </p:txBody>
      </p:sp>
      <p:sp>
        <p:nvSpPr>
          <p:cNvPr id="14" name="TextBox 77"/>
          <p:cNvSpPr txBox="1"/>
          <p:nvPr/>
        </p:nvSpPr>
        <p:spPr>
          <a:xfrm>
            <a:off x="5430149" y="1908299"/>
            <a:ext cx="582930" cy="252730"/>
          </a:xfrm>
          <a:prstGeom prst="rect">
            <a:avLst/>
          </a:prstGeom>
          <a:noFill/>
        </p:spPr>
        <p:txBody>
          <a:bodyPr wrap="none" rtlCol="0">
            <a:spAutoFit/>
          </a:bodyPr>
          <a:lstStyle/>
          <a:p>
            <a:r>
              <a:rPr lang="zh-CN" altLang="en-US" sz="1050" i="1" dirty="0">
                <a:solidFill>
                  <a:schemeClr val="bg1">
                    <a:lumMod val="50000"/>
                  </a:schemeClr>
                </a:solidFill>
                <a:latin typeface="Courier New" panose="02070309020205020404" charset="0"/>
                <a:cs typeface="Courier New" panose="02070309020205020404" charset="0"/>
              </a:rPr>
              <a:t>累加器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73"/>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74"/>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7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7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0"/>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8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82"/>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8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84"/>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bldLvl="0" animBg="1"/>
      <p:bldP spid="36" grpId="0" bldLvl="0" animBg="1"/>
      <p:bldP spid="39" grpId="0" bldLvl="0" animBg="1"/>
      <p:bldP spid="42" grpId="0" bldLvl="0" animBg="1"/>
      <p:bldP spid="53" grpId="0"/>
      <p:bldP spid="54" grpId="0"/>
      <p:bldP spid="55" grpId="0"/>
      <p:bldP spid="56" grpId="0"/>
      <p:bldP spid="57" grpId="0"/>
      <p:bldP spid="58" grpId="0"/>
      <p:bldP spid="59" grpId="0"/>
      <p:bldP spid="60" grpId="0"/>
      <p:bldP spid="61" grpId="0"/>
      <p:bldP spid="62" grpId="0"/>
      <p:bldP spid="63" grpId="0"/>
      <p:bldP spid="64" grpId="0"/>
      <p:bldP spid="69" grpId="0"/>
      <p:bldP spid="70" grpId="0"/>
      <p:bldP spid="71" grpId="0"/>
      <p:bldP spid="72" grpId="0"/>
      <p:bldP spid="73" grpId="0" bldLvl="0" animBg="1"/>
      <p:bldP spid="74" grpId="0"/>
      <p:bldP spid="78" grpId="0"/>
      <p:bldP spid="79" grpId="0"/>
      <p:bldP spid="80" grpId="0"/>
      <p:bldP spid="81" grpId="0"/>
      <p:bldP spid="82" grpId="0"/>
      <p:bldP spid="83" grpId="0"/>
      <p:bldP spid="84" grpId="0"/>
      <p:bldP spid="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136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865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pic>
        <p:nvPicPr>
          <p:cNvPr id="752644" name="Picture 4"/>
          <p:cNvPicPr>
            <a:picLocks noChangeAspect="1" noChangeArrowheads="1"/>
          </p:cNvPicPr>
          <p:nvPr/>
        </p:nvPicPr>
        <p:blipFill>
          <a:blip r:embed="rId2"/>
          <a:srcRect/>
          <a:stretch>
            <a:fillRect/>
          </a:stretch>
        </p:blipFill>
        <p:spPr bwMode="auto">
          <a:xfrm>
            <a:off x="603885" y="2348230"/>
            <a:ext cx="6476365" cy="3560445"/>
          </a:xfrm>
          <a:prstGeom prst="rect">
            <a:avLst/>
          </a:prstGeom>
          <a:solidFill>
            <a:srgbClr val="FF9999"/>
          </a:solidFill>
        </p:spPr>
      </p:pic>
      <p:sp>
        <p:nvSpPr>
          <p:cNvPr id="2" name="矩形 1"/>
          <p:cNvSpPr/>
          <p:nvPr/>
        </p:nvSpPr>
        <p:spPr>
          <a:xfrm>
            <a:off x="603250" y="2348230"/>
            <a:ext cx="3906520" cy="3560445"/>
          </a:xfrm>
          <a:prstGeom prst="rect">
            <a:avLst/>
          </a:prstGeom>
          <a:solidFill>
            <a:schemeClr val="bg1">
              <a:lumMod val="75000"/>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下箭头标注 2"/>
          <p:cNvSpPr/>
          <p:nvPr/>
        </p:nvSpPr>
        <p:spPr>
          <a:xfrm>
            <a:off x="1665605" y="594995"/>
            <a:ext cx="4751070" cy="1455420"/>
          </a:xfrm>
          <a:prstGeom prst="downArrowCallout">
            <a:avLst/>
          </a:prstGeom>
          <a:solidFill>
            <a:srgbClr val="F6F5B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altLang="zh-CN">
                <a:solidFill>
                  <a:schemeClr val="tx1"/>
                </a:solidFill>
              </a:rPr>
              <a:t> </a:t>
            </a:r>
            <a:r>
              <a:rPr lang="en-US" altLang="zh-CN" b="1">
                <a:solidFill>
                  <a:schemeClr val="tx1"/>
                </a:solidFill>
              </a:rPr>
              <a:t>  </a:t>
            </a:r>
            <a:r>
              <a:rPr lang="en-US" altLang="zh-CN" b="1">
                <a:solidFill>
                  <a:schemeClr val="bg1">
                    <a:lumMod val="50000"/>
                  </a:schemeClr>
                </a:solidFill>
              </a:rPr>
              <a:t>  </a:t>
            </a:r>
            <a:r>
              <a:rPr lang="zh-CN" altLang="en-US" b="1">
                <a:solidFill>
                  <a:schemeClr val="tx1"/>
                </a:solidFill>
              </a:rPr>
              <a:t>反映了体系结构发展的轨迹，字长不断扩充，指令保持兼容。ST（0）~ ST（7）是80位，MM0 ~MM7使用其低64位。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wipe(down)">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463802" y="273157"/>
            <a:ext cx="4662170"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t>历史：IA-32的标志寄存器</a:t>
            </a:r>
          </a:p>
        </p:txBody>
      </p:sp>
      <p:sp>
        <p:nvSpPr>
          <p:cNvPr id="5" name="椭圆 4"/>
          <p:cNvSpPr/>
          <p:nvPr/>
        </p:nvSpPr>
        <p:spPr>
          <a:xfrm>
            <a:off x="3542824" y="3978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791426" y="5992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9155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660900" y="915670"/>
            <a:ext cx="4483100" cy="76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754691" name="Rectangle 3"/>
          <p:cNvSpPr>
            <a:spLocks noGrp="1" noChangeArrowheads="1"/>
          </p:cNvSpPr>
          <p:nvPr/>
        </p:nvSpPr>
        <p:spPr>
          <a:xfrm>
            <a:off x="161925" y="3181350"/>
            <a:ext cx="8686800" cy="363156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a:lnSpc>
                <a:spcPct val="105000"/>
              </a:lnSpc>
              <a:spcBef>
                <a:spcPct val="40000"/>
              </a:spcBef>
            </a:pPr>
            <a:r>
              <a:rPr lang="en-US" altLang="zh-CN" sz="2200">
                <a:latin typeface="微软雅黑" panose="020B0503020204020204" charset="-122"/>
                <a:ea typeface="微软雅黑" panose="020B0503020204020204" charset="-122"/>
              </a:rPr>
              <a:t>6</a:t>
            </a:r>
            <a:r>
              <a:rPr lang="zh-CN" altLang="en-US" sz="2200">
                <a:latin typeface="微软雅黑" panose="020B0503020204020204" charset="-122"/>
                <a:ea typeface="微软雅黑" panose="020B0503020204020204" charset="-122"/>
              </a:rPr>
              <a:t>个条件标志</a:t>
            </a:r>
          </a:p>
          <a:p>
            <a:pPr lvl="1">
              <a:lnSpc>
                <a:spcPct val="105000"/>
              </a:lnSpc>
              <a:spcBef>
                <a:spcPct val="40000"/>
              </a:spcBef>
            </a:pPr>
            <a:r>
              <a:rPr lang="en-US" altLang="zh-CN">
                <a:solidFill>
                  <a:srgbClr val="ED7D31"/>
                </a:solidFill>
                <a:latin typeface="微软雅黑" panose="020B0503020204020204" charset="-122"/>
                <a:ea typeface="微软雅黑" panose="020B0503020204020204" charset="-122"/>
              </a:rPr>
              <a:t>OF</a:t>
            </a:r>
            <a:r>
              <a:rPr lang="zh-CN" altLang="en-US">
                <a:solidFill>
                  <a:srgbClr val="ED7D31"/>
                </a:solidFill>
                <a:latin typeface="微软雅黑" panose="020B0503020204020204" charset="-122"/>
                <a:ea typeface="微软雅黑" panose="020B0503020204020204" charset="-122"/>
              </a:rPr>
              <a:t>、</a:t>
            </a:r>
            <a:r>
              <a:rPr lang="en-US" altLang="zh-CN">
                <a:solidFill>
                  <a:srgbClr val="ED7D31"/>
                </a:solidFill>
                <a:latin typeface="微软雅黑" panose="020B0503020204020204" charset="-122"/>
                <a:ea typeface="微软雅黑" panose="020B0503020204020204" charset="-122"/>
              </a:rPr>
              <a:t>SF</a:t>
            </a:r>
            <a:r>
              <a:rPr lang="zh-CN" altLang="en-US">
                <a:solidFill>
                  <a:srgbClr val="ED7D31"/>
                </a:solidFill>
                <a:latin typeface="微软雅黑" panose="020B0503020204020204" charset="-122"/>
                <a:ea typeface="微软雅黑" panose="020B0503020204020204" charset="-122"/>
              </a:rPr>
              <a:t>、</a:t>
            </a:r>
            <a:r>
              <a:rPr lang="en-US" altLang="zh-CN">
                <a:solidFill>
                  <a:srgbClr val="ED7D31"/>
                </a:solidFill>
                <a:latin typeface="微软雅黑" panose="020B0503020204020204" charset="-122"/>
                <a:ea typeface="微软雅黑" panose="020B0503020204020204" charset="-122"/>
              </a:rPr>
              <a:t>ZF</a:t>
            </a:r>
            <a:r>
              <a:rPr lang="zh-CN" altLang="en-US">
                <a:solidFill>
                  <a:srgbClr val="ED7D31"/>
                </a:solidFill>
                <a:latin typeface="微软雅黑" panose="020B0503020204020204" charset="-122"/>
                <a:ea typeface="微软雅黑" panose="020B0503020204020204" charset="-122"/>
              </a:rPr>
              <a:t>、</a:t>
            </a:r>
            <a:r>
              <a:rPr lang="en-US" altLang="zh-CN">
                <a:solidFill>
                  <a:srgbClr val="ED7D31"/>
                </a:solidFill>
                <a:latin typeface="微软雅黑" panose="020B0503020204020204" charset="-122"/>
                <a:ea typeface="微软雅黑" panose="020B0503020204020204" charset="-122"/>
              </a:rPr>
              <a:t>CF</a:t>
            </a:r>
            <a:r>
              <a:rPr lang="zh-CN" altLang="en-US">
                <a:solidFill>
                  <a:schemeClr val="tx1"/>
                </a:solidFill>
                <a:latin typeface="微软雅黑" panose="020B0503020204020204" charset="-122"/>
                <a:ea typeface="微软雅黑" panose="020B0503020204020204" charset="-122"/>
              </a:rPr>
              <a:t>各是什么标志（条件码）？</a:t>
            </a:r>
          </a:p>
          <a:p>
            <a:pPr lvl="1">
              <a:lnSpc>
                <a:spcPct val="105000"/>
              </a:lnSpc>
              <a:spcBef>
                <a:spcPct val="40000"/>
              </a:spcBef>
            </a:pPr>
            <a:r>
              <a:rPr lang="en-US" altLang="zh-CN">
                <a:solidFill>
                  <a:schemeClr val="tx1"/>
                </a:solidFill>
                <a:latin typeface="微软雅黑" panose="020B0503020204020204" charset="-122"/>
                <a:ea typeface="微软雅黑" panose="020B0503020204020204" charset="-122"/>
              </a:rPr>
              <a:t>AF</a:t>
            </a:r>
            <a:r>
              <a:rPr lang="zh-CN" altLang="en-US">
                <a:solidFill>
                  <a:schemeClr val="tx1"/>
                </a:solidFill>
                <a:latin typeface="微软雅黑" panose="020B0503020204020204" charset="-122"/>
                <a:ea typeface="微软雅黑" panose="020B0503020204020204" charset="-122"/>
              </a:rPr>
              <a:t>：辅助进位标志（</a:t>
            </a:r>
            <a:r>
              <a:rPr lang="en-US" altLang="zh-CN">
                <a:solidFill>
                  <a:schemeClr val="tx1"/>
                </a:solidFill>
                <a:latin typeface="微软雅黑" panose="020B0503020204020204" charset="-122"/>
                <a:ea typeface="微软雅黑" panose="020B0503020204020204" charset="-122"/>
              </a:rPr>
              <a:t>BCD</a:t>
            </a:r>
            <a:r>
              <a:rPr lang="zh-CN" altLang="en-US">
                <a:solidFill>
                  <a:schemeClr val="tx1"/>
                </a:solidFill>
                <a:latin typeface="微软雅黑" panose="020B0503020204020204" charset="-122"/>
                <a:ea typeface="微软雅黑" panose="020B0503020204020204" charset="-122"/>
              </a:rPr>
              <a:t>码运算时才有意义）</a:t>
            </a:r>
          </a:p>
          <a:p>
            <a:pPr lvl="1">
              <a:lnSpc>
                <a:spcPct val="105000"/>
              </a:lnSpc>
              <a:spcBef>
                <a:spcPct val="40000"/>
              </a:spcBef>
            </a:pPr>
            <a:r>
              <a:rPr lang="en-US" altLang="zh-CN">
                <a:solidFill>
                  <a:schemeClr val="tx1"/>
                </a:solidFill>
                <a:latin typeface="微软雅黑" panose="020B0503020204020204" charset="-122"/>
                <a:ea typeface="微软雅黑" panose="020B0503020204020204" charset="-122"/>
              </a:rPr>
              <a:t>PF</a:t>
            </a:r>
            <a:r>
              <a:rPr lang="zh-CN" altLang="en-US">
                <a:solidFill>
                  <a:schemeClr val="tx1"/>
                </a:solidFill>
                <a:latin typeface="微软雅黑" panose="020B0503020204020204" charset="-122"/>
                <a:ea typeface="微软雅黑" panose="020B0503020204020204" charset="-122"/>
              </a:rPr>
              <a:t>：奇偶标志</a:t>
            </a:r>
          </a:p>
          <a:p>
            <a:pPr>
              <a:lnSpc>
                <a:spcPct val="105000"/>
              </a:lnSpc>
              <a:spcBef>
                <a:spcPct val="40000"/>
              </a:spcBef>
            </a:pPr>
            <a:r>
              <a:rPr lang="en-US" altLang="zh-CN" sz="2200">
                <a:latin typeface="微软雅黑" panose="020B0503020204020204" charset="-122"/>
                <a:ea typeface="微软雅黑" panose="020B0503020204020204" charset="-122"/>
              </a:rPr>
              <a:t>3</a:t>
            </a:r>
            <a:r>
              <a:rPr lang="zh-CN" altLang="en-US" sz="2200">
                <a:latin typeface="微软雅黑" panose="020B0503020204020204" charset="-122"/>
                <a:ea typeface="微软雅黑" panose="020B0503020204020204" charset="-122"/>
              </a:rPr>
              <a:t>个控制标志</a:t>
            </a:r>
          </a:p>
          <a:p>
            <a:pPr lvl="1">
              <a:lnSpc>
                <a:spcPct val="105000"/>
              </a:lnSpc>
              <a:spcBef>
                <a:spcPct val="40000"/>
              </a:spcBef>
            </a:pPr>
            <a:r>
              <a:rPr lang="en-US" altLang="zh-CN">
                <a:solidFill>
                  <a:schemeClr val="tx1"/>
                </a:solidFill>
                <a:latin typeface="微软雅黑" panose="020B0503020204020204" charset="-122"/>
                <a:ea typeface="微软雅黑" panose="020B0503020204020204" charset="-122"/>
              </a:rPr>
              <a:t>DF</a:t>
            </a:r>
            <a:r>
              <a:rPr lang="zh-CN" altLang="en-US">
                <a:solidFill>
                  <a:schemeClr val="tx1"/>
                </a:solidFill>
                <a:latin typeface="微软雅黑" panose="020B0503020204020204" charset="-122"/>
                <a:ea typeface="微软雅黑" panose="020B0503020204020204" charset="-122"/>
              </a:rPr>
              <a:t>（</a:t>
            </a:r>
            <a:r>
              <a:rPr lang="en-US" altLang="zh-CN">
                <a:solidFill>
                  <a:schemeClr val="tx1"/>
                </a:solidFill>
                <a:latin typeface="微软雅黑" panose="020B0503020204020204" charset="-122"/>
                <a:ea typeface="微软雅黑" panose="020B0503020204020204" charset="-122"/>
              </a:rPr>
              <a:t>Direction Flag</a:t>
            </a:r>
            <a:r>
              <a:rPr lang="zh-CN" altLang="en-US">
                <a:solidFill>
                  <a:schemeClr val="tx1"/>
                </a:solidFill>
                <a:latin typeface="微软雅黑" panose="020B0503020204020204" charset="-122"/>
                <a:ea typeface="微软雅黑" panose="020B0503020204020204" charset="-122"/>
              </a:rPr>
              <a:t>）：方向标志（自动变址方向是增还是减）</a:t>
            </a:r>
          </a:p>
          <a:p>
            <a:pPr lvl="1">
              <a:lnSpc>
                <a:spcPct val="105000"/>
              </a:lnSpc>
              <a:spcBef>
                <a:spcPct val="40000"/>
              </a:spcBef>
            </a:pPr>
            <a:r>
              <a:rPr lang="en-US" altLang="zh-CN">
                <a:solidFill>
                  <a:schemeClr val="tx1"/>
                </a:solidFill>
                <a:latin typeface="微软雅黑" panose="020B0503020204020204" charset="-122"/>
                <a:ea typeface="微软雅黑" panose="020B0503020204020204" charset="-122"/>
              </a:rPr>
              <a:t>IF</a:t>
            </a:r>
            <a:r>
              <a:rPr lang="zh-CN" altLang="en-US">
                <a:solidFill>
                  <a:schemeClr val="tx1"/>
                </a:solidFill>
                <a:latin typeface="微软雅黑" panose="020B0503020204020204" charset="-122"/>
                <a:ea typeface="微软雅黑" panose="020B0503020204020204" charset="-122"/>
              </a:rPr>
              <a:t>（</a:t>
            </a:r>
            <a:r>
              <a:rPr lang="en-US" altLang="zh-CN">
                <a:solidFill>
                  <a:schemeClr val="tx1"/>
                </a:solidFill>
                <a:latin typeface="微软雅黑" panose="020B0503020204020204" charset="-122"/>
                <a:ea typeface="微软雅黑" panose="020B0503020204020204" charset="-122"/>
              </a:rPr>
              <a:t>Interrupt Flag</a:t>
            </a:r>
            <a:r>
              <a:rPr lang="zh-CN" altLang="en-US">
                <a:solidFill>
                  <a:schemeClr val="tx1"/>
                </a:solidFill>
                <a:latin typeface="微软雅黑" panose="020B0503020204020204" charset="-122"/>
                <a:ea typeface="微软雅黑" panose="020B0503020204020204" charset="-122"/>
              </a:rPr>
              <a:t>）：中断允许标志 （仅对外部可屏蔽中断有用）</a:t>
            </a:r>
          </a:p>
          <a:p>
            <a:pPr lvl="1">
              <a:lnSpc>
                <a:spcPct val="105000"/>
              </a:lnSpc>
              <a:spcBef>
                <a:spcPct val="40000"/>
              </a:spcBef>
            </a:pPr>
            <a:r>
              <a:rPr lang="en-US" altLang="zh-CN">
                <a:solidFill>
                  <a:schemeClr val="tx1"/>
                </a:solidFill>
                <a:latin typeface="微软雅黑" panose="020B0503020204020204" charset="-122"/>
                <a:ea typeface="微软雅黑" panose="020B0503020204020204" charset="-122"/>
              </a:rPr>
              <a:t>TF</a:t>
            </a:r>
            <a:r>
              <a:rPr lang="zh-CN" altLang="en-US">
                <a:solidFill>
                  <a:schemeClr val="tx1"/>
                </a:solidFill>
                <a:latin typeface="微软雅黑" panose="020B0503020204020204" charset="-122"/>
                <a:ea typeface="微软雅黑" panose="020B0503020204020204" charset="-122"/>
              </a:rPr>
              <a:t>（</a:t>
            </a:r>
            <a:r>
              <a:rPr lang="en-US" altLang="zh-CN">
                <a:solidFill>
                  <a:schemeClr val="tx1"/>
                </a:solidFill>
                <a:latin typeface="微软雅黑" panose="020B0503020204020204" charset="-122"/>
                <a:ea typeface="微软雅黑" panose="020B0503020204020204" charset="-122"/>
              </a:rPr>
              <a:t>Trap Flag</a:t>
            </a:r>
            <a:r>
              <a:rPr lang="zh-CN" altLang="en-US">
                <a:solidFill>
                  <a:schemeClr val="tx1"/>
                </a:solidFill>
                <a:latin typeface="微软雅黑" panose="020B0503020204020204" charset="-122"/>
                <a:ea typeface="微软雅黑" panose="020B0503020204020204" charset="-122"/>
              </a:rPr>
              <a:t>）：陷阱标志（是否是单步跟踪状态）</a:t>
            </a:r>
          </a:p>
          <a:p>
            <a:pPr marL="0" indent="0">
              <a:lnSpc>
                <a:spcPct val="105000"/>
              </a:lnSpc>
              <a:spcBef>
                <a:spcPct val="40000"/>
              </a:spcBef>
              <a:buNone/>
            </a:pPr>
            <a:endParaRPr lang="en-US" altLang="zh-CN">
              <a:latin typeface="微软雅黑" panose="020B0503020204020204" charset="-122"/>
              <a:ea typeface="微软雅黑" panose="020B0503020204020204" charset="-122"/>
            </a:endParaRPr>
          </a:p>
        </p:txBody>
      </p:sp>
      <p:pic>
        <p:nvPicPr>
          <p:cNvPr id="754692" name="Picture 4"/>
          <p:cNvPicPr>
            <a:picLocks noChangeAspect="1" noChangeArrowheads="1"/>
          </p:cNvPicPr>
          <p:nvPr/>
        </p:nvPicPr>
        <p:blipFill>
          <a:blip r:embed="rId2"/>
          <a:srcRect/>
          <a:stretch>
            <a:fillRect/>
          </a:stretch>
        </p:blipFill>
        <p:spPr bwMode="auto">
          <a:xfrm>
            <a:off x="0" y="1524000"/>
            <a:ext cx="9144000" cy="1349375"/>
          </a:xfrm>
          <a:prstGeom prst="rect">
            <a:avLst/>
          </a:prstGeom>
          <a:noFill/>
        </p:spPr>
      </p:pic>
      <p:grpSp>
        <p:nvGrpSpPr>
          <p:cNvPr id="3" name="Group 5"/>
          <p:cNvGrpSpPr/>
          <p:nvPr/>
        </p:nvGrpSpPr>
        <p:grpSpPr bwMode="auto">
          <a:xfrm>
            <a:off x="5400675" y="2828925"/>
            <a:ext cx="3671888" cy="274638"/>
            <a:chOff x="3419" y="1363"/>
            <a:chExt cx="2313" cy="173"/>
          </a:xfrm>
        </p:grpSpPr>
        <p:sp>
          <p:nvSpPr>
            <p:cNvPr id="754694" name="Line 6"/>
            <p:cNvSpPr>
              <a:spLocks noChangeShapeType="1"/>
            </p:cNvSpPr>
            <p:nvPr/>
          </p:nvSpPr>
          <p:spPr bwMode="auto">
            <a:xfrm flipH="1">
              <a:off x="3419" y="1423"/>
              <a:ext cx="2313" cy="0"/>
            </a:xfrm>
            <a:prstGeom prst="line">
              <a:avLst/>
            </a:prstGeom>
            <a:noFill/>
            <a:ln w="9525">
              <a:solidFill>
                <a:schemeClr val="tx1"/>
              </a:solidFill>
              <a:round/>
              <a:headEnd type="triangle" w="med" len="med"/>
              <a:tailEnd type="triangle" w="med" len="med"/>
            </a:ln>
            <a:effectLst/>
          </p:spPr>
          <p:txBody>
            <a:bodyPr/>
            <a:lstStyle/>
            <a:p>
              <a:endParaRPr lang="zh-CN" altLang="en-US"/>
            </a:p>
          </p:txBody>
        </p:sp>
        <p:sp>
          <p:nvSpPr>
            <p:cNvPr id="754695" name="Text Box 7"/>
            <p:cNvSpPr txBox="1">
              <a:spLocks noChangeArrowheads="1"/>
            </p:cNvSpPr>
            <p:nvPr/>
          </p:nvSpPr>
          <p:spPr bwMode="auto">
            <a:xfrm>
              <a:off x="4496" y="1363"/>
              <a:ext cx="341" cy="173"/>
            </a:xfrm>
            <a:prstGeom prst="rect">
              <a:avLst/>
            </a:prstGeom>
            <a:solidFill>
              <a:schemeClr val="bg1"/>
            </a:solidFill>
            <a:ln w="9525">
              <a:noFill/>
              <a:miter lim="800000"/>
            </a:ln>
            <a:effectLst/>
          </p:spPr>
          <p:txBody>
            <a:bodyPr lIns="0" tIns="0" rIns="0" bIns="0">
              <a:spAutoFit/>
            </a:bodyPr>
            <a:lstStyle/>
            <a:p>
              <a:pPr eaLnBrk="1" hangingPunct="1">
                <a:spcBef>
                  <a:spcPct val="50000"/>
                </a:spcBef>
              </a:pPr>
              <a:r>
                <a:rPr lang="en-US" altLang="zh-CN">
                  <a:latin typeface="Arial" panose="020B0604020202020204" pitchFamily="34" charset="0"/>
                  <a:ea typeface="宋体" panose="02010600030101010101" pitchFamily="2" charset="-122"/>
                </a:rPr>
                <a:t>8086</a:t>
              </a:r>
            </a:p>
          </p:txBody>
        </p:sp>
      </p:grpSp>
      <p:grpSp>
        <p:nvGrpSpPr>
          <p:cNvPr id="6" name="Group 8"/>
          <p:cNvGrpSpPr/>
          <p:nvPr/>
        </p:nvGrpSpPr>
        <p:grpSpPr bwMode="auto">
          <a:xfrm>
            <a:off x="1665288" y="3009900"/>
            <a:ext cx="7407275" cy="274638"/>
            <a:chOff x="3419" y="1363"/>
            <a:chExt cx="2313" cy="211"/>
          </a:xfrm>
        </p:grpSpPr>
        <p:sp>
          <p:nvSpPr>
            <p:cNvPr id="754697" name="Line 9"/>
            <p:cNvSpPr>
              <a:spLocks noChangeShapeType="1"/>
            </p:cNvSpPr>
            <p:nvPr/>
          </p:nvSpPr>
          <p:spPr bwMode="auto">
            <a:xfrm flipH="1">
              <a:off x="3419" y="1423"/>
              <a:ext cx="2313" cy="0"/>
            </a:xfrm>
            <a:prstGeom prst="line">
              <a:avLst/>
            </a:prstGeom>
            <a:noFill/>
            <a:ln w="9525">
              <a:solidFill>
                <a:schemeClr val="tx1"/>
              </a:solidFill>
              <a:round/>
              <a:headEnd type="triangle" w="med" len="med"/>
              <a:tailEnd type="triangle" w="med" len="med"/>
            </a:ln>
            <a:effectLst/>
          </p:spPr>
          <p:txBody>
            <a:bodyPr/>
            <a:lstStyle/>
            <a:p>
              <a:endParaRPr lang="zh-CN" altLang="en-US"/>
            </a:p>
          </p:txBody>
        </p:sp>
        <p:sp>
          <p:nvSpPr>
            <p:cNvPr id="754698" name="Text Box 10"/>
            <p:cNvSpPr txBox="1">
              <a:spLocks noChangeArrowheads="1"/>
            </p:cNvSpPr>
            <p:nvPr/>
          </p:nvSpPr>
          <p:spPr bwMode="auto">
            <a:xfrm>
              <a:off x="4496" y="1363"/>
              <a:ext cx="341" cy="211"/>
            </a:xfrm>
            <a:prstGeom prst="rect">
              <a:avLst/>
            </a:prstGeom>
            <a:solidFill>
              <a:schemeClr val="bg1"/>
            </a:solidFill>
            <a:ln w="9525">
              <a:noFill/>
              <a:miter lim="800000"/>
            </a:ln>
            <a:effectLst/>
          </p:spPr>
          <p:txBody>
            <a:bodyPr lIns="0" tIns="0" rIns="0" bIns="0">
              <a:spAutoFit/>
            </a:bodyPr>
            <a:lstStyle/>
            <a:p>
              <a:pPr eaLnBrk="1" hangingPunct="1">
                <a:spcBef>
                  <a:spcPct val="50000"/>
                </a:spcBef>
              </a:pPr>
              <a:r>
                <a:rPr lang="en-US" altLang="zh-CN">
                  <a:latin typeface="Arial" panose="020B0604020202020204" pitchFamily="34" charset="0"/>
                  <a:ea typeface="宋体" panose="02010600030101010101" pitchFamily="2" charset="-122"/>
                </a:rPr>
                <a:t>80286/386</a:t>
              </a:r>
            </a:p>
          </p:txBody>
        </p:sp>
      </p:grpSp>
      <p:sp>
        <p:nvSpPr>
          <p:cNvPr id="754699" name="Rectangle 11"/>
          <p:cNvSpPr>
            <a:spLocks noChangeArrowheads="1"/>
          </p:cNvSpPr>
          <p:nvPr/>
        </p:nvSpPr>
        <p:spPr bwMode="auto">
          <a:xfrm>
            <a:off x="8802688" y="1524000"/>
            <a:ext cx="341312" cy="1260475"/>
          </a:xfrm>
          <a:prstGeom prst="rect">
            <a:avLst/>
          </a:prstGeom>
          <a:solidFill>
            <a:srgbClr val="FF0000">
              <a:alpha val="28000"/>
            </a:srgbClr>
          </a:solidFill>
          <a:ln w="9525" algn="ctr">
            <a:noFill/>
            <a:miter lim="800000"/>
          </a:ln>
          <a:effectLst/>
        </p:spPr>
        <p:txBody>
          <a:bodyPr wrap="none" anchor="ctr"/>
          <a:lstStyle/>
          <a:p>
            <a:endParaRPr lang="zh-CN" altLang="en-US"/>
          </a:p>
        </p:txBody>
      </p:sp>
      <p:sp>
        <p:nvSpPr>
          <p:cNvPr id="754700" name="Rectangle 12"/>
          <p:cNvSpPr>
            <a:spLocks noChangeArrowheads="1"/>
          </p:cNvSpPr>
          <p:nvPr/>
        </p:nvSpPr>
        <p:spPr bwMode="auto">
          <a:xfrm>
            <a:off x="5472113" y="1524000"/>
            <a:ext cx="341312" cy="1260475"/>
          </a:xfrm>
          <a:prstGeom prst="rect">
            <a:avLst/>
          </a:prstGeom>
          <a:solidFill>
            <a:srgbClr val="FF0000">
              <a:alpha val="28000"/>
            </a:srgbClr>
          </a:solidFill>
          <a:ln w="9525" algn="ctr">
            <a:noFill/>
            <a:miter lim="800000"/>
          </a:ln>
          <a:effectLst/>
        </p:spPr>
        <p:txBody>
          <a:bodyPr wrap="none" anchor="ctr"/>
          <a:lstStyle/>
          <a:p>
            <a:endParaRPr lang="zh-CN" altLang="en-US"/>
          </a:p>
        </p:txBody>
      </p:sp>
      <p:sp>
        <p:nvSpPr>
          <p:cNvPr id="754701" name="Rectangle 13"/>
          <p:cNvSpPr>
            <a:spLocks noChangeArrowheads="1"/>
          </p:cNvSpPr>
          <p:nvPr/>
        </p:nvSpPr>
        <p:spPr bwMode="auto">
          <a:xfrm>
            <a:off x="7002463" y="1524000"/>
            <a:ext cx="341312" cy="1260475"/>
          </a:xfrm>
          <a:prstGeom prst="rect">
            <a:avLst/>
          </a:prstGeom>
          <a:solidFill>
            <a:srgbClr val="FF0000">
              <a:alpha val="28000"/>
            </a:srgbClr>
          </a:solidFill>
          <a:ln w="9525" algn="ctr">
            <a:noFill/>
            <a:miter lim="800000"/>
          </a:ln>
          <a:effectLst/>
        </p:spPr>
        <p:txBody>
          <a:bodyPr wrap="none" anchor="ctr"/>
          <a:lstStyle/>
          <a:p>
            <a:endParaRPr lang="zh-CN" altLang="en-US"/>
          </a:p>
        </p:txBody>
      </p:sp>
      <p:sp>
        <p:nvSpPr>
          <p:cNvPr id="754702" name="Rectangle 14"/>
          <p:cNvSpPr>
            <a:spLocks noChangeArrowheads="1"/>
          </p:cNvSpPr>
          <p:nvPr/>
        </p:nvSpPr>
        <p:spPr bwMode="auto">
          <a:xfrm>
            <a:off x="6705600" y="1524000"/>
            <a:ext cx="341313" cy="1260475"/>
          </a:xfrm>
          <a:prstGeom prst="rect">
            <a:avLst/>
          </a:prstGeom>
          <a:solidFill>
            <a:srgbClr val="FF0000">
              <a:alpha val="28000"/>
            </a:srgbClr>
          </a:solidFill>
          <a:ln w="9525" algn="ctr">
            <a:noFill/>
            <a:miter lim="800000"/>
          </a:ln>
          <a:effectLst/>
        </p:spPr>
        <p:txBody>
          <a:bodyPr wrap="none" anchor="ctr"/>
          <a:lstStyle/>
          <a:p>
            <a:endParaRPr lang="zh-CN" altLang="en-US"/>
          </a:p>
        </p:txBody>
      </p:sp>
      <p:sp>
        <p:nvSpPr>
          <p:cNvPr id="754703" name="Rectangle 15"/>
          <p:cNvSpPr>
            <a:spLocks noChangeArrowheads="1"/>
          </p:cNvSpPr>
          <p:nvPr/>
        </p:nvSpPr>
        <p:spPr bwMode="auto">
          <a:xfrm>
            <a:off x="5786438" y="1524000"/>
            <a:ext cx="341312" cy="1260475"/>
          </a:xfrm>
          <a:prstGeom prst="rect">
            <a:avLst/>
          </a:prstGeom>
          <a:solidFill>
            <a:srgbClr val="7E7E7E">
              <a:alpha val="53000"/>
            </a:srgbClr>
          </a:solidFill>
          <a:ln w="9525" algn="ctr">
            <a:noFill/>
            <a:miter lim="800000"/>
          </a:ln>
          <a:effectLst/>
        </p:spPr>
        <p:txBody>
          <a:bodyPr wrap="none" anchor="ctr"/>
          <a:lstStyle/>
          <a:p>
            <a:endParaRPr lang="zh-CN" altLang="en-US"/>
          </a:p>
        </p:txBody>
      </p:sp>
      <p:sp>
        <p:nvSpPr>
          <p:cNvPr id="754704" name="Rectangle 16"/>
          <p:cNvSpPr>
            <a:spLocks noChangeArrowheads="1"/>
          </p:cNvSpPr>
          <p:nvPr/>
        </p:nvSpPr>
        <p:spPr bwMode="auto">
          <a:xfrm>
            <a:off x="6121400" y="1524000"/>
            <a:ext cx="341313" cy="1260475"/>
          </a:xfrm>
          <a:prstGeom prst="rect">
            <a:avLst/>
          </a:prstGeom>
          <a:solidFill>
            <a:srgbClr val="7E7E7E">
              <a:alpha val="53000"/>
            </a:srgbClr>
          </a:solidFill>
          <a:ln w="9525" algn="ctr">
            <a:noFill/>
            <a:miter lim="800000"/>
          </a:ln>
          <a:effectLst/>
        </p:spPr>
        <p:txBody>
          <a:bodyPr wrap="none" anchor="ctr"/>
          <a:lstStyle/>
          <a:p>
            <a:endParaRPr lang="zh-CN" altLang="en-US"/>
          </a:p>
        </p:txBody>
      </p:sp>
      <p:sp>
        <p:nvSpPr>
          <p:cNvPr id="754705" name="Rectangle 17"/>
          <p:cNvSpPr>
            <a:spLocks noChangeArrowheads="1"/>
          </p:cNvSpPr>
          <p:nvPr/>
        </p:nvSpPr>
        <p:spPr bwMode="auto">
          <a:xfrm>
            <a:off x="6416675" y="1524000"/>
            <a:ext cx="341313" cy="1260475"/>
          </a:xfrm>
          <a:prstGeom prst="rect">
            <a:avLst/>
          </a:prstGeom>
          <a:solidFill>
            <a:srgbClr val="7E7E7E">
              <a:alpha val="53000"/>
            </a:srgbClr>
          </a:solidFill>
          <a:ln w="9525" algn="ctr">
            <a:noFill/>
            <a:miter lim="800000"/>
          </a:ln>
          <a:effec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754700"/>
                                        </p:tgtEl>
                                        <p:attrNameLst>
                                          <p:attrName>style.visibility</p:attrName>
                                        </p:attrNameLst>
                                      </p:cBhvr>
                                      <p:to>
                                        <p:strVal val="visible"/>
                                      </p:to>
                                    </p:set>
                                    <p:animEffect transition="in" filter="blinds(horizontal)">
                                      <p:cBhvr>
                                        <p:cTn id="20" dur="500"/>
                                        <p:tgtEl>
                                          <p:spTgt spid="754700"/>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54702"/>
                                        </p:tgtEl>
                                        <p:attrNameLst>
                                          <p:attrName>style.visibility</p:attrName>
                                        </p:attrNameLst>
                                      </p:cBhvr>
                                      <p:to>
                                        <p:strVal val="visible"/>
                                      </p:to>
                                    </p:set>
                                    <p:animEffect transition="in" filter="blinds(horizontal)">
                                      <p:cBhvr>
                                        <p:cTn id="25" dur="500"/>
                                        <p:tgtEl>
                                          <p:spTgt spid="754702"/>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54701"/>
                                        </p:tgtEl>
                                        <p:attrNameLst>
                                          <p:attrName>style.visibility</p:attrName>
                                        </p:attrNameLst>
                                      </p:cBhvr>
                                      <p:to>
                                        <p:strVal val="visible"/>
                                      </p:to>
                                    </p:set>
                                    <p:animEffect transition="in" filter="blinds(horizontal)">
                                      <p:cBhvr>
                                        <p:cTn id="30" dur="500"/>
                                        <p:tgtEl>
                                          <p:spTgt spid="754701"/>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54699"/>
                                        </p:tgtEl>
                                        <p:attrNameLst>
                                          <p:attrName>style.visibility</p:attrName>
                                        </p:attrNameLst>
                                      </p:cBhvr>
                                      <p:to>
                                        <p:strVal val="visible"/>
                                      </p:to>
                                    </p:set>
                                    <p:animEffect transition="in" filter="blinds(horizontal)">
                                      <p:cBhvr>
                                        <p:cTn id="35" dur="500"/>
                                        <p:tgtEl>
                                          <p:spTgt spid="75469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754703"/>
                                        </p:tgtEl>
                                        <p:attrNameLst>
                                          <p:attrName>style.visibility</p:attrName>
                                        </p:attrNameLst>
                                      </p:cBhvr>
                                      <p:to>
                                        <p:strVal val="visible"/>
                                      </p:to>
                                    </p:set>
                                    <p:animEffect transition="in" filter="blinds(horizontal)">
                                      <p:cBhvr>
                                        <p:cTn id="40" dur="500"/>
                                        <p:tgtEl>
                                          <p:spTgt spid="754703"/>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754704"/>
                                        </p:tgtEl>
                                        <p:attrNameLst>
                                          <p:attrName>style.visibility</p:attrName>
                                        </p:attrNameLst>
                                      </p:cBhvr>
                                      <p:to>
                                        <p:strVal val="visible"/>
                                      </p:to>
                                    </p:set>
                                    <p:animEffect transition="in" filter="blinds(horizontal)">
                                      <p:cBhvr>
                                        <p:cTn id="45" dur="500"/>
                                        <p:tgtEl>
                                          <p:spTgt spid="754704"/>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754705"/>
                                        </p:tgtEl>
                                        <p:attrNameLst>
                                          <p:attrName>style.visibility</p:attrName>
                                        </p:attrNameLst>
                                      </p:cBhvr>
                                      <p:to>
                                        <p:strVal val="visible"/>
                                      </p:to>
                                    </p:set>
                                    <p:animEffect transition="in" filter="blinds(horizontal)">
                                      <p:cBhvr>
                                        <p:cTn id="50" dur="500"/>
                                        <p:tgtEl>
                                          <p:spTgt spid="7547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P spid="754699" grpId="0" bldLvl="0" animBg="1"/>
      <p:bldP spid="754700" grpId="0" bldLvl="0" animBg="1"/>
      <p:bldP spid="754701" grpId="0" bldLvl="0" animBg="1"/>
      <p:bldP spid="754702" grpId="0" bldLvl="0" animBg="1"/>
      <p:bldP spid="754703" grpId="0" bldLvl="0" animBg="1"/>
      <p:bldP spid="754704" grpId="0" bldLvl="0" animBg="1"/>
      <p:bldP spid="754705"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3" name="Rectangle 3"/>
          <p:cNvSpPr>
            <a:spLocks noGrp="1" noChangeArrowheads="1"/>
          </p:cNvSpPr>
          <p:nvPr>
            <p:ph type="body" idx="4294967295"/>
          </p:nvPr>
        </p:nvSpPr>
        <p:spPr>
          <a:xfrm>
            <a:off x="809625" y="544830"/>
            <a:ext cx="8334375" cy="6021070"/>
          </a:xfrm>
        </p:spPr>
        <p:txBody>
          <a:bodyPr/>
          <a:lstStyle/>
          <a:p>
            <a:pPr marL="457200" indent="-457200">
              <a:lnSpc>
                <a:spcPct val="110000"/>
              </a:lnSpc>
              <a:buFontTx/>
              <a:buNone/>
            </a:pPr>
            <a:endParaRPr lang="zh-CN" altLang="en-US" sz="2000" dirty="0">
              <a:latin typeface="微软雅黑" panose="020B0503020204020204" charset="-122"/>
              <a:ea typeface="微软雅黑" panose="020B0503020204020204" charset="-122"/>
            </a:endParaRPr>
          </a:p>
          <a:p>
            <a:pPr lvl="1">
              <a:lnSpc>
                <a:spcPct val="110000"/>
              </a:lnSpc>
              <a:buFont typeface="Wingdings" panose="05000000000000000000" charset="0"/>
              <a:buChar char=""/>
            </a:pPr>
            <a:r>
              <a:rPr lang="zh-CN" altLang="en-US" dirty="0">
                <a:latin typeface="微软雅黑" panose="020B0503020204020204" charset="-122"/>
                <a:ea typeface="微软雅黑" panose="020B0503020204020204" charset="-122"/>
              </a:rPr>
              <a:t>通用数据传送指令</a:t>
            </a:r>
          </a:p>
          <a:p>
            <a:pPr lvl="2">
              <a:lnSpc>
                <a:spcPct val="110000"/>
              </a:lnSpc>
              <a:buFont typeface="Arial" panose="020B0604020202020204" pitchFamily="34" charset="0"/>
              <a:buChar char="•"/>
            </a:pPr>
            <a:r>
              <a:rPr lang="en-US" altLang="zh-CN" sz="2000" dirty="0">
                <a:latin typeface="微软雅黑" panose="020B0503020204020204" charset="-122"/>
                <a:ea typeface="微软雅黑" panose="020B0503020204020204" charset="-122"/>
              </a:rPr>
              <a:t>MOV</a:t>
            </a:r>
            <a:r>
              <a:rPr lang="zh-CN" altLang="en-US" sz="2000" dirty="0">
                <a:latin typeface="微软雅黑" panose="020B0503020204020204" charset="-122"/>
                <a:ea typeface="微软雅黑" panose="020B0503020204020204" charset="-122"/>
              </a:rPr>
              <a:t>：一般传送，包括</a:t>
            </a:r>
            <a:r>
              <a:rPr lang="en-US" altLang="zh-CN" sz="2000" dirty="0" err="1">
                <a:latin typeface="微软雅黑" panose="020B0503020204020204" charset="-122"/>
                <a:ea typeface="微软雅黑" panose="020B0503020204020204" charset="-122"/>
              </a:rPr>
              <a:t>movb</a:t>
            </a:r>
            <a:r>
              <a:rPr lang="zh-CN" altLang="en-US" sz="2000" dirty="0">
                <a:latin typeface="微软雅黑" panose="020B0503020204020204" charset="-122"/>
                <a:ea typeface="微软雅黑" panose="020B0503020204020204" charset="-122"/>
              </a:rPr>
              <a:t>、</a:t>
            </a:r>
            <a:r>
              <a:rPr lang="en-US" altLang="zh-CN" sz="2000" dirty="0" err="1">
                <a:latin typeface="微软雅黑" panose="020B0503020204020204" charset="-122"/>
                <a:ea typeface="微软雅黑" panose="020B0503020204020204" charset="-122"/>
              </a:rPr>
              <a:t>movw</a:t>
            </a:r>
            <a:r>
              <a:rPr lang="zh-CN" altLang="en-US" sz="2000" dirty="0">
                <a:latin typeface="微软雅黑" panose="020B0503020204020204" charset="-122"/>
                <a:ea typeface="微软雅黑" panose="020B0503020204020204" charset="-122"/>
              </a:rPr>
              <a:t>和</a:t>
            </a:r>
            <a:r>
              <a:rPr lang="en-US" altLang="zh-CN" sz="2000" dirty="0" err="1">
                <a:latin typeface="微软雅黑" panose="020B0503020204020204" charset="-122"/>
                <a:ea typeface="微软雅黑" panose="020B0503020204020204" charset="-122"/>
              </a:rPr>
              <a:t>movl</a:t>
            </a:r>
            <a:r>
              <a:rPr lang="zh-CN" altLang="en-US" sz="2000" dirty="0">
                <a:latin typeface="微软雅黑" panose="020B0503020204020204" charset="-122"/>
                <a:ea typeface="微软雅黑" panose="020B0503020204020204" charset="-122"/>
              </a:rPr>
              <a:t>等</a:t>
            </a:r>
          </a:p>
          <a:p>
            <a:pPr lvl="2">
              <a:lnSpc>
                <a:spcPct val="110000"/>
              </a:lnSpc>
              <a:buFont typeface="Arial" panose="020B0604020202020204" pitchFamily="34" charset="0"/>
              <a:buChar char="•"/>
            </a:pPr>
            <a:r>
              <a:rPr lang="en-US" altLang="zh-CN" sz="2000" dirty="0">
                <a:latin typeface="微软雅黑" panose="020B0503020204020204" charset="-122"/>
                <a:ea typeface="微软雅黑" panose="020B0503020204020204" charset="-122"/>
              </a:rPr>
              <a:t>MOVS</a:t>
            </a:r>
            <a:r>
              <a:rPr lang="zh-CN" altLang="en-US" sz="2000" dirty="0">
                <a:latin typeface="微软雅黑" panose="020B0503020204020204" charset="-122"/>
                <a:ea typeface="微软雅黑" panose="020B0503020204020204" charset="-122"/>
              </a:rPr>
              <a:t>：符号扩展传送，如</a:t>
            </a:r>
            <a:r>
              <a:rPr lang="en-US" altLang="zh-CN" sz="2000" dirty="0" err="1">
                <a:latin typeface="微软雅黑" panose="020B0503020204020204" charset="-122"/>
                <a:ea typeface="微软雅黑" panose="020B0503020204020204" charset="-122"/>
              </a:rPr>
              <a:t>movsbw</a:t>
            </a:r>
            <a:r>
              <a:rPr lang="zh-CN" altLang="en-US" sz="2000" dirty="0">
                <a:latin typeface="微软雅黑" panose="020B0503020204020204" charset="-122"/>
                <a:ea typeface="微软雅黑" panose="020B0503020204020204" charset="-122"/>
              </a:rPr>
              <a:t>、</a:t>
            </a:r>
            <a:r>
              <a:rPr lang="en-US" altLang="zh-CN" sz="2000" dirty="0" err="1">
                <a:latin typeface="微软雅黑" panose="020B0503020204020204" charset="-122"/>
                <a:ea typeface="微软雅黑" panose="020B0503020204020204" charset="-122"/>
              </a:rPr>
              <a:t>movswl</a:t>
            </a:r>
            <a:r>
              <a:rPr lang="zh-CN" altLang="en-US" sz="2000" dirty="0">
                <a:latin typeface="微软雅黑" panose="020B0503020204020204" charset="-122"/>
                <a:ea typeface="微软雅黑" panose="020B0503020204020204" charset="-122"/>
              </a:rPr>
              <a:t>等</a:t>
            </a:r>
          </a:p>
          <a:p>
            <a:pPr lvl="2">
              <a:lnSpc>
                <a:spcPct val="110000"/>
              </a:lnSpc>
              <a:buFont typeface="Arial" panose="020B0604020202020204" pitchFamily="34" charset="0"/>
              <a:buChar char="•"/>
            </a:pPr>
            <a:r>
              <a:rPr lang="en-US" altLang="zh-CN" sz="2000" dirty="0">
                <a:highlight>
                  <a:srgbClr val="FFFF00"/>
                </a:highlight>
                <a:latin typeface="微软雅黑" panose="020B0503020204020204" charset="-122"/>
                <a:ea typeface="微软雅黑" panose="020B0503020204020204" charset="-122"/>
              </a:rPr>
              <a:t>MOVZ</a:t>
            </a:r>
            <a:r>
              <a:rPr lang="zh-CN" altLang="en-US" sz="2000" dirty="0">
                <a:highlight>
                  <a:srgbClr val="FFFF00"/>
                </a:highlight>
                <a:latin typeface="微软雅黑" panose="020B0503020204020204" charset="-122"/>
                <a:ea typeface="微软雅黑" panose="020B0503020204020204" charset="-122"/>
              </a:rPr>
              <a:t>：零扩展传送，如</a:t>
            </a:r>
            <a:r>
              <a:rPr lang="en-US" altLang="zh-CN" sz="2000" dirty="0" err="1">
                <a:highlight>
                  <a:srgbClr val="FFFF00"/>
                </a:highlight>
                <a:latin typeface="微软雅黑" panose="020B0503020204020204" charset="-122"/>
                <a:ea typeface="微软雅黑" panose="020B0503020204020204" charset="-122"/>
              </a:rPr>
              <a:t>movzwl</a:t>
            </a:r>
            <a:r>
              <a:rPr lang="zh-CN" altLang="en-US" sz="2000" dirty="0">
                <a:highlight>
                  <a:srgbClr val="FFFF00"/>
                </a:highlight>
                <a:latin typeface="微软雅黑" panose="020B0503020204020204" charset="-122"/>
                <a:ea typeface="微软雅黑" panose="020B0503020204020204" charset="-122"/>
              </a:rPr>
              <a:t>、</a:t>
            </a:r>
            <a:r>
              <a:rPr lang="en-US" altLang="zh-CN" sz="2000" dirty="0" err="1">
                <a:highlight>
                  <a:srgbClr val="FFFF00"/>
                </a:highlight>
                <a:latin typeface="微软雅黑" panose="020B0503020204020204" charset="-122"/>
                <a:ea typeface="微软雅黑" panose="020B0503020204020204" charset="-122"/>
              </a:rPr>
              <a:t>movzbl</a:t>
            </a:r>
            <a:r>
              <a:rPr lang="zh-CN" altLang="en-US" sz="2000" dirty="0">
                <a:highlight>
                  <a:srgbClr val="FFFF00"/>
                </a:highlight>
                <a:latin typeface="微软雅黑" panose="020B0503020204020204" charset="-122"/>
                <a:ea typeface="微软雅黑" panose="020B0503020204020204" charset="-122"/>
              </a:rPr>
              <a:t>等</a:t>
            </a:r>
          </a:p>
          <a:p>
            <a:pPr lvl="2">
              <a:lnSpc>
                <a:spcPct val="110000"/>
              </a:lnSpc>
              <a:buFont typeface="Arial" panose="020B0604020202020204" pitchFamily="34" charset="0"/>
              <a:buChar char="•"/>
            </a:pPr>
            <a:r>
              <a:rPr lang="en-US" altLang="zh-CN" sz="2000" dirty="0">
                <a:latin typeface="微软雅黑" panose="020B0503020204020204" charset="-122"/>
                <a:ea typeface="微软雅黑" panose="020B0503020204020204" charset="-122"/>
              </a:rPr>
              <a:t>XCHG</a:t>
            </a:r>
            <a:r>
              <a:rPr lang="zh-CN" altLang="en-US" sz="2000" dirty="0">
                <a:latin typeface="微软雅黑" panose="020B0503020204020204" charset="-122"/>
                <a:ea typeface="微软雅黑" panose="020B0503020204020204" charset="-122"/>
              </a:rPr>
              <a:t>：数据交换</a:t>
            </a:r>
          </a:p>
          <a:p>
            <a:pPr lvl="2">
              <a:lnSpc>
                <a:spcPct val="110000"/>
              </a:lnSpc>
              <a:buFont typeface="Arial" panose="020B0604020202020204" pitchFamily="34" charset="0"/>
              <a:buChar char="•"/>
            </a:pPr>
            <a:r>
              <a:rPr lang="en-US" altLang="zh-CN" sz="2000" dirty="0">
                <a:latin typeface="微软雅黑" panose="020B0503020204020204" charset="-122"/>
                <a:ea typeface="微软雅黑" panose="020B0503020204020204" charset="-122"/>
              </a:rPr>
              <a:t>PUSH/POP</a:t>
            </a:r>
            <a:r>
              <a:rPr lang="zh-CN" altLang="en-US" sz="2000" dirty="0">
                <a:latin typeface="微软雅黑" panose="020B0503020204020204" charset="-122"/>
                <a:ea typeface="微软雅黑" panose="020B0503020204020204" charset="-122"/>
              </a:rPr>
              <a:t>：</a:t>
            </a:r>
            <a:r>
              <a:rPr lang="zh-CN" altLang="en-US" sz="2000" dirty="0">
                <a:solidFill>
                  <a:srgbClr val="FF3300"/>
                </a:solidFill>
                <a:latin typeface="微软雅黑" panose="020B0503020204020204" charset="-122"/>
                <a:ea typeface="微软雅黑" panose="020B0503020204020204" charset="-122"/>
              </a:rPr>
              <a:t>入栈</a:t>
            </a:r>
            <a:r>
              <a:rPr lang="en-US" altLang="zh-CN" sz="2000" dirty="0">
                <a:solidFill>
                  <a:srgbClr val="FF3300"/>
                </a:solidFill>
                <a:latin typeface="微软雅黑" panose="020B0503020204020204" charset="-122"/>
                <a:ea typeface="微软雅黑" panose="020B0503020204020204" charset="-122"/>
              </a:rPr>
              <a:t>/</a:t>
            </a:r>
            <a:r>
              <a:rPr lang="zh-CN" altLang="en-US" sz="2000" dirty="0">
                <a:solidFill>
                  <a:srgbClr val="FF3300"/>
                </a:solidFill>
                <a:latin typeface="微软雅黑" panose="020B0503020204020204" charset="-122"/>
                <a:ea typeface="微软雅黑" panose="020B0503020204020204" charset="-122"/>
              </a:rPr>
              <a:t>出栈</a:t>
            </a:r>
            <a:r>
              <a:rPr lang="zh-CN" altLang="en-US" sz="2000" dirty="0">
                <a:latin typeface="微软雅黑" panose="020B0503020204020204" charset="-122"/>
                <a:ea typeface="微软雅黑" panose="020B0503020204020204" charset="-122"/>
              </a:rPr>
              <a:t>，如</a:t>
            </a:r>
            <a:r>
              <a:rPr lang="en-US" altLang="zh-CN" sz="2000" dirty="0" err="1">
                <a:latin typeface="微软雅黑" panose="020B0503020204020204" charset="-122"/>
                <a:ea typeface="微软雅黑" panose="020B0503020204020204" charset="-122"/>
              </a:rPr>
              <a:t>pushl,pushw,popl,popw</a:t>
            </a:r>
            <a:r>
              <a:rPr lang="zh-CN" altLang="en-US" sz="2000" dirty="0">
                <a:latin typeface="微软雅黑" panose="020B0503020204020204" charset="-122"/>
                <a:ea typeface="微软雅黑" panose="020B0503020204020204" charset="-122"/>
              </a:rPr>
              <a:t>等</a:t>
            </a:r>
          </a:p>
          <a:p>
            <a:pPr lvl="1">
              <a:lnSpc>
                <a:spcPct val="110000"/>
              </a:lnSpc>
              <a:buFont typeface="Wingdings" panose="05000000000000000000" charset="0"/>
              <a:buChar char=""/>
            </a:pPr>
            <a:r>
              <a:rPr lang="zh-CN" altLang="en-US" dirty="0">
                <a:latin typeface="微软雅黑" panose="020B0503020204020204" charset="-122"/>
                <a:ea typeface="微软雅黑" panose="020B0503020204020204" charset="-122"/>
              </a:rPr>
              <a:t>地址传送指令 </a:t>
            </a:r>
          </a:p>
          <a:p>
            <a:pPr lvl="2">
              <a:lnSpc>
                <a:spcPct val="110000"/>
              </a:lnSpc>
              <a:buFont typeface="Arial" panose="020B0604020202020204" pitchFamily="34" charset="0"/>
              <a:buChar char="•"/>
            </a:pPr>
            <a:r>
              <a:rPr lang="en-US" altLang="zh-CN" sz="2000" dirty="0">
                <a:latin typeface="微软雅黑" panose="020B0503020204020204" charset="-122"/>
                <a:ea typeface="微软雅黑" panose="020B0503020204020204" charset="-122"/>
              </a:rPr>
              <a:t>LEA</a:t>
            </a:r>
            <a:r>
              <a:rPr lang="zh-CN" altLang="en-US" sz="2000" dirty="0">
                <a:latin typeface="微软雅黑" panose="020B0503020204020204" charset="-122"/>
                <a:ea typeface="微软雅黑" panose="020B0503020204020204" charset="-122"/>
              </a:rPr>
              <a:t>：加载有效地址，如</a:t>
            </a:r>
            <a:r>
              <a:rPr lang="en-US" altLang="zh-CN" sz="2000" dirty="0" err="1">
                <a:latin typeface="微软雅黑" panose="020B0503020204020204" charset="-122"/>
                <a:ea typeface="微软雅黑" panose="020B0503020204020204" charset="-122"/>
              </a:rPr>
              <a:t>leal</a:t>
            </a:r>
            <a:r>
              <a:rPr lang="en-US" altLang="zh-CN" sz="2000" dirty="0">
                <a:latin typeface="微软雅黑" panose="020B0503020204020204" charset="-122"/>
                <a:ea typeface="微软雅黑" panose="020B0503020204020204" charset="-122"/>
              </a:rPr>
              <a:t> (%</a:t>
            </a:r>
            <a:r>
              <a:rPr lang="en-US" altLang="zh-CN" sz="2000" dirty="0" err="1">
                <a:latin typeface="微软雅黑" panose="020B0503020204020204" charset="-122"/>
                <a:ea typeface="微软雅黑" panose="020B0503020204020204" charset="-122"/>
              </a:rPr>
              <a:t>edx</a:t>
            </a:r>
            <a:r>
              <a:rPr lang="en-US" altLang="zh-CN" sz="2000" dirty="0">
                <a:latin typeface="微软雅黑" panose="020B0503020204020204" charset="-122"/>
                <a:ea typeface="微软雅黑" panose="020B0503020204020204" charset="-122"/>
              </a:rPr>
              <a:t>,%</a:t>
            </a:r>
            <a:r>
              <a:rPr lang="en-US" altLang="zh-CN" sz="2000" dirty="0" err="1">
                <a:latin typeface="微软雅黑" panose="020B0503020204020204" charset="-122"/>
                <a:ea typeface="微软雅黑" panose="020B0503020204020204" charset="-122"/>
              </a:rPr>
              <a:t>eax</a:t>
            </a:r>
            <a:r>
              <a:rPr lang="en-US" altLang="zh-CN" sz="2000" dirty="0">
                <a:latin typeface="微软雅黑" panose="020B0503020204020204" charset="-122"/>
                <a:ea typeface="微软雅黑" panose="020B0503020204020204" charset="-122"/>
              </a:rPr>
              <a:t>), %</a:t>
            </a:r>
            <a:r>
              <a:rPr lang="en-US" altLang="zh-CN" sz="2000" dirty="0" err="1">
                <a:latin typeface="微软雅黑" panose="020B0503020204020204" charset="-122"/>
                <a:ea typeface="微软雅黑" panose="020B0503020204020204" charset="-122"/>
              </a:rPr>
              <a:t>eax</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的功能为</a:t>
            </a:r>
            <a:r>
              <a:rPr lang="en-US" altLang="zh-CN" sz="2000" dirty="0">
                <a:latin typeface="微软雅黑" panose="020B0503020204020204" charset="-122"/>
                <a:ea typeface="微软雅黑" panose="020B0503020204020204" charset="-122"/>
              </a:rPr>
              <a:t>R[</a:t>
            </a:r>
            <a:r>
              <a:rPr lang="en-US" altLang="zh-CN" sz="2000" dirty="0" err="1">
                <a:latin typeface="微软雅黑" panose="020B0503020204020204" charset="-122"/>
                <a:ea typeface="微软雅黑" panose="020B0503020204020204" charset="-122"/>
              </a:rPr>
              <a:t>eax</a:t>
            </a:r>
            <a:r>
              <a:rPr lang="en-US" altLang="zh-CN" sz="2000" dirty="0">
                <a:latin typeface="微软雅黑" panose="020B0503020204020204" charset="-122"/>
                <a:ea typeface="微软雅黑" panose="020B0503020204020204" charset="-122"/>
              </a:rPr>
              <a:t>]←R[</a:t>
            </a:r>
            <a:r>
              <a:rPr lang="en-US" altLang="zh-CN" sz="2000" dirty="0" err="1">
                <a:latin typeface="微软雅黑" panose="020B0503020204020204" charset="-122"/>
                <a:ea typeface="微软雅黑" panose="020B0503020204020204" charset="-122"/>
              </a:rPr>
              <a:t>edx</a:t>
            </a:r>
            <a:r>
              <a:rPr lang="en-US" altLang="zh-CN" sz="2000" dirty="0">
                <a:latin typeface="微软雅黑" panose="020B0503020204020204" charset="-122"/>
                <a:ea typeface="微软雅黑" panose="020B0503020204020204" charset="-122"/>
              </a:rPr>
              <a:t>]+R[</a:t>
            </a:r>
            <a:r>
              <a:rPr lang="en-US" altLang="zh-CN" sz="2000" dirty="0" err="1">
                <a:latin typeface="微软雅黑" panose="020B0503020204020204" charset="-122"/>
                <a:ea typeface="微软雅黑" panose="020B0503020204020204" charset="-122"/>
              </a:rPr>
              <a:t>eax</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，执行前，若</a:t>
            </a:r>
            <a:r>
              <a:rPr lang="en-US" altLang="zh-CN" sz="2000" dirty="0">
                <a:latin typeface="微软雅黑" panose="020B0503020204020204" charset="-122"/>
                <a:ea typeface="微软雅黑" panose="020B0503020204020204" charset="-122"/>
              </a:rPr>
              <a:t>R[</a:t>
            </a:r>
            <a:r>
              <a:rPr lang="en-US" altLang="zh-CN" sz="2000" dirty="0" err="1">
                <a:latin typeface="微软雅黑" panose="020B0503020204020204" charset="-122"/>
                <a:ea typeface="微软雅黑" panose="020B0503020204020204" charset="-122"/>
              </a:rPr>
              <a:t>edx</a:t>
            </a:r>
            <a:r>
              <a:rPr lang="en-US" altLang="zh-CN" sz="2000" dirty="0">
                <a:latin typeface="微软雅黑" panose="020B0503020204020204" charset="-122"/>
                <a:ea typeface="微软雅黑" panose="020B0503020204020204" charset="-122"/>
              </a:rPr>
              <a:t>]=</a:t>
            </a:r>
            <a:r>
              <a:rPr lang="en-US" altLang="zh-CN" sz="2000" i="1" dirty="0" err="1">
                <a:latin typeface="微软雅黑" panose="020B0503020204020204" charset="-122"/>
                <a:ea typeface="微软雅黑" panose="020B0503020204020204" charset="-122"/>
              </a:rPr>
              <a:t>i</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R[</a:t>
            </a:r>
            <a:r>
              <a:rPr lang="en-US" altLang="zh-CN" sz="2000" dirty="0" err="1">
                <a:latin typeface="微软雅黑" panose="020B0503020204020204" charset="-122"/>
                <a:ea typeface="微软雅黑" panose="020B0503020204020204" charset="-122"/>
              </a:rPr>
              <a:t>eax</a:t>
            </a:r>
            <a:r>
              <a:rPr lang="en-US" altLang="zh-CN" sz="2000" dirty="0">
                <a:latin typeface="微软雅黑" panose="020B0503020204020204" charset="-122"/>
                <a:ea typeface="微软雅黑" panose="020B0503020204020204" charset="-122"/>
              </a:rPr>
              <a:t>]=</a:t>
            </a:r>
            <a:r>
              <a:rPr lang="en-US" altLang="zh-CN" sz="2000" i="1" dirty="0">
                <a:latin typeface="微软雅黑" panose="020B0503020204020204" charset="-122"/>
                <a:ea typeface="微软雅黑" panose="020B0503020204020204" charset="-122"/>
              </a:rPr>
              <a:t>j</a:t>
            </a:r>
            <a:r>
              <a:rPr lang="zh-CN" altLang="en-US" sz="2000" dirty="0">
                <a:latin typeface="微软雅黑" panose="020B0503020204020204" charset="-122"/>
                <a:ea typeface="微软雅黑" panose="020B0503020204020204" charset="-122"/>
              </a:rPr>
              <a:t>，则指令执行后，</a:t>
            </a:r>
            <a:r>
              <a:rPr lang="en-US" altLang="zh-CN" sz="2000" dirty="0">
                <a:latin typeface="微软雅黑" panose="020B0503020204020204" charset="-122"/>
                <a:ea typeface="微软雅黑" panose="020B0503020204020204" charset="-122"/>
              </a:rPr>
              <a:t>R[</a:t>
            </a:r>
            <a:r>
              <a:rPr lang="en-US" altLang="zh-CN" sz="2000" dirty="0" err="1">
                <a:latin typeface="微软雅黑" panose="020B0503020204020204" charset="-122"/>
                <a:ea typeface="微软雅黑" panose="020B0503020204020204" charset="-122"/>
              </a:rPr>
              <a:t>eax</a:t>
            </a:r>
            <a:r>
              <a:rPr lang="en-US" altLang="zh-CN" sz="2000" dirty="0">
                <a:latin typeface="微软雅黑" panose="020B0503020204020204" charset="-122"/>
                <a:ea typeface="微软雅黑" panose="020B0503020204020204" charset="-122"/>
              </a:rPr>
              <a:t>]=</a:t>
            </a:r>
            <a:r>
              <a:rPr lang="en-US" altLang="zh-CN" sz="2000" i="1" dirty="0" err="1">
                <a:latin typeface="微软雅黑" panose="020B0503020204020204" charset="-122"/>
                <a:ea typeface="微软雅黑" panose="020B0503020204020204" charset="-122"/>
              </a:rPr>
              <a:t>i</a:t>
            </a:r>
            <a:r>
              <a:rPr lang="en-US" altLang="zh-CN" sz="2000" dirty="0" err="1">
                <a:latin typeface="微软雅黑" panose="020B0503020204020204" charset="-122"/>
                <a:ea typeface="微软雅黑" panose="020B0503020204020204" charset="-122"/>
              </a:rPr>
              <a:t>+</a:t>
            </a:r>
            <a:r>
              <a:rPr lang="en-US" altLang="zh-CN" sz="2000" i="1" dirty="0" err="1">
                <a:latin typeface="微软雅黑" panose="020B0503020204020204" charset="-122"/>
                <a:ea typeface="微软雅黑" panose="020B0503020204020204" charset="-122"/>
              </a:rPr>
              <a:t>j</a:t>
            </a:r>
            <a:r>
              <a:rPr lang="en-US" altLang="zh-CN" sz="2000" dirty="0">
                <a:latin typeface="微软雅黑" panose="020B0503020204020204" charset="-122"/>
                <a:ea typeface="微软雅黑" panose="020B0503020204020204" charset="-122"/>
              </a:rPr>
              <a:t> </a:t>
            </a:r>
            <a:endParaRPr lang="zh-CN" altLang="en-US" sz="2000" dirty="0">
              <a:latin typeface="微软雅黑" panose="020B0503020204020204" charset="-122"/>
              <a:ea typeface="微软雅黑" panose="020B0503020204020204" charset="-122"/>
            </a:endParaRPr>
          </a:p>
          <a:p>
            <a:pPr lvl="1">
              <a:lnSpc>
                <a:spcPct val="110000"/>
              </a:lnSpc>
              <a:buFont typeface="Wingdings" panose="05000000000000000000" charset="0"/>
              <a:buChar char=""/>
            </a:pPr>
            <a:r>
              <a:rPr lang="zh-CN" altLang="en-US" dirty="0">
                <a:latin typeface="微软雅黑" panose="020B0503020204020204" charset="-122"/>
                <a:ea typeface="微软雅黑" panose="020B0503020204020204" charset="-122"/>
              </a:rPr>
              <a:t>输入输出指令 </a:t>
            </a:r>
          </a:p>
          <a:p>
            <a:pPr lvl="2">
              <a:lnSpc>
                <a:spcPct val="110000"/>
              </a:lnSpc>
              <a:buFont typeface="Arial" panose="020B0604020202020204" pitchFamily="34" charset="0"/>
              <a:buChar char="•"/>
            </a:pPr>
            <a:r>
              <a:rPr lang="en-US" altLang="zh-CN" sz="2000" dirty="0">
                <a:latin typeface="微软雅黑" panose="020B0503020204020204" charset="-122"/>
                <a:ea typeface="微软雅黑" panose="020B0503020204020204" charset="-122"/>
              </a:rPr>
              <a:t>IN</a:t>
            </a:r>
            <a:r>
              <a:rPr lang="zh-CN" altLang="en-US" sz="2000" dirty="0">
                <a:latin typeface="微软雅黑" panose="020B0503020204020204" charset="-122"/>
                <a:ea typeface="微软雅黑" panose="020B0503020204020204" charset="-122"/>
              </a:rPr>
              <a:t>和</a:t>
            </a:r>
            <a:r>
              <a:rPr lang="en-US" altLang="zh-CN" sz="2000" dirty="0">
                <a:latin typeface="微软雅黑" panose="020B0503020204020204" charset="-122"/>
                <a:ea typeface="微软雅黑" panose="020B0503020204020204" charset="-122"/>
              </a:rPr>
              <a:t>OUT</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I/O</a:t>
            </a:r>
            <a:r>
              <a:rPr lang="zh-CN" altLang="en-US" sz="2000" dirty="0">
                <a:latin typeface="微软雅黑" panose="020B0503020204020204" charset="-122"/>
                <a:ea typeface="微软雅黑" panose="020B0503020204020204" charset="-122"/>
              </a:rPr>
              <a:t>端口与寄存器之间的交换</a:t>
            </a:r>
          </a:p>
          <a:p>
            <a:pPr lvl="1">
              <a:lnSpc>
                <a:spcPct val="110000"/>
              </a:lnSpc>
              <a:buFont typeface="Wingdings" panose="05000000000000000000" charset="0"/>
              <a:buChar char=""/>
            </a:pPr>
            <a:r>
              <a:rPr lang="zh-CN" altLang="en-US" dirty="0">
                <a:latin typeface="微软雅黑" panose="020B0503020204020204" charset="-122"/>
                <a:ea typeface="微软雅黑" panose="020B0503020204020204" charset="-122"/>
              </a:rPr>
              <a:t>标志传送指令</a:t>
            </a:r>
          </a:p>
          <a:p>
            <a:pPr lvl="2">
              <a:lnSpc>
                <a:spcPct val="110000"/>
              </a:lnSpc>
              <a:buFont typeface="Arial" panose="020B0604020202020204" pitchFamily="34" charset="0"/>
              <a:buChar char="•"/>
            </a:pPr>
            <a:r>
              <a:rPr lang="en-US" altLang="zh-CN" sz="2000" dirty="0">
                <a:latin typeface="微软雅黑" panose="020B0503020204020204" charset="-122"/>
                <a:ea typeface="微软雅黑" panose="020B0503020204020204" charset="-122"/>
              </a:rPr>
              <a:t>PUSHF</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POPF</a:t>
            </a:r>
            <a:r>
              <a:rPr lang="zh-CN" altLang="en-US" sz="2000" dirty="0">
                <a:latin typeface="微软雅黑" panose="020B0503020204020204" charset="-122"/>
                <a:ea typeface="微软雅黑" panose="020B0503020204020204" charset="-122"/>
              </a:rPr>
              <a:t>：将</a:t>
            </a:r>
            <a:r>
              <a:rPr lang="en-US" altLang="zh-CN" sz="2000" dirty="0">
                <a:latin typeface="微软雅黑" panose="020B0503020204020204" charset="-122"/>
                <a:ea typeface="微软雅黑" panose="020B0503020204020204" charset="-122"/>
              </a:rPr>
              <a:t>EFLAG</a:t>
            </a:r>
            <a:r>
              <a:rPr lang="zh-CN" altLang="en-US" sz="2000" dirty="0">
                <a:latin typeface="微软雅黑" panose="020B0503020204020204" charset="-122"/>
                <a:ea typeface="微软雅黑" panose="020B0503020204020204" charset="-122"/>
              </a:rPr>
              <a:t>压栈，或将栈顶内容送</a:t>
            </a:r>
            <a:r>
              <a:rPr lang="en-US" altLang="zh-CN" sz="2000" dirty="0">
                <a:latin typeface="微软雅黑" panose="020B0503020204020204" charset="-122"/>
                <a:ea typeface="微软雅黑" panose="020B0503020204020204" charset="-122"/>
              </a:rPr>
              <a:t>EFLAG</a:t>
            </a:r>
            <a:r>
              <a:rPr lang="en-US" altLang="zh-CN" sz="2000" dirty="0"/>
              <a:t> </a:t>
            </a:r>
            <a:endParaRPr lang="zh-CN" altLang="en-US" sz="2000" dirty="0"/>
          </a:p>
        </p:txBody>
      </p:sp>
      <p:sp>
        <p:nvSpPr>
          <p:cNvPr id="2" name="TextBox 1"/>
          <p:cNvSpPr txBox="1"/>
          <p:nvPr/>
        </p:nvSpPr>
        <p:spPr>
          <a:xfrm>
            <a:off x="4527937" y="31857"/>
            <a:ext cx="4662170"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sym typeface="+mn-ea"/>
              </a:rPr>
              <a:t>历史：IA-32常用指令类型</a:t>
            </a:r>
            <a:endParaRPr lang="zh-CN" altLang="en-US" sz="3000" dirty="0"/>
          </a:p>
        </p:txBody>
      </p:sp>
      <p:sp>
        <p:nvSpPr>
          <p:cNvPr id="5" name="椭圆 4"/>
          <p:cNvSpPr/>
          <p:nvPr/>
        </p:nvSpPr>
        <p:spPr>
          <a:xfrm>
            <a:off x="3573939" y="1565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822541" y="3579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6742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743926" y="674211"/>
            <a:ext cx="440007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19523">
                                            <p:txEl>
                                              <p:pRg st="2" end="2"/>
                                            </p:txEl>
                                          </p:spTgt>
                                        </p:tgtEl>
                                        <p:attrNameLst>
                                          <p:attrName>style.visibility</p:attrName>
                                        </p:attrNameLst>
                                      </p:cBhvr>
                                      <p:to>
                                        <p:strVal val="visible"/>
                                      </p:to>
                                    </p:set>
                                    <p:animEffect transition="in" filter="blinds(horizontal)">
                                      <p:cBhvr>
                                        <p:cTn id="7" dur="500"/>
                                        <p:tgtEl>
                                          <p:spTgt spid="619523">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19523">
                                            <p:txEl>
                                              <p:pRg st="3" end="3"/>
                                            </p:txEl>
                                          </p:spTgt>
                                        </p:tgtEl>
                                        <p:attrNameLst>
                                          <p:attrName>style.visibility</p:attrName>
                                        </p:attrNameLst>
                                      </p:cBhvr>
                                      <p:to>
                                        <p:strVal val="visible"/>
                                      </p:to>
                                    </p:set>
                                    <p:animEffect transition="in" filter="blinds(horizontal)">
                                      <p:cBhvr>
                                        <p:cTn id="10" dur="500"/>
                                        <p:tgtEl>
                                          <p:spTgt spid="619523">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619523">
                                            <p:txEl>
                                              <p:pRg st="4" end="4"/>
                                            </p:txEl>
                                          </p:spTgt>
                                        </p:tgtEl>
                                        <p:attrNameLst>
                                          <p:attrName>style.visibility</p:attrName>
                                        </p:attrNameLst>
                                      </p:cBhvr>
                                      <p:to>
                                        <p:strVal val="visible"/>
                                      </p:to>
                                    </p:set>
                                    <p:animEffect transition="in" filter="blinds(horizontal)">
                                      <p:cBhvr>
                                        <p:cTn id="13" dur="500"/>
                                        <p:tgtEl>
                                          <p:spTgt spid="619523">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619523">
                                            <p:txEl>
                                              <p:pRg st="5" end="5"/>
                                            </p:txEl>
                                          </p:spTgt>
                                        </p:tgtEl>
                                        <p:attrNameLst>
                                          <p:attrName>style.visibility</p:attrName>
                                        </p:attrNameLst>
                                      </p:cBhvr>
                                      <p:to>
                                        <p:strVal val="visible"/>
                                      </p:to>
                                    </p:set>
                                    <p:animEffect transition="in" filter="blinds(horizontal)">
                                      <p:cBhvr>
                                        <p:cTn id="16" dur="500"/>
                                        <p:tgtEl>
                                          <p:spTgt spid="619523">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619523">
                                            <p:txEl>
                                              <p:pRg st="6" end="6"/>
                                            </p:txEl>
                                          </p:spTgt>
                                        </p:tgtEl>
                                        <p:attrNameLst>
                                          <p:attrName>style.visibility</p:attrName>
                                        </p:attrNameLst>
                                      </p:cBhvr>
                                      <p:to>
                                        <p:strVal val="visible"/>
                                      </p:to>
                                    </p:set>
                                    <p:animEffect transition="in" filter="blinds(horizontal)">
                                      <p:cBhvr>
                                        <p:cTn id="19" dur="500"/>
                                        <p:tgtEl>
                                          <p:spTgt spid="619523">
                                            <p:txEl>
                                              <p:pRg st="6" end="6"/>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nodeType="clickEffect">
                                  <p:stCondLst>
                                    <p:cond delay="0"/>
                                  </p:stCondLst>
                                  <p:childTnLst>
                                    <p:set>
                                      <p:cBhvr>
                                        <p:cTn id="23" dur="1" fill="hold">
                                          <p:stCondLst>
                                            <p:cond delay="0"/>
                                          </p:stCondLst>
                                        </p:cTn>
                                        <p:tgtEl>
                                          <p:spTgt spid="619523">
                                            <p:txEl>
                                              <p:pRg st="8" end="8"/>
                                            </p:txEl>
                                          </p:spTgt>
                                        </p:tgtEl>
                                        <p:attrNameLst>
                                          <p:attrName>style.visibility</p:attrName>
                                        </p:attrNameLst>
                                      </p:cBhvr>
                                      <p:to>
                                        <p:strVal val="visible"/>
                                      </p:to>
                                    </p:set>
                                    <p:animEffect transition="in" filter="blinds(horizontal)">
                                      <p:cBhvr>
                                        <p:cTn id="24" dur="500"/>
                                        <p:tgtEl>
                                          <p:spTgt spid="619523">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19523">
                                            <p:txEl>
                                              <p:pRg st="10" end="10"/>
                                            </p:txEl>
                                          </p:spTgt>
                                        </p:tgtEl>
                                        <p:attrNameLst>
                                          <p:attrName>style.visibility</p:attrName>
                                        </p:attrNameLst>
                                      </p:cBhvr>
                                      <p:to>
                                        <p:strVal val="visible"/>
                                      </p:to>
                                    </p:set>
                                    <p:animEffect transition="in" filter="blinds(horizontal)">
                                      <p:cBhvr>
                                        <p:cTn id="29" dur="500"/>
                                        <p:tgtEl>
                                          <p:spTgt spid="619523">
                                            <p:txEl>
                                              <p:pRg st="10" end="1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619523">
                                            <p:txEl>
                                              <p:pRg st="12" end="12"/>
                                            </p:txEl>
                                          </p:spTgt>
                                        </p:tgtEl>
                                        <p:attrNameLst>
                                          <p:attrName>style.visibility</p:attrName>
                                        </p:attrNameLst>
                                      </p:cBhvr>
                                      <p:to>
                                        <p:strVal val="visible"/>
                                      </p:to>
                                    </p:set>
                                    <p:animEffect transition="in" filter="blinds(horizontal)">
                                      <p:cBhvr>
                                        <p:cTn id="34" dur="500"/>
                                        <p:tgtEl>
                                          <p:spTgt spid="619523">
                                            <p:txEl>
                                              <p:pRg st="12" end="12"/>
                                            </p:txEl>
                                          </p:spTgt>
                                        </p:tgtEl>
                                      </p:cBhvr>
                                    </p:animEffect>
                                  </p:childTnLst>
                                </p:cTn>
                              </p:par>
                              <p:par>
                                <p:cTn id="35" presetID="12" presetClass="entr" presetSubtype="8"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p:tgtEl>
                                          <p:spTgt spid="2"/>
                                        </p:tgtEl>
                                        <p:attrNameLst>
                                          <p:attrName>ppt_x</p:attrName>
                                        </p:attrNameLst>
                                      </p:cBhvr>
                                      <p:tavLst>
                                        <p:tav tm="0">
                                          <p:val>
                                            <p:strVal val="#ppt_x-#ppt_w*1.125000"/>
                                          </p:val>
                                        </p:tav>
                                        <p:tav tm="100000">
                                          <p:val>
                                            <p:strVal val="#ppt_x"/>
                                          </p:val>
                                        </p:tav>
                                      </p:tavLst>
                                    </p:anim>
                                    <p:animEffect transition="in" filter="wipe(right)">
                                      <p:cBhvr>
                                        <p:cTn id="38" dur="500"/>
                                        <p:tgtEl>
                                          <p:spTgt spid="2"/>
                                        </p:tgtEl>
                                      </p:cBhvr>
                                    </p:animEffect>
                                  </p:childTnLst>
                                </p:cTn>
                              </p:par>
                            </p:childTnLst>
                          </p:cTn>
                        </p:par>
                        <p:par>
                          <p:cTn id="39" fill="hold">
                            <p:stCondLst>
                              <p:cond delay="500"/>
                            </p:stCondLst>
                            <p:childTnLst>
                              <p:par>
                                <p:cTn id="40" presetID="22" presetClass="entr" presetSubtype="8" fill="hold" grpId="0" nodeType="after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par>
                                <p:cTn id="43" presetID="22" presetClass="entr" presetSubtype="2"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right)">
                                      <p:cBhvr>
                                        <p:cTn id="4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3837" y="412857"/>
            <a:ext cx="4281170"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t>历史：IA-32的寻址方式</a:t>
            </a:r>
          </a:p>
        </p:txBody>
      </p:sp>
      <p:sp>
        <p:nvSpPr>
          <p:cNvPr id="5" name="椭圆 4"/>
          <p:cNvSpPr/>
          <p:nvPr/>
        </p:nvSpPr>
        <p:spPr>
          <a:xfrm>
            <a:off x="3662839" y="5375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911441" y="7389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10552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743926" y="1055211"/>
            <a:ext cx="440007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780291" name="Rectangle 3"/>
          <p:cNvSpPr>
            <a:spLocks noGrp="1" noChangeArrowheads="1"/>
          </p:cNvSpPr>
          <p:nvPr/>
        </p:nvSpPr>
        <p:spPr>
          <a:xfrm>
            <a:off x="1208405" y="1136650"/>
            <a:ext cx="8134985" cy="5666105"/>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pPr>
              <a:lnSpc>
                <a:spcPct val="105000"/>
              </a:lnSpc>
            </a:pPr>
            <a:r>
              <a:rPr lang="zh-CN" altLang="en-US" sz="2000" dirty="0">
                <a:latin typeface="微软雅黑" panose="020B0503020204020204" charset="-122"/>
                <a:ea typeface="微软雅黑" panose="020B0503020204020204" charset="-122"/>
              </a:rPr>
              <a:t>寻址方式</a:t>
            </a:r>
          </a:p>
          <a:p>
            <a:pPr lvl="1">
              <a:lnSpc>
                <a:spcPct val="105000"/>
              </a:lnSpc>
            </a:pPr>
            <a:r>
              <a:rPr lang="zh-CN" altLang="en-US" dirty="0">
                <a:solidFill>
                  <a:srgbClr val="7E7E7E"/>
                </a:solidFill>
                <a:latin typeface="微软雅黑" panose="020B0503020204020204" charset="-122"/>
                <a:ea typeface="微软雅黑" panose="020B0503020204020204" charset="-122"/>
              </a:rPr>
              <a:t>根据指令给定信息得到操作数或操作数地址</a:t>
            </a:r>
          </a:p>
          <a:p>
            <a:pPr>
              <a:lnSpc>
                <a:spcPct val="105000"/>
              </a:lnSpc>
            </a:pPr>
            <a:r>
              <a:rPr lang="zh-CN" altLang="en-US" sz="2000" dirty="0">
                <a:latin typeface="微软雅黑" panose="020B0503020204020204" charset="-122"/>
                <a:ea typeface="微软雅黑" panose="020B0503020204020204" charset="-122"/>
              </a:rPr>
              <a:t>操作数所在的位置</a:t>
            </a:r>
          </a:p>
          <a:p>
            <a:pPr lvl="1">
              <a:lnSpc>
                <a:spcPct val="105000"/>
              </a:lnSpc>
            </a:pPr>
            <a:r>
              <a:rPr lang="zh-CN" altLang="en-US" dirty="0">
                <a:solidFill>
                  <a:srgbClr val="7E7E7E"/>
                </a:solidFill>
                <a:latin typeface="微软雅黑" panose="020B0503020204020204" charset="-122"/>
                <a:ea typeface="微软雅黑" panose="020B0503020204020204" charset="-122"/>
              </a:rPr>
              <a:t>指令中：立即寻址</a:t>
            </a:r>
          </a:p>
          <a:p>
            <a:pPr lvl="1">
              <a:lnSpc>
                <a:spcPct val="105000"/>
              </a:lnSpc>
            </a:pPr>
            <a:r>
              <a:rPr lang="zh-CN" altLang="en-US" dirty="0">
                <a:solidFill>
                  <a:srgbClr val="7E7E7E"/>
                </a:solidFill>
                <a:latin typeface="微软雅黑" panose="020B0503020204020204" charset="-122"/>
                <a:ea typeface="微软雅黑" panose="020B0503020204020204" charset="-122"/>
              </a:rPr>
              <a:t>寄存器中：寄存器寻址</a:t>
            </a:r>
          </a:p>
          <a:p>
            <a:pPr lvl="1">
              <a:lnSpc>
                <a:spcPct val="105000"/>
              </a:lnSpc>
            </a:pPr>
            <a:r>
              <a:rPr lang="zh-CN" altLang="en-US" dirty="0">
                <a:solidFill>
                  <a:srgbClr val="7E7E7E"/>
                </a:solidFill>
                <a:latin typeface="微软雅黑" panose="020B0503020204020204" charset="-122"/>
                <a:ea typeface="微软雅黑" panose="020B0503020204020204" charset="-122"/>
              </a:rPr>
              <a:t>存储单元中（属于</a:t>
            </a:r>
            <a:r>
              <a:rPr lang="zh-CN" altLang="en-US" dirty="0">
                <a:solidFill>
                  <a:srgbClr val="ED7D31"/>
                </a:solidFill>
                <a:latin typeface="微软雅黑" panose="020B0503020204020204" charset="-122"/>
                <a:ea typeface="微软雅黑" panose="020B0503020204020204" charset="-122"/>
              </a:rPr>
              <a:t>存储器操作数，按字节编址</a:t>
            </a:r>
            <a:r>
              <a:rPr lang="zh-CN" altLang="en-US" dirty="0">
                <a:solidFill>
                  <a:srgbClr val="7E7E7E"/>
                </a:solidFill>
                <a:latin typeface="微软雅黑" panose="020B0503020204020204" charset="-122"/>
                <a:ea typeface="微软雅黑" panose="020B0503020204020204" charset="-122"/>
              </a:rPr>
              <a:t>）：其他寻址方式</a:t>
            </a:r>
          </a:p>
          <a:p>
            <a:pPr>
              <a:lnSpc>
                <a:spcPct val="105000"/>
              </a:lnSpc>
            </a:pPr>
            <a:r>
              <a:rPr lang="zh-CN" altLang="en-US" sz="2000" dirty="0">
                <a:latin typeface="微软雅黑" panose="020B0503020204020204" charset="-122"/>
                <a:ea typeface="微软雅黑" panose="020B0503020204020204" charset="-122"/>
              </a:rPr>
              <a:t>存储器操作数的寻址方式与微处理器的工作模式有关</a:t>
            </a:r>
          </a:p>
          <a:p>
            <a:pPr lvl="1">
              <a:lnSpc>
                <a:spcPct val="105000"/>
              </a:lnSpc>
            </a:pPr>
            <a:r>
              <a:rPr lang="zh-CN" altLang="en-US" dirty="0">
                <a:solidFill>
                  <a:srgbClr val="7E7E7E"/>
                </a:solidFill>
                <a:latin typeface="微软雅黑" panose="020B0503020204020204" charset="-122"/>
                <a:ea typeface="微软雅黑" panose="020B0503020204020204" charset="-122"/>
              </a:rPr>
              <a:t>两种工作模式：实地址模式和保护模式</a:t>
            </a:r>
          </a:p>
          <a:p>
            <a:pPr>
              <a:lnSpc>
                <a:spcPct val="105000"/>
              </a:lnSpc>
            </a:pPr>
            <a:r>
              <a:rPr lang="zh-CN" altLang="en-US" sz="2000" dirty="0">
                <a:latin typeface="微软雅黑" panose="020B0503020204020204" charset="-122"/>
                <a:ea typeface="微软雅黑" panose="020B0503020204020204" charset="-122"/>
              </a:rPr>
              <a:t>实地址模式</a:t>
            </a:r>
            <a:r>
              <a:rPr lang="zh-CN" altLang="en-US" sz="2000" dirty="0">
                <a:solidFill>
                  <a:srgbClr val="ED7D31"/>
                </a:solidFill>
                <a:latin typeface="微软雅黑" panose="020B0503020204020204" charset="-122"/>
                <a:ea typeface="微软雅黑" panose="020B0503020204020204" charset="-122"/>
              </a:rPr>
              <a:t>（基本用不到）</a:t>
            </a:r>
          </a:p>
          <a:p>
            <a:pPr lvl="1">
              <a:lnSpc>
                <a:spcPct val="105000"/>
              </a:lnSpc>
            </a:pPr>
            <a:r>
              <a:rPr lang="zh-CN" altLang="en-US" dirty="0">
                <a:solidFill>
                  <a:srgbClr val="7E7E7E"/>
                </a:solidFill>
                <a:latin typeface="微软雅黑" panose="020B0503020204020204" charset="-122"/>
                <a:ea typeface="微软雅黑" panose="020B0503020204020204" charset="-122"/>
              </a:rPr>
              <a:t>为与8086/8088兼容而设，加电或复位时</a:t>
            </a:r>
          </a:p>
          <a:p>
            <a:pPr lvl="1">
              <a:lnSpc>
                <a:spcPct val="105000"/>
              </a:lnSpc>
            </a:pPr>
            <a:r>
              <a:rPr lang="zh-CN" altLang="en-US" dirty="0">
                <a:solidFill>
                  <a:srgbClr val="7E7E7E"/>
                </a:solidFill>
                <a:latin typeface="微软雅黑" panose="020B0503020204020204" charset="-122"/>
                <a:ea typeface="微软雅黑" panose="020B0503020204020204" charset="-122"/>
              </a:rPr>
              <a:t>寻址空间为1MB，20位地址：(CS)&lt;&lt;4+(IP) </a:t>
            </a:r>
            <a:endParaRPr lang="en-US" altLang="zh-CN" dirty="0">
              <a:latin typeface="微软雅黑" panose="020B0503020204020204" charset="-122"/>
              <a:ea typeface="微软雅黑" panose="020B0503020204020204" charset="-122"/>
            </a:endParaRPr>
          </a:p>
          <a:p>
            <a:pPr>
              <a:lnSpc>
                <a:spcPct val="105000"/>
              </a:lnSpc>
            </a:pPr>
            <a:r>
              <a:rPr lang="zh-CN" altLang="en-US" sz="2000" dirty="0">
                <a:latin typeface="微软雅黑" panose="020B0503020204020204" charset="-122"/>
                <a:ea typeface="微软雅黑" panose="020B0503020204020204" charset="-122"/>
              </a:rPr>
              <a:t>保护模式</a:t>
            </a:r>
            <a:r>
              <a:rPr lang="zh-CN" altLang="en-US" sz="2000" dirty="0">
                <a:solidFill>
                  <a:srgbClr val="ED7D31"/>
                </a:solidFill>
                <a:latin typeface="微软雅黑" panose="020B0503020204020204" charset="-122"/>
                <a:ea typeface="微软雅黑" panose="020B0503020204020204" charset="-122"/>
              </a:rPr>
              <a:t>（需要掌握）</a:t>
            </a:r>
          </a:p>
          <a:p>
            <a:pPr lvl="1" algn="l">
              <a:lnSpc>
                <a:spcPct val="105000"/>
              </a:lnSpc>
            </a:pPr>
            <a:r>
              <a:rPr lang="zh-CN" altLang="en-US" dirty="0">
                <a:solidFill>
                  <a:srgbClr val="7E7E7E"/>
                </a:solidFill>
                <a:latin typeface="微软雅黑" panose="020B0503020204020204" charset="-122"/>
                <a:ea typeface="微软雅黑" panose="020B0503020204020204" charset="-122"/>
              </a:rPr>
              <a:t>加电后进入，采用虚拟存储管理，多任务情况下隔离、保护</a:t>
            </a:r>
          </a:p>
          <a:p>
            <a:pPr lvl="1" algn="l">
              <a:lnSpc>
                <a:spcPct val="105000"/>
              </a:lnSpc>
            </a:pPr>
            <a:r>
              <a:rPr lang="zh-CN" altLang="en-US" dirty="0">
                <a:solidFill>
                  <a:srgbClr val="7E7E7E"/>
                </a:solidFill>
                <a:latin typeface="微软雅黑" panose="020B0503020204020204" charset="-122"/>
                <a:ea typeface="微软雅黑" panose="020B0503020204020204" charset="-122"/>
              </a:rPr>
              <a:t>80286以上高档微处理器最常用的工作模式 </a:t>
            </a:r>
          </a:p>
          <a:p>
            <a:pPr lvl="1" algn="l">
              <a:lnSpc>
                <a:spcPct val="105000"/>
              </a:lnSpc>
            </a:pPr>
            <a:r>
              <a:rPr lang="zh-CN" altLang="en-US" dirty="0">
                <a:solidFill>
                  <a:srgbClr val="7E7E7E"/>
                </a:solidFill>
                <a:latin typeface="微软雅黑" panose="020B0503020204020204" charset="-122"/>
                <a:ea typeface="微软雅黑" panose="020B0503020204020204" charset="-122"/>
              </a:rPr>
              <a:t>寻址空间为232B，32位线性地址分段（</a:t>
            </a:r>
            <a:r>
              <a:rPr lang="zh-CN" altLang="en-US" dirty="0">
                <a:solidFill>
                  <a:srgbClr val="FF9999"/>
                </a:solidFill>
                <a:latin typeface="微软雅黑" panose="020B0503020204020204" charset="-122"/>
                <a:ea typeface="微软雅黑" panose="020B0503020204020204" charset="-122"/>
              </a:rPr>
              <a:t>段基址</a:t>
            </a:r>
            <a:r>
              <a:rPr lang="zh-CN" altLang="en-US" dirty="0">
                <a:solidFill>
                  <a:srgbClr val="7E7E7E"/>
                </a:solidFill>
                <a:latin typeface="微软雅黑" panose="020B0503020204020204" charset="-122"/>
                <a:ea typeface="微软雅黑" panose="020B0503020204020204" charset="-122"/>
              </a:rPr>
              <a:t>+</a:t>
            </a:r>
            <a:r>
              <a:rPr lang="zh-CN" altLang="en-US" dirty="0">
                <a:solidFill>
                  <a:srgbClr val="FF9999"/>
                </a:solidFill>
                <a:latin typeface="微软雅黑" panose="020B0503020204020204" charset="-122"/>
                <a:ea typeface="微软雅黑" panose="020B0503020204020204" charset="-122"/>
              </a:rPr>
              <a:t>段内偏移量</a:t>
            </a:r>
            <a:r>
              <a:rPr lang="zh-CN" altLang="en-US" dirty="0">
                <a:solidFill>
                  <a:srgbClr val="7E7E7E"/>
                </a:solidFill>
                <a:latin typeface="微软雅黑" panose="020B0503020204020204" charset="-122"/>
                <a:ea typeface="微软雅黑" panose="020B0503020204020204" charset="-122"/>
              </a:rPr>
              <a:t>）</a:t>
            </a:r>
            <a:endParaRPr lang="zh-CN" alt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80291">
                                            <p:txEl>
                                              <p:pRg st="1" end="1"/>
                                            </p:txEl>
                                          </p:spTgt>
                                        </p:tgtEl>
                                        <p:attrNameLst>
                                          <p:attrName>style.visibility</p:attrName>
                                        </p:attrNameLst>
                                      </p:cBhvr>
                                      <p:to>
                                        <p:strVal val="visible"/>
                                      </p:to>
                                    </p:set>
                                    <p:animEffect transition="in" filter="blinds(horizontal)">
                                      <p:cBhvr>
                                        <p:cTn id="20" dur="500"/>
                                        <p:tgtEl>
                                          <p:spTgt spid="780291">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780291">
                                            <p:txEl>
                                              <p:pRg st="3" end="3"/>
                                            </p:txEl>
                                          </p:spTgt>
                                        </p:tgtEl>
                                        <p:attrNameLst>
                                          <p:attrName>style.visibility</p:attrName>
                                        </p:attrNameLst>
                                      </p:cBhvr>
                                      <p:to>
                                        <p:strVal val="visible"/>
                                      </p:to>
                                    </p:set>
                                    <p:animEffect transition="in" filter="blinds(horizontal)">
                                      <p:cBhvr>
                                        <p:cTn id="25" dur="500"/>
                                        <p:tgtEl>
                                          <p:spTgt spid="780291">
                                            <p:txEl>
                                              <p:pRg st="3" end="3"/>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780291">
                                            <p:txEl>
                                              <p:pRg st="4" end="4"/>
                                            </p:txEl>
                                          </p:spTgt>
                                        </p:tgtEl>
                                        <p:attrNameLst>
                                          <p:attrName>style.visibility</p:attrName>
                                        </p:attrNameLst>
                                      </p:cBhvr>
                                      <p:to>
                                        <p:strVal val="visible"/>
                                      </p:to>
                                    </p:set>
                                    <p:animEffect transition="in" filter="blinds(horizontal)">
                                      <p:cBhvr>
                                        <p:cTn id="28" dur="500"/>
                                        <p:tgtEl>
                                          <p:spTgt spid="780291">
                                            <p:txEl>
                                              <p:pRg st="4" end="4"/>
                                            </p:txEl>
                                          </p:spTgt>
                                        </p:tgtEl>
                                      </p:cBhvr>
                                    </p:animEffect>
                                  </p:childTnLst>
                                </p:cTn>
                              </p:par>
                              <p:par>
                                <p:cTn id="29" presetID="3" presetClass="entr" presetSubtype="10" fill="hold" nodeType="withEffect">
                                  <p:stCondLst>
                                    <p:cond delay="0"/>
                                  </p:stCondLst>
                                  <p:childTnLst>
                                    <p:set>
                                      <p:cBhvr>
                                        <p:cTn id="30" dur="1" fill="hold">
                                          <p:stCondLst>
                                            <p:cond delay="0"/>
                                          </p:stCondLst>
                                        </p:cTn>
                                        <p:tgtEl>
                                          <p:spTgt spid="780291">
                                            <p:txEl>
                                              <p:pRg st="5" end="5"/>
                                            </p:txEl>
                                          </p:spTgt>
                                        </p:tgtEl>
                                        <p:attrNameLst>
                                          <p:attrName>style.visibility</p:attrName>
                                        </p:attrNameLst>
                                      </p:cBhvr>
                                      <p:to>
                                        <p:strVal val="visible"/>
                                      </p:to>
                                    </p:set>
                                    <p:animEffect transition="in" filter="blinds(horizontal)">
                                      <p:cBhvr>
                                        <p:cTn id="31" dur="500"/>
                                        <p:tgtEl>
                                          <p:spTgt spid="780291">
                                            <p:txEl>
                                              <p:pRg st="5" end="5"/>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780291">
                                            <p:txEl>
                                              <p:pRg st="7" end="7"/>
                                            </p:txEl>
                                          </p:spTgt>
                                        </p:tgtEl>
                                        <p:attrNameLst>
                                          <p:attrName>style.visibility</p:attrName>
                                        </p:attrNameLst>
                                      </p:cBhvr>
                                      <p:to>
                                        <p:strVal val="visible"/>
                                      </p:to>
                                    </p:set>
                                    <p:animEffect transition="in" filter="blinds(horizontal)">
                                      <p:cBhvr>
                                        <p:cTn id="36" dur="500"/>
                                        <p:tgtEl>
                                          <p:spTgt spid="780291">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780291">
                                            <p:txEl>
                                              <p:pRg st="9" end="9"/>
                                            </p:txEl>
                                          </p:spTgt>
                                        </p:tgtEl>
                                        <p:attrNameLst>
                                          <p:attrName>style.visibility</p:attrName>
                                        </p:attrNameLst>
                                      </p:cBhvr>
                                      <p:to>
                                        <p:strVal val="visible"/>
                                      </p:to>
                                    </p:set>
                                    <p:animEffect transition="in" filter="blinds(horizontal)">
                                      <p:cBhvr>
                                        <p:cTn id="41" dur="500"/>
                                        <p:tgtEl>
                                          <p:spTgt spid="780291">
                                            <p:txEl>
                                              <p:pRg st="9" end="9"/>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780291">
                                            <p:txEl>
                                              <p:pRg st="10" end="10"/>
                                            </p:txEl>
                                          </p:spTgt>
                                        </p:tgtEl>
                                        <p:attrNameLst>
                                          <p:attrName>style.visibility</p:attrName>
                                        </p:attrNameLst>
                                      </p:cBhvr>
                                      <p:to>
                                        <p:strVal val="visible"/>
                                      </p:to>
                                    </p:set>
                                    <p:animEffect transition="in" filter="blinds(horizontal)">
                                      <p:cBhvr>
                                        <p:cTn id="44" dur="500"/>
                                        <p:tgtEl>
                                          <p:spTgt spid="780291">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780291">
                                            <p:txEl>
                                              <p:pRg st="12" end="12"/>
                                            </p:txEl>
                                          </p:spTgt>
                                        </p:tgtEl>
                                        <p:attrNameLst>
                                          <p:attrName>style.visibility</p:attrName>
                                        </p:attrNameLst>
                                      </p:cBhvr>
                                      <p:to>
                                        <p:strVal val="visible"/>
                                      </p:to>
                                    </p:set>
                                    <p:animEffect transition="in" filter="blinds(horizontal)">
                                      <p:cBhvr>
                                        <p:cTn id="49" dur="500"/>
                                        <p:tgtEl>
                                          <p:spTgt spid="780291">
                                            <p:txEl>
                                              <p:pRg st="12" end="12"/>
                                            </p:txEl>
                                          </p:spTgt>
                                        </p:tgtEl>
                                      </p:cBhvr>
                                    </p:animEffect>
                                  </p:childTnLst>
                                </p:cTn>
                              </p:par>
                              <p:par>
                                <p:cTn id="50" presetID="3" presetClass="entr" presetSubtype="10" fill="hold" nodeType="withEffect">
                                  <p:stCondLst>
                                    <p:cond delay="0"/>
                                  </p:stCondLst>
                                  <p:childTnLst>
                                    <p:set>
                                      <p:cBhvr>
                                        <p:cTn id="51" dur="1" fill="hold">
                                          <p:stCondLst>
                                            <p:cond delay="0"/>
                                          </p:stCondLst>
                                        </p:cTn>
                                        <p:tgtEl>
                                          <p:spTgt spid="780291">
                                            <p:txEl>
                                              <p:pRg st="13" end="13"/>
                                            </p:txEl>
                                          </p:spTgt>
                                        </p:tgtEl>
                                        <p:attrNameLst>
                                          <p:attrName>style.visibility</p:attrName>
                                        </p:attrNameLst>
                                      </p:cBhvr>
                                      <p:to>
                                        <p:strVal val="visible"/>
                                      </p:to>
                                    </p:set>
                                    <p:animEffect transition="in" filter="blinds(horizontal)">
                                      <p:cBhvr>
                                        <p:cTn id="52" dur="500"/>
                                        <p:tgtEl>
                                          <p:spTgt spid="780291">
                                            <p:txEl>
                                              <p:pRg st="13" end="13"/>
                                            </p:txEl>
                                          </p:spTgt>
                                        </p:tgtEl>
                                      </p:cBhvr>
                                    </p:animEffect>
                                  </p:childTnLst>
                                </p:cTn>
                              </p:par>
                              <p:par>
                                <p:cTn id="53" presetID="3" presetClass="entr" presetSubtype="10" fill="hold" nodeType="withEffect">
                                  <p:stCondLst>
                                    <p:cond delay="0"/>
                                  </p:stCondLst>
                                  <p:childTnLst>
                                    <p:set>
                                      <p:cBhvr>
                                        <p:cTn id="54" dur="1" fill="hold">
                                          <p:stCondLst>
                                            <p:cond delay="0"/>
                                          </p:stCondLst>
                                        </p:cTn>
                                        <p:tgtEl>
                                          <p:spTgt spid="780291">
                                            <p:txEl>
                                              <p:pRg st="14" end="14"/>
                                            </p:txEl>
                                          </p:spTgt>
                                        </p:tgtEl>
                                        <p:attrNameLst>
                                          <p:attrName>style.visibility</p:attrName>
                                        </p:attrNameLst>
                                      </p:cBhvr>
                                      <p:to>
                                        <p:strVal val="visible"/>
                                      </p:to>
                                    </p:set>
                                    <p:animEffect transition="in" filter="blinds(horizontal)">
                                      <p:cBhvr>
                                        <p:cTn id="55" dur="500"/>
                                        <p:tgtEl>
                                          <p:spTgt spid="7802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9266" name="Rectangle 2"/>
          <p:cNvSpPr>
            <a:spLocks noGrp="1" noChangeArrowheads="1"/>
          </p:cNvSpPr>
          <p:nvPr>
            <p:ph type="title"/>
          </p:nvPr>
        </p:nvSpPr>
        <p:spPr>
          <a:xfrm>
            <a:off x="1009015" y="98425"/>
            <a:ext cx="6541770" cy="561975"/>
          </a:xfrm>
        </p:spPr>
        <p:txBody>
          <a:bodyPr/>
          <a:lstStyle/>
          <a:p>
            <a:r>
              <a:rPr lang="zh-CN" altLang="en-US" sz="3000" b="1" dirty="0">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ea typeface="+mn-ea"/>
                <a:cs typeface="+mn-ea"/>
              </a:rPr>
              <a:t>历史：</a:t>
            </a:r>
            <a:r>
              <a:rPr lang="zh-CN" altLang="en-US" sz="3000" b="1" dirty="0">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sym typeface="+mn-ea"/>
              </a:rPr>
              <a:t>IA-32</a:t>
            </a:r>
            <a:r>
              <a:rPr lang="zh-CN" altLang="en-US" sz="3000" b="1" dirty="0">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ea typeface="+mn-ea"/>
                <a:cs typeface="+mn-ea"/>
              </a:rPr>
              <a:t>保护模式下的寻址方式</a:t>
            </a:r>
            <a:endParaRPr lang="zh-CN" altLang="en-US" sz="3600"/>
          </a:p>
        </p:txBody>
      </p:sp>
      <p:sp>
        <p:nvSpPr>
          <p:cNvPr id="779267" name="Rectangle 3"/>
          <p:cNvSpPr>
            <a:spLocks noGrp="1" noChangeArrowheads="1"/>
          </p:cNvSpPr>
          <p:nvPr>
            <p:ph type="body" idx="1"/>
          </p:nvPr>
        </p:nvSpPr>
        <p:spPr>
          <a:xfrm>
            <a:off x="250825" y="5543550"/>
            <a:ext cx="8408988" cy="1268413"/>
          </a:xfrm>
        </p:spPr>
        <p:txBody>
          <a:bodyPr/>
          <a:lstStyle/>
          <a:p>
            <a:pPr>
              <a:lnSpc>
                <a:spcPct val="100000"/>
              </a:lnSpc>
            </a:pPr>
            <a:r>
              <a:rPr lang="en-US" altLang="zh-CN" sz="2000">
                <a:solidFill>
                  <a:srgbClr val="007635"/>
                </a:solidFill>
                <a:latin typeface="微软雅黑" panose="020B0503020204020204" charset="-122"/>
                <a:ea typeface="微软雅黑" panose="020B0503020204020204" charset="-122"/>
              </a:rPr>
              <a:t>SR</a:t>
            </a:r>
            <a:r>
              <a:rPr lang="zh-CN" altLang="en-US" sz="2000">
                <a:solidFill>
                  <a:srgbClr val="007635"/>
                </a:solidFill>
                <a:latin typeface="微软雅黑" panose="020B0503020204020204" charset="-122"/>
                <a:ea typeface="微软雅黑" panose="020B0503020204020204" charset="-122"/>
              </a:rPr>
              <a:t>段寄存器（间接）确定操作数所在段的</a:t>
            </a:r>
            <a:r>
              <a:rPr lang="zh-CN" altLang="en-US" sz="2000">
                <a:solidFill>
                  <a:srgbClr val="FF3300"/>
                </a:solidFill>
                <a:latin typeface="微软雅黑" panose="020B0503020204020204" charset="-122"/>
                <a:ea typeface="微软雅黑" panose="020B0503020204020204" charset="-122"/>
              </a:rPr>
              <a:t>段基址</a:t>
            </a:r>
          </a:p>
          <a:p>
            <a:pPr>
              <a:lnSpc>
                <a:spcPct val="100000"/>
              </a:lnSpc>
            </a:pPr>
            <a:r>
              <a:rPr lang="zh-CN" altLang="en-US" sz="2000">
                <a:solidFill>
                  <a:srgbClr val="FF3300"/>
                </a:solidFill>
                <a:latin typeface="微软雅黑" panose="020B0503020204020204" charset="-122"/>
                <a:ea typeface="微软雅黑" panose="020B0503020204020204" charset="-122"/>
              </a:rPr>
              <a:t>有效地址</a:t>
            </a:r>
            <a:r>
              <a:rPr lang="zh-CN" altLang="en-US" sz="2000">
                <a:solidFill>
                  <a:srgbClr val="007635"/>
                </a:solidFill>
                <a:latin typeface="微软雅黑" panose="020B0503020204020204" charset="-122"/>
                <a:ea typeface="微软雅黑" panose="020B0503020204020204" charset="-122"/>
              </a:rPr>
              <a:t>给出操作数在所在段的偏移地址</a:t>
            </a:r>
          </a:p>
          <a:p>
            <a:pPr>
              <a:lnSpc>
                <a:spcPct val="100000"/>
              </a:lnSpc>
            </a:pPr>
            <a:r>
              <a:rPr lang="zh-CN" altLang="en-US" sz="2000">
                <a:solidFill>
                  <a:srgbClr val="007635"/>
                </a:solidFill>
                <a:latin typeface="微软雅黑" panose="020B0503020204020204" charset="-122"/>
                <a:ea typeface="微软雅黑" panose="020B0503020204020204" charset="-122"/>
              </a:rPr>
              <a:t>寻址过程涉及到“</a:t>
            </a:r>
            <a:r>
              <a:rPr lang="zh-CN" altLang="en-US" sz="2000">
                <a:solidFill>
                  <a:srgbClr val="FF3300"/>
                </a:solidFill>
                <a:latin typeface="微软雅黑" panose="020B0503020204020204" charset="-122"/>
                <a:ea typeface="微软雅黑" panose="020B0503020204020204" charset="-122"/>
              </a:rPr>
              <a:t>分段虚拟管理方式</a:t>
            </a:r>
            <a:r>
              <a:rPr lang="zh-CN" altLang="en-US" sz="2000">
                <a:solidFill>
                  <a:srgbClr val="007635"/>
                </a:solidFill>
                <a:latin typeface="微软雅黑" panose="020B0503020204020204" charset="-122"/>
                <a:ea typeface="微软雅黑" panose="020B0503020204020204" charset="-122"/>
              </a:rPr>
              <a:t>”，将在第</a:t>
            </a:r>
            <a:r>
              <a:rPr lang="en-US" altLang="zh-CN" sz="2000">
                <a:solidFill>
                  <a:srgbClr val="007635"/>
                </a:solidFill>
                <a:latin typeface="微软雅黑" panose="020B0503020204020204" charset="-122"/>
                <a:ea typeface="微软雅黑" panose="020B0503020204020204" charset="-122"/>
              </a:rPr>
              <a:t>6</a:t>
            </a:r>
            <a:r>
              <a:rPr lang="zh-CN" altLang="en-US" sz="2000">
                <a:solidFill>
                  <a:srgbClr val="007635"/>
                </a:solidFill>
                <a:latin typeface="微软雅黑" panose="020B0503020204020204" charset="-122"/>
                <a:ea typeface="微软雅黑" panose="020B0503020204020204" charset="-122"/>
              </a:rPr>
              <a:t>章讨论</a:t>
            </a:r>
            <a:endParaRPr lang="zh-CN" altLang="en-US" sz="2200">
              <a:solidFill>
                <a:srgbClr val="007635"/>
              </a:solidFill>
              <a:latin typeface="微软雅黑" panose="020B0503020204020204" charset="-122"/>
              <a:ea typeface="微软雅黑" panose="020B0503020204020204" charset="-122"/>
            </a:endParaRPr>
          </a:p>
        </p:txBody>
      </p:sp>
      <p:pic>
        <p:nvPicPr>
          <p:cNvPr id="779268" name="Picture 4"/>
          <p:cNvPicPr>
            <a:picLocks noChangeAspect="1" noChangeArrowheads="1"/>
          </p:cNvPicPr>
          <p:nvPr/>
        </p:nvPicPr>
        <p:blipFill>
          <a:blip r:embed="rId2"/>
          <a:srcRect/>
          <a:stretch>
            <a:fillRect/>
          </a:stretch>
        </p:blipFill>
        <p:spPr bwMode="auto">
          <a:xfrm>
            <a:off x="90488" y="728663"/>
            <a:ext cx="8982075" cy="4816475"/>
          </a:xfrm>
          <a:prstGeom prst="rect">
            <a:avLst/>
          </a:prstGeom>
          <a:noFill/>
          <a:ln w="9525">
            <a:noFill/>
            <a:miter lim="800000"/>
            <a:headEnd/>
            <a:tailEnd/>
          </a:ln>
        </p:spPr>
      </p:pic>
      <p:sp>
        <p:nvSpPr>
          <p:cNvPr id="779269" name="Rectangle 5"/>
          <p:cNvSpPr>
            <a:spLocks noChangeArrowheads="1"/>
          </p:cNvSpPr>
          <p:nvPr/>
        </p:nvSpPr>
        <p:spPr bwMode="auto">
          <a:xfrm>
            <a:off x="161925" y="1943100"/>
            <a:ext cx="8596313" cy="2249488"/>
          </a:xfrm>
          <a:prstGeom prst="rect">
            <a:avLst/>
          </a:prstGeom>
          <a:solidFill>
            <a:schemeClr val="accent1">
              <a:alpha val="27000"/>
            </a:schemeClr>
          </a:solidFill>
          <a:ln w="9525">
            <a:solidFill>
              <a:schemeClr val="tx1"/>
            </a:solidFill>
            <a:miter lim="800000"/>
          </a:ln>
          <a:effectLst/>
        </p:spPr>
        <p:txBody>
          <a:bodyPr wrap="none" anchor="ctr"/>
          <a:lstStyle/>
          <a:p>
            <a:endParaRPr lang="zh-CN" altLang="en-US"/>
          </a:p>
        </p:txBody>
      </p:sp>
      <p:sp>
        <p:nvSpPr>
          <p:cNvPr id="779270" name="Rectangle 6"/>
          <p:cNvSpPr>
            <a:spLocks noChangeArrowheads="1"/>
          </p:cNvSpPr>
          <p:nvPr/>
        </p:nvSpPr>
        <p:spPr bwMode="auto">
          <a:xfrm>
            <a:off x="161925" y="4194175"/>
            <a:ext cx="8596313" cy="360363"/>
          </a:xfrm>
          <a:prstGeom prst="rect">
            <a:avLst/>
          </a:prstGeom>
          <a:solidFill>
            <a:srgbClr val="FF3300">
              <a:alpha val="25000"/>
            </a:srgbClr>
          </a:solidFill>
          <a:ln w="9525">
            <a:solidFill>
              <a:schemeClr val="tx1"/>
            </a:solidFill>
            <a:miter lim="800000"/>
          </a:ln>
          <a:effectLst/>
        </p:spPr>
        <p:txBody>
          <a:bodyPr wrap="none" anchor="ctr"/>
          <a:lstStyle/>
          <a:p>
            <a:endParaRPr lang="zh-CN" altLang="en-US"/>
          </a:p>
        </p:txBody>
      </p:sp>
      <p:grpSp>
        <p:nvGrpSpPr>
          <p:cNvPr id="2" name="Group 7"/>
          <p:cNvGrpSpPr/>
          <p:nvPr/>
        </p:nvGrpSpPr>
        <p:grpSpPr bwMode="auto">
          <a:xfrm>
            <a:off x="1466850" y="1943100"/>
            <a:ext cx="6254750" cy="4005263"/>
            <a:chOff x="924" y="1224"/>
            <a:chExt cx="3940" cy="2523"/>
          </a:xfrm>
        </p:grpSpPr>
        <p:sp>
          <p:nvSpPr>
            <p:cNvPr id="779272" name="Rectangle 8"/>
            <p:cNvSpPr>
              <a:spLocks noChangeArrowheads="1"/>
            </p:cNvSpPr>
            <p:nvPr/>
          </p:nvSpPr>
          <p:spPr bwMode="auto">
            <a:xfrm>
              <a:off x="3447" y="1224"/>
              <a:ext cx="1417" cy="1417"/>
            </a:xfrm>
            <a:prstGeom prst="rect">
              <a:avLst/>
            </a:prstGeom>
            <a:solidFill>
              <a:srgbClr val="800080">
                <a:alpha val="17000"/>
              </a:srgbClr>
            </a:solidFill>
            <a:ln w="9525">
              <a:solidFill>
                <a:schemeClr val="tx1"/>
              </a:solidFill>
              <a:miter lim="800000"/>
            </a:ln>
            <a:effectLst/>
          </p:spPr>
          <p:txBody>
            <a:bodyPr wrap="none" anchor="ctr"/>
            <a:lstStyle/>
            <a:p>
              <a:endParaRPr lang="zh-CN" altLang="en-US"/>
            </a:p>
          </p:txBody>
        </p:sp>
        <p:sp>
          <p:nvSpPr>
            <p:cNvPr id="779273" name="Line 9"/>
            <p:cNvSpPr>
              <a:spLocks noChangeShapeType="1"/>
            </p:cNvSpPr>
            <p:nvPr/>
          </p:nvSpPr>
          <p:spPr bwMode="auto">
            <a:xfrm flipV="1">
              <a:off x="924" y="2641"/>
              <a:ext cx="2977" cy="1106"/>
            </a:xfrm>
            <a:prstGeom prst="line">
              <a:avLst/>
            </a:prstGeom>
            <a:noFill/>
            <a:ln w="38100">
              <a:solidFill>
                <a:srgbClr val="FF3300"/>
              </a:solidFill>
              <a:round/>
              <a:tailEnd type="triangle" w="med" len="med"/>
            </a:ln>
            <a:effectLst/>
          </p:spPr>
          <p:txBody>
            <a:bodyPr/>
            <a:lstStyle/>
            <a:p>
              <a:endParaRPr lang="zh-CN" altLang="en-US"/>
            </a:p>
          </p:txBody>
        </p:sp>
      </p:grpSp>
      <p:grpSp>
        <p:nvGrpSpPr>
          <p:cNvPr id="3" name="Group 10"/>
          <p:cNvGrpSpPr/>
          <p:nvPr/>
        </p:nvGrpSpPr>
        <p:grpSpPr bwMode="auto">
          <a:xfrm>
            <a:off x="4616450" y="1943100"/>
            <a:ext cx="1169988" cy="3735388"/>
            <a:chOff x="2908" y="1224"/>
            <a:chExt cx="737" cy="2297"/>
          </a:xfrm>
        </p:grpSpPr>
        <p:sp>
          <p:nvSpPr>
            <p:cNvPr id="779275" name="Line 11"/>
            <p:cNvSpPr>
              <a:spLocks noChangeShapeType="1"/>
            </p:cNvSpPr>
            <p:nvPr/>
          </p:nvSpPr>
          <p:spPr bwMode="auto">
            <a:xfrm flipH="1" flipV="1">
              <a:off x="3249" y="2557"/>
              <a:ext cx="396" cy="964"/>
            </a:xfrm>
            <a:prstGeom prst="line">
              <a:avLst/>
            </a:prstGeom>
            <a:noFill/>
            <a:ln w="38100">
              <a:solidFill>
                <a:srgbClr val="FF3300"/>
              </a:solidFill>
              <a:round/>
              <a:tailEnd type="triangle" w="med" len="med"/>
            </a:ln>
            <a:effectLst/>
          </p:spPr>
          <p:txBody>
            <a:bodyPr/>
            <a:lstStyle/>
            <a:p>
              <a:endParaRPr lang="zh-CN" altLang="en-US"/>
            </a:p>
          </p:txBody>
        </p:sp>
        <p:sp>
          <p:nvSpPr>
            <p:cNvPr id="779276" name="Rectangle 12"/>
            <p:cNvSpPr>
              <a:spLocks noChangeArrowheads="1"/>
            </p:cNvSpPr>
            <p:nvPr/>
          </p:nvSpPr>
          <p:spPr bwMode="auto">
            <a:xfrm>
              <a:off x="2908" y="1224"/>
              <a:ext cx="426" cy="1361"/>
            </a:xfrm>
            <a:prstGeom prst="rect">
              <a:avLst/>
            </a:prstGeom>
            <a:solidFill>
              <a:srgbClr val="800080">
                <a:alpha val="25000"/>
              </a:srgbClr>
            </a:solidFill>
            <a:ln w="9525">
              <a:solidFill>
                <a:schemeClr val="tx1"/>
              </a:solidFill>
              <a:miter lim="800000"/>
            </a:ln>
            <a:effectLst/>
          </p:spPr>
          <p:txBody>
            <a:bodyPr wrap="none" anchor="ctr"/>
            <a:lstStyle/>
            <a:p>
              <a:endParaRPr lang="zh-CN" altLang="en-US"/>
            </a:p>
          </p:txBody>
        </p:sp>
      </p:grpSp>
      <p:grpSp>
        <p:nvGrpSpPr>
          <p:cNvPr id="4" name="Group 13"/>
          <p:cNvGrpSpPr/>
          <p:nvPr/>
        </p:nvGrpSpPr>
        <p:grpSpPr bwMode="auto">
          <a:xfrm>
            <a:off x="7812088" y="2033588"/>
            <a:ext cx="765175" cy="2055812"/>
            <a:chOff x="4921" y="1281"/>
            <a:chExt cx="482" cy="1295"/>
          </a:xfrm>
        </p:grpSpPr>
        <p:sp>
          <p:nvSpPr>
            <p:cNvPr id="779278" name="AutoShape 14"/>
            <p:cNvSpPr/>
            <p:nvPr/>
          </p:nvSpPr>
          <p:spPr bwMode="auto">
            <a:xfrm>
              <a:off x="4921" y="1281"/>
              <a:ext cx="114" cy="1276"/>
            </a:xfrm>
            <a:prstGeom prst="rightBrace">
              <a:avLst>
                <a:gd name="adj1" fmla="val 93275"/>
                <a:gd name="adj2" fmla="val 50000"/>
              </a:avLst>
            </a:prstGeom>
            <a:noFill/>
            <a:ln w="38100">
              <a:solidFill>
                <a:srgbClr val="FF3300"/>
              </a:solidFill>
              <a:round/>
            </a:ln>
            <a:effectLst/>
          </p:spPr>
          <p:txBody>
            <a:bodyPr wrap="none" anchor="ctr"/>
            <a:lstStyle/>
            <a:p>
              <a:endParaRPr lang="zh-CN" altLang="en-US"/>
            </a:p>
          </p:txBody>
        </p:sp>
        <p:sp>
          <p:nvSpPr>
            <p:cNvPr id="779279" name="Text Box 15"/>
            <p:cNvSpPr txBox="1">
              <a:spLocks noChangeArrowheads="1"/>
            </p:cNvSpPr>
            <p:nvPr/>
          </p:nvSpPr>
          <p:spPr bwMode="auto">
            <a:xfrm>
              <a:off x="5063" y="1366"/>
              <a:ext cx="340" cy="1210"/>
            </a:xfrm>
            <a:prstGeom prst="rect">
              <a:avLst/>
            </a:prstGeom>
            <a:solidFill>
              <a:schemeClr val="bg1"/>
            </a:solidFill>
            <a:ln w="9525">
              <a:noFill/>
              <a:miter lim="800000"/>
            </a:ln>
            <a:effectLst/>
          </p:spPr>
          <p:txBody>
            <a:bodyPr>
              <a:spAutoFit/>
            </a:bodyPr>
            <a:lstStyle/>
            <a:p>
              <a:pPr eaLnBrk="1" hangingPunct="1">
                <a:spcBef>
                  <a:spcPct val="50000"/>
                </a:spcBef>
              </a:pPr>
              <a:r>
                <a:rPr lang="zh-CN" altLang="en-US" sz="2000">
                  <a:latin typeface="Arial" panose="020B0604020202020204" pitchFamily="34" charset="0"/>
                </a:rPr>
                <a:t>存储器操作数</a:t>
              </a:r>
            </a:p>
          </p:txBody>
        </p:sp>
      </p:grpSp>
      <p:sp>
        <p:nvSpPr>
          <p:cNvPr id="779280" name="Text Box 16"/>
          <p:cNvSpPr txBox="1">
            <a:spLocks noChangeArrowheads="1"/>
          </p:cNvSpPr>
          <p:nvPr/>
        </p:nvSpPr>
        <p:spPr bwMode="auto">
          <a:xfrm>
            <a:off x="6192838" y="4194175"/>
            <a:ext cx="2519362" cy="381000"/>
          </a:xfrm>
          <a:prstGeom prst="rect">
            <a:avLst/>
          </a:prstGeom>
          <a:noFill/>
          <a:ln w="9525">
            <a:noFill/>
            <a:miter lim="800000"/>
          </a:ln>
          <a:effectLst/>
        </p:spPr>
        <p:txBody>
          <a:bodyPr>
            <a:spAutoFit/>
          </a:bodyPr>
          <a:lstStyle/>
          <a:p>
            <a:pPr eaLnBrk="1" hangingPunct="1">
              <a:spcBef>
                <a:spcPct val="50000"/>
              </a:spcBef>
            </a:pPr>
            <a:r>
              <a:rPr lang="zh-CN" altLang="en-US" sz="1900">
                <a:solidFill>
                  <a:srgbClr val="007635"/>
                </a:solidFill>
                <a:latin typeface="Arial" panose="020B0604020202020204" pitchFamily="34" charset="0"/>
              </a:rPr>
              <a:t>跳转目标指令地址</a:t>
            </a:r>
          </a:p>
        </p:txBody>
      </p:sp>
      <p:sp>
        <p:nvSpPr>
          <p:cNvPr id="779281" name="Rectangle 17"/>
          <p:cNvSpPr>
            <a:spLocks noChangeArrowheads="1"/>
          </p:cNvSpPr>
          <p:nvPr/>
        </p:nvSpPr>
        <p:spPr bwMode="auto">
          <a:xfrm>
            <a:off x="161925" y="1179513"/>
            <a:ext cx="8596313" cy="358775"/>
          </a:xfrm>
          <a:prstGeom prst="rect">
            <a:avLst/>
          </a:prstGeom>
          <a:solidFill>
            <a:srgbClr val="FFFF00">
              <a:alpha val="28999"/>
            </a:srgbClr>
          </a:solidFill>
          <a:ln w="9525" algn="ctr">
            <a:noFill/>
            <a:miter lim="800000"/>
          </a:ln>
          <a:effectLst/>
        </p:spPr>
        <p:txBody>
          <a:bodyPr wrap="none" anchor="ctr"/>
          <a:lstStyle/>
          <a:p>
            <a:endParaRPr lang="zh-CN" altLang="en-US"/>
          </a:p>
        </p:txBody>
      </p:sp>
      <p:sp>
        <p:nvSpPr>
          <p:cNvPr id="779282" name="Rectangle 18"/>
          <p:cNvSpPr>
            <a:spLocks noChangeArrowheads="1"/>
          </p:cNvSpPr>
          <p:nvPr/>
        </p:nvSpPr>
        <p:spPr bwMode="auto">
          <a:xfrm>
            <a:off x="206375" y="1584325"/>
            <a:ext cx="8551863" cy="358775"/>
          </a:xfrm>
          <a:prstGeom prst="rect">
            <a:avLst/>
          </a:prstGeom>
          <a:solidFill>
            <a:srgbClr val="000080">
              <a:alpha val="41000"/>
            </a:srgbClr>
          </a:solidFill>
          <a:ln w="9525" algn="ctr">
            <a:noFill/>
            <a:miter lim="800000"/>
          </a:ln>
          <a:effectLst/>
        </p:spPr>
        <p:txBody>
          <a:bodyPr wrap="none" anchor="ctr"/>
          <a:lstStyle/>
          <a:p>
            <a:endParaRPr lang="zh-CN" altLang="en-US"/>
          </a:p>
        </p:txBody>
      </p:sp>
      <p:sp>
        <p:nvSpPr>
          <p:cNvPr id="14" name="矩形 13"/>
          <p:cNvSpPr/>
          <p:nvPr/>
        </p:nvSpPr>
        <p:spPr>
          <a:xfrm flipV="1">
            <a:off x="-635" y="628015"/>
            <a:ext cx="9191625" cy="10096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9281"/>
                                        </p:tgtEl>
                                        <p:attrNameLst>
                                          <p:attrName>style.visibility</p:attrName>
                                        </p:attrNameLst>
                                      </p:cBhvr>
                                      <p:to>
                                        <p:strVal val="visible"/>
                                      </p:to>
                                    </p:set>
                                    <p:animEffect transition="in" filter="blinds(horizontal)">
                                      <p:cBhvr>
                                        <p:cTn id="12" dur="500"/>
                                        <p:tgtEl>
                                          <p:spTgt spid="77928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79282"/>
                                        </p:tgtEl>
                                        <p:attrNameLst>
                                          <p:attrName>style.visibility</p:attrName>
                                        </p:attrNameLst>
                                      </p:cBhvr>
                                      <p:to>
                                        <p:strVal val="visible"/>
                                      </p:to>
                                    </p:set>
                                    <p:animEffect transition="in" filter="blinds(horizontal)">
                                      <p:cBhvr>
                                        <p:cTn id="17" dur="500"/>
                                        <p:tgtEl>
                                          <p:spTgt spid="77928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79269"/>
                                        </p:tgtEl>
                                        <p:attrNameLst>
                                          <p:attrName>style.visibility</p:attrName>
                                        </p:attrNameLst>
                                      </p:cBhvr>
                                      <p:to>
                                        <p:strVal val="visible"/>
                                      </p:to>
                                    </p:set>
                                    <p:animEffect transition="in" filter="blinds(horizontal)">
                                      <p:cBhvr>
                                        <p:cTn id="22" dur="500"/>
                                        <p:tgtEl>
                                          <p:spTgt spid="77926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79267">
                                            <p:txEl>
                                              <p:pRg st="0" end="0"/>
                                            </p:txEl>
                                          </p:spTgt>
                                        </p:tgtEl>
                                        <p:attrNameLst>
                                          <p:attrName>style.visibility</p:attrName>
                                        </p:attrNameLst>
                                      </p:cBhvr>
                                      <p:to>
                                        <p:strVal val="visible"/>
                                      </p:to>
                                    </p:set>
                                    <p:animEffect transition="in" filter="blinds(horizontal)">
                                      <p:cBhvr>
                                        <p:cTn id="32" dur="500"/>
                                        <p:tgtEl>
                                          <p:spTgt spid="779267">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779267">
                                            <p:txEl>
                                              <p:pRg st="1" end="1"/>
                                            </p:txEl>
                                          </p:spTgt>
                                        </p:tgtEl>
                                        <p:attrNameLst>
                                          <p:attrName>style.visibility</p:attrName>
                                        </p:attrNameLst>
                                      </p:cBhvr>
                                      <p:to>
                                        <p:strVal val="visible"/>
                                      </p:to>
                                    </p:set>
                                    <p:animEffect transition="in" filter="blinds(horizontal)">
                                      <p:cBhvr>
                                        <p:cTn id="42" dur="500"/>
                                        <p:tgtEl>
                                          <p:spTgt spid="779267">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blinds(horizontal)">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779267">
                                            <p:txEl>
                                              <p:pRg st="2" end="2"/>
                                            </p:txEl>
                                          </p:spTgt>
                                        </p:tgtEl>
                                        <p:attrNameLst>
                                          <p:attrName>style.visibility</p:attrName>
                                        </p:attrNameLst>
                                      </p:cBhvr>
                                      <p:to>
                                        <p:strVal val="visible"/>
                                      </p:to>
                                    </p:set>
                                    <p:animEffect transition="in" filter="blinds(horizontal)">
                                      <p:cBhvr>
                                        <p:cTn id="52" dur="500"/>
                                        <p:tgtEl>
                                          <p:spTgt spid="779267">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79270"/>
                                        </p:tgtEl>
                                        <p:attrNameLst>
                                          <p:attrName>style.visibility</p:attrName>
                                        </p:attrNameLst>
                                      </p:cBhvr>
                                      <p:to>
                                        <p:strVal val="visible"/>
                                      </p:to>
                                    </p:set>
                                    <p:animEffect transition="in" filter="blinds(horizontal)">
                                      <p:cBhvr>
                                        <p:cTn id="57" dur="500"/>
                                        <p:tgtEl>
                                          <p:spTgt spid="779270"/>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779280"/>
                                        </p:tgtEl>
                                        <p:attrNameLst>
                                          <p:attrName>style.visibility</p:attrName>
                                        </p:attrNameLst>
                                      </p:cBhvr>
                                      <p:to>
                                        <p:strVal val="visible"/>
                                      </p:to>
                                    </p:set>
                                    <p:animEffect transition="in" filter="blinds(horizontal)">
                                      <p:cBhvr>
                                        <p:cTn id="62" dur="500"/>
                                        <p:tgtEl>
                                          <p:spTgt spid="779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9269" grpId="0" bldLvl="0" animBg="1"/>
      <p:bldP spid="779270" grpId="0" bldLvl="0" animBg="1"/>
      <p:bldP spid="779280" grpId="0" bldLvl="0" animBg="1"/>
      <p:bldP spid="779281" grpId="0" bldLvl="0" animBg="1"/>
      <p:bldP spid="779282" grpId="0" bldLvl="0" animBg="1"/>
      <p:bldP spid="14"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8786" name="Rectangle 5"/>
          <p:cNvSpPr>
            <a:spLocks noChangeArrowheads="1"/>
          </p:cNvSpPr>
          <p:nvPr/>
        </p:nvSpPr>
        <p:spPr bwMode="auto">
          <a:xfrm>
            <a:off x="0" y="3219450"/>
            <a:ext cx="9144000" cy="0"/>
          </a:xfrm>
          <a:prstGeom prst="rect">
            <a:avLst/>
          </a:prstGeom>
          <a:noFill/>
          <a:ln w="12700">
            <a:noFill/>
            <a:miter lim="800000"/>
          </a:ln>
        </p:spPr>
        <p:txBody>
          <a:bodyPr wrap="none" lIns="63500" tIns="25400" rIns="63500" bIns="25400" anchor="ctr">
            <a:spAutoFit/>
          </a:bodyPr>
          <a:lstStyle/>
          <a:p>
            <a:endParaRPr lang="zh-CN" altLang="en-US" sz="800">
              <a:solidFill>
                <a:schemeClr val="accent2"/>
              </a:solidFill>
              <a:latin typeface="Arial" panose="020B0604020202020204" pitchFamily="34" charset="0"/>
              <a:ea typeface="宋体" panose="02010600030101010101" pitchFamily="2" charset="-122"/>
            </a:endParaRPr>
          </a:p>
        </p:txBody>
      </p:sp>
      <p:pic>
        <p:nvPicPr>
          <p:cNvPr id="422918" name="Picture 6"/>
          <p:cNvPicPr>
            <a:picLocks noChangeAspect="1" noChangeArrowheads="1"/>
          </p:cNvPicPr>
          <p:nvPr/>
        </p:nvPicPr>
        <p:blipFill>
          <a:blip r:embed="rId2"/>
          <a:srcRect/>
          <a:stretch>
            <a:fillRect/>
          </a:stretch>
        </p:blipFill>
        <p:spPr bwMode="auto">
          <a:xfrm>
            <a:off x="431800" y="728663"/>
            <a:ext cx="8410575" cy="2384425"/>
          </a:xfrm>
          <a:prstGeom prst="rect">
            <a:avLst/>
          </a:prstGeom>
          <a:noFill/>
          <a:ln w="9525">
            <a:noFill/>
            <a:miter lim="800000"/>
            <a:headEnd/>
            <a:tailEnd/>
          </a:ln>
        </p:spPr>
      </p:pic>
      <p:sp>
        <p:nvSpPr>
          <p:cNvPr id="758788" name="Text Box 8"/>
          <p:cNvSpPr txBox="1">
            <a:spLocks noChangeArrowheads="1"/>
          </p:cNvSpPr>
          <p:nvPr/>
        </p:nvSpPr>
        <p:spPr bwMode="auto">
          <a:xfrm>
            <a:off x="781050" y="800100"/>
            <a:ext cx="2009775" cy="173038"/>
          </a:xfrm>
          <a:prstGeom prst="rect">
            <a:avLst/>
          </a:prstGeom>
          <a:noFill/>
          <a:ln w="12700">
            <a:noFill/>
            <a:miter lim="800000"/>
          </a:ln>
        </p:spPr>
        <p:txBody>
          <a:bodyPr lIns="63500" tIns="25400" rIns="63500" bIns="25400">
            <a:spAutoFit/>
          </a:bodyPr>
          <a:lstStyle/>
          <a:p>
            <a:pPr>
              <a:spcBef>
                <a:spcPct val="50000"/>
              </a:spcBef>
            </a:pPr>
            <a:endParaRPr lang="zh-CN" altLang="en-US" sz="800">
              <a:solidFill>
                <a:schemeClr val="accent2"/>
              </a:solidFill>
              <a:latin typeface="Arial" panose="020B0604020202020204" pitchFamily="34" charset="0"/>
              <a:ea typeface="宋体" panose="02010600030101010101" pitchFamily="2" charset="-122"/>
            </a:endParaRPr>
          </a:p>
        </p:txBody>
      </p:sp>
      <p:sp>
        <p:nvSpPr>
          <p:cNvPr id="758789" name="Text Box 12"/>
          <p:cNvSpPr txBox="1">
            <a:spLocks noChangeArrowheads="1"/>
          </p:cNvSpPr>
          <p:nvPr/>
        </p:nvSpPr>
        <p:spPr bwMode="auto">
          <a:xfrm>
            <a:off x="296863" y="3024188"/>
            <a:ext cx="8585200" cy="2017712"/>
          </a:xfrm>
          <a:prstGeom prst="rect">
            <a:avLst/>
          </a:prstGeom>
          <a:noFill/>
          <a:ln w="12700">
            <a:noFill/>
            <a:miter lim="800000"/>
          </a:ln>
        </p:spPr>
        <p:txBody>
          <a:bodyPr lIns="63500" tIns="25400" rIns="63500" bIns="25400">
            <a:spAutoFit/>
          </a:bodyPr>
          <a:lstStyle/>
          <a:p>
            <a:pPr>
              <a:spcBef>
                <a:spcPct val="15000"/>
              </a:spcBef>
            </a:pPr>
            <a:r>
              <a:rPr lang="zh-CN" altLang="en-US" sz="2000">
                <a:solidFill>
                  <a:srgbClr val="FF3300"/>
                </a:solidFill>
              </a:rPr>
              <a:t>位移量</a:t>
            </a:r>
            <a:r>
              <a:rPr lang="zh-CN" altLang="en-US" sz="2000">
                <a:solidFill>
                  <a:schemeClr val="accent2"/>
                </a:solidFill>
              </a:rPr>
              <a:t>和</a:t>
            </a:r>
            <a:r>
              <a:rPr lang="zh-CN" altLang="en-US" sz="2000">
                <a:solidFill>
                  <a:srgbClr val="FF3300"/>
                </a:solidFill>
              </a:rPr>
              <a:t>立即数</a:t>
            </a:r>
            <a:r>
              <a:rPr lang="zh-CN" altLang="en-US" sz="2000">
                <a:solidFill>
                  <a:schemeClr val="accent2"/>
                </a:solidFill>
              </a:rPr>
              <a:t>都可以是：</a:t>
            </a:r>
            <a:r>
              <a:rPr lang="en-US" altLang="zh-CN" sz="2000">
                <a:solidFill>
                  <a:schemeClr val="accent2"/>
                </a:solidFill>
              </a:rPr>
              <a:t>1B/2B/4B</a:t>
            </a:r>
          </a:p>
          <a:p>
            <a:pPr>
              <a:spcBef>
                <a:spcPct val="15000"/>
              </a:spcBef>
            </a:pPr>
            <a:r>
              <a:rPr lang="en-US" altLang="zh-CN" sz="2000">
                <a:solidFill>
                  <a:srgbClr val="FF3300"/>
                </a:solidFill>
              </a:rPr>
              <a:t>SIB</a:t>
            </a:r>
            <a:r>
              <a:rPr lang="zh-CN" altLang="en-US" sz="2000">
                <a:solidFill>
                  <a:schemeClr val="accent2"/>
                </a:solidFill>
              </a:rPr>
              <a:t>中基址</a:t>
            </a:r>
            <a:r>
              <a:rPr lang="en-US" altLang="zh-CN" sz="2000">
                <a:solidFill>
                  <a:schemeClr val="accent2"/>
                </a:solidFill>
              </a:rPr>
              <a:t>B</a:t>
            </a:r>
            <a:r>
              <a:rPr lang="zh-CN" altLang="en-US" sz="2000">
                <a:solidFill>
                  <a:schemeClr val="accent2"/>
                </a:solidFill>
              </a:rPr>
              <a:t>和变址</a:t>
            </a:r>
            <a:r>
              <a:rPr lang="en-US" altLang="zh-CN" sz="2000">
                <a:solidFill>
                  <a:schemeClr val="accent2"/>
                </a:solidFill>
              </a:rPr>
              <a:t>I</a:t>
            </a:r>
            <a:r>
              <a:rPr lang="zh-CN" altLang="en-US" sz="2000">
                <a:solidFill>
                  <a:schemeClr val="accent2"/>
                </a:solidFill>
              </a:rPr>
              <a:t>都可是</a:t>
            </a:r>
            <a:r>
              <a:rPr lang="en-US" altLang="zh-CN" sz="2000">
                <a:solidFill>
                  <a:schemeClr val="accent2"/>
                </a:solidFill>
              </a:rPr>
              <a:t>8</a:t>
            </a:r>
            <a:r>
              <a:rPr lang="zh-CN" altLang="en-US" sz="2000">
                <a:solidFill>
                  <a:schemeClr val="accent2"/>
                </a:solidFill>
              </a:rPr>
              <a:t>个</a:t>
            </a:r>
            <a:r>
              <a:rPr lang="en-US" altLang="zh-CN" sz="2000">
                <a:solidFill>
                  <a:schemeClr val="accent2"/>
                </a:solidFill>
              </a:rPr>
              <a:t>GRS</a:t>
            </a:r>
            <a:r>
              <a:rPr lang="zh-CN" altLang="en-US" sz="2000">
                <a:solidFill>
                  <a:schemeClr val="accent2"/>
                </a:solidFill>
              </a:rPr>
              <a:t>中任一个；</a:t>
            </a:r>
            <a:r>
              <a:rPr lang="en-US" altLang="zh-CN" sz="2000">
                <a:solidFill>
                  <a:schemeClr val="accent2"/>
                </a:solidFill>
              </a:rPr>
              <a:t>SS</a:t>
            </a:r>
            <a:r>
              <a:rPr lang="zh-CN" altLang="en-US" sz="2000">
                <a:solidFill>
                  <a:schemeClr val="accent2"/>
                </a:solidFill>
              </a:rPr>
              <a:t>给出比例因子</a:t>
            </a:r>
          </a:p>
          <a:p>
            <a:pPr>
              <a:spcBef>
                <a:spcPct val="15000"/>
              </a:spcBef>
            </a:pPr>
            <a:r>
              <a:rPr lang="zh-CN" altLang="en-US" sz="2000">
                <a:solidFill>
                  <a:srgbClr val="FF3300"/>
                </a:solidFill>
              </a:rPr>
              <a:t>操作码</a:t>
            </a:r>
            <a:r>
              <a:rPr lang="zh-CN" altLang="en-US" sz="2000">
                <a:solidFill>
                  <a:schemeClr val="accent2"/>
                </a:solidFill>
              </a:rPr>
              <a:t>：</a:t>
            </a:r>
            <a:r>
              <a:rPr lang="en-US" altLang="zh-CN" sz="2000">
                <a:solidFill>
                  <a:schemeClr val="tx1"/>
                </a:solidFill>
              </a:rPr>
              <a:t>opcode; W</a:t>
            </a:r>
            <a:r>
              <a:rPr lang="zh-CN" altLang="en-US" sz="2000">
                <a:solidFill>
                  <a:schemeClr val="tx1"/>
                </a:solidFill>
              </a:rPr>
              <a:t>：与机器模式（</a:t>
            </a:r>
            <a:r>
              <a:rPr lang="en-US" altLang="zh-CN" sz="2000">
                <a:solidFill>
                  <a:schemeClr val="tx1"/>
                </a:solidFill>
              </a:rPr>
              <a:t>16 / 32</a:t>
            </a:r>
            <a:r>
              <a:rPr lang="zh-CN" altLang="en-US" sz="2000">
                <a:solidFill>
                  <a:schemeClr val="tx1"/>
                </a:solidFill>
              </a:rPr>
              <a:t>位）一起确定寄存器位数（</a:t>
            </a:r>
            <a:r>
              <a:rPr lang="en-US" altLang="zh-CN" sz="2000">
                <a:solidFill>
                  <a:schemeClr val="tx1"/>
                </a:solidFill>
              </a:rPr>
              <a:t>AL / AX / EAX</a:t>
            </a:r>
            <a:r>
              <a:rPr lang="zh-CN" altLang="en-US" sz="2000">
                <a:solidFill>
                  <a:schemeClr val="tx1"/>
                </a:solidFill>
              </a:rPr>
              <a:t>）</a:t>
            </a:r>
            <a:r>
              <a:rPr lang="en-US" altLang="zh-CN" sz="2000">
                <a:solidFill>
                  <a:schemeClr val="tx1"/>
                </a:solidFill>
              </a:rPr>
              <a:t>; D</a:t>
            </a:r>
            <a:r>
              <a:rPr lang="zh-CN" altLang="en-US" sz="2000">
                <a:solidFill>
                  <a:schemeClr val="tx1"/>
                </a:solidFill>
              </a:rPr>
              <a:t>：操作方向（确定源和目标）</a:t>
            </a:r>
          </a:p>
          <a:p>
            <a:pPr>
              <a:spcBef>
                <a:spcPct val="15000"/>
              </a:spcBef>
            </a:pPr>
            <a:r>
              <a:rPr lang="zh-CN" altLang="en-US" sz="2000">
                <a:solidFill>
                  <a:srgbClr val="FF3300"/>
                </a:solidFill>
              </a:rPr>
              <a:t>寻址方式（</a:t>
            </a:r>
            <a:r>
              <a:rPr lang="en-US" altLang="zh-CN" sz="2000">
                <a:solidFill>
                  <a:srgbClr val="FF3300"/>
                </a:solidFill>
              </a:rPr>
              <a:t>ModRM</a:t>
            </a:r>
            <a:r>
              <a:rPr lang="zh-CN" altLang="en-US" sz="2000">
                <a:solidFill>
                  <a:srgbClr val="FF3300"/>
                </a:solidFill>
              </a:rPr>
              <a:t>字节）</a:t>
            </a:r>
            <a:r>
              <a:rPr lang="zh-CN" altLang="en-US" sz="2000">
                <a:solidFill>
                  <a:schemeClr val="accent2"/>
                </a:solidFill>
              </a:rPr>
              <a:t>：</a:t>
            </a:r>
            <a:r>
              <a:rPr lang="en-US" altLang="zh-CN" sz="2000">
                <a:solidFill>
                  <a:srgbClr val="A50021"/>
                </a:solidFill>
              </a:rPr>
              <a:t> </a:t>
            </a:r>
            <a:r>
              <a:rPr lang="en-US" altLang="zh-CN" sz="2000">
                <a:solidFill>
                  <a:schemeClr val="tx1"/>
                </a:solidFill>
              </a:rPr>
              <a:t>mod</a:t>
            </a:r>
            <a:r>
              <a:rPr lang="zh-CN" altLang="en-US" sz="2000">
                <a:solidFill>
                  <a:schemeClr val="tx1"/>
                </a:solidFill>
              </a:rPr>
              <a:t>、</a:t>
            </a:r>
            <a:r>
              <a:rPr lang="en-US" altLang="zh-CN" sz="2000">
                <a:solidFill>
                  <a:schemeClr val="tx1"/>
                </a:solidFill>
              </a:rPr>
              <a:t>r/m</a:t>
            </a:r>
            <a:r>
              <a:rPr lang="zh-CN" altLang="en-US" sz="2000">
                <a:solidFill>
                  <a:schemeClr val="tx1"/>
                </a:solidFill>
              </a:rPr>
              <a:t>、 </a:t>
            </a:r>
            <a:r>
              <a:rPr lang="en-US" altLang="zh-CN" sz="2000">
                <a:solidFill>
                  <a:schemeClr val="tx1"/>
                </a:solidFill>
              </a:rPr>
              <a:t>reg/op</a:t>
            </a:r>
            <a:r>
              <a:rPr lang="zh-CN" altLang="en-US" sz="2000">
                <a:solidFill>
                  <a:schemeClr val="tx1"/>
                </a:solidFill>
              </a:rPr>
              <a:t>三个字段与</a:t>
            </a:r>
            <a:r>
              <a:rPr lang="en-US" altLang="zh-CN" sz="2000">
                <a:solidFill>
                  <a:schemeClr val="tx1"/>
                </a:solidFill>
              </a:rPr>
              <a:t>w</a:t>
            </a:r>
            <a:r>
              <a:rPr lang="zh-CN" altLang="en-US" sz="2000">
                <a:solidFill>
                  <a:schemeClr val="tx1"/>
                </a:solidFill>
              </a:rPr>
              <a:t>字段和机器模式（</a:t>
            </a:r>
            <a:r>
              <a:rPr lang="en-US" altLang="zh-CN" sz="2000">
                <a:solidFill>
                  <a:schemeClr val="tx1"/>
                </a:solidFill>
              </a:rPr>
              <a:t>16/32</a:t>
            </a:r>
            <a:r>
              <a:rPr lang="zh-CN" altLang="en-US" sz="2000">
                <a:solidFill>
                  <a:schemeClr val="tx1"/>
                </a:solidFill>
              </a:rPr>
              <a:t>）一起确定操作数所在的寄存器编号或有效地址计算方式</a:t>
            </a:r>
          </a:p>
        </p:txBody>
      </p:sp>
      <p:sp>
        <p:nvSpPr>
          <p:cNvPr id="758790" name="Rectangle 6"/>
          <p:cNvSpPr>
            <a:spLocks noChangeArrowheads="1"/>
          </p:cNvSpPr>
          <p:nvPr/>
        </p:nvSpPr>
        <p:spPr bwMode="auto">
          <a:xfrm>
            <a:off x="476250" y="122238"/>
            <a:ext cx="8229600" cy="561975"/>
          </a:xfrm>
          <a:prstGeom prst="rect">
            <a:avLst/>
          </a:prstGeom>
          <a:noFill/>
          <a:ln w="9525">
            <a:noFill/>
            <a:miter lim="800000"/>
          </a:ln>
        </p:spPr>
        <p:txBody>
          <a:bodyPr anchor="ctr"/>
          <a:lstStyle/>
          <a:p>
            <a:pPr algn="ctr"/>
            <a:r>
              <a:rPr lang="zh-CN" altLang="en-US" sz="3000" b="1" dirty="0">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rPr>
              <a:t>历史：IA-32机器指令格式</a:t>
            </a:r>
            <a:endParaRPr lang="zh-CN" altLang="en-US" sz="3600">
              <a:solidFill>
                <a:srgbClr val="CC3300"/>
              </a:solidFill>
              <a:latin typeface="Arial" panose="020B0604020202020204" pitchFamily="34" charset="0"/>
              <a:ea typeface="黑体" panose="02010609060101010101" charset="-122"/>
            </a:endParaRPr>
          </a:p>
        </p:txBody>
      </p:sp>
      <p:grpSp>
        <p:nvGrpSpPr>
          <p:cNvPr id="2" name="Group 8"/>
          <p:cNvGrpSpPr/>
          <p:nvPr/>
        </p:nvGrpSpPr>
        <p:grpSpPr bwMode="auto">
          <a:xfrm>
            <a:off x="2544763" y="2663825"/>
            <a:ext cx="4995862" cy="2611438"/>
            <a:chOff x="1519" y="1678"/>
            <a:chExt cx="3147" cy="1645"/>
          </a:xfrm>
        </p:grpSpPr>
        <p:sp>
          <p:nvSpPr>
            <p:cNvPr id="758793" name="Line 9"/>
            <p:cNvSpPr>
              <a:spLocks noChangeShapeType="1"/>
            </p:cNvSpPr>
            <p:nvPr/>
          </p:nvSpPr>
          <p:spPr bwMode="auto">
            <a:xfrm flipH="1">
              <a:off x="3390" y="1678"/>
              <a:ext cx="57" cy="1616"/>
            </a:xfrm>
            <a:prstGeom prst="line">
              <a:avLst/>
            </a:prstGeom>
            <a:noFill/>
            <a:ln w="38100">
              <a:solidFill>
                <a:srgbClr val="FF3300"/>
              </a:solidFill>
              <a:round/>
              <a:tailEnd type="triangle" w="med" len="med"/>
            </a:ln>
            <a:effectLst/>
          </p:spPr>
          <p:txBody>
            <a:bodyPr/>
            <a:lstStyle/>
            <a:p>
              <a:endParaRPr lang="zh-CN" altLang="en-US"/>
            </a:p>
          </p:txBody>
        </p:sp>
        <p:sp>
          <p:nvSpPr>
            <p:cNvPr id="758794" name="Line 10"/>
            <p:cNvSpPr>
              <a:spLocks noChangeShapeType="1"/>
            </p:cNvSpPr>
            <p:nvPr/>
          </p:nvSpPr>
          <p:spPr bwMode="auto">
            <a:xfrm flipH="1">
              <a:off x="3192" y="1678"/>
              <a:ext cx="964" cy="1616"/>
            </a:xfrm>
            <a:prstGeom prst="line">
              <a:avLst/>
            </a:prstGeom>
            <a:noFill/>
            <a:ln w="38100">
              <a:solidFill>
                <a:srgbClr val="FF3300"/>
              </a:solidFill>
              <a:round/>
              <a:tailEnd type="triangle" w="med" len="med"/>
            </a:ln>
            <a:effectLst/>
          </p:spPr>
          <p:txBody>
            <a:bodyPr/>
            <a:lstStyle/>
            <a:p>
              <a:endParaRPr lang="zh-CN" altLang="en-US"/>
            </a:p>
          </p:txBody>
        </p:sp>
        <p:sp>
          <p:nvSpPr>
            <p:cNvPr id="758795" name="Line 11"/>
            <p:cNvSpPr>
              <a:spLocks noChangeShapeType="1"/>
            </p:cNvSpPr>
            <p:nvPr/>
          </p:nvSpPr>
          <p:spPr bwMode="auto">
            <a:xfrm flipH="1">
              <a:off x="2455" y="1707"/>
              <a:ext cx="2211" cy="1616"/>
            </a:xfrm>
            <a:prstGeom prst="line">
              <a:avLst/>
            </a:prstGeom>
            <a:noFill/>
            <a:ln w="38100">
              <a:solidFill>
                <a:srgbClr val="FF3300"/>
              </a:solidFill>
              <a:round/>
              <a:tailEnd type="triangle" w="med" len="med"/>
            </a:ln>
            <a:effectLst/>
          </p:spPr>
          <p:txBody>
            <a:bodyPr/>
            <a:lstStyle/>
            <a:p>
              <a:endParaRPr lang="zh-CN" altLang="en-US"/>
            </a:p>
          </p:txBody>
        </p:sp>
        <p:sp>
          <p:nvSpPr>
            <p:cNvPr id="758796" name="Line 12"/>
            <p:cNvSpPr>
              <a:spLocks noChangeShapeType="1"/>
            </p:cNvSpPr>
            <p:nvPr/>
          </p:nvSpPr>
          <p:spPr bwMode="auto">
            <a:xfrm>
              <a:off x="1519" y="1678"/>
              <a:ext cx="2382" cy="1588"/>
            </a:xfrm>
            <a:prstGeom prst="line">
              <a:avLst/>
            </a:prstGeom>
            <a:noFill/>
            <a:ln w="38100">
              <a:solidFill>
                <a:srgbClr val="FF3300"/>
              </a:solidFill>
              <a:round/>
              <a:tailEnd type="triangle" w="med" len="med"/>
            </a:ln>
            <a:effectLst/>
          </p:spPr>
          <p:txBody>
            <a:bodyPr/>
            <a:lstStyle/>
            <a:p>
              <a:endParaRPr lang="zh-CN" altLang="en-US"/>
            </a:p>
          </p:txBody>
        </p:sp>
      </p:grpSp>
      <p:sp>
        <p:nvSpPr>
          <p:cNvPr id="758806" name="Text Box 22"/>
          <p:cNvSpPr txBox="1">
            <a:spLocks noChangeArrowheads="1"/>
          </p:cNvSpPr>
          <p:nvPr/>
        </p:nvSpPr>
        <p:spPr bwMode="auto">
          <a:xfrm>
            <a:off x="4887913" y="1741488"/>
            <a:ext cx="2474912" cy="427037"/>
          </a:xfrm>
          <a:prstGeom prst="rect">
            <a:avLst/>
          </a:prstGeom>
          <a:noFill/>
          <a:ln w="9525" algn="ctr">
            <a:noFill/>
            <a:miter lim="800000"/>
          </a:ln>
          <a:effectLst/>
        </p:spPr>
        <p:txBody>
          <a:bodyPr>
            <a:spAutoFit/>
          </a:bodyPr>
          <a:lstStyle/>
          <a:p>
            <a:pPr marL="342900" indent="-342900">
              <a:spcBef>
                <a:spcPct val="50000"/>
              </a:spcBef>
            </a:pPr>
            <a:r>
              <a:rPr lang="zh-CN" altLang="en-US" sz="2200">
                <a:solidFill>
                  <a:srgbClr val="CC3300"/>
                </a:solidFill>
              </a:rPr>
              <a:t>存储器操作数</a:t>
            </a:r>
          </a:p>
        </p:txBody>
      </p:sp>
      <p:sp>
        <p:nvSpPr>
          <p:cNvPr id="5" name="Rectangle 7"/>
          <p:cNvSpPr>
            <a:spLocks noChangeArrowheads="1"/>
          </p:cNvSpPr>
          <p:nvPr/>
        </p:nvSpPr>
        <p:spPr bwMode="auto">
          <a:xfrm>
            <a:off x="1168718" y="5138738"/>
            <a:ext cx="7289800" cy="1568450"/>
          </a:xfrm>
          <a:prstGeom prst="rect">
            <a:avLst/>
          </a:prstGeom>
          <a:noFill/>
          <a:ln w="9525" algn="ctr">
            <a:noFill/>
            <a:miter lim="800000"/>
          </a:ln>
          <a:effectLst/>
        </p:spPr>
        <p:txBody>
          <a:bodyPr>
            <a:spAutoFit/>
          </a:bodyPr>
          <a:lstStyle/>
          <a:p>
            <a:pPr marL="342900" indent="-342900"/>
            <a:r>
              <a:rPr lang="en-US" altLang="zh-CN" sz="2400" b="1">
                <a:latin typeface="微软雅黑" panose="020B0503020204020204" charset="-122"/>
                <a:ea typeface="微软雅黑" panose="020B0503020204020204" charset="-122"/>
              </a:rPr>
              <a:t>8d 04 02   lea  (%edx,%eax,1), %eax</a:t>
            </a:r>
          </a:p>
          <a:p>
            <a:pPr marL="342900" indent="-342900"/>
            <a:endParaRPr lang="en-US" altLang="zh-CN" sz="2400" b="1">
              <a:latin typeface="微软雅黑" panose="020B0503020204020204" charset="-122"/>
              <a:ea typeface="微软雅黑" panose="020B0503020204020204" charset="-122"/>
            </a:endParaRPr>
          </a:p>
          <a:p>
            <a:pPr marL="342900" indent="-342900"/>
            <a:endParaRPr lang="en-US" altLang="zh-CN" sz="2400" b="1">
              <a:latin typeface="微软雅黑" panose="020B0503020204020204" charset="-122"/>
              <a:ea typeface="微软雅黑" panose="020B0503020204020204" charset="-122"/>
            </a:endParaRPr>
          </a:p>
          <a:p>
            <a:pPr marL="342900" indent="-342900"/>
            <a:r>
              <a:rPr lang="en-US" altLang="zh-CN" sz="2400" b="1">
                <a:solidFill>
                  <a:srgbClr val="008000"/>
                </a:solidFill>
                <a:latin typeface="微软雅黑" panose="020B0503020204020204" charset="-122"/>
                <a:ea typeface="微软雅黑" panose="020B0503020204020204" charset="-122"/>
              </a:rPr>
              <a:t>1000 1101</a:t>
            </a:r>
            <a:r>
              <a:rPr lang="en-US" altLang="zh-CN" sz="2400" b="1">
                <a:latin typeface="微软雅黑" panose="020B0503020204020204" charset="-122"/>
                <a:ea typeface="微软雅黑" panose="020B0503020204020204" charset="-122"/>
              </a:rPr>
              <a:t> </a:t>
            </a:r>
            <a:r>
              <a:rPr lang="en-US" altLang="zh-CN" sz="2400" b="1">
                <a:solidFill>
                  <a:schemeClr val="accent2"/>
                </a:solidFill>
                <a:latin typeface="微软雅黑" panose="020B0503020204020204" charset="-122"/>
                <a:ea typeface="微软雅黑" panose="020B0503020204020204" charset="-122"/>
              </a:rPr>
              <a:t>00 00</a:t>
            </a:r>
            <a:r>
              <a:rPr lang="en-US" altLang="zh-CN" sz="2400" b="1">
                <a:solidFill>
                  <a:srgbClr val="FF3300"/>
                </a:solidFill>
                <a:latin typeface="微软雅黑" panose="020B0503020204020204" charset="-122"/>
                <a:ea typeface="微软雅黑" panose="020B0503020204020204" charset="-122"/>
              </a:rPr>
              <a:t>0 100</a:t>
            </a:r>
            <a:r>
              <a:rPr lang="en-US" altLang="zh-CN" sz="2400" b="1">
                <a:latin typeface="微软雅黑" panose="020B0503020204020204" charset="-122"/>
                <a:ea typeface="微软雅黑" panose="020B0503020204020204" charset="-122"/>
              </a:rPr>
              <a:t> 00 00</a:t>
            </a:r>
            <a:r>
              <a:rPr lang="en-US" altLang="zh-CN" sz="2400" b="1">
                <a:solidFill>
                  <a:srgbClr val="CC3300"/>
                </a:solidFill>
                <a:latin typeface="微软雅黑" panose="020B0503020204020204" charset="-122"/>
                <a:ea typeface="微软雅黑" panose="020B0503020204020204" charset="-122"/>
              </a:rPr>
              <a:t>0 010</a:t>
            </a:r>
          </a:p>
        </p:txBody>
      </p:sp>
      <p:grpSp>
        <p:nvGrpSpPr>
          <p:cNvPr id="6" name="Group 13"/>
          <p:cNvGrpSpPr/>
          <p:nvPr/>
        </p:nvGrpSpPr>
        <p:grpSpPr bwMode="auto">
          <a:xfrm>
            <a:off x="3404870" y="6683693"/>
            <a:ext cx="3060700" cy="0"/>
            <a:chOff x="2086" y="4059"/>
            <a:chExt cx="1928" cy="0"/>
          </a:xfrm>
        </p:grpSpPr>
        <p:sp>
          <p:nvSpPr>
            <p:cNvPr id="7" name="Line 14"/>
            <p:cNvSpPr>
              <a:spLocks noChangeShapeType="1"/>
            </p:cNvSpPr>
            <p:nvPr/>
          </p:nvSpPr>
          <p:spPr bwMode="auto">
            <a:xfrm>
              <a:off x="3646" y="4059"/>
              <a:ext cx="368" cy="0"/>
            </a:xfrm>
            <a:prstGeom prst="line">
              <a:avLst/>
            </a:prstGeom>
            <a:noFill/>
            <a:ln w="57150">
              <a:solidFill>
                <a:srgbClr val="005024"/>
              </a:solidFill>
              <a:round/>
            </a:ln>
            <a:effectLst/>
          </p:spPr>
          <p:txBody>
            <a:bodyPr/>
            <a:lstStyle/>
            <a:p>
              <a:endParaRPr lang="zh-CN" altLang="en-US"/>
            </a:p>
          </p:txBody>
        </p:sp>
        <p:sp>
          <p:nvSpPr>
            <p:cNvPr id="8" name="Line 15"/>
            <p:cNvSpPr>
              <a:spLocks noChangeShapeType="1"/>
            </p:cNvSpPr>
            <p:nvPr/>
          </p:nvSpPr>
          <p:spPr bwMode="auto">
            <a:xfrm>
              <a:off x="3192" y="4059"/>
              <a:ext cx="368" cy="0"/>
            </a:xfrm>
            <a:prstGeom prst="line">
              <a:avLst/>
            </a:prstGeom>
            <a:noFill/>
            <a:ln w="57150">
              <a:solidFill>
                <a:srgbClr val="005024"/>
              </a:solidFill>
              <a:round/>
            </a:ln>
            <a:effectLst/>
          </p:spPr>
          <p:txBody>
            <a:bodyPr/>
            <a:lstStyle/>
            <a:p>
              <a:endParaRPr lang="zh-CN" altLang="en-US"/>
            </a:p>
          </p:txBody>
        </p:sp>
        <p:sp>
          <p:nvSpPr>
            <p:cNvPr id="9" name="Line 16"/>
            <p:cNvSpPr>
              <a:spLocks noChangeShapeType="1"/>
            </p:cNvSpPr>
            <p:nvPr/>
          </p:nvSpPr>
          <p:spPr bwMode="auto">
            <a:xfrm>
              <a:off x="2086" y="4059"/>
              <a:ext cx="368" cy="0"/>
            </a:xfrm>
            <a:prstGeom prst="line">
              <a:avLst/>
            </a:prstGeom>
            <a:noFill/>
            <a:ln w="57150">
              <a:solidFill>
                <a:srgbClr val="005024"/>
              </a:solidFill>
              <a:round/>
            </a:ln>
            <a:effectLst/>
          </p:spPr>
          <p:txBody>
            <a:bodyPr/>
            <a:lstStyle/>
            <a:p>
              <a:endParaRPr lang="zh-CN" altLang="en-US"/>
            </a:p>
          </p:txBody>
        </p:sp>
      </p:grpSp>
      <p:grpSp>
        <p:nvGrpSpPr>
          <p:cNvPr id="10" name="Group 17"/>
          <p:cNvGrpSpPr/>
          <p:nvPr/>
        </p:nvGrpSpPr>
        <p:grpSpPr bwMode="auto">
          <a:xfrm>
            <a:off x="3711893" y="5628005"/>
            <a:ext cx="2655887" cy="674688"/>
            <a:chOff x="2313" y="3464"/>
            <a:chExt cx="1673" cy="425"/>
          </a:xfrm>
        </p:grpSpPr>
        <p:sp>
          <p:nvSpPr>
            <p:cNvPr id="11" name="Line 18"/>
            <p:cNvSpPr>
              <a:spLocks noChangeShapeType="1"/>
            </p:cNvSpPr>
            <p:nvPr/>
          </p:nvSpPr>
          <p:spPr bwMode="auto">
            <a:xfrm flipH="1">
              <a:off x="2313" y="3492"/>
              <a:ext cx="1673" cy="369"/>
            </a:xfrm>
            <a:prstGeom prst="line">
              <a:avLst/>
            </a:prstGeom>
            <a:noFill/>
            <a:ln w="38100">
              <a:solidFill>
                <a:srgbClr val="3333CC"/>
              </a:solidFill>
              <a:round/>
              <a:tailEnd type="triangle" w="med" len="med"/>
            </a:ln>
            <a:effectLst/>
          </p:spPr>
          <p:txBody>
            <a:bodyPr/>
            <a:lstStyle/>
            <a:p>
              <a:endParaRPr lang="zh-CN" altLang="en-US"/>
            </a:p>
          </p:txBody>
        </p:sp>
        <p:sp>
          <p:nvSpPr>
            <p:cNvPr id="12" name="Line 19"/>
            <p:cNvSpPr>
              <a:spLocks noChangeShapeType="1"/>
            </p:cNvSpPr>
            <p:nvPr/>
          </p:nvSpPr>
          <p:spPr bwMode="auto">
            <a:xfrm flipH="1">
              <a:off x="3050" y="3464"/>
              <a:ext cx="340" cy="425"/>
            </a:xfrm>
            <a:prstGeom prst="line">
              <a:avLst/>
            </a:prstGeom>
            <a:noFill/>
            <a:ln w="38100">
              <a:solidFill>
                <a:srgbClr val="3333CC"/>
              </a:solidFill>
              <a:round/>
              <a:tailEnd type="triangle" w="med" len="med"/>
            </a:ln>
            <a:effectLst/>
          </p:spPr>
          <p:txBody>
            <a:bodyPr/>
            <a:lstStyle/>
            <a:p>
              <a:endParaRPr lang="zh-CN" altLang="en-US"/>
            </a:p>
          </p:txBody>
        </p:sp>
        <p:sp>
          <p:nvSpPr>
            <p:cNvPr id="13" name="Line 20"/>
            <p:cNvSpPr>
              <a:spLocks noChangeShapeType="1"/>
            </p:cNvSpPr>
            <p:nvPr/>
          </p:nvSpPr>
          <p:spPr bwMode="auto">
            <a:xfrm>
              <a:off x="3135" y="3464"/>
              <a:ext cx="227" cy="397"/>
            </a:xfrm>
            <a:prstGeom prst="line">
              <a:avLst/>
            </a:prstGeom>
            <a:noFill/>
            <a:ln w="38100">
              <a:solidFill>
                <a:srgbClr val="3333CC"/>
              </a:solidFill>
              <a:round/>
              <a:tailEnd type="triangle" w="med" len="med"/>
            </a:ln>
            <a:effectLst/>
          </p:spPr>
          <p:txBody>
            <a:bodyPr/>
            <a:lstStyle/>
            <a:p>
              <a:endParaRPr lang="zh-CN" altLang="en-US"/>
            </a:p>
          </p:txBody>
        </p:sp>
        <p:sp>
          <p:nvSpPr>
            <p:cNvPr id="14" name="Line 21"/>
            <p:cNvSpPr>
              <a:spLocks noChangeShapeType="1"/>
            </p:cNvSpPr>
            <p:nvPr/>
          </p:nvSpPr>
          <p:spPr bwMode="auto">
            <a:xfrm>
              <a:off x="2568" y="3464"/>
              <a:ext cx="1276" cy="397"/>
            </a:xfrm>
            <a:prstGeom prst="line">
              <a:avLst/>
            </a:prstGeom>
            <a:noFill/>
            <a:ln w="38100">
              <a:solidFill>
                <a:srgbClr val="3333CC"/>
              </a:solidFill>
              <a:round/>
              <a:tailEnd type="triangle" w="med" len="med"/>
            </a:ln>
            <a:effectLst/>
          </p:spPr>
          <p:txBody>
            <a:bodyPr/>
            <a:lstStyle/>
            <a:p>
              <a:endParaRPr lang="zh-CN" altLang="en-US"/>
            </a:p>
          </p:txBody>
        </p:sp>
      </p:grpSp>
      <p:sp>
        <p:nvSpPr>
          <p:cNvPr id="24" name="矩形 23"/>
          <p:cNvSpPr/>
          <p:nvPr/>
        </p:nvSpPr>
        <p:spPr>
          <a:xfrm>
            <a:off x="635" y="679450"/>
            <a:ext cx="9143365" cy="76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22918"/>
                                        </p:tgtEl>
                                        <p:attrNameLst>
                                          <p:attrName>style.visibility</p:attrName>
                                        </p:attrNameLst>
                                      </p:cBhvr>
                                      <p:to>
                                        <p:strVal val="visible"/>
                                      </p:to>
                                    </p:set>
                                    <p:animEffect transition="in" filter="blinds(horizontal)">
                                      <p:cBhvr>
                                        <p:cTn id="7" dur="500"/>
                                        <p:tgtEl>
                                          <p:spTgt spid="4229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58806"/>
                                        </p:tgtEl>
                                        <p:attrNameLst>
                                          <p:attrName>style.visibility</p:attrName>
                                        </p:attrNameLst>
                                      </p:cBhvr>
                                      <p:to>
                                        <p:strVal val="visible"/>
                                      </p:to>
                                    </p:set>
                                    <p:animEffect transition="in" filter="blinds(horizontal)">
                                      <p:cBhvr>
                                        <p:cTn id="12" dur="500"/>
                                        <p:tgtEl>
                                          <p:spTgt spid="75880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58789">
                                            <p:txEl>
                                              <p:pRg st="0" end="0"/>
                                            </p:txEl>
                                          </p:spTgt>
                                        </p:tgtEl>
                                        <p:attrNameLst>
                                          <p:attrName>style.visibility</p:attrName>
                                        </p:attrNameLst>
                                      </p:cBhvr>
                                      <p:to>
                                        <p:strVal val="visible"/>
                                      </p:to>
                                    </p:set>
                                    <p:animEffect transition="in" filter="blinds(horizontal)">
                                      <p:cBhvr>
                                        <p:cTn id="17" dur="500"/>
                                        <p:tgtEl>
                                          <p:spTgt spid="75878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58789">
                                            <p:txEl>
                                              <p:pRg st="1" end="1"/>
                                            </p:txEl>
                                          </p:spTgt>
                                        </p:tgtEl>
                                        <p:attrNameLst>
                                          <p:attrName>style.visibility</p:attrName>
                                        </p:attrNameLst>
                                      </p:cBhvr>
                                      <p:to>
                                        <p:strVal val="visible"/>
                                      </p:to>
                                    </p:set>
                                    <p:animEffect transition="in" filter="blinds(horizontal)">
                                      <p:cBhvr>
                                        <p:cTn id="22" dur="500"/>
                                        <p:tgtEl>
                                          <p:spTgt spid="758789">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58789">
                                            <p:txEl>
                                              <p:pRg st="2" end="2"/>
                                            </p:txEl>
                                          </p:spTgt>
                                        </p:tgtEl>
                                        <p:attrNameLst>
                                          <p:attrName>style.visibility</p:attrName>
                                        </p:attrNameLst>
                                      </p:cBhvr>
                                      <p:to>
                                        <p:strVal val="visible"/>
                                      </p:to>
                                    </p:set>
                                    <p:animEffect transition="in" filter="blinds(horizontal)">
                                      <p:cBhvr>
                                        <p:cTn id="27" dur="500"/>
                                        <p:tgtEl>
                                          <p:spTgt spid="758789">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58789">
                                            <p:txEl>
                                              <p:pRg st="3" end="3"/>
                                            </p:txEl>
                                          </p:spTgt>
                                        </p:tgtEl>
                                        <p:attrNameLst>
                                          <p:attrName>style.visibility</p:attrName>
                                        </p:attrNameLst>
                                      </p:cBhvr>
                                      <p:to>
                                        <p:strVal val="visible"/>
                                      </p:to>
                                    </p:set>
                                    <p:animEffect transition="in" filter="blinds(horizontal)">
                                      <p:cBhvr>
                                        <p:cTn id="32" dur="500"/>
                                        <p:tgtEl>
                                          <p:spTgt spid="758789">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blinds(horizontal)">
                                      <p:cBhvr>
                                        <p:cTn id="42" dur="500"/>
                                        <p:tgtEl>
                                          <p:spTgt spid="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0"/>
                                        </p:tgtEl>
                                        <p:attrNameLst>
                                          <p:attrName>style.visibility</p:attrName>
                                        </p:attrNameLst>
                                      </p:cBhvr>
                                      <p:to>
                                        <p:strVal val="visible"/>
                                      </p:to>
                                    </p:set>
                                    <p:animEffect transition="in" filter="blinds(horizontal)">
                                      <p:cBhvr>
                                        <p:cTn id="52" dur="500"/>
                                        <p:tgtEl>
                                          <p:spTgt spid="10"/>
                                        </p:tgtEl>
                                      </p:cBhvr>
                                    </p:animEffect>
                                  </p:childTnLst>
                                </p:cTn>
                              </p:par>
                            </p:childTnLst>
                          </p:cTn>
                        </p:par>
                        <p:par>
                          <p:cTn id="53" fill="hold">
                            <p:stCondLst>
                              <p:cond delay="500"/>
                            </p:stCondLst>
                            <p:childTnLst>
                              <p:par>
                                <p:cTn id="54" presetID="22" presetClass="entr" presetSubtype="8" fill="hold" grpId="0" nodeType="after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8806" grpId="0" bldLvl="0" animBg="1"/>
      <p:bldP spid="5" grpId="0" bldLvl="0" animBg="1"/>
      <p:bldP spid="24"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nvSpPr>
        <p:spPr>
          <a:xfrm>
            <a:off x="304800" y="315912"/>
            <a:ext cx="83820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r>
              <a:rPr lang="zh-CN" altLang="en-US" dirty="0"/>
              <a:t>汇编</a:t>
            </a:r>
            <a:r>
              <a:rPr lang="en-US" dirty="0"/>
              <a:t>: </a:t>
            </a:r>
            <a:r>
              <a:rPr lang="zh-CN" altLang="en-US" dirty="0"/>
              <a:t>操作</a:t>
            </a:r>
          </a:p>
        </p:txBody>
      </p:sp>
      <p:sp>
        <p:nvSpPr>
          <p:cNvPr id="150531" name="Rectangle 3"/>
          <p:cNvSpPr>
            <a:spLocks noGrp="1" noChangeArrowheads="1"/>
          </p:cNvSpPr>
          <p:nvPr/>
        </p:nvSpPr>
        <p:spPr>
          <a:xfrm>
            <a:off x="290513" y="971550"/>
            <a:ext cx="8548687" cy="49212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00000"/>
              </a:buClr>
            </a:pPr>
            <a:r>
              <a:rPr lang="en-US" dirty="0"/>
              <a:t>在内存和寄存器之间传</a:t>
            </a:r>
            <a:r>
              <a:rPr lang="zh-CN" altLang="en-US" dirty="0"/>
              <a:t>送</a:t>
            </a:r>
            <a:r>
              <a:rPr lang="en-US" dirty="0"/>
              <a:t>数据</a:t>
            </a:r>
          </a:p>
          <a:p>
            <a:pPr lvl="1"/>
            <a:r>
              <a:rPr lang="zh-CN" altLang="en-US" dirty="0"/>
              <a:t>从内存加载数据到寄存器</a:t>
            </a:r>
          </a:p>
          <a:p>
            <a:pPr lvl="1"/>
            <a:r>
              <a:rPr lang="zh-CN" altLang="en-US" dirty="0"/>
              <a:t>将寄存器中的数据存到内存中</a:t>
            </a:r>
          </a:p>
          <a:p>
            <a:endParaRPr lang="en-US" dirty="0"/>
          </a:p>
          <a:p>
            <a:pPr>
              <a:buClr>
                <a:srgbClr val="0D0D0D"/>
              </a:buClr>
            </a:pPr>
            <a:r>
              <a:rPr lang="en-US" dirty="0"/>
              <a:t>在寄存器或内存数据上执行算术函数</a:t>
            </a:r>
          </a:p>
          <a:p>
            <a:endParaRPr lang="en-US" dirty="0"/>
          </a:p>
          <a:p>
            <a:pPr>
              <a:buClr>
                <a:srgbClr val="0D0D0D"/>
              </a:buClr>
            </a:pPr>
            <a:r>
              <a:rPr lang="en-US" dirty="0"/>
              <a:t>传</a:t>
            </a:r>
            <a:r>
              <a:rPr lang="zh-CN" altLang="en-US" dirty="0"/>
              <a:t>送</a:t>
            </a:r>
            <a:r>
              <a:rPr lang="en-US" dirty="0"/>
              <a:t>控制</a:t>
            </a:r>
          </a:p>
          <a:p>
            <a:pPr lvl="1"/>
            <a:r>
              <a:rPr lang="zh-CN" altLang="en-US" dirty="0"/>
              <a:t>无条件跳转（过程）</a:t>
            </a:r>
          </a:p>
          <a:p>
            <a:pPr lvl="1"/>
            <a:r>
              <a:rPr lang="zh-CN" altLang="en-US" dirty="0"/>
              <a:t>条件分支</a:t>
            </a:r>
          </a:p>
        </p:txBody>
      </p:sp>
      <p:sp>
        <p:nvSpPr>
          <p:cNvPr id="4" name="矩形 3"/>
          <p:cNvSpPr/>
          <p:nvPr/>
        </p:nvSpPr>
        <p:spPr>
          <a:xfrm>
            <a:off x="0" y="136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865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0531">
                                            <p:txEl>
                                              <p:pRg st="1" end="1"/>
                                            </p:txEl>
                                          </p:spTgt>
                                        </p:tgtEl>
                                        <p:attrNameLst>
                                          <p:attrName>style.visibility</p:attrName>
                                        </p:attrNameLst>
                                      </p:cBhvr>
                                      <p:to>
                                        <p:strVal val="visible"/>
                                      </p:to>
                                    </p:set>
                                    <p:anim calcmode="lin" valueType="num">
                                      <p:cBhvr additive="base">
                                        <p:cTn id="7" dur="500" fill="hold"/>
                                        <p:tgtEl>
                                          <p:spTgt spid="1505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053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50531">
                                            <p:txEl>
                                              <p:pRg st="2" end="2"/>
                                            </p:txEl>
                                          </p:spTgt>
                                        </p:tgtEl>
                                        <p:attrNameLst>
                                          <p:attrName>style.visibility</p:attrName>
                                        </p:attrNameLst>
                                      </p:cBhvr>
                                      <p:to>
                                        <p:strVal val="visible"/>
                                      </p:to>
                                    </p:set>
                                    <p:anim calcmode="lin" valueType="num">
                                      <p:cBhvr additive="base">
                                        <p:cTn id="11" dur="500" fill="hold"/>
                                        <p:tgtEl>
                                          <p:spTgt spid="15053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505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50531">
                                            <p:txEl>
                                              <p:pRg st="7" end="7"/>
                                            </p:txEl>
                                          </p:spTgt>
                                        </p:tgtEl>
                                        <p:attrNameLst>
                                          <p:attrName>style.visibility</p:attrName>
                                        </p:attrNameLst>
                                      </p:cBhvr>
                                      <p:to>
                                        <p:strVal val="visible"/>
                                      </p:to>
                                    </p:set>
                                    <p:anim calcmode="lin" valueType="num">
                                      <p:cBhvr additive="base">
                                        <p:cTn id="17" dur="500" fill="hold"/>
                                        <p:tgtEl>
                                          <p:spTgt spid="150531">
                                            <p:txEl>
                                              <p:pRg st="7" end="7"/>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50531">
                                            <p:txEl>
                                              <p:pRg st="7" end="7"/>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50531">
                                            <p:txEl>
                                              <p:pRg st="8" end="8"/>
                                            </p:txEl>
                                          </p:spTgt>
                                        </p:tgtEl>
                                        <p:attrNameLst>
                                          <p:attrName>style.visibility</p:attrName>
                                        </p:attrNameLst>
                                      </p:cBhvr>
                                      <p:to>
                                        <p:strVal val="visible"/>
                                      </p:to>
                                    </p:set>
                                    <p:anim calcmode="lin" valueType="num">
                                      <p:cBhvr additive="base">
                                        <p:cTn id="21" dur="500" fill="hold"/>
                                        <p:tgtEl>
                                          <p:spTgt spid="150531">
                                            <p:txEl>
                                              <p:pRg st="8" end="8"/>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50531">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3837" y="133457"/>
            <a:ext cx="3421380"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t>数据传送指令</a:t>
            </a:r>
            <a:r>
              <a:rPr lang="en-US" altLang="zh-CN" sz="3000" dirty="0"/>
              <a:t>:mov</a:t>
            </a:r>
          </a:p>
        </p:txBody>
      </p:sp>
      <p:sp>
        <p:nvSpPr>
          <p:cNvPr id="5" name="椭圆 4"/>
          <p:cNvSpPr/>
          <p:nvPr/>
        </p:nvSpPr>
        <p:spPr>
          <a:xfrm>
            <a:off x="3662839" y="2581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911441" y="4595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7758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743926" y="775811"/>
            <a:ext cx="440007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56675" name="Rectangle 3"/>
          <p:cNvSpPr>
            <a:spLocks noGrp="1" noChangeArrowheads="1"/>
          </p:cNvSpPr>
          <p:nvPr/>
        </p:nvSpPr>
        <p:spPr>
          <a:xfrm>
            <a:off x="23813" y="922338"/>
            <a:ext cx="8396287" cy="5224462"/>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zh-CN" altLang="en-US" dirty="0"/>
              <a:t>传送数据</a:t>
            </a:r>
          </a:p>
          <a:p>
            <a:pPr lvl="1">
              <a:buFont typeface="Wingdings" panose="05000000000000000000" pitchFamily="2" charset="2"/>
              <a:buNone/>
            </a:pPr>
            <a:r>
              <a:rPr lang="en-US" b="1" dirty="0" err="1">
                <a:latin typeface="Courier New" panose="02070309020205020404" charset="0"/>
              </a:rPr>
              <a:t>movq</a:t>
            </a:r>
            <a:r>
              <a:rPr lang="en-US" b="1" dirty="0"/>
              <a:t> </a:t>
            </a:r>
            <a:r>
              <a:rPr lang="zh-CN" altLang="en-US" b="1" dirty="0"/>
              <a:t>源</a:t>
            </a:r>
            <a:r>
              <a:rPr lang="en-US" b="1" dirty="0"/>
              <a:t>, </a:t>
            </a:r>
            <a:r>
              <a:rPr lang="zh-CN" altLang="en-US" b="1" dirty="0"/>
              <a:t>目的</a:t>
            </a:r>
            <a:r>
              <a:rPr lang="en-US" b="1" dirty="0"/>
              <a:t>:</a:t>
            </a:r>
            <a:endParaRPr lang="en-US" dirty="0"/>
          </a:p>
          <a:p>
            <a:pPr>
              <a:spcBef>
                <a:spcPts val="1800"/>
              </a:spcBef>
            </a:pPr>
            <a:r>
              <a:rPr lang="zh-CN" altLang="en-US" dirty="0"/>
              <a:t>操作数类型</a:t>
            </a:r>
          </a:p>
          <a:p>
            <a:pPr lvl="1"/>
            <a:r>
              <a:rPr lang="zh-CN" altLang="en-US" b="1" i="1" dirty="0">
                <a:solidFill>
                  <a:srgbClr val="ED7D31"/>
                </a:solidFill>
              </a:rPr>
              <a:t>立即数</a:t>
            </a:r>
            <a:r>
              <a:rPr lang="en-US" b="1" i="1" dirty="0">
                <a:solidFill>
                  <a:srgbClr val="ED7D31"/>
                </a:solidFill>
              </a:rPr>
              <a:t>:</a:t>
            </a:r>
            <a:r>
              <a:rPr lang="en-US" dirty="0">
                <a:solidFill>
                  <a:srgbClr val="ED7D31"/>
                </a:solidFill>
              </a:rPr>
              <a:t> </a:t>
            </a:r>
            <a:r>
              <a:rPr lang="zh-CN" altLang="en-US" dirty="0"/>
              <a:t>整型常量</a:t>
            </a:r>
          </a:p>
          <a:p>
            <a:pPr lvl="2"/>
            <a:r>
              <a:rPr lang="zh-CN" altLang="en-US" dirty="0"/>
              <a:t>例子</a:t>
            </a:r>
            <a:r>
              <a:rPr lang="en-US" dirty="0"/>
              <a:t>: </a:t>
            </a:r>
            <a:r>
              <a:rPr lang="en-US" b="1" dirty="0">
                <a:latin typeface="Courier New" panose="02070309020205020404" charset="0"/>
              </a:rPr>
              <a:t>$0x400</a:t>
            </a:r>
            <a:r>
              <a:rPr lang="en-US" b="1" dirty="0"/>
              <a:t>, </a:t>
            </a:r>
            <a:r>
              <a:rPr lang="en-US" b="1" dirty="0">
                <a:latin typeface="Courier New" panose="02070309020205020404" charset="0"/>
              </a:rPr>
              <a:t>$-533</a:t>
            </a:r>
            <a:endParaRPr lang="en-US" dirty="0"/>
          </a:p>
          <a:p>
            <a:pPr lvl="2"/>
            <a:r>
              <a:rPr lang="zh-CN" altLang="en-US" dirty="0"/>
              <a:t>像</a:t>
            </a:r>
            <a:r>
              <a:rPr lang="en-US" dirty="0"/>
              <a:t> C </a:t>
            </a:r>
            <a:r>
              <a:rPr lang="zh-CN" altLang="en-US" dirty="0"/>
              <a:t>语言的常数表示</a:t>
            </a:r>
            <a:r>
              <a:rPr lang="en-US" dirty="0"/>
              <a:t>, </a:t>
            </a:r>
            <a:r>
              <a:rPr lang="zh-CN" altLang="en-US" dirty="0"/>
              <a:t>但前缀为</a:t>
            </a:r>
            <a:r>
              <a:rPr lang="en-US" dirty="0"/>
              <a:t> </a:t>
            </a:r>
            <a:r>
              <a:rPr lang="en-US" b="1" dirty="0">
                <a:highlight>
                  <a:srgbClr val="FFFF00"/>
                </a:highlight>
                <a:latin typeface="Courier New" panose="02070309020205020404" charset="0"/>
              </a:rPr>
              <a:t>‘$’</a:t>
            </a:r>
          </a:p>
          <a:p>
            <a:pPr lvl="2"/>
            <a:r>
              <a:rPr lang="en-US" dirty="0"/>
              <a:t>用1, 2或4字节编码</a:t>
            </a:r>
          </a:p>
          <a:p>
            <a:pPr lvl="1"/>
            <a:r>
              <a:rPr lang="zh-CN" altLang="en-US" b="1" i="1" dirty="0">
                <a:solidFill>
                  <a:srgbClr val="ED7D31"/>
                </a:solidFill>
              </a:rPr>
              <a:t>寄存器</a:t>
            </a:r>
            <a:r>
              <a:rPr lang="en-US" b="1" i="1" dirty="0">
                <a:solidFill>
                  <a:srgbClr val="ED7D31"/>
                </a:solidFill>
              </a:rPr>
              <a:t>: </a:t>
            </a:r>
            <a:r>
              <a:rPr lang="en-US" dirty="0"/>
              <a:t>16</a:t>
            </a:r>
            <a:r>
              <a:rPr lang="zh-CN" altLang="en-US" dirty="0"/>
              <a:t>个整数寄存器中的任一个</a:t>
            </a:r>
          </a:p>
          <a:p>
            <a:pPr lvl="2"/>
            <a:r>
              <a:rPr lang="zh-CN" altLang="en-US" dirty="0"/>
              <a:t>例子</a:t>
            </a:r>
            <a:r>
              <a:rPr lang="en-US" dirty="0"/>
              <a:t>: </a:t>
            </a:r>
            <a:r>
              <a:rPr lang="en-US" b="1" dirty="0">
                <a:latin typeface="Courier New" panose="02070309020205020404" charset="0"/>
              </a:rPr>
              <a:t>%</a:t>
            </a:r>
            <a:r>
              <a:rPr lang="en-US" b="1" dirty="0" err="1">
                <a:latin typeface="Courier New" panose="02070309020205020404" charset="0"/>
              </a:rPr>
              <a:t>rax</a:t>
            </a:r>
            <a:r>
              <a:rPr lang="en-US" b="1" dirty="0">
                <a:latin typeface="Courier New" panose="02070309020205020404" charset="0"/>
              </a:rPr>
              <a:t>, %r13</a:t>
            </a:r>
          </a:p>
          <a:p>
            <a:pPr lvl="2"/>
            <a:r>
              <a:rPr lang="en-US" dirty="0"/>
              <a:t> </a:t>
            </a:r>
            <a:r>
              <a:rPr lang="en-US" b="1" dirty="0">
                <a:latin typeface="Courier New" panose="02070309020205020404" charset="0"/>
              </a:rPr>
              <a:t>%</a:t>
            </a:r>
            <a:r>
              <a:rPr lang="en-US" b="1" dirty="0" err="1">
                <a:highlight>
                  <a:srgbClr val="FFFF00"/>
                </a:highlight>
                <a:latin typeface="Courier New" panose="02070309020205020404" charset="0"/>
              </a:rPr>
              <a:t>rsp</a:t>
            </a:r>
            <a:r>
              <a:rPr lang="en-US" b="1" dirty="0">
                <a:highlight>
                  <a:srgbClr val="FFFF00"/>
                </a:highlight>
                <a:latin typeface="Courier New" panose="02070309020205020404" charset="0"/>
              </a:rPr>
              <a:t> </a:t>
            </a:r>
            <a:r>
              <a:rPr lang="zh-CN" altLang="en-US" b="1" dirty="0">
                <a:highlight>
                  <a:srgbClr val="FFFF00"/>
                </a:highlight>
                <a:latin typeface="Courier New" panose="02070309020205020404" charset="0"/>
              </a:rPr>
              <a:t>预留着有专门的用处</a:t>
            </a:r>
          </a:p>
          <a:p>
            <a:pPr lvl="2"/>
            <a:r>
              <a:rPr lang="zh-CN" altLang="en-US" dirty="0"/>
              <a:t>其他的用于特定的指令</a:t>
            </a:r>
          </a:p>
          <a:p>
            <a:pPr lvl="1"/>
            <a:r>
              <a:rPr lang="zh-CN" altLang="en-US" b="1" i="1" dirty="0">
                <a:solidFill>
                  <a:srgbClr val="ED7D31"/>
                </a:solidFill>
              </a:rPr>
              <a:t>内存</a:t>
            </a:r>
            <a:r>
              <a:rPr lang="en-US" b="1" i="1" dirty="0">
                <a:solidFill>
                  <a:srgbClr val="ED7D31"/>
                </a:solidFill>
              </a:rPr>
              <a:t>:</a:t>
            </a:r>
            <a:r>
              <a:rPr lang="en-US" dirty="0"/>
              <a:t> 寄存器中给</a:t>
            </a:r>
            <a:r>
              <a:rPr lang="zh-CN" altLang="en-US" dirty="0"/>
              <a:t>出</a:t>
            </a:r>
            <a:r>
              <a:rPr lang="en-US" dirty="0"/>
              <a:t>地址的8</a:t>
            </a:r>
            <a:r>
              <a:rPr lang="zh-CN" altLang="en-US" dirty="0"/>
              <a:t>个</a:t>
            </a:r>
            <a:r>
              <a:rPr lang="en-US" dirty="0"/>
              <a:t>连续字节内存</a:t>
            </a:r>
          </a:p>
          <a:p>
            <a:pPr lvl="2"/>
            <a:r>
              <a:rPr lang="zh-CN" altLang="en-US" dirty="0"/>
              <a:t>最简单的例子</a:t>
            </a:r>
            <a:r>
              <a:rPr lang="en-US" dirty="0"/>
              <a:t>: </a:t>
            </a:r>
            <a:r>
              <a:rPr lang="en-US" b="1" dirty="0">
                <a:latin typeface="Courier New" panose="02070309020205020404" charset="0"/>
              </a:rPr>
              <a:t>(%</a:t>
            </a:r>
            <a:r>
              <a:rPr lang="en-US" b="1" dirty="0" err="1">
                <a:latin typeface="Courier New" panose="02070309020205020404" charset="0"/>
              </a:rPr>
              <a:t>rax</a:t>
            </a:r>
            <a:r>
              <a:rPr lang="en-US" b="1" dirty="0">
                <a:latin typeface="Courier New" panose="02070309020205020404" charset="0"/>
              </a:rPr>
              <a:t>)</a:t>
            </a:r>
          </a:p>
          <a:p>
            <a:pPr lvl="2"/>
            <a:r>
              <a:rPr lang="zh-CN" altLang="en-US" dirty="0"/>
              <a:t>其他各种地址模式</a:t>
            </a:r>
          </a:p>
        </p:txBody>
      </p:sp>
      <p:grpSp>
        <p:nvGrpSpPr>
          <p:cNvPr id="3" name="Group 2"/>
          <p:cNvGrpSpPr/>
          <p:nvPr/>
        </p:nvGrpSpPr>
        <p:grpSpPr>
          <a:xfrm>
            <a:off x="6484916" y="927100"/>
            <a:ext cx="2519384" cy="4267200"/>
            <a:chOff x="6167416" y="609600"/>
            <a:chExt cx="2519384" cy="4267200"/>
          </a:xfrm>
        </p:grpSpPr>
        <p:sp>
          <p:nvSpPr>
            <p:cNvPr id="156676" name="Rectangle 4"/>
            <p:cNvSpPr>
              <a:spLocks noChangeArrowheads="1"/>
            </p:cNvSpPr>
            <p:nvPr/>
          </p:nvSpPr>
          <p:spPr bwMode="auto">
            <a:xfrm>
              <a:off x="6172200" y="609600"/>
              <a:ext cx="25146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rax</a:t>
              </a:r>
              <a:endParaRPr lang="en-US" dirty="0">
                <a:latin typeface="Courier New" panose="02070309020205020404" charset="0"/>
              </a:endParaRPr>
            </a:p>
          </p:txBody>
        </p:sp>
        <p:sp>
          <p:nvSpPr>
            <p:cNvPr id="156677" name="Rectangle 5"/>
            <p:cNvSpPr>
              <a:spLocks noChangeArrowheads="1"/>
            </p:cNvSpPr>
            <p:nvPr/>
          </p:nvSpPr>
          <p:spPr bwMode="auto">
            <a:xfrm>
              <a:off x="6172200" y="1066800"/>
              <a:ext cx="25146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rcx</a:t>
              </a:r>
              <a:endParaRPr lang="en-US" dirty="0">
                <a:latin typeface="Courier New" panose="02070309020205020404" charset="0"/>
              </a:endParaRPr>
            </a:p>
          </p:txBody>
        </p:sp>
        <p:sp>
          <p:nvSpPr>
            <p:cNvPr id="156678" name="Rectangle 6"/>
            <p:cNvSpPr>
              <a:spLocks noChangeArrowheads="1"/>
            </p:cNvSpPr>
            <p:nvPr/>
          </p:nvSpPr>
          <p:spPr bwMode="auto">
            <a:xfrm>
              <a:off x="6172200" y="1524000"/>
              <a:ext cx="25146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rdx</a:t>
              </a:r>
              <a:endParaRPr lang="en-US" dirty="0">
                <a:latin typeface="Courier New" panose="02070309020205020404" charset="0"/>
              </a:endParaRPr>
            </a:p>
          </p:txBody>
        </p:sp>
        <p:sp>
          <p:nvSpPr>
            <p:cNvPr id="156679" name="Rectangle 7"/>
            <p:cNvSpPr>
              <a:spLocks noChangeArrowheads="1"/>
            </p:cNvSpPr>
            <p:nvPr/>
          </p:nvSpPr>
          <p:spPr bwMode="auto">
            <a:xfrm>
              <a:off x="6172200" y="1981200"/>
              <a:ext cx="25146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rbx</a:t>
              </a:r>
              <a:endParaRPr lang="en-US" dirty="0">
                <a:latin typeface="Courier New" panose="02070309020205020404" charset="0"/>
              </a:endParaRPr>
            </a:p>
          </p:txBody>
        </p:sp>
        <p:sp>
          <p:nvSpPr>
            <p:cNvPr id="156680" name="Rectangle 8"/>
            <p:cNvSpPr>
              <a:spLocks noChangeArrowheads="1"/>
            </p:cNvSpPr>
            <p:nvPr/>
          </p:nvSpPr>
          <p:spPr bwMode="auto">
            <a:xfrm>
              <a:off x="6172200" y="2438400"/>
              <a:ext cx="25146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rsi</a:t>
              </a:r>
              <a:endParaRPr lang="en-US" dirty="0">
                <a:latin typeface="Courier New" panose="02070309020205020404" charset="0"/>
              </a:endParaRPr>
            </a:p>
          </p:txBody>
        </p:sp>
        <p:sp>
          <p:nvSpPr>
            <p:cNvPr id="156681" name="Rectangle 9"/>
            <p:cNvSpPr>
              <a:spLocks noChangeArrowheads="1"/>
            </p:cNvSpPr>
            <p:nvPr/>
          </p:nvSpPr>
          <p:spPr bwMode="auto">
            <a:xfrm>
              <a:off x="6172200" y="2895600"/>
              <a:ext cx="25146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rdi</a:t>
              </a:r>
              <a:endParaRPr lang="en-US" dirty="0">
                <a:latin typeface="Courier New" panose="02070309020205020404" charset="0"/>
              </a:endParaRPr>
            </a:p>
          </p:txBody>
        </p:sp>
        <p:sp>
          <p:nvSpPr>
            <p:cNvPr id="156682" name="Rectangle 10"/>
            <p:cNvSpPr>
              <a:spLocks noChangeArrowheads="1"/>
            </p:cNvSpPr>
            <p:nvPr/>
          </p:nvSpPr>
          <p:spPr bwMode="auto">
            <a:xfrm>
              <a:off x="6172200" y="3352800"/>
              <a:ext cx="2514600" cy="381000"/>
            </a:xfrm>
            <a:prstGeom prst="rect">
              <a:avLst/>
            </a:prstGeom>
            <a:solidFill>
              <a:srgbClr val="EFBFBF"/>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rsp</a:t>
              </a:r>
              <a:endParaRPr lang="en-US" dirty="0">
                <a:latin typeface="Courier New" panose="02070309020205020404" charset="0"/>
              </a:endParaRPr>
            </a:p>
          </p:txBody>
        </p:sp>
        <p:sp>
          <p:nvSpPr>
            <p:cNvPr id="156683" name="Rectangle 11"/>
            <p:cNvSpPr>
              <a:spLocks noChangeArrowheads="1"/>
            </p:cNvSpPr>
            <p:nvPr/>
          </p:nvSpPr>
          <p:spPr bwMode="auto">
            <a:xfrm>
              <a:off x="6172200" y="3810000"/>
              <a:ext cx="25146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rbp</a:t>
              </a:r>
              <a:endParaRPr lang="en-US" dirty="0">
                <a:latin typeface="Courier New" panose="02070309020205020404" charset="0"/>
              </a:endParaRPr>
            </a:p>
          </p:txBody>
        </p:sp>
        <p:sp>
          <p:nvSpPr>
            <p:cNvPr id="13" name="Rectangle 11"/>
            <p:cNvSpPr>
              <a:spLocks noChangeArrowheads="1"/>
            </p:cNvSpPr>
            <p:nvPr/>
          </p:nvSpPr>
          <p:spPr bwMode="auto">
            <a:xfrm>
              <a:off x="6167416" y="4495800"/>
              <a:ext cx="25146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dirty="0">
                  <a:latin typeface="Courier New" panose="02070309020205020404" charset="0"/>
                </a:rPr>
                <a:t>%</a:t>
              </a:r>
              <a:r>
                <a:rPr lang="en-US" dirty="0" err="1">
                  <a:latin typeface="Courier New" panose="02070309020205020404" charset="0"/>
                </a:rPr>
                <a:t>rN</a:t>
              </a:r>
              <a:endParaRPr lang="en-US" dirty="0">
                <a:latin typeface="Courier New" panose="02070309020205020404" charset="0"/>
              </a:endParaRPr>
            </a:p>
          </p:txBody>
        </p:sp>
      </p:grpSp>
      <p:grpSp>
        <p:nvGrpSpPr>
          <p:cNvPr id="8" name="Group 7"/>
          <p:cNvGrpSpPr/>
          <p:nvPr/>
        </p:nvGrpSpPr>
        <p:grpSpPr>
          <a:xfrm>
            <a:off x="1007573" y="1350010"/>
            <a:ext cx="4958887" cy="4336415"/>
            <a:chOff x="1256444" y="1509445"/>
            <a:chExt cx="6003465" cy="4336125"/>
          </a:xfrm>
        </p:grpSpPr>
        <p:sp>
          <p:nvSpPr>
            <p:cNvPr id="6" name="Oval 1"/>
            <p:cNvSpPr/>
            <p:nvPr/>
          </p:nvSpPr>
          <p:spPr bwMode="auto">
            <a:xfrm>
              <a:off x="1256444" y="1509445"/>
              <a:ext cx="312934" cy="471755"/>
            </a:xfrm>
            <a:prstGeom prst="ellipse">
              <a:avLst/>
            </a:prstGeom>
            <a:noFill/>
            <a:ln w="57150" cap="flat" cmpd="sng" algn="ctr">
              <a:solidFill>
                <a:srgbClr val="ED7D31"/>
              </a:solidFill>
              <a:prstDash val="solid"/>
              <a:round/>
              <a:headEnd type="none" w="med" len="med"/>
              <a:tailEnd type="triangle" w="med" len="med"/>
            </a:ln>
            <a:effectLst/>
          </p:spPr>
          <p:txBody>
            <a:bodyPr vert="horz" wrap="square" lIns="91440" tIns="45720" rIns="91440" bIns="4572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endParaRPr lang="en-US" dirty="0">
                <a:latin typeface="Calibri" panose="020F0502020204030204" charset="0"/>
              </a:endParaRPr>
            </a:p>
          </p:txBody>
        </p:sp>
        <p:sp>
          <p:nvSpPr>
            <p:cNvPr id="15" name="Oval 14"/>
            <p:cNvSpPr/>
            <p:nvPr/>
          </p:nvSpPr>
          <p:spPr bwMode="auto">
            <a:xfrm>
              <a:off x="4531491" y="5373815"/>
              <a:ext cx="312934" cy="471755"/>
            </a:xfrm>
            <a:prstGeom prst="ellipse">
              <a:avLst/>
            </a:prstGeom>
            <a:noFill/>
            <a:ln w="57150" cap="flat" cmpd="sng" algn="ctr">
              <a:solidFill>
                <a:srgbClr val="ED7D31"/>
              </a:solidFill>
              <a:prstDash val="solid"/>
              <a:round/>
              <a:headEnd type="none" w="med" len="med"/>
              <a:tailEnd type="triangle" w="med" len="med"/>
            </a:ln>
            <a:effectLst/>
          </p:spPr>
          <p:txBody>
            <a:bodyPr vert="horz" wrap="square" lIns="91440" tIns="45720" rIns="91440" bIns="4572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endParaRPr lang="en-US" dirty="0">
                <a:latin typeface="Calibri" panose="020F0502020204030204" charset="0"/>
              </a:endParaRPr>
            </a:p>
          </p:txBody>
        </p:sp>
        <p:cxnSp>
          <p:nvCxnSpPr>
            <p:cNvPr id="7" name="Straight Connector 4"/>
            <p:cNvCxnSpPr/>
            <p:nvPr/>
          </p:nvCxnSpPr>
          <p:spPr bwMode="auto">
            <a:xfrm>
              <a:off x="1474981" y="1935501"/>
              <a:ext cx="5784928" cy="947992"/>
            </a:xfrm>
            <a:prstGeom prst="line">
              <a:avLst/>
            </a:prstGeom>
            <a:noFill/>
            <a:ln w="25400" cap="flat" cmpd="sng" algn="ctr">
              <a:solidFill>
                <a:srgbClr val="ED7D31"/>
              </a:solidFill>
              <a:prstDash val="solid"/>
              <a:round/>
              <a:headEnd type="none" w="med" len="med"/>
              <a:tailEnd type="none" w="med" len="med"/>
            </a:ln>
            <a:effectLst/>
          </p:spPr>
        </p:cxnSp>
        <p:cxnSp>
          <p:nvCxnSpPr>
            <p:cNvPr id="9" name="Straight Connector 6"/>
            <p:cNvCxnSpPr>
              <a:endCxn id="15" idx="7"/>
            </p:cNvCxnSpPr>
            <p:nvPr/>
          </p:nvCxnSpPr>
          <p:spPr bwMode="auto">
            <a:xfrm flipH="1">
              <a:off x="4798335" y="2882858"/>
              <a:ext cx="2461573" cy="2560149"/>
            </a:xfrm>
            <a:prstGeom prst="line">
              <a:avLst/>
            </a:prstGeom>
            <a:noFill/>
            <a:ln w="25400" cap="flat" cmpd="sng" algn="ctr">
              <a:solidFill>
                <a:srgbClr val="ED7D31"/>
              </a:solidFill>
              <a:prstDash val="solid"/>
              <a:round/>
              <a:headEnd type="none" w="med" len="med"/>
              <a:tailEnd type="triangle" w="med" len="med"/>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56675"/>
                                        </p:tgtEl>
                                        <p:attrNameLst>
                                          <p:attrName>style.visibility</p:attrName>
                                        </p:attrNameLst>
                                      </p:cBhvr>
                                      <p:to>
                                        <p:strVal val="visible"/>
                                      </p:to>
                                    </p:set>
                                    <p:animEffect transition="in" filter="fade">
                                      <p:cBhvr>
                                        <p:cTn id="20" dur="500"/>
                                        <p:tgtEl>
                                          <p:spTgt spid="15667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P spid="15667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3837" y="133457"/>
            <a:ext cx="3421380"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t>数据传送指令</a:t>
            </a:r>
            <a:r>
              <a:rPr lang="en-US" altLang="zh-CN" sz="3000" dirty="0"/>
              <a:t>:mov</a:t>
            </a:r>
          </a:p>
        </p:txBody>
      </p:sp>
      <p:sp>
        <p:nvSpPr>
          <p:cNvPr id="5" name="椭圆 4"/>
          <p:cNvSpPr/>
          <p:nvPr/>
        </p:nvSpPr>
        <p:spPr>
          <a:xfrm>
            <a:off x="3662839" y="2581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911441" y="4595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7758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743926" y="775811"/>
            <a:ext cx="440007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57698" name="Rectangle 2"/>
          <p:cNvSpPr>
            <a:spLocks noGrp="1" noChangeArrowheads="1"/>
          </p:cNvSpPr>
          <p:nvPr/>
        </p:nvSpPr>
        <p:spPr>
          <a:xfrm>
            <a:off x="63500" y="1257300"/>
            <a:ext cx="7165975" cy="431800"/>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pPr marL="457200" indent="-457200">
              <a:buFont typeface="Wingdings" panose="05000000000000000000" charset="0"/>
              <a:buChar char=""/>
            </a:pPr>
            <a:r>
              <a:rPr lang="en-US" sz="2800">
                <a:latin typeface="Courier New" panose="02070309020205020404" charset="0"/>
              </a:rPr>
              <a:t>movq</a:t>
            </a:r>
            <a:r>
              <a:rPr lang="en-US" sz="2800"/>
              <a:t> </a:t>
            </a:r>
            <a:r>
              <a:rPr lang="en-US" sz="2800">
                <a:latin typeface="微软雅黑" panose="020B0503020204020204" charset="-122"/>
                <a:ea typeface="微软雅黑" panose="020B0503020204020204" charset="-122"/>
              </a:rPr>
              <a:t>操作数的组合形式</a:t>
            </a:r>
          </a:p>
        </p:txBody>
      </p:sp>
      <p:sp>
        <p:nvSpPr>
          <p:cNvPr id="157699" name="Rectangle 3"/>
          <p:cNvSpPr>
            <a:spLocks noGrp="1" noChangeArrowheads="1"/>
          </p:cNvSpPr>
          <p:nvPr/>
        </p:nvSpPr>
        <p:spPr>
          <a:xfrm>
            <a:off x="215900" y="6007100"/>
            <a:ext cx="8140700" cy="401320"/>
          </a:xfrm>
          <a:prstGeom prst="rect">
            <a:avLst/>
          </a:prstGeom>
          <a:noFill/>
          <a:ln w="9525">
            <a:noFill/>
            <a:miter lim="800000"/>
          </a:ln>
        </p:spPr>
        <p:txBody>
          <a:bodyPr vert="horz" wrap="square" lIns="0" tIns="0" rIns="0" bIns="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0" indent="0" algn="ctr">
              <a:buNone/>
            </a:pPr>
            <a:r>
              <a:rPr lang="zh-CN" altLang="en-US" i="1">
                <a:solidFill>
                  <a:srgbClr val="ED7D31"/>
                </a:solidFill>
              </a:rPr>
              <a:t>无法</a:t>
            </a:r>
            <a:r>
              <a:rPr lang="en-US" i="1">
                <a:solidFill>
                  <a:srgbClr val="ED7D31"/>
                </a:solidFill>
              </a:rPr>
              <a:t>用单个指令进行</a:t>
            </a:r>
            <a:r>
              <a:rPr lang="zh-CN" altLang="en-US" i="1">
                <a:solidFill>
                  <a:srgbClr val="ED7D31"/>
                </a:solidFill>
              </a:rPr>
              <a:t>从</a:t>
            </a:r>
            <a:r>
              <a:rPr lang="en-US" i="1">
                <a:solidFill>
                  <a:srgbClr val="ED7D31"/>
                </a:solidFill>
              </a:rPr>
              <a:t>内存</a:t>
            </a:r>
            <a:r>
              <a:rPr lang="zh-CN" altLang="en-US" i="1">
                <a:solidFill>
                  <a:srgbClr val="ED7D31"/>
                </a:solidFill>
              </a:rPr>
              <a:t>到内存的数据</a:t>
            </a:r>
            <a:r>
              <a:rPr lang="en-US" i="1">
                <a:solidFill>
                  <a:srgbClr val="ED7D31"/>
                </a:solidFill>
              </a:rPr>
              <a:t>传输</a:t>
            </a:r>
          </a:p>
        </p:txBody>
      </p:sp>
      <p:sp>
        <p:nvSpPr>
          <p:cNvPr id="157700" name="Text Box 4"/>
          <p:cNvSpPr txBox="1">
            <a:spLocks noChangeArrowheads="1"/>
          </p:cNvSpPr>
          <p:nvPr/>
        </p:nvSpPr>
        <p:spPr bwMode="auto">
          <a:xfrm>
            <a:off x="12700" y="3848100"/>
            <a:ext cx="936274" cy="460375"/>
          </a:xfrm>
          <a:prstGeom prst="rect">
            <a:avLst/>
          </a:prstGeom>
          <a:noFill/>
          <a:ln w="25400">
            <a:noFill/>
            <a:miter lim="800000"/>
          </a:ln>
          <a:effectLst/>
        </p:spPr>
        <p:txBody>
          <a:bodyPr wrap="square">
            <a:spAutoFit/>
          </a:bodyPr>
          <a:lstStyle/>
          <a:p>
            <a:pPr algn="l">
              <a:lnSpc>
                <a:spcPct val="100000"/>
              </a:lnSpc>
            </a:pPr>
            <a:r>
              <a:rPr lang="en-US" sz="2400" dirty="0" err="1">
                <a:latin typeface="Courier New" panose="02070309020205020404" charset="0"/>
              </a:rPr>
              <a:t>movq</a:t>
            </a:r>
            <a:endParaRPr lang="en-US" sz="2400" dirty="0">
              <a:latin typeface="Courier New" panose="02070309020205020404" charset="0"/>
            </a:endParaRPr>
          </a:p>
        </p:txBody>
      </p:sp>
      <p:sp>
        <p:nvSpPr>
          <p:cNvPr id="157701" name="Text Box 5"/>
          <p:cNvSpPr txBox="1">
            <a:spLocks noChangeArrowheads="1"/>
          </p:cNvSpPr>
          <p:nvPr/>
        </p:nvSpPr>
        <p:spPr bwMode="auto">
          <a:xfrm>
            <a:off x="1168400" y="2895600"/>
            <a:ext cx="1219200" cy="460375"/>
          </a:xfrm>
          <a:prstGeom prst="rect">
            <a:avLst/>
          </a:prstGeom>
          <a:noFill/>
          <a:ln w="25400">
            <a:noFill/>
            <a:miter lim="800000"/>
          </a:ln>
          <a:effectLst/>
        </p:spPr>
        <p:txBody>
          <a:bodyPr wrap="square">
            <a:spAutoFit/>
          </a:bodyPr>
          <a:lstStyle/>
          <a:p>
            <a:pPr algn="l">
              <a:lnSpc>
                <a:spcPct val="100000"/>
              </a:lnSpc>
            </a:pPr>
            <a:r>
              <a:rPr lang="zh-CN" altLang="en-US" sz="2400" i="1" dirty="0">
                <a:latin typeface="Calibri" panose="020F0502020204030204" charset="0"/>
              </a:rPr>
              <a:t>立即数</a:t>
            </a:r>
          </a:p>
        </p:txBody>
      </p:sp>
      <p:sp>
        <p:nvSpPr>
          <p:cNvPr id="157702" name="Text Box 6"/>
          <p:cNvSpPr txBox="1">
            <a:spLocks noChangeArrowheads="1"/>
          </p:cNvSpPr>
          <p:nvPr/>
        </p:nvSpPr>
        <p:spPr bwMode="auto">
          <a:xfrm>
            <a:off x="1104900" y="3962400"/>
            <a:ext cx="1218565" cy="460375"/>
          </a:xfrm>
          <a:prstGeom prst="rect">
            <a:avLst/>
          </a:prstGeom>
          <a:noFill/>
          <a:ln w="25400">
            <a:noFill/>
            <a:miter lim="800000"/>
          </a:ln>
          <a:effectLst/>
        </p:spPr>
        <p:txBody>
          <a:bodyPr wrap="square">
            <a:spAutoFit/>
          </a:bodyPr>
          <a:lstStyle/>
          <a:p>
            <a:pPr algn="l">
              <a:lnSpc>
                <a:spcPct val="100000"/>
              </a:lnSpc>
            </a:pPr>
            <a:r>
              <a:rPr lang="zh-CN" altLang="en-US" sz="2400" i="1" dirty="0">
                <a:latin typeface="Calibri" panose="020F0502020204030204" charset="0"/>
              </a:rPr>
              <a:t>寄存器</a:t>
            </a:r>
          </a:p>
        </p:txBody>
      </p:sp>
      <p:sp>
        <p:nvSpPr>
          <p:cNvPr id="157703" name="Text Box 7"/>
          <p:cNvSpPr txBox="1">
            <a:spLocks noChangeArrowheads="1"/>
          </p:cNvSpPr>
          <p:nvPr/>
        </p:nvSpPr>
        <p:spPr bwMode="auto">
          <a:xfrm>
            <a:off x="1282700" y="5105400"/>
            <a:ext cx="876300" cy="460375"/>
          </a:xfrm>
          <a:prstGeom prst="rect">
            <a:avLst/>
          </a:prstGeom>
          <a:noFill/>
          <a:ln w="25400">
            <a:noFill/>
            <a:miter lim="800000"/>
          </a:ln>
          <a:effectLst/>
        </p:spPr>
        <p:txBody>
          <a:bodyPr wrap="square">
            <a:spAutoFit/>
          </a:bodyPr>
          <a:lstStyle/>
          <a:p>
            <a:pPr algn="l">
              <a:lnSpc>
                <a:spcPct val="100000"/>
              </a:lnSpc>
            </a:pPr>
            <a:r>
              <a:rPr lang="zh-CN" altLang="en-US" sz="2400" i="1" dirty="0">
                <a:latin typeface="Calibri" panose="020F0502020204030204" charset="0"/>
              </a:rPr>
              <a:t>内存</a:t>
            </a:r>
          </a:p>
        </p:txBody>
      </p:sp>
      <p:sp>
        <p:nvSpPr>
          <p:cNvPr id="157704" name="Text Box 8"/>
          <p:cNvSpPr txBox="1">
            <a:spLocks noChangeArrowheads="1"/>
          </p:cNvSpPr>
          <p:nvPr/>
        </p:nvSpPr>
        <p:spPr bwMode="auto">
          <a:xfrm>
            <a:off x="2501900" y="2667000"/>
            <a:ext cx="665888" cy="460375"/>
          </a:xfrm>
          <a:prstGeom prst="rect">
            <a:avLst/>
          </a:prstGeom>
          <a:noFill/>
          <a:ln w="25400">
            <a:noFill/>
            <a:miter lim="800000"/>
          </a:ln>
          <a:effectLst/>
        </p:spPr>
        <p:txBody>
          <a:bodyPr wrap="square">
            <a:spAutoFit/>
          </a:bodyPr>
          <a:lstStyle/>
          <a:p>
            <a:pPr algn="l">
              <a:lnSpc>
                <a:spcPct val="100000"/>
              </a:lnSpc>
            </a:pPr>
            <a:r>
              <a:rPr lang="zh-CN" altLang="en-US" sz="2400" i="1" dirty="0">
                <a:latin typeface="Calibri" panose="020F0502020204030204" charset="0"/>
              </a:rPr>
              <a:t>寄</a:t>
            </a:r>
          </a:p>
        </p:txBody>
      </p:sp>
      <p:sp>
        <p:nvSpPr>
          <p:cNvPr id="157705" name="Text Box 9"/>
          <p:cNvSpPr txBox="1">
            <a:spLocks noChangeArrowheads="1"/>
          </p:cNvSpPr>
          <p:nvPr/>
        </p:nvSpPr>
        <p:spPr bwMode="auto">
          <a:xfrm>
            <a:off x="2501900" y="3124200"/>
            <a:ext cx="876300" cy="460375"/>
          </a:xfrm>
          <a:prstGeom prst="rect">
            <a:avLst/>
          </a:prstGeom>
          <a:noFill/>
          <a:ln w="25400">
            <a:noFill/>
            <a:miter lim="800000"/>
          </a:ln>
          <a:effectLst/>
        </p:spPr>
        <p:txBody>
          <a:bodyPr wrap="square">
            <a:spAutoFit/>
          </a:bodyPr>
          <a:lstStyle/>
          <a:p>
            <a:pPr algn="l">
              <a:lnSpc>
                <a:spcPct val="100000"/>
              </a:lnSpc>
            </a:pPr>
            <a:r>
              <a:rPr lang="zh-CN" altLang="en-US" sz="2400" i="1" dirty="0">
                <a:latin typeface="Calibri" panose="020F0502020204030204" charset="0"/>
              </a:rPr>
              <a:t>内</a:t>
            </a:r>
          </a:p>
        </p:txBody>
      </p:sp>
      <p:sp>
        <p:nvSpPr>
          <p:cNvPr id="157706" name="Text Box 10"/>
          <p:cNvSpPr txBox="1">
            <a:spLocks noChangeArrowheads="1"/>
          </p:cNvSpPr>
          <p:nvPr/>
        </p:nvSpPr>
        <p:spPr bwMode="auto">
          <a:xfrm>
            <a:off x="2501900" y="3810000"/>
            <a:ext cx="665888" cy="460375"/>
          </a:xfrm>
          <a:prstGeom prst="rect">
            <a:avLst/>
          </a:prstGeom>
          <a:noFill/>
          <a:ln w="25400">
            <a:noFill/>
            <a:miter lim="800000"/>
          </a:ln>
          <a:effectLst/>
        </p:spPr>
        <p:txBody>
          <a:bodyPr wrap="square">
            <a:spAutoFit/>
          </a:bodyPr>
          <a:lstStyle/>
          <a:p>
            <a:pPr algn="l">
              <a:lnSpc>
                <a:spcPct val="100000"/>
              </a:lnSpc>
            </a:pPr>
            <a:r>
              <a:rPr lang="zh-CN" altLang="en-US" sz="2400" i="1" dirty="0">
                <a:latin typeface="Calibri" panose="020F0502020204030204" charset="0"/>
              </a:rPr>
              <a:t>寄</a:t>
            </a:r>
          </a:p>
        </p:txBody>
      </p:sp>
      <p:sp>
        <p:nvSpPr>
          <p:cNvPr id="157707" name="Text Box 11"/>
          <p:cNvSpPr txBox="1">
            <a:spLocks noChangeArrowheads="1"/>
          </p:cNvSpPr>
          <p:nvPr/>
        </p:nvSpPr>
        <p:spPr bwMode="auto">
          <a:xfrm>
            <a:off x="2501900" y="4256088"/>
            <a:ext cx="876300" cy="460375"/>
          </a:xfrm>
          <a:prstGeom prst="rect">
            <a:avLst/>
          </a:prstGeom>
          <a:noFill/>
          <a:ln w="25400">
            <a:noFill/>
            <a:miter lim="800000"/>
          </a:ln>
          <a:effectLst/>
        </p:spPr>
        <p:txBody>
          <a:bodyPr wrap="square">
            <a:spAutoFit/>
          </a:bodyPr>
          <a:lstStyle/>
          <a:p>
            <a:pPr algn="l">
              <a:lnSpc>
                <a:spcPct val="100000"/>
              </a:lnSpc>
            </a:pPr>
            <a:r>
              <a:rPr lang="zh-CN" altLang="en-US" sz="2400" i="1" dirty="0">
                <a:latin typeface="Calibri" panose="020F0502020204030204" charset="0"/>
              </a:rPr>
              <a:t>内</a:t>
            </a:r>
          </a:p>
        </p:txBody>
      </p:sp>
      <p:sp>
        <p:nvSpPr>
          <p:cNvPr id="157708" name="Text Box 12"/>
          <p:cNvSpPr txBox="1">
            <a:spLocks noChangeArrowheads="1"/>
          </p:cNvSpPr>
          <p:nvPr/>
        </p:nvSpPr>
        <p:spPr bwMode="auto">
          <a:xfrm>
            <a:off x="2501900" y="5105400"/>
            <a:ext cx="665888" cy="460375"/>
          </a:xfrm>
          <a:prstGeom prst="rect">
            <a:avLst/>
          </a:prstGeom>
          <a:noFill/>
          <a:ln w="25400">
            <a:noFill/>
            <a:miter lim="800000"/>
          </a:ln>
          <a:effectLst/>
        </p:spPr>
        <p:txBody>
          <a:bodyPr wrap="square">
            <a:spAutoFit/>
          </a:bodyPr>
          <a:lstStyle/>
          <a:p>
            <a:pPr algn="l">
              <a:lnSpc>
                <a:spcPct val="100000"/>
              </a:lnSpc>
            </a:pPr>
            <a:r>
              <a:rPr lang="zh-CN" altLang="en-US" sz="2400" i="1" dirty="0">
                <a:latin typeface="Calibri" panose="020F0502020204030204" charset="0"/>
              </a:rPr>
              <a:t>寄</a:t>
            </a:r>
          </a:p>
        </p:txBody>
      </p:sp>
      <p:sp>
        <p:nvSpPr>
          <p:cNvPr id="157709" name="Text Box 13"/>
          <p:cNvSpPr txBox="1">
            <a:spLocks noChangeArrowheads="1"/>
          </p:cNvSpPr>
          <p:nvPr/>
        </p:nvSpPr>
        <p:spPr bwMode="auto">
          <a:xfrm>
            <a:off x="977900" y="1943100"/>
            <a:ext cx="1524000" cy="460375"/>
          </a:xfrm>
          <a:prstGeom prst="rect">
            <a:avLst/>
          </a:prstGeom>
          <a:noFill/>
          <a:ln w="25400">
            <a:noFill/>
            <a:miter lim="800000"/>
          </a:ln>
          <a:effectLst/>
        </p:spPr>
        <p:txBody>
          <a:bodyPr wrap="square">
            <a:spAutoFit/>
          </a:bodyPr>
          <a:lstStyle/>
          <a:p>
            <a:pPr algn="l">
              <a:lnSpc>
                <a:spcPct val="100000"/>
              </a:lnSpc>
            </a:pPr>
            <a:r>
              <a:rPr lang="zh-CN" altLang="en-US" sz="2400" dirty="0">
                <a:latin typeface="Calibri" panose="020F0502020204030204" charset="0"/>
              </a:rPr>
              <a:t>源类型</a:t>
            </a:r>
          </a:p>
        </p:txBody>
      </p:sp>
      <p:sp>
        <p:nvSpPr>
          <p:cNvPr id="157710" name="Text Box 14"/>
          <p:cNvSpPr txBox="1">
            <a:spLocks noChangeArrowheads="1"/>
          </p:cNvSpPr>
          <p:nvPr/>
        </p:nvSpPr>
        <p:spPr bwMode="auto">
          <a:xfrm>
            <a:off x="2501265" y="1943100"/>
            <a:ext cx="1753235" cy="460375"/>
          </a:xfrm>
          <a:prstGeom prst="rect">
            <a:avLst/>
          </a:prstGeom>
          <a:noFill/>
          <a:ln w="25400">
            <a:noFill/>
            <a:miter lim="800000"/>
          </a:ln>
          <a:effectLst/>
        </p:spPr>
        <p:txBody>
          <a:bodyPr wrap="square">
            <a:spAutoFit/>
          </a:bodyPr>
          <a:lstStyle/>
          <a:p>
            <a:pPr algn="l">
              <a:lnSpc>
                <a:spcPct val="100000"/>
              </a:lnSpc>
            </a:pPr>
            <a:r>
              <a:rPr lang="zh-CN" altLang="en-US" sz="2400" dirty="0">
                <a:latin typeface="Calibri" panose="020F0502020204030204" charset="0"/>
              </a:rPr>
              <a:t>目的类型</a:t>
            </a:r>
          </a:p>
        </p:txBody>
      </p:sp>
      <p:sp>
        <p:nvSpPr>
          <p:cNvPr id="157716" name="AutoShape 20"/>
          <p:cNvSpPr/>
          <p:nvPr/>
        </p:nvSpPr>
        <p:spPr bwMode="auto">
          <a:xfrm>
            <a:off x="977900" y="2819400"/>
            <a:ext cx="304800" cy="2590800"/>
          </a:xfrm>
          <a:prstGeom prst="leftBrace">
            <a:avLst>
              <a:gd name="adj1" fmla="val 75000"/>
              <a:gd name="adj2" fmla="val 50000"/>
            </a:avLst>
          </a:prstGeom>
          <a:noFill/>
          <a:ln w="25400">
            <a:solidFill>
              <a:schemeClr val="tx1"/>
            </a:solidFill>
            <a:round/>
          </a:ln>
          <a:effectLst/>
        </p:spPr>
        <p:txBody>
          <a:bodyPr wrap="none" anchor="ctr"/>
          <a:lstStyle/>
          <a:p>
            <a:endParaRPr lang="en-US" dirty="0">
              <a:latin typeface="Calibri" panose="020F0502020204030204" charset="0"/>
            </a:endParaRPr>
          </a:p>
        </p:txBody>
      </p:sp>
      <p:sp>
        <p:nvSpPr>
          <p:cNvPr id="157717" name="AutoShape 21"/>
          <p:cNvSpPr/>
          <p:nvPr/>
        </p:nvSpPr>
        <p:spPr bwMode="auto">
          <a:xfrm>
            <a:off x="2197100" y="2870200"/>
            <a:ext cx="304800" cy="573405"/>
          </a:xfrm>
          <a:prstGeom prst="leftBrace">
            <a:avLst>
              <a:gd name="adj1" fmla="val 20833"/>
              <a:gd name="adj2" fmla="val 50000"/>
            </a:avLst>
          </a:prstGeom>
          <a:noFill/>
          <a:ln w="25400">
            <a:solidFill>
              <a:schemeClr val="tx1"/>
            </a:solidFill>
            <a:round/>
          </a:ln>
          <a:effectLst/>
        </p:spPr>
        <p:txBody>
          <a:bodyPr wrap="none" anchor="ctr"/>
          <a:lstStyle/>
          <a:p>
            <a:endParaRPr lang="en-US" dirty="0">
              <a:latin typeface="Calibri" panose="020F0502020204030204" charset="0"/>
            </a:endParaRPr>
          </a:p>
        </p:txBody>
      </p:sp>
      <p:sp>
        <p:nvSpPr>
          <p:cNvPr id="157718" name="AutoShape 22"/>
          <p:cNvSpPr/>
          <p:nvPr/>
        </p:nvSpPr>
        <p:spPr bwMode="auto">
          <a:xfrm>
            <a:off x="2196465" y="3969385"/>
            <a:ext cx="304800" cy="573405"/>
          </a:xfrm>
          <a:prstGeom prst="leftBrace">
            <a:avLst>
              <a:gd name="adj1" fmla="val 20833"/>
              <a:gd name="adj2" fmla="val 50000"/>
            </a:avLst>
          </a:prstGeom>
          <a:noFill/>
          <a:ln w="25400">
            <a:solidFill>
              <a:schemeClr val="tx1"/>
            </a:solidFill>
            <a:round/>
          </a:ln>
          <a:effectLst/>
        </p:spPr>
        <p:txBody>
          <a:bodyPr wrap="none" anchor="ctr"/>
          <a:lstStyle/>
          <a:p>
            <a:endParaRPr lang="en-US" dirty="0">
              <a:latin typeface="Calibri" panose="020F0502020204030204" charset="0"/>
            </a:endParaRPr>
          </a:p>
        </p:txBody>
      </p:sp>
      <p:sp>
        <p:nvSpPr>
          <p:cNvPr id="157719" name="Text Box 23"/>
          <p:cNvSpPr txBox="1">
            <a:spLocks noChangeArrowheads="1"/>
          </p:cNvSpPr>
          <p:nvPr/>
        </p:nvSpPr>
        <p:spPr bwMode="auto">
          <a:xfrm>
            <a:off x="6540500" y="1943100"/>
            <a:ext cx="1947545" cy="460375"/>
          </a:xfrm>
          <a:prstGeom prst="rect">
            <a:avLst/>
          </a:prstGeom>
          <a:noFill/>
          <a:ln w="25400">
            <a:noFill/>
            <a:miter lim="800000"/>
          </a:ln>
          <a:effectLst/>
        </p:spPr>
        <p:txBody>
          <a:bodyPr wrap="square">
            <a:spAutoFit/>
          </a:bodyPr>
          <a:lstStyle/>
          <a:p>
            <a:pPr algn="l">
              <a:lnSpc>
                <a:spcPct val="100000"/>
              </a:lnSpc>
            </a:pPr>
            <a:r>
              <a:rPr lang="zh-CN" altLang="en-US" sz="2400" dirty="0">
                <a:latin typeface="Calibri" panose="020F0502020204030204" charset="0"/>
              </a:rPr>
              <a:t>对应的</a:t>
            </a:r>
            <a:r>
              <a:rPr lang="en-US" sz="2400" dirty="0">
                <a:latin typeface="Calibri" panose="020F0502020204030204" charset="0"/>
              </a:rPr>
              <a:t>C</a:t>
            </a:r>
            <a:r>
              <a:rPr lang="zh-CN" altLang="en-US" sz="2400" dirty="0">
                <a:latin typeface="Calibri" panose="020F0502020204030204" charset="0"/>
              </a:rPr>
              <a:t>语句</a:t>
            </a:r>
          </a:p>
        </p:txBody>
      </p:sp>
      <p:sp>
        <p:nvSpPr>
          <p:cNvPr id="157711" name="Text Box 15"/>
          <p:cNvSpPr txBox="1">
            <a:spLocks noChangeArrowheads="1"/>
          </p:cNvSpPr>
          <p:nvPr/>
        </p:nvSpPr>
        <p:spPr bwMode="auto">
          <a:xfrm>
            <a:off x="3416300" y="2697163"/>
            <a:ext cx="2339453" cy="398780"/>
          </a:xfrm>
          <a:prstGeom prst="rect">
            <a:avLst/>
          </a:prstGeom>
          <a:noFill/>
          <a:ln w="25400">
            <a:noFill/>
            <a:miter lim="800000"/>
          </a:ln>
          <a:effectLst/>
        </p:spPr>
        <p:txBody>
          <a:bodyPr wrap="square">
            <a:spAutoFit/>
          </a:bodyPr>
          <a:lstStyle/>
          <a:p>
            <a:pPr algn="l">
              <a:lnSpc>
                <a:spcPct val="100000"/>
              </a:lnSpc>
            </a:pPr>
            <a:r>
              <a:rPr lang="en-US" sz="2000" dirty="0" err="1">
                <a:latin typeface="Courier New" panose="02070309020205020404" charset="0"/>
              </a:rPr>
              <a:t>movq</a:t>
            </a:r>
            <a:r>
              <a:rPr lang="en-US" sz="2000" dirty="0">
                <a:latin typeface="Courier New" panose="02070309020205020404" charset="0"/>
              </a:rPr>
              <a:t> $0x4,%rax</a:t>
            </a:r>
          </a:p>
        </p:txBody>
      </p:sp>
      <p:sp>
        <p:nvSpPr>
          <p:cNvPr id="157720" name="Text Box 24"/>
          <p:cNvSpPr txBox="1">
            <a:spLocks noChangeArrowheads="1"/>
          </p:cNvSpPr>
          <p:nvPr/>
        </p:nvSpPr>
        <p:spPr bwMode="auto">
          <a:xfrm>
            <a:off x="6356350" y="2697163"/>
            <a:ext cx="1860550" cy="398780"/>
          </a:xfrm>
          <a:prstGeom prst="rect">
            <a:avLst/>
          </a:prstGeom>
          <a:noFill/>
          <a:ln w="25400">
            <a:noFill/>
            <a:miter lim="800000"/>
          </a:ln>
          <a:effectLst/>
        </p:spPr>
        <p:txBody>
          <a:bodyPr wrap="square">
            <a:spAutoFit/>
          </a:bodyPr>
          <a:lstStyle/>
          <a:p>
            <a:pPr algn="l">
              <a:lnSpc>
                <a:spcPct val="100000"/>
              </a:lnSpc>
            </a:pPr>
            <a:r>
              <a:rPr lang="en-US" sz="2000">
                <a:latin typeface="Courier New" panose="02070309020205020404" charset="0"/>
              </a:rPr>
              <a:t>temp = 0x4;</a:t>
            </a:r>
          </a:p>
        </p:txBody>
      </p:sp>
      <p:sp>
        <p:nvSpPr>
          <p:cNvPr id="157712" name="Text Box 16"/>
          <p:cNvSpPr txBox="1">
            <a:spLocks noChangeArrowheads="1"/>
          </p:cNvSpPr>
          <p:nvPr/>
        </p:nvSpPr>
        <p:spPr bwMode="auto">
          <a:xfrm>
            <a:off x="3416300" y="3154363"/>
            <a:ext cx="2801193" cy="398780"/>
          </a:xfrm>
          <a:prstGeom prst="rect">
            <a:avLst/>
          </a:prstGeom>
          <a:noFill/>
          <a:ln w="25400">
            <a:noFill/>
            <a:miter lim="800000"/>
          </a:ln>
          <a:effectLst/>
        </p:spPr>
        <p:txBody>
          <a:bodyPr wrap="square">
            <a:spAutoFit/>
          </a:bodyPr>
          <a:lstStyle/>
          <a:p>
            <a:pPr algn="l">
              <a:lnSpc>
                <a:spcPct val="100000"/>
              </a:lnSpc>
            </a:pPr>
            <a:r>
              <a:rPr lang="en-US" sz="2000" dirty="0" err="1">
                <a:latin typeface="Courier New" panose="02070309020205020404" charset="0"/>
              </a:rPr>
              <a:t>movq</a:t>
            </a:r>
            <a:r>
              <a:rPr lang="en-US" sz="2000" dirty="0">
                <a:latin typeface="Courier New" panose="02070309020205020404" charset="0"/>
              </a:rPr>
              <a:t> $-147,(%</a:t>
            </a:r>
            <a:r>
              <a:rPr lang="en-US" sz="2000" dirty="0" err="1">
                <a:latin typeface="Courier New" panose="02070309020205020404" charset="0"/>
              </a:rPr>
              <a:t>rax</a:t>
            </a:r>
            <a:r>
              <a:rPr lang="en-US" sz="2000" dirty="0">
                <a:latin typeface="Courier New" panose="02070309020205020404" charset="0"/>
              </a:rPr>
              <a:t>)</a:t>
            </a:r>
          </a:p>
        </p:txBody>
      </p:sp>
      <p:sp>
        <p:nvSpPr>
          <p:cNvPr id="157721" name="Text Box 25"/>
          <p:cNvSpPr txBox="1">
            <a:spLocks noChangeArrowheads="1"/>
          </p:cNvSpPr>
          <p:nvPr/>
        </p:nvSpPr>
        <p:spPr bwMode="auto">
          <a:xfrm>
            <a:off x="6356350" y="3154363"/>
            <a:ext cx="1708150" cy="398780"/>
          </a:xfrm>
          <a:prstGeom prst="rect">
            <a:avLst/>
          </a:prstGeom>
          <a:noFill/>
          <a:ln w="25400">
            <a:noFill/>
            <a:miter lim="800000"/>
          </a:ln>
          <a:effectLst/>
        </p:spPr>
        <p:txBody>
          <a:bodyPr wrap="square">
            <a:spAutoFit/>
          </a:bodyPr>
          <a:lstStyle/>
          <a:p>
            <a:pPr algn="l">
              <a:lnSpc>
                <a:spcPct val="100000"/>
              </a:lnSpc>
            </a:pPr>
            <a:r>
              <a:rPr lang="en-US" sz="2000">
                <a:latin typeface="Courier New" panose="02070309020205020404" charset="0"/>
              </a:rPr>
              <a:t>*p = -147;</a:t>
            </a:r>
          </a:p>
        </p:txBody>
      </p:sp>
      <p:sp>
        <p:nvSpPr>
          <p:cNvPr id="157713" name="Text Box 17"/>
          <p:cNvSpPr txBox="1">
            <a:spLocks noChangeArrowheads="1"/>
          </p:cNvSpPr>
          <p:nvPr/>
        </p:nvSpPr>
        <p:spPr bwMode="auto">
          <a:xfrm>
            <a:off x="3416300" y="3840163"/>
            <a:ext cx="2339453" cy="398780"/>
          </a:xfrm>
          <a:prstGeom prst="rect">
            <a:avLst/>
          </a:prstGeom>
          <a:noFill/>
          <a:ln w="25400">
            <a:noFill/>
            <a:miter lim="800000"/>
          </a:ln>
          <a:effectLst/>
        </p:spPr>
        <p:txBody>
          <a:bodyPr wrap="square">
            <a:spAutoFit/>
          </a:bodyPr>
          <a:lstStyle/>
          <a:p>
            <a:pPr algn="l">
              <a:lnSpc>
                <a:spcPct val="100000"/>
              </a:lnSpc>
            </a:pPr>
            <a:r>
              <a:rPr lang="en-US" sz="2000" dirty="0" err="1">
                <a:latin typeface="Courier New" panose="02070309020205020404" charset="0"/>
              </a:rPr>
              <a:t>movq</a:t>
            </a:r>
            <a:r>
              <a:rPr lang="en-US" sz="2000" dirty="0">
                <a:latin typeface="Courier New" panose="02070309020205020404" charset="0"/>
              </a:rPr>
              <a:t> %</a:t>
            </a:r>
            <a:r>
              <a:rPr lang="en-US" sz="2000" dirty="0" err="1">
                <a:latin typeface="Courier New" panose="02070309020205020404" charset="0"/>
              </a:rPr>
              <a:t>rax</a:t>
            </a:r>
            <a:r>
              <a:rPr lang="en-US" sz="2000" dirty="0">
                <a:latin typeface="Courier New" panose="02070309020205020404" charset="0"/>
              </a:rPr>
              <a:t>,%</a:t>
            </a:r>
            <a:r>
              <a:rPr lang="en-US" sz="2000" dirty="0" err="1">
                <a:latin typeface="Courier New" panose="02070309020205020404" charset="0"/>
              </a:rPr>
              <a:t>rdx</a:t>
            </a:r>
            <a:endParaRPr lang="en-US" sz="2000" dirty="0">
              <a:latin typeface="Courier New" panose="02070309020205020404" charset="0"/>
            </a:endParaRPr>
          </a:p>
        </p:txBody>
      </p:sp>
      <p:sp>
        <p:nvSpPr>
          <p:cNvPr id="157722" name="Text Box 26"/>
          <p:cNvSpPr txBox="1">
            <a:spLocks noChangeArrowheads="1"/>
          </p:cNvSpPr>
          <p:nvPr/>
        </p:nvSpPr>
        <p:spPr bwMode="auto">
          <a:xfrm>
            <a:off x="6356350" y="3840163"/>
            <a:ext cx="2317750" cy="398780"/>
          </a:xfrm>
          <a:prstGeom prst="rect">
            <a:avLst/>
          </a:prstGeom>
          <a:noFill/>
          <a:ln w="25400">
            <a:noFill/>
            <a:miter lim="800000"/>
          </a:ln>
          <a:effectLst/>
        </p:spPr>
        <p:txBody>
          <a:bodyPr wrap="square">
            <a:spAutoFit/>
          </a:bodyPr>
          <a:lstStyle/>
          <a:p>
            <a:pPr algn="l">
              <a:lnSpc>
                <a:spcPct val="100000"/>
              </a:lnSpc>
            </a:pPr>
            <a:r>
              <a:rPr lang="en-US" sz="2000">
                <a:latin typeface="Courier New" panose="02070309020205020404" charset="0"/>
              </a:rPr>
              <a:t>temp2 = temp1;</a:t>
            </a:r>
          </a:p>
        </p:txBody>
      </p:sp>
      <p:sp>
        <p:nvSpPr>
          <p:cNvPr id="157714" name="Text Box 18"/>
          <p:cNvSpPr txBox="1">
            <a:spLocks noChangeArrowheads="1"/>
          </p:cNvSpPr>
          <p:nvPr/>
        </p:nvSpPr>
        <p:spPr bwMode="auto">
          <a:xfrm>
            <a:off x="3416300" y="4286250"/>
            <a:ext cx="2647279" cy="398780"/>
          </a:xfrm>
          <a:prstGeom prst="rect">
            <a:avLst/>
          </a:prstGeom>
          <a:noFill/>
          <a:ln w="25400">
            <a:noFill/>
            <a:miter lim="800000"/>
          </a:ln>
          <a:effectLst/>
        </p:spPr>
        <p:txBody>
          <a:bodyPr wrap="square">
            <a:spAutoFit/>
          </a:bodyPr>
          <a:lstStyle/>
          <a:p>
            <a:pPr algn="l">
              <a:lnSpc>
                <a:spcPct val="100000"/>
              </a:lnSpc>
            </a:pPr>
            <a:r>
              <a:rPr lang="en-US" sz="2000" dirty="0" err="1">
                <a:latin typeface="Courier New" panose="02070309020205020404" charset="0"/>
              </a:rPr>
              <a:t>movq</a:t>
            </a:r>
            <a:r>
              <a:rPr lang="en-US" sz="2000" dirty="0">
                <a:latin typeface="Courier New" panose="02070309020205020404" charset="0"/>
              </a:rPr>
              <a:t> %</a:t>
            </a:r>
            <a:r>
              <a:rPr lang="en-US" sz="2000" dirty="0" err="1">
                <a:latin typeface="Courier New" panose="02070309020205020404" charset="0"/>
              </a:rPr>
              <a:t>rax</a:t>
            </a:r>
            <a:r>
              <a:rPr lang="en-US" sz="2000" dirty="0">
                <a:latin typeface="Courier New" panose="02070309020205020404" charset="0"/>
              </a:rPr>
              <a:t>,(%</a:t>
            </a:r>
            <a:r>
              <a:rPr lang="en-US" sz="2000" dirty="0" err="1">
                <a:latin typeface="Courier New" panose="02070309020205020404" charset="0"/>
              </a:rPr>
              <a:t>rdx</a:t>
            </a:r>
            <a:r>
              <a:rPr lang="en-US" sz="2000" dirty="0">
                <a:latin typeface="Courier New" panose="02070309020205020404" charset="0"/>
              </a:rPr>
              <a:t>)</a:t>
            </a:r>
          </a:p>
        </p:txBody>
      </p:sp>
      <p:sp>
        <p:nvSpPr>
          <p:cNvPr id="157723" name="Text Box 27"/>
          <p:cNvSpPr txBox="1">
            <a:spLocks noChangeArrowheads="1"/>
          </p:cNvSpPr>
          <p:nvPr/>
        </p:nvSpPr>
        <p:spPr bwMode="auto">
          <a:xfrm>
            <a:off x="6356350" y="4286250"/>
            <a:ext cx="1708150" cy="398780"/>
          </a:xfrm>
          <a:prstGeom prst="rect">
            <a:avLst/>
          </a:prstGeom>
          <a:noFill/>
          <a:ln w="25400">
            <a:noFill/>
            <a:miter lim="800000"/>
          </a:ln>
          <a:effectLst/>
        </p:spPr>
        <p:txBody>
          <a:bodyPr wrap="square">
            <a:spAutoFit/>
          </a:bodyPr>
          <a:lstStyle/>
          <a:p>
            <a:pPr algn="l">
              <a:lnSpc>
                <a:spcPct val="100000"/>
              </a:lnSpc>
            </a:pPr>
            <a:r>
              <a:rPr lang="en-US" sz="2000">
                <a:latin typeface="Courier New" panose="02070309020205020404" charset="0"/>
              </a:rPr>
              <a:t>*p = temp;</a:t>
            </a:r>
          </a:p>
        </p:txBody>
      </p:sp>
      <p:sp>
        <p:nvSpPr>
          <p:cNvPr id="157715" name="Text Box 19"/>
          <p:cNvSpPr txBox="1">
            <a:spLocks noChangeArrowheads="1"/>
          </p:cNvSpPr>
          <p:nvPr/>
        </p:nvSpPr>
        <p:spPr bwMode="auto">
          <a:xfrm>
            <a:off x="3416300" y="5135563"/>
            <a:ext cx="2647279" cy="398780"/>
          </a:xfrm>
          <a:prstGeom prst="rect">
            <a:avLst/>
          </a:prstGeom>
          <a:noFill/>
          <a:ln w="25400">
            <a:noFill/>
            <a:miter lim="800000"/>
          </a:ln>
          <a:effectLst/>
        </p:spPr>
        <p:txBody>
          <a:bodyPr wrap="square">
            <a:spAutoFit/>
          </a:bodyPr>
          <a:lstStyle/>
          <a:p>
            <a:pPr algn="l">
              <a:lnSpc>
                <a:spcPct val="100000"/>
              </a:lnSpc>
            </a:pPr>
            <a:r>
              <a:rPr lang="en-US" sz="2000" dirty="0" err="1">
                <a:latin typeface="Courier New" panose="02070309020205020404" charset="0"/>
              </a:rPr>
              <a:t>movq</a:t>
            </a:r>
            <a:r>
              <a:rPr lang="en-US" sz="2000" dirty="0">
                <a:latin typeface="Courier New" panose="02070309020205020404" charset="0"/>
              </a:rPr>
              <a:t> (%</a:t>
            </a:r>
            <a:r>
              <a:rPr lang="en-US" sz="2000" dirty="0" err="1">
                <a:latin typeface="Courier New" panose="02070309020205020404" charset="0"/>
              </a:rPr>
              <a:t>rax</a:t>
            </a:r>
            <a:r>
              <a:rPr lang="en-US" sz="2000" dirty="0">
                <a:latin typeface="Courier New" panose="02070309020205020404" charset="0"/>
              </a:rPr>
              <a:t>),%</a:t>
            </a:r>
            <a:r>
              <a:rPr lang="en-US" sz="2000" dirty="0" err="1">
                <a:latin typeface="Courier New" panose="02070309020205020404" charset="0"/>
              </a:rPr>
              <a:t>rdx</a:t>
            </a:r>
            <a:endParaRPr lang="en-US" sz="2000" dirty="0">
              <a:latin typeface="Courier New" panose="02070309020205020404" charset="0"/>
            </a:endParaRPr>
          </a:p>
        </p:txBody>
      </p:sp>
      <p:sp>
        <p:nvSpPr>
          <p:cNvPr id="157724" name="Text Box 28"/>
          <p:cNvSpPr txBox="1">
            <a:spLocks noChangeArrowheads="1"/>
          </p:cNvSpPr>
          <p:nvPr/>
        </p:nvSpPr>
        <p:spPr bwMode="auto">
          <a:xfrm>
            <a:off x="6356350" y="5135563"/>
            <a:ext cx="1708150" cy="398780"/>
          </a:xfrm>
          <a:prstGeom prst="rect">
            <a:avLst/>
          </a:prstGeom>
          <a:noFill/>
          <a:ln w="25400">
            <a:noFill/>
            <a:miter lim="800000"/>
          </a:ln>
          <a:effectLst/>
        </p:spPr>
        <p:txBody>
          <a:bodyPr wrap="square">
            <a:spAutoFit/>
          </a:bodyPr>
          <a:lstStyle/>
          <a:p>
            <a:pPr algn="l">
              <a:lnSpc>
                <a:spcPct val="100000"/>
              </a:lnSpc>
            </a:pPr>
            <a:r>
              <a:rPr lang="en-US" sz="2000">
                <a:latin typeface="Courier New" panose="02070309020205020404" charset="0"/>
              </a:rPr>
              <a:t>temp = *p;</a:t>
            </a:r>
          </a:p>
        </p:txBody>
      </p:sp>
      <p:sp>
        <p:nvSpPr>
          <p:cNvPr id="157725" name="Text Box 29"/>
          <p:cNvSpPr txBox="1">
            <a:spLocks noChangeArrowheads="1"/>
          </p:cNvSpPr>
          <p:nvPr/>
        </p:nvSpPr>
        <p:spPr bwMode="auto">
          <a:xfrm>
            <a:off x="4254500" y="1943100"/>
            <a:ext cx="1220399" cy="460375"/>
          </a:xfrm>
          <a:prstGeom prst="rect">
            <a:avLst/>
          </a:prstGeom>
          <a:noFill/>
          <a:ln w="25400">
            <a:noFill/>
            <a:miter lim="800000"/>
          </a:ln>
          <a:effectLst/>
        </p:spPr>
        <p:txBody>
          <a:bodyPr wrap="square">
            <a:spAutoFit/>
          </a:bodyPr>
          <a:lstStyle/>
          <a:p>
            <a:pPr algn="l">
              <a:lnSpc>
                <a:spcPct val="100000"/>
              </a:lnSpc>
            </a:pPr>
            <a:r>
              <a:rPr lang="en-US" sz="2400" dirty="0" err="1">
                <a:latin typeface="Calibri" panose="020F0502020204030204" charset="0"/>
              </a:rPr>
              <a:t>Src,Dest</a:t>
            </a:r>
            <a:endParaRPr lang="en-US" sz="2400"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57711"/>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57720"/>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77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772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577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5772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15771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57723"/>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15771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57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P spid="157711" grpId="0" bldLvl="0" animBg="1"/>
      <p:bldP spid="157720" grpId="0" bldLvl="0" animBg="1"/>
      <p:bldP spid="157712" grpId="0" bldLvl="0" animBg="1"/>
      <p:bldP spid="157721" grpId="0" bldLvl="0" animBg="1"/>
      <p:bldP spid="157713" grpId="0" bldLvl="0" animBg="1"/>
      <p:bldP spid="157722" grpId="0" bldLvl="0" animBg="1"/>
      <p:bldP spid="157714" grpId="0" bldLvl="0" animBg="1"/>
      <p:bldP spid="157723" grpId="0" bldLvl="0" animBg="1"/>
      <p:bldP spid="157715" grpId="0" bldLvl="0" animBg="1"/>
      <p:bldP spid="157724"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3837" y="133457"/>
            <a:ext cx="3421380"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t>数据传送指令</a:t>
            </a:r>
            <a:r>
              <a:rPr lang="en-US" altLang="zh-CN" sz="3000" dirty="0"/>
              <a:t>:mov</a:t>
            </a:r>
          </a:p>
        </p:txBody>
      </p:sp>
      <p:sp>
        <p:nvSpPr>
          <p:cNvPr id="5" name="椭圆 4"/>
          <p:cNvSpPr/>
          <p:nvPr/>
        </p:nvSpPr>
        <p:spPr>
          <a:xfrm>
            <a:off x="3662839" y="2581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911441" y="4595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7758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743926" y="775811"/>
            <a:ext cx="440007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58722" name="Rectangle 2"/>
          <p:cNvSpPr>
            <a:spLocks noGrp="1" noChangeArrowheads="1"/>
          </p:cNvSpPr>
          <p:nvPr/>
        </p:nvSpPr>
        <p:spPr>
          <a:xfrm>
            <a:off x="88900" y="1370012"/>
            <a:ext cx="70358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pPr marL="457200" indent="-457200">
              <a:buFont typeface="Wingdings" panose="05000000000000000000" charset="0"/>
              <a:buChar char=""/>
            </a:pPr>
            <a:r>
              <a:rPr lang="en-US" sz="2800" dirty="0">
                <a:latin typeface="微软雅黑" panose="020B0503020204020204" charset="-122"/>
                <a:ea typeface="微软雅黑" panose="020B0503020204020204" charset="-122"/>
              </a:rPr>
              <a:t>简单</a:t>
            </a:r>
            <a:r>
              <a:rPr lang="zh-CN" altLang="en-US" sz="2800" dirty="0">
                <a:latin typeface="微软雅黑" panose="020B0503020204020204" charset="-122"/>
                <a:ea typeface="微软雅黑" panose="020B0503020204020204" charset="-122"/>
              </a:rPr>
              <a:t>的</a:t>
            </a:r>
            <a:r>
              <a:rPr lang="en-US" sz="2800" dirty="0">
                <a:latin typeface="微软雅黑" panose="020B0503020204020204" charset="-122"/>
                <a:ea typeface="微软雅黑" panose="020B0503020204020204" charset="-122"/>
              </a:rPr>
              <a:t>内存寻址模式</a:t>
            </a:r>
          </a:p>
        </p:txBody>
      </p:sp>
      <p:sp>
        <p:nvSpPr>
          <p:cNvPr id="158723" name="Rectangle 3"/>
          <p:cNvSpPr>
            <a:spLocks noGrp="1" noChangeArrowheads="1"/>
          </p:cNvSpPr>
          <p:nvPr/>
        </p:nvSpPr>
        <p:spPr>
          <a:xfrm>
            <a:off x="104775" y="2162175"/>
            <a:ext cx="7896225" cy="3905885"/>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24155" indent="-224155" defTabSz="895350">
              <a:buClr>
                <a:srgbClr val="0D0D0D"/>
              </a:buClr>
              <a:tabLst>
                <a:tab pos="2349500" algn="l"/>
                <a:tab pos="4114800" algn="l"/>
              </a:tabLst>
            </a:pPr>
            <a:r>
              <a:rPr lang="zh-CN" altLang="en-US" sz="2000" dirty="0"/>
              <a:t>常规</a:t>
            </a:r>
            <a:r>
              <a:rPr lang="en-US" sz="2000" dirty="0"/>
              <a:t>	(R)	</a:t>
            </a:r>
            <a:r>
              <a:rPr lang="en-US" sz="2000" dirty="0" err="1"/>
              <a:t>Mem[Reg[R</a:t>
            </a:r>
            <a:r>
              <a:rPr lang="en-US" sz="2000" dirty="0"/>
              <a:t>]]</a:t>
            </a:r>
          </a:p>
          <a:p>
            <a:pPr marL="560705" lvl="1" indent="-222250" defTabSz="895350">
              <a:buClr>
                <a:srgbClr val="0D0D0D"/>
              </a:buClr>
              <a:tabLst>
                <a:tab pos="2349500" algn="l"/>
                <a:tab pos="4114800" algn="l"/>
              </a:tabLst>
            </a:pPr>
            <a:r>
              <a:rPr lang="en-US" dirty="0"/>
              <a:t>寄存器R指定内存地址</a:t>
            </a:r>
          </a:p>
          <a:p>
            <a:pPr marL="560705" lvl="1" indent="-222250" defTabSz="895350">
              <a:buClr>
                <a:srgbClr val="0D0D0D"/>
              </a:buClr>
              <a:tabLst>
                <a:tab pos="2349500" algn="l"/>
                <a:tab pos="4114800" algn="l"/>
              </a:tabLst>
            </a:pPr>
            <a:r>
              <a:rPr lang="en-US" dirty="0"/>
              <a:t>C中的指针引用</a:t>
            </a:r>
            <a:br>
              <a:rPr lang="en-US" dirty="0"/>
            </a:br>
            <a:br>
              <a:rPr lang="en-US" dirty="0"/>
            </a:br>
            <a:r>
              <a:rPr lang="en-US" b="1" dirty="0" err="1">
                <a:latin typeface="Courier New" panose="02070309020205020404" charset="0"/>
              </a:rPr>
              <a:t>movq</a:t>
            </a:r>
            <a:r>
              <a:rPr lang="en-US" b="1" dirty="0">
                <a:latin typeface="Courier New" panose="02070309020205020404" charset="0"/>
              </a:rPr>
              <a:t> (%</a:t>
            </a:r>
            <a:r>
              <a:rPr lang="en-US" b="1" dirty="0" err="1">
                <a:latin typeface="Courier New" panose="02070309020205020404" charset="0"/>
              </a:rPr>
              <a:t>rcx</a:t>
            </a:r>
            <a:r>
              <a:rPr lang="en-US" b="1" dirty="0">
                <a:latin typeface="Courier New" panose="02070309020205020404" charset="0"/>
              </a:rPr>
              <a:t>),%</a:t>
            </a:r>
            <a:r>
              <a:rPr lang="en-US" b="1" dirty="0" err="1">
                <a:latin typeface="Courier New" panose="02070309020205020404" charset="0"/>
              </a:rPr>
              <a:t>r</a:t>
            </a:r>
            <a:r>
              <a:rPr lang="en-US" sz="1800" b="1" dirty="0" err="1">
                <a:latin typeface="Courier New" panose="02070309020205020404" charset="0"/>
              </a:rPr>
              <a:t>ax</a:t>
            </a:r>
          </a:p>
          <a:p>
            <a:pPr marL="560705" lvl="1" indent="-222250" defTabSz="895350">
              <a:tabLst>
                <a:tab pos="2349500" algn="l"/>
                <a:tab pos="4114800" algn="l"/>
              </a:tabLst>
            </a:pPr>
            <a:endParaRPr lang="en-US" sz="1600" b="1" dirty="0" err="1">
              <a:latin typeface="Courier New" panose="02070309020205020404" charset="0"/>
            </a:endParaRPr>
          </a:p>
          <a:p>
            <a:pPr marL="224155" indent="-224155" defTabSz="895350">
              <a:buClr>
                <a:srgbClr val="0D0D0D"/>
              </a:buClr>
              <a:tabLst>
                <a:tab pos="2349500" algn="l"/>
                <a:tab pos="4114800" algn="l"/>
              </a:tabLst>
            </a:pPr>
            <a:r>
              <a:rPr lang="zh-CN" altLang="en-US" sz="2000" dirty="0"/>
              <a:t>位移</a:t>
            </a:r>
            <a:r>
              <a:rPr lang="en-US" sz="2000" dirty="0"/>
              <a:t>	D(R)	</a:t>
            </a:r>
            <a:r>
              <a:rPr lang="en-US" sz="2000" dirty="0" err="1"/>
              <a:t>Mem</a:t>
            </a:r>
            <a:r>
              <a:rPr lang="en-US" sz="2000" dirty="0"/>
              <a:t>[</a:t>
            </a:r>
            <a:r>
              <a:rPr lang="en-US" sz="2000" dirty="0" err="1"/>
              <a:t>Reg</a:t>
            </a:r>
            <a:r>
              <a:rPr lang="en-US" sz="2000" dirty="0"/>
              <a:t>[R]+D]</a:t>
            </a:r>
          </a:p>
          <a:p>
            <a:pPr marL="560705" lvl="1" indent="-222250" defTabSz="895350">
              <a:buClr>
                <a:srgbClr val="0D0D0D"/>
              </a:buClr>
              <a:tabLst>
                <a:tab pos="2349500" algn="l"/>
                <a:tab pos="4114800" algn="l"/>
              </a:tabLst>
            </a:pPr>
            <a:r>
              <a:rPr lang="en-US" dirty="0"/>
              <a:t>寄存器R指定内存区域的</a:t>
            </a:r>
            <a:r>
              <a:rPr lang="zh-CN" altLang="en-US" sz="1800" dirty="0"/>
              <a:t>起始位置</a:t>
            </a:r>
          </a:p>
          <a:p>
            <a:pPr marL="560705" lvl="1" indent="-222250" defTabSz="895350">
              <a:buClr>
                <a:srgbClr val="0D0D0D"/>
              </a:buClr>
              <a:tabLst>
                <a:tab pos="2349500" algn="l"/>
                <a:tab pos="4114800" algn="l"/>
              </a:tabLst>
            </a:pPr>
            <a:r>
              <a:rPr lang="en-US" dirty="0"/>
              <a:t>恒位移D指定偏移</a:t>
            </a:r>
            <a:br>
              <a:rPr lang="en-US" dirty="0"/>
            </a:br>
            <a:br>
              <a:rPr lang="en-US" dirty="0"/>
            </a:br>
            <a:r>
              <a:rPr lang="en-US" b="1" dirty="0" err="1">
                <a:latin typeface="Courier New" panose="02070309020205020404" charset="0"/>
              </a:rPr>
              <a:t>movq</a:t>
            </a:r>
            <a:r>
              <a:rPr lang="en-US" b="1" dirty="0">
                <a:latin typeface="Courier New" panose="02070309020205020404" charset="0"/>
              </a:rPr>
              <a:t> 8(%</a:t>
            </a:r>
            <a:r>
              <a:rPr lang="en-US" b="1" dirty="0" err="1">
                <a:latin typeface="Courier New" panose="02070309020205020404" charset="0"/>
              </a:rPr>
              <a:t>rbp</a:t>
            </a:r>
            <a:r>
              <a:rPr lang="en-US" b="1" dirty="0">
                <a:latin typeface="Courier New" panose="02070309020205020404" charset="0"/>
              </a:rPr>
              <a:t>),%</a:t>
            </a:r>
            <a:r>
              <a:rPr lang="en-US" b="1" dirty="0" err="1">
                <a:latin typeface="Courier New" panose="02070309020205020404" charset="0"/>
              </a:rPr>
              <a:t>rdx</a:t>
            </a:r>
          </a:p>
        </p:txBody>
      </p:sp>
      <p:grpSp>
        <p:nvGrpSpPr>
          <p:cNvPr id="6" name="组合 5"/>
          <p:cNvGrpSpPr/>
          <p:nvPr/>
        </p:nvGrpSpPr>
        <p:grpSpPr>
          <a:xfrm>
            <a:off x="662940" y="3484880"/>
            <a:ext cx="2658745" cy="382270"/>
            <a:chOff x="888096" y="1000203"/>
            <a:chExt cx="4259825" cy="944066"/>
          </a:xfrm>
        </p:grpSpPr>
        <p:sp>
          <p:nvSpPr>
            <p:cNvPr id="7" name="矩形 6"/>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椭圆 7"/>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椭圆 8"/>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椭圆 9"/>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椭圆 10"/>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grpSp>
        <p:nvGrpSpPr>
          <p:cNvPr id="3" name="组合 2"/>
          <p:cNvGrpSpPr/>
          <p:nvPr/>
        </p:nvGrpSpPr>
        <p:grpSpPr>
          <a:xfrm>
            <a:off x="662940" y="5472430"/>
            <a:ext cx="2817495" cy="382270"/>
            <a:chOff x="888096" y="1000203"/>
            <a:chExt cx="4259825" cy="944066"/>
          </a:xfrm>
        </p:grpSpPr>
        <p:sp>
          <p:nvSpPr>
            <p:cNvPr id="12" name="矩形 11"/>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椭圆 12"/>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椭圆 14"/>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椭圆 17"/>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9" name="椭圆 18"/>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58723">
                                            <p:txEl>
                                              <p:pRg st="1" end="1"/>
                                            </p:txEl>
                                          </p:spTgt>
                                        </p:tgtEl>
                                        <p:attrNameLst>
                                          <p:attrName>style.visibility</p:attrName>
                                        </p:attrNameLst>
                                      </p:cBhvr>
                                      <p:to>
                                        <p:strVal val="visible"/>
                                      </p:to>
                                    </p:set>
                                    <p:animEffect transition="in" filter="wipe(down)">
                                      <p:cBhvr>
                                        <p:cTn id="20" dur="500"/>
                                        <p:tgtEl>
                                          <p:spTgt spid="158723">
                                            <p:txEl>
                                              <p:pRg st="1" end="1"/>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158723">
                                            <p:txEl>
                                              <p:pRg st="2" end="2"/>
                                            </p:txEl>
                                          </p:spTgt>
                                        </p:tgtEl>
                                        <p:attrNameLst>
                                          <p:attrName>style.visibility</p:attrName>
                                        </p:attrNameLst>
                                      </p:cBhvr>
                                      <p:to>
                                        <p:strVal val="visible"/>
                                      </p:to>
                                    </p:set>
                                    <p:animEffect transition="in" filter="wipe(down)">
                                      <p:cBhvr>
                                        <p:cTn id="23" dur="500"/>
                                        <p:tgtEl>
                                          <p:spTgt spid="158723">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additive="base">
                                        <p:cTn id="28" dur="500" fill="hold"/>
                                        <p:tgtEl>
                                          <p:spTgt spid="6"/>
                                        </p:tgtEl>
                                        <p:attrNameLst>
                                          <p:attrName>ppt_x</p:attrName>
                                        </p:attrNameLst>
                                      </p:cBhvr>
                                      <p:tavLst>
                                        <p:tav tm="0">
                                          <p:val>
                                            <p:strVal val="#ppt_x"/>
                                          </p:val>
                                        </p:tav>
                                        <p:tav tm="100000">
                                          <p:val>
                                            <p:strVal val="#ppt_x"/>
                                          </p:val>
                                        </p:tav>
                                      </p:tavLst>
                                    </p:anim>
                                    <p:anim calcmode="lin" valueType="num">
                                      <p:cBhvr additive="base">
                                        <p:cTn id="2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58723">
                                            <p:txEl>
                                              <p:pRg st="5" end="5"/>
                                            </p:txEl>
                                          </p:spTgt>
                                        </p:tgtEl>
                                        <p:attrNameLst>
                                          <p:attrName>style.visibility</p:attrName>
                                        </p:attrNameLst>
                                      </p:cBhvr>
                                      <p:to>
                                        <p:strVal val="visible"/>
                                      </p:to>
                                    </p:set>
                                    <p:anim calcmode="lin" valueType="num">
                                      <p:cBhvr additive="base">
                                        <p:cTn id="34" dur="500" fill="hold"/>
                                        <p:tgtEl>
                                          <p:spTgt spid="158723">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58723">
                                            <p:txEl>
                                              <p:pRg st="5" end="5"/>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58723">
                                            <p:txEl>
                                              <p:pRg st="6" end="6"/>
                                            </p:txEl>
                                          </p:spTgt>
                                        </p:tgtEl>
                                        <p:attrNameLst>
                                          <p:attrName>style.visibility</p:attrName>
                                        </p:attrNameLst>
                                      </p:cBhvr>
                                      <p:to>
                                        <p:strVal val="visible"/>
                                      </p:to>
                                    </p:set>
                                    <p:anim calcmode="lin" valueType="num">
                                      <p:cBhvr additive="base">
                                        <p:cTn id="38" dur="500" fill="hold"/>
                                        <p:tgtEl>
                                          <p:spTgt spid="158723">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15872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fill="hold"/>
                                        <p:tgtEl>
                                          <p:spTgt spid="3"/>
                                        </p:tgtEl>
                                        <p:attrNameLst>
                                          <p:attrName>ppt_x</p:attrName>
                                        </p:attrNameLst>
                                      </p:cBhvr>
                                      <p:tavLst>
                                        <p:tav tm="0">
                                          <p:val>
                                            <p:strVal val="#ppt_x"/>
                                          </p:val>
                                        </p:tav>
                                        <p:tav tm="100000">
                                          <p:val>
                                            <p:strVal val="#ppt_x"/>
                                          </p:val>
                                        </p:tav>
                                      </p:tavLst>
                                    </p:anim>
                                    <p:anim calcmode="lin" valueType="num">
                                      <p:cBhvr additive="base">
                                        <p:cTn id="4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43837" y="412857"/>
            <a:ext cx="3421380" cy="553085"/>
          </a:xfrm>
          <a:prstGeom prst="rect">
            <a:avLst/>
          </a:prstGeom>
          <a:noFill/>
        </p:spPr>
        <p:txBody>
          <a:bodyPr wrap="none" rtlCol="0">
            <a:spAutoFit/>
          </a:bodyPr>
          <a:lstStyle>
            <a:defPPr>
              <a:defRPr lang="zh-CN"/>
            </a:defPPr>
            <a:lvl1pPr>
              <a:defRPr sz="3600" b="1">
                <a:gradFill>
                  <a:gsLst>
                    <a:gs pos="0">
                      <a:schemeClr val="accent2"/>
                    </a:gs>
                    <a:gs pos="57000">
                      <a:schemeClr val="accent3"/>
                    </a:gs>
                    <a:gs pos="100000">
                      <a:schemeClr val="accent5"/>
                    </a:gs>
                  </a:gsLst>
                  <a:lin ang="8100000" scaled="0"/>
                </a:gradFill>
                <a:effectLst>
                  <a:outerShdw blurRad="50800" dist="25400" dir="8100000" algn="tr" rotWithShape="0">
                    <a:prstClr val="black">
                      <a:alpha val="40000"/>
                    </a:prstClr>
                  </a:outerShdw>
                </a:effectLst>
                <a:latin typeface="+mn-ea"/>
                <a:cs typeface="+mn-ea"/>
              </a:defRPr>
            </a:lvl1pPr>
          </a:lstStyle>
          <a:p>
            <a:pPr algn="l"/>
            <a:r>
              <a:rPr lang="zh-CN" altLang="en-US" sz="3000" dirty="0">
                <a:sym typeface="+mn-ea"/>
              </a:rPr>
              <a:t>数据传送指令</a:t>
            </a:r>
            <a:r>
              <a:rPr lang="en-US" altLang="zh-CN" sz="3000" dirty="0">
                <a:sym typeface="+mn-ea"/>
              </a:rPr>
              <a:t>:mov</a:t>
            </a:r>
            <a:endParaRPr lang="zh-CN" altLang="en-US" sz="3000" dirty="0"/>
          </a:p>
        </p:txBody>
      </p:sp>
      <p:sp>
        <p:nvSpPr>
          <p:cNvPr id="5" name="椭圆 4"/>
          <p:cNvSpPr/>
          <p:nvPr/>
        </p:nvSpPr>
        <p:spPr>
          <a:xfrm>
            <a:off x="3662839" y="537528"/>
            <a:ext cx="975836" cy="975836"/>
          </a:xfrm>
          <a:prstGeom prst="ellipse">
            <a:avLst/>
          </a:prstGeom>
          <a:gradFill flip="none" rotWithShape="1">
            <a:gsLst>
              <a:gs pos="20000">
                <a:srgbClr val="BFBFBF"/>
              </a:gs>
              <a:gs pos="80000">
                <a:srgbClr val="FFFFFF"/>
              </a:gs>
              <a:gs pos="100000">
                <a:schemeClr val="bg1">
                  <a:tint val="0"/>
                </a:schemeClr>
              </a:gs>
            </a:gsLst>
            <a:lin ang="2700000" scaled="1"/>
            <a:tileRect/>
          </a:gradFill>
          <a:ln w="28575">
            <a:solidFill>
              <a:srgbClr val="F2F2F2"/>
            </a:solidFill>
          </a:ln>
          <a:effectLst>
            <a:outerShdw blurRad="88900" dist="75434" dir="2699985" rotWithShape="0">
              <a:scrgbClr r="0" g="0" b="0">
                <a:alpha val="23000"/>
              </a:sc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000000"/>
              </a:solidFill>
              <a:cs typeface="+mn-ea"/>
            </a:endParaRPr>
          </a:p>
        </p:txBody>
      </p:sp>
      <p:sp>
        <p:nvSpPr>
          <p:cNvPr id="16" name="KSO_Shape"/>
          <p:cNvSpPr/>
          <p:nvPr/>
        </p:nvSpPr>
        <p:spPr bwMode="auto">
          <a:xfrm>
            <a:off x="3911441" y="738981"/>
            <a:ext cx="535305" cy="530066"/>
          </a:xfrm>
          <a:custGeom>
            <a:avLst/>
            <a:gdLst>
              <a:gd name="T0" fmla="*/ 615878 w 2390775"/>
              <a:gd name="T1" fmla="*/ 1467970 h 2365376"/>
              <a:gd name="T2" fmla="*/ 587250 w 2390775"/>
              <a:gd name="T3" fmla="*/ 1401697 h 2365376"/>
              <a:gd name="T4" fmla="*/ 1282649 w 2390775"/>
              <a:gd name="T5" fmla="*/ 1393474 h 2365376"/>
              <a:gd name="T6" fmla="*/ 1180915 w 2390775"/>
              <a:gd name="T7" fmla="*/ 1446870 h 2365376"/>
              <a:gd name="T8" fmla="*/ 1210073 w 2390775"/>
              <a:gd name="T9" fmla="*/ 1382167 h 2365376"/>
              <a:gd name="T10" fmla="*/ 653657 w 2390775"/>
              <a:gd name="T11" fmla="*/ 1314699 h 2365376"/>
              <a:gd name="T12" fmla="*/ 646041 w 2390775"/>
              <a:gd name="T13" fmla="*/ 1180275 h 2365376"/>
              <a:gd name="T14" fmla="*/ 589870 w 2390775"/>
              <a:gd name="T15" fmla="*/ 1105327 h 2365376"/>
              <a:gd name="T16" fmla="*/ 599516 w 2390775"/>
              <a:gd name="T17" fmla="*/ 1141280 h 2365376"/>
              <a:gd name="T18" fmla="*/ 579914 w 2390775"/>
              <a:gd name="T19" fmla="*/ 1158779 h 2365376"/>
              <a:gd name="T20" fmla="*/ 541333 w 2390775"/>
              <a:gd name="T21" fmla="*/ 1105965 h 2365376"/>
              <a:gd name="T22" fmla="*/ 1137260 w 2390775"/>
              <a:gd name="T23" fmla="*/ 1009231 h 2365376"/>
              <a:gd name="T24" fmla="*/ 1143562 w 2390775"/>
              <a:gd name="T25" fmla="*/ 1026145 h 2365376"/>
              <a:gd name="T26" fmla="*/ 1096615 w 2390775"/>
              <a:gd name="T27" fmla="*/ 1069549 h 2365376"/>
              <a:gd name="T28" fmla="*/ 1102602 w 2390775"/>
              <a:gd name="T29" fmla="*/ 1001572 h 2365376"/>
              <a:gd name="T30" fmla="*/ 972739 w 2390775"/>
              <a:gd name="T31" fmla="*/ 835988 h 2365376"/>
              <a:gd name="T32" fmla="*/ 989500 w 2390775"/>
              <a:gd name="T33" fmla="*/ 1138672 h 2365376"/>
              <a:gd name="T34" fmla="*/ 639427 w 2390775"/>
              <a:gd name="T35" fmla="*/ 1423644 h 2365376"/>
              <a:gd name="T36" fmla="*/ 599898 w 2390775"/>
              <a:gd name="T37" fmla="*/ 1003302 h 2365376"/>
              <a:gd name="T38" fmla="*/ 529694 w 2390775"/>
              <a:gd name="T39" fmla="*/ 1090596 h 2365376"/>
              <a:gd name="T40" fmla="*/ 602428 w 2390775"/>
              <a:gd name="T41" fmla="*/ 868249 h 2365376"/>
              <a:gd name="T42" fmla="*/ 861740 w 2390775"/>
              <a:gd name="T43" fmla="*/ 924231 h 2365376"/>
              <a:gd name="T44" fmla="*/ 755609 w 2390775"/>
              <a:gd name="T45" fmla="*/ 542052 h 2365376"/>
              <a:gd name="T46" fmla="*/ 929665 w 2390775"/>
              <a:gd name="T47" fmla="*/ 525915 h 2365376"/>
              <a:gd name="T48" fmla="*/ 909019 w 2390775"/>
              <a:gd name="T49" fmla="*/ 571798 h 2365376"/>
              <a:gd name="T50" fmla="*/ 936652 w 2390775"/>
              <a:gd name="T51" fmla="*/ 586353 h 2365376"/>
              <a:gd name="T52" fmla="*/ 928394 w 2390775"/>
              <a:gd name="T53" fmla="*/ 688879 h 2365376"/>
              <a:gd name="T54" fmla="*/ 840414 w 2390775"/>
              <a:gd name="T55" fmla="*/ 772101 h 2365376"/>
              <a:gd name="T56" fmla="*/ 742269 w 2390775"/>
              <a:gd name="T57" fmla="*/ 675588 h 2365376"/>
              <a:gd name="T58" fmla="*/ 738139 w 2390775"/>
              <a:gd name="T59" fmla="*/ 608504 h 2365376"/>
              <a:gd name="T60" fmla="*/ 761643 w 2390775"/>
              <a:gd name="T61" fmla="*/ 510093 h 2365376"/>
              <a:gd name="T62" fmla="*/ 617010 w 2390775"/>
              <a:gd name="T63" fmla="*/ 449064 h 2365376"/>
              <a:gd name="T64" fmla="*/ 350272 w 2390775"/>
              <a:gd name="T65" fmla="*/ 638327 h 2365376"/>
              <a:gd name="T66" fmla="*/ 215163 w 2390775"/>
              <a:gd name="T67" fmla="*/ 939947 h 2365376"/>
              <a:gd name="T68" fmla="*/ 256613 w 2390775"/>
              <a:gd name="T69" fmla="*/ 1277331 h 2365376"/>
              <a:gd name="T70" fmla="*/ 458486 w 2390775"/>
              <a:gd name="T71" fmla="*/ 1534008 h 2365376"/>
              <a:gd name="T72" fmla="*/ 767308 w 2390775"/>
              <a:gd name="T73" fmla="*/ 1655225 h 2365376"/>
              <a:gd name="T74" fmla="*/ 1101127 w 2390775"/>
              <a:gd name="T75" fmla="*/ 1596674 h 2365376"/>
              <a:gd name="T76" fmla="*/ 1347614 w 2390775"/>
              <a:gd name="T77" fmla="*/ 1383040 h 2365376"/>
              <a:gd name="T78" fmla="*/ 1453614 w 2390775"/>
              <a:gd name="T79" fmla="*/ 1066861 h 2365376"/>
              <a:gd name="T80" fmla="*/ 1378939 w 2390775"/>
              <a:gd name="T81" fmla="*/ 738024 h 2365376"/>
              <a:gd name="T82" fmla="*/ 1153652 w 2390775"/>
              <a:gd name="T83" fmla="*/ 501602 h 2365376"/>
              <a:gd name="T84" fmla="*/ 831224 w 2390775"/>
              <a:gd name="T85" fmla="*/ 411085 h 2365376"/>
              <a:gd name="T86" fmla="*/ 989432 w 2390775"/>
              <a:gd name="T87" fmla="*/ 315187 h 2365376"/>
              <a:gd name="T88" fmla="*/ 1471649 w 2390775"/>
              <a:gd name="T89" fmla="*/ 671876 h 2365376"/>
              <a:gd name="T90" fmla="*/ 1554866 w 2390775"/>
              <a:gd name="T91" fmla="*/ 1171938 h 2365376"/>
              <a:gd name="T92" fmla="*/ 1239716 w 2390775"/>
              <a:gd name="T93" fmla="*/ 1647313 h 2365376"/>
              <a:gd name="T94" fmla="*/ 646121 w 2390775"/>
              <a:gd name="T95" fmla="*/ 1748275 h 2365376"/>
              <a:gd name="T96" fmla="*/ 110112 w 2390775"/>
              <a:gd name="T97" fmla="*/ 1186813 h 2365376"/>
              <a:gd name="T98" fmla="*/ 251551 w 2390775"/>
              <a:gd name="T99" fmla="*/ 580725 h 2365376"/>
              <a:gd name="T100" fmla="*/ 1549044 w 2390775"/>
              <a:gd name="T101" fmla="*/ 160116 h 2365376"/>
              <a:gd name="T102" fmla="*/ 1461002 w 2390775"/>
              <a:gd name="T103" fmla="*/ 284475 h 2365376"/>
              <a:gd name="T104" fmla="*/ 1550307 w 2390775"/>
              <a:gd name="T105" fmla="*/ 426554 h 2365376"/>
              <a:gd name="T106" fmla="*/ 1719764 w 2390775"/>
              <a:gd name="T107" fmla="*/ 380038 h 2365376"/>
              <a:gd name="T108" fmla="*/ 1735543 w 2390775"/>
              <a:gd name="T109" fmla="*/ 232579 h 2365376"/>
              <a:gd name="T110" fmla="*/ 1705909 w 2390775"/>
              <a:gd name="T111" fmla="*/ 94508 h 2365376"/>
              <a:gd name="T112" fmla="*/ 1774050 w 2390775"/>
              <a:gd name="T113" fmla="*/ 148403 h 2365376"/>
              <a:gd name="T114" fmla="*/ 1781614 w 2390775"/>
              <a:gd name="T115" fmla="*/ 428769 h 2365376"/>
              <a:gd name="T116" fmla="*/ 1600166 w 2390775"/>
              <a:gd name="T117" fmla="*/ 516104 h 2365376"/>
              <a:gd name="T118" fmla="*/ 1452167 w 2390775"/>
              <a:gd name="T119" fmla="*/ 455349 h 2365376"/>
              <a:gd name="T120" fmla="*/ 1310478 w 2390775"/>
              <a:gd name="T121" fmla="*/ 259477 h 2365376"/>
              <a:gd name="T122" fmla="*/ 1562614 w 2390775"/>
              <a:gd name="T123" fmla="*/ 74046 h 236537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390775" h="2365376">
                <a:moveTo>
                  <a:pt x="761351" y="1739900"/>
                </a:moveTo>
                <a:lnTo>
                  <a:pt x="791690" y="1805294"/>
                </a:lnTo>
                <a:lnTo>
                  <a:pt x="794883" y="1808051"/>
                </a:lnTo>
                <a:lnTo>
                  <a:pt x="797278" y="1811991"/>
                </a:lnTo>
                <a:lnTo>
                  <a:pt x="800871" y="1817112"/>
                </a:lnTo>
                <a:lnTo>
                  <a:pt x="803266" y="1822233"/>
                </a:lnTo>
                <a:lnTo>
                  <a:pt x="804065" y="1825384"/>
                </a:lnTo>
                <a:lnTo>
                  <a:pt x="804863" y="1828536"/>
                </a:lnTo>
                <a:lnTo>
                  <a:pt x="804863" y="1831687"/>
                </a:lnTo>
                <a:lnTo>
                  <a:pt x="804863" y="1834839"/>
                </a:lnTo>
                <a:lnTo>
                  <a:pt x="804065" y="1837990"/>
                </a:lnTo>
                <a:lnTo>
                  <a:pt x="802867" y="1841142"/>
                </a:lnTo>
                <a:lnTo>
                  <a:pt x="801670" y="1842718"/>
                </a:lnTo>
                <a:lnTo>
                  <a:pt x="799674" y="1844687"/>
                </a:lnTo>
                <a:lnTo>
                  <a:pt x="797278" y="1845475"/>
                </a:lnTo>
                <a:lnTo>
                  <a:pt x="794484" y="1845869"/>
                </a:lnTo>
                <a:lnTo>
                  <a:pt x="790891" y="1846263"/>
                </a:lnTo>
                <a:lnTo>
                  <a:pt x="787698" y="1845869"/>
                </a:lnTo>
                <a:lnTo>
                  <a:pt x="784105" y="1845475"/>
                </a:lnTo>
                <a:lnTo>
                  <a:pt x="780512" y="1844293"/>
                </a:lnTo>
                <a:lnTo>
                  <a:pt x="776520" y="1842718"/>
                </a:lnTo>
                <a:lnTo>
                  <a:pt x="772927" y="1841142"/>
                </a:lnTo>
                <a:lnTo>
                  <a:pt x="768935" y="1839172"/>
                </a:lnTo>
                <a:lnTo>
                  <a:pt x="765343" y="1836809"/>
                </a:lnTo>
                <a:lnTo>
                  <a:pt x="761750" y="1834051"/>
                </a:lnTo>
                <a:lnTo>
                  <a:pt x="758955" y="1831294"/>
                </a:lnTo>
                <a:lnTo>
                  <a:pt x="756161" y="1827748"/>
                </a:lnTo>
                <a:lnTo>
                  <a:pt x="754165" y="1824597"/>
                </a:lnTo>
                <a:lnTo>
                  <a:pt x="748975" y="1815536"/>
                </a:lnTo>
                <a:lnTo>
                  <a:pt x="745782" y="1808839"/>
                </a:lnTo>
                <a:lnTo>
                  <a:pt x="743387" y="1803718"/>
                </a:lnTo>
                <a:lnTo>
                  <a:pt x="742588" y="1799385"/>
                </a:lnTo>
                <a:lnTo>
                  <a:pt x="742588" y="1795051"/>
                </a:lnTo>
                <a:lnTo>
                  <a:pt x="743387" y="1790718"/>
                </a:lnTo>
                <a:lnTo>
                  <a:pt x="746181" y="1778112"/>
                </a:lnTo>
                <a:lnTo>
                  <a:pt x="746979" y="1774173"/>
                </a:lnTo>
                <a:lnTo>
                  <a:pt x="746979" y="1772203"/>
                </a:lnTo>
                <a:lnTo>
                  <a:pt x="746181" y="1771021"/>
                </a:lnTo>
                <a:lnTo>
                  <a:pt x="745383" y="1770627"/>
                </a:lnTo>
                <a:lnTo>
                  <a:pt x="742987" y="1770627"/>
                </a:lnTo>
                <a:lnTo>
                  <a:pt x="742189" y="1770233"/>
                </a:lnTo>
                <a:lnTo>
                  <a:pt x="741790" y="1769839"/>
                </a:lnTo>
                <a:lnTo>
                  <a:pt x="738596" y="1761961"/>
                </a:lnTo>
                <a:lnTo>
                  <a:pt x="736999" y="1758021"/>
                </a:lnTo>
                <a:lnTo>
                  <a:pt x="736600" y="1756052"/>
                </a:lnTo>
                <a:lnTo>
                  <a:pt x="736600" y="1754476"/>
                </a:lnTo>
                <a:lnTo>
                  <a:pt x="742189" y="1750536"/>
                </a:lnTo>
                <a:lnTo>
                  <a:pt x="747379" y="1747385"/>
                </a:lnTo>
                <a:lnTo>
                  <a:pt x="750971" y="1745021"/>
                </a:lnTo>
                <a:lnTo>
                  <a:pt x="754165" y="1743839"/>
                </a:lnTo>
                <a:lnTo>
                  <a:pt x="758556" y="1741870"/>
                </a:lnTo>
                <a:lnTo>
                  <a:pt x="759754" y="1741870"/>
                </a:lnTo>
                <a:lnTo>
                  <a:pt x="761351" y="1739900"/>
                </a:lnTo>
                <a:close/>
                <a:moveTo>
                  <a:pt x="1554438" y="1730375"/>
                </a:moveTo>
                <a:lnTo>
                  <a:pt x="1565575" y="1730375"/>
                </a:lnTo>
                <a:lnTo>
                  <a:pt x="1575916" y="1730375"/>
                </a:lnTo>
                <a:lnTo>
                  <a:pt x="1586258" y="1731163"/>
                </a:lnTo>
                <a:lnTo>
                  <a:pt x="1591031" y="1731951"/>
                </a:lnTo>
                <a:lnTo>
                  <a:pt x="1595008" y="1733133"/>
                </a:lnTo>
                <a:lnTo>
                  <a:pt x="1598986" y="1734314"/>
                </a:lnTo>
                <a:lnTo>
                  <a:pt x="1602168" y="1735890"/>
                </a:lnTo>
                <a:lnTo>
                  <a:pt x="1605350" y="1737860"/>
                </a:lnTo>
                <a:lnTo>
                  <a:pt x="1607339" y="1739830"/>
                </a:lnTo>
                <a:lnTo>
                  <a:pt x="1608929" y="1741799"/>
                </a:lnTo>
                <a:lnTo>
                  <a:pt x="1609725" y="1744951"/>
                </a:lnTo>
                <a:lnTo>
                  <a:pt x="1609725" y="1747708"/>
                </a:lnTo>
                <a:lnTo>
                  <a:pt x="1608929" y="1751648"/>
                </a:lnTo>
                <a:lnTo>
                  <a:pt x="1607339" y="1755193"/>
                </a:lnTo>
                <a:lnTo>
                  <a:pt x="1604554" y="1759920"/>
                </a:lnTo>
                <a:lnTo>
                  <a:pt x="1600577" y="1764648"/>
                </a:lnTo>
                <a:lnTo>
                  <a:pt x="1595804" y="1769769"/>
                </a:lnTo>
                <a:lnTo>
                  <a:pt x="1589042" y="1776072"/>
                </a:lnTo>
                <a:lnTo>
                  <a:pt x="1582678" y="1781193"/>
                </a:lnTo>
                <a:lnTo>
                  <a:pt x="1576314" y="1786314"/>
                </a:lnTo>
                <a:lnTo>
                  <a:pt x="1570348" y="1790647"/>
                </a:lnTo>
                <a:lnTo>
                  <a:pt x="1563586" y="1794193"/>
                </a:lnTo>
                <a:lnTo>
                  <a:pt x="1557222" y="1797738"/>
                </a:lnTo>
                <a:lnTo>
                  <a:pt x="1550461" y="1800496"/>
                </a:lnTo>
                <a:lnTo>
                  <a:pt x="1544097" y="1802466"/>
                </a:lnTo>
                <a:lnTo>
                  <a:pt x="1537733" y="1804829"/>
                </a:lnTo>
                <a:lnTo>
                  <a:pt x="1530971" y="1806799"/>
                </a:lnTo>
                <a:lnTo>
                  <a:pt x="1524607" y="1807981"/>
                </a:lnTo>
                <a:lnTo>
                  <a:pt x="1518243" y="1809163"/>
                </a:lnTo>
                <a:lnTo>
                  <a:pt x="1505117" y="1811132"/>
                </a:lnTo>
                <a:lnTo>
                  <a:pt x="1491992" y="1812314"/>
                </a:lnTo>
                <a:lnTo>
                  <a:pt x="1486026" y="1813102"/>
                </a:lnTo>
                <a:lnTo>
                  <a:pt x="1483241" y="1813890"/>
                </a:lnTo>
                <a:lnTo>
                  <a:pt x="1482048" y="1814678"/>
                </a:lnTo>
                <a:lnTo>
                  <a:pt x="1481253" y="1815072"/>
                </a:lnTo>
                <a:lnTo>
                  <a:pt x="1480855" y="1815859"/>
                </a:lnTo>
                <a:lnTo>
                  <a:pt x="1480855" y="1817041"/>
                </a:lnTo>
                <a:lnTo>
                  <a:pt x="1481253" y="1818617"/>
                </a:lnTo>
                <a:lnTo>
                  <a:pt x="1482048" y="1819799"/>
                </a:lnTo>
                <a:lnTo>
                  <a:pt x="1482048" y="1821375"/>
                </a:lnTo>
                <a:lnTo>
                  <a:pt x="1482048" y="1821769"/>
                </a:lnTo>
                <a:lnTo>
                  <a:pt x="1480855" y="1822556"/>
                </a:lnTo>
                <a:lnTo>
                  <a:pt x="1471309" y="1830829"/>
                </a:lnTo>
                <a:lnTo>
                  <a:pt x="1465343" y="1834375"/>
                </a:lnTo>
                <a:lnTo>
                  <a:pt x="1463354" y="1835556"/>
                </a:lnTo>
                <a:lnTo>
                  <a:pt x="1461365" y="1836738"/>
                </a:lnTo>
                <a:lnTo>
                  <a:pt x="1452615" y="1830041"/>
                </a:lnTo>
                <a:lnTo>
                  <a:pt x="1445853" y="1824132"/>
                </a:lnTo>
                <a:lnTo>
                  <a:pt x="1440285" y="1819405"/>
                </a:lnTo>
                <a:lnTo>
                  <a:pt x="1437103" y="1815072"/>
                </a:lnTo>
                <a:lnTo>
                  <a:pt x="1434716" y="1812314"/>
                </a:lnTo>
                <a:lnTo>
                  <a:pt x="1433125" y="1810344"/>
                </a:lnTo>
                <a:lnTo>
                  <a:pt x="1432330" y="1808375"/>
                </a:lnTo>
                <a:lnTo>
                  <a:pt x="1428750" y="1806799"/>
                </a:lnTo>
                <a:lnTo>
                  <a:pt x="1512675" y="1734314"/>
                </a:lnTo>
                <a:lnTo>
                  <a:pt x="1518641" y="1733527"/>
                </a:lnTo>
                <a:lnTo>
                  <a:pt x="1533755" y="1731951"/>
                </a:lnTo>
                <a:lnTo>
                  <a:pt x="1543699" y="1731163"/>
                </a:lnTo>
                <a:lnTo>
                  <a:pt x="1554438" y="1730375"/>
                </a:lnTo>
                <a:close/>
                <a:moveTo>
                  <a:pt x="588962" y="1535113"/>
                </a:moveTo>
                <a:lnTo>
                  <a:pt x="694496" y="1535113"/>
                </a:lnTo>
                <a:lnTo>
                  <a:pt x="694496" y="1557872"/>
                </a:lnTo>
                <a:lnTo>
                  <a:pt x="694894" y="1558271"/>
                </a:lnTo>
                <a:lnTo>
                  <a:pt x="696885" y="1560268"/>
                </a:lnTo>
                <a:lnTo>
                  <a:pt x="698478" y="1560667"/>
                </a:lnTo>
                <a:lnTo>
                  <a:pt x="700469" y="1561466"/>
                </a:lnTo>
                <a:lnTo>
                  <a:pt x="704053" y="1561865"/>
                </a:lnTo>
                <a:lnTo>
                  <a:pt x="707239" y="1561865"/>
                </a:lnTo>
                <a:lnTo>
                  <a:pt x="711222" y="1561865"/>
                </a:lnTo>
                <a:lnTo>
                  <a:pt x="714407" y="1561466"/>
                </a:lnTo>
                <a:lnTo>
                  <a:pt x="716797" y="1560667"/>
                </a:lnTo>
                <a:lnTo>
                  <a:pt x="718390" y="1560268"/>
                </a:lnTo>
                <a:lnTo>
                  <a:pt x="720381" y="1558271"/>
                </a:lnTo>
                <a:lnTo>
                  <a:pt x="720779" y="1557872"/>
                </a:lnTo>
                <a:lnTo>
                  <a:pt x="720779" y="1535113"/>
                </a:lnTo>
                <a:lnTo>
                  <a:pt x="820737" y="1535113"/>
                </a:lnTo>
                <a:lnTo>
                  <a:pt x="820737" y="1644117"/>
                </a:lnTo>
                <a:lnTo>
                  <a:pt x="820339" y="1648908"/>
                </a:lnTo>
                <a:lnTo>
                  <a:pt x="819144" y="1652901"/>
                </a:lnTo>
                <a:lnTo>
                  <a:pt x="816755" y="1656894"/>
                </a:lnTo>
                <a:lnTo>
                  <a:pt x="814365" y="1660088"/>
                </a:lnTo>
                <a:lnTo>
                  <a:pt x="810781" y="1663283"/>
                </a:lnTo>
                <a:lnTo>
                  <a:pt x="806799" y="1665279"/>
                </a:lnTo>
                <a:lnTo>
                  <a:pt x="802418" y="1666477"/>
                </a:lnTo>
                <a:lnTo>
                  <a:pt x="797639" y="1666876"/>
                </a:lnTo>
                <a:lnTo>
                  <a:pt x="612060" y="1666876"/>
                </a:lnTo>
                <a:lnTo>
                  <a:pt x="607281" y="1666477"/>
                </a:lnTo>
                <a:lnTo>
                  <a:pt x="602901" y="1665279"/>
                </a:lnTo>
                <a:lnTo>
                  <a:pt x="598918" y="1663283"/>
                </a:lnTo>
                <a:lnTo>
                  <a:pt x="595732" y="1660088"/>
                </a:lnTo>
                <a:lnTo>
                  <a:pt x="592546" y="1656894"/>
                </a:lnTo>
                <a:lnTo>
                  <a:pt x="590555" y="1652901"/>
                </a:lnTo>
                <a:lnTo>
                  <a:pt x="589360" y="1648908"/>
                </a:lnTo>
                <a:lnTo>
                  <a:pt x="588962" y="1644117"/>
                </a:lnTo>
                <a:lnTo>
                  <a:pt x="588962" y="1535113"/>
                </a:lnTo>
                <a:close/>
                <a:moveTo>
                  <a:pt x="612060" y="1476375"/>
                </a:moveTo>
                <a:lnTo>
                  <a:pt x="797639" y="1476375"/>
                </a:lnTo>
                <a:lnTo>
                  <a:pt x="802418" y="1476769"/>
                </a:lnTo>
                <a:lnTo>
                  <a:pt x="806799" y="1477950"/>
                </a:lnTo>
                <a:lnTo>
                  <a:pt x="810781" y="1480312"/>
                </a:lnTo>
                <a:lnTo>
                  <a:pt x="814365" y="1483068"/>
                </a:lnTo>
                <a:lnTo>
                  <a:pt x="816755" y="1486611"/>
                </a:lnTo>
                <a:lnTo>
                  <a:pt x="819144" y="1490155"/>
                </a:lnTo>
                <a:lnTo>
                  <a:pt x="820339" y="1494485"/>
                </a:lnTo>
                <a:lnTo>
                  <a:pt x="820737" y="1498816"/>
                </a:lnTo>
                <a:lnTo>
                  <a:pt x="820737" y="1525588"/>
                </a:lnTo>
                <a:lnTo>
                  <a:pt x="588962" y="1525588"/>
                </a:lnTo>
                <a:lnTo>
                  <a:pt x="588962" y="1498816"/>
                </a:lnTo>
                <a:lnTo>
                  <a:pt x="589360" y="1494485"/>
                </a:lnTo>
                <a:lnTo>
                  <a:pt x="590555" y="1490155"/>
                </a:lnTo>
                <a:lnTo>
                  <a:pt x="592546" y="1486611"/>
                </a:lnTo>
                <a:lnTo>
                  <a:pt x="595732" y="1483068"/>
                </a:lnTo>
                <a:lnTo>
                  <a:pt x="598918" y="1480312"/>
                </a:lnTo>
                <a:lnTo>
                  <a:pt x="602901" y="1477950"/>
                </a:lnTo>
                <a:lnTo>
                  <a:pt x="607281" y="1476769"/>
                </a:lnTo>
                <a:lnTo>
                  <a:pt x="612060" y="1476375"/>
                </a:lnTo>
                <a:close/>
                <a:moveTo>
                  <a:pt x="725449" y="1381125"/>
                </a:moveTo>
                <a:lnTo>
                  <a:pt x="730525" y="1381524"/>
                </a:lnTo>
                <a:lnTo>
                  <a:pt x="732087" y="1381524"/>
                </a:lnTo>
                <a:lnTo>
                  <a:pt x="734430" y="1382322"/>
                </a:lnTo>
                <a:lnTo>
                  <a:pt x="737554" y="1384317"/>
                </a:lnTo>
                <a:lnTo>
                  <a:pt x="740287" y="1386312"/>
                </a:lnTo>
                <a:lnTo>
                  <a:pt x="743411" y="1389505"/>
                </a:lnTo>
                <a:lnTo>
                  <a:pt x="746535" y="1393096"/>
                </a:lnTo>
                <a:lnTo>
                  <a:pt x="749659" y="1397486"/>
                </a:lnTo>
                <a:lnTo>
                  <a:pt x="755906" y="1407063"/>
                </a:lnTo>
                <a:lnTo>
                  <a:pt x="761373" y="1417837"/>
                </a:lnTo>
                <a:lnTo>
                  <a:pt x="766059" y="1427813"/>
                </a:lnTo>
                <a:lnTo>
                  <a:pt x="769182" y="1437390"/>
                </a:lnTo>
                <a:lnTo>
                  <a:pt x="770744" y="1441780"/>
                </a:lnTo>
                <a:lnTo>
                  <a:pt x="771525" y="1445770"/>
                </a:lnTo>
                <a:lnTo>
                  <a:pt x="771525" y="1448164"/>
                </a:lnTo>
                <a:lnTo>
                  <a:pt x="771525" y="1450159"/>
                </a:lnTo>
                <a:lnTo>
                  <a:pt x="770744" y="1451357"/>
                </a:lnTo>
                <a:lnTo>
                  <a:pt x="769182" y="1452155"/>
                </a:lnTo>
                <a:lnTo>
                  <a:pt x="768011" y="1452155"/>
                </a:lnTo>
                <a:lnTo>
                  <a:pt x="766449" y="1450958"/>
                </a:lnTo>
                <a:lnTo>
                  <a:pt x="764887" y="1449760"/>
                </a:lnTo>
                <a:lnTo>
                  <a:pt x="762544" y="1448563"/>
                </a:lnTo>
                <a:lnTo>
                  <a:pt x="759030" y="1444174"/>
                </a:lnTo>
                <a:lnTo>
                  <a:pt x="755516" y="1439784"/>
                </a:lnTo>
                <a:lnTo>
                  <a:pt x="753173" y="1434996"/>
                </a:lnTo>
                <a:lnTo>
                  <a:pt x="752392" y="1433400"/>
                </a:lnTo>
                <a:lnTo>
                  <a:pt x="752392" y="1431404"/>
                </a:lnTo>
                <a:lnTo>
                  <a:pt x="752001" y="1428611"/>
                </a:lnTo>
                <a:lnTo>
                  <a:pt x="750830" y="1426616"/>
                </a:lnTo>
                <a:lnTo>
                  <a:pt x="748878" y="1425419"/>
                </a:lnTo>
                <a:lnTo>
                  <a:pt x="746925" y="1425020"/>
                </a:lnTo>
                <a:lnTo>
                  <a:pt x="746144" y="1425419"/>
                </a:lnTo>
                <a:lnTo>
                  <a:pt x="745363" y="1425818"/>
                </a:lnTo>
                <a:lnTo>
                  <a:pt x="744582" y="1426616"/>
                </a:lnTo>
                <a:lnTo>
                  <a:pt x="743411" y="1427414"/>
                </a:lnTo>
                <a:lnTo>
                  <a:pt x="742630" y="1428611"/>
                </a:lnTo>
                <a:lnTo>
                  <a:pt x="742240" y="1430207"/>
                </a:lnTo>
                <a:lnTo>
                  <a:pt x="741849" y="1432602"/>
                </a:lnTo>
                <a:lnTo>
                  <a:pt x="741849" y="1434597"/>
                </a:lnTo>
                <a:lnTo>
                  <a:pt x="741459" y="1439385"/>
                </a:lnTo>
                <a:lnTo>
                  <a:pt x="740678" y="1443376"/>
                </a:lnTo>
                <a:lnTo>
                  <a:pt x="739897" y="1445371"/>
                </a:lnTo>
                <a:lnTo>
                  <a:pt x="739116" y="1446967"/>
                </a:lnTo>
                <a:lnTo>
                  <a:pt x="737944" y="1448164"/>
                </a:lnTo>
                <a:lnTo>
                  <a:pt x="735992" y="1449361"/>
                </a:lnTo>
                <a:lnTo>
                  <a:pt x="734430" y="1450558"/>
                </a:lnTo>
                <a:lnTo>
                  <a:pt x="732868" y="1452155"/>
                </a:lnTo>
                <a:lnTo>
                  <a:pt x="730525" y="1452953"/>
                </a:lnTo>
                <a:lnTo>
                  <a:pt x="727792" y="1453352"/>
                </a:lnTo>
                <a:lnTo>
                  <a:pt x="721935" y="1454150"/>
                </a:lnTo>
                <a:lnTo>
                  <a:pt x="715297" y="1454150"/>
                </a:lnTo>
                <a:lnTo>
                  <a:pt x="712173" y="1453751"/>
                </a:lnTo>
                <a:lnTo>
                  <a:pt x="709049" y="1452953"/>
                </a:lnTo>
                <a:lnTo>
                  <a:pt x="706706" y="1452155"/>
                </a:lnTo>
                <a:lnTo>
                  <a:pt x="703973" y="1450558"/>
                </a:lnTo>
                <a:lnTo>
                  <a:pt x="701240" y="1448962"/>
                </a:lnTo>
                <a:lnTo>
                  <a:pt x="699287" y="1447366"/>
                </a:lnTo>
                <a:lnTo>
                  <a:pt x="694992" y="1442977"/>
                </a:lnTo>
                <a:lnTo>
                  <a:pt x="691478" y="1438188"/>
                </a:lnTo>
                <a:lnTo>
                  <a:pt x="687963" y="1432602"/>
                </a:lnTo>
                <a:lnTo>
                  <a:pt x="685230" y="1427015"/>
                </a:lnTo>
                <a:lnTo>
                  <a:pt x="682497" y="1421029"/>
                </a:lnTo>
                <a:lnTo>
                  <a:pt x="680544" y="1415044"/>
                </a:lnTo>
                <a:lnTo>
                  <a:pt x="678982" y="1409058"/>
                </a:lnTo>
                <a:lnTo>
                  <a:pt x="676249" y="1399082"/>
                </a:lnTo>
                <a:lnTo>
                  <a:pt x="675078" y="1392298"/>
                </a:lnTo>
                <a:lnTo>
                  <a:pt x="674687" y="1389106"/>
                </a:lnTo>
                <a:lnTo>
                  <a:pt x="674687" y="1388707"/>
                </a:lnTo>
                <a:lnTo>
                  <a:pt x="675078" y="1388308"/>
                </a:lnTo>
                <a:lnTo>
                  <a:pt x="676249" y="1387909"/>
                </a:lnTo>
                <a:lnTo>
                  <a:pt x="679373" y="1387111"/>
                </a:lnTo>
                <a:lnTo>
                  <a:pt x="683278" y="1385913"/>
                </a:lnTo>
                <a:lnTo>
                  <a:pt x="689525" y="1384716"/>
                </a:lnTo>
                <a:lnTo>
                  <a:pt x="698897" y="1383120"/>
                </a:lnTo>
                <a:lnTo>
                  <a:pt x="715297" y="1381524"/>
                </a:lnTo>
                <a:lnTo>
                  <a:pt x="725449" y="1381125"/>
                </a:lnTo>
                <a:close/>
                <a:moveTo>
                  <a:pt x="1433588" y="1247775"/>
                </a:moveTo>
                <a:lnTo>
                  <a:pt x="1439124" y="1247775"/>
                </a:lnTo>
                <a:lnTo>
                  <a:pt x="1444264" y="1248175"/>
                </a:lnTo>
                <a:lnTo>
                  <a:pt x="1448614" y="1248976"/>
                </a:lnTo>
                <a:lnTo>
                  <a:pt x="1451382" y="1249776"/>
                </a:lnTo>
                <a:lnTo>
                  <a:pt x="1453359" y="1250977"/>
                </a:lnTo>
                <a:lnTo>
                  <a:pt x="1454150" y="1252178"/>
                </a:lnTo>
                <a:lnTo>
                  <a:pt x="1454150" y="1253779"/>
                </a:lnTo>
                <a:lnTo>
                  <a:pt x="1453359" y="1255380"/>
                </a:lnTo>
                <a:lnTo>
                  <a:pt x="1452173" y="1256981"/>
                </a:lnTo>
                <a:lnTo>
                  <a:pt x="1450196" y="1258582"/>
                </a:lnTo>
                <a:lnTo>
                  <a:pt x="1447428" y="1260183"/>
                </a:lnTo>
                <a:lnTo>
                  <a:pt x="1441892" y="1262985"/>
                </a:lnTo>
                <a:lnTo>
                  <a:pt x="1435565" y="1264986"/>
                </a:lnTo>
                <a:lnTo>
                  <a:pt x="1432402" y="1265387"/>
                </a:lnTo>
                <a:lnTo>
                  <a:pt x="1429634" y="1265787"/>
                </a:lnTo>
                <a:lnTo>
                  <a:pt x="1427261" y="1265787"/>
                </a:lnTo>
                <a:lnTo>
                  <a:pt x="1425284" y="1265387"/>
                </a:lnTo>
                <a:lnTo>
                  <a:pt x="1423703" y="1264986"/>
                </a:lnTo>
                <a:lnTo>
                  <a:pt x="1422516" y="1264586"/>
                </a:lnTo>
                <a:lnTo>
                  <a:pt x="1420539" y="1264586"/>
                </a:lnTo>
                <a:lnTo>
                  <a:pt x="1419353" y="1264986"/>
                </a:lnTo>
                <a:lnTo>
                  <a:pt x="1418562" y="1265787"/>
                </a:lnTo>
                <a:lnTo>
                  <a:pt x="1417376" y="1266588"/>
                </a:lnTo>
                <a:lnTo>
                  <a:pt x="1416980" y="1267388"/>
                </a:lnTo>
                <a:lnTo>
                  <a:pt x="1416585" y="1268589"/>
                </a:lnTo>
                <a:lnTo>
                  <a:pt x="1416190" y="1269790"/>
                </a:lnTo>
                <a:lnTo>
                  <a:pt x="1416585" y="1270990"/>
                </a:lnTo>
                <a:lnTo>
                  <a:pt x="1416585" y="1272191"/>
                </a:lnTo>
                <a:lnTo>
                  <a:pt x="1417376" y="1273392"/>
                </a:lnTo>
                <a:lnTo>
                  <a:pt x="1418562" y="1274993"/>
                </a:lnTo>
                <a:lnTo>
                  <a:pt x="1419748" y="1276194"/>
                </a:lnTo>
                <a:lnTo>
                  <a:pt x="1422121" y="1277395"/>
                </a:lnTo>
                <a:lnTo>
                  <a:pt x="1424098" y="1278596"/>
                </a:lnTo>
                <a:lnTo>
                  <a:pt x="1428843" y="1280597"/>
                </a:lnTo>
                <a:lnTo>
                  <a:pt x="1430820" y="1282198"/>
                </a:lnTo>
                <a:lnTo>
                  <a:pt x="1432402" y="1283799"/>
                </a:lnTo>
                <a:lnTo>
                  <a:pt x="1433588" y="1285000"/>
                </a:lnTo>
                <a:lnTo>
                  <a:pt x="1435170" y="1287001"/>
                </a:lnTo>
                <a:lnTo>
                  <a:pt x="1436356" y="1289003"/>
                </a:lnTo>
                <a:lnTo>
                  <a:pt x="1436751" y="1291404"/>
                </a:lnTo>
                <a:lnTo>
                  <a:pt x="1437542" y="1293406"/>
                </a:lnTo>
                <a:lnTo>
                  <a:pt x="1437542" y="1296608"/>
                </a:lnTo>
                <a:lnTo>
                  <a:pt x="1437542" y="1299009"/>
                </a:lnTo>
                <a:lnTo>
                  <a:pt x="1437147" y="1302612"/>
                </a:lnTo>
                <a:lnTo>
                  <a:pt x="1436356" y="1305414"/>
                </a:lnTo>
                <a:lnTo>
                  <a:pt x="1435170" y="1309416"/>
                </a:lnTo>
                <a:lnTo>
                  <a:pt x="1431611" y="1317422"/>
                </a:lnTo>
                <a:lnTo>
                  <a:pt x="1430029" y="1320624"/>
                </a:lnTo>
                <a:lnTo>
                  <a:pt x="1428052" y="1323826"/>
                </a:lnTo>
                <a:lnTo>
                  <a:pt x="1425680" y="1326628"/>
                </a:lnTo>
                <a:lnTo>
                  <a:pt x="1423307" y="1328629"/>
                </a:lnTo>
                <a:lnTo>
                  <a:pt x="1420539" y="1331431"/>
                </a:lnTo>
                <a:lnTo>
                  <a:pt x="1417771" y="1333032"/>
                </a:lnTo>
                <a:lnTo>
                  <a:pt x="1414608" y="1334633"/>
                </a:lnTo>
                <a:lnTo>
                  <a:pt x="1411445" y="1336635"/>
                </a:lnTo>
                <a:lnTo>
                  <a:pt x="1404722" y="1338636"/>
                </a:lnTo>
                <a:lnTo>
                  <a:pt x="1397605" y="1340237"/>
                </a:lnTo>
                <a:lnTo>
                  <a:pt x="1390487" y="1341038"/>
                </a:lnTo>
                <a:lnTo>
                  <a:pt x="1383370" y="1341438"/>
                </a:lnTo>
                <a:lnTo>
                  <a:pt x="1376252" y="1341438"/>
                </a:lnTo>
                <a:lnTo>
                  <a:pt x="1369530" y="1341038"/>
                </a:lnTo>
                <a:lnTo>
                  <a:pt x="1358063" y="1339437"/>
                </a:lnTo>
                <a:lnTo>
                  <a:pt x="1350154" y="1338236"/>
                </a:lnTo>
                <a:lnTo>
                  <a:pt x="1347386" y="1337435"/>
                </a:lnTo>
                <a:lnTo>
                  <a:pt x="1347386" y="1337835"/>
                </a:lnTo>
                <a:lnTo>
                  <a:pt x="1346991" y="1337435"/>
                </a:lnTo>
                <a:lnTo>
                  <a:pt x="1346200" y="1337035"/>
                </a:lnTo>
                <a:lnTo>
                  <a:pt x="1346200" y="1334633"/>
                </a:lnTo>
                <a:lnTo>
                  <a:pt x="1346991" y="1331831"/>
                </a:lnTo>
                <a:lnTo>
                  <a:pt x="1347782" y="1326228"/>
                </a:lnTo>
                <a:lnTo>
                  <a:pt x="1349363" y="1318623"/>
                </a:lnTo>
                <a:lnTo>
                  <a:pt x="1351736" y="1307415"/>
                </a:lnTo>
                <a:lnTo>
                  <a:pt x="1355295" y="1296608"/>
                </a:lnTo>
                <a:lnTo>
                  <a:pt x="1357667" y="1287402"/>
                </a:lnTo>
                <a:lnTo>
                  <a:pt x="1361621" y="1275794"/>
                </a:lnTo>
                <a:lnTo>
                  <a:pt x="1363994" y="1270190"/>
                </a:lnTo>
                <a:lnTo>
                  <a:pt x="1364785" y="1268589"/>
                </a:lnTo>
                <a:lnTo>
                  <a:pt x="1366762" y="1265787"/>
                </a:lnTo>
                <a:lnTo>
                  <a:pt x="1369925" y="1262985"/>
                </a:lnTo>
                <a:lnTo>
                  <a:pt x="1373484" y="1260183"/>
                </a:lnTo>
                <a:lnTo>
                  <a:pt x="1378229" y="1258182"/>
                </a:lnTo>
                <a:lnTo>
                  <a:pt x="1383765" y="1256181"/>
                </a:lnTo>
                <a:lnTo>
                  <a:pt x="1389301" y="1253779"/>
                </a:lnTo>
                <a:lnTo>
                  <a:pt x="1395628" y="1252578"/>
                </a:lnTo>
                <a:lnTo>
                  <a:pt x="1401954" y="1250977"/>
                </a:lnTo>
                <a:lnTo>
                  <a:pt x="1415399" y="1248976"/>
                </a:lnTo>
                <a:lnTo>
                  <a:pt x="1428052" y="1248175"/>
                </a:lnTo>
                <a:lnTo>
                  <a:pt x="1433588" y="1247775"/>
                </a:lnTo>
                <a:close/>
                <a:moveTo>
                  <a:pt x="1155700" y="965200"/>
                </a:moveTo>
                <a:lnTo>
                  <a:pt x="1161653" y="965597"/>
                </a:lnTo>
                <a:lnTo>
                  <a:pt x="1167209" y="966787"/>
                </a:lnTo>
                <a:lnTo>
                  <a:pt x="1172766" y="968770"/>
                </a:lnTo>
                <a:lnTo>
                  <a:pt x="1177925" y="971944"/>
                </a:lnTo>
                <a:lnTo>
                  <a:pt x="1182687" y="975514"/>
                </a:lnTo>
                <a:lnTo>
                  <a:pt x="1187450" y="980274"/>
                </a:lnTo>
                <a:lnTo>
                  <a:pt x="1192213" y="985431"/>
                </a:lnTo>
                <a:lnTo>
                  <a:pt x="1196181" y="991381"/>
                </a:lnTo>
                <a:lnTo>
                  <a:pt x="1200150" y="998125"/>
                </a:lnTo>
                <a:lnTo>
                  <a:pt x="1204119" y="1005265"/>
                </a:lnTo>
                <a:lnTo>
                  <a:pt x="1207691" y="1012802"/>
                </a:lnTo>
                <a:lnTo>
                  <a:pt x="1211659" y="1021133"/>
                </a:lnTo>
                <a:lnTo>
                  <a:pt x="1214437" y="1029860"/>
                </a:lnTo>
                <a:lnTo>
                  <a:pt x="1217613" y="1038984"/>
                </a:lnTo>
                <a:lnTo>
                  <a:pt x="1220787" y="1048504"/>
                </a:lnTo>
                <a:lnTo>
                  <a:pt x="1225947" y="1068338"/>
                </a:lnTo>
                <a:lnTo>
                  <a:pt x="1230313" y="1089363"/>
                </a:lnTo>
                <a:lnTo>
                  <a:pt x="1234678" y="1111180"/>
                </a:lnTo>
                <a:lnTo>
                  <a:pt x="1237853" y="1133792"/>
                </a:lnTo>
                <a:lnTo>
                  <a:pt x="1241028" y="1155609"/>
                </a:lnTo>
                <a:lnTo>
                  <a:pt x="1243013" y="1177824"/>
                </a:lnTo>
                <a:lnTo>
                  <a:pt x="1245394" y="1198848"/>
                </a:lnTo>
                <a:lnTo>
                  <a:pt x="1246981" y="1219476"/>
                </a:lnTo>
                <a:lnTo>
                  <a:pt x="1246187" y="1186551"/>
                </a:lnTo>
                <a:lnTo>
                  <a:pt x="1342231" y="1244467"/>
                </a:lnTo>
                <a:lnTo>
                  <a:pt x="1323181" y="1340465"/>
                </a:lnTo>
                <a:lnTo>
                  <a:pt x="1248966" y="1309524"/>
                </a:lnTo>
                <a:lnTo>
                  <a:pt x="1245394" y="1284929"/>
                </a:lnTo>
                <a:lnTo>
                  <a:pt x="1239441" y="1242087"/>
                </a:lnTo>
                <a:lnTo>
                  <a:pt x="1231106" y="1373787"/>
                </a:lnTo>
                <a:lnTo>
                  <a:pt x="1230709" y="1379737"/>
                </a:lnTo>
                <a:lnTo>
                  <a:pt x="1230313" y="1386084"/>
                </a:lnTo>
                <a:lnTo>
                  <a:pt x="1230709" y="1392431"/>
                </a:lnTo>
                <a:lnTo>
                  <a:pt x="1232297" y="1399968"/>
                </a:lnTo>
                <a:lnTo>
                  <a:pt x="1234281" y="1407902"/>
                </a:lnTo>
                <a:lnTo>
                  <a:pt x="1237059" y="1417422"/>
                </a:lnTo>
                <a:lnTo>
                  <a:pt x="1241822" y="1428133"/>
                </a:lnTo>
                <a:lnTo>
                  <a:pt x="1247775" y="1440430"/>
                </a:lnTo>
                <a:lnTo>
                  <a:pt x="1231106" y="1440430"/>
                </a:lnTo>
                <a:lnTo>
                  <a:pt x="1242219" y="1446380"/>
                </a:lnTo>
                <a:lnTo>
                  <a:pt x="1256109" y="1453124"/>
                </a:lnTo>
                <a:lnTo>
                  <a:pt x="1287066" y="1467405"/>
                </a:lnTo>
                <a:lnTo>
                  <a:pt x="1313259" y="1479305"/>
                </a:lnTo>
                <a:lnTo>
                  <a:pt x="1323975" y="1483669"/>
                </a:lnTo>
                <a:lnTo>
                  <a:pt x="1501775" y="1720491"/>
                </a:lnTo>
                <a:lnTo>
                  <a:pt x="1401763" y="1798638"/>
                </a:lnTo>
                <a:lnTo>
                  <a:pt x="1210469" y="1576494"/>
                </a:lnTo>
                <a:lnTo>
                  <a:pt x="1080294" y="1561816"/>
                </a:lnTo>
                <a:lnTo>
                  <a:pt x="1080294" y="1563800"/>
                </a:lnTo>
                <a:lnTo>
                  <a:pt x="1080294" y="1567370"/>
                </a:lnTo>
                <a:lnTo>
                  <a:pt x="1079500" y="1575700"/>
                </a:lnTo>
                <a:lnTo>
                  <a:pt x="1077516" y="1587601"/>
                </a:lnTo>
                <a:lnTo>
                  <a:pt x="1074341" y="1601088"/>
                </a:lnTo>
                <a:lnTo>
                  <a:pt x="1066403" y="1633220"/>
                </a:lnTo>
                <a:lnTo>
                  <a:pt x="1056878" y="1669318"/>
                </a:lnTo>
                <a:lnTo>
                  <a:pt x="1046956" y="1703830"/>
                </a:lnTo>
                <a:lnTo>
                  <a:pt x="1038622" y="1733582"/>
                </a:lnTo>
                <a:lnTo>
                  <a:pt x="1030288" y="1762540"/>
                </a:lnTo>
                <a:lnTo>
                  <a:pt x="802481" y="1785548"/>
                </a:lnTo>
                <a:lnTo>
                  <a:pt x="770731" y="1731201"/>
                </a:lnTo>
                <a:lnTo>
                  <a:pt x="904081" y="1706210"/>
                </a:lnTo>
                <a:lnTo>
                  <a:pt x="903685" y="1489619"/>
                </a:lnTo>
                <a:lnTo>
                  <a:pt x="871935" y="1482479"/>
                </a:lnTo>
                <a:lnTo>
                  <a:pt x="869950" y="1471768"/>
                </a:lnTo>
                <a:lnTo>
                  <a:pt x="867966" y="1461851"/>
                </a:lnTo>
                <a:lnTo>
                  <a:pt x="866378" y="1453124"/>
                </a:lnTo>
                <a:lnTo>
                  <a:pt x="864791" y="1445190"/>
                </a:lnTo>
                <a:lnTo>
                  <a:pt x="863600" y="1428926"/>
                </a:lnTo>
                <a:lnTo>
                  <a:pt x="862806" y="1413455"/>
                </a:lnTo>
                <a:lnTo>
                  <a:pt x="862013" y="1373787"/>
                </a:lnTo>
                <a:lnTo>
                  <a:pt x="860822" y="1346812"/>
                </a:lnTo>
                <a:lnTo>
                  <a:pt x="858044" y="1312697"/>
                </a:lnTo>
                <a:lnTo>
                  <a:pt x="854472" y="1175444"/>
                </a:lnTo>
                <a:lnTo>
                  <a:pt x="843756" y="1181791"/>
                </a:lnTo>
                <a:lnTo>
                  <a:pt x="818753" y="1197658"/>
                </a:lnTo>
                <a:lnTo>
                  <a:pt x="802878" y="1208369"/>
                </a:lnTo>
                <a:lnTo>
                  <a:pt x="786606" y="1219476"/>
                </a:lnTo>
                <a:lnTo>
                  <a:pt x="770731" y="1230980"/>
                </a:lnTo>
                <a:lnTo>
                  <a:pt x="756841" y="1242087"/>
                </a:lnTo>
                <a:lnTo>
                  <a:pt x="754460" y="1250021"/>
                </a:lnTo>
                <a:lnTo>
                  <a:pt x="752872" y="1258351"/>
                </a:lnTo>
                <a:lnTo>
                  <a:pt x="752078" y="1266681"/>
                </a:lnTo>
                <a:lnTo>
                  <a:pt x="751285" y="1275805"/>
                </a:lnTo>
                <a:lnTo>
                  <a:pt x="751285" y="1284532"/>
                </a:lnTo>
                <a:lnTo>
                  <a:pt x="751681" y="1292863"/>
                </a:lnTo>
                <a:lnTo>
                  <a:pt x="752078" y="1301590"/>
                </a:lnTo>
                <a:lnTo>
                  <a:pt x="752872" y="1310317"/>
                </a:lnTo>
                <a:lnTo>
                  <a:pt x="754856" y="1325788"/>
                </a:lnTo>
                <a:lnTo>
                  <a:pt x="756444" y="1339275"/>
                </a:lnTo>
                <a:lnTo>
                  <a:pt x="758031" y="1350382"/>
                </a:lnTo>
                <a:lnTo>
                  <a:pt x="758031" y="1354349"/>
                </a:lnTo>
                <a:lnTo>
                  <a:pt x="756841" y="1357523"/>
                </a:lnTo>
                <a:lnTo>
                  <a:pt x="727869" y="1355539"/>
                </a:lnTo>
                <a:lnTo>
                  <a:pt x="715566" y="1354746"/>
                </a:lnTo>
                <a:lnTo>
                  <a:pt x="709613" y="1354746"/>
                </a:lnTo>
                <a:lnTo>
                  <a:pt x="704453" y="1355143"/>
                </a:lnTo>
                <a:lnTo>
                  <a:pt x="698897" y="1355539"/>
                </a:lnTo>
                <a:lnTo>
                  <a:pt x="693341" y="1356729"/>
                </a:lnTo>
                <a:lnTo>
                  <a:pt x="687785" y="1357919"/>
                </a:lnTo>
                <a:lnTo>
                  <a:pt x="682228" y="1359903"/>
                </a:lnTo>
                <a:lnTo>
                  <a:pt x="677069" y="1361886"/>
                </a:lnTo>
                <a:lnTo>
                  <a:pt x="671116" y="1364663"/>
                </a:lnTo>
                <a:lnTo>
                  <a:pt x="664766" y="1367836"/>
                </a:lnTo>
                <a:lnTo>
                  <a:pt x="658416" y="1372200"/>
                </a:lnTo>
                <a:lnTo>
                  <a:pt x="657225" y="1367043"/>
                </a:lnTo>
                <a:lnTo>
                  <a:pt x="655241" y="1361093"/>
                </a:lnTo>
                <a:lnTo>
                  <a:pt x="654050" y="1355143"/>
                </a:lnTo>
                <a:lnTo>
                  <a:pt x="653256" y="1348399"/>
                </a:lnTo>
                <a:lnTo>
                  <a:pt x="651669" y="1333325"/>
                </a:lnTo>
                <a:lnTo>
                  <a:pt x="650875" y="1316267"/>
                </a:lnTo>
                <a:lnTo>
                  <a:pt x="650875" y="1296830"/>
                </a:lnTo>
                <a:lnTo>
                  <a:pt x="651272" y="1274615"/>
                </a:lnTo>
                <a:lnTo>
                  <a:pt x="652066" y="1251211"/>
                </a:lnTo>
                <a:lnTo>
                  <a:pt x="653653" y="1225029"/>
                </a:lnTo>
                <a:lnTo>
                  <a:pt x="660797" y="1208369"/>
                </a:lnTo>
                <a:lnTo>
                  <a:pt x="667147" y="1194881"/>
                </a:lnTo>
                <a:lnTo>
                  <a:pt x="670322" y="1188931"/>
                </a:lnTo>
                <a:lnTo>
                  <a:pt x="673497" y="1183774"/>
                </a:lnTo>
                <a:lnTo>
                  <a:pt x="680244" y="1174254"/>
                </a:lnTo>
                <a:lnTo>
                  <a:pt x="687388" y="1164733"/>
                </a:lnTo>
                <a:lnTo>
                  <a:pt x="696119" y="1155213"/>
                </a:lnTo>
                <a:lnTo>
                  <a:pt x="706438" y="1143312"/>
                </a:lnTo>
                <a:lnTo>
                  <a:pt x="718741" y="1129031"/>
                </a:lnTo>
                <a:lnTo>
                  <a:pt x="738585" y="1108007"/>
                </a:lnTo>
                <a:lnTo>
                  <a:pt x="756047" y="1088966"/>
                </a:lnTo>
                <a:lnTo>
                  <a:pt x="785416" y="1057231"/>
                </a:lnTo>
                <a:lnTo>
                  <a:pt x="797719" y="1043744"/>
                </a:lnTo>
                <a:lnTo>
                  <a:pt x="809228" y="1032240"/>
                </a:lnTo>
                <a:lnTo>
                  <a:pt x="820738" y="1021926"/>
                </a:lnTo>
                <a:lnTo>
                  <a:pt x="831056" y="1012802"/>
                </a:lnTo>
                <a:lnTo>
                  <a:pt x="836613" y="1008439"/>
                </a:lnTo>
                <a:lnTo>
                  <a:pt x="842169" y="1004869"/>
                </a:lnTo>
                <a:lnTo>
                  <a:pt x="848122" y="1000902"/>
                </a:lnTo>
                <a:lnTo>
                  <a:pt x="854075" y="997331"/>
                </a:lnTo>
                <a:lnTo>
                  <a:pt x="860028" y="994555"/>
                </a:lnTo>
                <a:lnTo>
                  <a:pt x="866378" y="991381"/>
                </a:lnTo>
                <a:lnTo>
                  <a:pt x="873125" y="988208"/>
                </a:lnTo>
                <a:lnTo>
                  <a:pt x="880269" y="985828"/>
                </a:lnTo>
                <a:lnTo>
                  <a:pt x="895350" y="980274"/>
                </a:lnTo>
                <a:lnTo>
                  <a:pt x="912416" y="975117"/>
                </a:lnTo>
                <a:lnTo>
                  <a:pt x="932260" y="970753"/>
                </a:lnTo>
                <a:lnTo>
                  <a:pt x="954881" y="965597"/>
                </a:lnTo>
                <a:lnTo>
                  <a:pt x="963613" y="965993"/>
                </a:lnTo>
                <a:lnTo>
                  <a:pt x="979488" y="966787"/>
                </a:lnTo>
                <a:lnTo>
                  <a:pt x="1004491" y="968373"/>
                </a:lnTo>
                <a:lnTo>
                  <a:pt x="1089819" y="1240103"/>
                </a:lnTo>
                <a:lnTo>
                  <a:pt x="1081484" y="1159179"/>
                </a:lnTo>
                <a:lnTo>
                  <a:pt x="1077516" y="1013199"/>
                </a:lnTo>
                <a:lnTo>
                  <a:pt x="1071959" y="999315"/>
                </a:lnTo>
                <a:lnTo>
                  <a:pt x="1083072" y="980671"/>
                </a:lnTo>
                <a:lnTo>
                  <a:pt x="1107281" y="980671"/>
                </a:lnTo>
                <a:lnTo>
                  <a:pt x="1117600" y="999315"/>
                </a:lnTo>
                <a:lnTo>
                  <a:pt x="1112837" y="1015579"/>
                </a:lnTo>
                <a:lnTo>
                  <a:pt x="1142206" y="1228203"/>
                </a:lnTo>
                <a:lnTo>
                  <a:pt x="1137841" y="971944"/>
                </a:lnTo>
                <a:lnTo>
                  <a:pt x="1146572" y="967580"/>
                </a:lnTo>
                <a:lnTo>
                  <a:pt x="1148953" y="966390"/>
                </a:lnTo>
                <a:lnTo>
                  <a:pt x="1149350" y="965597"/>
                </a:lnTo>
                <a:lnTo>
                  <a:pt x="1155700" y="965200"/>
                </a:lnTo>
                <a:close/>
                <a:moveTo>
                  <a:pt x="931148" y="736601"/>
                </a:moveTo>
                <a:lnTo>
                  <a:pt x="929554" y="751285"/>
                </a:lnTo>
                <a:lnTo>
                  <a:pt x="928757" y="762794"/>
                </a:lnTo>
                <a:lnTo>
                  <a:pt x="929155" y="762794"/>
                </a:lnTo>
                <a:lnTo>
                  <a:pt x="929554" y="751285"/>
                </a:lnTo>
                <a:lnTo>
                  <a:pt x="930351" y="746126"/>
                </a:lnTo>
                <a:lnTo>
                  <a:pt x="931148" y="741363"/>
                </a:lnTo>
                <a:lnTo>
                  <a:pt x="931148" y="736601"/>
                </a:lnTo>
                <a:close/>
                <a:moveTo>
                  <a:pt x="949086" y="679054"/>
                </a:moveTo>
                <a:lnTo>
                  <a:pt x="948289" y="679847"/>
                </a:lnTo>
                <a:lnTo>
                  <a:pt x="945499" y="681435"/>
                </a:lnTo>
                <a:lnTo>
                  <a:pt x="943904" y="683419"/>
                </a:lnTo>
                <a:lnTo>
                  <a:pt x="941911" y="686991"/>
                </a:lnTo>
                <a:lnTo>
                  <a:pt x="945897" y="682625"/>
                </a:lnTo>
                <a:lnTo>
                  <a:pt x="948289" y="681038"/>
                </a:lnTo>
                <a:lnTo>
                  <a:pt x="950282" y="679054"/>
                </a:lnTo>
                <a:lnTo>
                  <a:pt x="949086" y="679054"/>
                </a:lnTo>
                <a:close/>
                <a:moveTo>
                  <a:pt x="1038375" y="620713"/>
                </a:moveTo>
                <a:lnTo>
                  <a:pt x="1049138" y="620713"/>
                </a:lnTo>
                <a:lnTo>
                  <a:pt x="1059502" y="621110"/>
                </a:lnTo>
                <a:lnTo>
                  <a:pt x="1069866" y="622300"/>
                </a:lnTo>
                <a:lnTo>
                  <a:pt x="1079432" y="623491"/>
                </a:lnTo>
                <a:lnTo>
                  <a:pt x="1088999" y="625872"/>
                </a:lnTo>
                <a:lnTo>
                  <a:pt x="1098167" y="627857"/>
                </a:lnTo>
                <a:lnTo>
                  <a:pt x="1106937" y="630238"/>
                </a:lnTo>
                <a:lnTo>
                  <a:pt x="1115307" y="633413"/>
                </a:lnTo>
                <a:lnTo>
                  <a:pt x="1123678" y="636191"/>
                </a:lnTo>
                <a:lnTo>
                  <a:pt x="1130853" y="639763"/>
                </a:lnTo>
                <a:lnTo>
                  <a:pt x="1138028" y="642938"/>
                </a:lnTo>
                <a:lnTo>
                  <a:pt x="1144805" y="646510"/>
                </a:lnTo>
                <a:lnTo>
                  <a:pt x="1156365" y="652860"/>
                </a:lnTo>
                <a:lnTo>
                  <a:pt x="1166729" y="659607"/>
                </a:lnTo>
                <a:lnTo>
                  <a:pt x="1174701" y="664766"/>
                </a:lnTo>
                <a:lnTo>
                  <a:pt x="1180680" y="669529"/>
                </a:lnTo>
                <a:lnTo>
                  <a:pt x="1185862" y="673497"/>
                </a:lnTo>
                <a:lnTo>
                  <a:pt x="1185862" y="676275"/>
                </a:lnTo>
                <a:lnTo>
                  <a:pt x="1185862" y="684213"/>
                </a:lnTo>
                <a:lnTo>
                  <a:pt x="1185065" y="688975"/>
                </a:lnTo>
                <a:lnTo>
                  <a:pt x="1183869" y="694532"/>
                </a:lnTo>
                <a:lnTo>
                  <a:pt x="1182274" y="700088"/>
                </a:lnTo>
                <a:lnTo>
                  <a:pt x="1180281" y="704850"/>
                </a:lnTo>
                <a:lnTo>
                  <a:pt x="1179086" y="707629"/>
                </a:lnTo>
                <a:lnTo>
                  <a:pt x="1177093" y="710010"/>
                </a:lnTo>
                <a:lnTo>
                  <a:pt x="1175498" y="711994"/>
                </a:lnTo>
                <a:lnTo>
                  <a:pt x="1173505" y="713979"/>
                </a:lnTo>
                <a:lnTo>
                  <a:pt x="1170715" y="715963"/>
                </a:lnTo>
                <a:lnTo>
                  <a:pt x="1168323" y="717154"/>
                </a:lnTo>
                <a:lnTo>
                  <a:pt x="1165533" y="718344"/>
                </a:lnTo>
                <a:lnTo>
                  <a:pt x="1161945" y="719138"/>
                </a:lnTo>
                <a:lnTo>
                  <a:pt x="1158756" y="719535"/>
                </a:lnTo>
                <a:lnTo>
                  <a:pt x="1154770" y="719535"/>
                </a:lnTo>
                <a:lnTo>
                  <a:pt x="1150784" y="719138"/>
                </a:lnTo>
                <a:lnTo>
                  <a:pt x="1146001" y="718344"/>
                </a:lnTo>
                <a:lnTo>
                  <a:pt x="1140819" y="717154"/>
                </a:lnTo>
                <a:lnTo>
                  <a:pt x="1135238" y="715566"/>
                </a:lnTo>
                <a:lnTo>
                  <a:pt x="1129259" y="712788"/>
                </a:lnTo>
                <a:lnTo>
                  <a:pt x="1123678" y="710010"/>
                </a:lnTo>
                <a:lnTo>
                  <a:pt x="1120091" y="708819"/>
                </a:lnTo>
                <a:lnTo>
                  <a:pt x="1114112" y="707629"/>
                </a:lnTo>
                <a:lnTo>
                  <a:pt x="1098964" y="704850"/>
                </a:lnTo>
                <a:lnTo>
                  <a:pt x="1083418" y="702072"/>
                </a:lnTo>
                <a:lnTo>
                  <a:pt x="1077439" y="700882"/>
                </a:lnTo>
                <a:lnTo>
                  <a:pt x="1073852" y="700088"/>
                </a:lnTo>
                <a:lnTo>
                  <a:pt x="1104545" y="714772"/>
                </a:lnTo>
                <a:lnTo>
                  <a:pt x="1118895" y="721122"/>
                </a:lnTo>
                <a:lnTo>
                  <a:pt x="1125671" y="723504"/>
                </a:lnTo>
                <a:lnTo>
                  <a:pt x="1132448" y="725885"/>
                </a:lnTo>
                <a:lnTo>
                  <a:pt x="1138826" y="728266"/>
                </a:lnTo>
                <a:lnTo>
                  <a:pt x="1144805" y="729457"/>
                </a:lnTo>
                <a:lnTo>
                  <a:pt x="1150784" y="730647"/>
                </a:lnTo>
                <a:lnTo>
                  <a:pt x="1155966" y="731044"/>
                </a:lnTo>
                <a:lnTo>
                  <a:pt x="1161148" y="730647"/>
                </a:lnTo>
                <a:lnTo>
                  <a:pt x="1165931" y="729457"/>
                </a:lnTo>
                <a:lnTo>
                  <a:pt x="1170316" y="727869"/>
                </a:lnTo>
                <a:lnTo>
                  <a:pt x="1174302" y="725091"/>
                </a:lnTo>
                <a:lnTo>
                  <a:pt x="1175498" y="735410"/>
                </a:lnTo>
                <a:lnTo>
                  <a:pt x="1175897" y="744935"/>
                </a:lnTo>
                <a:lnTo>
                  <a:pt x="1175498" y="753666"/>
                </a:lnTo>
                <a:lnTo>
                  <a:pt x="1175099" y="762397"/>
                </a:lnTo>
                <a:lnTo>
                  <a:pt x="1176694" y="761207"/>
                </a:lnTo>
                <a:lnTo>
                  <a:pt x="1177491" y="760413"/>
                </a:lnTo>
                <a:lnTo>
                  <a:pt x="1178687" y="760016"/>
                </a:lnTo>
                <a:lnTo>
                  <a:pt x="1179086" y="760413"/>
                </a:lnTo>
                <a:lnTo>
                  <a:pt x="1179484" y="761207"/>
                </a:lnTo>
                <a:lnTo>
                  <a:pt x="1179883" y="763985"/>
                </a:lnTo>
                <a:lnTo>
                  <a:pt x="1180281" y="767954"/>
                </a:lnTo>
                <a:lnTo>
                  <a:pt x="1180281" y="773113"/>
                </a:lnTo>
                <a:lnTo>
                  <a:pt x="1179086" y="785813"/>
                </a:lnTo>
                <a:lnTo>
                  <a:pt x="1177491" y="800498"/>
                </a:lnTo>
                <a:lnTo>
                  <a:pt x="1175498" y="814388"/>
                </a:lnTo>
                <a:lnTo>
                  <a:pt x="1173505" y="826294"/>
                </a:lnTo>
                <a:lnTo>
                  <a:pt x="1171911" y="833438"/>
                </a:lnTo>
                <a:lnTo>
                  <a:pt x="1170715" y="834629"/>
                </a:lnTo>
                <a:lnTo>
                  <a:pt x="1170316" y="834232"/>
                </a:lnTo>
                <a:lnTo>
                  <a:pt x="1169519" y="842169"/>
                </a:lnTo>
                <a:lnTo>
                  <a:pt x="1168323" y="849710"/>
                </a:lnTo>
                <a:lnTo>
                  <a:pt x="1166729" y="856854"/>
                </a:lnTo>
                <a:lnTo>
                  <a:pt x="1165134" y="863998"/>
                </a:lnTo>
                <a:lnTo>
                  <a:pt x="1162742" y="870744"/>
                </a:lnTo>
                <a:lnTo>
                  <a:pt x="1160351" y="877491"/>
                </a:lnTo>
                <a:lnTo>
                  <a:pt x="1157959" y="883841"/>
                </a:lnTo>
                <a:lnTo>
                  <a:pt x="1154770" y="890191"/>
                </a:lnTo>
                <a:lnTo>
                  <a:pt x="1151980" y="896541"/>
                </a:lnTo>
                <a:lnTo>
                  <a:pt x="1148791" y="902098"/>
                </a:lnTo>
                <a:lnTo>
                  <a:pt x="1145602" y="907654"/>
                </a:lnTo>
                <a:lnTo>
                  <a:pt x="1141616" y="913210"/>
                </a:lnTo>
                <a:lnTo>
                  <a:pt x="1138028" y="918370"/>
                </a:lnTo>
                <a:lnTo>
                  <a:pt x="1134042" y="923529"/>
                </a:lnTo>
                <a:lnTo>
                  <a:pt x="1126070" y="932260"/>
                </a:lnTo>
                <a:lnTo>
                  <a:pt x="1117699" y="940595"/>
                </a:lnTo>
                <a:lnTo>
                  <a:pt x="1108531" y="947738"/>
                </a:lnTo>
                <a:lnTo>
                  <a:pt x="1099762" y="954088"/>
                </a:lnTo>
                <a:lnTo>
                  <a:pt x="1090593" y="959248"/>
                </a:lnTo>
                <a:lnTo>
                  <a:pt x="1081027" y="963216"/>
                </a:lnTo>
                <a:lnTo>
                  <a:pt x="1077041" y="964804"/>
                </a:lnTo>
                <a:lnTo>
                  <a:pt x="1072257" y="966391"/>
                </a:lnTo>
                <a:lnTo>
                  <a:pt x="1067474" y="967185"/>
                </a:lnTo>
                <a:lnTo>
                  <a:pt x="1063488" y="967979"/>
                </a:lnTo>
                <a:lnTo>
                  <a:pt x="1059103" y="968376"/>
                </a:lnTo>
                <a:lnTo>
                  <a:pt x="1054719" y="968376"/>
                </a:lnTo>
                <a:lnTo>
                  <a:pt x="1051530" y="968376"/>
                </a:lnTo>
                <a:lnTo>
                  <a:pt x="1047543" y="967979"/>
                </a:lnTo>
                <a:lnTo>
                  <a:pt x="1043956" y="967185"/>
                </a:lnTo>
                <a:lnTo>
                  <a:pt x="1039970" y="965995"/>
                </a:lnTo>
                <a:lnTo>
                  <a:pt x="1031998" y="962820"/>
                </a:lnTo>
                <a:lnTo>
                  <a:pt x="1023627" y="958851"/>
                </a:lnTo>
                <a:lnTo>
                  <a:pt x="1014857" y="953295"/>
                </a:lnTo>
                <a:lnTo>
                  <a:pt x="1006088" y="947341"/>
                </a:lnTo>
                <a:lnTo>
                  <a:pt x="997318" y="939801"/>
                </a:lnTo>
                <a:lnTo>
                  <a:pt x="988549" y="931863"/>
                </a:lnTo>
                <a:lnTo>
                  <a:pt x="979779" y="922338"/>
                </a:lnTo>
                <a:lnTo>
                  <a:pt x="971807" y="912813"/>
                </a:lnTo>
                <a:lnTo>
                  <a:pt x="963835" y="902098"/>
                </a:lnTo>
                <a:lnTo>
                  <a:pt x="956660" y="890985"/>
                </a:lnTo>
                <a:lnTo>
                  <a:pt x="949883" y="878682"/>
                </a:lnTo>
                <a:lnTo>
                  <a:pt x="943904" y="865982"/>
                </a:lnTo>
                <a:lnTo>
                  <a:pt x="941512" y="859632"/>
                </a:lnTo>
                <a:lnTo>
                  <a:pt x="938722" y="852885"/>
                </a:lnTo>
                <a:lnTo>
                  <a:pt x="936729" y="846138"/>
                </a:lnTo>
                <a:lnTo>
                  <a:pt x="934736" y="839391"/>
                </a:lnTo>
                <a:lnTo>
                  <a:pt x="933540" y="843757"/>
                </a:lnTo>
                <a:lnTo>
                  <a:pt x="931547" y="847329"/>
                </a:lnTo>
                <a:lnTo>
                  <a:pt x="929554" y="849710"/>
                </a:lnTo>
                <a:lnTo>
                  <a:pt x="928757" y="850107"/>
                </a:lnTo>
                <a:lnTo>
                  <a:pt x="927960" y="850504"/>
                </a:lnTo>
                <a:lnTo>
                  <a:pt x="926764" y="850107"/>
                </a:lnTo>
                <a:lnTo>
                  <a:pt x="925568" y="849710"/>
                </a:lnTo>
                <a:lnTo>
                  <a:pt x="924372" y="848123"/>
                </a:lnTo>
                <a:lnTo>
                  <a:pt x="923575" y="846535"/>
                </a:lnTo>
                <a:lnTo>
                  <a:pt x="921582" y="842963"/>
                </a:lnTo>
                <a:lnTo>
                  <a:pt x="920386" y="837407"/>
                </a:lnTo>
                <a:lnTo>
                  <a:pt x="918791" y="831057"/>
                </a:lnTo>
                <a:lnTo>
                  <a:pt x="917596" y="823516"/>
                </a:lnTo>
                <a:lnTo>
                  <a:pt x="917197" y="815182"/>
                </a:lnTo>
                <a:lnTo>
                  <a:pt x="916798" y="806054"/>
                </a:lnTo>
                <a:lnTo>
                  <a:pt x="917197" y="798116"/>
                </a:lnTo>
                <a:lnTo>
                  <a:pt x="917596" y="790576"/>
                </a:lnTo>
                <a:lnTo>
                  <a:pt x="918393" y="783829"/>
                </a:lnTo>
                <a:lnTo>
                  <a:pt x="919987" y="777479"/>
                </a:lnTo>
                <a:lnTo>
                  <a:pt x="921183" y="772319"/>
                </a:lnTo>
                <a:lnTo>
                  <a:pt x="922379" y="767954"/>
                </a:lnTo>
                <a:lnTo>
                  <a:pt x="924372" y="764779"/>
                </a:lnTo>
                <a:lnTo>
                  <a:pt x="925169" y="763588"/>
                </a:lnTo>
                <a:lnTo>
                  <a:pt x="926365" y="763191"/>
                </a:lnTo>
                <a:lnTo>
                  <a:pt x="923176" y="759619"/>
                </a:lnTo>
                <a:lnTo>
                  <a:pt x="920785" y="756444"/>
                </a:lnTo>
                <a:lnTo>
                  <a:pt x="918393" y="752476"/>
                </a:lnTo>
                <a:lnTo>
                  <a:pt x="916798" y="748507"/>
                </a:lnTo>
                <a:lnTo>
                  <a:pt x="915204" y="744538"/>
                </a:lnTo>
                <a:lnTo>
                  <a:pt x="914407" y="739776"/>
                </a:lnTo>
                <a:lnTo>
                  <a:pt x="913609" y="735807"/>
                </a:lnTo>
                <a:lnTo>
                  <a:pt x="913211" y="731044"/>
                </a:lnTo>
                <a:lnTo>
                  <a:pt x="912812" y="727076"/>
                </a:lnTo>
                <a:lnTo>
                  <a:pt x="912812" y="721916"/>
                </a:lnTo>
                <a:lnTo>
                  <a:pt x="913609" y="712391"/>
                </a:lnTo>
                <a:lnTo>
                  <a:pt x="915204" y="703263"/>
                </a:lnTo>
                <a:lnTo>
                  <a:pt x="917197" y="694135"/>
                </a:lnTo>
                <a:lnTo>
                  <a:pt x="920386" y="685007"/>
                </a:lnTo>
                <a:lnTo>
                  <a:pt x="923575" y="676672"/>
                </a:lnTo>
                <a:lnTo>
                  <a:pt x="927162" y="668735"/>
                </a:lnTo>
                <a:lnTo>
                  <a:pt x="930750" y="661988"/>
                </a:lnTo>
                <a:lnTo>
                  <a:pt x="934337" y="656035"/>
                </a:lnTo>
                <a:lnTo>
                  <a:pt x="937526" y="651272"/>
                </a:lnTo>
                <a:lnTo>
                  <a:pt x="940715" y="647700"/>
                </a:lnTo>
                <a:lnTo>
                  <a:pt x="943107" y="646113"/>
                </a:lnTo>
                <a:lnTo>
                  <a:pt x="955862" y="639763"/>
                </a:lnTo>
                <a:lnTo>
                  <a:pt x="968219" y="634604"/>
                </a:lnTo>
                <a:lnTo>
                  <a:pt x="980178" y="630238"/>
                </a:lnTo>
                <a:lnTo>
                  <a:pt x="992535" y="627063"/>
                </a:lnTo>
                <a:lnTo>
                  <a:pt x="1004493" y="624285"/>
                </a:lnTo>
                <a:lnTo>
                  <a:pt x="1016053" y="622300"/>
                </a:lnTo>
                <a:lnTo>
                  <a:pt x="1027214" y="621110"/>
                </a:lnTo>
                <a:lnTo>
                  <a:pt x="1038375" y="620713"/>
                </a:lnTo>
                <a:close/>
                <a:moveTo>
                  <a:pt x="1043186" y="515586"/>
                </a:moveTo>
                <a:lnTo>
                  <a:pt x="1022934" y="515983"/>
                </a:lnTo>
                <a:lnTo>
                  <a:pt x="1002682" y="516777"/>
                </a:lnTo>
                <a:lnTo>
                  <a:pt x="982827" y="518364"/>
                </a:lnTo>
                <a:lnTo>
                  <a:pt x="962972" y="519952"/>
                </a:lnTo>
                <a:lnTo>
                  <a:pt x="943514" y="521937"/>
                </a:lnTo>
                <a:lnTo>
                  <a:pt x="924056" y="525113"/>
                </a:lnTo>
                <a:lnTo>
                  <a:pt x="904598" y="527891"/>
                </a:lnTo>
                <a:lnTo>
                  <a:pt x="885140" y="531861"/>
                </a:lnTo>
                <a:lnTo>
                  <a:pt x="866476" y="535830"/>
                </a:lnTo>
                <a:lnTo>
                  <a:pt x="847812" y="540594"/>
                </a:lnTo>
                <a:lnTo>
                  <a:pt x="829148" y="545754"/>
                </a:lnTo>
                <a:lnTo>
                  <a:pt x="810485" y="550914"/>
                </a:lnTo>
                <a:lnTo>
                  <a:pt x="792218" y="556869"/>
                </a:lnTo>
                <a:lnTo>
                  <a:pt x="774348" y="563220"/>
                </a:lnTo>
                <a:lnTo>
                  <a:pt x="756082" y="569968"/>
                </a:lnTo>
                <a:lnTo>
                  <a:pt x="738609" y="577113"/>
                </a:lnTo>
                <a:lnTo>
                  <a:pt x="721137" y="585449"/>
                </a:lnTo>
                <a:lnTo>
                  <a:pt x="704061" y="593388"/>
                </a:lnTo>
                <a:lnTo>
                  <a:pt x="686986" y="601724"/>
                </a:lnTo>
                <a:lnTo>
                  <a:pt x="670308" y="610457"/>
                </a:lnTo>
                <a:lnTo>
                  <a:pt x="653630" y="619587"/>
                </a:lnTo>
                <a:lnTo>
                  <a:pt x="637745" y="629114"/>
                </a:lnTo>
                <a:lnTo>
                  <a:pt x="621861" y="639037"/>
                </a:lnTo>
                <a:lnTo>
                  <a:pt x="605977" y="649755"/>
                </a:lnTo>
                <a:lnTo>
                  <a:pt x="590490" y="660473"/>
                </a:lnTo>
                <a:lnTo>
                  <a:pt x="575400" y="671190"/>
                </a:lnTo>
                <a:lnTo>
                  <a:pt x="559913" y="682702"/>
                </a:lnTo>
                <a:lnTo>
                  <a:pt x="545617" y="694610"/>
                </a:lnTo>
                <a:lnTo>
                  <a:pt x="531322" y="706519"/>
                </a:lnTo>
                <a:lnTo>
                  <a:pt x="517026" y="719221"/>
                </a:lnTo>
                <a:lnTo>
                  <a:pt x="503525" y="731924"/>
                </a:lnTo>
                <a:lnTo>
                  <a:pt x="490023" y="745023"/>
                </a:lnTo>
                <a:lnTo>
                  <a:pt x="476919" y="758520"/>
                </a:lnTo>
                <a:lnTo>
                  <a:pt x="464212" y="772413"/>
                </a:lnTo>
                <a:lnTo>
                  <a:pt x="451504" y="786306"/>
                </a:lnTo>
                <a:lnTo>
                  <a:pt x="439591" y="800596"/>
                </a:lnTo>
                <a:lnTo>
                  <a:pt x="427678" y="815680"/>
                </a:lnTo>
                <a:lnTo>
                  <a:pt x="416162" y="830368"/>
                </a:lnTo>
                <a:lnTo>
                  <a:pt x="405441" y="845452"/>
                </a:lnTo>
                <a:lnTo>
                  <a:pt x="394322" y="860933"/>
                </a:lnTo>
                <a:lnTo>
                  <a:pt x="383997" y="876811"/>
                </a:lnTo>
                <a:lnTo>
                  <a:pt x="374070" y="892689"/>
                </a:lnTo>
                <a:lnTo>
                  <a:pt x="364539" y="908964"/>
                </a:lnTo>
                <a:lnTo>
                  <a:pt x="355009" y="925636"/>
                </a:lnTo>
                <a:lnTo>
                  <a:pt x="346272" y="941911"/>
                </a:lnTo>
                <a:lnTo>
                  <a:pt x="337933" y="959377"/>
                </a:lnTo>
                <a:lnTo>
                  <a:pt x="329594" y="976048"/>
                </a:lnTo>
                <a:lnTo>
                  <a:pt x="322049" y="993911"/>
                </a:lnTo>
                <a:lnTo>
                  <a:pt x="314901" y="1011377"/>
                </a:lnTo>
                <a:lnTo>
                  <a:pt x="308151" y="1029240"/>
                </a:lnTo>
                <a:lnTo>
                  <a:pt x="301797" y="1047500"/>
                </a:lnTo>
                <a:lnTo>
                  <a:pt x="295840" y="1065362"/>
                </a:lnTo>
                <a:lnTo>
                  <a:pt x="290678" y="1084019"/>
                </a:lnTo>
                <a:lnTo>
                  <a:pt x="285516" y="1102676"/>
                </a:lnTo>
                <a:lnTo>
                  <a:pt x="280751" y="1121729"/>
                </a:lnTo>
                <a:lnTo>
                  <a:pt x="276780" y="1140783"/>
                </a:lnTo>
                <a:lnTo>
                  <a:pt x="272809" y="1159440"/>
                </a:lnTo>
                <a:lnTo>
                  <a:pt x="270029" y="1178890"/>
                </a:lnTo>
                <a:lnTo>
                  <a:pt x="266852" y="1198341"/>
                </a:lnTo>
                <a:lnTo>
                  <a:pt x="264867" y="1218188"/>
                </a:lnTo>
                <a:lnTo>
                  <a:pt x="263278" y="1237639"/>
                </a:lnTo>
                <a:lnTo>
                  <a:pt x="261690" y="1257883"/>
                </a:lnTo>
                <a:lnTo>
                  <a:pt x="260896" y="1277731"/>
                </a:lnTo>
                <a:lnTo>
                  <a:pt x="260498" y="1297975"/>
                </a:lnTo>
                <a:lnTo>
                  <a:pt x="260896" y="1318220"/>
                </a:lnTo>
                <a:lnTo>
                  <a:pt x="261690" y="1338067"/>
                </a:lnTo>
                <a:lnTo>
                  <a:pt x="263278" y="1357915"/>
                </a:lnTo>
                <a:lnTo>
                  <a:pt x="264867" y="1377763"/>
                </a:lnTo>
                <a:lnTo>
                  <a:pt x="266852" y="1397213"/>
                </a:lnTo>
                <a:lnTo>
                  <a:pt x="270029" y="1416664"/>
                </a:lnTo>
                <a:lnTo>
                  <a:pt x="272809" y="1436114"/>
                </a:lnTo>
                <a:lnTo>
                  <a:pt x="276780" y="1455168"/>
                </a:lnTo>
                <a:lnTo>
                  <a:pt x="280751" y="1474222"/>
                </a:lnTo>
                <a:lnTo>
                  <a:pt x="285516" y="1493275"/>
                </a:lnTo>
                <a:lnTo>
                  <a:pt x="290678" y="1511535"/>
                </a:lnTo>
                <a:lnTo>
                  <a:pt x="295840" y="1530192"/>
                </a:lnTo>
                <a:lnTo>
                  <a:pt x="301797" y="1548452"/>
                </a:lnTo>
                <a:lnTo>
                  <a:pt x="308151" y="1566314"/>
                </a:lnTo>
                <a:lnTo>
                  <a:pt x="314901" y="1584177"/>
                </a:lnTo>
                <a:lnTo>
                  <a:pt x="322049" y="1602040"/>
                </a:lnTo>
                <a:lnTo>
                  <a:pt x="329594" y="1619109"/>
                </a:lnTo>
                <a:lnTo>
                  <a:pt x="337933" y="1636575"/>
                </a:lnTo>
                <a:lnTo>
                  <a:pt x="346272" y="1653247"/>
                </a:lnTo>
                <a:lnTo>
                  <a:pt x="355009" y="1670316"/>
                </a:lnTo>
                <a:lnTo>
                  <a:pt x="364539" y="1686591"/>
                </a:lnTo>
                <a:lnTo>
                  <a:pt x="374070" y="1703262"/>
                </a:lnTo>
                <a:lnTo>
                  <a:pt x="383997" y="1719140"/>
                </a:lnTo>
                <a:lnTo>
                  <a:pt x="394322" y="1734622"/>
                </a:lnTo>
                <a:lnTo>
                  <a:pt x="405441" y="1750500"/>
                </a:lnTo>
                <a:lnTo>
                  <a:pt x="416162" y="1765584"/>
                </a:lnTo>
                <a:lnTo>
                  <a:pt x="427678" y="1780271"/>
                </a:lnTo>
                <a:lnTo>
                  <a:pt x="439591" y="1794958"/>
                </a:lnTo>
                <a:lnTo>
                  <a:pt x="451504" y="1809248"/>
                </a:lnTo>
                <a:lnTo>
                  <a:pt x="464212" y="1823142"/>
                </a:lnTo>
                <a:lnTo>
                  <a:pt x="476919" y="1837035"/>
                </a:lnTo>
                <a:lnTo>
                  <a:pt x="490023" y="1850531"/>
                </a:lnTo>
                <a:lnTo>
                  <a:pt x="503525" y="1863631"/>
                </a:lnTo>
                <a:lnTo>
                  <a:pt x="517026" y="1876333"/>
                </a:lnTo>
                <a:lnTo>
                  <a:pt x="531322" y="1889035"/>
                </a:lnTo>
                <a:lnTo>
                  <a:pt x="545617" y="1900944"/>
                </a:lnTo>
                <a:lnTo>
                  <a:pt x="559913" y="1912852"/>
                </a:lnTo>
                <a:lnTo>
                  <a:pt x="575400" y="1923967"/>
                </a:lnTo>
                <a:lnTo>
                  <a:pt x="590490" y="1935479"/>
                </a:lnTo>
                <a:lnTo>
                  <a:pt x="605977" y="1945799"/>
                </a:lnTo>
                <a:lnTo>
                  <a:pt x="621861" y="1956517"/>
                </a:lnTo>
                <a:lnTo>
                  <a:pt x="637745" y="1966044"/>
                </a:lnTo>
                <a:lnTo>
                  <a:pt x="653630" y="1975968"/>
                </a:lnTo>
                <a:lnTo>
                  <a:pt x="670308" y="1985097"/>
                </a:lnTo>
                <a:lnTo>
                  <a:pt x="686986" y="1994227"/>
                </a:lnTo>
                <a:lnTo>
                  <a:pt x="704061" y="2002563"/>
                </a:lnTo>
                <a:lnTo>
                  <a:pt x="721137" y="2010502"/>
                </a:lnTo>
                <a:lnTo>
                  <a:pt x="738609" y="2018044"/>
                </a:lnTo>
                <a:lnTo>
                  <a:pt x="756082" y="2025189"/>
                </a:lnTo>
                <a:lnTo>
                  <a:pt x="774348" y="2032335"/>
                </a:lnTo>
                <a:lnTo>
                  <a:pt x="792218" y="2038686"/>
                </a:lnTo>
                <a:lnTo>
                  <a:pt x="810485" y="2044640"/>
                </a:lnTo>
                <a:lnTo>
                  <a:pt x="829148" y="2050197"/>
                </a:lnTo>
                <a:lnTo>
                  <a:pt x="847812" y="2055358"/>
                </a:lnTo>
                <a:lnTo>
                  <a:pt x="866476" y="2059724"/>
                </a:lnTo>
                <a:lnTo>
                  <a:pt x="885140" y="2064091"/>
                </a:lnTo>
                <a:lnTo>
                  <a:pt x="904598" y="2067266"/>
                </a:lnTo>
                <a:lnTo>
                  <a:pt x="924056" y="2070839"/>
                </a:lnTo>
                <a:lnTo>
                  <a:pt x="943514" y="2073220"/>
                </a:lnTo>
                <a:lnTo>
                  <a:pt x="962972" y="2075999"/>
                </a:lnTo>
                <a:lnTo>
                  <a:pt x="982827" y="2077587"/>
                </a:lnTo>
                <a:lnTo>
                  <a:pt x="1002682" y="2078778"/>
                </a:lnTo>
                <a:lnTo>
                  <a:pt x="1022934" y="2079572"/>
                </a:lnTo>
                <a:lnTo>
                  <a:pt x="1043186" y="2079572"/>
                </a:lnTo>
                <a:lnTo>
                  <a:pt x="1063041" y="2079572"/>
                </a:lnTo>
                <a:lnTo>
                  <a:pt x="1083293" y="2078778"/>
                </a:lnTo>
                <a:lnTo>
                  <a:pt x="1103148" y="2077587"/>
                </a:lnTo>
                <a:lnTo>
                  <a:pt x="1122606" y="2075999"/>
                </a:lnTo>
                <a:lnTo>
                  <a:pt x="1142064" y="2073220"/>
                </a:lnTo>
                <a:lnTo>
                  <a:pt x="1161919" y="2070839"/>
                </a:lnTo>
                <a:lnTo>
                  <a:pt x="1180980" y="2067266"/>
                </a:lnTo>
                <a:lnTo>
                  <a:pt x="1200438" y="2064091"/>
                </a:lnTo>
                <a:lnTo>
                  <a:pt x="1219499" y="2059724"/>
                </a:lnTo>
                <a:lnTo>
                  <a:pt x="1237766" y="2055358"/>
                </a:lnTo>
                <a:lnTo>
                  <a:pt x="1256827" y="2050197"/>
                </a:lnTo>
                <a:lnTo>
                  <a:pt x="1275093" y="2044640"/>
                </a:lnTo>
                <a:lnTo>
                  <a:pt x="1293757" y="2038686"/>
                </a:lnTo>
                <a:lnTo>
                  <a:pt x="1311627" y="2032335"/>
                </a:lnTo>
                <a:lnTo>
                  <a:pt x="1329496" y="2025189"/>
                </a:lnTo>
                <a:lnTo>
                  <a:pt x="1347366" y="2018044"/>
                </a:lnTo>
                <a:lnTo>
                  <a:pt x="1364441" y="2010502"/>
                </a:lnTo>
                <a:lnTo>
                  <a:pt x="1381914" y="2002563"/>
                </a:lnTo>
                <a:lnTo>
                  <a:pt x="1398592" y="1994227"/>
                </a:lnTo>
                <a:lnTo>
                  <a:pt x="1415667" y="1985097"/>
                </a:lnTo>
                <a:lnTo>
                  <a:pt x="1431949" y="1975968"/>
                </a:lnTo>
                <a:lnTo>
                  <a:pt x="1447833" y="1966044"/>
                </a:lnTo>
                <a:lnTo>
                  <a:pt x="1464114" y="1956517"/>
                </a:lnTo>
                <a:lnTo>
                  <a:pt x="1479998" y="1945799"/>
                </a:lnTo>
                <a:lnTo>
                  <a:pt x="1495088" y="1935479"/>
                </a:lnTo>
                <a:lnTo>
                  <a:pt x="1510575" y="1923967"/>
                </a:lnTo>
                <a:lnTo>
                  <a:pt x="1525665" y="1912852"/>
                </a:lnTo>
                <a:lnTo>
                  <a:pt x="1539960" y="1900944"/>
                </a:lnTo>
                <a:lnTo>
                  <a:pt x="1554256" y="1889035"/>
                </a:lnTo>
                <a:lnTo>
                  <a:pt x="1568551" y="1876333"/>
                </a:lnTo>
                <a:lnTo>
                  <a:pt x="1582053" y="1863631"/>
                </a:lnTo>
                <a:lnTo>
                  <a:pt x="1595555" y="1850531"/>
                </a:lnTo>
                <a:lnTo>
                  <a:pt x="1608659" y="1837035"/>
                </a:lnTo>
                <a:lnTo>
                  <a:pt x="1621763" y="1823142"/>
                </a:lnTo>
                <a:lnTo>
                  <a:pt x="1634073" y="1809248"/>
                </a:lnTo>
                <a:lnTo>
                  <a:pt x="1646383" y="1794958"/>
                </a:lnTo>
                <a:lnTo>
                  <a:pt x="1657899" y="1780271"/>
                </a:lnTo>
                <a:lnTo>
                  <a:pt x="1669415" y="1765584"/>
                </a:lnTo>
                <a:lnTo>
                  <a:pt x="1680534" y="1750500"/>
                </a:lnTo>
                <a:lnTo>
                  <a:pt x="1691256" y="1734622"/>
                </a:lnTo>
                <a:lnTo>
                  <a:pt x="1701581" y="1719140"/>
                </a:lnTo>
                <a:lnTo>
                  <a:pt x="1711508" y="1703262"/>
                </a:lnTo>
                <a:lnTo>
                  <a:pt x="1721436" y="1686591"/>
                </a:lnTo>
                <a:lnTo>
                  <a:pt x="1730569" y="1670316"/>
                </a:lnTo>
                <a:lnTo>
                  <a:pt x="1739305" y="1653247"/>
                </a:lnTo>
                <a:lnTo>
                  <a:pt x="1748041" y="1636575"/>
                </a:lnTo>
                <a:lnTo>
                  <a:pt x="1755983" y="1619109"/>
                </a:lnTo>
                <a:lnTo>
                  <a:pt x="1763529" y="1602040"/>
                </a:lnTo>
                <a:lnTo>
                  <a:pt x="1770676" y="1584177"/>
                </a:lnTo>
                <a:lnTo>
                  <a:pt x="1777427" y="1566314"/>
                </a:lnTo>
                <a:lnTo>
                  <a:pt x="1783781" y="1548452"/>
                </a:lnTo>
                <a:lnTo>
                  <a:pt x="1789737" y="1530192"/>
                </a:lnTo>
                <a:lnTo>
                  <a:pt x="1795694" y="1511535"/>
                </a:lnTo>
                <a:lnTo>
                  <a:pt x="1800459" y="1493275"/>
                </a:lnTo>
                <a:lnTo>
                  <a:pt x="1804827" y="1474222"/>
                </a:lnTo>
                <a:lnTo>
                  <a:pt x="1809195" y="1455168"/>
                </a:lnTo>
                <a:lnTo>
                  <a:pt x="1812769" y="1436114"/>
                </a:lnTo>
                <a:lnTo>
                  <a:pt x="1816343" y="1416664"/>
                </a:lnTo>
                <a:lnTo>
                  <a:pt x="1818726" y="1397213"/>
                </a:lnTo>
                <a:lnTo>
                  <a:pt x="1820711" y="1377763"/>
                </a:lnTo>
                <a:lnTo>
                  <a:pt x="1823094" y="1357915"/>
                </a:lnTo>
                <a:lnTo>
                  <a:pt x="1824285" y="1338067"/>
                </a:lnTo>
                <a:lnTo>
                  <a:pt x="1824682" y="1318220"/>
                </a:lnTo>
                <a:lnTo>
                  <a:pt x="1825079" y="1297975"/>
                </a:lnTo>
                <a:lnTo>
                  <a:pt x="1824682" y="1277731"/>
                </a:lnTo>
                <a:lnTo>
                  <a:pt x="1824285" y="1257883"/>
                </a:lnTo>
                <a:lnTo>
                  <a:pt x="1823094" y="1237639"/>
                </a:lnTo>
                <a:lnTo>
                  <a:pt x="1820711" y="1218188"/>
                </a:lnTo>
                <a:lnTo>
                  <a:pt x="1818726" y="1198341"/>
                </a:lnTo>
                <a:lnTo>
                  <a:pt x="1816343" y="1178890"/>
                </a:lnTo>
                <a:lnTo>
                  <a:pt x="1812769" y="1159440"/>
                </a:lnTo>
                <a:lnTo>
                  <a:pt x="1809195" y="1140783"/>
                </a:lnTo>
                <a:lnTo>
                  <a:pt x="1804827" y="1121729"/>
                </a:lnTo>
                <a:lnTo>
                  <a:pt x="1800459" y="1102676"/>
                </a:lnTo>
                <a:lnTo>
                  <a:pt x="1795694" y="1084019"/>
                </a:lnTo>
                <a:lnTo>
                  <a:pt x="1789737" y="1065362"/>
                </a:lnTo>
                <a:lnTo>
                  <a:pt x="1783781" y="1047500"/>
                </a:lnTo>
                <a:lnTo>
                  <a:pt x="1777427" y="1029240"/>
                </a:lnTo>
                <a:lnTo>
                  <a:pt x="1770676" y="1011377"/>
                </a:lnTo>
                <a:lnTo>
                  <a:pt x="1763529" y="993911"/>
                </a:lnTo>
                <a:lnTo>
                  <a:pt x="1755983" y="976048"/>
                </a:lnTo>
                <a:lnTo>
                  <a:pt x="1748041" y="959377"/>
                </a:lnTo>
                <a:lnTo>
                  <a:pt x="1739305" y="941911"/>
                </a:lnTo>
                <a:lnTo>
                  <a:pt x="1730569" y="925636"/>
                </a:lnTo>
                <a:lnTo>
                  <a:pt x="1721436" y="908964"/>
                </a:lnTo>
                <a:lnTo>
                  <a:pt x="1711508" y="892689"/>
                </a:lnTo>
                <a:lnTo>
                  <a:pt x="1701581" y="876811"/>
                </a:lnTo>
                <a:lnTo>
                  <a:pt x="1691256" y="860933"/>
                </a:lnTo>
                <a:lnTo>
                  <a:pt x="1680534" y="845452"/>
                </a:lnTo>
                <a:lnTo>
                  <a:pt x="1669415" y="830368"/>
                </a:lnTo>
                <a:lnTo>
                  <a:pt x="1657899" y="815680"/>
                </a:lnTo>
                <a:lnTo>
                  <a:pt x="1646383" y="800596"/>
                </a:lnTo>
                <a:lnTo>
                  <a:pt x="1634073" y="786306"/>
                </a:lnTo>
                <a:lnTo>
                  <a:pt x="1621763" y="772413"/>
                </a:lnTo>
                <a:lnTo>
                  <a:pt x="1608659" y="758520"/>
                </a:lnTo>
                <a:lnTo>
                  <a:pt x="1595555" y="745023"/>
                </a:lnTo>
                <a:lnTo>
                  <a:pt x="1582053" y="731924"/>
                </a:lnTo>
                <a:lnTo>
                  <a:pt x="1568551" y="719221"/>
                </a:lnTo>
                <a:lnTo>
                  <a:pt x="1554256" y="706519"/>
                </a:lnTo>
                <a:lnTo>
                  <a:pt x="1539960" y="694610"/>
                </a:lnTo>
                <a:lnTo>
                  <a:pt x="1525665" y="682702"/>
                </a:lnTo>
                <a:lnTo>
                  <a:pt x="1510575" y="671190"/>
                </a:lnTo>
                <a:lnTo>
                  <a:pt x="1495088" y="660473"/>
                </a:lnTo>
                <a:lnTo>
                  <a:pt x="1479998" y="649755"/>
                </a:lnTo>
                <a:lnTo>
                  <a:pt x="1464114" y="639037"/>
                </a:lnTo>
                <a:lnTo>
                  <a:pt x="1447833" y="629114"/>
                </a:lnTo>
                <a:lnTo>
                  <a:pt x="1431949" y="619587"/>
                </a:lnTo>
                <a:lnTo>
                  <a:pt x="1415667" y="610457"/>
                </a:lnTo>
                <a:lnTo>
                  <a:pt x="1398592" y="601724"/>
                </a:lnTo>
                <a:lnTo>
                  <a:pt x="1381914" y="593388"/>
                </a:lnTo>
                <a:lnTo>
                  <a:pt x="1364441" y="585449"/>
                </a:lnTo>
                <a:lnTo>
                  <a:pt x="1347366" y="577113"/>
                </a:lnTo>
                <a:lnTo>
                  <a:pt x="1329496" y="569968"/>
                </a:lnTo>
                <a:lnTo>
                  <a:pt x="1311627" y="563220"/>
                </a:lnTo>
                <a:lnTo>
                  <a:pt x="1293757" y="556869"/>
                </a:lnTo>
                <a:lnTo>
                  <a:pt x="1275093" y="550914"/>
                </a:lnTo>
                <a:lnTo>
                  <a:pt x="1256827" y="545754"/>
                </a:lnTo>
                <a:lnTo>
                  <a:pt x="1237766" y="540594"/>
                </a:lnTo>
                <a:lnTo>
                  <a:pt x="1219499" y="535830"/>
                </a:lnTo>
                <a:lnTo>
                  <a:pt x="1200438" y="531861"/>
                </a:lnTo>
                <a:lnTo>
                  <a:pt x="1180980" y="527891"/>
                </a:lnTo>
                <a:lnTo>
                  <a:pt x="1161919" y="525113"/>
                </a:lnTo>
                <a:lnTo>
                  <a:pt x="1142064" y="521937"/>
                </a:lnTo>
                <a:lnTo>
                  <a:pt x="1122606" y="519952"/>
                </a:lnTo>
                <a:lnTo>
                  <a:pt x="1103148" y="518364"/>
                </a:lnTo>
                <a:lnTo>
                  <a:pt x="1083293" y="516777"/>
                </a:lnTo>
                <a:lnTo>
                  <a:pt x="1063041" y="515983"/>
                </a:lnTo>
                <a:lnTo>
                  <a:pt x="1043186" y="515586"/>
                </a:lnTo>
                <a:close/>
                <a:moveTo>
                  <a:pt x="803734" y="280988"/>
                </a:moveTo>
                <a:lnTo>
                  <a:pt x="862902" y="391340"/>
                </a:lnTo>
                <a:lnTo>
                  <a:pt x="884743" y="387371"/>
                </a:lnTo>
                <a:lnTo>
                  <a:pt x="906980" y="383798"/>
                </a:lnTo>
                <a:lnTo>
                  <a:pt x="929218" y="380622"/>
                </a:lnTo>
                <a:lnTo>
                  <a:pt x="951456" y="378241"/>
                </a:lnTo>
                <a:lnTo>
                  <a:pt x="974488" y="376256"/>
                </a:lnTo>
                <a:lnTo>
                  <a:pt x="997122" y="374668"/>
                </a:lnTo>
                <a:lnTo>
                  <a:pt x="1019757" y="373874"/>
                </a:lnTo>
                <a:lnTo>
                  <a:pt x="1043186" y="373477"/>
                </a:lnTo>
                <a:lnTo>
                  <a:pt x="1059865" y="373874"/>
                </a:lnTo>
                <a:lnTo>
                  <a:pt x="1076940" y="374271"/>
                </a:lnTo>
                <a:lnTo>
                  <a:pt x="1093618" y="375462"/>
                </a:lnTo>
                <a:lnTo>
                  <a:pt x="1110693" y="376256"/>
                </a:lnTo>
                <a:lnTo>
                  <a:pt x="1127372" y="377844"/>
                </a:lnTo>
                <a:lnTo>
                  <a:pt x="1144050" y="379432"/>
                </a:lnTo>
                <a:lnTo>
                  <a:pt x="1160331" y="381019"/>
                </a:lnTo>
                <a:lnTo>
                  <a:pt x="1176612" y="383798"/>
                </a:lnTo>
                <a:lnTo>
                  <a:pt x="1193291" y="386180"/>
                </a:lnTo>
                <a:lnTo>
                  <a:pt x="1209572" y="388958"/>
                </a:lnTo>
                <a:lnTo>
                  <a:pt x="1225853" y="392134"/>
                </a:lnTo>
                <a:lnTo>
                  <a:pt x="1241737" y="395310"/>
                </a:lnTo>
                <a:lnTo>
                  <a:pt x="1257621" y="399279"/>
                </a:lnTo>
                <a:lnTo>
                  <a:pt x="1273505" y="403249"/>
                </a:lnTo>
                <a:lnTo>
                  <a:pt x="1289389" y="407218"/>
                </a:lnTo>
                <a:lnTo>
                  <a:pt x="1304876" y="411982"/>
                </a:lnTo>
                <a:lnTo>
                  <a:pt x="1370398" y="304805"/>
                </a:lnTo>
                <a:lnTo>
                  <a:pt x="1611439" y="417142"/>
                </a:lnTo>
                <a:lnTo>
                  <a:pt x="1570140" y="539800"/>
                </a:lnTo>
                <a:lnTo>
                  <a:pt x="1592775" y="555678"/>
                </a:lnTo>
                <a:lnTo>
                  <a:pt x="1614615" y="572747"/>
                </a:lnTo>
                <a:lnTo>
                  <a:pt x="1636059" y="589815"/>
                </a:lnTo>
                <a:lnTo>
                  <a:pt x="1656708" y="608075"/>
                </a:lnTo>
                <a:lnTo>
                  <a:pt x="1676960" y="626732"/>
                </a:lnTo>
                <a:lnTo>
                  <a:pt x="1696815" y="645389"/>
                </a:lnTo>
                <a:lnTo>
                  <a:pt x="1715876" y="665236"/>
                </a:lnTo>
                <a:lnTo>
                  <a:pt x="1734540" y="685481"/>
                </a:lnTo>
                <a:lnTo>
                  <a:pt x="1752410" y="706519"/>
                </a:lnTo>
                <a:lnTo>
                  <a:pt x="1769882" y="728351"/>
                </a:lnTo>
                <a:lnTo>
                  <a:pt x="1786560" y="750184"/>
                </a:lnTo>
                <a:lnTo>
                  <a:pt x="1802841" y="772413"/>
                </a:lnTo>
                <a:lnTo>
                  <a:pt x="1818329" y="795436"/>
                </a:lnTo>
                <a:lnTo>
                  <a:pt x="1832624" y="818856"/>
                </a:lnTo>
                <a:lnTo>
                  <a:pt x="1846920" y="842673"/>
                </a:lnTo>
                <a:lnTo>
                  <a:pt x="1860024" y="866887"/>
                </a:lnTo>
                <a:lnTo>
                  <a:pt x="1994642" y="834337"/>
                </a:lnTo>
                <a:lnTo>
                  <a:pt x="2085975" y="1084019"/>
                </a:lnTo>
                <a:lnTo>
                  <a:pt x="1954931" y="1149516"/>
                </a:lnTo>
                <a:lnTo>
                  <a:pt x="1958108" y="1167776"/>
                </a:lnTo>
                <a:lnTo>
                  <a:pt x="1960491" y="1185638"/>
                </a:lnTo>
                <a:lnTo>
                  <a:pt x="1962476" y="1204295"/>
                </a:lnTo>
                <a:lnTo>
                  <a:pt x="1964462" y="1222952"/>
                </a:lnTo>
                <a:lnTo>
                  <a:pt x="1965653" y="1241212"/>
                </a:lnTo>
                <a:lnTo>
                  <a:pt x="1966447" y="1259868"/>
                </a:lnTo>
                <a:lnTo>
                  <a:pt x="1967242" y="1278922"/>
                </a:lnTo>
                <a:lnTo>
                  <a:pt x="1967242" y="1297975"/>
                </a:lnTo>
                <a:lnTo>
                  <a:pt x="1967242" y="1315441"/>
                </a:lnTo>
                <a:lnTo>
                  <a:pt x="1966845" y="1332907"/>
                </a:lnTo>
                <a:lnTo>
                  <a:pt x="1966050" y="1349976"/>
                </a:lnTo>
                <a:lnTo>
                  <a:pt x="1964859" y="1367839"/>
                </a:lnTo>
                <a:lnTo>
                  <a:pt x="1962873" y="1385305"/>
                </a:lnTo>
                <a:lnTo>
                  <a:pt x="1961285" y="1401977"/>
                </a:lnTo>
                <a:lnTo>
                  <a:pt x="1959300" y="1419442"/>
                </a:lnTo>
                <a:lnTo>
                  <a:pt x="1957314" y="1436114"/>
                </a:lnTo>
                <a:lnTo>
                  <a:pt x="1954137" y="1453183"/>
                </a:lnTo>
                <a:lnTo>
                  <a:pt x="1951357" y="1469855"/>
                </a:lnTo>
                <a:lnTo>
                  <a:pt x="1947784" y="1486527"/>
                </a:lnTo>
                <a:lnTo>
                  <a:pt x="1944210" y="1503199"/>
                </a:lnTo>
                <a:lnTo>
                  <a:pt x="1940239" y="1519871"/>
                </a:lnTo>
                <a:lnTo>
                  <a:pt x="1935871" y="1535749"/>
                </a:lnTo>
                <a:lnTo>
                  <a:pt x="1931899" y="1552024"/>
                </a:lnTo>
                <a:lnTo>
                  <a:pt x="1926737" y="1568299"/>
                </a:lnTo>
                <a:lnTo>
                  <a:pt x="2061355" y="1650468"/>
                </a:lnTo>
                <a:lnTo>
                  <a:pt x="1949372" y="1891020"/>
                </a:lnTo>
                <a:lnTo>
                  <a:pt x="1791723" y="1838623"/>
                </a:lnTo>
                <a:lnTo>
                  <a:pt x="1776633" y="1859264"/>
                </a:lnTo>
                <a:lnTo>
                  <a:pt x="1761146" y="1879112"/>
                </a:lnTo>
                <a:lnTo>
                  <a:pt x="1744468" y="1898165"/>
                </a:lnTo>
                <a:lnTo>
                  <a:pt x="1728186" y="1917219"/>
                </a:lnTo>
                <a:lnTo>
                  <a:pt x="1710714" y="1935876"/>
                </a:lnTo>
                <a:lnTo>
                  <a:pt x="1693241" y="1954135"/>
                </a:lnTo>
                <a:lnTo>
                  <a:pt x="1674975" y="1971204"/>
                </a:lnTo>
                <a:lnTo>
                  <a:pt x="1655914" y="1988670"/>
                </a:lnTo>
                <a:lnTo>
                  <a:pt x="1636853" y="2004945"/>
                </a:lnTo>
                <a:lnTo>
                  <a:pt x="1616998" y="2021220"/>
                </a:lnTo>
                <a:lnTo>
                  <a:pt x="1597143" y="2036701"/>
                </a:lnTo>
                <a:lnTo>
                  <a:pt x="1576494" y="2051388"/>
                </a:lnTo>
                <a:lnTo>
                  <a:pt x="1555844" y="2066075"/>
                </a:lnTo>
                <a:lnTo>
                  <a:pt x="1534401" y="2079572"/>
                </a:lnTo>
                <a:lnTo>
                  <a:pt x="1512957" y="2093068"/>
                </a:lnTo>
                <a:lnTo>
                  <a:pt x="1491117" y="2105770"/>
                </a:lnTo>
                <a:lnTo>
                  <a:pt x="1531621" y="2274474"/>
                </a:lnTo>
                <a:lnTo>
                  <a:pt x="1281844" y="2365376"/>
                </a:lnTo>
                <a:lnTo>
                  <a:pt x="1202821" y="2207787"/>
                </a:lnTo>
                <a:lnTo>
                  <a:pt x="1183363" y="2210962"/>
                </a:lnTo>
                <a:lnTo>
                  <a:pt x="1163508" y="2213741"/>
                </a:lnTo>
                <a:lnTo>
                  <a:pt x="1144050" y="2216123"/>
                </a:lnTo>
                <a:lnTo>
                  <a:pt x="1124195" y="2218504"/>
                </a:lnTo>
                <a:lnTo>
                  <a:pt x="1103943" y="2219695"/>
                </a:lnTo>
                <a:lnTo>
                  <a:pt x="1083690" y="2220886"/>
                </a:lnTo>
                <a:lnTo>
                  <a:pt x="1063438" y="2221680"/>
                </a:lnTo>
                <a:lnTo>
                  <a:pt x="1043186" y="2221680"/>
                </a:lnTo>
                <a:lnTo>
                  <a:pt x="1013007" y="2221283"/>
                </a:lnTo>
                <a:lnTo>
                  <a:pt x="983224" y="2220092"/>
                </a:lnTo>
                <a:lnTo>
                  <a:pt x="954235" y="2217711"/>
                </a:lnTo>
                <a:lnTo>
                  <a:pt x="924850" y="2214535"/>
                </a:lnTo>
                <a:lnTo>
                  <a:pt x="895862" y="2210565"/>
                </a:lnTo>
                <a:lnTo>
                  <a:pt x="867270" y="2205405"/>
                </a:lnTo>
                <a:lnTo>
                  <a:pt x="839076" y="2199451"/>
                </a:lnTo>
                <a:lnTo>
                  <a:pt x="810882" y="2192703"/>
                </a:lnTo>
                <a:lnTo>
                  <a:pt x="715180" y="2341162"/>
                </a:lnTo>
                <a:lnTo>
                  <a:pt x="474536" y="2229222"/>
                </a:lnTo>
                <a:lnTo>
                  <a:pt x="524968" y="2062900"/>
                </a:lnTo>
                <a:lnTo>
                  <a:pt x="504716" y="2049006"/>
                </a:lnTo>
                <a:lnTo>
                  <a:pt x="484464" y="2033525"/>
                </a:lnTo>
                <a:lnTo>
                  <a:pt x="465006" y="2018441"/>
                </a:lnTo>
                <a:lnTo>
                  <a:pt x="445945" y="2002960"/>
                </a:lnTo>
                <a:lnTo>
                  <a:pt x="427281" y="1986288"/>
                </a:lnTo>
                <a:lnTo>
                  <a:pt x="408617" y="1969616"/>
                </a:lnTo>
                <a:lnTo>
                  <a:pt x="390748" y="1952151"/>
                </a:lnTo>
                <a:lnTo>
                  <a:pt x="373672" y="1934685"/>
                </a:lnTo>
                <a:lnTo>
                  <a:pt x="356597" y="1916028"/>
                </a:lnTo>
                <a:lnTo>
                  <a:pt x="340316" y="1897371"/>
                </a:lnTo>
                <a:lnTo>
                  <a:pt x="324432" y="1878715"/>
                </a:lnTo>
                <a:lnTo>
                  <a:pt x="308548" y="1858867"/>
                </a:lnTo>
                <a:lnTo>
                  <a:pt x="293855" y="1839020"/>
                </a:lnTo>
                <a:lnTo>
                  <a:pt x="279559" y="1818775"/>
                </a:lnTo>
                <a:lnTo>
                  <a:pt x="265661" y="1797737"/>
                </a:lnTo>
                <a:lnTo>
                  <a:pt x="252556" y="1776301"/>
                </a:lnTo>
                <a:lnTo>
                  <a:pt x="91333" y="1811630"/>
                </a:lnTo>
                <a:lnTo>
                  <a:pt x="0" y="1562345"/>
                </a:lnTo>
                <a:lnTo>
                  <a:pt x="138191" y="1488512"/>
                </a:lnTo>
                <a:lnTo>
                  <a:pt x="133426" y="1465092"/>
                </a:lnTo>
                <a:lnTo>
                  <a:pt x="129852" y="1441672"/>
                </a:lnTo>
                <a:lnTo>
                  <a:pt x="126278" y="1418251"/>
                </a:lnTo>
                <a:lnTo>
                  <a:pt x="123498" y="1394434"/>
                </a:lnTo>
                <a:lnTo>
                  <a:pt x="121513" y="1370220"/>
                </a:lnTo>
                <a:lnTo>
                  <a:pt x="119527" y="1346403"/>
                </a:lnTo>
                <a:lnTo>
                  <a:pt x="118733" y="1322189"/>
                </a:lnTo>
                <a:lnTo>
                  <a:pt x="118336" y="1297975"/>
                </a:lnTo>
                <a:lnTo>
                  <a:pt x="118733" y="1269395"/>
                </a:lnTo>
                <a:lnTo>
                  <a:pt x="119924" y="1240418"/>
                </a:lnTo>
                <a:lnTo>
                  <a:pt x="122704" y="1211837"/>
                </a:lnTo>
                <a:lnTo>
                  <a:pt x="125484" y="1184051"/>
                </a:lnTo>
                <a:lnTo>
                  <a:pt x="129455" y="1155867"/>
                </a:lnTo>
                <a:lnTo>
                  <a:pt x="134220" y="1128478"/>
                </a:lnTo>
                <a:lnTo>
                  <a:pt x="139780" y="1101088"/>
                </a:lnTo>
                <a:lnTo>
                  <a:pt x="146133" y="1074095"/>
                </a:lnTo>
                <a:lnTo>
                  <a:pt x="24223" y="995896"/>
                </a:lnTo>
                <a:lnTo>
                  <a:pt x="136603" y="755344"/>
                </a:lnTo>
                <a:lnTo>
                  <a:pt x="268043" y="794642"/>
                </a:lnTo>
                <a:lnTo>
                  <a:pt x="283530" y="772016"/>
                </a:lnTo>
                <a:lnTo>
                  <a:pt x="299017" y="750184"/>
                </a:lnTo>
                <a:lnTo>
                  <a:pt x="315696" y="728351"/>
                </a:lnTo>
                <a:lnTo>
                  <a:pt x="332771" y="707313"/>
                </a:lnTo>
                <a:lnTo>
                  <a:pt x="350243" y="686274"/>
                </a:lnTo>
                <a:lnTo>
                  <a:pt x="368907" y="666824"/>
                </a:lnTo>
                <a:lnTo>
                  <a:pt x="387571" y="646976"/>
                </a:lnTo>
                <a:lnTo>
                  <a:pt x="407426" y="627923"/>
                </a:lnTo>
                <a:lnTo>
                  <a:pt x="427281" y="609266"/>
                </a:lnTo>
                <a:lnTo>
                  <a:pt x="447930" y="591403"/>
                </a:lnTo>
                <a:lnTo>
                  <a:pt x="468977" y="574334"/>
                </a:lnTo>
                <a:lnTo>
                  <a:pt x="490420" y="557662"/>
                </a:lnTo>
                <a:lnTo>
                  <a:pt x="512261" y="541784"/>
                </a:lnTo>
                <a:lnTo>
                  <a:pt x="535293" y="526303"/>
                </a:lnTo>
                <a:lnTo>
                  <a:pt x="557928" y="511616"/>
                </a:lnTo>
                <a:lnTo>
                  <a:pt x="581754" y="497723"/>
                </a:lnTo>
                <a:lnTo>
                  <a:pt x="554354" y="371890"/>
                </a:lnTo>
                <a:lnTo>
                  <a:pt x="803734" y="280988"/>
                </a:lnTo>
                <a:close/>
                <a:moveTo>
                  <a:pt x="2013752" y="186531"/>
                </a:moveTo>
                <a:lnTo>
                  <a:pt x="2001871" y="186928"/>
                </a:lnTo>
                <a:lnTo>
                  <a:pt x="1989594" y="188119"/>
                </a:lnTo>
                <a:lnTo>
                  <a:pt x="1978109" y="190103"/>
                </a:lnTo>
                <a:lnTo>
                  <a:pt x="1966624" y="192881"/>
                </a:lnTo>
                <a:lnTo>
                  <a:pt x="1955139" y="196453"/>
                </a:lnTo>
                <a:lnTo>
                  <a:pt x="1944050" y="200819"/>
                </a:lnTo>
                <a:lnTo>
                  <a:pt x="1932962" y="205978"/>
                </a:lnTo>
                <a:lnTo>
                  <a:pt x="1922269" y="211534"/>
                </a:lnTo>
                <a:lnTo>
                  <a:pt x="1914348" y="216297"/>
                </a:lnTo>
                <a:lnTo>
                  <a:pt x="1906823" y="221853"/>
                </a:lnTo>
                <a:lnTo>
                  <a:pt x="1899695" y="227409"/>
                </a:lnTo>
                <a:lnTo>
                  <a:pt x="1892962" y="233363"/>
                </a:lnTo>
                <a:lnTo>
                  <a:pt x="1886230" y="239713"/>
                </a:lnTo>
                <a:lnTo>
                  <a:pt x="1880289" y="246063"/>
                </a:lnTo>
                <a:lnTo>
                  <a:pt x="1874349" y="252809"/>
                </a:lnTo>
                <a:lnTo>
                  <a:pt x="1869200" y="259953"/>
                </a:lnTo>
                <a:lnTo>
                  <a:pt x="1864052" y="267097"/>
                </a:lnTo>
                <a:lnTo>
                  <a:pt x="1859300" y="274241"/>
                </a:lnTo>
                <a:lnTo>
                  <a:pt x="1855339" y="281781"/>
                </a:lnTo>
                <a:lnTo>
                  <a:pt x="1850983" y="289719"/>
                </a:lnTo>
                <a:lnTo>
                  <a:pt x="1847419" y="297656"/>
                </a:lnTo>
                <a:lnTo>
                  <a:pt x="1844646" y="305594"/>
                </a:lnTo>
                <a:lnTo>
                  <a:pt x="1841874" y="313928"/>
                </a:lnTo>
                <a:lnTo>
                  <a:pt x="1839102" y="322263"/>
                </a:lnTo>
                <a:lnTo>
                  <a:pt x="1837518" y="330597"/>
                </a:lnTo>
                <a:lnTo>
                  <a:pt x="1835934" y="339328"/>
                </a:lnTo>
                <a:lnTo>
                  <a:pt x="1834350" y="348059"/>
                </a:lnTo>
                <a:lnTo>
                  <a:pt x="1833557" y="356791"/>
                </a:lnTo>
                <a:lnTo>
                  <a:pt x="1833557" y="365125"/>
                </a:lnTo>
                <a:lnTo>
                  <a:pt x="1833557" y="373856"/>
                </a:lnTo>
                <a:lnTo>
                  <a:pt x="1833953" y="382984"/>
                </a:lnTo>
                <a:lnTo>
                  <a:pt x="1835142" y="391716"/>
                </a:lnTo>
                <a:lnTo>
                  <a:pt x="1836726" y="400050"/>
                </a:lnTo>
                <a:lnTo>
                  <a:pt x="1838310" y="409178"/>
                </a:lnTo>
                <a:lnTo>
                  <a:pt x="1840290" y="417513"/>
                </a:lnTo>
                <a:lnTo>
                  <a:pt x="1843458" y="426244"/>
                </a:lnTo>
                <a:lnTo>
                  <a:pt x="1846230" y="434578"/>
                </a:lnTo>
                <a:lnTo>
                  <a:pt x="1850191" y="443310"/>
                </a:lnTo>
                <a:lnTo>
                  <a:pt x="1853755" y="451247"/>
                </a:lnTo>
                <a:lnTo>
                  <a:pt x="1858507" y="459581"/>
                </a:lnTo>
                <a:lnTo>
                  <a:pt x="1864844" y="469503"/>
                </a:lnTo>
                <a:lnTo>
                  <a:pt x="1871973" y="479028"/>
                </a:lnTo>
                <a:lnTo>
                  <a:pt x="1879497" y="488156"/>
                </a:lnTo>
                <a:lnTo>
                  <a:pt x="1887418" y="496888"/>
                </a:lnTo>
                <a:lnTo>
                  <a:pt x="1896527" y="504428"/>
                </a:lnTo>
                <a:lnTo>
                  <a:pt x="1905239" y="511969"/>
                </a:lnTo>
                <a:lnTo>
                  <a:pt x="1914744" y="518716"/>
                </a:lnTo>
                <a:lnTo>
                  <a:pt x="1924645" y="524669"/>
                </a:lnTo>
                <a:lnTo>
                  <a:pt x="1934942" y="529828"/>
                </a:lnTo>
                <a:lnTo>
                  <a:pt x="1945635" y="534988"/>
                </a:lnTo>
                <a:lnTo>
                  <a:pt x="1956723" y="538956"/>
                </a:lnTo>
                <a:lnTo>
                  <a:pt x="1967812" y="542131"/>
                </a:lnTo>
                <a:lnTo>
                  <a:pt x="1979297" y="545306"/>
                </a:lnTo>
                <a:lnTo>
                  <a:pt x="1990782" y="546894"/>
                </a:lnTo>
                <a:lnTo>
                  <a:pt x="2002267" y="548085"/>
                </a:lnTo>
                <a:lnTo>
                  <a:pt x="2014544" y="548481"/>
                </a:lnTo>
                <a:lnTo>
                  <a:pt x="2026425" y="548085"/>
                </a:lnTo>
                <a:lnTo>
                  <a:pt x="2038306" y="546894"/>
                </a:lnTo>
                <a:lnTo>
                  <a:pt x="2049791" y="544910"/>
                </a:lnTo>
                <a:lnTo>
                  <a:pt x="2061672" y="542131"/>
                </a:lnTo>
                <a:lnTo>
                  <a:pt x="2073157" y="538560"/>
                </a:lnTo>
                <a:lnTo>
                  <a:pt x="2084246" y="534194"/>
                </a:lnTo>
                <a:lnTo>
                  <a:pt x="2095335" y="529035"/>
                </a:lnTo>
                <a:lnTo>
                  <a:pt x="2106028" y="523081"/>
                </a:lnTo>
                <a:lnTo>
                  <a:pt x="2113552" y="518716"/>
                </a:lnTo>
                <a:lnTo>
                  <a:pt x="2121077" y="513556"/>
                </a:lnTo>
                <a:lnTo>
                  <a:pt x="2128206" y="508000"/>
                </a:lnTo>
                <a:lnTo>
                  <a:pt x="2134938" y="502047"/>
                </a:lnTo>
                <a:lnTo>
                  <a:pt x="2141275" y="496491"/>
                </a:lnTo>
                <a:lnTo>
                  <a:pt x="2147215" y="490141"/>
                </a:lnTo>
                <a:lnTo>
                  <a:pt x="2153156" y="483394"/>
                </a:lnTo>
                <a:lnTo>
                  <a:pt x="2158304" y="476647"/>
                </a:lnTo>
                <a:lnTo>
                  <a:pt x="2163452" y="469503"/>
                </a:lnTo>
                <a:lnTo>
                  <a:pt x="2168601" y="461566"/>
                </a:lnTo>
                <a:lnTo>
                  <a:pt x="2172957" y="454025"/>
                </a:lnTo>
                <a:lnTo>
                  <a:pt x="2176917" y="446485"/>
                </a:lnTo>
                <a:lnTo>
                  <a:pt x="2180482" y="438150"/>
                </a:lnTo>
                <a:lnTo>
                  <a:pt x="2183650" y="430213"/>
                </a:lnTo>
                <a:lnTo>
                  <a:pt x="2186818" y="421481"/>
                </a:lnTo>
                <a:lnTo>
                  <a:pt x="2189195" y="412750"/>
                </a:lnTo>
                <a:lnTo>
                  <a:pt x="2191175" y="404019"/>
                </a:lnTo>
                <a:lnTo>
                  <a:pt x="2192363" y="395288"/>
                </a:lnTo>
                <a:lnTo>
                  <a:pt x="2193947" y="386159"/>
                </a:lnTo>
                <a:lnTo>
                  <a:pt x="2194739" y="377428"/>
                </a:lnTo>
                <a:lnTo>
                  <a:pt x="2194739" y="368697"/>
                </a:lnTo>
                <a:lnTo>
                  <a:pt x="2194739" y="359569"/>
                </a:lnTo>
                <a:lnTo>
                  <a:pt x="2194343" y="351234"/>
                </a:lnTo>
                <a:lnTo>
                  <a:pt x="2192759" y="342503"/>
                </a:lnTo>
                <a:lnTo>
                  <a:pt x="2191571" y="333375"/>
                </a:lnTo>
                <a:lnTo>
                  <a:pt x="2189591" y="325041"/>
                </a:lnTo>
                <a:lnTo>
                  <a:pt x="2187610" y="316706"/>
                </a:lnTo>
                <a:lnTo>
                  <a:pt x="2184838" y="308372"/>
                </a:lnTo>
                <a:lnTo>
                  <a:pt x="2181670" y="299641"/>
                </a:lnTo>
                <a:lnTo>
                  <a:pt x="2178106" y="291703"/>
                </a:lnTo>
                <a:lnTo>
                  <a:pt x="2174145" y="283766"/>
                </a:lnTo>
                <a:lnTo>
                  <a:pt x="2169789" y="275828"/>
                </a:lnTo>
                <a:lnTo>
                  <a:pt x="2163452" y="265509"/>
                </a:lnTo>
                <a:lnTo>
                  <a:pt x="2156324" y="255984"/>
                </a:lnTo>
                <a:lnTo>
                  <a:pt x="2148799" y="247253"/>
                </a:lnTo>
                <a:lnTo>
                  <a:pt x="2140879" y="238522"/>
                </a:lnTo>
                <a:lnTo>
                  <a:pt x="2131770" y="230584"/>
                </a:lnTo>
                <a:lnTo>
                  <a:pt x="2123057" y="223441"/>
                </a:lnTo>
                <a:lnTo>
                  <a:pt x="2113552" y="216694"/>
                </a:lnTo>
                <a:lnTo>
                  <a:pt x="2103255" y="210344"/>
                </a:lnTo>
                <a:lnTo>
                  <a:pt x="2093355" y="204788"/>
                </a:lnTo>
                <a:lnTo>
                  <a:pt x="2082662" y="200422"/>
                </a:lnTo>
                <a:lnTo>
                  <a:pt x="2071969" y="196056"/>
                </a:lnTo>
                <a:lnTo>
                  <a:pt x="2060484" y="192881"/>
                </a:lnTo>
                <a:lnTo>
                  <a:pt x="2048999" y="190103"/>
                </a:lnTo>
                <a:lnTo>
                  <a:pt x="2037118" y="188119"/>
                </a:lnTo>
                <a:lnTo>
                  <a:pt x="2025633" y="186928"/>
                </a:lnTo>
                <a:lnTo>
                  <a:pt x="2013752" y="186531"/>
                </a:lnTo>
                <a:close/>
                <a:moveTo>
                  <a:pt x="2066028" y="0"/>
                </a:moveTo>
                <a:lnTo>
                  <a:pt x="2156324" y="23812"/>
                </a:lnTo>
                <a:lnTo>
                  <a:pt x="2146027" y="100013"/>
                </a:lnTo>
                <a:lnTo>
                  <a:pt x="2140916" y="118533"/>
                </a:lnTo>
                <a:lnTo>
                  <a:pt x="2134542" y="115094"/>
                </a:lnTo>
                <a:lnTo>
                  <a:pt x="2132671" y="114357"/>
                </a:lnTo>
                <a:lnTo>
                  <a:pt x="2132562" y="114300"/>
                </a:lnTo>
                <a:lnTo>
                  <a:pt x="2123453" y="110728"/>
                </a:lnTo>
                <a:lnTo>
                  <a:pt x="2132671" y="114357"/>
                </a:lnTo>
                <a:lnTo>
                  <a:pt x="2140879" y="118666"/>
                </a:lnTo>
                <a:lnTo>
                  <a:pt x="2140916" y="118533"/>
                </a:lnTo>
                <a:lnTo>
                  <a:pt x="2144839" y="120650"/>
                </a:lnTo>
                <a:lnTo>
                  <a:pt x="2153552" y="125413"/>
                </a:lnTo>
                <a:lnTo>
                  <a:pt x="2167413" y="133747"/>
                </a:lnTo>
                <a:lnTo>
                  <a:pt x="2174145" y="138113"/>
                </a:lnTo>
                <a:lnTo>
                  <a:pt x="2180878" y="142875"/>
                </a:lnTo>
                <a:lnTo>
                  <a:pt x="2181274" y="143272"/>
                </a:lnTo>
                <a:lnTo>
                  <a:pt x="2187610" y="148034"/>
                </a:lnTo>
                <a:lnTo>
                  <a:pt x="2193947" y="153194"/>
                </a:lnTo>
                <a:lnTo>
                  <a:pt x="2205432" y="163909"/>
                </a:lnTo>
                <a:lnTo>
                  <a:pt x="2212560" y="170656"/>
                </a:lnTo>
                <a:lnTo>
                  <a:pt x="2221273" y="180181"/>
                </a:lnTo>
                <a:lnTo>
                  <a:pt x="2226433" y="186128"/>
                </a:lnTo>
                <a:lnTo>
                  <a:pt x="2226422" y="186134"/>
                </a:lnTo>
                <a:lnTo>
                  <a:pt x="2229194" y="189309"/>
                </a:lnTo>
                <a:lnTo>
                  <a:pt x="2226433" y="186128"/>
                </a:lnTo>
                <a:lnTo>
                  <a:pt x="2244639" y="175419"/>
                </a:lnTo>
                <a:lnTo>
                  <a:pt x="2315925" y="143669"/>
                </a:lnTo>
                <a:lnTo>
                  <a:pt x="2363053" y="224234"/>
                </a:lnTo>
                <a:lnTo>
                  <a:pt x="2302064" y="270669"/>
                </a:lnTo>
                <a:lnTo>
                  <a:pt x="2280282" y="283369"/>
                </a:lnTo>
                <a:lnTo>
                  <a:pt x="2284242" y="296466"/>
                </a:lnTo>
                <a:lnTo>
                  <a:pt x="2287015" y="309166"/>
                </a:lnTo>
                <a:lnTo>
                  <a:pt x="2289787" y="322263"/>
                </a:lnTo>
                <a:lnTo>
                  <a:pt x="2291371" y="335359"/>
                </a:lnTo>
                <a:lnTo>
                  <a:pt x="2292559" y="348456"/>
                </a:lnTo>
                <a:lnTo>
                  <a:pt x="2293351" y="361553"/>
                </a:lnTo>
                <a:lnTo>
                  <a:pt x="2293351" y="374650"/>
                </a:lnTo>
                <a:lnTo>
                  <a:pt x="2292559" y="387350"/>
                </a:lnTo>
                <a:lnTo>
                  <a:pt x="2318301" y="394097"/>
                </a:lnTo>
                <a:lnTo>
                  <a:pt x="2390775" y="422275"/>
                </a:lnTo>
                <a:lnTo>
                  <a:pt x="2367409" y="512763"/>
                </a:lnTo>
                <a:lnTo>
                  <a:pt x="2291371" y="502047"/>
                </a:lnTo>
                <a:lnTo>
                  <a:pt x="2262857" y="494506"/>
                </a:lnTo>
                <a:lnTo>
                  <a:pt x="2256916" y="506016"/>
                </a:lnTo>
                <a:lnTo>
                  <a:pt x="2250183" y="517128"/>
                </a:lnTo>
                <a:lnTo>
                  <a:pt x="2243451" y="527447"/>
                </a:lnTo>
                <a:lnTo>
                  <a:pt x="2235926" y="537766"/>
                </a:lnTo>
                <a:lnTo>
                  <a:pt x="2228006" y="547688"/>
                </a:lnTo>
                <a:lnTo>
                  <a:pt x="2219293" y="557610"/>
                </a:lnTo>
                <a:lnTo>
                  <a:pt x="2210580" y="566738"/>
                </a:lnTo>
                <a:lnTo>
                  <a:pt x="2201075" y="575469"/>
                </a:lnTo>
                <a:lnTo>
                  <a:pt x="2216125" y="601266"/>
                </a:lnTo>
                <a:lnTo>
                  <a:pt x="2247807" y="671910"/>
                </a:lnTo>
                <a:lnTo>
                  <a:pt x="2167413" y="719932"/>
                </a:lnTo>
                <a:lnTo>
                  <a:pt x="2121077" y="658416"/>
                </a:lnTo>
                <a:lnTo>
                  <a:pt x="2105632" y="632222"/>
                </a:lnTo>
                <a:lnTo>
                  <a:pt x="2110780" y="629841"/>
                </a:lnTo>
                <a:lnTo>
                  <a:pt x="2115929" y="627857"/>
                </a:lnTo>
                <a:lnTo>
                  <a:pt x="2104048" y="632222"/>
                </a:lnTo>
                <a:lnTo>
                  <a:pt x="2092563" y="635794"/>
                </a:lnTo>
                <a:lnTo>
                  <a:pt x="2083058" y="638969"/>
                </a:lnTo>
                <a:lnTo>
                  <a:pt x="2067217" y="642541"/>
                </a:lnTo>
                <a:lnTo>
                  <a:pt x="2059296" y="643732"/>
                </a:lnTo>
                <a:lnTo>
                  <a:pt x="2050583" y="644922"/>
                </a:lnTo>
                <a:lnTo>
                  <a:pt x="2048999" y="644922"/>
                </a:lnTo>
                <a:lnTo>
                  <a:pt x="2033554" y="646907"/>
                </a:lnTo>
                <a:lnTo>
                  <a:pt x="2018505" y="647303"/>
                </a:lnTo>
                <a:lnTo>
                  <a:pt x="2014544" y="647700"/>
                </a:lnTo>
                <a:lnTo>
                  <a:pt x="2008208" y="647303"/>
                </a:lnTo>
                <a:lnTo>
                  <a:pt x="2002617" y="647117"/>
                </a:lnTo>
                <a:lnTo>
                  <a:pt x="1994743" y="646510"/>
                </a:lnTo>
                <a:lnTo>
                  <a:pt x="1984842" y="645716"/>
                </a:lnTo>
                <a:lnTo>
                  <a:pt x="1996327" y="646907"/>
                </a:lnTo>
                <a:lnTo>
                  <a:pt x="2002617" y="647117"/>
                </a:lnTo>
                <a:lnTo>
                  <a:pt x="2005039" y="647303"/>
                </a:lnTo>
                <a:lnTo>
                  <a:pt x="1994347" y="687785"/>
                </a:lnTo>
                <a:lnTo>
                  <a:pt x="1970189" y="747713"/>
                </a:lnTo>
                <a:lnTo>
                  <a:pt x="1879497" y="724297"/>
                </a:lnTo>
                <a:lnTo>
                  <a:pt x="1886230" y="662385"/>
                </a:lnTo>
                <a:lnTo>
                  <a:pt x="1896923" y="621507"/>
                </a:lnTo>
                <a:lnTo>
                  <a:pt x="1904447" y="625078"/>
                </a:lnTo>
                <a:lnTo>
                  <a:pt x="1893754" y="619919"/>
                </a:lnTo>
                <a:lnTo>
                  <a:pt x="1883061" y="614363"/>
                </a:lnTo>
                <a:lnTo>
                  <a:pt x="1874745" y="609997"/>
                </a:lnTo>
                <a:lnTo>
                  <a:pt x="1860884" y="601663"/>
                </a:lnTo>
                <a:lnTo>
                  <a:pt x="1854151" y="596900"/>
                </a:lnTo>
                <a:lnTo>
                  <a:pt x="1847419" y="592535"/>
                </a:lnTo>
                <a:lnTo>
                  <a:pt x="1846627" y="592138"/>
                </a:lnTo>
                <a:lnTo>
                  <a:pt x="1840290" y="586978"/>
                </a:lnTo>
                <a:lnTo>
                  <a:pt x="1834350" y="581819"/>
                </a:lnTo>
                <a:lnTo>
                  <a:pt x="1822469" y="571103"/>
                </a:lnTo>
                <a:lnTo>
                  <a:pt x="1815736" y="564356"/>
                </a:lnTo>
                <a:lnTo>
                  <a:pt x="1809516" y="557841"/>
                </a:lnTo>
                <a:lnTo>
                  <a:pt x="1805439" y="553244"/>
                </a:lnTo>
                <a:lnTo>
                  <a:pt x="1799103" y="545703"/>
                </a:lnTo>
                <a:lnTo>
                  <a:pt x="1807023" y="555228"/>
                </a:lnTo>
                <a:lnTo>
                  <a:pt x="1809516" y="557841"/>
                </a:lnTo>
                <a:lnTo>
                  <a:pt x="1811776" y="560388"/>
                </a:lnTo>
                <a:lnTo>
                  <a:pt x="1779697" y="579438"/>
                </a:lnTo>
                <a:lnTo>
                  <a:pt x="1720292" y="604044"/>
                </a:lnTo>
                <a:lnTo>
                  <a:pt x="1673164" y="523875"/>
                </a:lnTo>
                <a:lnTo>
                  <a:pt x="1721480" y="484585"/>
                </a:lnTo>
                <a:lnTo>
                  <a:pt x="1752767" y="465931"/>
                </a:lnTo>
                <a:lnTo>
                  <a:pt x="1748410" y="452835"/>
                </a:lnTo>
                <a:lnTo>
                  <a:pt x="1744450" y="439341"/>
                </a:lnTo>
                <a:lnTo>
                  <a:pt x="1741282" y="425847"/>
                </a:lnTo>
                <a:lnTo>
                  <a:pt x="1738510" y="412353"/>
                </a:lnTo>
                <a:lnTo>
                  <a:pt x="1736530" y="398860"/>
                </a:lnTo>
                <a:lnTo>
                  <a:pt x="1735737" y="385366"/>
                </a:lnTo>
                <a:lnTo>
                  <a:pt x="1734945" y="371475"/>
                </a:lnTo>
                <a:lnTo>
                  <a:pt x="1735341" y="357981"/>
                </a:lnTo>
                <a:lnTo>
                  <a:pt x="1704451" y="350441"/>
                </a:lnTo>
                <a:lnTo>
                  <a:pt x="1644650" y="325438"/>
                </a:lnTo>
                <a:lnTo>
                  <a:pt x="1668412" y="235347"/>
                </a:lnTo>
                <a:lnTo>
                  <a:pt x="1730193" y="242094"/>
                </a:lnTo>
                <a:lnTo>
                  <a:pt x="1760687" y="250031"/>
                </a:lnTo>
                <a:lnTo>
                  <a:pt x="1766628" y="237331"/>
                </a:lnTo>
                <a:lnTo>
                  <a:pt x="1773361" y="225028"/>
                </a:lnTo>
                <a:lnTo>
                  <a:pt x="1781281" y="213519"/>
                </a:lnTo>
                <a:lnTo>
                  <a:pt x="1789202" y="201613"/>
                </a:lnTo>
                <a:lnTo>
                  <a:pt x="1797915" y="190500"/>
                </a:lnTo>
                <a:lnTo>
                  <a:pt x="1807023" y="179784"/>
                </a:lnTo>
                <a:lnTo>
                  <a:pt x="1816924" y="169069"/>
                </a:lnTo>
                <a:lnTo>
                  <a:pt x="1827221" y="159544"/>
                </a:lnTo>
                <a:lnTo>
                  <a:pt x="1812964" y="135334"/>
                </a:lnTo>
                <a:lnTo>
                  <a:pt x="1788410" y="75406"/>
                </a:lnTo>
                <a:lnTo>
                  <a:pt x="1868804" y="27781"/>
                </a:lnTo>
                <a:lnTo>
                  <a:pt x="1907219" y="76994"/>
                </a:lnTo>
                <a:lnTo>
                  <a:pt x="1923061" y="102791"/>
                </a:lnTo>
                <a:lnTo>
                  <a:pt x="1917516" y="105172"/>
                </a:lnTo>
                <a:lnTo>
                  <a:pt x="1912368" y="107156"/>
                </a:lnTo>
                <a:lnTo>
                  <a:pt x="1924249" y="102791"/>
                </a:lnTo>
                <a:lnTo>
                  <a:pt x="1935734" y="99219"/>
                </a:lnTo>
                <a:lnTo>
                  <a:pt x="1945239" y="96044"/>
                </a:lnTo>
                <a:lnTo>
                  <a:pt x="1961080" y="92869"/>
                </a:lnTo>
                <a:lnTo>
                  <a:pt x="1969001" y="91281"/>
                </a:lnTo>
                <a:lnTo>
                  <a:pt x="1977317" y="89694"/>
                </a:lnTo>
                <a:lnTo>
                  <a:pt x="1979297" y="89694"/>
                </a:lnTo>
                <a:lnTo>
                  <a:pt x="1994347" y="88106"/>
                </a:lnTo>
                <a:lnTo>
                  <a:pt x="2009792" y="87709"/>
                </a:lnTo>
                <a:lnTo>
                  <a:pt x="2013752" y="87709"/>
                </a:lnTo>
                <a:lnTo>
                  <a:pt x="2019693" y="87709"/>
                </a:lnTo>
                <a:lnTo>
                  <a:pt x="2031970" y="88503"/>
                </a:lnTo>
                <a:lnTo>
                  <a:pt x="2043455" y="89297"/>
                </a:lnTo>
                <a:lnTo>
                  <a:pt x="2034346" y="88503"/>
                </a:lnTo>
                <a:lnTo>
                  <a:pt x="2038306" y="72628"/>
                </a:lnTo>
                <a:lnTo>
                  <a:pt x="2066028" y="0"/>
                </a:lnTo>
                <a:close/>
              </a:path>
            </a:pathLst>
          </a:custGeom>
          <a:solidFill>
            <a:schemeClr val="accent2"/>
          </a:solidFill>
          <a:ln>
            <a:noFill/>
          </a:ln>
        </p:spPr>
        <p:txBody>
          <a:bodyPr anchor="ctr">
            <a:scene3d>
              <a:camera prst="orthographicFront"/>
              <a:lightRig rig="threePt" dir="t"/>
            </a:scene3d>
            <a:sp3d contourW="12700">
              <a:contourClr>
                <a:srgbClr val="FFFFFF"/>
              </a:contourClr>
            </a:sp3d>
          </a:bodyPr>
          <a:lstStyle/>
          <a:p>
            <a:pPr algn="ctr">
              <a:defRPr/>
            </a:pPr>
            <a:endParaRPr lang="zh-CN" altLang="en-US" sz="1350" dirty="0">
              <a:solidFill>
                <a:srgbClr val="FFFFFF"/>
              </a:solidFill>
              <a:cs typeface="+mn-ea"/>
            </a:endParaRPr>
          </a:p>
        </p:txBody>
      </p:sp>
      <p:sp>
        <p:nvSpPr>
          <p:cNvPr id="14" name="矩形 13"/>
          <p:cNvSpPr/>
          <p:nvPr/>
        </p:nvSpPr>
        <p:spPr>
          <a:xfrm flipV="1">
            <a:off x="-476" y="1055211"/>
            <a:ext cx="358854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cs typeface="+mn-ea"/>
            </a:endParaRPr>
          </a:p>
        </p:txBody>
      </p:sp>
      <p:sp>
        <p:nvSpPr>
          <p:cNvPr id="24" name="矩形 23"/>
          <p:cNvSpPr/>
          <p:nvPr/>
        </p:nvSpPr>
        <p:spPr>
          <a:xfrm>
            <a:off x="4743926" y="1055211"/>
            <a:ext cx="4400074" cy="676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effectLst>
                <a:outerShdw blurRad="50800" dist="38100" dir="5400000" algn="t" rotWithShape="0">
                  <a:prstClr val="black">
                    <a:alpha val="40000"/>
                  </a:prstClr>
                </a:outerShdw>
              </a:effectLst>
              <a:cs typeface="+mn-ea"/>
            </a:endParaRP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59747" name="Rectangle 3"/>
          <p:cNvSpPr>
            <a:spLocks noChangeArrowheads="1"/>
          </p:cNvSpPr>
          <p:nvPr/>
        </p:nvSpPr>
        <p:spPr bwMode="auto">
          <a:xfrm>
            <a:off x="152400" y="1800225"/>
            <a:ext cx="3962400" cy="2305760"/>
          </a:xfrm>
          <a:prstGeom prst="rect">
            <a:avLst/>
          </a:prstGeom>
          <a:solidFill>
            <a:srgbClr val="F6F5BD"/>
          </a:solidFill>
          <a:ln w="12700">
            <a:solidFill>
              <a:schemeClr val="tx1"/>
            </a:solidFill>
            <a:miter lim="800000"/>
          </a:ln>
          <a:effectLst/>
        </p:spPr>
        <p:txBody>
          <a:bodyPr lIns="90487" tIns="44450" rIns="90487" bIns="44450">
            <a:spAutoFit/>
          </a:bodyPr>
          <a:lstStyle/>
          <a:p>
            <a:pPr algn="l">
              <a:lnSpc>
                <a:spcPct val="100000"/>
              </a:lnSpc>
              <a:tabLst>
                <a:tab pos="457200" algn="l"/>
                <a:tab pos="1485900" algn="l"/>
              </a:tabLst>
            </a:pPr>
            <a:r>
              <a:rPr lang="en-US" sz="1800" dirty="0">
                <a:latin typeface="Courier New" panose="02070309020205020404" charset="0"/>
              </a:rPr>
              <a:t>void swap</a:t>
            </a:r>
          </a:p>
          <a:p>
            <a:pPr algn="l">
              <a:lnSpc>
                <a:spcPct val="100000"/>
              </a:lnSpc>
              <a:tabLst>
                <a:tab pos="457200" algn="l"/>
                <a:tab pos="1485900" algn="l"/>
              </a:tabLst>
            </a:pPr>
            <a:r>
              <a:rPr lang="en-US" sz="1800" dirty="0">
                <a:latin typeface="Courier New" panose="02070309020205020404" charset="0"/>
              </a:rPr>
              <a:t>   (long *</a:t>
            </a:r>
            <a:r>
              <a:rPr lang="en-US" sz="1800" dirty="0" err="1">
                <a:latin typeface="Courier New" panose="02070309020205020404" charset="0"/>
              </a:rPr>
              <a:t>xp</a:t>
            </a:r>
            <a:r>
              <a:rPr lang="en-US" sz="1800" dirty="0">
                <a:latin typeface="Courier New" panose="02070309020205020404" charset="0"/>
              </a:rPr>
              <a:t>, long *</a:t>
            </a:r>
            <a:r>
              <a:rPr lang="en-US" sz="1800" dirty="0" err="1">
                <a:latin typeface="Courier New" panose="02070309020205020404" charset="0"/>
              </a:rPr>
              <a:t>yp</a:t>
            </a:r>
            <a:r>
              <a:rPr lang="en-US" sz="1800" dirty="0">
                <a:latin typeface="Courier New" panose="02070309020205020404" charset="0"/>
              </a:rPr>
              <a:t>) </a:t>
            </a:r>
          </a:p>
          <a:p>
            <a:pPr algn="l">
              <a:lnSpc>
                <a:spcPct val="100000"/>
              </a:lnSpc>
              <a:tabLst>
                <a:tab pos="457200" algn="l"/>
                <a:tab pos="1485900" algn="l"/>
              </a:tabLst>
            </a:pPr>
            <a:r>
              <a:rPr lang="en-US" sz="1800" dirty="0">
                <a:latin typeface="Courier New" panose="02070309020205020404" charset="0"/>
              </a:rPr>
              <a:t>{</a:t>
            </a:r>
          </a:p>
          <a:p>
            <a:pPr algn="l">
              <a:lnSpc>
                <a:spcPct val="100000"/>
              </a:lnSpc>
              <a:tabLst>
                <a:tab pos="457200" algn="l"/>
                <a:tab pos="1485900" algn="l"/>
              </a:tabLst>
            </a:pPr>
            <a:r>
              <a:rPr lang="en-US" sz="1800" dirty="0">
                <a:latin typeface="Courier New" panose="02070309020205020404" charset="0"/>
              </a:rPr>
              <a:t>  long t0 = *</a:t>
            </a:r>
            <a:r>
              <a:rPr lang="en-US" sz="1800" dirty="0" err="1">
                <a:latin typeface="Courier New" panose="02070309020205020404" charset="0"/>
              </a:rPr>
              <a:t>xp</a:t>
            </a:r>
            <a:r>
              <a:rPr lang="en-US" sz="1800" dirty="0">
                <a:latin typeface="Courier New" panose="02070309020205020404" charset="0"/>
              </a:rPr>
              <a:t>;</a:t>
            </a:r>
          </a:p>
          <a:p>
            <a:pPr algn="l">
              <a:lnSpc>
                <a:spcPct val="100000"/>
              </a:lnSpc>
              <a:tabLst>
                <a:tab pos="457200" algn="l"/>
                <a:tab pos="1485900" algn="l"/>
              </a:tabLst>
            </a:pPr>
            <a:r>
              <a:rPr lang="en-US" sz="1800" dirty="0">
                <a:latin typeface="Courier New" panose="02070309020205020404" charset="0"/>
              </a:rPr>
              <a:t>  long t1 = *</a:t>
            </a:r>
            <a:r>
              <a:rPr lang="en-US" sz="1800" dirty="0" err="1">
                <a:latin typeface="Courier New" panose="02070309020205020404" charset="0"/>
              </a:rPr>
              <a:t>yp</a:t>
            </a:r>
            <a:r>
              <a:rPr lang="en-US" sz="1800" dirty="0">
                <a:latin typeface="Courier New" panose="02070309020205020404" charset="0"/>
              </a:rPr>
              <a:t>;</a:t>
            </a:r>
          </a:p>
          <a:p>
            <a:pPr algn="l">
              <a:lnSpc>
                <a:spcPct val="100000"/>
              </a:lnSpc>
              <a:tabLst>
                <a:tab pos="457200" algn="l"/>
                <a:tab pos="1485900" algn="l"/>
              </a:tabLst>
            </a:pPr>
            <a:r>
              <a:rPr lang="en-US" sz="1800" dirty="0">
                <a:latin typeface="Courier New" panose="02070309020205020404" charset="0"/>
              </a:rPr>
              <a:t>  *</a:t>
            </a:r>
            <a:r>
              <a:rPr lang="en-US" sz="1800" dirty="0" err="1">
                <a:latin typeface="Courier New" panose="02070309020205020404" charset="0"/>
              </a:rPr>
              <a:t>xp</a:t>
            </a:r>
            <a:r>
              <a:rPr lang="en-US" sz="1800" dirty="0">
                <a:latin typeface="Courier New" panose="02070309020205020404" charset="0"/>
              </a:rPr>
              <a:t> = t1;</a:t>
            </a:r>
          </a:p>
          <a:p>
            <a:pPr algn="l">
              <a:lnSpc>
                <a:spcPct val="100000"/>
              </a:lnSpc>
              <a:tabLst>
                <a:tab pos="457200" algn="l"/>
                <a:tab pos="1485900" algn="l"/>
              </a:tabLst>
            </a:pPr>
            <a:r>
              <a:rPr lang="en-US" sz="1800" dirty="0">
                <a:latin typeface="Courier New" panose="02070309020205020404" charset="0"/>
              </a:rPr>
              <a:t>  *</a:t>
            </a:r>
            <a:r>
              <a:rPr lang="en-US" sz="1800" dirty="0" err="1">
                <a:latin typeface="Courier New" panose="02070309020205020404" charset="0"/>
              </a:rPr>
              <a:t>yp</a:t>
            </a:r>
            <a:r>
              <a:rPr lang="en-US" sz="1800" dirty="0">
                <a:latin typeface="Courier New" panose="02070309020205020404" charset="0"/>
              </a:rPr>
              <a:t> = t0;</a:t>
            </a:r>
          </a:p>
          <a:p>
            <a:pPr algn="l">
              <a:lnSpc>
                <a:spcPct val="100000"/>
              </a:lnSpc>
              <a:tabLst>
                <a:tab pos="457200" algn="l"/>
                <a:tab pos="1485900" algn="l"/>
              </a:tabLst>
            </a:pPr>
            <a:r>
              <a:rPr lang="en-US" sz="1800" dirty="0">
                <a:latin typeface="Courier New" panose="02070309020205020404" charset="0"/>
              </a:rPr>
              <a:t>}</a:t>
            </a:r>
          </a:p>
        </p:txBody>
      </p:sp>
      <p:sp>
        <p:nvSpPr>
          <p:cNvPr id="11" name="Rectangle 4"/>
          <p:cNvSpPr>
            <a:spLocks noChangeArrowheads="1"/>
          </p:cNvSpPr>
          <p:nvPr/>
        </p:nvSpPr>
        <p:spPr bwMode="auto">
          <a:xfrm>
            <a:off x="4535805" y="1980843"/>
            <a:ext cx="4191000" cy="1751762"/>
          </a:xfrm>
          <a:prstGeom prst="rect">
            <a:avLst/>
          </a:prstGeom>
          <a:noFill/>
          <a:ln w="12700">
            <a:noFill/>
            <a:miter lim="800000"/>
          </a:ln>
          <a:effectLst/>
        </p:spPr>
        <p:txBody>
          <a:bodyPr wrap="square" lIns="90487" tIns="44450" rIns="90487" bIns="44450">
            <a:spAutoFit/>
          </a:bodyPr>
          <a:lstStyle/>
          <a:p>
            <a:pPr algn="l">
              <a:lnSpc>
                <a:spcPct val="100000"/>
              </a:lnSpc>
              <a:tabLst>
                <a:tab pos="347345" algn="l"/>
                <a:tab pos="1312545" algn="l"/>
              </a:tabLst>
            </a:pPr>
            <a:r>
              <a:rPr lang="en-US" sz="1800" dirty="0">
                <a:latin typeface="Courier New" panose="02070309020205020404" charset="0"/>
              </a:rPr>
              <a:t>swap:</a:t>
            </a:r>
          </a:p>
          <a:p>
            <a:pPr>
              <a:tabLst>
                <a:tab pos="347345" algn="l"/>
                <a:tab pos="1312545" algn="l"/>
              </a:tabLst>
            </a:pPr>
            <a:r>
              <a:rPr lang="en-US" sz="1800" dirty="0">
                <a:latin typeface="Courier New" panose="02070309020205020404" charset="0"/>
              </a:rPr>
              <a:t>  </a:t>
            </a:r>
            <a:r>
              <a:rPr lang="ro-RO" sz="1800" dirty="0">
                <a:latin typeface="Courier New" panose="02070309020205020404" charset="0"/>
              </a:rPr>
              <a:t> movq    (%rdi), %rax</a:t>
            </a:r>
          </a:p>
          <a:p>
            <a:pPr>
              <a:tabLst>
                <a:tab pos="347345" algn="l"/>
                <a:tab pos="1312545" algn="l"/>
              </a:tabLst>
            </a:pPr>
            <a:r>
              <a:rPr lang="ro-RO" sz="1800" dirty="0">
                <a:latin typeface="Courier New" panose="02070309020205020404" charset="0"/>
              </a:rPr>
              <a:t>   movq    (%rsi), %rdx</a:t>
            </a:r>
          </a:p>
          <a:p>
            <a:pPr>
              <a:tabLst>
                <a:tab pos="347345" algn="l"/>
                <a:tab pos="1312545" algn="l"/>
              </a:tabLst>
            </a:pPr>
            <a:r>
              <a:rPr lang="ro-RO" sz="1800" dirty="0">
                <a:latin typeface="Courier New" panose="02070309020205020404" charset="0"/>
              </a:rPr>
              <a:t>   movq    %rdx, (%rdi)</a:t>
            </a:r>
          </a:p>
          <a:p>
            <a:pPr>
              <a:tabLst>
                <a:tab pos="347345" algn="l"/>
                <a:tab pos="1312545" algn="l"/>
              </a:tabLst>
            </a:pPr>
            <a:r>
              <a:rPr lang="ro-RO" sz="1800" dirty="0">
                <a:latin typeface="Courier New" panose="02070309020205020404" charset="0"/>
              </a:rPr>
              <a:t>   movq    %rax, (%rsi)</a:t>
            </a:r>
          </a:p>
          <a:p>
            <a:pPr>
              <a:tabLst>
                <a:tab pos="347345" algn="l"/>
                <a:tab pos="1312545" algn="l"/>
              </a:tabLst>
            </a:pPr>
            <a:r>
              <a:rPr lang="ro-RO" sz="1800" dirty="0">
                <a:latin typeface="Courier New" panose="02070309020205020404" charset="0"/>
              </a:rPr>
              <a:t>   ret</a:t>
            </a:r>
            <a:endParaRPr lang="en-US" sz="1800" dirty="0">
              <a:latin typeface="Courier New" panose="02070309020205020404" charset="0"/>
            </a:endParaRPr>
          </a:p>
        </p:txBody>
      </p:sp>
      <p:grpSp>
        <p:nvGrpSpPr>
          <p:cNvPr id="7" name="Group 6"/>
          <p:cNvGrpSpPr/>
          <p:nvPr/>
        </p:nvGrpSpPr>
        <p:grpSpPr>
          <a:xfrm>
            <a:off x="4331822" y="4741358"/>
            <a:ext cx="1752600" cy="1752600"/>
            <a:chOff x="9111129" y="1790700"/>
            <a:chExt cx="1752600" cy="1752600"/>
          </a:xfrm>
        </p:grpSpPr>
        <p:sp>
          <p:nvSpPr>
            <p:cNvPr id="56" name="Rectangle 43"/>
            <p:cNvSpPr>
              <a:spLocks noChangeArrowheads="1"/>
            </p:cNvSpPr>
            <p:nvPr/>
          </p:nvSpPr>
          <p:spPr bwMode="auto">
            <a:xfrm>
              <a:off x="9111129" y="17907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rdi</a:t>
              </a:r>
              <a:endParaRPr lang="en-US" sz="1800" dirty="0">
                <a:latin typeface="Courier New" panose="02070309020205020404" charset="0"/>
              </a:endParaRPr>
            </a:p>
          </p:txBody>
        </p:sp>
        <p:sp>
          <p:nvSpPr>
            <p:cNvPr id="57" name="Rectangle 44"/>
            <p:cNvSpPr>
              <a:spLocks noChangeArrowheads="1"/>
            </p:cNvSpPr>
            <p:nvPr/>
          </p:nvSpPr>
          <p:spPr bwMode="auto">
            <a:xfrm>
              <a:off x="9111129" y="22479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rsi</a:t>
              </a:r>
              <a:endParaRPr lang="en-US" sz="1800" dirty="0">
                <a:latin typeface="Courier New" panose="02070309020205020404" charset="0"/>
              </a:endParaRPr>
            </a:p>
          </p:txBody>
        </p:sp>
        <p:sp>
          <p:nvSpPr>
            <p:cNvPr id="58" name="Rectangle 45"/>
            <p:cNvSpPr>
              <a:spLocks noChangeArrowheads="1"/>
            </p:cNvSpPr>
            <p:nvPr/>
          </p:nvSpPr>
          <p:spPr bwMode="auto">
            <a:xfrm>
              <a:off x="9111129" y="27051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rax</a:t>
              </a:r>
              <a:endParaRPr lang="en-US" sz="1800" dirty="0">
                <a:latin typeface="Courier New" panose="02070309020205020404" charset="0"/>
              </a:endParaRPr>
            </a:p>
          </p:txBody>
        </p:sp>
        <p:sp>
          <p:nvSpPr>
            <p:cNvPr id="59" name="Rectangle 46"/>
            <p:cNvSpPr>
              <a:spLocks noChangeArrowheads="1"/>
            </p:cNvSpPr>
            <p:nvPr/>
          </p:nvSpPr>
          <p:spPr bwMode="auto">
            <a:xfrm>
              <a:off x="9111129" y="31623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rdx</a:t>
              </a:r>
              <a:endParaRPr lang="en-US" sz="1800" dirty="0">
                <a:latin typeface="Courier New" panose="02070309020205020404" charset="0"/>
              </a:endParaRPr>
            </a:p>
          </p:txBody>
        </p:sp>
        <p:sp>
          <p:nvSpPr>
            <p:cNvPr id="60" name="Rectangle 52"/>
            <p:cNvSpPr>
              <a:spLocks noChangeArrowheads="1"/>
            </p:cNvSpPr>
            <p:nvPr/>
          </p:nvSpPr>
          <p:spPr bwMode="auto">
            <a:xfrm>
              <a:off x="9796929" y="17907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endParaRPr lang="en-US" sz="1800">
                <a:latin typeface="Courier New" panose="02070309020205020404" charset="0"/>
              </a:endParaRPr>
            </a:p>
          </p:txBody>
        </p:sp>
        <p:sp>
          <p:nvSpPr>
            <p:cNvPr id="61" name="Rectangle 53"/>
            <p:cNvSpPr>
              <a:spLocks noChangeArrowheads="1"/>
            </p:cNvSpPr>
            <p:nvPr/>
          </p:nvSpPr>
          <p:spPr bwMode="auto">
            <a:xfrm>
              <a:off x="9796929" y="22479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endParaRPr lang="en-US" sz="1800">
                <a:latin typeface="Courier New" panose="02070309020205020404" charset="0"/>
              </a:endParaRPr>
            </a:p>
          </p:txBody>
        </p:sp>
        <p:sp>
          <p:nvSpPr>
            <p:cNvPr id="62" name="Rectangle 54"/>
            <p:cNvSpPr>
              <a:spLocks noChangeArrowheads="1"/>
            </p:cNvSpPr>
            <p:nvPr/>
          </p:nvSpPr>
          <p:spPr bwMode="auto">
            <a:xfrm>
              <a:off x="9796929" y="27051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endParaRPr lang="en-US" sz="1800">
                <a:latin typeface="Courier New" panose="02070309020205020404" charset="0"/>
              </a:endParaRPr>
            </a:p>
          </p:txBody>
        </p:sp>
        <p:sp>
          <p:nvSpPr>
            <p:cNvPr id="63" name="Rectangle 55"/>
            <p:cNvSpPr>
              <a:spLocks noChangeArrowheads="1"/>
            </p:cNvSpPr>
            <p:nvPr/>
          </p:nvSpPr>
          <p:spPr bwMode="auto">
            <a:xfrm>
              <a:off x="9796929" y="31623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endParaRPr lang="en-US" sz="1800">
                <a:latin typeface="Courier New" panose="02070309020205020404" charset="0"/>
              </a:endParaRPr>
            </a:p>
          </p:txBody>
        </p:sp>
      </p:grpSp>
      <p:sp>
        <p:nvSpPr>
          <p:cNvPr id="160773" name="Text Box 5"/>
          <p:cNvSpPr txBox="1">
            <a:spLocks noChangeArrowheads="1"/>
          </p:cNvSpPr>
          <p:nvPr/>
        </p:nvSpPr>
        <p:spPr bwMode="auto">
          <a:xfrm>
            <a:off x="7090370" y="3794105"/>
            <a:ext cx="1279617"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Memory</a:t>
            </a:r>
          </a:p>
        </p:txBody>
      </p:sp>
      <p:sp>
        <p:nvSpPr>
          <p:cNvPr id="28" name="Text Box 5"/>
          <p:cNvSpPr txBox="1">
            <a:spLocks noChangeArrowheads="1"/>
          </p:cNvSpPr>
          <p:nvPr/>
        </p:nvSpPr>
        <p:spPr bwMode="auto">
          <a:xfrm>
            <a:off x="4516399" y="4179570"/>
            <a:ext cx="1351001"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Registers</a:t>
            </a:r>
          </a:p>
        </p:txBody>
      </p:sp>
      <p:cxnSp>
        <p:nvCxnSpPr>
          <p:cNvPr id="8" name="Straight Arrow Connector 2"/>
          <p:cNvCxnSpPr/>
          <p:nvPr/>
        </p:nvCxnSpPr>
        <p:spPr bwMode="auto">
          <a:xfrm flipV="1">
            <a:off x="5715000" y="4607545"/>
            <a:ext cx="1466178" cy="334025"/>
          </a:xfrm>
          <a:prstGeom prst="straightConnector1">
            <a:avLst/>
          </a:prstGeom>
          <a:noFill/>
          <a:ln w="25400" cap="flat" cmpd="sng" algn="ctr">
            <a:solidFill>
              <a:srgbClr val="CC0000"/>
            </a:solidFill>
            <a:prstDash val="solid"/>
            <a:round/>
            <a:headEnd type="none" w="med" len="med"/>
            <a:tailEnd type="arrow"/>
          </a:ln>
          <a:effectLst/>
        </p:spPr>
      </p:cxnSp>
      <p:cxnSp>
        <p:nvCxnSpPr>
          <p:cNvPr id="29" name="Straight Arrow Connector 28"/>
          <p:cNvCxnSpPr/>
          <p:nvPr/>
        </p:nvCxnSpPr>
        <p:spPr bwMode="auto">
          <a:xfrm>
            <a:off x="5715000" y="5398770"/>
            <a:ext cx="1451237" cy="685800"/>
          </a:xfrm>
          <a:prstGeom prst="straightConnector1">
            <a:avLst/>
          </a:prstGeom>
          <a:noFill/>
          <a:ln w="25400" cap="flat" cmpd="sng" algn="ctr">
            <a:solidFill>
              <a:srgbClr val="CC0000"/>
            </a:solidFill>
            <a:prstDash val="solid"/>
            <a:round/>
            <a:headEnd type="none" w="med" len="med"/>
            <a:tailEnd type="arrow"/>
          </a:ln>
          <a:effectLst/>
        </p:spPr>
      </p:cxnSp>
      <p:sp>
        <p:nvSpPr>
          <p:cNvPr id="9" name="Oval 4"/>
          <p:cNvSpPr/>
          <p:nvPr/>
        </p:nvSpPr>
        <p:spPr bwMode="auto">
          <a:xfrm>
            <a:off x="5638800" y="4865370"/>
            <a:ext cx="152400" cy="152400"/>
          </a:xfrm>
          <a:prstGeom prst="ellipse">
            <a:avLst/>
          </a:prstGeom>
          <a:solidFill>
            <a:srgbClr val="FF0000"/>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endParaRPr lang="en-US" dirty="0">
              <a:latin typeface="Calibri" panose="020F0502020204030204" charset="0"/>
            </a:endParaRPr>
          </a:p>
        </p:txBody>
      </p:sp>
      <p:sp>
        <p:nvSpPr>
          <p:cNvPr id="33" name="Oval 32"/>
          <p:cNvSpPr/>
          <p:nvPr/>
        </p:nvSpPr>
        <p:spPr bwMode="auto">
          <a:xfrm>
            <a:off x="5638800" y="5322570"/>
            <a:ext cx="152400" cy="152400"/>
          </a:xfrm>
          <a:prstGeom prst="ellipse">
            <a:avLst/>
          </a:prstGeom>
          <a:solidFill>
            <a:srgbClr val="FF0000"/>
          </a:solidFill>
          <a:ln w="25400" cap="flat" cmpd="sng" algn="ctr">
            <a:noFill/>
            <a:prstDash val="solid"/>
            <a:round/>
            <a:headEnd type="none" w="med" len="med"/>
            <a:tailEnd type="triangle" w="med" len="med"/>
          </a:ln>
          <a:effectLst/>
        </p:spPr>
        <p:txBody>
          <a:bodyPr vert="horz" wrap="square" lIns="91440" tIns="45720" rIns="91440" bIns="45720" numCol="1" rtlCol="0" anchor="ctr" anchorCtr="1" compatLnSpc="1"/>
          <a:lstStyle/>
          <a:p>
            <a:pPr marL="0" marR="0" indent="0" algn="ctr" defTabSz="914400" rtl="0" eaLnBrk="0" fontAlgn="base" latinLnBrk="0" hangingPunct="0">
              <a:lnSpc>
                <a:spcPct val="100000"/>
              </a:lnSpc>
              <a:spcBef>
                <a:spcPct val="0"/>
              </a:spcBef>
              <a:spcAft>
                <a:spcPct val="0"/>
              </a:spcAft>
              <a:buClrTx/>
              <a:buSzTx/>
              <a:buFontTx/>
              <a:buNone/>
            </a:pPr>
            <a:endParaRPr lang="en-US" dirty="0">
              <a:latin typeface="Calibri" panose="020F0502020204030204" charset="0"/>
            </a:endParaRPr>
          </a:p>
        </p:txBody>
      </p:sp>
      <p:grpSp>
        <p:nvGrpSpPr>
          <p:cNvPr id="10" name="Group 5"/>
          <p:cNvGrpSpPr/>
          <p:nvPr/>
        </p:nvGrpSpPr>
        <p:grpSpPr>
          <a:xfrm>
            <a:off x="7181178" y="4417045"/>
            <a:ext cx="1066800" cy="1905000"/>
            <a:chOff x="7181178" y="1456675"/>
            <a:chExt cx="1066800" cy="1905000"/>
          </a:xfrm>
        </p:grpSpPr>
        <p:sp>
          <p:nvSpPr>
            <p:cNvPr id="34" name="Rectangle 8"/>
            <p:cNvSpPr>
              <a:spLocks noChangeArrowheads="1"/>
            </p:cNvSpPr>
            <p:nvPr/>
          </p:nvSpPr>
          <p:spPr bwMode="auto">
            <a:xfrm>
              <a:off x="7181178" y="1456675"/>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nSpc>
                  <a:spcPct val="100000"/>
                </a:lnSpc>
              </a:pPr>
              <a:endParaRPr lang="en-US" sz="1800" dirty="0">
                <a:latin typeface="Courier New" panose="02070309020205020404" charset="0"/>
              </a:endParaRPr>
            </a:p>
          </p:txBody>
        </p:sp>
        <p:sp>
          <p:nvSpPr>
            <p:cNvPr id="35" name="Rectangle 9"/>
            <p:cNvSpPr>
              <a:spLocks noChangeArrowheads="1"/>
            </p:cNvSpPr>
            <p:nvPr/>
          </p:nvSpPr>
          <p:spPr bwMode="auto">
            <a:xfrm>
              <a:off x="7181178" y="1837675"/>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nSpc>
                  <a:spcPct val="100000"/>
                </a:lnSpc>
              </a:pPr>
              <a:endParaRPr lang="en-US" sz="1800" dirty="0">
                <a:latin typeface="Courier New" panose="02070309020205020404" charset="0"/>
              </a:endParaRPr>
            </a:p>
          </p:txBody>
        </p:sp>
        <p:sp>
          <p:nvSpPr>
            <p:cNvPr id="36" name="Rectangle 10"/>
            <p:cNvSpPr>
              <a:spLocks noChangeArrowheads="1"/>
            </p:cNvSpPr>
            <p:nvPr/>
          </p:nvSpPr>
          <p:spPr bwMode="auto">
            <a:xfrm>
              <a:off x="7181178" y="2218675"/>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nSpc>
                  <a:spcPct val="100000"/>
                </a:lnSpc>
              </a:pPr>
              <a:endParaRPr lang="en-US" sz="1800" dirty="0">
                <a:latin typeface="Calibri" panose="020F0502020204030204" charset="0"/>
              </a:endParaRPr>
            </a:p>
          </p:txBody>
        </p:sp>
        <p:sp>
          <p:nvSpPr>
            <p:cNvPr id="37" name="Rectangle 11"/>
            <p:cNvSpPr>
              <a:spLocks noChangeArrowheads="1"/>
            </p:cNvSpPr>
            <p:nvPr/>
          </p:nvSpPr>
          <p:spPr bwMode="auto">
            <a:xfrm>
              <a:off x="7181178" y="2599675"/>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nSpc>
                  <a:spcPct val="100000"/>
                </a:lnSpc>
              </a:pPr>
              <a:endParaRPr lang="en-US" sz="1800" dirty="0">
                <a:latin typeface="Calibri" panose="020F0502020204030204" charset="0"/>
              </a:endParaRPr>
            </a:p>
          </p:txBody>
        </p:sp>
        <p:sp>
          <p:nvSpPr>
            <p:cNvPr id="38" name="Rectangle 20"/>
            <p:cNvSpPr>
              <a:spLocks noChangeArrowheads="1"/>
            </p:cNvSpPr>
            <p:nvPr/>
          </p:nvSpPr>
          <p:spPr bwMode="auto">
            <a:xfrm>
              <a:off x="7181178" y="2980675"/>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nSpc>
                  <a:spcPct val="100000"/>
                </a:lnSpc>
              </a:pPr>
              <a:endParaRPr lang="en-US" sz="1800" dirty="0">
                <a:latin typeface="Calibri" panose="020F0502020204030204" charset="0"/>
              </a:endParaRPr>
            </a:p>
          </p:txBody>
        </p:sp>
      </p:grpSp>
      <p:sp>
        <p:nvSpPr>
          <p:cNvPr id="160774" name="Text Box 6"/>
          <p:cNvSpPr txBox="1">
            <a:spLocks noChangeArrowheads="1"/>
          </p:cNvSpPr>
          <p:nvPr/>
        </p:nvSpPr>
        <p:spPr bwMode="auto">
          <a:xfrm>
            <a:off x="533400" y="4501515"/>
            <a:ext cx="2438400" cy="1676400"/>
          </a:xfrm>
          <a:prstGeom prst="rect">
            <a:avLst/>
          </a:prstGeom>
          <a:noFill/>
          <a:ln w="25400">
            <a:solidFill>
              <a:schemeClr val="tx1"/>
            </a:solidFill>
            <a:miter lim="800000"/>
          </a:ln>
          <a:effectLst/>
        </p:spPr>
        <p:txBody>
          <a:bodyPr/>
          <a:lstStyle/>
          <a:p>
            <a:pPr algn="l">
              <a:lnSpc>
                <a:spcPct val="70000"/>
              </a:lnSpc>
              <a:spcBef>
                <a:spcPct val="50000"/>
              </a:spcBef>
              <a:tabLst>
                <a:tab pos="1206500" algn="l"/>
              </a:tabLst>
            </a:pPr>
            <a:r>
              <a:rPr lang="en-US" sz="1800" dirty="0">
                <a:latin typeface="Calibri" panose="020F0502020204030204" charset="0"/>
              </a:rPr>
              <a:t>Register	Value</a:t>
            </a:r>
          </a:p>
          <a:p>
            <a:pPr algn="l">
              <a:lnSpc>
                <a:spcPct val="70000"/>
              </a:lnSpc>
              <a:spcBef>
                <a:spcPct val="50000"/>
              </a:spcBef>
              <a:tabLst>
                <a:tab pos="1206500" algn="l"/>
              </a:tabLst>
            </a:pPr>
            <a:r>
              <a:rPr lang="en-US" sz="1800" dirty="0">
                <a:latin typeface="Courier New" panose="02070309020205020404" charset="0"/>
              </a:rPr>
              <a:t>%</a:t>
            </a:r>
            <a:r>
              <a:rPr lang="en-US" sz="1800" dirty="0" err="1">
                <a:latin typeface="Courier New" panose="02070309020205020404" charset="0"/>
              </a:rPr>
              <a:t>rdi</a:t>
            </a:r>
            <a:r>
              <a:rPr lang="en-US" sz="1800" dirty="0">
                <a:latin typeface="Courier New" panose="02070309020205020404" charset="0"/>
              </a:rPr>
              <a:t>	</a:t>
            </a:r>
            <a:r>
              <a:rPr lang="en-US" sz="1800" dirty="0" err="1">
                <a:latin typeface="Courier New" panose="02070309020205020404" charset="0"/>
              </a:rPr>
              <a:t>xp</a:t>
            </a:r>
            <a:endParaRPr lang="en-US" sz="1800" dirty="0">
              <a:latin typeface="Courier New" panose="02070309020205020404" charset="0"/>
            </a:endParaRPr>
          </a:p>
          <a:p>
            <a:pPr algn="l">
              <a:lnSpc>
                <a:spcPct val="70000"/>
              </a:lnSpc>
              <a:spcBef>
                <a:spcPct val="50000"/>
              </a:spcBef>
              <a:tabLst>
                <a:tab pos="1206500" algn="l"/>
              </a:tabLst>
            </a:pPr>
            <a:r>
              <a:rPr lang="en-US" sz="1800" dirty="0">
                <a:latin typeface="Courier New" panose="02070309020205020404" charset="0"/>
              </a:rPr>
              <a:t>%</a:t>
            </a:r>
            <a:r>
              <a:rPr lang="en-US" sz="1800" dirty="0" err="1">
                <a:latin typeface="Courier New" panose="02070309020205020404" charset="0"/>
              </a:rPr>
              <a:t>rsi</a:t>
            </a:r>
            <a:r>
              <a:rPr lang="en-US" sz="1800" dirty="0">
                <a:latin typeface="Courier New" panose="02070309020205020404" charset="0"/>
              </a:rPr>
              <a:t>	</a:t>
            </a:r>
            <a:r>
              <a:rPr lang="en-US" sz="1800" dirty="0" err="1">
                <a:latin typeface="Courier New" panose="02070309020205020404" charset="0"/>
              </a:rPr>
              <a:t>yp</a:t>
            </a:r>
            <a:endParaRPr lang="en-US" sz="1800" dirty="0">
              <a:latin typeface="Courier New" panose="02070309020205020404" charset="0"/>
            </a:endParaRPr>
          </a:p>
          <a:p>
            <a:pPr algn="l">
              <a:lnSpc>
                <a:spcPct val="70000"/>
              </a:lnSpc>
              <a:spcBef>
                <a:spcPct val="50000"/>
              </a:spcBef>
              <a:tabLst>
                <a:tab pos="1206500" algn="l"/>
              </a:tabLst>
            </a:pPr>
            <a:r>
              <a:rPr lang="en-US" sz="1800" dirty="0">
                <a:latin typeface="Courier New" panose="02070309020205020404" charset="0"/>
              </a:rPr>
              <a:t>%</a:t>
            </a:r>
            <a:r>
              <a:rPr lang="en-US" sz="1800" dirty="0" err="1">
                <a:latin typeface="Courier New" panose="02070309020205020404" charset="0"/>
              </a:rPr>
              <a:t>rax</a:t>
            </a:r>
            <a:r>
              <a:rPr lang="en-US" sz="1800" dirty="0">
                <a:latin typeface="Courier New" panose="02070309020205020404" charset="0"/>
              </a:rPr>
              <a:t>	t0</a:t>
            </a:r>
          </a:p>
          <a:p>
            <a:pPr algn="l">
              <a:lnSpc>
                <a:spcPct val="70000"/>
              </a:lnSpc>
              <a:spcBef>
                <a:spcPct val="50000"/>
              </a:spcBef>
              <a:tabLst>
                <a:tab pos="1206500" algn="l"/>
              </a:tabLst>
            </a:pPr>
            <a:r>
              <a:rPr lang="en-US" sz="1800" dirty="0">
                <a:latin typeface="Courier New" panose="02070309020205020404" charset="0"/>
              </a:rPr>
              <a:t>%</a:t>
            </a:r>
            <a:r>
              <a:rPr lang="en-US" sz="1800" dirty="0" err="1">
                <a:latin typeface="Courier New" panose="02070309020205020404" charset="0"/>
              </a:rPr>
              <a:t>rdx</a:t>
            </a:r>
            <a:r>
              <a:rPr lang="en-US" sz="1800" dirty="0">
                <a:latin typeface="Courier New" panose="02070309020205020404" charset="0"/>
              </a:rPr>
              <a:t>	t1</a:t>
            </a:r>
          </a:p>
        </p:txBody>
      </p:sp>
      <p:cxnSp>
        <p:nvCxnSpPr>
          <p:cNvPr id="12" name="直接箭头连接符 11"/>
          <p:cNvCxnSpPr/>
          <p:nvPr/>
        </p:nvCxnSpPr>
        <p:spPr>
          <a:xfrm flipH="1">
            <a:off x="2470785" y="2488565"/>
            <a:ext cx="2517775" cy="30607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p:nvPr/>
        </p:nvCxnSpPr>
        <p:spPr>
          <a:xfrm flipH="1">
            <a:off x="1747520" y="3308985"/>
            <a:ext cx="3338830" cy="250190"/>
          </a:xfrm>
          <a:prstGeom prst="straightConnector1">
            <a:avLst/>
          </a:prstGeom>
          <a:ln>
            <a:solidFill>
              <a:srgbClr val="ED7D3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p:nvPr/>
        </p:nvCxnSpPr>
        <p:spPr>
          <a:xfrm flipH="1">
            <a:off x="2470785" y="2772410"/>
            <a:ext cx="2601595" cy="361315"/>
          </a:xfrm>
          <a:prstGeom prst="straightConnector1">
            <a:avLst/>
          </a:prstGeom>
          <a:ln>
            <a:solidFill>
              <a:srgbClr val="F49D4A"/>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flipH="1">
            <a:off x="1747520" y="2975610"/>
            <a:ext cx="3282950" cy="333375"/>
          </a:xfrm>
          <a:prstGeom prst="straightConnector1">
            <a:avLst/>
          </a:prstGeom>
          <a:ln>
            <a:solidFill>
              <a:srgbClr val="53ABE2"/>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ppt_x</p:attrName>
                                        </p:attrNameLst>
                                      </p:cBhvr>
                                      <p:tavLst>
                                        <p:tav tm="0">
                                          <p:val>
                                            <p:strVal val="#ppt_x-#ppt_w*1.125000"/>
                                          </p:val>
                                        </p:tav>
                                        <p:tav tm="100000">
                                          <p:val>
                                            <p:strVal val="#ppt_x"/>
                                          </p:val>
                                        </p:tav>
                                      </p:tavLst>
                                    </p:anim>
                                    <p:animEffect transition="in" filter="wipe(right)">
                                      <p:cBhvr>
                                        <p:cTn id="8" dur="500"/>
                                        <p:tgtEl>
                                          <p:spTgt spid="2"/>
                                        </p:tgtEl>
                                      </p:cBhvr>
                                    </p:animEffect>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500"/>
                                        <p:tgtEl>
                                          <p:spTgt spid="24"/>
                                        </p:tgtEl>
                                      </p:cBhvr>
                                    </p:animEffect>
                                  </p:childTnLst>
                                </p:cTn>
                              </p:par>
                              <p:par>
                                <p:cTn id="13" presetID="22" presetClass="entr" presetSubtype="2"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500"/>
                                        <p:tgtEl>
                                          <p:spTgt spid="14"/>
                                        </p:tgtEl>
                                      </p:cBhvr>
                                    </p:animEffect>
                                  </p:childTnLst>
                                </p:cTn>
                              </p:par>
                              <p:par>
                                <p:cTn id="16" presetID="2" presetClass="entr" presetSubtype="4"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ppt_x"/>
                                          </p:val>
                                        </p:tav>
                                        <p:tav tm="100000">
                                          <p:val>
                                            <p:strVal val="#ppt_x"/>
                                          </p:val>
                                        </p:tav>
                                      </p:tavLst>
                                    </p:anim>
                                    <p:anim calcmode="lin" valueType="num">
                                      <p:cBhvr additive="base">
                                        <p:cTn id="31"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500" fill="hold"/>
                                        <p:tgtEl>
                                          <p:spTgt spid="18"/>
                                        </p:tgtEl>
                                        <p:attrNameLst>
                                          <p:attrName>ppt_x</p:attrName>
                                        </p:attrNameLst>
                                      </p:cBhvr>
                                      <p:tavLst>
                                        <p:tav tm="0">
                                          <p:val>
                                            <p:strVal val="#ppt_x"/>
                                          </p:val>
                                        </p:tav>
                                        <p:tav tm="100000">
                                          <p:val>
                                            <p:strVal val="#ppt_x"/>
                                          </p:val>
                                        </p:tav>
                                      </p:tavLst>
                                    </p:anim>
                                    <p:anim calcmode="lin" valueType="num">
                                      <p:cBhvr additive="base">
                                        <p:cTn id="37"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00" fill="hold"/>
                                        <p:tgtEl>
                                          <p:spTgt spid="13"/>
                                        </p:tgtEl>
                                        <p:attrNameLst>
                                          <p:attrName>ppt_x</p:attrName>
                                        </p:attrNameLst>
                                      </p:cBhvr>
                                      <p:tavLst>
                                        <p:tav tm="0">
                                          <p:val>
                                            <p:strVal val="#ppt_x"/>
                                          </p:val>
                                        </p:tav>
                                        <p:tav tm="100000">
                                          <p:val>
                                            <p:strVal val="#ppt_x"/>
                                          </p:val>
                                        </p:tav>
                                      </p:tavLst>
                                    </p:anim>
                                    <p:anim calcmode="lin" valueType="num">
                                      <p:cBhvr additive="base">
                                        <p:cTn id="4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bldLvl="0" animBg="1"/>
      <p:bldP spid="24" grpId="0" bldLvl="0" animBg="1"/>
      <p:bldP spid="11"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3" name="Rectangle 8"/>
          <p:cNvSpPr>
            <a:spLocks noChangeArrowheads="1"/>
          </p:cNvSpPr>
          <p:nvPr/>
        </p:nvSpPr>
        <p:spPr bwMode="auto">
          <a:xfrm>
            <a:off x="3872865" y="1661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123</a:t>
            </a:r>
          </a:p>
        </p:txBody>
      </p:sp>
      <p:sp>
        <p:nvSpPr>
          <p:cNvPr id="55" name="Rectangle 9"/>
          <p:cNvSpPr>
            <a:spLocks noChangeArrowheads="1"/>
          </p:cNvSpPr>
          <p:nvPr/>
        </p:nvSpPr>
        <p:spPr bwMode="auto">
          <a:xfrm>
            <a:off x="3872865" y="2042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ourier New" panose="02070309020205020404" charset="0"/>
            </a:endParaRPr>
          </a:p>
        </p:txBody>
      </p:sp>
      <p:sp>
        <p:nvSpPr>
          <p:cNvPr id="56" name="Rectangle 10"/>
          <p:cNvSpPr>
            <a:spLocks noChangeArrowheads="1"/>
          </p:cNvSpPr>
          <p:nvPr/>
        </p:nvSpPr>
        <p:spPr bwMode="auto">
          <a:xfrm>
            <a:off x="3872865" y="2423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7" name="Rectangle 11"/>
          <p:cNvSpPr>
            <a:spLocks noChangeArrowheads="1"/>
          </p:cNvSpPr>
          <p:nvPr/>
        </p:nvSpPr>
        <p:spPr bwMode="auto">
          <a:xfrm>
            <a:off x="3872865" y="2804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8" name="Rectangle 20"/>
          <p:cNvSpPr>
            <a:spLocks noChangeArrowheads="1"/>
          </p:cNvSpPr>
          <p:nvPr/>
        </p:nvSpPr>
        <p:spPr bwMode="auto">
          <a:xfrm>
            <a:off x="3872865" y="3185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latin typeface="Calibri" panose="020F0502020204030204" charset="0"/>
              </a:rPr>
              <a:t>456</a:t>
            </a:r>
          </a:p>
        </p:txBody>
      </p:sp>
      <p:grpSp>
        <p:nvGrpSpPr>
          <p:cNvPr id="64" name="Group 63"/>
          <p:cNvGrpSpPr/>
          <p:nvPr/>
        </p:nvGrpSpPr>
        <p:grpSpPr>
          <a:xfrm>
            <a:off x="457408" y="1814110"/>
            <a:ext cx="1752600" cy="1752600"/>
            <a:chOff x="9111129" y="1790700"/>
            <a:chExt cx="1752600" cy="1752600"/>
          </a:xfrm>
        </p:grpSpPr>
        <p:sp>
          <p:nvSpPr>
            <p:cNvPr id="65" name="Rectangle 43"/>
            <p:cNvSpPr>
              <a:spLocks noChangeArrowheads="1"/>
            </p:cNvSpPr>
            <p:nvPr/>
          </p:nvSpPr>
          <p:spPr bwMode="auto">
            <a:xfrm>
              <a:off x="9111129" y="17907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rdi</a:t>
              </a:r>
              <a:endParaRPr lang="en-US" sz="1800" dirty="0">
                <a:latin typeface="Courier New" panose="02070309020205020404" charset="0"/>
              </a:endParaRPr>
            </a:p>
          </p:txBody>
        </p:sp>
        <p:sp>
          <p:nvSpPr>
            <p:cNvPr id="66" name="Rectangle 44"/>
            <p:cNvSpPr>
              <a:spLocks noChangeArrowheads="1"/>
            </p:cNvSpPr>
            <p:nvPr/>
          </p:nvSpPr>
          <p:spPr bwMode="auto">
            <a:xfrm>
              <a:off x="9111129" y="22479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rsi</a:t>
              </a:r>
              <a:endParaRPr lang="en-US" sz="1800" dirty="0">
                <a:latin typeface="Courier New" panose="02070309020205020404" charset="0"/>
              </a:endParaRPr>
            </a:p>
          </p:txBody>
        </p:sp>
        <p:sp>
          <p:nvSpPr>
            <p:cNvPr id="67" name="Rectangle 45"/>
            <p:cNvSpPr>
              <a:spLocks noChangeArrowheads="1"/>
            </p:cNvSpPr>
            <p:nvPr/>
          </p:nvSpPr>
          <p:spPr bwMode="auto">
            <a:xfrm>
              <a:off x="9111129" y="27051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rax</a:t>
              </a:r>
              <a:endParaRPr lang="en-US" sz="1800" dirty="0">
                <a:latin typeface="Courier New" panose="02070309020205020404" charset="0"/>
              </a:endParaRPr>
            </a:p>
          </p:txBody>
        </p:sp>
        <p:sp>
          <p:nvSpPr>
            <p:cNvPr id="68" name="Rectangle 46"/>
            <p:cNvSpPr>
              <a:spLocks noChangeArrowheads="1"/>
            </p:cNvSpPr>
            <p:nvPr/>
          </p:nvSpPr>
          <p:spPr bwMode="auto">
            <a:xfrm>
              <a:off x="9111129" y="31623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rdx</a:t>
              </a:r>
              <a:endParaRPr lang="en-US" sz="1800" dirty="0">
                <a:latin typeface="Courier New" panose="02070309020205020404" charset="0"/>
              </a:endParaRPr>
            </a:p>
          </p:txBody>
        </p:sp>
        <p:sp>
          <p:nvSpPr>
            <p:cNvPr id="69" name="Rectangle 52"/>
            <p:cNvSpPr>
              <a:spLocks noChangeArrowheads="1"/>
            </p:cNvSpPr>
            <p:nvPr/>
          </p:nvSpPr>
          <p:spPr bwMode="auto">
            <a:xfrm>
              <a:off x="9796929" y="17907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0x120</a:t>
              </a:r>
            </a:p>
          </p:txBody>
        </p:sp>
        <p:sp>
          <p:nvSpPr>
            <p:cNvPr id="70" name="Rectangle 53"/>
            <p:cNvSpPr>
              <a:spLocks noChangeArrowheads="1"/>
            </p:cNvSpPr>
            <p:nvPr/>
          </p:nvSpPr>
          <p:spPr bwMode="auto">
            <a:xfrm>
              <a:off x="9796929" y="22479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0x100</a:t>
              </a:r>
            </a:p>
          </p:txBody>
        </p:sp>
        <p:sp>
          <p:nvSpPr>
            <p:cNvPr id="71" name="Rectangle 54"/>
            <p:cNvSpPr>
              <a:spLocks noChangeArrowheads="1"/>
            </p:cNvSpPr>
            <p:nvPr/>
          </p:nvSpPr>
          <p:spPr bwMode="auto">
            <a:xfrm>
              <a:off x="9796929" y="27051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endParaRPr lang="en-US" sz="1800">
                <a:latin typeface="Courier New" panose="02070309020205020404" charset="0"/>
              </a:endParaRPr>
            </a:p>
          </p:txBody>
        </p:sp>
        <p:sp>
          <p:nvSpPr>
            <p:cNvPr id="72" name="Rectangle 55"/>
            <p:cNvSpPr>
              <a:spLocks noChangeArrowheads="1"/>
            </p:cNvSpPr>
            <p:nvPr/>
          </p:nvSpPr>
          <p:spPr bwMode="auto">
            <a:xfrm>
              <a:off x="9796929" y="31623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endParaRPr lang="en-US" sz="1800">
                <a:latin typeface="Courier New" panose="02070309020205020404" charset="0"/>
              </a:endParaRPr>
            </a:p>
          </p:txBody>
        </p:sp>
      </p:grpSp>
      <p:sp>
        <p:nvSpPr>
          <p:cNvPr id="73" name="Text Box 5"/>
          <p:cNvSpPr txBox="1">
            <a:spLocks noChangeArrowheads="1"/>
          </p:cNvSpPr>
          <p:nvPr/>
        </p:nvSpPr>
        <p:spPr bwMode="auto">
          <a:xfrm>
            <a:off x="641985" y="1252322"/>
            <a:ext cx="1351001"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Registers</a:t>
            </a:r>
          </a:p>
        </p:txBody>
      </p:sp>
      <p:sp>
        <p:nvSpPr>
          <p:cNvPr id="76" name="Text Box 5"/>
          <p:cNvSpPr txBox="1">
            <a:spLocks noChangeArrowheads="1"/>
          </p:cNvSpPr>
          <p:nvPr/>
        </p:nvSpPr>
        <p:spPr bwMode="auto">
          <a:xfrm>
            <a:off x="3736248" y="1032633"/>
            <a:ext cx="1279617"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Memory</a:t>
            </a:r>
          </a:p>
        </p:txBody>
      </p:sp>
      <p:grpSp>
        <p:nvGrpSpPr>
          <p:cNvPr id="6" name="Group 5"/>
          <p:cNvGrpSpPr/>
          <p:nvPr/>
        </p:nvGrpSpPr>
        <p:grpSpPr>
          <a:xfrm>
            <a:off x="5015865" y="1414046"/>
            <a:ext cx="1219200" cy="2190764"/>
            <a:chOff x="6096000" y="1414046"/>
            <a:chExt cx="1219200" cy="2190764"/>
          </a:xfrm>
        </p:grpSpPr>
        <p:sp>
          <p:nvSpPr>
            <p:cNvPr id="59" name="Text Box 34"/>
            <p:cNvSpPr txBox="1">
              <a:spLocks noChangeArrowheads="1"/>
            </p:cNvSpPr>
            <p:nvPr/>
          </p:nvSpPr>
          <p:spPr bwMode="auto">
            <a:xfrm>
              <a:off x="6096000" y="165694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0x120 </a:t>
              </a:r>
            </a:p>
          </p:txBody>
        </p:sp>
        <p:sp>
          <p:nvSpPr>
            <p:cNvPr id="60" name="Text Box 35"/>
            <p:cNvSpPr txBox="1">
              <a:spLocks noChangeArrowheads="1"/>
            </p:cNvSpPr>
            <p:nvPr/>
          </p:nvSpPr>
          <p:spPr bwMode="auto">
            <a:xfrm>
              <a:off x="6096000" y="2052235"/>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0x118</a:t>
              </a:r>
            </a:p>
          </p:txBody>
        </p:sp>
        <p:sp>
          <p:nvSpPr>
            <p:cNvPr id="61" name="Text Box 36"/>
            <p:cNvSpPr txBox="1">
              <a:spLocks noChangeArrowheads="1"/>
            </p:cNvSpPr>
            <p:nvPr/>
          </p:nvSpPr>
          <p:spPr bwMode="auto">
            <a:xfrm>
              <a:off x="6096000" y="2447523"/>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0x110 </a:t>
              </a:r>
            </a:p>
          </p:txBody>
        </p:sp>
        <p:sp>
          <p:nvSpPr>
            <p:cNvPr id="62" name="Text Box 37"/>
            <p:cNvSpPr txBox="1">
              <a:spLocks noChangeArrowheads="1"/>
            </p:cNvSpPr>
            <p:nvPr/>
          </p:nvSpPr>
          <p:spPr bwMode="auto">
            <a:xfrm>
              <a:off x="6096000" y="2842810"/>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0x108 </a:t>
              </a:r>
            </a:p>
          </p:txBody>
        </p:sp>
        <p:sp>
          <p:nvSpPr>
            <p:cNvPr id="63" name="Text Box 38"/>
            <p:cNvSpPr txBox="1">
              <a:spLocks noChangeArrowheads="1"/>
            </p:cNvSpPr>
            <p:nvPr/>
          </p:nvSpPr>
          <p:spPr bwMode="auto">
            <a:xfrm>
              <a:off x="6096000" y="323809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0x100 </a:t>
              </a:r>
            </a:p>
          </p:txBody>
        </p:sp>
        <p:sp>
          <p:nvSpPr>
            <p:cNvPr id="81" name="Text Box 34"/>
            <p:cNvSpPr txBox="1">
              <a:spLocks noChangeArrowheads="1"/>
            </p:cNvSpPr>
            <p:nvPr/>
          </p:nvSpPr>
          <p:spPr bwMode="auto">
            <a:xfrm>
              <a:off x="6096000" y="1414046"/>
              <a:ext cx="1219200" cy="338554"/>
            </a:xfrm>
            <a:prstGeom prst="rect">
              <a:avLst/>
            </a:prstGeom>
            <a:noFill/>
            <a:ln w="25400">
              <a:noFill/>
              <a:miter lim="800000"/>
            </a:ln>
            <a:effectLst/>
          </p:spPr>
          <p:txBody>
            <a:bodyPr>
              <a:spAutoFit/>
            </a:bodyPr>
            <a:lstStyle/>
            <a:p>
              <a:pPr algn="l">
                <a:lnSpc>
                  <a:spcPct val="100000"/>
                </a:lnSpc>
              </a:pPr>
              <a:r>
                <a:rPr lang="en-US" sz="1600" dirty="0">
                  <a:latin typeface="Calibri" panose="020F0502020204030204"/>
                  <a:cs typeface="Calibri" panose="020F0502020204030204"/>
                </a:rPr>
                <a:t>Address</a:t>
              </a:r>
            </a:p>
          </p:txBody>
        </p:sp>
      </p:grpSp>
      <p:sp>
        <p:nvSpPr>
          <p:cNvPr id="2" name="Rectangle 4"/>
          <p:cNvSpPr>
            <a:spLocks noChangeArrowheads="1"/>
          </p:cNvSpPr>
          <p:nvPr/>
        </p:nvSpPr>
        <p:spPr bwMode="auto">
          <a:xfrm>
            <a:off x="252095" y="4086860"/>
            <a:ext cx="5867400" cy="1751762"/>
          </a:xfrm>
          <a:prstGeom prst="rect">
            <a:avLst/>
          </a:prstGeom>
          <a:noFill/>
          <a:ln w="12700">
            <a:noFill/>
            <a:miter lim="800000"/>
          </a:ln>
          <a:effectLst/>
        </p:spPr>
        <p:txBody>
          <a:bodyPr wrap="square" lIns="90487" tIns="44450" rIns="90487" bIns="44450">
            <a:spAutoFit/>
          </a:bodyPr>
          <a:lstStyle/>
          <a:p>
            <a:pPr algn="l">
              <a:lnSpc>
                <a:spcPct val="100000"/>
              </a:lnSpc>
              <a:tabLst>
                <a:tab pos="347345" algn="l"/>
                <a:tab pos="1312545" algn="l"/>
              </a:tabLst>
            </a:pPr>
            <a:r>
              <a:rPr lang="en-US" sz="1800" dirty="0">
                <a:latin typeface="Courier New" panose="02070309020205020404" charset="0"/>
              </a:rPr>
              <a:t>swap:</a:t>
            </a:r>
          </a:p>
          <a:p>
            <a:pPr>
              <a:tabLst>
                <a:tab pos="347345" algn="l"/>
                <a:tab pos="1312545" algn="l"/>
              </a:tabLst>
            </a:pPr>
            <a:r>
              <a:rPr lang="en-US" sz="1800" dirty="0">
                <a:latin typeface="Courier New" panose="02070309020205020404" charset="0"/>
              </a:rPr>
              <a:t>  </a:t>
            </a:r>
            <a:r>
              <a:rPr lang="ro-RO" sz="1800" dirty="0">
                <a:latin typeface="Courier New" panose="02070309020205020404" charset="0"/>
              </a:rPr>
              <a:t> movq    (%rdi), %rax  # t0 = *xp  </a:t>
            </a:r>
          </a:p>
          <a:p>
            <a:pPr>
              <a:tabLst>
                <a:tab pos="347345" algn="l"/>
                <a:tab pos="1312545" algn="l"/>
              </a:tabLst>
            </a:pPr>
            <a:r>
              <a:rPr lang="ro-RO" sz="1800" dirty="0">
                <a:latin typeface="Courier New" panose="02070309020205020404" charset="0"/>
              </a:rPr>
              <a:t>   movq    (%rsi), %rdx  # t1 = *yp</a:t>
            </a:r>
          </a:p>
          <a:p>
            <a:pPr>
              <a:tabLst>
                <a:tab pos="347345" algn="l"/>
                <a:tab pos="1312545" algn="l"/>
              </a:tabLst>
            </a:pPr>
            <a:r>
              <a:rPr lang="ro-RO" sz="1800" dirty="0">
                <a:latin typeface="Courier New" panose="02070309020205020404" charset="0"/>
              </a:rPr>
              <a:t>   movq    %rdx, (%rdi)  # *xp = t1</a:t>
            </a:r>
          </a:p>
          <a:p>
            <a:pPr>
              <a:tabLst>
                <a:tab pos="347345" algn="l"/>
                <a:tab pos="1312545" algn="l"/>
              </a:tabLst>
            </a:pPr>
            <a:r>
              <a:rPr lang="ro-RO" sz="1800" dirty="0">
                <a:latin typeface="Courier New" panose="02070309020205020404" charset="0"/>
              </a:rPr>
              <a:t>   movq    %rax, (%rsi)  # *yp = t0</a:t>
            </a:r>
          </a:p>
          <a:p>
            <a:pPr>
              <a:tabLst>
                <a:tab pos="347345" algn="l"/>
                <a:tab pos="1312545" algn="l"/>
              </a:tabLst>
            </a:pPr>
            <a:r>
              <a:rPr lang="ro-RO" sz="1800" dirty="0">
                <a:latin typeface="Courier New" panose="02070309020205020404" charset="0"/>
              </a:rPr>
              <a:t>   ret</a:t>
            </a:r>
            <a:endParaRPr lang="en-US" sz="1800" dirty="0">
              <a:latin typeface="Courier New" panose="020703090202050204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3" name="Rectangle 8"/>
          <p:cNvSpPr>
            <a:spLocks noChangeArrowheads="1"/>
          </p:cNvSpPr>
          <p:nvPr/>
        </p:nvSpPr>
        <p:spPr bwMode="auto">
          <a:xfrm>
            <a:off x="3872865" y="1661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123</a:t>
            </a:r>
          </a:p>
        </p:txBody>
      </p:sp>
      <p:sp>
        <p:nvSpPr>
          <p:cNvPr id="55" name="Rectangle 9"/>
          <p:cNvSpPr>
            <a:spLocks noChangeArrowheads="1"/>
          </p:cNvSpPr>
          <p:nvPr/>
        </p:nvSpPr>
        <p:spPr bwMode="auto">
          <a:xfrm>
            <a:off x="3872865" y="2042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ourier New" panose="02070309020205020404" charset="0"/>
            </a:endParaRPr>
          </a:p>
        </p:txBody>
      </p:sp>
      <p:sp>
        <p:nvSpPr>
          <p:cNvPr id="56" name="Rectangle 10"/>
          <p:cNvSpPr>
            <a:spLocks noChangeArrowheads="1"/>
          </p:cNvSpPr>
          <p:nvPr/>
        </p:nvSpPr>
        <p:spPr bwMode="auto">
          <a:xfrm>
            <a:off x="3872865" y="2423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7" name="Rectangle 11"/>
          <p:cNvSpPr>
            <a:spLocks noChangeArrowheads="1"/>
          </p:cNvSpPr>
          <p:nvPr/>
        </p:nvSpPr>
        <p:spPr bwMode="auto">
          <a:xfrm>
            <a:off x="3872865" y="2804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8" name="Rectangle 20"/>
          <p:cNvSpPr>
            <a:spLocks noChangeArrowheads="1"/>
          </p:cNvSpPr>
          <p:nvPr/>
        </p:nvSpPr>
        <p:spPr bwMode="auto">
          <a:xfrm>
            <a:off x="3872865" y="3185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latin typeface="Calibri" panose="020F0502020204030204" charset="0"/>
              </a:rPr>
              <a:t>456</a:t>
            </a:r>
          </a:p>
        </p:txBody>
      </p:sp>
      <p:grpSp>
        <p:nvGrpSpPr>
          <p:cNvPr id="64" name="Group 63"/>
          <p:cNvGrpSpPr/>
          <p:nvPr/>
        </p:nvGrpSpPr>
        <p:grpSpPr>
          <a:xfrm>
            <a:off x="457408" y="1814110"/>
            <a:ext cx="1752600" cy="1752600"/>
            <a:chOff x="9111129" y="1790700"/>
            <a:chExt cx="1752600" cy="1752600"/>
          </a:xfrm>
        </p:grpSpPr>
        <p:sp>
          <p:nvSpPr>
            <p:cNvPr id="65" name="Rectangle 43"/>
            <p:cNvSpPr>
              <a:spLocks noChangeArrowheads="1"/>
            </p:cNvSpPr>
            <p:nvPr/>
          </p:nvSpPr>
          <p:spPr bwMode="auto">
            <a:xfrm>
              <a:off x="9111129" y="17907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rdi</a:t>
              </a:r>
              <a:endParaRPr lang="en-US" sz="1800" dirty="0">
                <a:latin typeface="Courier New" panose="02070309020205020404" charset="0"/>
              </a:endParaRPr>
            </a:p>
          </p:txBody>
        </p:sp>
        <p:sp>
          <p:nvSpPr>
            <p:cNvPr id="66" name="Rectangle 44"/>
            <p:cNvSpPr>
              <a:spLocks noChangeArrowheads="1"/>
            </p:cNvSpPr>
            <p:nvPr/>
          </p:nvSpPr>
          <p:spPr bwMode="auto">
            <a:xfrm>
              <a:off x="9111129" y="22479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rsi</a:t>
              </a:r>
              <a:endParaRPr lang="en-US" sz="1800" dirty="0">
                <a:latin typeface="Courier New" panose="02070309020205020404" charset="0"/>
              </a:endParaRPr>
            </a:p>
          </p:txBody>
        </p:sp>
        <p:sp>
          <p:nvSpPr>
            <p:cNvPr id="67" name="Rectangle 45"/>
            <p:cNvSpPr>
              <a:spLocks noChangeArrowheads="1"/>
            </p:cNvSpPr>
            <p:nvPr/>
          </p:nvSpPr>
          <p:spPr bwMode="auto">
            <a:xfrm>
              <a:off x="9111129" y="27051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rax</a:t>
              </a:r>
              <a:endParaRPr lang="en-US" sz="1800" dirty="0">
                <a:latin typeface="Courier New" panose="02070309020205020404" charset="0"/>
              </a:endParaRPr>
            </a:p>
          </p:txBody>
        </p:sp>
        <p:sp>
          <p:nvSpPr>
            <p:cNvPr id="68" name="Rectangle 46"/>
            <p:cNvSpPr>
              <a:spLocks noChangeArrowheads="1"/>
            </p:cNvSpPr>
            <p:nvPr/>
          </p:nvSpPr>
          <p:spPr bwMode="auto">
            <a:xfrm>
              <a:off x="9111129" y="31623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rdx</a:t>
              </a:r>
              <a:endParaRPr lang="en-US" sz="1800" dirty="0">
                <a:latin typeface="Courier New" panose="02070309020205020404" charset="0"/>
              </a:endParaRPr>
            </a:p>
          </p:txBody>
        </p:sp>
        <p:sp>
          <p:nvSpPr>
            <p:cNvPr id="69" name="Rectangle 52"/>
            <p:cNvSpPr>
              <a:spLocks noChangeArrowheads="1"/>
            </p:cNvSpPr>
            <p:nvPr/>
          </p:nvSpPr>
          <p:spPr bwMode="auto">
            <a:xfrm>
              <a:off x="9796929" y="17907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0x120</a:t>
              </a:r>
            </a:p>
          </p:txBody>
        </p:sp>
        <p:sp>
          <p:nvSpPr>
            <p:cNvPr id="70" name="Rectangle 53"/>
            <p:cNvSpPr>
              <a:spLocks noChangeArrowheads="1"/>
            </p:cNvSpPr>
            <p:nvPr/>
          </p:nvSpPr>
          <p:spPr bwMode="auto">
            <a:xfrm>
              <a:off x="9796929" y="22479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0x100</a:t>
              </a:r>
            </a:p>
          </p:txBody>
        </p:sp>
        <p:sp>
          <p:nvSpPr>
            <p:cNvPr id="71" name="Rectangle 54"/>
            <p:cNvSpPr>
              <a:spLocks noChangeArrowheads="1"/>
            </p:cNvSpPr>
            <p:nvPr/>
          </p:nvSpPr>
          <p:spPr bwMode="auto">
            <a:xfrm>
              <a:off x="9796929" y="27051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a:solidFill>
                    <a:srgbClr val="53ABE2"/>
                  </a:solidFill>
                  <a:latin typeface="Courier New" panose="02070309020205020404" charset="0"/>
                </a:rPr>
                <a:t>123</a:t>
              </a:r>
            </a:p>
          </p:txBody>
        </p:sp>
        <p:sp>
          <p:nvSpPr>
            <p:cNvPr id="72" name="Rectangle 55"/>
            <p:cNvSpPr>
              <a:spLocks noChangeArrowheads="1"/>
            </p:cNvSpPr>
            <p:nvPr/>
          </p:nvSpPr>
          <p:spPr bwMode="auto">
            <a:xfrm>
              <a:off x="9796929" y="31623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endParaRPr lang="en-US" sz="1800">
                <a:latin typeface="Courier New" panose="02070309020205020404" charset="0"/>
              </a:endParaRPr>
            </a:p>
          </p:txBody>
        </p:sp>
      </p:grpSp>
      <p:sp>
        <p:nvSpPr>
          <p:cNvPr id="73" name="Text Box 5"/>
          <p:cNvSpPr txBox="1">
            <a:spLocks noChangeArrowheads="1"/>
          </p:cNvSpPr>
          <p:nvPr/>
        </p:nvSpPr>
        <p:spPr bwMode="auto">
          <a:xfrm>
            <a:off x="641985" y="1252322"/>
            <a:ext cx="1351001"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Registers</a:t>
            </a:r>
          </a:p>
        </p:txBody>
      </p:sp>
      <p:sp>
        <p:nvSpPr>
          <p:cNvPr id="76" name="Text Box 5"/>
          <p:cNvSpPr txBox="1">
            <a:spLocks noChangeArrowheads="1"/>
          </p:cNvSpPr>
          <p:nvPr/>
        </p:nvSpPr>
        <p:spPr bwMode="auto">
          <a:xfrm>
            <a:off x="3736248" y="1032633"/>
            <a:ext cx="1279617"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Memory</a:t>
            </a:r>
          </a:p>
        </p:txBody>
      </p:sp>
      <p:grpSp>
        <p:nvGrpSpPr>
          <p:cNvPr id="6" name="Group 5"/>
          <p:cNvGrpSpPr/>
          <p:nvPr/>
        </p:nvGrpSpPr>
        <p:grpSpPr>
          <a:xfrm>
            <a:off x="5015865" y="1414046"/>
            <a:ext cx="1219200" cy="2190764"/>
            <a:chOff x="6096000" y="1414046"/>
            <a:chExt cx="1219200" cy="2190764"/>
          </a:xfrm>
        </p:grpSpPr>
        <p:sp>
          <p:nvSpPr>
            <p:cNvPr id="59" name="Text Box 34"/>
            <p:cNvSpPr txBox="1">
              <a:spLocks noChangeArrowheads="1"/>
            </p:cNvSpPr>
            <p:nvPr/>
          </p:nvSpPr>
          <p:spPr bwMode="auto">
            <a:xfrm>
              <a:off x="6096000" y="165694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0x120 </a:t>
              </a:r>
            </a:p>
          </p:txBody>
        </p:sp>
        <p:sp>
          <p:nvSpPr>
            <p:cNvPr id="60" name="Text Box 35"/>
            <p:cNvSpPr txBox="1">
              <a:spLocks noChangeArrowheads="1"/>
            </p:cNvSpPr>
            <p:nvPr/>
          </p:nvSpPr>
          <p:spPr bwMode="auto">
            <a:xfrm>
              <a:off x="6096000" y="2052235"/>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0x118</a:t>
              </a:r>
            </a:p>
          </p:txBody>
        </p:sp>
        <p:sp>
          <p:nvSpPr>
            <p:cNvPr id="61" name="Text Box 36"/>
            <p:cNvSpPr txBox="1">
              <a:spLocks noChangeArrowheads="1"/>
            </p:cNvSpPr>
            <p:nvPr/>
          </p:nvSpPr>
          <p:spPr bwMode="auto">
            <a:xfrm>
              <a:off x="6096000" y="2447523"/>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0x110 </a:t>
              </a:r>
            </a:p>
          </p:txBody>
        </p:sp>
        <p:sp>
          <p:nvSpPr>
            <p:cNvPr id="62" name="Text Box 37"/>
            <p:cNvSpPr txBox="1">
              <a:spLocks noChangeArrowheads="1"/>
            </p:cNvSpPr>
            <p:nvPr/>
          </p:nvSpPr>
          <p:spPr bwMode="auto">
            <a:xfrm>
              <a:off x="6096000" y="2842810"/>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0x108 </a:t>
              </a:r>
            </a:p>
          </p:txBody>
        </p:sp>
        <p:sp>
          <p:nvSpPr>
            <p:cNvPr id="63" name="Text Box 38"/>
            <p:cNvSpPr txBox="1">
              <a:spLocks noChangeArrowheads="1"/>
            </p:cNvSpPr>
            <p:nvPr/>
          </p:nvSpPr>
          <p:spPr bwMode="auto">
            <a:xfrm>
              <a:off x="6096000" y="323809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0x100 </a:t>
              </a:r>
            </a:p>
          </p:txBody>
        </p:sp>
        <p:sp>
          <p:nvSpPr>
            <p:cNvPr id="81" name="Text Box 34"/>
            <p:cNvSpPr txBox="1">
              <a:spLocks noChangeArrowheads="1"/>
            </p:cNvSpPr>
            <p:nvPr/>
          </p:nvSpPr>
          <p:spPr bwMode="auto">
            <a:xfrm>
              <a:off x="6096000" y="1414046"/>
              <a:ext cx="1219200" cy="338554"/>
            </a:xfrm>
            <a:prstGeom prst="rect">
              <a:avLst/>
            </a:prstGeom>
            <a:noFill/>
            <a:ln w="25400">
              <a:noFill/>
              <a:miter lim="800000"/>
            </a:ln>
            <a:effectLst/>
          </p:spPr>
          <p:txBody>
            <a:bodyPr>
              <a:spAutoFit/>
            </a:bodyPr>
            <a:lstStyle/>
            <a:p>
              <a:pPr algn="l">
                <a:lnSpc>
                  <a:spcPct val="100000"/>
                </a:lnSpc>
              </a:pPr>
              <a:r>
                <a:rPr lang="en-US" sz="1600" dirty="0">
                  <a:latin typeface="Calibri" panose="020F0502020204030204"/>
                  <a:cs typeface="Calibri" panose="020F0502020204030204"/>
                </a:rPr>
                <a:t>Address</a:t>
              </a:r>
            </a:p>
          </p:txBody>
        </p:sp>
      </p:grpSp>
      <p:sp>
        <p:nvSpPr>
          <p:cNvPr id="2" name="Rectangle 4"/>
          <p:cNvSpPr>
            <a:spLocks noChangeArrowheads="1"/>
          </p:cNvSpPr>
          <p:nvPr/>
        </p:nvSpPr>
        <p:spPr bwMode="auto">
          <a:xfrm>
            <a:off x="252095" y="4086860"/>
            <a:ext cx="5867400" cy="1751762"/>
          </a:xfrm>
          <a:prstGeom prst="rect">
            <a:avLst/>
          </a:prstGeom>
          <a:noFill/>
          <a:ln w="12700">
            <a:noFill/>
            <a:miter lim="800000"/>
          </a:ln>
          <a:effectLst/>
        </p:spPr>
        <p:txBody>
          <a:bodyPr wrap="square" lIns="90487" tIns="44450" rIns="90487" bIns="44450">
            <a:spAutoFit/>
          </a:bodyPr>
          <a:lstStyle/>
          <a:p>
            <a:pPr algn="l">
              <a:lnSpc>
                <a:spcPct val="100000"/>
              </a:lnSpc>
              <a:tabLst>
                <a:tab pos="347345" algn="l"/>
                <a:tab pos="1312545" algn="l"/>
              </a:tabLst>
            </a:pPr>
            <a:r>
              <a:rPr lang="en-US" sz="1800" dirty="0">
                <a:latin typeface="Courier New" panose="02070309020205020404" charset="0"/>
              </a:rPr>
              <a:t>swap:</a:t>
            </a:r>
          </a:p>
          <a:p>
            <a:pPr>
              <a:tabLst>
                <a:tab pos="347345" algn="l"/>
                <a:tab pos="1312545" algn="l"/>
              </a:tabLst>
            </a:pPr>
            <a:r>
              <a:rPr lang="en-US" sz="1800" dirty="0">
                <a:latin typeface="Courier New" panose="02070309020205020404" charset="0"/>
              </a:rPr>
              <a:t>  </a:t>
            </a:r>
            <a:r>
              <a:rPr lang="ro-RO" sz="1800" dirty="0">
                <a:latin typeface="Courier New" panose="02070309020205020404" charset="0"/>
              </a:rPr>
              <a:t> </a:t>
            </a:r>
            <a:r>
              <a:rPr lang="ro-RO" sz="1800" dirty="0">
                <a:solidFill>
                  <a:srgbClr val="53ABE2"/>
                </a:solidFill>
                <a:latin typeface="Courier New" panose="02070309020205020404" charset="0"/>
              </a:rPr>
              <a:t>movq    (%rdi), %rax  # t0 = *xp </a:t>
            </a:r>
            <a:r>
              <a:rPr lang="ro-RO" sz="1800" dirty="0">
                <a:latin typeface="Courier New" panose="02070309020205020404" charset="0"/>
              </a:rPr>
              <a:t> </a:t>
            </a:r>
          </a:p>
          <a:p>
            <a:pPr>
              <a:tabLst>
                <a:tab pos="347345" algn="l"/>
                <a:tab pos="1312545" algn="l"/>
              </a:tabLst>
            </a:pPr>
            <a:r>
              <a:rPr lang="ro-RO" sz="1800" dirty="0">
                <a:latin typeface="Courier New" panose="02070309020205020404" charset="0"/>
              </a:rPr>
              <a:t>   movq    (%rsi), %rdx  # t1 = *yp</a:t>
            </a:r>
          </a:p>
          <a:p>
            <a:pPr>
              <a:tabLst>
                <a:tab pos="347345" algn="l"/>
                <a:tab pos="1312545" algn="l"/>
              </a:tabLst>
            </a:pPr>
            <a:r>
              <a:rPr lang="ro-RO" sz="1800" dirty="0">
                <a:latin typeface="Courier New" panose="02070309020205020404" charset="0"/>
              </a:rPr>
              <a:t>   movq    %rdx, (%rdi)  # *xp = t1</a:t>
            </a:r>
          </a:p>
          <a:p>
            <a:pPr>
              <a:tabLst>
                <a:tab pos="347345" algn="l"/>
                <a:tab pos="1312545" algn="l"/>
              </a:tabLst>
            </a:pPr>
            <a:r>
              <a:rPr lang="ro-RO" sz="1800" dirty="0">
                <a:latin typeface="Courier New" panose="02070309020205020404" charset="0"/>
              </a:rPr>
              <a:t>   movq    %rax, (%rsi)  # *yp = t0</a:t>
            </a:r>
          </a:p>
          <a:p>
            <a:pPr>
              <a:tabLst>
                <a:tab pos="347345" algn="l"/>
                <a:tab pos="1312545" algn="l"/>
              </a:tabLst>
            </a:pPr>
            <a:r>
              <a:rPr lang="ro-RO" sz="1800" dirty="0">
                <a:latin typeface="Courier New" panose="02070309020205020404" charset="0"/>
              </a:rPr>
              <a:t>   ret</a:t>
            </a:r>
            <a:endParaRPr lang="en-US" sz="1800" dirty="0">
              <a:latin typeface="Courier New" panose="02070309020205020404" charset="0"/>
            </a:endParaRPr>
          </a:p>
        </p:txBody>
      </p:sp>
      <p:cxnSp>
        <p:nvCxnSpPr>
          <p:cNvPr id="3" name="直接箭头连接符 2"/>
          <p:cNvCxnSpPr>
            <a:stCxn id="53" idx="1"/>
            <a:endCxn id="71" idx="3"/>
          </p:cNvCxnSpPr>
          <p:nvPr/>
        </p:nvCxnSpPr>
        <p:spPr>
          <a:xfrm flipH="1">
            <a:off x="2209800" y="1852295"/>
            <a:ext cx="1663065" cy="1066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3" name="Rectangle 8"/>
          <p:cNvSpPr>
            <a:spLocks noChangeArrowheads="1"/>
          </p:cNvSpPr>
          <p:nvPr/>
        </p:nvSpPr>
        <p:spPr bwMode="auto">
          <a:xfrm>
            <a:off x="3872865" y="1661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123</a:t>
            </a:r>
          </a:p>
        </p:txBody>
      </p:sp>
      <p:sp>
        <p:nvSpPr>
          <p:cNvPr id="55" name="Rectangle 9"/>
          <p:cNvSpPr>
            <a:spLocks noChangeArrowheads="1"/>
          </p:cNvSpPr>
          <p:nvPr/>
        </p:nvSpPr>
        <p:spPr bwMode="auto">
          <a:xfrm>
            <a:off x="3872865" y="2042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ourier New" panose="02070309020205020404" charset="0"/>
            </a:endParaRPr>
          </a:p>
        </p:txBody>
      </p:sp>
      <p:sp>
        <p:nvSpPr>
          <p:cNvPr id="56" name="Rectangle 10"/>
          <p:cNvSpPr>
            <a:spLocks noChangeArrowheads="1"/>
          </p:cNvSpPr>
          <p:nvPr/>
        </p:nvSpPr>
        <p:spPr bwMode="auto">
          <a:xfrm>
            <a:off x="3872865" y="2423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7" name="Rectangle 11"/>
          <p:cNvSpPr>
            <a:spLocks noChangeArrowheads="1"/>
          </p:cNvSpPr>
          <p:nvPr/>
        </p:nvSpPr>
        <p:spPr bwMode="auto">
          <a:xfrm>
            <a:off x="3872865" y="2804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8" name="Rectangle 20"/>
          <p:cNvSpPr>
            <a:spLocks noChangeArrowheads="1"/>
          </p:cNvSpPr>
          <p:nvPr/>
        </p:nvSpPr>
        <p:spPr bwMode="auto">
          <a:xfrm>
            <a:off x="3872865" y="3185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latin typeface="Calibri" panose="020F0502020204030204" charset="0"/>
              </a:rPr>
              <a:t>456</a:t>
            </a:r>
          </a:p>
        </p:txBody>
      </p:sp>
      <p:grpSp>
        <p:nvGrpSpPr>
          <p:cNvPr id="64" name="Group 63"/>
          <p:cNvGrpSpPr/>
          <p:nvPr/>
        </p:nvGrpSpPr>
        <p:grpSpPr>
          <a:xfrm>
            <a:off x="457408" y="1814110"/>
            <a:ext cx="1752600" cy="1752600"/>
            <a:chOff x="9111129" y="1790700"/>
            <a:chExt cx="1752600" cy="1752600"/>
          </a:xfrm>
        </p:grpSpPr>
        <p:sp>
          <p:nvSpPr>
            <p:cNvPr id="65" name="Rectangle 43"/>
            <p:cNvSpPr>
              <a:spLocks noChangeArrowheads="1"/>
            </p:cNvSpPr>
            <p:nvPr/>
          </p:nvSpPr>
          <p:spPr bwMode="auto">
            <a:xfrm>
              <a:off x="9111129" y="17907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rdi</a:t>
              </a:r>
              <a:endParaRPr lang="en-US" sz="1800" dirty="0">
                <a:latin typeface="Courier New" panose="02070309020205020404" charset="0"/>
              </a:endParaRPr>
            </a:p>
          </p:txBody>
        </p:sp>
        <p:sp>
          <p:nvSpPr>
            <p:cNvPr id="66" name="Rectangle 44"/>
            <p:cNvSpPr>
              <a:spLocks noChangeArrowheads="1"/>
            </p:cNvSpPr>
            <p:nvPr/>
          </p:nvSpPr>
          <p:spPr bwMode="auto">
            <a:xfrm>
              <a:off x="9111129" y="22479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rsi</a:t>
              </a:r>
              <a:endParaRPr lang="en-US" sz="1800" dirty="0">
                <a:latin typeface="Courier New" panose="02070309020205020404" charset="0"/>
              </a:endParaRPr>
            </a:p>
          </p:txBody>
        </p:sp>
        <p:sp>
          <p:nvSpPr>
            <p:cNvPr id="67" name="Rectangle 45"/>
            <p:cNvSpPr>
              <a:spLocks noChangeArrowheads="1"/>
            </p:cNvSpPr>
            <p:nvPr/>
          </p:nvSpPr>
          <p:spPr bwMode="auto">
            <a:xfrm>
              <a:off x="9111129" y="27051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rax</a:t>
              </a:r>
              <a:endParaRPr lang="en-US" sz="1800" dirty="0">
                <a:latin typeface="Courier New" panose="02070309020205020404" charset="0"/>
              </a:endParaRPr>
            </a:p>
          </p:txBody>
        </p:sp>
        <p:sp>
          <p:nvSpPr>
            <p:cNvPr id="68" name="Rectangle 46"/>
            <p:cNvSpPr>
              <a:spLocks noChangeArrowheads="1"/>
            </p:cNvSpPr>
            <p:nvPr/>
          </p:nvSpPr>
          <p:spPr bwMode="auto">
            <a:xfrm>
              <a:off x="9111129" y="31623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rdx</a:t>
              </a:r>
              <a:endParaRPr lang="en-US" sz="1800" dirty="0">
                <a:latin typeface="Courier New" panose="02070309020205020404" charset="0"/>
              </a:endParaRPr>
            </a:p>
          </p:txBody>
        </p:sp>
        <p:sp>
          <p:nvSpPr>
            <p:cNvPr id="69" name="Rectangle 52"/>
            <p:cNvSpPr>
              <a:spLocks noChangeArrowheads="1"/>
            </p:cNvSpPr>
            <p:nvPr/>
          </p:nvSpPr>
          <p:spPr bwMode="auto">
            <a:xfrm>
              <a:off x="9796929" y="17907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0x120</a:t>
              </a:r>
            </a:p>
          </p:txBody>
        </p:sp>
        <p:sp>
          <p:nvSpPr>
            <p:cNvPr id="70" name="Rectangle 53"/>
            <p:cNvSpPr>
              <a:spLocks noChangeArrowheads="1"/>
            </p:cNvSpPr>
            <p:nvPr/>
          </p:nvSpPr>
          <p:spPr bwMode="auto">
            <a:xfrm>
              <a:off x="9796929" y="22479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0x100</a:t>
              </a:r>
            </a:p>
          </p:txBody>
        </p:sp>
        <p:sp>
          <p:nvSpPr>
            <p:cNvPr id="71" name="Rectangle 54"/>
            <p:cNvSpPr>
              <a:spLocks noChangeArrowheads="1"/>
            </p:cNvSpPr>
            <p:nvPr/>
          </p:nvSpPr>
          <p:spPr bwMode="auto">
            <a:xfrm>
              <a:off x="9796929" y="27051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a:latin typeface="Courier New" panose="02070309020205020404" charset="0"/>
                </a:rPr>
                <a:t>123</a:t>
              </a:r>
            </a:p>
          </p:txBody>
        </p:sp>
        <p:sp>
          <p:nvSpPr>
            <p:cNvPr id="72" name="Rectangle 55"/>
            <p:cNvSpPr>
              <a:spLocks noChangeArrowheads="1"/>
            </p:cNvSpPr>
            <p:nvPr/>
          </p:nvSpPr>
          <p:spPr bwMode="auto">
            <a:xfrm>
              <a:off x="9796929" y="31623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a:solidFill>
                    <a:srgbClr val="ED7D31"/>
                  </a:solidFill>
                  <a:latin typeface="Courier New" panose="02070309020205020404" charset="0"/>
                </a:rPr>
                <a:t>456</a:t>
              </a:r>
            </a:p>
          </p:txBody>
        </p:sp>
      </p:grpSp>
      <p:sp>
        <p:nvSpPr>
          <p:cNvPr id="73" name="Text Box 5"/>
          <p:cNvSpPr txBox="1">
            <a:spLocks noChangeArrowheads="1"/>
          </p:cNvSpPr>
          <p:nvPr/>
        </p:nvSpPr>
        <p:spPr bwMode="auto">
          <a:xfrm>
            <a:off x="641985" y="1252322"/>
            <a:ext cx="1351001"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Registers</a:t>
            </a:r>
          </a:p>
        </p:txBody>
      </p:sp>
      <p:sp>
        <p:nvSpPr>
          <p:cNvPr id="76" name="Text Box 5"/>
          <p:cNvSpPr txBox="1">
            <a:spLocks noChangeArrowheads="1"/>
          </p:cNvSpPr>
          <p:nvPr/>
        </p:nvSpPr>
        <p:spPr bwMode="auto">
          <a:xfrm>
            <a:off x="3736248" y="1032633"/>
            <a:ext cx="1279617"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Memory</a:t>
            </a:r>
          </a:p>
        </p:txBody>
      </p:sp>
      <p:grpSp>
        <p:nvGrpSpPr>
          <p:cNvPr id="6" name="Group 5"/>
          <p:cNvGrpSpPr/>
          <p:nvPr/>
        </p:nvGrpSpPr>
        <p:grpSpPr>
          <a:xfrm>
            <a:off x="5015865" y="1414046"/>
            <a:ext cx="1219200" cy="2190764"/>
            <a:chOff x="6096000" y="1414046"/>
            <a:chExt cx="1219200" cy="2190764"/>
          </a:xfrm>
        </p:grpSpPr>
        <p:sp>
          <p:nvSpPr>
            <p:cNvPr id="59" name="Text Box 34"/>
            <p:cNvSpPr txBox="1">
              <a:spLocks noChangeArrowheads="1"/>
            </p:cNvSpPr>
            <p:nvPr/>
          </p:nvSpPr>
          <p:spPr bwMode="auto">
            <a:xfrm>
              <a:off x="6096000" y="165694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0x120 </a:t>
              </a:r>
            </a:p>
          </p:txBody>
        </p:sp>
        <p:sp>
          <p:nvSpPr>
            <p:cNvPr id="60" name="Text Box 35"/>
            <p:cNvSpPr txBox="1">
              <a:spLocks noChangeArrowheads="1"/>
            </p:cNvSpPr>
            <p:nvPr/>
          </p:nvSpPr>
          <p:spPr bwMode="auto">
            <a:xfrm>
              <a:off x="6096000" y="2052235"/>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0x118</a:t>
              </a:r>
            </a:p>
          </p:txBody>
        </p:sp>
        <p:sp>
          <p:nvSpPr>
            <p:cNvPr id="61" name="Text Box 36"/>
            <p:cNvSpPr txBox="1">
              <a:spLocks noChangeArrowheads="1"/>
            </p:cNvSpPr>
            <p:nvPr/>
          </p:nvSpPr>
          <p:spPr bwMode="auto">
            <a:xfrm>
              <a:off x="6096000" y="2447523"/>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0x110 </a:t>
              </a:r>
            </a:p>
          </p:txBody>
        </p:sp>
        <p:sp>
          <p:nvSpPr>
            <p:cNvPr id="62" name="Text Box 37"/>
            <p:cNvSpPr txBox="1">
              <a:spLocks noChangeArrowheads="1"/>
            </p:cNvSpPr>
            <p:nvPr/>
          </p:nvSpPr>
          <p:spPr bwMode="auto">
            <a:xfrm>
              <a:off x="6096000" y="2842810"/>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0x108 </a:t>
              </a:r>
            </a:p>
          </p:txBody>
        </p:sp>
        <p:sp>
          <p:nvSpPr>
            <p:cNvPr id="63" name="Text Box 38"/>
            <p:cNvSpPr txBox="1">
              <a:spLocks noChangeArrowheads="1"/>
            </p:cNvSpPr>
            <p:nvPr/>
          </p:nvSpPr>
          <p:spPr bwMode="auto">
            <a:xfrm>
              <a:off x="6096000" y="323809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0x100 </a:t>
              </a:r>
            </a:p>
          </p:txBody>
        </p:sp>
        <p:sp>
          <p:nvSpPr>
            <p:cNvPr id="81" name="Text Box 34"/>
            <p:cNvSpPr txBox="1">
              <a:spLocks noChangeArrowheads="1"/>
            </p:cNvSpPr>
            <p:nvPr/>
          </p:nvSpPr>
          <p:spPr bwMode="auto">
            <a:xfrm>
              <a:off x="6096000" y="1414046"/>
              <a:ext cx="1219200" cy="338554"/>
            </a:xfrm>
            <a:prstGeom prst="rect">
              <a:avLst/>
            </a:prstGeom>
            <a:noFill/>
            <a:ln w="25400">
              <a:noFill/>
              <a:miter lim="800000"/>
            </a:ln>
            <a:effectLst/>
          </p:spPr>
          <p:txBody>
            <a:bodyPr>
              <a:spAutoFit/>
            </a:bodyPr>
            <a:lstStyle/>
            <a:p>
              <a:pPr algn="l">
                <a:lnSpc>
                  <a:spcPct val="100000"/>
                </a:lnSpc>
              </a:pPr>
              <a:r>
                <a:rPr lang="en-US" sz="1600" dirty="0">
                  <a:latin typeface="Calibri" panose="020F0502020204030204"/>
                  <a:cs typeface="Calibri" panose="020F0502020204030204"/>
                </a:rPr>
                <a:t>Address</a:t>
              </a:r>
            </a:p>
          </p:txBody>
        </p:sp>
      </p:grpSp>
      <p:sp>
        <p:nvSpPr>
          <p:cNvPr id="2" name="Rectangle 4"/>
          <p:cNvSpPr>
            <a:spLocks noChangeArrowheads="1"/>
          </p:cNvSpPr>
          <p:nvPr/>
        </p:nvSpPr>
        <p:spPr bwMode="auto">
          <a:xfrm>
            <a:off x="252095" y="4086860"/>
            <a:ext cx="5867400" cy="1751762"/>
          </a:xfrm>
          <a:prstGeom prst="rect">
            <a:avLst/>
          </a:prstGeom>
          <a:noFill/>
          <a:ln w="12700">
            <a:noFill/>
            <a:miter lim="800000"/>
          </a:ln>
          <a:effectLst/>
        </p:spPr>
        <p:txBody>
          <a:bodyPr wrap="square" lIns="90487" tIns="44450" rIns="90487" bIns="44450">
            <a:spAutoFit/>
          </a:bodyPr>
          <a:lstStyle/>
          <a:p>
            <a:pPr algn="l">
              <a:lnSpc>
                <a:spcPct val="100000"/>
              </a:lnSpc>
              <a:tabLst>
                <a:tab pos="347345" algn="l"/>
                <a:tab pos="1312545" algn="l"/>
              </a:tabLst>
            </a:pPr>
            <a:r>
              <a:rPr lang="en-US" sz="1800" dirty="0">
                <a:latin typeface="Courier New" panose="02070309020205020404" charset="0"/>
              </a:rPr>
              <a:t>swap:</a:t>
            </a:r>
          </a:p>
          <a:p>
            <a:pPr>
              <a:tabLst>
                <a:tab pos="347345" algn="l"/>
                <a:tab pos="1312545" algn="l"/>
              </a:tabLst>
            </a:pPr>
            <a:r>
              <a:rPr lang="en-US" sz="1800" dirty="0">
                <a:latin typeface="Courier New" panose="02070309020205020404" charset="0"/>
              </a:rPr>
              <a:t>  </a:t>
            </a:r>
            <a:r>
              <a:rPr lang="ro-RO" sz="1800" dirty="0">
                <a:latin typeface="Courier New" panose="02070309020205020404" charset="0"/>
              </a:rPr>
              <a:t> movq    (%rdi), %rax  # t0 = *xp  </a:t>
            </a:r>
          </a:p>
          <a:p>
            <a:pPr>
              <a:tabLst>
                <a:tab pos="347345" algn="l"/>
                <a:tab pos="1312545" algn="l"/>
              </a:tabLst>
            </a:pPr>
            <a:r>
              <a:rPr lang="ro-RO" sz="1800" dirty="0">
                <a:latin typeface="Courier New" panose="02070309020205020404" charset="0"/>
              </a:rPr>
              <a:t>   </a:t>
            </a:r>
            <a:r>
              <a:rPr lang="ro-RO" sz="1800" dirty="0">
                <a:solidFill>
                  <a:srgbClr val="ED7D31"/>
                </a:solidFill>
                <a:latin typeface="Courier New" panose="02070309020205020404" charset="0"/>
              </a:rPr>
              <a:t>movq    (%rsi), %rdx  # t1 = *yp</a:t>
            </a:r>
          </a:p>
          <a:p>
            <a:pPr>
              <a:tabLst>
                <a:tab pos="347345" algn="l"/>
                <a:tab pos="1312545" algn="l"/>
              </a:tabLst>
            </a:pPr>
            <a:r>
              <a:rPr lang="ro-RO" sz="1800" dirty="0">
                <a:latin typeface="Courier New" panose="02070309020205020404" charset="0"/>
              </a:rPr>
              <a:t>   movq    %rdx, (%rdi)  # *xp = t1</a:t>
            </a:r>
          </a:p>
          <a:p>
            <a:pPr>
              <a:tabLst>
                <a:tab pos="347345" algn="l"/>
                <a:tab pos="1312545" algn="l"/>
              </a:tabLst>
            </a:pPr>
            <a:r>
              <a:rPr lang="ro-RO" sz="1800" dirty="0">
                <a:latin typeface="Courier New" panose="02070309020205020404" charset="0"/>
              </a:rPr>
              <a:t>   movq    %rax, (%rsi)  # *yp = t0</a:t>
            </a:r>
          </a:p>
          <a:p>
            <a:pPr>
              <a:tabLst>
                <a:tab pos="347345" algn="l"/>
                <a:tab pos="1312545" algn="l"/>
              </a:tabLst>
            </a:pPr>
            <a:r>
              <a:rPr lang="ro-RO" sz="1800" dirty="0">
                <a:latin typeface="Courier New" panose="02070309020205020404" charset="0"/>
              </a:rPr>
              <a:t>   ret</a:t>
            </a:r>
            <a:endParaRPr lang="en-US" sz="1800" dirty="0">
              <a:latin typeface="Courier New" panose="02070309020205020404" charset="0"/>
            </a:endParaRPr>
          </a:p>
        </p:txBody>
      </p:sp>
      <p:cxnSp>
        <p:nvCxnSpPr>
          <p:cNvPr id="3" name="直接箭头连接符 2"/>
          <p:cNvCxnSpPr>
            <a:stCxn id="58" idx="1"/>
            <a:endCxn id="72" idx="3"/>
          </p:cNvCxnSpPr>
          <p:nvPr/>
        </p:nvCxnSpPr>
        <p:spPr>
          <a:xfrm flipH="1">
            <a:off x="2209800" y="3376295"/>
            <a:ext cx="1663065" cy="0"/>
          </a:xfrm>
          <a:prstGeom prst="straightConnector1">
            <a:avLst/>
          </a:prstGeom>
          <a:ln>
            <a:solidFill>
              <a:srgbClr val="F8A578"/>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3" name="Rectangle 8"/>
          <p:cNvSpPr>
            <a:spLocks noChangeArrowheads="1"/>
          </p:cNvSpPr>
          <p:nvPr/>
        </p:nvSpPr>
        <p:spPr bwMode="auto">
          <a:xfrm>
            <a:off x="3872865" y="1661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solidFill>
                  <a:schemeClr val="accent6">
                    <a:lumMod val="75000"/>
                  </a:schemeClr>
                </a:solidFill>
                <a:latin typeface="Courier New" panose="02070309020205020404" charset="0"/>
              </a:rPr>
              <a:t>456</a:t>
            </a:r>
          </a:p>
        </p:txBody>
      </p:sp>
      <p:sp>
        <p:nvSpPr>
          <p:cNvPr id="55" name="Rectangle 9"/>
          <p:cNvSpPr>
            <a:spLocks noChangeArrowheads="1"/>
          </p:cNvSpPr>
          <p:nvPr/>
        </p:nvSpPr>
        <p:spPr bwMode="auto">
          <a:xfrm>
            <a:off x="3872865" y="2042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ourier New" panose="02070309020205020404" charset="0"/>
            </a:endParaRPr>
          </a:p>
        </p:txBody>
      </p:sp>
      <p:sp>
        <p:nvSpPr>
          <p:cNvPr id="56" name="Rectangle 10"/>
          <p:cNvSpPr>
            <a:spLocks noChangeArrowheads="1"/>
          </p:cNvSpPr>
          <p:nvPr/>
        </p:nvSpPr>
        <p:spPr bwMode="auto">
          <a:xfrm>
            <a:off x="3872865" y="2423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7" name="Rectangle 11"/>
          <p:cNvSpPr>
            <a:spLocks noChangeArrowheads="1"/>
          </p:cNvSpPr>
          <p:nvPr/>
        </p:nvSpPr>
        <p:spPr bwMode="auto">
          <a:xfrm>
            <a:off x="3872865" y="2804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8" name="Rectangle 20"/>
          <p:cNvSpPr>
            <a:spLocks noChangeArrowheads="1"/>
          </p:cNvSpPr>
          <p:nvPr/>
        </p:nvSpPr>
        <p:spPr bwMode="auto">
          <a:xfrm>
            <a:off x="3872865" y="3185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latin typeface="Calibri" panose="020F0502020204030204" charset="0"/>
              </a:rPr>
              <a:t>456</a:t>
            </a:r>
          </a:p>
        </p:txBody>
      </p:sp>
      <p:grpSp>
        <p:nvGrpSpPr>
          <p:cNvPr id="64" name="Group 63"/>
          <p:cNvGrpSpPr/>
          <p:nvPr/>
        </p:nvGrpSpPr>
        <p:grpSpPr>
          <a:xfrm>
            <a:off x="457408" y="1814110"/>
            <a:ext cx="1752600" cy="1752600"/>
            <a:chOff x="9111129" y="1790700"/>
            <a:chExt cx="1752600" cy="1752600"/>
          </a:xfrm>
        </p:grpSpPr>
        <p:sp>
          <p:nvSpPr>
            <p:cNvPr id="65" name="Rectangle 43"/>
            <p:cNvSpPr>
              <a:spLocks noChangeArrowheads="1"/>
            </p:cNvSpPr>
            <p:nvPr/>
          </p:nvSpPr>
          <p:spPr bwMode="auto">
            <a:xfrm>
              <a:off x="9111129" y="17907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rdi</a:t>
              </a:r>
              <a:endParaRPr lang="en-US" sz="1800" dirty="0">
                <a:latin typeface="Courier New" panose="02070309020205020404" charset="0"/>
              </a:endParaRPr>
            </a:p>
          </p:txBody>
        </p:sp>
        <p:sp>
          <p:nvSpPr>
            <p:cNvPr id="66" name="Rectangle 44"/>
            <p:cNvSpPr>
              <a:spLocks noChangeArrowheads="1"/>
            </p:cNvSpPr>
            <p:nvPr/>
          </p:nvSpPr>
          <p:spPr bwMode="auto">
            <a:xfrm>
              <a:off x="9111129" y="22479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rsi</a:t>
              </a:r>
              <a:endParaRPr lang="en-US" sz="1800" dirty="0">
                <a:latin typeface="Courier New" panose="02070309020205020404" charset="0"/>
              </a:endParaRPr>
            </a:p>
          </p:txBody>
        </p:sp>
        <p:sp>
          <p:nvSpPr>
            <p:cNvPr id="67" name="Rectangle 45"/>
            <p:cNvSpPr>
              <a:spLocks noChangeArrowheads="1"/>
            </p:cNvSpPr>
            <p:nvPr/>
          </p:nvSpPr>
          <p:spPr bwMode="auto">
            <a:xfrm>
              <a:off x="9111129" y="27051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rax</a:t>
              </a:r>
              <a:endParaRPr lang="en-US" sz="1800" dirty="0">
                <a:latin typeface="Courier New" panose="02070309020205020404" charset="0"/>
              </a:endParaRPr>
            </a:p>
          </p:txBody>
        </p:sp>
        <p:sp>
          <p:nvSpPr>
            <p:cNvPr id="68" name="Rectangle 46"/>
            <p:cNvSpPr>
              <a:spLocks noChangeArrowheads="1"/>
            </p:cNvSpPr>
            <p:nvPr/>
          </p:nvSpPr>
          <p:spPr bwMode="auto">
            <a:xfrm>
              <a:off x="9111129" y="31623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rdx</a:t>
              </a:r>
              <a:endParaRPr lang="en-US" sz="1800" dirty="0">
                <a:latin typeface="Courier New" panose="02070309020205020404" charset="0"/>
              </a:endParaRPr>
            </a:p>
          </p:txBody>
        </p:sp>
        <p:sp>
          <p:nvSpPr>
            <p:cNvPr id="69" name="Rectangle 52"/>
            <p:cNvSpPr>
              <a:spLocks noChangeArrowheads="1"/>
            </p:cNvSpPr>
            <p:nvPr/>
          </p:nvSpPr>
          <p:spPr bwMode="auto">
            <a:xfrm>
              <a:off x="9796929" y="17907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0x120</a:t>
              </a:r>
            </a:p>
          </p:txBody>
        </p:sp>
        <p:sp>
          <p:nvSpPr>
            <p:cNvPr id="70" name="Rectangle 53"/>
            <p:cNvSpPr>
              <a:spLocks noChangeArrowheads="1"/>
            </p:cNvSpPr>
            <p:nvPr/>
          </p:nvSpPr>
          <p:spPr bwMode="auto">
            <a:xfrm>
              <a:off x="9796929" y="22479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0x100</a:t>
              </a:r>
            </a:p>
          </p:txBody>
        </p:sp>
        <p:sp>
          <p:nvSpPr>
            <p:cNvPr id="71" name="Rectangle 54"/>
            <p:cNvSpPr>
              <a:spLocks noChangeArrowheads="1"/>
            </p:cNvSpPr>
            <p:nvPr/>
          </p:nvSpPr>
          <p:spPr bwMode="auto">
            <a:xfrm>
              <a:off x="9796929" y="27051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a:latin typeface="Courier New" panose="02070309020205020404" charset="0"/>
                </a:rPr>
                <a:t>123</a:t>
              </a:r>
            </a:p>
          </p:txBody>
        </p:sp>
        <p:sp>
          <p:nvSpPr>
            <p:cNvPr id="72" name="Rectangle 55"/>
            <p:cNvSpPr>
              <a:spLocks noChangeArrowheads="1"/>
            </p:cNvSpPr>
            <p:nvPr/>
          </p:nvSpPr>
          <p:spPr bwMode="auto">
            <a:xfrm>
              <a:off x="9796929" y="31623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a:latin typeface="Courier New" panose="02070309020205020404" charset="0"/>
                </a:rPr>
                <a:t>456</a:t>
              </a:r>
            </a:p>
          </p:txBody>
        </p:sp>
      </p:grpSp>
      <p:sp>
        <p:nvSpPr>
          <p:cNvPr id="73" name="Text Box 5"/>
          <p:cNvSpPr txBox="1">
            <a:spLocks noChangeArrowheads="1"/>
          </p:cNvSpPr>
          <p:nvPr/>
        </p:nvSpPr>
        <p:spPr bwMode="auto">
          <a:xfrm>
            <a:off x="641985" y="1252322"/>
            <a:ext cx="1351001"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Registers</a:t>
            </a:r>
          </a:p>
        </p:txBody>
      </p:sp>
      <p:sp>
        <p:nvSpPr>
          <p:cNvPr id="76" name="Text Box 5"/>
          <p:cNvSpPr txBox="1">
            <a:spLocks noChangeArrowheads="1"/>
          </p:cNvSpPr>
          <p:nvPr/>
        </p:nvSpPr>
        <p:spPr bwMode="auto">
          <a:xfrm>
            <a:off x="3736248" y="1032633"/>
            <a:ext cx="1279617"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Memory</a:t>
            </a:r>
          </a:p>
        </p:txBody>
      </p:sp>
      <p:grpSp>
        <p:nvGrpSpPr>
          <p:cNvPr id="6" name="Group 5"/>
          <p:cNvGrpSpPr/>
          <p:nvPr/>
        </p:nvGrpSpPr>
        <p:grpSpPr>
          <a:xfrm>
            <a:off x="5015865" y="1414046"/>
            <a:ext cx="1219200" cy="2190764"/>
            <a:chOff x="6096000" y="1414046"/>
            <a:chExt cx="1219200" cy="2190764"/>
          </a:xfrm>
        </p:grpSpPr>
        <p:sp>
          <p:nvSpPr>
            <p:cNvPr id="59" name="Text Box 34"/>
            <p:cNvSpPr txBox="1">
              <a:spLocks noChangeArrowheads="1"/>
            </p:cNvSpPr>
            <p:nvPr/>
          </p:nvSpPr>
          <p:spPr bwMode="auto">
            <a:xfrm>
              <a:off x="6096000" y="165694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0x120 </a:t>
              </a:r>
            </a:p>
          </p:txBody>
        </p:sp>
        <p:sp>
          <p:nvSpPr>
            <p:cNvPr id="60" name="Text Box 35"/>
            <p:cNvSpPr txBox="1">
              <a:spLocks noChangeArrowheads="1"/>
            </p:cNvSpPr>
            <p:nvPr/>
          </p:nvSpPr>
          <p:spPr bwMode="auto">
            <a:xfrm>
              <a:off x="6096000" y="2052235"/>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0x118</a:t>
              </a:r>
            </a:p>
          </p:txBody>
        </p:sp>
        <p:sp>
          <p:nvSpPr>
            <p:cNvPr id="61" name="Text Box 36"/>
            <p:cNvSpPr txBox="1">
              <a:spLocks noChangeArrowheads="1"/>
            </p:cNvSpPr>
            <p:nvPr/>
          </p:nvSpPr>
          <p:spPr bwMode="auto">
            <a:xfrm>
              <a:off x="6096000" y="2447523"/>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0x110 </a:t>
              </a:r>
            </a:p>
          </p:txBody>
        </p:sp>
        <p:sp>
          <p:nvSpPr>
            <p:cNvPr id="62" name="Text Box 37"/>
            <p:cNvSpPr txBox="1">
              <a:spLocks noChangeArrowheads="1"/>
            </p:cNvSpPr>
            <p:nvPr/>
          </p:nvSpPr>
          <p:spPr bwMode="auto">
            <a:xfrm>
              <a:off x="6096000" y="2842810"/>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0x108 </a:t>
              </a:r>
            </a:p>
          </p:txBody>
        </p:sp>
        <p:sp>
          <p:nvSpPr>
            <p:cNvPr id="63" name="Text Box 38"/>
            <p:cNvSpPr txBox="1">
              <a:spLocks noChangeArrowheads="1"/>
            </p:cNvSpPr>
            <p:nvPr/>
          </p:nvSpPr>
          <p:spPr bwMode="auto">
            <a:xfrm>
              <a:off x="6096000" y="323809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0x100 </a:t>
              </a:r>
            </a:p>
          </p:txBody>
        </p:sp>
        <p:sp>
          <p:nvSpPr>
            <p:cNvPr id="81" name="Text Box 34"/>
            <p:cNvSpPr txBox="1">
              <a:spLocks noChangeArrowheads="1"/>
            </p:cNvSpPr>
            <p:nvPr/>
          </p:nvSpPr>
          <p:spPr bwMode="auto">
            <a:xfrm>
              <a:off x="6096000" y="1414046"/>
              <a:ext cx="1219200" cy="338554"/>
            </a:xfrm>
            <a:prstGeom prst="rect">
              <a:avLst/>
            </a:prstGeom>
            <a:noFill/>
            <a:ln w="25400">
              <a:noFill/>
              <a:miter lim="800000"/>
            </a:ln>
            <a:effectLst/>
          </p:spPr>
          <p:txBody>
            <a:bodyPr>
              <a:spAutoFit/>
            </a:bodyPr>
            <a:lstStyle/>
            <a:p>
              <a:pPr algn="l">
                <a:lnSpc>
                  <a:spcPct val="100000"/>
                </a:lnSpc>
              </a:pPr>
              <a:r>
                <a:rPr lang="en-US" sz="1600" dirty="0">
                  <a:latin typeface="Calibri" panose="020F0502020204030204"/>
                  <a:cs typeface="Calibri" panose="020F0502020204030204"/>
                </a:rPr>
                <a:t>Address</a:t>
              </a:r>
            </a:p>
          </p:txBody>
        </p:sp>
      </p:grpSp>
      <p:sp>
        <p:nvSpPr>
          <p:cNvPr id="2" name="Rectangle 4"/>
          <p:cNvSpPr>
            <a:spLocks noChangeArrowheads="1"/>
          </p:cNvSpPr>
          <p:nvPr/>
        </p:nvSpPr>
        <p:spPr bwMode="auto">
          <a:xfrm>
            <a:off x="252095" y="4086860"/>
            <a:ext cx="5867400" cy="1751762"/>
          </a:xfrm>
          <a:prstGeom prst="rect">
            <a:avLst/>
          </a:prstGeom>
          <a:noFill/>
          <a:ln w="12700">
            <a:noFill/>
            <a:miter lim="800000"/>
          </a:ln>
          <a:effectLst/>
        </p:spPr>
        <p:txBody>
          <a:bodyPr wrap="square" lIns="90487" tIns="44450" rIns="90487" bIns="44450">
            <a:spAutoFit/>
          </a:bodyPr>
          <a:lstStyle/>
          <a:p>
            <a:pPr algn="l">
              <a:lnSpc>
                <a:spcPct val="100000"/>
              </a:lnSpc>
              <a:tabLst>
                <a:tab pos="347345" algn="l"/>
                <a:tab pos="1312545" algn="l"/>
              </a:tabLst>
            </a:pPr>
            <a:r>
              <a:rPr lang="en-US" sz="1800" dirty="0">
                <a:latin typeface="Courier New" panose="02070309020205020404" charset="0"/>
              </a:rPr>
              <a:t>swap:</a:t>
            </a:r>
          </a:p>
          <a:p>
            <a:pPr>
              <a:tabLst>
                <a:tab pos="347345" algn="l"/>
                <a:tab pos="1312545" algn="l"/>
              </a:tabLst>
            </a:pPr>
            <a:r>
              <a:rPr lang="en-US" sz="1800" dirty="0">
                <a:latin typeface="Courier New" panose="02070309020205020404" charset="0"/>
              </a:rPr>
              <a:t>  </a:t>
            </a:r>
            <a:r>
              <a:rPr lang="ro-RO" sz="1800" dirty="0">
                <a:latin typeface="Courier New" panose="02070309020205020404" charset="0"/>
              </a:rPr>
              <a:t> movq    (%rdi), %rax  # t0 = *xp  </a:t>
            </a:r>
          </a:p>
          <a:p>
            <a:pPr>
              <a:tabLst>
                <a:tab pos="347345" algn="l"/>
                <a:tab pos="1312545" algn="l"/>
              </a:tabLst>
            </a:pPr>
            <a:r>
              <a:rPr lang="ro-RO" sz="1800" dirty="0">
                <a:latin typeface="Courier New" panose="02070309020205020404" charset="0"/>
              </a:rPr>
              <a:t>   movq    (%rsi), %rdx  # t1 = *yp</a:t>
            </a:r>
          </a:p>
          <a:p>
            <a:pPr>
              <a:tabLst>
                <a:tab pos="347345" algn="l"/>
                <a:tab pos="1312545" algn="l"/>
              </a:tabLst>
            </a:pPr>
            <a:r>
              <a:rPr lang="ro-RO" sz="1800" dirty="0">
                <a:latin typeface="Courier New" panose="02070309020205020404" charset="0"/>
              </a:rPr>
              <a:t>   </a:t>
            </a:r>
            <a:r>
              <a:rPr lang="ro-RO" sz="1800" dirty="0">
                <a:solidFill>
                  <a:schemeClr val="accent6">
                    <a:lumMod val="75000"/>
                  </a:schemeClr>
                </a:solidFill>
                <a:latin typeface="Courier New" panose="02070309020205020404" charset="0"/>
              </a:rPr>
              <a:t>movq    %rdx, (%rdi)  # *xp = t1</a:t>
            </a:r>
          </a:p>
          <a:p>
            <a:pPr>
              <a:tabLst>
                <a:tab pos="347345" algn="l"/>
                <a:tab pos="1312545" algn="l"/>
              </a:tabLst>
            </a:pPr>
            <a:r>
              <a:rPr lang="ro-RO" sz="1800" dirty="0">
                <a:latin typeface="Courier New" panose="02070309020205020404" charset="0"/>
              </a:rPr>
              <a:t>   movq    %rax, (%rsi)  # *yp = t0</a:t>
            </a:r>
          </a:p>
          <a:p>
            <a:pPr>
              <a:tabLst>
                <a:tab pos="347345" algn="l"/>
                <a:tab pos="1312545" algn="l"/>
              </a:tabLst>
            </a:pPr>
            <a:r>
              <a:rPr lang="ro-RO" sz="1800" dirty="0">
                <a:latin typeface="Courier New" panose="02070309020205020404" charset="0"/>
              </a:rPr>
              <a:t>   ret</a:t>
            </a:r>
            <a:endParaRPr lang="en-US" sz="1800" dirty="0">
              <a:latin typeface="Courier New" panose="02070309020205020404" charset="0"/>
            </a:endParaRPr>
          </a:p>
        </p:txBody>
      </p:sp>
      <p:cxnSp>
        <p:nvCxnSpPr>
          <p:cNvPr id="3" name="直接箭头连接符 2"/>
          <p:cNvCxnSpPr>
            <a:stCxn id="72" idx="3"/>
            <a:endCxn id="53" idx="1"/>
          </p:cNvCxnSpPr>
          <p:nvPr/>
        </p:nvCxnSpPr>
        <p:spPr>
          <a:xfrm flipV="1">
            <a:off x="2209800" y="1852295"/>
            <a:ext cx="1663065" cy="1524000"/>
          </a:xfrm>
          <a:prstGeom prst="straightConnector1">
            <a:avLst/>
          </a:prstGeom>
          <a:ln>
            <a:solidFill>
              <a:schemeClr val="accent6">
                <a:lumMod val="50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3" name="Rectangle 8"/>
          <p:cNvSpPr>
            <a:spLocks noChangeArrowheads="1"/>
          </p:cNvSpPr>
          <p:nvPr/>
        </p:nvSpPr>
        <p:spPr bwMode="auto">
          <a:xfrm>
            <a:off x="3872865" y="1661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456</a:t>
            </a:r>
          </a:p>
        </p:txBody>
      </p:sp>
      <p:sp>
        <p:nvSpPr>
          <p:cNvPr id="55" name="Rectangle 9"/>
          <p:cNvSpPr>
            <a:spLocks noChangeArrowheads="1"/>
          </p:cNvSpPr>
          <p:nvPr/>
        </p:nvSpPr>
        <p:spPr bwMode="auto">
          <a:xfrm>
            <a:off x="3872865" y="2042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ourier New" panose="02070309020205020404" charset="0"/>
            </a:endParaRPr>
          </a:p>
        </p:txBody>
      </p:sp>
      <p:sp>
        <p:nvSpPr>
          <p:cNvPr id="56" name="Rectangle 10"/>
          <p:cNvSpPr>
            <a:spLocks noChangeArrowheads="1"/>
          </p:cNvSpPr>
          <p:nvPr/>
        </p:nvSpPr>
        <p:spPr bwMode="auto">
          <a:xfrm>
            <a:off x="3872865" y="2423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7" name="Rectangle 11"/>
          <p:cNvSpPr>
            <a:spLocks noChangeArrowheads="1"/>
          </p:cNvSpPr>
          <p:nvPr/>
        </p:nvSpPr>
        <p:spPr bwMode="auto">
          <a:xfrm>
            <a:off x="3872865" y="2804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endParaRPr lang="en-US" sz="1800" dirty="0">
              <a:latin typeface="Calibri" panose="020F0502020204030204" charset="0"/>
            </a:endParaRPr>
          </a:p>
        </p:txBody>
      </p:sp>
      <p:sp>
        <p:nvSpPr>
          <p:cNvPr id="58" name="Rectangle 20"/>
          <p:cNvSpPr>
            <a:spLocks noChangeArrowheads="1"/>
          </p:cNvSpPr>
          <p:nvPr/>
        </p:nvSpPr>
        <p:spPr bwMode="auto">
          <a:xfrm>
            <a:off x="3872865" y="3185710"/>
            <a:ext cx="1066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algn="r">
              <a:lnSpc>
                <a:spcPct val="100000"/>
              </a:lnSpc>
            </a:pPr>
            <a:r>
              <a:rPr lang="en-US" sz="1800" dirty="0">
                <a:solidFill>
                  <a:srgbClr val="FF3399"/>
                </a:solidFill>
                <a:latin typeface="Calibri" panose="020F0502020204030204" charset="0"/>
              </a:rPr>
              <a:t>123</a:t>
            </a:r>
          </a:p>
        </p:txBody>
      </p:sp>
      <p:grpSp>
        <p:nvGrpSpPr>
          <p:cNvPr id="64" name="Group 63"/>
          <p:cNvGrpSpPr/>
          <p:nvPr/>
        </p:nvGrpSpPr>
        <p:grpSpPr>
          <a:xfrm>
            <a:off x="457408" y="1814110"/>
            <a:ext cx="1752600" cy="1752600"/>
            <a:chOff x="9111129" y="1790700"/>
            <a:chExt cx="1752600" cy="1752600"/>
          </a:xfrm>
        </p:grpSpPr>
        <p:sp>
          <p:nvSpPr>
            <p:cNvPr id="65" name="Rectangle 43"/>
            <p:cNvSpPr>
              <a:spLocks noChangeArrowheads="1"/>
            </p:cNvSpPr>
            <p:nvPr/>
          </p:nvSpPr>
          <p:spPr bwMode="auto">
            <a:xfrm>
              <a:off x="9111129" y="17907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rdi</a:t>
              </a:r>
              <a:endParaRPr lang="en-US" sz="1800" dirty="0">
                <a:latin typeface="Courier New" panose="02070309020205020404" charset="0"/>
              </a:endParaRPr>
            </a:p>
          </p:txBody>
        </p:sp>
        <p:sp>
          <p:nvSpPr>
            <p:cNvPr id="66" name="Rectangle 44"/>
            <p:cNvSpPr>
              <a:spLocks noChangeArrowheads="1"/>
            </p:cNvSpPr>
            <p:nvPr/>
          </p:nvSpPr>
          <p:spPr bwMode="auto">
            <a:xfrm>
              <a:off x="9111129" y="22479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rsi</a:t>
              </a:r>
              <a:endParaRPr lang="en-US" sz="1800" dirty="0">
                <a:latin typeface="Courier New" panose="02070309020205020404" charset="0"/>
              </a:endParaRPr>
            </a:p>
          </p:txBody>
        </p:sp>
        <p:sp>
          <p:nvSpPr>
            <p:cNvPr id="67" name="Rectangle 45"/>
            <p:cNvSpPr>
              <a:spLocks noChangeArrowheads="1"/>
            </p:cNvSpPr>
            <p:nvPr/>
          </p:nvSpPr>
          <p:spPr bwMode="auto">
            <a:xfrm>
              <a:off x="9111129" y="27051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rax</a:t>
              </a:r>
              <a:endParaRPr lang="en-US" sz="1800" dirty="0">
                <a:latin typeface="Courier New" panose="02070309020205020404" charset="0"/>
              </a:endParaRPr>
            </a:p>
          </p:txBody>
        </p:sp>
        <p:sp>
          <p:nvSpPr>
            <p:cNvPr id="68" name="Rectangle 46"/>
            <p:cNvSpPr>
              <a:spLocks noChangeArrowheads="1"/>
            </p:cNvSpPr>
            <p:nvPr/>
          </p:nvSpPr>
          <p:spPr bwMode="auto">
            <a:xfrm>
              <a:off x="9111129" y="3162300"/>
              <a:ext cx="685800" cy="381000"/>
            </a:xfrm>
            <a:prstGeom prst="rect">
              <a:avLst/>
            </a:prstGeom>
            <a:solidFill>
              <a:schemeClr val="bg1"/>
            </a:solidFill>
            <a:ln w="25400">
              <a:solidFill>
                <a:schemeClr val="tx1"/>
              </a:solidFill>
              <a:miter lim="800000"/>
            </a:ln>
            <a:effectLst/>
          </p:spPr>
          <p:txBody>
            <a:bodyPr wrap="none" anchor="ctr"/>
            <a:lstStyle/>
            <a:p>
              <a:pPr>
                <a:lnSpc>
                  <a:spcPct val="100000"/>
                </a:lnSpc>
              </a:pPr>
              <a:r>
                <a:rPr lang="en-US" sz="1800" dirty="0">
                  <a:latin typeface="Courier New" panose="02070309020205020404" charset="0"/>
                </a:rPr>
                <a:t>%</a:t>
              </a:r>
              <a:r>
                <a:rPr lang="en-US" sz="1800" dirty="0" err="1">
                  <a:latin typeface="Courier New" panose="02070309020205020404" charset="0"/>
                </a:rPr>
                <a:t>rdx</a:t>
              </a:r>
              <a:endParaRPr lang="en-US" sz="1800" dirty="0">
                <a:latin typeface="Courier New" panose="02070309020205020404" charset="0"/>
              </a:endParaRPr>
            </a:p>
          </p:txBody>
        </p:sp>
        <p:sp>
          <p:nvSpPr>
            <p:cNvPr id="69" name="Rectangle 52"/>
            <p:cNvSpPr>
              <a:spLocks noChangeArrowheads="1"/>
            </p:cNvSpPr>
            <p:nvPr/>
          </p:nvSpPr>
          <p:spPr bwMode="auto">
            <a:xfrm>
              <a:off x="9796929" y="17907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0x120</a:t>
              </a:r>
            </a:p>
          </p:txBody>
        </p:sp>
        <p:sp>
          <p:nvSpPr>
            <p:cNvPr id="70" name="Rectangle 53"/>
            <p:cNvSpPr>
              <a:spLocks noChangeArrowheads="1"/>
            </p:cNvSpPr>
            <p:nvPr/>
          </p:nvSpPr>
          <p:spPr bwMode="auto">
            <a:xfrm>
              <a:off x="9796929" y="22479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dirty="0">
                  <a:latin typeface="Courier New" panose="02070309020205020404" charset="0"/>
                </a:rPr>
                <a:t>0x100</a:t>
              </a:r>
            </a:p>
          </p:txBody>
        </p:sp>
        <p:sp>
          <p:nvSpPr>
            <p:cNvPr id="71" name="Rectangle 54"/>
            <p:cNvSpPr>
              <a:spLocks noChangeArrowheads="1"/>
            </p:cNvSpPr>
            <p:nvPr/>
          </p:nvSpPr>
          <p:spPr bwMode="auto">
            <a:xfrm>
              <a:off x="9796929" y="27051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a:latin typeface="Courier New" panose="02070309020205020404" charset="0"/>
                </a:rPr>
                <a:t>123</a:t>
              </a:r>
            </a:p>
          </p:txBody>
        </p:sp>
        <p:sp>
          <p:nvSpPr>
            <p:cNvPr id="72" name="Rectangle 55"/>
            <p:cNvSpPr>
              <a:spLocks noChangeArrowheads="1"/>
            </p:cNvSpPr>
            <p:nvPr/>
          </p:nvSpPr>
          <p:spPr bwMode="auto">
            <a:xfrm>
              <a:off x="9796929" y="3162300"/>
              <a:ext cx="1066800" cy="381000"/>
            </a:xfrm>
            <a:prstGeom prst="rect">
              <a:avLst/>
            </a:prstGeom>
            <a:solidFill>
              <a:schemeClr val="bg1"/>
            </a:solidFill>
            <a:ln w="25400">
              <a:solidFill>
                <a:schemeClr val="tx1"/>
              </a:solidFill>
              <a:miter lim="800000"/>
            </a:ln>
            <a:effectLst/>
          </p:spPr>
          <p:txBody>
            <a:bodyPr wrap="none" anchor="ctr"/>
            <a:lstStyle/>
            <a:p>
              <a:pPr algn="r">
                <a:lnSpc>
                  <a:spcPct val="100000"/>
                </a:lnSpc>
              </a:pPr>
              <a:r>
                <a:rPr lang="en-US" sz="1800">
                  <a:latin typeface="Courier New" panose="02070309020205020404" charset="0"/>
                </a:rPr>
                <a:t>456</a:t>
              </a:r>
            </a:p>
          </p:txBody>
        </p:sp>
      </p:grpSp>
      <p:sp>
        <p:nvSpPr>
          <p:cNvPr id="73" name="Text Box 5"/>
          <p:cNvSpPr txBox="1">
            <a:spLocks noChangeArrowheads="1"/>
          </p:cNvSpPr>
          <p:nvPr/>
        </p:nvSpPr>
        <p:spPr bwMode="auto">
          <a:xfrm>
            <a:off x="641985" y="1252322"/>
            <a:ext cx="1351001"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Registers</a:t>
            </a:r>
          </a:p>
        </p:txBody>
      </p:sp>
      <p:sp>
        <p:nvSpPr>
          <p:cNvPr id="76" name="Text Box 5"/>
          <p:cNvSpPr txBox="1">
            <a:spLocks noChangeArrowheads="1"/>
          </p:cNvSpPr>
          <p:nvPr/>
        </p:nvSpPr>
        <p:spPr bwMode="auto">
          <a:xfrm>
            <a:off x="3736248" y="1032633"/>
            <a:ext cx="1279617" cy="461665"/>
          </a:xfrm>
          <a:prstGeom prst="rect">
            <a:avLst/>
          </a:prstGeom>
          <a:noFill/>
          <a:ln w="25400">
            <a:noFill/>
            <a:miter lim="800000"/>
          </a:ln>
          <a:effectLst/>
        </p:spPr>
        <p:txBody>
          <a:bodyPr wrap="none">
            <a:spAutoFit/>
          </a:bodyPr>
          <a:lstStyle/>
          <a:p>
            <a:pPr algn="l">
              <a:lnSpc>
                <a:spcPct val="100000"/>
              </a:lnSpc>
            </a:pPr>
            <a:r>
              <a:rPr lang="en-US" sz="2400" dirty="0">
                <a:latin typeface="Calibri" panose="020F0502020204030204" charset="0"/>
              </a:rPr>
              <a:t>Memory</a:t>
            </a:r>
          </a:p>
        </p:txBody>
      </p:sp>
      <p:grpSp>
        <p:nvGrpSpPr>
          <p:cNvPr id="6" name="Group 5"/>
          <p:cNvGrpSpPr/>
          <p:nvPr/>
        </p:nvGrpSpPr>
        <p:grpSpPr>
          <a:xfrm>
            <a:off x="5015865" y="1414046"/>
            <a:ext cx="1219200" cy="2190764"/>
            <a:chOff x="6096000" y="1414046"/>
            <a:chExt cx="1219200" cy="2190764"/>
          </a:xfrm>
        </p:grpSpPr>
        <p:sp>
          <p:nvSpPr>
            <p:cNvPr id="59" name="Text Box 34"/>
            <p:cNvSpPr txBox="1">
              <a:spLocks noChangeArrowheads="1"/>
            </p:cNvSpPr>
            <p:nvPr/>
          </p:nvSpPr>
          <p:spPr bwMode="auto">
            <a:xfrm>
              <a:off x="6096000" y="165694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0x120 </a:t>
              </a:r>
            </a:p>
          </p:txBody>
        </p:sp>
        <p:sp>
          <p:nvSpPr>
            <p:cNvPr id="60" name="Text Box 35"/>
            <p:cNvSpPr txBox="1">
              <a:spLocks noChangeArrowheads="1"/>
            </p:cNvSpPr>
            <p:nvPr/>
          </p:nvSpPr>
          <p:spPr bwMode="auto">
            <a:xfrm>
              <a:off x="6096000" y="2052235"/>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0x118</a:t>
              </a:r>
            </a:p>
          </p:txBody>
        </p:sp>
        <p:sp>
          <p:nvSpPr>
            <p:cNvPr id="61" name="Text Box 36"/>
            <p:cNvSpPr txBox="1">
              <a:spLocks noChangeArrowheads="1"/>
            </p:cNvSpPr>
            <p:nvPr/>
          </p:nvSpPr>
          <p:spPr bwMode="auto">
            <a:xfrm>
              <a:off x="6096000" y="2447523"/>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0x110 </a:t>
              </a:r>
            </a:p>
          </p:txBody>
        </p:sp>
        <p:sp>
          <p:nvSpPr>
            <p:cNvPr id="62" name="Text Box 37"/>
            <p:cNvSpPr txBox="1">
              <a:spLocks noChangeArrowheads="1"/>
            </p:cNvSpPr>
            <p:nvPr/>
          </p:nvSpPr>
          <p:spPr bwMode="auto">
            <a:xfrm>
              <a:off x="6096000" y="2842810"/>
              <a:ext cx="1219200" cy="366713"/>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0x108 </a:t>
              </a:r>
            </a:p>
          </p:txBody>
        </p:sp>
        <p:sp>
          <p:nvSpPr>
            <p:cNvPr id="63" name="Text Box 38"/>
            <p:cNvSpPr txBox="1">
              <a:spLocks noChangeArrowheads="1"/>
            </p:cNvSpPr>
            <p:nvPr/>
          </p:nvSpPr>
          <p:spPr bwMode="auto">
            <a:xfrm>
              <a:off x="6096000" y="3238098"/>
              <a:ext cx="1219200" cy="366712"/>
            </a:xfrm>
            <a:prstGeom prst="rect">
              <a:avLst/>
            </a:prstGeom>
            <a:noFill/>
            <a:ln w="25400">
              <a:noFill/>
              <a:miter lim="800000"/>
            </a:ln>
            <a:effectLst/>
          </p:spPr>
          <p:txBody>
            <a:bodyPr>
              <a:spAutoFit/>
            </a:bodyPr>
            <a:lstStyle/>
            <a:p>
              <a:pPr algn="l">
                <a:lnSpc>
                  <a:spcPct val="100000"/>
                </a:lnSpc>
              </a:pPr>
              <a:r>
                <a:rPr lang="en-US" sz="1800" dirty="0">
                  <a:latin typeface="Courier New" panose="02070309020205020404" charset="0"/>
                </a:rPr>
                <a:t>0x100 </a:t>
              </a:r>
            </a:p>
          </p:txBody>
        </p:sp>
        <p:sp>
          <p:nvSpPr>
            <p:cNvPr id="81" name="Text Box 34"/>
            <p:cNvSpPr txBox="1">
              <a:spLocks noChangeArrowheads="1"/>
            </p:cNvSpPr>
            <p:nvPr/>
          </p:nvSpPr>
          <p:spPr bwMode="auto">
            <a:xfrm>
              <a:off x="6096000" y="1414046"/>
              <a:ext cx="1219200" cy="338554"/>
            </a:xfrm>
            <a:prstGeom prst="rect">
              <a:avLst/>
            </a:prstGeom>
            <a:noFill/>
            <a:ln w="25400">
              <a:noFill/>
              <a:miter lim="800000"/>
            </a:ln>
            <a:effectLst/>
          </p:spPr>
          <p:txBody>
            <a:bodyPr>
              <a:spAutoFit/>
            </a:bodyPr>
            <a:lstStyle/>
            <a:p>
              <a:pPr algn="l">
                <a:lnSpc>
                  <a:spcPct val="100000"/>
                </a:lnSpc>
              </a:pPr>
              <a:r>
                <a:rPr lang="en-US" sz="1600" dirty="0">
                  <a:latin typeface="Calibri" panose="020F0502020204030204"/>
                  <a:cs typeface="Calibri" panose="020F0502020204030204"/>
                </a:rPr>
                <a:t>Address</a:t>
              </a:r>
            </a:p>
          </p:txBody>
        </p:sp>
      </p:grpSp>
      <p:sp>
        <p:nvSpPr>
          <p:cNvPr id="2" name="Rectangle 4"/>
          <p:cNvSpPr>
            <a:spLocks noChangeArrowheads="1"/>
          </p:cNvSpPr>
          <p:nvPr/>
        </p:nvSpPr>
        <p:spPr bwMode="auto">
          <a:xfrm>
            <a:off x="252095" y="4086860"/>
            <a:ext cx="5867400" cy="1751762"/>
          </a:xfrm>
          <a:prstGeom prst="rect">
            <a:avLst/>
          </a:prstGeom>
          <a:noFill/>
          <a:ln w="12700">
            <a:noFill/>
            <a:miter lim="800000"/>
          </a:ln>
          <a:effectLst/>
        </p:spPr>
        <p:txBody>
          <a:bodyPr wrap="square" lIns="90487" tIns="44450" rIns="90487" bIns="44450">
            <a:spAutoFit/>
          </a:bodyPr>
          <a:lstStyle/>
          <a:p>
            <a:pPr algn="l">
              <a:lnSpc>
                <a:spcPct val="100000"/>
              </a:lnSpc>
              <a:tabLst>
                <a:tab pos="347345" algn="l"/>
                <a:tab pos="1312545" algn="l"/>
              </a:tabLst>
            </a:pPr>
            <a:r>
              <a:rPr lang="en-US" sz="1800" dirty="0">
                <a:latin typeface="Courier New" panose="02070309020205020404" charset="0"/>
              </a:rPr>
              <a:t>swap:</a:t>
            </a:r>
          </a:p>
          <a:p>
            <a:pPr>
              <a:tabLst>
                <a:tab pos="347345" algn="l"/>
                <a:tab pos="1312545" algn="l"/>
              </a:tabLst>
            </a:pPr>
            <a:r>
              <a:rPr lang="en-US" sz="1800" dirty="0">
                <a:latin typeface="Courier New" panose="02070309020205020404" charset="0"/>
              </a:rPr>
              <a:t>  </a:t>
            </a:r>
            <a:r>
              <a:rPr lang="ro-RO" sz="1800" dirty="0">
                <a:latin typeface="Courier New" panose="02070309020205020404" charset="0"/>
              </a:rPr>
              <a:t> movq    (%rdi), %rax  # t0 = *xp  </a:t>
            </a:r>
          </a:p>
          <a:p>
            <a:pPr>
              <a:tabLst>
                <a:tab pos="347345" algn="l"/>
                <a:tab pos="1312545" algn="l"/>
              </a:tabLst>
            </a:pPr>
            <a:r>
              <a:rPr lang="ro-RO" sz="1800" dirty="0">
                <a:latin typeface="Courier New" panose="02070309020205020404" charset="0"/>
              </a:rPr>
              <a:t>   movq    (%rsi), %rdx  # t1 = *yp</a:t>
            </a:r>
          </a:p>
          <a:p>
            <a:pPr>
              <a:tabLst>
                <a:tab pos="347345" algn="l"/>
                <a:tab pos="1312545" algn="l"/>
              </a:tabLst>
            </a:pPr>
            <a:r>
              <a:rPr lang="ro-RO" sz="1800" dirty="0">
                <a:latin typeface="Courier New" panose="02070309020205020404" charset="0"/>
              </a:rPr>
              <a:t>   movq    %rdx, (%rdi)  # *xp = t1</a:t>
            </a:r>
          </a:p>
          <a:p>
            <a:pPr>
              <a:tabLst>
                <a:tab pos="347345" algn="l"/>
                <a:tab pos="1312545" algn="l"/>
              </a:tabLst>
            </a:pPr>
            <a:r>
              <a:rPr lang="ro-RO" sz="1800" dirty="0">
                <a:latin typeface="Courier New" panose="02070309020205020404" charset="0"/>
              </a:rPr>
              <a:t>   </a:t>
            </a:r>
            <a:r>
              <a:rPr lang="ro-RO" sz="1800" dirty="0">
                <a:solidFill>
                  <a:srgbClr val="FF3399"/>
                </a:solidFill>
                <a:latin typeface="Courier New" panose="02070309020205020404" charset="0"/>
              </a:rPr>
              <a:t>movq    %rax, (%rsi)  # *yp = t0</a:t>
            </a:r>
          </a:p>
          <a:p>
            <a:pPr>
              <a:tabLst>
                <a:tab pos="347345" algn="l"/>
                <a:tab pos="1312545" algn="l"/>
              </a:tabLst>
            </a:pPr>
            <a:r>
              <a:rPr lang="ro-RO" sz="1800" dirty="0">
                <a:latin typeface="Courier New" panose="02070309020205020404" charset="0"/>
              </a:rPr>
              <a:t>   ret</a:t>
            </a:r>
            <a:endParaRPr lang="en-US" sz="1800" dirty="0">
              <a:latin typeface="Courier New" panose="02070309020205020404" charset="0"/>
            </a:endParaRPr>
          </a:p>
        </p:txBody>
      </p:sp>
      <p:cxnSp>
        <p:nvCxnSpPr>
          <p:cNvPr id="3" name="直接箭头连接符 2"/>
          <p:cNvCxnSpPr>
            <a:stCxn id="71" idx="3"/>
            <a:endCxn id="58" idx="1"/>
          </p:cNvCxnSpPr>
          <p:nvPr/>
        </p:nvCxnSpPr>
        <p:spPr>
          <a:xfrm>
            <a:off x="2209800" y="2919095"/>
            <a:ext cx="1663065" cy="457200"/>
          </a:xfrm>
          <a:prstGeom prst="straightConnector1">
            <a:avLst/>
          </a:prstGeom>
          <a:ln>
            <a:solidFill>
              <a:srgbClr val="FF3399"/>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nvSpPr>
        <p:spPr>
          <a:xfrm>
            <a:off x="304800" y="493712"/>
            <a:ext cx="80772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endParaRPr lang="zh-CN" altLang="en-US" dirty="0"/>
          </a:p>
        </p:txBody>
      </p:sp>
      <p:sp>
        <p:nvSpPr>
          <p:cNvPr id="161795" name="Rectangle 3"/>
          <p:cNvSpPr>
            <a:spLocks noGrp="1" noChangeArrowheads="1"/>
          </p:cNvSpPr>
          <p:nvPr/>
        </p:nvSpPr>
        <p:spPr>
          <a:xfrm>
            <a:off x="189548" y="1271905"/>
            <a:ext cx="8307387" cy="55308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24155" indent="-224155" defTabSz="895350">
              <a:tabLst>
                <a:tab pos="1206500" algn="l"/>
                <a:tab pos="3657600" algn="l"/>
              </a:tabLst>
            </a:pPr>
            <a:r>
              <a:rPr lang="zh-CN" altLang="en-US" dirty="0"/>
              <a:t>最一般的形式</a:t>
            </a:r>
          </a:p>
          <a:p>
            <a:pPr marL="224155" indent="-224155" defTabSz="895350">
              <a:buNone/>
              <a:tabLst>
                <a:tab pos="1206500" algn="l"/>
                <a:tab pos="3657600" algn="l"/>
              </a:tabLst>
            </a:pPr>
            <a:r>
              <a:rPr lang="en-US" dirty="0"/>
              <a:t>		D(</a:t>
            </a:r>
            <a:r>
              <a:rPr lang="en-US" dirty="0" err="1"/>
              <a:t>Rb,Ri,S</a:t>
            </a:r>
            <a:r>
              <a:rPr lang="en-US" dirty="0"/>
              <a:t>)	</a:t>
            </a:r>
            <a:r>
              <a:rPr lang="en-US" dirty="0" err="1"/>
              <a:t>Mem</a:t>
            </a:r>
            <a:r>
              <a:rPr lang="en-US" dirty="0"/>
              <a:t>[</a:t>
            </a:r>
            <a:r>
              <a:rPr lang="en-US" dirty="0" err="1"/>
              <a:t>Reg</a:t>
            </a:r>
            <a:r>
              <a:rPr lang="en-US" dirty="0"/>
              <a:t>[</a:t>
            </a:r>
            <a:r>
              <a:rPr lang="en-US" dirty="0" err="1"/>
              <a:t>Rb</a:t>
            </a:r>
            <a:r>
              <a:rPr lang="en-US" dirty="0"/>
              <a:t>]+S*</a:t>
            </a:r>
            <a:r>
              <a:rPr lang="en-US" dirty="0" err="1"/>
              <a:t>Reg</a:t>
            </a:r>
            <a:r>
              <a:rPr lang="en-US" dirty="0"/>
              <a:t>[</a:t>
            </a:r>
            <a:r>
              <a:rPr lang="en-US" dirty="0" err="1"/>
              <a:t>Ri</a:t>
            </a:r>
            <a:r>
              <a:rPr lang="en-US" dirty="0"/>
              <a:t>]+ D]</a:t>
            </a:r>
          </a:p>
          <a:p>
            <a:pPr marL="560705" lvl="1" indent="-222250" defTabSz="895350">
              <a:tabLst>
                <a:tab pos="1206500" algn="l"/>
                <a:tab pos="3657600" algn="l"/>
              </a:tabLst>
            </a:pPr>
            <a:r>
              <a:rPr lang="en-US" dirty="0"/>
              <a:t>D: 	常量“位移”1, 2，或4字节</a:t>
            </a:r>
            <a:r>
              <a:rPr lang="zh-CN" altLang="en-US" dirty="0"/>
              <a:t>。</a:t>
            </a:r>
          </a:p>
          <a:p>
            <a:pPr marL="560705" lvl="1" indent="-222250" defTabSz="895350">
              <a:tabLst>
                <a:tab pos="1206500" algn="l"/>
                <a:tab pos="3657600" algn="l"/>
              </a:tabLst>
            </a:pPr>
            <a:r>
              <a:rPr lang="en-US" dirty="0" err="1"/>
              <a:t>Rb</a:t>
            </a:r>
            <a:r>
              <a:rPr lang="en-US" dirty="0"/>
              <a:t>: 	基址寄存器：16个整数寄存器中的任意一个</a:t>
            </a:r>
            <a:r>
              <a:rPr lang="zh-CN" altLang="en-US" dirty="0"/>
              <a:t>。</a:t>
            </a:r>
          </a:p>
          <a:p>
            <a:pPr marL="560705" lvl="1" indent="-222250" defTabSz="895350">
              <a:tabLst>
                <a:tab pos="1206500" algn="l"/>
                <a:tab pos="3657600" algn="l"/>
              </a:tabLst>
            </a:pPr>
            <a:r>
              <a:rPr lang="en-US" dirty="0" err="1"/>
              <a:t>Ri</a:t>
            </a:r>
            <a:r>
              <a:rPr lang="en-US" dirty="0"/>
              <a:t>:	任何</a:t>
            </a:r>
            <a:r>
              <a:rPr lang="zh-CN" altLang="en-US" dirty="0"/>
              <a:t>寄存器</a:t>
            </a:r>
            <a:r>
              <a:rPr lang="en-US" dirty="0"/>
              <a:t>，除 </a:t>
            </a:r>
            <a:r>
              <a:rPr lang="en-US" b="1" dirty="0">
                <a:latin typeface="Courier New" panose="02070309020205020404" charset="0"/>
              </a:rPr>
              <a:t>%</a:t>
            </a:r>
            <a:r>
              <a:rPr lang="en-US" b="1" dirty="0" err="1">
                <a:latin typeface="Courier New" panose="02070309020205020404" charset="0"/>
              </a:rPr>
              <a:t>rsp</a:t>
            </a:r>
            <a:endParaRPr lang="en-US" b="1" dirty="0">
              <a:latin typeface="Courier New" panose="02070309020205020404" charset="0"/>
            </a:endParaRPr>
          </a:p>
          <a:p>
            <a:pPr marL="560705" lvl="1" indent="-222250" defTabSz="895350">
              <a:tabLst>
                <a:tab pos="1206500" algn="l"/>
                <a:tab pos="3657600" algn="l"/>
              </a:tabLst>
            </a:pPr>
            <a:r>
              <a:rPr lang="en-US" dirty="0"/>
              <a:t>S: 	</a:t>
            </a:r>
            <a:r>
              <a:rPr lang="zh-CN" altLang="en-US" dirty="0"/>
              <a:t>规模</a:t>
            </a:r>
            <a:r>
              <a:rPr lang="en-US" dirty="0"/>
              <a:t>: 1, 2, 4, or 8 (</a:t>
            </a:r>
            <a:r>
              <a:rPr lang="zh-CN" altLang="en-US" dirty="0">
                <a:solidFill>
                  <a:srgbClr val="FF0000"/>
                </a:solidFill>
              </a:rPr>
              <a:t>为什么？</a:t>
            </a:r>
            <a:r>
              <a:rPr lang="en-US" dirty="0"/>
              <a:t>)</a:t>
            </a:r>
          </a:p>
          <a:p>
            <a:pPr marL="224155" indent="-224155" defTabSz="895350">
              <a:tabLst>
                <a:tab pos="1206500" algn="l"/>
                <a:tab pos="3657600" algn="l"/>
              </a:tabLst>
            </a:pPr>
            <a:endParaRPr lang="en-US" dirty="0"/>
          </a:p>
          <a:p>
            <a:pPr marL="224155" indent="-224155" defTabSz="895350">
              <a:tabLst>
                <a:tab pos="1206500" algn="l"/>
                <a:tab pos="3657600" algn="l"/>
              </a:tabLst>
            </a:pPr>
            <a:r>
              <a:rPr lang="zh-CN" altLang="en-US" dirty="0"/>
              <a:t>特殊情况</a:t>
            </a:r>
          </a:p>
          <a:p>
            <a:pPr marL="224155" indent="-224155" defTabSz="895350">
              <a:buNone/>
              <a:tabLst>
                <a:tab pos="1206500" algn="l"/>
                <a:tab pos="3657600" algn="l"/>
              </a:tabLst>
            </a:pPr>
            <a:r>
              <a:rPr lang="en-US" dirty="0"/>
              <a:t>		(</a:t>
            </a:r>
            <a:r>
              <a:rPr lang="en-US" dirty="0" err="1"/>
              <a:t>Rb,Ri</a:t>
            </a:r>
            <a:r>
              <a:rPr lang="en-US" dirty="0"/>
              <a:t>)	</a:t>
            </a:r>
            <a:r>
              <a:rPr lang="en-US" dirty="0" err="1"/>
              <a:t>Mem</a:t>
            </a:r>
            <a:r>
              <a:rPr lang="en-US" dirty="0"/>
              <a:t>[</a:t>
            </a:r>
            <a:r>
              <a:rPr lang="en-US" dirty="0" err="1"/>
              <a:t>Reg</a:t>
            </a:r>
            <a:r>
              <a:rPr lang="en-US" dirty="0"/>
              <a:t>[</a:t>
            </a:r>
            <a:r>
              <a:rPr lang="en-US" dirty="0" err="1"/>
              <a:t>Rb</a:t>
            </a:r>
            <a:r>
              <a:rPr lang="en-US" dirty="0"/>
              <a:t>]+</a:t>
            </a:r>
            <a:r>
              <a:rPr lang="en-US" dirty="0" err="1"/>
              <a:t>Reg</a:t>
            </a:r>
            <a:r>
              <a:rPr lang="en-US" dirty="0"/>
              <a:t>[</a:t>
            </a:r>
            <a:r>
              <a:rPr lang="en-US" dirty="0" err="1"/>
              <a:t>Ri</a:t>
            </a:r>
            <a:r>
              <a:rPr lang="en-US" dirty="0"/>
              <a:t>]]</a:t>
            </a:r>
          </a:p>
          <a:p>
            <a:pPr marL="224155" indent="-224155" defTabSz="895350">
              <a:buNone/>
              <a:tabLst>
                <a:tab pos="1206500" algn="l"/>
                <a:tab pos="3657600" algn="l"/>
              </a:tabLst>
            </a:pPr>
            <a:r>
              <a:rPr lang="en-US" dirty="0"/>
              <a:t>		D(</a:t>
            </a:r>
            <a:r>
              <a:rPr lang="en-US" dirty="0" err="1"/>
              <a:t>Rb,Ri</a:t>
            </a:r>
            <a:r>
              <a:rPr lang="en-US" dirty="0"/>
              <a:t>)	</a:t>
            </a:r>
            <a:r>
              <a:rPr lang="en-US" dirty="0" err="1"/>
              <a:t>Mem</a:t>
            </a:r>
            <a:r>
              <a:rPr lang="en-US" dirty="0"/>
              <a:t>[</a:t>
            </a:r>
            <a:r>
              <a:rPr lang="en-US" dirty="0" err="1"/>
              <a:t>Reg</a:t>
            </a:r>
            <a:r>
              <a:rPr lang="en-US" dirty="0"/>
              <a:t>[</a:t>
            </a:r>
            <a:r>
              <a:rPr lang="en-US" dirty="0" err="1"/>
              <a:t>Rb</a:t>
            </a:r>
            <a:r>
              <a:rPr lang="en-US" dirty="0"/>
              <a:t>]+</a:t>
            </a:r>
            <a:r>
              <a:rPr lang="en-US" dirty="0" err="1"/>
              <a:t>Reg</a:t>
            </a:r>
            <a:r>
              <a:rPr lang="en-US" dirty="0"/>
              <a:t>[</a:t>
            </a:r>
            <a:r>
              <a:rPr lang="en-US" dirty="0" err="1"/>
              <a:t>Ri</a:t>
            </a:r>
            <a:r>
              <a:rPr lang="en-US" dirty="0"/>
              <a:t>]+D]</a:t>
            </a:r>
          </a:p>
          <a:p>
            <a:pPr marL="224155" indent="-224155" defTabSz="895350">
              <a:buNone/>
              <a:tabLst>
                <a:tab pos="1206500" algn="l"/>
                <a:tab pos="3657600" algn="l"/>
              </a:tabLst>
            </a:pPr>
            <a:r>
              <a:rPr lang="en-US" dirty="0"/>
              <a:t>		(</a:t>
            </a:r>
            <a:r>
              <a:rPr lang="en-US" dirty="0" err="1"/>
              <a:t>Rb,Ri,S</a:t>
            </a:r>
            <a:r>
              <a:rPr lang="en-US" dirty="0"/>
              <a:t>)	</a:t>
            </a:r>
            <a:r>
              <a:rPr lang="en-US" dirty="0" err="1"/>
              <a:t>Mem</a:t>
            </a:r>
            <a:r>
              <a:rPr lang="en-US" dirty="0"/>
              <a:t>[</a:t>
            </a:r>
            <a:r>
              <a:rPr lang="en-US" dirty="0" err="1"/>
              <a:t>Reg</a:t>
            </a:r>
            <a:r>
              <a:rPr lang="en-US" dirty="0"/>
              <a:t>[</a:t>
            </a:r>
            <a:r>
              <a:rPr lang="en-US" dirty="0" err="1"/>
              <a:t>Rb</a:t>
            </a:r>
            <a:r>
              <a:rPr lang="en-US" dirty="0"/>
              <a:t>]+S*</a:t>
            </a:r>
            <a:r>
              <a:rPr lang="en-US" dirty="0" err="1"/>
              <a:t>Reg</a:t>
            </a:r>
            <a:r>
              <a:rPr lang="en-US" dirty="0"/>
              <a:t>[</a:t>
            </a:r>
            <a:r>
              <a:rPr lang="en-US" dirty="0" err="1"/>
              <a:t>Ri</a:t>
            </a:r>
            <a:r>
              <a:rPr lang="en-US" dirty="0"/>
              <a:t>]]</a:t>
            </a: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19" name="组合 18"/>
          <p:cNvGrpSpPr/>
          <p:nvPr/>
        </p:nvGrpSpPr>
        <p:grpSpPr>
          <a:xfrm>
            <a:off x="2894839" y="289781"/>
            <a:ext cx="1004231" cy="1004101"/>
            <a:chOff x="1101311" y="1198062"/>
            <a:chExt cx="1106591" cy="1106447"/>
          </a:xfrm>
        </p:grpSpPr>
        <p:grpSp>
          <p:nvGrpSpPr>
            <p:cNvPr id="21" name="组合 20"/>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37" name="椭圆 36"/>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38" name="组合 37"/>
            <p:cNvGrpSpPr>
              <a:grpSpLocks noChangeAspect="1"/>
            </p:cNvGrpSpPr>
            <p:nvPr/>
          </p:nvGrpSpPr>
          <p:grpSpPr>
            <a:xfrm>
              <a:off x="1330537" y="1422392"/>
              <a:ext cx="648140" cy="625029"/>
              <a:chOff x="7019925" y="5499100"/>
              <a:chExt cx="312738" cy="301626"/>
            </a:xfrm>
            <a:solidFill>
              <a:srgbClr val="C00000"/>
            </a:solidFill>
          </p:grpSpPr>
          <p:sp>
            <p:nvSpPr>
              <p:cNvPr id="39"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40"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41" name="矩形 40"/>
          <p:cNvSpPr/>
          <p:nvPr/>
        </p:nvSpPr>
        <p:spPr>
          <a:xfrm>
            <a:off x="-33814" y="780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42" name="矩形 41"/>
          <p:cNvSpPr/>
          <p:nvPr/>
        </p:nvSpPr>
        <p:spPr>
          <a:xfrm>
            <a:off x="3997960" y="781050"/>
            <a:ext cx="5146040" cy="76200"/>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43" name="TextBox 24"/>
          <p:cNvSpPr txBox="1"/>
          <p:nvPr/>
        </p:nvSpPr>
        <p:spPr>
          <a:xfrm>
            <a:off x="3889579" y="159166"/>
            <a:ext cx="3611880" cy="1014730"/>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完整的内存寻址模式</a:t>
            </a:r>
            <a:endParaRPr lang="zh-CN" altLang="en-US" sz="3000" dirty="0"/>
          </a:p>
          <a:p>
            <a:pPr algn="l"/>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right)">
                                      <p:cBhvr>
                                        <p:cTn id="16" dur="500"/>
                                        <p:tgtEl>
                                          <p:spTgt spid="41"/>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43"/>
                                        </p:tgtEl>
                                        <p:attrNameLst>
                                          <p:attrName>style.visibility</p:attrName>
                                        </p:attrNameLst>
                                      </p:cBhvr>
                                      <p:to>
                                        <p:strVal val="visible"/>
                                      </p:to>
                                    </p:set>
                                    <p:anim by="(-#ppt_w*2)" calcmode="lin" valueType="num">
                                      <p:cBhvr rctx="PPT">
                                        <p:cTn id="20" dur="500" autoRev="1" fill="hold">
                                          <p:stCondLst>
                                            <p:cond delay="0"/>
                                          </p:stCondLst>
                                        </p:cTn>
                                        <p:tgtEl>
                                          <p:spTgt spid="43"/>
                                        </p:tgtEl>
                                        <p:attrNameLst>
                                          <p:attrName>ppt_w</p:attrName>
                                        </p:attrNameLst>
                                      </p:cBhvr>
                                    </p:anim>
                                    <p:anim by="(#ppt_w*0.50)" calcmode="lin" valueType="num">
                                      <p:cBhvr>
                                        <p:cTn id="21" dur="500" decel="50000" autoRev="1" fill="hold">
                                          <p:stCondLst>
                                            <p:cond delay="0"/>
                                          </p:stCondLst>
                                        </p:cTn>
                                        <p:tgtEl>
                                          <p:spTgt spid="43"/>
                                        </p:tgtEl>
                                        <p:attrNameLst>
                                          <p:attrName>ppt_x</p:attrName>
                                        </p:attrNameLst>
                                      </p:cBhvr>
                                    </p:anim>
                                    <p:anim from="(-#ppt_h/2)" to="(#ppt_y)" calcmode="lin" valueType="num">
                                      <p:cBhvr>
                                        <p:cTn id="22" dur="1000" fill="hold">
                                          <p:stCondLst>
                                            <p:cond delay="0"/>
                                          </p:stCondLst>
                                        </p:cTn>
                                        <p:tgtEl>
                                          <p:spTgt spid="43"/>
                                        </p:tgtEl>
                                        <p:attrNameLst>
                                          <p:attrName>ppt_y</p:attrName>
                                        </p:attrNameLst>
                                      </p:cBhvr>
                                    </p:anim>
                                    <p:animRot by="21600000">
                                      <p:cBhvr>
                                        <p:cTn id="23" dur="1000" fill="hold">
                                          <p:stCondLst>
                                            <p:cond delay="0"/>
                                          </p:stCondLst>
                                        </p:cTn>
                                        <p:tgtEl>
                                          <p:spTgt spid="43"/>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43"/>
                                        </p:tgtEl>
                                        <p:attrNameLst>
                                          <p:attrName>style.visibility</p:attrName>
                                        </p:attrNameLst>
                                      </p:cBhvr>
                                      <p:to>
                                        <p:strVal val="visible"/>
                                      </p:to>
                                    </p:set>
                                    <p:anim calcmode="lin" valueType="num">
                                      <p:cBhvr>
                                        <p:cTn id="26" dur="10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43"/>
                                        </p:tgtEl>
                                        <p:attrNameLst>
                                          <p:attrName>ppt_y</p:attrName>
                                        </p:attrNameLst>
                                      </p:cBhvr>
                                      <p:tavLst>
                                        <p:tav tm="0">
                                          <p:val>
                                            <p:strVal val="#ppt_y"/>
                                          </p:val>
                                        </p:tav>
                                        <p:tav tm="100000">
                                          <p:val>
                                            <p:strVal val="#ppt_y"/>
                                          </p:val>
                                        </p:tav>
                                      </p:tavLst>
                                    </p:anim>
                                    <p:anim calcmode="lin" valueType="num">
                                      <p:cBhvr>
                                        <p:cTn id="28" dur="10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61795">
                                            <p:txEl>
                                              <p:pRg st="1" end="1"/>
                                            </p:txEl>
                                          </p:spTgt>
                                        </p:tgtEl>
                                        <p:attrNameLst>
                                          <p:attrName>style.visibility</p:attrName>
                                        </p:attrNameLst>
                                      </p:cBhvr>
                                      <p:to>
                                        <p:strVal val="visible"/>
                                      </p:to>
                                    </p:set>
                                    <p:animEffect transition="in" filter="wipe(down)">
                                      <p:cBhvr>
                                        <p:cTn id="35" dur="500"/>
                                        <p:tgtEl>
                                          <p:spTgt spid="161795">
                                            <p:txEl>
                                              <p:pRg st="1" end="1"/>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61795">
                                            <p:txEl>
                                              <p:pRg st="2" end="2"/>
                                            </p:txEl>
                                          </p:spTgt>
                                        </p:tgtEl>
                                        <p:attrNameLst>
                                          <p:attrName>style.visibility</p:attrName>
                                        </p:attrNameLst>
                                      </p:cBhvr>
                                      <p:to>
                                        <p:strVal val="visible"/>
                                      </p:to>
                                    </p:set>
                                    <p:animEffect transition="in" filter="wipe(down)">
                                      <p:cBhvr>
                                        <p:cTn id="40" dur="500"/>
                                        <p:tgtEl>
                                          <p:spTgt spid="161795">
                                            <p:txEl>
                                              <p:pRg st="2" end="2"/>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161795">
                                            <p:txEl>
                                              <p:pRg st="3" end="3"/>
                                            </p:txEl>
                                          </p:spTgt>
                                        </p:tgtEl>
                                        <p:attrNameLst>
                                          <p:attrName>style.visibility</p:attrName>
                                        </p:attrNameLst>
                                      </p:cBhvr>
                                      <p:to>
                                        <p:strVal val="visible"/>
                                      </p:to>
                                    </p:set>
                                    <p:animEffect transition="in" filter="wipe(down)">
                                      <p:cBhvr>
                                        <p:cTn id="43" dur="500"/>
                                        <p:tgtEl>
                                          <p:spTgt spid="161795">
                                            <p:txEl>
                                              <p:pRg st="3" end="3"/>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161795">
                                            <p:txEl>
                                              <p:pRg st="4" end="4"/>
                                            </p:txEl>
                                          </p:spTgt>
                                        </p:tgtEl>
                                        <p:attrNameLst>
                                          <p:attrName>style.visibility</p:attrName>
                                        </p:attrNameLst>
                                      </p:cBhvr>
                                      <p:to>
                                        <p:strVal val="visible"/>
                                      </p:to>
                                    </p:set>
                                    <p:animEffect transition="in" filter="wipe(down)">
                                      <p:cBhvr>
                                        <p:cTn id="46" dur="500"/>
                                        <p:tgtEl>
                                          <p:spTgt spid="161795">
                                            <p:txEl>
                                              <p:pRg st="4" end="4"/>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161795">
                                            <p:txEl>
                                              <p:pRg st="5" end="5"/>
                                            </p:txEl>
                                          </p:spTgt>
                                        </p:tgtEl>
                                        <p:attrNameLst>
                                          <p:attrName>style.visibility</p:attrName>
                                        </p:attrNameLst>
                                      </p:cBhvr>
                                      <p:to>
                                        <p:strVal val="visible"/>
                                      </p:to>
                                    </p:set>
                                    <p:animEffect transition="in" filter="wipe(down)">
                                      <p:cBhvr>
                                        <p:cTn id="49" dur="500"/>
                                        <p:tgtEl>
                                          <p:spTgt spid="161795">
                                            <p:txEl>
                                              <p:pRg st="5" end="5"/>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161795">
                                            <p:txEl>
                                              <p:pRg st="8" end="8"/>
                                            </p:txEl>
                                          </p:spTgt>
                                        </p:tgtEl>
                                        <p:attrNameLst>
                                          <p:attrName>style.visibility</p:attrName>
                                        </p:attrNameLst>
                                      </p:cBhvr>
                                      <p:to>
                                        <p:strVal val="visible"/>
                                      </p:to>
                                    </p:set>
                                    <p:animEffect transition="in" filter="wipe(down)">
                                      <p:cBhvr>
                                        <p:cTn id="54" dur="500"/>
                                        <p:tgtEl>
                                          <p:spTgt spid="161795">
                                            <p:txEl>
                                              <p:pRg st="8" end="8"/>
                                            </p:txEl>
                                          </p:spTgt>
                                        </p:tgtEl>
                                      </p:cBhvr>
                                    </p:animEffect>
                                  </p:childTnLst>
                                </p:cTn>
                              </p:par>
                              <p:par>
                                <p:cTn id="55" presetID="22" presetClass="entr" presetSubtype="4" fill="hold" nodeType="withEffect">
                                  <p:stCondLst>
                                    <p:cond delay="0"/>
                                  </p:stCondLst>
                                  <p:childTnLst>
                                    <p:set>
                                      <p:cBhvr>
                                        <p:cTn id="56" dur="1" fill="hold">
                                          <p:stCondLst>
                                            <p:cond delay="0"/>
                                          </p:stCondLst>
                                        </p:cTn>
                                        <p:tgtEl>
                                          <p:spTgt spid="161795">
                                            <p:txEl>
                                              <p:pRg st="9" end="9"/>
                                            </p:txEl>
                                          </p:spTgt>
                                        </p:tgtEl>
                                        <p:attrNameLst>
                                          <p:attrName>style.visibility</p:attrName>
                                        </p:attrNameLst>
                                      </p:cBhvr>
                                      <p:to>
                                        <p:strVal val="visible"/>
                                      </p:to>
                                    </p:set>
                                    <p:animEffect transition="in" filter="wipe(down)">
                                      <p:cBhvr>
                                        <p:cTn id="57" dur="500"/>
                                        <p:tgtEl>
                                          <p:spTgt spid="161795">
                                            <p:txEl>
                                              <p:pRg st="9" end="9"/>
                                            </p:txEl>
                                          </p:spTgt>
                                        </p:tgtEl>
                                      </p:cBhvr>
                                    </p:animEffect>
                                  </p:childTnLst>
                                </p:cTn>
                              </p:par>
                              <p:par>
                                <p:cTn id="58" presetID="22" presetClass="entr" presetSubtype="4" fill="hold" nodeType="withEffect">
                                  <p:stCondLst>
                                    <p:cond delay="0"/>
                                  </p:stCondLst>
                                  <p:childTnLst>
                                    <p:set>
                                      <p:cBhvr>
                                        <p:cTn id="59" dur="1" fill="hold">
                                          <p:stCondLst>
                                            <p:cond delay="0"/>
                                          </p:stCondLst>
                                        </p:cTn>
                                        <p:tgtEl>
                                          <p:spTgt spid="161795">
                                            <p:txEl>
                                              <p:pRg st="10" end="10"/>
                                            </p:txEl>
                                          </p:spTgt>
                                        </p:tgtEl>
                                        <p:attrNameLst>
                                          <p:attrName>style.visibility</p:attrName>
                                        </p:attrNameLst>
                                      </p:cBhvr>
                                      <p:to>
                                        <p:strVal val="visible"/>
                                      </p:to>
                                    </p:set>
                                    <p:animEffect transition="in" filter="wipe(down)">
                                      <p:cBhvr>
                                        <p:cTn id="60" dur="500"/>
                                        <p:tgtEl>
                                          <p:spTgt spid="1617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p:bldP spid="43"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矩形 125"/>
          <p:cNvSpPr/>
          <p:nvPr/>
        </p:nvSpPr>
        <p:spPr>
          <a:xfrm>
            <a:off x="5928360" y="3976370"/>
            <a:ext cx="3514090" cy="1231265"/>
          </a:xfrm>
          <a:prstGeom prst="rect">
            <a:avLst/>
          </a:prstGeom>
        </p:spPr>
        <p:txBody>
          <a:bodyPr wrap="square">
            <a:spAutoFit/>
          </a:bodyPr>
          <a:lstStyle/>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式子：</a:t>
            </a:r>
            <a:r>
              <a:rPr lang="en-US" sz="2000" dirty="0">
                <a:ln>
                  <a:noFill/>
                </a:ln>
                <a:effectLst/>
                <a:latin typeface="Courier New Bold" charset="0"/>
                <a:cs typeface="Courier New Bold" charset="0"/>
                <a:sym typeface="Courier New Bold" charset="0"/>
              </a:rPr>
              <a:t>0x80(,%rdx,2)</a:t>
            </a:r>
            <a:endParaRPr kumimoji="0" lang="en-US" sz="2000" b="0" i="0" u="none" strike="noStrike" cap="none" normalizeH="0" baseline="0" dirty="0">
              <a:ln>
                <a:noFill/>
              </a:ln>
              <a:solidFill>
                <a:schemeClr val="tx1"/>
              </a:solidFill>
              <a:effectLst/>
              <a:latin typeface="Courier New Bold" charset="0"/>
              <a:cs typeface="Courier New Bold" charset="0"/>
              <a:sym typeface="Courier New Bold" charset="0"/>
            </a:endParaRP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计算：</a:t>
            </a:r>
            <a:r>
              <a:rPr lang="en-US" sz="2000" dirty="0">
                <a:ln>
                  <a:noFill/>
                </a:ln>
                <a:effectLst/>
                <a:latin typeface="Courier New Bold" charset="0"/>
                <a:cs typeface="Courier New Bold" charset="0"/>
                <a:sym typeface="Courier New Bold" charset="0"/>
              </a:rPr>
              <a:t>2*0xf000 + 0x80</a:t>
            </a: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地址：</a:t>
            </a:r>
            <a:r>
              <a:rPr lang="en-US" sz="2000" dirty="0">
                <a:ln>
                  <a:noFill/>
                </a:ln>
                <a:effectLst/>
                <a:latin typeface="Courier New Bold" charset="0"/>
                <a:cs typeface="Courier New Bold" charset="0"/>
                <a:sym typeface="Courier New Bold" charset="0"/>
              </a:rPr>
              <a:t>0x1e080</a:t>
            </a: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p:txBody>
      </p:sp>
      <p:grpSp>
        <p:nvGrpSpPr>
          <p:cNvPr id="22" name="组合 21"/>
          <p:cNvGrpSpPr/>
          <p:nvPr/>
        </p:nvGrpSpPr>
        <p:grpSpPr>
          <a:xfrm>
            <a:off x="5080" y="3087370"/>
            <a:ext cx="9077960" cy="684530"/>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7" name="等腰三角形 16"/>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3" name="椭圆 22"/>
          <p:cNvSpPr/>
          <p:nvPr/>
        </p:nvSpPr>
        <p:spPr>
          <a:xfrm flipH="1">
            <a:off x="308517" y="3042030"/>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nvSpPr>
        <p:spPr>
          <a:xfrm flipH="1">
            <a:off x="679264" y="3724911"/>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5" name="椭圆 24"/>
          <p:cNvSpPr/>
          <p:nvPr/>
        </p:nvSpPr>
        <p:spPr>
          <a:xfrm flipH="1">
            <a:off x="10668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nvSpPr>
        <p:spPr>
          <a:xfrm flipH="1">
            <a:off x="18415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椭圆 26"/>
          <p:cNvSpPr/>
          <p:nvPr/>
        </p:nvSpPr>
        <p:spPr>
          <a:xfrm flipH="1">
            <a:off x="25908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nvSpPr>
        <p:spPr>
          <a:xfrm flipH="1">
            <a:off x="33909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nvSpPr>
        <p:spPr>
          <a:xfrm flipH="1">
            <a:off x="41402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椭圆 29"/>
          <p:cNvSpPr/>
          <p:nvPr/>
        </p:nvSpPr>
        <p:spPr>
          <a:xfrm flipH="1">
            <a:off x="4879975" y="304228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1" name="椭圆 30"/>
          <p:cNvSpPr/>
          <p:nvPr/>
        </p:nvSpPr>
        <p:spPr>
          <a:xfrm flipH="1">
            <a:off x="56515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2" name="椭圆 31"/>
          <p:cNvSpPr/>
          <p:nvPr/>
        </p:nvSpPr>
        <p:spPr>
          <a:xfrm flipH="1">
            <a:off x="64389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3" name="椭圆 32"/>
          <p:cNvSpPr/>
          <p:nvPr/>
        </p:nvSpPr>
        <p:spPr>
          <a:xfrm flipH="1">
            <a:off x="71374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椭圆 33"/>
          <p:cNvSpPr/>
          <p:nvPr/>
        </p:nvSpPr>
        <p:spPr>
          <a:xfrm flipH="1">
            <a:off x="79121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5" name="椭圆 34"/>
          <p:cNvSpPr/>
          <p:nvPr/>
        </p:nvSpPr>
        <p:spPr>
          <a:xfrm flipH="1">
            <a:off x="8674100" y="30384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7" name="椭圆 46"/>
          <p:cNvSpPr/>
          <p:nvPr/>
        </p:nvSpPr>
        <p:spPr>
          <a:xfrm flipH="1">
            <a:off x="14541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8" name="椭圆 47"/>
          <p:cNvSpPr/>
          <p:nvPr/>
        </p:nvSpPr>
        <p:spPr>
          <a:xfrm flipH="1">
            <a:off x="21907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9" name="椭圆 48"/>
          <p:cNvSpPr/>
          <p:nvPr/>
        </p:nvSpPr>
        <p:spPr>
          <a:xfrm flipH="1">
            <a:off x="29908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椭圆 49"/>
          <p:cNvSpPr/>
          <p:nvPr/>
        </p:nvSpPr>
        <p:spPr>
          <a:xfrm flipH="1">
            <a:off x="37274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1" name="椭圆 50"/>
          <p:cNvSpPr/>
          <p:nvPr/>
        </p:nvSpPr>
        <p:spPr>
          <a:xfrm flipH="1">
            <a:off x="45148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2" name="椭圆 51"/>
          <p:cNvSpPr/>
          <p:nvPr/>
        </p:nvSpPr>
        <p:spPr>
          <a:xfrm flipH="1">
            <a:off x="52768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3" name="椭圆 52"/>
          <p:cNvSpPr/>
          <p:nvPr/>
        </p:nvSpPr>
        <p:spPr>
          <a:xfrm flipH="1">
            <a:off x="60515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4" name="椭圆 53"/>
          <p:cNvSpPr/>
          <p:nvPr/>
        </p:nvSpPr>
        <p:spPr>
          <a:xfrm flipH="1">
            <a:off x="67881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5" name="椭圆 54"/>
          <p:cNvSpPr/>
          <p:nvPr/>
        </p:nvSpPr>
        <p:spPr>
          <a:xfrm flipH="1">
            <a:off x="75120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6" name="椭圆 55"/>
          <p:cNvSpPr/>
          <p:nvPr/>
        </p:nvSpPr>
        <p:spPr>
          <a:xfrm flipH="1">
            <a:off x="8210550" y="3724275"/>
            <a:ext cx="86360" cy="8636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68" name="组合 67"/>
          <p:cNvGrpSpPr/>
          <p:nvPr/>
        </p:nvGrpSpPr>
        <p:grpSpPr>
          <a:xfrm>
            <a:off x="3252470" y="1769110"/>
            <a:ext cx="2525395" cy="1099820"/>
            <a:chOff x="1356175" y="1093399"/>
            <a:chExt cx="2300757" cy="1589432"/>
          </a:xfrm>
        </p:grpSpPr>
        <p:sp>
          <p:nvSpPr>
            <p:cNvPr id="69" name="矩形 68"/>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0" name="椭圆 69"/>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1" name="椭圆 70"/>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2" name="椭圆 71"/>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3" name="椭圆 72"/>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102" name="矩形 101"/>
          <p:cNvSpPr/>
          <p:nvPr/>
        </p:nvSpPr>
        <p:spPr>
          <a:xfrm>
            <a:off x="3239770" y="1806575"/>
            <a:ext cx="2721610" cy="1231265"/>
          </a:xfrm>
          <a:prstGeom prst="rect">
            <a:avLst/>
          </a:prstGeom>
        </p:spPr>
        <p:txBody>
          <a:bodyPr wrap="square">
            <a:spAutoFit/>
          </a:bodyPr>
          <a:lstStyle/>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式子：</a:t>
            </a:r>
            <a:r>
              <a:rPr lang="en-US" sz="2000" dirty="0">
                <a:ln>
                  <a:noFill/>
                </a:ln>
                <a:effectLst/>
                <a:latin typeface="Courier New Bold" charset="0"/>
                <a:cs typeface="Courier New Bold" charset="0"/>
                <a:sym typeface="Courier New Bold" charset="0"/>
              </a:rPr>
              <a:t>0x8(%</a:t>
            </a:r>
            <a:r>
              <a:rPr lang="en-US" sz="2000" dirty="0" err="1">
                <a:ln>
                  <a:noFill/>
                </a:ln>
                <a:effectLst/>
                <a:latin typeface="Courier New Bold" charset="0"/>
                <a:cs typeface="Courier New Bold" charset="0"/>
                <a:sym typeface="Courier New Bold" charset="0"/>
              </a:rPr>
              <a:t>rdx</a:t>
            </a:r>
            <a:r>
              <a:rPr lang="en-US" sz="2000" dirty="0">
                <a:ln>
                  <a:noFill/>
                </a:ln>
                <a:effectLst/>
                <a:latin typeface="Courier New Bold" charset="0"/>
                <a:cs typeface="Courier New Bold" charset="0"/>
                <a:sym typeface="Courier New Bold" charset="0"/>
              </a:rPr>
              <a:t>)</a:t>
            </a: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计算：</a:t>
            </a:r>
            <a:r>
              <a:rPr lang="en-US" sz="2000" dirty="0">
                <a:ln>
                  <a:noFill/>
                </a:ln>
                <a:effectLst/>
                <a:latin typeface="Courier New Bold" charset="0"/>
                <a:cs typeface="Courier New Bold" charset="0"/>
                <a:sym typeface="Courier New Bold" charset="0"/>
              </a:rPr>
              <a:t>0xf000+0x8</a:t>
            </a: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地址：</a:t>
            </a:r>
            <a:r>
              <a:rPr lang="en-US" sz="2000">
                <a:ln>
                  <a:noFill/>
                </a:ln>
                <a:effectLst/>
                <a:latin typeface="Courier New Bold" charset="0"/>
                <a:cs typeface="Courier New Bold" charset="0"/>
                <a:sym typeface="Courier New Bold" charset="0"/>
              </a:rPr>
              <a:t>0xf008</a:t>
            </a: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7" name="椭圆 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19" name="组合 18"/>
          <p:cNvGrpSpPr/>
          <p:nvPr/>
        </p:nvGrpSpPr>
        <p:grpSpPr>
          <a:xfrm>
            <a:off x="2894839" y="289781"/>
            <a:ext cx="1004231" cy="1004101"/>
            <a:chOff x="1101311" y="1198062"/>
            <a:chExt cx="1106591" cy="1106447"/>
          </a:xfrm>
        </p:grpSpPr>
        <p:grpSp>
          <p:nvGrpSpPr>
            <p:cNvPr id="21" name="组合 20"/>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37" name="椭圆 36"/>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38" name="组合 37"/>
            <p:cNvGrpSpPr>
              <a:grpSpLocks noChangeAspect="1"/>
            </p:cNvGrpSpPr>
            <p:nvPr/>
          </p:nvGrpSpPr>
          <p:grpSpPr>
            <a:xfrm>
              <a:off x="1330537" y="1422392"/>
              <a:ext cx="648140" cy="625029"/>
              <a:chOff x="7019925" y="5499100"/>
              <a:chExt cx="312738" cy="301626"/>
            </a:xfrm>
            <a:solidFill>
              <a:srgbClr val="C00000"/>
            </a:solidFill>
          </p:grpSpPr>
          <p:sp>
            <p:nvSpPr>
              <p:cNvPr id="39"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40"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41" name="矩形 40"/>
          <p:cNvSpPr/>
          <p:nvPr/>
        </p:nvSpPr>
        <p:spPr>
          <a:xfrm>
            <a:off x="-33814" y="780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42" name="矩形 41"/>
          <p:cNvSpPr/>
          <p:nvPr/>
        </p:nvSpPr>
        <p:spPr>
          <a:xfrm>
            <a:off x="4115276" y="78089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43" name="TextBox 24"/>
          <p:cNvSpPr txBox="1"/>
          <p:nvPr/>
        </p:nvSpPr>
        <p:spPr>
          <a:xfrm>
            <a:off x="4930979" y="159166"/>
            <a:ext cx="2468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地址计算实例</a:t>
            </a:r>
          </a:p>
        </p:txBody>
      </p:sp>
      <p:sp>
        <p:nvSpPr>
          <p:cNvPr id="78" name="矩形 77"/>
          <p:cNvSpPr/>
          <p:nvPr/>
        </p:nvSpPr>
        <p:spPr>
          <a:xfrm>
            <a:off x="6221730" y="1783080"/>
            <a:ext cx="2843530" cy="1231265"/>
          </a:xfrm>
          <a:prstGeom prst="rect">
            <a:avLst/>
          </a:prstGeom>
        </p:spPr>
        <p:txBody>
          <a:bodyPr wrap="square">
            <a:spAutoFit/>
          </a:bodyPr>
          <a:lstStyle/>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式子：</a:t>
            </a:r>
            <a:r>
              <a:rPr lang="en-US" sz="2000" dirty="0">
                <a:ln>
                  <a:noFill/>
                </a:ln>
                <a:effectLst/>
                <a:latin typeface="Courier New Bold" charset="0"/>
                <a:cs typeface="Courier New Bold" charset="0"/>
                <a:sym typeface="Courier New Bold" charset="0"/>
              </a:rPr>
              <a:t>(%</a:t>
            </a:r>
            <a:r>
              <a:rPr lang="en-US" sz="2000" dirty="0" err="1">
                <a:ln>
                  <a:noFill/>
                </a:ln>
                <a:effectLst/>
                <a:latin typeface="Courier New Bold" charset="0"/>
                <a:cs typeface="Courier New Bold" charset="0"/>
                <a:sym typeface="Courier New Bold" charset="0"/>
              </a:rPr>
              <a:t>rdx</a:t>
            </a:r>
            <a:r>
              <a:rPr lang="en-US" sz="2000" dirty="0">
                <a:ln>
                  <a:noFill/>
                </a:ln>
                <a:effectLst/>
                <a:latin typeface="Courier New Bold" charset="0"/>
                <a:cs typeface="Courier New Bold" charset="0"/>
                <a:sym typeface="Courier New Bold" charset="0"/>
              </a:rPr>
              <a:t>,%</a:t>
            </a:r>
            <a:r>
              <a:rPr lang="en-US" sz="2000" dirty="0" err="1">
                <a:ln>
                  <a:noFill/>
                </a:ln>
                <a:effectLst/>
                <a:latin typeface="Courier New Bold" charset="0"/>
                <a:cs typeface="Courier New Bold" charset="0"/>
                <a:sym typeface="Courier New Bold" charset="0"/>
              </a:rPr>
              <a:t>rcx</a:t>
            </a:r>
            <a:r>
              <a:rPr lang="en-US" sz="2000" dirty="0">
                <a:ln>
                  <a:noFill/>
                </a:ln>
                <a:effectLst/>
                <a:latin typeface="Courier New Bold" charset="0"/>
                <a:cs typeface="Courier New Bold" charset="0"/>
                <a:sym typeface="Courier New Bold" charset="0"/>
              </a:rPr>
              <a:t>)</a:t>
            </a: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计算：</a:t>
            </a:r>
            <a:r>
              <a:rPr lang="en-US" sz="2000" dirty="0">
                <a:ln>
                  <a:noFill/>
                </a:ln>
                <a:effectLst/>
                <a:latin typeface="Courier New Bold" charset="0"/>
                <a:cs typeface="Courier New Bold" charset="0"/>
                <a:sym typeface="Courier New Bold" charset="0"/>
              </a:rPr>
              <a:t>0xf000+0x100</a:t>
            </a: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地址：</a:t>
            </a:r>
            <a:r>
              <a:rPr lang="en-US" sz="2000">
                <a:ln>
                  <a:noFill/>
                </a:ln>
                <a:effectLst/>
                <a:latin typeface="Courier New Bold" charset="0"/>
                <a:cs typeface="Courier New Bold" charset="0"/>
                <a:sym typeface="Courier New Bold" charset="0"/>
              </a:rPr>
              <a:t>0xf100</a:t>
            </a: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p:txBody>
      </p:sp>
      <p:grpSp>
        <p:nvGrpSpPr>
          <p:cNvPr id="65" name="组合 64"/>
          <p:cNvGrpSpPr/>
          <p:nvPr/>
        </p:nvGrpSpPr>
        <p:grpSpPr>
          <a:xfrm>
            <a:off x="6224270" y="1807210"/>
            <a:ext cx="2767965" cy="1099820"/>
            <a:chOff x="1356175" y="1093399"/>
            <a:chExt cx="2300757" cy="1589432"/>
          </a:xfrm>
        </p:grpSpPr>
        <p:sp>
          <p:nvSpPr>
            <p:cNvPr id="67" name="矩形 66"/>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4" name="椭圆 73"/>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5" name="椭圆 74"/>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6" name="椭圆 75"/>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77" name="椭圆 76"/>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grpSp>
        <p:nvGrpSpPr>
          <p:cNvPr id="79" name="组合 78"/>
          <p:cNvGrpSpPr/>
          <p:nvPr/>
        </p:nvGrpSpPr>
        <p:grpSpPr>
          <a:xfrm>
            <a:off x="2231390" y="3958590"/>
            <a:ext cx="3128010" cy="1099820"/>
            <a:chOff x="1356175" y="1093399"/>
            <a:chExt cx="2300757" cy="1589432"/>
          </a:xfrm>
        </p:grpSpPr>
        <p:sp>
          <p:nvSpPr>
            <p:cNvPr id="100" name="矩形 99"/>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1" name="椭圆 100"/>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0" name="椭圆 109"/>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1" name="椭圆 110"/>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2" name="椭圆 111"/>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119" name="矩形 118"/>
          <p:cNvSpPr/>
          <p:nvPr/>
        </p:nvSpPr>
        <p:spPr>
          <a:xfrm>
            <a:off x="2245360" y="3989070"/>
            <a:ext cx="3514090" cy="1231265"/>
          </a:xfrm>
          <a:prstGeom prst="rect">
            <a:avLst/>
          </a:prstGeom>
        </p:spPr>
        <p:txBody>
          <a:bodyPr wrap="square">
            <a:spAutoFit/>
          </a:bodyPr>
          <a:lstStyle/>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式子：</a:t>
            </a:r>
            <a:r>
              <a:rPr lang="en-US" sz="2000" dirty="0">
                <a:ln>
                  <a:noFill/>
                </a:ln>
                <a:effectLst/>
                <a:latin typeface="Courier New Bold" charset="0"/>
                <a:cs typeface="Courier New Bold" charset="0"/>
                <a:sym typeface="Courier New Bold" charset="0"/>
              </a:rPr>
              <a:t>(%rdx,%rcx,4)</a:t>
            </a: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计算：</a:t>
            </a:r>
            <a:r>
              <a:rPr lang="en-US" altLang="zh-CN" sz="2000" dirty="0">
                <a:ln>
                  <a:noFill/>
                </a:ln>
                <a:effectLst/>
                <a:latin typeface="Courier New Bold" charset="0"/>
                <a:cs typeface="Courier New Bold" charset="0"/>
                <a:sym typeface="Courier New Bold" charset="0"/>
              </a:rPr>
              <a:t>0</a:t>
            </a:r>
            <a:r>
              <a:rPr lang="en-US" sz="2000" dirty="0">
                <a:ln>
                  <a:noFill/>
                </a:ln>
                <a:effectLst/>
                <a:latin typeface="Courier New Bold" charset="0"/>
                <a:cs typeface="Courier New Bold" charset="0"/>
                <a:sym typeface="Courier New Bold" charset="0"/>
              </a:rPr>
              <a:t>xf000+4*0x100</a:t>
            </a: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r>
              <a:rPr lang="zh-CN" altLang="en-US" sz="2000" dirty="0">
                <a:ln>
                  <a:noFill/>
                </a:ln>
                <a:effectLst/>
                <a:latin typeface="Courier New Bold" charset="0"/>
                <a:cs typeface="Courier New Bold" charset="0"/>
                <a:sym typeface="Courier New Bold" charset="0"/>
              </a:rPr>
              <a:t>地址：</a:t>
            </a:r>
            <a:r>
              <a:rPr lang="en-US" sz="2000">
                <a:ln>
                  <a:noFill/>
                </a:ln>
                <a:effectLst/>
                <a:latin typeface="Courier New Bold" charset="0"/>
                <a:cs typeface="Courier New Bold" charset="0"/>
                <a:sym typeface="Courier New Bold" charset="0"/>
              </a:rPr>
              <a:t>0xf400</a:t>
            </a: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p:txBody>
      </p:sp>
      <p:grpSp>
        <p:nvGrpSpPr>
          <p:cNvPr id="120" name="组合 119"/>
          <p:cNvGrpSpPr/>
          <p:nvPr/>
        </p:nvGrpSpPr>
        <p:grpSpPr>
          <a:xfrm>
            <a:off x="5914390" y="3945890"/>
            <a:ext cx="3163570" cy="1099820"/>
            <a:chOff x="1356175" y="1093399"/>
            <a:chExt cx="2300757" cy="1589432"/>
          </a:xfrm>
        </p:grpSpPr>
        <p:sp>
          <p:nvSpPr>
            <p:cNvPr id="121" name="矩形 120"/>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2" name="椭圆 121"/>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3" name="椭圆 122"/>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4" name="椭圆 123"/>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5" name="椭圆 124"/>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grpSp>
        <p:nvGrpSpPr>
          <p:cNvPr id="59" name="组合 58"/>
          <p:cNvGrpSpPr/>
          <p:nvPr/>
        </p:nvGrpSpPr>
        <p:grpSpPr>
          <a:xfrm>
            <a:off x="115570" y="1756410"/>
            <a:ext cx="2525395" cy="1099820"/>
            <a:chOff x="1356175" y="1093399"/>
            <a:chExt cx="2300757" cy="1589432"/>
          </a:xfrm>
        </p:grpSpPr>
        <p:sp>
          <p:nvSpPr>
            <p:cNvPr id="60" name="矩形 59"/>
            <p:cNvSpPr/>
            <p:nvPr/>
          </p:nvSpPr>
          <p:spPr>
            <a:xfrm>
              <a:off x="1368667" y="1118935"/>
              <a:ext cx="2268157" cy="154954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61" name="椭圆 60"/>
            <p:cNvSpPr/>
            <p:nvPr/>
          </p:nvSpPr>
          <p:spPr>
            <a:xfrm>
              <a:off x="1356175" y="1093399"/>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62" name="椭圆 61"/>
            <p:cNvSpPr/>
            <p:nvPr/>
          </p:nvSpPr>
          <p:spPr>
            <a:xfrm>
              <a:off x="1356175"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66" name="椭圆 65"/>
            <p:cNvSpPr/>
            <p:nvPr/>
          </p:nvSpPr>
          <p:spPr>
            <a:xfrm>
              <a:off x="3618044" y="264394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0" name="椭圆 79"/>
            <p:cNvSpPr/>
            <p:nvPr/>
          </p:nvSpPr>
          <p:spPr>
            <a:xfrm>
              <a:off x="3617381" y="1098493"/>
              <a:ext cx="38888" cy="38888"/>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81" name="矩形 80"/>
          <p:cNvSpPr/>
          <p:nvPr/>
        </p:nvSpPr>
        <p:spPr>
          <a:xfrm>
            <a:off x="115570" y="1863090"/>
            <a:ext cx="2721610" cy="617220"/>
          </a:xfrm>
          <a:prstGeom prst="rect">
            <a:avLst/>
          </a:prstGeom>
        </p:spPr>
        <p:txBody>
          <a:bodyPr wrap="square">
            <a:spAutoFit/>
          </a:bodyPr>
          <a:lstStyle/>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a:p>
            <a:pPr marL="0" marR="0" lvl="0" indent="0" algn="l" defTabSz="914400" rtl="0" eaLnBrk="1" fontAlgn="base" latinLnBrk="0" hangingPunct="1">
              <a:lnSpc>
                <a:spcPct val="95000"/>
              </a:lnSpc>
              <a:spcBef>
                <a:spcPct val="0"/>
              </a:spcBef>
              <a:spcAft>
                <a:spcPct val="0"/>
              </a:spcAft>
              <a:buClr>
                <a:srgbClr val="990000"/>
              </a:buClr>
              <a:buSzPct val="60000"/>
              <a:buFont typeface="Wingdings 2" panose="05020102010507070707" pitchFamily="18" charset="2"/>
              <a:buNone/>
              <a:tabLst>
                <a:tab pos="914400" algn="l"/>
              </a:tabLst>
            </a:pPr>
            <a:endParaRPr kumimoji="0" lang="en-US" altLang="en-US" b="0" i="0" u="none" strike="noStrike" cap="none" normalizeH="0" baseline="0" dirty="0">
              <a:ln>
                <a:noFill/>
              </a:ln>
              <a:solidFill>
                <a:schemeClr val="tx1"/>
              </a:solidFill>
              <a:effectLst/>
              <a:latin typeface="Courier New Bold" charset="0"/>
              <a:cs typeface="Courier New Bold" charset="0"/>
              <a:sym typeface="Courier New Bold" charset="0"/>
            </a:endParaRPr>
          </a:p>
        </p:txBody>
      </p:sp>
      <p:graphicFrame>
        <p:nvGraphicFramePr>
          <p:cNvPr id="82" name="表格 81"/>
          <p:cNvGraphicFramePr/>
          <p:nvPr/>
        </p:nvGraphicFramePr>
        <p:xfrm>
          <a:off x="254000" y="1864995"/>
          <a:ext cx="2276475" cy="941070"/>
        </p:xfrm>
        <a:graphic>
          <a:graphicData uri="http://schemas.openxmlformats.org/drawingml/2006/table">
            <a:tbl>
              <a:tblPr firstRow="1" bandRow="1">
                <a:tableStyleId>{5C22544A-7EE6-4342-B048-85BDC9FD1C3A}</a:tableStyleId>
              </a:tblPr>
              <a:tblGrid>
                <a:gridCol w="941705">
                  <a:extLst>
                    <a:ext uri="{9D8B030D-6E8A-4147-A177-3AD203B41FA5}">
                      <a16:colId xmlns:a16="http://schemas.microsoft.com/office/drawing/2014/main" val="20000"/>
                    </a:ext>
                  </a:extLst>
                </a:gridCol>
                <a:gridCol w="1334770">
                  <a:extLst>
                    <a:ext uri="{9D8B030D-6E8A-4147-A177-3AD203B41FA5}">
                      <a16:colId xmlns:a16="http://schemas.microsoft.com/office/drawing/2014/main" val="20001"/>
                    </a:ext>
                  </a:extLst>
                </a:gridCol>
              </a:tblGrid>
              <a:tr h="470535">
                <a:tc>
                  <a:txBody>
                    <a:bodyPr/>
                    <a:lstStyle/>
                    <a:p>
                      <a:pPr>
                        <a:buNone/>
                      </a:pPr>
                      <a:r>
                        <a:rPr lang="zh-CN" altLang="en-US" sz="2400" b="0" dirty="0">
                          <a:ln>
                            <a:noFill/>
                          </a:ln>
                          <a:solidFill>
                            <a:schemeClr val="tx1"/>
                          </a:solidFill>
                          <a:effectLst/>
                          <a:latin typeface="Courier New Bold" charset="0"/>
                          <a:cs typeface="Courier New Bold" charset="0"/>
                          <a:sym typeface="Courier New Bold" charset="0"/>
                        </a:rPr>
                        <a:t>%rdx</a:t>
                      </a:r>
                    </a:p>
                  </a:txBody>
                  <a:tcPr>
                    <a:noFill/>
                  </a:tcPr>
                </a:tc>
                <a:tc>
                  <a:txBody>
                    <a:bodyPr/>
                    <a:lstStyle/>
                    <a:p>
                      <a:pPr>
                        <a:buNone/>
                      </a:pPr>
                      <a:r>
                        <a:rPr lang="zh-CN" altLang="en-US" sz="2400" b="0" dirty="0">
                          <a:ln>
                            <a:noFill/>
                          </a:ln>
                          <a:solidFill>
                            <a:schemeClr val="tx1"/>
                          </a:solidFill>
                          <a:effectLst/>
                          <a:latin typeface="Courier New Bold" charset="0"/>
                          <a:cs typeface="Courier New Bold" charset="0"/>
                          <a:sym typeface="Courier New Bold" charset="0"/>
                        </a:rPr>
                        <a:t>0xf000</a:t>
                      </a:r>
                    </a:p>
                  </a:txBody>
                  <a:tcPr>
                    <a:noFill/>
                  </a:tcPr>
                </a:tc>
                <a:extLst>
                  <a:ext uri="{0D108BD9-81ED-4DB2-BD59-A6C34878D82A}">
                    <a16:rowId xmlns:a16="http://schemas.microsoft.com/office/drawing/2014/main" val="10000"/>
                  </a:ext>
                </a:extLst>
              </a:tr>
              <a:tr h="470535">
                <a:tc>
                  <a:txBody>
                    <a:bodyPr/>
                    <a:lstStyle/>
                    <a:p>
                      <a:pPr>
                        <a:buNone/>
                      </a:pPr>
                      <a:r>
                        <a:rPr lang="zh-CN" altLang="en-US" sz="2400" b="0" dirty="0">
                          <a:ln>
                            <a:noFill/>
                          </a:ln>
                          <a:solidFill>
                            <a:schemeClr val="tx1"/>
                          </a:solidFill>
                          <a:effectLst/>
                          <a:latin typeface="Courier New Bold" charset="0"/>
                          <a:cs typeface="Courier New Bold" charset="0"/>
                        </a:rPr>
                        <a:t>%rcx</a:t>
                      </a:r>
                    </a:p>
                  </a:txBody>
                  <a:tcPr>
                    <a:noFill/>
                  </a:tcPr>
                </a:tc>
                <a:tc>
                  <a:txBody>
                    <a:bodyPr/>
                    <a:lstStyle/>
                    <a:p>
                      <a:pPr>
                        <a:buNone/>
                      </a:pPr>
                      <a:r>
                        <a:rPr lang="zh-CN" altLang="en-US" sz="2400" b="0" dirty="0">
                          <a:ln>
                            <a:noFill/>
                          </a:ln>
                          <a:solidFill>
                            <a:schemeClr val="tx1"/>
                          </a:solidFill>
                          <a:effectLst/>
                          <a:latin typeface="Courier New Bold" charset="0"/>
                          <a:cs typeface="Courier New Bold" charset="0"/>
                          <a:sym typeface="Courier New Bold" charset="0"/>
                        </a:rPr>
                        <a:t>0x0100</a:t>
                      </a:r>
                    </a:p>
                  </a:txBody>
                  <a:tcPr>
                    <a:noFill/>
                  </a:tcPr>
                </a:tc>
                <a:extLst>
                  <a:ext uri="{0D108BD9-81ED-4DB2-BD59-A6C34878D82A}">
                    <a16:rowId xmlns:a16="http://schemas.microsoft.com/office/drawing/2014/main" val="10001"/>
                  </a:ext>
                </a:extLst>
              </a:tr>
            </a:tbl>
          </a:graphicData>
        </a:graphic>
      </p:graphicFrame>
      <p:cxnSp>
        <p:nvCxnSpPr>
          <p:cNvPr id="83" name="直接连接符 82"/>
          <p:cNvCxnSpPr>
            <a:stCxn id="82" idx="1"/>
            <a:endCxn id="82" idx="3"/>
          </p:cNvCxnSpPr>
          <p:nvPr/>
        </p:nvCxnSpPr>
        <p:spPr>
          <a:xfrm>
            <a:off x="254000" y="2335530"/>
            <a:ext cx="2276475" cy="0"/>
          </a:xfrm>
          <a:prstGeom prst="line">
            <a:avLst/>
          </a:prstGeom>
        </p:spPr>
        <p:style>
          <a:lnRef idx="1">
            <a:schemeClr val="accent3"/>
          </a:lnRef>
          <a:fillRef idx="0">
            <a:schemeClr val="accent3"/>
          </a:fillRef>
          <a:effectRef idx="0">
            <a:schemeClr val="accent3"/>
          </a:effectRef>
          <a:fontRef idx="minor">
            <a:schemeClr val="tx1"/>
          </a:fontRef>
        </p:style>
      </p:cxnSp>
      <p:cxnSp>
        <p:nvCxnSpPr>
          <p:cNvPr id="84" name="直接连接符 83"/>
          <p:cNvCxnSpPr/>
          <p:nvPr/>
        </p:nvCxnSpPr>
        <p:spPr>
          <a:xfrm>
            <a:off x="1227455" y="1890395"/>
            <a:ext cx="0" cy="941070"/>
          </a:xfrm>
          <a:prstGeom prst="line">
            <a:avLst/>
          </a:prstGeom>
        </p:spPr>
        <p:style>
          <a:lnRef idx="1">
            <a:schemeClr val="accent3"/>
          </a:lnRef>
          <a:fillRef idx="0">
            <a:schemeClr val="accent3"/>
          </a:fillRef>
          <a:effectRef idx="0">
            <a:schemeClr val="accent3"/>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right)">
                                      <p:cBhvr>
                                        <p:cTn id="16" dur="500"/>
                                        <p:tgtEl>
                                          <p:spTgt spid="41"/>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43"/>
                                        </p:tgtEl>
                                        <p:attrNameLst>
                                          <p:attrName>style.visibility</p:attrName>
                                        </p:attrNameLst>
                                      </p:cBhvr>
                                      <p:to>
                                        <p:strVal val="visible"/>
                                      </p:to>
                                    </p:set>
                                    <p:anim by="(-#ppt_w*2)" calcmode="lin" valueType="num">
                                      <p:cBhvr rctx="PPT">
                                        <p:cTn id="20" dur="500" autoRev="1" fill="hold">
                                          <p:stCondLst>
                                            <p:cond delay="0"/>
                                          </p:stCondLst>
                                        </p:cTn>
                                        <p:tgtEl>
                                          <p:spTgt spid="43"/>
                                        </p:tgtEl>
                                        <p:attrNameLst>
                                          <p:attrName>ppt_w</p:attrName>
                                        </p:attrNameLst>
                                      </p:cBhvr>
                                    </p:anim>
                                    <p:anim by="(#ppt_w*0.50)" calcmode="lin" valueType="num">
                                      <p:cBhvr>
                                        <p:cTn id="21" dur="500" decel="50000" autoRev="1" fill="hold">
                                          <p:stCondLst>
                                            <p:cond delay="0"/>
                                          </p:stCondLst>
                                        </p:cTn>
                                        <p:tgtEl>
                                          <p:spTgt spid="43"/>
                                        </p:tgtEl>
                                        <p:attrNameLst>
                                          <p:attrName>ppt_x</p:attrName>
                                        </p:attrNameLst>
                                      </p:cBhvr>
                                    </p:anim>
                                    <p:anim from="(-#ppt_h/2)" to="(#ppt_y)" calcmode="lin" valueType="num">
                                      <p:cBhvr>
                                        <p:cTn id="22" dur="1000" fill="hold">
                                          <p:stCondLst>
                                            <p:cond delay="0"/>
                                          </p:stCondLst>
                                        </p:cTn>
                                        <p:tgtEl>
                                          <p:spTgt spid="43"/>
                                        </p:tgtEl>
                                        <p:attrNameLst>
                                          <p:attrName>ppt_y</p:attrName>
                                        </p:attrNameLst>
                                      </p:cBhvr>
                                    </p:anim>
                                    <p:animRot by="21600000">
                                      <p:cBhvr>
                                        <p:cTn id="23" dur="1000" fill="hold">
                                          <p:stCondLst>
                                            <p:cond delay="0"/>
                                          </p:stCondLst>
                                        </p:cTn>
                                        <p:tgtEl>
                                          <p:spTgt spid="43"/>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43"/>
                                        </p:tgtEl>
                                        <p:attrNameLst>
                                          <p:attrName>style.visibility</p:attrName>
                                        </p:attrNameLst>
                                      </p:cBhvr>
                                      <p:to>
                                        <p:strVal val="visible"/>
                                      </p:to>
                                    </p:set>
                                    <p:anim calcmode="lin" valueType="num">
                                      <p:cBhvr>
                                        <p:cTn id="26" dur="10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43"/>
                                        </p:tgtEl>
                                        <p:attrNameLst>
                                          <p:attrName>ppt_y</p:attrName>
                                        </p:attrNameLst>
                                      </p:cBhvr>
                                      <p:tavLst>
                                        <p:tav tm="0">
                                          <p:val>
                                            <p:strVal val="#ppt_y"/>
                                          </p:val>
                                        </p:tav>
                                        <p:tav tm="100000">
                                          <p:val>
                                            <p:strVal val="#ppt_y"/>
                                          </p:val>
                                        </p:tav>
                                      </p:tavLst>
                                    </p:anim>
                                    <p:anim calcmode="lin" valueType="num">
                                      <p:cBhvr>
                                        <p:cTn id="28" dur="10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02">
                                            <p:txEl>
                                              <p:pRg st="1" end="1"/>
                                            </p:txEl>
                                          </p:spTgt>
                                        </p:tgtEl>
                                        <p:attrNameLst>
                                          <p:attrName>style.visibility</p:attrName>
                                        </p:attrNameLst>
                                      </p:cBhvr>
                                      <p:to>
                                        <p:strVal val="visible"/>
                                      </p:to>
                                    </p:set>
                                    <p:anim calcmode="lin" valueType="num">
                                      <p:cBhvr additive="base">
                                        <p:cTn id="35" dur="500" fill="hold"/>
                                        <p:tgtEl>
                                          <p:spTgt spid="102">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02">
                                            <p:txEl>
                                              <p:pRg st="2" end="2"/>
                                            </p:txEl>
                                          </p:spTgt>
                                        </p:tgtEl>
                                        <p:attrNameLst>
                                          <p:attrName>style.visibility</p:attrName>
                                        </p:attrNameLst>
                                      </p:cBhvr>
                                      <p:to>
                                        <p:strVal val="visible"/>
                                      </p:to>
                                    </p:set>
                                    <p:anim calcmode="lin" valueType="num">
                                      <p:cBhvr additive="base">
                                        <p:cTn id="41" dur="500" fill="hold"/>
                                        <p:tgtEl>
                                          <p:spTgt spid="102">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19">
                                            <p:txEl>
                                              <p:pRg st="1" end="1"/>
                                            </p:txEl>
                                          </p:spTgt>
                                        </p:tgtEl>
                                        <p:attrNameLst>
                                          <p:attrName>style.visibility</p:attrName>
                                        </p:attrNameLst>
                                      </p:cBhvr>
                                      <p:to>
                                        <p:strVal val="visible"/>
                                      </p:to>
                                    </p:set>
                                    <p:anim calcmode="lin" valueType="num">
                                      <p:cBhvr additive="base">
                                        <p:cTn id="47" dur="500" fill="hold"/>
                                        <p:tgtEl>
                                          <p:spTgt spid="119">
                                            <p:txEl>
                                              <p:pRg st="1" end="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1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19">
                                            <p:txEl>
                                              <p:pRg st="2" end="2"/>
                                            </p:txEl>
                                          </p:spTgt>
                                        </p:tgtEl>
                                        <p:attrNameLst>
                                          <p:attrName>style.visibility</p:attrName>
                                        </p:attrNameLst>
                                      </p:cBhvr>
                                      <p:to>
                                        <p:strVal val="visible"/>
                                      </p:to>
                                    </p:set>
                                    <p:anim calcmode="lin" valueType="num">
                                      <p:cBhvr additive="base">
                                        <p:cTn id="53" dur="500" fill="hold"/>
                                        <p:tgtEl>
                                          <p:spTgt spid="119">
                                            <p:txEl>
                                              <p:pRg st="2" end="2"/>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26">
                                            <p:txEl>
                                              <p:pRg st="1" end="1"/>
                                            </p:txEl>
                                          </p:spTgt>
                                        </p:tgtEl>
                                        <p:attrNameLst>
                                          <p:attrName>style.visibility</p:attrName>
                                        </p:attrNameLst>
                                      </p:cBhvr>
                                      <p:to>
                                        <p:strVal val="visible"/>
                                      </p:to>
                                    </p:set>
                                    <p:anim calcmode="lin" valueType="num">
                                      <p:cBhvr additive="base">
                                        <p:cTn id="59" dur="500" fill="hold"/>
                                        <p:tgtEl>
                                          <p:spTgt spid="126">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26">
                                            <p:txEl>
                                              <p:pRg st="2" end="2"/>
                                            </p:txEl>
                                          </p:spTgt>
                                        </p:tgtEl>
                                        <p:attrNameLst>
                                          <p:attrName>style.visibility</p:attrName>
                                        </p:attrNameLst>
                                      </p:cBhvr>
                                      <p:to>
                                        <p:strVal val="visible"/>
                                      </p:to>
                                    </p:set>
                                    <p:anim calcmode="lin" valueType="num">
                                      <p:cBhvr additive="base">
                                        <p:cTn id="65" dur="500" fill="hold"/>
                                        <p:tgtEl>
                                          <p:spTgt spid="126">
                                            <p:txEl>
                                              <p:pRg st="2" end="2"/>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2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78">
                                            <p:txEl>
                                              <p:pRg st="1" end="1"/>
                                            </p:txEl>
                                          </p:spTgt>
                                        </p:tgtEl>
                                        <p:attrNameLst>
                                          <p:attrName>style.visibility</p:attrName>
                                        </p:attrNameLst>
                                      </p:cBhvr>
                                      <p:to>
                                        <p:strVal val="visible"/>
                                      </p:to>
                                    </p:set>
                                    <p:anim calcmode="lin" valueType="num">
                                      <p:cBhvr additive="base">
                                        <p:cTn id="71" dur="500" fill="hold"/>
                                        <p:tgtEl>
                                          <p:spTgt spid="78">
                                            <p:txEl>
                                              <p:pRg st="1" end="1"/>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7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78">
                                            <p:txEl>
                                              <p:pRg st="2" end="2"/>
                                            </p:txEl>
                                          </p:spTgt>
                                        </p:tgtEl>
                                        <p:attrNameLst>
                                          <p:attrName>style.visibility</p:attrName>
                                        </p:attrNameLst>
                                      </p:cBhvr>
                                      <p:to>
                                        <p:strVal val="visible"/>
                                      </p:to>
                                    </p:set>
                                    <p:anim calcmode="lin" valueType="num">
                                      <p:cBhvr additive="base">
                                        <p:cTn id="77" dur="500" fill="hold"/>
                                        <p:tgtEl>
                                          <p:spTgt spid="78">
                                            <p:txEl>
                                              <p:pRg st="2" end="2"/>
                                            </p:txEl>
                                          </p:spTgt>
                                        </p:tgtEl>
                                        <p:attrNameLst>
                                          <p:attrName>ppt_x</p:attrName>
                                        </p:attrNameLst>
                                      </p:cBhvr>
                                      <p:tavLst>
                                        <p:tav tm="0">
                                          <p:val>
                                            <p:strVal val="#ppt_x"/>
                                          </p:val>
                                        </p:tav>
                                        <p:tav tm="100000">
                                          <p:val>
                                            <p:strVal val="#ppt_x"/>
                                          </p:val>
                                        </p:tav>
                                      </p:tavLst>
                                    </p:anim>
                                    <p:anim calcmode="lin" valueType="num">
                                      <p:cBhvr additive="base">
                                        <p:cTn id="78" dur="500" fill="hold"/>
                                        <p:tgtEl>
                                          <p:spTgt spid="7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p:bldP spid="43"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nvSpPr>
        <p:spPr>
          <a:xfrm>
            <a:off x="304800" y="493712"/>
            <a:ext cx="80772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endParaRPr lang="zh-CN" altLang="en-US" dirty="0"/>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19" name="组合 18"/>
          <p:cNvGrpSpPr/>
          <p:nvPr/>
        </p:nvGrpSpPr>
        <p:grpSpPr>
          <a:xfrm>
            <a:off x="2894839" y="289781"/>
            <a:ext cx="1004231" cy="1004101"/>
            <a:chOff x="1101311" y="1198062"/>
            <a:chExt cx="1106591" cy="1106447"/>
          </a:xfrm>
        </p:grpSpPr>
        <p:grpSp>
          <p:nvGrpSpPr>
            <p:cNvPr id="21" name="组合 20"/>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37" name="椭圆 36"/>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38" name="组合 37"/>
            <p:cNvGrpSpPr>
              <a:grpSpLocks noChangeAspect="1"/>
            </p:cNvGrpSpPr>
            <p:nvPr/>
          </p:nvGrpSpPr>
          <p:grpSpPr>
            <a:xfrm>
              <a:off x="1330537" y="1422392"/>
              <a:ext cx="648140" cy="625029"/>
              <a:chOff x="7019925" y="5499100"/>
              <a:chExt cx="312738" cy="301626"/>
            </a:xfrm>
            <a:solidFill>
              <a:srgbClr val="C00000"/>
            </a:solidFill>
          </p:grpSpPr>
          <p:sp>
            <p:nvSpPr>
              <p:cNvPr id="39"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40"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41" name="矩形 40"/>
          <p:cNvSpPr/>
          <p:nvPr/>
        </p:nvSpPr>
        <p:spPr>
          <a:xfrm>
            <a:off x="-33814" y="780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42" name="矩形 41"/>
          <p:cNvSpPr/>
          <p:nvPr/>
        </p:nvSpPr>
        <p:spPr>
          <a:xfrm>
            <a:off x="3997960" y="781050"/>
            <a:ext cx="5146040" cy="76200"/>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43" name="TextBox 24"/>
          <p:cNvSpPr txBox="1"/>
          <p:nvPr/>
        </p:nvSpPr>
        <p:spPr>
          <a:xfrm>
            <a:off x="3889579" y="159166"/>
            <a:ext cx="3992880" cy="1014730"/>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与地址计算有关的指令</a:t>
            </a:r>
            <a:endParaRPr lang="zh-CN" altLang="en-US" sz="3000" dirty="0"/>
          </a:p>
          <a:p>
            <a:pPr algn="l"/>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13316" name="Rectangle 4"/>
          <p:cNvSpPr>
            <a:spLocks noGrp="1" noChangeArrowheads="1"/>
          </p:cNvSpPr>
          <p:nvPr/>
        </p:nvSpPr>
        <p:spPr>
          <a:xfrm>
            <a:off x="396875" y="13620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r>
              <a:rPr lang="en-US" dirty="0" err="1">
                <a:latin typeface="Courier New Bold" charset="0"/>
                <a:cs typeface="Courier New Bold" charset="0"/>
                <a:sym typeface="Courier New Bold" charset="0"/>
              </a:rPr>
              <a:t>leaq</a:t>
            </a:r>
            <a:r>
              <a:rPr lang="en-US" dirty="0"/>
              <a:t> </a:t>
            </a:r>
            <a:r>
              <a:rPr lang="en-US" dirty="0" err="1">
                <a:latin typeface="Calibri Bold Italic" charset="0"/>
                <a:ea typeface="Calibri Bold Italic" charset="0"/>
                <a:cs typeface="Calibri Bold Italic" charset="0"/>
                <a:sym typeface="Calibri Bold Italic" charset="0"/>
              </a:rPr>
              <a:t>Src</a:t>
            </a:r>
            <a:r>
              <a:rPr lang="en-US" dirty="0"/>
              <a:t>, </a:t>
            </a:r>
            <a:r>
              <a:rPr lang="en-US" dirty="0" err="1">
                <a:latin typeface="Calibri Bold Italic" charset="0"/>
                <a:ea typeface="Calibri Bold Italic" charset="0"/>
                <a:cs typeface="Calibri Bold Italic" charset="0"/>
                <a:sym typeface="Calibri Bold Italic" charset="0"/>
              </a:rPr>
              <a:t>Dst</a:t>
            </a:r>
            <a:endParaRPr lang="en-US" dirty="0"/>
          </a:p>
          <a:p>
            <a:pPr marL="552450" lvl="1"/>
            <a:r>
              <a:rPr lang="en-US" dirty="0" err="1">
                <a:latin typeface="Calibri Italic" charset="0"/>
                <a:ea typeface="Calibri Italic" charset="0"/>
                <a:cs typeface="Calibri Italic" charset="0"/>
                <a:sym typeface="Calibri Italic" charset="0"/>
              </a:rPr>
              <a:t>Src</a:t>
            </a:r>
            <a:r>
              <a:rPr lang="zh-CN" altLang="en-US" dirty="0" err="1">
                <a:latin typeface="Calibri Italic" charset="0"/>
                <a:ea typeface="宋体" panose="02010600030101010101" pitchFamily="2" charset="-122"/>
                <a:cs typeface="Calibri Italic" charset="0"/>
                <a:sym typeface="Calibri Italic" charset="0"/>
              </a:rPr>
              <a:t>：</a:t>
            </a:r>
            <a:r>
              <a:rPr lang="en-US" dirty="0"/>
              <a:t> 地址模式表达式</a:t>
            </a:r>
          </a:p>
          <a:p>
            <a:pPr marL="552450" lvl="1"/>
            <a:r>
              <a:rPr lang="en-US" dirty="0" err="1"/>
              <a:t>将DST设置为以表达式表示的地址</a:t>
            </a:r>
            <a:endParaRPr lang="en-US" dirty="0"/>
          </a:p>
          <a:p>
            <a:pPr>
              <a:spcBef>
                <a:spcPts val="2800"/>
              </a:spcBef>
            </a:pPr>
            <a:r>
              <a:rPr lang="zh-CN" altLang="en-US" dirty="0"/>
              <a:t>用法</a:t>
            </a:r>
          </a:p>
          <a:p>
            <a:pPr marL="552450" lvl="1"/>
            <a:r>
              <a:rPr lang="en-US" dirty="0">
                <a:highlight>
                  <a:srgbClr val="FFFF00"/>
                </a:highlight>
              </a:rPr>
              <a:t>没有内存引用的地址</a:t>
            </a:r>
            <a:r>
              <a:rPr lang="en-US" dirty="0">
                <a:highlight>
                  <a:srgbClr val="FFFF00"/>
                </a:highlight>
                <a:sym typeface="+mn-ea"/>
              </a:rPr>
              <a:t>计算</a:t>
            </a:r>
            <a:endParaRPr lang="en-US" dirty="0">
              <a:highlight>
                <a:srgbClr val="FFFF00"/>
              </a:highlight>
            </a:endParaRPr>
          </a:p>
          <a:p>
            <a:pPr marL="838200" lvl="2"/>
            <a:r>
              <a:rPr lang="en-US" dirty="0"/>
              <a:t>E.g.  </a:t>
            </a:r>
            <a:r>
              <a:rPr lang="en-US" dirty="0">
                <a:latin typeface="Courier New Bold" charset="0"/>
                <a:cs typeface="Courier New Bold" charset="0"/>
                <a:sym typeface="Courier New Bold" charset="0"/>
              </a:rPr>
              <a:t>p = &amp;x[</a:t>
            </a:r>
            <a:r>
              <a:rPr lang="en-US" dirty="0" err="1">
                <a:latin typeface="Courier New Bold" charset="0"/>
                <a:cs typeface="Courier New Bold" charset="0"/>
                <a:sym typeface="Courier New Bold" charset="0"/>
              </a:rPr>
              <a:t>i</a:t>
            </a:r>
            <a:r>
              <a:rPr lang="en-US" dirty="0">
                <a:latin typeface="Courier New Bold" charset="0"/>
                <a:cs typeface="Courier New Bold" charset="0"/>
                <a:sym typeface="Courier New Bold" charset="0"/>
              </a:rPr>
              <a:t>];</a:t>
            </a:r>
            <a:endParaRPr lang="en-US" dirty="0"/>
          </a:p>
          <a:p>
            <a:pPr marL="552450" lvl="1"/>
            <a:r>
              <a:rPr lang="zh-CN" altLang="en-US" dirty="0">
                <a:highlight>
                  <a:srgbClr val="FFFF00"/>
                </a:highlight>
              </a:rPr>
              <a:t>计算形如</a:t>
            </a:r>
            <a:r>
              <a:rPr lang="en-US" altLang="zh-CN" dirty="0">
                <a:highlight>
                  <a:srgbClr val="FFFF00"/>
                </a:highlight>
              </a:rPr>
              <a:t>“</a:t>
            </a:r>
            <a:r>
              <a:rPr lang="en-US" dirty="0">
                <a:highlight>
                  <a:srgbClr val="FFFF00"/>
                </a:highlight>
              </a:rPr>
              <a:t> x + k*y”</a:t>
            </a:r>
            <a:r>
              <a:rPr lang="zh-CN" altLang="en-US" dirty="0">
                <a:highlight>
                  <a:srgbClr val="FFFF00"/>
                </a:highlight>
              </a:rPr>
              <a:t>的</a:t>
            </a:r>
            <a:r>
              <a:rPr lang="en-US" dirty="0">
                <a:highlight>
                  <a:srgbClr val="FFFF00"/>
                </a:highlight>
              </a:rPr>
              <a:t>算术表达式</a:t>
            </a:r>
            <a:r>
              <a:rPr lang="zh-CN" altLang="en-US" dirty="0">
                <a:highlight>
                  <a:srgbClr val="FFFF00"/>
                </a:highlight>
              </a:rPr>
              <a:t>的结果</a:t>
            </a:r>
          </a:p>
          <a:p>
            <a:pPr marL="838200" lvl="2"/>
            <a:r>
              <a:rPr lang="zh-CN" altLang="en-US" dirty="0"/>
              <a:t>其中</a:t>
            </a:r>
            <a:r>
              <a:rPr lang="en-US" dirty="0"/>
              <a:t>k = 1, 2, 4, or 8</a:t>
            </a:r>
          </a:p>
          <a:p>
            <a:r>
              <a:rPr lang="zh-CN" altLang="en-US" dirty="0"/>
              <a:t>举例</a:t>
            </a:r>
          </a:p>
        </p:txBody>
      </p:sp>
      <p:sp>
        <p:nvSpPr>
          <p:cNvPr id="13317" name="Rectangle 5"/>
          <p:cNvSpPr/>
          <p:nvPr/>
        </p:nvSpPr>
        <p:spPr bwMode="auto">
          <a:xfrm>
            <a:off x="482600" y="5219700"/>
            <a:ext cx="2514600" cy="1346200"/>
          </a:xfrm>
          <a:prstGeom prst="rect">
            <a:avLst/>
          </a:prstGeom>
          <a:solidFill>
            <a:srgbClr val="CDF1C5"/>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182880" tIns="0" rIns="0" bIns="0"/>
          <a:lstStyle/>
          <a:p>
            <a:pPr algn="l"/>
            <a:r>
              <a:rPr lang="en-US" sz="1800" b="1" dirty="0">
                <a:solidFill>
                  <a:schemeClr val="tx1"/>
                </a:solidFill>
                <a:latin typeface="Courier New" panose="02070309020205020404" charset="0"/>
                <a:ea typeface="Monaco" charset="0"/>
                <a:cs typeface="Courier New" panose="02070309020205020404" charset="0"/>
                <a:sym typeface="Monaco" charset="0"/>
              </a:rPr>
              <a:t>long m12(</a:t>
            </a:r>
            <a:r>
              <a:rPr lang="en-US" sz="1800" dirty="0">
                <a:latin typeface="Courier New" panose="02070309020205020404" charset="0"/>
                <a:ea typeface="Monaco" charset="0"/>
                <a:cs typeface="Courier New" panose="02070309020205020404" charset="0"/>
                <a:sym typeface="Monaco" charset="0"/>
              </a:rPr>
              <a:t>long</a:t>
            </a:r>
            <a:r>
              <a:rPr lang="en-US" sz="1800" b="1" dirty="0">
                <a:solidFill>
                  <a:schemeClr val="tx1"/>
                </a:solidFill>
                <a:latin typeface="Courier New" panose="02070309020205020404" charset="0"/>
                <a:ea typeface="Monaco" charset="0"/>
                <a:cs typeface="Courier New" panose="02070309020205020404" charset="0"/>
                <a:sym typeface="Monaco" charset="0"/>
              </a:rPr>
              <a:t> x)</a:t>
            </a:r>
            <a:endParaRPr lang="en-US" b="1" dirty="0">
              <a:solidFill>
                <a:schemeClr val="tx1"/>
              </a:solidFill>
              <a:latin typeface="Courier New" panose="02070309020205020404" charset="0"/>
              <a:ea typeface="Monaco" charset="0"/>
              <a:cs typeface="Courier New" panose="02070309020205020404" charset="0"/>
              <a:sym typeface="Monaco" charset="0"/>
            </a:endParaRPr>
          </a:p>
          <a:p>
            <a:pPr algn="l"/>
            <a:r>
              <a:rPr lang="en-US" sz="1800" b="1" dirty="0">
                <a:solidFill>
                  <a:schemeClr val="tx1"/>
                </a:solidFill>
                <a:latin typeface="Courier New" panose="02070309020205020404" charset="0"/>
                <a:ea typeface="Monaco" charset="0"/>
                <a:cs typeface="Courier New" panose="02070309020205020404" charset="0"/>
                <a:sym typeface="Monaco" charset="0"/>
              </a:rPr>
              <a:t>{</a:t>
            </a:r>
            <a:endParaRPr lang="en-US" b="1" dirty="0">
              <a:solidFill>
                <a:schemeClr val="tx1"/>
              </a:solidFill>
              <a:latin typeface="Courier New" panose="02070309020205020404" charset="0"/>
              <a:ea typeface="Monaco" charset="0"/>
              <a:cs typeface="Courier New" panose="02070309020205020404" charset="0"/>
              <a:sym typeface="Monaco" charset="0"/>
            </a:endParaRPr>
          </a:p>
          <a:p>
            <a:pPr algn="l"/>
            <a:r>
              <a:rPr lang="en-US" sz="1800" b="1" dirty="0">
                <a:solidFill>
                  <a:schemeClr val="tx1"/>
                </a:solidFill>
                <a:latin typeface="Courier New" panose="02070309020205020404" charset="0"/>
                <a:ea typeface="Monaco" charset="0"/>
                <a:cs typeface="Courier New" panose="02070309020205020404" charset="0"/>
                <a:sym typeface="Monaco" charset="0"/>
              </a:rPr>
              <a:t>  return x*12;</a:t>
            </a:r>
            <a:endParaRPr lang="en-US" b="1" dirty="0">
              <a:solidFill>
                <a:schemeClr val="tx1"/>
              </a:solidFill>
              <a:latin typeface="Courier New" panose="02070309020205020404" charset="0"/>
              <a:ea typeface="Monaco" charset="0"/>
              <a:cs typeface="Courier New" panose="02070309020205020404" charset="0"/>
              <a:sym typeface="Monaco" charset="0"/>
            </a:endParaRPr>
          </a:p>
          <a:p>
            <a:pPr algn="l"/>
            <a:r>
              <a:rPr lang="en-US" sz="1800" b="1" dirty="0">
                <a:solidFill>
                  <a:schemeClr val="tx1"/>
                </a:solidFill>
                <a:latin typeface="Courier New" panose="02070309020205020404" charset="0"/>
                <a:ea typeface="Monaco" charset="0"/>
                <a:cs typeface="Courier New" panose="02070309020205020404" charset="0"/>
                <a:sym typeface="Monaco" charset="0"/>
              </a:rPr>
              <a:t>}</a:t>
            </a:r>
          </a:p>
        </p:txBody>
      </p:sp>
      <p:sp>
        <p:nvSpPr>
          <p:cNvPr id="13318" name="Rectangle 6"/>
          <p:cNvSpPr/>
          <p:nvPr/>
        </p:nvSpPr>
        <p:spPr bwMode="auto">
          <a:xfrm>
            <a:off x="3598545" y="5400675"/>
            <a:ext cx="5524500" cy="685800"/>
          </a:xfrm>
          <a:prstGeom prst="rect">
            <a:avLst/>
          </a:prstGeom>
          <a:solidFill>
            <a:srgbClr val="FFFF99"/>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76200" tIns="76200" rIns="76200" bIns="76200"/>
          <a:lstStyle/>
          <a:p>
            <a:pPr algn="l">
              <a:tabLst>
                <a:tab pos="228600" algn="l"/>
                <a:tab pos="228600" algn="l"/>
              </a:tabLst>
            </a:pPr>
            <a:r>
              <a:rPr lang="en-US" sz="1800" dirty="0" err="1">
                <a:solidFill>
                  <a:schemeClr val="tx1"/>
                </a:solidFill>
                <a:latin typeface="Courier New" panose="02070309020205020404" charset="0"/>
                <a:cs typeface="Courier New" panose="02070309020205020404" charset="0"/>
                <a:sym typeface="Courier New" panose="02070309020205020404" charset="0"/>
              </a:rPr>
              <a:t>leaq</a:t>
            </a:r>
            <a:r>
              <a:rPr lang="en-US" sz="1800" dirty="0">
                <a:solidFill>
                  <a:schemeClr val="tx1"/>
                </a:solidFill>
                <a:latin typeface="Courier New" panose="02070309020205020404" charset="0"/>
                <a:cs typeface="Courier New" panose="02070309020205020404" charset="0"/>
                <a:sym typeface="Courier New" panose="02070309020205020404" charset="0"/>
              </a:rPr>
              <a:t> (%</a:t>
            </a:r>
            <a:r>
              <a:rPr lang="en-US" sz="1800" dirty="0">
                <a:latin typeface="Courier New" panose="02070309020205020404" charset="0"/>
                <a:cs typeface="Courier New" panose="02070309020205020404" charset="0"/>
                <a:sym typeface="Courier New" panose="02070309020205020404" charset="0"/>
              </a:rPr>
              <a:t>rdi</a:t>
            </a:r>
            <a:r>
              <a:rPr lang="en-US" sz="1800" dirty="0">
                <a:solidFill>
                  <a:schemeClr val="tx1"/>
                </a:solidFill>
                <a:latin typeface="Courier New" panose="02070309020205020404" charset="0"/>
                <a:cs typeface="Courier New" panose="02070309020205020404" charset="0"/>
                <a:sym typeface="Courier New" panose="02070309020205020404" charset="0"/>
              </a:rPr>
              <a:t>,%</a:t>
            </a:r>
            <a:r>
              <a:rPr lang="en-US" sz="1800" dirty="0">
                <a:latin typeface="Courier New" panose="02070309020205020404" charset="0"/>
                <a:cs typeface="Courier New" panose="02070309020205020404" charset="0"/>
                <a:sym typeface="Courier New" panose="02070309020205020404" charset="0"/>
              </a:rPr>
              <a:t>rdi</a:t>
            </a:r>
            <a:r>
              <a:rPr lang="en-US" sz="1800" dirty="0">
                <a:solidFill>
                  <a:schemeClr val="tx1"/>
                </a:solidFill>
                <a:latin typeface="Courier New" panose="02070309020205020404" charset="0"/>
                <a:cs typeface="Courier New" panose="02070309020205020404" charset="0"/>
                <a:sym typeface="Courier New" panose="02070309020205020404" charset="0"/>
              </a:rPr>
              <a:t>,2), %</a:t>
            </a:r>
            <a:r>
              <a:rPr lang="en-US" sz="1800" dirty="0" err="1">
                <a:latin typeface="Courier New" panose="02070309020205020404" charset="0"/>
                <a:cs typeface="Courier New" panose="02070309020205020404" charset="0"/>
                <a:sym typeface="Courier New" panose="02070309020205020404" charset="0"/>
              </a:rPr>
              <a:t>r</a:t>
            </a:r>
            <a:r>
              <a:rPr lang="en-US" sz="1800" dirty="0" err="1">
                <a:solidFill>
                  <a:schemeClr val="tx1"/>
                </a:solidFill>
                <a:latin typeface="Courier New" panose="02070309020205020404" charset="0"/>
                <a:cs typeface="Courier New" panose="02070309020205020404" charset="0"/>
                <a:sym typeface="Courier New" panose="02070309020205020404" charset="0"/>
              </a:rPr>
              <a:t>ax</a:t>
            </a:r>
            <a:r>
              <a:rPr lang="en-US" sz="1800" dirty="0">
                <a:solidFill>
                  <a:schemeClr val="tx1"/>
                </a:solidFill>
                <a:latin typeface="Courier New" panose="02070309020205020404" charset="0"/>
                <a:cs typeface="Courier New" panose="02070309020205020404" charset="0"/>
                <a:sym typeface="Courier New" panose="02070309020205020404" charset="0"/>
              </a:rPr>
              <a:t> # t &lt;- </a:t>
            </a:r>
            <a:r>
              <a:rPr lang="en-US" sz="1800" dirty="0" err="1">
                <a:solidFill>
                  <a:schemeClr val="tx1"/>
                </a:solidFill>
                <a:latin typeface="Courier New" panose="02070309020205020404" charset="0"/>
                <a:cs typeface="Courier New" panose="02070309020205020404" charset="0"/>
                <a:sym typeface="Courier New" panose="02070309020205020404" charset="0"/>
              </a:rPr>
              <a:t>x+x</a:t>
            </a:r>
            <a:r>
              <a:rPr lang="en-US" sz="1800" dirty="0">
                <a:solidFill>
                  <a:schemeClr val="tx1"/>
                </a:solidFill>
                <a:latin typeface="Courier New" panose="02070309020205020404" charset="0"/>
                <a:cs typeface="Courier New" panose="02070309020205020404" charset="0"/>
                <a:sym typeface="Courier New" panose="02070309020205020404" charset="0"/>
              </a:rPr>
              <a:t>*2</a:t>
            </a:r>
            <a:endParaRPr lang="en-US"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tabLst>
                <a:tab pos="228600" algn="l"/>
                <a:tab pos="228600" algn="l"/>
              </a:tabLst>
            </a:pPr>
            <a:r>
              <a:rPr lang="en-US" sz="1800" dirty="0" err="1">
                <a:solidFill>
                  <a:schemeClr val="tx1"/>
                </a:solidFill>
                <a:latin typeface="Courier New" panose="02070309020205020404" charset="0"/>
                <a:cs typeface="Courier New" panose="02070309020205020404" charset="0"/>
                <a:sym typeface="Courier New" panose="02070309020205020404" charset="0"/>
              </a:rPr>
              <a:t>salq</a:t>
            </a:r>
            <a:r>
              <a:rPr lang="en-US" sz="1800" dirty="0">
                <a:solidFill>
                  <a:schemeClr val="tx1"/>
                </a:solidFill>
                <a:latin typeface="Courier New" panose="02070309020205020404" charset="0"/>
                <a:cs typeface="Courier New" panose="02070309020205020404" charset="0"/>
                <a:sym typeface="Courier New" panose="02070309020205020404" charset="0"/>
              </a:rPr>
              <a:t> $2, %</a:t>
            </a:r>
            <a:r>
              <a:rPr lang="en-US" sz="1800" dirty="0" err="1">
                <a:latin typeface="Courier New" panose="02070309020205020404" charset="0"/>
                <a:cs typeface="Courier New" panose="02070309020205020404" charset="0"/>
                <a:sym typeface="Courier New" panose="02070309020205020404" charset="0"/>
              </a:rPr>
              <a:t>r</a:t>
            </a:r>
            <a:r>
              <a:rPr lang="en-US" sz="1800" dirty="0" err="1">
                <a:solidFill>
                  <a:schemeClr val="tx1"/>
                </a:solidFill>
                <a:latin typeface="Courier New" panose="02070309020205020404" charset="0"/>
                <a:cs typeface="Courier New" panose="02070309020205020404" charset="0"/>
                <a:sym typeface="Courier New" panose="02070309020205020404" charset="0"/>
              </a:rPr>
              <a:t>ax</a:t>
            </a:r>
            <a:r>
              <a:rPr lang="en-US" sz="1800" dirty="0">
                <a:solidFill>
                  <a:schemeClr val="tx1"/>
                </a:solidFill>
                <a:latin typeface="Courier New" panose="02070309020205020404" charset="0"/>
                <a:cs typeface="Courier New" panose="02070309020205020404" charset="0"/>
                <a:sym typeface="Courier New" panose="02070309020205020404" charset="0"/>
              </a:rPr>
              <a:t>            </a:t>
            </a:r>
            <a:r>
              <a:rPr lang="en-US" sz="1800" dirty="0">
                <a:latin typeface="Courier New" panose="02070309020205020404" charset="0"/>
                <a:cs typeface="Courier New" panose="02070309020205020404" charset="0"/>
                <a:sym typeface="Courier New" panose="02070309020205020404" charset="0"/>
              </a:rPr>
              <a:t># </a:t>
            </a:r>
            <a:r>
              <a:rPr lang="en-US" sz="1800" dirty="0">
                <a:solidFill>
                  <a:schemeClr val="tx1"/>
                </a:solidFill>
                <a:latin typeface="Courier New" panose="02070309020205020404" charset="0"/>
                <a:cs typeface="Courier New" panose="02070309020205020404" charset="0"/>
                <a:sym typeface="Courier New" panose="02070309020205020404" charset="0"/>
              </a:rPr>
              <a:t>return t&lt;&lt;2</a:t>
            </a:r>
          </a:p>
        </p:txBody>
      </p:sp>
      <p:sp>
        <p:nvSpPr>
          <p:cNvPr id="2" name="右箭头 1"/>
          <p:cNvSpPr/>
          <p:nvPr/>
        </p:nvSpPr>
        <p:spPr>
          <a:xfrm>
            <a:off x="3022600" y="5566410"/>
            <a:ext cx="588645" cy="35433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right)">
                                      <p:cBhvr>
                                        <p:cTn id="16" dur="500"/>
                                        <p:tgtEl>
                                          <p:spTgt spid="41"/>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43"/>
                                        </p:tgtEl>
                                        <p:attrNameLst>
                                          <p:attrName>style.visibility</p:attrName>
                                        </p:attrNameLst>
                                      </p:cBhvr>
                                      <p:to>
                                        <p:strVal val="visible"/>
                                      </p:to>
                                    </p:set>
                                    <p:anim by="(-#ppt_w*2)" calcmode="lin" valueType="num">
                                      <p:cBhvr rctx="PPT">
                                        <p:cTn id="20" dur="500" autoRev="1" fill="hold">
                                          <p:stCondLst>
                                            <p:cond delay="0"/>
                                          </p:stCondLst>
                                        </p:cTn>
                                        <p:tgtEl>
                                          <p:spTgt spid="43"/>
                                        </p:tgtEl>
                                        <p:attrNameLst>
                                          <p:attrName>ppt_w</p:attrName>
                                        </p:attrNameLst>
                                      </p:cBhvr>
                                    </p:anim>
                                    <p:anim by="(#ppt_w*0.50)" calcmode="lin" valueType="num">
                                      <p:cBhvr>
                                        <p:cTn id="21" dur="500" decel="50000" autoRev="1" fill="hold">
                                          <p:stCondLst>
                                            <p:cond delay="0"/>
                                          </p:stCondLst>
                                        </p:cTn>
                                        <p:tgtEl>
                                          <p:spTgt spid="43"/>
                                        </p:tgtEl>
                                        <p:attrNameLst>
                                          <p:attrName>ppt_x</p:attrName>
                                        </p:attrNameLst>
                                      </p:cBhvr>
                                    </p:anim>
                                    <p:anim from="(-#ppt_h/2)" to="(#ppt_y)" calcmode="lin" valueType="num">
                                      <p:cBhvr>
                                        <p:cTn id="22" dur="1000" fill="hold">
                                          <p:stCondLst>
                                            <p:cond delay="0"/>
                                          </p:stCondLst>
                                        </p:cTn>
                                        <p:tgtEl>
                                          <p:spTgt spid="43"/>
                                        </p:tgtEl>
                                        <p:attrNameLst>
                                          <p:attrName>ppt_y</p:attrName>
                                        </p:attrNameLst>
                                      </p:cBhvr>
                                    </p:anim>
                                    <p:animRot by="21600000">
                                      <p:cBhvr>
                                        <p:cTn id="23" dur="1000" fill="hold">
                                          <p:stCondLst>
                                            <p:cond delay="0"/>
                                          </p:stCondLst>
                                        </p:cTn>
                                        <p:tgtEl>
                                          <p:spTgt spid="43"/>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43"/>
                                        </p:tgtEl>
                                        <p:attrNameLst>
                                          <p:attrName>style.visibility</p:attrName>
                                        </p:attrNameLst>
                                      </p:cBhvr>
                                      <p:to>
                                        <p:strVal val="visible"/>
                                      </p:to>
                                    </p:set>
                                    <p:anim calcmode="lin" valueType="num">
                                      <p:cBhvr>
                                        <p:cTn id="26" dur="10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43"/>
                                        </p:tgtEl>
                                        <p:attrNameLst>
                                          <p:attrName>ppt_y</p:attrName>
                                        </p:attrNameLst>
                                      </p:cBhvr>
                                      <p:tavLst>
                                        <p:tav tm="0">
                                          <p:val>
                                            <p:strVal val="#ppt_y"/>
                                          </p:val>
                                        </p:tav>
                                        <p:tav tm="100000">
                                          <p:val>
                                            <p:strVal val="#ppt_y"/>
                                          </p:val>
                                        </p:tav>
                                      </p:tavLst>
                                    </p:anim>
                                    <p:anim calcmode="lin" valueType="num">
                                      <p:cBhvr>
                                        <p:cTn id="28" dur="10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316">
                                            <p:txEl>
                                              <p:pRg st="1" end="1"/>
                                            </p:txEl>
                                          </p:spTgt>
                                        </p:tgtEl>
                                        <p:attrNameLst>
                                          <p:attrName>style.visibility</p:attrName>
                                        </p:attrNameLst>
                                      </p:cBhvr>
                                      <p:to>
                                        <p:strVal val="visible"/>
                                      </p:to>
                                    </p:set>
                                    <p:anim calcmode="lin" valueType="num">
                                      <p:cBhvr additive="base">
                                        <p:cTn id="35" dur="500" fill="hold"/>
                                        <p:tgtEl>
                                          <p:spTgt spid="13316">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316">
                                            <p:txEl>
                                              <p:pRg st="1" end="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3316">
                                            <p:txEl>
                                              <p:pRg st="2" end="2"/>
                                            </p:txEl>
                                          </p:spTgt>
                                        </p:tgtEl>
                                        <p:attrNameLst>
                                          <p:attrName>style.visibility</p:attrName>
                                        </p:attrNameLst>
                                      </p:cBhvr>
                                      <p:to>
                                        <p:strVal val="visible"/>
                                      </p:to>
                                    </p:set>
                                    <p:anim calcmode="lin" valueType="num">
                                      <p:cBhvr additive="base">
                                        <p:cTn id="39" dur="500" fill="hold"/>
                                        <p:tgtEl>
                                          <p:spTgt spid="13316">
                                            <p:txEl>
                                              <p:pRg st="2" end="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33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13316">
                                            <p:txEl>
                                              <p:pRg st="4" end="4"/>
                                            </p:txEl>
                                          </p:spTgt>
                                        </p:tgtEl>
                                        <p:attrNameLst>
                                          <p:attrName>style.visibility</p:attrName>
                                        </p:attrNameLst>
                                      </p:cBhvr>
                                      <p:to>
                                        <p:strVal val="visible"/>
                                      </p:to>
                                    </p:set>
                                    <p:animEffect transition="in" filter="wipe(down)">
                                      <p:cBhvr>
                                        <p:cTn id="45" dur="500"/>
                                        <p:tgtEl>
                                          <p:spTgt spid="13316">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13316">
                                            <p:txEl>
                                              <p:pRg st="5" end="5"/>
                                            </p:txEl>
                                          </p:spTgt>
                                        </p:tgtEl>
                                        <p:attrNameLst>
                                          <p:attrName>style.visibility</p:attrName>
                                        </p:attrNameLst>
                                      </p:cBhvr>
                                      <p:to>
                                        <p:strVal val="visible"/>
                                      </p:to>
                                    </p:set>
                                    <p:animEffect transition="in" filter="wipe(down)">
                                      <p:cBhvr>
                                        <p:cTn id="50" dur="500"/>
                                        <p:tgtEl>
                                          <p:spTgt spid="13316">
                                            <p:txEl>
                                              <p:pRg st="5" end="5"/>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13316">
                                            <p:txEl>
                                              <p:pRg st="6" end="6"/>
                                            </p:txEl>
                                          </p:spTgt>
                                        </p:tgtEl>
                                        <p:attrNameLst>
                                          <p:attrName>style.visibility</p:attrName>
                                        </p:attrNameLst>
                                      </p:cBhvr>
                                      <p:to>
                                        <p:strVal val="visible"/>
                                      </p:to>
                                    </p:set>
                                    <p:animEffect transition="in" filter="wipe(down)">
                                      <p:cBhvr>
                                        <p:cTn id="55" dur="500"/>
                                        <p:tgtEl>
                                          <p:spTgt spid="13316">
                                            <p:txEl>
                                              <p:pRg st="6" end="6"/>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nodeType="clickEffect">
                                  <p:stCondLst>
                                    <p:cond delay="0"/>
                                  </p:stCondLst>
                                  <p:childTnLst>
                                    <p:set>
                                      <p:cBhvr>
                                        <p:cTn id="59" dur="1" fill="hold">
                                          <p:stCondLst>
                                            <p:cond delay="0"/>
                                          </p:stCondLst>
                                        </p:cTn>
                                        <p:tgtEl>
                                          <p:spTgt spid="13316">
                                            <p:txEl>
                                              <p:pRg st="7" end="7"/>
                                            </p:txEl>
                                          </p:spTgt>
                                        </p:tgtEl>
                                        <p:attrNameLst>
                                          <p:attrName>style.visibility</p:attrName>
                                        </p:attrNameLst>
                                      </p:cBhvr>
                                      <p:to>
                                        <p:strVal val="visible"/>
                                      </p:to>
                                    </p:set>
                                    <p:animEffect transition="in" filter="wipe(down)">
                                      <p:cBhvr>
                                        <p:cTn id="60" dur="500"/>
                                        <p:tgtEl>
                                          <p:spTgt spid="13316">
                                            <p:txEl>
                                              <p:pRg st="7" end="7"/>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3317"/>
                                        </p:tgtEl>
                                        <p:attrNameLst>
                                          <p:attrName>style.visibility</p:attrName>
                                        </p:attrNameLst>
                                      </p:cBhvr>
                                      <p:to>
                                        <p:strVal val="visible"/>
                                      </p:to>
                                    </p:set>
                                    <p:anim calcmode="lin" valueType="num">
                                      <p:cBhvr additive="base">
                                        <p:cTn id="65" dur="500" fill="hold"/>
                                        <p:tgtEl>
                                          <p:spTgt spid="13317"/>
                                        </p:tgtEl>
                                        <p:attrNameLst>
                                          <p:attrName>ppt_x</p:attrName>
                                        </p:attrNameLst>
                                      </p:cBhvr>
                                      <p:tavLst>
                                        <p:tav tm="0">
                                          <p:val>
                                            <p:strVal val="#ppt_x"/>
                                          </p:val>
                                        </p:tav>
                                        <p:tav tm="100000">
                                          <p:val>
                                            <p:strVal val="#ppt_x"/>
                                          </p:val>
                                        </p:tav>
                                      </p:tavLst>
                                    </p:anim>
                                    <p:anim calcmode="lin" valueType="num">
                                      <p:cBhvr additive="base">
                                        <p:cTn id="66" dur="500" fill="hold"/>
                                        <p:tgtEl>
                                          <p:spTgt spid="13317"/>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2"/>
                                        </p:tgtEl>
                                        <p:attrNameLst>
                                          <p:attrName>style.visibility</p:attrName>
                                        </p:attrNameLst>
                                      </p:cBhvr>
                                      <p:to>
                                        <p:strVal val="visible"/>
                                      </p:to>
                                    </p:set>
                                    <p:animEffect transition="in" filter="wipe(down)">
                                      <p:cBhvr>
                                        <p:cTn id="71" dur="500"/>
                                        <p:tgtEl>
                                          <p:spTgt spid="2"/>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13318"/>
                                        </p:tgtEl>
                                        <p:attrNameLst>
                                          <p:attrName>style.visibility</p:attrName>
                                        </p:attrNameLst>
                                      </p:cBhvr>
                                      <p:to>
                                        <p:strVal val="visible"/>
                                      </p:to>
                                    </p:set>
                                    <p:animEffect transition="in" filter="wipe(down)">
                                      <p:cBhvr>
                                        <p:cTn id="74" dur="500"/>
                                        <p:tgtEl>
                                          <p:spTgt spid="133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p:bldP spid="43" grpId="1"/>
      <p:bldP spid="13317" grpId="0" animBg="1"/>
      <p:bldP spid="13318" grpId="0" animBg="1"/>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nvSpPr>
        <p:spPr>
          <a:xfrm>
            <a:off x="304800" y="493712"/>
            <a:ext cx="80772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endParaRPr lang="zh-CN" altLang="en-US" dirty="0"/>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19" name="组合 18"/>
          <p:cNvGrpSpPr/>
          <p:nvPr/>
        </p:nvGrpSpPr>
        <p:grpSpPr>
          <a:xfrm>
            <a:off x="2894839" y="289781"/>
            <a:ext cx="1004231" cy="1004101"/>
            <a:chOff x="1101311" y="1198062"/>
            <a:chExt cx="1106591" cy="1106447"/>
          </a:xfrm>
        </p:grpSpPr>
        <p:grpSp>
          <p:nvGrpSpPr>
            <p:cNvPr id="21" name="组合 20"/>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37" name="椭圆 36"/>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38" name="组合 37"/>
            <p:cNvGrpSpPr>
              <a:grpSpLocks noChangeAspect="1"/>
            </p:cNvGrpSpPr>
            <p:nvPr/>
          </p:nvGrpSpPr>
          <p:grpSpPr>
            <a:xfrm>
              <a:off x="1330537" y="1422392"/>
              <a:ext cx="648140" cy="625029"/>
              <a:chOff x="7019925" y="5499100"/>
              <a:chExt cx="312738" cy="301626"/>
            </a:xfrm>
            <a:solidFill>
              <a:srgbClr val="C00000"/>
            </a:solidFill>
          </p:grpSpPr>
          <p:sp>
            <p:nvSpPr>
              <p:cNvPr id="39"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40"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41" name="矩形 40"/>
          <p:cNvSpPr/>
          <p:nvPr/>
        </p:nvSpPr>
        <p:spPr>
          <a:xfrm>
            <a:off x="-33814" y="780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42" name="矩形 41"/>
          <p:cNvSpPr/>
          <p:nvPr/>
        </p:nvSpPr>
        <p:spPr>
          <a:xfrm>
            <a:off x="3997960" y="781050"/>
            <a:ext cx="5146040" cy="76200"/>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43" name="TextBox 24"/>
          <p:cNvSpPr txBox="1"/>
          <p:nvPr/>
        </p:nvSpPr>
        <p:spPr>
          <a:xfrm>
            <a:off x="3889579" y="159166"/>
            <a:ext cx="2468880" cy="1014730"/>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算术运算指令</a:t>
            </a:r>
            <a:endParaRPr lang="zh-CN" altLang="en-US" sz="3000" dirty="0"/>
          </a:p>
          <a:p>
            <a:pPr algn="l"/>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15364" name="Rectangle 4"/>
          <p:cNvSpPr>
            <a:spLocks noGrp="1" noChangeArrowheads="1"/>
          </p:cNvSpPr>
          <p:nvPr/>
        </p:nvSpPr>
        <p:spPr>
          <a:xfrm>
            <a:off x="396875" y="13620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00000"/>
              </a:buClr>
              <a:tabLst>
                <a:tab pos="2597150" algn="l"/>
                <a:tab pos="1409700" algn="l"/>
                <a:tab pos="1409700" algn="l"/>
                <a:tab pos="1409700" algn="l"/>
                <a:tab pos="1409700" algn="l"/>
                <a:tab pos="1409700" algn="l"/>
                <a:tab pos="1409700" algn="l"/>
                <a:tab pos="1409700" algn="l"/>
                <a:tab pos="1409700" algn="l"/>
                <a:tab pos="1409700" algn="l"/>
              </a:tabLst>
            </a:pPr>
            <a:r>
              <a:rPr lang="zh-CN" altLang="en-US" dirty="0">
                <a:latin typeface="黑体" panose="02010609060101010101" charset="-122"/>
                <a:ea typeface="黑体" panose="02010609060101010101" charset="-122"/>
              </a:rPr>
              <a:t>两元操作：</a:t>
            </a:r>
          </a:p>
          <a:p>
            <a:pPr marL="0" lvl="1" indent="0">
              <a:buNone/>
              <a:tabLst>
                <a:tab pos="1409700" algn="l"/>
                <a:tab pos="1409700" algn="l"/>
                <a:tab pos="1409700" algn="l"/>
                <a:tab pos="1409700" algn="l"/>
                <a:tab pos="1409700" algn="l"/>
                <a:tab pos="1409700" algn="l"/>
                <a:tab pos="1409700" algn="l"/>
                <a:tab pos="1409700" algn="l"/>
                <a:tab pos="1409700" algn="l"/>
                <a:tab pos="1604645" algn="l"/>
              </a:tabLst>
            </a:pPr>
            <a:r>
              <a:rPr lang="en-US" altLang="zh-CN" dirty="0">
                <a:solidFill>
                  <a:srgbClr val="980002"/>
                </a:solidFill>
                <a:latin typeface="Calibri Bold Italic" charset="0"/>
                <a:ea typeface="宋体" panose="02010600030101010101" pitchFamily="2" charset="-122"/>
                <a:cs typeface="ヒラギノ角ゴ ProN W6" charset="0"/>
                <a:sym typeface="Calibri Bold Italic" charset="0"/>
              </a:rPr>
              <a:t>	</a:t>
            </a:r>
            <a:r>
              <a:rPr lang="zh-CN" altLang="en-US" dirty="0">
                <a:solidFill>
                  <a:srgbClr val="980002"/>
                </a:solidFill>
                <a:latin typeface="Calibri Bold Italic" charset="0"/>
                <a:ea typeface="宋体" panose="02010600030101010101" pitchFamily="2" charset="-122"/>
                <a:cs typeface="ヒラギノ角ゴ ProN W6" charset="0"/>
                <a:sym typeface="Calibri Bold Italic" charset="0"/>
              </a:rPr>
              <a:t>格式</a:t>
            </a:r>
            <a:r>
              <a:rPr lang="en-US" dirty="0">
                <a:solidFill>
                  <a:srgbClr val="980002"/>
                </a:solidFill>
                <a:latin typeface="Calibri Bold Italic" charset="0"/>
                <a:ea typeface="ヒラギノ角ゴ ProN W6" charset="0"/>
                <a:cs typeface="ヒラギノ角ゴ ProN W6" charset="0"/>
                <a:sym typeface="Calibri Bold Italic" charset="0"/>
              </a:rPr>
              <a:t>	</a:t>
            </a:r>
            <a:r>
              <a:rPr lang="zh-CN" altLang="en-US" dirty="0">
                <a:solidFill>
                  <a:srgbClr val="980002"/>
                </a:solidFill>
                <a:latin typeface="Calibri Bold Italic" charset="0"/>
                <a:ea typeface="宋体" panose="02010600030101010101" pitchFamily="2" charset="-122"/>
                <a:cs typeface="ヒラギノ角ゴ ProN W6" charset="0"/>
                <a:sym typeface="Calibri Bold Italic" charset="0"/>
              </a:rPr>
              <a:t>计算</a:t>
            </a:r>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addq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 </a:t>
            </a:r>
            <a:r>
              <a:rPr lang="en-US" dirty="0" err="1"/>
              <a:t>Src</a:t>
            </a:r>
            <a:endParaRPr lang="en-US" dirty="0"/>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subq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a:t>
            </a:r>
            <a:r>
              <a:rPr lang="en-US" dirty="0">
                <a:latin typeface="Calibri Italic" charset="0"/>
                <a:ea typeface="Calibri Italic" charset="0"/>
                <a:cs typeface="Calibri Italic" charset="0"/>
                <a:sym typeface="Symbol" panose="05050102010706020507"/>
              </a:rPr>
              <a:t></a:t>
            </a:r>
            <a:r>
              <a:rPr lang="en-US" dirty="0"/>
              <a:t> </a:t>
            </a:r>
            <a:r>
              <a:rPr lang="en-US" dirty="0" err="1"/>
              <a:t>Src</a:t>
            </a:r>
            <a:endParaRPr lang="en-US" dirty="0"/>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imulq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 </a:t>
            </a:r>
            <a:r>
              <a:rPr lang="en-US" dirty="0" err="1"/>
              <a:t>Src		</a:t>
            </a:r>
            <a:endParaRPr lang="en-US" dirty="0"/>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salq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&lt;&lt; </a:t>
            </a:r>
            <a:r>
              <a:rPr lang="en-US" dirty="0" err="1"/>
              <a:t>Src</a:t>
            </a:r>
            <a:r>
              <a:rPr lang="en-US" dirty="0"/>
              <a:t>	 </a:t>
            </a:r>
            <a:r>
              <a:rPr lang="zh-CN" altLang="en-US" dirty="0"/>
              <a:t>（</a:t>
            </a:r>
            <a:r>
              <a:rPr lang="zh-CN" altLang="en-US" dirty="0">
                <a:sym typeface="Calibri Bold Italic" charset="0"/>
              </a:rPr>
              <a:t>shlq）</a:t>
            </a:r>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sarq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&gt;&gt; </a:t>
            </a:r>
            <a:r>
              <a:rPr lang="en-US" dirty="0" err="1"/>
              <a:t>Src</a:t>
            </a:r>
            <a:r>
              <a:rPr lang="en-US" dirty="0"/>
              <a:t>	</a:t>
            </a:r>
            <a:r>
              <a:rPr lang="zh-CN" altLang="en-US" dirty="0"/>
              <a:t>（算术）</a:t>
            </a:r>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shrq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&gt;&gt; </a:t>
            </a:r>
            <a:r>
              <a:rPr lang="en-US" dirty="0" err="1"/>
              <a:t>Src</a:t>
            </a:r>
            <a:r>
              <a:rPr lang="en-US" dirty="0"/>
              <a:t>	</a:t>
            </a:r>
            <a:r>
              <a:rPr lang="zh-CN" altLang="en-US" dirty="0"/>
              <a:t>（逻辑）</a:t>
            </a:r>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xorq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 </a:t>
            </a:r>
            <a:r>
              <a:rPr lang="en-US" dirty="0" err="1"/>
              <a:t>Src</a:t>
            </a:r>
            <a:endParaRPr lang="en-US" dirty="0"/>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andq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&amp; </a:t>
            </a:r>
            <a:r>
              <a:rPr lang="en-US" dirty="0" err="1"/>
              <a:t>Src</a:t>
            </a:r>
            <a:endParaRPr lang="en-US" dirty="0"/>
          </a:p>
          <a:p>
            <a:pPr marL="285750" lvl="2" indent="0">
              <a:buNone/>
              <a:tabLst>
                <a:tab pos="1409700" algn="l"/>
                <a:tab pos="1409700" algn="l"/>
                <a:tab pos="1409700" algn="l"/>
                <a:tab pos="1409700" algn="l"/>
                <a:tab pos="1409700" algn="l"/>
                <a:tab pos="1409700" algn="l"/>
                <a:tab pos="1409700" algn="l"/>
                <a:tab pos="1409700" algn="l"/>
                <a:tab pos="1409700" algn="l"/>
                <a:tab pos="1604645" algn="l"/>
              </a:tabLst>
            </a:pPr>
            <a:r>
              <a:rPr lang="en-US" dirty="0" err="1">
                <a:latin typeface="Courier New" panose="02070309020205020404" charset="0"/>
                <a:cs typeface="Courier New" panose="02070309020205020404" charset="0"/>
                <a:sym typeface="Courier New Bold" charset="0"/>
              </a:rPr>
              <a:t>orq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Src,Dest</a:t>
            </a:r>
            <a:r>
              <a:rPr lang="en-US" dirty="0"/>
              <a:t>	</a:t>
            </a:r>
            <a:r>
              <a:rPr lang="en-US" dirty="0" err="1"/>
              <a:t>Dest</a:t>
            </a:r>
            <a:r>
              <a:rPr lang="en-US" dirty="0"/>
              <a:t> = </a:t>
            </a:r>
            <a:r>
              <a:rPr lang="en-US" dirty="0" err="1"/>
              <a:t>Dest</a:t>
            </a:r>
            <a:r>
              <a:rPr lang="en-US" dirty="0"/>
              <a:t> | </a:t>
            </a:r>
            <a:r>
              <a:rPr lang="en-US" dirty="0" err="1"/>
              <a:t>Src</a:t>
            </a:r>
            <a:endParaRPr lang="en-US" dirty="0"/>
          </a:p>
          <a:p>
            <a:pPr>
              <a:buClr>
                <a:srgbClr val="000000"/>
              </a:buClr>
              <a:tabLst>
                <a:tab pos="1409700" algn="l"/>
                <a:tab pos="1409700" algn="l"/>
                <a:tab pos="1409700" algn="l"/>
                <a:tab pos="1409700" algn="l"/>
                <a:tab pos="1409700" algn="l"/>
                <a:tab pos="1409700" algn="l"/>
                <a:tab pos="1409700" algn="l"/>
                <a:tab pos="1409700" algn="l"/>
                <a:tab pos="1409700" algn="l"/>
                <a:tab pos="1604645" algn="l"/>
              </a:tabLst>
            </a:pPr>
            <a:r>
              <a:rPr lang="zh-CN" altLang="en-US" dirty="0">
                <a:latin typeface="黑体" panose="02010609060101010101" charset="-122"/>
                <a:ea typeface="黑体" panose="02010609060101010101" charset="-122"/>
              </a:rPr>
              <a:t>注意</a:t>
            </a:r>
            <a:r>
              <a:rPr lang="en-US" altLang="zh-CN" dirty="0">
                <a:latin typeface="黑体" panose="02010609060101010101" charset="-122"/>
                <a:ea typeface="黑体" panose="02010609060101010101" charset="-122"/>
              </a:rPr>
              <a:t>src</a:t>
            </a:r>
            <a:r>
              <a:rPr lang="zh-CN" altLang="en-US" dirty="0">
                <a:latin typeface="黑体" panose="02010609060101010101" charset="-122"/>
                <a:ea typeface="黑体" panose="02010609060101010101" charset="-122"/>
              </a:rPr>
              <a:t>和</a:t>
            </a:r>
            <a:r>
              <a:rPr lang="en-US" altLang="zh-CN" dirty="0">
                <a:latin typeface="黑体" panose="02010609060101010101" charset="-122"/>
                <a:ea typeface="黑体" panose="02010609060101010101" charset="-122"/>
              </a:rPr>
              <a:t>dest</a:t>
            </a:r>
            <a:r>
              <a:rPr lang="zh-CN" altLang="en-US" dirty="0">
                <a:latin typeface="黑体" panose="02010609060101010101" charset="-122"/>
                <a:ea typeface="黑体" panose="02010609060101010101" charset="-122"/>
              </a:rPr>
              <a:t>的顺序</a:t>
            </a:r>
            <a:r>
              <a:rPr lang="en-US" dirty="0">
                <a:latin typeface="黑体" panose="02010609060101010101" charset="-122"/>
                <a:ea typeface="黑体" panose="02010609060101010101" charset="-122"/>
              </a:rPr>
              <a:t>!</a:t>
            </a:r>
          </a:p>
          <a:p>
            <a:pPr>
              <a:buClr>
                <a:srgbClr val="000000"/>
              </a:buClr>
              <a:tabLst>
                <a:tab pos="1409700" algn="l"/>
                <a:tab pos="1409700" algn="l"/>
                <a:tab pos="1409700" algn="l"/>
                <a:tab pos="1409700" algn="l"/>
                <a:tab pos="1409700" algn="l"/>
                <a:tab pos="1409700" algn="l"/>
                <a:tab pos="1409700" algn="l"/>
                <a:tab pos="1409700" algn="l"/>
                <a:tab pos="1409700" algn="l"/>
                <a:tab pos="1604645" algn="l"/>
              </a:tabLst>
            </a:pPr>
            <a:r>
              <a:rPr lang="zh-CN" altLang="en-US" dirty="0">
                <a:latin typeface="黑体" panose="02010609060101010101" charset="-122"/>
                <a:ea typeface="黑体" panose="02010609060101010101" charset="-122"/>
              </a:rPr>
              <a:t>有</a:t>
            </a:r>
            <a:r>
              <a:rPr lang="zh-CN" altLang="en-US" dirty="0">
                <a:highlight>
                  <a:srgbClr val="FFFF00"/>
                </a:highlight>
                <a:latin typeface="黑体" panose="02010609060101010101" charset="-122"/>
                <a:ea typeface="黑体" panose="02010609060101010101" charset="-122"/>
              </a:rPr>
              <a:t>符号整型和无符号整型没有区别</a:t>
            </a:r>
            <a:r>
              <a:rPr lang="en-US" dirty="0">
                <a:highlight>
                  <a:srgbClr val="FFFF00"/>
                </a:highlight>
                <a:latin typeface="黑体" panose="02010609060101010101" charset="-122"/>
                <a:ea typeface="黑体" panose="02010609060101010101" charset="-122"/>
              </a:rPr>
              <a:t> </a:t>
            </a:r>
            <a:r>
              <a:rPr lang="zh-CN" altLang="en-US" dirty="0">
                <a:highlight>
                  <a:srgbClr val="FFFF00"/>
                </a:highlight>
                <a:latin typeface="黑体" panose="02010609060101010101" charset="-122"/>
                <a:ea typeface="黑体" panose="02010609060101010101" charset="-122"/>
              </a:rPr>
              <a:t>？</a:t>
            </a:r>
            <a:r>
              <a:rPr lang="en-US" dirty="0">
                <a:highlight>
                  <a:srgbClr val="FFFF00"/>
                </a:highlight>
                <a:latin typeface="黑体" panose="02010609060101010101" charset="-122"/>
                <a:ea typeface="黑体" panose="02010609060101010101" charset="-122"/>
              </a:rPr>
              <a:t>(why?)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right)">
                                      <p:cBhvr>
                                        <p:cTn id="16" dur="500"/>
                                        <p:tgtEl>
                                          <p:spTgt spid="41"/>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43"/>
                                        </p:tgtEl>
                                        <p:attrNameLst>
                                          <p:attrName>style.visibility</p:attrName>
                                        </p:attrNameLst>
                                      </p:cBhvr>
                                      <p:to>
                                        <p:strVal val="visible"/>
                                      </p:to>
                                    </p:set>
                                    <p:anim by="(-#ppt_w*2)" calcmode="lin" valueType="num">
                                      <p:cBhvr rctx="PPT">
                                        <p:cTn id="20" dur="500" autoRev="1" fill="hold">
                                          <p:stCondLst>
                                            <p:cond delay="0"/>
                                          </p:stCondLst>
                                        </p:cTn>
                                        <p:tgtEl>
                                          <p:spTgt spid="43"/>
                                        </p:tgtEl>
                                        <p:attrNameLst>
                                          <p:attrName>ppt_w</p:attrName>
                                        </p:attrNameLst>
                                      </p:cBhvr>
                                    </p:anim>
                                    <p:anim by="(#ppt_w*0.50)" calcmode="lin" valueType="num">
                                      <p:cBhvr>
                                        <p:cTn id="21" dur="500" decel="50000" autoRev="1" fill="hold">
                                          <p:stCondLst>
                                            <p:cond delay="0"/>
                                          </p:stCondLst>
                                        </p:cTn>
                                        <p:tgtEl>
                                          <p:spTgt spid="43"/>
                                        </p:tgtEl>
                                        <p:attrNameLst>
                                          <p:attrName>ppt_x</p:attrName>
                                        </p:attrNameLst>
                                      </p:cBhvr>
                                    </p:anim>
                                    <p:anim from="(-#ppt_h/2)" to="(#ppt_y)" calcmode="lin" valueType="num">
                                      <p:cBhvr>
                                        <p:cTn id="22" dur="1000" fill="hold">
                                          <p:stCondLst>
                                            <p:cond delay="0"/>
                                          </p:stCondLst>
                                        </p:cTn>
                                        <p:tgtEl>
                                          <p:spTgt spid="43"/>
                                        </p:tgtEl>
                                        <p:attrNameLst>
                                          <p:attrName>ppt_y</p:attrName>
                                        </p:attrNameLst>
                                      </p:cBhvr>
                                    </p:anim>
                                    <p:animRot by="21600000">
                                      <p:cBhvr>
                                        <p:cTn id="23" dur="1000" fill="hold">
                                          <p:stCondLst>
                                            <p:cond delay="0"/>
                                          </p:stCondLst>
                                        </p:cTn>
                                        <p:tgtEl>
                                          <p:spTgt spid="43"/>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43"/>
                                        </p:tgtEl>
                                        <p:attrNameLst>
                                          <p:attrName>style.visibility</p:attrName>
                                        </p:attrNameLst>
                                      </p:cBhvr>
                                      <p:to>
                                        <p:strVal val="visible"/>
                                      </p:to>
                                    </p:set>
                                    <p:anim calcmode="lin" valueType="num">
                                      <p:cBhvr>
                                        <p:cTn id="26" dur="10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43"/>
                                        </p:tgtEl>
                                        <p:attrNameLst>
                                          <p:attrName>ppt_y</p:attrName>
                                        </p:attrNameLst>
                                      </p:cBhvr>
                                      <p:tavLst>
                                        <p:tav tm="0">
                                          <p:val>
                                            <p:strVal val="#ppt_y"/>
                                          </p:val>
                                        </p:tav>
                                        <p:tav tm="100000">
                                          <p:val>
                                            <p:strVal val="#ppt_y"/>
                                          </p:val>
                                        </p:tav>
                                      </p:tavLst>
                                    </p:anim>
                                    <p:anim calcmode="lin" valueType="num">
                                      <p:cBhvr>
                                        <p:cTn id="28" dur="10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5364">
                                            <p:txEl>
                                              <p:pRg st="2" end="2"/>
                                            </p:txEl>
                                          </p:spTgt>
                                        </p:tgtEl>
                                        <p:attrNameLst>
                                          <p:attrName>style.visibility</p:attrName>
                                        </p:attrNameLst>
                                      </p:cBhvr>
                                      <p:to>
                                        <p:strVal val="visible"/>
                                      </p:to>
                                    </p:set>
                                    <p:anim calcmode="lin" valueType="num">
                                      <p:cBhvr additive="base">
                                        <p:cTn id="35" dur="500" fill="hold"/>
                                        <p:tgtEl>
                                          <p:spTgt spid="15364">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5364">
                                            <p:txEl>
                                              <p:pRg st="2" end="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5364">
                                            <p:txEl>
                                              <p:pRg st="3" end="3"/>
                                            </p:txEl>
                                          </p:spTgt>
                                        </p:tgtEl>
                                        <p:attrNameLst>
                                          <p:attrName>style.visibility</p:attrName>
                                        </p:attrNameLst>
                                      </p:cBhvr>
                                      <p:to>
                                        <p:strVal val="visible"/>
                                      </p:to>
                                    </p:set>
                                    <p:anim calcmode="lin" valueType="num">
                                      <p:cBhvr additive="base">
                                        <p:cTn id="39" dur="500" fill="hold"/>
                                        <p:tgtEl>
                                          <p:spTgt spid="15364">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5364">
                                            <p:txEl>
                                              <p:pRg st="3" end="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5364">
                                            <p:txEl>
                                              <p:pRg st="4" end="4"/>
                                            </p:txEl>
                                          </p:spTgt>
                                        </p:tgtEl>
                                        <p:attrNameLst>
                                          <p:attrName>style.visibility</p:attrName>
                                        </p:attrNameLst>
                                      </p:cBhvr>
                                      <p:to>
                                        <p:strVal val="visible"/>
                                      </p:to>
                                    </p:set>
                                    <p:anim calcmode="lin" valueType="num">
                                      <p:cBhvr additive="base">
                                        <p:cTn id="43" dur="500" fill="hold"/>
                                        <p:tgtEl>
                                          <p:spTgt spid="15364">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5364">
                                            <p:txEl>
                                              <p:pRg st="4" end="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5364">
                                            <p:txEl>
                                              <p:pRg st="5" end="5"/>
                                            </p:txEl>
                                          </p:spTgt>
                                        </p:tgtEl>
                                        <p:attrNameLst>
                                          <p:attrName>style.visibility</p:attrName>
                                        </p:attrNameLst>
                                      </p:cBhvr>
                                      <p:to>
                                        <p:strVal val="visible"/>
                                      </p:to>
                                    </p:set>
                                    <p:anim calcmode="lin" valueType="num">
                                      <p:cBhvr additive="base">
                                        <p:cTn id="47" dur="500" fill="hold"/>
                                        <p:tgtEl>
                                          <p:spTgt spid="15364">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15364">
                                            <p:txEl>
                                              <p:pRg st="5" end="5"/>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15364">
                                            <p:txEl>
                                              <p:pRg st="6" end="6"/>
                                            </p:txEl>
                                          </p:spTgt>
                                        </p:tgtEl>
                                        <p:attrNameLst>
                                          <p:attrName>style.visibility</p:attrName>
                                        </p:attrNameLst>
                                      </p:cBhvr>
                                      <p:to>
                                        <p:strVal val="visible"/>
                                      </p:to>
                                    </p:set>
                                    <p:anim calcmode="lin" valueType="num">
                                      <p:cBhvr additive="base">
                                        <p:cTn id="51" dur="500" fill="hold"/>
                                        <p:tgtEl>
                                          <p:spTgt spid="15364">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15364">
                                            <p:txEl>
                                              <p:pRg st="6" end="6"/>
                                            </p:txEl>
                                          </p:spTgt>
                                        </p:tgtEl>
                                        <p:attrNameLst>
                                          <p:attrName>ppt_y</p:attrName>
                                        </p:attrNameLst>
                                      </p:cBhvr>
                                      <p:tavLst>
                                        <p:tav tm="0">
                                          <p:val>
                                            <p:strVal val="1+#ppt_h/2"/>
                                          </p:val>
                                        </p:tav>
                                        <p:tav tm="100000">
                                          <p:val>
                                            <p:strVal val="#ppt_y"/>
                                          </p:val>
                                        </p:tav>
                                      </p:tavLst>
                                    </p:anim>
                                  </p:childTnLst>
                                </p:cTn>
                              </p:par>
                              <p:par>
                                <p:cTn id="53" presetID="22" presetClass="entr" presetSubtype="4" fill="hold" nodeType="withEffect">
                                  <p:stCondLst>
                                    <p:cond delay="0"/>
                                  </p:stCondLst>
                                  <p:childTnLst>
                                    <p:set>
                                      <p:cBhvr>
                                        <p:cTn id="54" dur="1" fill="hold">
                                          <p:stCondLst>
                                            <p:cond delay="0"/>
                                          </p:stCondLst>
                                        </p:cTn>
                                        <p:tgtEl>
                                          <p:spTgt spid="15364">
                                            <p:txEl>
                                              <p:pRg st="7" end="7"/>
                                            </p:txEl>
                                          </p:spTgt>
                                        </p:tgtEl>
                                        <p:attrNameLst>
                                          <p:attrName>style.visibility</p:attrName>
                                        </p:attrNameLst>
                                      </p:cBhvr>
                                      <p:to>
                                        <p:strVal val="visible"/>
                                      </p:to>
                                    </p:set>
                                    <p:animEffect transition="in" filter="wipe(down)">
                                      <p:cBhvr>
                                        <p:cTn id="55" dur="500"/>
                                        <p:tgtEl>
                                          <p:spTgt spid="15364">
                                            <p:txEl>
                                              <p:pRg st="7" end="7"/>
                                            </p:txEl>
                                          </p:spTgt>
                                        </p:tgtEl>
                                      </p:cBhvr>
                                    </p:animEffect>
                                  </p:childTnLst>
                                </p:cTn>
                              </p:par>
                              <p:par>
                                <p:cTn id="56" presetID="22" presetClass="entr" presetSubtype="4" fill="hold" nodeType="withEffect">
                                  <p:stCondLst>
                                    <p:cond delay="0"/>
                                  </p:stCondLst>
                                  <p:childTnLst>
                                    <p:set>
                                      <p:cBhvr>
                                        <p:cTn id="57" dur="1" fill="hold">
                                          <p:stCondLst>
                                            <p:cond delay="0"/>
                                          </p:stCondLst>
                                        </p:cTn>
                                        <p:tgtEl>
                                          <p:spTgt spid="15364">
                                            <p:txEl>
                                              <p:pRg st="8" end="8"/>
                                            </p:txEl>
                                          </p:spTgt>
                                        </p:tgtEl>
                                        <p:attrNameLst>
                                          <p:attrName>style.visibility</p:attrName>
                                        </p:attrNameLst>
                                      </p:cBhvr>
                                      <p:to>
                                        <p:strVal val="visible"/>
                                      </p:to>
                                    </p:set>
                                    <p:animEffect transition="in" filter="wipe(down)">
                                      <p:cBhvr>
                                        <p:cTn id="58" dur="500"/>
                                        <p:tgtEl>
                                          <p:spTgt spid="15364">
                                            <p:txEl>
                                              <p:pRg st="8" end="8"/>
                                            </p:txEl>
                                          </p:spTgt>
                                        </p:tgtEl>
                                      </p:cBhvr>
                                    </p:animEffect>
                                  </p:childTnLst>
                                </p:cTn>
                              </p:par>
                              <p:par>
                                <p:cTn id="59" presetID="22" presetClass="entr" presetSubtype="4" fill="hold" nodeType="withEffect">
                                  <p:stCondLst>
                                    <p:cond delay="0"/>
                                  </p:stCondLst>
                                  <p:childTnLst>
                                    <p:set>
                                      <p:cBhvr>
                                        <p:cTn id="60" dur="1" fill="hold">
                                          <p:stCondLst>
                                            <p:cond delay="0"/>
                                          </p:stCondLst>
                                        </p:cTn>
                                        <p:tgtEl>
                                          <p:spTgt spid="15364">
                                            <p:txEl>
                                              <p:pRg st="9" end="9"/>
                                            </p:txEl>
                                          </p:spTgt>
                                        </p:tgtEl>
                                        <p:attrNameLst>
                                          <p:attrName>style.visibility</p:attrName>
                                        </p:attrNameLst>
                                      </p:cBhvr>
                                      <p:to>
                                        <p:strVal val="visible"/>
                                      </p:to>
                                    </p:set>
                                    <p:animEffect transition="in" filter="wipe(down)">
                                      <p:cBhvr>
                                        <p:cTn id="61" dur="500"/>
                                        <p:tgtEl>
                                          <p:spTgt spid="15364">
                                            <p:txEl>
                                              <p:pRg st="9" end="9"/>
                                            </p:txEl>
                                          </p:spTgt>
                                        </p:tgtEl>
                                      </p:cBhvr>
                                    </p:animEffect>
                                  </p:childTnLst>
                                </p:cTn>
                              </p:par>
                              <p:par>
                                <p:cTn id="62" presetID="22" presetClass="entr" presetSubtype="4" fill="hold" nodeType="withEffect">
                                  <p:stCondLst>
                                    <p:cond delay="0"/>
                                  </p:stCondLst>
                                  <p:childTnLst>
                                    <p:set>
                                      <p:cBhvr>
                                        <p:cTn id="63" dur="1" fill="hold">
                                          <p:stCondLst>
                                            <p:cond delay="0"/>
                                          </p:stCondLst>
                                        </p:cTn>
                                        <p:tgtEl>
                                          <p:spTgt spid="15364">
                                            <p:txEl>
                                              <p:pRg st="10" end="10"/>
                                            </p:txEl>
                                          </p:spTgt>
                                        </p:tgtEl>
                                        <p:attrNameLst>
                                          <p:attrName>style.visibility</p:attrName>
                                        </p:attrNameLst>
                                      </p:cBhvr>
                                      <p:to>
                                        <p:strVal val="visible"/>
                                      </p:to>
                                    </p:set>
                                    <p:animEffect transition="in" filter="wipe(down)">
                                      <p:cBhvr>
                                        <p:cTn id="64" dur="500"/>
                                        <p:tgtEl>
                                          <p:spTgt spid="15364">
                                            <p:txEl>
                                              <p:pRg st="10" end="10"/>
                                            </p:txEl>
                                          </p:spTgt>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15364">
                                            <p:txEl>
                                              <p:pRg st="11" end="11"/>
                                            </p:txEl>
                                          </p:spTgt>
                                        </p:tgtEl>
                                        <p:attrNameLst>
                                          <p:attrName>style.visibility</p:attrName>
                                        </p:attrNameLst>
                                      </p:cBhvr>
                                      <p:to>
                                        <p:strVal val="visible"/>
                                      </p:to>
                                    </p:set>
                                    <p:animEffect transition="in" filter="wipe(down)">
                                      <p:cBhvr>
                                        <p:cTn id="69" dur="500"/>
                                        <p:tgtEl>
                                          <p:spTgt spid="15364">
                                            <p:txEl>
                                              <p:pRg st="11" end="11"/>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15364">
                                            <p:txEl>
                                              <p:pRg st="12" end="12"/>
                                            </p:txEl>
                                          </p:spTgt>
                                        </p:tgtEl>
                                        <p:attrNameLst>
                                          <p:attrName>style.visibility</p:attrName>
                                        </p:attrNameLst>
                                      </p:cBhvr>
                                      <p:to>
                                        <p:strVal val="visible"/>
                                      </p:to>
                                    </p:set>
                                    <p:animEffect transition="in" filter="wipe(down)">
                                      <p:cBhvr>
                                        <p:cTn id="74" dur="500"/>
                                        <p:tgtEl>
                                          <p:spTgt spid="15364">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p:bldP spid="43"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nvSpPr>
        <p:spPr>
          <a:xfrm>
            <a:off x="304800" y="493712"/>
            <a:ext cx="80772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endParaRPr lang="zh-CN" altLang="en-US" dirty="0"/>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19" name="组合 18"/>
          <p:cNvGrpSpPr/>
          <p:nvPr/>
        </p:nvGrpSpPr>
        <p:grpSpPr>
          <a:xfrm>
            <a:off x="2894839" y="289781"/>
            <a:ext cx="1004231" cy="1004101"/>
            <a:chOff x="1101311" y="1198062"/>
            <a:chExt cx="1106591" cy="1106447"/>
          </a:xfrm>
        </p:grpSpPr>
        <p:grpSp>
          <p:nvGrpSpPr>
            <p:cNvPr id="21" name="组合 20"/>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37" name="椭圆 36"/>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38" name="组合 37"/>
            <p:cNvGrpSpPr>
              <a:grpSpLocks noChangeAspect="1"/>
            </p:cNvGrpSpPr>
            <p:nvPr/>
          </p:nvGrpSpPr>
          <p:grpSpPr>
            <a:xfrm>
              <a:off x="1330537" y="1422392"/>
              <a:ext cx="648140" cy="625029"/>
              <a:chOff x="7019925" y="5499100"/>
              <a:chExt cx="312738" cy="301626"/>
            </a:xfrm>
            <a:solidFill>
              <a:srgbClr val="C00000"/>
            </a:solidFill>
          </p:grpSpPr>
          <p:sp>
            <p:nvSpPr>
              <p:cNvPr id="39"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40"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41" name="矩形 40"/>
          <p:cNvSpPr/>
          <p:nvPr/>
        </p:nvSpPr>
        <p:spPr>
          <a:xfrm>
            <a:off x="-33814" y="780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42" name="矩形 41"/>
          <p:cNvSpPr/>
          <p:nvPr/>
        </p:nvSpPr>
        <p:spPr>
          <a:xfrm>
            <a:off x="3997960" y="781050"/>
            <a:ext cx="5146040" cy="76200"/>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43" name="TextBox 24"/>
          <p:cNvSpPr txBox="1"/>
          <p:nvPr/>
        </p:nvSpPr>
        <p:spPr>
          <a:xfrm>
            <a:off x="3889579" y="159166"/>
            <a:ext cx="2468880" cy="1014730"/>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算术运算指令</a:t>
            </a:r>
            <a:endParaRPr lang="zh-CN" altLang="en-US" sz="3000" dirty="0"/>
          </a:p>
          <a:p>
            <a:pPr algn="l"/>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16388" name="Rectangle 4"/>
          <p:cNvSpPr>
            <a:spLocks noGrp="1" noChangeArrowheads="1"/>
          </p:cNvSpPr>
          <p:nvPr/>
        </p:nvSpPr>
        <p:spPr>
          <a:xfrm>
            <a:off x="396875" y="13620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00000"/>
              </a:buClr>
              <a:tabLst>
                <a:tab pos="1409700" algn="l"/>
                <a:tab pos="1409700" algn="l"/>
                <a:tab pos="1409700" algn="l"/>
                <a:tab pos="1409700" algn="l"/>
              </a:tabLst>
            </a:pPr>
            <a:r>
              <a:rPr lang="zh-CN" altLang="en-US" dirty="0">
                <a:latin typeface="黑体" panose="02010609060101010101" charset="-122"/>
                <a:ea typeface="黑体" panose="02010609060101010101" charset="-122"/>
              </a:rPr>
              <a:t>一元操作</a:t>
            </a:r>
          </a:p>
          <a:p>
            <a:pPr marL="285750" lvl="2" indent="0">
              <a:buNone/>
              <a:tabLst>
                <a:tab pos="1409700" algn="l"/>
                <a:tab pos="1409700" algn="l"/>
                <a:tab pos="1409700" algn="l"/>
                <a:tab pos="1409700" algn="l"/>
              </a:tabLst>
            </a:pPr>
            <a:r>
              <a:rPr lang="en-US" dirty="0" err="1">
                <a:latin typeface="Courier New" panose="02070309020205020404" charset="0"/>
                <a:cs typeface="Courier New" panose="02070309020205020404" charset="0"/>
                <a:sym typeface="Courier New Bold" charset="0"/>
              </a:rPr>
              <a:t>incq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sym typeface="Calibri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+ 1</a:t>
            </a:r>
            <a:endParaRPr lang="en-US" dirty="0">
              <a:latin typeface="Calibri Italic" charset="0"/>
              <a:sym typeface="Calibri Italic" charset="0"/>
            </a:endParaRPr>
          </a:p>
          <a:p>
            <a:pPr marL="285750" lvl="2" indent="0">
              <a:buNone/>
              <a:tabLst>
                <a:tab pos="1409700" algn="l"/>
                <a:tab pos="1409700" algn="l"/>
                <a:tab pos="1409700" algn="l"/>
                <a:tab pos="1409700" algn="l"/>
              </a:tabLst>
            </a:pPr>
            <a:r>
              <a:rPr lang="en-US" dirty="0" err="1">
                <a:latin typeface="Courier New" panose="02070309020205020404" charset="0"/>
                <a:cs typeface="Courier New" panose="02070309020205020404" charset="0"/>
                <a:sym typeface="Courier New Bold" charset="0"/>
              </a:rPr>
              <a:t>decq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sym typeface="Calibri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a:t>
            </a:r>
            <a:r>
              <a:rPr lang="en-US" dirty="0">
                <a:latin typeface="Calibri Italic" charset="0"/>
                <a:ea typeface="Calibri Italic" charset="0"/>
                <a:cs typeface="Calibri Italic" charset="0"/>
                <a:sym typeface="Symbol" panose="05050102010706020507"/>
              </a:rPr>
              <a:t></a:t>
            </a:r>
            <a:r>
              <a:rPr lang="en-US" dirty="0">
                <a:latin typeface="Calibri Italic" charset="0"/>
                <a:ea typeface="Calibri Italic" charset="0"/>
                <a:cs typeface="Calibri Italic" charset="0"/>
                <a:sym typeface="Calibri Italic" charset="0"/>
              </a:rPr>
              <a:t> 1</a:t>
            </a:r>
            <a:endParaRPr lang="en-US" dirty="0">
              <a:latin typeface="Calibri Italic" charset="0"/>
              <a:sym typeface="Calibri Italic" charset="0"/>
            </a:endParaRPr>
          </a:p>
          <a:p>
            <a:pPr marL="285750" lvl="2" indent="0">
              <a:buNone/>
              <a:tabLst>
                <a:tab pos="1409700" algn="l"/>
                <a:tab pos="1409700" algn="l"/>
                <a:tab pos="1409700" algn="l"/>
                <a:tab pos="1409700" algn="l"/>
              </a:tabLst>
            </a:pPr>
            <a:r>
              <a:rPr lang="en-US" dirty="0" err="1">
                <a:latin typeface="Courier New" panose="02070309020205020404" charset="0"/>
                <a:cs typeface="Courier New" panose="02070309020205020404" charset="0"/>
                <a:sym typeface="Courier New Bold" charset="0"/>
              </a:rPr>
              <a:t>negq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sym typeface="Calibri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 </a:t>
            </a:r>
            <a:r>
              <a:rPr lang="en-US" dirty="0">
                <a:latin typeface="Calibri Italic" charset="0"/>
                <a:ea typeface="Calibri Italic" charset="0"/>
                <a:cs typeface="Calibri Italic" charset="0"/>
                <a:sym typeface="Symbol" panose="05050102010706020507"/>
              </a:rPr>
              <a:t> </a:t>
            </a:r>
            <a:r>
              <a:rPr lang="en-US" dirty="0" err="1">
                <a:latin typeface="Calibri Italic" charset="0"/>
                <a:ea typeface="Calibri Italic" charset="0"/>
                <a:cs typeface="Calibri Italic" charset="0"/>
                <a:sym typeface="Calibri Italic" charset="0"/>
              </a:rPr>
              <a:t>Dest</a:t>
            </a:r>
            <a:endParaRPr lang="en-US" dirty="0">
              <a:latin typeface="Calibri Italic" charset="0"/>
              <a:sym typeface="Calibri Italic" charset="0"/>
            </a:endParaRPr>
          </a:p>
          <a:p>
            <a:pPr marL="285750" lvl="2" indent="0">
              <a:buNone/>
              <a:tabLst>
                <a:tab pos="1409700" algn="l"/>
                <a:tab pos="1409700" algn="l"/>
                <a:tab pos="1409700" algn="l"/>
                <a:tab pos="1409700" algn="l"/>
              </a:tabLst>
            </a:pPr>
            <a:r>
              <a:rPr lang="en-US" dirty="0" err="1">
                <a:latin typeface="Courier New" panose="02070309020205020404" charset="0"/>
                <a:cs typeface="Courier New" panose="02070309020205020404" charset="0"/>
                <a:sym typeface="Courier New Bold" charset="0"/>
              </a:rPr>
              <a:t>notq</a:t>
            </a:r>
            <a:r>
              <a:rPr lang="en-US" dirty="0">
                <a:solidFill>
                  <a:srgbClr val="980002"/>
                </a:solidFill>
                <a:latin typeface="Calibri Bold Italic" charset="0"/>
                <a:ea typeface="ヒラギノ角ゴ ProN W6" charset="0"/>
                <a:cs typeface="ヒラギノ角ゴ ProN W6" charset="0"/>
                <a:sym typeface="Calibri Bold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sym typeface="Calibri Italic" charset="0"/>
              </a:rPr>
              <a:t>	</a:t>
            </a:r>
            <a:r>
              <a:rPr lang="en-US" dirty="0" err="1">
                <a:latin typeface="Calibri Italic" charset="0"/>
                <a:ea typeface="Calibri Italic" charset="0"/>
                <a:cs typeface="Calibri Italic" charset="0"/>
                <a:sym typeface="Calibri Italic" charset="0"/>
              </a:rPr>
              <a:t>Dest</a:t>
            </a:r>
            <a:r>
              <a:rPr lang="en-US" dirty="0">
                <a:latin typeface="Calibri Italic" charset="0"/>
                <a:ea typeface="Calibri Italic" charset="0"/>
                <a:cs typeface="Calibri Italic" charset="0"/>
                <a:sym typeface="Calibri Italic" charset="0"/>
              </a:rPr>
              <a:t> = ~</a:t>
            </a:r>
            <a:r>
              <a:rPr lang="en-US" dirty="0" err="1">
                <a:latin typeface="Calibri Italic" charset="0"/>
                <a:ea typeface="Calibri Italic" charset="0"/>
                <a:cs typeface="Calibri Italic" charset="0"/>
                <a:sym typeface="Calibri Italic" charset="0"/>
              </a:rPr>
              <a:t>Dest</a:t>
            </a:r>
            <a:endParaRPr lang="en-US" dirty="0">
              <a:latin typeface="Calibri Italic" charset="0"/>
              <a:sym typeface="Calibri Italic" charset="0"/>
            </a:endParaRPr>
          </a:p>
          <a:p>
            <a:pPr>
              <a:spcBef>
                <a:spcPts val="3500"/>
              </a:spcBef>
              <a:buClr>
                <a:srgbClr val="000000"/>
              </a:buClr>
              <a:tabLst>
                <a:tab pos="1409700" algn="l"/>
                <a:tab pos="1409700" algn="l"/>
                <a:tab pos="1409700" algn="l"/>
                <a:tab pos="1409700" algn="l"/>
              </a:tabLst>
            </a:pPr>
            <a:r>
              <a:rPr lang="zh-CN" altLang="en-US" dirty="0">
                <a:latin typeface="黑体" panose="02010609060101010101" charset="-122"/>
                <a:ea typeface="黑体" panose="02010609060101010101" charset="-122"/>
              </a:rPr>
              <a:t>更多指令此处不一一列出。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right)">
                                      <p:cBhvr>
                                        <p:cTn id="16" dur="500"/>
                                        <p:tgtEl>
                                          <p:spTgt spid="41"/>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43"/>
                                        </p:tgtEl>
                                        <p:attrNameLst>
                                          <p:attrName>style.visibility</p:attrName>
                                        </p:attrNameLst>
                                      </p:cBhvr>
                                      <p:to>
                                        <p:strVal val="visible"/>
                                      </p:to>
                                    </p:set>
                                    <p:anim by="(-#ppt_w*2)" calcmode="lin" valueType="num">
                                      <p:cBhvr rctx="PPT">
                                        <p:cTn id="20" dur="500" autoRev="1" fill="hold">
                                          <p:stCondLst>
                                            <p:cond delay="0"/>
                                          </p:stCondLst>
                                        </p:cTn>
                                        <p:tgtEl>
                                          <p:spTgt spid="43"/>
                                        </p:tgtEl>
                                        <p:attrNameLst>
                                          <p:attrName>ppt_w</p:attrName>
                                        </p:attrNameLst>
                                      </p:cBhvr>
                                    </p:anim>
                                    <p:anim by="(#ppt_w*0.50)" calcmode="lin" valueType="num">
                                      <p:cBhvr>
                                        <p:cTn id="21" dur="500" decel="50000" autoRev="1" fill="hold">
                                          <p:stCondLst>
                                            <p:cond delay="0"/>
                                          </p:stCondLst>
                                        </p:cTn>
                                        <p:tgtEl>
                                          <p:spTgt spid="43"/>
                                        </p:tgtEl>
                                        <p:attrNameLst>
                                          <p:attrName>ppt_x</p:attrName>
                                        </p:attrNameLst>
                                      </p:cBhvr>
                                    </p:anim>
                                    <p:anim from="(-#ppt_h/2)" to="(#ppt_y)" calcmode="lin" valueType="num">
                                      <p:cBhvr>
                                        <p:cTn id="22" dur="1000" fill="hold">
                                          <p:stCondLst>
                                            <p:cond delay="0"/>
                                          </p:stCondLst>
                                        </p:cTn>
                                        <p:tgtEl>
                                          <p:spTgt spid="43"/>
                                        </p:tgtEl>
                                        <p:attrNameLst>
                                          <p:attrName>ppt_y</p:attrName>
                                        </p:attrNameLst>
                                      </p:cBhvr>
                                    </p:anim>
                                    <p:animRot by="21600000">
                                      <p:cBhvr>
                                        <p:cTn id="23" dur="1000" fill="hold">
                                          <p:stCondLst>
                                            <p:cond delay="0"/>
                                          </p:stCondLst>
                                        </p:cTn>
                                        <p:tgtEl>
                                          <p:spTgt spid="43"/>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43"/>
                                        </p:tgtEl>
                                        <p:attrNameLst>
                                          <p:attrName>style.visibility</p:attrName>
                                        </p:attrNameLst>
                                      </p:cBhvr>
                                      <p:to>
                                        <p:strVal val="visible"/>
                                      </p:to>
                                    </p:set>
                                    <p:anim calcmode="lin" valueType="num">
                                      <p:cBhvr>
                                        <p:cTn id="26" dur="10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43"/>
                                        </p:tgtEl>
                                        <p:attrNameLst>
                                          <p:attrName>ppt_y</p:attrName>
                                        </p:attrNameLst>
                                      </p:cBhvr>
                                      <p:tavLst>
                                        <p:tav tm="0">
                                          <p:val>
                                            <p:strVal val="#ppt_y"/>
                                          </p:val>
                                        </p:tav>
                                        <p:tav tm="100000">
                                          <p:val>
                                            <p:strVal val="#ppt_y"/>
                                          </p:val>
                                        </p:tav>
                                      </p:tavLst>
                                    </p:anim>
                                    <p:anim calcmode="lin" valueType="num">
                                      <p:cBhvr>
                                        <p:cTn id="28" dur="10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6388">
                                            <p:txEl>
                                              <p:pRg st="1" end="1"/>
                                            </p:txEl>
                                          </p:spTgt>
                                        </p:tgtEl>
                                        <p:attrNameLst>
                                          <p:attrName>style.visibility</p:attrName>
                                        </p:attrNameLst>
                                      </p:cBhvr>
                                      <p:to>
                                        <p:strVal val="visible"/>
                                      </p:to>
                                    </p:set>
                                    <p:animEffect transition="in" filter="wipe(down)">
                                      <p:cBhvr>
                                        <p:cTn id="35" dur="500"/>
                                        <p:tgtEl>
                                          <p:spTgt spid="16388">
                                            <p:txEl>
                                              <p:pRg st="1" end="1"/>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6388">
                                            <p:txEl>
                                              <p:pRg st="2" end="2"/>
                                            </p:txEl>
                                          </p:spTgt>
                                        </p:tgtEl>
                                        <p:attrNameLst>
                                          <p:attrName>style.visibility</p:attrName>
                                        </p:attrNameLst>
                                      </p:cBhvr>
                                      <p:to>
                                        <p:strVal val="visible"/>
                                      </p:to>
                                    </p:set>
                                    <p:animEffect transition="in" filter="wipe(down)">
                                      <p:cBhvr>
                                        <p:cTn id="38" dur="500"/>
                                        <p:tgtEl>
                                          <p:spTgt spid="16388">
                                            <p:txEl>
                                              <p:pRg st="2" end="2"/>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16388">
                                            <p:txEl>
                                              <p:pRg st="3" end="3"/>
                                            </p:txEl>
                                          </p:spTgt>
                                        </p:tgtEl>
                                        <p:attrNameLst>
                                          <p:attrName>style.visibility</p:attrName>
                                        </p:attrNameLst>
                                      </p:cBhvr>
                                      <p:to>
                                        <p:strVal val="visible"/>
                                      </p:to>
                                    </p:set>
                                    <p:animEffect transition="in" filter="wipe(down)">
                                      <p:cBhvr>
                                        <p:cTn id="41" dur="500"/>
                                        <p:tgtEl>
                                          <p:spTgt spid="16388">
                                            <p:txEl>
                                              <p:pRg st="3" end="3"/>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16388">
                                            <p:txEl>
                                              <p:pRg st="4" end="4"/>
                                            </p:txEl>
                                          </p:spTgt>
                                        </p:tgtEl>
                                        <p:attrNameLst>
                                          <p:attrName>style.visibility</p:attrName>
                                        </p:attrNameLst>
                                      </p:cBhvr>
                                      <p:to>
                                        <p:strVal val="visible"/>
                                      </p:to>
                                    </p:set>
                                    <p:animEffect transition="in" filter="wipe(down)">
                                      <p:cBhvr>
                                        <p:cTn id="44" dur="500"/>
                                        <p:tgtEl>
                                          <p:spTgt spid="1638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p:bldP spid="43" grpId="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nvSpPr>
        <p:spPr>
          <a:xfrm>
            <a:off x="304800" y="493712"/>
            <a:ext cx="80772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endParaRPr lang="zh-CN" altLang="en-US" dirty="0"/>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19" name="组合 18"/>
          <p:cNvGrpSpPr/>
          <p:nvPr/>
        </p:nvGrpSpPr>
        <p:grpSpPr>
          <a:xfrm>
            <a:off x="2894839" y="289781"/>
            <a:ext cx="1004231" cy="1004101"/>
            <a:chOff x="1101311" y="1198062"/>
            <a:chExt cx="1106591" cy="1106447"/>
          </a:xfrm>
        </p:grpSpPr>
        <p:grpSp>
          <p:nvGrpSpPr>
            <p:cNvPr id="21" name="组合 20"/>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37" name="椭圆 36"/>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38" name="组合 37"/>
            <p:cNvGrpSpPr>
              <a:grpSpLocks noChangeAspect="1"/>
            </p:cNvGrpSpPr>
            <p:nvPr/>
          </p:nvGrpSpPr>
          <p:grpSpPr>
            <a:xfrm>
              <a:off x="1330537" y="1422392"/>
              <a:ext cx="648140" cy="625029"/>
              <a:chOff x="7019925" y="5499100"/>
              <a:chExt cx="312738" cy="301626"/>
            </a:xfrm>
            <a:solidFill>
              <a:srgbClr val="C00000"/>
            </a:solidFill>
          </p:grpSpPr>
          <p:sp>
            <p:nvSpPr>
              <p:cNvPr id="39"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40"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41" name="矩形 40"/>
          <p:cNvSpPr/>
          <p:nvPr/>
        </p:nvSpPr>
        <p:spPr>
          <a:xfrm>
            <a:off x="-33814" y="780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42" name="矩形 41"/>
          <p:cNvSpPr/>
          <p:nvPr/>
        </p:nvSpPr>
        <p:spPr>
          <a:xfrm>
            <a:off x="3997960" y="781050"/>
            <a:ext cx="5146040" cy="76200"/>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43" name="TextBox 24"/>
          <p:cNvSpPr txBox="1"/>
          <p:nvPr/>
        </p:nvSpPr>
        <p:spPr>
          <a:xfrm>
            <a:off x="4029279" y="159166"/>
            <a:ext cx="1706880" cy="1014730"/>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移位操作</a:t>
            </a:r>
            <a:endParaRPr lang="zh-CN" altLang="en-US" sz="3000" dirty="0"/>
          </a:p>
          <a:p>
            <a:pPr algn="l"/>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16388" name="Rectangle 4"/>
          <p:cNvSpPr>
            <a:spLocks noGrp="1" noChangeArrowheads="1"/>
          </p:cNvSpPr>
          <p:nvPr/>
        </p:nvSpPr>
        <p:spPr>
          <a:xfrm>
            <a:off x="190500" y="9429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0" indent="0">
              <a:buClr>
                <a:srgbClr val="000000"/>
              </a:buClr>
              <a:buNone/>
              <a:tabLst>
                <a:tab pos="1409700" algn="l"/>
                <a:tab pos="1409700" algn="l"/>
                <a:tab pos="1409700" algn="l"/>
                <a:tab pos="1409700" algn="l"/>
              </a:tabLst>
            </a:pPr>
            <a:endParaRPr lang="en-US" altLang="zh-CN" sz="2400" dirty="0"/>
          </a:p>
          <a:p>
            <a:pPr lvl="1">
              <a:buClr>
                <a:srgbClr val="ED7D31"/>
              </a:buClr>
            </a:pPr>
            <a:r>
              <a:rPr lang="zh-CN" altLang="en-US" sz="2400" dirty="0">
                <a:sym typeface="+mn-ea"/>
              </a:rPr>
              <a:t>区分算术和逻辑移位</a:t>
            </a:r>
            <a:endParaRPr lang="en-US" altLang="zh-CN" sz="2400" dirty="0"/>
          </a:p>
          <a:p>
            <a:pPr lvl="1">
              <a:buClr>
                <a:srgbClr val="ED7D31"/>
              </a:buClr>
            </a:pPr>
            <a:r>
              <a:rPr lang="en-US" altLang="zh-CN" sz="2400" dirty="0">
                <a:sym typeface="+mn-ea"/>
              </a:rPr>
              <a:t>SAL/SHL/SAR/SHR</a:t>
            </a:r>
            <a:endParaRPr lang="en-US" altLang="zh-CN" sz="2400" dirty="0"/>
          </a:p>
          <a:p>
            <a:pPr lvl="1">
              <a:buClr>
                <a:srgbClr val="ED7D31"/>
              </a:buClr>
            </a:pPr>
            <a:r>
              <a:rPr lang="zh-CN" altLang="en-US" sz="2400" dirty="0">
                <a:sym typeface="+mn-ea"/>
              </a:rPr>
              <a:t>移位量是立即数或者</a:t>
            </a:r>
            <a:r>
              <a:rPr lang="en-US" altLang="zh-CN" sz="2400" dirty="0">
                <a:sym typeface="+mn-ea"/>
              </a:rPr>
              <a:t>%cl</a:t>
            </a:r>
            <a:endParaRPr lang="en-US" altLang="zh-CN" sz="2400" dirty="0"/>
          </a:p>
          <a:p>
            <a:pPr marL="0" indent="0">
              <a:buClr>
                <a:srgbClr val="000000"/>
              </a:buClr>
              <a:buNone/>
              <a:tabLst>
                <a:tab pos="1409700" algn="l"/>
                <a:tab pos="1409700" algn="l"/>
                <a:tab pos="1409700" algn="l"/>
                <a:tab pos="1409700" algn="l"/>
              </a:tabLst>
            </a:pPr>
            <a:endParaRPr lang="zh-CN" altLang="en-US" dirty="0">
              <a:latin typeface="黑体" panose="02010609060101010101" charset="-122"/>
              <a:ea typeface="黑体" panose="02010609060101010101" charset="-122"/>
            </a:endParaRPr>
          </a:p>
        </p:txBody>
      </p:sp>
      <p:sp>
        <p:nvSpPr>
          <p:cNvPr id="10" name="文本框 9"/>
          <p:cNvSpPr txBox="1"/>
          <p:nvPr/>
        </p:nvSpPr>
        <p:spPr>
          <a:xfrm>
            <a:off x="748030" y="2828409"/>
            <a:ext cx="2354580" cy="369332"/>
          </a:xfrm>
          <a:prstGeom prst="rect">
            <a:avLst/>
          </a:prstGeom>
          <a:noFill/>
        </p:spPr>
        <p:txBody>
          <a:bodyPr wrap="square" rtlCol="0">
            <a:spAutoFit/>
          </a:bodyPr>
          <a:lstStyle/>
          <a:p>
            <a:pPr marL="285750" indent="-285750">
              <a:buFont typeface="Wingdings" panose="05000000000000000000" pitchFamily="2" charset="2"/>
              <a:buChar char="ü"/>
            </a:pPr>
            <a:r>
              <a:rPr lang="zh-CN" altLang="en-US" dirty="0"/>
              <a:t>练习</a:t>
            </a:r>
          </a:p>
        </p:txBody>
      </p:sp>
      <p:sp>
        <p:nvSpPr>
          <p:cNvPr id="2" name="矩形 1"/>
          <p:cNvSpPr/>
          <p:nvPr/>
        </p:nvSpPr>
        <p:spPr>
          <a:xfrm>
            <a:off x="2154555" y="3021102"/>
            <a:ext cx="4377690" cy="1753235"/>
          </a:xfrm>
          <a:prstGeom prst="rect">
            <a:avLst/>
          </a:prstGeom>
        </p:spPr>
        <p:txBody>
          <a:bodyPr wrap="square">
            <a:spAutoFit/>
          </a:bodyPr>
          <a:lstStyle/>
          <a:p>
            <a:r>
              <a:rPr lang="en-US" altLang="zh-CN" dirty="0" err="1">
                <a:latin typeface="ZztexMono-Regular"/>
              </a:rPr>
              <a:t>int</a:t>
            </a:r>
            <a:r>
              <a:rPr lang="en-US" altLang="zh-CN" dirty="0">
                <a:latin typeface="ZztexMono-Regular"/>
              </a:rPr>
              <a:t> shift_left4_rightn(</a:t>
            </a:r>
            <a:r>
              <a:rPr lang="en-US" altLang="zh-CN" dirty="0" err="1">
                <a:latin typeface="ZztexMono-Regular"/>
              </a:rPr>
              <a:t>int</a:t>
            </a:r>
            <a:r>
              <a:rPr lang="en-US" altLang="zh-CN" dirty="0">
                <a:latin typeface="ZztexMono-Regular"/>
              </a:rPr>
              <a:t> x, </a:t>
            </a:r>
            <a:r>
              <a:rPr lang="en-US" altLang="zh-CN" dirty="0" err="1">
                <a:latin typeface="ZztexMono-Regular"/>
              </a:rPr>
              <a:t>int</a:t>
            </a:r>
            <a:r>
              <a:rPr lang="en-US" altLang="zh-CN" dirty="0">
                <a:latin typeface="ZztexMono-Regular"/>
              </a:rPr>
              <a:t> n)</a:t>
            </a:r>
          </a:p>
          <a:p>
            <a:r>
              <a:rPr lang="en-US" altLang="zh-CN" dirty="0">
                <a:latin typeface="ZztexMono-Regular"/>
              </a:rPr>
              <a:t>{</a:t>
            </a:r>
          </a:p>
          <a:p>
            <a:r>
              <a:rPr lang="en-US" altLang="zh-CN" dirty="0">
                <a:latin typeface="ZztexMono-Regular"/>
              </a:rPr>
              <a:t>x &lt;&lt;= 4;</a:t>
            </a:r>
          </a:p>
          <a:p>
            <a:r>
              <a:rPr lang="en-US" altLang="zh-CN" dirty="0">
                <a:latin typeface="ZztexMono-Regular"/>
              </a:rPr>
              <a:t>x &gt;&gt;= n;</a:t>
            </a:r>
          </a:p>
          <a:p>
            <a:r>
              <a:rPr lang="en-US" altLang="zh-CN" dirty="0">
                <a:latin typeface="ZztexMono-Regular"/>
              </a:rPr>
              <a:t>return x;</a:t>
            </a:r>
          </a:p>
          <a:p>
            <a:r>
              <a:rPr lang="en-US" altLang="zh-CN" dirty="0">
                <a:latin typeface="ZztexMono-Regular"/>
              </a:rPr>
              <a:t>}</a:t>
            </a:r>
            <a:endParaRPr lang="zh-CN" altLang="en-US" dirty="0"/>
          </a:p>
        </p:txBody>
      </p:sp>
      <p:sp>
        <p:nvSpPr>
          <p:cNvPr id="3" name="矩形 2"/>
          <p:cNvSpPr/>
          <p:nvPr/>
        </p:nvSpPr>
        <p:spPr>
          <a:xfrm>
            <a:off x="2765425" y="4774774"/>
            <a:ext cx="4631690" cy="1198880"/>
          </a:xfrm>
          <a:prstGeom prst="rect">
            <a:avLst/>
          </a:prstGeom>
        </p:spPr>
        <p:txBody>
          <a:bodyPr wrap="square">
            <a:spAutoFit/>
          </a:bodyPr>
          <a:lstStyle/>
          <a:p>
            <a:r>
              <a:rPr lang="en-US" altLang="zh-CN" dirty="0">
                <a:solidFill>
                  <a:srgbClr val="00AEF0"/>
                </a:solidFill>
                <a:latin typeface="StoneSans"/>
              </a:rPr>
              <a:t>1 </a:t>
            </a:r>
            <a:r>
              <a:rPr lang="en-US" altLang="zh-CN" dirty="0" err="1">
                <a:solidFill>
                  <a:srgbClr val="000000"/>
                </a:solidFill>
                <a:latin typeface="ZztexMono-Regular"/>
              </a:rPr>
              <a:t>movq</a:t>
            </a:r>
            <a:r>
              <a:rPr lang="en-US" altLang="zh-CN" dirty="0">
                <a:solidFill>
                  <a:srgbClr val="000000"/>
                </a:solidFill>
                <a:latin typeface="ZztexMono-Regular"/>
              </a:rPr>
              <a:t> %rdi, %</a:t>
            </a:r>
            <a:r>
              <a:rPr lang="en-US" altLang="zh-CN" dirty="0" err="1">
                <a:solidFill>
                  <a:srgbClr val="000000"/>
                </a:solidFill>
                <a:latin typeface="ZztexMono-Regular"/>
              </a:rPr>
              <a:t>rax</a:t>
            </a:r>
            <a:r>
              <a:rPr lang="en-US" altLang="zh-CN" dirty="0">
                <a:solidFill>
                  <a:srgbClr val="000000"/>
                </a:solidFill>
                <a:latin typeface="ZztexMono-Regular"/>
              </a:rPr>
              <a:t> 	</a:t>
            </a:r>
            <a:r>
              <a:rPr lang="en-US" altLang="zh-CN" i="1" dirty="0">
                <a:solidFill>
                  <a:srgbClr val="00AEF0"/>
                </a:solidFill>
                <a:latin typeface="ZztexMono-Italic"/>
              </a:rPr>
              <a:t>Get x</a:t>
            </a:r>
          </a:p>
          <a:p>
            <a:r>
              <a:rPr lang="en-US" altLang="zh-CN" dirty="0">
                <a:solidFill>
                  <a:srgbClr val="00AEF0"/>
                </a:solidFill>
                <a:latin typeface="StoneSans"/>
              </a:rPr>
              <a:t>2 	</a:t>
            </a:r>
            <a:r>
              <a:rPr lang="zh-CN" altLang="en-US" dirty="0">
                <a:solidFill>
                  <a:srgbClr val="00AEF0"/>
                </a:solidFill>
                <a:latin typeface="StoneSans"/>
              </a:rPr>
              <a:t>？</a:t>
            </a:r>
            <a:r>
              <a:rPr lang="en-US" altLang="zh-CN" dirty="0">
                <a:solidFill>
                  <a:srgbClr val="00AEF0"/>
                </a:solidFill>
                <a:latin typeface="StoneSans"/>
              </a:rPr>
              <a:t>		</a:t>
            </a:r>
            <a:r>
              <a:rPr lang="en-US" altLang="zh-CN" i="1" dirty="0">
                <a:solidFill>
                  <a:srgbClr val="00AEF0"/>
                </a:solidFill>
                <a:latin typeface="ZztexMono-Italic"/>
              </a:rPr>
              <a:t>x &lt;&lt;= 4</a:t>
            </a:r>
          </a:p>
          <a:p>
            <a:r>
              <a:rPr lang="en-US" altLang="zh-CN" dirty="0">
                <a:solidFill>
                  <a:srgbClr val="00AEF0"/>
                </a:solidFill>
                <a:latin typeface="StoneSans"/>
              </a:rPr>
              <a:t>3 </a:t>
            </a:r>
            <a:r>
              <a:rPr lang="en-US" altLang="zh-CN" dirty="0" err="1">
                <a:solidFill>
                  <a:srgbClr val="000000"/>
                </a:solidFill>
                <a:latin typeface="ZztexMono-Regular"/>
              </a:rPr>
              <a:t>movl</a:t>
            </a:r>
            <a:r>
              <a:rPr lang="en-US" altLang="zh-CN" dirty="0">
                <a:solidFill>
                  <a:srgbClr val="000000"/>
                </a:solidFill>
                <a:latin typeface="ZztexMono-Regular"/>
              </a:rPr>
              <a:t> %</a:t>
            </a:r>
            <a:r>
              <a:rPr lang="en-US" altLang="zh-CN" dirty="0" err="1">
                <a:solidFill>
                  <a:srgbClr val="000000"/>
                </a:solidFill>
                <a:latin typeface="ZztexMono-Regular"/>
              </a:rPr>
              <a:t>esi</a:t>
            </a:r>
            <a:r>
              <a:rPr lang="en-US" altLang="zh-CN" dirty="0">
                <a:solidFill>
                  <a:srgbClr val="000000"/>
                </a:solidFill>
                <a:latin typeface="ZztexMono-Regular"/>
              </a:rPr>
              <a:t>, %</a:t>
            </a:r>
            <a:r>
              <a:rPr lang="en-US" altLang="zh-CN" dirty="0" err="1">
                <a:solidFill>
                  <a:srgbClr val="000000"/>
                </a:solidFill>
                <a:latin typeface="ZztexMono-Regular"/>
              </a:rPr>
              <a:t>ecx</a:t>
            </a:r>
            <a:r>
              <a:rPr lang="en-US" altLang="zh-CN" dirty="0">
                <a:solidFill>
                  <a:srgbClr val="000000"/>
                </a:solidFill>
                <a:latin typeface="ZztexMono-Regular"/>
              </a:rPr>
              <a:t>       </a:t>
            </a:r>
            <a:r>
              <a:rPr lang="en-US" altLang="zh-CN" i="1" dirty="0">
                <a:solidFill>
                  <a:srgbClr val="00AEF0"/>
                </a:solidFill>
                <a:latin typeface="ZztexMono-Italic"/>
              </a:rPr>
              <a:t>Get n</a:t>
            </a:r>
          </a:p>
          <a:p>
            <a:r>
              <a:rPr lang="en-US" altLang="zh-CN" dirty="0">
                <a:solidFill>
                  <a:srgbClr val="00AEF0"/>
                </a:solidFill>
                <a:latin typeface="StoneSans"/>
              </a:rPr>
              <a:t>4 	</a:t>
            </a:r>
            <a:r>
              <a:rPr lang="zh-CN" altLang="en-US" dirty="0">
                <a:solidFill>
                  <a:srgbClr val="00AEF0"/>
                </a:solidFill>
                <a:latin typeface="StoneSans"/>
              </a:rPr>
              <a:t>？</a:t>
            </a:r>
            <a:r>
              <a:rPr lang="en-US" altLang="zh-CN" dirty="0">
                <a:solidFill>
                  <a:srgbClr val="00AEF0"/>
                </a:solidFill>
                <a:latin typeface="StoneSans"/>
              </a:rPr>
              <a:t>		</a:t>
            </a:r>
            <a:r>
              <a:rPr lang="en-US" altLang="zh-CN" i="1" dirty="0">
                <a:solidFill>
                  <a:srgbClr val="00AEF0"/>
                </a:solidFill>
                <a:latin typeface="ZztexMono-Italic"/>
              </a:rPr>
              <a:t>x &gt;&gt;= n</a:t>
            </a:r>
            <a:endParaRPr lang="zh-CN" altLang="en-US" dirty="0"/>
          </a:p>
        </p:txBody>
      </p:sp>
      <p:pic>
        <p:nvPicPr>
          <p:cNvPr id="18" name="图片 17"/>
          <p:cNvPicPr>
            <a:picLocks noChangeAspect="1"/>
          </p:cNvPicPr>
          <p:nvPr/>
        </p:nvPicPr>
        <p:blipFill rotWithShape="1">
          <a:blip r:embed="rId2"/>
          <a:srcRect l="68830" t="39363" r="20020" b="39553"/>
          <a:stretch>
            <a:fillRect/>
          </a:stretch>
        </p:blipFill>
        <p:spPr>
          <a:xfrm>
            <a:off x="6278245" y="3202305"/>
            <a:ext cx="2714625" cy="1605915"/>
          </a:xfrm>
          <a:prstGeom prst="ellipse">
            <a:avLst/>
          </a:prstGeom>
        </p:spPr>
      </p:pic>
      <p:sp>
        <p:nvSpPr>
          <p:cNvPr id="5" name="文本框 4"/>
          <p:cNvSpPr txBox="1"/>
          <p:nvPr/>
        </p:nvSpPr>
        <p:spPr>
          <a:xfrm>
            <a:off x="6798945" y="3684905"/>
            <a:ext cx="1803400" cy="645160"/>
          </a:xfrm>
          <a:prstGeom prst="rect">
            <a:avLst/>
          </a:prstGeom>
          <a:noFill/>
        </p:spPr>
        <p:txBody>
          <a:bodyPr wrap="square" rtlCol="0">
            <a:spAutoFit/>
          </a:bodyPr>
          <a:lstStyle/>
          <a:p>
            <a:r>
              <a:rPr lang="en-US" altLang="zh-CN"/>
              <a:t>x</a:t>
            </a:r>
            <a:r>
              <a:rPr lang="zh-CN" altLang="en-US"/>
              <a:t>的值存在</a:t>
            </a:r>
            <a:r>
              <a:rPr lang="en-US" altLang="zh-CN"/>
              <a:t>%rdi</a:t>
            </a:r>
          </a:p>
          <a:p>
            <a:r>
              <a:rPr lang="en-US" altLang="zh-CN"/>
              <a:t>n</a:t>
            </a:r>
            <a:r>
              <a:rPr lang="zh-CN" altLang="en-US"/>
              <a:t>的值存在</a:t>
            </a:r>
            <a:r>
              <a:rPr lang="en-US" altLang="zh-CN"/>
              <a:t>%rsi</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right)">
                                      <p:cBhvr>
                                        <p:cTn id="16" dur="500"/>
                                        <p:tgtEl>
                                          <p:spTgt spid="41"/>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43"/>
                                        </p:tgtEl>
                                        <p:attrNameLst>
                                          <p:attrName>style.visibility</p:attrName>
                                        </p:attrNameLst>
                                      </p:cBhvr>
                                      <p:to>
                                        <p:strVal val="visible"/>
                                      </p:to>
                                    </p:set>
                                    <p:anim by="(-#ppt_w*2)" calcmode="lin" valueType="num">
                                      <p:cBhvr rctx="PPT">
                                        <p:cTn id="20" dur="500" autoRev="1" fill="hold">
                                          <p:stCondLst>
                                            <p:cond delay="0"/>
                                          </p:stCondLst>
                                        </p:cTn>
                                        <p:tgtEl>
                                          <p:spTgt spid="43"/>
                                        </p:tgtEl>
                                        <p:attrNameLst>
                                          <p:attrName>ppt_w</p:attrName>
                                        </p:attrNameLst>
                                      </p:cBhvr>
                                    </p:anim>
                                    <p:anim by="(#ppt_w*0.50)" calcmode="lin" valueType="num">
                                      <p:cBhvr>
                                        <p:cTn id="21" dur="500" decel="50000" autoRev="1" fill="hold">
                                          <p:stCondLst>
                                            <p:cond delay="0"/>
                                          </p:stCondLst>
                                        </p:cTn>
                                        <p:tgtEl>
                                          <p:spTgt spid="43"/>
                                        </p:tgtEl>
                                        <p:attrNameLst>
                                          <p:attrName>ppt_x</p:attrName>
                                        </p:attrNameLst>
                                      </p:cBhvr>
                                    </p:anim>
                                    <p:anim from="(-#ppt_h/2)" to="(#ppt_y)" calcmode="lin" valueType="num">
                                      <p:cBhvr>
                                        <p:cTn id="22" dur="1000" fill="hold">
                                          <p:stCondLst>
                                            <p:cond delay="0"/>
                                          </p:stCondLst>
                                        </p:cTn>
                                        <p:tgtEl>
                                          <p:spTgt spid="43"/>
                                        </p:tgtEl>
                                        <p:attrNameLst>
                                          <p:attrName>ppt_y</p:attrName>
                                        </p:attrNameLst>
                                      </p:cBhvr>
                                    </p:anim>
                                    <p:animRot by="21600000">
                                      <p:cBhvr>
                                        <p:cTn id="23" dur="1000" fill="hold">
                                          <p:stCondLst>
                                            <p:cond delay="0"/>
                                          </p:stCondLst>
                                        </p:cTn>
                                        <p:tgtEl>
                                          <p:spTgt spid="43"/>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43"/>
                                        </p:tgtEl>
                                        <p:attrNameLst>
                                          <p:attrName>style.visibility</p:attrName>
                                        </p:attrNameLst>
                                      </p:cBhvr>
                                      <p:to>
                                        <p:strVal val="visible"/>
                                      </p:to>
                                    </p:set>
                                    <p:anim calcmode="lin" valueType="num">
                                      <p:cBhvr>
                                        <p:cTn id="26" dur="10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43"/>
                                        </p:tgtEl>
                                        <p:attrNameLst>
                                          <p:attrName>ppt_y</p:attrName>
                                        </p:attrNameLst>
                                      </p:cBhvr>
                                      <p:tavLst>
                                        <p:tav tm="0">
                                          <p:val>
                                            <p:strVal val="#ppt_y"/>
                                          </p:val>
                                        </p:tav>
                                        <p:tav tm="100000">
                                          <p:val>
                                            <p:strVal val="#ppt_y"/>
                                          </p:val>
                                        </p:tav>
                                      </p:tavLst>
                                    </p:anim>
                                    <p:anim calcmode="lin" valueType="num">
                                      <p:cBhvr>
                                        <p:cTn id="28" dur="10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6388">
                                            <p:txEl>
                                              <p:pRg st="1" end="1"/>
                                            </p:txEl>
                                          </p:spTgt>
                                        </p:tgtEl>
                                        <p:attrNameLst>
                                          <p:attrName>style.visibility</p:attrName>
                                        </p:attrNameLst>
                                      </p:cBhvr>
                                      <p:to>
                                        <p:strVal val="visible"/>
                                      </p:to>
                                    </p:set>
                                    <p:animEffect transition="in" filter="wipe(down)">
                                      <p:cBhvr>
                                        <p:cTn id="35" dur="500"/>
                                        <p:tgtEl>
                                          <p:spTgt spid="16388">
                                            <p:txEl>
                                              <p:pRg st="1" end="1"/>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6388">
                                            <p:txEl>
                                              <p:pRg st="2" end="2"/>
                                            </p:txEl>
                                          </p:spTgt>
                                        </p:tgtEl>
                                        <p:attrNameLst>
                                          <p:attrName>style.visibility</p:attrName>
                                        </p:attrNameLst>
                                      </p:cBhvr>
                                      <p:to>
                                        <p:strVal val="visible"/>
                                      </p:to>
                                    </p:set>
                                    <p:animEffect transition="in" filter="wipe(down)">
                                      <p:cBhvr>
                                        <p:cTn id="38" dur="500"/>
                                        <p:tgtEl>
                                          <p:spTgt spid="16388">
                                            <p:txEl>
                                              <p:pRg st="2" end="2"/>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16388">
                                            <p:txEl>
                                              <p:pRg st="3" end="3"/>
                                            </p:txEl>
                                          </p:spTgt>
                                        </p:tgtEl>
                                        <p:attrNameLst>
                                          <p:attrName>style.visibility</p:attrName>
                                        </p:attrNameLst>
                                      </p:cBhvr>
                                      <p:to>
                                        <p:strVal val="visible"/>
                                      </p:to>
                                    </p:set>
                                    <p:animEffect transition="in" filter="wipe(down)">
                                      <p:cBhvr>
                                        <p:cTn id="41" dur="500"/>
                                        <p:tgtEl>
                                          <p:spTgt spid="16388">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down)">
                                      <p:cBhvr>
                                        <p:cTn id="46" dur="500"/>
                                        <p:tgtEl>
                                          <p:spTgt spid="10"/>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animEffect transition="in" filter="wipe(down)">
                                      <p:cBhvr>
                                        <p:cTn id="51" dur="500"/>
                                        <p:tgtEl>
                                          <p:spTgt spid="2"/>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wipe(down)">
                                      <p:cBhvr>
                                        <p:cTn id="56" dur="500"/>
                                        <p:tgtEl>
                                          <p:spTgt spid="18"/>
                                        </p:tgtEl>
                                      </p:cBhvr>
                                    </p:animEffect>
                                  </p:childTnLst>
                                </p:cTn>
                              </p:par>
                              <p:par>
                                <p:cTn id="57" presetID="2" presetClass="entr" presetSubtype="4" fill="hold" grpId="0" nodeType="withEffect">
                                  <p:stCondLst>
                                    <p:cond delay="0"/>
                                  </p:stCondLst>
                                  <p:childTnLst>
                                    <p:set>
                                      <p:cBhvr>
                                        <p:cTn id="58" dur="1" fill="hold">
                                          <p:stCondLst>
                                            <p:cond delay="0"/>
                                          </p:stCondLst>
                                        </p:cTn>
                                        <p:tgtEl>
                                          <p:spTgt spid="5"/>
                                        </p:tgtEl>
                                        <p:attrNameLst>
                                          <p:attrName>style.visibility</p:attrName>
                                        </p:attrNameLst>
                                      </p:cBhvr>
                                      <p:to>
                                        <p:strVal val="visible"/>
                                      </p:to>
                                    </p:set>
                                    <p:anim calcmode="lin" valueType="num">
                                      <p:cBhvr additive="base">
                                        <p:cTn id="59" dur="500" fill="hold"/>
                                        <p:tgtEl>
                                          <p:spTgt spid="5"/>
                                        </p:tgtEl>
                                        <p:attrNameLst>
                                          <p:attrName>ppt_x</p:attrName>
                                        </p:attrNameLst>
                                      </p:cBhvr>
                                      <p:tavLst>
                                        <p:tav tm="0">
                                          <p:val>
                                            <p:strVal val="#ppt_x"/>
                                          </p:val>
                                        </p:tav>
                                        <p:tav tm="100000">
                                          <p:val>
                                            <p:strVal val="#ppt_x"/>
                                          </p:val>
                                        </p:tav>
                                      </p:tavLst>
                                    </p:anim>
                                    <p:anim calcmode="lin" valueType="num">
                                      <p:cBhvr additive="base">
                                        <p:cTn id="6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wipe(down)">
                                      <p:cBhvr>
                                        <p:cTn id="6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p:bldP spid="43" grpId="1"/>
      <p:bldP spid="10" grpId="0"/>
      <p:bldP spid="2" grpId="0"/>
      <p:bldP spid="3" grpId="0"/>
      <p:bldP spid="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nvSpPr>
        <p:spPr>
          <a:xfrm>
            <a:off x="304800" y="493712"/>
            <a:ext cx="80772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endParaRPr lang="zh-CN" altLang="en-US" dirty="0"/>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19" name="组合 18"/>
          <p:cNvGrpSpPr/>
          <p:nvPr/>
        </p:nvGrpSpPr>
        <p:grpSpPr>
          <a:xfrm>
            <a:off x="2894839" y="289781"/>
            <a:ext cx="1004231" cy="1004101"/>
            <a:chOff x="1101311" y="1198062"/>
            <a:chExt cx="1106591" cy="1106447"/>
          </a:xfrm>
        </p:grpSpPr>
        <p:grpSp>
          <p:nvGrpSpPr>
            <p:cNvPr id="21" name="组合 20"/>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37" name="椭圆 36"/>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38" name="组合 37"/>
            <p:cNvGrpSpPr>
              <a:grpSpLocks noChangeAspect="1"/>
            </p:cNvGrpSpPr>
            <p:nvPr/>
          </p:nvGrpSpPr>
          <p:grpSpPr>
            <a:xfrm>
              <a:off x="1330537" y="1422392"/>
              <a:ext cx="648140" cy="625029"/>
              <a:chOff x="7019925" y="5499100"/>
              <a:chExt cx="312738" cy="301626"/>
            </a:xfrm>
            <a:solidFill>
              <a:srgbClr val="C00000"/>
            </a:solidFill>
          </p:grpSpPr>
          <p:sp>
            <p:nvSpPr>
              <p:cNvPr id="39"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40"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41" name="矩形 40"/>
          <p:cNvSpPr/>
          <p:nvPr/>
        </p:nvSpPr>
        <p:spPr>
          <a:xfrm>
            <a:off x="-33814" y="780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42" name="矩形 41"/>
          <p:cNvSpPr/>
          <p:nvPr/>
        </p:nvSpPr>
        <p:spPr>
          <a:xfrm>
            <a:off x="3997960" y="781050"/>
            <a:ext cx="5146040" cy="76200"/>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43" name="TextBox 24"/>
          <p:cNvSpPr txBox="1"/>
          <p:nvPr/>
        </p:nvSpPr>
        <p:spPr>
          <a:xfrm>
            <a:off x="3889579" y="159166"/>
            <a:ext cx="4373880" cy="1014730"/>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执行算术操作的函数示例</a:t>
            </a:r>
            <a:endParaRPr lang="zh-CN" altLang="en-US" sz="3000" dirty="0"/>
          </a:p>
          <a:p>
            <a:pPr algn="l"/>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17412" name="Rectangle 4"/>
          <p:cNvSpPr/>
          <p:nvPr/>
        </p:nvSpPr>
        <p:spPr bwMode="auto">
          <a:xfrm>
            <a:off x="5104765" y="933450"/>
            <a:ext cx="3581400" cy="3061970"/>
          </a:xfrm>
          <a:prstGeom prst="rect">
            <a:avLst/>
          </a:prstGeom>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long </a:t>
            </a:r>
            <a:r>
              <a:rPr lang="en-US" sz="1800" dirty="0" err="1">
                <a:latin typeface="Courier New" panose="02070309020205020404" charset="0"/>
                <a:ea typeface="Monaco" charset="0"/>
                <a:cs typeface="Courier New" panose="02070309020205020404" charset="0"/>
                <a:sym typeface="Monaco" charset="0"/>
              </a:rPr>
              <a:t>arith</a:t>
            </a:r>
            <a:endParaRPr lang="en-US" sz="1800" dirty="0">
              <a:latin typeface="Courier New" panose="02070309020205020404" charset="0"/>
              <a:ea typeface="Monaco" charset="0"/>
              <a:cs typeface="Courier New" panose="02070309020205020404" charset="0"/>
              <a:sym typeface="Monaco" charset="0"/>
            </a:endParaRP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(long x, long y, long z)</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long t1 = </a:t>
            </a:r>
            <a:r>
              <a:rPr lang="en-US" sz="1800" dirty="0" err="1">
                <a:latin typeface="Courier New" panose="02070309020205020404" charset="0"/>
                <a:ea typeface="Monaco" charset="0"/>
                <a:cs typeface="Courier New" panose="02070309020205020404" charset="0"/>
                <a:sym typeface="Monaco" charset="0"/>
              </a:rPr>
              <a:t>x+y</a:t>
            </a:r>
            <a:r>
              <a:rPr lang="en-US" sz="1800" dirty="0">
                <a:latin typeface="Courier New" panose="02070309020205020404" charset="0"/>
                <a:ea typeface="Monaco" charset="0"/>
                <a:cs typeface="Courier New" panose="02070309020205020404" charset="0"/>
                <a:sym typeface="Monaco" charset="0"/>
              </a:rPr>
              <a:t>;</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long t2 = z+t1;</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long t3 = x+4;</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long t4 = y * 48;</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long t5 = t3 + t4;</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long </a:t>
            </a:r>
            <a:r>
              <a:rPr lang="en-US" sz="1800" dirty="0" err="1">
                <a:latin typeface="Courier New" panose="02070309020205020404" charset="0"/>
                <a:ea typeface="Monaco" charset="0"/>
                <a:cs typeface="Courier New" panose="02070309020205020404" charset="0"/>
                <a:sym typeface="Monaco" charset="0"/>
              </a:rPr>
              <a:t>rval</a:t>
            </a:r>
            <a:r>
              <a:rPr lang="en-US" sz="1800" dirty="0">
                <a:latin typeface="Courier New" panose="02070309020205020404" charset="0"/>
                <a:ea typeface="Monaco" charset="0"/>
                <a:cs typeface="Courier New" panose="02070309020205020404" charset="0"/>
                <a:sym typeface="Monaco" charset="0"/>
              </a:rPr>
              <a:t> = t2 * t5;</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return </a:t>
            </a:r>
            <a:r>
              <a:rPr lang="en-US" sz="1800" dirty="0" err="1">
                <a:latin typeface="Courier New" panose="02070309020205020404" charset="0"/>
                <a:ea typeface="Monaco" charset="0"/>
                <a:cs typeface="Courier New" panose="02070309020205020404" charset="0"/>
                <a:sym typeface="Monaco" charset="0"/>
              </a:rPr>
              <a:t>rval</a:t>
            </a:r>
            <a:r>
              <a:rPr lang="en-US" sz="1800" dirty="0">
                <a:latin typeface="Courier New" panose="02070309020205020404" charset="0"/>
                <a:ea typeface="Monaco" charset="0"/>
                <a:cs typeface="Courier New" panose="02070309020205020404" charset="0"/>
                <a:sym typeface="Monaco" charset="0"/>
              </a:rPr>
              <a:t>;</a:t>
            </a:r>
          </a:p>
          <a:p>
            <a:pPr>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a:t>
            </a:r>
          </a:p>
        </p:txBody>
      </p:sp>
      <p:sp>
        <p:nvSpPr>
          <p:cNvPr id="17413" name="Rectangle 5"/>
          <p:cNvSpPr/>
          <p:nvPr/>
        </p:nvSpPr>
        <p:spPr bwMode="auto">
          <a:xfrm>
            <a:off x="13017" y="2025650"/>
            <a:ext cx="4127500" cy="2463800"/>
          </a:xfrm>
          <a:prstGeom prst="rect">
            <a:avLst/>
          </a:prstGeom>
          <a:noFill/>
          <a:ln w="12700" cap="flat">
            <a:noFill/>
            <a:miter lim="800000"/>
            <a:headEnd type="none" w="med" len="med"/>
            <a:tailEnd type="none" w="med" len="med"/>
          </a:ln>
        </p:spPr>
        <p:txBody>
          <a:bodyPr lIns="38100" tIns="38100" rIns="38100" bIns="38100"/>
          <a:lstStyle/>
          <a:p>
            <a:pPr algn="l">
              <a:tabLst>
                <a:tab pos="346075" algn="l"/>
                <a:tab pos="457200" algn="l"/>
                <a:tab pos="120142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ea typeface="Monaco" charset="0"/>
                <a:cs typeface="Courier New" panose="02070309020205020404" charset="0"/>
                <a:sym typeface="Monaco" charset="0"/>
              </a:rPr>
              <a:t>arith</a:t>
            </a:r>
            <a:r>
              <a:rPr lang="en-US" sz="1800" b="1" dirty="0">
                <a:solidFill>
                  <a:schemeClr val="tx1"/>
                </a:solidFill>
                <a:latin typeface="Courier New" panose="02070309020205020404" charset="0"/>
                <a:ea typeface="Monaco" charset="0"/>
                <a:cs typeface="Courier New" panose="02070309020205020404" charset="0"/>
                <a:sym typeface="Monaco" charset="0"/>
              </a:rPr>
              <a:t>:</a:t>
            </a:r>
          </a:p>
          <a:p>
            <a:pPr>
              <a:tabLst>
                <a:tab pos="346075" algn="l"/>
                <a:tab pos="457200" algn="l"/>
                <a:tab pos="120142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leaq</a:t>
            </a: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rdi</a:t>
            </a:r>
            <a:r>
              <a:rPr lang="en-US" sz="1800" dirty="0">
                <a:latin typeface="Courier New" panose="02070309020205020404" charset="0"/>
                <a:ea typeface="Monaco" charset="0"/>
                <a:cs typeface="Courier New" panose="02070309020205020404" charset="0"/>
                <a:sym typeface="Monaco" charset="0"/>
              </a:rPr>
              <a:t>,%</a:t>
            </a:r>
            <a:r>
              <a:rPr lang="en-US" sz="1800" dirty="0" err="1">
                <a:latin typeface="Courier New" panose="02070309020205020404" charset="0"/>
                <a:ea typeface="Monaco" charset="0"/>
                <a:cs typeface="Courier New" panose="02070309020205020404" charset="0"/>
                <a:sym typeface="Monaco" charset="0"/>
              </a:rPr>
              <a:t>rsi</a:t>
            </a: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rax</a:t>
            </a:r>
            <a:endParaRPr lang="en-US" sz="1800" dirty="0">
              <a:latin typeface="Courier New" panose="02070309020205020404" charset="0"/>
              <a:ea typeface="Monaco" charset="0"/>
              <a:cs typeface="Courier New" panose="02070309020205020404" charset="0"/>
              <a:sym typeface="Monaco" charset="0"/>
            </a:endParaRPr>
          </a:p>
          <a:p>
            <a:pPr>
              <a:tabLst>
                <a:tab pos="346075" algn="l"/>
                <a:tab pos="457200" algn="l"/>
                <a:tab pos="120142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addq</a:t>
            </a: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rdx</a:t>
            </a: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rax</a:t>
            </a:r>
            <a:endParaRPr lang="en-US" sz="1800" dirty="0">
              <a:latin typeface="Courier New" panose="02070309020205020404" charset="0"/>
              <a:ea typeface="Monaco" charset="0"/>
              <a:cs typeface="Courier New" panose="02070309020205020404" charset="0"/>
              <a:sym typeface="Monaco" charset="0"/>
            </a:endParaRPr>
          </a:p>
          <a:p>
            <a:pPr>
              <a:tabLst>
                <a:tab pos="346075" algn="l"/>
                <a:tab pos="457200" algn="l"/>
                <a:tab pos="120142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leaq</a:t>
            </a:r>
            <a:r>
              <a:rPr lang="en-US" sz="1800" dirty="0">
                <a:latin typeface="Courier New" panose="02070309020205020404" charset="0"/>
                <a:ea typeface="Monaco" charset="0"/>
                <a:cs typeface="Courier New" panose="02070309020205020404" charset="0"/>
                <a:sym typeface="Monaco" charset="0"/>
              </a:rPr>
              <a:t>    (%rsi,%rsi,2), %</a:t>
            </a:r>
            <a:r>
              <a:rPr lang="en-US" sz="1800" dirty="0" err="1">
                <a:latin typeface="Courier New" panose="02070309020205020404" charset="0"/>
                <a:ea typeface="Monaco" charset="0"/>
                <a:cs typeface="Courier New" panose="02070309020205020404" charset="0"/>
                <a:sym typeface="Monaco" charset="0"/>
              </a:rPr>
              <a:t>rdx</a:t>
            </a:r>
            <a:endParaRPr lang="en-US" sz="1800" dirty="0">
              <a:latin typeface="Courier New" panose="02070309020205020404" charset="0"/>
              <a:ea typeface="Monaco" charset="0"/>
              <a:cs typeface="Courier New" panose="02070309020205020404" charset="0"/>
              <a:sym typeface="Monaco" charset="0"/>
            </a:endParaRPr>
          </a:p>
          <a:p>
            <a:pPr>
              <a:tabLst>
                <a:tab pos="346075" algn="l"/>
                <a:tab pos="457200" algn="l"/>
                <a:tab pos="120142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salq</a:t>
            </a:r>
            <a:r>
              <a:rPr lang="en-US" sz="1800" dirty="0">
                <a:latin typeface="Courier New" panose="02070309020205020404" charset="0"/>
                <a:ea typeface="Monaco" charset="0"/>
                <a:cs typeface="Courier New" panose="02070309020205020404" charset="0"/>
                <a:sym typeface="Monaco" charset="0"/>
              </a:rPr>
              <a:t>    $4, %</a:t>
            </a:r>
            <a:r>
              <a:rPr lang="en-US" sz="1800" dirty="0" err="1">
                <a:latin typeface="Courier New" panose="02070309020205020404" charset="0"/>
                <a:ea typeface="Monaco" charset="0"/>
                <a:cs typeface="Courier New" panose="02070309020205020404" charset="0"/>
                <a:sym typeface="Monaco" charset="0"/>
              </a:rPr>
              <a:t>rdx</a:t>
            </a:r>
            <a:endParaRPr lang="en-US" sz="1800" dirty="0">
              <a:latin typeface="Courier New" panose="02070309020205020404" charset="0"/>
              <a:ea typeface="Monaco" charset="0"/>
              <a:cs typeface="Courier New" panose="02070309020205020404" charset="0"/>
              <a:sym typeface="Monaco" charset="0"/>
            </a:endParaRPr>
          </a:p>
          <a:p>
            <a:pPr>
              <a:tabLst>
                <a:tab pos="346075" algn="l"/>
                <a:tab pos="457200" algn="l"/>
                <a:tab pos="120142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leaq</a:t>
            </a:r>
            <a:r>
              <a:rPr lang="en-US" sz="1800" dirty="0">
                <a:latin typeface="Courier New" panose="02070309020205020404" charset="0"/>
                <a:ea typeface="Monaco" charset="0"/>
                <a:cs typeface="Courier New" panose="02070309020205020404" charset="0"/>
                <a:sym typeface="Monaco" charset="0"/>
              </a:rPr>
              <a:t>    4(%</a:t>
            </a:r>
            <a:r>
              <a:rPr lang="en-US" sz="1800" dirty="0" err="1">
                <a:latin typeface="Courier New" panose="02070309020205020404" charset="0"/>
                <a:ea typeface="Monaco" charset="0"/>
                <a:cs typeface="Courier New" panose="02070309020205020404" charset="0"/>
                <a:sym typeface="Monaco" charset="0"/>
              </a:rPr>
              <a:t>rdi</a:t>
            </a:r>
            <a:r>
              <a:rPr lang="en-US" sz="1800" dirty="0">
                <a:latin typeface="Courier New" panose="02070309020205020404" charset="0"/>
                <a:ea typeface="Monaco" charset="0"/>
                <a:cs typeface="Courier New" panose="02070309020205020404" charset="0"/>
                <a:sym typeface="Monaco" charset="0"/>
              </a:rPr>
              <a:t>,%</a:t>
            </a:r>
            <a:r>
              <a:rPr lang="en-US" sz="1800" dirty="0" err="1">
                <a:latin typeface="Courier New" panose="02070309020205020404" charset="0"/>
                <a:ea typeface="Monaco" charset="0"/>
                <a:cs typeface="Courier New" panose="02070309020205020404" charset="0"/>
                <a:sym typeface="Monaco" charset="0"/>
              </a:rPr>
              <a:t>rdx</a:t>
            </a: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rcx</a:t>
            </a:r>
            <a:endParaRPr lang="en-US" sz="1800" dirty="0">
              <a:latin typeface="Courier New" panose="02070309020205020404" charset="0"/>
              <a:ea typeface="Monaco" charset="0"/>
              <a:cs typeface="Courier New" panose="02070309020205020404" charset="0"/>
              <a:sym typeface="Monaco" charset="0"/>
            </a:endParaRPr>
          </a:p>
          <a:p>
            <a:pPr>
              <a:tabLst>
                <a:tab pos="346075" algn="l"/>
                <a:tab pos="457200" algn="l"/>
                <a:tab pos="120142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imulq</a:t>
            </a: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rcx</a:t>
            </a:r>
            <a:r>
              <a:rPr lang="en-US" sz="1800" dirty="0">
                <a:latin typeface="Courier New" panose="02070309020205020404" charset="0"/>
                <a:ea typeface="Monaco" charset="0"/>
                <a:cs typeface="Courier New" panose="02070309020205020404" charset="0"/>
                <a:sym typeface="Monaco" charset="0"/>
              </a:rPr>
              <a:t>, %</a:t>
            </a:r>
            <a:r>
              <a:rPr lang="en-US" sz="1800" dirty="0" err="1">
                <a:latin typeface="Courier New" panose="02070309020205020404" charset="0"/>
                <a:ea typeface="Monaco" charset="0"/>
                <a:cs typeface="Courier New" panose="02070309020205020404" charset="0"/>
                <a:sym typeface="Monaco" charset="0"/>
              </a:rPr>
              <a:t>rax</a:t>
            </a:r>
            <a:endParaRPr lang="en-US" sz="1800" dirty="0">
              <a:latin typeface="Courier New" panose="02070309020205020404" charset="0"/>
              <a:ea typeface="Monaco" charset="0"/>
              <a:cs typeface="Courier New" panose="02070309020205020404" charset="0"/>
              <a:sym typeface="Monaco" charset="0"/>
            </a:endParaRPr>
          </a:p>
          <a:p>
            <a:pPr>
              <a:tabLst>
                <a:tab pos="346075" algn="l"/>
                <a:tab pos="457200" algn="l"/>
                <a:tab pos="120142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dirty="0">
                <a:latin typeface="Courier New" panose="02070309020205020404" charset="0"/>
                <a:ea typeface="Monaco" charset="0"/>
                <a:cs typeface="Courier New" panose="02070309020205020404" charset="0"/>
                <a:sym typeface="Monaco" charset="0"/>
              </a:rPr>
              <a:t>  ret</a:t>
            </a:r>
            <a:endParaRPr lang="en-US" sz="1800" b="1" dirty="0">
              <a:solidFill>
                <a:schemeClr val="tx1"/>
              </a:solidFill>
              <a:latin typeface="Courier New" panose="02070309020205020404" charset="0"/>
              <a:ea typeface="Monaco" charset="0"/>
              <a:cs typeface="Courier New" panose="02070309020205020404" charset="0"/>
              <a:sym typeface="Monaco" charset="0"/>
            </a:endParaRPr>
          </a:p>
        </p:txBody>
      </p:sp>
      <p:cxnSp>
        <p:nvCxnSpPr>
          <p:cNvPr id="3" name="直接箭头连接符 2"/>
          <p:cNvCxnSpPr/>
          <p:nvPr/>
        </p:nvCxnSpPr>
        <p:spPr>
          <a:xfrm flipH="1">
            <a:off x="3889375" y="1937385"/>
            <a:ext cx="1514475" cy="40830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flipH="1">
            <a:off x="2894965" y="2279015"/>
            <a:ext cx="2482215" cy="461010"/>
          </a:xfrm>
          <a:prstGeom prst="straightConnector1">
            <a:avLst/>
          </a:prstGeom>
          <a:ln>
            <a:tailEnd type="arrow" w="med" len="med"/>
          </a:ln>
        </p:spPr>
        <p:style>
          <a:lnRef idx="1">
            <a:schemeClr val="accent2"/>
          </a:lnRef>
          <a:fillRef idx="0">
            <a:schemeClr val="accent2"/>
          </a:fillRef>
          <a:effectRef idx="0">
            <a:schemeClr val="accent2"/>
          </a:effectRef>
          <a:fontRef idx="minor">
            <a:schemeClr val="tx1"/>
          </a:fontRef>
        </p:style>
      </p:cxnSp>
      <p:graphicFrame>
        <p:nvGraphicFramePr>
          <p:cNvPr id="9" name="Table 8"/>
          <p:cNvGraphicFramePr>
            <a:graphicFrameLocks noGrp="1"/>
          </p:cNvGraphicFramePr>
          <p:nvPr/>
        </p:nvGraphicFramePr>
        <p:xfrm>
          <a:off x="5206365" y="4142740"/>
          <a:ext cx="3352800" cy="2667000"/>
        </p:xfrm>
        <a:graphic>
          <a:graphicData uri="http://schemas.openxmlformats.org/drawingml/2006/table">
            <a:tbl>
              <a:tblPr firstRow="1" bandRow="1"/>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00">
                <a:tc>
                  <a:txBody>
                    <a:bodyPr/>
                    <a:lstStyle>
                      <a:lvl1pPr marL="0" algn="l" defTabSz="914400" rtl="0" eaLnBrk="1" latinLnBrk="0" hangingPunct="1">
                        <a:defRPr sz="1800" b="1" kern="1200">
                          <a:solidFill>
                            <a:schemeClr val="lt1"/>
                          </a:solidFill>
                          <a:latin typeface="Calibri Bold"/>
                          <a:ea typeface="ヒラギノ角ゴ ProN W6"/>
                          <a:cs typeface="ヒラギノ角ゴ ProN W6"/>
                        </a:defRPr>
                      </a:lvl1pPr>
                      <a:lvl2pPr marL="457200" algn="l" defTabSz="914400" rtl="0" eaLnBrk="1" latinLnBrk="0" hangingPunct="1">
                        <a:defRPr sz="1800" b="1" kern="1200">
                          <a:solidFill>
                            <a:schemeClr val="lt1"/>
                          </a:solidFill>
                          <a:latin typeface="Calibri Bold"/>
                          <a:ea typeface="ヒラギノ角ゴ ProN W6"/>
                          <a:cs typeface="ヒラギノ角ゴ ProN W6"/>
                        </a:defRPr>
                      </a:lvl2pPr>
                      <a:lvl3pPr marL="914400" algn="l" defTabSz="914400" rtl="0" eaLnBrk="1" latinLnBrk="0" hangingPunct="1">
                        <a:defRPr sz="1800" b="1" kern="1200">
                          <a:solidFill>
                            <a:schemeClr val="lt1"/>
                          </a:solidFill>
                          <a:latin typeface="Calibri Bold"/>
                          <a:ea typeface="ヒラギノ角ゴ ProN W6"/>
                          <a:cs typeface="ヒラギノ角ゴ ProN W6"/>
                        </a:defRPr>
                      </a:lvl3pPr>
                      <a:lvl4pPr marL="1371600" algn="l" defTabSz="914400" rtl="0" eaLnBrk="1" latinLnBrk="0" hangingPunct="1">
                        <a:defRPr sz="1800" b="1" kern="1200">
                          <a:solidFill>
                            <a:schemeClr val="lt1"/>
                          </a:solidFill>
                          <a:latin typeface="Calibri Bold"/>
                          <a:ea typeface="ヒラギノ角ゴ ProN W6"/>
                          <a:cs typeface="ヒラギノ角ゴ ProN W6"/>
                        </a:defRPr>
                      </a:lvl4pPr>
                      <a:lvl5pPr marL="1828800" algn="l" defTabSz="914400" rtl="0" eaLnBrk="1" latinLnBrk="0" hangingPunct="1">
                        <a:defRPr sz="1800" b="1" kern="1200">
                          <a:solidFill>
                            <a:schemeClr val="lt1"/>
                          </a:solidFill>
                          <a:latin typeface="Calibri Bold"/>
                          <a:ea typeface="ヒラギノ角ゴ ProN W6"/>
                          <a:cs typeface="ヒラギノ角ゴ ProN W6"/>
                        </a:defRPr>
                      </a:lvl5pPr>
                      <a:lvl6pPr marL="2286000" algn="l" defTabSz="914400" rtl="0" eaLnBrk="1" latinLnBrk="0" hangingPunct="1">
                        <a:defRPr sz="1800" b="1" kern="1200">
                          <a:solidFill>
                            <a:schemeClr val="lt1"/>
                          </a:solidFill>
                          <a:latin typeface="Calibri Bold"/>
                          <a:ea typeface="ヒラギノ角ゴ ProN W6"/>
                          <a:cs typeface="ヒラギノ角ゴ ProN W6"/>
                        </a:defRPr>
                      </a:lvl6pPr>
                      <a:lvl7pPr marL="2743200" algn="l" defTabSz="914400" rtl="0" eaLnBrk="1" latinLnBrk="0" hangingPunct="1">
                        <a:defRPr sz="1800" b="1" kern="1200">
                          <a:solidFill>
                            <a:schemeClr val="lt1"/>
                          </a:solidFill>
                          <a:latin typeface="Calibri Bold"/>
                          <a:ea typeface="ヒラギノ角ゴ ProN W6"/>
                          <a:cs typeface="ヒラギノ角ゴ ProN W6"/>
                        </a:defRPr>
                      </a:lvl7pPr>
                      <a:lvl8pPr marL="3200400" algn="l" defTabSz="914400" rtl="0" eaLnBrk="1" latinLnBrk="0" hangingPunct="1">
                        <a:defRPr sz="1800" b="1" kern="1200">
                          <a:solidFill>
                            <a:schemeClr val="lt1"/>
                          </a:solidFill>
                          <a:latin typeface="Calibri Bold"/>
                          <a:ea typeface="ヒラギノ角ゴ ProN W6"/>
                          <a:cs typeface="ヒラギノ角ゴ ProN W6"/>
                        </a:defRPr>
                      </a:lvl8pPr>
                      <a:lvl9pPr marL="3657600" algn="l" defTabSz="914400" rtl="0" eaLnBrk="1" latinLnBrk="0" hangingPunct="1">
                        <a:defRPr sz="1800" b="1" kern="1200">
                          <a:solidFill>
                            <a:schemeClr val="lt1"/>
                          </a:solidFill>
                          <a:latin typeface="Calibri Bold"/>
                          <a:ea typeface="ヒラギノ角ゴ ProN W6"/>
                          <a:cs typeface="ヒラギノ角ゴ ProN W6"/>
                        </a:defRPr>
                      </a:lvl9pPr>
                    </a:lstStyle>
                    <a:p>
                      <a:r>
                        <a:rPr lang="en-US" dirty="0">
                          <a:latin typeface="Calibri" panose="020F0502020204030204"/>
                          <a:cs typeface="Calibri" panose="020F0502020204030204"/>
                        </a:rPr>
                        <a:t>Register</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tc>
                  <a:txBody>
                    <a:bodyPr/>
                    <a:lstStyle>
                      <a:lvl1pPr marL="0" algn="l" defTabSz="914400" rtl="0" eaLnBrk="1" latinLnBrk="0" hangingPunct="1">
                        <a:defRPr sz="1800" b="1" kern="1200">
                          <a:solidFill>
                            <a:schemeClr val="lt1"/>
                          </a:solidFill>
                          <a:latin typeface="Calibri Bold"/>
                          <a:ea typeface="ヒラギノ角ゴ ProN W6"/>
                          <a:cs typeface="ヒラギノ角ゴ ProN W6"/>
                        </a:defRPr>
                      </a:lvl1pPr>
                      <a:lvl2pPr marL="457200" algn="l" defTabSz="914400" rtl="0" eaLnBrk="1" latinLnBrk="0" hangingPunct="1">
                        <a:defRPr sz="1800" b="1" kern="1200">
                          <a:solidFill>
                            <a:schemeClr val="lt1"/>
                          </a:solidFill>
                          <a:latin typeface="Calibri Bold"/>
                          <a:ea typeface="ヒラギノ角ゴ ProN W6"/>
                          <a:cs typeface="ヒラギノ角ゴ ProN W6"/>
                        </a:defRPr>
                      </a:lvl2pPr>
                      <a:lvl3pPr marL="914400" algn="l" defTabSz="914400" rtl="0" eaLnBrk="1" latinLnBrk="0" hangingPunct="1">
                        <a:defRPr sz="1800" b="1" kern="1200">
                          <a:solidFill>
                            <a:schemeClr val="lt1"/>
                          </a:solidFill>
                          <a:latin typeface="Calibri Bold"/>
                          <a:ea typeface="ヒラギノ角ゴ ProN W6"/>
                          <a:cs typeface="ヒラギノ角ゴ ProN W6"/>
                        </a:defRPr>
                      </a:lvl3pPr>
                      <a:lvl4pPr marL="1371600" algn="l" defTabSz="914400" rtl="0" eaLnBrk="1" latinLnBrk="0" hangingPunct="1">
                        <a:defRPr sz="1800" b="1" kern="1200">
                          <a:solidFill>
                            <a:schemeClr val="lt1"/>
                          </a:solidFill>
                          <a:latin typeface="Calibri Bold"/>
                          <a:ea typeface="ヒラギノ角ゴ ProN W6"/>
                          <a:cs typeface="ヒラギノ角ゴ ProN W6"/>
                        </a:defRPr>
                      </a:lvl4pPr>
                      <a:lvl5pPr marL="1828800" algn="l" defTabSz="914400" rtl="0" eaLnBrk="1" latinLnBrk="0" hangingPunct="1">
                        <a:defRPr sz="1800" b="1" kern="1200">
                          <a:solidFill>
                            <a:schemeClr val="lt1"/>
                          </a:solidFill>
                          <a:latin typeface="Calibri Bold"/>
                          <a:ea typeface="ヒラギノ角ゴ ProN W6"/>
                          <a:cs typeface="ヒラギノ角ゴ ProN W6"/>
                        </a:defRPr>
                      </a:lvl5pPr>
                      <a:lvl6pPr marL="2286000" algn="l" defTabSz="914400" rtl="0" eaLnBrk="1" latinLnBrk="0" hangingPunct="1">
                        <a:defRPr sz="1800" b="1" kern="1200">
                          <a:solidFill>
                            <a:schemeClr val="lt1"/>
                          </a:solidFill>
                          <a:latin typeface="Calibri Bold"/>
                          <a:ea typeface="ヒラギノ角ゴ ProN W6"/>
                          <a:cs typeface="ヒラギノ角ゴ ProN W6"/>
                        </a:defRPr>
                      </a:lvl6pPr>
                      <a:lvl7pPr marL="2743200" algn="l" defTabSz="914400" rtl="0" eaLnBrk="1" latinLnBrk="0" hangingPunct="1">
                        <a:defRPr sz="1800" b="1" kern="1200">
                          <a:solidFill>
                            <a:schemeClr val="lt1"/>
                          </a:solidFill>
                          <a:latin typeface="Calibri Bold"/>
                          <a:ea typeface="ヒラギノ角ゴ ProN W6"/>
                          <a:cs typeface="ヒラギノ角ゴ ProN W6"/>
                        </a:defRPr>
                      </a:lvl7pPr>
                      <a:lvl8pPr marL="3200400" algn="l" defTabSz="914400" rtl="0" eaLnBrk="1" latinLnBrk="0" hangingPunct="1">
                        <a:defRPr sz="1800" b="1" kern="1200">
                          <a:solidFill>
                            <a:schemeClr val="lt1"/>
                          </a:solidFill>
                          <a:latin typeface="Calibri Bold"/>
                          <a:ea typeface="ヒラギノ角ゴ ProN W6"/>
                          <a:cs typeface="ヒラギノ角ゴ ProN W6"/>
                        </a:defRPr>
                      </a:lvl8pPr>
                      <a:lvl9pPr marL="3657600" algn="l" defTabSz="914400" rtl="0" eaLnBrk="1" latinLnBrk="0" hangingPunct="1">
                        <a:defRPr sz="1800" b="1" kern="1200">
                          <a:solidFill>
                            <a:schemeClr val="lt1"/>
                          </a:solidFill>
                          <a:latin typeface="Calibri Bold"/>
                          <a:ea typeface="ヒラギノ角ゴ ProN W6"/>
                          <a:cs typeface="ヒラギノ角ゴ ProN W6"/>
                        </a:defRPr>
                      </a:lvl9pPr>
                    </a:lstStyle>
                    <a:p>
                      <a:r>
                        <a:rPr lang="en-US" dirty="0">
                          <a:latin typeface="Calibri" panose="020F0502020204030204"/>
                          <a:cs typeface="Calibri" panose="020F0502020204030204"/>
                        </a:rPr>
                        <a:t>Use(s)</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extLst>
                  <a:ext uri="{0D108BD9-81ED-4DB2-BD59-A6C34878D82A}">
                    <a16:rowId xmlns:a16="http://schemas.microsoft.com/office/drawing/2014/main" val="10000"/>
                  </a:ext>
                </a:extLst>
              </a:tr>
              <a:tr h="381000">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dirty="0">
                          <a:latin typeface="Calibri" panose="020F0502020204030204"/>
                          <a:cs typeface="Calibri" panose="020F0502020204030204"/>
                        </a:rPr>
                        <a:t> </a:t>
                      </a:r>
                      <a:r>
                        <a:rPr lang="en-US" b="1" i="0" dirty="0">
                          <a:latin typeface="Courier New" panose="02070309020205020404"/>
                          <a:cs typeface="Courier New" panose="02070309020205020404"/>
                        </a:rPr>
                        <a:t>x</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extLst>
                  <a:ext uri="{0D108BD9-81ED-4DB2-BD59-A6C34878D82A}">
                    <a16:rowId xmlns:a16="http://schemas.microsoft.com/office/drawing/2014/main" val="10001"/>
                  </a:ext>
                </a:extLst>
              </a:tr>
              <a:tr h="381000">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dirty="0">
                          <a:latin typeface="Calibri" panose="020F0502020204030204"/>
                          <a:cs typeface="Calibri" panose="020F0502020204030204"/>
                        </a:rPr>
                        <a:t> </a:t>
                      </a:r>
                      <a:r>
                        <a:rPr lang="en-US" b="1" i="0" dirty="0">
                          <a:latin typeface="Courier New" panose="02070309020205020404"/>
                          <a:cs typeface="Courier New" panose="02070309020205020404"/>
                        </a:rPr>
                        <a:t>y</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extLst>
                  <a:ext uri="{0D108BD9-81ED-4DB2-BD59-A6C34878D82A}">
                    <a16:rowId xmlns:a16="http://schemas.microsoft.com/office/drawing/2014/main" val="10002"/>
                  </a:ext>
                </a:extLst>
              </a:tr>
              <a:tr h="381000">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rdx</a:t>
                      </a:r>
                      <a:endParaRPr lang="en-US" b="1" i="0" dirty="0">
                        <a:latin typeface="Courier New" panose="02070309020205020404"/>
                        <a:cs typeface="Courier New" panose="02070309020205020404"/>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z</a:t>
                      </a: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extLst>
                  <a:ext uri="{0D108BD9-81ED-4DB2-BD59-A6C34878D82A}">
                    <a16:rowId xmlns:a16="http://schemas.microsoft.com/office/drawing/2014/main" val="10003"/>
                  </a:ext>
                </a:extLst>
              </a:tr>
              <a:tr h="381000">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t1</a:t>
                      </a:r>
                      <a:r>
                        <a:rPr lang="en-US" dirty="0">
                          <a:latin typeface="Calibri" panose="020F0502020204030204"/>
                          <a:cs typeface="Calibri" panose="020F0502020204030204"/>
                        </a:rPr>
                        <a:t>,</a:t>
                      </a:r>
                      <a:r>
                        <a:rPr lang="en-US" baseline="0" dirty="0">
                          <a:latin typeface="Calibri" panose="020F0502020204030204"/>
                          <a:cs typeface="Calibri" panose="020F0502020204030204"/>
                        </a:rPr>
                        <a:t> </a:t>
                      </a:r>
                      <a:r>
                        <a:rPr lang="en-US" b="1" i="0" dirty="0">
                          <a:latin typeface="Courier New" panose="02070309020205020404"/>
                          <a:cs typeface="Courier New" panose="02070309020205020404"/>
                        </a:rPr>
                        <a:t>t2</a:t>
                      </a:r>
                      <a:r>
                        <a:rPr lang="en-US" baseline="0" dirty="0">
                          <a:latin typeface="Calibri" panose="020F0502020204030204"/>
                          <a:cs typeface="Calibri" panose="020F0502020204030204"/>
                        </a:rPr>
                        <a:t>, </a:t>
                      </a:r>
                      <a:r>
                        <a:rPr lang="en-US" b="1" i="0" baseline="0" dirty="0" err="1">
                          <a:latin typeface="Courier New" panose="02070309020205020404"/>
                          <a:cs typeface="Courier New" panose="02070309020205020404"/>
                        </a:rPr>
                        <a:t>rval</a:t>
                      </a:r>
                      <a:endParaRPr lang="en-US" dirty="0">
                        <a:latin typeface="Calibri" panose="020F0502020204030204"/>
                        <a:cs typeface="Calibri" panose="020F0502020204030204"/>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extLst>
                  <a:ext uri="{0D108BD9-81ED-4DB2-BD59-A6C34878D82A}">
                    <a16:rowId xmlns:a16="http://schemas.microsoft.com/office/drawing/2014/main" val="10004"/>
                  </a:ext>
                </a:extLst>
              </a:tr>
              <a:tr h="381000">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rdx</a:t>
                      </a:r>
                      <a:endParaRPr lang="en-US" b="1" i="0" dirty="0">
                        <a:latin typeface="Courier New" panose="02070309020205020404"/>
                        <a:cs typeface="Courier New" panose="02070309020205020404"/>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t4</a:t>
                      </a:r>
                      <a:endParaRPr lang="en-US" dirty="0">
                        <a:latin typeface="Calibri" panose="020F0502020204030204"/>
                        <a:cs typeface="Calibri" panose="020F0502020204030204"/>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extLst>
                  <a:ext uri="{0D108BD9-81ED-4DB2-BD59-A6C34878D82A}">
                    <a16:rowId xmlns:a16="http://schemas.microsoft.com/office/drawing/2014/main" val="10005"/>
                  </a:ext>
                </a:extLst>
              </a:tr>
              <a:tr h="381000">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rcx</a:t>
                      </a:r>
                      <a:endParaRPr lang="en-US" b="1" i="0" dirty="0">
                        <a:latin typeface="Courier New" panose="02070309020205020404"/>
                        <a:cs typeface="Courier New" panose="02070309020205020404"/>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tc>
                  <a:txBody>
                    <a:bodyPr/>
                    <a:lstStyle>
                      <a:lvl1pPr marL="0" algn="l" defTabSz="914400" rtl="0" eaLnBrk="1" latinLnBrk="0" hangingPunct="1">
                        <a:defRPr sz="1800" kern="1200">
                          <a:solidFill>
                            <a:schemeClr val="dk1"/>
                          </a:solidFill>
                          <a:latin typeface="Calibri Bold"/>
                          <a:ea typeface="ヒラギノ角ゴ ProN W6"/>
                          <a:cs typeface="ヒラギノ角ゴ ProN W6"/>
                        </a:defRPr>
                      </a:lvl1pPr>
                      <a:lvl2pPr marL="457200" algn="l" defTabSz="914400" rtl="0" eaLnBrk="1" latinLnBrk="0" hangingPunct="1">
                        <a:defRPr sz="1800" kern="1200">
                          <a:solidFill>
                            <a:schemeClr val="dk1"/>
                          </a:solidFill>
                          <a:latin typeface="Calibri Bold"/>
                          <a:ea typeface="ヒラギノ角ゴ ProN W6"/>
                          <a:cs typeface="ヒラギノ角ゴ ProN W6"/>
                        </a:defRPr>
                      </a:lvl2pPr>
                      <a:lvl3pPr marL="914400" algn="l" defTabSz="914400" rtl="0" eaLnBrk="1" latinLnBrk="0" hangingPunct="1">
                        <a:defRPr sz="1800" kern="1200">
                          <a:solidFill>
                            <a:schemeClr val="dk1"/>
                          </a:solidFill>
                          <a:latin typeface="Calibri Bold"/>
                          <a:ea typeface="ヒラギノ角ゴ ProN W6"/>
                          <a:cs typeface="ヒラギノ角ゴ ProN W6"/>
                        </a:defRPr>
                      </a:lvl3pPr>
                      <a:lvl4pPr marL="1371600" algn="l" defTabSz="914400" rtl="0" eaLnBrk="1" latinLnBrk="0" hangingPunct="1">
                        <a:defRPr sz="1800" kern="1200">
                          <a:solidFill>
                            <a:schemeClr val="dk1"/>
                          </a:solidFill>
                          <a:latin typeface="Calibri Bold"/>
                          <a:ea typeface="ヒラギノ角ゴ ProN W6"/>
                          <a:cs typeface="ヒラギノ角ゴ ProN W6"/>
                        </a:defRPr>
                      </a:lvl4pPr>
                      <a:lvl5pPr marL="1828800" algn="l" defTabSz="914400" rtl="0" eaLnBrk="1" latinLnBrk="0" hangingPunct="1">
                        <a:defRPr sz="1800" kern="1200">
                          <a:solidFill>
                            <a:schemeClr val="dk1"/>
                          </a:solidFill>
                          <a:latin typeface="Calibri Bold"/>
                          <a:ea typeface="ヒラギノ角ゴ ProN W6"/>
                          <a:cs typeface="ヒラギノ角ゴ ProN W6"/>
                        </a:defRPr>
                      </a:lvl5pPr>
                      <a:lvl6pPr marL="2286000" algn="l" defTabSz="914400" rtl="0" eaLnBrk="1" latinLnBrk="0" hangingPunct="1">
                        <a:defRPr sz="1800" kern="1200">
                          <a:solidFill>
                            <a:schemeClr val="dk1"/>
                          </a:solidFill>
                          <a:latin typeface="Calibri Bold"/>
                          <a:ea typeface="ヒラギノ角ゴ ProN W6"/>
                          <a:cs typeface="ヒラギノ角ゴ ProN W6"/>
                        </a:defRPr>
                      </a:lvl6pPr>
                      <a:lvl7pPr marL="2743200" algn="l" defTabSz="914400" rtl="0" eaLnBrk="1" latinLnBrk="0" hangingPunct="1">
                        <a:defRPr sz="1800" kern="1200">
                          <a:solidFill>
                            <a:schemeClr val="dk1"/>
                          </a:solidFill>
                          <a:latin typeface="Calibri Bold"/>
                          <a:ea typeface="ヒラギノ角ゴ ProN W6"/>
                          <a:cs typeface="ヒラギノ角ゴ ProN W6"/>
                        </a:defRPr>
                      </a:lvl7pPr>
                      <a:lvl8pPr marL="3200400" algn="l" defTabSz="914400" rtl="0" eaLnBrk="1" latinLnBrk="0" hangingPunct="1">
                        <a:defRPr sz="1800" kern="1200">
                          <a:solidFill>
                            <a:schemeClr val="dk1"/>
                          </a:solidFill>
                          <a:latin typeface="Calibri Bold"/>
                          <a:ea typeface="ヒラギノ角ゴ ProN W6"/>
                          <a:cs typeface="ヒラギノ角ゴ ProN W6"/>
                        </a:defRPr>
                      </a:lvl8pPr>
                      <a:lvl9pPr marL="3657600" algn="l" defTabSz="914400" rtl="0" eaLnBrk="1" latinLnBrk="0" hangingPunct="1">
                        <a:defRPr sz="1800" kern="1200">
                          <a:solidFill>
                            <a:schemeClr val="dk1"/>
                          </a:solidFill>
                          <a:latin typeface="Calibri Bold"/>
                          <a:ea typeface="ヒラギノ角ゴ ProN W6"/>
                          <a:cs typeface="ヒラギノ角ゴ ProN W6"/>
                        </a:defRPr>
                      </a:lvl9pPr>
                    </a:lstStyle>
                    <a:p>
                      <a:r>
                        <a:rPr lang="en-US" b="1" i="0" dirty="0">
                          <a:latin typeface="Courier New" panose="02070309020205020404"/>
                          <a:cs typeface="Courier New" panose="02070309020205020404"/>
                        </a:rPr>
                        <a:t>t5</a:t>
                      </a:r>
                      <a:endParaRPr lang="en-US" dirty="0">
                        <a:latin typeface="Calibri" panose="020F0502020204030204"/>
                        <a:cs typeface="Calibri" panose="020F0502020204030204"/>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gradFill>
                      <a:gsLst>
                        <a:gs pos="0">
                          <a:schemeClr val="accent1">
                            <a:lumMod val="5000"/>
                            <a:lumOff val="95000"/>
                          </a:schemeClr>
                        </a:gs>
                        <a:gs pos="86000">
                          <a:schemeClr val="accent4">
                            <a:lumMod val="60000"/>
                            <a:lumOff val="40000"/>
                          </a:schemeClr>
                        </a:gs>
                      </a:gsLst>
                      <a:lin ang="9000000" scaled="0"/>
                    </a:gradFill>
                  </a:tcPr>
                </a:tc>
                <a:extLst>
                  <a:ext uri="{0D108BD9-81ED-4DB2-BD59-A6C34878D82A}">
                    <a16:rowId xmlns:a16="http://schemas.microsoft.com/office/drawing/2014/main" val="10006"/>
                  </a:ext>
                </a:extLst>
              </a:tr>
            </a:tbl>
          </a:graphicData>
        </a:graphic>
      </p:graphicFrame>
      <p:cxnSp>
        <p:nvCxnSpPr>
          <p:cNvPr id="6" name="直接箭头连接符 5"/>
          <p:cNvCxnSpPr/>
          <p:nvPr/>
        </p:nvCxnSpPr>
        <p:spPr>
          <a:xfrm flipH="1">
            <a:off x="2894965" y="3364230"/>
            <a:ext cx="2456180" cy="447675"/>
          </a:xfrm>
          <a:prstGeom prst="straightConnector1">
            <a:avLst/>
          </a:prstGeom>
          <a:ln>
            <a:tailEnd type="arrow" w="med" len="med"/>
          </a:ln>
        </p:spPr>
        <p:style>
          <a:lnRef idx="1">
            <a:schemeClr val="accent4"/>
          </a:lnRef>
          <a:fillRef idx="0">
            <a:schemeClr val="accent4"/>
          </a:fillRef>
          <a:effectRef idx="0">
            <a:schemeClr val="accent4"/>
          </a:effectRef>
          <a:fontRef idx="minor">
            <a:schemeClr val="tx1"/>
          </a:fontRef>
        </p:style>
      </p:cxnSp>
      <p:cxnSp>
        <p:nvCxnSpPr>
          <p:cNvPr id="7" name="直接箭头连接符 6"/>
          <p:cNvCxnSpPr/>
          <p:nvPr/>
        </p:nvCxnSpPr>
        <p:spPr>
          <a:xfrm flipH="1">
            <a:off x="3889375" y="3039745"/>
            <a:ext cx="1461770" cy="499745"/>
          </a:xfrm>
          <a:prstGeom prst="straightConnector1">
            <a:avLst/>
          </a:prstGeom>
          <a:ln>
            <a:tailEnd type="arrow" w="med" len="med"/>
          </a:ln>
        </p:spPr>
        <p:style>
          <a:lnRef idx="2">
            <a:schemeClr val="accent6"/>
          </a:lnRef>
          <a:fillRef idx="0">
            <a:schemeClr val="accent6"/>
          </a:fillRef>
          <a:effectRef idx="1">
            <a:schemeClr val="accent6"/>
          </a:effectRef>
          <a:fontRef idx="minor">
            <a:schemeClr val="tx1"/>
          </a:fontRef>
        </p:style>
      </p:cxnSp>
      <p:cxnSp>
        <p:nvCxnSpPr>
          <p:cNvPr id="8" name="直接箭头连接符 7"/>
          <p:cNvCxnSpPr/>
          <p:nvPr/>
        </p:nvCxnSpPr>
        <p:spPr>
          <a:xfrm flipH="1">
            <a:off x="2573655" y="2776220"/>
            <a:ext cx="2842895" cy="588010"/>
          </a:xfrm>
          <a:prstGeom prst="straightConnector1">
            <a:avLst/>
          </a:prstGeom>
          <a:ln>
            <a:tailEnd type="arrow" w="med" len="med"/>
          </a:ln>
        </p:spPr>
        <p:style>
          <a:lnRef idx="2">
            <a:schemeClr val="accent3"/>
          </a:lnRef>
          <a:fillRef idx="0">
            <a:schemeClr val="accent3"/>
          </a:fillRef>
          <a:effectRef idx="1">
            <a:schemeClr val="accent3"/>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right)">
                                      <p:cBhvr>
                                        <p:cTn id="16" dur="500"/>
                                        <p:tgtEl>
                                          <p:spTgt spid="41"/>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43"/>
                                        </p:tgtEl>
                                        <p:attrNameLst>
                                          <p:attrName>style.visibility</p:attrName>
                                        </p:attrNameLst>
                                      </p:cBhvr>
                                      <p:to>
                                        <p:strVal val="visible"/>
                                      </p:to>
                                    </p:set>
                                    <p:anim by="(-#ppt_w*2)" calcmode="lin" valueType="num">
                                      <p:cBhvr rctx="PPT">
                                        <p:cTn id="20" dur="500" autoRev="1" fill="hold">
                                          <p:stCondLst>
                                            <p:cond delay="0"/>
                                          </p:stCondLst>
                                        </p:cTn>
                                        <p:tgtEl>
                                          <p:spTgt spid="43"/>
                                        </p:tgtEl>
                                        <p:attrNameLst>
                                          <p:attrName>ppt_w</p:attrName>
                                        </p:attrNameLst>
                                      </p:cBhvr>
                                    </p:anim>
                                    <p:anim by="(#ppt_w*0.50)" calcmode="lin" valueType="num">
                                      <p:cBhvr>
                                        <p:cTn id="21" dur="500" decel="50000" autoRev="1" fill="hold">
                                          <p:stCondLst>
                                            <p:cond delay="0"/>
                                          </p:stCondLst>
                                        </p:cTn>
                                        <p:tgtEl>
                                          <p:spTgt spid="43"/>
                                        </p:tgtEl>
                                        <p:attrNameLst>
                                          <p:attrName>ppt_x</p:attrName>
                                        </p:attrNameLst>
                                      </p:cBhvr>
                                    </p:anim>
                                    <p:anim from="(-#ppt_h/2)" to="(#ppt_y)" calcmode="lin" valueType="num">
                                      <p:cBhvr>
                                        <p:cTn id="22" dur="1000" fill="hold">
                                          <p:stCondLst>
                                            <p:cond delay="0"/>
                                          </p:stCondLst>
                                        </p:cTn>
                                        <p:tgtEl>
                                          <p:spTgt spid="43"/>
                                        </p:tgtEl>
                                        <p:attrNameLst>
                                          <p:attrName>ppt_y</p:attrName>
                                        </p:attrNameLst>
                                      </p:cBhvr>
                                    </p:anim>
                                    <p:animRot by="21600000">
                                      <p:cBhvr>
                                        <p:cTn id="23" dur="1000" fill="hold">
                                          <p:stCondLst>
                                            <p:cond delay="0"/>
                                          </p:stCondLst>
                                        </p:cTn>
                                        <p:tgtEl>
                                          <p:spTgt spid="43"/>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43"/>
                                        </p:tgtEl>
                                        <p:attrNameLst>
                                          <p:attrName>style.visibility</p:attrName>
                                        </p:attrNameLst>
                                      </p:cBhvr>
                                      <p:to>
                                        <p:strVal val="visible"/>
                                      </p:to>
                                    </p:set>
                                    <p:anim calcmode="lin" valueType="num">
                                      <p:cBhvr>
                                        <p:cTn id="26" dur="10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43"/>
                                        </p:tgtEl>
                                        <p:attrNameLst>
                                          <p:attrName>ppt_y</p:attrName>
                                        </p:attrNameLst>
                                      </p:cBhvr>
                                      <p:tavLst>
                                        <p:tav tm="0">
                                          <p:val>
                                            <p:strVal val="#ppt_y"/>
                                          </p:val>
                                        </p:tav>
                                        <p:tav tm="100000">
                                          <p:val>
                                            <p:strVal val="#ppt_y"/>
                                          </p:val>
                                        </p:tav>
                                      </p:tavLst>
                                    </p:anim>
                                    <p:anim calcmode="lin" valueType="num">
                                      <p:cBhvr>
                                        <p:cTn id="28" dur="10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7413"/>
                                        </p:tgtEl>
                                        <p:attrNameLst>
                                          <p:attrName>style.visibility</p:attrName>
                                        </p:attrNameLst>
                                      </p:cBhvr>
                                      <p:to>
                                        <p:strVal val="visible"/>
                                      </p:to>
                                    </p:set>
                                    <p:anim calcmode="lin" valueType="num">
                                      <p:cBhvr additive="base">
                                        <p:cTn id="35" dur="500" fill="hold"/>
                                        <p:tgtEl>
                                          <p:spTgt spid="17413"/>
                                        </p:tgtEl>
                                        <p:attrNameLst>
                                          <p:attrName>ppt_x</p:attrName>
                                        </p:attrNameLst>
                                      </p:cBhvr>
                                      <p:tavLst>
                                        <p:tav tm="0">
                                          <p:val>
                                            <p:strVal val="#ppt_x"/>
                                          </p:val>
                                        </p:tav>
                                        <p:tav tm="100000">
                                          <p:val>
                                            <p:strVal val="#ppt_x"/>
                                          </p:val>
                                        </p:tav>
                                      </p:tavLst>
                                    </p:anim>
                                    <p:anim calcmode="lin" valueType="num">
                                      <p:cBhvr additive="base">
                                        <p:cTn id="36" dur="500" fill="hold"/>
                                        <p:tgtEl>
                                          <p:spTgt spid="17413"/>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 calcmode="lin" valueType="num">
                                      <p:cBhvr additive="base">
                                        <p:cTn id="47" dur="500" fill="hold"/>
                                        <p:tgtEl>
                                          <p:spTgt spid="5"/>
                                        </p:tgtEl>
                                        <p:attrNameLst>
                                          <p:attrName>ppt_x</p:attrName>
                                        </p:attrNameLst>
                                      </p:cBhvr>
                                      <p:tavLst>
                                        <p:tav tm="0">
                                          <p:val>
                                            <p:strVal val="#ppt_x"/>
                                          </p:val>
                                        </p:tav>
                                        <p:tav tm="100000">
                                          <p:val>
                                            <p:strVal val="#ppt_x"/>
                                          </p:val>
                                        </p:tav>
                                      </p:tavLst>
                                    </p:anim>
                                    <p:anim calcmode="lin" valueType="num">
                                      <p:cBhvr additive="base">
                                        <p:cTn id="4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 calcmode="lin" valueType="num">
                                      <p:cBhvr additive="base">
                                        <p:cTn id="53" dur="500" fill="hold"/>
                                        <p:tgtEl>
                                          <p:spTgt spid="8"/>
                                        </p:tgtEl>
                                        <p:attrNameLst>
                                          <p:attrName>ppt_x</p:attrName>
                                        </p:attrNameLst>
                                      </p:cBhvr>
                                      <p:tavLst>
                                        <p:tav tm="0">
                                          <p:val>
                                            <p:strVal val="#ppt_x"/>
                                          </p:val>
                                        </p:tav>
                                        <p:tav tm="100000">
                                          <p:val>
                                            <p:strVal val="#ppt_x"/>
                                          </p:val>
                                        </p:tav>
                                      </p:tavLst>
                                    </p:anim>
                                    <p:anim calcmode="lin" valueType="num">
                                      <p:cBhvr additive="base">
                                        <p:cTn id="5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7"/>
                                        </p:tgtEl>
                                        <p:attrNameLst>
                                          <p:attrName>style.visibility</p:attrName>
                                        </p:attrNameLst>
                                      </p:cBhvr>
                                      <p:to>
                                        <p:strVal val="visible"/>
                                      </p:to>
                                    </p:set>
                                    <p:anim calcmode="lin" valueType="num">
                                      <p:cBhvr additive="base">
                                        <p:cTn id="59" dur="500" fill="hold"/>
                                        <p:tgtEl>
                                          <p:spTgt spid="7"/>
                                        </p:tgtEl>
                                        <p:attrNameLst>
                                          <p:attrName>ppt_x</p:attrName>
                                        </p:attrNameLst>
                                      </p:cBhvr>
                                      <p:tavLst>
                                        <p:tav tm="0">
                                          <p:val>
                                            <p:strVal val="#ppt_x"/>
                                          </p:val>
                                        </p:tav>
                                        <p:tav tm="100000">
                                          <p:val>
                                            <p:strVal val="#ppt_x"/>
                                          </p:val>
                                        </p:tav>
                                      </p:tavLst>
                                    </p:anim>
                                    <p:anim calcmode="lin" valueType="num">
                                      <p:cBhvr additive="base">
                                        <p:cTn id="6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6"/>
                                        </p:tgtEl>
                                        <p:attrNameLst>
                                          <p:attrName>style.visibility</p:attrName>
                                        </p:attrNameLst>
                                      </p:cBhvr>
                                      <p:to>
                                        <p:strVal val="visible"/>
                                      </p:to>
                                    </p:set>
                                    <p:anim calcmode="lin" valueType="num">
                                      <p:cBhvr additive="base">
                                        <p:cTn id="65" dur="500" fill="hold"/>
                                        <p:tgtEl>
                                          <p:spTgt spid="6"/>
                                        </p:tgtEl>
                                        <p:attrNameLst>
                                          <p:attrName>ppt_x</p:attrName>
                                        </p:attrNameLst>
                                      </p:cBhvr>
                                      <p:tavLst>
                                        <p:tav tm="0">
                                          <p:val>
                                            <p:strVal val="#ppt_x"/>
                                          </p:val>
                                        </p:tav>
                                        <p:tav tm="100000">
                                          <p:val>
                                            <p:strVal val="#ppt_x"/>
                                          </p:val>
                                        </p:tav>
                                      </p:tavLst>
                                    </p:anim>
                                    <p:anim calcmode="lin" valueType="num">
                                      <p:cBhvr additive="base">
                                        <p:cTn id="6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p:bldP spid="43" grpId="1"/>
      <p:bldP spid="174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nvSpPr>
        <p:spPr>
          <a:xfrm>
            <a:off x="304800" y="493712"/>
            <a:ext cx="8077200" cy="573088"/>
          </a:xfrm>
          <a:prstGeom prst="rect">
            <a:avLst/>
          </a:prstGeom>
          <a:noFill/>
          <a:ln w="9525">
            <a:noFill/>
            <a:miter lim="800000"/>
          </a:ln>
        </p:spPr>
        <p:txBody>
          <a:bodyPr vert="horz" wrap="square" lIns="91440" tIns="45720" rIns="91440" bIns="45720" numCol="1" anchor="ctr" anchorCtr="0" compatLnSpc="1"/>
          <a:lstStyle>
            <a:lvl1pPr marL="119380" indent="-119380" algn="l" rtl="0" eaLnBrk="1" fontAlgn="base" hangingPunct="1">
              <a:spcBef>
                <a:spcPct val="0"/>
              </a:spcBef>
              <a:spcAft>
                <a:spcPct val="0"/>
              </a:spcAft>
              <a:defRPr sz="3600" b="1">
                <a:solidFill>
                  <a:schemeClr val="tx1"/>
                </a:solidFill>
                <a:latin typeface="Calibri" panose="020F0502020204030204" charset="0"/>
                <a:ea typeface="+mj-ea"/>
                <a:cs typeface="+mj-cs"/>
              </a:defRPr>
            </a:lvl1pPr>
            <a:lvl2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2pPr>
            <a:lvl3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3pPr>
            <a:lvl4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4pPr>
            <a:lvl5pPr marL="119380" indent="-119380" algn="l" rtl="0" eaLnBrk="1" fontAlgn="base" hangingPunct="1">
              <a:spcBef>
                <a:spcPct val="0"/>
              </a:spcBef>
              <a:spcAft>
                <a:spcPct val="0"/>
              </a:spcAft>
              <a:defRPr sz="3600" b="1">
                <a:solidFill>
                  <a:schemeClr val="tx1"/>
                </a:solidFill>
                <a:latin typeface="Arial Narrow" panose="020B0606020202030204" pitchFamily="34" charset="0"/>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endParaRPr lang="zh-CN" altLang="en-US" dirty="0"/>
          </a:p>
        </p:txBody>
      </p:sp>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19" name="组合 18"/>
          <p:cNvGrpSpPr/>
          <p:nvPr/>
        </p:nvGrpSpPr>
        <p:grpSpPr>
          <a:xfrm>
            <a:off x="2894839" y="289781"/>
            <a:ext cx="1004231" cy="1004101"/>
            <a:chOff x="1101311" y="1198062"/>
            <a:chExt cx="1106591" cy="1106447"/>
          </a:xfrm>
        </p:grpSpPr>
        <p:grpSp>
          <p:nvGrpSpPr>
            <p:cNvPr id="21" name="组合 20"/>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36" name="同心圆 35"/>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37" name="椭圆 36"/>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38" name="组合 37"/>
            <p:cNvGrpSpPr>
              <a:grpSpLocks noChangeAspect="1"/>
            </p:cNvGrpSpPr>
            <p:nvPr/>
          </p:nvGrpSpPr>
          <p:grpSpPr>
            <a:xfrm>
              <a:off x="1330537" y="1422392"/>
              <a:ext cx="648140" cy="625029"/>
              <a:chOff x="7019925" y="5499100"/>
              <a:chExt cx="312738" cy="301626"/>
            </a:xfrm>
            <a:solidFill>
              <a:srgbClr val="C00000"/>
            </a:solidFill>
          </p:grpSpPr>
          <p:sp>
            <p:nvSpPr>
              <p:cNvPr id="39"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40"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41" name="矩形 40"/>
          <p:cNvSpPr/>
          <p:nvPr/>
        </p:nvSpPr>
        <p:spPr>
          <a:xfrm>
            <a:off x="-33814" y="780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42" name="矩形 41"/>
          <p:cNvSpPr/>
          <p:nvPr/>
        </p:nvSpPr>
        <p:spPr>
          <a:xfrm>
            <a:off x="3997960" y="781050"/>
            <a:ext cx="5146040" cy="76200"/>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43" name="TextBox 24"/>
          <p:cNvSpPr txBox="1"/>
          <p:nvPr/>
        </p:nvSpPr>
        <p:spPr>
          <a:xfrm>
            <a:off x="4063569" y="158531"/>
            <a:ext cx="2468880" cy="1014730"/>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特殊算术操作</a:t>
            </a:r>
            <a:endParaRPr lang="zh-CN" altLang="en-US" sz="3000" dirty="0"/>
          </a:p>
          <a:p>
            <a:pPr algn="l"/>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16388" name="Rectangle 4"/>
          <p:cNvSpPr>
            <a:spLocks noGrp="1" noChangeArrowheads="1"/>
          </p:cNvSpPr>
          <p:nvPr/>
        </p:nvSpPr>
        <p:spPr>
          <a:xfrm>
            <a:off x="-335915" y="942975"/>
            <a:ext cx="1031049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1" fontAlgn="base" hangingPunct="1">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1" fontAlgn="base" hangingPunct="1">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1" fontAlgn="base" hangingPunct="1">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1" fontAlgn="base" hangingPunct="1">
              <a:spcBef>
                <a:spcPct val="20000"/>
              </a:spcBef>
              <a:spcAft>
                <a:spcPct val="0"/>
              </a:spcAft>
              <a:buChar char="–"/>
              <a:defRPr sz="2000">
                <a:solidFill>
                  <a:schemeClr val="tx1"/>
                </a:solidFill>
                <a:latin typeface="Calibri" panose="020F0502020204030204" charset="0"/>
              </a:defRPr>
            </a:lvl4pPr>
            <a:lvl5pPr marL="2057400" indent="-228600" algn="l" rtl="0" eaLnBrk="1" fontAlgn="base" hangingPunct="1">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0" indent="0">
              <a:buClr>
                <a:srgbClr val="000000"/>
              </a:buClr>
              <a:buNone/>
              <a:tabLst>
                <a:tab pos="1409700" algn="l"/>
                <a:tab pos="1409700" algn="l"/>
                <a:tab pos="1409700" algn="l"/>
                <a:tab pos="1409700" algn="l"/>
              </a:tabLst>
            </a:pPr>
            <a:r>
              <a:rPr lang="en-US" altLang="zh-CN" sz="2400" dirty="0"/>
              <a:t>	</a:t>
            </a:r>
          </a:p>
          <a:p>
            <a:pPr lvl="1">
              <a:buFont typeface="Wingdings" panose="05000000000000000000" charset="0"/>
              <a:buChar char=""/>
            </a:pPr>
            <a:r>
              <a:rPr lang="en-US" altLang="zh-CN" sz="2400" dirty="0">
                <a:sym typeface="+mn-ea"/>
              </a:rPr>
              <a:t>x86-64</a:t>
            </a:r>
            <a:r>
              <a:rPr lang="zh-CN" altLang="en-US" sz="2400" dirty="0">
                <a:sym typeface="+mn-ea"/>
              </a:rPr>
              <a:t>指令集对</a:t>
            </a:r>
            <a:r>
              <a:rPr lang="en-US" altLang="zh-CN" sz="2400" dirty="0">
                <a:sym typeface="+mn-ea"/>
              </a:rPr>
              <a:t>128</a:t>
            </a:r>
            <a:r>
              <a:rPr lang="zh-CN" altLang="en-US" sz="2400" dirty="0">
                <a:sym typeface="+mn-ea"/>
              </a:rPr>
              <a:t>位（</a:t>
            </a:r>
            <a:r>
              <a:rPr lang="en-US" altLang="zh-CN" sz="2400" dirty="0">
                <a:sym typeface="+mn-ea"/>
              </a:rPr>
              <a:t>16</a:t>
            </a:r>
            <a:r>
              <a:rPr lang="zh-CN" altLang="en-US" sz="2400" dirty="0">
                <a:sym typeface="+mn-ea"/>
              </a:rPr>
              <a:t>字节）数的操作提供有限的支持</a:t>
            </a:r>
          </a:p>
          <a:p>
            <a:pPr lvl="1"/>
            <a:r>
              <a:rPr lang="zh-CN" altLang="en-US" sz="2400" dirty="0">
                <a:sym typeface="+mn-ea"/>
              </a:rPr>
              <a:t>两个</a:t>
            </a:r>
            <a:r>
              <a:rPr lang="en-US" altLang="zh-CN" sz="2400" dirty="0">
                <a:sym typeface="+mn-ea"/>
              </a:rPr>
              <a:t>64</a:t>
            </a:r>
            <a:r>
              <a:rPr lang="zh-CN" altLang="en-US" sz="2400" dirty="0">
                <a:sym typeface="+mn-ea"/>
              </a:rPr>
              <a:t>位数的全</a:t>
            </a:r>
            <a:r>
              <a:rPr lang="en-US" altLang="zh-CN" sz="2400" dirty="0">
                <a:sym typeface="+mn-ea"/>
              </a:rPr>
              <a:t>128</a:t>
            </a:r>
            <a:r>
              <a:rPr lang="zh-CN" altLang="en-US" sz="2400" dirty="0">
                <a:sym typeface="+mn-ea"/>
              </a:rPr>
              <a:t>位乘积</a:t>
            </a:r>
            <a:r>
              <a:rPr lang="en-US" altLang="zh-CN" sz="2400" dirty="0">
                <a:sym typeface="+mn-ea"/>
              </a:rPr>
              <a:t>/64</a:t>
            </a:r>
            <a:r>
              <a:rPr lang="zh-CN" altLang="en-US" sz="2400" dirty="0">
                <a:sym typeface="+mn-ea"/>
              </a:rPr>
              <a:t>位除法的应用</a:t>
            </a:r>
          </a:p>
          <a:p>
            <a:pPr marL="457200" lvl="1" indent="0">
              <a:buNone/>
            </a:pPr>
            <a:r>
              <a:rPr lang="en-US" altLang="zh-CN" dirty="0">
                <a:sym typeface="+mn-ea"/>
              </a:rPr>
              <a:t>——</a:t>
            </a:r>
            <a:r>
              <a:rPr lang="zh-CN" altLang="en-US" dirty="0">
                <a:sym typeface="+mn-ea"/>
              </a:rPr>
              <a:t>指令中只给出一个操作数，另一个操作数（乘法是</a:t>
            </a:r>
            <a:r>
              <a:rPr lang="en-US" altLang="zh-CN" b="1" dirty="0">
                <a:solidFill>
                  <a:schemeClr val="accent2"/>
                </a:solidFill>
                <a:sym typeface="+mn-ea"/>
              </a:rPr>
              <a:t>%r</a:t>
            </a:r>
            <a:r>
              <a:rPr lang="en-US" altLang="zh-CN" b="1" dirty="0" err="1">
                <a:solidFill>
                  <a:schemeClr val="accent2"/>
                </a:solidFill>
                <a:sym typeface="+mn-ea"/>
              </a:rPr>
              <a:t>ax</a:t>
            </a:r>
            <a:r>
              <a:rPr lang="zh-CN" altLang="en-US" dirty="0">
                <a:sym typeface="+mn-ea"/>
              </a:rPr>
              <a:t>，除法是</a:t>
            </a:r>
            <a:r>
              <a:rPr lang="en-US" altLang="zh-CN" b="1" dirty="0">
                <a:solidFill>
                  <a:schemeClr val="accent2"/>
                </a:solidFill>
                <a:sym typeface="+mn-ea"/>
              </a:rPr>
              <a:t>%r</a:t>
            </a:r>
            <a:r>
              <a:rPr lang="en-US" altLang="zh-CN" b="1" dirty="0" err="1">
                <a:solidFill>
                  <a:schemeClr val="accent2"/>
                </a:solidFill>
                <a:sym typeface="+mn-ea"/>
              </a:rPr>
              <a:t>dx</a:t>
            </a:r>
            <a:r>
              <a:rPr lang="en-US" altLang="zh-CN" b="1" dirty="0">
                <a:solidFill>
                  <a:schemeClr val="accent2"/>
                </a:solidFill>
                <a:sym typeface="+mn-ea"/>
              </a:rPr>
              <a:t>:%r</a:t>
            </a:r>
            <a:r>
              <a:rPr lang="en-US" altLang="zh-CN" b="1" dirty="0" err="1">
                <a:solidFill>
                  <a:schemeClr val="accent2"/>
                </a:solidFill>
                <a:sym typeface="+mn-ea"/>
              </a:rPr>
              <a:t>ax</a:t>
            </a:r>
            <a:r>
              <a:rPr lang="zh-CN" altLang="en-US" dirty="0">
                <a:sym typeface="+mn-ea"/>
              </a:rPr>
              <a:t>）</a:t>
            </a:r>
          </a:p>
          <a:p>
            <a:pPr marL="457200" lvl="1" indent="0">
              <a:buNone/>
            </a:pPr>
            <a:r>
              <a:rPr lang="zh-CN" altLang="en-US" dirty="0">
                <a:sym typeface="+mn-ea"/>
              </a:rPr>
              <a:t>，目的操作数也隐含（乘法是</a:t>
            </a:r>
            <a:r>
              <a:rPr lang="en-US" altLang="zh-CN" b="1" dirty="0">
                <a:solidFill>
                  <a:schemeClr val="accent2"/>
                </a:solidFill>
                <a:sym typeface="+mn-ea"/>
              </a:rPr>
              <a:t>%r</a:t>
            </a:r>
            <a:r>
              <a:rPr lang="en-US" altLang="zh-CN" b="1" dirty="0" err="1">
                <a:solidFill>
                  <a:schemeClr val="accent2"/>
                </a:solidFill>
                <a:sym typeface="+mn-ea"/>
              </a:rPr>
              <a:t>dx</a:t>
            </a:r>
            <a:r>
              <a:rPr lang="en-US" altLang="zh-CN" b="1" dirty="0">
                <a:solidFill>
                  <a:schemeClr val="accent2"/>
                </a:solidFill>
                <a:sym typeface="+mn-ea"/>
              </a:rPr>
              <a:t>:%r</a:t>
            </a:r>
            <a:r>
              <a:rPr lang="en-US" altLang="zh-CN" b="1" dirty="0" err="1">
                <a:solidFill>
                  <a:schemeClr val="accent2"/>
                </a:solidFill>
                <a:sym typeface="+mn-ea"/>
              </a:rPr>
              <a:t>ax</a:t>
            </a:r>
            <a:r>
              <a:rPr lang="zh-CN" altLang="en-US" dirty="0" err="1">
                <a:sym typeface="+mn-ea"/>
              </a:rPr>
              <a:t>，</a:t>
            </a:r>
            <a:r>
              <a:rPr lang="zh-CN" altLang="en-US" dirty="0">
                <a:sym typeface="+mn-ea"/>
              </a:rPr>
              <a:t>除法商在</a:t>
            </a:r>
            <a:r>
              <a:rPr lang="en-US" altLang="zh-CN" b="1" dirty="0">
                <a:solidFill>
                  <a:schemeClr val="accent2"/>
                </a:solidFill>
                <a:sym typeface="+mn-ea"/>
              </a:rPr>
              <a:t>%r</a:t>
            </a:r>
            <a:r>
              <a:rPr lang="en-US" altLang="zh-CN" b="1" dirty="0" err="1">
                <a:solidFill>
                  <a:schemeClr val="accent2"/>
                </a:solidFill>
                <a:sym typeface="+mn-ea"/>
              </a:rPr>
              <a:t>ax</a:t>
            </a:r>
            <a:r>
              <a:rPr lang="zh-CN" altLang="en-US" dirty="0">
                <a:sym typeface="+mn-ea"/>
              </a:rPr>
              <a:t>余数在</a:t>
            </a:r>
            <a:r>
              <a:rPr lang="en-US" altLang="zh-CN" b="1" dirty="0">
                <a:solidFill>
                  <a:schemeClr val="accent2"/>
                </a:solidFill>
                <a:sym typeface="+mn-ea"/>
              </a:rPr>
              <a:t>%r</a:t>
            </a:r>
            <a:r>
              <a:rPr lang="en-US" altLang="zh-CN" b="1" dirty="0" err="1">
                <a:solidFill>
                  <a:schemeClr val="accent2"/>
                </a:solidFill>
                <a:sym typeface="+mn-ea"/>
              </a:rPr>
              <a:t>dx</a:t>
            </a:r>
            <a:r>
              <a:rPr lang="zh-CN" altLang="en-US" dirty="0">
                <a:sym typeface="+mn-ea"/>
              </a:rPr>
              <a:t>）</a:t>
            </a:r>
          </a:p>
          <a:p>
            <a:pPr marL="914400" lvl="2" indent="0">
              <a:buNone/>
            </a:pPr>
            <a:endParaRPr lang="en-US" altLang="zh-CN" sz="2400" dirty="0"/>
          </a:p>
          <a:p>
            <a:pPr lvl="1">
              <a:buClr>
                <a:srgbClr val="ED7D31"/>
              </a:buClr>
            </a:pPr>
            <a:endParaRPr lang="en-US" altLang="zh-CN" sz="2400" dirty="0"/>
          </a:p>
          <a:p>
            <a:pPr marL="0" indent="0">
              <a:buClr>
                <a:srgbClr val="000000"/>
              </a:buClr>
              <a:buNone/>
              <a:tabLst>
                <a:tab pos="1409700" algn="l"/>
                <a:tab pos="1409700" algn="l"/>
                <a:tab pos="1409700" algn="l"/>
                <a:tab pos="1409700" algn="l"/>
              </a:tabLst>
            </a:pPr>
            <a:endParaRPr lang="zh-CN" altLang="en-US" dirty="0">
              <a:latin typeface="黑体" panose="02010609060101010101" charset="-122"/>
              <a:ea typeface="黑体" panose="02010609060101010101" charset="-122"/>
            </a:endParaRPr>
          </a:p>
        </p:txBody>
      </p:sp>
      <p:pic>
        <p:nvPicPr>
          <p:cNvPr id="7" name="图片 6"/>
          <p:cNvPicPr>
            <a:picLocks noChangeAspect="1"/>
          </p:cNvPicPr>
          <p:nvPr/>
        </p:nvPicPr>
        <p:blipFill>
          <a:blip r:embed="rId2"/>
          <a:stretch>
            <a:fillRect/>
          </a:stretch>
        </p:blipFill>
        <p:spPr>
          <a:xfrm>
            <a:off x="304800" y="3191510"/>
            <a:ext cx="8554085" cy="298323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wipe(left)">
                                      <p:cBhvr>
                                        <p:cTn id="13" dur="500"/>
                                        <p:tgtEl>
                                          <p:spTgt spid="42"/>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wipe(right)">
                                      <p:cBhvr>
                                        <p:cTn id="16" dur="500"/>
                                        <p:tgtEl>
                                          <p:spTgt spid="41"/>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43"/>
                                        </p:tgtEl>
                                        <p:attrNameLst>
                                          <p:attrName>style.visibility</p:attrName>
                                        </p:attrNameLst>
                                      </p:cBhvr>
                                      <p:to>
                                        <p:strVal val="visible"/>
                                      </p:to>
                                    </p:set>
                                    <p:anim by="(-#ppt_w*2)" calcmode="lin" valueType="num">
                                      <p:cBhvr rctx="PPT">
                                        <p:cTn id="20" dur="500" autoRev="1" fill="hold">
                                          <p:stCondLst>
                                            <p:cond delay="0"/>
                                          </p:stCondLst>
                                        </p:cTn>
                                        <p:tgtEl>
                                          <p:spTgt spid="43"/>
                                        </p:tgtEl>
                                        <p:attrNameLst>
                                          <p:attrName>ppt_w</p:attrName>
                                        </p:attrNameLst>
                                      </p:cBhvr>
                                    </p:anim>
                                    <p:anim by="(#ppt_w*0.50)" calcmode="lin" valueType="num">
                                      <p:cBhvr>
                                        <p:cTn id="21" dur="500" decel="50000" autoRev="1" fill="hold">
                                          <p:stCondLst>
                                            <p:cond delay="0"/>
                                          </p:stCondLst>
                                        </p:cTn>
                                        <p:tgtEl>
                                          <p:spTgt spid="43"/>
                                        </p:tgtEl>
                                        <p:attrNameLst>
                                          <p:attrName>ppt_x</p:attrName>
                                        </p:attrNameLst>
                                      </p:cBhvr>
                                    </p:anim>
                                    <p:anim from="(-#ppt_h/2)" to="(#ppt_y)" calcmode="lin" valueType="num">
                                      <p:cBhvr>
                                        <p:cTn id="22" dur="1000" fill="hold">
                                          <p:stCondLst>
                                            <p:cond delay="0"/>
                                          </p:stCondLst>
                                        </p:cTn>
                                        <p:tgtEl>
                                          <p:spTgt spid="43"/>
                                        </p:tgtEl>
                                        <p:attrNameLst>
                                          <p:attrName>ppt_y</p:attrName>
                                        </p:attrNameLst>
                                      </p:cBhvr>
                                    </p:anim>
                                    <p:animRot by="21600000">
                                      <p:cBhvr>
                                        <p:cTn id="23" dur="1000" fill="hold">
                                          <p:stCondLst>
                                            <p:cond delay="0"/>
                                          </p:stCondLst>
                                        </p:cTn>
                                        <p:tgtEl>
                                          <p:spTgt spid="43"/>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43"/>
                                        </p:tgtEl>
                                        <p:attrNameLst>
                                          <p:attrName>style.visibility</p:attrName>
                                        </p:attrNameLst>
                                      </p:cBhvr>
                                      <p:to>
                                        <p:strVal val="visible"/>
                                      </p:to>
                                    </p:set>
                                    <p:anim calcmode="lin" valueType="num">
                                      <p:cBhvr>
                                        <p:cTn id="26" dur="100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43"/>
                                        </p:tgtEl>
                                        <p:attrNameLst>
                                          <p:attrName>ppt_y</p:attrName>
                                        </p:attrNameLst>
                                      </p:cBhvr>
                                      <p:tavLst>
                                        <p:tav tm="0">
                                          <p:val>
                                            <p:strVal val="#ppt_y"/>
                                          </p:val>
                                        </p:tav>
                                        <p:tav tm="100000">
                                          <p:val>
                                            <p:strVal val="#ppt_y"/>
                                          </p:val>
                                        </p:tav>
                                      </p:tavLst>
                                    </p:anim>
                                    <p:anim calcmode="lin" valueType="num">
                                      <p:cBhvr>
                                        <p:cTn id="28" dur="100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4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16388">
                                            <p:txEl>
                                              <p:pRg st="3" end="3"/>
                                            </p:txEl>
                                          </p:spTgt>
                                        </p:tgtEl>
                                        <p:attrNameLst>
                                          <p:attrName>style.visibility</p:attrName>
                                        </p:attrNameLst>
                                      </p:cBhvr>
                                      <p:to>
                                        <p:strVal val="visible"/>
                                      </p:to>
                                    </p:set>
                                    <p:animEffect transition="in" filter="wipe(down)">
                                      <p:cBhvr>
                                        <p:cTn id="35" dur="500"/>
                                        <p:tgtEl>
                                          <p:spTgt spid="16388">
                                            <p:txEl>
                                              <p:pRg st="3" end="3"/>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16388">
                                            <p:txEl>
                                              <p:pRg st="4" end="4"/>
                                            </p:txEl>
                                          </p:spTgt>
                                        </p:tgtEl>
                                        <p:attrNameLst>
                                          <p:attrName>style.visibility</p:attrName>
                                        </p:attrNameLst>
                                      </p:cBhvr>
                                      <p:to>
                                        <p:strVal val="visible"/>
                                      </p:to>
                                    </p:set>
                                    <p:animEffect transition="in" filter="wipe(down)">
                                      <p:cBhvr>
                                        <p:cTn id="38" dur="500"/>
                                        <p:tgtEl>
                                          <p:spTgt spid="16388">
                                            <p:txEl>
                                              <p:pRg st="4" end="4"/>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bldLvl="0" animBg="1"/>
      <p:bldP spid="42" grpId="0" bldLvl="0" animBg="1"/>
      <p:bldP spid="43" grpId="0"/>
      <p:bldP spid="43" grpId="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pic>
        <p:nvPicPr>
          <p:cNvPr id="3" name="图片 2"/>
          <p:cNvPicPr>
            <a:picLocks noChangeAspect="1"/>
          </p:cNvPicPr>
          <p:nvPr/>
        </p:nvPicPr>
        <p:blipFill>
          <a:blip r:embed="rId2"/>
          <a:stretch>
            <a:fillRect/>
          </a:stretch>
        </p:blipFill>
        <p:spPr>
          <a:xfrm>
            <a:off x="0" y="869315"/>
            <a:ext cx="8475980" cy="2371725"/>
          </a:xfrm>
          <a:prstGeom prst="rect">
            <a:avLst/>
          </a:prstGeom>
        </p:spPr>
      </p:pic>
      <p:sp>
        <p:nvSpPr>
          <p:cNvPr id="5" name="右箭头 4"/>
          <p:cNvSpPr/>
          <p:nvPr/>
        </p:nvSpPr>
        <p:spPr>
          <a:xfrm>
            <a:off x="-635" y="253365"/>
            <a:ext cx="6608445" cy="837565"/>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t>代码示例：两个无符号</a:t>
            </a:r>
            <a:r>
              <a:rPr lang="en-US" altLang="zh-CN" sz="2000" b="1"/>
              <a:t>64</a:t>
            </a:r>
            <a:r>
              <a:rPr lang="zh-CN" altLang="en-US" sz="2000" b="1"/>
              <a:t>位数字</a:t>
            </a:r>
            <a:r>
              <a:rPr lang="en-US" altLang="zh-CN" sz="2000" b="1"/>
              <a:t>x</a:t>
            </a:r>
            <a:r>
              <a:rPr lang="zh-CN" altLang="en-US" sz="2000" b="1"/>
              <a:t>和</a:t>
            </a:r>
            <a:r>
              <a:rPr lang="en-US" altLang="zh-CN" sz="2000" b="1"/>
              <a:t>y</a:t>
            </a:r>
            <a:r>
              <a:rPr lang="zh-CN" altLang="en-US" sz="2000" b="1"/>
              <a:t>生成</a:t>
            </a:r>
            <a:r>
              <a:rPr lang="en-US" altLang="zh-CN" sz="2000" b="1"/>
              <a:t>128</a:t>
            </a:r>
            <a:r>
              <a:rPr lang="zh-CN" altLang="en-US" sz="2000" b="1"/>
              <a:t>位的乘积：</a:t>
            </a:r>
          </a:p>
        </p:txBody>
      </p:sp>
      <p:pic>
        <p:nvPicPr>
          <p:cNvPr id="6" name="图片 5"/>
          <p:cNvPicPr>
            <a:picLocks noChangeAspect="1"/>
          </p:cNvPicPr>
          <p:nvPr/>
        </p:nvPicPr>
        <p:blipFill>
          <a:blip r:embed="rId3"/>
          <a:stretch>
            <a:fillRect/>
          </a:stretch>
        </p:blipFill>
        <p:spPr>
          <a:xfrm>
            <a:off x="333375" y="4097020"/>
            <a:ext cx="7809230" cy="2428875"/>
          </a:xfrm>
          <a:prstGeom prst="rect">
            <a:avLst/>
          </a:prstGeom>
        </p:spPr>
      </p:pic>
      <p:sp>
        <p:nvSpPr>
          <p:cNvPr id="7" name="下箭头 6"/>
          <p:cNvSpPr/>
          <p:nvPr/>
        </p:nvSpPr>
        <p:spPr>
          <a:xfrm>
            <a:off x="3901440" y="3096895"/>
            <a:ext cx="1341755" cy="1000125"/>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t>gcc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1027430"/>
            <a:ext cx="5090795" cy="2207895"/>
          </a:xfrm>
          <a:prstGeom prst="rect">
            <a:avLst/>
          </a:prstGeom>
        </p:spPr>
      </p:pic>
      <p:sp>
        <p:nvSpPr>
          <p:cNvPr id="4" name="矩形 3"/>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635" y="253365"/>
            <a:ext cx="5779770" cy="837565"/>
          </a:xfrm>
          <a:prstGeom prst="righ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a:t>代码示例：两个有符号</a:t>
            </a:r>
            <a:r>
              <a:rPr lang="en-US" altLang="zh-CN" sz="2000" b="1"/>
              <a:t>64</a:t>
            </a:r>
            <a:r>
              <a:rPr lang="zh-CN" altLang="en-US" sz="2000" b="1"/>
              <a:t>位数字的商和余数：</a:t>
            </a:r>
          </a:p>
        </p:txBody>
      </p:sp>
      <p:pic>
        <p:nvPicPr>
          <p:cNvPr id="8" name="图片 7"/>
          <p:cNvPicPr>
            <a:picLocks noChangeAspect="1"/>
          </p:cNvPicPr>
          <p:nvPr/>
        </p:nvPicPr>
        <p:blipFill>
          <a:blip r:embed="rId3"/>
          <a:stretch>
            <a:fillRect/>
          </a:stretch>
        </p:blipFill>
        <p:spPr>
          <a:xfrm>
            <a:off x="319405" y="3409315"/>
            <a:ext cx="8504555" cy="3066415"/>
          </a:xfrm>
          <a:prstGeom prst="rect">
            <a:avLst/>
          </a:prstGeom>
        </p:spPr>
      </p:pic>
      <p:sp>
        <p:nvSpPr>
          <p:cNvPr id="9" name="右弧形箭头 8"/>
          <p:cNvSpPr/>
          <p:nvPr/>
        </p:nvSpPr>
        <p:spPr>
          <a:xfrm>
            <a:off x="6813550" y="2276475"/>
            <a:ext cx="644525" cy="1593215"/>
          </a:xfrm>
          <a:prstGeom prst="curved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文本框 9"/>
          <p:cNvSpPr txBox="1"/>
          <p:nvPr/>
        </p:nvSpPr>
        <p:spPr>
          <a:xfrm>
            <a:off x="7542530" y="2710815"/>
            <a:ext cx="1141730" cy="398780"/>
          </a:xfrm>
          <a:prstGeom prst="rect">
            <a:avLst/>
          </a:prstGeom>
          <a:noFill/>
        </p:spPr>
        <p:txBody>
          <a:bodyPr wrap="square" rtlCol="0">
            <a:spAutoFit/>
          </a:bodyPr>
          <a:lstStyle/>
          <a:p>
            <a:r>
              <a:rPr lang="en-US" altLang="zh-CN" sz="2000" b="1"/>
              <a:t>gcc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ppt_x"/>
                                          </p:val>
                                        </p:tav>
                                        <p:tav tm="100000">
                                          <p:val>
                                            <p:strVal val="#ppt_x"/>
                                          </p:val>
                                        </p:tav>
                                      </p:tavLst>
                                    </p:anim>
                                    <p:anim calcmode="lin" valueType="num">
                                      <p:cBhvr additive="base">
                                        <p:cTn id="1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3" name="组合 2"/>
          <p:cNvGrpSpPr/>
          <p:nvPr/>
        </p:nvGrpSpPr>
        <p:grpSpPr>
          <a:xfrm>
            <a:off x="2894839" y="30248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7935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4115276" y="79359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4115639" y="158531"/>
            <a:ext cx="439293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“入栈”（push</a:t>
            </a:r>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q</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 %</a:t>
            </a:r>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rax</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a:t>
            </a:r>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782339" name="Rectangle 3"/>
          <p:cNvSpPr>
            <a:spLocks noGrp="1" noChangeArrowheads="1"/>
          </p:cNvSpPr>
          <p:nvPr/>
        </p:nvSpPr>
        <p:spPr>
          <a:xfrm>
            <a:off x="468313" y="1274763"/>
            <a:ext cx="8229600" cy="521811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r>
              <a:rPr lang="zh-CN" altLang="en-US" sz="2200" dirty="0">
                <a:highlight>
                  <a:srgbClr val="FFFF00"/>
                </a:highlight>
                <a:latin typeface="微软雅黑" panose="020B0503020204020204" charset="-122"/>
                <a:ea typeface="微软雅黑" panose="020B0503020204020204" charset="-122"/>
              </a:rPr>
              <a:t>栈（</a:t>
            </a:r>
            <a:r>
              <a:rPr lang="en-US" altLang="zh-CN" sz="2200" dirty="0">
                <a:highlight>
                  <a:srgbClr val="FFFF00"/>
                </a:highlight>
                <a:latin typeface="微软雅黑" panose="020B0503020204020204" charset="-122"/>
                <a:ea typeface="微软雅黑" panose="020B0503020204020204" charset="-122"/>
              </a:rPr>
              <a:t>Stack</a:t>
            </a:r>
            <a:r>
              <a:rPr lang="zh-CN" altLang="en-US" sz="2200" dirty="0">
                <a:highlight>
                  <a:srgbClr val="FFFF00"/>
                </a:highlight>
                <a:latin typeface="微软雅黑" panose="020B0503020204020204" charset="-122"/>
                <a:ea typeface="微软雅黑" panose="020B0503020204020204" charset="-122"/>
              </a:rPr>
              <a:t>）是一种采用</a:t>
            </a:r>
            <a:r>
              <a:rPr lang="zh-CN" altLang="en-US" sz="2200" dirty="0">
                <a:solidFill>
                  <a:srgbClr val="FF3300"/>
                </a:solidFill>
                <a:highlight>
                  <a:srgbClr val="FFFF00"/>
                </a:highlight>
                <a:latin typeface="微软雅黑" panose="020B0503020204020204" charset="-122"/>
                <a:ea typeface="微软雅黑" panose="020B0503020204020204" charset="-122"/>
              </a:rPr>
              <a:t>“先进后出”</a:t>
            </a:r>
            <a:r>
              <a:rPr lang="zh-CN" altLang="en-US" sz="2200" dirty="0">
                <a:highlight>
                  <a:srgbClr val="FFFF00"/>
                </a:highlight>
                <a:latin typeface="微软雅黑" panose="020B0503020204020204" charset="-122"/>
                <a:ea typeface="微软雅黑" panose="020B0503020204020204" charset="-122"/>
              </a:rPr>
              <a:t>方式进行访问的一块存储区，用于</a:t>
            </a:r>
            <a:r>
              <a:rPr lang="zh-CN" altLang="en-US" sz="2200" dirty="0">
                <a:solidFill>
                  <a:srgbClr val="FF3300"/>
                </a:solidFill>
                <a:highlight>
                  <a:srgbClr val="FFFF00"/>
                </a:highlight>
                <a:latin typeface="微软雅黑" panose="020B0503020204020204" charset="-122"/>
                <a:ea typeface="微软雅黑" panose="020B0503020204020204" charset="-122"/>
              </a:rPr>
              <a:t>嵌套过程调用</a:t>
            </a:r>
            <a:r>
              <a:rPr lang="zh-CN" altLang="en-US" sz="2200" dirty="0">
                <a:highlight>
                  <a:srgbClr val="FFFF00"/>
                </a:highlight>
                <a:latin typeface="微软雅黑" panose="020B0503020204020204" charset="-122"/>
                <a:ea typeface="微软雅黑" panose="020B0503020204020204" charset="-122"/>
              </a:rPr>
              <a:t>。</a:t>
            </a:r>
            <a:r>
              <a:rPr lang="zh-CN" altLang="en-US" sz="2200" dirty="0">
                <a:solidFill>
                  <a:srgbClr val="007635"/>
                </a:solidFill>
                <a:highlight>
                  <a:srgbClr val="FFFF00"/>
                </a:highlight>
                <a:latin typeface="微软雅黑" panose="020B0503020204020204" charset="-122"/>
                <a:ea typeface="微软雅黑" panose="020B0503020204020204" charset="-122"/>
              </a:rPr>
              <a:t>从高地址向低地址增长</a:t>
            </a:r>
          </a:p>
          <a:p>
            <a:r>
              <a:rPr lang="zh-CN" altLang="en-US" sz="2200" dirty="0">
                <a:solidFill>
                  <a:srgbClr val="007635"/>
                </a:solidFill>
                <a:latin typeface="微软雅黑" panose="020B0503020204020204" charset="-122"/>
                <a:ea typeface="微软雅黑" panose="020B0503020204020204" charset="-122"/>
              </a:rPr>
              <a:t>（向下增长），栈顶在底部</a:t>
            </a:r>
            <a:endParaRPr lang="zh-CN" altLang="en-US" sz="2200" dirty="0">
              <a:latin typeface="微软雅黑" panose="020B0503020204020204" charset="-122"/>
              <a:ea typeface="微软雅黑" panose="020B0503020204020204" charset="-122"/>
            </a:endParaRPr>
          </a:p>
          <a:p>
            <a:r>
              <a:rPr lang="zh-CN" altLang="en-US" sz="2200" dirty="0">
                <a:latin typeface="微软雅黑" panose="020B0503020204020204" charset="-122"/>
                <a:ea typeface="微软雅黑" panose="020B0503020204020204" charset="-122"/>
              </a:rPr>
              <a:t>“栈”不等于</a:t>
            </a:r>
            <a:r>
              <a:rPr lang="zh-CN" altLang="en-US" sz="2200" dirty="0">
                <a:solidFill>
                  <a:srgbClr val="FF3300"/>
                </a:solidFill>
                <a:latin typeface="微软雅黑" panose="020B0503020204020204" charset="-122"/>
                <a:ea typeface="微软雅黑" panose="020B0503020204020204" charset="-122"/>
              </a:rPr>
              <a:t>“堆栈”</a:t>
            </a:r>
            <a:r>
              <a:rPr lang="zh-CN" altLang="en-US" sz="2200" dirty="0">
                <a:latin typeface="微软雅黑" panose="020B0503020204020204" charset="-122"/>
                <a:ea typeface="微软雅黑" panose="020B0503020204020204" charset="-122"/>
              </a:rPr>
              <a:t>（由“堆”和“栈”组成）</a:t>
            </a:r>
          </a:p>
          <a:p>
            <a:r>
              <a:rPr lang="zh-CN" altLang="en-US" sz="2200" dirty="0">
                <a:latin typeface="微软雅黑" panose="020B0503020204020204" charset="-122"/>
                <a:ea typeface="微软雅黑" panose="020B0503020204020204" charset="-122"/>
              </a:rPr>
              <a:t>栈是一种数据结构，可以添加或者删除值</a:t>
            </a:r>
          </a:p>
        </p:txBody>
      </p:sp>
      <p:cxnSp>
        <p:nvCxnSpPr>
          <p:cNvPr id="16" name="曲线连接符 15"/>
          <p:cNvCxnSpPr/>
          <p:nvPr/>
        </p:nvCxnSpPr>
        <p:spPr>
          <a:xfrm rot="5400000">
            <a:off x="5979795" y="1374775"/>
            <a:ext cx="3528060" cy="1908810"/>
          </a:xfrm>
          <a:prstGeom prst="curvedConnector3">
            <a:avLst>
              <a:gd name="adj1" fmla="val 50018"/>
            </a:avLst>
          </a:prstGeom>
          <a:ln>
            <a:tailEnd type="arrow"/>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rotWithShape="1">
          <a:blip r:embed="rId2"/>
          <a:srcRect l="68830" t="39363" r="20020" b="39553"/>
          <a:stretch>
            <a:fillRect/>
          </a:stretch>
        </p:blipFill>
        <p:spPr>
          <a:xfrm>
            <a:off x="5928360" y="4034155"/>
            <a:ext cx="3215640" cy="1901190"/>
          </a:xfrm>
          <a:prstGeom prst="ellipse">
            <a:avLst/>
          </a:prstGeom>
        </p:spPr>
      </p:pic>
      <p:cxnSp>
        <p:nvCxnSpPr>
          <p:cNvPr id="19" name="曲线连接符 18"/>
          <p:cNvCxnSpPr/>
          <p:nvPr/>
        </p:nvCxnSpPr>
        <p:spPr>
          <a:xfrm rot="5400000">
            <a:off x="6670675" y="1772920"/>
            <a:ext cx="3469005" cy="105283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363335" y="4611370"/>
            <a:ext cx="2568575" cy="645160"/>
          </a:xfrm>
          <a:prstGeom prst="rect">
            <a:avLst/>
          </a:prstGeom>
          <a:noFill/>
        </p:spPr>
        <p:txBody>
          <a:bodyPr wrap="square" rtlCol="0">
            <a:spAutoFit/>
          </a:bodyPr>
          <a:lstStyle/>
          <a:p>
            <a:r>
              <a:rPr lang="en-US" altLang="zh-CN" dirty="0" err="1"/>
              <a:t>subq</a:t>
            </a:r>
            <a:r>
              <a:rPr lang="en-US" altLang="zh-CN" dirty="0"/>
              <a:t> $8</a:t>
            </a:r>
            <a:r>
              <a:rPr lang="zh-CN" altLang="en-US" dirty="0"/>
              <a:t>，</a:t>
            </a:r>
            <a:r>
              <a:rPr lang="en-US" altLang="zh-CN" dirty="0"/>
              <a:t>%</a:t>
            </a:r>
            <a:r>
              <a:rPr lang="en-US" altLang="zh-CN" dirty="0" err="1"/>
              <a:t>rsp</a:t>
            </a:r>
            <a:endParaRPr lang="en-US" altLang="zh-CN" dirty="0"/>
          </a:p>
          <a:p>
            <a:r>
              <a:rPr lang="en-US" altLang="zh-CN" dirty="0" err="1"/>
              <a:t>movq</a:t>
            </a:r>
            <a:r>
              <a:rPr lang="en-US" altLang="zh-CN" dirty="0"/>
              <a:t> %</a:t>
            </a:r>
            <a:r>
              <a:rPr lang="en-US" altLang="zh-CN" dirty="0" err="1"/>
              <a:t>rbp</a:t>
            </a:r>
            <a:r>
              <a:rPr lang="zh-CN" altLang="en-US" dirty="0"/>
              <a:t>，（</a:t>
            </a:r>
            <a:r>
              <a:rPr lang="en-US" altLang="zh-CN" dirty="0">
                <a:sym typeface="+mn-ea"/>
              </a:rPr>
              <a:t>%</a:t>
            </a:r>
            <a:r>
              <a:rPr lang="en-US" altLang="zh-CN" dirty="0" err="1">
                <a:sym typeface="+mn-ea"/>
              </a:rPr>
              <a:t>rsp</a:t>
            </a:r>
            <a:r>
              <a:rPr lang="zh-CN" altLang="en-US" dirty="0"/>
              <a:t>）</a:t>
            </a:r>
            <a:r>
              <a:rPr lang="en-US" altLang="zh-CN" dirty="0"/>
              <a:t> </a:t>
            </a:r>
            <a:endParaRPr lang="zh-CN" altLang="en-US" dirty="0"/>
          </a:p>
        </p:txBody>
      </p:sp>
      <p:sp>
        <p:nvSpPr>
          <p:cNvPr id="782348" name="Rectangle 12"/>
          <p:cNvSpPr>
            <a:spLocks noChangeArrowheads="1"/>
          </p:cNvSpPr>
          <p:nvPr/>
        </p:nvSpPr>
        <p:spPr bwMode="auto">
          <a:xfrm>
            <a:off x="2514918" y="4611370"/>
            <a:ext cx="2882900" cy="768350"/>
          </a:xfrm>
          <a:prstGeom prst="rect">
            <a:avLst/>
          </a:prstGeom>
          <a:noFill/>
          <a:ln w="9525">
            <a:noFill/>
            <a:miter lim="800000"/>
          </a:ln>
          <a:effectLst/>
        </p:spPr>
        <p:txBody>
          <a:bodyPr anchor="ctr">
            <a:spAutoFit/>
          </a:bodyPr>
          <a:lstStyle/>
          <a:p>
            <a:r>
              <a:rPr lang="en-US" altLang="zh-CN" sz="2200">
                <a:solidFill>
                  <a:schemeClr val="accent1"/>
                </a:solidFill>
                <a:effectLst>
                  <a:outerShdw blurRad="38100" dist="25400" dir="5400000" algn="ctr" rotWithShape="0">
                    <a:srgbClr val="6E747A">
                      <a:alpha val="43000"/>
                    </a:srgbClr>
                  </a:outerShdw>
                </a:effectLst>
              </a:rPr>
              <a:t>R[sp]←R[sp]-8</a:t>
            </a:r>
            <a:r>
              <a:rPr lang="zh-CN" altLang="en-US" sz="2200">
                <a:solidFill>
                  <a:schemeClr val="accent1"/>
                </a:solidFill>
                <a:effectLst>
                  <a:outerShdw blurRad="38100" dist="25400" dir="5400000" algn="ctr" rotWithShape="0">
                    <a:srgbClr val="6E747A">
                      <a:alpha val="43000"/>
                    </a:srgbClr>
                  </a:outerShdw>
                </a:effectLst>
              </a:rPr>
              <a:t>、</a:t>
            </a:r>
            <a:r>
              <a:rPr lang="en-US" altLang="zh-CN" sz="2200">
                <a:solidFill>
                  <a:schemeClr val="accent1"/>
                </a:solidFill>
                <a:effectLst>
                  <a:outerShdw blurRad="38100" dist="25400" dir="5400000" algn="ctr" rotWithShape="0">
                    <a:srgbClr val="6E747A">
                      <a:alpha val="43000"/>
                    </a:srgbClr>
                  </a:outerShdw>
                </a:effectLst>
              </a:rPr>
              <a:t>M[R[sp]]</a:t>
            </a:r>
            <a:r>
              <a:rPr lang="en-US" altLang="zh-CN" sz="2200">
                <a:solidFill>
                  <a:schemeClr val="accent1"/>
                </a:solidFill>
                <a:effectLst>
                  <a:outerShdw blurRad="38100" dist="25400" dir="5400000" algn="ctr" rotWithShape="0">
                    <a:srgbClr val="6E747A">
                      <a:alpha val="43000"/>
                    </a:srgbClr>
                  </a:outerShdw>
                </a:effectLst>
                <a:cs typeface="Times New Roman" panose="02020603050405020304" pitchFamily="18" charset="0"/>
              </a:rPr>
              <a:t>←R[rax]</a:t>
            </a:r>
          </a:p>
        </p:txBody>
      </p:sp>
      <p:sp>
        <p:nvSpPr>
          <p:cNvPr id="21" name="左箭头 20"/>
          <p:cNvSpPr/>
          <p:nvPr/>
        </p:nvSpPr>
        <p:spPr>
          <a:xfrm>
            <a:off x="4639945" y="4843145"/>
            <a:ext cx="1288415" cy="285115"/>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704215" y="4093210"/>
            <a:ext cx="1395730" cy="15919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1009015" y="5724525"/>
            <a:ext cx="883285" cy="368300"/>
          </a:xfrm>
          <a:prstGeom prst="rect">
            <a:avLst/>
          </a:prstGeom>
          <a:noFill/>
        </p:spPr>
        <p:txBody>
          <a:bodyPr wrap="square" rtlCol="0">
            <a:spAutoFit/>
          </a:bodyPr>
          <a:lstStyle/>
          <a:p>
            <a:r>
              <a:rPr lang="zh-CN" altLang="en-US"/>
              <a:t>栈顶</a:t>
            </a:r>
            <a:endParaRPr lang="en-US" altLang="zh-CN"/>
          </a:p>
        </p:txBody>
      </p:sp>
      <p:sp>
        <p:nvSpPr>
          <p:cNvPr id="24" name="文本框 23"/>
          <p:cNvSpPr txBox="1"/>
          <p:nvPr/>
        </p:nvSpPr>
        <p:spPr>
          <a:xfrm>
            <a:off x="0" y="5379720"/>
            <a:ext cx="883285" cy="368300"/>
          </a:xfrm>
          <a:prstGeom prst="rect">
            <a:avLst/>
          </a:prstGeom>
          <a:noFill/>
        </p:spPr>
        <p:txBody>
          <a:bodyPr wrap="square" rtlCol="0">
            <a:spAutoFit/>
          </a:bodyPr>
          <a:lstStyle/>
          <a:p>
            <a:r>
              <a:rPr lang="en-US"/>
              <a:t>0x108</a:t>
            </a:r>
          </a:p>
        </p:txBody>
      </p:sp>
      <p:cxnSp>
        <p:nvCxnSpPr>
          <p:cNvPr id="25" name="直接箭头连接符 24"/>
          <p:cNvCxnSpPr/>
          <p:nvPr/>
        </p:nvCxnSpPr>
        <p:spPr>
          <a:xfrm flipV="1">
            <a:off x="335915" y="4316095"/>
            <a:ext cx="0" cy="101409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graphicFrame>
        <p:nvGraphicFramePr>
          <p:cNvPr id="27" name="表格 26"/>
          <p:cNvGraphicFramePr/>
          <p:nvPr/>
        </p:nvGraphicFramePr>
        <p:xfrm>
          <a:off x="704215" y="3668395"/>
          <a:ext cx="2061210" cy="365760"/>
        </p:xfrm>
        <a:graphic>
          <a:graphicData uri="http://schemas.openxmlformats.org/drawingml/2006/table">
            <a:tbl>
              <a:tblPr firstRow="1" bandRow="1">
                <a:tableStyleId>{5C22544A-7EE6-4342-B048-85BDC9FD1C3A}</a:tableStyleId>
              </a:tblPr>
              <a:tblGrid>
                <a:gridCol w="100965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tblGrid>
              <a:tr h="365760">
                <a:tc>
                  <a:txBody>
                    <a:bodyPr/>
                    <a:lstStyle/>
                    <a:p>
                      <a:pPr>
                        <a:buNone/>
                      </a:pPr>
                      <a:r>
                        <a:rPr lang="en-US" altLang="zh-CN">
                          <a:solidFill>
                            <a:schemeClr val="tx1">
                              <a:lumMod val="95000"/>
                              <a:lumOff val="5000"/>
                            </a:schemeClr>
                          </a:solidFill>
                        </a:rPr>
                        <a:t>%rax</a:t>
                      </a:r>
                    </a:p>
                  </a:txBody>
                  <a:tcPr>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tcPr>
                </a:tc>
                <a:tc>
                  <a:txBody>
                    <a:bodyPr/>
                    <a:lstStyle/>
                    <a:p>
                      <a:pPr>
                        <a:buNone/>
                      </a:pPr>
                      <a:r>
                        <a:rPr lang="en-US" altLang="zh-CN">
                          <a:solidFill>
                            <a:schemeClr val="tx1">
                              <a:lumMod val="95000"/>
                              <a:lumOff val="5000"/>
                            </a:schemeClr>
                          </a:solidFill>
                        </a:rPr>
                        <a:t>0x123</a:t>
                      </a:r>
                    </a:p>
                  </a:txBody>
                  <a:tcPr>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tcPr>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500"/>
                                        <p:tgtEl>
                                          <p:spTgt spid="10"/>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12"/>
                                        </p:tgtEl>
                                        <p:attrNameLst>
                                          <p:attrName>style.visibility</p:attrName>
                                        </p:attrNameLst>
                                      </p:cBhvr>
                                      <p:to>
                                        <p:strVal val="visible"/>
                                      </p:to>
                                    </p:set>
                                    <p:anim by="(-#ppt_w*2)" calcmode="lin" valueType="num">
                                      <p:cBhvr rctx="PPT">
                                        <p:cTn id="20" dur="500" autoRev="1" fill="hold">
                                          <p:stCondLst>
                                            <p:cond delay="0"/>
                                          </p:stCondLst>
                                        </p:cTn>
                                        <p:tgtEl>
                                          <p:spTgt spid="12"/>
                                        </p:tgtEl>
                                        <p:attrNameLst>
                                          <p:attrName>ppt_w</p:attrName>
                                        </p:attrNameLst>
                                      </p:cBhvr>
                                    </p:anim>
                                    <p:anim by="(#ppt_w*0.50)" calcmode="lin" valueType="num">
                                      <p:cBhvr>
                                        <p:cTn id="21" dur="500" decel="50000" autoRev="1" fill="hold">
                                          <p:stCondLst>
                                            <p:cond delay="0"/>
                                          </p:stCondLst>
                                        </p:cTn>
                                        <p:tgtEl>
                                          <p:spTgt spid="12"/>
                                        </p:tgtEl>
                                        <p:attrNameLst>
                                          <p:attrName>ppt_x</p:attrName>
                                        </p:attrNameLst>
                                      </p:cBhvr>
                                    </p:anim>
                                    <p:anim from="(-#ppt_h/2)" to="(#ppt_y)" calcmode="lin" valueType="num">
                                      <p:cBhvr>
                                        <p:cTn id="22" dur="1000" fill="hold">
                                          <p:stCondLst>
                                            <p:cond delay="0"/>
                                          </p:stCondLst>
                                        </p:cTn>
                                        <p:tgtEl>
                                          <p:spTgt spid="12"/>
                                        </p:tgtEl>
                                        <p:attrNameLst>
                                          <p:attrName>ppt_y</p:attrName>
                                        </p:attrNameLst>
                                      </p:cBhvr>
                                    </p:anim>
                                    <p:animRot by="21600000">
                                      <p:cBhvr>
                                        <p:cTn id="23" dur="1000" fill="hold">
                                          <p:stCondLst>
                                            <p:cond delay="0"/>
                                          </p:stCondLst>
                                        </p:cTn>
                                        <p:tgtEl>
                                          <p:spTgt spid="12"/>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12"/>
                                        </p:tgtEl>
                                        <p:attrNameLst>
                                          <p:attrName>style.visibility</p:attrName>
                                        </p:attrNameLst>
                                      </p:cBhvr>
                                      <p:to>
                                        <p:strVal val="visible"/>
                                      </p:to>
                                    </p:set>
                                    <p:anim calcmode="lin" valueType="num">
                                      <p:cBhvr>
                                        <p:cTn id="26" dur="10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12"/>
                                        </p:tgtEl>
                                        <p:attrNameLst>
                                          <p:attrName>ppt_y</p:attrName>
                                        </p:attrNameLst>
                                      </p:cBhvr>
                                      <p:tavLst>
                                        <p:tav tm="0">
                                          <p:val>
                                            <p:strVal val="#ppt_y"/>
                                          </p:val>
                                        </p:tav>
                                        <p:tav tm="100000">
                                          <p:val>
                                            <p:strVal val="#ppt_y"/>
                                          </p:val>
                                        </p:tav>
                                      </p:tavLst>
                                    </p:anim>
                                    <p:anim calcmode="lin" valueType="num">
                                      <p:cBhvr>
                                        <p:cTn id="28" dur="10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782339">
                                            <p:txEl>
                                              <p:pRg st="0" end="0"/>
                                            </p:txEl>
                                          </p:spTgt>
                                        </p:tgtEl>
                                        <p:attrNameLst>
                                          <p:attrName>style.visibility</p:attrName>
                                        </p:attrNameLst>
                                      </p:cBhvr>
                                      <p:to>
                                        <p:strVal val="visible"/>
                                      </p:to>
                                    </p:set>
                                    <p:animEffect transition="in" filter="wipe(down)">
                                      <p:cBhvr>
                                        <p:cTn id="35" dur="500"/>
                                        <p:tgtEl>
                                          <p:spTgt spid="782339">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782339">
                                            <p:txEl>
                                              <p:pRg st="1" end="1"/>
                                            </p:txEl>
                                          </p:spTgt>
                                        </p:tgtEl>
                                        <p:attrNameLst>
                                          <p:attrName>style.visibility</p:attrName>
                                        </p:attrNameLst>
                                      </p:cBhvr>
                                      <p:to>
                                        <p:strVal val="visible"/>
                                      </p:to>
                                    </p:set>
                                    <p:animEffect transition="in" filter="wipe(down)">
                                      <p:cBhvr>
                                        <p:cTn id="40" dur="500"/>
                                        <p:tgtEl>
                                          <p:spTgt spid="782339">
                                            <p:txEl>
                                              <p:pRg st="1" end="1"/>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782339">
                                            <p:txEl>
                                              <p:pRg st="2" end="2"/>
                                            </p:txEl>
                                          </p:spTgt>
                                        </p:tgtEl>
                                        <p:attrNameLst>
                                          <p:attrName>style.visibility</p:attrName>
                                        </p:attrNameLst>
                                      </p:cBhvr>
                                      <p:to>
                                        <p:strVal val="visible"/>
                                      </p:to>
                                    </p:set>
                                    <p:animEffect transition="in" filter="wipe(down)">
                                      <p:cBhvr>
                                        <p:cTn id="45" dur="500"/>
                                        <p:tgtEl>
                                          <p:spTgt spid="782339">
                                            <p:txEl>
                                              <p:pRg st="2" end="2"/>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nodeType="clickEffect">
                                  <p:stCondLst>
                                    <p:cond delay="0"/>
                                  </p:stCondLst>
                                  <p:childTnLst>
                                    <p:set>
                                      <p:cBhvr>
                                        <p:cTn id="49" dur="1" fill="hold">
                                          <p:stCondLst>
                                            <p:cond delay="0"/>
                                          </p:stCondLst>
                                        </p:cTn>
                                        <p:tgtEl>
                                          <p:spTgt spid="782339">
                                            <p:txEl>
                                              <p:pRg st="3" end="3"/>
                                            </p:txEl>
                                          </p:spTgt>
                                        </p:tgtEl>
                                        <p:attrNameLst>
                                          <p:attrName>style.visibility</p:attrName>
                                        </p:attrNameLst>
                                      </p:cBhvr>
                                      <p:to>
                                        <p:strVal val="visible"/>
                                      </p:to>
                                    </p:set>
                                    <p:animEffect transition="in" filter="wipe(down)">
                                      <p:cBhvr>
                                        <p:cTn id="50" dur="500"/>
                                        <p:tgtEl>
                                          <p:spTgt spid="782339">
                                            <p:txEl>
                                              <p:pRg st="3" end="3"/>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00" fill="hold"/>
                                        <p:tgtEl>
                                          <p:spTgt spid="19"/>
                                        </p:tgtEl>
                                        <p:attrNameLst>
                                          <p:attrName>ppt_x</p:attrName>
                                        </p:attrNameLst>
                                      </p:cBhvr>
                                      <p:tavLst>
                                        <p:tav tm="0">
                                          <p:val>
                                            <p:strVal val="#ppt_x"/>
                                          </p:val>
                                        </p:tav>
                                        <p:tav tm="100000">
                                          <p:val>
                                            <p:strVal val="#ppt_x"/>
                                          </p:val>
                                        </p:tav>
                                      </p:tavLst>
                                    </p:anim>
                                    <p:anim calcmode="lin" valueType="num">
                                      <p:cBhvr additive="base">
                                        <p:cTn id="60"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wipe(down)">
                                      <p:cBhvr>
                                        <p:cTn id="65" dur="500"/>
                                        <p:tgtEl>
                                          <p:spTgt spid="18"/>
                                        </p:tgtEl>
                                      </p:cBhvr>
                                    </p:animEffect>
                                  </p:childTnLst>
                                </p:cTn>
                              </p:par>
                              <p:par>
                                <p:cTn id="66" presetID="22" presetClass="entr" presetSubtype="4" fill="hold" grpId="0" nodeType="withEffect">
                                  <p:stCondLst>
                                    <p:cond delay="0"/>
                                  </p:stCondLst>
                                  <p:childTnLst>
                                    <p:set>
                                      <p:cBhvr>
                                        <p:cTn id="67" dur="1" fill="hold">
                                          <p:stCondLst>
                                            <p:cond delay="0"/>
                                          </p:stCondLst>
                                        </p:cTn>
                                        <p:tgtEl>
                                          <p:spTgt spid="20"/>
                                        </p:tgtEl>
                                        <p:attrNameLst>
                                          <p:attrName>style.visibility</p:attrName>
                                        </p:attrNameLst>
                                      </p:cBhvr>
                                      <p:to>
                                        <p:strVal val="visible"/>
                                      </p:to>
                                    </p:set>
                                    <p:animEffect transition="in" filter="wipe(down)">
                                      <p:cBhvr>
                                        <p:cTn id="68" dur="500"/>
                                        <p:tgtEl>
                                          <p:spTgt spid="20"/>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21"/>
                                        </p:tgtEl>
                                        <p:attrNameLst>
                                          <p:attrName>style.visibility</p:attrName>
                                        </p:attrNameLst>
                                      </p:cBhvr>
                                      <p:to>
                                        <p:strVal val="visible"/>
                                      </p:to>
                                    </p:set>
                                    <p:anim calcmode="lin" valueType="num">
                                      <p:cBhvr additive="base">
                                        <p:cTn id="73" dur="500" fill="hold"/>
                                        <p:tgtEl>
                                          <p:spTgt spid="21"/>
                                        </p:tgtEl>
                                        <p:attrNameLst>
                                          <p:attrName>ppt_x</p:attrName>
                                        </p:attrNameLst>
                                      </p:cBhvr>
                                      <p:tavLst>
                                        <p:tav tm="0">
                                          <p:val>
                                            <p:strVal val="#ppt_x"/>
                                          </p:val>
                                        </p:tav>
                                        <p:tav tm="100000">
                                          <p:val>
                                            <p:strVal val="#ppt_x"/>
                                          </p:val>
                                        </p:tav>
                                      </p:tavLst>
                                    </p:anim>
                                    <p:anim calcmode="lin" valueType="num">
                                      <p:cBhvr additive="base">
                                        <p:cTn id="74"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782348"/>
                                        </p:tgtEl>
                                        <p:attrNameLst>
                                          <p:attrName>style.visibility</p:attrName>
                                        </p:attrNameLst>
                                      </p:cBhvr>
                                      <p:to>
                                        <p:strVal val="visible"/>
                                      </p:to>
                                    </p:set>
                                    <p:anim calcmode="lin" valueType="num">
                                      <p:cBhvr additive="base">
                                        <p:cTn id="79" dur="500" fill="hold"/>
                                        <p:tgtEl>
                                          <p:spTgt spid="782348"/>
                                        </p:tgtEl>
                                        <p:attrNameLst>
                                          <p:attrName>ppt_x</p:attrName>
                                        </p:attrNameLst>
                                      </p:cBhvr>
                                      <p:tavLst>
                                        <p:tav tm="0">
                                          <p:val>
                                            <p:strVal val="#ppt_x"/>
                                          </p:val>
                                        </p:tav>
                                        <p:tav tm="100000">
                                          <p:val>
                                            <p:strVal val="#ppt_x"/>
                                          </p:val>
                                        </p:tav>
                                      </p:tavLst>
                                    </p:anim>
                                    <p:anim calcmode="lin" valueType="num">
                                      <p:cBhvr additive="base">
                                        <p:cTn id="80" dur="500" fill="hold"/>
                                        <p:tgtEl>
                                          <p:spTgt spid="7823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p:bldP spid="12" grpId="1"/>
      <p:bldP spid="20" grpId="0"/>
      <p:bldP spid="782348" grpId="0" animBg="1"/>
      <p:bldP spid="2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3" name="组合 2"/>
          <p:cNvGrpSpPr/>
          <p:nvPr/>
        </p:nvGrpSpPr>
        <p:grpSpPr>
          <a:xfrm>
            <a:off x="2894839" y="30248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7935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4115276" y="79359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4115639" y="158531"/>
            <a:ext cx="439293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“入栈”（push</a:t>
            </a:r>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q</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 %</a:t>
            </a:r>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rax</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a:t>
            </a:r>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782339" name="Rectangle 3"/>
          <p:cNvSpPr>
            <a:spLocks noGrp="1" noChangeArrowheads="1"/>
          </p:cNvSpPr>
          <p:nvPr/>
        </p:nvSpPr>
        <p:spPr>
          <a:xfrm>
            <a:off x="468313" y="1274763"/>
            <a:ext cx="8229600" cy="521811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r>
              <a:rPr lang="zh-CN" altLang="en-US" sz="2200">
                <a:latin typeface="微软雅黑" panose="020B0503020204020204" charset="-122"/>
                <a:ea typeface="微软雅黑" panose="020B0503020204020204" charset="-122"/>
              </a:rPr>
              <a:t>栈（</a:t>
            </a:r>
            <a:r>
              <a:rPr lang="en-US" altLang="zh-CN" sz="2200">
                <a:latin typeface="微软雅黑" panose="020B0503020204020204" charset="-122"/>
                <a:ea typeface="微软雅黑" panose="020B0503020204020204" charset="-122"/>
              </a:rPr>
              <a:t>Stack</a:t>
            </a:r>
            <a:r>
              <a:rPr lang="zh-CN" altLang="en-US" sz="2200">
                <a:latin typeface="微软雅黑" panose="020B0503020204020204" charset="-122"/>
                <a:ea typeface="微软雅黑" panose="020B0503020204020204" charset="-122"/>
              </a:rPr>
              <a:t>）是一种采用</a:t>
            </a:r>
            <a:r>
              <a:rPr lang="zh-CN" altLang="en-US" sz="2200">
                <a:solidFill>
                  <a:srgbClr val="FF3300"/>
                </a:solidFill>
                <a:latin typeface="微软雅黑" panose="020B0503020204020204" charset="-122"/>
                <a:ea typeface="微软雅黑" panose="020B0503020204020204" charset="-122"/>
              </a:rPr>
              <a:t>“先进后出”</a:t>
            </a:r>
            <a:r>
              <a:rPr lang="zh-CN" altLang="en-US" sz="2200">
                <a:latin typeface="微软雅黑" panose="020B0503020204020204" charset="-122"/>
                <a:ea typeface="微软雅黑" panose="020B0503020204020204" charset="-122"/>
              </a:rPr>
              <a:t>方式进行访问的一块存储区，用于</a:t>
            </a:r>
            <a:r>
              <a:rPr lang="zh-CN" altLang="en-US" sz="2200">
                <a:solidFill>
                  <a:srgbClr val="FF3300"/>
                </a:solidFill>
                <a:latin typeface="微软雅黑" panose="020B0503020204020204" charset="-122"/>
                <a:ea typeface="微软雅黑" panose="020B0503020204020204" charset="-122"/>
              </a:rPr>
              <a:t>嵌套过程调用</a:t>
            </a:r>
            <a:r>
              <a:rPr lang="zh-CN" altLang="en-US" sz="2200">
                <a:latin typeface="微软雅黑" panose="020B0503020204020204" charset="-122"/>
                <a:ea typeface="微软雅黑" panose="020B0503020204020204" charset="-122"/>
              </a:rPr>
              <a:t>。</a:t>
            </a:r>
            <a:r>
              <a:rPr lang="zh-CN" altLang="en-US" sz="2200">
                <a:solidFill>
                  <a:srgbClr val="007635"/>
                </a:solidFill>
                <a:latin typeface="微软雅黑" panose="020B0503020204020204" charset="-122"/>
                <a:ea typeface="微软雅黑" panose="020B0503020204020204" charset="-122"/>
              </a:rPr>
              <a:t>从高地址向低地址增长</a:t>
            </a:r>
          </a:p>
          <a:p>
            <a:r>
              <a:rPr lang="zh-CN" altLang="en-US" sz="2200">
                <a:solidFill>
                  <a:srgbClr val="007635"/>
                </a:solidFill>
                <a:latin typeface="微软雅黑" panose="020B0503020204020204" charset="-122"/>
                <a:ea typeface="微软雅黑" panose="020B0503020204020204" charset="-122"/>
              </a:rPr>
              <a:t>（向下增长），栈顶在底部</a:t>
            </a:r>
            <a:endParaRPr lang="zh-CN" altLang="en-US" sz="2200">
              <a:latin typeface="微软雅黑" panose="020B0503020204020204" charset="-122"/>
              <a:ea typeface="微软雅黑" panose="020B0503020204020204" charset="-122"/>
            </a:endParaRPr>
          </a:p>
          <a:p>
            <a:r>
              <a:rPr lang="zh-CN" altLang="en-US" sz="2200">
                <a:latin typeface="微软雅黑" panose="020B0503020204020204" charset="-122"/>
                <a:ea typeface="微软雅黑" panose="020B0503020204020204" charset="-122"/>
              </a:rPr>
              <a:t>“栈”不等于</a:t>
            </a:r>
            <a:r>
              <a:rPr lang="zh-CN" altLang="en-US" sz="2200">
                <a:solidFill>
                  <a:srgbClr val="FF3300"/>
                </a:solidFill>
                <a:latin typeface="微软雅黑" panose="020B0503020204020204" charset="-122"/>
                <a:ea typeface="微软雅黑" panose="020B0503020204020204" charset="-122"/>
              </a:rPr>
              <a:t>“堆栈”</a:t>
            </a:r>
            <a:r>
              <a:rPr lang="zh-CN" altLang="en-US" sz="2200">
                <a:latin typeface="微软雅黑" panose="020B0503020204020204" charset="-122"/>
                <a:ea typeface="微软雅黑" panose="020B0503020204020204" charset="-122"/>
              </a:rPr>
              <a:t>（由“堆”和“栈”组成）</a:t>
            </a:r>
          </a:p>
          <a:p>
            <a:r>
              <a:rPr lang="zh-CN" altLang="en-US" sz="2200">
                <a:latin typeface="微软雅黑" panose="020B0503020204020204" charset="-122"/>
                <a:ea typeface="微软雅黑" panose="020B0503020204020204" charset="-122"/>
              </a:rPr>
              <a:t>栈是一种数据结构，可以添加或者删除值</a:t>
            </a:r>
          </a:p>
        </p:txBody>
      </p:sp>
      <p:cxnSp>
        <p:nvCxnSpPr>
          <p:cNvPr id="16" name="曲线连接符 15"/>
          <p:cNvCxnSpPr/>
          <p:nvPr/>
        </p:nvCxnSpPr>
        <p:spPr>
          <a:xfrm rot="5400000">
            <a:off x="5979795" y="1374775"/>
            <a:ext cx="3528060" cy="1908810"/>
          </a:xfrm>
          <a:prstGeom prst="curvedConnector3">
            <a:avLst>
              <a:gd name="adj1" fmla="val 50018"/>
            </a:avLst>
          </a:prstGeom>
          <a:ln>
            <a:tailEnd type="arrow"/>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rotWithShape="1">
          <a:blip r:embed="rId2"/>
          <a:srcRect l="68830" t="39363" r="20020" b="39553"/>
          <a:stretch>
            <a:fillRect/>
          </a:stretch>
        </p:blipFill>
        <p:spPr>
          <a:xfrm>
            <a:off x="5928360" y="4034155"/>
            <a:ext cx="3215640" cy="1901190"/>
          </a:xfrm>
          <a:prstGeom prst="ellipse">
            <a:avLst/>
          </a:prstGeom>
        </p:spPr>
      </p:pic>
      <p:cxnSp>
        <p:nvCxnSpPr>
          <p:cNvPr id="19" name="曲线连接符 18"/>
          <p:cNvCxnSpPr/>
          <p:nvPr/>
        </p:nvCxnSpPr>
        <p:spPr>
          <a:xfrm rot="5400000">
            <a:off x="6670675" y="1772920"/>
            <a:ext cx="3469005" cy="105283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363335" y="4611370"/>
            <a:ext cx="2568575" cy="645160"/>
          </a:xfrm>
          <a:prstGeom prst="rect">
            <a:avLst/>
          </a:prstGeom>
          <a:noFill/>
        </p:spPr>
        <p:txBody>
          <a:bodyPr wrap="square" rtlCol="0">
            <a:spAutoFit/>
          </a:bodyPr>
          <a:lstStyle/>
          <a:p>
            <a:r>
              <a:rPr lang="en-US" altLang="zh-CN"/>
              <a:t>subq $8</a:t>
            </a:r>
            <a:r>
              <a:rPr lang="zh-CN" altLang="en-US"/>
              <a:t>，</a:t>
            </a:r>
            <a:r>
              <a:rPr lang="en-US" altLang="zh-CN"/>
              <a:t>%rsp</a:t>
            </a:r>
          </a:p>
          <a:p>
            <a:r>
              <a:rPr lang="en-US" altLang="zh-CN"/>
              <a:t>movq %rbp</a:t>
            </a:r>
            <a:r>
              <a:rPr lang="zh-CN" altLang="en-US"/>
              <a:t>，（</a:t>
            </a:r>
            <a:r>
              <a:rPr lang="en-US" altLang="zh-CN">
                <a:sym typeface="+mn-ea"/>
              </a:rPr>
              <a:t>%rsp</a:t>
            </a:r>
            <a:r>
              <a:rPr lang="zh-CN" altLang="en-US"/>
              <a:t>）</a:t>
            </a:r>
            <a:r>
              <a:rPr lang="en-US" altLang="zh-CN"/>
              <a:t> </a:t>
            </a:r>
            <a:endParaRPr lang="zh-CN" altLang="en-US"/>
          </a:p>
        </p:txBody>
      </p:sp>
      <p:sp>
        <p:nvSpPr>
          <p:cNvPr id="782348" name="Rectangle 12"/>
          <p:cNvSpPr>
            <a:spLocks noChangeArrowheads="1"/>
          </p:cNvSpPr>
          <p:nvPr/>
        </p:nvSpPr>
        <p:spPr bwMode="auto">
          <a:xfrm>
            <a:off x="2514918" y="4611370"/>
            <a:ext cx="2882900" cy="768350"/>
          </a:xfrm>
          <a:prstGeom prst="rect">
            <a:avLst/>
          </a:prstGeom>
          <a:noFill/>
          <a:ln w="9525">
            <a:noFill/>
            <a:miter lim="800000"/>
          </a:ln>
          <a:effectLst/>
        </p:spPr>
        <p:txBody>
          <a:bodyPr anchor="ctr">
            <a:spAutoFit/>
          </a:bodyPr>
          <a:lstStyle/>
          <a:p>
            <a:r>
              <a:rPr lang="en-US" altLang="zh-CN" sz="2200">
                <a:solidFill>
                  <a:schemeClr val="accent1"/>
                </a:solidFill>
                <a:effectLst>
                  <a:outerShdw blurRad="38100" dist="25400" dir="5400000" algn="ctr" rotWithShape="0">
                    <a:srgbClr val="6E747A">
                      <a:alpha val="43000"/>
                    </a:srgbClr>
                  </a:outerShdw>
                </a:effectLst>
              </a:rPr>
              <a:t>R[sp]←R[sp]-8</a:t>
            </a:r>
            <a:r>
              <a:rPr lang="zh-CN" altLang="en-US" sz="2200">
                <a:solidFill>
                  <a:schemeClr val="accent1"/>
                </a:solidFill>
                <a:effectLst>
                  <a:outerShdw blurRad="38100" dist="25400" dir="5400000" algn="ctr" rotWithShape="0">
                    <a:srgbClr val="6E747A">
                      <a:alpha val="43000"/>
                    </a:srgbClr>
                  </a:outerShdw>
                </a:effectLst>
              </a:rPr>
              <a:t>、</a:t>
            </a:r>
            <a:r>
              <a:rPr lang="en-US" altLang="zh-CN" sz="2200">
                <a:solidFill>
                  <a:schemeClr val="accent1"/>
                </a:solidFill>
                <a:effectLst>
                  <a:outerShdw blurRad="38100" dist="25400" dir="5400000" algn="ctr" rotWithShape="0">
                    <a:srgbClr val="6E747A">
                      <a:alpha val="43000"/>
                    </a:srgbClr>
                  </a:outerShdw>
                </a:effectLst>
              </a:rPr>
              <a:t>M[R[sp]]</a:t>
            </a:r>
            <a:r>
              <a:rPr lang="en-US" altLang="zh-CN" sz="2200">
                <a:solidFill>
                  <a:schemeClr val="accent1"/>
                </a:solidFill>
                <a:effectLst>
                  <a:outerShdw blurRad="38100" dist="25400" dir="5400000" algn="ctr" rotWithShape="0">
                    <a:srgbClr val="6E747A">
                      <a:alpha val="43000"/>
                    </a:srgbClr>
                  </a:outerShdw>
                </a:effectLst>
                <a:cs typeface="Times New Roman" panose="02020603050405020304" pitchFamily="18" charset="0"/>
              </a:rPr>
              <a:t>←R[rax]</a:t>
            </a:r>
          </a:p>
        </p:txBody>
      </p:sp>
      <p:sp>
        <p:nvSpPr>
          <p:cNvPr id="21" name="左箭头 20"/>
          <p:cNvSpPr/>
          <p:nvPr/>
        </p:nvSpPr>
        <p:spPr>
          <a:xfrm>
            <a:off x="4639945" y="4843145"/>
            <a:ext cx="1288415" cy="285115"/>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704215" y="4093210"/>
            <a:ext cx="1395730" cy="15919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984885" y="5921375"/>
            <a:ext cx="883285" cy="368300"/>
          </a:xfrm>
          <a:prstGeom prst="rect">
            <a:avLst/>
          </a:prstGeom>
          <a:noFill/>
        </p:spPr>
        <p:txBody>
          <a:bodyPr wrap="square" rtlCol="0">
            <a:spAutoFit/>
          </a:bodyPr>
          <a:lstStyle/>
          <a:p>
            <a:r>
              <a:rPr lang="zh-CN" altLang="en-US"/>
              <a:t>栈顶</a:t>
            </a:r>
            <a:endParaRPr lang="en-US" altLang="zh-CN"/>
          </a:p>
        </p:txBody>
      </p:sp>
      <p:sp>
        <p:nvSpPr>
          <p:cNvPr id="24" name="文本框 23"/>
          <p:cNvSpPr txBox="1"/>
          <p:nvPr/>
        </p:nvSpPr>
        <p:spPr>
          <a:xfrm>
            <a:off x="0" y="5379720"/>
            <a:ext cx="883285" cy="368300"/>
          </a:xfrm>
          <a:prstGeom prst="rect">
            <a:avLst/>
          </a:prstGeom>
          <a:noFill/>
        </p:spPr>
        <p:txBody>
          <a:bodyPr wrap="square" rtlCol="0">
            <a:spAutoFit/>
          </a:bodyPr>
          <a:lstStyle/>
          <a:p>
            <a:r>
              <a:rPr lang="en-US"/>
              <a:t>0x108</a:t>
            </a:r>
          </a:p>
        </p:txBody>
      </p:sp>
      <p:cxnSp>
        <p:nvCxnSpPr>
          <p:cNvPr id="25" name="直接箭头连接符 24"/>
          <p:cNvCxnSpPr/>
          <p:nvPr/>
        </p:nvCxnSpPr>
        <p:spPr>
          <a:xfrm flipV="1">
            <a:off x="335915" y="4316095"/>
            <a:ext cx="0" cy="101409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13" name="矩形 12"/>
          <p:cNvSpPr/>
          <p:nvPr/>
        </p:nvSpPr>
        <p:spPr>
          <a:xfrm>
            <a:off x="704215" y="5685155"/>
            <a:ext cx="1395730" cy="25019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0x123</a:t>
            </a:r>
          </a:p>
        </p:txBody>
      </p:sp>
      <p:sp>
        <p:nvSpPr>
          <p:cNvPr id="14" name="文本框 13"/>
          <p:cNvSpPr txBox="1"/>
          <p:nvPr/>
        </p:nvSpPr>
        <p:spPr>
          <a:xfrm>
            <a:off x="-17145" y="5685155"/>
            <a:ext cx="883285" cy="368300"/>
          </a:xfrm>
          <a:prstGeom prst="rect">
            <a:avLst/>
          </a:prstGeom>
          <a:noFill/>
        </p:spPr>
        <p:txBody>
          <a:bodyPr wrap="square" rtlCol="0">
            <a:spAutoFit/>
          </a:bodyPr>
          <a:lstStyle/>
          <a:p>
            <a:r>
              <a:rPr lang="en-US" altLang="zh-CN"/>
              <a:t>0x100</a:t>
            </a:r>
          </a:p>
        </p:txBody>
      </p:sp>
      <p:graphicFrame>
        <p:nvGraphicFramePr>
          <p:cNvPr id="27" name="表格 26"/>
          <p:cNvGraphicFramePr/>
          <p:nvPr/>
        </p:nvGraphicFramePr>
        <p:xfrm>
          <a:off x="704215" y="3668395"/>
          <a:ext cx="2061210" cy="365760"/>
        </p:xfrm>
        <a:graphic>
          <a:graphicData uri="http://schemas.openxmlformats.org/drawingml/2006/table">
            <a:tbl>
              <a:tblPr firstRow="1" bandRow="1">
                <a:tableStyleId>{5C22544A-7EE6-4342-B048-85BDC9FD1C3A}</a:tableStyleId>
              </a:tblPr>
              <a:tblGrid>
                <a:gridCol w="100965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tblGrid>
              <a:tr h="365760">
                <a:tc>
                  <a:txBody>
                    <a:bodyPr/>
                    <a:lstStyle/>
                    <a:p>
                      <a:pPr>
                        <a:buNone/>
                      </a:pPr>
                      <a:r>
                        <a:rPr lang="en-US" altLang="zh-CN">
                          <a:solidFill>
                            <a:schemeClr val="tx1">
                              <a:lumMod val="95000"/>
                              <a:lumOff val="5000"/>
                            </a:schemeClr>
                          </a:solidFill>
                        </a:rPr>
                        <a:t>%rax</a:t>
                      </a:r>
                    </a:p>
                  </a:txBody>
                  <a:tcPr>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tcPr>
                </a:tc>
                <a:tc>
                  <a:txBody>
                    <a:bodyPr/>
                    <a:lstStyle/>
                    <a:p>
                      <a:pPr>
                        <a:buNone/>
                      </a:pPr>
                      <a:r>
                        <a:rPr lang="en-US" altLang="zh-CN">
                          <a:solidFill>
                            <a:schemeClr val="tx1">
                              <a:lumMod val="95000"/>
                              <a:lumOff val="5000"/>
                            </a:schemeClr>
                          </a:solidFill>
                        </a:rPr>
                        <a:t>0x123</a:t>
                      </a:r>
                    </a:p>
                  </a:txBody>
                  <a:tcPr>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3" name="组合 2"/>
          <p:cNvGrpSpPr/>
          <p:nvPr/>
        </p:nvGrpSpPr>
        <p:grpSpPr>
          <a:xfrm>
            <a:off x="2894839" y="30248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7935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4115276" y="79359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4115639" y="158531"/>
            <a:ext cx="4200525"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“出栈”（p</a:t>
            </a:r>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opq</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 %</a:t>
            </a:r>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rdx</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a:t>
            </a:r>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782339" name="Rectangle 3"/>
          <p:cNvSpPr>
            <a:spLocks noGrp="1" noChangeArrowheads="1"/>
          </p:cNvSpPr>
          <p:nvPr/>
        </p:nvSpPr>
        <p:spPr>
          <a:xfrm>
            <a:off x="468313" y="1274763"/>
            <a:ext cx="8229600" cy="521811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r>
              <a:rPr lang="zh-CN" altLang="en-US" sz="2200">
                <a:latin typeface="微软雅黑" panose="020B0503020204020204" charset="-122"/>
                <a:ea typeface="微软雅黑" panose="020B0503020204020204" charset="-122"/>
              </a:rPr>
              <a:t>栈（</a:t>
            </a:r>
            <a:r>
              <a:rPr lang="en-US" altLang="zh-CN" sz="2200">
                <a:latin typeface="微软雅黑" panose="020B0503020204020204" charset="-122"/>
                <a:ea typeface="微软雅黑" panose="020B0503020204020204" charset="-122"/>
              </a:rPr>
              <a:t>Stack</a:t>
            </a:r>
            <a:r>
              <a:rPr lang="zh-CN" altLang="en-US" sz="2200">
                <a:latin typeface="微软雅黑" panose="020B0503020204020204" charset="-122"/>
                <a:ea typeface="微软雅黑" panose="020B0503020204020204" charset="-122"/>
              </a:rPr>
              <a:t>）是一种采用</a:t>
            </a:r>
            <a:r>
              <a:rPr lang="zh-CN" altLang="en-US" sz="2200">
                <a:solidFill>
                  <a:srgbClr val="FF3300"/>
                </a:solidFill>
                <a:latin typeface="微软雅黑" panose="020B0503020204020204" charset="-122"/>
                <a:ea typeface="微软雅黑" panose="020B0503020204020204" charset="-122"/>
              </a:rPr>
              <a:t>“先进后出”</a:t>
            </a:r>
            <a:r>
              <a:rPr lang="zh-CN" altLang="en-US" sz="2200">
                <a:latin typeface="微软雅黑" panose="020B0503020204020204" charset="-122"/>
                <a:ea typeface="微软雅黑" panose="020B0503020204020204" charset="-122"/>
              </a:rPr>
              <a:t>方式进行访问的一块存储区，用于</a:t>
            </a:r>
            <a:r>
              <a:rPr lang="zh-CN" altLang="en-US" sz="2200">
                <a:solidFill>
                  <a:srgbClr val="FF3300"/>
                </a:solidFill>
                <a:latin typeface="微软雅黑" panose="020B0503020204020204" charset="-122"/>
                <a:ea typeface="微软雅黑" panose="020B0503020204020204" charset="-122"/>
              </a:rPr>
              <a:t>嵌套过程调用</a:t>
            </a:r>
            <a:r>
              <a:rPr lang="zh-CN" altLang="en-US" sz="2200">
                <a:latin typeface="微软雅黑" panose="020B0503020204020204" charset="-122"/>
                <a:ea typeface="微软雅黑" panose="020B0503020204020204" charset="-122"/>
              </a:rPr>
              <a:t>。</a:t>
            </a:r>
            <a:r>
              <a:rPr lang="zh-CN" altLang="en-US" sz="2200">
                <a:solidFill>
                  <a:srgbClr val="007635"/>
                </a:solidFill>
                <a:latin typeface="微软雅黑" panose="020B0503020204020204" charset="-122"/>
                <a:ea typeface="微软雅黑" panose="020B0503020204020204" charset="-122"/>
              </a:rPr>
              <a:t>从高地址向低地址增长</a:t>
            </a:r>
          </a:p>
          <a:p>
            <a:r>
              <a:rPr lang="zh-CN" altLang="en-US" sz="2200">
                <a:solidFill>
                  <a:srgbClr val="007635"/>
                </a:solidFill>
                <a:latin typeface="微软雅黑" panose="020B0503020204020204" charset="-122"/>
                <a:ea typeface="微软雅黑" panose="020B0503020204020204" charset="-122"/>
              </a:rPr>
              <a:t>（向下增长），栈顶在底部</a:t>
            </a:r>
            <a:endParaRPr lang="zh-CN" altLang="en-US" sz="2200">
              <a:latin typeface="微软雅黑" panose="020B0503020204020204" charset="-122"/>
              <a:ea typeface="微软雅黑" panose="020B0503020204020204" charset="-122"/>
            </a:endParaRPr>
          </a:p>
          <a:p>
            <a:r>
              <a:rPr lang="zh-CN" altLang="en-US" sz="2200">
                <a:latin typeface="微软雅黑" panose="020B0503020204020204" charset="-122"/>
                <a:ea typeface="微软雅黑" panose="020B0503020204020204" charset="-122"/>
              </a:rPr>
              <a:t>“栈”不等于</a:t>
            </a:r>
            <a:r>
              <a:rPr lang="zh-CN" altLang="en-US" sz="2200">
                <a:solidFill>
                  <a:srgbClr val="FF3300"/>
                </a:solidFill>
                <a:latin typeface="微软雅黑" panose="020B0503020204020204" charset="-122"/>
                <a:ea typeface="微软雅黑" panose="020B0503020204020204" charset="-122"/>
              </a:rPr>
              <a:t>“堆栈”</a:t>
            </a:r>
            <a:r>
              <a:rPr lang="zh-CN" altLang="en-US" sz="2200">
                <a:latin typeface="微软雅黑" panose="020B0503020204020204" charset="-122"/>
                <a:ea typeface="微软雅黑" panose="020B0503020204020204" charset="-122"/>
              </a:rPr>
              <a:t>（由“堆”和“栈”组成）</a:t>
            </a:r>
          </a:p>
          <a:p>
            <a:r>
              <a:rPr lang="zh-CN" altLang="en-US" sz="2200">
                <a:latin typeface="微软雅黑" panose="020B0503020204020204" charset="-122"/>
                <a:ea typeface="微软雅黑" panose="020B0503020204020204" charset="-122"/>
              </a:rPr>
              <a:t>栈是一种数据结构，可以添加或者删除值</a:t>
            </a:r>
          </a:p>
        </p:txBody>
      </p:sp>
      <p:cxnSp>
        <p:nvCxnSpPr>
          <p:cNvPr id="16" name="曲线连接符 15"/>
          <p:cNvCxnSpPr/>
          <p:nvPr/>
        </p:nvCxnSpPr>
        <p:spPr>
          <a:xfrm rot="5400000">
            <a:off x="5979795" y="1374775"/>
            <a:ext cx="3528060" cy="1908810"/>
          </a:xfrm>
          <a:prstGeom prst="curvedConnector3">
            <a:avLst>
              <a:gd name="adj1" fmla="val 50018"/>
            </a:avLst>
          </a:prstGeom>
          <a:ln>
            <a:tailEnd type="arrow"/>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rotWithShape="1">
          <a:blip r:embed="rId2"/>
          <a:srcRect l="68830" t="39363" r="20020" b="39553"/>
          <a:stretch>
            <a:fillRect/>
          </a:stretch>
        </p:blipFill>
        <p:spPr>
          <a:xfrm>
            <a:off x="5928360" y="4034155"/>
            <a:ext cx="3215640" cy="1901190"/>
          </a:xfrm>
          <a:prstGeom prst="ellipse">
            <a:avLst/>
          </a:prstGeom>
        </p:spPr>
      </p:pic>
      <p:cxnSp>
        <p:nvCxnSpPr>
          <p:cNvPr id="19" name="曲线连接符 18"/>
          <p:cNvCxnSpPr/>
          <p:nvPr/>
        </p:nvCxnSpPr>
        <p:spPr>
          <a:xfrm rot="5400000">
            <a:off x="6670675" y="1772920"/>
            <a:ext cx="3469005" cy="105283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299835" y="4636770"/>
            <a:ext cx="2568575" cy="922020"/>
          </a:xfrm>
          <a:prstGeom prst="rect">
            <a:avLst/>
          </a:prstGeom>
          <a:noFill/>
        </p:spPr>
        <p:txBody>
          <a:bodyPr wrap="square" rtlCol="0">
            <a:spAutoFit/>
          </a:bodyPr>
          <a:lstStyle/>
          <a:p>
            <a:r>
              <a:rPr lang="en-US" altLang="zh-CN" dirty="0" err="1">
                <a:sym typeface="+mn-ea"/>
              </a:rPr>
              <a:t>movq</a:t>
            </a:r>
            <a:r>
              <a:rPr lang="en-US" altLang="zh-CN" dirty="0">
                <a:sym typeface="+mn-ea"/>
              </a:rPr>
              <a:t> </a:t>
            </a:r>
            <a:r>
              <a:rPr lang="zh-CN" altLang="en-US" dirty="0">
                <a:sym typeface="+mn-ea"/>
              </a:rPr>
              <a:t>（</a:t>
            </a:r>
            <a:r>
              <a:rPr lang="en-US" altLang="zh-CN" dirty="0">
                <a:sym typeface="+mn-ea"/>
              </a:rPr>
              <a:t>%</a:t>
            </a:r>
            <a:r>
              <a:rPr lang="en-US" altLang="zh-CN" dirty="0" err="1">
                <a:sym typeface="+mn-ea"/>
              </a:rPr>
              <a:t>rsp</a:t>
            </a:r>
            <a:r>
              <a:rPr lang="zh-CN" altLang="en-US" dirty="0">
                <a:sym typeface="+mn-ea"/>
              </a:rPr>
              <a:t>），</a:t>
            </a:r>
            <a:r>
              <a:rPr lang="en-US" altLang="zh-CN" dirty="0">
                <a:sym typeface="+mn-ea"/>
              </a:rPr>
              <a:t>%</a:t>
            </a:r>
            <a:r>
              <a:rPr lang="en-US" altLang="zh-CN" dirty="0" err="1">
                <a:sym typeface="+mn-ea"/>
              </a:rPr>
              <a:t>rdx</a:t>
            </a:r>
            <a:endParaRPr lang="en-US" altLang="zh-CN" dirty="0"/>
          </a:p>
          <a:p>
            <a:r>
              <a:rPr lang="en-US" altLang="zh-CN" dirty="0" err="1"/>
              <a:t>addq</a:t>
            </a:r>
            <a:r>
              <a:rPr lang="en-US" altLang="zh-CN" dirty="0"/>
              <a:t> $8</a:t>
            </a:r>
            <a:r>
              <a:rPr lang="zh-CN" altLang="en-US" dirty="0"/>
              <a:t>，</a:t>
            </a:r>
            <a:r>
              <a:rPr lang="en-US" altLang="zh-CN" dirty="0"/>
              <a:t>%</a:t>
            </a:r>
            <a:r>
              <a:rPr lang="en-US" altLang="zh-CN" dirty="0" err="1"/>
              <a:t>rsp</a:t>
            </a:r>
            <a:endParaRPr lang="en-US" altLang="zh-CN" dirty="0"/>
          </a:p>
          <a:p>
            <a:r>
              <a:rPr lang="en-US" altLang="zh-CN" dirty="0"/>
              <a:t> </a:t>
            </a:r>
            <a:endParaRPr lang="zh-CN" altLang="en-US" dirty="0"/>
          </a:p>
        </p:txBody>
      </p:sp>
      <p:sp>
        <p:nvSpPr>
          <p:cNvPr id="782348" name="Rectangle 12"/>
          <p:cNvSpPr>
            <a:spLocks noChangeArrowheads="1"/>
          </p:cNvSpPr>
          <p:nvPr/>
        </p:nvSpPr>
        <p:spPr bwMode="auto">
          <a:xfrm>
            <a:off x="2464118" y="4611370"/>
            <a:ext cx="2882900" cy="768350"/>
          </a:xfrm>
          <a:prstGeom prst="rect">
            <a:avLst/>
          </a:prstGeom>
          <a:noFill/>
          <a:ln w="9525">
            <a:noFill/>
            <a:miter lim="800000"/>
          </a:ln>
          <a:effectLst/>
        </p:spPr>
        <p:txBody>
          <a:bodyPr anchor="ctr">
            <a:spAutoFit/>
          </a:bodyPr>
          <a:lstStyle/>
          <a:p>
            <a:r>
              <a:rPr lang="en-US" altLang="zh-CN" sz="2200">
                <a:solidFill>
                  <a:schemeClr val="accent1"/>
                </a:solidFill>
                <a:effectLst>
                  <a:outerShdw blurRad="38100" dist="25400" dir="5400000" algn="ctr" rotWithShape="0">
                    <a:srgbClr val="6E747A">
                      <a:alpha val="43000"/>
                    </a:srgbClr>
                  </a:outerShdw>
                </a:effectLst>
                <a:cs typeface="Times New Roman" panose="02020603050405020304" pitchFamily="18" charset="0"/>
                <a:sym typeface="+mn-ea"/>
              </a:rPr>
              <a:t>R[rdx]←M[R[rsp]]</a:t>
            </a:r>
            <a:r>
              <a:rPr lang="zh-CN" altLang="en-US" sz="2200">
                <a:solidFill>
                  <a:schemeClr val="accent1"/>
                </a:solidFill>
                <a:effectLst>
                  <a:outerShdw blurRad="38100" dist="25400" dir="5400000" algn="ctr" rotWithShape="0">
                    <a:srgbClr val="6E747A">
                      <a:alpha val="43000"/>
                    </a:srgbClr>
                  </a:outerShdw>
                </a:effectLst>
                <a:cs typeface="Times New Roman" panose="02020603050405020304" pitchFamily="18" charset="0"/>
                <a:sym typeface="+mn-ea"/>
              </a:rPr>
              <a:t>、</a:t>
            </a:r>
            <a:r>
              <a:rPr lang="en-US" altLang="zh-CN" sz="2200">
                <a:solidFill>
                  <a:schemeClr val="accent1"/>
                </a:solidFill>
                <a:effectLst>
                  <a:outerShdw blurRad="38100" dist="25400" dir="5400000" algn="ctr" rotWithShape="0">
                    <a:srgbClr val="6E747A">
                      <a:alpha val="43000"/>
                    </a:srgbClr>
                  </a:outerShdw>
                </a:effectLst>
                <a:cs typeface="Times New Roman" panose="02020603050405020304" pitchFamily="18" charset="0"/>
                <a:sym typeface="+mn-ea"/>
              </a:rPr>
              <a:t>[rsp]←R[rsp]+8</a:t>
            </a:r>
          </a:p>
        </p:txBody>
      </p:sp>
      <p:sp>
        <p:nvSpPr>
          <p:cNvPr id="21" name="左箭头 20"/>
          <p:cNvSpPr/>
          <p:nvPr/>
        </p:nvSpPr>
        <p:spPr>
          <a:xfrm>
            <a:off x="4639945" y="4843145"/>
            <a:ext cx="1288415" cy="285115"/>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表格 26"/>
          <p:cNvGraphicFramePr/>
          <p:nvPr/>
        </p:nvGraphicFramePr>
        <p:xfrm>
          <a:off x="704215" y="3668395"/>
          <a:ext cx="2061210" cy="365760"/>
        </p:xfrm>
        <a:graphic>
          <a:graphicData uri="http://schemas.openxmlformats.org/drawingml/2006/table">
            <a:tbl>
              <a:tblPr firstRow="1" bandRow="1">
                <a:tableStyleId>{5C22544A-7EE6-4342-B048-85BDC9FD1C3A}</a:tableStyleId>
              </a:tblPr>
              <a:tblGrid>
                <a:gridCol w="100965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tblGrid>
              <a:tr h="365760">
                <a:tc>
                  <a:txBody>
                    <a:bodyPr/>
                    <a:lstStyle/>
                    <a:p>
                      <a:pPr>
                        <a:buNone/>
                      </a:pPr>
                      <a:r>
                        <a:rPr lang="en-US" altLang="zh-CN">
                          <a:solidFill>
                            <a:schemeClr val="tx1">
                              <a:lumMod val="95000"/>
                              <a:lumOff val="5000"/>
                            </a:schemeClr>
                          </a:solidFill>
                        </a:rPr>
                        <a:t>%rdx</a:t>
                      </a:r>
                    </a:p>
                  </a:txBody>
                  <a:tcPr>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tcPr>
                </a:tc>
                <a:tc>
                  <a:txBody>
                    <a:bodyPr/>
                    <a:lstStyle/>
                    <a:p>
                      <a:pPr>
                        <a:buNone/>
                      </a:pPr>
                      <a:endParaRPr lang="en-US" altLang="zh-CN">
                        <a:solidFill>
                          <a:schemeClr val="tx1">
                            <a:lumMod val="95000"/>
                            <a:lumOff val="5000"/>
                          </a:schemeClr>
                        </a:solidFill>
                      </a:endParaRPr>
                    </a:p>
                  </a:txBody>
                  <a:tcPr>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tcPr>
                </a:tc>
                <a:extLst>
                  <a:ext uri="{0D108BD9-81ED-4DB2-BD59-A6C34878D82A}">
                    <a16:rowId xmlns:a16="http://schemas.microsoft.com/office/drawing/2014/main" val="10000"/>
                  </a:ext>
                </a:extLst>
              </a:tr>
            </a:tbl>
          </a:graphicData>
        </a:graphic>
      </p:graphicFrame>
      <p:sp>
        <p:nvSpPr>
          <p:cNvPr id="13" name="矩形 12"/>
          <p:cNvSpPr/>
          <p:nvPr/>
        </p:nvSpPr>
        <p:spPr>
          <a:xfrm>
            <a:off x="704215" y="4093210"/>
            <a:ext cx="1395730" cy="15919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984885" y="5921375"/>
            <a:ext cx="883285" cy="368300"/>
          </a:xfrm>
          <a:prstGeom prst="rect">
            <a:avLst/>
          </a:prstGeom>
          <a:noFill/>
        </p:spPr>
        <p:txBody>
          <a:bodyPr wrap="square" rtlCol="0">
            <a:spAutoFit/>
          </a:bodyPr>
          <a:lstStyle/>
          <a:p>
            <a:r>
              <a:rPr lang="zh-CN" altLang="en-US"/>
              <a:t>栈顶</a:t>
            </a:r>
            <a:endParaRPr lang="en-US" altLang="zh-CN"/>
          </a:p>
        </p:txBody>
      </p:sp>
      <p:sp>
        <p:nvSpPr>
          <p:cNvPr id="15" name="文本框 14"/>
          <p:cNvSpPr txBox="1"/>
          <p:nvPr/>
        </p:nvSpPr>
        <p:spPr>
          <a:xfrm>
            <a:off x="0" y="5379720"/>
            <a:ext cx="883285" cy="368300"/>
          </a:xfrm>
          <a:prstGeom prst="rect">
            <a:avLst/>
          </a:prstGeom>
          <a:noFill/>
        </p:spPr>
        <p:txBody>
          <a:bodyPr wrap="square" rtlCol="0">
            <a:spAutoFit/>
          </a:bodyPr>
          <a:lstStyle/>
          <a:p>
            <a:r>
              <a:rPr lang="en-US"/>
              <a:t>0x108</a:t>
            </a:r>
          </a:p>
        </p:txBody>
      </p:sp>
      <p:cxnSp>
        <p:nvCxnSpPr>
          <p:cNvPr id="26" name="直接箭头连接符 25"/>
          <p:cNvCxnSpPr/>
          <p:nvPr/>
        </p:nvCxnSpPr>
        <p:spPr>
          <a:xfrm flipV="1">
            <a:off x="335915" y="4316095"/>
            <a:ext cx="0" cy="101409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8" name="矩形 27"/>
          <p:cNvSpPr/>
          <p:nvPr/>
        </p:nvSpPr>
        <p:spPr>
          <a:xfrm>
            <a:off x="704215" y="5685155"/>
            <a:ext cx="1395730" cy="25019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0x123</a:t>
            </a:r>
          </a:p>
        </p:txBody>
      </p:sp>
      <p:sp>
        <p:nvSpPr>
          <p:cNvPr id="29" name="文本框 28"/>
          <p:cNvSpPr txBox="1"/>
          <p:nvPr/>
        </p:nvSpPr>
        <p:spPr>
          <a:xfrm>
            <a:off x="-17145" y="5685155"/>
            <a:ext cx="883285" cy="368300"/>
          </a:xfrm>
          <a:prstGeom prst="rect">
            <a:avLst/>
          </a:prstGeom>
          <a:noFill/>
        </p:spPr>
        <p:txBody>
          <a:bodyPr wrap="square" rtlCol="0">
            <a:spAutoFit/>
          </a:bodyPr>
          <a:lstStyle/>
          <a:p>
            <a:r>
              <a:rPr lang="en-US" altLang="zh-CN"/>
              <a:t>0x100</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3" name="组合 2"/>
          <p:cNvGrpSpPr/>
          <p:nvPr/>
        </p:nvGrpSpPr>
        <p:grpSpPr>
          <a:xfrm>
            <a:off x="2894839" y="30248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7935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4115276" y="79359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4115639" y="158531"/>
            <a:ext cx="4200525"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“出栈”（p</a:t>
            </a:r>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opq</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 %</a:t>
            </a:r>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rdx</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a:t>
            </a:r>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782339" name="Rectangle 3"/>
          <p:cNvSpPr>
            <a:spLocks noGrp="1" noChangeArrowheads="1"/>
          </p:cNvSpPr>
          <p:nvPr/>
        </p:nvSpPr>
        <p:spPr>
          <a:xfrm>
            <a:off x="468313" y="1274763"/>
            <a:ext cx="8229600" cy="521811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lnSpc>
                <a:spcPct val="115000"/>
              </a:lnSpc>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lnSpc>
                <a:spcPct val="115000"/>
              </a:lnSpc>
              <a:spcBef>
                <a:spcPct val="20000"/>
              </a:spcBef>
              <a:spcAft>
                <a:spcPct val="0"/>
              </a:spcAft>
              <a:buChar char="–"/>
              <a:defRPr sz="2000" b="1">
                <a:solidFill>
                  <a:srgbClr val="0000CC"/>
                </a:solidFill>
                <a:latin typeface="+mn-lt"/>
                <a:ea typeface="+mn-ea"/>
              </a:defRPr>
            </a:lvl2pPr>
            <a:lvl3pPr marL="1143000" indent="-228600" algn="l" rtl="0" eaLnBrk="0" fontAlgn="base" hangingPunct="0">
              <a:lnSpc>
                <a:spcPct val="115000"/>
              </a:lnSpc>
              <a:spcBef>
                <a:spcPct val="20000"/>
              </a:spcBef>
              <a:spcAft>
                <a:spcPct val="0"/>
              </a:spcAft>
              <a:buChar char="•"/>
              <a:defRPr sz="2400" b="1">
                <a:solidFill>
                  <a:srgbClr val="006600"/>
                </a:solidFill>
                <a:latin typeface="+mn-lt"/>
                <a:ea typeface="+mn-ea"/>
              </a:defRPr>
            </a:lvl3pPr>
            <a:lvl4pPr marL="1600200" indent="-228600" algn="l" rtl="0" eaLnBrk="0" fontAlgn="base" hangingPunct="0">
              <a:lnSpc>
                <a:spcPct val="115000"/>
              </a:lnSpc>
              <a:spcBef>
                <a:spcPct val="20000"/>
              </a:spcBef>
              <a:spcAft>
                <a:spcPct val="0"/>
              </a:spcAft>
              <a:buChar char="–"/>
              <a:defRPr sz="1600" b="1">
                <a:solidFill>
                  <a:srgbClr val="CC3300"/>
                </a:solidFill>
                <a:latin typeface="+mn-lt"/>
                <a:ea typeface="+mn-ea"/>
              </a:defRPr>
            </a:lvl4pPr>
            <a:lvl5pPr marL="2057400" indent="-228600" algn="l" rtl="0" eaLnBrk="0" fontAlgn="base" hangingPunct="0">
              <a:lnSpc>
                <a:spcPct val="115000"/>
              </a:lnSpc>
              <a:spcBef>
                <a:spcPct val="20000"/>
              </a:spcBef>
              <a:spcAft>
                <a:spcPct val="0"/>
              </a:spcAft>
              <a:buChar char="»"/>
              <a:defRPr sz="1500" b="1">
                <a:solidFill>
                  <a:srgbClr val="996600"/>
                </a:solidFill>
                <a:latin typeface="+mn-lt"/>
                <a:ea typeface="+mn-ea"/>
              </a:defRPr>
            </a:lvl5pPr>
            <a:lvl6pPr marL="2514600" indent="-228600" algn="l" rtl="0" fontAlgn="base">
              <a:lnSpc>
                <a:spcPct val="115000"/>
              </a:lnSpc>
              <a:spcBef>
                <a:spcPct val="20000"/>
              </a:spcBef>
              <a:spcAft>
                <a:spcPct val="0"/>
              </a:spcAft>
              <a:buChar char="»"/>
              <a:defRPr sz="1500" b="1">
                <a:solidFill>
                  <a:srgbClr val="996600"/>
                </a:solidFill>
                <a:latin typeface="+mn-lt"/>
                <a:ea typeface="+mn-ea"/>
              </a:defRPr>
            </a:lvl6pPr>
            <a:lvl7pPr marL="2971800" indent="-228600" algn="l" rtl="0" fontAlgn="base">
              <a:lnSpc>
                <a:spcPct val="115000"/>
              </a:lnSpc>
              <a:spcBef>
                <a:spcPct val="20000"/>
              </a:spcBef>
              <a:spcAft>
                <a:spcPct val="0"/>
              </a:spcAft>
              <a:buChar char="»"/>
              <a:defRPr sz="1500" b="1">
                <a:solidFill>
                  <a:srgbClr val="996600"/>
                </a:solidFill>
                <a:latin typeface="+mn-lt"/>
                <a:ea typeface="+mn-ea"/>
              </a:defRPr>
            </a:lvl7pPr>
            <a:lvl8pPr marL="3429000" indent="-228600" algn="l" rtl="0" fontAlgn="base">
              <a:lnSpc>
                <a:spcPct val="115000"/>
              </a:lnSpc>
              <a:spcBef>
                <a:spcPct val="20000"/>
              </a:spcBef>
              <a:spcAft>
                <a:spcPct val="0"/>
              </a:spcAft>
              <a:buChar char="»"/>
              <a:defRPr sz="1500" b="1">
                <a:solidFill>
                  <a:srgbClr val="996600"/>
                </a:solidFill>
                <a:latin typeface="+mn-lt"/>
                <a:ea typeface="+mn-ea"/>
              </a:defRPr>
            </a:lvl8pPr>
            <a:lvl9pPr marL="3886200" indent="-228600" algn="l" rtl="0" fontAlgn="base">
              <a:lnSpc>
                <a:spcPct val="115000"/>
              </a:lnSpc>
              <a:spcBef>
                <a:spcPct val="20000"/>
              </a:spcBef>
              <a:spcAft>
                <a:spcPct val="0"/>
              </a:spcAft>
              <a:buChar char="»"/>
              <a:defRPr sz="1500" b="1">
                <a:solidFill>
                  <a:srgbClr val="996600"/>
                </a:solidFill>
                <a:latin typeface="+mn-lt"/>
                <a:ea typeface="+mn-ea"/>
              </a:defRPr>
            </a:lvl9pPr>
          </a:lstStyle>
          <a:p>
            <a:r>
              <a:rPr lang="zh-CN" altLang="en-US" sz="2200" dirty="0">
                <a:latin typeface="微软雅黑" panose="020B0503020204020204" charset="-122"/>
                <a:ea typeface="微软雅黑" panose="020B0503020204020204" charset="-122"/>
              </a:rPr>
              <a:t>栈（</a:t>
            </a:r>
            <a:r>
              <a:rPr lang="en-US" altLang="zh-CN" sz="2200" dirty="0">
                <a:latin typeface="微软雅黑" panose="020B0503020204020204" charset="-122"/>
                <a:ea typeface="微软雅黑" panose="020B0503020204020204" charset="-122"/>
              </a:rPr>
              <a:t>Stack</a:t>
            </a:r>
            <a:r>
              <a:rPr lang="zh-CN" altLang="en-US" sz="2200" dirty="0">
                <a:latin typeface="微软雅黑" panose="020B0503020204020204" charset="-122"/>
                <a:ea typeface="微软雅黑" panose="020B0503020204020204" charset="-122"/>
              </a:rPr>
              <a:t>）是一种采用</a:t>
            </a:r>
            <a:r>
              <a:rPr lang="zh-CN" altLang="en-US" sz="2200" dirty="0">
                <a:solidFill>
                  <a:srgbClr val="FF3300"/>
                </a:solidFill>
                <a:latin typeface="微软雅黑" panose="020B0503020204020204" charset="-122"/>
                <a:ea typeface="微软雅黑" panose="020B0503020204020204" charset="-122"/>
              </a:rPr>
              <a:t>“先进后出”</a:t>
            </a:r>
            <a:r>
              <a:rPr lang="zh-CN" altLang="en-US" sz="2200" dirty="0">
                <a:latin typeface="微软雅黑" panose="020B0503020204020204" charset="-122"/>
                <a:ea typeface="微软雅黑" panose="020B0503020204020204" charset="-122"/>
              </a:rPr>
              <a:t>方式进行访问的一块存储区，用于</a:t>
            </a:r>
            <a:r>
              <a:rPr lang="zh-CN" altLang="en-US" sz="2200" dirty="0">
                <a:solidFill>
                  <a:srgbClr val="FF3300"/>
                </a:solidFill>
                <a:latin typeface="微软雅黑" panose="020B0503020204020204" charset="-122"/>
                <a:ea typeface="微软雅黑" panose="020B0503020204020204" charset="-122"/>
              </a:rPr>
              <a:t>嵌套过程调用</a:t>
            </a:r>
            <a:r>
              <a:rPr lang="zh-CN" altLang="en-US" sz="2200" dirty="0">
                <a:latin typeface="微软雅黑" panose="020B0503020204020204" charset="-122"/>
                <a:ea typeface="微软雅黑" panose="020B0503020204020204" charset="-122"/>
              </a:rPr>
              <a:t>。</a:t>
            </a:r>
            <a:r>
              <a:rPr lang="zh-CN" altLang="en-US" sz="2200" dirty="0">
                <a:solidFill>
                  <a:srgbClr val="007635"/>
                </a:solidFill>
                <a:latin typeface="微软雅黑" panose="020B0503020204020204" charset="-122"/>
                <a:ea typeface="微软雅黑" panose="020B0503020204020204" charset="-122"/>
              </a:rPr>
              <a:t>从高地址向低地址增长</a:t>
            </a:r>
          </a:p>
          <a:p>
            <a:r>
              <a:rPr lang="zh-CN" altLang="en-US" sz="2200" dirty="0">
                <a:solidFill>
                  <a:srgbClr val="007635"/>
                </a:solidFill>
                <a:latin typeface="微软雅黑" panose="020B0503020204020204" charset="-122"/>
                <a:ea typeface="微软雅黑" panose="020B0503020204020204" charset="-122"/>
              </a:rPr>
              <a:t>（向下增长），栈顶在底部</a:t>
            </a:r>
            <a:endParaRPr lang="zh-CN" altLang="en-US" sz="2200" dirty="0">
              <a:latin typeface="微软雅黑" panose="020B0503020204020204" charset="-122"/>
              <a:ea typeface="微软雅黑" panose="020B0503020204020204" charset="-122"/>
            </a:endParaRPr>
          </a:p>
          <a:p>
            <a:r>
              <a:rPr lang="zh-CN" altLang="en-US" sz="2200" dirty="0">
                <a:latin typeface="微软雅黑" panose="020B0503020204020204" charset="-122"/>
                <a:ea typeface="微软雅黑" panose="020B0503020204020204" charset="-122"/>
              </a:rPr>
              <a:t>“栈”不等于</a:t>
            </a:r>
            <a:r>
              <a:rPr lang="zh-CN" altLang="en-US" sz="2200" dirty="0">
                <a:solidFill>
                  <a:srgbClr val="FF3300"/>
                </a:solidFill>
                <a:latin typeface="微软雅黑" panose="020B0503020204020204" charset="-122"/>
                <a:ea typeface="微软雅黑" panose="020B0503020204020204" charset="-122"/>
              </a:rPr>
              <a:t>“堆栈”</a:t>
            </a:r>
            <a:r>
              <a:rPr lang="zh-CN" altLang="en-US" sz="2200" dirty="0">
                <a:latin typeface="微软雅黑" panose="020B0503020204020204" charset="-122"/>
                <a:ea typeface="微软雅黑" panose="020B0503020204020204" charset="-122"/>
              </a:rPr>
              <a:t>（由“堆”和“栈”组成）</a:t>
            </a:r>
          </a:p>
          <a:p>
            <a:r>
              <a:rPr lang="zh-CN" altLang="en-US" sz="2200" dirty="0">
                <a:latin typeface="微软雅黑" panose="020B0503020204020204" charset="-122"/>
                <a:ea typeface="微软雅黑" panose="020B0503020204020204" charset="-122"/>
              </a:rPr>
              <a:t>栈是一种数据结构，可以添加</a:t>
            </a:r>
            <a:r>
              <a:rPr lang="zh-CN" altLang="en-US" sz="2200">
                <a:latin typeface="微软雅黑" panose="020B0503020204020204" charset="-122"/>
                <a:ea typeface="微软雅黑" panose="020B0503020204020204" charset="-122"/>
              </a:rPr>
              <a:t>或者删除值</a:t>
            </a:r>
            <a:endParaRPr lang="zh-CN" altLang="en-US" sz="2200" dirty="0">
              <a:latin typeface="微软雅黑" panose="020B0503020204020204" charset="-122"/>
              <a:ea typeface="微软雅黑" panose="020B0503020204020204" charset="-122"/>
            </a:endParaRPr>
          </a:p>
        </p:txBody>
      </p:sp>
      <p:cxnSp>
        <p:nvCxnSpPr>
          <p:cNvPr id="16" name="曲线连接符 15"/>
          <p:cNvCxnSpPr/>
          <p:nvPr/>
        </p:nvCxnSpPr>
        <p:spPr>
          <a:xfrm rot="5400000">
            <a:off x="5979795" y="1374775"/>
            <a:ext cx="3528060" cy="1908810"/>
          </a:xfrm>
          <a:prstGeom prst="curvedConnector3">
            <a:avLst>
              <a:gd name="adj1" fmla="val 50018"/>
            </a:avLst>
          </a:prstGeom>
          <a:ln>
            <a:tailEnd type="arrow"/>
          </a:ln>
        </p:spPr>
        <p:style>
          <a:lnRef idx="1">
            <a:schemeClr val="accent1"/>
          </a:lnRef>
          <a:fillRef idx="0">
            <a:schemeClr val="accent1"/>
          </a:fillRef>
          <a:effectRef idx="0">
            <a:schemeClr val="accent1"/>
          </a:effectRef>
          <a:fontRef idx="minor">
            <a:schemeClr val="tx1"/>
          </a:fontRef>
        </p:style>
      </p:cxnSp>
      <p:pic>
        <p:nvPicPr>
          <p:cNvPr id="18" name="图片 17"/>
          <p:cNvPicPr>
            <a:picLocks noChangeAspect="1"/>
          </p:cNvPicPr>
          <p:nvPr/>
        </p:nvPicPr>
        <p:blipFill rotWithShape="1">
          <a:blip r:embed="rId2"/>
          <a:srcRect l="68830" t="39363" r="20020" b="39553"/>
          <a:stretch>
            <a:fillRect/>
          </a:stretch>
        </p:blipFill>
        <p:spPr>
          <a:xfrm>
            <a:off x="5928360" y="4034155"/>
            <a:ext cx="3215640" cy="1901190"/>
          </a:xfrm>
          <a:prstGeom prst="ellipse">
            <a:avLst/>
          </a:prstGeom>
        </p:spPr>
      </p:pic>
      <p:cxnSp>
        <p:nvCxnSpPr>
          <p:cNvPr id="19" name="曲线连接符 18"/>
          <p:cNvCxnSpPr/>
          <p:nvPr/>
        </p:nvCxnSpPr>
        <p:spPr>
          <a:xfrm rot="5400000">
            <a:off x="6670675" y="1772920"/>
            <a:ext cx="3469005" cy="105283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299835" y="4636770"/>
            <a:ext cx="2568575" cy="922020"/>
          </a:xfrm>
          <a:prstGeom prst="rect">
            <a:avLst/>
          </a:prstGeom>
          <a:noFill/>
        </p:spPr>
        <p:txBody>
          <a:bodyPr wrap="square" rtlCol="0">
            <a:spAutoFit/>
          </a:bodyPr>
          <a:lstStyle/>
          <a:p>
            <a:r>
              <a:rPr lang="en-US" altLang="zh-CN" dirty="0" err="1">
                <a:sym typeface="+mn-ea"/>
              </a:rPr>
              <a:t>movq</a:t>
            </a:r>
            <a:r>
              <a:rPr lang="en-US" altLang="zh-CN" dirty="0">
                <a:sym typeface="+mn-ea"/>
              </a:rPr>
              <a:t> </a:t>
            </a:r>
            <a:r>
              <a:rPr lang="zh-CN" altLang="en-US" dirty="0">
                <a:sym typeface="+mn-ea"/>
              </a:rPr>
              <a:t>（</a:t>
            </a:r>
            <a:r>
              <a:rPr lang="en-US" altLang="zh-CN" dirty="0">
                <a:sym typeface="+mn-ea"/>
              </a:rPr>
              <a:t>%</a:t>
            </a:r>
            <a:r>
              <a:rPr lang="en-US" altLang="zh-CN" dirty="0" err="1">
                <a:sym typeface="+mn-ea"/>
              </a:rPr>
              <a:t>rsp</a:t>
            </a:r>
            <a:r>
              <a:rPr lang="zh-CN" altLang="en-US" dirty="0">
                <a:sym typeface="+mn-ea"/>
              </a:rPr>
              <a:t>），</a:t>
            </a:r>
            <a:r>
              <a:rPr lang="en-US" altLang="zh-CN" dirty="0">
                <a:sym typeface="+mn-ea"/>
              </a:rPr>
              <a:t>%</a:t>
            </a:r>
            <a:r>
              <a:rPr lang="en-US" altLang="zh-CN" dirty="0" err="1">
                <a:sym typeface="+mn-ea"/>
              </a:rPr>
              <a:t>rdx</a:t>
            </a:r>
            <a:endParaRPr lang="en-US" altLang="zh-CN" dirty="0"/>
          </a:p>
          <a:p>
            <a:r>
              <a:rPr lang="en-US" altLang="zh-CN" dirty="0" err="1"/>
              <a:t>addq</a:t>
            </a:r>
            <a:r>
              <a:rPr lang="en-US" altLang="zh-CN" dirty="0"/>
              <a:t> $8</a:t>
            </a:r>
            <a:r>
              <a:rPr lang="zh-CN" altLang="en-US" dirty="0"/>
              <a:t>，</a:t>
            </a:r>
            <a:r>
              <a:rPr lang="en-US" altLang="zh-CN" dirty="0"/>
              <a:t>%</a:t>
            </a:r>
            <a:r>
              <a:rPr lang="en-US" altLang="zh-CN" dirty="0" err="1"/>
              <a:t>rsp</a:t>
            </a:r>
            <a:endParaRPr lang="en-US" altLang="zh-CN" dirty="0"/>
          </a:p>
          <a:p>
            <a:r>
              <a:rPr lang="en-US" altLang="zh-CN" dirty="0"/>
              <a:t> </a:t>
            </a:r>
            <a:endParaRPr lang="zh-CN" altLang="en-US" dirty="0"/>
          </a:p>
        </p:txBody>
      </p:sp>
      <p:sp>
        <p:nvSpPr>
          <p:cNvPr id="782348" name="Rectangle 12"/>
          <p:cNvSpPr>
            <a:spLocks noChangeArrowheads="1"/>
          </p:cNvSpPr>
          <p:nvPr/>
        </p:nvSpPr>
        <p:spPr bwMode="auto">
          <a:xfrm>
            <a:off x="2464118" y="4611370"/>
            <a:ext cx="2882900" cy="768350"/>
          </a:xfrm>
          <a:prstGeom prst="rect">
            <a:avLst/>
          </a:prstGeom>
          <a:noFill/>
          <a:ln w="9525">
            <a:noFill/>
            <a:miter lim="800000"/>
          </a:ln>
          <a:effectLst/>
        </p:spPr>
        <p:txBody>
          <a:bodyPr anchor="ctr">
            <a:spAutoFit/>
          </a:bodyPr>
          <a:lstStyle/>
          <a:p>
            <a:r>
              <a:rPr lang="en-US" altLang="zh-CN" sz="2200">
                <a:solidFill>
                  <a:schemeClr val="accent1"/>
                </a:solidFill>
                <a:effectLst>
                  <a:outerShdw blurRad="38100" dist="25400" dir="5400000" algn="ctr" rotWithShape="0">
                    <a:srgbClr val="6E747A">
                      <a:alpha val="43000"/>
                    </a:srgbClr>
                  </a:outerShdw>
                </a:effectLst>
                <a:cs typeface="Times New Roman" panose="02020603050405020304" pitchFamily="18" charset="0"/>
                <a:sym typeface="+mn-ea"/>
              </a:rPr>
              <a:t>R[rdx]←M[R[rsp]]</a:t>
            </a:r>
            <a:r>
              <a:rPr lang="zh-CN" altLang="en-US" sz="2200">
                <a:solidFill>
                  <a:schemeClr val="accent1"/>
                </a:solidFill>
                <a:effectLst>
                  <a:outerShdw blurRad="38100" dist="25400" dir="5400000" algn="ctr" rotWithShape="0">
                    <a:srgbClr val="6E747A">
                      <a:alpha val="43000"/>
                    </a:srgbClr>
                  </a:outerShdw>
                </a:effectLst>
                <a:cs typeface="Times New Roman" panose="02020603050405020304" pitchFamily="18" charset="0"/>
                <a:sym typeface="+mn-ea"/>
              </a:rPr>
              <a:t>、</a:t>
            </a:r>
            <a:r>
              <a:rPr lang="en-US" altLang="zh-CN" sz="2200">
                <a:solidFill>
                  <a:schemeClr val="accent1"/>
                </a:solidFill>
                <a:effectLst>
                  <a:outerShdw blurRad="38100" dist="25400" dir="5400000" algn="ctr" rotWithShape="0">
                    <a:srgbClr val="6E747A">
                      <a:alpha val="43000"/>
                    </a:srgbClr>
                  </a:outerShdw>
                </a:effectLst>
                <a:cs typeface="Times New Roman" panose="02020603050405020304" pitchFamily="18" charset="0"/>
                <a:sym typeface="+mn-ea"/>
              </a:rPr>
              <a:t>[rsp]←R[rsp]+8</a:t>
            </a:r>
          </a:p>
        </p:txBody>
      </p:sp>
      <p:sp>
        <p:nvSpPr>
          <p:cNvPr id="21" name="左箭头 20"/>
          <p:cNvSpPr/>
          <p:nvPr/>
        </p:nvSpPr>
        <p:spPr>
          <a:xfrm>
            <a:off x="4639945" y="4843145"/>
            <a:ext cx="1288415" cy="285115"/>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 name="表格 26"/>
          <p:cNvGraphicFramePr/>
          <p:nvPr/>
        </p:nvGraphicFramePr>
        <p:xfrm>
          <a:off x="704215" y="3668395"/>
          <a:ext cx="2061210" cy="365760"/>
        </p:xfrm>
        <a:graphic>
          <a:graphicData uri="http://schemas.openxmlformats.org/drawingml/2006/table">
            <a:tbl>
              <a:tblPr firstRow="1" bandRow="1">
                <a:tableStyleId>{5C22544A-7EE6-4342-B048-85BDC9FD1C3A}</a:tableStyleId>
              </a:tblPr>
              <a:tblGrid>
                <a:gridCol w="100965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tblGrid>
              <a:tr h="365760">
                <a:tc>
                  <a:txBody>
                    <a:bodyPr/>
                    <a:lstStyle/>
                    <a:p>
                      <a:pPr>
                        <a:buNone/>
                      </a:pPr>
                      <a:r>
                        <a:rPr lang="en-US" altLang="zh-CN">
                          <a:solidFill>
                            <a:schemeClr val="tx1">
                              <a:lumMod val="95000"/>
                              <a:lumOff val="5000"/>
                            </a:schemeClr>
                          </a:solidFill>
                        </a:rPr>
                        <a:t>%rdx</a:t>
                      </a:r>
                    </a:p>
                  </a:txBody>
                  <a:tcPr>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tcPr>
                </a:tc>
                <a:tc>
                  <a:txBody>
                    <a:bodyPr/>
                    <a:lstStyle/>
                    <a:p>
                      <a:pPr algn="l">
                        <a:buNone/>
                      </a:pPr>
                      <a:r>
                        <a:rPr lang="en-US" altLang="zh-CN" sz="1800">
                          <a:solidFill>
                            <a:schemeClr val="tx1">
                              <a:lumMod val="95000"/>
                              <a:lumOff val="5000"/>
                            </a:schemeClr>
                          </a:solidFill>
                          <a:sym typeface="+mn-ea"/>
                        </a:rPr>
                        <a:t>0x123</a:t>
                      </a:r>
                      <a:endParaRPr lang="en-US" altLang="zh-CN">
                        <a:solidFill>
                          <a:schemeClr val="tx1">
                            <a:lumMod val="95000"/>
                            <a:lumOff val="5000"/>
                          </a:schemeClr>
                        </a:solidFill>
                      </a:endParaRPr>
                    </a:p>
                  </a:txBody>
                  <a:tcPr>
                    <a:gradFill>
                      <a:gsLst>
                        <a:gs pos="0">
                          <a:schemeClr val="accent1">
                            <a:lumMod val="5000"/>
                            <a:lumOff val="95000"/>
                          </a:schemeClr>
                        </a:gs>
                        <a:gs pos="74000">
                          <a:schemeClr val="bg1">
                            <a:lumMod val="85000"/>
                          </a:schemeClr>
                        </a:gs>
                        <a:gs pos="100000">
                          <a:schemeClr val="bg1">
                            <a:lumMod val="75000"/>
                          </a:schemeClr>
                        </a:gs>
                        <a:gs pos="55000">
                          <a:schemeClr val="bg1">
                            <a:lumMod val="85000"/>
                          </a:schemeClr>
                        </a:gs>
                      </a:gsLst>
                      <a:lin ang="5400000" scaled="0"/>
                    </a:gradFill>
                  </a:tcPr>
                </a:tc>
                <a:extLst>
                  <a:ext uri="{0D108BD9-81ED-4DB2-BD59-A6C34878D82A}">
                    <a16:rowId xmlns:a16="http://schemas.microsoft.com/office/drawing/2014/main" val="10000"/>
                  </a:ext>
                </a:extLst>
              </a:tr>
            </a:tbl>
          </a:graphicData>
        </a:graphic>
      </p:graphicFrame>
      <p:sp>
        <p:nvSpPr>
          <p:cNvPr id="13" name="矩形 12"/>
          <p:cNvSpPr/>
          <p:nvPr/>
        </p:nvSpPr>
        <p:spPr>
          <a:xfrm>
            <a:off x="704215" y="4093210"/>
            <a:ext cx="1395730" cy="159194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984885" y="5921375"/>
            <a:ext cx="883285" cy="368300"/>
          </a:xfrm>
          <a:prstGeom prst="rect">
            <a:avLst/>
          </a:prstGeom>
          <a:noFill/>
        </p:spPr>
        <p:txBody>
          <a:bodyPr wrap="square" rtlCol="0">
            <a:spAutoFit/>
          </a:bodyPr>
          <a:lstStyle/>
          <a:p>
            <a:r>
              <a:rPr lang="zh-CN" altLang="en-US"/>
              <a:t>栈顶</a:t>
            </a:r>
            <a:endParaRPr lang="en-US" altLang="zh-CN"/>
          </a:p>
        </p:txBody>
      </p:sp>
      <p:sp>
        <p:nvSpPr>
          <p:cNvPr id="15" name="文本框 14"/>
          <p:cNvSpPr txBox="1"/>
          <p:nvPr/>
        </p:nvSpPr>
        <p:spPr>
          <a:xfrm>
            <a:off x="0" y="5379720"/>
            <a:ext cx="883285" cy="368300"/>
          </a:xfrm>
          <a:prstGeom prst="rect">
            <a:avLst/>
          </a:prstGeom>
          <a:noFill/>
        </p:spPr>
        <p:txBody>
          <a:bodyPr wrap="square" rtlCol="0">
            <a:spAutoFit/>
          </a:bodyPr>
          <a:lstStyle/>
          <a:p>
            <a:r>
              <a:rPr lang="en-US"/>
              <a:t>0x108</a:t>
            </a:r>
          </a:p>
        </p:txBody>
      </p:sp>
      <p:cxnSp>
        <p:nvCxnSpPr>
          <p:cNvPr id="26" name="直接箭头连接符 25"/>
          <p:cNvCxnSpPr/>
          <p:nvPr/>
        </p:nvCxnSpPr>
        <p:spPr>
          <a:xfrm flipV="1">
            <a:off x="335915" y="4316095"/>
            <a:ext cx="0" cy="1014095"/>
          </a:xfrm>
          <a:prstGeom prst="straightConnector1">
            <a:avLst/>
          </a:prstGeom>
          <a:ln>
            <a:tailEnd type="arrow" w="med" len="med"/>
          </a:ln>
        </p:spPr>
        <p:style>
          <a:lnRef idx="1">
            <a:schemeClr val="dk1"/>
          </a:lnRef>
          <a:fillRef idx="0">
            <a:schemeClr val="dk1"/>
          </a:fillRef>
          <a:effectRef idx="0">
            <a:schemeClr val="dk1"/>
          </a:effectRef>
          <a:fontRef idx="minor">
            <a:schemeClr val="tx1"/>
          </a:fontRef>
        </p:style>
      </p:cxnSp>
      <p:sp>
        <p:nvSpPr>
          <p:cNvPr id="28" name="矩形 27"/>
          <p:cNvSpPr/>
          <p:nvPr/>
        </p:nvSpPr>
        <p:spPr>
          <a:xfrm>
            <a:off x="704215" y="5685155"/>
            <a:ext cx="1395730" cy="250190"/>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0x123</a:t>
            </a:r>
          </a:p>
        </p:txBody>
      </p:sp>
      <p:sp>
        <p:nvSpPr>
          <p:cNvPr id="29" name="文本框 28"/>
          <p:cNvSpPr txBox="1"/>
          <p:nvPr/>
        </p:nvSpPr>
        <p:spPr>
          <a:xfrm>
            <a:off x="-17145" y="5685155"/>
            <a:ext cx="883285" cy="368300"/>
          </a:xfrm>
          <a:prstGeom prst="rect">
            <a:avLst/>
          </a:prstGeom>
          <a:noFill/>
        </p:spPr>
        <p:txBody>
          <a:bodyPr wrap="square" rtlCol="0">
            <a:spAutoFit/>
          </a:bodyPr>
          <a:lstStyle/>
          <a:p>
            <a:r>
              <a:rPr lang="en-US" altLang="zh-CN"/>
              <a:t>0x100</a:t>
            </a:r>
          </a:p>
        </p:txBody>
      </p:sp>
      <p:cxnSp>
        <p:nvCxnSpPr>
          <p:cNvPr id="23" name="曲线连接符 22"/>
          <p:cNvCxnSpPr/>
          <p:nvPr/>
        </p:nvCxnSpPr>
        <p:spPr>
          <a:xfrm flipV="1">
            <a:off x="1678305" y="5683250"/>
            <a:ext cx="421640" cy="335915"/>
          </a:xfrm>
          <a:prstGeom prst="curvedConnector3">
            <a:avLst>
              <a:gd name="adj1" fmla="val 156476"/>
            </a:avLst>
          </a:prstGeom>
          <a:ln>
            <a:tailEnd type="arrow" w="med" len="med"/>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894839" y="2575781"/>
            <a:ext cx="1004231" cy="1004101"/>
            <a:chOff x="1101311" y="1198062"/>
            <a:chExt cx="1106591" cy="1106447"/>
          </a:xfrm>
        </p:grpSpPr>
        <p:grpSp>
          <p:nvGrpSpPr>
            <p:cNvPr id="4" name="组合 3"/>
            <p:cNvGrpSpPr/>
            <p:nvPr/>
          </p:nvGrpSpPr>
          <p:grpSpPr>
            <a:xfrm>
              <a:off x="1101311" y="1198062"/>
              <a:ext cx="1106591" cy="1106447"/>
              <a:chOff x="304800" y="673100"/>
              <a:chExt cx="4000500" cy="4000500"/>
            </a:xfrm>
            <a:effectLst>
              <a:outerShdw blurRad="444500" dist="254000" dir="8100000" algn="tr" rotWithShape="0">
                <a:prstClr val="black">
                  <a:alpha val="50000"/>
                </a:prstClr>
              </a:outerShdw>
            </a:effectLst>
          </p:grpSpPr>
          <p:sp>
            <p:nvSpPr>
              <p:cNvPr id="5" name="同心圆 4"/>
              <p:cNvSpPr/>
              <p:nvPr/>
            </p:nvSpPr>
            <p:spPr>
              <a:xfrm>
                <a:off x="304800" y="673100"/>
                <a:ext cx="4000500" cy="4000500"/>
              </a:xfrm>
              <a:prstGeom prst="donut">
                <a:avLst>
                  <a:gd name="adj" fmla="val 4879"/>
                </a:avLst>
              </a:prstGeom>
              <a:solidFill>
                <a:srgbClr val="FFFFFF"/>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sp>
            <p:nvSpPr>
              <p:cNvPr id="6" name="椭圆 5"/>
              <p:cNvSpPr/>
              <p:nvPr/>
            </p:nvSpPr>
            <p:spPr>
              <a:xfrm>
                <a:off x="392113" y="760413"/>
                <a:ext cx="3825874" cy="3825874"/>
              </a:xfrm>
              <a:prstGeom prst="ellipse">
                <a:avLst/>
              </a:prstGeom>
              <a:gradFill flip="none" rotWithShape="1">
                <a:gsLst>
                  <a:gs pos="20000">
                    <a:srgbClr val="BFBFBF"/>
                  </a:gs>
                  <a:gs pos="80000">
                    <a:srgbClr val="FFFFFF"/>
                  </a:gs>
                  <a:gs pos="100000">
                    <a:srgbClr val="FFFFFF">
                      <a:tint val="0"/>
                    </a:srgbClr>
                  </a:gs>
                </a:gsLst>
                <a:lin ang="2700000" scaled="1"/>
                <a:tileRect/>
              </a:gradFill>
              <a:ln w="28575">
                <a:solidFill>
                  <a:srgbClr val="F2F2F2"/>
                </a:solidFill>
              </a:ln>
              <a:effectLst>
                <a:outerShdw blurRad="88900" dist="75434" dir="2699985" rotWithShape="0">
                  <a:scrgbClr r="0" g="0" b="0">
                    <a:alpha val="23000"/>
                  </a:scrgbClr>
                </a:outerShdw>
              </a:effectLst>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350" dirty="0">
                  <a:solidFill>
                    <a:srgbClr val="000000"/>
                  </a:solidFill>
                  <a:cs typeface="黑体" panose="02010609060101010101" charset="-122"/>
                </a:endParaRPr>
              </a:p>
            </p:txBody>
          </p:sp>
        </p:grpSp>
        <p:grpSp>
          <p:nvGrpSpPr>
            <p:cNvPr id="7" name="组合 6"/>
            <p:cNvGrpSpPr>
              <a:grpSpLocks noChangeAspect="1"/>
            </p:cNvGrpSpPr>
            <p:nvPr/>
          </p:nvGrpSpPr>
          <p:grpSpPr>
            <a:xfrm>
              <a:off x="1330537" y="1422392"/>
              <a:ext cx="648140" cy="625029"/>
              <a:chOff x="7019925" y="5499100"/>
              <a:chExt cx="312738" cy="301626"/>
            </a:xfrm>
            <a:solidFill>
              <a:srgbClr val="C00000"/>
            </a:solidFill>
          </p:grpSpPr>
          <p:sp>
            <p:nvSpPr>
              <p:cNvPr id="8" name="Freeform 252"/>
              <p:cNvSpPr/>
              <p:nvPr/>
            </p:nvSpPr>
            <p:spPr bwMode="auto">
              <a:xfrm>
                <a:off x="7069138" y="5567363"/>
                <a:ext cx="214313" cy="233363"/>
              </a:xfrm>
              <a:custGeom>
                <a:avLst/>
                <a:gdLst>
                  <a:gd name="T0" fmla="*/ 0 w 57"/>
                  <a:gd name="T1" fmla="*/ 26 h 62"/>
                  <a:gd name="T2" fmla="*/ 0 w 57"/>
                  <a:gd name="T3" fmla="*/ 59 h 62"/>
                  <a:gd name="T4" fmla="*/ 2 w 57"/>
                  <a:gd name="T5" fmla="*/ 62 h 62"/>
                  <a:gd name="T6" fmla="*/ 4 w 57"/>
                  <a:gd name="T7" fmla="*/ 62 h 62"/>
                  <a:gd name="T8" fmla="*/ 19 w 57"/>
                  <a:gd name="T9" fmla="*/ 62 h 62"/>
                  <a:gd name="T10" fmla="*/ 21 w 57"/>
                  <a:gd name="T11" fmla="*/ 62 h 62"/>
                  <a:gd name="T12" fmla="*/ 21 w 57"/>
                  <a:gd name="T13" fmla="*/ 61 h 62"/>
                  <a:gd name="T14" fmla="*/ 21 w 57"/>
                  <a:gd name="T15" fmla="*/ 45 h 62"/>
                  <a:gd name="T16" fmla="*/ 36 w 57"/>
                  <a:gd name="T17" fmla="*/ 45 h 62"/>
                  <a:gd name="T18" fmla="*/ 36 w 57"/>
                  <a:gd name="T19" fmla="*/ 61 h 62"/>
                  <a:gd name="T20" fmla="*/ 37 w 57"/>
                  <a:gd name="T21" fmla="*/ 62 h 62"/>
                  <a:gd name="T22" fmla="*/ 38 w 57"/>
                  <a:gd name="T23" fmla="*/ 62 h 62"/>
                  <a:gd name="T24" fmla="*/ 53 w 57"/>
                  <a:gd name="T25" fmla="*/ 62 h 62"/>
                  <a:gd name="T26" fmla="*/ 56 w 57"/>
                  <a:gd name="T27" fmla="*/ 62 h 62"/>
                  <a:gd name="T28" fmla="*/ 57 w 57"/>
                  <a:gd name="T29" fmla="*/ 59 h 62"/>
                  <a:gd name="T30" fmla="*/ 57 w 57"/>
                  <a:gd name="T31" fmla="*/ 26 h 62"/>
                  <a:gd name="T32" fmla="*/ 29 w 57"/>
                  <a:gd name="T33" fmla="*/ 0 h 62"/>
                  <a:gd name="T34" fmla="*/ 0 w 57"/>
                  <a:gd name="T35" fmla="*/ 26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7" h="62">
                    <a:moveTo>
                      <a:pt x="0" y="26"/>
                    </a:moveTo>
                    <a:cubicBezTo>
                      <a:pt x="0" y="59"/>
                      <a:pt x="0" y="59"/>
                      <a:pt x="0" y="59"/>
                    </a:cubicBezTo>
                    <a:cubicBezTo>
                      <a:pt x="0" y="61"/>
                      <a:pt x="1" y="62"/>
                      <a:pt x="2" y="62"/>
                    </a:cubicBezTo>
                    <a:cubicBezTo>
                      <a:pt x="3" y="62"/>
                      <a:pt x="3" y="62"/>
                      <a:pt x="4" y="62"/>
                    </a:cubicBezTo>
                    <a:cubicBezTo>
                      <a:pt x="19" y="62"/>
                      <a:pt x="19" y="62"/>
                      <a:pt x="19" y="62"/>
                    </a:cubicBezTo>
                    <a:cubicBezTo>
                      <a:pt x="20" y="62"/>
                      <a:pt x="20" y="62"/>
                      <a:pt x="21" y="62"/>
                    </a:cubicBezTo>
                    <a:cubicBezTo>
                      <a:pt x="21" y="62"/>
                      <a:pt x="21" y="61"/>
                      <a:pt x="21" y="61"/>
                    </a:cubicBezTo>
                    <a:cubicBezTo>
                      <a:pt x="21" y="45"/>
                      <a:pt x="21" y="45"/>
                      <a:pt x="21" y="45"/>
                    </a:cubicBezTo>
                    <a:cubicBezTo>
                      <a:pt x="36" y="45"/>
                      <a:pt x="36" y="45"/>
                      <a:pt x="36" y="45"/>
                    </a:cubicBezTo>
                    <a:cubicBezTo>
                      <a:pt x="36" y="61"/>
                      <a:pt x="36" y="61"/>
                      <a:pt x="36" y="61"/>
                    </a:cubicBezTo>
                    <a:cubicBezTo>
                      <a:pt x="36" y="61"/>
                      <a:pt x="37" y="62"/>
                      <a:pt x="37" y="62"/>
                    </a:cubicBezTo>
                    <a:cubicBezTo>
                      <a:pt x="37" y="62"/>
                      <a:pt x="38" y="62"/>
                      <a:pt x="38" y="62"/>
                    </a:cubicBezTo>
                    <a:cubicBezTo>
                      <a:pt x="53" y="62"/>
                      <a:pt x="53" y="62"/>
                      <a:pt x="53" y="62"/>
                    </a:cubicBezTo>
                    <a:cubicBezTo>
                      <a:pt x="54" y="62"/>
                      <a:pt x="55" y="62"/>
                      <a:pt x="56" y="62"/>
                    </a:cubicBezTo>
                    <a:cubicBezTo>
                      <a:pt x="56" y="62"/>
                      <a:pt x="57" y="61"/>
                      <a:pt x="57" y="59"/>
                    </a:cubicBezTo>
                    <a:cubicBezTo>
                      <a:pt x="57" y="26"/>
                      <a:pt x="57" y="26"/>
                      <a:pt x="57" y="26"/>
                    </a:cubicBezTo>
                    <a:cubicBezTo>
                      <a:pt x="29" y="0"/>
                      <a:pt x="29" y="0"/>
                      <a:pt x="29" y="0"/>
                    </a:cubicBezTo>
                    <a:lnTo>
                      <a:pt x="0" y="26"/>
                    </a:ln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sp>
            <p:nvSpPr>
              <p:cNvPr id="9" name="Freeform 253"/>
              <p:cNvSpPr/>
              <p:nvPr/>
            </p:nvSpPr>
            <p:spPr bwMode="auto">
              <a:xfrm>
                <a:off x="7019925" y="5499100"/>
                <a:ext cx="312738" cy="169863"/>
              </a:xfrm>
              <a:custGeom>
                <a:avLst/>
                <a:gdLst>
                  <a:gd name="T0" fmla="*/ 81 w 83"/>
                  <a:gd name="T1" fmla="*/ 35 h 45"/>
                  <a:gd name="T2" fmla="*/ 68 w 83"/>
                  <a:gd name="T3" fmla="*/ 23 h 45"/>
                  <a:gd name="T4" fmla="*/ 68 w 83"/>
                  <a:gd name="T5" fmla="*/ 4 h 45"/>
                  <a:gd name="T6" fmla="*/ 66 w 83"/>
                  <a:gd name="T7" fmla="*/ 2 h 45"/>
                  <a:gd name="T8" fmla="*/ 61 w 83"/>
                  <a:gd name="T9" fmla="*/ 2 h 45"/>
                  <a:gd name="T10" fmla="*/ 59 w 83"/>
                  <a:gd name="T11" fmla="*/ 4 h 45"/>
                  <a:gd name="T12" fmla="*/ 59 w 83"/>
                  <a:gd name="T13" fmla="*/ 15 h 45"/>
                  <a:gd name="T14" fmla="*/ 45 w 83"/>
                  <a:gd name="T15" fmla="*/ 2 h 45"/>
                  <a:gd name="T16" fmla="*/ 38 w 83"/>
                  <a:gd name="T17" fmla="*/ 2 h 45"/>
                  <a:gd name="T18" fmla="*/ 2 w 83"/>
                  <a:gd name="T19" fmla="*/ 35 h 45"/>
                  <a:gd name="T20" fmla="*/ 2 w 83"/>
                  <a:gd name="T21" fmla="*/ 43 h 45"/>
                  <a:gd name="T22" fmla="*/ 6 w 83"/>
                  <a:gd name="T23" fmla="*/ 44 h 45"/>
                  <a:gd name="T24" fmla="*/ 10 w 83"/>
                  <a:gd name="T25" fmla="*/ 43 h 45"/>
                  <a:gd name="T26" fmla="*/ 42 w 83"/>
                  <a:gd name="T27" fmla="*/ 13 h 45"/>
                  <a:gd name="T28" fmla="*/ 74 w 83"/>
                  <a:gd name="T29" fmla="*/ 43 h 45"/>
                  <a:gd name="T30" fmla="*/ 81 w 83"/>
                  <a:gd name="T31" fmla="*/ 43 h 45"/>
                  <a:gd name="T32" fmla="*/ 81 w 83"/>
                  <a:gd name="T33" fmla="*/ 3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3" h="45">
                    <a:moveTo>
                      <a:pt x="81" y="35"/>
                    </a:moveTo>
                    <a:cubicBezTo>
                      <a:pt x="68" y="23"/>
                      <a:pt x="68" y="23"/>
                      <a:pt x="68" y="23"/>
                    </a:cubicBezTo>
                    <a:cubicBezTo>
                      <a:pt x="68" y="4"/>
                      <a:pt x="68" y="4"/>
                      <a:pt x="68" y="4"/>
                    </a:cubicBezTo>
                    <a:cubicBezTo>
                      <a:pt x="68" y="3"/>
                      <a:pt x="67" y="2"/>
                      <a:pt x="66" y="2"/>
                    </a:cubicBezTo>
                    <a:cubicBezTo>
                      <a:pt x="61" y="2"/>
                      <a:pt x="61" y="2"/>
                      <a:pt x="61" y="2"/>
                    </a:cubicBezTo>
                    <a:cubicBezTo>
                      <a:pt x="60" y="2"/>
                      <a:pt x="59" y="3"/>
                      <a:pt x="59" y="4"/>
                    </a:cubicBezTo>
                    <a:cubicBezTo>
                      <a:pt x="59" y="15"/>
                      <a:pt x="59" y="15"/>
                      <a:pt x="59" y="15"/>
                    </a:cubicBezTo>
                    <a:cubicBezTo>
                      <a:pt x="45" y="2"/>
                      <a:pt x="45" y="2"/>
                      <a:pt x="45" y="2"/>
                    </a:cubicBezTo>
                    <a:cubicBezTo>
                      <a:pt x="43" y="0"/>
                      <a:pt x="40" y="0"/>
                      <a:pt x="38" y="2"/>
                    </a:cubicBezTo>
                    <a:cubicBezTo>
                      <a:pt x="2" y="35"/>
                      <a:pt x="2" y="35"/>
                      <a:pt x="2" y="35"/>
                    </a:cubicBezTo>
                    <a:cubicBezTo>
                      <a:pt x="0" y="37"/>
                      <a:pt x="0" y="40"/>
                      <a:pt x="2" y="43"/>
                    </a:cubicBezTo>
                    <a:cubicBezTo>
                      <a:pt x="3" y="44"/>
                      <a:pt x="5" y="44"/>
                      <a:pt x="6" y="44"/>
                    </a:cubicBezTo>
                    <a:cubicBezTo>
                      <a:pt x="7" y="44"/>
                      <a:pt x="9" y="44"/>
                      <a:pt x="10" y="43"/>
                    </a:cubicBezTo>
                    <a:cubicBezTo>
                      <a:pt x="42" y="13"/>
                      <a:pt x="42" y="13"/>
                      <a:pt x="42" y="13"/>
                    </a:cubicBezTo>
                    <a:cubicBezTo>
                      <a:pt x="74" y="43"/>
                      <a:pt x="74" y="43"/>
                      <a:pt x="74" y="43"/>
                    </a:cubicBezTo>
                    <a:cubicBezTo>
                      <a:pt x="76" y="45"/>
                      <a:pt x="80" y="45"/>
                      <a:pt x="81" y="43"/>
                    </a:cubicBezTo>
                    <a:cubicBezTo>
                      <a:pt x="83" y="40"/>
                      <a:pt x="83" y="37"/>
                      <a:pt x="81" y="35"/>
                    </a:cubicBezTo>
                    <a:close/>
                  </a:path>
                </a:pathLst>
              </a:cu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825">
                  <a:cs typeface="黑体" panose="02010609060101010101" charset="-122"/>
                </a:endParaRPr>
              </a:p>
            </p:txBody>
          </p:sp>
        </p:grpSp>
      </p:grpSp>
      <p:sp>
        <p:nvSpPr>
          <p:cNvPr id="10" name="矩形 9"/>
          <p:cNvSpPr/>
          <p:nvPr/>
        </p:nvSpPr>
        <p:spPr>
          <a:xfrm>
            <a:off x="-33814" y="3066891"/>
            <a:ext cx="2798921"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cs typeface="黑体" panose="02010609060101010101" charset="-122"/>
            </a:endParaRPr>
          </a:p>
        </p:txBody>
      </p:sp>
      <p:sp>
        <p:nvSpPr>
          <p:cNvPr id="11" name="矩形 10"/>
          <p:cNvSpPr/>
          <p:nvPr/>
        </p:nvSpPr>
        <p:spPr>
          <a:xfrm>
            <a:off x="4115276" y="3066891"/>
            <a:ext cx="5028248" cy="67628"/>
          </a:xfrm>
          <a:prstGeom prst="rect">
            <a:avLst/>
          </a:prstGeom>
          <a:solidFill>
            <a:srgbClr val="DF664A"/>
          </a:solidFill>
          <a:ln>
            <a:noFill/>
          </a:ln>
        </p:spPr>
        <p:style>
          <a:lnRef idx="2">
            <a:srgbClr val="FFBF53">
              <a:shade val="50000"/>
            </a:srgbClr>
          </a:lnRef>
          <a:fillRef idx="1">
            <a:srgbClr val="FFBF53"/>
          </a:fillRef>
          <a:effectRef idx="0">
            <a:srgbClr val="FFBF53"/>
          </a:effectRef>
          <a:fontRef idx="minor">
            <a:srgbClr val="FFFFFF"/>
          </a:fontRef>
        </p:style>
        <p:txBody>
          <a:bodyPr rtlCol="0" anchor="ctr"/>
          <a:lstStyle/>
          <a:p>
            <a:pPr algn="ctr"/>
            <a:endParaRPr lang="zh-CN" altLang="en-US" sz="1200">
              <a:effectLst>
                <a:outerShdw blurRad="50800" dist="38100" dir="5400000" algn="t" rotWithShape="0">
                  <a:prstClr val="black">
                    <a:alpha val="40000"/>
                  </a:prstClr>
                </a:outerShdw>
              </a:effectLst>
              <a:cs typeface="黑体" panose="02010609060101010101" charset="-122"/>
            </a:endParaRPr>
          </a:p>
        </p:txBody>
      </p:sp>
      <p:sp>
        <p:nvSpPr>
          <p:cNvPr id="12" name="TextBox 24"/>
          <p:cNvSpPr txBox="1"/>
          <p:nvPr/>
        </p:nvSpPr>
        <p:spPr>
          <a:xfrm>
            <a:off x="4930979" y="2445166"/>
            <a:ext cx="944880" cy="553085"/>
          </a:xfrm>
          <a:prstGeom prst="rect">
            <a:avLst/>
          </a:prstGeom>
          <a:noFill/>
        </p:spPr>
        <p:txBody>
          <a:bodyPr wrap="none" rtlCol="0">
            <a:spAutoFit/>
          </a:bodyPr>
          <a:lstStyle/>
          <a:p>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控制</a:t>
            </a:r>
          </a:p>
        </p:txBody>
      </p:sp>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500"/>
                                        <p:tgtEl>
                                          <p:spTgt spid="11"/>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right)">
                                      <p:cBhvr>
                                        <p:cTn id="16" dur="500"/>
                                        <p:tgtEl>
                                          <p:spTgt spid="10"/>
                                        </p:tgtEl>
                                      </p:cBhvr>
                                    </p:animEffect>
                                  </p:childTnLst>
                                </p:cTn>
                              </p:par>
                            </p:childTnLst>
                          </p:cTn>
                        </p:par>
                        <p:par>
                          <p:cTn id="17" fill="hold">
                            <p:stCondLst>
                              <p:cond delay="10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12"/>
                                        </p:tgtEl>
                                        <p:attrNameLst>
                                          <p:attrName>style.visibility</p:attrName>
                                        </p:attrNameLst>
                                      </p:cBhvr>
                                      <p:to>
                                        <p:strVal val="visible"/>
                                      </p:to>
                                    </p:set>
                                    <p:anim by="(-#ppt_w*2)" calcmode="lin" valueType="num">
                                      <p:cBhvr rctx="PPT">
                                        <p:cTn id="20" dur="500" autoRev="1" fill="hold">
                                          <p:stCondLst>
                                            <p:cond delay="0"/>
                                          </p:stCondLst>
                                        </p:cTn>
                                        <p:tgtEl>
                                          <p:spTgt spid="12"/>
                                        </p:tgtEl>
                                        <p:attrNameLst>
                                          <p:attrName>ppt_w</p:attrName>
                                        </p:attrNameLst>
                                      </p:cBhvr>
                                    </p:anim>
                                    <p:anim by="(#ppt_w*0.50)" calcmode="lin" valueType="num">
                                      <p:cBhvr>
                                        <p:cTn id="21" dur="500" decel="50000" autoRev="1" fill="hold">
                                          <p:stCondLst>
                                            <p:cond delay="0"/>
                                          </p:stCondLst>
                                        </p:cTn>
                                        <p:tgtEl>
                                          <p:spTgt spid="12"/>
                                        </p:tgtEl>
                                        <p:attrNameLst>
                                          <p:attrName>ppt_x</p:attrName>
                                        </p:attrNameLst>
                                      </p:cBhvr>
                                    </p:anim>
                                    <p:anim from="(-#ppt_h/2)" to="(#ppt_y)" calcmode="lin" valueType="num">
                                      <p:cBhvr>
                                        <p:cTn id="22" dur="1000" fill="hold">
                                          <p:stCondLst>
                                            <p:cond delay="0"/>
                                          </p:stCondLst>
                                        </p:cTn>
                                        <p:tgtEl>
                                          <p:spTgt spid="12"/>
                                        </p:tgtEl>
                                        <p:attrNameLst>
                                          <p:attrName>ppt_y</p:attrName>
                                        </p:attrNameLst>
                                      </p:cBhvr>
                                    </p:anim>
                                    <p:animRot by="21600000">
                                      <p:cBhvr>
                                        <p:cTn id="23" dur="1000" fill="hold">
                                          <p:stCondLst>
                                            <p:cond delay="0"/>
                                          </p:stCondLst>
                                        </p:cTn>
                                        <p:tgtEl>
                                          <p:spTgt spid="12"/>
                                        </p:tgtEl>
                                        <p:attrNameLst>
                                          <p:attrName>r</p:attrName>
                                        </p:attrNameLst>
                                      </p:cBhvr>
                                    </p:animRot>
                                  </p:childTnLst>
                                </p:cTn>
                              </p:par>
                              <p:par>
                                <p:cTn id="24" presetID="41" presetClass="entr" presetSubtype="0" fill="hold" grpId="1" nodeType="withEffect">
                                  <p:stCondLst>
                                    <p:cond delay="0"/>
                                  </p:stCondLst>
                                  <p:iterate type="lt">
                                    <p:tmPct val="10000"/>
                                  </p:iterate>
                                  <p:childTnLst>
                                    <p:set>
                                      <p:cBhvr>
                                        <p:cTn id="25" dur="1" fill="hold">
                                          <p:stCondLst>
                                            <p:cond delay="0"/>
                                          </p:stCondLst>
                                        </p:cTn>
                                        <p:tgtEl>
                                          <p:spTgt spid="12"/>
                                        </p:tgtEl>
                                        <p:attrNameLst>
                                          <p:attrName>style.visibility</p:attrName>
                                        </p:attrNameLst>
                                      </p:cBhvr>
                                      <p:to>
                                        <p:strVal val="visible"/>
                                      </p:to>
                                    </p:set>
                                    <p:anim calcmode="lin" valueType="num">
                                      <p:cBhvr>
                                        <p:cTn id="26" dur="1000" fill="hold"/>
                                        <p:tgtEl>
                                          <p:spTgt spid="12"/>
                                        </p:tgtEl>
                                        <p:attrNameLst>
                                          <p:attrName>ppt_x</p:attrName>
                                        </p:attrNameLst>
                                      </p:cBhvr>
                                      <p:tavLst>
                                        <p:tav tm="0">
                                          <p:val>
                                            <p:strVal val="#ppt_x"/>
                                          </p:val>
                                        </p:tav>
                                        <p:tav tm="50000">
                                          <p:val>
                                            <p:strVal val="#ppt_x+.1"/>
                                          </p:val>
                                        </p:tav>
                                        <p:tav tm="100000">
                                          <p:val>
                                            <p:strVal val="#ppt_x"/>
                                          </p:val>
                                        </p:tav>
                                      </p:tavLst>
                                    </p:anim>
                                    <p:anim calcmode="lin" valueType="num">
                                      <p:cBhvr>
                                        <p:cTn id="27" dur="1000" fill="hold"/>
                                        <p:tgtEl>
                                          <p:spTgt spid="12"/>
                                        </p:tgtEl>
                                        <p:attrNameLst>
                                          <p:attrName>ppt_y</p:attrName>
                                        </p:attrNameLst>
                                      </p:cBhvr>
                                      <p:tavLst>
                                        <p:tav tm="0">
                                          <p:val>
                                            <p:strVal val="#ppt_y"/>
                                          </p:val>
                                        </p:tav>
                                        <p:tav tm="100000">
                                          <p:val>
                                            <p:strVal val="#ppt_y"/>
                                          </p:val>
                                        </p:tav>
                                      </p:tavLst>
                                    </p:anim>
                                    <p:anim calcmode="lin" valueType="num">
                                      <p:cBhvr>
                                        <p:cTn id="28" dur="1000" fill="hold"/>
                                        <p:tgtEl>
                                          <p:spTgt spid="12"/>
                                        </p:tgtEl>
                                        <p:attrNameLst>
                                          <p:attrName>ppt_h</p:attrName>
                                        </p:attrNameLst>
                                      </p:cBhvr>
                                      <p:tavLst>
                                        <p:tav tm="0">
                                          <p:val>
                                            <p:strVal val="#ppt_h/10"/>
                                          </p:val>
                                        </p:tav>
                                        <p:tav tm="50000">
                                          <p:val>
                                            <p:strVal val="#ppt_h+.01"/>
                                          </p:val>
                                        </p:tav>
                                        <p:tav tm="100000">
                                          <p:val>
                                            <p:strVal val="#ppt_h"/>
                                          </p:val>
                                        </p:tav>
                                      </p:tavLst>
                                    </p:anim>
                                    <p:anim calcmode="lin" valueType="num">
                                      <p:cBhvr>
                                        <p:cTn id="29" dur="1000" fill="hold"/>
                                        <p:tgtEl>
                                          <p:spTgt spid="12"/>
                                        </p:tgtEl>
                                        <p:attrNameLst>
                                          <p:attrName>ppt_w</p:attrName>
                                        </p:attrNameLst>
                                      </p:cBhvr>
                                      <p:tavLst>
                                        <p:tav tm="0">
                                          <p:val>
                                            <p:strVal val="#ppt_w/10"/>
                                          </p:val>
                                        </p:tav>
                                        <p:tav tm="50000">
                                          <p:val>
                                            <p:strVal val="#ppt_w+.01"/>
                                          </p:val>
                                        </p:tav>
                                        <p:tav tm="100000">
                                          <p:val>
                                            <p:strVal val="#ppt_w"/>
                                          </p:val>
                                        </p:tav>
                                      </p:tavLst>
                                    </p:anim>
                                    <p:animEffect transition="in" filter="fade">
                                      <p:cBhvr>
                                        <p:cTn id="30" dur="1000" tmFilter="0,0; .5, 1; 1, 1"/>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bldLvl="0" animBg="1"/>
      <p:bldP spid="12" grpId="0"/>
      <p:bldP spid="12" grpId="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 220"/>
          <p:cNvSpPr/>
          <p:nvPr/>
        </p:nvSpPr>
        <p:spPr>
          <a:xfrm>
            <a:off x="7190105" y="6022340"/>
            <a:ext cx="1572895" cy="441960"/>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endParaRPr>
          </a:p>
        </p:txBody>
      </p:sp>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9008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3" name="等腰三角形 2"/>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TextBox 24"/>
          <p:cNvSpPr txBox="1"/>
          <p:nvPr/>
        </p:nvSpPr>
        <p:spPr>
          <a:xfrm>
            <a:off x="3939109" y="347761"/>
            <a:ext cx="514731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处理器状态（x86-64，部分）</a:t>
            </a:r>
          </a:p>
        </p:txBody>
      </p:sp>
      <p:sp>
        <p:nvSpPr>
          <p:cNvPr id="33796" name="Rectangle 4"/>
          <p:cNvSpPr>
            <a:spLocks noGrp="1" noChangeArrowheads="1"/>
          </p:cNvSpPr>
          <p:nvPr/>
        </p:nvSpPr>
        <p:spPr>
          <a:xfrm>
            <a:off x="381000" y="1790700"/>
            <a:ext cx="3340100" cy="419862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7F7F7F"/>
              </a:buClr>
            </a:pPr>
            <a:r>
              <a:rPr lang="en-US" dirty="0"/>
              <a:t>当前执行程序的信息</a:t>
            </a:r>
          </a:p>
          <a:p>
            <a:pPr marL="552450" lvl="1">
              <a:buClr>
                <a:srgbClr val="7F7F7F"/>
              </a:buClr>
            </a:pPr>
            <a:r>
              <a:rPr lang="en-US" dirty="0"/>
              <a:t>临时数据</a:t>
            </a:r>
            <a:br>
              <a:rPr lang="en-US" dirty="0"/>
            </a:br>
            <a:r>
              <a:rPr lang="en-US" dirty="0"/>
              <a:t>( </a:t>
            </a:r>
            <a:r>
              <a:rPr lang="en-US" dirty="0">
                <a:latin typeface="Courier New Bold" charset="0"/>
                <a:cs typeface="Courier New Bold" charset="0"/>
                <a:sym typeface="Courier New Bold" charset="0"/>
              </a:rPr>
              <a:t>%</a:t>
            </a:r>
            <a:r>
              <a:rPr lang="en-US" dirty="0" err="1">
                <a:latin typeface="Courier New Bold" charset="0"/>
                <a:cs typeface="Courier New Bold" charset="0"/>
                <a:sym typeface="Courier New Bold" charset="0"/>
              </a:rPr>
              <a:t>rax</a:t>
            </a:r>
            <a:r>
              <a:rPr lang="en-US" dirty="0"/>
              <a:t>, … )</a:t>
            </a:r>
          </a:p>
          <a:p>
            <a:pPr marL="552450" lvl="1">
              <a:buClr>
                <a:srgbClr val="7F7F7F"/>
              </a:buClr>
            </a:pPr>
            <a:r>
              <a:rPr lang="en-US" dirty="0"/>
              <a:t>运行时栈中的位置</a:t>
            </a:r>
            <a:br>
              <a:rPr lang="en-US" dirty="0"/>
            </a:br>
            <a:r>
              <a:rPr lang="en-US" dirty="0"/>
              <a:t>( </a:t>
            </a:r>
            <a:r>
              <a:rPr lang="en-US" dirty="0">
                <a:latin typeface="Courier New Bold" charset="0"/>
                <a:cs typeface="Courier New Bold" charset="0"/>
                <a:sym typeface="Courier New Bold" charset="0"/>
              </a:rPr>
              <a:t>%</a:t>
            </a:r>
            <a:r>
              <a:rPr lang="en-US" dirty="0" err="1">
                <a:latin typeface="Courier New Bold" charset="0"/>
                <a:cs typeface="Courier New Bold" charset="0"/>
                <a:sym typeface="Courier New Bold" charset="0"/>
              </a:rPr>
              <a:t>rsp</a:t>
            </a:r>
            <a:r>
              <a:rPr lang="en-US" dirty="0"/>
              <a:t> )</a:t>
            </a:r>
          </a:p>
          <a:p>
            <a:pPr marL="552450" lvl="1">
              <a:buClr>
                <a:srgbClr val="7F7F7F"/>
              </a:buClr>
            </a:pPr>
            <a:r>
              <a:rPr lang="en-US" dirty="0"/>
              <a:t>当前代码控制点的位置</a:t>
            </a:r>
            <a:br>
              <a:rPr lang="en-US" dirty="0"/>
            </a:br>
            <a:r>
              <a:rPr lang="en-US" dirty="0"/>
              <a:t>( </a:t>
            </a:r>
            <a:r>
              <a:rPr lang="en-US" dirty="0">
                <a:latin typeface="Courier New Bold" charset="0"/>
                <a:cs typeface="Courier New Bold" charset="0"/>
                <a:sym typeface="Courier New Bold" charset="0"/>
              </a:rPr>
              <a:t>%rip</a:t>
            </a:r>
            <a:r>
              <a:rPr lang="en-US" dirty="0"/>
              <a:t>, … )</a:t>
            </a:r>
          </a:p>
          <a:p>
            <a:pPr marL="552450" lvl="1">
              <a:buClr>
                <a:srgbClr val="7F7F7F"/>
              </a:buClr>
            </a:pPr>
            <a:r>
              <a:rPr lang="en-US" dirty="0"/>
              <a:t>最近tests的状态</a:t>
            </a:r>
            <a:br>
              <a:rPr lang="en-US" dirty="0"/>
            </a:br>
            <a:r>
              <a:rPr lang="en-US" dirty="0"/>
              <a:t>( </a:t>
            </a:r>
            <a:r>
              <a:rPr lang="en-US" dirty="0">
                <a:latin typeface="Calibri Bold" charset="0"/>
                <a:ea typeface="Calibri Bold" charset="0"/>
                <a:cs typeface="Calibri Bold" charset="0"/>
                <a:sym typeface="Calibri Bold" charset="0"/>
              </a:rPr>
              <a:t>CF, ZF, SF, OF</a:t>
            </a:r>
            <a:r>
              <a:rPr lang="en-US" dirty="0"/>
              <a:t> )</a:t>
            </a:r>
          </a:p>
        </p:txBody>
      </p:sp>
      <p:sp>
        <p:nvSpPr>
          <p:cNvPr id="33797" name="Rectangle 5"/>
          <p:cNvSpPr/>
          <p:nvPr/>
        </p:nvSpPr>
        <p:spPr bwMode="auto">
          <a:xfrm>
            <a:off x="4466772" y="5410200"/>
            <a:ext cx="2057400" cy="308610"/>
          </a:xfrm>
          <a:prstGeom prst="rect">
            <a:avLst/>
          </a:prstGeom>
          <a:solidFill>
            <a:srgbClr val="D6D6F4"/>
          </a:solidFill>
          <a:ln w="25560" cap="flat">
            <a:solidFill>
              <a:schemeClr val="tx1"/>
            </a:solidFill>
            <a:prstDash val="solid"/>
            <a:miter lim="800000"/>
            <a:headEnd type="none" w="med" len="med"/>
            <a:tailEnd type="none" w="med" len="med"/>
          </a:ln>
        </p:spPr>
        <p:txBody>
          <a:bodyPr lIns="38100" tIns="38100" rIns="38100" bIns="38100" anchor="ctr"/>
          <a:lstStyle/>
          <a:p>
            <a:pPr algn="l">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1800" dirty="0">
                <a:solidFill>
                  <a:schemeClr val="tx1"/>
                </a:solidFill>
                <a:latin typeface="Courier New Bold" charset="0"/>
                <a:cs typeface="Courier New Bold" charset="0"/>
                <a:sym typeface="Courier New Bold" charset="0"/>
              </a:rPr>
              <a:t>%rip</a:t>
            </a:r>
          </a:p>
        </p:txBody>
      </p:sp>
      <p:sp>
        <p:nvSpPr>
          <p:cNvPr id="33798" name="Rectangle 6"/>
          <p:cNvSpPr/>
          <p:nvPr/>
        </p:nvSpPr>
        <p:spPr bwMode="auto">
          <a:xfrm>
            <a:off x="4466772" y="1828800"/>
            <a:ext cx="1026974" cy="384721"/>
          </a:xfrm>
          <a:prstGeom prst="rect">
            <a:avLst/>
          </a:prstGeom>
          <a:noFill/>
          <a:ln w="19050" cap="flat">
            <a:noFill/>
            <a:miter lim="800000"/>
            <a:headEnd type="none" w="med" len="med"/>
            <a:tailEnd type="none" w="med" len="med"/>
          </a:ln>
        </p:spPr>
        <p:txBody>
          <a:bodyPr wrap="none" lIns="38100" tIns="38100" rIns="38100" bIns="38100">
            <a:spAutoFit/>
          </a:bodyPr>
          <a:lstStyle/>
          <a:p>
            <a:pPr algn="l"/>
            <a:r>
              <a:rPr lang="en-US" sz="2000" dirty="0">
                <a:solidFill>
                  <a:schemeClr val="tx1"/>
                </a:solidFill>
                <a:latin typeface="Calibri Bold" charset="0"/>
                <a:ea typeface="Calibri Bold" charset="0"/>
                <a:cs typeface="Calibri Bold" charset="0"/>
                <a:sym typeface="Calibri Bold" charset="0"/>
              </a:rPr>
              <a:t>Registers</a:t>
            </a:r>
          </a:p>
        </p:txBody>
      </p:sp>
      <p:sp>
        <p:nvSpPr>
          <p:cNvPr id="33801" name="Rectangle 9"/>
          <p:cNvSpPr/>
          <p:nvPr/>
        </p:nvSpPr>
        <p:spPr bwMode="auto">
          <a:xfrm>
            <a:off x="6676572" y="5334000"/>
            <a:ext cx="1092200" cy="383540"/>
          </a:xfrm>
          <a:prstGeom prst="rect">
            <a:avLst/>
          </a:prstGeom>
          <a:noFill/>
          <a:ln w="19050" cap="flat">
            <a:noFill/>
            <a:miter lim="800000"/>
            <a:headEnd type="none" w="med" len="med"/>
            <a:tailEnd type="none" w="med" len="med"/>
          </a:ln>
        </p:spPr>
        <p:txBody>
          <a:bodyPr wrap="none" lIns="38100" tIns="38100" rIns="38100" bIns="38100">
            <a:spAutoFit/>
          </a:bodyPr>
          <a:lstStyle/>
          <a:p>
            <a:pPr algn="l"/>
            <a:r>
              <a:rPr lang="en-US" sz="2000" dirty="0">
                <a:solidFill>
                  <a:schemeClr val="tx1"/>
                </a:solidFill>
                <a:latin typeface="Calibri Bold" charset="0"/>
                <a:ea typeface="Calibri Bold" charset="0"/>
                <a:cs typeface="Calibri Bold" charset="0"/>
                <a:sym typeface="Calibri Bold" charset="0"/>
              </a:rPr>
              <a:t>指令指针</a:t>
            </a:r>
          </a:p>
        </p:txBody>
      </p:sp>
      <p:sp>
        <p:nvSpPr>
          <p:cNvPr id="33802" name="Rectangle 10"/>
          <p:cNvSpPr/>
          <p:nvPr/>
        </p:nvSpPr>
        <p:spPr bwMode="auto">
          <a:xfrm>
            <a:off x="4485822" y="6019800"/>
            <a:ext cx="533400" cy="533400"/>
          </a:xfrm>
          <a:prstGeom prst="rect">
            <a:avLst/>
          </a:prstGeom>
          <a:solidFill>
            <a:srgbClr val="C5FEB8"/>
          </a:solidFill>
          <a:ln w="25560" cap="flat">
            <a:solidFill>
              <a:schemeClr val="tx1"/>
            </a:solidFill>
            <a:prstDash val="solid"/>
            <a:miter lim="800000"/>
            <a:headEnd type="none" w="med" len="med"/>
            <a:tailEnd type="none" w="med" len="med"/>
          </a:ln>
        </p:spPr>
        <p:txBody>
          <a:bodyPr lIns="38100" tIns="38100" rIns="38100" bIns="38100" anchor="ct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chemeClr val="tx1"/>
                </a:solidFill>
                <a:latin typeface="Courier New Bold" charset="0"/>
                <a:cs typeface="Courier New Bold" charset="0"/>
                <a:sym typeface="Courier New Bold" charset="0"/>
              </a:rPr>
              <a:t>CF</a:t>
            </a:r>
          </a:p>
        </p:txBody>
      </p:sp>
      <p:sp>
        <p:nvSpPr>
          <p:cNvPr id="33803" name="Rectangle 11"/>
          <p:cNvSpPr/>
          <p:nvPr/>
        </p:nvSpPr>
        <p:spPr bwMode="auto">
          <a:xfrm>
            <a:off x="5158922" y="6019800"/>
            <a:ext cx="533400" cy="533400"/>
          </a:xfrm>
          <a:prstGeom prst="rect">
            <a:avLst/>
          </a:prstGeom>
          <a:solidFill>
            <a:srgbClr val="C5FEB8"/>
          </a:solidFill>
          <a:ln w="25560" cap="flat">
            <a:solidFill>
              <a:schemeClr val="tx1"/>
            </a:solidFill>
            <a:prstDash val="solid"/>
            <a:miter lim="800000"/>
            <a:headEnd type="none" w="med" len="med"/>
            <a:tailEnd type="none" w="med" len="med"/>
          </a:ln>
        </p:spPr>
        <p:txBody>
          <a:bodyPr lIns="38100" tIns="38100" rIns="38100" bIns="38100" anchor="ct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chemeClr val="tx1"/>
                </a:solidFill>
                <a:latin typeface="Courier New Bold" charset="0"/>
                <a:cs typeface="Courier New Bold" charset="0"/>
                <a:sym typeface="Courier New Bold" charset="0"/>
              </a:rPr>
              <a:t>ZF</a:t>
            </a:r>
          </a:p>
        </p:txBody>
      </p:sp>
      <p:sp>
        <p:nvSpPr>
          <p:cNvPr id="33804" name="Rectangle 12"/>
          <p:cNvSpPr/>
          <p:nvPr/>
        </p:nvSpPr>
        <p:spPr bwMode="auto">
          <a:xfrm>
            <a:off x="5832022" y="6019800"/>
            <a:ext cx="533400" cy="533400"/>
          </a:xfrm>
          <a:prstGeom prst="rect">
            <a:avLst/>
          </a:prstGeom>
          <a:solidFill>
            <a:srgbClr val="C5FEB8"/>
          </a:solidFill>
          <a:ln w="25560" cap="flat">
            <a:solidFill>
              <a:schemeClr val="tx1"/>
            </a:solidFill>
            <a:prstDash val="solid"/>
            <a:miter lim="800000"/>
            <a:headEnd type="none" w="med" len="med"/>
            <a:tailEnd type="none" w="med" len="med"/>
          </a:ln>
        </p:spPr>
        <p:txBody>
          <a:bodyPr lIns="38100" tIns="38100" rIns="38100" bIns="38100" anchor="ct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chemeClr val="tx1"/>
                </a:solidFill>
                <a:latin typeface="Courier New Bold" charset="0"/>
                <a:cs typeface="Courier New Bold" charset="0"/>
                <a:sym typeface="Courier New Bold" charset="0"/>
              </a:rPr>
              <a:t>SF</a:t>
            </a:r>
          </a:p>
        </p:txBody>
      </p:sp>
      <p:sp>
        <p:nvSpPr>
          <p:cNvPr id="33805" name="Rectangle 13"/>
          <p:cNvSpPr/>
          <p:nvPr/>
        </p:nvSpPr>
        <p:spPr bwMode="auto">
          <a:xfrm>
            <a:off x="6505122" y="6019800"/>
            <a:ext cx="533400" cy="533400"/>
          </a:xfrm>
          <a:prstGeom prst="rect">
            <a:avLst/>
          </a:prstGeom>
          <a:solidFill>
            <a:srgbClr val="C5FEB8"/>
          </a:solidFill>
          <a:ln w="25560" cap="flat">
            <a:solidFill>
              <a:schemeClr val="tx1"/>
            </a:solidFill>
            <a:prstDash val="solid"/>
            <a:miter lim="800000"/>
            <a:headEnd type="none" w="med" len="med"/>
            <a:tailEnd type="none" w="med" len="med"/>
          </a:ln>
        </p:spPr>
        <p:txBody>
          <a:bodyPr lIns="38100" tIns="38100" rIns="38100" bIns="38100" anchor="ctr"/>
          <a:lstStyle/>
          <a:p>
            <a:pPr>
              <a:lnSpc>
                <a:spcPct val="95000"/>
              </a:lnSpc>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2000">
                <a:solidFill>
                  <a:schemeClr val="tx1"/>
                </a:solidFill>
                <a:latin typeface="Courier New Bold" charset="0"/>
                <a:cs typeface="Courier New Bold" charset="0"/>
                <a:sym typeface="Courier New Bold" charset="0"/>
              </a:rPr>
              <a:t>OF</a:t>
            </a:r>
          </a:p>
        </p:txBody>
      </p:sp>
      <p:sp>
        <p:nvSpPr>
          <p:cNvPr id="33806" name="Rectangle 14"/>
          <p:cNvSpPr/>
          <p:nvPr/>
        </p:nvSpPr>
        <p:spPr bwMode="auto">
          <a:xfrm>
            <a:off x="7227888" y="6057900"/>
            <a:ext cx="1801812" cy="444500"/>
          </a:xfrm>
          <a:prstGeom prst="rect">
            <a:avLst/>
          </a:prstGeom>
          <a:noFill/>
          <a:ln w="19050" cap="flat">
            <a:noFill/>
            <a:miter lim="800000"/>
            <a:headEnd type="none" w="med" len="med"/>
            <a:tailEnd type="none" w="med" len="med"/>
          </a:ln>
        </p:spPr>
        <p:txBody>
          <a:bodyPr lIns="38100" tIns="38100" rIns="38100" bIns="38100"/>
          <a:lstStyle/>
          <a:p>
            <a:pPr algn="l"/>
            <a:r>
              <a:rPr lang="zh-CN" altLang="en-US" sz="2000" b="1" dirty="0">
                <a:solidFill>
                  <a:srgbClr val="C00000"/>
                </a:solidFill>
                <a:latin typeface="Calibri Bold" charset="0"/>
                <a:ea typeface="宋体" panose="02010600030101010101" pitchFamily="2" charset="-122"/>
                <a:cs typeface="Calibri Bold" charset="0"/>
                <a:sym typeface="Calibri Bold" charset="0"/>
              </a:rPr>
              <a:t>条件码</a:t>
            </a:r>
          </a:p>
        </p:txBody>
      </p:sp>
      <p:grpSp>
        <p:nvGrpSpPr>
          <p:cNvPr id="26" name="Group 25"/>
          <p:cNvGrpSpPr/>
          <p:nvPr/>
        </p:nvGrpSpPr>
        <p:grpSpPr>
          <a:xfrm>
            <a:off x="4466772" y="2286000"/>
            <a:ext cx="4296228" cy="2743200"/>
            <a:chOff x="762000" y="1143000"/>
            <a:chExt cx="7518400" cy="4800600"/>
          </a:xfrm>
        </p:grpSpPr>
        <p:sp>
          <p:nvSpPr>
            <p:cNvPr id="27" name="Rectangle 1"/>
            <p:cNvSpPr/>
            <p:nvPr/>
          </p:nvSpPr>
          <p:spPr bwMode="auto">
            <a:xfrm>
              <a:off x="762000" y="4800600"/>
              <a:ext cx="3556000" cy="533400"/>
            </a:xfrm>
            <a:prstGeom prst="rect">
              <a:avLst/>
            </a:prstGeom>
            <a:solidFill>
              <a:srgbClr val="EFBFBF"/>
            </a:solid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%rsp</a:t>
              </a:r>
            </a:p>
          </p:txBody>
        </p:sp>
        <p:sp>
          <p:nvSpPr>
            <p:cNvPr id="28" name="Rectangle 22"/>
            <p:cNvSpPr/>
            <p:nvPr/>
          </p:nvSpPr>
          <p:spPr bwMode="auto">
            <a:xfrm>
              <a:off x="4724400" y="11430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%r8</a:t>
              </a:r>
            </a:p>
          </p:txBody>
        </p:sp>
        <p:sp>
          <p:nvSpPr>
            <p:cNvPr id="29" name="Rectangle 23"/>
            <p:cNvSpPr/>
            <p:nvPr/>
          </p:nvSpPr>
          <p:spPr bwMode="auto">
            <a:xfrm>
              <a:off x="4724400" y="17526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%r9</a:t>
              </a:r>
            </a:p>
          </p:txBody>
        </p:sp>
        <p:sp>
          <p:nvSpPr>
            <p:cNvPr id="30" name="Rectangle 24"/>
            <p:cNvSpPr/>
            <p:nvPr/>
          </p:nvSpPr>
          <p:spPr bwMode="auto">
            <a:xfrm>
              <a:off x="4724400" y="23622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%r10</a:t>
              </a:r>
            </a:p>
          </p:txBody>
        </p:sp>
        <p:sp>
          <p:nvSpPr>
            <p:cNvPr id="31" name="Rectangle 25"/>
            <p:cNvSpPr/>
            <p:nvPr/>
          </p:nvSpPr>
          <p:spPr bwMode="auto">
            <a:xfrm>
              <a:off x="4724400" y="29718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%r11</a:t>
              </a:r>
            </a:p>
          </p:txBody>
        </p:sp>
        <p:sp>
          <p:nvSpPr>
            <p:cNvPr id="32" name="Rectangle 26"/>
            <p:cNvSpPr/>
            <p:nvPr/>
          </p:nvSpPr>
          <p:spPr bwMode="auto">
            <a:xfrm>
              <a:off x="4724400" y="35814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%r12</a:t>
              </a:r>
            </a:p>
          </p:txBody>
        </p:sp>
        <p:sp>
          <p:nvSpPr>
            <p:cNvPr id="33" name="Rectangle 27"/>
            <p:cNvSpPr/>
            <p:nvPr/>
          </p:nvSpPr>
          <p:spPr bwMode="auto">
            <a:xfrm>
              <a:off x="4724400" y="41910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%r13</a:t>
              </a:r>
            </a:p>
          </p:txBody>
        </p:sp>
        <p:sp>
          <p:nvSpPr>
            <p:cNvPr id="34" name="Rectangle 28"/>
            <p:cNvSpPr/>
            <p:nvPr/>
          </p:nvSpPr>
          <p:spPr bwMode="auto">
            <a:xfrm>
              <a:off x="4724400" y="48006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%r14</a:t>
              </a:r>
            </a:p>
          </p:txBody>
        </p:sp>
        <p:sp>
          <p:nvSpPr>
            <p:cNvPr id="35" name="Rectangle 29"/>
            <p:cNvSpPr/>
            <p:nvPr/>
          </p:nvSpPr>
          <p:spPr bwMode="auto">
            <a:xfrm>
              <a:off x="4724400" y="54102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%r15</a:t>
              </a:r>
            </a:p>
          </p:txBody>
        </p:sp>
        <p:sp>
          <p:nvSpPr>
            <p:cNvPr id="36" name="Rectangle 30"/>
            <p:cNvSpPr/>
            <p:nvPr/>
          </p:nvSpPr>
          <p:spPr bwMode="auto">
            <a:xfrm>
              <a:off x="762000" y="11430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rax</a:t>
              </a:r>
              <a:endParaRPr lang="en-US" sz="1800" dirty="0">
                <a:solidFill>
                  <a:schemeClr val="tx1"/>
                </a:solidFill>
                <a:latin typeface="Courier New Bold" charset="0"/>
                <a:cs typeface="Courier New Bold" charset="0"/>
                <a:sym typeface="Courier New Bold" charset="0"/>
              </a:endParaRPr>
            </a:p>
          </p:txBody>
        </p:sp>
        <p:sp>
          <p:nvSpPr>
            <p:cNvPr id="37" name="Rectangle 31"/>
            <p:cNvSpPr/>
            <p:nvPr/>
          </p:nvSpPr>
          <p:spPr bwMode="auto">
            <a:xfrm>
              <a:off x="762000" y="17526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rbx</a:t>
              </a:r>
              <a:endParaRPr lang="en-US" sz="1800" dirty="0">
                <a:solidFill>
                  <a:schemeClr val="tx1"/>
                </a:solidFill>
                <a:latin typeface="Courier New Bold" charset="0"/>
                <a:cs typeface="Courier New Bold" charset="0"/>
                <a:sym typeface="Courier New Bold" charset="0"/>
              </a:endParaRPr>
            </a:p>
          </p:txBody>
        </p:sp>
        <p:sp>
          <p:nvSpPr>
            <p:cNvPr id="38" name="Rectangle 32"/>
            <p:cNvSpPr/>
            <p:nvPr/>
          </p:nvSpPr>
          <p:spPr bwMode="auto">
            <a:xfrm>
              <a:off x="762000" y="23622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%rcx</a:t>
              </a:r>
            </a:p>
          </p:txBody>
        </p:sp>
        <p:sp>
          <p:nvSpPr>
            <p:cNvPr id="39" name="Rectangle 33"/>
            <p:cNvSpPr/>
            <p:nvPr/>
          </p:nvSpPr>
          <p:spPr bwMode="auto">
            <a:xfrm>
              <a:off x="762000" y="29718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%rdx</a:t>
              </a:r>
            </a:p>
          </p:txBody>
        </p:sp>
        <p:sp>
          <p:nvSpPr>
            <p:cNvPr id="40" name="Rectangle 34"/>
            <p:cNvSpPr/>
            <p:nvPr/>
          </p:nvSpPr>
          <p:spPr bwMode="auto">
            <a:xfrm>
              <a:off x="762000" y="35814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%rsi</a:t>
              </a:r>
            </a:p>
          </p:txBody>
        </p:sp>
        <p:sp>
          <p:nvSpPr>
            <p:cNvPr id="41" name="Rectangle 35"/>
            <p:cNvSpPr/>
            <p:nvPr/>
          </p:nvSpPr>
          <p:spPr bwMode="auto">
            <a:xfrm>
              <a:off x="762000" y="41910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%rdi</a:t>
              </a:r>
            </a:p>
          </p:txBody>
        </p:sp>
        <p:sp>
          <p:nvSpPr>
            <p:cNvPr id="42" name="Rectangle 36"/>
            <p:cNvSpPr/>
            <p:nvPr/>
          </p:nvSpPr>
          <p:spPr bwMode="auto">
            <a:xfrm>
              <a:off x="762000" y="54102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1800">
                  <a:solidFill>
                    <a:schemeClr val="tx1"/>
                  </a:solidFill>
                  <a:latin typeface="Courier New Bold" charset="0"/>
                  <a:cs typeface="Courier New Bold" charset="0"/>
                  <a:sym typeface="Courier New Bold" charset="0"/>
                </a:rPr>
                <a:t>%rbp</a:t>
              </a:r>
            </a:p>
          </p:txBody>
        </p:sp>
      </p:grpSp>
      <p:cxnSp>
        <p:nvCxnSpPr>
          <p:cNvPr id="7" name="Straight Arrow Connector 2"/>
          <p:cNvCxnSpPr/>
          <p:nvPr/>
        </p:nvCxnSpPr>
        <p:spPr bwMode="auto">
          <a:xfrm flipV="1">
            <a:off x="3657600" y="4528457"/>
            <a:ext cx="809172" cy="1186543"/>
          </a:xfrm>
          <a:prstGeom prst="straightConnector1">
            <a:avLst/>
          </a:prstGeom>
          <a:solidFill>
            <a:schemeClr val="accent1"/>
          </a:solidFill>
          <a:ln w="25400" cap="flat" cmpd="sng" algn="ctr">
            <a:solidFill>
              <a:srgbClr val="000000"/>
            </a:solidFill>
            <a:prstDash val="solid"/>
            <a:round/>
            <a:headEnd type="none" w="med" len="med"/>
            <a:tailEnd type="arrow"/>
          </a:ln>
          <a:effectLst/>
        </p:spPr>
      </p:cxnSp>
      <p:sp>
        <p:nvSpPr>
          <p:cNvPr id="33799" name="Rectangle 7"/>
          <p:cNvSpPr/>
          <p:nvPr/>
        </p:nvSpPr>
        <p:spPr bwMode="auto">
          <a:xfrm>
            <a:off x="2616200" y="5638800"/>
            <a:ext cx="1092200" cy="383540"/>
          </a:xfrm>
          <a:prstGeom prst="rect">
            <a:avLst/>
          </a:prstGeom>
          <a:noFill/>
          <a:ln w="19050" cap="flat">
            <a:noFill/>
            <a:miter lim="800000"/>
            <a:headEnd type="none" w="med" len="med"/>
            <a:tailEnd type="none" w="med" len="med"/>
          </a:ln>
        </p:spPr>
        <p:txBody>
          <a:bodyPr wrap="none" lIns="38100" tIns="38100" rIns="38100" bIns="38100">
            <a:spAutoFit/>
          </a:bodyPr>
          <a:lstStyle/>
          <a:p>
            <a:r>
              <a:rPr lang="zh-CN" altLang="en-US" sz="2000" dirty="0">
                <a:solidFill>
                  <a:schemeClr val="tx1"/>
                </a:solidFill>
                <a:latin typeface="Calibri Bold" charset="0"/>
                <a:ea typeface="宋体" panose="02010600030101010101" pitchFamily="2" charset="-122"/>
                <a:cs typeface="Calibri Bold" charset="0"/>
                <a:sym typeface="Calibri Bold" charset="0"/>
              </a:rPr>
              <a:t>当前栈顶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by="(-#ppt_w*2)" calcmode="lin" valueType="num">
                                      <p:cBhvr rctx="PPT">
                                        <p:cTn id="7" dur="500" autoRev="1" fill="hold">
                                          <p:stCondLst>
                                            <p:cond delay="0"/>
                                          </p:stCondLst>
                                        </p:cTn>
                                        <p:tgtEl>
                                          <p:spTgt spid="4"/>
                                        </p:tgtEl>
                                        <p:attrNameLst>
                                          <p:attrName>ppt_w</p:attrName>
                                        </p:attrNameLst>
                                      </p:cBhvr>
                                    </p:anim>
                                    <p:anim by="(#ppt_w*0.50)" calcmode="lin" valueType="num">
                                      <p:cBhvr>
                                        <p:cTn id="8" dur="500" decel="50000" autoRev="1" fill="hold">
                                          <p:stCondLst>
                                            <p:cond delay="0"/>
                                          </p:stCondLst>
                                        </p:cTn>
                                        <p:tgtEl>
                                          <p:spTgt spid="4"/>
                                        </p:tgtEl>
                                        <p:attrNameLst>
                                          <p:attrName>ppt_x</p:attrName>
                                        </p:attrNameLst>
                                      </p:cBhvr>
                                    </p:anim>
                                    <p:anim from="(-#ppt_h/2)" to="(#ppt_y)" calcmode="lin" valueType="num">
                                      <p:cBhvr>
                                        <p:cTn id="9" dur="1000" fill="hold">
                                          <p:stCondLst>
                                            <p:cond delay="0"/>
                                          </p:stCondLst>
                                        </p:cTn>
                                        <p:tgtEl>
                                          <p:spTgt spid="4"/>
                                        </p:tgtEl>
                                        <p:attrNameLst>
                                          <p:attrName>ppt_y</p:attrName>
                                        </p:attrNameLst>
                                      </p:cBhvr>
                                    </p:anim>
                                    <p:animRot by="21600000">
                                      <p:cBhvr>
                                        <p:cTn id="10" dur="1000" fill="hold">
                                          <p:stCondLst>
                                            <p:cond delay="0"/>
                                          </p:stCondLst>
                                        </p:cTn>
                                        <p:tgtEl>
                                          <p:spTgt spid="4"/>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4"/>
                                        </p:tgtEl>
                                        <p:attrNameLst>
                                          <p:attrName>ppt_y</p:attrName>
                                        </p:attrNameLst>
                                      </p:cBhvr>
                                      <p:tavLst>
                                        <p:tav tm="0">
                                          <p:val>
                                            <p:strVal val="#ppt_y"/>
                                          </p:val>
                                        </p:tav>
                                        <p:tav tm="100000">
                                          <p:val>
                                            <p:strVal val="#ppt_y"/>
                                          </p:val>
                                        </p:tav>
                                      </p:tavLst>
                                    </p:anim>
                                    <p:anim calcmode="lin" valueType="num">
                                      <p:cBhvr>
                                        <p:cTn id="15" dur="10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9008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3" name="等腰三角形 2"/>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TextBox 24"/>
          <p:cNvSpPr txBox="1"/>
          <p:nvPr/>
        </p:nvSpPr>
        <p:spPr>
          <a:xfrm>
            <a:off x="5493589" y="347761"/>
            <a:ext cx="1325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条件码</a:t>
            </a:r>
          </a:p>
        </p:txBody>
      </p:sp>
      <p:sp>
        <p:nvSpPr>
          <p:cNvPr id="34820" name="Rectangle 4"/>
          <p:cNvSpPr>
            <a:spLocks noGrp="1" noChangeArrowheads="1"/>
          </p:cNvSpPr>
          <p:nvPr/>
        </p:nvSpPr>
        <p:spPr>
          <a:xfrm>
            <a:off x="118110" y="1666240"/>
            <a:ext cx="9026525" cy="480314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tabLst>
                <a:tab pos="1225550" algn="l"/>
                <a:tab pos="4060825" algn="l"/>
                <a:tab pos="1225550" algn="l"/>
                <a:tab pos="4060825" algn="l"/>
              </a:tabLst>
            </a:pPr>
            <a:r>
              <a:rPr lang="zh-CN" altLang="en-US" dirty="0"/>
              <a:t>单个位的条件码寄存器</a:t>
            </a:r>
          </a:p>
          <a:p>
            <a:pPr marL="317500" lvl="1" indent="0">
              <a:tabLst>
                <a:tab pos="1225550" algn="l"/>
                <a:tab pos="4060825" algn="l"/>
                <a:tab pos="1225550" algn="l"/>
                <a:tab pos="4060825" algn="l"/>
              </a:tabLst>
            </a:pPr>
            <a:r>
              <a:rPr lang="en-US" dirty="0">
                <a:latin typeface="Calibri Bold" charset="0"/>
                <a:ea typeface="Calibri Bold" charset="0"/>
                <a:cs typeface="Calibri Bold" charset="0"/>
                <a:sym typeface="Calibri Bold" charset="0"/>
              </a:rPr>
              <a:t>CF	</a:t>
            </a:r>
            <a:r>
              <a:rPr lang="zh-CN" altLang="en-US" dirty="0">
                <a:sym typeface="+mn-ea"/>
              </a:rPr>
              <a:t>进位标志（无符号数的溢出）  </a:t>
            </a:r>
          </a:p>
          <a:p>
            <a:pPr marL="317500" lvl="1" indent="0">
              <a:tabLst>
                <a:tab pos="1225550" algn="l"/>
                <a:tab pos="4060825" algn="l"/>
                <a:tab pos="1225550" algn="l"/>
                <a:tab pos="4060825" algn="l"/>
              </a:tabLst>
            </a:pPr>
            <a:r>
              <a:rPr lang="en-US" dirty="0">
                <a:latin typeface="Calibri Bold" charset="0"/>
                <a:ea typeface="Calibri Bold" charset="0"/>
                <a:cs typeface="Calibri Bold" charset="0"/>
                <a:sym typeface="Calibri Bold" charset="0"/>
              </a:rPr>
              <a:t>SF</a:t>
            </a:r>
            <a:r>
              <a:rPr lang="en-US" dirty="0"/>
              <a:t>  	</a:t>
            </a:r>
            <a:r>
              <a:rPr lang="zh-CN" altLang="en-US" dirty="0">
                <a:sym typeface="+mn-ea"/>
              </a:rPr>
              <a:t>符号标志（结果为负时标志位为</a:t>
            </a:r>
            <a:r>
              <a:rPr lang="en-US" altLang="zh-CN" dirty="0">
                <a:sym typeface="+mn-ea"/>
              </a:rPr>
              <a:t>1</a:t>
            </a:r>
            <a:r>
              <a:rPr lang="zh-CN" altLang="en-US" dirty="0">
                <a:sym typeface="+mn-ea"/>
              </a:rPr>
              <a:t>）</a:t>
            </a:r>
          </a:p>
          <a:p>
            <a:pPr marL="317500" lvl="1" indent="0">
              <a:tabLst>
                <a:tab pos="1225550" algn="l"/>
                <a:tab pos="4060825" algn="l"/>
                <a:tab pos="1225550" algn="l"/>
                <a:tab pos="4060825" algn="l"/>
              </a:tabLst>
            </a:pPr>
            <a:r>
              <a:rPr lang="en-US" dirty="0">
                <a:latin typeface="Calibri Bold" charset="0"/>
                <a:ea typeface="Calibri Bold" charset="0"/>
                <a:cs typeface="Calibri Bold" charset="0"/>
                <a:sym typeface="Calibri Bold" charset="0"/>
              </a:rPr>
              <a:t>ZF</a:t>
            </a:r>
            <a:r>
              <a:rPr lang="en-US" dirty="0"/>
              <a:t>	</a:t>
            </a:r>
            <a:r>
              <a:rPr lang="zh-CN" altLang="en-US" dirty="0">
                <a:sym typeface="+mn-ea"/>
              </a:rPr>
              <a:t>零标志</a:t>
            </a:r>
            <a:r>
              <a:rPr lang="en-US" dirty="0"/>
              <a:t>	</a:t>
            </a:r>
          </a:p>
          <a:p>
            <a:pPr marL="317500" lvl="1" indent="0">
              <a:tabLst>
                <a:tab pos="1225550" algn="l"/>
                <a:tab pos="4060825" algn="l"/>
                <a:tab pos="1225550" algn="l"/>
                <a:tab pos="4060825" algn="l"/>
              </a:tabLst>
            </a:pPr>
            <a:r>
              <a:rPr lang="en-US" dirty="0">
                <a:latin typeface="Calibri Bold" charset="0"/>
                <a:ea typeface="Calibri Bold" charset="0"/>
                <a:cs typeface="Calibri Bold" charset="0"/>
                <a:sym typeface="Calibri Bold" charset="0"/>
              </a:rPr>
              <a:t>OF</a:t>
            </a:r>
            <a:r>
              <a:rPr lang="en-US" dirty="0"/>
              <a:t>  	</a:t>
            </a:r>
            <a:r>
              <a:rPr lang="zh-CN" altLang="en-US" dirty="0">
                <a:sym typeface="+mn-ea"/>
              </a:rPr>
              <a:t>溢出标志（正溢出或负溢出）</a:t>
            </a:r>
            <a:endParaRPr lang="en-US" dirty="0"/>
          </a:p>
          <a:p>
            <a:pPr>
              <a:tabLst>
                <a:tab pos="1225550" algn="l"/>
                <a:tab pos="4060825" algn="l"/>
                <a:tab pos="1225550" algn="l"/>
                <a:tab pos="4060825" algn="l"/>
              </a:tabLst>
            </a:pPr>
            <a:r>
              <a:rPr lang="en-US" dirty="0"/>
              <a:t>算术运算的隐式集</a:t>
            </a:r>
          </a:p>
          <a:p>
            <a:pPr marL="317500" lvl="1" indent="0">
              <a:buNone/>
              <a:tabLst>
                <a:tab pos="1225550" algn="l"/>
                <a:tab pos="4060825" algn="l"/>
                <a:tab pos="1225550" algn="l"/>
                <a:tab pos="4060825" algn="l"/>
              </a:tabLst>
            </a:pPr>
            <a:r>
              <a:rPr lang="zh-CN" altLang="en-US" dirty="0">
                <a:ea typeface="宋体" panose="02010600030101010101" pitchFamily="2" charset="-122"/>
              </a:rPr>
              <a:t>例子</a:t>
            </a:r>
            <a:r>
              <a:rPr lang="en-US" dirty="0"/>
              <a:t>: </a:t>
            </a:r>
            <a:r>
              <a:rPr lang="en-US" dirty="0" err="1">
                <a:latin typeface="Courier New Bold" charset="0"/>
                <a:cs typeface="Courier New Bold" charset="0"/>
                <a:sym typeface="Courier New Bold" charset="0"/>
              </a:rPr>
              <a:t>addq</a:t>
            </a:r>
            <a:r>
              <a:rPr lang="en-US" dirty="0"/>
              <a:t> </a:t>
            </a:r>
            <a:r>
              <a:rPr lang="en-US" dirty="0" err="1">
                <a:latin typeface="Calibri Italic" charset="0"/>
                <a:ea typeface="Calibri Italic" charset="0"/>
                <a:cs typeface="Calibri Italic" charset="0"/>
                <a:sym typeface="Calibri Italic" charset="0"/>
              </a:rPr>
              <a:t>Src</a:t>
            </a:r>
            <a:r>
              <a:rPr lang="en-US" dirty="0" err="1"/>
              <a:t>,</a:t>
            </a:r>
            <a:r>
              <a:rPr lang="en-US" dirty="0" err="1">
                <a:latin typeface="Calibri Italic" charset="0"/>
                <a:ea typeface="Calibri Italic" charset="0"/>
                <a:cs typeface="Calibri Italic" charset="0"/>
                <a:sym typeface="Calibri Italic" charset="0"/>
              </a:rPr>
              <a:t>Dest</a:t>
            </a:r>
            <a:r>
              <a:rPr lang="en-US" dirty="0"/>
              <a:t> ↔ </a:t>
            </a:r>
            <a:r>
              <a:rPr lang="en-US" dirty="0">
                <a:latin typeface="Courier New Bold" charset="0"/>
                <a:cs typeface="Courier New Bold" charset="0"/>
                <a:sym typeface="Courier New Bold" charset="0"/>
              </a:rPr>
              <a:t>t = </a:t>
            </a:r>
            <a:r>
              <a:rPr lang="en-US" dirty="0" err="1">
                <a:latin typeface="Courier New Bold" charset="0"/>
                <a:cs typeface="Courier New Bold" charset="0"/>
                <a:sym typeface="Courier New Bold" charset="0"/>
              </a:rPr>
              <a:t>a+b</a:t>
            </a:r>
            <a:endParaRPr lang="en-US" dirty="0"/>
          </a:p>
          <a:p>
            <a:pPr marL="317500" lvl="1" indent="0">
              <a:buNone/>
              <a:tabLst>
                <a:tab pos="1225550" algn="l"/>
                <a:tab pos="4060825" algn="l"/>
                <a:tab pos="1225550" algn="l"/>
                <a:tab pos="4060825" algn="l"/>
              </a:tabLst>
            </a:pPr>
            <a:r>
              <a:rPr lang="en-US" dirty="0">
                <a:solidFill>
                  <a:srgbClr val="980002"/>
                </a:solidFill>
                <a:latin typeface="Calibri Bold" charset="0"/>
                <a:ea typeface="Calibri Bold" charset="0"/>
                <a:cs typeface="Calibri Bold" charset="0"/>
                <a:sym typeface="Calibri Bold" charset="0"/>
              </a:rPr>
              <a:t>CF  </a:t>
            </a:r>
            <a:r>
              <a:rPr lang="en-US" dirty="0"/>
              <a:t>  (unsigned t)&lt;</a:t>
            </a:r>
            <a:r>
              <a:rPr lang="en-US" dirty="0">
                <a:sym typeface="+mn-ea"/>
              </a:rPr>
              <a:t>(unsigned a)</a:t>
            </a:r>
            <a:endParaRPr lang="zh-CN" altLang="en-US" dirty="0">
              <a:ea typeface="宋体" panose="02010600030101010101" pitchFamily="2" charset="-122"/>
            </a:endParaRPr>
          </a:p>
          <a:p>
            <a:pPr marL="317500" lvl="1" indent="0">
              <a:buNone/>
              <a:tabLst>
                <a:tab pos="1225550" algn="l"/>
                <a:tab pos="4060825" algn="l"/>
                <a:tab pos="1225550" algn="l"/>
                <a:tab pos="4060825" algn="l"/>
              </a:tabLst>
            </a:pPr>
            <a:r>
              <a:rPr lang="en-US" dirty="0">
                <a:solidFill>
                  <a:srgbClr val="980002"/>
                </a:solidFill>
                <a:latin typeface="Calibri Bold" charset="0"/>
                <a:ea typeface="Calibri Bold" charset="0"/>
                <a:cs typeface="Calibri Bold" charset="0"/>
                <a:sym typeface="Calibri Bold" charset="0"/>
              </a:rPr>
              <a:t>ZF  </a:t>
            </a:r>
            <a:r>
              <a:rPr lang="en-US" dirty="0"/>
              <a:t>  </a:t>
            </a:r>
            <a:r>
              <a:rPr lang="en-US" dirty="0">
                <a:latin typeface="Courier New Bold" charset="0"/>
                <a:cs typeface="Courier New Bold" charset="0"/>
                <a:sym typeface="Courier New Bold" charset="0"/>
              </a:rPr>
              <a:t>t == 0</a:t>
            </a:r>
            <a:endParaRPr lang="en-US" dirty="0"/>
          </a:p>
          <a:p>
            <a:pPr marL="317500" lvl="1" indent="0">
              <a:buNone/>
              <a:tabLst>
                <a:tab pos="1225550" algn="l"/>
                <a:tab pos="4060825" algn="l"/>
                <a:tab pos="1225550" algn="l"/>
                <a:tab pos="4060825" algn="l"/>
              </a:tabLst>
            </a:pPr>
            <a:r>
              <a:rPr lang="en-US" dirty="0">
                <a:solidFill>
                  <a:srgbClr val="980002"/>
                </a:solidFill>
                <a:latin typeface="Calibri Bold" charset="0"/>
                <a:ea typeface="Calibri Bold" charset="0"/>
                <a:cs typeface="Calibri Bold" charset="0"/>
                <a:sym typeface="Calibri Bold" charset="0"/>
              </a:rPr>
              <a:t>SF  </a:t>
            </a:r>
            <a:r>
              <a:rPr lang="en-US" dirty="0"/>
              <a:t> </a:t>
            </a:r>
            <a:r>
              <a:rPr lang="en-US" dirty="0">
                <a:latin typeface="Courier New Bold" charset="0"/>
                <a:cs typeface="Courier New Bold" charset="0"/>
                <a:sym typeface="Courier New Bold" charset="0"/>
              </a:rPr>
              <a:t>t &lt; 0</a:t>
            </a:r>
            <a:r>
              <a:rPr lang="en-US" dirty="0"/>
              <a:t> </a:t>
            </a:r>
          </a:p>
          <a:p>
            <a:pPr marL="317500" lvl="1" indent="0">
              <a:buNone/>
              <a:tabLst>
                <a:tab pos="1225550" algn="l"/>
                <a:tab pos="4060825" algn="l"/>
                <a:tab pos="1225550" algn="l"/>
                <a:tab pos="4060825" algn="l"/>
              </a:tabLst>
            </a:pPr>
            <a:r>
              <a:rPr lang="en-US" dirty="0">
                <a:solidFill>
                  <a:srgbClr val="980002"/>
                </a:solidFill>
                <a:latin typeface="Calibri Bold" charset="0"/>
                <a:ea typeface="Calibri Bold" charset="0"/>
                <a:cs typeface="Calibri Bold" charset="0"/>
                <a:sym typeface="Calibri Bold" charset="0"/>
              </a:rPr>
              <a:t>OF  </a:t>
            </a:r>
            <a:r>
              <a:rPr lang="en-US" dirty="0">
                <a:latin typeface="Courier New Bold" charset="0"/>
                <a:cs typeface="Courier New Bold" charset="0"/>
                <a:sym typeface="Courier New Bold" charset="0"/>
              </a:rPr>
              <a:t>(a&gt;0 &amp;&amp; b&gt;0 &amp;&amp; t&lt;0) || (a&lt;0 &amp;&amp; b&lt;0 &amp;&amp; t&gt;=0)</a:t>
            </a:r>
            <a:endParaRPr lang="en-US" dirty="0"/>
          </a:p>
          <a:p>
            <a:pPr>
              <a:tabLst>
                <a:tab pos="1225550" algn="l"/>
                <a:tab pos="4060825" algn="l"/>
                <a:tab pos="1225550" algn="l"/>
                <a:tab pos="4060825" algn="l"/>
              </a:tabLst>
            </a:pPr>
            <a:r>
              <a:rPr lang="en-US" dirty="0">
                <a:solidFill>
                  <a:srgbClr val="FF0000"/>
                </a:solidFill>
              </a:rPr>
              <a:t> </a:t>
            </a:r>
            <a:r>
              <a:rPr lang="en-US" dirty="0" err="1">
                <a:solidFill>
                  <a:srgbClr val="FF0000"/>
                </a:solidFill>
                <a:latin typeface="Courier New Bold" charset="0"/>
                <a:cs typeface="Courier New Bold" charset="0"/>
                <a:sym typeface="Courier New Bold" charset="0"/>
              </a:rPr>
              <a:t>leaq</a:t>
            </a:r>
            <a:r>
              <a:rPr lang="en-US" dirty="0">
                <a:solidFill>
                  <a:srgbClr val="FF0000"/>
                </a:solidFill>
              </a:rPr>
              <a:t> </a:t>
            </a:r>
            <a:r>
              <a:rPr lang="zh-CN" altLang="en-US" dirty="0">
                <a:solidFill>
                  <a:schemeClr val="tx1"/>
                </a:solidFill>
              </a:rPr>
              <a:t>指令不改变任何条件码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by="(-#ppt_w*2)" calcmode="lin" valueType="num">
                                      <p:cBhvr rctx="PPT">
                                        <p:cTn id="7" dur="500" autoRev="1" fill="hold">
                                          <p:stCondLst>
                                            <p:cond delay="0"/>
                                          </p:stCondLst>
                                        </p:cTn>
                                        <p:tgtEl>
                                          <p:spTgt spid="4"/>
                                        </p:tgtEl>
                                        <p:attrNameLst>
                                          <p:attrName>ppt_w</p:attrName>
                                        </p:attrNameLst>
                                      </p:cBhvr>
                                    </p:anim>
                                    <p:anim by="(#ppt_w*0.50)" calcmode="lin" valueType="num">
                                      <p:cBhvr>
                                        <p:cTn id="8" dur="500" decel="50000" autoRev="1" fill="hold">
                                          <p:stCondLst>
                                            <p:cond delay="0"/>
                                          </p:stCondLst>
                                        </p:cTn>
                                        <p:tgtEl>
                                          <p:spTgt spid="4"/>
                                        </p:tgtEl>
                                        <p:attrNameLst>
                                          <p:attrName>ppt_x</p:attrName>
                                        </p:attrNameLst>
                                      </p:cBhvr>
                                    </p:anim>
                                    <p:anim from="(-#ppt_h/2)" to="(#ppt_y)" calcmode="lin" valueType="num">
                                      <p:cBhvr>
                                        <p:cTn id="9" dur="1000" fill="hold">
                                          <p:stCondLst>
                                            <p:cond delay="0"/>
                                          </p:stCondLst>
                                        </p:cTn>
                                        <p:tgtEl>
                                          <p:spTgt spid="4"/>
                                        </p:tgtEl>
                                        <p:attrNameLst>
                                          <p:attrName>ppt_y</p:attrName>
                                        </p:attrNameLst>
                                      </p:cBhvr>
                                    </p:anim>
                                    <p:animRot by="21600000">
                                      <p:cBhvr>
                                        <p:cTn id="10" dur="1000" fill="hold">
                                          <p:stCondLst>
                                            <p:cond delay="0"/>
                                          </p:stCondLst>
                                        </p:cTn>
                                        <p:tgtEl>
                                          <p:spTgt spid="4"/>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4"/>
                                        </p:tgtEl>
                                        <p:attrNameLst>
                                          <p:attrName>ppt_y</p:attrName>
                                        </p:attrNameLst>
                                      </p:cBhvr>
                                      <p:tavLst>
                                        <p:tav tm="0">
                                          <p:val>
                                            <p:strVal val="#ppt_y"/>
                                          </p:val>
                                        </p:tav>
                                        <p:tav tm="100000">
                                          <p:val>
                                            <p:strVal val="#ppt_y"/>
                                          </p:val>
                                        </p:tav>
                                      </p:tavLst>
                                    </p:anim>
                                    <p:anim calcmode="lin" valueType="num">
                                      <p:cBhvr>
                                        <p:cTn id="15" dur="10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4820">
                                            <p:txEl>
                                              <p:pRg st="1" end="1"/>
                                            </p:txEl>
                                          </p:spTgt>
                                        </p:tgtEl>
                                        <p:attrNameLst>
                                          <p:attrName>style.visibility</p:attrName>
                                        </p:attrNameLst>
                                      </p:cBhvr>
                                      <p:to>
                                        <p:strVal val="visible"/>
                                      </p:to>
                                    </p:set>
                                    <p:animEffect transition="in" filter="wipe(down)">
                                      <p:cBhvr>
                                        <p:cTn id="22" dur="500"/>
                                        <p:tgtEl>
                                          <p:spTgt spid="34820">
                                            <p:txEl>
                                              <p:pRg st="1" end="1"/>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4820">
                                            <p:txEl>
                                              <p:pRg st="2" end="2"/>
                                            </p:txEl>
                                          </p:spTgt>
                                        </p:tgtEl>
                                        <p:attrNameLst>
                                          <p:attrName>style.visibility</p:attrName>
                                        </p:attrNameLst>
                                      </p:cBhvr>
                                      <p:to>
                                        <p:strVal val="visible"/>
                                      </p:to>
                                    </p:set>
                                    <p:animEffect transition="in" filter="wipe(down)">
                                      <p:cBhvr>
                                        <p:cTn id="25" dur="500"/>
                                        <p:tgtEl>
                                          <p:spTgt spid="34820">
                                            <p:txEl>
                                              <p:pRg st="2" end="2"/>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34820">
                                            <p:txEl>
                                              <p:pRg st="3" end="3"/>
                                            </p:txEl>
                                          </p:spTgt>
                                        </p:tgtEl>
                                        <p:attrNameLst>
                                          <p:attrName>style.visibility</p:attrName>
                                        </p:attrNameLst>
                                      </p:cBhvr>
                                      <p:to>
                                        <p:strVal val="visible"/>
                                      </p:to>
                                    </p:set>
                                    <p:animEffect transition="in" filter="wipe(down)">
                                      <p:cBhvr>
                                        <p:cTn id="28" dur="500"/>
                                        <p:tgtEl>
                                          <p:spTgt spid="34820">
                                            <p:txEl>
                                              <p:pRg st="3" end="3"/>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34820">
                                            <p:txEl>
                                              <p:pRg st="4" end="4"/>
                                            </p:txEl>
                                          </p:spTgt>
                                        </p:tgtEl>
                                        <p:attrNameLst>
                                          <p:attrName>style.visibility</p:attrName>
                                        </p:attrNameLst>
                                      </p:cBhvr>
                                      <p:to>
                                        <p:strVal val="visible"/>
                                      </p:to>
                                    </p:set>
                                    <p:animEffect transition="in" filter="wipe(down)">
                                      <p:cBhvr>
                                        <p:cTn id="31" dur="500"/>
                                        <p:tgtEl>
                                          <p:spTgt spid="34820">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4820">
                                            <p:txEl>
                                              <p:pRg st="5" end="5"/>
                                            </p:txEl>
                                          </p:spTgt>
                                        </p:tgtEl>
                                        <p:attrNameLst>
                                          <p:attrName>style.visibility</p:attrName>
                                        </p:attrNameLst>
                                      </p:cBhvr>
                                      <p:to>
                                        <p:strVal val="visible"/>
                                      </p:to>
                                    </p:set>
                                    <p:animEffect transition="in" filter="wipe(down)">
                                      <p:cBhvr>
                                        <p:cTn id="36" dur="500"/>
                                        <p:tgtEl>
                                          <p:spTgt spid="34820">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4820">
                                            <p:txEl>
                                              <p:pRg st="6" end="6"/>
                                            </p:txEl>
                                          </p:spTgt>
                                        </p:tgtEl>
                                        <p:attrNameLst>
                                          <p:attrName>style.visibility</p:attrName>
                                        </p:attrNameLst>
                                      </p:cBhvr>
                                      <p:to>
                                        <p:strVal val="visible"/>
                                      </p:to>
                                    </p:set>
                                    <p:animEffect transition="in" filter="wipe(down)">
                                      <p:cBhvr>
                                        <p:cTn id="41" dur="500"/>
                                        <p:tgtEl>
                                          <p:spTgt spid="34820">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34820">
                                            <p:txEl>
                                              <p:pRg st="7" end="7"/>
                                            </p:txEl>
                                          </p:spTgt>
                                        </p:tgtEl>
                                        <p:attrNameLst>
                                          <p:attrName>style.visibility</p:attrName>
                                        </p:attrNameLst>
                                      </p:cBhvr>
                                      <p:to>
                                        <p:strVal val="visible"/>
                                      </p:to>
                                    </p:set>
                                    <p:animEffect transition="in" filter="wipe(down)">
                                      <p:cBhvr>
                                        <p:cTn id="46" dur="500"/>
                                        <p:tgtEl>
                                          <p:spTgt spid="34820">
                                            <p:txEl>
                                              <p:pRg st="7" end="7"/>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4820">
                                            <p:txEl>
                                              <p:pRg st="8" end="8"/>
                                            </p:txEl>
                                          </p:spTgt>
                                        </p:tgtEl>
                                        <p:attrNameLst>
                                          <p:attrName>style.visibility</p:attrName>
                                        </p:attrNameLst>
                                      </p:cBhvr>
                                      <p:to>
                                        <p:strVal val="visible"/>
                                      </p:to>
                                    </p:set>
                                    <p:animEffect transition="in" filter="wipe(down)">
                                      <p:cBhvr>
                                        <p:cTn id="51" dur="500"/>
                                        <p:tgtEl>
                                          <p:spTgt spid="34820">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nodeType="clickEffect">
                                  <p:stCondLst>
                                    <p:cond delay="0"/>
                                  </p:stCondLst>
                                  <p:childTnLst>
                                    <p:set>
                                      <p:cBhvr>
                                        <p:cTn id="55" dur="1" fill="hold">
                                          <p:stCondLst>
                                            <p:cond delay="0"/>
                                          </p:stCondLst>
                                        </p:cTn>
                                        <p:tgtEl>
                                          <p:spTgt spid="34820">
                                            <p:txEl>
                                              <p:pRg st="9" end="9"/>
                                            </p:txEl>
                                          </p:spTgt>
                                        </p:tgtEl>
                                        <p:attrNameLst>
                                          <p:attrName>style.visibility</p:attrName>
                                        </p:attrNameLst>
                                      </p:cBhvr>
                                      <p:to>
                                        <p:strVal val="visible"/>
                                      </p:to>
                                    </p:set>
                                    <p:animEffect transition="in" filter="wipe(down)">
                                      <p:cBhvr>
                                        <p:cTn id="56" dur="500"/>
                                        <p:tgtEl>
                                          <p:spTgt spid="34820">
                                            <p:txEl>
                                              <p:pRg st="9" end="9"/>
                                            </p:txEl>
                                          </p:spTgt>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nodeType="clickEffect">
                                  <p:stCondLst>
                                    <p:cond delay="0"/>
                                  </p:stCondLst>
                                  <p:childTnLst>
                                    <p:set>
                                      <p:cBhvr>
                                        <p:cTn id="60" dur="1" fill="hold">
                                          <p:stCondLst>
                                            <p:cond delay="0"/>
                                          </p:stCondLst>
                                        </p:cTn>
                                        <p:tgtEl>
                                          <p:spTgt spid="34820">
                                            <p:txEl>
                                              <p:pRg st="10" end="10"/>
                                            </p:txEl>
                                          </p:spTgt>
                                        </p:tgtEl>
                                        <p:attrNameLst>
                                          <p:attrName>style.visibility</p:attrName>
                                        </p:attrNameLst>
                                      </p:cBhvr>
                                      <p:to>
                                        <p:strVal val="visible"/>
                                      </p:to>
                                    </p:set>
                                    <p:animEffect transition="in" filter="wipe(down)">
                                      <p:cBhvr>
                                        <p:cTn id="61" dur="500"/>
                                        <p:tgtEl>
                                          <p:spTgt spid="34820">
                                            <p:txEl>
                                              <p:pRg st="10" end="10"/>
                                            </p:txEl>
                                          </p:spTgt>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nodeType="clickEffect">
                                  <p:stCondLst>
                                    <p:cond delay="0"/>
                                  </p:stCondLst>
                                  <p:childTnLst>
                                    <p:set>
                                      <p:cBhvr>
                                        <p:cTn id="65" dur="1" fill="hold">
                                          <p:stCondLst>
                                            <p:cond delay="0"/>
                                          </p:stCondLst>
                                        </p:cTn>
                                        <p:tgtEl>
                                          <p:spTgt spid="34820">
                                            <p:txEl>
                                              <p:pRg st="11" end="11"/>
                                            </p:txEl>
                                          </p:spTgt>
                                        </p:tgtEl>
                                        <p:attrNameLst>
                                          <p:attrName>style.visibility</p:attrName>
                                        </p:attrNameLst>
                                      </p:cBhvr>
                                      <p:to>
                                        <p:strVal val="visible"/>
                                      </p:to>
                                    </p:set>
                                    <p:animEffect transition="in" filter="wipe(down)">
                                      <p:cBhvr>
                                        <p:cTn id="66" dur="500"/>
                                        <p:tgtEl>
                                          <p:spTgt spid="34820">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srcRect l="68830" t="39363" r="20020" b="39553"/>
          <a:stretch>
            <a:fillRect/>
          </a:stretch>
        </p:blipFill>
        <p:spPr>
          <a:xfrm>
            <a:off x="241379" y="1013617"/>
            <a:ext cx="1901033" cy="1901033"/>
          </a:xfrm>
          <a:prstGeom prst="ellipse">
            <a:avLst/>
          </a:prstGeom>
        </p:spPr>
      </p:pic>
      <p:pic>
        <p:nvPicPr>
          <p:cNvPr id="7" name="图片 6"/>
          <p:cNvPicPr>
            <a:picLocks noChangeAspect="1"/>
          </p:cNvPicPr>
          <p:nvPr/>
        </p:nvPicPr>
        <p:blipFill rotWithShape="1">
          <a:blip r:embed="rId2"/>
          <a:srcRect l="68830" t="39363" r="20020" b="39553"/>
          <a:stretch>
            <a:fillRect/>
          </a:stretch>
        </p:blipFill>
        <p:spPr>
          <a:xfrm>
            <a:off x="6007126" y="3567587"/>
            <a:ext cx="1901033" cy="1901033"/>
          </a:xfrm>
          <a:prstGeom prst="ellipse">
            <a:avLst/>
          </a:prstGeom>
        </p:spPr>
      </p:pic>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3" name="椭圆 2"/>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Rectangle 3"/>
          <p:cNvSpPr/>
          <p:nvPr/>
        </p:nvSpPr>
        <p:spPr bwMode="auto">
          <a:xfrm>
            <a:off x="2935941" y="1045882"/>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a:latin typeface="Courier New" panose="02070309020205020404" charset="0"/>
                <a:cs typeface="Courier New" panose="02070309020205020404" charset="0"/>
              </a:rPr>
              <a:t>1xxxxxxxxxxxx...</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sp>
        <p:nvSpPr>
          <p:cNvPr id="40" name="Rectangle 4"/>
          <p:cNvSpPr/>
          <p:nvPr/>
        </p:nvSpPr>
        <p:spPr bwMode="auto">
          <a:xfrm>
            <a:off x="2935941" y="1547906"/>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a:latin typeface="Courier New" panose="02070309020205020404" charset="0"/>
                <a:cs typeface="Courier New" panose="02070309020205020404" charset="0"/>
              </a:rPr>
              <a:t>1xxxxxxxxxxxx...</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cxnSp>
        <p:nvCxnSpPr>
          <p:cNvPr id="41" name="Straight Connector 6"/>
          <p:cNvCxnSpPr/>
          <p:nvPr/>
        </p:nvCxnSpPr>
        <p:spPr bwMode="auto">
          <a:xfrm>
            <a:off x="2218765" y="2211294"/>
            <a:ext cx="5262282" cy="0"/>
          </a:xfrm>
          <a:prstGeom prst="line">
            <a:avLst/>
          </a:prstGeom>
          <a:solidFill>
            <a:schemeClr val="accent1"/>
          </a:solidFill>
          <a:ln w="25400" cap="flat" cmpd="sng" algn="ctr">
            <a:solidFill>
              <a:srgbClr val="000000"/>
            </a:solidFill>
            <a:prstDash val="solid"/>
            <a:round/>
            <a:headEnd type="none" w="med" len="med"/>
            <a:tailEnd type="none" w="med" len="med"/>
          </a:ln>
          <a:effectLst/>
        </p:spPr>
      </p:cxnSp>
      <p:sp>
        <p:nvSpPr>
          <p:cNvPr id="42" name="TextBox 8"/>
          <p:cNvSpPr txBox="1"/>
          <p:nvPr/>
        </p:nvSpPr>
        <p:spPr>
          <a:xfrm>
            <a:off x="2371165" y="1429586"/>
            <a:ext cx="457200" cy="738664"/>
          </a:xfrm>
          <a:prstGeom prst="rect">
            <a:avLst/>
          </a:prstGeom>
          <a:noFill/>
        </p:spPr>
        <p:txBody>
          <a:bodyPr wrap="square" rtlCol="0">
            <a:spAutoFit/>
          </a:bodyPr>
          <a:lstStyle/>
          <a:p>
            <a:r>
              <a:rPr lang="en-US" dirty="0"/>
              <a:t>+</a:t>
            </a:r>
          </a:p>
        </p:txBody>
      </p:sp>
      <p:sp>
        <p:nvSpPr>
          <p:cNvPr id="43" name="Rectangle 9"/>
          <p:cNvSpPr/>
          <p:nvPr/>
        </p:nvSpPr>
        <p:spPr bwMode="auto">
          <a:xfrm>
            <a:off x="2935941" y="2345765"/>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err="1">
                <a:latin typeface="Courier New" panose="02070309020205020404" charset="0"/>
                <a:cs typeface="Courier New" panose="02070309020205020404" charset="0"/>
              </a:rPr>
              <a:t>xxxxxxxxxxxxx</a:t>
            </a:r>
            <a:r>
              <a:rPr lang="en-US" sz="2000" b="1" dirty="0">
                <a:latin typeface="Courier New" panose="02070309020205020404" charset="0"/>
                <a:cs typeface="Courier New" panose="02070309020205020404" charset="0"/>
              </a:rPr>
              <a:t>...</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sp>
        <p:nvSpPr>
          <p:cNvPr id="44" name="TextBox 10"/>
          <p:cNvSpPr txBox="1"/>
          <p:nvPr/>
        </p:nvSpPr>
        <p:spPr>
          <a:xfrm>
            <a:off x="2371165" y="2405687"/>
            <a:ext cx="457200" cy="400110"/>
          </a:xfrm>
          <a:prstGeom prst="rect">
            <a:avLst/>
          </a:prstGeom>
          <a:noFill/>
        </p:spPr>
        <p:txBody>
          <a:bodyPr wrap="square" rtlCol="0">
            <a:spAutoFit/>
          </a:bodyPr>
          <a:lstStyle/>
          <a:p>
            <a:r>
              <a:rPr lang="en-US" sz="2000" b="1" dirty="0">
                <a:solidFill>
                  <a:srgbClr val="FF0000"/>
                </a:solidFill>
                <a:latin typeface="Courier New" panose="02070309020205020404" charset="0"/>
                <a:cs typeface="Courier New" panose="02070309020205020404" charset="0"/>
              </a:rPr>
              <a:t>1</a:t>
            </a:r>
          </a:p>
        </p:txBody>
      </p:sp>
      <p:sp>
        <p:nvSpPr>
          <p:cNvPr id="45" name="文本框 44"/>
          <p:cNvSpPr txBox="1"/>
          <p:nvPr/>
        </p:nvSpPr>
        <p:spPr>
          <a:xfrm>
            <a:off x="509270" y="1689735"/>
            <a:ext cx="1518920" cy="521970"/>
          </a:xfrm>
          <a:prstGeom prst="rect">
            <a:avLst/>
          </a:prstGeom>
          <a:noFill/>
        </p:spPr>
        <p:txBody>
          <a:bodyPr wrap="square" rtlCol="0">
            <a:spAutoFit/>
          </a:bodyPr>
          <a:lstStyle/>
          <a:p>
            <a:r>
              <a:rPr lang="en-US" altLang="zh-CN" sz="2800"/>
              <a:t>CF</a:t>
            </a:r>
            <a:r>
              <a:rPr lang="zh-CN" altLang="en-US" sz="2800"/>
              <a:t>置位</a:t>
            </a:r>
          </a:p>
        </p:txBody>
      </p:sp>
      <p:sp>
        <p:nvSpPr>
          <p:cNvPr id="46" name="文本框 45"/>
          <p:cNvSpPr txBox="1"/>
          <p:nvPr/>
        </p:nvSpPr>
        <p:spPr>
          <a:xfrm>
            <a:off x="6261735" y="4257040"/>
            <a:ext cx="1518920" cy="521970"/>
          </a:xfrm>
          <a:prstGeom prst="rect">
            <a:avLst/>
          </a:prstGeom>
          <a:noFill/>
        </p:spPr>
        <p:txBody>
          <a:bodyPr wrap="square" rtlCol="0">
            <a:spAutoFit/>
          </a:bodyPr>
          <a:lstStyle/>
          <a:p>
            <a:r>
              <a:rPr lang="en-US" altLang="zh-CN" sz="2800"/>
              <a:t>SF</a:t>
            </a:r>
            <a:r>
              <a:rPr lang="zh-CN" altLang="en-US" sz="2800"/>
              <a:t>置位</a:t>
            </a:r>
          </a:p>
        </p:txBody>
      </p:sp>
      <p:sp>
        <p:nvSpPr>
          <p:cNvPr id="47" name="Rectangle 3"/>
          <p:cNvSpPr/>
          <p:nvPr/>
        </p:nvSpPr>
        <p:spPr bwMode="auto">
          <a:xfrm>
            <a:off x="1272241" y="3598582"/>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err="1">
                <a:latin typeface="Courier New" panose="02070309020205020404" charset="0"/>
                <a:cs typeface="Courier New" panose="02070309020205020404" charset="0"/>
              </a:rPr>
              <a:t>yxxxxxxxxxxxx</a:t>
            </a:r>
            <a:r>
              <a:rPr lang="en-US" sz="2000" b="1" dirty="0">
                <a:latin typeface="Courier New" panose="02070309020205020404" charset="0"/>
                <a:cs typeface="Courier New" panose="02070309020205020404" charset="0"/>
              </a:rPr>
              <a:t>...</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sp>
        <p:nvSpPr>
          <p:cNvPr id="48" name="Rectangle 4"/>
          <p:cNvSpPr/>
          <p:nvPr/>
        </p:nvSpPr>
        <p:spPr bwMode="auto">
          <a:xfrm>
            <a:off x="1272241" y="4100606"/>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err="1">
                <a:latin typeface="Courier New" panose="02070309020205020404" charset="0"/>
                <a:cs typeface="Courier New" panose="02070309020205020404" charset="0"/>
              </a:rPr>
              <a:t>yxxxxxxxxxxxx</a:t>
            </a:r>
            <a:r>
              <a:rPr lang="en-US" sz="2000" b="1" dirty="0">
                <a:latin typeface="Courier New" panose="02070309020205020404" charset="0"/>
                <a:cs typeface="Courier New" panose="02070309020205020404" charset="0"/>
              </a:rPr>
              <a:t>...</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cxnSp>
        <p:nvCxnSpPr>
          <p:cNvPr id="49" name="Straight Connector 6"/>
          <p:cNvCxnSpPr/>
          <p:nvPr/>
        </p:nvCxnSpPr>
        <p:spPr bwMode="auto">
          <a:xfrm>
            <a:off x="555065" y="4763994"/>
            <a:ext cx="5262282" cy="0"/>
          </a:xfrm>
          <a:prstGeom prst="line">
            <a:avLst/>
          </a:prstGeom>
          <a:solidFill>
            <a:schemeClr val="accent1"/>
          </a:solidFill>
          <a:ln w="25400" cap="flat" cmpd="sng" algn="ctr">
            <a:solidFill>
              <a:srgbClr val="000000"/>
            </a:solidFill>
            <a:prstDash val="solid"/>
            <a:round/>
            <a:headEnd type="none" w="med" len="med"/>
            <a:tailEnd type="none" w="med" len="med"/>
          </a:ln>
          <a:effectLst/>
        </p:spPr>
      </p:cxnSp>
      <p:sp>
        <p:nvSpPr>
          <p:cNvPr id="50" name="TextBox 8"/>
          <p:cNvSpPr txBox="1"/>
          <p:nvPr/>
        </p:nvSpPr>
        <p:spPr>
          <a:xfrm>
            <a:off x="707465" y="3982286"/>
            <a:ext cx="457200" cy="738664"/>
          </a:xfrm>
          <a:prstGeom prst="rect">
            <a:avLst/>
          </a:prstGeom>
          <a:noFill/>
        </p:spPr>
        <p:txBody>
          <a:bodyPr wrap="square" rtlCol="0">
            <a:spAutoFit/>
          </a:bodyPr>
          <a:lstStyle/>
          <a:p>
            <a:r>
              <a:rPr lang="en-US" dirty="0"/>
              <a:t>+</a:t>
            </a:r>
          </a:p>
        </p:txBody>
      </p:sp>
      <p:sp>
        <p:nvSpPr>
          <p:cNvPr id="51" name="Rectangle 9"/>
          <p:cNvSpPr/>
          <p:nvPr/>
        </p:nvSpPr>
        <p:spPr bwMode="auto">
          <a:xfrm>
            <a:off x="1272241" y="4898465"/>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a:solidFill>
                  <a:srgbClr val="FF0000"/>
                </a:solidFill>
                <a:latin typeface="Courier New" panose="02070309020205020404" charset="0"/>
                <a:cs typeface="Courier New" panose="02070309020205020404" charset="0"/>
              </a:rPr>
              <a:t>1</a:t>
            </a:r>
            <a:r>
              <a:rPr lang="en-US" sz="2000" b="1" dirty="0">
                <a:latin typeface="Courier New" panose="02070309020205020404" charset="0"/>
                <a:cs typeface="Courier New" panose="02070309020205020404" charset="0"/>
              </a:rPr>
              <a:t>xxxxxxxxxxxx...</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500" fill="hold"/>
                                        <p:tgtEl>
                                          <p:spTgt spid="40"/>
                                        </p:tgtEl>
                                        <p:attrNameLst>
                                          <p:attrName>ppt_x</p:attrName>
                                        </p:attrNameLst>
                                      </p:cBhvr>
                                      <p:tavLst>
                                        <p:tav tm="0">
                                          <p:val>
                                            <p:strVal val="#ppt_x"/>
                                          </p:val>
                                        </p:tav>
                                        <p:tav tm="100000">
                                          <p:val>
                                            <p:strVal val="#ppt_x"/>
                                          </p:val>
                                        </p:tav>
                                      </p:tavLst>
                                    </p:anim>
                                    <p:anim calcmode="lin" valueType="num">
                                      <p:cBhvr additive="base">
                                        <p:cTn id="12" dur="500" fill="hold"/>
                                        <p:tgtEl>
                                          <p:spTgt spid="4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additive="base">
                                        <p:cTn id="19" dur="500" fill="hold"/>
                                        <p:tgtEl>
                                          <p:spTgt spid="42"/>
                                        </p:tgtEl>
                                        <p:attrNameLst>
                                          <p:attrName>ppt_x</p:attrName>
                                        </p:attrNameLst>
                                      </p:cBhvr>
                                      <p:tavLst>
                                        <p:tav tm="0">
                                          <p:val>
                                            <p:strVal val="#ppt_x"/>
                                          </p:val>
                                        </p:tav>
                                        <p:tav tm="100000">
                                          <p:val>
                                            <p:strVal val="#ppt_x"/>
                                          </p:val>
                                        </p:tav>
                                      </p:tavLst>
                                    </p:anim>
                                    <p:anim calcmode="lin" valueType="num">
                                      <p:cBhvr additive="base">
                                        <p:cTn id="20" dur="500" fill="hold"/>
                                        <p:tgtEl>
                                          <p:spTgt spid="42"/>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3"/>
                                        </p:tgtEl>
                                        <p:attrNameLst>
                                          <p:attrName>style.visibility</p:attrName>
                                        </p:attrNameLst>
                                      </p:cBhvr>
                                      <p:to>
                                        <p:strVal val="visible"/>
                                      </p:to>
                                    </p:set>
                                    <p:anim calcmode="lin" valueType="num">
                                      <p:cBhvr additive="base">
                                        <p:cTn id="23" dur="500" fill="hold"/>
                                        <p:tgtEl>
                                          <p:spTgt spid="43"/>
                                        </p:tgtEl>
                                        <p:attrNameLst>
                                          <p:attrName>ppt_x</p:attrName>
                                        </p:attrNameLst>
                                      </p:cBhvr>
                                      <p:tavLst>
                                        <p:tav tm="0">
                                          <p:val>
                                            <p:strVal val="#ppt_x"/>
                                          </p:val>
                                        </p:tav>
                                        <p:tav tm="100000">
                                          <p:val>
                                            <p:strVal val="#ppt_x"/>
                                          </p:val>
                                        </p:tav>
                                      </p:tavLst>
                                    </p:anim>
                                    <p:anim calcmode="lin" valueType="num">
                                      <p:cBhvr additive="base">
                                        <p:cTn id="24" dur="500" fill="hold"/>
                                        <p:tgtEl>
                                          <p:spTgt spid="43"/>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7"/>
                                        </p:tgtEl>
                                        <p:attrNameLst>
                                          <p:attrName>style.visibility</p:attrName>
                                        </p:attrNameLst>
                                      </p:cBhvr>
                                      <p:to>
                                        <p:strVal val="visible"/>
                                      </p:to>
                                    </p:set>
                                    <p:anim calcmode="lin" valueType="num">
                                      <p:cBhvr additive="base">
                                        <p:cTn id="33" dur="500" fill="hold"/>
                                        <p:tgtEl>
                                          <p:spTgt spid="47"/>
                                        </p:tgtEl>
                                        <p:attrNameLst>
                                          <p:attrName>ppt_x</p:attrName>
                                        </p:attrNameLst>
                                      </p:cBhvr>
                                      <p:tavLst>
                                        <p:tav tm="0">
                                          <p:val>
                                            <p:strVal val="#ppt_x"/>
                                          </p:val>
                                        </p:tav>
                                        <p:tav tm="100000">
                                          <p:val>
                                            <p:strVal val="#ppt_x"/>
                                          </p:val>
                                        </p:tav>
                                      </p:tavLst>
                                    </p:anim>
                                    <p:anim calcmode="lin" valueType="num">
                                      <p:cBhvr additive="base">
                                        <p:cTn id="34" dur="500" fill="hold"/>
                                        <p:tgtEl>
                                          <p:spTgt spid="47"/>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anim calcmode="lin" valueType="num">
                                      <p:cBhvr additive="base">
                                        <p:cTn id="37" dur="500" fill="hold"/>
                                        <p:tgtEl>
                                          <p:spTgt spid="48"/>
                                        </p:tgtEl>
                                        <p:attrNameLst>
                                          <p:attrName>ppt_x</p:attrName>
                                        </p:attrNameLst>
                                      </p:cBhvr>
                                      <p:tavLst>
                                        <p:tav tm="0">
                                          <p:val>
                                            <p:strVal val="#ppt_x"/>
                                          </p:val>
                                        </p:tav>
                                        <p:tav tm="100000">
                                          <p:val>
                                            <p:strVal val="#ppt_x"/>
                                          </p:val>
                                        </p:tav>
                                      </p:tavLst>
                                    </p:anim>
                                    <p:anim calcmode="lin" valueType="num">
                                      <p:cBhvr additive="base">
                                        <p:cTn id="38" dur="500" fill="hold"/>
                                        <p:tgtEl>
                                          <p:spTgt spid="48"/>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9"/>
                                        </p:tgtEl>
                                        <p:attrNameLst>
                                          <p:attrName>style.visibility</p:attrName>
                                        </p:attrNameLst>
                                      </p:cBhvr>
                                      <p:to>
                                        <p:strVal val="visible"/>
                                      </p:to>
                                    </p:set>
                                    <p:anim calcmode="lin" valueType="num">
                                      <p:cBhvr additive="base">
                                        <p:cTn id="41" dur="500" fill="hold"/>
                                        <p:tgtEl>
                                          <p:spTgt spid="49"/>
                                        </p:tgtEl>
                                        <p:attrNameLst>
                                          <p:attrName>ppt_x</p:attrName>
                                        </p:attrNameLst>
                                      </p:cBhvr>
                                      <p:tavLst>
                                        <p:tav tm="0">
                                          <p:val>
                                            <p:strVal val="#ppt_x"/>
                                          </p:val>
                                        </p:tav>
                                        <p:tav tm="100000">
                                          <p:val>
                                            <p:strVal val="#ppt_x"/>
                                          </p:val>
                                        </p:tav>
                                      </p:tavLst>
                                    </p:anim>
                                    <p:anim calcmode="lin" valueType="num">
                                      <p:cBhvr additive="base">
                                        <p:cTn id="42" dur="500" fill="hold"/>
                                        <p:tgtEl>
                                          <p:spTgt spid="4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50"/>
                                        </p:tgtEl>
                                        <p:attrNameLst>
                                          <p:attrName>style.visibility</p:attrName>
                                        </p:attrNameLst>
                                      </p:cBhvr>
                                      <p:to>
                                        <p:strVal val="visible"/>
                                      </p:to>
                                    </p:set>
                                    <p:anim calcmode="lin" valueType="num">
                                      <p:cBhvr additive="base">
                                        <p:cTn id="45" dur="500" fill="hold"/>
                                        <p:tgtEl>
                                          <p:spTgt spid="50"/>
                                        </p:tgtEl>
                                        <p:attrNameLst>
                                          <p:attrName>ppt_x</p:attrName>
                                        </p:attrNameLst>
                                      </p:cBhvr>
                                      <p:tavLst>
                                        <p:tav tm="0">
                                          <p:val>
                                            <p:strVal val="#ppt_x"/>
                                          </p:val>
                                        </p:tav>
                                        <p:tav tm="100000">
                                          <p:val>
                                            <p:strVal val="#ppt_x"/>
                                          </p:val>
                                        </p:tav>
                                      </p:tavLst>
                                    </p:anim>
                                    <p:anim calcmode="lin" valueType="num">
                                      <p:cBhvr additive="base">
                                        <p:cTn id="46" dur="500" fill="hold"/>
                                        <p:tgtEl>
                                          <p:spTgt spid="5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51"/>
                                        </p:tgtEl>
                                        <p:attrNameLst>
                                          <p:attrName>style.visibility</p:attrName>
                                        </p:attrNameLst>
                                      </p:cBhvr>
                                      <p:to>
                                        <p:strVal val="visible"/>
                                      </p:to>
                                    </p:set>
                                    <p:anim calcmode="lin" valueType="num">
                                      <p:cBhvr additive="base">
                                        <p:cTn id="49" dur="500" fill="hold"/>
                                        <p:tgtEl>
                                          <p:spTgt spid="51"/>
                                        </p:tgtEl>
                                        <p:attrNameLst>
                                          <p:attrName>ppt_x</p:attrName>
                                        </p:attrNameLst>
                                      </p:cBhvr>
                                      <p:tavLst>
                                        <p:tav tm="0">
                                          <p:val>
                                            <p:strVal val="#ppt_x"/>
                                          </p:val>
                                        </p:tav>
                                        <p:tav tm="100000">
                                          <p:val>
                                            <p:strVal val="#ppt_x"/>
                                          </p:val>
                                        </p:tav>
                                      </p:tavLst>
                                    </p:anim>
                                    <p:anim calcmode="lin" valueType="num">
                                      <p:cBhvr additive="base">
                                        <p:cTn id="50"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0" grpId="0" animBg="1"/>
      <p:bldP spid="42" grpId="0"/>
      <p:bldP spid="43" grpId="0" animBg="1"/>
      <p:bldP spid="44" grpId="0"/>
      <p:bldP spid="47" grpId="0" animBg="1"/>
      <p:bldP spid="48" grpId="0" animBg="1"/>
      <p:bldP spid="50" grpId="0"/>
      <p:bldP spid="5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a:srcRect l="68830" t="39363" r="20020" b="39553"/>
          <a:stretch>
            <a:fillRect/>
          </a:stretch>
        </p:blipFill>
        <p:spPr>
          <a:xfrm>
            <a:off x="241379" y="1013617"/>
            <a:ext cx="1901033" cy="1901033"/>
          </a:xfrm>
          <a:prstGeom prst="ellipse">
            <a:avLst/>
          </a:prstGeom>
        </p:spPr>
      </p:pic>
      <p:pic>
        <p:nvPicPr>
          <p:cNvPr id="7" name="图片 6"/>
          <p:cNvPicPr>
            <a:picLocks noChangeAspect="1"/>
          </p:cNvPicPr>
          <p:nvPr/>
        </p:nvPicPr>
        <p:blipFill rotWithShape="1">
          <a:blip r:embed="rId2"/>
          <a:srcRect l="68830" t="39363" r="20020" b="39553"/>
          <a:stretch>
            <a:fillRect/>
          </a:stretch>
        </p:blipFill>
        <p:spPr>
          <a:xfrm>
            <a:off x="6007126" y="3567587"/>
            <a:ext cx="1901033" cy="1901033"/>
          </a:xfrm>
          <a:prstGeom prst="ellipse">
            <a:avLst/>
          </a:prstGeom>
        </p:spPr>
      </p:pic>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3" name="椭圆 2"/>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5" name="文本框 44"/>
          <p:cNvSpPr txBox="1"/>
          <p:nvPr/>
        </p:nvSpPr>
        <p:spPr>
          <a:xfrm>
            <a:off x="509270" y="1689735"/>
            <a:ext cx="1518920" cy="521970"/>
          </a:xfrm>
          <a:prstGeom prst="rect">
            <a:avLst/>
          </a:prstGeom>
          <a:noFill/>
        </p:spPr>
        <p:txBody>
          <a:bodyPr wrap="square" rtlCol="0">
            <a:spAutoFit/>
          </a:bodyPr>
          <a:lstStyle/>
          <a:p>
            <a:r>
              <a:rPr lang="en-US" altLang="zh-CN" sz="2800"/>
              <a:t>OF</a:t>
            </a:r>
            <a:r>
              <a:rPr lang="zh-CN" altLang="en-US" sz="2800"/>
              <a:t>置位</a:t>
            </a:r>
          </a:p>
        </p:txBody>
      </p:sp>
      <p:sp>
        <p:nvSpPr>
          <p:cNvPr id="46" name="文本框 45"/>
          <p:cNvSpPr txBox="1"/>
          <p:nvPr/>
        </p:nvSpPr>
        <p:spPr>
          <a:xfrm>
            <a:off x="6261735" y="4257040"/>
            <a:ext cx="1518920" cy="521970"/>
          </a:xfrm>
          <a:prstGeom prst="rect">
            <a:avLst/>
          </a:prstGeom>
          <a:noFill/>
        </p:spPr>
        <p:txBody>
          <a:bodyPr wrap="square" rtlCol="0">
            <a:spAutoFit/>
          </a:bodyPr>
          <a:lstStyle/>
          <a:p>
            <a:r>
              <a:rPr lang="en-US" altLang="zh-CN" sz="2800"/>
              <a:t>ZF</a:t>
            </a:r>
            <a:r>
              <a:rPr lang="zh-CN" altLang="en-US" sz="2800"/>
              <a:t>置位</a:t>
            </a:r>
          </a:p>
        </p:txBody>
      </p:sp>
      <p:sp>
        <p:nvSpPr>
          <p:cNvPr id="5" name="Rectangle 3"/>
          <p:cNvSpPr/>
          <p:nvPr/>
        </p:nvSpPr>
        <p:spPr bwMode="auto">
          <a:xfrm>
            <a:off x="3088341" y="1007782"/>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err="1">
                <a:solidFill>
                  <a:srgbClr val="7030A0"/>
                </a:solidFill>
                <a:latin typeface="Courier New" panose="02070309020205020404" charset="0"/>
                <a:cs typeface="Courier New" panose="02070309020205020404" charset="0"/>
              </a:rPr>
              <a:t>y</a:t>
            </a:r>
            <a:r>
              <a:rPr lang="en-US" sz="2000" b="1" dirty="0" err="1">
                <a:latin typeface="Courier New" panose="02070309020205020404" charset="0"/>
                <a:cs typeface="Courier New" panose="02070309020205020404" charset="0"/>
              </a:rPr>
              <a:t>xxxxxxxxxxxx</a:t>
            </a:r>
            <a:r>
              <a:rPr lang="en-US" sz="2000" b="1" dirty="0">
                <a:latin typeface="Courier New" panose="02070309020205020404" charset="0"/>
                <a:cs typeface="Courier New" panose="02070309020205020404" charset="0"/>
              </a:rPr>
              <a:t>...</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sp>
        <p:nvSpPr>
          <p:cNvPr id="8" name="Rectangle 4"/>
          <p:cNvSpPr/>
          <p:nvPr/>
        </p:nvSpPr>
        <p:spPr bwMode="auto">
          <a:xfrm>
            <a:off x="3088341" y="1509806"/>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err="1">
                <a:solidFill>
                  <a:srgbClr val="7030A0"/>
                </a:solidFill>
                <a:latin typeface="Courier New" panose="02070309020205020404" charset="0"/>
                <a:cs typeface="Courier New" panose="02070309020205020404" charset="0"/>
              </a:rPr>
              <a:t>y</a:t>
            </a:r>
            <a:r>
              <a:rPr lang="en-US" sz="2000" b="1" dirty="0" err="1">
                <a:latin typeface="Courier New" panose="02070309020205020404" charset="0"/>
                <a:cs typeface="Courier New" panose="02070309020205020404" charset="0"/>
              </a:rPr>
              <a:t>xxxxxxxxxxxx</a:t>
            </a:r>
            <a:r>
              <a:rPr lang="en-US" sz="2000" b="1" dirty="0">
                <a:latin typeface="Courier New" panose="02070309020205020404" charset="0"/>
                <a:cs typeface="Courier New" panose="02070309020205020404" charset="0"/>
              </a:rPr>
              <a:t>...</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cxnSp>
        <p:nvCxnSpPr>
          <p:cNvPr id="9" name="Straight Connector 6"/>
          <p:cNvCxnSpPr/>
          <p:nvPr/>
        </p:nvCxnSpPr>
        <p:spPr bwMode="auto">
          <a:xfrm>
            <a:off x="2371165" y="2173194"/>
            <a:ext cx="5262282" cy="0"/>
          </a:xfrm>
          <a:prstGeom prst="line">
            <a:avLst/>
          </a:prstGeom>
          <a:solidFill>
            <a:schemeClr val="accent1"/>
          </a:solidFill>
          <a:ln w="25400" cap="flat" cmpd="sng" algn="ctr">
            <a:solidFill>
              <a:srgbClr val="000000"/>
            </a:solidFill>
            <a:prstDash val="solid"/>
            <a:round/>
            <a:headEnd type="none" w="med" len="med"/>
            <a:tailEnd type="none" w="med" len="med"/>
          </a:ln>
          <a:effectLst/>
        </p:spPr>
      </p:cxnSp>
      <p:sp>
        <p:nvSpPr>
          <p:cNvPr id="10" name="TextBox 8"/>
          <p:cNvSpPr txBox="1"/>
          <p:nvPr/>
        </p:nvSpPr>
        <p:spPr>
          <a:xfrm>
            <a:off x="2523565" y="1391486"/>
            <a:ext cx="457200" cy="738664"/>
          </a:xfrm>
          <a:prstGeom prst="rect">
            <a:avLst/>
          </a:prstGeom>
          <a:noFill/>
        </p:spPr>
        <p:txBody>
          <a:bodyPr wrap="square" rtlCol="0">
            <a:spAutoFit/>
          </a:bodyPr>
          <a:lstStyle/>
          <a:p>
            <a:r>
              <a:rPr lang="en-US" dirty="0"/>
              <a:t>+</a:t>
            </a:r>
          </a:p>
        </p:txBody>
      </p:sp>
      <p:sp>
        <p:nvSpPr>
          <p:cNvPr id="11" name="Rectangle 9"/>
          <p:cNvSpPr/>
          <p:nvPr/>
        </p:nvSpPr>
        <p:spPr bwMode="auto">
          <a:xfrm>
            <a:off x="3088341" y="2307665"/>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err="1">
                <a:solidFill>
                  <a:srgbClr val="FF0000"/>
                </a:solidFill>
                <a:latin typeface="Courier New" panose="02070309020205020404" charset="0"/>
                <a:cs typeface="Courier New" panose="02070309020205020404" charset="0"/>
              </a:rPr>
              <a:t>z</a:t>
            </a:r>
            <a:r>
              <a:rPr lang="en-US" sz="2000" b="1" dirty="0" err="1">
                <a:latin typeface="Courier New" panose="02070309020205020404" charset="0"/>
                <a:cs typeface="Courier New" panose="02070309020205020404" charset="0"/>
              </a:rPr>
              <a:t>xxxxxxxxxxxx</a:t>
            </a:r>
            <a:r>
              <a:rPr lang="en-US" sz="2000" b="1" dirty="0">
                <a:latin typeface="Courier New" panose="02070309020205020404" charset="0"/>
                <a:cs typeface="Courier New" panose="02070309020205020404" charset="0"/>
              </a:rPr>
              <a:t>...</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sp>
        <p:nvSpPr>
          <p:cNvPr id="12" name="Rectangle 3"/>
          <p:cNvSpPr/>
          <p:nvPr/>
        </p:nvSpPr>
        <p:spPr bwMode="auto">
          <a:xfrm>
            <a:off x="1325581" y="4276762"/>
            <a:ext cx="3899647" cy="502024"/>
          </a:xfrm>
          <a:prstGeom prst="rect">
            <a:avLst/>
          </a:prstGeom>
          <a:no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ctr"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b="1" dirty="0">
                <a:latin typeface="Courier New" panose="02070309020205020404" charset="0"/>
                <a:cs typeface="Courier New" panose="02070309020205020404" charset="0"/>
              </a:rPr>
              <a:t>000000000000…00000000000</a:t>
            </a:r>
            <a:endParaRPr kumimoji="0" lang="en-US" sz="2000" b="1"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sp>
        <p:nvSpPr>
          <p:cNvPr id="13" name="TextBox 2"/>
          <p:cNvSpPr txBox="1"/>
          <p:nvPr/>
        </p:nvSpPr>
        <p:spPr>
          <a:xfrm>
            <a:off x="2371314" y="3059467"/>
            <a:ext cx="1196340" cy="521970"/>
          </a:xfrm>
          <a:prstGeom prst="rect">
            <a:avLst/>
          </a:prstGeom>
          <a:noFill/>
        </p:spPr>
        <p:txBody>
          <a:bodyPr wrap="none" rtlCol="0">
            <a:spAutoFit/>
          </a:bodyPr>
          <a:lstStyle/>
          <a:p>
            <a:r>
              <a:rPr lang="en-US" sz="2800" dirty="0">
                <a:solidFill>
                  <a:srgbClr val="7030A0"/>
                </a:solidFill>
              </a:rPr>
              <a:t>z = ~y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500" fill="hold"/>
                                        <p:tgtEl>
                                          <p:spTgt spid="13"/>
                                        </p:tgtEl>
                                        <p:attrNameLst>
                                          <p:attrName>ppt_x</p:attrName>
                                        </p:attrNameLst>
                                      </p:cBhvr>
                                      <p:tavLst>
                                        <p:tav tm="0">
                                          <p:val>
                                            <p:strVal val="#ppt_x"/>
                                          </p:val>
                                        </p:tav>
                                        <p:tav tm="100000">
                                          <p:val>
                                            <p:strVal val="#ppt_x"/>
                                          </p:val>
                                        </p:tav>
                                      </p:tavLst>
                                    </p:anim>
                                    <p:anim calcmode="lin" valueType="num">
                                      <p:cBhvr additive="base">
                                        <p:cTn id="2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animBg="1"/>
      <p:bldP spid="10" grpId="0"/>
      <p:bldP spid="11" grpId="0" animBg="1"/>
      <p:bldP spid="12" grpId="0" animBg="1"/>
      <p:bldP spid="1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0" y="646430"/>
            <a:ext cx="4590415" cy="3695065"/>
          </a:xfrm>
          <a:prstGeom prst="rect">
            <a:avLst/>
          </a:prstGeom>
        </p:spPr>
      </p:pic>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4" name="椭圆 3"/>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pic>
        <p:nvPicPr>
          <p:cNvPr id="5" name="图片 4"/>
          <p:cNvPicPr>
            <a:picLocks noChangeAspect="1"/>
          </p:cNvPicPr>
          <p:nvPr/>
        </p:nvPicPr>
        <p:blipFill>
          <a:blip r:embed="rId3"/>
          <a:stretch>
            <a:fillRect/>
          </a:stretch>
        </p:blipFill>
        <p:spPr>
          <a:xfrm>
            <a:off x="4676775" y="3150870"/>
            <a:ext cx="4476115" cy="3714115"/>
          </a:xfrm>
          <a:prstGeom prst="rect">
            <a:avLst/>
          </a:prstGeom>
        </p:spPr>
      </p:pic>
      <p:sp>
        <p:nvSpPr>
          <p:cNvPr id="6" name="左箭头 5"/>
          <p:cNvSpPr/>
          <p:nvPr/>
        </p:nvSpPr>
        <p:spPr>
          <a:xfrm>
            <a:off x="4676775" y="1053465"/>
            <a:ext cx="3840480" cy="1750060"/>
          </a:xfrm>
          <a:prstGeom prst="lef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400"/>
              <a:t>会设置条件码的指令</a:t>
            </a:r>
          </a:p>
        </p:txBody>
      </p:sp>
      <p:sp>
        <p:nvSpPr>
          <p:cNvPr id="7" name="右箭头 6"/>
          <p:cNvSpPr/>
          <p:nvPr/>
        </p:nvSpPr>
        <p:spPr>
          <a:xfrm>
            <a:off x="502285" y="4619625"/>
            <a:ext cx="3790315" cy="178943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t>只设置条件码而不改变任何其他寄存器</a:t>
            </a:r>
          </a:p>
        </p:txBody>
      </p:sp>
      <p:cxnSp>
        <p:nvCxnSpPr>
          <p:cNvPr id="10" name="肘形连接符 9"/>
          <p:cNvCxnSpPr/>
          <p:nvPr/>
        </p:nvCxnSpPr>
        <p:spPr>
          <a:xfrm rot="5400000" flipV="1">
            <a:off x="3519805" y="3810635"/>
            <a:ext cx="1946275" cy="982345"/>
          </a:xfrm>
          <a:prstGeom prst="bentConnector3">
            <a:avLst>
              <a:gd name="adj1" fmla="val 50016"/>
            </a:avLst>
          </a:prstGeom>
          <a:ln>
            <a:tailEnd type="arrow" w="med" len="med"/>
          </a:ln>
        </p:spPr>
        <p:style>
          <a:lnRef idx="3">
            <a:schemeClr val="accent2"/>
          </a:lnRef>
          <a:fillRef idx="0">
            <a:schemeClr val="accent2"/>
          </a:fillRef>
          <a:effectRef idx="2">
            <a:schemeClr val="accent2"/>
          </a:effectRef>
          <a:fontRef idx="minor">
            <a:schemeClr val="tx1"/>
          </a:fontRef>
        </p:style>
      </p:cxnSp>
      <p:cxnSp>
        <p:nvCxnSpPr>
          <p:cNvPr id="11" name="直接连接符 10"/>
          <p:cNvCxnSpPr/>
          <p:nvPr/>
        </p:nvCxnSpPr>
        <p:spPr>
          <a:xfrm flipV="1">
            <a:off x="343535" y="3328670"/>
            <a:ext cx="3658235" cy="13335"/>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直接连接符 11"/>
          <p:cNvCxnSpPr/>
          <p:nvPr/>
        </p:nvCxnSpPr>
        <p:spPr>
          <a:xfrm flipV="1">
            <a:off x="343535" y="2552700"/>
            <a:ext cx="3658235" cy="13335"/>
          </a:xfrm>
          <a:prstGeom prst="line">
            <a:avLst/>
          </a:prstGeom>
        </p:spPr>
        <p:style>
          <a:lnRef idx="3">
            <a:schemeClr val="accent4"/>
          </a:lnRef>
          <a:fillRef idx="0">
            <a:schemeClr val="accent4"/>
          </a:fillRef>
          <a:effectRef idx="2">
            <a:schemeClr val="accent4"/>
          </a:effectRef>
          <a:fontRef idx="minor">
            <a:schemeClr val="tx1"/>
          </a:fontRef>
        </p:style>
      </p:cxnSp>
      <p:cxnSp>
        <p:nvCxnSpPr>
          <p:cNvPr id="13" name="肘形连接符 12"/>
          <p:cNvCxnSpPr/>
          <p:nvPr/>
        </p:nvCxnSpPr>
        <p:spPr>
          <a:xfrm rot="5400000" flipV="1">
            <a:off x="3999865" y="2567940"/>
            <a:ext cx="986155" cy="982345"/>
          </a:xfrm>
          <a:prstGeom prst="bentConnector3">
            <a:avLst>
              <a:gd name="adj1" fmla="val 50032"/>
            </a:avLst>
          </a:prstGeom>
          <a:ln>
            <a:tailEnd type="arrow" w="med" len="med"/>
          </a:ln>
        </p:spPr>
        <p:style>
          <a:lnRef idx="3">
            <a:schemeClr val="accent4"/>
          </a:lnRef>
          <a:fillRef idx="0">
            <a:schemeClr val="accent4"/>
          </a:fillRef>
          <a:effectRef idx="2">
            <a:schemeClr val="accent4"/>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 calcmode="lin" valueType="num">
                                      <p:cBhvr additive="base">
                                        <p:cTn id="29" dur="500" fill="hold"/>
                                        <p:tgtEl>
                                          <p:spTgt spid="13"/>
                                        </p:tgtEl>
                                        <p:attrNameLst>
                                          <p:attrName>ppt_x</p:attrName>
                                        </p:attrNameLst>
                                      </p:cBhvr>
                                      <p:tavLst>
                                        <p:tav tm="0">
                                          <p:val>
                                            <p:strVal val="#ppt_x"/>
                                          </p:val>
                                        </p:tav>
                                        <p:tav tm="100000">
                                          <p:val>
                                            <p:strVal val="#ppt_x"/>
                                          </p:val>
                                        </p:tav>
                                      </p:tavLst>
                                    </p:anim>
                                    <p:anim calcmode="lin" valueType="num">
                                      <p:cBhvr additive="base">
                                        <p:cTn id="3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p:cNvGrpSpPr/>
          <p:nvPr/>
        </p:nvGrpSpPr>
        <p:grpSpPr>
          <a:xfrm>
            <a:off x="2040255" y="786130"/>
            <a:ext cx="6860540" cy="2595245"/>
            <a:chOff x="4304043" y="1286668"/>
            <a:chExt cx="3837944" cy="2757793"/>
          </a:xfrm>
          <a:effectLst>
            <a:outerShdw blurRad="381000" dist="254000" dir="8100000" algn="tr" rotWithShape="0">
              <a:prstClr val="black">
                <a:alpha val="40000"/>
              </a:prstClr>
            </a:outerShdw>
          </a:effectLst>
        </p:grpSpPr>
        <p:sp>
          <p:nvSpPr>
            <p:cNvPr id="23" name="圆角矩形 22"/>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2"/>
                </a:solidFill>
                <a:cs typeface="+mn-ea"/>
              </a:endParaRPr>
            </a:p>
          </p:txBody>
        </p:sp>
        <p:sp>
          <p:nvSpPr>
            <p:cNvPr id="29" name="圆角矩形 28"/>
            <p:cNvSpPr/>
            <p:nvPr/>
          </p:nvSpPr>
          <p:spPr>
            <a:xfrm>
              <a:off x="4351930" y="1330004"/>
              <a:ext cx="3742172" cy="2671122"/>
            </a:xfrm>
            <a:prstGeom prst="roundRect">
              <a:avLst/>
            </a:prstGeom>
            <a:gradFill>
              <a:gsLst>
                <a:gs pos="42000">
                  <a:srgbClr val="F0F0F0"/>
                </a:gs>
                <a:gs pos="0">
                  <a:schemeClr val="bg1"/>
                </a:gs>
                <a:gs pos="100000">
                  <a:schemeClr val="bg1">
                    <a:lumMod val="85000"/>
                  </a:schemeClr>
                </a:gs>
                <a:gs pos="0">
                  <a:schemeClr val="bg1"/>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2"/>
                </a:solidFill>
                <a:cs typeface="+mn-ea"/>
              </a:endParaRPr>
            </a:p>
          </p:txBody>
        </p:sp>
      </p:grpSp>
      <p:sp>
        <p:nvSpPr>
          <p:cNvPr id="33" name="TextBox 23"/>
          <p:cNvSpPr>
            <a:spLocks noChangeArrowheads="1"/>
          </p:cNvSpPr>
          <p:nvPr/>
        </p:nvSpPr>
        <p:spPr bwMode="auto">
          <a:xfrm>
            <a:off x="1887855" y="745490"/>
            <a:ext cx="6861175" cy="293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indent="0" algn="just">
              <a:lnSpc>
                <a:spcPct val="150000"/>
              </a:lnSpc>
              <a:buFont typeface="+mj-lt"/>
              <a:buNone/>
            </a:pPr>
            <a:r>
              <a:rPr lang="en-US" sz="2400" b="1" dirty="0" err="1">
                <a:latin typeface="Courier New Bold" charset="0"/>
                <a:cs typeface="Courier New Bold" charset="0"/>
                <a:sym typeface="Courier New Bold" charset="0"/>
              </a:rPr>
              <a:t>			cmpq</a:t>
            </a:r>
            <a:r>
              <a:rPr lang="en-US" sz="2400" b="1" dirty="0">
                <a:latin typeface="Courier New Bold" charset="0"/>
                <a:cs typeface="Courier New Bold" charset="0"/>
                <a:sym typeface="Courier New Bold" charset="0"/>
              </a:rPr>
              <a:t> </a:t>
            </a:r>
            <a:r>
              <a:rPr lang="en-US" sz="2400" b="1" dirty="0" err="1">
                <a:latin typeface="Courier New Bold" charset="0"/>
                <a:cs typeface="Courier New Bold" charset="0"/>
                <a:sym typeface="Courier New Bold" charset="0"/>
              </a:rPr>
              <a:t>b,a</a:t>
            </a:r>
          </a:p>
          <a:p>
            <a:pPr marL="317500" lvl="1" indent="0"/>
            <a:r>
              <a:rPr lang="en-US" sz="2400" dirty="0">
                <a:solidFill>
                  <a:srgbClr val="980002"/>
                </a:solidFill>
                <a:latin typeface="Calibri Bold" charset="0"/>
                <a:ea typeface="Calibri Bold" charset="0"/>
                <a:cs typeface="Calibri Bold" charset="0"/>
                <a:sym typeface="Calibri Bold" charset="0"/>
              </a:rPr>
              <a:t>CF   </a:t>
            </a:r>
            <a:r>
              <a:rPr lang="zh-CN" altLang="en-US" sz="2400" dirty="0">
                <a:solidFill>
                  <a:srgbClr val="980002"/>
                </a:solidFill>
                <a:latin typeface="Calibri Bold" charset="0"/>
                <a:ea typeface="宋体" panose="02010600030101010101" pitchFamily="2" charset="-122"/>
                <a:cs typeface="Calibri Bold" charset="0"/>
                <a:sym typeface="Calibri Bold" charset="0"/>
              </a:rPr>
              <a:t>无符号溢出</a:t>
            </a:r>
            <a:r>
              <a:rPr lang="en-US" altLang="zh-CN" sz="2400" dirty="0">
                <a:solidFill>
                  <a:srgbClr val="980002"/>
                </a:solidFill>
                <a:latin typeface="Calibri Bold" charset="0"/>
                <a:ea typeface="宋体" panose="02010600030101010101" pitchFamily="2" charset="-122"/>
                <a:cs typeface="Calibri Bold" charset="0"/>
                <a:sym typeface="Calibri Bold" charset="0"/>
              </a:rPr>
              <a:t>;</a:t>
            </a:r>
          </a:p>
          <a:p>
            <a:pPr marL="317500" lvl="1" indent="0"/>
            <a:r>
              <a:rPr lang="en-US" sz="2400" dirty="0">
                <a:solidFill>
                  <a:srgbClr val="980002"/>
                </a:solidFill>
                <a:latin typeface="Calibri Bold" charset="0"/>
                <a:ea typeface="Calibri Bold" charset="0"/>
                <a:cs typeface="Calibri Bold" charset="0"/>
                <a:sym typeface="Calibri Bold" charset="0"/>
              </a:rPr>
              <a:t>ZF   </a:t>
            </a:r>
            <a:r>
              <a:rPr lang="en-US" sz="2800" dirty="0">
                <a:latin typeface="Courier New Bold" charset="0"/>
                <a:cs typeface="Courier New Bold" charset="0"/>
                <a:sym typeface="Courier New Bold" charset="0"/>
              </a:rPr>
              <a:t>a == b;</a:t>
            </a:r>
          </a:p>
          <a:p>
            <a:pPr marL="317500" lvl="1" indent="0"/>
            <a:r>
              <a:rPr lang="en-US" sz="2400" dirty="0">
                <a:solidFill>
                  <a:srgbClr val="980002"/>
                </a:solidFill>
                <a:latin typeface="Calibri Bold" charset="0"/>
                <a:ea typeface="Calibri Bold" charset="0"/>
                <a:cs typeface="Calibri Bold" charset="0"/>
                <a:sym typeface="Calibri Bold" charset="0"/>
              </a:rPr>
              <a:t>SF </a:t>
            </a:r>
            <a:r>
              <a:rPr lang="en-US" sz="2400" dirty="0">
                <a:sym typeface="+mn-ea"/>
              </a:rPr>
              <a:t> </a:t>
            </a:r>
            <a:r>
              <a:rPr lang="en-US" sz="2400" dirty="0">
                <a:latin typeface="Courier New Bold" charset="0"/>
                <a:cs typeface="Courier New Bold" charset="0"/>
                <a:sym typeface="Courier New Bold" charset="0"/>
              </a:rPr>
              <a:t>(a-b) &lt; 0</a:t>
            </a:r>
            <a:r>
              <a:rPr lang="en-US" sz="2800" dirty="0">
                <a:sym typeface="+mn-ea"/>
              </a:rPr>
              <a:t> (as signed);</a:t>
            </a:r>
          </a:p>
          <a:p>
            <a:pPr marL="317500" lvl="1" indent="0"/>
            <a:r>
              <a:rPr lang="en-US" sz="2400" dirty="0">
                <a:solidFill>
                  <a:srgbClr val="980002"/>
                </a:solidFill>
                <a:latin typeface="Calibri Bold" charset="0"/>
                <a:ea typeface="Calibri Bold" charset="0"/>
                <a:cs typeface="Calibri Bold" charset="0"/>
                <a:sym typeface="Calibri Bold" charset="0"/>
              </a:rPr>
              <a:t>OF </a:t>
            </a:r>
            <a:r>
              <a:rPr lang="en-US" sz="2400" dirty="0">
                <a:latin typeface="Courier New Bold" charset="0"/>
                <a:cs typeface="Courier New Bold" charset="0"/>
                <a:sym typeface="Courier New Bold" charset="0"/>
              </a:rPr>
              <a:t>(a&gt;0 &amp;&amp; b&lt;0 &amp;&amp; (a-b)&lt;0) || (a&lt;0 &amp;&amp; b&gt;0 &amp;&amp; (a-b)&gt;0);</a:t>
            </a:r>
            <a:endParaRPr lang="en-US" sz="2400" dirty="0">
              <a:latin typeface="Courier New Bold" charset="0"/>
              <a:ea typeface="ヒラギノ角ゴ ProN W6" charset="0"/>
              <a:cs typeface="Courier New Bold" charset="0"/>
              <a:sym typeface="Courier New Bold" charset="0"/>
            </a:endParaRPr>
          </a:p>
          <a:p>
            <a:pPr indent="0" algn="just">
              <a:lnSpc>
                <a:spcPct val="150000"/>
              </a:lnSpc>
              <a:buFont typeface="+mj-lt"/>
              <a:buNone/>
            </a:pPr>
            <a:endParaRPr lang="zh-CN" altLang="en-US" dirty="0">
              <a:solidFill>
                <a:schemeClr val="tx2"/>
              </a:solidFill>
              <a:latin typeface="+mn-ea"/>
              <a:cs typeface="+mn-ea"/>
              <a:sym typeface="微软雅黑" panose="020B0503020204020204" charset="-122"/>
            </a:endParaRPr>
          </a:p>
        </p:txBody>
      </p:sp>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4" name="椭圆 3"/>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3" name="椭圆 34"/>
          <p:cNvSpPr/>
          <p:nvPr/>
        </p:nvSpPr>
        <p:spPr>
          <a:xfrm rot="5400000" flipV="1">
            <a:off x="6637020" y="3999865"/>
            <a:ext cx="1069340" cy="1381760"/>
          </a:xfrm>
          <a:custGeom>
            <a:avLst/>
            <a:gdLst/>
            <a:ahLst/>
            <a:cxnLst/>
            <a:rect l="l" t="t" r="r" b="b"/>
            <a:pathLst>
              <a:path w="1118836" h="1438889">
                <a:moveTo>
                  <a:pt x="548270" y="0"/>
                </a:moveTo>
                <a:lnTo>
                  <a:pt x="721662" y="346785"/>
                </a:lnTo>
                <a:cubicBezTo>
                  <a:pt x="951885" y="413972"/>
                  <a:pt x="1118836" y="627225"/>
                  <a:pt x="1118836" y="879471"/>
                </a:cubicBezTo>
                <a:cubicBezTo>
                  <a:pt x="1118836" y="1188429"/>
                  <a:pt x="868376" y="1438889"/>
                  <a:pt x="559418" y="1438889"/>
                </a:cubicBezTo>
                <a:cubicBezTo>
                  <a:pt x="250460" y="1438889"/>
                  <a:pt x="0" y="1188429"/>
                  <a:pt x="0" y="879471"/>
                </a:cubicBezTo>
                <a:cubicBezTo>
                  <a:pt x="0" y="636984"/>
                  <a:pt x="154283" y="430531"/>
                  <a:pt x="370781" y="354978"/>
                </a:cubicBezTo>
                <a:close/>
              </a:path>
            </a:pathLst>
          </a:custGeom>
          <a:gradFill>
            <a:gsLst>
              <a:gs pos="0">
                <a:schemeClr val="accent6">
                  <a:lumMod val="60000"/>
                  <a:lumOff val="40000"/>
                </a:schemeClr>
              </a:gs>
              <a:gs pos="100000">
                <a:srgbClr val="DF664A"/>
              </a:gs>
            </a:gsLst>
            <a:lin ang="8100000" scaled="0"/>
          </a:gra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nvGrpSpPr>
          <p:cNvPr id="44" name="组合 43"/>
          <p:cNvGrpSpPr/>
          <p:nvPr/>
        </p:nvGrpSpPr>
        <p:grpSpPr>
          <a:xfrm rot="5400000">
            <a:off x="685800" y="1146810"/>
            <a:ext cx="885825" cy="1577975"/>
            <a:chOff x="4020870" y="2194485"/>
            <a:chExt cx="1102258" cy="1432090"/>
          </a:xfrm>
          <a:effectLst>
            <a:outerShdw blurRad="444500" dist="254000" dir="8100000" algn="tr" rotWithShape="0">
              <a:prstClr val="black">
                <a:alpha val="50000"/>
              </a:prstClr>
            </a:outerShdw>
          </a:effectLst>
        </p:grpSpPr>
        <p:sp>
          <p:nvSpPr>
            <p:cNvPr id="45" name="等腰三角形 43"/>
            <p:cNvSpPr/>
            <p:nvPr/>
          </p:nvSpPr>
          <p:spPr>
            <a:xfrm>
              <a:off x="4020870" y="2194485"/>
              <a:ext cx="1102258" cy="1432090"/>
            </a:xfrm>
            <a:custGeom>
              <a:avLst/>
              <a:gdLst/>
              <a:ahLst/>
              <a:cxnLst/>
              <a:rect l="l" t="t" r="r" b="b"/>
              <a:pathLst>
                <a:path w="1102258" h="1432090">
                  <a:moveTo>
                    <a:pt x="761620" y="431870"/>
                  </a:moveTo>
                  <a:lnTo>
                    <a:pt x="856659" y="621949"/>
                  </a:lnTo>
                  <a:lnTo>
                    <a:pt x="234710" y="621949"/>
                  </a:lnTo>
                  <a:lnTo>
                    <a:pt x="325695" y="439980"/>
                  </a:lnTo>
                  <a:cubicBezTo>
                    <a:pt x="163858" y="520416"/>
                    <a:pt x="53779" y="687834"/>
                    <a:pt x="53779" y="880961"/>
                  </a:cubicBezTo>
                  <a:cubicBezTo>
                    <a:pt x="53779" y="1155639"/>
                    <a:pt x="276450" y="1378310"/>
                    <a:pt x="551128" y="1378310"/>
                  </a:cubicBezTo>
                  <a:cubicBezTo>
                    <a:pt x="825806" y="1378310"/>
                    <a:pt x="1048477" y="1155639"/>
                    <a:pt x="1048477" y="880961"/>
                  </a:cubicBezTo>
                  <a:cubicBezTo>
                    <a:pt x="1048477" y="681767"/>
                    <a:pt x="931374" y="509923"/>
                    <a:pt x="761620" y="431870"/>
                  </a:cubicBezTo>
                  <a:close/>
                  <a:moveTo>
                    <a:pt x="545685" y="0"/>
                  </a:moveTo>
                  <a:lnTo>
                    <a:pt x="726120" y="360871"/>
                  </a:lnTo>
                  <a:cubicBezTo>
                    <a:pt x="945108" y="431845"/>
                    <a:pt x="1102258" y="638051"/>
                    <a:pt x="1102258" y="880961"/>
                  </a:cubicBezTo>
                  <a:cubicBezTo>
                    <a:pt x="1102258" y="1185341"/>
                    <a:pt x="855509" y="1432090"/>
                    <a:pt x="551129" y="1432090"/>
                  </a:cubicBezTo>
                  <a:cubicBezTo>
                    <a:pt x="246749" y="1432090"/>
                    <a:pt x="0" y="1185341"/>
                    <a:pt x="0" y="880961"/>
                  </a:cubicBezTo>
                  <a:cubicBezTo>
                    <a:pt x="0" y="642821"/>
                    <a:pt x="151038" y="439958"/>
                    <a:pt x="363249" y="364872"/>
                  </a:cubicBezTo>
                  <a:close/>
                </a:path>
              </a:pathLst>
            </a:custGeom>
            <a:gradFill>
              <a:gsLst>
                <a:gs pos="0">
                  <a:schemeClr val="bg1"/>
                </a:gs>
                <a:gs pos="55000">
                  <a:schemeClr val="bg1">
                    <a:lumMod val="95000"/>
                  </a:schemeClr>
                </a:gs>
                <a:gs pos="100000">
                  <a:schemeClr val="bg1">
                    <a:lumMod val="6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2"/>
                </a:solidFill>
                <a:cs typeface="+mn-ea"/>
              </a:endParaRPr>
            </a:p>
          </p:txBody>
        </p:sp>
        <p:sp>
          <p:nvSpPr>
            <p:cNvPr id="47" name="等腰三角形 42"/>
            <p:cNvSpPr/>
            <p:nvPr/>
          </p:nvSpPr>
          <p:spPr>
            <a:xfrm>
              <a:off x="4044928" y="2251925"/>
              <a:ext cx="1054142" cy="1350592"/>
            </a:xfrm>
            <a:custGeom>
              <a:avLst/>
              <a:gdLst/>
              <a:ahLst/>
              <a:cxnLst/>
              <a:rect l="l" t="t" r="r" b="b"/>
              <a:pathLst>
                <a:path w="1054142" h="1350592">
                  <a:moveTo>
                    <a:pt x="521627" y="0"/>
                  </a:moveTo>
                  <a:lnTo>
                    <a:pt x="682907" y="322559"/>
                  </a:lnTo>
                  <a:cubicBezTo>
                    <a:pt x="898294" y="386795"/>
                    <a:pt x="1054142" y="586958"/>
                    <a:pt x="1054142" y="823521"/>
                  </a:cubicBezTo>
                  <a:cubicBezTo>
                    <a:pt x="1054142" y="1114614"/>
                    <a:pt x="818164" y="1350592"/>
                    <a:pt x="527071" y="1350592"/>
                  </a:cubicBezTo>
                  <a:cubicBezTo>
                    <a:pt x="235978" y="1350592"/>
                    <a:pt x="0" y="1114614"/>
                    <a:pt x="0" y="823521"/>
                  </a:cubicBezTo>
                  <a:cubicBezTo>
                    <a:pt x="0" y="591722"/>
                    <a:pt x="149634" y="394871"/>
                    <a:pt x="358347" y="326560"/>
                  </a:cubicBezTo>
                  <a:close/>
                </a:path>
              </a:pathLst>
            </a:custGeom>
            <a:gradFill>
              <a:gsLst>
                <a:gs pos="0">
                  <a:schemeClr val="bg1"/>
                </a:gs>
                <a:gs pos="43000">
                  <a:schemeClr val="bg1">
                    <a:lumMod val="95000"/>
                  </a:schemeClr>
                </a:gs>
                <a:gs pos="100000">
                  <a:schemeClr val="bg1">
                    <a:lumMod val="75000"/>
                  </a:schemeClr>
                </a:gs>
              </a:gsLst>
              <a:lin ang="14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2"/>
                </a:solidFill>
                <a:cs typeface="+mn-ea"/>
              </a:endParaRPr>
            </a:p>
          </p:txBody>
        </p:sp>
      </p:grpSp>
      <p:grpSp>
        <p:nvGrpSpPr>
          <p:cNvPr id="30" name="组合 29"/>
          <p:cNvGrpSpPr/>
          <p:nvPr/>
        </p:nvGrpSpPr>
        <p:grpSpPr>
          <a:xfrm>
            <a:off x="937260" y="4039870"/>
            <a:ext cx="5232400" cy="1304290"/>
            <a:chOff x="4304043" y="1286668"/>
            <a:chExt cx="3837944" cy="2757793"/>
          </a:xfrm>
          <a:effectLst>
            <a:outerShdw blurRad="381000" dist="254000" dir="8100000" algn="tr" rotWithShape="0">
              <a:prstClr val="black">
                <a:alpha val="40000"/>
              </a:prstClr>
            </a:outerShdw>
          </a:effectLst>
        </p:grpSpPr>
        <p:sp>
          <p:nvSpPr>
            <p:cNvPr id="31" name="圆角矩形 30"/>
            <p:cNvSpPr/>
            <p:nvPr/>
          </p:nvSpPr>
          <p:spPr>
            <a:xfrm>
              <a:off x="4304043" y="1286668"/>
              <a:ext cx="3837944" cy="2757793"/>
            </a:xfrm>
            <a:prstGeom prst="roundRect">
              <a:avLst/>
            </a:prstGeom>
            <a:gradFill>
              <a:gsLst>
                <a:gs pos="62000">
                  <a:schemeClr val="bg1">
                    <a:lumMod val="95000"/>
                  </a:schemeClr>
                </a:gs>
                <a:gs pos="0">
                  <a:schemeClr val="bg1"/>
                </a:gs>
                <a:gs pos="100000">
                  <a:schemeClr val="bg1">
                    <a:lumMod val="85000"/>
                  </a:schemeClr>
                </a:gs>
                <a:gs pos="0">
                  <a:schemeClr val="bg1"/>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sp>
          <p:nvSpPr>
            <p:cNvPr id="32" name="圆角矩形 31"/>
            <p:cNvSpPr/>
            <p:nvPr/>
          </p:nvSpPr>
          <p:spPr>
            <a:xfrm>
              <a:off x="4351930" y="1330004"/>
              <a:ext cx="3742172" cy="2671122"/>
            </a:xfrm>
            <a:prstGeom prst="roundRect">
              <a:avLst/>
            </a:prstGeom>
            <a:gradFill>
              <a:gsLst>
                <a:gs pos="0">
                  <a:schemeClr val="accent6">
                    <a:lumMod val="60000"/>
                    <a:lumOff val="40000"/>
                  </a:schemeClr>
                </a:gs>
                <a:gs pos="100000">
                  <a:srgbClr val="DF664A"/>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cs typeface="+mn-ea"/>
              </a:endParaRPr>
            </a:p>
          </p:txBody>
        </p:sp>
      </p:grpSp>
      <p:sp>
        <p:nvSpPr>
          <p:cNvPr id="38" name="TextBox 24"/>
          <p:cNvSpPr>
            <a:spLocks noChangeArrowheads="1"/>
          </p:cNvSpPr>
          <p:nvPr/>
        </p:nvSpPr>
        <p:spPr bwMode="auto">
          <a:xfrm>
            <a:off x="366395" y="1682115"/>
            <a:ext cx="1034415"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2800" b="1" dirty="0">
                <a:solidFill>
                  <a:schemeClr val="tx2"/>
                </a:solidFill>
                <a:latin typeface="+mn-ea"/>
                <a:cs typeface="+mn-ea"/>
              </a:rPr>
              <a:t>cmpq</a:t>
            </a:r>
          </a:p>
        </p:txBody>
      </p:sp>
      <p:sp>
        <p:nvSpPr>
          <p:cNvPr id="39" name="TextBox 31"/>
          <p:cNvSpPr>
            <a:spLocks noChangeArrowheads="1"/>
          </p:cNvSpPr>
          <p:nvPr/>
        </p:nvSpPr>
        <p:spPr bwMode="auto">
          <a:xfrm>
            <a:off x="6854825" y="4476750"/>
            <a:ext cx="1007745"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a:r>
              <a:rPr lang="en-US" altLang="zh-CN" sz="2800" b="1" dirty="0">
                <a:solidFill>
                  <a:schemeClr val="bg1"/>
                </a:solidFill>
                <a:latin typeface="+mn-ea"/>
                <a:cs typeface="+mn-ea"/>
              </a:rPr>
              <a:t>testq</a:t>
            </a:r>
          </a:p>
        </p:txBody>
      </p:sp>
      <p:sp>
        <p:nvSpPr>
          <p:cNvPr id="40" name="TextBox 25"/>
          <p:cNvSpPr>
            <a:spLocks noChangeArrowheads="1"/>
          </p:cNvSpPr>
          <p:nvPr/>
        </p:nvSpPr>
        <p:spPr bwMode="auto">
          <a:xfrm>
            <a:off x="962660" y="3905250"/>
            <a:ext cx="5893435"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indent="0" algn="just">
              <a:lnSpc>
                <a:spcPct val="150000"/>
              </a:lnSpc>
              <a:buFont typeface="+mj-lt"/>
              <a:buNone/>
            </a:pPr>
            <a:r>
              <a:rPr lang="en-US" dirty="0" err="1">
                <a:latin typeface="Courier New Bold" charset="0"/>
                <a:cs typeface="Courier New Bold" charset="0"/>
                <a:sym typeface="Courier New Bold" charset="0"/>
              </a:rPr>
              <a:t>     		</a:t>
            </a:r>
            <a:r>
              <a:rPr lang="en-US" sz="2400" b="1" dirty="0" err="1">
                <a:latin typeface="Courier New Bold" charset="0"/>
                <a:cs typeface="Courier New Bold" charset="0"/>
                <a:sym typeface="Courier New Bold" charset="0"/>
              </a:rPr>
              <a:t>testq b,a</a:t>
            </a:r>
          </a:p>
          <a:p>
            <a:pPr marL="317500" lvl="1" indent="0"/>
            <a:r>
              <a:rPr lang="en-US" sz="2400" dirty="0">
                <a:solidFill>
                  <a:srgbClr val="980002"/>
                </a:solidFill>
                <a:latin typeface="Calibri Bold" charset="0"/>
                <a:ea typeface="Calibri Bold" charset="0"/>
                <a:cs typeface="Calibri Bold" charset="0"/>
                <a:sym typeface="Calibri Bold" charset="0"/>
              </a:rPr>
              <a:t>ZF  </a:t>
            </a:r>
            <a:r>
              <a:rPr lang="en-US" sz="2400" dirty="0">
                <a:sym typeface="+mn-ea"/>
              </a:rPr>
              <a:t> </a:t>
            </a:r>
            <a:r>
              <a:rPr lang="en-US" sz="2400" dirty="0" err="1">
                <a:latin typeface="Courier New Bold" charset="0"/>
                <a:cs typeface="Courier New Bold" charset="0"/>
                <a:sym typeface="Courier New Bold" charset="0"/>
              </a:rPr>
              <a:t>a&amp;b</a:t>
            </a:r>
            <a:r>
              <a:rPr lang="en-US" sz="2800" dirty="0">
                <a:latin typeface="Courier New Bold" charset="0"/>
                <a:cs typeface="Courier New Bold" charset="0"/>
                <a:sym typeface="Courier New Bold" charset="0"/>
              </a:rPr>
              <a:t> == 0</a:t>
            </a:r>
          </a:p>
          <a:p>
            <a:pPr marL="317500" lvl="1" indent="0"/>
            <a:r>
              <a:rPr lang="en-US" sz="2400" dirty="0">
                <a:solidFill>
                  <a:srgbClr val="980002"/>
                </a:solidFill>
                <a:latin typeface="Calibri Bold" charset="0"/>
                <a:ea typeface="Calibri Bold" charset="0"/>
                <a:cs typeface="Calibri Bold" charset="0"/>
                <a:sym typeface="Calibri Bold" charset="0"/>
              </a:rPr>
              <a:t>SF  </a:t>
            </a:r>
            <a:r>
              <a:rPr lang="en-US" sz="2400" dirty="0">
                <a:sym typeface="+mn-ea"/>
              </a:rPr>
              <a:t> </a:t>
            </a:r>
            <a:r>
              <a:rPr lang="en-US" sz="2400" dirty="0" err="1">
                <a:latin typeface="Courier New Bold" charset="0"/>
                <a:cs typeface="Courier New Bold" charset="0"/>
                <a:sym typeface="Courier New Bold" charset="0"/>
              </a:rPr>
              <a:t>a&amp;b</a:t>
            </a:r>
            <a:r>
              <a:rPr lang="en-US" sz="2400" dirty="0">
                <a:latin typeface="Courier New Bold" charset="0"/>
                <a:cs typeface="Courier New Bold" charset="0"/>
                <a:sym typeface="Courier New Bold" charset="0"/>
              </a:rPr>
              <a:t> &lt; 0</a:t>
            </a:r>
            <a:endParaRPr lang="en-US" sz="2400" dirty="0">
              <a:latin typeface="Courier New Bold" charset="0"/>
              <a:ea typeface="ヒラギノ角ゴ ProN W6" charset="0"/>
              <a:cs typeface="Courier New Bold" charset="0"/>
              <a:sym typeface="Courier New Bold" charset="0"/>
            </a:endParaRPr>
          </a:p>
          <a:p>
            <a:pPr indent="0" algn="just">
              <a:lnSpc>
                <a:spcPct val="150000"/>
              </a:lnSpc>
              <a:buFont typeface="+mj-lt"/>
              <a:buNone/>
            </a:pPr>
            <a:endParaRPr lang="en-US" sz="2400" b="1" dirty="0" err="1">
              <a:latin typeface="Courier New Bold" charset="0"/>
              <a:cs typeface="Courier New Bold" charset="0"/>
              <a:sym typeface="微软雅黑" panose="020B0503020204020204" charset="-122"/>
            </a:endParaRPr>
          </a:p>
        </p:txBody>
      </p:sp>
      <p:sp>
        <p:nvSpPr>
          <p:cNvPr id="2" name="文本框 1"/>
          <p:cNvSpPr txBox="1"/>
          <p:nvPr/>
        </p:nvSpPr>
        <p:spPr>
          <a:xfrm>
            <a:off x="1002665" y="5445125"/>
            <a:ext cx="3977640" cy="368300"/>
          </a:xfrm>
          <a:prstGeom prst="rect">
            <a:avLst/>
          </a:prstGeom>
          <a:noFill/>
        </p:spPr>
        <p:txBody>
          <a:bodyPr wrap="none" rtlCol="0" anchor="t">
            <a:spAutoFit/>
          </a:bodyPr>
          <a:lstStyle/>
          <a:p>
            <a:r>
              <a:rPr lang="zh-CN" altLang="en-US" b="1" dirty="0" err="1">
                <a:latin typeface="Courier New" panose="02070309020205020404" charset="0"/>
                <a:cs typeface="Courier New" panose="02070309020205020404" charset="0"/>
                <a:sym typeface="+mn-ea"/>
              </a:rPr>
              <a:t>最常用的用法：</a:t>
            </a:r>
            <a:r>
              <a:rPr lang="en-US" b="1" dirty="0" err="1">
                <a:latin typeface="Courier New" panose="02070309020205020404" charset="0"/>
                <a:cs typeface="Courier New" panose="02070309020205020404" charset="0"/>
                <a:sym typeface="+mn-ea"/>
              </a:rPr>
              <a:t>Testq</a:t>
            </a:r>
            <a:r>
              <a:rPr lang="en-US" b="1" dirty="0">
                <a:latin typeface="Courier New" panose="02070309020205020404" charset="0"/>
                <a:cs typeface="Courier New" panose="02070309020205020404" charset="0"/>
                <a:sym typeface="+mn-ea"/>
              </a:rPr>
              <a:t>  %</a:t>
            </a:r>
            <a:r>
              <a:rPr lang="en-US" b="1" dirty="0" err="1">
                <a:latin typeface="Courier New" panose="02070309020205020404" charset="0"/>
                <a:cs typeface="Courier New" panose="02070309020205020404" charset="0"/>
                <a:sym typeface="+mn-ea"/>
              </a:rPr>
              <a:t>rax</a:t>
            </a:r>
            <a:r>
              <a:rPr lang="en-US" b="1" dirty="0">
                <a:latin typeface="Courier New" panose="02070309020205020404" charset="0"/>
                <a:cs typeface="Courier New" panose="02070309020205020404" charset="0"/>
                <a:sym typeface="+mn-ea"/>
              </a:rPr>
              <a:t>,%</a:t>
            </a:r>
            <a:r>
              <a:rPr lang="en-US" b="1" dirty="0" err="1">
                <a:latin typeface="Courier New" panose="02070309020205020404" charset="0"/>
                <a:cs typeface="Courier New" panose="02070309020205020404" charset="0"/>
                <a:sym typeface="+mn-ea"/>
              </a:rPr>
              <a:t>rax</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4" presetClass="entr" presetSubtype="0" accel="10000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500" fill="hold"/>
                                        <p:tgtEl>
                                          <p:spTgt spid="44"/>
                                        </p:tgtEl>
                                        <p:attrNameLst>
                                          <p:attrName>ppt_w</p:attrName>
                                        </p:attrNameLst>
                                      </p:cBhvr>
                                      <p:tavLst>
                                        <p:tav tm="0">
                                          <p:val>
                                            <p:strVal val="#ppt_w*0.05"/>
                                          </p:val>
                                        </p:tav>
                                        <p:tav tm="100000">
                                          <p:val>
                                            <p:strVal val="#ppt_w"/>
                                          </p:val>
                                        </p:tav>
                                      </p:tavLst>
                                    </p:anim>
                                    <p:anim calcmode="lin" valueType="num">
                                      <p:cBhvr>
                                        <p:cTn id="8" dur="500" fill="hold"/>
                                        <p:tgtEl>
                                          <p:spTgt spid="44"/>
                                        </p:tgtEl>
                                        <p:attrNameLst>
                                          <p:attrName>ppt_h</p:attrName>
                                        </p:attrNameLst>
                                      </p:cBhvr>
                                      <p:tavLst>
                                        <p:tav tm="0">
                                          <p:val>
                                            <p:strVal val="#ppt_h"/>
                                          </p:val>
                                        </p:tav>
                                        <p:tav tm="100000">
                                          <p:val>
                                            <p:strVal val="#ppt_h"/>
                                          </p:val>
                                        </p:tav>
                                      </p:tavLst>
                                    </p:anim>
                                    <p:anim calcmode="lin" valueType="num">
                                      <p:cBhvr>
                                        <p:cTn id="9" dur="500" fill="hold"/>
                                        <p:tgtEl>
                                          <p:spTgt spid="44"/>
                                        </p:tgtEl>
                                        <p:attrNameLst>
                                          <p:attrName>ppt_x</p:attrName>
                                        </p:attrNameLst>
                                      </p:cBhvr>
                                      <p:tavLst>
                                        <p:tav tm="0">
                                          <p:val>
                                            <p:strVal val="#ppt_x-.2"/>
                                          </p:val>
                                        </p:tav>
                                        <p:tav tm="100000">
                                          <p:val>
                                            <p:strVal val="#ppt_x"/>
                                          </p:val>
                                        </p:tav>
                                      </p:tavLst>
                                    </p:anim>
                                    <p:anim calcmode="lin" valueType="num">
                                      <p:cBhvr>
                                        <p:cTn id="10" dur="500" fill="hold"/>
                                        <p:tgtEl>
                                          <p:spTgt spid="44"/>
                                        </p:tgtEl>
                                        <p:attrNameLst>
                                          <p:attrName>ppt_y</p:attrName>
                                        </p:attrNameLst>
                                      </p:cBhvr>
                                      <p:tavLst>
                                        <p:tav tm="0">
                                          <p:val>
                                            <p:strVal val="#ppt_y"/>
                                          </p:val>
                                        </p:tav>
                                        <p:tav tm="100000">
                                          <p:val>
                                            <p:strVal val="#ppt_y"/>
                                          </p:val>
                                        </p:tav>
                                      </p:tavLst>
                                    </p:anim>
                                    <p:animEffect transition="in" filter="fade">
                                      <p:cBhvr>
                                        <p:cTn id="11" dur="500"/>
                                        <p:tgtEl>
                                          <p:spTgt spid="44"/>
                                        </p:tgtEl>
                                      </p:cBhvr>
                                    </p:animEffect>
                                  </p:childTnLst>
                                </p:cTn>
                              </p:par>
                              <p:par>
                                <p:cTn id="12" presetID="54" presetClass="entr" presetSubtype="0" accel="10000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 calcmode="lin" valueType="num">
                                      <p:cBhvr>
                                        <p:cTn id="14" dur="500" fill="hold"/>
                                        <p:tgtEl>
                                          <p:spTgt spid="22"/>
                                        </p:tgtEl>
                                        <p:attrNameLst>
                                          <p:attrName>ppt_w</p:attrName>
                                        </p:attrNameLst>
                                      </p:cBhvr>
                                      <p:tavLst>
                                        <p:tav tm="0">
                                          <p:val>
                                            <p:strVal val="#ppt_w*0.05"/>
                                          </p:val>
                                        </p:tav>
                                        <p:tav tm="100000">
                                          <p:val>
                                            <p:strVal val="#ppt_w"/>
                                          </p:val>
                                        </p:tav>
                                      </p:tavLst>
                                    </p:anim>
                                    <p:anim calcmode="lin" valueType="num">
                                      <p:cBhvr>
                                        <p:cTn id="15" dur="500" fill="hold"/>
                                        <p:tgtEl>
                                          <p:spTgt spid="22"/>
                                        </p:tgtEl>
                                        <p:attrNameLst>
                                          <p:attrName>ppt_h</p:attrName>
                                        </p:attrNameLst>
                                      </p:cBhvr>
                                      <p:tavLst>
                                        <p:tav tm="0">
                                          <p:val>
                                            <p:strVal val="#ppt_h"/>
                                          </p:val>
                                        </p:tav>
                                        <p:tav tm="100000">
                                          <p:val>
                                            <p:strVal val="#ppt_h"/>
                                          </p:val>
                                        </p:tav>
                                      </p:tavLst>
                                    </p:anim>
                                    <p:anim calcmode="lin" valueType="num">
                                      <p:cBhvr>
                                        <p:cTn id="16" dur="500" fill="hold"/>
                                        <p:tgtEl>
                                          <p:spTgt spid="22"/>
                                        </p:tgtEl>
                                        <p:attrNameLst>
                                          <p:attrName>ppt_x</p:attrName>
                                        </p:attrNameLst>
                                      </p:cBhvr>
                                      <p:tavLst>
                                        <p:tav tm="0">
                                          <p:val>
                                            <p:strVal val="#ppt_x-.2"/>
                                          </p:val>
                                        </p:tav>
                                        <p:tav tm="100000">
                                          <p:val>
                                            <p:strVal val="#ppt_x"/>
                                          </p:val>
                                        </p:tav>
                                      </p:tavLst>
                                    </p:anim>
                                    <p:anim calcmode="lin" valueType="num">
                                      <p:cBhvr>
                                        <p:cTn id="17" dur="500" fill="hold"/>
                                        <p:tgtEl>
                                          <p:spTgt spid="22"/>
                                        </p:tgtEl>
                                        <p:attrNameLst>
                                          <p:attrName>ppt_y</p:attrName>
                                        </p:attrNameLst>
                                      </p:cBhvr>
                                      <p:tavLst>
                                        <p:tav tm="0">
                                          <p:val>
                                            <p:strVal val="#ppt_y"/>
                                          </p:val>
                                        </p:tav>
                                        <p:tav tm="100000">
                                          <p:val>
                                            <p:strVal val="#ppt_y"/>
                                          </p:val>
                                        </p:tav>
                                      </p:tavLst>
                                    </p:anim>
                                    <p:animEffect transition="in" filter="fade">
                                      <p:cBhvr>
                                        <p:cTn id="18" dur="500"/>
                                        <p:tgtEl>
                                          <p:spTgt spid="22"/>
                                        </p:tgtEl>
                                      </p:cBhvr>
                                    </p:animEffect>
                                  </p:childTnLst>
                                </p:cTn>
                              </p:par>
                              <p:par>
                                <p:cTn id="19" presetID="54" presetClass="entr" presetSubtype="0" accel="10000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anim calcmode="lin" valueType="num">
                                      <p:cBhvr>
                                        <p:cTn id="21" dur="500" fill="hold"/>
                                        <p:tgtEl>
                                          <p:spTgt spid="38"/>
                                        </p:tgtEl>
                                        <p:attrNameLst>
                                          <p:attrName>ppt_w</p:attrName>
                                        </p:attrNameLst>
                                      </p:cBhvr>
                                      <p:tavLst>
                                        <p:tav tm="0">
                                          <p:val>
                                            <p:strVal val="#ppt_w*0.05"/>
                                          </p:val>
                                        </p:tav>
                                        <p:tav tm="100000">
                                          <p:val>
                                            <p:strVal val="#ppt_w"/>
                                          </p:val>
                                        </p:tav>
                                      </p:tavLst>
                                    </p:anim>
                                    <p:anim calcmode="lin" valueType="num">
                                      <p:cBhvr>
                                        <p:cTn id="22" dur="500" fill="hold"/>
                                        <p:tgtEl>
                                          <p:spTgt spid="38"/>
                                        </p:tgtEl>
                                        <p:attrNameLst>
                                          <p:attrName>ppt_h</p:attrName>
                                        </p:attrNameLst>
                                      </p:cBhvr>
                                      <p:tavLst>
                                        <p:tav tm="0">
                                          <p:val>
                                            <p:strVal val="#ppt_h"/>
                                          </p:val>
                                        </p:tav>
                                        <p:tav tm="100000">
                                          <p:val>
                                            <p:strVal val="#ppt_h"/>
                                          </p:val>
                                        </p:tav>
                                      </p:tavLst>
                                    </p:anim>
                                    <p:anim calcmode="lin" valueType="num">
                                      <p:cBhvr>
                                        <p:cTn id="23" dur="500" fill="hold"/>
                                        <p:tgtEl>
                                          <p:spTgt spid="38"/>
                                        </p:tgtEl>
                                        <p:attrNameLst>
                                          <p:attrName>ppt_x</p:attrName>
                                        </p:attrNameLst>
                                      </p:cBhvr>
                                      <p:tavLst>
                                        <p:tav tm="0">
                                          <p:val>
                                            <p:strVal val="#ppt_x-.2"/>
                                          </p:val>
                                        </p:tav>
                                        <p:tav tm="100000">
                                          <p:val>
                                            <p:strVal val="#ppt_x"/>
                                          </p:val>
                                        </p:tav>
                                      </p:tavLst>
                                    </p:anim>
                                    <p:anim calcmode="lin" valueType="num">
                                      <p:cBhvr>
                                        <p:cTn id="24" dur="500" fill="hold"/>
                                        <p:tgtEl>
                                          <p:spTgt spid="38"/>
                                        </p:tgtEl>
                                        <p:attrNameLst>
                                          <p:attrName>ppt_y</p:attrName>
                                        </p:attrNameLst>
                                      </p:cBhvr>
                                      <p:tavLst>
                                        <p:tav tm="0">
                                          <p:val>
                                            <p:strVal val="#ppt_y"/>
                                          </p:val>
                                        </p:tav>
                                        <p:tav tm="100000">
                                          <p:val>
                                            <p:strVal val="#ppt_y"/>
                                          </p:val>
                                        </p:tav>
                                      </p:tavLst>
                                    </p:anim>
                                    <p:animEffect transition="in" filter="fade">
                                      <p:cBhvr>
                                        <p:cTn id="25" dur="500"/>
                                        <p:tgtEl>
                                          <p:spTgt spid="38"/>
                                        </p:tgtEl>
                                      </p:cBhvr>
                                    </p:animEffect>
                                  </p:childTnLst>
                                </p:cTn>
                              </p:par>
                              <p:par>
                                <p:cTn id="26" presetID="54" presetClass="entr" presetSubtype="0" accel="10000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 calcmode="lin" valueType="num">
                                      <p:cBhvr>
                                        <p:cTn id="28" dur="500" fill="hold"/>
                                        <p:tgtEl>
                                          <p:spTgt spid="33"/>
                                        </p:tgtEl>
                                        <p:attrNameLst>
                                          <p:attrName>ppt_w</p:attrName>
                                        </p:attrNameLst>
                                      </p:cBhvr>
                                      <p:tavLst>
                                        <p:tav tm="0">
                                          <p:val>
                                            <p:strVal val="#ppt_w*0.05"/>
                                          </p:val>
                                        </p:tav>
                                        <p:tav tm="100000">
                                          <p:val>
                                            <p:strVal val="#ppt_w"/>
                                          </p:val>
                                        </p:tav>
                                      </p:tavLst>
                                    </p:anim>
                                    <p:anim calcmode="lin" valueType="num">
                                      <p:cBhvr>
                                        <p:cTn id="29" dur="500" fill="hold"/>
                                        <p:tgtEl>
                                          <p:spTgt spid="33"/>
                                        </p:tgtEl>
                                        <p:attrNameLst>
                                          <p:attrName>ppt_h</p:attrName>
                                        </p:attrNameLst>
                                      </p:cBhvr>
                                      <p:tavLst>
                                        <p:tav tm="0">
                                          <p:val>
                                            <p:strVal val="#ppt_h"/>
                                          </p:val>
                                        </p:tav>
                                        <p:tav tm="100000">
                                          <p:val>
                                            <p:strVal val="#ppt_h"/>
                                          </p:val>
                                        </p:tav>
                                      </p:tavLst>
                                    </p:anim>
                                    <p:anim calcmode="lin" valueType="num">
                                      <p:cBhvr>
                                        <p:cTn id="30" dur="500" fill="hold"/>
                                        <p:tgtEl>
                                          <p:spTgt spid="33"/>
                                        </p:tgtEl>
                                        <p:attrNameLst>
                                          <p:attrName>ppt_x</p:attrName>
                                        </p:attrNameLst>
                                      </p:cBhvr>
                                      <p:tavLst>
                                        <p:tav tm="0">
                                          <p:val>
                                            <p:strVal val="#ppt_x-.2"/>
                                          </p:val>
                                        </p:tav>
                                        <p:tav tm="100000">
                                          <p:val>
                                            <p:strVal val="#ppt_x"/>
                                          </p:val>
                                        </p:tav>
                                      </p:tavLst>
                                    </p:anim>
                                    <p:anim calcmode="lin" valueType="num">
                                      <p:cBhvr>
                                        <p:cTn id="31" dur="500" fill="hold"/>
                                        <p:tgtEl>
                                          <p:spTgt spid="33"/>
                                        </p:tgtEl>
                                        <p:attrNameLst>
                                          <p:attrName>ppt_y</p:attrName>
                                        </p:attrNameLst>
                                      </p:cBhvr>
                                      <p:tavLst>
                                        <p:tav tm="0">
                                          <p:val>
                                            <p:strVal val="#ppt_y"/>
                                          </p:val>
                                        </p:tav>
                                        <p:tav tm="100000">
                                          <p:val>
                                            <p:strVal val="#ppt_y"/>
                                          </p:val>
                                        </p:tav>
                                      </p:tavLst>
                                    </p:anim>
                                    <p:animEffect transition="in" filter="fade">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54" presetClass="entr" presetSubtype="0" accel="10000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anim calcmode="lin" valueType="num">
                                      <p:cBhvr>
                                        <p:cTn id="37" dur="500" fill="hold"/>
                                        <p:tgtEl>
                                          <p:spTgt spid="43"/>
                                        </p:tgtEl>
                                        <p:attrNameLst>
                                          <p:attrName>ppt_w</p:attrName>
                                        </p:attrNameLst>
                                      </p:cBhvr>
                                      <p:tavLst>
                                        <p:tav tm="0">
                                          <p:val>
                                            <p:strVal val="#ppt_w*0.05"/>
                                          </p:val>
                                        </p:tav>
                                        <p:tav tm="100000">
                                          <p:val>
                                            <p:strVal val="#ppt_w"/>
                                          </p:val>
                                        </p:tav>
                                      </p:tavLst>
                                    </p:anim>
                                    <p:anim calcmode="lin" valueType="num">
                                      <p:cBhvr>
                                        <p:cTn id="38" dur="500" fill="hold"/>
                                        <p:tgtEl>
                                          <p:spTgt spid="43"/>
                                        </p:tgtEl>
                                        <p:attrNameLst>
                                          <p:attrName>ppt_h</p:attrName>
                                        </p:attrNameLst>
                                      </p:cBhvr>
                                      <p:tavLst>
                                        <p:tav tm="0">
                                          <p:val>
                                            <p:strVal val="#ppt_h"/>
                                          </p:val>
                                        </p:tav>
                                        <p:tav tm="100000">
                                          <p:val>
                                            <p:strVal val="#ppt_h"/>
                                          </p:val>
                                        </p:tav>
                                      </p:tavLst>
                                    </p:anim>
                                    <p:anim calcmode="lin" valueType="num">
                                      <p:cBhvr>
                                        <p:cTn id="39" dur="500" fill="hold"/>
                                        <p:tgtEl>
                                          <p:spTgt spid="43"/>
                                        </p:tgtEl>
                                        <p:attrNameLst>
                                          <p:attrName>ppt_x</p:attrName>
                                        </p:attrNameLst>
                                      </p:cBhvr>
                                      <p:tavLst>
                                        <p:tav tm="0">
                                          <p:val>
                                            <p:strVal val="#ppt_x-.2"/>
                                          </p:val>
                                        </p:tav>
                                        <p:tav tm="100000">
                                          <p:val>
                                            <p:strVal val="#ppt_x"/>
                                          </p:val>
                                        </p:tav>
                                      </p:tavLst>
                                    </p:anim>
                                    <p:anim calcmode="lin" valueType="num">
                                      <p:cBhvr>
                                        <p:cTn id="40" dur="500" fill="hold"/>
                                        <p:tgtEl>
                                          <p:spTgt spid="43"/>
                                        </p:tgtEl>
                                        <p:attrNameLst>
                                          <p:attrName>ppt_y</p:attrName>
                                        </p:attrNameLst>
                                      </p:cBhvr>
                                      <p:tavLst>
                                        <p:tav tm="0">
                                          <p:val>
                                            <p:strVal val="#ppt_y"/>
                                          </p:val>
                                        </p:tav>
                                        <p:tav tm="100000">
                                          <p:val>
                                            <p:strVal val="#ppt_y"/>
                                          </p:val>
                                        </p:tav>
                                      </p:tavLst>
                                    </p:anim>
                                    <p:animEffect transition="in" filter="fade">
                                      <p:cBhvr>
                                        <p:cTn id="41" dur="500"/>
                                        <p:tgtEl>
                                          <p:spTgt spid="43"/>
                                        </p:tgtEl>
                                      </p:cBhvr>
                                    </p:animEffect>
                                  </p:childTnLst>
                                </p:cTn>
                              </p:par>
                              <p:par>
                                <p:cTn id="42" presetID="54" presetClass="entr" presetSubtype="0" accel="100000" fill="hold" nodeType="withEffect">
                                  <p:stCondLst>
                                    <p:cond delay="0"/>
                                  </p:stCondLst>
                                  <p:childTnLst>
                                    <p:set>
                                      <p:cBhvr>
                                        <p:cTn id="43" dur="1" fill="hold">
                                          <p:stCondLst>
                                            <p:cond delay="0"/>
                                          </p:stCondLst>
                                        </p:cTn>
                                        <p:tgtEl>
                                          <p:spTgt spid="30"/>
                                        </p:tgtEl>
                                        <p:attrNameLst>
                                          <p:attrName>style.visibility</p:attrName>
                                        </p:attrNameLst>
                                      </p:cBhvr>
                                      <p:to>
                                        <p:strVal val="visible"/>
                                      </p:to>
                                    </p:set>
                                    <p:anim calcmode="lin" valueType="num">
                                      <p:cBhvr>
                                        <p:cTn id="44" dur="500" fill="hold"/>
                                        <p:tgtEl>
                                          <p:spTgt spid="30"/>
                                        </p:tgtEl>
                                        <p:attrNameLst>
                                          <p:attrName>ppt_w</p:attrName>
                                        </p:attrNameLst>
                                      </p:cBhvr>
                                      <p:tavLst>
                                        <p:tav tm="0">
                                          <p:val>
                                            <p:strVal val="#ppt_w*0.05"/>
                                          </p:val>
                                        </p:tav>
                                        <p:tav tm="100000">
                                          <p:val>
                                            <p:strVal val="#ppt_w"/>
                                          </p:val>
                                        </p:tav>
                                      </p:tavLst>
                                    </p:anim>
                                    <p:anim calcmode="lin" valueType="num">
                                      <p:cBhvr>
                                        <p:cTn id="45" dur="500" fill="hold"/>
                                        <p:tgtEl>
                                          <p:spTgt spid="30"/>
                                        </p:tgtEl>
                                        <p:attrNameLst>
                                          <p:attrName>ppt_h</p:attrName>
                                        </p:attrNameLst>
                                      </p:cBhvr>
                                      <p:tavLst>
                                        <p:tav tm="0">
                                          <p:val>
                                            <p:strVal val="#ppt_h"/>
                                          </p:val>
                                        </p:tav>
                                        <p:tav tm="100000">
                                          <p:val>
                                            <p:strVal val="#ppt_h"/>
                                          </p:val>
                                        </p:tav>
                                      </p:tavLst>
                                    </p:anim>
                                    <p:anim calcmode="lin" valueType="num">
                                      <p:cBhvr>
                                        <p:cTn id="46" dur="500" fill="hold"/>
                                        <p:tgtEl>
                                          <p:spTgt spid="30"/>
                                        </p:tgtEl>
                                        <p:attrNameLst>
                                          <p:attrName>ppt_x</p:attrName>
                                        </p:attrNameLst>
                                      </p:cBhvr>
                                      <p:tavLst>
                                        <p:tav tm="0">
                                          <p:val>
                                            <p:strVal val="#ppt_x-.2"/>
                                          </p:val>
                                        </p:tav>
                                        <p:tav tm="100000">
                                          <p:val>
                                            <p:strVal val="#ppt_x"/>
                                          </p:val>
                                        </p:tav>
                                      </p:tavLst>
                                    </p:anim>
                                    <p:anim calcmode="lin" valueType="num">
                                      <p:cBhvr>
                                        <p:cTn id="47" dur="500" fill="hold"/>
                                        <p:tgtEl>
                                          <p:spTgt spid="30"/>
                                        </p:tgtEl>
                                        <p:attrNameLst>
                                          <p:attrName>ppt_y</p:attrName>
                                        </p:attrNameLst>
                                      </p:cBhvr>
                                      <p:tavLst>
                                        <p:tav tm="0">
                                          <p:val>
                                            <p:strVal val="#ppt_y"/>
                                          </p:val>
                                        </p:tav>
                                        <p:tav tm="100000">
                                          <p:val>
                                            <p:strVal val="#ppt_y"/>
                                          </p:val>
                                        </p:tav>
                                      </p:tavLst>
                                    </p:anim>
                                    <p:animEffect transition="in" filter="fade">
                                      <p:cBhvr>
                                        <p:cTn id="48" dur="500"/>
                                        <p:tgtEl>
                                          <p:spTgt spid="30"/>
                                        </p:tgtEl>
                                      </p:cBhvr>
                                    </p:animEffect>
                                  </p:childTnLst>
                                </p:cTn>
                              </p:par>
                              <p:par>
                                <p:cTn id="49" presetID="54" presetClass="entr" presetSubtype="0" accel="100000" fill="hold" grpId="0" nodeType="withEffect">
                                  <p:stCondLst>
                                    <p:cond delay="0"/>
                                  </p:stCondLst>
                                  <p:childTnLst>
                                    <p:set>
                                      <p:cBhvr>
                                        <p:cTn id="50" dur="1" fill="hold">
                                          <p:stCondLst>
                                            <p:cond delay="0"/>
                                          </p:stCondLst>
                                        </p:cTn>
                                        <p:tgtEl>
                                          <p:spTgt spid="39"/>
                                        </p:tgtEl>
                                        <p:attrNameLst>
                                          <p:attrName>style.visibility</p:attrName>
                                        </p:attrNameLst>
                                      </p:cBhvr>
                                      <p:to>
                                        <p:strVal val="visible"/>
                                      </p:to>
                                    </p:set>
                                    <p:anim calcmode="lin" valueType="num">
                                      <p:cBhvr>
                                        <p:cTn id="51" dur="500" fill="hold"/>
                                        <p:tgtEl>
                                          <p:spTgt spid="39"/>
                                        </p:tgtEl>
                                        <p:attrNameLst>
                                          <p:attrName>ppt_w</p:attrName>
                                        </p:attrNameLst>
                                      </p:cBhvr>
                                      <p:tavLst>
                                        <p:tav tm="0">
                                          <p:val>
                                            <p:strVal val="#ppt_w*0.05"/>
                                          </p:val>
                                        </p:tav>
                                        <p:tav tm="100000">
                                          <p:val>
                                            <p:strVal val="#ppt_w"/>
                                          </p:val>
                                        </p:tav>
                                      </p:tavLst>
                                    </p:anim>
                                    <p:anim calcmode="lin" valueType="num">
                                      <p:cBhvr>
                                        <p:cTn id="52" dur="500" fill="hold"/>
                                        <p:tgtEl>
                                          <p:spTgt spid="39"/>
                                        </p:tgtEl>
                                        <p:attrNameLst>
                                          <p:attrName>ppt_h</p:attrName>
                                        </p:attrNameLst>
                                      </p:cBhvr>
                                      <p:tavLst>
                                        <p:tav tm="0">
                                          <p:val>
                                            <p:strVal val="#ppt_h"/>
                                          </p:val>
                                        </p:tav>
                                        <p:tav tm="100000">
                                          <p:val>
                                            <p:strVal val="#ppt_h"/>
                                          </p:val>
                                        </p:tav>
                                      </p:tavLst>
                                    </p:anim>
                                    <p:anim calcmode="lin" valueType="num">
                                      <p:cBhvr>
                                        <p:cTn id="53" dur="500" fill="hold"/>
                                        <p:tgtEl>
                                          <p:spTgt spid="39"/>
                                        </p:tgtEl>
                                        <p:attrNameLst>
                                          <p:attrName>ppt_x</p:attrName>
                                        </p:attrNameLst>
                                      </p:cBhvr>
                                      <p:tavLst>
                                        <p:tav tm="0">
                                          <p:val>
                                            <p:strVal val="#ppt_x-.2"/>
                                          </p:val>
                                        </p:tav>
                                        <p:tav tm="100000">
                                          <p:val>
                                            <p:strVal val="#ppt_x"/>
                                          </p:val>
                                        </p:tav>
                                      </p:tavLst>
                                    </p:anim>
                                    <p:anim calcmode="lin" valueType="num">
                                      <p:cBhvr>
                                        <p:cTn id="54" dur="500" fill="hold"/>
                                        <p:tgtEl>
                                          <p:spTgt spid="39"/>
                                        </p:tgtEl>
                                        <p:attrNameLst>
                                          <p:attrName>ppt_y</p:attrName>
                                        </p:attrNameLst>
                                      </p:cBhvr>
                                      <p:tavLst>
                                        <p:tav tm="0">
                                          <p:val>
                                            <p:strVal val="#ppt_y"/>
                                          </p:val>
                                        </p:tav>
                                        <p:tav tm="100000">
                                          <p:val>
                                            <p:strVal val="#ppt_y"/>
                                          </p:val>
                                        </p:tav>
                                      </p:tavLst>
                                    </p:anim>
                                    <p:animEffect transition="in" filter="fade">
                                      <p:cBhvr>
                                        <p:cTn id="55" dur="500"/>
                                        <p:tgtEl>
                                          <p:spTgt spid="39"/>
                                        </p:tgtEl>
                                      </p:cBhvr>
                                    </p:animEffect>
                                  </p:childTnLst>
                                </p:cTn>
                              </p:par>
                              <p:par>
                                <p:cTn id="56" presetID="54" presetClass="entr" presetSubtype="0" accel="100000" fill="hold" grpId="0" nodeType="withEffect">
                                  <p:stCondLst>
                                    <p:cond delay="0"/>
                                  </p:stCondLst>
                                  <p:childTnLst>
                                    <p:set>
                                      <p:cBhvr>
                                        <p:cTn id="57" dur="1" fill="hold">
                                          <p:stCondLst>
                                            <p:cond delay="0"/>
                                          </p:stCondLst>
                                        </p:cTn>
                                        <p:tgtEl>
                                          <p:spTgt spid="40"/>
                                        </p:tgtEl>
                                        <p:attrNameLst>
                                          <p:attrName>style.visibility</p:attrName>
                                        </p:attrNameLst>
                                      </p:cBhvr>
                                      <p:to>
                                        <p:strVal val="visible"/>
                                      </p:to>
                                    </p:set>
                                    <p:anim calcmode="lin" valueType="num">
                                      <p:cBhvr>
                                        <p:cTn id="58" dur="500" fill="hold"/>
                                        <p:tgtEl>
                                          <p:spTgt spid="40"/>
                                        </p:tgtEl>
                                        <p:attrNameLst>
                                          <p:attrName>ppt_w</p:attrName>
                                        </p:attrNameLst>
                                      </p:cBhvr>
                                      <p:tavLst>
                                        <p:tav tm="0">
                                          <p:val>
                                            <p:strVal val="#ppt_w*0.05"/>
                                          </p:val>
                                        </p:tav>
                                        <p:tav tm="100000">
                                          <p:val>
                                            <p:strVal val="#ppt_w"/>
                                          </p:val>
                                        </p:tav>
                                      </p:tavLst>
                                    </p:anim>
                                    <p:anim calcmode="lin" valueType="num">
                                      <p:cBhvr>
                                        <p:cTn id="59" dur="500" fill="hold"/>
                                        <p:tgtEl>
                                          <p:spTgt spid="40"/>
                                        </p:tgtEl>
                                        <p:attrNameLst>
                                          <p:attrName>ppt_h</p:attrName>
                                        </p:attrNameLst>
                                      </p:cBhvr>
                                      <p:tavLst>
                                        <p:tav tm="0">
                                          <p:val>
                                            <p:strVal val="#ppt_h"/>
                                          </p:val>
                                        </p:tav>
                                        <p:tav tm="100000">
                                          <p:val>
                                            <p:strVal val="#ppt_h"/>
                                          </p:val>
                                        </p:tav>
                                      </p:tavLst>
                                    </p:anim>
                                    <p:anim calcmode="lin" valueType="num">
                                      <p:cBhvr>
                                        <p:cTn id="60" dur="500" fill="hold"/>
                                        <p:tgtEl>
                                          <p:spTgt spid="40"/>
                                        </p:tgtEl>
                                        <p:attrNameLst>
                                          <p:attrName>ppt_x</p:attrName>
                                        </p:attrNameLst>
                                      </p:cBhvr>
                                      <p:tavLst>
                                        <p:tav tm="0">
                                          <p:val>
                                            <p:strVal val="#ppt_x-.2"/>
                                          </p:val>
                                        </p:tav>
                                        <p:tav tm="100000">
                                          <p:val>
                                            <p:strVal val="#ppt_x"/>
                                          </p:val>
                                        </p:tav>
                                      </p:tavLst>
                                    </p:anim>
                                    <p:anim calcmode="lin" valueType="num">
                                      <p:cBhvr>
                                        <p:cTn id="61" dur="500" fill="hold"/>
                                        <p:tgtEl>
                                          <p:spTgt spid="40"/>
                                        </p:tgtEl>
                                        <p:attrNameLst>
                                          <p:attrName>ppt_y</p:attrName>
                                        </p:attrNameLst>
                                      </p:cBhvr>
                                      <p:tavLst>
                                        <p:tav tm="0">
                                          <p:val>
                                            <p:strVal val="#ppt_y"/>
                                          </p:val>
                                        </p:tav>
                                        <p:tav tm="100000">
                                          <p:val>
                                            <p:strVal val="#ppt_y"/>
                                          </p:val>
                                        </p:tav>
                                      </p:tavLst>
                                    </p:anim>
                                    <p:animEffect transition="in" filter="fade">
                                      <p:cBhvr>
                                        <p:cTn id="62" dur="500"/>
                                        <p:tgtEl>
                                          <p:spTgt spid="40"/>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2"/>
                                        </p:tgtEl>
                                        <p:attrNameLst>
                                          <p:attrName>style.visibility</p:attrName>
                                        </p:attrNameLst>
                                      </p:cBhvr>
                                      <p:to>
                                        <p:strVal val="visible"/>
                                      </p:to>
                                    </p:set>
                                    <p:anim calcmode="lin" valueType="num">
                                      <p:cBhvr additive="base">
                                        <p:cTn id="67" dur="500" fill="hold"/>
                                        <p:tgtEl>
                                          <p:spTgt spid="2"/>
                                        </p:tgtEl>
                                        <p:attrNameLst>
                                          <p:attrName>ppt_x</p:attrName>
                                        </p:attrNameLst>
                                      </p:cBhvr>
                                      <p:tavLst>
                                        <p:tav tm="0">
                                          <p:val>
                                            <p:strVal val="#ppt_x"/>
                                          </p:val>
                                        </p:tav>
                                        <p:tav tm="100000">
                                          <p:val>
                                            <p:strVal val="#ppt_x"/>
                                          </p:val>
                                        </p:tav>
                                      </p:tavLst>
                                    </p:anim>
                                    <p:anim calcmode="lin" valueType="num">
                                      <p:cBhvr additive="base">
                                        <p:cTn id="6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3" grpId="0" bldLvl="0" animBg="1"/>
      <p:bldP spid="38" grpId="0"/>
      <p:bldP spid="39" grpId="0"/>
      <p:bldP spid="40" grpId="0"/>
      <p:bldP spid="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9008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3" name="等腰三角形 2"/>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TextBox 24"/>
          <p:cNvSpPr txBox="1"/>
          <p:nvPr/>
        </p:nvSpPr>
        <p:spPr>
          <a:xfrm>
            <a:off x="5493589" y="347761"/>
            <a:ext cx="2087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访问条件码</a:t>
            </a:r>
          </a:p>
        </p:txBody>
      </p:sp>
      <p:sp>
        <p:nvSpPr>
          <p:cNvPr id="37892" name="Rectangle 4"/>
          <p:cNvSpPr>
            <a:spLocks noGrp="1" noChangeArrowheads="1"/>
          </p:cNvSpPr>
          <p:nvPr/>
        </p:nvSpPr>
        <p:spPr>
          <a:xfrm>
            <a:off x="243205" y="1489075"/>
            <a:ext cx="8382000" cy="159258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0D0D0D"/>
              </a:buClr>
              <a:buFont typeface="Wingdings" panose="05000000000000000000" charset="0"/>
              <a:buChar char=""/>
            </a:pPr>
            <a:r>
              <a:rPr lang="en-US" dirty="0" err="1"/>
              <a:t>SetX</a:t>
            </a:r>
            <a:r>
              <a:rPr lang="en-US" dirty="0"/>
              <a:t> </a:t>
            </a:r>
            <a:r>
              <a:rPr lang="zh-CN" altLang="en-US" dirty="0"/>
              <a:t>指令</a:t>
            </a:r>
          </a:p>
          <a:p>
            <a:pPr marL="552450" lvl="1">
              <a:buClr>
                <a:srgbClr val="0D0D0D"/>
              </a:buClr>
            </a:pPr>
            <a:r>
              <a:rPr lang="en-US" dirty="0"/>
              <a:t>基于条件码的组合将目标的低位字节设置为0或1</a:t>
            </a:r>
            <a:r>
              <a:rPr lang="zh-CN" altLang="en-US" dirty="0">
                <a:ea typeface="宋体" panose="02010600030101010101" pitchFamily="2" charset="-122"/>
              </a:rPr>
              <a:t>。</a:t>
            </a:r>
          </a:p>
          <a:p>
            <a:pPr marL="552450" lvl="1">
              <a:buClr>
                <a:srgbClr val="0D0D0D"/>
              </a:buClr>
            </a:pPr>
            <a:r>
              <a:rPr lang="en-US" dirty="0"/>
              <a:t>不改变剩余的7字节。</a:t>
            </a:r>
          </a:p>
          <a:p>
            <a:pPr marL="317500" lvl="1" indent="0">
              <a:buNone/>
            </a:pPr>
            <a:endParaRPr lang="en-US" dirty="0"/>
          </a:p>
          <a:p>
            <a:pPr marL="552450" lvl="1"/>
            <a:endParaRPr lang="en-US" dirty="0"/>
          </a:p>
        </p:txBody>
      </p:sp>
      <p:graphicFrame>
        <p:nvGraphicFramePr>
          <p:cNvPr id="37893" name="Group 5"/>
          <p:cNvGraphicFramePr>
            <a:graphicFrameLocks noGrp="1"/>
          </p:cNvGraphicFramePr>
          <p:nvPr/>
        </p:nvGraphicFramePr>
        <p:xfrm>
          <a:off x="1180465" y="2858135"/>
          <a:ext cx="6095683" cy="3576320"/>
        </p:xfrm>
        <a:graphic>
          <a:graphicData uri="http://schemas.openxmlformats.org/drawingml/2006/table">
            <a:tbl>
              <a:tblPr/>
              <a:tblGrid>
                <a:gridCol w="1109663">
                  <a:extLst>
                    <a:ext uri="{9D8B030D-6E8A-4147-A177-3AD203B41FA5}">
                      <a16:colId xmlns:a16="http://schemas.microsoft.com/office/drawing/2014/main" val="20000"/>
                    </a:ext>
                  </a:extLst>
                </a:gridCol>
                <a:gridCol w="2216150">
                  <a:extLst>
                    <a:ext uri="{9D8B030D-6E8A-4147-A177-3AD203B41FA5}">
                      <a16:colId xmlns:a16="http://schemas.microsoft.com/office/drawing/2014/main" val="20001"/>
                    </a:ext>
                  </a:extLst>
                </a:gridCol>
                <a:gridCol w="2769870">
                  <a:extLst>
                    <a:ext uri="{9D8B030D-6E8A-4147-A177-3AD203B41FA5}">
                      <a16:colId xmlns:a16="http://schemas.microsoft.com/office/drawing/2014/main" val="20002"/>
                    </a:ext>
                  </a:extLst>
                </a:gridCol>
              </a:tblGrid>
              <a:tr h="32512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12900" algn="l"/>
                          <a:tab pos="1651000" algn="l"/>
                        </a:tabLst>
                      </a:pP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SetX</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6F4"/>
                    </a:solid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效果</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6F4"/>
                    </a:solid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设置条件</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6D6F4"/>
                    </a:solidFill>
                  </a:tcPr>
                </a:tc>
                <a:extLst>
                  <a:ext uri="{0D108BD9-81ED-4DB2-BD59-A6C34878D82A}">
                    <a16:rowId xmlns:a16="http://schemas.microsoft.com/office/drawing/2014/main" val="10000"/>
                  </a:ext>
                </a:extLst>
              </a:tr>
              <a:tr h="32512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12900" algn="l"/>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sete</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ZF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相等</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 </a:t>
                      </a: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零</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setne</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~ZF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不等</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 / </a:t>
                      </a: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非零</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sets</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负数</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setns</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非负数</a:t>
                      </a:r>
                      <a:endPar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endParaRP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setg</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~(SF^OF)&amp;~ZF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大于</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 (</a:t>
                      </a: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有符号</a:t>
                      </a:r>
                      <a:r>
                        <a:rPr kumimoji="0" lang="en-US" altLang="zh-CN"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&gt;</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setge</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~(SF^OF)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大于等于</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 (</a:t>
                      </a: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有符号</a:t>
                      </a:r>
                      <a:r>
                        <a:rPr kumimoji="0" lang="en-US" altLang="zh-CN"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&gt;=</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setl</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(SF^OF)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小于</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a:t>
                      </a: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有符合</a:t>
                      </a:r>
                      <a:r>
                        <a:rPr kumimoji="0" lang="en-US" altLang="zh-CN"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&lt;</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setle</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(SF^OF)|ZF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小于等于</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 (</a:t>
                      </a: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有符号</a:t>
                      </a:r>
                      <a:r>
                        <a:rPr kumimoji="0" lang="en-US" altLang="zh-CN"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&lt;=</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seta</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~CF&amp;~ZF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超过</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a:t>
                      </a:r>
                      <a:r>
                        <a:rPr kumimoji="0" lang="zh-CN" altLang="en-US"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无符号</a:t>
                      </a:r>
                      <a:r>
                        <a:rPr kumimoji="0" lang="en-US" altLang="zh-CN" sz="1800" b="0" i="0" u="none" strike="noStrike" cap="none" normalizeH="0" baseline="0">
                          <a:ln>
                            <a:noFill/>
                          </a:ln>
                          <a:solidFill>
                            <a:schemeClr val="tx1"/>
                          </a:solidFill>
                          <a:effectLst/>
                          <a:latin typeface="Calibri Bold" charset="0"/>
                          <a:ea typeface="宋体" panose="02010600030101010101" pitchFamily="2" charset="-122"/>
                          <a:cs typeface="ヒラギノ角ゴ ProN W6" charset="0"/>
                          <a:sym typeface="Calibri Bold" charset="0"/>
                        </a:rPr>
                        <a:t>&gt;</a:t>
                      </a:r>
                      <a:r>
                        <a:rPr kumimoji="0" lang="en-US" sz="18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12738">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setb</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en-US" sz="1800" b="0" i="0" u="none" strike="noStrike" cap="none" normalizeH="0" baseline="0">
                          <a:ln>
                            <a:noFill/>
                          </a:ln>
                          <a:solidFill>
                            <a:schemeClr val="tx1"/>
                          </a:solidFill>
                          <a:effectLst/>
                          <a:latin typeface="Courier New Bold" charset="0"/>
                          <a:cs typeface="Courier New Bold" charset="0"/>
                          <a:sym typeface="Courier New Bold" charset="0"/>
                        </a:rPr>
                        <a:t>CF</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1651000" algn="l"/>
                        </a:tabLst>
                      </a:pPr>
                      <a:r>
                        <a:rPr kumimoji="0" lang="zh-CN" altLang="en-US" sz="1800" b="0" i="0" u="none" strike="noStrike" cap="none" normalizeH="0" baseline="0" dirty="0">
                          <a:ln>
                            <a:noFill/>
                          </a:ln>
                          <a:solidFill>
                            <a:schemeClr val="tx1"/>
                          </a:solidFill>
                          <a:effectLst/>
                          <a:latin typeface="Calibri Bold" charset="0"/>
                          <a:ea typeface="宋体" panose="02010600030101010101" pitchFamily="2" charset="-122"/>
                          <a:cs typeface="ヒラギノ角ゴ ProN W6" charset="0"/>
                          <a:sym typeface="Calibri Bold" charset="0"/>
                        </a:rPr>
                        <a:t>低于</a:t>
                      </a:r>
                      <a:r>
                        <a:rPr kumimoji="0" lang="en-US" sz="1800" b="0" i="0" u="none" strike="noStrike" cap="none" normalizeH="0" baseline="0" dirty="0">
                          <a:ln>
                            <a:noFill/>
                          </a:ln>
                          <a:solidFill>
                            <a:schemeClr val="tx1"/>
                          </a:solidFill>
                          <a:effectLst/>
                          <a:latin typeface="Calibri Bold" charset="0"/>
                          <a:ea typeface="ヒラギノ角ゴ ProN W6" charset="0"/>
                          <a:cs typeface="ヒラギノ角ゴ ProN W6" charset="0"/>
                          <a:sym typeface="Calibri Bold" charset="0"/>
                        </a:rPr>
                        <a:t> (</a:t>
                      </a:r>
                      <a:r>
                        <a:rPr kumimoji="0" lang="zh-CN" altLang="en-US" sz="1800" b="0" i="0" u="none" strike="noStrike" cap="none" normalizeH="0" baseline="0" dirty="0">
                          <a:ln>
                            <a:noFill/>
                          </a:ln>
                          <a:solidFill>
                            <a:schemeClr val="tx1"/>
                          </a:solidFill>
                          <a:effectLst/>
                          <a:latin typeface="Calibri Bold" charset="0"/>
                          <a:ea typeface="宋体" panose="02010600030101010101" pitchFamily="2" charset="-122"/>
                          <a:cs typeface="ヒラギノ角ゴ ProN W6" charset="0"/>
                          <a:sym typeface="Calibri Bold" charset="0"/>
                        </a:rPr>
                        <a:t>无符号</a:t>
                      </a:r>
                      <a:r>
                        <a:rPr kumimoji="0" lang="en-US" altLang="zh-CN" sz="1800" b="0" i="0" u="none" strike="noStrike" cap="none" normalizeH="0" baseline="0" dirty="0">
                          <a:ln>
                            <a:noFill/>
                          </a:ln>
                          <a:solidFill>
                            <a:schemeClr val="tx1"/>
                          </a:solidFill>
                          <a:effectLst/>
                          <a:latin typeface="Calibri Bold" charset="0"/>
                          <a:ea typeface="宋体" panose="02010600030101010101" pitchFamily="2" charset="-122"/>
                          <a:cs typeface="ヒラギノ角ゴ ProN W6" charset="0"/>
                          <a:sym typeface="Calibri Bold" charset="0"/>
                        </a:rPr>
                        <a:t>&lt;=</a:t>
                      </a:r>
                      <a:r>
                        <a:rPr kumimoji="0" lang="en-US" sz="1800" b="0" i="0" u="none" strike="noStrike" cap="none" normalizeH="0" baseline="0" dirty="0">
                          <a:ln>
                            <a:noFill/>
                          </a:ln>
                          <a:solidFill>
                            <a:schemeClr val="tx1"/>
                          </a:solidFill>
                          <a:effectLst/>
                          <a:latin typeface="Calibri Bold" charset="0"/>
                          <a:ea typeface="ヒラギノ角ゴ ProN W6" charset="0"/>
                          <a:cs typeface="ヒラギノ角ゴ ProN W6" charset="0"/>
                          <a:sym typeface="Calibri Bold" charset="0"/>
                        </a:rPr>
                        <a:t>)</a:t>
                      </a:r>
                    </a:p>
                  </a:txBody>
                  <a:tcPr marL="25400" marR="25400" marT="25400" marB="254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by="(-#ppt_w*2)" calcmode="lin" valueType="num">
                                      <p:cBhvr rctx="PPT">
                                        <p:cTn id="7" dur="500" autoRev="1" fill="hold">
                                          <p:stCondLst>
                                            <p:cond delay="0"/>
                                          </p:stCondLst>
                                        </p:cTn>
                                        <p:tgtEl>
                                          <p:spTgt spid="4"/>
                                        </p:tgtEl>
                                        <p:attrNameLst>
                                          <p:attrName>ppt_w</p:attrName>
                                        </p:attrNameLst>
                                      </p:cBhvr>
                                    </p:anim>
                                    <p:anim by="(#ppt_w*0.50)" calcmode="lin" valueType="num">
                                      <p:cBhvr>
                                        <p:cTn id="8" dur="500" decel="50000" autoRev="1" fill="hold">
                                          <p:stCondLst>
                                            <p:cond delay="0"/>
                                          </p:stCondLst>
                                        </p:cTn>
                                        <p:tgtEl>
                                          <p:spTgt spid="4"/>
                                        </p:tgtEl>
                                        <p:attrNameLst>
                                          <p:attrName>ppt_x</p:attrName>
                                        </p:attrNameLst>
                                      </p:cBhvr>
                                    </p:anim>
                                    <p:anim from="(-#ppt_h/2)" to="(#ppt_y)" calcmode="lin" valueType="num">
                                      <p:cBhvr>
                                        <p:cTn id="9" dur="1000" fill="hold">
                                          <p:stCondLst>
                                            <p:cond delay="0"/>
                                          </p:stCondLst>
                                        </p:cTn>
                                        <p:tgtEl>
                                          <p:spTgt spid="4"/>
                                        </p:tgtEl>
                                        <p:attrNameLst>
                                          <p:attrName>ppt_y</p:attrName>
                                        </p:attrNameLst>
                                      </p:cBhvr>
                                    </p:anim>
                                    <p:animRot by="21600000">
                                      <p:cBhvr>
                                        <p:cTn id="10" dur="1000" fill="hold">
                                          <p:stCondLst>
                                            <p:cond delay="0"/>
                                          </p:stCondLst>
                                        </p:cTn>
                                        <p:tgtEl>
                                          <p:spTgt spid="4"/>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4"/>
                                        </p:tgtEl>
                                        <p:attrNameLst>
                                          <p:attrName>ppt_y</p:attrName>
                                        </p:attrNameLst>
                                      </p:cBhvr>
                                      <p:tavLst>
                                        <p:tav tm="0">
                                          <p:val>
                                            <p:strVal val="#ppt_y"/>
                                          </p:val>
                                        </p:tav>
                                        <p:tav tm="100000">
                                          <p:val>
                                            <p:strVal val="#ppt_y"/>
                                          </p:val>
                                        </p:tav>
                                      </p:tavLst>
                                    </p:anim>
                                    <p:anim calcmode="lin" valueType="num">
                                      <p:cBhvr>
                                        <p:cTn id="15" dur="10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7892">
                                            <p:txEl>
                                              <p:pRg st="1" end="1"/>
                                            </p:txEl>
                                          </p:spTgt>
                                        </p:tgtEl>
                                        <p:attrNameLst>
                                          <p:attrName>style.visibility</p:attrName>
                                        </p:attrNameLst>
                                      </p:cBhvr>
                                      <p:to>
                                        <p:strVal val="visible"/>
                                      </p:to>
                                    </p:set>
                                    <p:animEffect transition="in" filter="wipe(down)">
                                      <p:cBhvr>
                                        <p:cTn id="22" dur="500"/>
                                        <p:tgtEl>
                                          <p:spTgt spid="37892">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7892">
                                            <p:txEl>
                                              <p:pRg st="2" end="2"/>
                                            </p:txEl>
                                          </p:spTgt>
                                        </p:tgtEl>
                                        <p:attrNameLst>
                                          <p:attrName>style.visibility</p:attrName>
                                        </p:attrNameLst>
                                      </p:cBhvr>
                                      <p:to>
                                        <p:strVal val="visible"/>
                                      </p:to>
                                    </p:set>
                                    <p:animEffect transition="in" filter="wipe(down)">
                                      <p:cBhvr>
                                        <p:cTn id="27" dur="500"/>
                                        <p:tgtEl>
                                          <p:spTgt spid="37892">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7893"/>
                                        </p:tgtEl>
                                        <p:attrNameLst>
                                          <p:attrName>style.visibility</p:attrName>
                                        </p:attrNameLst>
                                      </p:cBhvr>
                                      <p:to>
                                        <p:strVal val="visible"/>
                                      </p:to>
                                    </p:set>
                                    <p:anim calcmode="lin" valueType="num">
                                      <p:cBhvr additive="base">
                                        <p:cTn id="32" dur="500" fill="hold"/>
                                        <p:tgtEl>
                                          <p:spTgt spid="37893"/>
                                        </p:tgtEl>
                                        <p:attrNameLst>
                                          <p:attrName>ppt_x</p:attrName>
                                        </p:attrNameLst>
                                      </p:cBhvr>
                                      <p:tavLst>
                                        <p:tav tm="0">
                                          <p:val>
                                            <p:strVal val="#ppt_x"/>
                                          </p:val>
                                        </p:tav>
                                        <p:tav tm="100000">
                                          <p:val>
                                            <p:strVal val="#ppt_x"/>
                                          </p:val>
                                        </p:tav>
                                      </p:tavLst>
                                    </p:anim>
                                    <p:anim calcmode="lin" valueType="num">
                                      <p:cBhvr additive="base">
                                        <p:cTn id="33" dur="500" fill="hold"/>
                                        <p:tgtEl>
                                          <p:spTgt spid="3789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9008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3" name="等腰三角形 2"/>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TextBox 24"/>
          <p:cNvSpPr txBox="1"/>
          <p:nvPr/>
        </p:nvSpPr>
        <p:spPr>
          <a:xfrm>
            <a:off x="4558665" y="349250"/>
            <a:ext cx="4066540" cy="553085"/>
          </a:xfrm>
          <a:prstGeom prst="rect">
            <a:avLst/>
          </a:prstGeom>
          <a:noFill/>
        </p:spPr>
        <p:txBody>
          <a:bodyPr wrap="squar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x86-64 整数寄存器</a:t>
            </a:r>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27652" name="Rectangle 4"/>
          <p:cNvSpPr>
            <a:spLocks noGrp="1" noChangeArrowheads="1"/>
          </p:cNvSpPr>
          <p:nvPr/>
        </p:nvSpPr>
        <p:spPr>
          <a:xfrm>
            <a:off x="37465" y="1325245"/>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endParaRPr lang="zh-CN" altLang="en-US"/>
          </a:p>
        </p:txBody>
      </p:sp>
      <p:sp>
        <p:nvSpPr>
          <p:cNvPr id="7" name="Rectangle 1"/>
          <p:cNvSpPr/>
          <p:nvPr/>
        </p:nvSpPr>
        <p:spPr bwMode="auto">
          <a:xfrm>
            <a:off x="762000" y="5181600"/>
            <a:ext cx="3556000" cy="533400"/>
          </a:xfrm>
          <a:prstGeom prst="rect">
            <a:avLst/>
          </a:prstGeom>
          <a:solidFill>
            <a:srgbClr val="EFBFBF"/>
          </a:solid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%rsp</a:t>
            </a:r>
          </a:p>
        </p:txBody>
      </p:sp>
      <p:sp>
        <p:nvSpPr>
          <p:cNvPr id="19" name="Rectangle 6"/>
          <p:cNvSpPr/>
          <p:nvPr/>
        </p:nvSpPr>
        <p:spPr bwMode="auto">
          <a:xfrm>
            <a:off x="3657600" y="15621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%al</a:t>
            </a:r>
          </a:p>
        </p:txBody>
      </p:sp>
      <p:sp>
        <p:nvSpPr>
          <p:cNvPr id="21" name="Rectangle 7"/>
          <p:cNvSpPr/>
          <p:nvPr/>
        </p:nvSpPr>
        <p:spPr bwMode="auto">
          <a:xfrm>
            <a:off x="3657600" y="21717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a:t>
            </a:r>
            <a:r>
              <a:rPr lang="en-US" sz="1400" dirty="0" err="1">
                <a:solidFill>
                  <a:schemeClr val="tx1"/>
                </a:solidFill>
                <a:latin typeface="Courier New Bold" charset="0"/>
                <a:cs typeface="Courier New Bold" charset="0"/>
                <a:sym typeface="Courier New Bold" charset="0"/>
              </a:rPr>
              <a:t>bl</a:t>
            </a:r>
            <a:endParaRPr lang="en-US" sz="1400" dirty="0">
              <a:solidFill>
                <a:schemeClr val="tx1"/>
              </a:solidFill>
              <a:latin typeface="Courier New Bold" charset="0"/>
              <a:cs typeface="Courier New Bold" charset="0"/>
              <a:sym typeface="Courier New Bold" charset="0"/>
            </a:endParaRPr>
          </a:p>
        </p:txBody>
      </p:sp>
      <p:sp>
        <p:nvSpPr>
          <p:cNvPr id="23" name="Rectangle 8"/>
          <p:cNvSpPr/>
          <p:nvPr/>
        </p:nvSpPr>
        <p:spPr bwMode="auto">
          <a:xfrm>
            <a:off x="3657600" y="27813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%cl</a:t>
            </a:r>
          </a:p>
        </p:txBody>
      </p:sp>
      <p:sp>
        <p:nvSpPr>
          <p:cNvPr id="24" name="Rectangle 9"/>
          <p:cNvSpPr/>
          <p:nvPr/>
        </p:nvSpPr>
        <p:spPr bwMode="auto">
          <a:xfrm>
            <a:off x="3657600" y="33909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%dl</a:t>
            </a:r>
          </a:p>
        </p:txBody>
      </p:sp>
      <p:sp>
        <p:nvSpPr>
          <p:cNvPr id="25" name="Rectangle 10"/>
          <p:cNvSpPr/>
          <p:nvPr/>
        </p:nvSpPr>
        <p:spPr bwMode="auto">
          <a:xfrm>
            <a:off x="3657600" y="40005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a:t>
            </a:r>
            <a:r>
              <a:rPr lang="en-US" sz="1400" dirty="0" err="1">
                <a:solidFill>
                  <a:schemeClr val="tx1"/>
                </a:solidFill>
                <a:latin typeface="Courier New Bold" charset="0"/>
                <a:cs typeface="Courier New Bold" charset="0"/>
                <a:sym typeface="Courier New Bold" charset="0"/>
              </a:rPr>
              <a:t>sil</a:t>
            </a:r>
            <a:endParaRPr lang="en-US" sz="1400" dirty="0">
              <a:solidFill>
                <a:schemeClr val="tx1"/>
              </a:solidFill>
              <a:latin typeface="Courier New Bold" charset="0"/>
              <a:cs typeface="Courier New Bold" charset="0"/>
              <a:sym typeface="Courier New Bold" charset="0"/>
            </a:endParaRPr>
          </a:p>
        </p:txBody>
      </p:sp>
      <p:sp>
        <p:nvSpPr>
          <p:cNvPr id="26" name="Rectangle 11"/>
          <p:cNvSpPr/>
          <p:nvPr/>
        </p:nvSpPr>
        <p:spPr bwMode="auto">
          <a:xfrm>
            <a:off x="3657600" y="46101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a:t>
            </a:r>
            <a:r>
              <a:rPr lang="en-US" sz="1400" dirty="0" err="1">
                <a:solidFill>
                  <a:schemeClr val="tx1"/>
                </a:solidFill>
                <a:latin typeface="Courier New Bold" charset="0"/>
                <a:cs typeface="Courier New Bold" charset="0"/>
                <a:sym typeface="Courier New Bold" charset="0"/>
              </a:rPr>
              <a:t>dil</a:t>
            </a:r>
            <a:endParaRPr lang="en-US" sz="1400" dirty="0">
              <a:solidFill>
                <a:schemeClr val="tx1"/>
              </a:solidFill>
              <a:latin typeface="Courier New Bold" charset="0"/>
              <a:cs typeface="Courier New Bold" charset="0"/>
              <a:sym typeface="Courier New Bold" charset="0"/>
            </a:endParaRPr>
          </a:p>
        </p:txBody>
      </p:sp>
      <p:sp>
        <p:nvSpPr>
          <p:cNvPr id="27" name="Rectangle 12"/>
          <p:cNvSpPr/>
          <p:nvPr/>
        </p:nvSpPr>
        <p:spPr bwMode="auto">
          <a:xfrm>
            <a:off x="3649650" y="5219700"/>
            <a:ext cx="655649" cy="444500"/>
          </a:xfrm>
          <a:prstGeom prst="rect">
            <a:avLst/>
          </a:prstGeom>
          <a:solidFill>
            <a:srgbClr val="FF9999"/>
          </a:solidFill>
          <a:ln w="12700"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a:t>
            </a:r>
            <a:r>
              <a:rPr lang="en-US" sz="1400" dirty="0" err="1">
                <a:solidFill>
                  <a:schemeClr val="tx1"/>
                </a:solidFill>
                <a:latin typeface="Courier New Bold" charset="0"/>
                <a:cs typeface="Courier New Bold" charset="0"/>
                <a:sym typeface="Courier New Bold" charset="0"/>
              </a:rPr>
              <a:t>spl</a:t>
            </a:r>
            <a:endParaRPr lang="en-US" sz="1400" dirty="0">
              <a:solidFill>
                <a:schemeClr val="tx1"/>
              </a:solidFill>
              <a:latin typeface="Courier New Bold" charset="0"/>
              <a:cs typeface="Courier New Bold" charset="0"/>
              <a:sym typeface="Courier New Bold" charset="0"/>
            </a:endParaRPr>
          </a:p>
        </p:txBody>
      </p:sp>
      <p:sp>
        <p:nvSpPr>
          <p:cNvPr id="28" name="Rectangle 13"/>
          <p:cNvSpPr/>
          <p:nvPr/>
        </p:nvSpPr>
        <p:spPr bwMode="auto">
          <a:xfrm>
            <a:off x="3657600" y="58166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a:t>
            </a:r>
            <a:r>
              <a:rPr lang="en-US" sz="1400" dirty="0" err="1">
                <a:solidFill>
                  <a:schemeClr val="tx1"/>
                </a:solidFill>
                <a:latin typeface="Courier New Bold" charset="0"/>
                <a:cs typeface="Courier New Bold" charset="0"/>
                <a:sym typeface="Courier New Bold" charset="0"/>
              </a:rPr>
              <a:t>bpl</a:t>
            </a:r>
            <a:endParaRPr lang="en-US" sz="1400" dirty="0">
              <a:solidFill>
                <a:schemeClr val="tx1"/>
              </a:solidFill>
              <a:latin typeface="Courier New Bold" charset="0"/>
              <a:cs typeface="Courier New Bold" charset="0"/>
              <a:sym typeface="Courier New Bold" charset="0"/>
            </a:endParaRPr>
          </a:p>
        </p:txBody>
      </p:sp>
      <p:sp>
        <p:nvSpPr>
          <p:cNvPr id="29" name="Rectangle 14"/>
          <p:cNvSpPr/>
          <p:nvPr/>
        </p:nvSpPr>
        <p:spPr bwMode="auto">
          <a:xfrm>
            <a:off x="7620000" y="15621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%r8b</a:t>
            </a:r>
          </a:p>
        </p:txBody>
      </p:sp>
      <p:sp>
        <p:nvSpPr>
          <p:cNvPr id="30" name="Rectangle 15"/>
          <p:cNvSpPr/>
          <p:nvPr/>
        </p:nvSpPr>
        <p:spPr bwMode="auto">
          <a:xfrm>
            <a:off x="7620000" y="21717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%r9b</a:t>
            </a:r>
          </a:p>
        </p:txBody>
      </p:sp>
      <p:sp>
        <p:nvSpPr>
          <p:cNvPr id="31" name="Rectangle 16"/>
          <p:cNvSpPr/>
          <p:nvPr/>
        </p:nvSpPr>
        <p:spPr bwMode="auto">
          <a:xfrm>
            <a:off x="7620000" y="27813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%r10b</a:t>
            </a:r>
          </a:p>
        </p:txBody>
      </p:sp>
      <p:sp>
        <p:nvSpPr>
          <p:cNvPr id="32" name="Rectangle 17"/>
          <p:cNvSpPr/>
          <p:nvPr/>
        </p:nvSpPr>
        <p:spPr bwMode="auto">
          <a:xfrm>
            <a:off x="7620000" y="33909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%r11b</a:t>
            </a:r>
          </a:p>
        </p:txBody>
      </p:sp>
      <p:sp>
        <p:nvSpPr>
          <p:cNvPr id="33" name="Rectangle 18"/>
          <p:cNvSpPr/>
          <p:nvPr/>
        </p:nvSpPr>
        <p:spPr bwMode="auto">
          <a:xfrm>
            <a:off x="7620000" y="40005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%r12b</a:t>
            </a:r>
          </a:p>
        </p:txBody>
      </p:sp>
      <p:sp>
        <p:nvSpPr>
          <p:cNvPr id="34" name="Rectangle 19"/>
          <p:cNvSpPr/>
          <p:nvPr/>
        </p:nvSpPr>
        <p:spPr bwMode="auto">
          <a:xfrm>
            <a:off x="7620000" y="46101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%r13b</a:t>
            </a:r>
          </a:p>
        </p:txBody>
      </p:sp>
      <p:sp>
        <p:nvSpPr>
          <p:cNvPr id="35" name="Rectangle 20"/>
          <p:cNvSpPr/>
          <p:nvPr/>
        </p:nvSpPr>
        <p:spPr bwMode="auto">
          <a:xfrm>
            <a:off x="7620000" y="52197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%r14b</a:t>
            </a:r>
          </a:p>
        </p:txBody>
      </p:sp>
      <p:sp>
        <p:nvSpPr>
          <p:cNvPr id="36" name="Rectangle 21"/>
          <p:cNvSpPr/>
          <p:nvPr/>
        </p:nvSpPr>
        <p:spPr bwMode="auto">
          <a:xfrm>
            <a:off x="7620000" y="5829300"/>
            <a:ext cx="660400"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r>
              <a:rPr lang="en-US" sz="1400" dirty="0">
                <a:solidFill>
                  <a:schemeClr val="tx1"/>
                </a:solidFill>
                <a:latin typeface="Courier New Bold" charset="0"/>
                <a:cs typeface="Courier New Bold" charset="0"/>
                <a:sym typeface="Courier New Bold" charset="0"/>
              </a:rPr>
              <a:t>%r15b</a:t>
            </a:r>
          </a:p>
        </p:txBody>
      </p:sp>
      <p:sp>
        <p:nvSpPr>
          <p:cNvPr id="37" name="Rectangle 22"/>
          <p:cNvSpPr/>
          <p:nvPr/>
        </p:nvSpPr>
        <p:spPr bwMode="auto">
          <a:xfrm>
            <a:off x="4724400" y="15240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%r8</a:t>
            </a:r>
          </a:p>
        </p:txBody>
      </p:sp>
      <p:sp>
        <p:nvSpPr>
          <p:cNvPr id="38" name="Rectangle 23"/>
          <p:cNvSpPr/>
          <p:nvPr/>
        </p:nvSpPr>
        <p:spPr bwMode="auto">
          <a:xfrm>
            <a:off x="4724400" y="21336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%r9</a:t>
            </a:r>
          </a:p>
        </p:txBody>
      </p:sp>
      <p:sp>
        <p:nvSpPr>
          <p:cNvPr id="39" name="Rectangle 24"/>
          <p:cNvSpPr/>
          <p:nvPr/>
        </p:nvSpPr>
        <p:spPr bwMode="auto">
          <a:xfrm>
            <a:off x="4724400" y="27432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%r10</a:t>
            </a:r>
          </a:p>
        </p:txBody>
      </p:sp>
      <p:sp>
        <p:nvSpPr>
          <p:cNvPr id="40" name="Rectangle 25"/>
          <p:cNvSpPr/>
          <p:nvPr/>
        </p:nvSpPr>
        <p:spPr bwMode="auto">
          <a:xfrm>
            <a:off x="4724400" y="33528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%r11</a:t>
            </a:r>
          </a:p>
        </p:txBody>
      </p:sp>
      <p:sp>
        <p:nvSpPr>
          <p:cNvPr id="41" name="Rectangle 26"/>
          <p:cNvSpPr/>
          <p:nvPr/>
        </p:nvSpPr>
        <p:spPr bwMode="auto">
          <a:xfrm>
            <a:off x="4724400" y="39624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%r12</a:t>
            </a:r>
          </a:p>
        </p:txBody>
      </p:sp>
      <p:sp>
        <p:nvSpPr>
          <p:cNvPr id="42" name="Rectangle 27"/>
          <p:cNvSpPr/>
          <p:nvPr/>
        </p:nvSpPr>
        <p:spPr bwMode="auto">
          <a:xfrm>
            <a:off x="4724400" y="45720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%r13</a:t>
            </a:r>
          </a:p>
        </p:txBody>
      </p:sp>
      <p:sp>
        <p:nvSpPr>
          <p:cNvPr id="43" name="Rectangle 28"/>
          <p:cNvSpPr/>
          <p:nvPr/>
        </p:nvSpPr>
        <p:spPr bwMode="auto">
          <a:xfrm>
            <a:off x="4724400" y="51816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%r14</a:t>
            </a:r>
          </a:p>
        </p:txBody>
      </p:sp>
      <p:sp>
        <p:nvSpPr>
          <p:cNvPr id="44" name="Rectangle 29"/>
          <p:cNvSpPr/>
          <p:nvPr/>
        </p:nvSpPr>
        <p:spPr bwMode="auto">
          <a:xfrm>
            <a:off x="4724400" y="57912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%r15</a:t>
            </a:r>
          </a:p>
        </p:txBody>
      </p:sp>
      <p:sp>
        <p:nvSpPr>
          <p:cNvPr id="45" name="Rectangle 30"/>
          <p:cNvSpPr/>
          <p:nvPr/>
        </p:nvSpPr>
        <p:spPr bwMode="auto">
          <a:xfrm>
            <a:off x="762000" y="15240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rax</a:t>
            </a:r>
            <a:endParaRPr lang="en-US" sz="2400" dirty="0">
              <a:solidFill>
                <a:schemeClr val="tx1"/>
              </a:solidFill>
              <a:latin typeface="Courier New Bold" charset="0"/>
              <a:cs typeface="Courier New Bold" charset="0"/>
              <a:sym typeface="Courier New Bold" charset="0"/>
            </a:endParaRPr>
          </a:p>
        </p:txBody>
      </p:sp>
      <p:sp>
        <p:nvSpPr>
          <p:cNvPr id="46" name="Rectangle 31"/>
          <p:cNvSpPr/>
          <p:nvPr/>
        </p:nvSpPr>
        <p:spPr bwMode="auto">
          <a:xfrm>
            <a:off x="762000" y="21336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rbx</a:t>
            </a:r>
            <a:endParaRPr lang="en-US" sz="2400" dirty="0">
              <a:solidFill>
                <a:schemeClr val="tx1"/>
              </a:solidFill>
              <a:latin typeface="Courier New Bold" charset="0"/>
              <a:cs typeface="Courier New Bold" charset="0"/>
              <a:sym typeface="Courier New Bold" charset="0"/>
            </a:endParaRPr>
          </a:p>
        </p:txBody>
      </p:sp>
      <p:sp>
        <p:nvSpPr>
          <p:cNvPr id="47" name="Rectangle 32"/>
          <p:cNvSpPr/>
          <p:nvPr/>
        </p:nvSpPr>
        <p:spPr bwMode="auto">
          <a:xfrm>
            <a:off x="762000" y="27432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%rcx</a:t>
            </a:r>
          </a:p>
        </p:txBody>
      </p:sp>
      <p:sp>
        <p:nvSpPr>
          <p:cNvPr id="48" name="Rectangle 33"/>
          <p:cNvSpPr/>
          <p:nvPr/>
        </p:nvSpPr>
        <p:spPr bwMode="auto">
          <a:xfrm>
            <a:off x="762000" y="33528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%rdx</a:t>
            </a:r>
          </a:p>
        </p:txBody>
      </p:sp>
      <p:sp>
        <p:nvSpPr>
          <p:cNvPr id="49" name="Rectangle 34"/>
          <p:cNvSpPr/>
          <p:nvPr/>
        </p:nvSpPr>
        <p:spPr bwMode="auto">
          <a:xfrm>
            <a:off x="762000" y="39624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%rsi</a:t>
            </a:r>
          </a:p>
        </p:txBody>
      </p:sp>
      <p:sp>
        <p:nvSpPr>
          <p:cNvPr id="50" name="Rectangle 35"/>
          <p:cNvSpPr/>
          <p:nvPr/>
        </p:nvSpPr>
        <p:spPr bwMode="auto">
          <a:xfrm>
            <a:off x="762000" y="45720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%rdi</a:t>
            </a:r>
          </a:p>
        </p:txBody>
      </p:sp>
      <p:sp>
        <p:nvSpPr>
          <p:cNvPr id="51" name="Rectangle 36"/>
          <p:cNvSpPr/>
          <p:nvPr/>
        </p:nvSpPr>
        <p:spPr bwMode="auto">
          <a:xfrm>
            <a:off x="762000" y="5791200"/>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a:solidFill>
                  <a:schemeClr val="tx1"/>
                </a:solidFill>
                <a:latin typeface="Courier New Bold" charset="0"/>
                <a:cs typeface="Courier New Bold" charset="0"/>
                <a:sym typeface="Courier New Bold" charset="0"/>
              </a:rPr>
              <a:t>%rbp</a:t>
            </a:r>
          </a:p>
        </p:txBody>
      </p:sp>
      <p:sp>
        <p:nvSpPr>
          <p:cNvPr id="52" name="文本框 51"/>
          <p:cNvSpPr txBox="1"/>
          <p:nvPr/>
        </p:nvSpPr>
        <p:spPr>
          <a:xfrm>
            <a:off x="762000" y="6426200"/>
            <a:ext cx="2540000" cy="368300"/>
          </a:xfrm>
          <a:prstGeom prst="rect">
            <a:avLst/>
          </a:prstGeom>
          <a:noFill/>
        </p:spPr>
        <p:txBody>
          <a:bodyPr wrap="square" rtlCol="0" anchor="t">
            <a:spAutoFit/>
          </a:bodyPr>
          <a:lstStyle/>
          <a:p>
            <a:pPr marL="285750" indent="-285750">
              <a:buFont typeface="Wingdings" panose="05000000000000000000" charset="0"/>
              <a:buChar char=""/>
            </a:pPr>
            <a:r>
              <a:rPr lang="zh-CN" altLang="en-US"/>
              <a:t>可以引用低位字节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by="(-#ppt_w*2)" calcmode="lin" valueType="num">
                                      <p:cBhvr rctx="PPT">
                                        <p:cTn id="7" dur="500" autoRev="1" fill="hold">
                                          <p:stCondLst>
                                            <p:cond delay="0"/>
                                          </p:stCondLst>
                                        </p:cTn>
                                        <p:tgtEl>
                                          <p:spTgt spid="4"/>
                                        </p:tgtEl>
                                        <p:attrNameLst>
                                          <p:attrName>ppt_w</p:attrName>
                                        </p:attrNameLst>
                                      </p:cBhvr>
                                    </p:anim>
                                    <p:anim by="(#ppt_w*0.50)" calcmode="lin" valueType="num">
                                      <p:cBhvr>
                                        <p:cTn id="8" dur="500" decel="50000" autoRev="1" fill="hold">
                                          <p:stCondLst>
                                            <p:cond delay="0"/>
                                          </p:stCondLst>
                                        </p:cTn>
                                        <p:tgtEl>
                                          <p:spTgt spid="4"/>
                                        </p:tgtEl>
                                        <p:attrNameLst>
                                          <p:attrName>ppt_x</p:attrName>
                                        </p:attrNameLst>
                                      </p:cBhvr>
                                    </p:anim>
                                    <p:anim from="(-#ppt_h/2)" to="(#ppt_y)" calcmode="lin" valueType="num">
                                      <p:cBhvr>
                                        <p:cTn id="9" dur="1000" fill="hold">
                                          <p:stCondLst>
                                            <p:cond delay="0"/>
                                          </p:stCondLst>
                                        </p:cTn>
                                        <p:tgtEl>
                                          <p:spTgt spid="4"/>
                                        </p:tgtEl>
                                        <p:attrNameLst>
                                          <p:attrName>ppt_y</p:attrName>
                                        </p:attrNameLst>
                                      </p:cBhvr>
                                    </p:anim>
                                    <p:animRot by="21600000">
                                      <p:cBhvr>
                                        <p:cTn id="10" dur="1000" fill="hold">
                                          <p:stCondLst>
                                            <p:cond delay="0"/>
                                          </p:stCondLst>
                                        </p:cTn>
                                        <p:tgtEl>
                                          <p:spTgt spid="4"/>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4"/>
                                        </p:tgtEl>
                                        <p:attrNameLst>
                                          <p:attrName>ppt_y</p:attrName>
                                        </p:attrNameLst>
                                      </p:cBhvr>
                                      <p:tavLst>
                                        <p:tav tm="0">
                                          <p:val>
                                            <p:strVal val="#ppt_y"/>
                                          </p:val>
                                        </p:tav>
                                        <p:tav tm="100000">
                                          <p:val>
                                            <p:strVal val="#ppt_y"/>
                                          </p:val>
                                        </p:tav>
                                      </p:tavLst>
                                    </p:anim>
                                    <p:anim calcmode="lin" valueType="num">
                                      <p:cBhvr>
                                        <p:cTn id="15" dur="10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9008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3" name="等腰三角形 2"/>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TextBox 24"/>
          <p:cNvSpPr txBox="1"/>
          <p:nvPr/>
        </p:nvSpPr>
        <p:spPr>
          <a:xfrm>
            <a:off x="5493589" y="347761"/>
            <a:ext cx="2087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访问条件码</a:t>
            </a:r>
          </a:p>
        </p:txBody>
      </p:sp>
      <p:sp>
        <p:nvSpPr>
          <p:cNvPr id="38921" name="Rectangle 9"/>
          <p:cNvSpPr>
            <a:spLocks noGrp="1" noChangeArrowheads="1"/>
          </p:cNvSpPr>
          <p:nvPr/>
        </p:nvSpPr>
        <p:spPr>
          <a:xfrm>
            <a:off x="196850" y="1577340"/>
            <a:ext cx="8947150" cy="33274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r>
              <a:rPr lang="en-US" dirty="0" err="1"/>
              <a:t>SetX</a:t>
            </a:r>
            <a:r>
              <a:rPr lang="en-US" dirty="0"/>
              <a:t> 指令: </a:t>
            </a:r>
          </a:p>
          <a:p>
            <a:pPr marL="552450" lvl="1"/>
            <a:r>
              <a:rPr lang="en-US" dirty="0"/>
              <a:t>基于条件码组合的单字节设置</a:t>
            </a:r>
          </a:p>
          <a:p>
            <a:r>
              <a:rPr lang="en-US" dirty="0"/>
              <a:t>可寻址字节寄存器之一</a:t>
            </a:r>
          </a:p>
          <a:p>
            <a:pPr marL="552450" lvl="1"/>
            <a:r>
              <a:rPr lang="en-US" dirty="0"/>
              <a:t>不改变剩余字节。</a:t>
            </a:r>
          </a:p>
          <a:p>
            <a:pPr marL="552450" lvl="1"/>
            <a:r>
              <a:rPr lang="en-US" dirty="0"/>
              <a:t>通常使用movzbl完成工作</a:t>
            </a:r>
          </a:p>
          <a:p>
            <a:pPr marL="1009650" lvl="2"/>
            <a:r>
              <a:rPr lang="en-US" dirty="0"/>
              <a:t>32位指令将</a:t>
            </a:r>
            <a:r>
              <a:rPr lang="zh-CN" altLang="en-US" dirty="0">
                <a:ea typeface="宋体" panose="02010600030101010101" pitchFamily="2" charset="-122"/>
              </a:rPr>
              <a:t>高</a:t>
            </a:r>
            <a:r>
              <a:rPr lang="en-US" dirty="0"/>
              <a:t>32位设置为0。</a:t>
            </a:r>
          </a:p>
          <a:p>
            <a:pPr marL="317500" lvl="1" indent="0">
              <a:buNone/>
            </a:pPr>
            <a:endParaRPr lang="en-US" dirty="0"/>
          </a:p>
        </p:txBody>
      </p:sp>
      <p:sp>
        <p:nvSpPr>
          <p:cNvPr id="38913" name="Rectangle 1"/>
          <p:cNvSpPr/>
          <p:nvPr/>
        </p:nvSpPr>
        <p:spPr bwMode="auto">
          <a:xfrm>
            <a:off x="304800" y="5410200"/>
            <a:ext cx="6629400" cy="1117600"/>
          </a:xfrm>
          <a:prstGeom prst="rect">
            <a:avLst/>
          </a:prstGeom>
          <a:solidFill>
            <a:srgbClr val="FFFFFF"/>
          </a:solidFill>
          <a:ln w="12700" cap="flat">
            <a:solidFill>
              <a:schemeClr val="tx1"/>
            </a:solidFill>
            <a:prstDash val="solid"/>
            <a:miter lim="800000"/>
            <a:headEnd type="none" w="med" len="med"/>
            <a:tailEnd type="none" w="med" len="med"/>
          </a:ln>
        </p:spPr>
        <p:txBody>
          <a:bodyPr lIns="38100" tIns="38100" rIns="38100" bIns="38100"/>
          <a:lstStyle/>
          <a:p>
            <a:pPr algn="l">
              <a:tabLst>
                <a:tab pos="514350" algn="l"/>
                <a:tab pos="2801620" algn="l"/>
                <a:tab pos="3086100" algn="l"/>
                <a:tab pos="3086100" algn="l"/>
                <a:tab pos="3086100" algn="l"/>
                <a:tab pos="3086100" algn="l"/>
              </a:tabLst>
            </a:pP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cmpq</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rsi</a:t>
            </a:r>
            <a:r>
              <a:rPr lang="cs-CZ" sz="1800" b="1" dirty="0">
                <a:solidFill>
                  <a:schemeClr val="tx1"/>
                </a:solidFill>
                <a:latin typeface="Courier New" panose="02070309020205020404" charset="0"/>
                <a:cs typeface="Courier New" panose="02070309020205020404" charset="0"/>
                <a:sym typeface="Courier New Bold" charset="0"/>
              </a:rPr>
              <a:t>, %rdi   # </a:t>
            </a:r>
            <a:r>
              <a:rPr lang="cs-CZ" sz="1800" b="1" dirty="0" err="1">
                <a:solidFill>
                  <a:schemeClr val="tx1"/>
                </a:solidFill>
                <a:latin typeface="Courier New" panose="02070309020205020404" charset="0"/>
                <a:cs typeface="Courier New" panose="02070309020205020404" charset="0"/>
                <a:sym typeface="Courier New Bold" charset="0"/>
              </a:rPr>
              <a:t>Compare</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x:y</a:t>
            </a:r>
            <a:endParaRPr lang="cs-CZ" sz="1800" b="1" dirty="0">
              <a:solidFill>
                <a:schemeClr val="tx1"/>
              </a:solidFill>
              <a:latin typeface="Courier New" panose="02070309020205020404" charset="0"/>
              <a:cs typeface="Courier New" panose="02070309020205020404" charset="0"/>
              <a:sym typeface="Courier New Bold" charset="0"/>
            </a:endParaRPr>
          </a:p>
          <a:p>
            <a:pPr lvl="1" algn="l">
              <a:tabLst>
                <a:tab pos="514350" algn="l"/>
                <a:tab pos="2801620" algn="l"/>
                <a:tab pos="3086100" algn="l"/>
                <a:tab pos="3086100" algn="l"/>
                <a:tab pos="3086100" algn="l"/>
                <a:tab pos="3086100" algn="l"/>
              </a:tabLst>
            </a:pP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setg</a:t>
            </a:r>
            <a:r>
              <a:rPr lang="cs-CZ" sz="1800" b="1" dirty="0">
                <a:solidFill>
                  <a:schemeClr val="tx1"/>
                </a:solidFill>
                <a:latin typeface="Courier New" panose="02070309020205020404" charset="0"/>
                <a:cs typeface="Courier New" panose="02070309020205020404" charset="0"/>
                <a:sym typeface="Courier New Bold" charset="0"/>
              </a:rPr>
              <a:t>   %al          # Set </a:t>
            </a:r>
            <a:r>
              <a:rPr lang="cs-CZ" sz="1800" b="1" dirty="0" err="1">
                <a:solidFill>
                  <a:schemeClr val="tx1"/>
                </a:solidFill>
                <a:latin typeface="Courier New" panose="02070309020205020404" charset="0"/>
                <a:cs typeface="Courier New" panose="02070309020205020404" charset="0"/>
                <a:sym typeface="Courier New Bold" charset="0"/>
              </a:rPr>
              <a:t>when</a:t>
            </a:r>
            <a:r>
              <a:rPr lang="cs-CZ" sz="1800" b="1" dirty="0">
                <a:solidFill>
                  <a:schemeClr val="tx1"/>
                </a:solidFill>
                <a:latin typeface="Courier New" panose="02070309020205020404" charset="0"/>
                <a:cs typeface="Courier New" panose="02070309020205020404" charset="0"/>
                <a:sym typeface="Courier New Bold" charset="0"/>
              </a:rPr>
              <a:t> &gt;</a:t>
            </a:r>
          </a:p>
          <a:p>
            <a:pPr lvl="1" algn="l">
              <a:tabLst>
                <a:tab pos="514350" algn="l"/>
                <a:tab pos="2801620" algn="l"/>
                <a:tab pos="3086100" algn="l"/>
                <a:tab pos="3086100" algn="l"/>
                <a:tab pos="3086100" algn="l"/>
                <a:tab pos="3086100" algn="l"/>
              </a:tabLst>
            </a:pP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movzbl</a:t>
            </a:r>
            <a:r>
              <a:rPr lang="cs-CZ" sz="1800" b="1" dirty="0">
                <a:solidFill>
                  <a:schemeClr val="tx1"/>
                </a:solidFill>
                <a:latin typeface="Courier New" panose="02070309020205020404" charset="0"/>
                <a:cs typeface="Courier New" panose="02070309020205020404" charset="0"/>
                <a:sym typeface="Courier New Bold" charset="0"/>
              </a:rPr>
              <a:t> %al, %</a:t>
            </a:r>
            <a:r>
              <a:rPr lang="cs-CZ" sz="1800" b="1" dirty="0" err="1">
                <a:solidFill>
                  <a:schemeClr val="tx1"/>
                </a:solidFill>
                <a:latin typeface="Courier New" panose="02070309020205020404" charset="0"/>
                <a:cs typeface="Courier New" panose="02070309020205020404" charset="0"/>
                <a:sym typeface="Courier New Bold" charset="0"/>
              </a:rPr>
              <a:t>eax</a:t>
            </a:r>
            <a:r>
              <a:rPr lang="cs-CZ" sz="1800" b="1" dirty="0">
                <a:solidFill>
                  <a:schemeClr val="tx1"/>
                </a:solidFill>
                <a:latin typeface="Courier New" panose="02070309020205020404" charset="0"/>
                <a:cs typeface="Courier New" panose="02070309020205020404" charset="0"/>
                <a:sym typeface="Courier New Bold" charset="0"/>
              </a:rPr>
              <a:t>    # </a:t>
            </a:r>
            <a:r>
              <a:rPr lang="cs-CZ" sz="1800" b="1" dirty="0" err="1">
                <a:solidFill>
                  <a:schemeClr val="tx1"/>
                </a:solidFill>
                <a:latin typeface="Courier New" panose="02070309020205020404" charset="0"/>
                <a:cs typeface="Courier New" panose="02070309020205020404" charset="0"/>
                <a:sym typeface="Courier New Bold" charset="0"/>
              </a:rPr>
              <a:t>Zero</a:t>
            </a:r>
            <a:r>
              <a:rPr lang="cs-CZ" sz="1800" b="1" dirty="0">
                <a:solidFill>
                  <a:schemeClr val="tx1"/>
                </a:solidFill>
                <a:latin typeface="Courier New" panose="02070309020205020404" charset="0"/>
                <a:cs typeface="Courier New" panose="02070309020205020404" charset="0"/>
                <a:sym typeface="Courier New Bold" charset="0"/>
              </a:rPr>
              <a:t> rest </a:t>
            </a:r>
            <a:r>
              <a:rPr lang="cs-CZ" sz="1800" b="1" dirty="0" err="1">
                <a:solidFill>
                  <a:schemeClr val="tx1"/>
                </a:solidFill>
                <a:latin typeface="Courier New" panose="02070309020205020404" charset="0"/>
                <a:cs typeface="Courier New" panose="02070309020205020404" charset="0"/>
                <a:sym typeface="Courier New Bold" charset="0"/>
              </a:rPr>
              <a:t>of</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rax</a:t>
            </a:r>
            <a:endParaRPr lang="cs-CZ" sz="1800" b="1" dirty="0">
              <a:solidFill>
                <a:schemeClr val="tx1"/>
              </a:solidFill>
              <a:latin typeface="Courier New" panose="02070309020205020404" charset="0"/>
              <a:cs typeface="Courier New" panose="02070309020205020404" charset="0"/>
              <a:sym typeface="Courier New Bold" charset="0"/>
            </a:endParaRPr>
          </a:p>
          <a:p>
            <a:pPr algn="l">
              <a:tabLst>
                <a:tab pos="514350" algn="l"/>
                <a:tab pos="2801620" algn="l"/>
                <a:tab pos="3086100" algn="l"/>
                <a:tab pos="3086100" algn="l"/>
                <a:tab pos="3086100" algn="l"/>
                <a:tab pos="3086100" algn="l"/>
              </a:tabLst>
            </a:pPr>
            <a:r>
              <a:rPr lang="cs-CZ" sz="1800" b="1" dirty="0">
                <a:solidFill>
                  <a:schemeClr val="tx1"/>
                </a:solidFill>
                <a:latin typeface="Courier New" panose="02070309020205020404" charset="0"/>
                <a:cs typeface="Courier New" panose="02070309020205020404" charset="0"/>
                <a:sym typeface="Courier New Bold" charset="0"/>
              </a:rPr>
              <a:t>	ret</a:t>
            </a: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38922" name="Rectangle 10"/>
          <p:cNvSpPr/>
          <p:nvPr/>
        </p:nvSpPr>
        <p:spPr bwMode="auto">
          <a:xfrm>
            <a:off x="1143000" y="3886200"/>
            <a:ext cx="3429000" cy="12954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err="1">
                <a:solidFill>
                  <a:schemeClr val="tx1"/>
                </a:solidFill>
                <a:latin typeface="Courier New" panose="02070309020205020404" charset="0"/>
                <a:cs typeface="Courier New" panose="02070309020205020404" charset="0"/>
                <a:sym typeface="Courier New Bold" charset="0"/>
              </a:rPr>
              <a:t>int</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gt</a:t>
            </a:r>
            <a:r>
              <a:rPr lang="en-US" sz="1800" b="1" dirty="0">
                <a:solidFill>
                  <a:schemeClr val="tx1"/>
                </a:solidFill>
                <a:latin typeface="Courier New" panose="02070309020205020404" charset="0"/>
                <a:cs typeface="Courier New" panose="02070309020205020404" charset="0"/>
                <a:sym typeface="Courier New Bold" charset="0"/>
              </a:rPr>
              <a:t> (long x, long y)</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return x &gt; y;</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graphicFrame>
        <p:nvGraphicFramePr>
          <p:cNvPr id="7" name="Table 9"/>
          <p:cNvGraphicFramePr>
            <a:graphicFrameLocks noGrp="1"/>
          </p:cNvGraphicFramePr>
          <p:nvPr/>
        </p:nvGraphicFramePr>
        <p:xfrm>
          <a:off x="5638800" y="3733800"/>
          <a:ext cx="3352800" cy="1524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dirty="0">
                          <a:latin typeface="Calibri" panose="020F0502020204030204"/>
                          <a:cs typeface="Calibri" panose="020F0502020204030204"/>
                        </a:rPr>
                        <a:t> </a:t>
                      </a:r>
                      <a:r>
                        <a:rPr lang="en-US" b="1" i="0" dirty="0">
                          <a:latin typeface="Courier New" panose="02070309020205020404"/>
                          <a:cs typeface="Courier New" panose="02070309020205020404"/>
                        </a:rPr>
                        <a:t>x</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r>
                        <a:rPr lang="en-US" dirty="0">
                          <a:latin typeface="Calibri" panose="020F0502020204030204"/>
                          <a:cs typeface="Calibri" panose="020F0502020204030204"/>
                        </a:rPr>
                        <a:t> </a:t>
                      </a:r>
                      <a:r>
                        <a:rPr lang="en-US" b="1" i="0" dirty="0">
                          <a:latin typeface="Courier New" panose="02070309020205020404"/>
                          <a:cs typeface="Courier New" panose="02070309020205020404"/>
                        </a:rPr>
                        <a:t>y</a:t>
                      </a:r>
                    </a:p>
                  </a:txBody>
                  <a:tcPr/>
                </a:tc>
                <a:extLst>
                  <a:ext uri="{0D108BD9-81ED-4DB2-BD59-A6C34878D82A}">
                    <a16:rowId xmlns:a16="http://schemas.microsoft.com/office/drawing/2014/main" val="10002"/>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altLang="en-US" dirty="0">
                          <a:latin typeface="Calibri" panose="020F0502020204030204"/>
                          <a:cs typeface="Calibri" panose="020F0502020204030204"/>
                        </a:rPr>
                        <a:t>返回结果值</a:t>
                      </a:r>
                      <a:endParaRPr lang="zh-CN" altLang="en-US" b="1" i="0" dirty="0">
                        <a:latin typeface="Calibri" panose="020F0502020204030204"/>
                        <a:cs typeface="Calibri" panose="020F0502020204030204"/>
                      </a:endParaRPr>
                    </a:p>
                  </a:txBody>
                  <a:tcPr/>
                </a:tc>
                <a:extLst>
                  <a:ext uri="{0D108BD9-81ED-4DB2-BD59-A6C34878D82A}">
                    <a16:rowId xmlns:a16="http://schemas.microsoft.com/office/drawing/2014/main" val="10003"/>
                  </a:ext>
                </a:extLst>
              </a:tr>
            </a:tbl>
          </a:graphicData>
        </a:graphic>
      </p:graphicFrame>
      <p:grpSp>
        <p:nvGrpSpPr>
          <p:cNvPr id="19" name="Group 5"/>
          <p:cNvGrpSpPr/>
          <p:nvPr/>
        </p:nvGrpSpPr>
        <p:grpSpPr>
          <a:xfrm>
            <a:off x="2124635" y="4204447"/>
            <a:ext cx="2008094" cy="1308847"/>
            <a:chOff x="2124635" y="4204447"/>
            <a:chExt cx="2008094" cy="1308847"/>
          </a:xfrm>
        </p:grpSpPr>
        <p:cxnSp>
          <p:nvCxnSpPr>
            <p:cNvPr id="21" name="Straight Arrow Connector 2"/>
            <p:cNvCxnSpPr/>
            <p:nvPr/>
          </p:nvCxnSpPr>
          <p:spPr bwMode="auto">
            <a:xfrm flipH="1">
              <a:off x="2994212" y="4204447"/>
              <a:ext cx="53788" cy="1308847"/>
            </a:xfrm>
            <a:prstGeom prst="straightConnector1">
              <a:avLst/>
            </a:prstGeom>
            <a:solidFill>
              <a:schemeClr val="accent1"/>
            </a:solidFill>
            <a:ln w="38100" cap="flat" cmpd="sng" algn="ctr">
              <a:solidFill>
                <a:schemeClr val="accent1">
                  <a:lumMod val="60000"/>
                  <a:lumOff val="40000"/>
                </a:schemeClr>
              </a:solidFill>
              <a:prstDash val="solid"/>
              <a:round/>
              <a:headEnd type="none" w="med" len="med"/>
              <a:tailEnd type="arrow"/>
            </a:ln>
            <a:effectLst/>
          </p:spPr>
        </p:cxnSp>
        <p:cxnSp>
          <p:nvCxnSpPr>
            <p:cNvPr id="23" name="Straight Arrow Connector 4"/>
            <p:cNvCxnSpPr/>
            <p:nvPr/>
          </p:nvCxnSpPr>
          <p:spPr bwMode="auto">
            <a:xfrm flipH="1">
              <a:off x="2124635" y="4204447"/>
              <a:ext cx="2008094" cy="1308847"/>
            </a:xfrm>
            <a:prstGeom prst="straightConnector1">
              <a:avLst/>
            </a:prstGeom>
            <a:solidFill>
              <a:schemeClr val="accent1"/>
            </a:solidFill>
            <a:ln w="38100" cap="flat" cmpd="sng" algn="ctr">
              <a:solidFill>
                <a:srgbClr val="7030A0"/>
              </a:solidFill>
              <a:prstDash val="solid"/>
              <a:round/>
              <a:headEnd type="none" w="med" len="med"/>
              <a:tailEnd type="arrow"/>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
                                        </p:tgtEl>
                                        <p:attrNameLst>
                                          <p:attrName>style.visibility</p:attrName>
                                        </p:attrNameLst>
                                      </p:cBhvr>
                                      <p:to>
                                        <p:strVal val="visible"/>
                                      </p:to>
                                    </p:set>
                                    <p:anim by="(-#ppt_w*2)" calcmode="lin" valueType="num">
                                      <p:cBhvr rctx="PPT">
                                        <p:cTn id="7" dur="500" autoRev="1" fill="hold">
                                          <p:stCondLst>
                                            <p:cond delay="0"/>
                                          </p:stCondLst>
                                        </p:cTn>
                                        <p:tgtEl>
                                          <p:spTgt spid="4"/>
                                        </p:tgtEl>
                                        <p:attrNameLst>
                                          <p:attrName>ppt_w</p:attrName>
                                        </p:attrNameLst>
                                      </p:cBhvr>
                                    </p:anim>
                                    <p:anim by="(#ppt_w*0.50)" calcmode="lin" valueType="num">
                                      <p:cBhvr>
                                        <p:cTn id="8" dur="500" decel="50000" autoRev="1" fill="hold">
                                          <p:stCondLst>
                                            <p:cond delay="0"/>
                                          </p:stCondLst>
                                        </p:cTn>
                                        <p:tgtEl>
                                          <p:spTgt spid="4"/>
                                        </p:tgtEl>
                                        <p:attrNameLst>
                                          <p:attrName>ppt_x</p:attrName>
                                        </p:attrNameLst>
                                      </p:cBhvr>
                                    </p:anim>
                                    <p:anim from="(-#ppt_h/2)" to="(#ppt_y)" calcmode="lin" valueType="num">
                                      <p:cBhvr>
                                        <p:cTn id="9" dur="1000" fill="hold">
                                          <p:stCondLst>
                                            <p:cond delay="0"/>
                                          </p:stCondLst>
                                        </p:cTn>
                                        <p:tgtEl>
                                          <p:spTgt spid="4"/>
                                        </p:tgtEl>
                                        <p:attrNameLst>
                                          <p:attrName>ppt_y</p:attrName>
                                        </p:attrNameLst>
                                      </p:cBhvr>
                                    </p:anim>
                                    <p:animRot by="21600000">
                                      <p:cBhvr>
                                        <p:cTn id="10" dur="1000" fill="hold">
                                          <p:stCondLst>
                                            <p:cond delay="0"/>
                                          </p:stCondLst>
                                        </p:cTn>
                                        <p:tgtEl>
                                          <p:spTgt spid="4"/>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4"/>
                                        </p:tgtEl>
                                        <p:attrNameLst>
                                          <p:attrName>ppt_y</p:attrName>
                                        </p:attrNameLst>
                                      </p:cBhvr>
                                      <p:tavLst>
                                        <p:tav tm="0">
                                          <p:val>
                                            <p:strVal val="#ppt_y"/>
                                          </p:val>
                                        </p:tav>
                                        <p:tav tm="100000">
                                          <p:val>
                                            <p:strVal val="#ppt_y"/>
                                          </p:val>
                                        </p:tav>
                                      </p:tavLst>
                                    </p:anim>
                                    <p:anim calcmode="lin" valueType="num">
                                      <p:cBhvr>
                                        <p:cTn id="15" dur="10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8921">
                                            <p:txEl>
                                              <p:pRg st="1" end="1"/>
                                            </p:txEl>
                                          </p:spTgt>
                                        </p:tgtEl>
                                        <p:attrNameLst>
                                          <p:attrName>style.visibility</p:attrName>
                                        </p:attrNameLst>
                                      </p:cBhvr>
                                      <p:to>
                                        <p:strVal val="visible"/>
                                      </p:to>
                                    </p:set>
                                    <p:animEffect transition="in" filter="wipe(down)">
                                      <p:cBhvr>
                                        <p:cTn id="22" dur="500"/>
                                        <p:tgtEl>
                                          <p:spTgt spid="38921">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8921">
                                            <p:txEl>
                                              <p:pRg st="3" end="3"/>
                                            </p:txEl>
                                          </p:spTgt>
                                        </p:tgtEl>
                                        <p:attrNameLst>
                                          <p:attrName>style.visibility</p:attrName>
                                        </p:attrNameLst>
                                      </p:cBhvr>
                                      <p:to>
                                        <p:strVal val="visible"/>
                                      </p:to>
                                    </p:set>
                                    <p:animEffect transition="in" filter="wipe(down)">
                                      <p:cBhvr>
                                        <p:cTn id="27" dur="500"/>
                                        <p:tgtEl>
                                          <p:spTgt spid="38921">
                                            <p:txEl>
                                              <p:pRg st="3" end="3"/>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8921">
                                            <p:txEl>
                                              <p:pRg st="4" end="4"/>
                                            </p:txEl>
                                          </p:spTgt>
                                        </p:tgtEl>
                                        <p:attrNameLst>
                                          <p:attrName>style.visibility</p:attrName>
                                        </p:attrNameLst>
                                      </p:cBhvr>
                                      <p:to>
                                        <p:strVal val="visible"/>
                                      </p:to>
                                    </p:set>
                                    <p:animEffect transition="in" filter="wipe(down)">
                                      <p:cBhvr>
                                        <p:cTn id="30" dur="500"/>
                                        <p:tgtEl>
                                          <p:spTgt spid="38921">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8921">
                                            <p:txEl>
                                              <p:pRg st="5" end="5"/>
                                            </p:txEl>
                                          </p:spTgt>
                                        </p:tgtEl>
                                        <p:attrNameLst>
                                          <p:attrName>style.visibility</p:attrName>
                                        </p:attrNameLst>
                                      </p:cBhvr>
                                      <p:to>
                                        <p:strVal val="visible"/>
                                      </p:to>
                                    </p:set>
                                    <p:animEffect transition="in" filter="wipe(down)">
                                      <p:cBhvr>
                                        <p:cTn id="35" dur="500"/>
                                        <p:tgtEl>
                                          <p:spTgt spid="38921">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8922"/>
                                        </p:tgtEl>
                                        <p:attrNameLst>
                                          <p:attrName>style.visibility</p:attrName>
                                        </p:attrNameLst>
                                      </p:cBhvr>
                                      <p:to>
                                        <p:strVal val="visible"/>
                                      </p:to>
                                    </p:set>
                                    <p:animEffect transition="in" filter="wipe(down)">
                                      <p:cBhvr>
                                        <p:cTn id="40" dur="500"/>
                                        <p:tgtEl>
                                          <p:spTgt spid="38922"/>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wipe(down)">
                                      <p:cBhvr>
                                        <p:cTn id="45" dur="500"/>
                                        <p:tgtEl>
                                          <p:spTgt spid="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38913"/>
                                        </p:tgtEl>
                                        <p:attrNameLst>
                                          <p:attrName>style.visibility</p:attrName>
                                        </p:attrNameLst>
                                      </p:cBhvr>
                                      <p:to>
                                        <p:strVal val="visible"/>
                                      </p:to>
                                    </p:set>
                                    <p:animEffect transition="in" filter="wipe(down)">
                                      <p:cBhvr>
                                        <p:cTn id="50" dur="500"/>
                                        <p:tgtEl>
                                          <p:spTgt spid="38913"/>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38913" grpId="0" animBg="1"/>
      <p:bldP spid="38922"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TextBox 1"/>
          <p:cNvSpPr txBox="1"/>
          <p:nvPr/>
        </p:nvSpPr>
        <p:spPr>
          <a:xfrm>
            <a:off x="863727" y="1454141"/>
            <a:ext cx="7160468" cy="3538220"/>
          </a:xfrm>
          <a:prstGeom prst="rect">
            <a:avLst/>
          </a:prstGeom>
          <a:solidFill>
            <a:schemeClr val="bg1"/>
          </a:solidFill>
          <a:ln w="38100">
            <a:solidFill>
              <a:schemeClr val="tx1"/>
            </a:solidFill>
          </a:ln>
        </p:spPr>
        <p:txBody>
          <a:bodyPr wrap="square" rtlCol="0">
            <a:spAutoFit/>
          </a:bodyPr>
          <a:lstStyle/>
          <a:p>
            <a:r>
              <a:rPr lang="zh-CN" altLang="en-US" sz="3200" dirty="0">
                <a:latin typeface="Calibri" panose="020F0502020204030204" charset="0"/>
                <a:cs typeface="Calibri" panose="020F0502020204030204" charset="0"/>
              </a:rPr>
              <a:t>注意</a:t>
            </a:r>
            <a:r>
              <a:rPr lang="en-US" sz="3200" dirty="0">
                <a:latin typeface="Calibri" panose="020F0502020204030204" charset="0"/>
                <a:cs typeface="Calibri" panose="020F0502020204030204" charset="0"/>
              </a:rPr>
              <a:t> </a:t>
            </a:r>
            <a:r>
              <a:rPr lang="en-US" sz="3200" b="1" dirty="0" err="1">
                <a:latin typeface="Courier New" panose="02070309020205020404" charset="0"/>
                <a:cs typeface="Courier New" panose="02070309020205020404" charset="0"/>
              </a:rPr>
              <a:t>movzbl</a:t>
            </a:r>
            <a:r>
              <a:rPr lang="en-US" sz="3200" dirty="0">
                <a:latin typeface="Calibri" panose="020F0502020204030204" charset="0"/>
                <a:cs typeface="Calibri" panose="020F0502020204030204" charset="0"/>
              </a:rPr>
              <a:t> </a:t>
            </a:r>
          </a:p>
          <a:p>
            <a:r>
              <a:rPr lang="cs-CZ" sz="3200" b="1" dirty="0">
                <a:solidFill>
                  <a:schemeClr val="tx1"/>
                </a:solidFill>
                <a:latin typeface="Courier New" panose="02070309020205020404" charset="0"/>
                <a:cs typeface="Courier New" panose="02070309020205020404" charset="0"/>
                <a:sym typeface="Courier New Bold" charset="0"/>
              </a:rPr>
              <a:t>movzbl %al, %eax</a:t>
            </a:r>
            <a:endParaRPr lang="en-US" sz="3200" dirty="0">
              <a:latin typeface="Calibri" panose="020F0502020204030204" charset="0"/>
              <a:cs typeface="Calibri" panose="020F0502020204030204" charset="0"/>
            </a:endParaRPr>
          </a:p>
          <a:p>
            <a:endParaRPr lang="en-US" sz="3200" dirty="0">
              <a:latin typeface="Calibri" panose="020F0502020204030204" charset="0"/>
              <a:cs typeface="Calibri" panose="020F0502020204030204" charset="0"/>
            </a:endParaRPr>
          </a:p>
          <a:p>
            <a:endParaRPr lang="en-US" sz="3200" dirty="0">
              <a:latin typeface="Calibri" panose="020F0502020204030204" charset="0"/>
              <a:cs typeface="Calibri" panose="020F0502020204030204" charset="0"/>
            </a:endParaRPr>
          </a:p>
          <a:p>
            <a:endParaRPr lang="en-US" sz="3200" dirty="0">
              <a:latin typeface="Calibri" panose="020F0502020204030204" charset="0"/>
              <a:cs typeface="Calibri" panose="020F0502020204030204" charset="0"/>
            </a:endParaRPr>
          </a:p>
          <a:p>
            <a:endParaRPr lang="en-US" sz="3200" dirty="0">
              <a:latin typeface="Calibri" panose="020F0502020204030204" charset="0"/>
              <a:cs typeface="Calibri" panose="020F0502020204030204" charset="0"/>
            </a:endParaRPr>
          </a:p>
          <a:p>
            <a:endParaRPr lang="en-US" sz="3200" dirty="0">
              <a:latin typeface="Calibri" panose="020F0502020204030204" charset="0"/>
              <a:cs typeface="Calibri" panose="020F0502020204030204" charset="0"/>
            </a:endParaRPr>
          </a:p>
        </p:txBody>
      </p:sp>
      <p:sp>
        <p:nvSpPr>
          <p:cNvPr id="12" name="Rectangle 30"/>
          <p:cNvSpPr/>
          <p:nvPr/>
        </p:nvSpPr>
        <p:spPr bwMode="auto">
          <a:xfrm>
            <a:off x="3212353" y="3482789"/>
            <a:ext cx="3556000" cy="533400"/>
          </a:xfrm>
          <a:prstGeom prst="rect">
            <a:avLst/>
          </a:prstGeom>
          <a:noFill/>
          <a:ln w="25400" cap="flat">
            <a:solidFill>
              <a:schemeClr val="tx1"/>
            </a:solidFill>
            <a:prstDash val="solid"/>
            <a:miter lim="800000"/>
            <a:headEnd type="none" w="med" len="med"/>
            <a:tailEnd type="none" w="med" len="med"/>
          </a:ln>
        </p:spPr>
        <p:txBody>
          <a:bodyPr lIns="38100" tIns="38100" rIns="38100" bIns="38100" anchor="ctr"/>
          <a:lstStyle/>
          <a:p>
            <a:pPr algn="l"/>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rax</a:t>
            </a:r>
            <a:endParaRPr lang="en-US" sz="2400" dirty="0">
              <a:solidFill>
                <a:schemeClr val="tx1"/>
              </a:solidFill>
              <a:latin typeface="Courier New Bold" charset="0"/>
              <a:cs typeface="Courier New Bold" charset="0"/>
              <a:sym typeface="Courier New Bold" charset="0"/>
            </a:endParaRPr>
          </a:p>
        </p:txBody>
      </p:sp>
      <p:grpSp>
        <p:nvGrpSpPr>
          <p:cNvPr id="5" name="Group 3"/>
          <p:cNvGrpSpPr/>
          <p:nvPr/>
        </p:nvGrpSpPr>
        <p:grpSpPr>
          <a:xfrm>
            <a:off x="4990353" y="3527239"/>
            <a:ext cx="1850837" cy="444500"/>
            <a:chOff x="3723715" y="3036049"/>
            <a:chExt cx="1850837" cy="444500"/>
          </a:xfrm>
        </p:grpSpPr>
        <p:sp>
          <p:nvSpPr>
            <p:cNvPr id="13" name="Rectangle 12"/>
            <p:cNvSpPr/>
            <p:nvPr/>
          </p:nvSpPr>
          <p:spPr bwMode="auto">
            <a:xfrm>
              <a:off x="3723715" y="3036049"/>
              <a:ext cx="1709270" cy="444500"/>
            </a:xfrm>
            <a:prstGeom prst="rect">
              <a:avLst/>
            </a:prstGeom>
            <a:solidFill>
              <a:schemeClr val="accent1"/>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sz="2000" dirty="0">
                  <a:latin typeface="Courier New" panose="02070309020205020404" charset="0"/>
                  <a:cs typeface="Courier New" panose="02070309020205020404" charset="0"/>
                </a:rPr>
                <a:t>0x000000</a:t>
              </a:r>
              <a:endParaRPr kumimoji="0" lang="en-US" sz="2000" b="0" i="0" u="none" strike="noStrike" cap="none" normalizeH="0" baseline="0" dirty="0">
                <a:ln>
                  <a:noFill/>
                </a:ln>
                <a:solidFill>
                  <a:srgbClr val="000000"/>
                </a:solidFill>
                <a:effectLst/>
                <a:latin typeface="Courier New" panose="02070309020205020404" charset="0"/>
                <a:cs typeface="Courier New" panose="02070309020205020404" charset="0"/>
                <a:sym typeface="Gill Sans" charset="0"/>
              </a:endParaRPr>
            </a:p>
          </p:txBody>
        </p:sp>
        <p:sp>
          <p:nvSpPr>
            <p:cNvPr id="14" name="Rectangle 6"/>
            <p:cNvSpPr/>
            <p:nvPr/>
          </p:nvSpPr>
          <p:spPr bwMode="auto">
            <a:xfrm>
              <a:off x="5078505" y="3036049"/>
              <a:ext cx="496047" cy="444500"/>
            </a:xfrm>
            <a:prstGeom prst="rect">
              <a:avLst/>
            </a:prstGeom>
            <a:solidFill>
              <a:srgbClr val="D8D8D8"/>
            </a:solidFill>
            <a:ln w="9525" cap="flat">
              <a:solidFill>
                <a:schemeClr val="tx1"/>
              </a:solidFill>
              <a:prstDash val="solid"/>
              <a:miter lim="800000"/>
              <a:headEnd type="none" w="med" len="med"/>
              <a:tailEnd type="none" w="med" len="med"/>
            </a:ln>
          </p:spPr>
          <p:txBody>
            <a:bodyPr lIns="38100" tIns="38100" rIns="38100" bIns="38100" anchor="ctr"/>
            <a:lstStyle/>
            <a:p>
              <a:pPr algn="l"/>
              <a:r>
                <a:rPr lang="en-US" sz="1400" dirty="0">
                  <a:solidFill>
                    <a:schemeClr val="tx1"/>
                  </a:solidFill>
                  <a:latin typeface="Courier New Bold" charset="0"/>
                  <a:cs typeface="Courier New Bold" charset="0"/>
                  <a:sym typeface="Courier New Bold" charset="0"/>
                </a:rPr>
                <a:t>%al</a:t>
              </a:r>
            </a:p>
          </p:txBody>
        </p:sp>
      </p:grpSp>
      <p:grpSp>
        <p:nvGrpSpPr>
          <p:cNvPr id="8" name="Group 7"/>
          <p:cNvGrpSpPr/>
          <p:nvPr/>
        </p:nvGrpSpPr>
        <p:grpSpPr>
          <a:xfrm>
            <a:off x="1644650" y="3899535"/>
            <a:ext cx="1920240" cy="783237"/>
            <a:chOff x="215055" y="3842955"/>
            <a:chExt cx="1827336" cy="1103126"/>
          </a:xfrm>
        </p:grpSpPr>
        <p:sp>
          <p:nvSpPr>
            <p:cNvPr id="6" name="TextBox 4"/>
            <p:cNvSpPr txBox="1"/>
            <p:nvPr/>
          </p:nvSpPr>
          <p:spPr>
            <a:xfrm>
              <a:off x="215055" y="4297680"/>
              <a:ext cx="946785" cy="648401"/>
            </a:xfrm>
            <a:prstGeom prst="rect">
              <a:avLst/>
            </a:prstGeom>
            <a:noFill/>
          </p:spPr>
          <p:txBody>
            <a:bodyPr wrap="square" rtlCol="0">
              <a:spAutoFit/>
            </a:bodyPr>
            <a:lstStyle/>
            <a:p>
              <a:r>
                <a:rPr lang="zh-CN" altLang="en-US" sz="2400" dirty="0">
                  <a:latin typeface="Calibri" panose="020F0502020204030204" charset="0"/>
                  <a:cs typeface="Calibri" panose="020F0502020204030204" charset="0"/>
                </a:rPr>
                <a:t>皆为</a:t>
              </a:r>
              <a:r>
                <a:rPr lang="en-US" altLang="zh-CN" sz="2400" dirty="0">
                  <a:latin typeface="Calibri" panose="020F0502020204030204" charset="0"/>
                  <a:cs typeface="Calibri" panose="020F0502020204030204" charset="0"/>
                </a:rPr>
                <a:t>0</a:t>
              </a:r>
            </a:p>
          </p:txBody>
        </p:sp>
        <p:cxnSp>
          <p:nvCxnSpPr>
            <p:cNvPr id="7" name="Straight Arrow Connector 6"/>
            <p:cNvCxnSpPr>
              <a:stCxn id="6" idx="3"/>
            </p:cNvCxnSpPr>
            <p:nvPr/>
          </p:nvCxnSpPr>
          <p:spPr bwMode="auto">
            <a:xfrm flipV="1">
              <a:off x="1161681" y="3842955"/>
              <a:ext cx="880710" cy="779024"/>
            </a:xfrm>
            <a:prstGeom prst="straightConnector1">
              <a:avLst/>
            </a:prstGeom>
            <a:solidFill>
              <a:schemeClr val="accent1"/>
            </a:solidFill>
            <a:ln w="25400" cap="flat" cmpd="sng" algn="ctr">
              <a:solidFill>
                <a:srgbClr val="000000"/>
              </a:solidFill>
              <a:prstDash val="solid"/>
              <a:round/>
              <a:headEnd type="none" w="med" len="med"/>
              <a:tailEnd type="arrow"/>
            </a:ln>
            <a:effectLst/>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0964" name="Rectangle 4"/>
          <p:cNvSpPr>
            <a:spLocks noGrp="1" noChangeArrowheads="1"/>
          </p:cNvSpPr>
          <p:nvPr/>
        </p:nvSpPr>
        <p:spPr>
          <a:xfrm>
            <a:off x="-76200" y="675640"/>
            <a:ext cx="8382000" cy="863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marL="0" indent="0">
              <a:buNone/>
            </a:pPr>
            <a:endParaRPr lang="zh-CN" altLang="en-US" sz="3200"/>
          </a:p>
          <a:p>
            <a:pPr marL="552450" lvl="1">
              <a:buClr>
                <a:srgbClr val="0D0D0D"/>
              </a:buClr>
            </a:pPr>
            <a:r>
              <a:rPr lang="en-US" sz="2800"/>
              <a:t>根据条件码跳转到代码的不同部分</a:t>
            </a:r>
          </a:p>
        </p:txBody>
      </p:sp>
      <p:pic>
        <p:nvPicPr>
          <p:cNvPr id="2" name="图片 1"/>
          <p:cNvPicPr>
            <a:picLocks noChangeAspect="1"/>
          </p:cNvPicPr>
          <p:nvPr/>
        </p:nvPicPr>
        <p:blipFill>
          <a:blip r:embed="rId2"/>
          <a:stretch>
            <a:fillRect/>
          </a:stretch>
        </p:blipFill>
        <p:spPr>
          <a:xfrm>
            <a:off x="57150" y="1690370"/>
            <a:ext cx="6743065" cy="4333240"/>
          </a:xfrm>
          <a:prstGeom prst="rect">
            <a:avLst/>
          </a:prstGeom>
        </p:spPr>
      </p:pic>
      <p:grpSp>
        <p:nvGrpSpPr>
          <p:cNvPr id="22" name="组合 21"/>
          <p:cNvGrpSpPr/>
          <p:nvPr/>
        </p:nvGrpSpPr>
        <p:grpSpPr>
          <a:xfrm>
            <a:off x="-158749" y="5452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5868239" y="-7839"/>
            <a:ext cx="1706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跳转指令</a:t>
            </a:r>
            <a:endPar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endParaRPr>
          </a:p>
        </p:txBody>
      </p:sp>
      <p:sp>
        <p:nvSpPr>
          <p:cNvPr id="2050" name=" 2050"/>
          <p:cNvSpPr/>
          <p:nvPr/>
        </p:nvSpPr>
        <p:spPr bwMode="auto">
          <a:xfrm>
            <a:off x="6800215" y="4895850"/>
            <a:ext cx="2263140" cy="1856105"/>
          </a:xfrm>
          <a:custGeom>
            <a:avLst/>
            <a:gdLst/>
            <a:ahLst/>
            <a:cxnLst/>
            <a:rect l="0" t="0" r="r" b="b"/>
            <a:pathLst>
              <a:path w="4999037" h="4260141">
                <a:moveTo>
                  <a:pt x="1900345" y="3557911"/>
                </a:moveTo>
                <a:lnTo>
                  <a:pt x="3097730" y="3557911"/>
                </a:lnTo>
                <a:lnTo>
                  <a:pt x="3102535" y="3590573"/>
                </a:lnTo>
                <a:lnTo>
                  <a:pt x="3107340" y="3623235"/>
                </a:lnTo>
                <a:lnTo>
                  <a:pt x="3113106" y="3656858"/>
                </a:lnTo>
                <a:lnTo>
                  <a:pt x="3119833" y="3691441"/>
                </a:lnTo>
                <a:lnTo>
                  <a:pt x="3126560" y="3717378"/>
                </a:lnTo>
                <a:lnTo>
                  <a:pt x="3134248" y="3744276"/>
                </a:lnTo>
                <a:lnTo>
                  <a:pt x="3140975" y="3769253"/>
                </a:lnTo>
                <a:lnTo>
                  <a:pt x="3148663" y="3795190"/>
                </a:lnTo>
                <a:lnTo>
                  <a:pt x="3158272" y="3821127"/>
                </a:lnTo>
                <a:lnTo>
                  <a:pt x="3166921" y="3846104"/>
                </a:lnTo>
                <a:lnTo>
                  <a:pt x="3177492" y="3871081"/>
                </a:lnTo>
                <a:lnTo>
                  <a:pt x="3189024" y="3895097"/>
                </a:lnTo>
                <a:lnTo>
                  <a:pt x="3200556" y="3919113"/>
                </a:lnTo>
                <a:lnTo>
                  <a:pt x="3213048" y="3941208"/>
                </a:lnTo>
                <a:lnTo>
                  <a:pt x="3226502" y="3964263"/>
                </a:lnTo>
                <a:lnTo>
                  <a:pt x="3240917" y="3984437"/>
                </a:lnTo>
                <a:lnTo>
                  <a:pt x="3256293" y="4004610"/>
                </a:lnTo>
                <a:lnTo>
                  <a:pt x="3271668" y="4024784"/>
                </a:lnTo>
                <a:lnTo>
                  <a:pt x="3288966" y="4042075"/>
                </a:lnTo>
                <a:lnTo>
                  <a:pt x="3306264" y="4058406"/>
                </a:lnTo>
                <a:lnTo>
                  <a:pt x="3318757" y="4069934"/>
                </a:lnTo>
                <a:lnTo>
                  <a:pt x="3331249" y="4079540"/>
                </a:lnTo>
                <a:lnTo>
                  <a:pt x="3344703" y="4089147"/>
                </a:lnTo>
                <a:lnTo>
                  <a:pt x="3358157" y="4097793"/>
                </a:lnTo>
                <a:lnTo>
                  <a:pt x="3372572" y="4106438"/>
                </a:lnTo>
                <a:lnTo>
                  <a:pt x="3386026" y="4114123"/>
                </a:lnTo>
                <a:lnTo>
                  <a:pt x="3402362" y="4121809"/>
                </a:lnTo>
                <a:lnTo>
                  <a:pt x="3417738" y="4127573"/>
                </a:lnTo>
                <a:lnTo>
                  <a:pt x="3433114" y="4133336"/>
                </a:lnTo>
                <a:lnTo>
                  <a:pt x="3450411" y="4138140"/>
                </a:lnTo>
                <a:lnTo>
                  <a:pt x="3467709" y="4142943"/>
                </a:lnTo>
                <a:lnTo>
                  <a:pt x="3485007" y="4145825"/>
                </a:lnTo>
                <a:lnTo>
                  <a:pt x="3504227" y="4148707"/>
                </a:lnTo>
                <a:lnTo>
                  <a:pt x="3523446" y="4151589"/>
                </a:lnTo>
                <a:lnTo>
                  <a:pt x="3543627" y="4152549"/>
                </a:lnTo>
                <a:lnTo>
                  <a:pt x="3564769" y="4152549"/>
                </a:lnTo>
                <a:lnTo>
                  <a:pt x="3564769" y="4260141"/>
                </a:lnTo>
                <a:lnTo>
                  <a:pt x="1434268" y="4260141"/>
                </a:lnTo>
                <a:lnTo>
                  <a:pt x="1434268" y="4152549"/>
                </a:lnTo>
                <a:lnTo>
                  <a:pt x="1455409" y="4152549"/>
                </a:lnTo>
                <a:lnTo>
                  <a:pt x="1474629" y="4151589"/>
                </a:lnTo>
                <a:lnTo>
                  <a:pt x="1493849" y="4148707"/>
                </a:lnTo>
                <a:lnTo>
                  <a:pt x="1513068" y="4145825"/>
                </a:lnTo>
                <a:lnTo>
                  <a:pt x="1530366" y="4142943"/>
                </a:lnTo>
                <a:lnTo>
                  <a:pt x="1547664" y="4138140"/>
                </a:lnTo>
                <a:lnTo>
                  <a:pt x="1564962" y="4133336"/>
                </a:lnTo>
                <a:lnTo>
                  <a:pt x="1581298" y="4127573"/>
                </a:lnTo>
                <a:lnTo>
                  <a:pt x="1596674" y="4121809"/>
                </a:lnTo>
                <a:lnTo>
                  <a:pt x="1612050" y="4114123"/>
                </a:lnTo>
                <a:lnTo>
                  <a:pt x="1626465" y="4106438"/>
                </a:lnTo>
                <a:lnTo>
                  <a:pt x="1639918" y="4097793"/>
                </a:lnTo>
                <a:lnTo>
                  <a:pt x="1653372" y="4089147"/>
                </a:lnTo>
                <a:lnTo>
                  <a:pt x="1666826" y="4079540"/>
                </a:lnTo>
                <a:lnTo>
                  <a:pt x="1679319" y="4069934"/>
                </a:lnTo>
                <a:lnTo>
                  <a:pt x="1691811" y="4058406"/>
                </a:lnTo>
                <a:lnTo>
                  <a:pt x="1703343" y="4047839"/>
                </a:lnTo>
                <a:lnTo>
                  <a:pt x="1715836" y="4036311"/>
                </a:lnTo>
                <a:lnTo>
                  <a:pt x="1726407" y="4024784"/>
                </a:lnTo>
                <a:lnTo>
                  <a:pt x="1736978" y="4012295"/>
                </a:lnTo>
                <a:lnTo>
                  <a:pt x="1757158" y="3985397"/>
                </a:lnTo>
                <a:lnTo>
                  <a:pt x="1776378" y="3956578"/>
                </a:lnTo>
                <a:lnTo>
                  <a:pt x="1793676" y="3926798"/>
                </a:lnTo>
                <a:lnTo>
                  <a:pt x="1809052" y="3895097"/>
                </a:lnTo>
                <a:lnTo>
                  <a:pt x="1824427" y="3863396"/>
                </a:lnTo>
                <a:lnTo>
                  <a:pt x="1837881" y="3829773"/>
                </a:lnTo>
                <a:lnTo>
                  <a:pt x="1849413" y="3795190"/>
                </a:lnTo>
                <a:lnTo>
                  <a:pt x="1859984" y="3761568"/>
                </a:lnTo>
                <a:lnTo>
                  <a:pt x="1868632" y="3726984"/>
                </a:lnTo>
                <a:lnTo>
                  <a:pt x="1878242" y="3692401"/>
                </a:lnTo>
                <a:lnTo>
                  <a:pt x="1884969" y="3657818"/>
                </a:lnTo>
                <a:lnTo>
                  <a:pt x="1890735" y="3623235"/>
                </a:lnTo>
                <a:lnTo>
                  <a:pt x="1896501" y="3590573"/>
                </a:lnTo>
                <a:lnTo>
                  <a:pt x="1900345" y="3557911"/>
                </a:lnTo>
                <a:close/>
                <a:moveTo>
                  <a:pt x="344993" y="345832"/>
                </a:moveTo>
                <a:lnTo>
                  <a:pt x="344993" y="3036592"/>
                </a:lnTo>
                <a:lnTo>
                  <a:pt x="4655005" y="3036592"/>
                </a:lnTo>
                <a:lnTo>
                  <a:pt x="4655005" y="345832"/>
                </a:lnTo>
                <a:lnTo>
                  <a:pt x="344993" y="345832"/>
                </a:lnTo>
                <a:close/>
                <a:moveTo>
                  <a:pt x="142226" y="0"/>
                </a:moveTo>
                <a:lnTo>
                  <a:pt x="4857773" y="0"/>
                </a:lnTo>
                <a:lnTo>
                  <a:pt x="4872187" y="961"/>
                </a:lnTo>
                <a:lnTo>
                  <a:pt x="4885641" y="2882"/>
                </a:lnTo>
                <a:lnTo>
                  <a:pt x="4899095" y="6725"/>
                </a:lnTo>
                <a:lnTo>
                  <a:pt x="4913510" y="10567"/>
                </a:lnTo>
                <a:lnTo>
                  <a:pt x="4925042" y="17292"/>
                </a:lnTo>
                <a:lnTo>
                  <a:pt x="4936573" y="24016"/>
                </a:lnTo>
                <a:lnTo>
                  <a:pt x="4947144" y="32662"/>
                </a:lnTo>
                <a:lnTo>
                  <a:pt x="4957715" y="42268"/>
                </a:lnTo>
                <a:lnTo>
                  <a:pt x="4967325" y="51875"/>
                </a:lnTo>
                <a:lnTo>
                  <a:pt x="4975974" y="62442"/>
                </a:lnTo>
                <a:lnTo>
                  <a:pt x="4982701" y="73970"/>
                </a:lnTo>
                <a:lnTo>
                  <a:pt x="4988466" y="87419"/>
                </a:lnTo>
                <a:lnTo>
                  <a:pt x="4993271" y="99907"/>
                </a:lnTo>
                <a:lnTo>
                  <a:pt x="4996154" y="113356"/>
                </a:lnTo>
                <a:lnTo>
                  <a:pt x="4999037" y="127766"/>
                </a:lnTo>
                <a:lnTo>
                  <a:pt x="4999037" y="142175"/>
                </a:lnTo>
                <a:lnTo>
                  <a:pt x="4999037" y="3238327"/>
                </a:lnTo>
                <a:lnTo>
                  <a:pt x="4999037" y="3253697"/>
                </a:lnTo>
                <a:lnTo>
                  <a:pt x="4996154" y="3268106"/>
                </a:lnTo>
                <a:lnTo>
                  <a:pt x="4993271" y="3281555"/>
                </a:lnTo>
                <a:lnTo>
                  <a:pt x="4988466" y="3295004"/>
                </a:lnTo>
                <a:lnTo>
                  <a:pt x="4982701" y="3307493"/>
                </a:lnTo>
                <a:lnTo>
                  <a:pt x="4975974" y="3319021"/>
                </a:lnTo>
                <a:lnTo>
                  <a:pt x="4967325" y="3329588"/>
                </a:lnTo>
                <a:lnTo>
                  <a:pt x="4957715" y="3339194"/>
                </a:lnTo>
                <a:lnTo>
                  <a:pt x="4947144" y="3349761"/>
                </a:lnTo>
                <a:lnTo>
                  <a:pt x="4936573" y="3357446"/>
                </a:lnTo>
                <a:lnTo>
                  <a:pt x="4925042" y="3364171"/>
                </a:lnTo>
                <a:lnTo>
                  <a:pt x="4913510" y="3369935"/>
                </a:lnTo>
                <a:lnTo>
                  <a:pt x="4899095" y="3374738"/>
                </a:lnTo>
                <a:lnTo>
                  <a:pt x="4885641" y="3378580"/>
                </a:lnTo>
                <a:lnTo>
                  <a:pt x="4872187" y="3380502"/>
                </a:lnTo>
                <a:lnTo>
                  <a:pt x="4857773" y="3381462"/>
                </a:lnTo>
                <a:lnTo>
                  <a:pt x="142226" y="3381462"/>
                </a:lnTo>
                <a:lnTo>
                  <a:pt x="127811" y="3380502"/>
                </a:lnTo>
                <a:lnTo>
                  <a:pt x="113396" y="3378580"/>
                </a:lnTo>
                <a:lnTo>
                  <a:pt x="99942" y="3374738"/>
                </a:lnTo>
                <a:lnTo>
                  <a:pt x="86489" y="3369935"/>
                </a:lnTo>
                <a:lnTo>
                  <a:pt x="73996" y="3364171"/>
                </a:lnTo>
                <a:lnTo>
                  <a:pt x="62464" y="3357446"/>
                </a:lnTo>
                <a:lnTo>
                  <a:pt x="51893" y="3349761"/>
                </a:lnTo>
                <a:lnTo>
                  <a:pt x="42283" y="3339194"/>
                </a:lnTo>
                <a:lnTo>
                  <a:pt x="31713" y="3329588"/>
                </a:lnTo>
                <a:lnTo>
                  <a:pt x="24025" y="3319021"/>
                </a:lnTo>
                <a:lnTo>
                  <a:pt x="17298" y="3307493"/>
                </a:lnTo>
                <a:lnTo>
                  <a:pt x="11532" y="3295004"/>
                </a:lnTo>
                <a:lnTo>
                  <a:pt x="6727" y="3281555"/>
                </a:lnTo>
                <a:lnTo>
                  <a:pt x="2883" y="3268106"/>
                </a:lnTo>
                <a:lnTo>
                  <a:pt x="961" y="3253697"/>
                </a:lnTo>
                <a:lnTo>
                  <a:pt x="0" y="3238327"/>
                </a:lnTo>
                <a:lnTo>
                  <a:pt x="0" y="142175"/>
                </a:lnTo>
                <a:lnTo>
                  <a:pt x="961" y="127766"/>
                </a:lnTo>
                <a:lnTo>
                  <a:pt x="2883" y="113356"/>
                </a:lnTo>
                <a:lnTo>
                  <a:pt x="6727" y="99907"/>
                </a:lnTo>
                <a:lnTo>
                  <a:pt x="11532" y="87419"/>
                </a:lnTo>
                <a:lnTo>
                  <a:pt x="17298" y="73970"/>
                </a:lnTo>
                <a:lnTo>
                  <a:pt x="24025" y="62442"/>
                </a:lnTo>
                <a:lnTo>
                  <a:pt x="31713" y="51875"/>
                </a:lnTo>
                <a:lnTo>
                  <a:pt x="42283" y="42268"/>
                </a:lnTo>
                <a:lnTo>
                  <a:pt x="51893" y="32662"/>
                </a:lnTo>
                <a:lnTo>
                  <a:pt x="62464" y="24016"/>
                </a:lnTo>
                <a:lnTo>
                  <a:pt x="73996" y="17292"/>
                </a:lnTo>
                <a:lnTo>
                  <a:pt x="86489" y="10567"/>
                </a:lnTo>
                <a:lnTo>
                  <a:pt x="99942" y="6725"/>
                </a:lnTo>
                <a:lnTo>
                  <a:pt x="113396" y="2882"/>
                </a:lnTo>
                <a:lnTo>
                  <a:pt x="127811" y="961"/>
                </a:lnTo>
                <a:lnTo>
                  <a:pt x="142226"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bIns="396000" anchor="ctr">
            <a:scene3d>
              <a:camera prst="orthographicFront"/>
              <a:lightRig rig="threePt" dir="t"/>
            </a:scene3d>
            <a:sp3d>
              <a:contourClr>
                <a:srgbClr val="FFFFFF"/>
              </a:contourClr>
            </a:sp3d>
          </a:bodyPr>
          <a:lstStyle/>
          <a:p>
            <a:pPr marL="285750" indent="-285750" algn="ctr">
              <a:buFont typeface="Wingdings" panose="05000000000000000000" charset="0"/>
              <a:buChar char=""/>
              <a:defRPr/>
            </a:pPr>
            <a:r>
              <a:rPr lang="zh-CN" altLang="en-US" dirty="0">
                <a:solidFill>
                  <a:schemeClr val="tx1"/>
                </a:solidFill>
              </a:rPr>
              <a:t>一些底层的机器指令有多个名字。</a:t>
            </a:r>
          </a:p>
          <a:p>
            <a:pPr marL="285750" indent="-285750" algn="ctr">
              <a:buFont typeface="Wingdings" panose="05000000000000000000" charset="0"/>
              <a:buChar char=""/>
              <a:defRPr/>
            </a:pPr>
            <a:r>
              <a:rPr lang="zh-CN" altLang="en-US" dirty="0">
                <a:solidFill>
                  <a:schemeClr val="tx1"/>
                </a:solidFill>
              </a:rPr>
              <a:t>条件跳转只能是直接跳转。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0964">
                                            <p:txEl>
                                              <p:pRg st="1" end="1"/>
                                            </p:txEl>
                                          </p:spTgt>
                                        </p:tgtEl>
                                        <p:attrNameLst>
                                          <p:attrName>style.visibility</p:attrName>
                                        </p:attrNameLst>
                                      </p:cBhvr>
                                      <p:to>
                                        <p:strVal val="visible"/>
                                      </p:to>
                                    </p:set>
                                    <p:animEffect transition="in" filter="wipe(down)">
                                      <p:cBhvr>
                                        <p:cTn id="22" dur="500"/>
                                        <p:tgtEl>
                                          <p:spTgt spid="4096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050"/>
                                        </p:tgtEl>
                                        <p:attrNameLst>
                                          <p:attrName>style.visibility</p:attrName>
                                        </p:attrNameLst>
                                      </p:cBhvr>
                                      <p:to>
                                        <p:strVal val="visible"/>
                                      </p:to>
                                    </p:set>
                                    <p:animEffect transition="in" filter="wipe(down)">
                                      <p:cBhvr>
                                        <p:cTn id="32" dur="500"/>
                                        <p:tgtEl>
                                          <p:spTgt spid="2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205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5452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5715839" y="-7839"/>
            <a:ext cx="3230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条件控制分支跳转</a:t>
            </a:r>
          </a:p>
        </p:txBody>
      </p:sp>
      <p:sp>
        <p:nvSpPr>
          <p:cNvPr id="43012" name="Rectangle 4"/>
          <p:cNvSpPr/>
          <p:nvPr/>
        </p:nvSpPr>
        <p:spPr bwMode="auto">
          <a:xfrm>
            <a:off x="257810" y="1564005"/>
            <a:ext cx="3670300" cy="29464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absdiff</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x, long y)</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result;</a:t>
            </a:r>
          </a:p>
          <a:p>
            <a:pPr algn="l"/>
            <a:r>
              <a:rPr lang="en-US" sz="1800" b="1" dirty="0">
                <a:solidFill>
                  <a:schemeClr val="tx1"/>
                </a:solidFill>
                <a:latin typeface="Courier New" panose="02070309020205020404" charset="0"/>
                <a:cs typeface="Courier New" panose="02070309020205020404" charset="0"/>
                <a:sym typeface="Courier New Bold" charset="0"/>
              </a:rPr>
              <a:t>  if (x &gt; y)</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0000FF"/>
                </a:solidFill>
                <a:latin typeface="Courier New" panose="02070309020205020404" charset="0"/>
                <a:cs typeface="Courier New" panose="02070309020205020404" charset="0"/>
                <a:sym typeface="Courier New Bold" charset="0"/>
              </a:rPr>
              <a:t>result = x-y;</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C0000"/>
                </a:solidFill>
                <a:latin typeface="Courier New" panose="02070309020205020404" charset="0"/>
                <a:cs typeface="Courier New" panose="02070309020205020404" charset="0"/>
                <a:sym typeface="Courier New Bold" charset="0"/>
              </a:rPr>
              <a:t>result = y-x;</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43013" name="Rectangle 5"/>
          <p:cNvSpPr/>
          <p:nvPr/>
        </p:nvSpPr>
        <p:spPr bwMode="auto">
          <a:xfrm>
            <a:off x="4431665" y="1564005"/>
            <a:ext cx="4394200" cy="4813300"/>
          </a:xfrm>
          <a:prstGeom prst="rect">
            <a:avLst/>
          </a:prstGeom>
          <a:noFill/>
          <a:ln w="12700" cap="flat">
            <a:noFill/>
            <a:miter lim="800000"/>
            <a:headEnd type="none" w="med" len="med"/>
            <a:tailEnd type="none" w="med" len="med"/>
          </a:ln>
        </p:spPr>
        <p:txBody>
          <a:bodyPr lIns="38100" tIns="38100" rIns="38100" bIns="38100"/>
          <a:lstStyle/>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err="1">
                <a:solidFill>
                  <a:schemeClr val="tx1"/>
                </a:solidFill>
                <a:latin typeface="Courier New" panose="02070309020205020404" charset="0"/>
                <a:ea typeface="Monaco" charset="0"/>
                <a:cs typeface="Courier New" panose="02070309020205020404" charset="0"/>
                <a:sym typeface="Monaco" charset="0"/>
              </a:rPr>
              <a:t>absdiff</a:t>
            </a:r>
            <a:r>
              <a:rPr lang="en-US" sz="1800" b="1" dirty="0">
                <a:solidFill>
                  <a:schemeClr val="tx1"/>
                </a:solidFill>
                <a:latin typeface="Courier New" panose="02070309020205020404" charset="0"/>
                <a:ea typeface="Monaco" charset="0"/>
                <a:cs typeface="Courier New" panose="02070309020205020404" charset="0"/>
                <a:sym typeface="Monaco" charset="0"/>
              </a:rPr>
              <a:t>:</a:t>
            </a:r>
            <a:endParaRPr lang="en-US" b="1" dirty="0">
              <a:solidFill>
                <a:schemeClr val="tx1"/>
              </a:solidFill>
              <a:latin typeface="Courier New" panose="02070309020205020404" charset="0"/>
              <a:ea typeface="Monaco" charset="0"/>
              <a:cs typeface="Courier New" panose="02070309020205020404" charset="0"/>
              <a:sym typeface="Monaco" charset="0"/>
            </a:endParaRP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   </a:t>
            </a:r>
            <a:r>
              <a:rPr lang="en-US" sz="1800" b="1" dirty="0" err="1">
                <a:solidFill>
                  <a:schemeClr val="tx1"/>
                </a:solidFill>
                <a:latin typeface="Courier New" panose="02070309020205020404" charset="0"/>
                <a:ea typeface="Monaco" charset="0"/>
                <a:cs typeface="Courier New" panose="02070309020205020404" charset="0"/>
                <a:sym typeface="Monaco" charset="0"/>
              </a:rPr>
              <a:t>cmpq</a:t>
            </a:r>
            <a:r>
              <a:rPr lang="en-US" sz="1800" b="1" dirty="0">
                <a:solidFill>
                  <a:schemeClr val="tx1"/>
                </a:solidFill>
                <a:latin typeface="Courier New" panose="02070309020205020404" charset="0"/>
                <a:ea typeface="Monaco" charset="0"/>
                <a:cs typeface="Courier New" panose="02070309020205020404" charset="0"/>
                <a:sym typeface="Monaco" charset="0"/>
              </a:rPr>
              <a:t>    %</a:t>
            </a:r>
            <a:r>
              <a:rPr lang="en-US" sz="1800" b="1" dirty="0" err="1">
                <a:solidFill>
                  <a:schemeClr val="tx1"/>
                </a:solidFill>
                <a:latin typeface="Courier New" panose="02070309020205020404" charset="0"/>
                <a:ea typeface="Monaco" charset="0"/>
                <a:cs typeface="Courier New" panose="02070309020205020404" charset="0"/>
                <a:sym typeface="Monaco" charset="0"/>
              </a:rPr>
              <a:t>rsi</a:t>
            </a:r>
            <a:r>
              <a:rPr lang="en-US" sz="1800" b="1" dirty="0">
                <a:solidFill>
                  <a:schemeClr val="tx1"/>
                </a:solidFill>
                <a:latin typeface="Courier New" panose="02070309020205020404" charset="0"/>
                <a:ea typeface="Monaco" charset="0"/>
                <a:cs typeface="Courier New" panose="02070309020205020404" charset="0"/>
                <a:sym typeface="Monaco" charset="0"/>
              </a:rPr>
              <a:t>, %</a:t>
            </a:r>
            <a:r>
              <a:rPr lang="en-US" sz="1800" b="1" dirty="0" err="1">
                <a:solidFill>
                  <a:schemeClr val="tx1"/>
                </a:solidFill>
                <a:latin typeface="Courier New" panose="02070309020205020404" charset="0"/>
                <a:ea typeface="Monaco" charset="0"/>
                <a:cs typeface="Courier New" panose="02070309020205020404" charset="0"/>
                <a:sym typeface="Monaco" charset="0"/>
              </a:rPr>
              <a:t>rdi</a:t>
            </a:r>
            <a:r>
              <a:rPr lang="en-US" sz="1800" b="1" dirty="0">
                <a:solidFill>
                  <a:schemeClr val="tx1"/>
                </a:solidFill>
                <a:latin typeface="Courier New" panose="02070309020205020404" charset="0"/>
                <a:ea typeface="Monaco" charset="0"/>
                <a:cs typeface="Courier New" panose="02070309020205020404" charset="0"/>
                <a:sym typeface="Monaco" charset="0"/>
              </a:rPr>
              <a:t>  # </a:t>
            </a:r>
            <a:r>
              <a:rPr lang="en-US" sz="1800" b="1" dirty="0" err="1">
                <a:solidFill>
                  <a:schemeClr val="tx1"/>
                </a:solidFill>
                <a:latin typeface="Courier New" panose="02070309020205020404" charset="0"/>
                <a:ea typeface="Monaco" charset="0"/>
                <a:cs typeface="Courier New" panose="02070309020205020404" charset="0"/>
                <a:sym typeface="Monaco" charset="0"/>
              </a:rPr>
              <a:t>x:y</a:t>
            </a:r>
            <a:endParaRPr lang="en-US" sz="1800" b="1" dirty="0">
              <a:solidFill>
                <a:schemeClr val="tx1"/>
              </a:solidFill>
              <a:latin typeface="Courier New" panose="02070309020205020404" charset="0"/>
              <a:ea typeface="Monaco" charset="0"/>
              <a:cs typeface="Courier New" panose="02070309020205020404" charset="0"/>
              <a:sym typeface="Monaco" charset="0"/>
            </a:endParaRP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chemeClr val="tx1"/>
                </a:solidFill>
                <a:highlight>
                  <a:srgbClr val="FFFF00"/>
                </a:highlight>
                <a:latin typeface="Courier New" panose="02070309020205020404" charset="0"/>
                <a:ea typeface="Monaco" charset="0"/>
                <a:cs typeface="Courier New" panose="02070309020205020404" charset="0"/>
                <a:sym typeface="Monaco" charset="0"/>
              </a:rPr>
              <a:t>   </a:t>
            </a:r>
            <a:r>
              <a:rPr lang="en-US" sz="1800" b="1" dirty="0" err="1">
                <a:solidFill>
                  <a:schemeClr val="tx1"/>
                </a:solidFill>
                <a:highlight>
                  <a:srgbClr val="FFFF00"/>
                </a:highlight>
                <a:latin typeface="Courier New" panose="02070309020205020404" charset="0"/>
                <a:ea typeface="Monaco" charset="0"/>
                <a:cs typeface="Courier New" panose="02070309020205020404" charset="0"/>
                <a:sym typeface="Monaco" charset="0"/>
              </a:rPr>
              <a:t>jle</a:t>
            </a:r>
            <a:r>
              <a:rPr lang="en-US" sz="1800" b="1" dirty="0">
                <a:solidFill>
                  <a:schemeClr val="tx1"/>
                </a:solidFill>
                <a:highlight>
                  <a:srgbClr val="FFFF00"/>
                </a:highlight>
                <a:latin typeface="Courier New" panose="02070309020205020404" charset="0"/>
                <a:ea typeface="Monaco" charset="0"/>
                <a:cs typeface="Courier New" panose="02070309020205020404" charset="0"/>
                <a:sym typeface="Monaco" charset="0"/>
              </a:rPr>
              <a:t>     .L4</a:t>
            </a: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   </a:t>
            </a:r>
            <a:r>
              <a:rPr lang="en-US" sz="1800" b="1" dirty="0" err="1">
                <a:solidFill>
                  <a:srgbClr val="0000FF"/>
                </a:solidFill>
                <a:latin typeface="Courier New" panose="02070309020205020404" charset="0"/>
                <a:ea typeface="Monaco" charset="0"/>
                <a:cs typeface="Courier New" panose="02070309020205020404" charset="0"/>
                <a:sym typeface="Monaco" charset="0"/>
              </a:rPr>
              <a:t>movq</a:t>
            </a:r>
            <a:r>
              <a:rPr lang="en-US" sz="1800" b="1" dirty="0">
                <a:solidFill>
                  <a:srgbClr val="0000FF"/>
                </a:solidFill>
                <a:latin typeface="Courier New" panose="02070309020205020404" charset="0"/>
                <a:ea typeface="Monaco" charset="0"/>
                <a:cs typeface="Courier New" panose="02070309020205020404" charset="0"/>
                <a:sym typeface="Monaco" charset="0"/>
              </a:rPr>
              <a:t>    %</a:t>
            </a:r>
            <a:r>
              <a:rPr lang="en-US" sz="1800" b="1" dirty="0" err="1">
                <a:solidFill>
                  <a:srgbClr val="0000FF"/>
                </a:solidFill>
                <a:latin typeface="Courier New" panose="02070309020205020404" charset="0"/>
                <a:ea typeface="Monaco" charset="0"/>
                <a:cs typeface="Courier New" panose="02070309020205020404" charset="0"/>
                <a:sym typeface="Monaco" charset="0"/>
              </a:rPr>
              <a:t>rdi</a:t>
            </a:r>
            <a:r>
              <a:rPr lang="en-US" sz="1800" b="1" dirty="0">
                <a:solidFill>
                  <a:srgbClr val="0000FF"/>
                </a:solidFill>
                <a:latin typeface="Courier New" panose="02070309020205020404" charset="0"/>
                <a:ea typeface="Monaco" charset="0"/>
                <a:cs typeface="Courier New" panose="02070309020205020404" charset="0"/>
                <a:sym typeface="Monaco" charset="0"/>
              </a:rPr>
              <a:t>, %</a:t>
            </a:r>
            <a:r>
              <a:rPr lang="en-US" sz="1800" b="1" dirty="0" err="1">
                <a:solidFill>
                  <a:srgbClr val="0000FF"/>
                </a:solidFill>
                <a:latin typeface="Courier New" panose="02070309020205020404" charset="0"/>
                <a:ea typeface="Monaco" charset="0"/>
                <a:cs typeface="Courier New" panose="02070309020205020404" charset="0"/>
                <a:sym typeface="Monaco" charset="0"/>
              </a:rPr>
              <a:t>rax</a:t>
            </a:r>
            <a:endParaRPr lang="en-US" sz="1800" b="1" dirty="0">
              <a:solidFill>
                <a:srgbClr val="0000FF"/>
              </a:solidFill>
              <a:latin typeface="Courier New" panose="02070309020205020404" charset="0"/>
              <a:ea typeface="Monaco" charset="0"/>
              <a:cs typeface="Courier New" panose="02070309020205020404" charset="0"/>
              <a:sym typeface="Monaco" charset="0"/>
            </a:endParaRP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rgbClr val="0000FF"/>
                </a:solidFill>
                <a:latin typeface="Courier New" panose="02070309020205020404" charset="0"/>
                <a:ea typeface="Monaco" charset="0"/>
                <a:cs typeface="Courier New" panose="02070309020205020404" charset="0"/>
                <a:sym typeface="Monaco" charset="0"/>
              </a:rPr>
              <a:t>   </a:t>
            </a:r>
            <a:r>
              <a:rPr lang="en-US" sz="1800" b="1" dirty="0" err="1">
                <a:solidFill>
                  <a:srgbClr val="0000FF"/>
                </a:solidFill>
                <a:latin typeface="Courier New" panose="02070309020205020404" charset="0"/>
                <a:ea typeface="Monaco" charset="0"/>
                <a:cs typeface="Courier New" panose="02070309020205020404" charset="0"/>
                <a:sym typeface="Monaco" charset="0"/>
              </a:rPr>
              <a:t>subq</a:t>
            </a:r>
            <a:r>
              <a:rPr lang="en-US" sz="1800" b="1" dirty="0">
                <a:solidFill>
                  <a:srgbClr val="0000FF"/>
                </a:solidFill>
                <a:latin typeface="Courier New" panose="02070309020205020404" charset="0"/>
                <a:ea typeface="Monaco" charset="0"/>
                <a:cs typeface="Courier New" panose="02070309020205020404" charset="0"/>
                <a:sym typeface="Monaco" charset="0"/>
              </a:rPr>
              <a:t>    %</a:t>
            </a:r>
            <a:r>
              <a:rPr lang="en-US" sz="1800" b="1" dirty="0" err="1">
                <a:solidFill>
                  <a:srgbClr val="0000FF"/>
                </a:solidFill>
                <a:latin typeface="Courier New" panose="02070309020205020404" charset="0"/>
                <a:ea typeface="Monaco" charset="0"/>
                <a:cs typeface="Courier New" panose="02070309020205020404" charset="0"/>
                <a:sym typeface="Monaco" charset="0"/>
              </a:rPr>
              <a:t>rsi</a:t>
            </a:r>
            <a:r>
              <a:rPr lang="en-US" sz="1800" b="1" dirty="0">
                <a:solidFill>
                  <a:srgbClr val="0000FF"/>
                </a:solidFill>
                <a:latin typeface="Courier New" panose="02070309020205020404" charset="0"/>
                <a:ea typeface="Monaco" charset="0"/>
                <a:cs typeface="Courier New" panose="02070309020205020404" charset="0"/>
                <a:sym typeface="Monaco" charset="0"/>
              </a:rPr>
              <a:t>, %</a:t>
            </a:r>
            <a:r>
              <a:rPr lang="en-US" sz="1800" b="1" dirty="0" err="1">
                <a:solidFill>
                  <a:srgbClr val="0000FF"/>
                </a:solidFill>
                <a:latin typeface="Courier New" panose="02070309020205020404" charset="0"/>
                <a:ea typeface="Monaco" charset="0"/>
                <a:cs typeface="Courier New" panose="02070309020205020404" charset="0"/>
                <a:sym typeface="Monaco" charset="0"/>
              </a:rPr>
              <a:t>rax</a:t>
            </a:r>
            <a:endParaRPr lang="en-US" sz="1800" b="1" dirty="0">
              <a:solidFill>
                <a:srgbClr val="0000FF"/>
              </a:solidFill>
              <a:latin typeface="Courier New" panose="02070309020205020404" charset="0"/>
              <a:ea typeface="Monaco" charset="0"/>
              <a:cs typeface="Courier New" panose="02070309020205020404" charset="0"/>
              <a:sym typeface="Monaco" charset="0"/>
            </a:endParaRP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   ret</a:t>
            </a: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.L4:       # x &lt;= y</a:t>
            </a: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   </a:t>
            </a:r>
            <a:r>
              <a:rPr lang="en-US" sz="1800" b="1" dirty="0" err="1">
                <a:solidFill>
                  <a:srgbClr val="CC0000"/>
                </a:solidFill>
                <a:latin typeface="Courier New" panose="02070309020205020404" charset="0"/>
                <a:ea typeface="Monaco" charset="0"/>
                <a:cs typeface="Courier New" panose="02070309020205020404" charset="0"/>
                <a:sym typeface="Monaco" charset="0"/>
              </a:rPr>
              <a:t>movq</a:t>
            </a:r>
            <a:r>
              <a:rPr lang="en-US" sz="1800" b="1" dirty="0">
                <a:solidFill>
                  <a:srgbClr val="CC0000"/>
                </a:solidFill>
                <a:latin typeface="Courier New" panose="02070309020205020404" charset="0"/>
                <a:ea typeface="Monaco" charset="0"/>
                <a:cs typeface="Courier New" panose="02070309020205020404" charset="0"/>
                <a:sym typeface="Monaco" charset="0"/>
              </a:rPr>
              <a:t>    %</a:t>
            </a:r>
            <a:r>
              <a:rPr lang="en-US" sz="1800" b="1" dirty="0" err="1">
                <a:solidFill>
                  <a:srgbClr val="CC0000"/>
                </a:solidFill>
                <a:latin typeface="Courier New" panose="02070309020205020404" charset="0"/>
                <a:ea typeface="Monaco" charset="0"/>
                <a:cs typeface="Courier New" panose="02070309020205020404" charset="0"/>
                <a:sym typeface="Monaco" charset="0"/>
              </a:rPr>
              <a:t>rsi</a:t>
            </a:r>
            <a:r>
              <a:rPr lang="en-US" sz="1800" b="1" dirty="0">
                <a:solidFill>
                  <a:srgbClr val="CC0000"/>
                </a:solidFill>
                <a:latin typeface="Courier New" panose="02070309020205020404" charset="0"/>
                <a:ea typeface="Monaco" charset="0"/>
                <a:cs typeface="Courier New" panose="02070309020205020404" charset="0"/>
                <a:sym typeface="Monaco" charset="0"/>
              </a:rPr>
              <a:t>, %</a:t>
            </a:r>
            <a:r>
              <a:rPr lang="en-US" sz="1800" b="1" dirty="0" err="1">
                <a:solidFill>
                  <a:srgbClr val="CC0000"/>
                </a:solidFill>
                <a:latin typeface="Courier New" panose="02070309020205020404" charset="0"/>
                <a:ea typeface="Monaco" charset="0"/>
                <a:cs typeface="Courier New" panose="02070309020205020404" charset="0"/>
                <a:sym typeface="Monaco" charset="0"/>
              </a:rPr>
              <a:t>rax</a:t>
            </a:r>
            <a:endParaRPr lang="en-US" sz="1800" b="1" dirty="0">
              <a:solidFill>
                <a:srgbClr val="CC0000"/>
              </a:solidFill>
              <a:latin typeface="Courier New" panose="02070309020205020404" charset="0"/>
              <a:ea typeface="Monaco" charset="0"/>
              <a:cs typeface="Courier New" panose="02070309020205020404" charset="0"/>
              <a:sym typeface="Monaco" charset="0"/>
            </a:endParaRP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   </a:t>
            </a:r>
            <a:r>
              <a:rPr lang="en-US" sz="1800" b="1" dirty="0" err="1">
                <a:solidFill>
                  <a:srgbClr val="CC0000"/>
                </a:solidFill>
                <a:latin typeface="Courier New" panose="02070309020205020404" charset="0"/>
                <a:ea typeface="Monaco" charset="0"/>
                <a:cs typeface="Courier New" panose="02070309020205020404" charset="0"/>
                <a:sym typeface="Monaco" charset="0"/>
              </a:rPr>
              <a:t>subq</a:t>
            </a:r>
            <a:r>
              <a:rPr lang="en-US" sz="1800" b="1" dirty="0">
                <a:solidFill>
                  <a:srgbClr val="CC0000"/>
                </a:solidFill>
                <a:latin typeface="Courier New" panose="02070309020205020404" charset="0"/>
                <a:ea typeface="Monaco" charset="0"/>
                <a:cs typeface="Courier New" panose="02070309020205020404" charset="0"/>
                <a:sym typeface="Monaco" charset="0"/>
              </a:rPr>
              <a:t>    %</a:t>
            </a:r>
            <a:r>
              <a:rPr lang="en-US" sz="1800" b="1" dirty="0" err="1">
                <a:solidFill>
                  <a:srgbClr val="CC0000"/>
                </a:solidFill>
                <a:latin typeface="Courier New" panose="02070309020205020404" charset="0"/>
                <a:ea typeface="Monaco" charset="0"/>
                <a:cs typeface="Courier New" panose="02070309020205020404" charset="0"/>
                <a:sym typeface="Monaco" charset="0"/>
              </a:rPr>
              <a:t>rdi</a:t>
            </a:r>
            <a:r>
              <a:rPr lang="en-US" sz="1800" b="1" dirty="0">
                <a:solidFill>
                  <a:srgbClr val="CC0000"/>
                </a:solidFill>
                <a:latin typeface="Courier New" panose="02070309020205020404" charset="0"/>
                <a:ea typeface="Monaco" charset="0"/>
                <a:cs typeface="Courier New" panose="02070309020205020404" charset="0"/>
                <a:sym typeface="Monaco" charset="0"/>
              </a:rPr>
              <a:t>, %</a:t>
            </a:r>
            <a:r>
              <a:rPr lang="en-US" sz="1800" b="1" dirty="0" err="1">
                <a:solidFill>
                  <a:srgbClr val="CC0000"/>
                </a:solidFill>
                <a:latin typeface="Courier New" panose="02070309020205020404" charset="0"/>
                <a:ea typeface="Monaco" charset="0"/>
                <a:cs typeface="Courier New" panose="02070309020205020404" charset="0"/>
                <a:sym typeface="Monaco" charset="0"/>
              </a:rPr>
              <a:t>rax</a:t>
            </a:r>
            <a:endParaRPr lang="en-US" sz="1800" b="1" dirty="0">
              <a:solidFill>
                <a:srgbClr val="CC0000"/>
              </a:solidFill>
              <a:latin typeface="Courier New" panose="02070309020205020404" charset="0"/>
              <a:ea typeface="Monaco" charset="0"/>
              <a:cs typeface="Courier New" panose="02070309020205020404" charset="0"/>
              <a:sym typeface="Monaco" charset="0"/>
            </a:endParaRPr>
          </a:p>
          <a:p>
            <a:pPr algn="l">
              <a:tabLst>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 pos="1828800" algn="l"/>
                <a:tab pos="457200" algn="l"/>
                <a:tab pos="13716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   ret</a:t>
            </a:r>
          </a:p>
        </p:txBody>
      </p:sp>
      <p:graphicFrame>
        <p:nvGraphicFramePr>
          <p:cNvPr id="19" name="Table 17"/>
          <p:cNvGraphicFramePr>
            <a:graphicFrameLocks noGrp="1"/>
          </p:cNvGraphicFramePr>
          <p:nvPr/>
        </p:nvGraphicFramePr>
        <p:xfrm>
          <a:off x="4800600" y="4510405"/>
          <a:ext cx="3352800" cy="1524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00">
                <a:tc>
                  <a:txBody>
                    <a:bodyPr/>
                    <a:lstStyle/>
                    <a:p>
                      <a:r>
                        <a:rPr lang="zh-CN" altLang="en-US" dirty="0">
                          <a:latin typeface="Calibri" panose="020F0502020204030204"/>
                          <a:cs typeface="Calibri" panose="020F0502020204030204"/>
                        </a:rPr>
                        <a:t>寄存器</a:t>
                      </a:r>
                    </a:p>
                  </a:txBody>
                  <a:tcPr/>
                </a:tc>
                <a:tc>
                  <a:txBody>
                    <a:bodyPr/>
                    <a:lstStyle/>
                    <a:p>
                      <a:r>
                        <a:rPr lang="zh-CN" altLang="en-US" sz="1800" dirty="0">
                          <a:latin typeface="Calibri" panose="020F0502020204030204"/>
                          <a:cs typeface="Calibri" panose="020F0502020204030204"/>
                          <a:sym typeface="+mn-ea"/>
                        </a:rPr>
                        <a:t>用于</a:t>
                      </a:r>
                      <a:endParaRPr lang="en-US" dirty="0">
                        <a:latin typeface="Calibri" panose="020F0502020204030204"/>
                        <a:cs typeface="Calibri" panose="020F0502020204030204"/>
                      </a:endParaRP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r>
                        <a:rPr lang="en-US" dirty="0">
                          <a:latin typeface="Calibri" panose="020F0502020204030204"/>
                          <a:cs typeface="Calibri" panose="020F0502020204030204"/>
                        </a:rPr>
                        <a:t> </a:t>
                      </a:r>
                      <a:r>
                        <a:rPr lang="en-US" b="1" i="0" dirty="0">
                          <a:latin typeface="Courier New" panose="02070309020205020404"/>
                          <a:cs typeface="Courier New" panose="02070309020205020404"/>
                        </a:rPr>
                        <a:t>y</a:t>
                      </a:r>
                    </a:p>
                  </a:txBody>
                  <a:tcPr/>
                </a:tc>
                <a:extLst>
                  <a:ext uri="{0D108BD9-81ED-4DB2-BD59-A6C34878D82A}">
                    <a16:rowId xmlns:a16="http://schemas.microsoft.com/office/drawing/2014/main" val="10002"/>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altLang="en-US" b="1" i="0" dirty="0">
                          <a:latin typeface="Courier New" panose="02070309020205020404"/>
                          <a:cs typeface="Courier New" panose="02070309020205020404"/>
                        </a:rPr>
                        <a:t>返回结果值</a:t>
                      </a:r>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43012"/>
                                        </p:tgtEl>
                                        <p:attrNameLst>
                                          <p:attrName>style.visibility</p:attrName>
                                        </p:attrNameLst>
                                      </p:cBhvr>
                                      <p:to>
                                        <p:strVal val="visible"/>
                                      </p:to>
                                    </p:set>
                                    <p:animEffect transition="in" filter="wipe(down)">
                                      <p:cBhvr>
                                        <p:cTn id="22" dur="500"/>
                                        <p:tgtEl>
                                          <p:spTgt spid="4301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43013"/>
                                        </p:tgtEl>
                                        <p:attrNameLst>
                                          <p:attrName>style.visibility</p:attrName>
                                        </p:attrNameLst>
                                      </p:cBhvr>
                                      <p:to>
                                        <p:strVal val="visible"/>
                                      </p:to>
                                    </p:set>
                                    <p:anim calcmode="lin" valueType="num">
                                      <p:cBhvr additive="base">
                                        <p:cTn id="33" dur="500" fill="hold"/>
                                        <p:tgtEl>
                                          <p:spTgt spid="43013"/>
                                        </p:tgtEl>
                                        <p:attrNameLst>
                                          <p:attrName>ppt_x</p:attrName>
                                        </p:attrNameLst>
                                      </p:cBhvr>
                                      <p:tavLst>
                                        <p:tav tm="0">
                                          <p:val>
                                            <p:strVal val="#ppt_x"/>
                                          </p:val>
                                        </p:tav>
                                        <p:tav tm="100000">
                                          <p:val>
                                            <p:strVal val="#ppt_x"/>
                                          </p:val>
                                        </p:tav>
                                      </p:tavLst>
                                    </p:anim>
                                    <p:anim calcmode="lin" valueType="num">
                                      <p:cBhvr additive="base">
                                        <p:cTn id="34" dur="500" fill="hold"/>
                                        <p:tgtEl>
                                          <p:spTgt spid="430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3012" grpId="0" animBg="1"/>
      <p:bldP spid="4301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5452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5893639" y="-7839"/>
            <a:ext cx="171450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sym typeface="+mn-ea"/>
              </a:rPr>
              <a:t>Goto</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跳转</a:t>
            </a:r>
          </a:p>
        </p:txBody>
      </p:sp>
      <p:sp>
        <p:nvSpPr>
          <p:cNvPr id="43012" name="Rectangle 4"/>
          <p:cNvSpPr/>
          <p:nvPr/>
        </p:nvSpPr>
        <p:spPr bwMode="auto">
          <a:xfrm>
            <a:off x="257810" y="2998470"/>
            <a:ext cx="3670300" cy="29464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absdiff</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x, long y)</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result;</a:t>
            </a:r>
          </a:p>
          <a:p>
            <a:pPr algn="l"/>
            <a:r>
              <a:rPr lang="en-US" sz="1800" b="1" dirty="0">
                <a:solidFill>
                  <a:schemeClr val="tx1"/>
                </a:solidFill>
                <a:latin typeface="Courier New" panose="02070309020205020404" charset="0"/>
                <a:cs typeface="Courier New" panose="02070309020205020404" charset="0"/>
                <a:sym typeface="Courier New Bold" charset="0"/>
              </a:rPr>
              <a:t>  if (x &gt; y)</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0000FF"/>
                </a:solidFill>
                <a:latin typeface="Courier New" panose="02070309020205020404" charset="0"/>
                <a:cs typeface="Courier New" panose="02070309020205020404" charset="0"/>
                <a:sym typeface="Courier New Bold" charset="0"/>
              </a:rPr>
              <a:t>result = x-y;</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C0000"/>
                </a:solidFill>
                <a:latin typeface="Courier New" panose="02070309020205020404" charset="0"/>
                <a:cs typeface="Courier New" panose="02070309020205020404" charset="0"/>
                <a:sym typeface="Courier New Bold" charset="0"/>
              </a:rPr>
              <a:t>result = y-x;</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 name="Rectangle 4"/>
          <p:cNvSpPr/>
          <p:nvPr/>
        </p:nvSpPr>
        <p:spPr bwMode="auto">
          <a:xfrm>
            <a:off x="4799965" y="2211070"/>
            <a:ext cx="3657600" cy="37338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absdiff_j</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x, long y)</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result;</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int</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ntest</a:t>
            </a:r>
            <a:r>
              <a:rPr lang="en-US" sz="1800" b="1" dirty="0">
                <a:solidFill>
                  <a:schemeClr val="tx1"/>
                </a:solidFill>
                <a:latin typeface="Courier New" panose="02070309020205020404" charset="0"/>
                <a:cs typeface="Courier New" panose="02070309020205020404" charset="0"/>
                <a:sym typeface="Courier New Bold" charset="0"/>
              </a:rPr>
              <a:t> = x &lt;= y;</a:t>
            </a:r>
          </a:p>
          <a:p>
            <a:pPr algn="l"/>
            <a:r>
              <a:rPr lang="en-US" sz="1800" b="1" dirty="0">
                <a:solidFill>
                  <a:schemeClr val="tx1"/>
                </a:solidFill>
                <a:latin typeface="Courier New" panose="02070309020205020404" charset="0"/>
                <a:cs typeface="Courier New" panose="02070309020205020404" charset="0"/>
                <a:sym typeface="Courier New Bold" charset="0"/>
              </a:rPr>
              <a:t>    if (</a:t>
            </a:r>
            <a:r>
              <a:rPr lang="en-US" sz="1800" b="1" dirty="0" err="1">
                <a:solidFill>
                  <a:schemeClr val="tx1"/>
                </a:solidFill>
                <a:latin typeface="Courier New" panose="02070309020205020404" charset="0"/>
                <a:cs typeface="Courier New" panose="02070309020205020404" charset="0"/>
                <a:sym typeface="Courier New Bold" charset="0"/>
              </a:rPr>
              <a:t>ntest</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0000FF"/>
                </a:solidFill>
                <a:latin typeface="Courier New" panose="02070309020205020404" charset="0"/>
                <a:cs typeface="Courier New" panose="02070309020205020404" charset="0"/>
                <a:sym typeface="Courier New Bold" charset="0"/>
              </a:rPr>
              <a:t>result = x-y;</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Done;</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C0000"/>
                </a:solidFill>
                <a:latin typeface="Courier New" panose="02070309020205020404" charset="0"/>
                <a:cs typeface="Courier New" panose="02070309020205020404" charset="0"/>
                <a:sym typeface="Courier New Bold" charset="0"/>
              </a:rPr>
              <a:t>result = y-x;</a:t>
            </a:r>
          </a:p>
          <a:p>
            <a:pPr algn="l"/>
            <a:r>
              <a:rPr lang="en-US" sz="1800" b="1" dirty="0">
                <a:solidFill>
                  <a:schemeClr val="tx1"/>
                </a:solidFill>
                <a:latin typeface="Courier New" panose="02070309020205020404" charset="0"/>
                <a:cs typeface="Courier New" panose="02070309020205020404" charset="0"/>
                <a:sym typeface="Courier New Bold" charset="0"/>
              </a:rPr>
              <a:t> Done:</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1" name="Content Placeholder 1"/>
          <p:cNvSpPr>
            <a:spLocks noGrp="1"/>
          </p:cNvSpPr>
          <p:nvPr/>
        </p:nvSpPr>
        <p:spPr>
          <a:xfrm>
            <a:off x="151765" y="1221740"/>
            <a:ext cx="8153400" cy="1041400"/>
          </a:xfrm>
          <a:prstGeom prst="rect">
            <a:avLst/>
          </a:prstGeom>
        </p:spPr>
        <p:txBody>
          <a:bodyPr/>
          <a:lstStyle>
            <a:lvl1pPr marL="342900" indent="-342900" algn="l" rtl="0" fontAlgn="base">
              <a:spcBef>
                <a:spcPts val="600"/>
              </a:spcBef>
              <a:spcAft>
                <a:spcPct val="0"/>
              </a:spcAft>
              <a:buClr>
                <a:srgbClr val="990000"/>
              </a:buClr>
              <a:buSzPct val="60000"/>
              <a:buFont typeface="Wingdings 2" panose="05020102010507070707" pitchFamily="18"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7E7E7E"/>
              </a:buClr>
            </a:pPr>
            <a:r>
              <a:rPr lang="en-US" dirty="0"/>
              <a:t>C </a:t>
            </a:r>
            <a:r>
              <a:rPr lang="en-US"/>
              <a:t>允许跳转语句</a:t>
            </a:r>
          </a:p>
          <a:p>
            <a:pPr>
              <a:buClr>
                <a:srgbClr val="7E7E7E"/>
              </a:buClr>
            </a:pPr>
            <a:r>
              <a:rPr lang="en-US" dirty="0"/>
              <a:t>跳转到指定的标记位置</a:t>
            </a: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43012"/>
                                        </p:tgtEl>
                                        <p:attrNameLst>
                                          <p:attrName>style.visibility</p:attrName>
                                        </p:attrNameLst>
                                      </p:cBhvr>
                                      <p:to>
                                        <p:strVal val="visible"/>
                                      </p:to>
                                    </p:set>
                                    <p:anim calcmode="lin" valueType="num">
                                      <p:cBhvr additive="base">
                                        <p:cTn id="22" dur="500" fill="hold"/>
                                        <p:tgtEl>
                                          <p:spTgt spid="43012"/>
                                        </p:tgtEl>
                                        <p:attrNameLst>
                                          <p:attrName>ppt_x</p:attrName>
                                        </p:attrNameLst>
                                      </p:cBhvr>
                                      <p:tavLst>
                                        <p:tav tm="0">
                                          <p:val>
                                            <p:strVal val="#ppt_x"/>
                                          </p:val>
                                        </p:tav>
                                        <p:tav tm="100000">
                                          <p:val>
                                            <p:strVal val="#ppt_x"/>
                                          </p:val>
                                        </p:tav>
                                      </p:tavLst>
                                    </p:anim>
                                    <p:anim calcmode="lin" valueType="num">
                                      <p:cBhvr additive="base">
                                        <p:cTn id="23" dur="500" fill="hold"/>
                                        <p:tgtEl>
                                          <p:spTgt spid="43012"/>
                                        </p:tgtEl>
                                        <p:attrNameLst>
                                          <p:attrName>ppt_y</p:attrName>
                                        </p:attrNameLst>
                                      </p:cBhvr>
                                      <p:tavLst>
                                        <p:tav tm="0">
                                          <p:val>
                                            <p:strVal val="1+#ppt_h/2"/>
                                          </p:val>
                                        </p:tav>
                                        <p:tav tm="100000">
                                          <p:val>
                                            <p:strVal val="#ppt_y"/>
                                          </p:val>
                                        </p:tav>
                                      </p:tavLst>
                                    </p:anim>
                                  </p:childTnLst>
                                </p:cTn>
                              </p:par>
                              <p:par>
                                <p:cTn id="24" presetID="2" presetClass="entr" presetSubtype="4"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ppt_x"/>
                                          </p:val>
                                        </p:tav>
                                        <p:tav tm="100000">
                                          <p:val>
                                            <p:strVal val="#ppt_x"/>
                                          </p:val>
                                        </p:tav>
                                      </p:tavLst>
                                    </p:anim>
                                    <p:anim calcmode="lin" valueType="num">
                                      <p:cBhvr additive="base">
                                        <p:cTn id="2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43012" grpId="0" animBg="1"/>
      <p:bldP spid="2"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9155" name="Rectangle 3"/>
          <p:cNvSpPr/>
          <p:nvPr/>
        </p:nvSpPr>
        <p:spPr bwMode="auto">
          <a:xfrm>
            <a:off x="2761298" y="415290"/>
            <a:ext cx="29337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a:solidFill>
                  <a:schemeClr val="tx1"/>
                </a:solidFill>
                <a:latin typeface="Calibri Bold" charset="0"/>
                <a:ea typeface="Calibri Bold" charset="0"/>
                <a:cs typeface="Calibri Bold" charset="0"/>
                <a:sym typeface="Calibri Bold" charset="0"/>
              </a:rPr>
              <a:t>C </a:t>
            </a:r>
            <a:r>
              <a:rPr lang="zh-CN" altLang="en-US" sz="2400">
                <a:solidFill>
                  <a:schemeClr val="tx1"/>
                </a:solidFill>
                <a:latin typeface="Calibri Bold" charset="0"/>
                <a:ea typeface="宋体" panose="02010600030101010101" pitchFamily="2" charset="-122"/>
                <a:cs typeface="Calibri Bold" charset="0"/>
                <a:sym typeface="Calibri Bold" charset="0"/>
              </a:rPr>
              <a:t>代码</a:t>
            </a:r>
          </a:p>
        </p:txBody>
      </p:sp>
      <p:sp>
        <p:nvSpPr>
          <p:cNvPr id="49156" name="Rectangle 4"/>
          <p:cNvSpPr/>
          <p:nvPr/>
        </p:nvSpPr>
        <p:spPr bwMode="auto">
          <a:xfrm>
            <a:off x="2761615" y="859473"/>
            <a:ext cx="5715000" cy="4191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2000" b="1" dirty="0" err="1">
                <a:solidFill>
                  <a:schemeClr val="tx1"/>
                </a:solidFill>
                <a:latin typeface="Courier New" panose="02070309020205020404" charset="0"/>
                <a:cs typeface="Courier New" panose="02070309020205020404" charset="0"/>
                <a:sym typeface="Courier New Bold" charset="0"/>
              </a:rPr>
              <a:t>val</a:t>
            </a:r>
            <a:r>
              <a:rPr lang="en-US" sz="2000" b="1" dirty="0">
                <a:solidFill>
                  <a:schemeClr val="tx1"/>
                </a:solidFill>
                <a:latin typeface="Courier New" panose="02070309020205020404" charset="0"/>
                <a:cs typeface="Courier New" panose="02070309020205020404" charset="0"/>
                <a:sym typeface="Courier New Bold" charset="0"/>
              </a:rPr>
              <a:t> = </a:t>
            </a:r>
            <a:r>
              <a:rPr lang="en-US" sz="2000" b="1" i="1" dirty="0">
                <a:solidFill>
                  <a:schemeClr val="tx1"/>
                </a:solidFill>
                <a:latin typeface="Calibri" panose="020F0502020204030204"/>
                <a:ea typeface="Calibri Bold Italic" charset="0"/>
                <a:cs typeface="Calibri" panose="020F0502020204030204"/>
                <a:sym typeface="Calibri Bold Italic" charset="0"/>
              </a:rPr>
              <a:t>Test</a:t>
            </a:r>
            <a:r>
              <a:rPr lang="en-US" sz="2000" b="1" dirty="0">
                <a:solidFill>
                  <a:schemeClr val="tx1"/>
                </a:solidFill>
                <a:latin typeface="Courier New" panose="02070309020205020404" charset="0"/>
                <a:cs typeface="Courier New" panose="02070309020205020404" charset="0"/>
                <a:sym typeface="Courier New Bold" charset="0"/>
              </a:rPr>
              <a:t> ? </a:t>
            </a:r>
            <a:r>
              <a:rPr lang="en-US" sz="2000" b="1" i="1" dirty="0" err="1">
                <a:solidFill>
                  <a:schemeClr val="tx1"/>
                </a:solidFill>
                <a:latin typeface="Calibri" panose="020F0502020204030204"/>
                <a:ea typeface="Calibri Bold Italic" charset="0"/>
                <a:cs typeface="Calibri" panose="020F0502020204030204"/>
                <a:sym typeface="Calibri Bold Italic" charset="0"/>
              </a:rPr>
              <a:t>Then_Expr</a:t>
            </a:r>
            <a:r>
              <a:rPr lang="en-US" sz="2000" b="1" dirty="0">
                <a:solidFill>
                  <a:schemeClr val="tx1"/>
                </a:solidFill>
                <a:latin typeface="Courier New" panose="02070309020205020404" charset="0"/>
                <a:cs typeface="Courier New" panose="02070309020205020404" charset="0"/>
                <a:sym typeface="Courier New Bold" charset="0"/>
              </a:rPr>
              <a:t> : </a:t>
            </a:r>
            <a:r>
              <a:rPr lang="en-US" sz="2000" b="1" i="1" dirty="0" err="1">
                <a:solidFill>
                  <a:schemeClr val="tx1"/>
                </a:solidFill>
                <a:latin typeface="Calibri" panose="020F0502020204030204"/>
                <a:ea typeface="Calibri Bold Italic" charset="0"/>
                <a:cs typeface="Calibri" panose="020F0502020204030204"/>
                <a:sym typeface="Calibri Bold Italic" charset="0"/>
              </a:rPr>
              <a:t>Else_Expr</a:t>
            </a:r>
            <a:r>
              <a:rPr lang="en-US" sz="2000" b="1" dirty="0">
                <a:solidFill>
                  <a:schemeClr val="tx1"/>
                </a:solidFill>
                <a:latin typeface="Courier New" panose="02070309020205020404" charset="0"/>
                <a:cs typeface="Courier New" panose="02070309020205020404" charset="0"/>
                <a:sym typeface="Courier New Bold" charset="0"/>
              </a:rPr>
              <a:t>;</a:t>
            </a:r>
          </a:p>
        </p:txBody>
      </p:sp>
      <p:sp>
        <p:nvSpPr>
          <p:cNvPr id="49161" name="Rectangle 9"/>
          <p:cNvSpPr/>
          <p:nvPr/>
        </p:nvSpPr>
        <p:spPr bwMode="auto">
          <a:xfrm>
            <a:off x="2761615" y="1487170"/>
            <a:ext cx="3149600" cy="355600"/>
          </a:xfrm>
          <a:prstGeom prst="rect">
            <a:avLst/>
          </a:prstGeom>
          <a:solidFill>
            <a:srgbClr val="99CCF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tabLst>
                <a:tab pos="279400" algn="l"/>
              </a:tabLst>
            </a:pPr>
            <a:r>
              <a:rPr lang="en-US" sz="1800" b="1" dirty="0" err="1">
                <a:solidFill>
                  <a:schemeClr val="tx1"/>
                </a:solidFill>
                <a:latin typeface="Courier New" panose="02070309020205020404" charset="0"/>
                <a:cs typeface="Courier New" panose="02070309020205020404" charset="0"/>
                <a:sym typeface="Courier New Bold" charset="0"/>
              </a:rPr>
              <a:t>val</a:t>
            </a:r>
            <a:r>
              <a:rPr lang="en-US" sz="1800" b="1" dirty="0">
                <a:solidFill>
                  <a:schemeClr val="tx1"/>
                </a:solidFill>
                <a:latin typeface="Courier New" panose="02070309020205020404" charset="0"/>
                <a:cs typeface="Courier New" panose="02070309020205020404" charset="0"/>
                <a:sym typeface="Courier New Bold" charset="0"/>
              </a:rPr>
              <a:t> = x&gt;y ? x-y : y-x;</a:t>
            </a:r>
          </a:p>
        </p:txBody>
      </p:sp>
      <p:sp>
        <p:nvSpPr>
          <p:cNvPr id="49158" name="Rectangle 6"/>
          <p:cNvSpPr/>
          <p:nvPr/>
        </p:nvSpPr>
        <p:spPr bwMode="auto">
          <a:xfrm>
            <a:off x="2761615" y="3197225"/>
            <a:ext cx="3746500" cy="2355850"/>
          </a:xfrm>
          <a:prstGeom prst="rect">
            <a:avLst/>
          </a:prstGeom>
          <a:solidFill>
            <a:srgbClr val="D5F1C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tabLst>
                <a:tab pos="279400" algn="l"/>
                <a:tab pos="279400" algn="l"/>
                <a:tab pos="279400" algn="l"/>
                <a:tab pos="279400" algn="l"/>
                <a:tab pos="279400" algn="l"/>
                <a:tab pos="279400" algn="l"/>
                <a:tab pos="279400" algn="l"/>
                <a:tab pos="279400" algn="l"/>
              </a:tabLst>
            </a:pPr>
            <a:r>
              <a:rPr lang="en-US" sz="1800" b="1" dirty="0">
                <a:solidFill>
                  <a:schemeClr val="tx1"/>
                </a:solidFill>
                <a:latin typeface="Courier New" panose="02070309020205020404" charset="0"/>
                <a:ea typeface="Monaco" charset="0"/>
                <a:cs typeface="Courier New" panose="02070309020205020404" charset="0"/>
                <a:sym typeface="Courier New Bold" charset="0"/>
              </a:rPr>
              <a:t>	</a:t>
            </a:r>
            <a:r>
              <a:rPr lang="en-US" sz="1800" b="1" dirty="0" err="1">
                <a:solidFill>
                  <a:schemeClr val="tx1"/>
                </a:solidFill>
                <a:latin typeface="Courier New" panose="02070309020205020404" charset="0"/>
                <a:ea typeface="Monaco" charset="0"/>
                <a:cs typeface="Courier New" panose="02070309020205020404" charset="0"/>
                <a:sym typeface="Courier New Bold" charset="0"/>
              </a:rPr>
              <a:t>ntest</a:t>
            </a:r>
            <a:r>
              <a:rPr lang="en-US" sz="1800" b="1" dirty="0">
                <a:solidFill>
                  <a:schemeClr val="tx1"/>
                </a:solidFill>
                <a:latin typeface="Courier New" panose="02070309020205020404" charset="0"/>
                <a:ea typeface="Monaco" charset="0"/>
                <a:cs typeface="Courier New" panose="02070309020205020404" charset="0"/>
                <a:sym typeface="Courier New Bold" charset="0"/>
              </a:rPr>
              <a:t> = </a:t>
            </a:r>
            <a:r>
              <a:rPr lang="en-US" sz="1800" b="1" dirty="0">
                <a:solidFill>
                  <a:schemeClr val="tx1"/>
                </a:solidFill>
                <a:latin typeface="Courier New" panose="02070309020205020404" charset="0"/>
                <a:ea typeface="Calibri Bold Italic" charset="0"/>
                <a:cs typeface="Courier New" panose="02070309020205020404" charset="0"/>
                <a:sym typeface="Calibri Bold Italic" charset="0"/>
              </a:rPr>
              <a:t>!</a:t>
            </a:r>
            <a:r>
              <a:rPr lang="en-US" sz="1800" b="1" i="1" dirty="0">
                <a:solidFill>
                  <a:schemeClr val="tx1"/>
                </a:solidFill>
                <a:latin typeface="Calibri" panose="020F0502020204030204"/>
                <a:ea typeface="Calibri Bold Italic" charset="0"/>
                <a:cs typeface="Calibri" panose="020F0502020204030204"/>
                <a:sym typeface="Calibri Bold Italic" charset="0"/>
              </a:rPr>
              <a:t>Test</a:t>
            </a:r>
            <a:r>
              <a:rPr lang="en-US" sz="1800" b="1"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279400" algn="l"/>
                <a:tab pos="279400" algn="l"/>
                <a:tab pos="279400" algn="l"/>
                <a:tab pos="279400" algn="l"/>
                <a:tab pos="279400" algn="l"/>
                <a:tab pos="279400" algn="l"/>
                <a:tab pos="279400" algn="l"/>
                <a:tab pos="279400" algn="l"/>
              </a:tabLst>
            </a:pPr>
            <a:r>
              <a:rPr lang="en-US" sz="1800" b="1" dirty="0">
                <a:solidFill>
                  <a:schemeClr val="tx1"/>
                </a:solidFill>
                <a:latin typeface="Courier New" panose="02070309020205020404" charset="0"/>
                <a:ea typeface="Monaco" charset="0"/>
                <a:cs typeface="Courier New" panose="02070309020205020404" charset="0"/>
                <a:sym typeface="Courier New Bold" charset="0"/>
              </a:rPr>
              <a:t>	if (</a:t>
            </a:r>
            <a:r>
              <a:rPr lang="en-US" sz="1800" b="1" dirty="0" err="1">
                <a:solidFill>
                  <a:schemeClr val="tx1"/>
                </a:solidFill>
                <a:latin typeface="Courier New" panose="02070309020205020404" charset="0"/>
                <a:ea typeface="Monaco" charset="0"/>
                <a:cs typeface="Courier New" panose="02070309020205020404" charset="0"/>
                <a:sym typeface="Courier New Bold" charset="0"/>
              </a:rPr>
              <a:t>ntest</a:t>
            </a:r>
            <a:r>
              <a:rPr lang="en-US" sz="1800" b="1" dirty="0">
                <a:solidFill>
                  <a:schemeClr val="tx1"/>
                </a:solidFill>
                <a:latin typeface="Courier New" panose="02070309020205020404" charset="0"/>
                <a:ea typeface="Monaco" charset="0"/>
                <a:cs typeface="Courier New" panose="02070309020205020404" charset="0"/>
                <a:sym typeface="Courier New Bold" charset="0"/>
              </a:rPr>
              <a:t>) </a:t>
            </a:r>
            <a:r>
              <a:rPr lang="en-US" sz="1800" b="1" dirty="0" err="1">
                <a:solidFill>
                  <a:schemeClr val="tx1"/>
                </a:solidFill>
                <a:latin typeface="Courier New" panose="02070309020205020404" charset="0"/>
                <a:ea typeface="Monaco" charset="0"/>
                <a:cs typeface="Courier New" panose="02070309020205020404" charset="0"/>
                <a:sym typeface="Courier New Bold" charset="0"/>
              </a:rPr>
              <a:t>goto</a:t>
            </a:r>
            <a:r>
              <a:rPr lang="en-US" sz="1800" b="1" dirty="0">
                <a:solidFill>
                  <a:schemeClr val="tx1"/>
                </a:solidFill>
                <a:latin typeface="Courier New" panose="02070309020205020404" charset="0"/>
                <a:ea typeface="Monaco" charset="0"/>
                <a:cs typeface="Courier New" panose="02070309020205020404" charset="0"/>
                <a:sym typeface="Courier New Bold" charset="0"/>
              </a:rPr>
              <a:t> </a:t>
            </a:r>
            <a:r>
              <a:rPr lang="en-US" sz="1800" b="1" dirty="0">
                <a:solidFill>
                  <a:schemeClr val="tx1"/>
                </a:solidFill>
                <a:latin typeface="Courier New" panose="02070309020205020404" charset="0"/>
                <a:cs typeface="Courier New" panose="02070309020205020404" charset="0"/>
                <a:sym typeface="Courier New Bold Italic" charset="0"/>
              </a:rPr>
              <a:t>Else</a:t>
            </a:r>
            <a:r>
              <a:rPr lang="en-US" sz="1800" b="1"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279400" algn="l"/>
                <a:tab pos="279400" algn="l"/>
                <a:tab pos="279400" algn="l"/>
                <a:tab pos="279400" algn="l"/>
                <a:tab pos="279400" algn="l"/>
                <a:tab pos="279400" algn="l"/>
                <a:tab pos="279400" algn="l"/>
                <a:tab pos="279400" algn="l"/>
              </a:tabLst>
            </a:pPr>
            <a:r>
              <a:rPr lang="en-US" sz="1800" b="1" dirty="0">
                <a:solidFill>
                  <a:schemeClr val="tx1"/>
                </a:solidFill>
                <a:latin typeface="Courier New" panose="02070309020205020404" charset="0"/>
                <a:ea typeface="Monaco" charset="0"/>
                <a:cs typeface="Courier New" panose="02070309020205020404" charset="0"/>
                <a:sym typeface="Courier New Bold" charset="0"/>
              </a:rPr>
              <a:t>	</a:t>
            </a:r>
            <a:r>
              <a:rPr lang="en-US" sz="1800" b="1" dirty="0" err="1">
                <a:solidFill>
                  <a:schemeClr val="tx1"/>
                </a:solidFill>
                <a:latin typeface="Courier New" panose="02070309020205020404" charset="0"/>
                <a:ea typeface="Monaco" charset="0"/>
                <a:cs typeface="Courier New" panose="02070309020205020404" charset="0"/>
                <a:sym typeface="Courier New Bold" charset="0"/>
              </a:rPr>
              <a:t>val</a:t>
            </a:r>
            <a:r>
              <a:rPr lang="en-US" sz="1800" b="1" dirty="0">
                <a:solidFill>
                  <a:schemeClr val="tx1"/>
                </a:solidFill>
                <a:latin typeface="Courier New" panose="02070309020205020404" charset="0"/>
                <a:ea typeface="Monaco" charset="0"/>
                <a:cs typeface="Courier New" panose="02070309020205020404" charset="0"/>
                <a:sym typeface="Courier New Bold" charset="0"/>
              </a:rPr>
              <a:t> = </a:t>
            </a:r>
            <a:r>
              <a:rPr lang="en-US" sz="1800" b="1" i="1" dirty="0" err="1">
                <a:solidFill>
                  <a:schemeClr val="tx1"/>
                </a:solidFill>
                <a:latin typeface="Calibri" panose="020F0502020204030204"/>
                <a:ea typeface="Calibri Bold Italic" charset="0"/>
                <a:cs typeface="Calibri" panose="020F0502020204030204"/>
                <a:sym typeface="Calibri Bold Italic" charset="0"/>
              </a:rPr>
              <a:t>Then_Expr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279400" algn="l"/>
                <a:tab pos="279400" algn="l"/>
                <a:tab pos="279400" algn="l"/>
                <a:tab pos="279400" algn="l"/>
                <a:tab pos="279400" algn="l"/>
                <a:tab pos="279400" algn="l"/>
                <a:tab pos="279400" algn="l"/>
                <a:tab pos="279400" algn="l"/>
              </a:tabLst>
            </a:pPr>
            <a:r>
              <a:rPr lang="en-US" sz="1800" b="1" dirty="0">
                <a:solidFill>
                  <a:schemeClr val="tx1"/>
                </a:solidFill>
                <a:latin typeface="Courier New" panose="02070309020205020404" charset="0"/>
                <a:ea typeface="Lucida Grande" charset="0"/>
                <a:cs typeface="Courier New" panose="02070309020205020404" charset="0"/>
                <a:sym typeface="Courier New Bold" charset="0"/>
              </a:rPr>
              <a:t>  </a:t>
            </a:r>
            <a:r>
              <a:rPr lang="en-US" sz="1800" b="1" dirty="0" err="1">
                <a:solidFill>
                  <a:schemeClr val="tx1"/>
                </a:solidFill>
                <a:latin typeface="Courier New" panose="02070309020205020404" charset="0"/>
                <a:ea typeface="Lucida Grande" charset="0"/>
                <a:cs typeface="Courier New" panose="02070309020205020404" charset="0"/>
                <a:sym typeface="Courier New Bold" charset="0"/>
              </a:rPr>
              <a:t>goto</a:t>
            </a:r>
            <a:r>
              <a:rPr lang="en-US" sz="1800" b="1" dirty="0">
                <a:solidFill>
                  <a:schemeClr val="tx1"/>
                </a:solidFill>
                <a:latin typeface="Courier New" panose="02070309020205020404" charset="0"/>
                <a:ea typeface="Lucida Grande" charset="0"/>
                <a:cs typeface="Courier New" panose="02070309020205020404" charset="0"/>
                <a:sym typeface="Courier New Bold" charset="0"/>
              </a:rPr>
              <a:t> Done;</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279400" algn="l"/>
                <a:tab pos="279400" algn="l"/>
                <a:tab pos="279400" algn="l"/>
                <a:tab pos="279400" algn="l"/>
                <a:tab pos="279400" algn="l"/>
                <a:tab pos="279400" algn="l"/>
                <a:tab pos="279400" algn="l"/>
                <a:tab pos="279400" algn="l"/>
              </a:tabLst>
            </a:pPr>
            <a:r>
              <a:rPr lang="en-US" sz="1800" b="1" dirty="0">
                <a:solidFill>
                  <a:schemeClr val="tx1"/>
                </a:solidFill>
                <a:latin typeface="Courier New" panose="02070309020205020404" charset="0"/>
                <a:cs typeface="Courier New" panose="02070309020205020404" charset="0"/>
                <a:sym typeface="Courier New Bold Italic" charset="0"/>
              </a:rPr>
              <a:t>Else:</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279400" algn="l"/>
                <a:tab pos="279400" algn="l"/>
                <a:tab pos="279400" algn="l"/>
                <a:tab pos="279400" algn="l"/>
                <a:tab pos="279400" algn="l"/>
                <a:tab pos="279400" algn="l"/>
                <a:tab pos="279400" algn="l"/>
                <a:tab pos="2794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val</a:t>
            </a:r>
            <a:r>
              <a:rPr lang="en-US" sz="1800" b="1" dirty="0">
                <a:solidFill>
                  <a:schemeClr val="tx1"/>
                </a:solidFill>
                <a:latin typeface="Courier New" panose="02070309020205020404" charset="0"/>
                <a:cs typeface="Courier New" panose="02070309020205020404" charset="0"/>
                <a:sym typeface="Courier New Bold" charset="0"/>
              </a:rPr>
              <a:t> = </a:t>
            </a:r>
            <a:r>
              <a:rPr lang="en-US" sz="1800" b="1" i="1" dirty="0" err="1">
                <a:solidFill>
                  <a:schemeClr val="tx1"/>
                </a:solidFill>
                <a:latin typeface="Calibri" panose="020F0502020204030204"/>
                <a:ea typeface="Calibri Bold Italic" charset="0"/>
                <a:cs typeface="Calibri" panose="020F0502020204030204"/>
                <a:sym typeface="Calibri Bold Italic" charset="0"/>
              </a:rPr>
              <a:t>Else_Expr</a:t>
            </a:r>
            <a:r>
              <a:rPr lang="en-US" sz="1800" b="1"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279400" algn="l"/>
                <a:tab pos="279400" algn="l"/>
                <a:tab pos="279400" algn="l"/>
                <a:tab pos="279400" algn="l"/>
                <a:tab pos="279400" algn="l"/>
                <a:tab pos="279400" algn="l"/>
                <a:tab pos="279400" algn="l"/>
                <a:tab pos="279400" algn="l"/>
              </a:tabLst>
            </a:pPr>
            <a:r>
              <a:rPr lang="en-US" sz="1800" b="1" dirty="0">
                <a:solidFill>
                  <a:schemeClr val="tx1"/>
                </a:solidFill>
                <a:latin typeface="Courier New" panose="02070309020205020404" charset="0"/>
                <a:cs typeface="Courier New" panose="02070309020205020404" charset="0"/>
                <a:sym typeface="Courier New Bold Italic" charset="0"/>
              </a:rPr>
              <a:t>Done:</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279400" algn="l"/>
                <a:tab pos="279400" algn="l"/>
                <a:tab pos="279400" algn="l"/>
                <a:tab pos="279400" algn="l"/>
                <a:tab pos="279400" algn="l"/>
                <a:tab pos="279400" algn="l"/>
                <a:tab pos="279400" algn="l"/>
                <a:tab pos="279400" algn="l"/>
              </a:tabLst>
            </a:pPr>
            <a:r>
              <a:rPr lang="en-US" sz="1800" b="1" dirty="0">
                <a:solidFill>
                  <a:schemeClr val="tx1"/>
                </a:solidFill>
                <a:latin typeface="Courier New" panose="02070309020205020404" charset="0"/>
                <a:ea typeface="Monaco"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p:txBody>
      </p:sp>
      <p:sp>
        <p:nvSpPr>
          <p:cNvPr id="2" name="下箭头 1"/>
          <p:cNvSpPr/>
          <p:nvPr/>
        </p:nvSpPr>
        <p:spPr>
          <a:xfrm>
            <a:off x="4327525" y="1896110"/>
            <a:ext cx="855980" cy="127635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GOTO</a:t>
            </a:r>
          </a:p>
        </p:txBody>
      </p:sp>
      <p:sp>
        <p:nvSpPr>
          <p:cNvPr id="4" name="左箭头标注 3"/>
          <p:cNvSpPr/>
          <p:nvPr/>
        </p:nvSpPr>
        <p:spPr>
          <a:xfrm>
            <a:off x="6716395" y="3197225"/>
            <a:ext cx="2187575" cy="2223770"/>
          </a:xfrm>
          <a:prstGeom prst="leftArrow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Wingdings" panose="05000000000000000000" charset="0"/>
              <a:buChar char=""/>
            </a:pPr>
            <a:r>
              <a:rPr lang="zh-CN" altLang="en-US"/>
              <a:t>为</a:t>
            </a:r>
            <a:r>
              <a:rPr lang="en-US" dirty="0">
                <a:sym typeface="+mn-ea"/>
              </a:rPr>
              <a:t>then &amp; else</a:t>
            </a:r>
            <a:r>
              <a:rPr lang="zh-CN" altLang="en-US"/>
              <a:t>表达式创建单独的代码区域</a:t>
            </a:r>
          </a:p>
          <a:p>
            <a:pPr marL="285750" indent="-285750" algn="ctr">
              <a:buFont typeface="Wingdings" panose="05000000000000000000" charset="0"/>
              <a:buChar char=""/>
            </a:pPr>
            <a:r>
              <a:rPr lang="zh-CN" altLang="en-US"/>
              <a:t>执行适当的代码</a:t>
            </a:r>
            <a:endParaRPr lang="en-US" altLang="zh-C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5452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4302964" y="-7839"/>
            <a:ext cx="4754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用条件传送来实现条件分支</a:t>
            </a:r>
          </a:p>
        </p:txBody>
      </p:sp>
      <p:sp>
        <p:nvSpPr>
          <p:cNvPr id="49160" name="Rectangle 8"/>
          <p:cNvSpPr>
            <a:spLocks noGrp="1" noChangeArrowheads="1"/>
          </p:cNvSpPr>
          <p:nvPr/>
        </p:nvSpPr>
        <p:spPr>
          <a:xfrm>
            <a:off x="140970" y="1409700"/>
            <a:ext cx="9002395" cy="4038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marL="292100">
              <a:buClr>
                <a:srgbClr val="0D0D0D"/>
              </a:buClr>
            </a:pPr>
            <a:r>
              <a:rPr lang="zh-CN" altLang="en-US" dirty="0"/>
              <a:t>条件传送指令</a:t>
            </a:r>
            <a:endParaRPr lang="en-US" dirty="0"/>
          </a:p>
          <a:p>
            <a:pPr marL="552450" lvl="1">
              <a:buClr>
                <a:srgbClr val="0D0D0D"/>
              </a:buClr>
            </a:pPr>
            <a:r>
              <a:rPr lang="en-US" dirty="0"/>
              <a:t>指令支持：</a:t>
            </a:r>
          </a:p>
          <a:p>
            <a:pPr marL="838200" lvl="2">
              <a:buNone/>
            </a:pPr>
            <a:r>
              <a:rPr lang="en-US" dirty="0"/>
              <a:t> (Test) </a:t>
            </a:r>
            <a:r>
              <a:rPr lang="en-US" dirty="0" err="1"/>
              <a:t>Dest</a:t>
            </a:r>
            <a:r>
              <a:rPr lang="en-US" dirty="0"/>
              <a:t> </a:t>
            </a:r>
            <a:r>
              <a:rPr lang="en-US" dirty="0">
                <a:sym typeface="Wingdings" panose="05000000000000000000" pitchFamily="2" charset="2"/>
              </a:rPr>
              <a:t> </a:t>
            </a:r>
            <a:r>
              <a:rPr lang="en-US" dirty="0" err="1">
                <a:sym typeface="Wingdings" panose="05000000000000000000" pitchFamily="2" charset="2"/>
              </a:rPr>
              <a:t>Src</a:t>
            </a:r>
            <a:endParaRPr lang="en-US" dirty="0"/>
          </a:p>
          <a:p>
            <a:pPr marL="552450" lvl="1" algn="l">
              <a:buClr>
                <a:srgbClr val="0D0D0D"/>
              </a:buClr>
            </a:pPr>
            <a:r>
              <a:rPr lang="en-US" dirty="0"/>
              <a:t>在1995年后的x86处理器支持</a:t>
            </a:r>
          </a:p>
          <a:p>
            <a:pPr marL="552450" lvl="1" algn="l">
              <a:buClr>
                <a:srgbClr val="0D0D0D"/>
              </a:buClr>
            </a:pPr>
            <a:r>
              <a:rPr lang="en-US" dirty="0"/>
              <a:t>GCC 试图使用这些指令</a:t>
            </a:r>
          </a:p>
          <a:p>
            <a:pPr marL="838200" lvl="2"/>
            <a:r>
              <a:rPr lang="zh-CN" altLang="en-US" dirty="0">
                <a:ea typeface="宋体" panose="02010600030101010101" pitchFamily="2" charset="-122"/>
              </a:rPr>
              <a:t>但是，在保证安全的前提下</a:t>
            </a:r>
          </a:p>
          <a:p>
            <a:pPr marL="292100">
              <a:buClr>
                <a:srgbClr val="0D0D0D"/>
              </a:buClr>
            </a:pPr>
            <a:r>
              <a:rPr lang="zh-CN" altLang="en-US" dirty="0"/>
              <a:t>为什么？（基于条件数据传送的代码比基于条件控制转移的代码性能要好）</a:t>
            </a:r>
          </a:p>
          <a:p>
            <a:pPr marL="552450" lvl="1" algn="l">
              <a:buClr>
                <a:srgbClr val="0D0D0D"/>
              </a:buClr>
            </a:pPr>
            <a:r>
              <a:rPr lang="en-US" dirty="0"/>
              <a:t>分支对管道的指令流有很大的破坏性</a:t>
            </a:r>
          </a:p>
          <a:p>
            <a:pPr marL="552450" lvl="1" algn="l">
              <a:buClr>
                <a:srgbClr val="0D0D0D"/>
              </a:buClr>
            </a:pPr>
            <a:r>
              <a:rPr lang="en-US" dirty="0"/>
              <a:t>条件传送不需要控制转移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49160">
                                            <p:txEl>
                                              <p:pRg st="1" end="1"/>
                                            </p:txEl>
                                          </p:spTgt>
                                        </p:tgtEl>
                                        <p:attrNameLst>
                                          <p:attrName>style.visibility</p:attrName>
                                        </p:attrNameLst>
                                      </p:cBhvr>
                                      <p:to>
                                        <p:strVal val="visible"/>
                                      </p:to>
                                    </p:set>
                                    <p:animEffect transition="in" filter="wipe(down)">
                                      <p:cBhvr>
                                        <p:cTn id="22" dur="500"/>
                                        <p:tgtEl>
                                          <p:spTgt spid="49160">
                                            <p:txEl>
                                              <p:pRg st="1" end="1"/>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49160">
                                            <p:txEl>
                                              <p:pRg st="2" end="2"/>
                                            </p:txEl>
                                          </p:spTgt>
                                        </p:tgtEl>
                                        <p:attrNameLst>
                                          <p:attrName>style.visibility</p:attrName>
                                        </p:attrNameLst>
                                      </p:cBhvr>
                                      <p:to>
                                        <p:strVal val="visible"/>
                                      </p:to>
                                    </p:set>
                                    <p:animEffect transition="in" filter="wipe(down)">
                                      <p:cBhvr>
                                        <p:cTn id="25" dur="500"/>
                                        <p:tgtEl>
                                          <p:spTgt spid="49160">
                                            <p:txEl>
                                              <p:pRg st="2" end="2"/>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49160">
                                            <p:txEl>
                                              <p:pRg st="3" end="3"/>
                                            </p:txEl>
                                          </p:spTgt>
                                        </p:tgtEl>
                                        <p:attrNameLst>
                                          <p:attrName>style.visibility</p:attrName>
                                        </p:attrNameLst>
                                      </p:cBhvr>
                                      <p:to>
                                        <p:strVal val="visible"/>
                                      </p:to>
                                    </p:set>
                                    <p:animEffect transition="in" filter="wipe(down)">
                                      <p:cBhvr>
                                        <p:cTn id="28" dur="500"/>
                                        <p:tgtEl>
                                          <p:spTgt spid="49160">
                                            <p:txEl>
                                              <p:pRg st="3" end="3"/>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49160">
                                            <p:txEl>
                                              <p:pRg st="4" end="4"/>
                                            </p:txEl>
                                          </p:spTgt>
                                        </p:tgtEl>
                                        <p:attrNameLst>
                                          <p:attrName>style.visibility</p:attrName>
                                        </p:attrNameLst>
                                      </p:cBhvr>
                                      <p:to>
                                        <p:strVal val="visible"/>
                                      </p:to>
                                    </p:set>
                                    <p:animEffect transition="in" filter="wipe(down)">
                                      <p:cBhvr>
                                        <p:cTn id="31" dur="500"/>
                                        <p:tgtEl>
                                          <p:spTgt spid="49160">
                                            <p:txEl>
                                              <p:pRg st="4" end="4"/>
                                            </p:txEl>
                                          </p:spTgt>
                                        </p:tgtEl>
                                      </p:cBhvr>
                                    </p:animEffect>
                                  </p:childTnLst>
                                </p:cTn>
                              </p:par>
                              <p:par>
                                <p:cTn id="32" presetID="22" presetClass="entr" presetSubtype="4" fill="hold" nodeType="withEffect">
                                  <p:stCondLst>
                                    <p:cond delay="0"/>
                                  </p:stCondLst>
                                  <p:childTnLst>
                                    <p:set>
                                      <p:cBhvr>
                                        <p:cTn id="33" dur="1" fill="hold">
                                          <p:stCondLst>
                                            <p:cond delay="0"/>
                                          </p:stCondLst>
                                        </p:cTn>
                                        <p:tgtEl>
                                          <p:spTgt spid="49160">
                                            <p:txEl>
                                              <p:pRg st="5" end="5"/>
                                            </p:txEl>
                                          </p:spTgt>
                                        </p:tgtEl>
                                        <p:attrNameLst>
                                          <p:attrName>style.visibility</p:attrName>
                                        </p:attrNameLst>
                                      </p:cBhvr>
                                      <p:to>
                                        <p:strVal val="visible"/>
                                      </p:to>
                                    </p:set>
                                    <p:animEffect transition="in" filter="wipe(down)">
                                      <p:cBhvr>
                                        <p:cTn id="34" dur="500"/>
                                        <p:tgtEl>
                                          <p:spTgt spid="49160">
                                            <p:txEl>
                                              <p:pRg st="5" end="5"/>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49160">
                                            <p:txEl>
                                              <p:pRg st="6" end="6"/>
                                            </p:txEl>
                                          </p:spTgt>
                                        </p:tgtEl>
                                        <p:attrNameLst>
                                          <p:attrName>style.visibility</p:attrName>
                                        </p:attrNameLst>
                                      </p:cBhvr>
                                      <p:to>
                                        <p:strVal val="visible"/>
                                      </p:to>
                                    </p:set>
                                    <p:animEffect transition="in" filter="wipe(down)">
                                      <p:cBhvr>
                                        <p:cTn id="39" dur="500"/>
                                        <p:tgtEl>
                                          <p:spTgt spid="49160">
                                            <p:txEl>
                                              <p:pRg st="6" end="6"/>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49160">
                                            <p:txEl>
                                              <p:pRg st="7" end="7"/>
                                            </p:txEl>
                                          </p:spTgt>
                                        </p:tgtEl>
                                        <p:attrNameLst>
                                          <p:attrName>style.visibility</p:attrName>
                                        </p:attrNameLst>
                                      </p:cBhvr>
                                      <p:to>
                                        <p:strVal val="visible"/>
                                      </p:to>
                                    </p:set>
                                    <p:animEffect transition="in" filter="wipe(down)">
                                      <p:cBhvr>
                                        <p:cTn id="44" dur="500"/>
                                        <p:tgtEl>
                                          <p:spTgt spid="49160">
                                            <p:txEl>
                                              <p:pRg st="7" end="7"/>
                                            </p:txEl>
                                          </p:spTgt>
                                        </p:tgtEl>
                                      </p:cBhvr>
                                    </p:animEffect>
                                  </p:childTnLst>
                                </p:cTn>
                              </p:par>
                              <p:par>
                                <p:cTn id="45" presetID="22" presetClass="entr" presetSubtype="4" fill="hold" nodeType="withEffect">
                                  <p:stCondLst>
                                    <p:cond delay="0"/>
                                  </p:stCondLst>
                                  <p:childTnLst>
                                    <p:set>
                                      <p:cBhvr>
                                        <p:cTn id="46" dur="1" fill="hold">
                                          <p:stCondLst>
                                            <p:cond delay="0"/>
                                          </p:stCondLst>
                                        </p:cTn>
                                        <p:tgtEl>
                                          <p:spTgt spid="49160">
                                            <p:txEl>
                                              <p:pRg st="8" end="8"/>
                                            </p:txEl>
                                          </p:spTgt>
                                        </p:tgtEl>
                                        <p:attrNameLst>
                                          <p:attrName>style.visibility</p:attrName>
                                        </p:attrNameLst>
                                      </p:cBhvr>
                                      <p:to>
                                        <p:strVal val="visible"/>
                                      </p:to>
                                    </p:set>
                                    <p:animEffect transition="in" filter="wipe(down)">
                                      <p:cBhvr>
                                        <p:cTn id="47" dur="500"/>
                                        <p:tgtEl>
                                          <p:spTgt spid="49160">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9" name="Rectangle 4"/>
          <p:cNvSpPr/>
          <p:nvPr/>
        </p:nvSpPr>
        <p:spPr bwMode="auto">
          <a:xfrm>
            <a:off x="707390" y="1196340"/>
            <a:ext cx="3670300" cy="29464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absdiff</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x, long y)</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result;</a:t>
            </a:r>
          </a:p>
          <a:p>
            <a:pPr algn="l"/>
            <a:r>
              <a:rPr lang="en-US" sz="1800" b="1" dirty="0">
                <a:solidFill>
                  <a:schemeClr val="tx1"/>
                </a:solidFill>
                <a:latin typeface="Courier New" panose="02070309020205020404" charset="0"/>
                <a:cs typeface="Courier New" panose="02070309020205020404" charset="0"/>
                <a:sym typeface="Courier New Bold" charset="0"/>
              </a:rPr>
              <a:t>    if (x &gt; y)</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0000FF"/>
                </a:solidFill>
                <a:latin typeface="Courier New" panose="02070309020205020404" charset="0"/>
                <a:cs typeface="Courier New" panose="02070309020205020404" charset="0"/>
                <a:sym typeface="Courier New Bold" charset="0"/>
              </a:rPr>
              <a:t>result = x-y;</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C0000"/>
                </a:solidFill>
                <a:latin typeface="Courier New" panose="02070309020205020404" charset="0"/>
                <a:cs typeface="Courier New" panose="02070309020205020404" charset="0"/>
                <a:sym typeface="Courier New Bold" charset="0"/>
              </a:rPr>
              <a:t>result = y-x;</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graphicFrame>
        <p:nvGraphicFramePr>
          <p:cNvPr id="10" name="Table 9"/>
          <p:cNvGraphicFramePr>
            <a:graphicFrameLocks noGrp="1"/>
          </p:cNvGraphicFramePr>
          <p:nvPr/>
        </p:nvGraphicFramePr>
        <p:xfrm>
          <a:off x="4711065" y="1562735"/>
          <a:ext cx="3352800" cy="1524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00">
                <a:tc>
                  <a:txBody>
                    <a:bodyPr/>
                    <a:lstStyle/>
                    <a:p>
                      <a:r>
                        <a:rPr lang="zh-CN" altLang="en-US" dirty="0">
                          <a:latin typeface="Calibri" panose="020F0502020204030204"/>
                          <a:cs typeface="Calibri" panose="020F0502020204030204"/>
                        </a:rPr>
                        <a:t>寄存器</a:t>
                      </a:r>
                    </a:p>
                  </a:txBody>
                  <a:tcPr/>
                </a:tc>
                <a:tc>
                  <a:txBody>
                    <a:bodyPr/>
                    <a:lstStyle/>
                    <a:p>
                      <a:r>
                        <a:rPr lang="zh-CN" altLang="en-US" sz="1800" dirty="0">
                          <a:latin typeface="Calibri" panose="020F0502020204030204"/>
                          <a:cs typeface="Calibri" panose="020F0502020204030204"/>
                          <a:sym typeface="+mn-ea"/>
                        </a:rPr>
                        <a:t>用于</a:t>
                      </a:r>
                      <a:endParaRPr lang="en-US" dirty="0">
                        <a:latin typeface="Calibri" panose="020F0502020204030204"/>
                        <a:cs typeface="Calibri" panose="020F0502020204030204"/>
                      </a:endParaRP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y</a:t>
                      </a:r>
                    </a:p>
                  </a:txBody>
                  <a:tcPr/>
                </a:tc>
                <a:extLst>
                  <a:ext uri="{0D108BD9-81ED-4DB2-BD59-A6C34878D82A}">
                    <a16:rowId xmlns:a16="http://schemas.microsoft.com/office/drawing/2014/main" val="10002"/>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altLang="en-US" b="1" i="0" dirty="0">
                          <a:latin typeface="Courier New" panose="02070309020205020404"/>
                          <a:cs typeface="Courier New" panose="02070309020205020404"/>
                        </a:rPr>
                        <a:t>返回结果值</a:t>
                      </a:r>
                    </a:p>
                  </a:txBody>
                  <a:tcPr/>
                </a:tc>
                <a:extLst>
                  <a:ext uri="{0D108BD9-81ED-4DB2-BD59-A6C34878D82A}">
                    <a16:rowId xmlns:a16="http://schemas.microsoft.com/office/drawing/2014/main" val="10003"/>
                  </a:ext>
                </a:extLst>
              </a:tr>
            </a:tbl>
          </a:graphicData>
        </a:graphic>
      </p:graphicFrame>
      <p:sp>
        <p:nvSpPr>
          <p:cNvPr id="12" name="Rectangle 8"/>
          <p:cNvSpPr/>
          <p:nvPr/>
        </p:nvSpPr>
        <p:spPr bwMode="auto">
          <a:xfrm>
            <a:off x="2286000" y="4267200"/>
            <a:ext cx="6642100" cy="2590800"/>
          </a:xfrm>
          <a:prstGeom prst="rect">
            <a:avLst/>
          </a:prstGeom>
          <a:noFill/>
          <a:ln w="12700" cap="flat">
            <a:noFill/>
            <a:miter lim="800000"/>
            <a:headEnd type="none" w="med" len="med"/>
            <a:tailEnd type="none" w="med" len="med"/>
          </a:ln>
        </p:spPr>
        <p:txBody>
          <a:bodyPr lIns="38100" tIns="38100" rIns="38100" bIns="38100"/>
          <a:lstStyle/>
          <a:p>
            <a:pPr algn="l">
              <a:tabLst>
                <a:tab pos="215900" algn="l"/>
                <a:tab pos="1195070" algn="l"/>
                <a:tab pos="215900" algn="l"/>
                <a:tab pos="2860675" algn="l"/>
                <a:tab pos="2959100" algn="l"/>
                <a:tab pos="2159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Lst>
            </a:pPr>
            <a:r>
              <a:rPr lang="en-US" sz="1800" b="1" dirty="0" err="1">
                <a:solidFill>
                  <a:schemeClr val="tx1"/>
                </a:solidFill>
                <a:latin typeface="Courier New" panose="02070309020205020404" charset="0"/>
                <a:ea typeface="Monaco" charset="0"/>
                <a:cs typeface="Courier New" panose="02070309020205020404" charset="0"/>
                <a:sym typeface="Monaco" charset="0"/>
              </a:rPr>
              <a:t>absdiff</a:t>
            </a:r>
            <a:r>
              <a:rPr lang="en-US" sz="1800" b="1" dirty="0">
                <a:solidFill>
                  <a:schemeClr val="tx1"/>
                </a:solidFill>
                <a:latin typeface="Courier New" panose="02070309020205020404" charset="0"/>
                <a:ea typeface="Monaco" charset="0"/>
                <a:cs typeface="Courier New" panose="02070309020205020404" charset="0"/>
                <a:sym typeface="Monaco" charset="0"/>
              </a:rPr>
              <a:t>:</a:t>
            </a:r>
          </a:p>
          <a:p>
            <a:pPr algn="l">
              <a:tabLst>
                <a:tab pos="215900" algn="l"/>
                <a:tab pos="1195070" algn="l"/>
                <a:tab pos="215900" algn="l"/>
                <a:tab pos="2860675" algn="l"/>
                <a:tab pos="2959100" algn="l"/>
                <a:tab pos="2159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Lst>
            </a:pP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movq</a:t>
            </a: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rdi</a:t>
            </a: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rax</a:t>
            </a:r>
            <a:r>
              <a:rPr lang="tr-TR" sz="1800" b="1" dirty="0">
                <a:solidFill>
                  <a:schemeClr val="tx1"/>
                </a:solidFill>
                <a:latin typeface="Courier New" panose="02070309020205020404" charset="0"/>
                <a:ea typeface="Monaco" charset="0"/>
                <a:cs typeface="Courier New" panose="02070309020205020404" charset="0"/>
                <a:sym typeface="Monaco" charset="0"/>
              </a:rPr>
              <a:t>  # x</a:t>
            </a:r>
          </a:p>
          <a:p>
            <a:pPr algn="l">
              <a:tabLst>
                <a:tab pos="215900" algn="l"/>
                <a:tab pos="1195070" algn="l"/>
                <a:tab pos="215900" algn="l"/>
                <a:tab pos="2860675" algn="l"/>
                <a:tab pos="2959100" algn="l"/>
                <a:tab pos="2159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Lst>
            </a:pP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rgbClr val="0000FF"/>
                </a:solidFill>
                <a:latin typeface="Courier New" panose="02070309020205020404" charset="0"/>
                <a:ea typeface="Monaco" charset="0"/>
                <a:cs typeface="Courier New" panose="02070309020205020404" charset="0"/>
                <a:sym typeface="Monaco" charset="0"/>
              </a:rPr>
              <a:t>subq</a:t>
            </a:r>
            <a:r>
              <a:rPr lang="tr-TR" sz="1800" b="1" dirty="0">
                <a:solidFill>
                  <a:srgbClr val="0000FF"/>
                </a:solidFill>
                <a:latin typeface="Courier New" panose="02070309020205020404" charset="0"/>
                <a:ea typeface="Monaco" charset="0"/>
                <a:cs typeface="Courier New" panose="02070309020205020404" charset="0"/>
                <a:sym typeface="Monaco" charset="0"/>
              </a:rPr>
              <a:t>    %</a:t>
            </a:r>
            <a:r>
              <a:rPr lang="tr-TR" sz="1800" b="1" dirty="0" err="1">
                <a:solidFill>
                  <a:srgbClr val="0000FF"/>
                </a:solidFill>
                <a:latin typeface="Courier New" panose="02070309020205020404" charset="0"/>
                <a:ea typeface="Monaco" charset="0"/>
                <a:cs typeface="Courier New" panose="02070309020205020404" charset="0"/>
                <a:sym typeface="Monaco" charset="0"/>
              </a:rPr>
              <a:t>rsi</a:t>
            </a:r>
            <a:r>
              <a:rPr lang="tr-TR" sz="1800" b="1" dirty="0">
                <a:solidFill>
                  <a:srgbClr val="0000FF"/>
                </a:solidFill>
                <a:latin typeface="Courier New" panose="02070309020205020404" charset="0"/>
                <a:ea typeface="Monaco" charset="0"/>
                <a:cs typeface="Courier New" panose="02070309020205020404" charset="0"/>
                <a:sym typeface="Monaco" charset="0"/>
              </a:rPr>
              <a:t>, %</a:t>
            </a:r>
            <a:r>
              <a:rPr lang="tr-TR" sz="1800" b="1" dirty="0" err="1">
                <a:solidFill>
                  <a:srgbClr val="0000FF"/>
                </a:solidFill>
                <a:latin typeface="Courier New" panose="02070309020205020404" charset="0"/>
                <a:ea typeface="Monaco" charset="0"/>
                <a:cs typeface="Courier New" panose="02070309020205020404" charset="0"/>
                <a:sym typeface="Monaco" charset="0"/>
              </a:rPr>
              <a:t>rax</a:t>
            </a:r>
            <a:r>
              <a:rPr lang="tr-TR" sz="1800" b="1" dirty="0">
                <a:solidFill>
                  <a:srgbClr val="0000FF"/>
                </a:solidFill>
                <a:latin typeface="Courier New" panose="02070309020205020404" charset="0"/>
                <a:ea typeface="Monaco" charset="0"/>
                <a:cs typeface="Courier New" panose="02070309020205020404" charset="0"/>
                <a:sym typeface="Monaco" charset="0"/>
              </a:rPr>
              <a:t>  # </a:t>
            </a:r>
            <a:r>
              <a:rPr lang="tr-TR" sz="1800" b="1" dirty="0" err="1">
                <a:solidFill>
                  <a:srgbClr val="0000FF"/>
                </a:solidFill>
                <a:latin typeface="Courier New" panose="02070309020205020404" charset="0"/>
                <a:ea typeface="Monaco" charset="0"/>
                <a:cs typeface="Courier New" panose="02070309020205020404" charset="0"/>
                <a:sym typeface="Monaco" charset="0"/>
              </a:rPr>
              <a:t>result</a:t>
            </a:r>
            <a:r>
              <a:rPr lang="tr-TR" sz="1800" b="1" dirty="0">
                <a:solidFill>
                  <a:srgbClr val="0000FF"/>
                </a:solidFill>
                <a:latin typeface="Courier New" panose="02070309020205020404" charset="0"/>
                <a:ea typeface="Monaco" charset="0"/>
                <a:cs typeface="Courier New" panose="02070309020205020404" charset="0"/>
                <a:sym typeface="Monaco" charset="0"/>
              </a:rPr>
              <a:t> = x-y</a:t>
            </a:r>
          </a:p>
          <a:p>
            <a:pPr algn="l">
              <a:tabLst>
                <a:tab pos="215900" algn="l"/>
                <a:tab pos="1195070" algn="l"/>
                <a:tab pos="215900" algn="l"/>
                <a:tab pos="2860675" algn="l"/>
                <a:tab pos="2959100" algn="l"/>
                <a:tab pos="2159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Lst>
            </a:pP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movq</a:t>
            </a: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rsi</a:t>
            </a: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rdx</a:t>
            </a:r>
            <a:endParaRPr lang="tr-TR" sz="1800" b="1" dirty="0">
              <a:solidFill>
                <a:schemeClr val="tx1"/>
              </a:solidFill>
              <a:latin typeface="Courier New" panose="02070309020205020404" charset="0"/>
              <a:ea typeface="Monaco" charset="0"/>
              <a:cs typeface="Courier New" panose="02070309020205020404" charset="0"/>
              <a:sym typeface="Monaco" charset="0"/>
            </a:endParaRPr>
          </a:p>
          <a:p>
            <a:pPr algn="l">
              <a:tabLst>
                <a:tab pos="215900" algn="l"/>
                <a:tab pos="1195070" algn="l"/>
                <a:tab pos="215900" algn="l"/>
                <a:tab pos="2860675" algn="l"/>
                <a:tab pos="2959100" algn="l"/>
                <a:tab pos="2159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Lst>
            </a:pP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rgbClr val="CC0000"/>
                </a:solidFill>
                <a:latin typeface="Courier New" panose="02070309020205020404" charset="0"/>
                <a:ea typeface="Monaco" charset="0"/>
                <a:cs typeface="Courier New" panose="02070309020205020404" charset="0"/>
                <a:sym typeface="Monaco" charset="0"/>
              </a:rPr>
              <a:t>subq</a:t>
            </a:r>
            <a:r>
              <a:rPr lang="tr-TR" sz="1800" b="1" dirty="0">
                <a:solidFill>
                  <a:srgbClr val="CC0000"/>
                </a:solidFill>
                <a:latin typeface="Courier New" panose="02070309020205020404" charset="0"/>
                <a:ea typeface="Monaco" charset="0"/>
                <a:cs typeface="Courier New" panose="02070309020205020404" charset="0"/>
                <a:sym typeface="Monaco" charset="0"/>
              </a:rPr>
              <a:t>    %</a:t>
            </a:r>
            <a:r>
              <a:rPr lang="tr-TR" sz="1800" b="1" dirty="0" err="1">
                <a:solidFill>
                  <a:srgbClr val="CC0000"/>
                </a:solidFill>
                <a:latin typeface="Courier New" panose="02070309020205020404" charset="0"/>
                <a:ea typeface="Monaco" charset="0"/>
                <a:cs typeface="Courier New" panose="02070309020205020404" charset="0"/>
                <a:sym typeface="Monaco" charset="0"/>
              </a:rPr>
              <a:t>rdi</a:t>
            </a:r>
            <a:r>
              <a:rPr lang="tr-TR" sz="1800" b="1" dirty="0">
                <a:solidFill>
                  <a:srgbClr val="CC0000"/>
                </a:solidFill>
                <a:latin typeface="Courier New" panose="02070309020205020404" charset="0"/>
                <a:ea typeface="Monaco" charset="0"/>
                <a:cs typeface="Courier New" panose="02070309020205020404" charset="0"/>
                <a:sym typeface="Monaco" charset="0"/>
              </a:rPr>
              <a:t>, %</a:t>
            </a:r>
            <a:r>
              <a:rPr lang="tr-TR" sz="1800" b="1" dirty="0" err="1">
                <a:solidFill>
                  <a:srgbClr val="CC0000"/>
                </a:solidFill>
                <a:latin typeface="Courier New" panose="02070309020205020404" charset="0"/>
                <a:ea typeface="Monaco" charset="0"/>
                <a:cs typeface="Courier New" panose="02070309020205020404" charset="0"/>
                <a:sym typeface="Monaco" charset="0"/>
              </a:rPr>
              <a:t>rdx</a:t>
            </a:r>
            <a:r>
              <a:rPr lang="tr-TR" sz="1800" b="1" dirty="0">
                <a:solidFill>
                  <a:srgbClr val="CC0000"/>
                </a:solidFill>
                <a:latin typeface="Courier New" panose="02070309020205020404" charset="0"/>
                <a:ea typeface="Monaco" charset="0"/>
                <a:cs typeface="Courier New" panose="02070309020205020404" charset="0"/>
                <a:sym typeface="Monaco" charset="0"/>
              </a:rPr>
              <a:t>  # </a:t>
            </a:r>
            <a:r>
              <a:rPr lang="tr-TR" sz="1800" b="1" dirty="0" err="1">
                <a:solidFill>
                  <a:srgbClr val="CC0000"/>
                </a:solidFill>
                <a:latin typeface="Courier New" panose="02070309020205020404" charset="0"/>
                <a:ea typeface="Monaco" charset="0"/>
                <a:cs typeface="Courier New" panose="02070309020205020404" charset="0"/>
                <a:sym typeface="Monaco" charset="0"/>
              </a:rPr>
              <a:t>eval</a:t>
            </a:r>
            <a:r>
              <a:rPr lang="tr-TR" sz="1800" b="1" dirty="0">
                <a:solidFill>
                  <a:srgbClr val="CC0000"/>
                </a:solidFill>
                <a:latin typeface="Courier New" panose="02070309020205020404" charset="0"/>
                <a:ea typeface="Monaco" charset="0"/>
                <a:cs typeface="Courier New" panose="02070309020205020404" charset="0"/>
                <a:sym typeface="Monaco" charset="0"/>
              </a:rPr>
              <a:t> = y-x</a:t>
            </a:r>
          </a:p>
          <a:p>
            <a:pPr algn="l">
              <a:tabLst>
                <a:tab pos="215900" algn="l"/>
                <a:tab pos="1195070" algn="l"/>
                <a:tab pos="215900" algn="l"/>
                <a:tab pos="2860675" algn="l"/>
                <a:tab pos="2959100" algn="l"/>
                <a:tab pos="2159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Lst>
            </a:pP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cmpq</a:t>
            </a: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rsi</a:t>
            </a: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rdi</a:t>
            </a:r>
            <a:r>
              <a:rPr lang="tr-TR" sz="1800" b="1" dirty="0">
                <a:solidFill>
                  <a:schemeClr val="tx1"/>
                </a:solidFill>
                <a:latin typeface="Courier New" panose="02070309020205020404" charset="0"/>
                <a:ea typeface="Monaco" charset="0"/>
                <a:cs typeface="Courier New" panose="02070309020205020404" charset="0"/>
                <a:sym typeface="Monaco" charset="0"/>
              </a:rPr>
              <a:t>  # </a:t>
            </a:r>
            <a:r>
              <a:rPr lang="tr-TR" sz="1800" b="1" dirty="0" err="1">
                <a:solidFill>
                  <a:schemeClr val="tx1"/>
                </a:solidFill>
                <a:latin typeface="Courier New" panose="02070309020205020404" charset="0"/>
                <a:ea typeface="Monaco" charset="0"/>
                <a:cs typeface="Courier New" panose="02070309020205020404" charset="0"/>
                <a:sym typeface="Monaco" charset="0"/>
              </a:rPr>
              <a:t>x:y</a:t>
            </a:r>
            <a:endParaRPr lang="tr-TR" sz="1800" b="1" dirty="0">
              <a:solidFill>
                <a:schemeClr val="tx1"/>
              </a:solidFill>
              <a:latin typeface="Courier New" panose="02070309020205020404" charset="0"/>
              <a:ea typeface="Monaco" charset="0"/>
              <a:cs typeface="Courier New" panose="02070309020205020404" charset="0"/>
              <a:sym typeface="Monaco" charset="0"/>
            </a:endParaRPr>
          </a:p>
          <a:p>
            <a:pPr algn="l">
              <a:tabLst>
                <a:tab pos="215900" algn="l"/>
                <a:tab pos="1195070" algn="l"/>
                <a:tab pos="215900" algn="l"/>
                <a:tab pos="2860675" algn="l"/>
                <a:tab pos="2959100" algn="l"/>
                <a:tab pos="2159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Lst>
            </a:pP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cmovle</a:t>
            </a: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rdx</a:t>
            </a:r>
            <a:r>
              <a:rPr lang="tr-TR" sz="1800" b="1" dirty="0">
                <a:solidFill>
                  <a:schemeClr val="tx1"/>
                </a:solidFill>
                <a:latin typeface="Courier New" panose="02070309020205020404" charset="0"/>
                <a:ea typeface="Monaco" charset="0"/>
                <a:cs typeface="Courier New" panose="02070309020205020404" charset="0"/>
                <a:sym typeface="Monaco" charset="0"/>
              </a:rPr>
              <a:t>, %</a:t>
            </a:r>
            <a:r>
              <a:rPr lang="tr-TR" sz="1800" b="1" dirty="0" err="1">
                <a:solidFill>
                  <a:schemeClr val="tx1"/>
                </a:solidFill>
                <a:latin typeface="Courier New" panose="02070309020205020404" charset="0"/>
                <a:ea typeface="Monaco" charset="0"/>
                <a:cs typeface="Courier New" panose="02070309020205020404" charset="0"/>
                <a:sym typeface="Monaco" charset="0"/>
              </a:rPr>
              <a:t>rax</a:t>
            </a:r>
            <a:r>
              <a:rPr lang="tr-TR" sz="1800" b="1" dirty="0">
                <a:solidFill>
                  <a:schemeClr val="tx1"/>
                </a:solidFill>
                <a:latin typeface="Courier New" panose="02070309020205020404" charset="0"/>
                <a:ea typeface="Monaco" charset="0"/>
                <a:cs typeface="Courier New" panose="02070309020205020404" charset="0"/>
                <a:sym typeface="Monaco" charset="0"/>
              </a:rPr>
              <a:t>  # </a:t>
            </a:r>
            <a:r>
              <a:rPr lang="tr-TR" sz="1800" b="1" dirty="0" err="1">
                <a:solidFill>
                  <a:schemeClr val="tx1"/>
                </a:solidFill>
                <a:latin typeface="Courier New" panose="02070309020205020404" charset="0"/>
                <a:ea typeface="Monaco" charset="0"/>
                <a:cs typeface="Courier New" panose="02070309020205020404" charset="0"/>
                <a:sym typeface="Monaco" charset="0"/>
              </a:rPr>
              <a:t>if</a:t>
            </a:r>
            <a:r>
              <a:rPr lang="tr-TR" sz="1800" b="1" dirty="0">
                <a:solidFill>
                  <a:schemeClr val="tx1"/>
                </a:solidFill>
                <a:latin typeface="Courier New" panose="02070309020205020404" charset="0"/>
                <a:ea typeface="Monaco" charset="0"/>
                <a:cs typeface="Courier New" panose="02070309020205020404" charset="0"/>
                <a:sym typeface="Monaco" charset="0"/>
              </a:rPr>
              <a:t> &lt;=, </a:t>
            </a:r>
            <a:r>
              <a:rPr lang="tr-TR" sz="1800" b="1" dirty="0" err="1">
                <a:solidFill>
                  <a:schemeClr val="tx1"/>
                </a:solidFill>
                <a:latin typeface="Courier New" panose="02070309020205020404" charset="0"/>
                <a:ea typeface="Monaco" charset="0"/>
                <a:cs typeface="Courier New" panose="02070309020205020404" charset="0"/>
                <a:sym typeface="Monaco" charset="0"/>
              </a:rPr>
              <a:t>result</a:t>
            </a:r>
            <a:r>
              <a:rPr lang="tr-TR" sz="1800" b="1" dirty="0">
                <a:solidFill>
                  <a:schemeClr val="tx1"/>
                </a:solidFill>
                <a:latin typeface="Courier New" panose="02070309020205020404" charset="0"/>
                <a:ea typeface="Monaco" charset="0"/>
                <a:cs typeface="Courier New" panose="02070309020205020404" charset="0"/>
                <a:sym typeface="Monaco" charset="0"/>
              </a:rPr>
              <a:t> = </a:t>
            </a:r>
            <a:r>
              <a:rPr lang="tr-TR" sz="1800" b="1" dirty="0" err="1">
                <a:solidFill>
                  <a:schemeClr val="tx1"/>
                </a:solidFill>
                <a:latin typeface="Courier New" panose="02070309020205020404" charset="0"/>
                <a:ea typeface="Monaco" charset="0"/>
                <a:cs typeface="Courier New" panose="02070309020205020404" charset="0"/>
                <a:sym typeface="Monaco" charset="0"/>
              </a:rPr>
              <a:t>eval</a:t>
            </a:r>
            <a:endParaRPr lang="tr-TR" sz="1800" b="1" dirty="0">
              <a:solidFill>
                <a:schemeClr val="tx1"/>
              </a:solidFill>
              <a:latin typeface="Courier New" panose="02070309020205020404" charset="0"/>
              <a:ea typeface="Monaco" charset="0"/>
              <a:cs typeface="Courier New" panose="02070309020205020404" charset="0"/>
              <a:sym typeface="Monaco" charset="0"/>
            </a:endParaRPr>
          </a:p>
          <a:p>
            <a:pPr algn="l">
              <a:tabLst>
                <a:tab pos="215900" algn="l"/>
                <a:tab pos="1195070" algn="l"/>
                <a:tab pos="215900" algn="l"/>
                <a:tab pos="2860675" algn="l"/>
                <a:tab pos="2959100" algn="l"/>
                <a:tab pos="2159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 pos="215900" algn="l"/>
                <a:tab pos="1308100" algn="l"/>
                <a:tab pos="2959100" algn="l"/>
              </a:tabLst>
            </a:pPr>
            <a:r>
              <a:rPr lang="tr-TR" sz="1800" b="1" dirty="0">
                <a:solidFill>
                  <a:schemeClr val="tx1"/>
                </a:solidFill>
                <a:latin typeface="Courier New" panose="02070309020205020404" charset="0"/>
                <a:ea typeface="Monaco" charset="0"/>
                <a:cs typeface="Courier New" panose="02070309020205020404" charset="0"/>
                <a:sym typeface="Monaco" charset="0"/>
              </a:rPr>
              <a:t>   ret</a:t>
            </a:r>
            <a:endParaRPr lang="en-US" sz="1800" b="1" dirty="0">
              <a:solidFill>
                <a:schemeClr val="tx1"/>
              </a:solidFill>
              <a:latin typeface="Courier New" panose="02070309020205020404" charset="0"/>
              <a:ea typeface="Monaco" charset="0"/>
              <a:cs typeface="Courier New" panose="02070309020205020404" charset="0"/>
              <a:sym typeface="Monaco" charset="0"/>
            </a:endParaRPr>
          </a:p>
        </p:txBody>
      </p:sp>
      <p:sp>
        <p:nvSpPr>
          <p:cNvPr id="2" name="右箭头 1"/>
          <p:cNvSpPr/>
          <p:nvPr/>
        </p:nvSpPr>
        <p:spPr>
          <a:xfrm>
            <a:off x="0" y="158750"/>
            <a:ext cx="3758565" cy="913130"/>
          </a:xfrm>
          <a:prstGeom prst="rightArrow">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条件传送例子：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pic>
        <p:nvPicPr>
          <p:cNvPr id="6" name="图片 5"/>
          <p:cNvPicPr>
            <a:picLocks noChangeAspect="1"/>
          </p:cNvPicPr>
          <p:nvPr/>
        </p:nvPicPr>
        <p:blipFill rotWithShape="1">
          <a:blip r:embed="rId2"/>
          <a:srcRect l="48897"/>
          <a:stretch>
            <a:fillRect/>
          </a:stretch>
        </p:blipFill>
        <p:spPr>
          <a:xfrm>
            <a:off x="0" y="1124512"/>
            <a:ext cx="2353002" cy="4608976"/>
          </a:xfrm>
          <a:prstGeom prst="rect">
            <a:avLst/>
          </a:prstGeom>
        </p:spPr>
      </p:pic>
      <p:grpSp>
        <p:nvGrpSpPr>
          <p:cNvPr id="77" name="组合 76"/>
          <p:cNvGrpSpPr/>
          <p:nvPr/>
        </p:nvGrpSpPr>
        <p:grpSpPr>
          <a:xfrm>
            <a:off x="-19050" y="1341797"/>
            <a:ext cx="3371075" cy="4172400"/>
            <a:chOff x="-25400" y="646062"/>
            <a:chExt cx="4494766" cy="5563200"/>
          </a:xfrm>
        </p:grpSpPr>
        <p:grpSp>
          <p:nvGrpSpPr>
            <p:cNvPr id="12" name="组合 11"/>
            <p:cNvGrpSpPr/>
            <p:nvPr/>
          </p:nvGrpSpPr>
          <p:grpSpPr>
            <a:xfrm>
              <a:off x="-25400" y="702733"/>
              <a:ext cx="4470400" cy="2762673"/>
              <a:chOff x="-25400" y="702733"/>
              <a:chExt cx="4470400" cy="2762673"/>
            </a:xfrm>
          </p:grpSpPr>
          <p:sp>
            <p:nvSpPr>
              <p:cNvPr id="9" name="任意多边形 8"/>
              <p:cNvSpPr/>
              <p:nvPr/>
            </p:nvSpPr>
            <p:spPr>
              <a:xfrm>
                <a:off x="-8467" y="702733"/>
                <a:ext cx="4453467" cy="2743200"/>
              </a:xfrm>
              <a:custGeom>
                <a:avLst/>
                <a:gdLst>
                  <a:gd name="connsiteX0" fmla="*/ 0 w 4453467"/>
                  <a:gd name="connsiteY0" fmla="*/ 2743200 h 2743200"/>
                  <a:gd name="connsiteX1" fmla="*/ 1837267 w 4453467"/>
                  <a:gd name="connsiteY1" fmla="*/ 0 h 2743200"/>
                  <a:gd name="connsiteX2" fmla="*/ 4453467 w 4453467"/>
                  <a:gd name="connsiteY2" fmla="*/ 0 h 2743200"/>
                </a:gdLst>
                <a:ahLst/>
                <a:cxnLst>
                  <a:cxn ang="0">
                    <a:pos x="connsiteX0" y="connsiteY0"/>
                  </a:cxn>
                  <a:cxn ang="0">
                    <a:pos x="connsiteX1" y="connsiteY1"/>
                  </a:cxn>
                  <a:cxn ang="0">
                    <a:pos x="connsiteX2" y="connsiteY2"/>
                  </a:cxn>
                </a:cxnLst>
                <a:rect l="l" t="t" r="r" b="b"/>
                <a:pathLst>
                  <a:path w="4453467" h="2743200">
                    <a:moveTo>
                      <a:pt x="0" y="2743200"/>
                    </a:moveTo>
                    <a:lnTo>
                      <a:pt x="1837267" y="0"/>
                    </a:lnTo>
                    <a:lnTo>
                      <a:pt x="4453467"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nvSpPr>
            <p:spPr>
              <a:xfrm flipV="1">
                <a:off x="-25400" y="3363806"/>
                <a:ext cx="4394199" cy="101600"/>
              </a:xfrm>
              <a:custGeom>
                <a:avLst/>
                <a:gdLst>
                  <a:gd name="connsiteX0" fmla="*/ 0 w 4394200"/>
                  <a:gd name="connsiteY0" fmla="*/ 592667 h 592667"/>
                  <a:gd name="connsiteX1" fmla="*/ 2912533 w 4394200"/>
                  <a:gd name="connsiteY1" fmla="*/ 0 h 592667"/>
                  <a:gd name="connsiteX2" fmla="*/ 4394200 w 4394200"/>
                  <a:gd name="connsiteY2" fmla="*/ 0 h 592667"/>
                </a:gdLst>
                <a:ahLst/>
                <a:cxnLst>
                  <a:cxn ang="0">
                    <a:pos x="connsiteX0" y="connsiteY0"/>
                  </a:cxn>
                  <a:cxn ang="0">
                    <a:pos x="connsiteX1" y="connsiteY1"/>
                  </a:cxn>
                  <a:cxn ang="0">
                    <a:pos x="connsiteX2" y="connsiteY2"/>
                  </a:cxn>
                </a:cxnLst>
                <a:rect l="l" t="t" r="r" b="b"/>
                <a:pathLst>
                  <a:path w="4394200" h="592667">
                    <a:moveTo>
                      <a:pt x="0" y="592667"/>
                    </a:moveTo>
                    <a:lnTo>
                      <a:pt x="2912533" y="0"/>
                    </a:lnTo>
                    <a:lnTo>
                      <a:pt x="4394200"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任意多边形 13"/>
            <p:cNvSpPr/>
            <p:nvPr/>
          </p:nvSpPr>
          <p:spPr>
            <a:xfrm flipV="1">
              <a:off x="-8467" y="3412065"/>
              <a:ext cx="4453467" cy="2743200"/>
            </a:xfrm>
            <a:custGeom>
              <a:avLst/>
              <a:gdLst>
                <a:gd name="connsiteX0" fmla="*/ 0 w 4453467"/>
                <a:gd name="connsiteY0" fmla="*/ 2743200 h 2743200"/>
                <a:gd name="connsiteX1" fmla="*/ 1837267 w 4453467"/>
                <a:gd name="connsiteY1" fmla="*/ 0 h 2743200"/>
                <a:gd name="connsiteX2" fmla="*/ 4453467 w 4453467"/>
                <a:gd name="connsiteY2" fmla="*/ 0 h 2743200"/>
              </a:gdLst>
              <a:ahLst/>
              <a:cxnLst>
                <a:cxn ang="0">
                  <a:pos x="connsiteX0" y="connsiteY0"/>
                </a:cxn>
                <a:cxn ang="0">
                  <a:pos x="connsiteX1" y="connsiteY1"/>
                </a:cxn>
                <a:cxn ang="0">
                  <a:pos x="connsiteX2" y="connsiteY2"/>
                </a:cxn>
              </a:cxnLst>
              <a:rect l="l" t="t" r="r" b="b"/>
              <a:pathLst>
                <a:path w="4453467" h="2743200">
                  <a:moveTo>
                    <a:pt x="0" y="2743200"/>
                  </a:moveTo>
                  <a:lnTo>
                    <a:pt x="1837267" y="0"/>
                  </a:lnTo>
                  <a:lnTo>
                    <a:pt x="4453467" y="0"/>
                  </a:lnTo>
                </a:path>
              </a:pathLst>
            </a:cu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椭圆 1"/>
            <p:cNvSpPr/>
            <p:nvPr/>
          </p:nvSpPr>
          <p:spPr>
            <a:xfrm>
              <a:off x="4361366" y="646062"/>
              <a:ext cx="108000" cy="108000"/>
            </a:xfrm>
            <a:prstGeom prst="ellipse">
              <a:avLst/>
            </a:prstGeom>
            <a:solidFill>
              <a:srgbClr val="FF0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椭圆 17"/>
            <p:cNvSpPr/>
            <p:nvPr/>
          </p:nvSpPr>
          <p:spPr>
            <a:xfrm>
              <a:off x="4361366" y="1732467"/>
              <a:ext cx="108000" cy="108000"/>
            </a:xfrm>
            <a:prstGeom prst="ellipse">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9" name="椭圆 18"/>
            <p:cNvSpPr/>
            <p:nvPr/>
          </p:nvSpPr>
          <p:spPr>
            <a:xfrm>
              <a:off x="4361366" y="2814032"/>
              <a:ext cx="108000" cy="108000"/>
            </a:xfrm>
            <a:prstGeom prst="ellipse">
              <a:avLst/>
            </a:prstGeom>
            <a:solidFill>
              <a:srgbClr val="FFFF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0" name="椭圆 19"/>
            <p:cNvSpPr/>
            <p:nvPr/>
          </p:nvSpPr>
          <p:spPr>
            <a:xfrm>
              <a:off x="4361366" y="3933800"/>
              <a:ext cx="108000" cy="108000"/>
            </a:xfrm>
            <a:prstGeom prst="ellipse">
              <a:avLst/>
            </a:prstGeom>
            <a:solidFill>
              <a:srgbClr val="92D05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1" name="椭圆 20"/>
            <p:cNvSpPr/>
            <p:nvPr/>
          </p:nvSpPr>
          <p:spPr>
            <a:xfrm>
              <a:off x="4361366" y="5017531"/>
              <a:ext cx="108000" cy="108000"/>
            </a:xfrm>
            <a:prstGeom prst="ellipse">
              <a:avLst/>
            </a:prstGeom>
            <a:solidFill>
              <a:srgbClr val="00B0F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2" name="椭圆 21"/>
            <p:cNvSpPr/>
            <p:nvPr/>
          </p:nvSpPr>
          <p:spPr>
            <a:xfrm>
              <a:off x="4361366" y="6101262"/>
              <a:ext cx="108000" cy="108000"/>
            </a:xfrm>
            <a:prstGeom prst="ellipse">
              <a:avLst/>
            </a:prstGeom>
            <a:solidFill>
              <a:srgbClr val="00206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grpSp>
        <p:nvGrpSpPr>
          <p:cNvPr id="78" name="组合 77"/>
          <p:cNvGrpSpPr/>
          <p:nvPr/>
        </p:nvGrpSpPr>
        <p:grpSpPr>
          <a:xfrm>
            <a:off x="3426619" y="1186192"/>
            <a:ext cx="1826662" cy="386733"/>
            <a:chOff x="4568825" y="438589"/>
            <a:chExt cx="2435549" cy="515644"/>
          </a:xfrm>
        </p:grpSpPr>
        <p:grpSp>
          <p:nvGrpSpPr>
            <p:cNvPr id="24" name="组合 23"/>
            <p:cNvGrpSpPr/>
            <p:nvPr/>
          </p:nvGrpSpPr>
          <p:grpSpPr>
            <a:xfrm>
              <a:off x="4568825" y="438589"/>
              <a:ext cx="2300757" cy="509896"/>
              <a:chOff x="888096" y="1000203"/>
              <a:chExt cx="4259825" cy="944066"/>
            </a:xfrm>
          </p:grpSpPr>
          <p:sp>
            <p:nvSpPr>
              <p:cNvPr id="25" name="矩形 24"/>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6" name="椭圆 25"/>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7" name="椭圆 26"/>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8" name="椭圆 27"/>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29" name="椭圆 28"/>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30" name="矩形 29"/>
            <p:cNvSpPr/>
            <p:nvPr/>
          </p:nvSpPr>
          <p:spPr>
            <a:xfrm>
              <a:off x="4626934" y="463166"/>
              <a:ext cx="2377440" cy="491067"/>
            </a:xfrm>
            <a:prstGeom prst="rect">
              <a:avLst/>
            </a:prstGeom>
          </p:spPr>
          <p:txBody>
            <a:bodyPr wrap="none">
              <a:spAutoFit/>
            </a:bodyPr>
            <a:lstStyle/>
            <a:p>
              <a:r>
                <a:rPr lang="zh-CN" altLang="en-US" dirty="0"/>
                <a:t>昂贵的计算代价</a:t>
              </a:r>
            </a:p>
          </p:txBody>
        </p:sp>
      </p:grpSp>
      <p:grpSp>
        <p:nvGrpSpPr>
          <p:cNvPr id="88" name="组合 87"/>
          <p:cNvGrpSpPr/>
          <p:nvPr/>
        </p:nvGrpSpPr>
        <p:grpSpPr>
          <a:xfrm>
            <a:off x="3426619" y="3224799"/>
            <a:ext cx="1725568" cy="382422"/>
            <a:chOff x="4568825" y="438589"/>
            <a:chExt cx="2300757" cy="509896"/>
          </a:xfrm>
        </p:grpSpPr>
        <p:grpSp>
          <p:nvGrpSpPr>
            <p:cNvPr id="90" name="组合 89"/>
            <p:cNvGrpSpPr/>
            <p:nvPr/>
          </p:nvGrpSpPr>
          <p:grpSpPr>
            <a:xfrm>
              <a:off x="4568825" y="438589"/>
              <a:ext cx="2300757" cy="509896"/>
              <a:chOff x="888096" y="1000203"/>
              <a:chExt cx="4259825" cy="944066"/>
            </a:xfrm>
          </p:grpSpPr>
          <p:sp>
            <p:nvSpPr>
              <p:cNvPr id="92" name="矩形 91"/>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3" name="椭圆 92"/>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4" name="椭圆 93"/>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5" name="椭圆 94"/>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6" name="椭圆 95"/>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91" name="矩形 90"/>
            <p:cNvSpPr/>
            <p:nvPr/>
          </p:nvSpPr>
          <p:spPr>
            <a:xfrm>
              <a:off x="4677733" y="446233"/>
              <a:ext cx="2072640" cy="491067"/>
            </a:xfrm>
            <a:prstGeom prst="rect">
              <a:avLst/>
            </a:prstGeom>
          </p:spPr>
          <p:txBody>
            <a:bodyPr wrap="none">
              <a:spAutoFit/>
            </a:bodyPr>
            <a:lstStyle/>
            <a:p>
              <a:r>
                <a:rPr lang="zh-CN" altLang="en-US" dirty="0"/>
                <a:t>有风险的计算</a:t>
              </a:r>
            </a:p>
          </p:txBody>
        </p:sp>
      </p:grpSp>
      <p:grpSp>
        <p:nvGrpSpPr>
          <p:cNvPr id="115" name="组合 114"/>
          <p:cNvGrpSpPr/>
          <p:nvPr/>
        </p:nvGrpSpPr>
        <p:grpSpPr>
          <a:xfrm>
            <a:off x="3368603" y="5278668"/>
            <a:ext cx="1783584" cy="382422"/>
            <a:chOff x="4491470" y="438589"/>
            <a:chExt cx="2378112" cy="509896"/>
          </a:xfrm>
        </p:grpSpPr>
        <p:grpSp>
          <p:nvGrpSpPr>
            <p:cNvPr id="117" name="组合 116"/>
            <p:cNvGrpSpPr/>
            <p:nvPr/>
          </p:nvGrpSpPr>
          <p:grpSpPr>
            <a:xfrm>
              <a:off x="4568825" y="438589"/>
              <a:ext cx="2300757" cy="509896"/>
              <a:chOff x="888096" y="1000203"/>
              <a:chExt cx="4259825" cy="944066"/>
            </a:xfrm>
          </p:grpSpPr>
          <p:sp>
            <p:nvSpPr>
              <p:cNvPr id="119" name="矩形 118"/>
              <p:cNvSpPr/>
              <p:nvPr/>
            </p:nvSpPr>
            <p:spPr>
              <a:xfrm>
                <a:off x="911225" y="1045634"/>
                <a:ext cx="4199467" cy="872066"/>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0" name="椭圆 119"/>
              <p:cNvSpPr/>
              <p:nvPr/>
            </p:nvSpPr>
            <p:spPr>
              <a:xfrm>
                <a:off x="888096" y="1000203"/>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1" name="椭圆 120"/>
              <p:cNvSpPr/>
              <p:nvPr/>
            </p:nvSpPr>
            <p:spPr>
              <a:xfrm>
                <a:off x="888096"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2" name="椭圆 121"/>
              <p:cNvSpPr/>
              <p:nvPr/>
            </p:nvSpPr>
            <p:spPr>
              <a:xfrm>
                <a:off x="5075921" y="1872269"/>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3" name="椭圆 122"/>
              <p:cNvSpPr/>
              <p:nvPr/>
            </p:nvSpPr>
            <p:spPr>
              <a:xfrm>
                <a:off x="5074692" y="1009634"/>
                <a:ext cx="72000" cy="720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grpSp>
        <p:sp>
          <p:nvSpPr>
            <p:cNvPr id="118" name="矩形 117"/>
            <p:cNvSpPr/>
            <p:nvPr/>
          </p:nvSpPr>
          <p:spPr>
            <a:xfrm>
              <a:off x="4491470" y="446233"/>
              <a:ext cx="2377440" cy="491067"/>
            </a:xfrm>
            <a:prstGeom prst="rect">
              <a:avLst/>
            </a:prstGeom>
          </p:spPr>
          <p:txBody>
            <a:bodyPr wrap="none">
              <a:spAutoFit/>
            </a:bodyPr>
            <a:lstStyle/>
            <a:p>
              <a:r>
                <a:rPr lang="zh-CN" altLang="en-US" dirty="0"/>
                <a:t>有副作用的计算</a:t>
              </a:r>
            </a:p>
          </p:txBody>
        </p:sp>
      </p:grpSp>
      <p:sp>
        <p:nvSpPr>
          <p:cNvPr id="124" name="文本框 123"/>
          <p:cNvSpPr txBox="1"/>
          <p:nvPr/>
        </p:nvSpPr>
        <p:spPr>
          <a:xfrm>
            <a:off x="3005345" y="1182939"/>
            <a:ext cx="326390" cy="414020"/>
          </a:xfrm>
          <a:prstGeom prst="rect">
            <a:avLst/>
          </a:prstGeom>
          <a:noFill/>
        </p:spPr>
        <p:txBody>
          <a:bodyPr wrap="none" rtlCol="0">
            <a:spAutoFit/>
          </a:bodyPr>
          <a:lstStyle/>
          <a:p>
            <a:r>
              <a:rPr lang="en-US" altLang="zh-CN" sz="2100" dirty="0"/>
              <a:t>1</a:t>
            </a:r>
          </a:p>
        </p:txBody>
      </p:sp>
      <p:sp>
        <p:nvSpPr>
          <p:cNvPr id="126" name="文本框 125"/>
          <p:cNvSpPr txBox="1"/>
          <p:nvPr/>
        </p:nvSpPr>
        <p:spPr>
          <a:xfrm>
            <a:off x="3009900" y="3213100"/>
            <a:ext cx="326390" cy="414020"/>
          </a:xfrm>
          <a:prstGeom prst="rect">
            <a:avLst/>
          </a:prstGeom>
          <a:noFill/>
        </p:spPr>
        <p:txBody>
          <a:bodyPr wrap="none" rtlCol="0">
            <a:spAutoFit/>
          </a:bodyPr>
          <a:lstStyle/>
          <a:p>
            <a:r>
              <a:rPr lang="en-US" altLang="zh-CN" sz="2100" dirty="0"/>
              <a:t>2</a:t>
            </a:r>
          </a:p>
        </p:txBody>
      </p:sp>
      <p:sp>
        <p:nvSpPr>
          <p:cNvPr id="129" name="文本框 128"/>
          <p:cNvSpPr txBox="1"/>
          <p:nvPr/>
        </p:nvSpPr>
        <p:spPr>
          <a:xfrm>
            <a:off x="3009900" y="5276850"/>
            <a:ext cx="326390" cy="414020"/>
          </a:xfrm>
          <a:prstGeom prst="rect">
            <a:avLst/>
          </a:prstGeom>
          <a:noFill/>
        </p:spPr>
        <p:txBody>
          <a:bodyPr wrap="none" rtlCol="0">
            <a:spAutoFit/>
          </a:bodyPr>
          <a:lstStyle/>
          <a:p>
            <a:r>
              <a:rPr lang="en-US" altLang="zh-CN" sz="2100" dirty="0"/>
              <a:t>3</a:t>
            </a:r>
          </a:p>
        </p:txBody>
      </p:sp>
      <p:pic>
        <p:nvPicPr>
          <p:cNvPr id="5" name="图片 4"/>
          <p:cNvPicPr>
            <a:picLocks noChangeAspect="1"/>
          </p:cNvPicPr>
          <p:nvPr/>
        </p:nvPicPr>
        <p:blipFill rotWithShape="1">
          <a:blip r:embed="rId3"/>
          <a:srcRect l="49574"/>
          <a:stretch>
            <a:fillRect/>
          </a:stretch>
        </p:blipFill>
        <p:spPr>
          <a:xfrm>
            <a:off x="-6351" y="2683700"/>
            <a:ext cx="751651" cy="1490601"/>
          </a:xfrm>
          <a:prstGeom prst="rect">
            <a:avLst/>
          </a:prstGeom>
        </p:spPr>
      </p:pic>
      <p:sp>
        <p:nvSpPr>
          <p:cNvPr id="52232" name="Rectangle 8"/>
          <p:cNvSpPr/>
          <p:nvPr/>
        </p:nvSpPr>
        <p:spPr bwMode="auto">
          <a:xfrm>
            <a:off x="3442970" y="1597342"/>
            <a:ext cx="5410200" cy="398462"/>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err="1">
                <a:solidFill>
                  <a:schemeClr val="tx1"/>
                </a:solidFill>
                <a:latin typeface="Courier New" panose="02070309020205020404" charset="0"/>
                <a:cs typeface="Courier New" panose="02070309020205020404" charset="0"/>
                <a:sym typeface="Courier New Bold" charset="0"/>
              </a:rPr>
              <a:t>val</a:t>
            </a:r>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a:solidFill>
                  <a:schemeClr val="tx1"/>
                </a:solidFill>
                <a:latin typeface="Courier New" panose="02070309020205020404" charset="0"/>
                <a:ea typeface="Calibri Bold Italic" charset="0"/>
                <a:cs typeface="Courier New" panose="02070309020205020404" charset="0"/>
                <a:sym typeface="Calibri Bold Italic" charset="0"/>
              </a:rPr>
              <a:t>Test(x)</a:t>
            </a:r>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a:solidFill>
                  <a:schemeClr val="tx1"/>
                </a:solidFill>
                <a:latin typeface="Courier New" panose="02070309020205020404" charset="0"/>
                <a:ea typeface="Calibri Bold Italic" charset="0"/>
                <a:cs typeface="Courier New" panose="02070309020205020404" charset="0"/>
                <a:sym typeface="Calibri Bold Italic" charset="0"/>
              </a:rPr>
              <a:t>Hard1(x)</a:t>
            </a:r>
            <a:r>
              <a:rPr lang="en-US" sz="1800" b="1" dirty="0">
                <a:solidFill>
                  <a:schemeClr val="tx1"/>
                </a:solidFill>
                <a:latin typeface="Courier New" panose="02070309020205020404" charset="0"/>
                <a:cs typeface="Courier New" panose="02070309020205020404" charset="0"/>
                <a:sym typeface="Courier New Bold" charset="0"/>
              </a:rPr>
              <a:t> : Hard2(x);</a:t>
            </a:r>
          </a:p>
        </p:txBody>
      </p:sp>
      <p:sp>
        <p:nvSpPr>
          <p:cNvPr id="4" name="Rectangle 8"/>
          <p:cNvSpPr/>
          <p:nvPr/>
        </p:nvSpPr>
        <p:spPr bwMode="auto">
          <a:xfrm>
            <a:off x="5614035" y="3192145"/>
            <a:ext cx="2593340" cy="398145"/>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err="1">
                <a:solidFill>
                  <a:schemeClr val="tx1"/>
                </a:solidFill>
                <a:latin typeface="Courier New" panose="02070309020205020404" charset="0"/>
                <a:cs typeface="Courier New" panose="02070309020205020404" charset="0"/>
                <a:sym typeface="Courier New Bold" charset="0"/>
              </a:rPr>
              <a:t>val</a:t>
            </a:r>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a:solidFill>
                  <a:schemeClr val="tx1"/>
                </a:solidFill>
                <a:latin typeface="Courier New" panose="02070309020205020404" charset="0"/>
                <a:ea typeface="Calibri Bold Italic" charset="0"/>
                <a:cs typeface="Courier New" panose="02070309020205020404" charset="0"/>
                <a:sym typeface="Calibri Bold Italic" charset="0"/>
              </a:rPr>
              <a:t>p</a:t>
            </a:r>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a:solidFill>
                  <a:schemeClr val="tx1"/>
                </a:solidFill>
                <a:latin typeface="Courier New" panose="02070309020205020404" charset="0"/>
                <a:ea typeface="Calibri Bold Italic" charset="0"/>
                <a:cs typeface="Courier New" panose="02070309020205020404" charset="0"/>
                <a:sym typeface="Calibri Bold Italic" charset="0"/>
              </a:rPr>
              <a:t>*p</a:t>
            </a:r>
            <a:r>
              <a:rPr lang="en-US" sz="1800" b="1" dirty="0">
                <a:solidFill>
                  <a:schemeClr val="tx1"/>
                </a:solidFill>
                <a:latin typeface="Courier New" panose="02070309020205020404" charset="0"/>
                <a:cs typeface="Courier New" panose="02070309020205020404" charset="0"/>
                <a:sym typeface="Courier New Bold" charset="0"/>
              </a:rPr>
              <a:t> : 0;</a:t>
            </a:r>
          </a:p>
        </p:txBody>
      </p:sp>
      <p:sp>
        <p:nvSpPr>
          <p:cNvPr id="7" name="Rectangle 8"/>
          <p:cNvSpPr/>
          <p:nvPr/>
        </p:nvSpPr>
        <p:spPr bwMode="auto">
          <a:xfrm>
            <a:off x="5153660" y="5253355"/>
            <a:ext cx="3699510" cy="398145"/>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err="1">
                <a:solidFill>
                  <a:schemeClr val="tx1"/>
                </a:solidFill>
                <a:latin typeface="Courier New" panose="02070309020205020404" charset="0"/>
                <a:cs typeface="Courier New" panose="02070309020205020404" charset="0"/>
                <a:sym typeface="Courier New Bold" charset="0"/>
              </a:rPr>
              <a:t>val</a:t>
            </a:r>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a:solidFill>
                  <a:schemeClr val="tx1"/>
                </a:solidFill>
                <a:latin typeface="Courier New" panose="02070309020205020404" charset="0"/>
                <a:ea typeface="Calibri Bold Italic" charset="0"/>
                <a:cs typeface="Courier New" panose="02070309020205020404" charset="0"/>
                <a:sym typeface="Calibri Bold Italic" charset="0"/>
              </a:rPr>
              <a:t>x &gt; 0</a:t>
            </a:r>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a:solidFill>
                  <a:schemeClr val="tx1"/>
                </a:solidFill>
                <a:latin typeface="Courier New" panose="02070309020205020404" charset="0"/>
                <a:ea typeface="Calibri Bold Italic" charset="0"/>
                <a:cs typeface="Courier New" panose="02070309020205020404" charset="0"/>
                <a:sym typeface="Calibri Bold Italic" charset="0"/>
              </a:rPr>
              <a:t>x*=7</a:t>
            </a:r>
            <a:r>
              <a:rPr lang="en-US" sz="1800" b="1" dirty="0">
                <a:solidFill>
                  <a:schemeClr val="tx1"/>
                </a:solidFill>
                <a:latin typeface="Courier New" panose="02070309020205020404" charset="0"/>
                <a:cs typeface="Courier New" panose="02070309020205020404" charset="0"/>
                <a:sym typeface="Courier New Bold" charset="0"/>
              </a:rPr>
              <a:t> : x+=3;</a:t>
            </a:r>
          </a:p>
        </p:txBody>
      </p:sp>
      <p:sp>
        <p:nvSpPr>
          <p:cNvPr id="8" name="文本框 7"/>
          <p:cNvSpPr txBox="1"/>
          <p:nvPr/>
        </p:nvSpPr>
        <p:spPr>
          <a:xfrm>
            <a:off x="3465195" y="2105025"/>
            <a:ext cx="4133215" cy="706755"/>
          </a:xfrm>
          <a:prstGeom prst="rect">
            <a:avLst/>
          </a:prstGeom>
          <a:noFill/>
        </p:spPr>
        <p:txBody>
          <a:bodyPr wrap="square" rtlCol="0">
            <a:spAutoFit/>
          </a:bodyPr>
          <a:lstStyle/>
          <a:p>
            <a:pPr marL="285750" indent="-285750">
              <a:buFont typeface="Wingdings" panose="05000000000000000000" charset="0"/>
              <a:buChar char=""/>
            </a:pPr>
            <a:r>
              <a:rPr lang="zh-CN" altLang="en-US" sz="2000"/>
              <a:t>两个值都得计算。</a:t>
            </a:r>
          </a:p>
          <a:p>
            <a:pPr marL="285750" indent="-285750">
              <a:buFont typeface="Wingdings" panose="05000000000000000000" charset="0"/>
              <a:buChar char=""/>
            </a:pPr>
            <a:r>
              <a:rPr lang="zh-CN" altLang="en-US" sz="2000"/>
              <a:t>只有在计算非常简单时才有意义。</a:t>
            </a:r>
          </a:p>
        </p:txBody>
      </p:sp>
      <p:sp>
        <p:nvSpPr>
          <p:cNvPr id="31" name="文本框 30"/>
          <p:cNvSpPr txBox="1"/>
          <p:nvPr/>
        </p:nvSpPr>
        <p:spPr>
          <a:xfrm>
            <a:off x="3451860" y="3736975"/>
            <a:ext cx="4935855" cy="706755"/>
          </a:xfrm>
          <a:prstGeom prst="rect">
            <a:avLst/>
          </a:prstGeom>
          <a:noFill/>
        </p:spPr>
        <p:txBody>
          <a:bodyPr wrap="square" rtlCol="0">
            <a:spAutoFit/>
          </a:bodyPr>
          <a:lstStyle/>
          <a:p>
            <a:pPr marL="285750" indent="-285750">
              <a:buFont typeface="Wingdings" panose="05000000000000000000" charset="0"/>
              <a:buChar char=""/>
            </a:pPr>
            <a:r>
              <a:rPr lang="zh-CN" altLang="en-US" sz="2000"/>
              <a:t>两个值都得计算。</a:t>
            </a:r>
          </a:p>
          <a:p>
            <a:pPr marL="285750" indent="-285750">
              <a:buFont typeface="Wingdings" panose="05000000000000000000" charset="0"/>
              <a:buChar char=""/>
            </a:pPr>
            <a:r>
              <a:rPr lang="zh-CN" altLang="en-US" sz="2000"/>
              <a:t>可能产生不良影响。</a:t>
            </a:r>
          </a:p>
        </p:txBody>
      </p:sp>
      <p:sp>
        <p:nvSpPr>
          <p:cNvPr id="32" name="文本框 31"/>
          <p:cNvSpPr txBox="1"/>
          <p:nvPr/>
        </p:nvSpPr>
        <p:spPr>
          <a:xfrm>
            <a:off x="3442970" y="5825490"/>
            <a:ext cx="4935855" cy="706755"/>
          </a:xfrm>
          <a:prstGeom prst="rect">
            <a:avLst/>
          </a:prstGeom>
          <a:noFill/>
        </p:spPr>
        <p:txBody>
          <a:bodyPr wrap="square" rtlCol="0">
            <a:spAutoFit/>
          </a:bodyPr>
          <a:lstStyle/>
          <a:p>
            <a:pPr marL="285750" indent="-285750">
              <a:buFont typeface="Wingdings" panose="05000000000000000000" charset="0"/>
              <a:buChar char=""/>
            </a:pPr>
            <a:r>
              <a:rPr lang="zh-CN" altLang="en-US" sz="2000"/>
              <a:t>两个值都得计算。</a:t>
            </a:r>
          </a:p>
          <a:p>
            <a:pPr marL="285750" indent="-285750">
              <a:buFont typeface="Wingdings" panose="05000000000000000000" charset="0"/>
              <a:buChar char=""/>
            </a:pPr>
            <a:r>
              <a:rPr lang="zh-CN" altLang="en-US" sz="2000"/>
              <a:t>必须无副作用。</a:t>
            </a:r>
          </a:p>
        </p:txBody>
      </p:sp>
      <p:sp>
        <p:nvSpPr>
          <p:cNvPr id="33" name="等腰三角形 32"/>
          <p:cNvSpPr/>
          <p:nvPr/>
        </p:nvSpPr>
        <p:spPr>
          <a:xfrm>
            <a:off x="6978015" y="3807460"/>
            <a:ext cx="1769110" cy="1031875"/>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a:t>
            </a:r>
          </a:p>
          <a:p>
            <a:pPr algn="ctr"/>
            <a:r>
              <a:rPr lang="zh-CN" altLang="en-US"/>
              <a:t>不安全</a:t>
            </a:r>
          </a:p>
        </p:txBody>
      </p:sp>
      <p:sp>
        <p:nvSpPr>
          <p:cNvPr id="34" name="等腰三角形 33"/>
          <p:cNvSpPr/>
          <p:nvPr/>
        </p:nvSpPr>
        <p:spPr>
          <a:xfrm>
            <a:off x="7316470" y="5733415"/>
            <a:ext cx="1430655" cy="1049020"/>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a:t>
            </a:r>
          </a:p>
          <a:p>
            <a:pPr algn="ctr"/>
            <a:r>
              <a:rPr lang="zh-CN" altLang="en-US"/>
              <a:t>非法</a:t>
            </a:r>
          </a:p>
        </p:txBody>
      </p:sp>
      <p:sp>
        <p:nvSpPr>
          <p:cNvPr id="35" name="左箭头 34"/>
          <p:cNvSpPr/>
          <p:nvPr/>
        </p:nvSpPr>
        <p:spPr>
          <a:xfrm>
            <a:off x="5614035" y="73660"/>
            <a:ext cx="3508375" cy="1088390"/>
          </a:xfrm>
          <a:prstGeom prst="leftArrow">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条件传送不好的示范：</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2232"/>
                                        </p:tgtEl>
                                        <p:attrNameLst>
                                          <p:attrName>style.visibility</p:attrName>
                                        </p:attrNameLst>
                                      </p:cBhvr>
                                      <p:to>
                                        <p:strVal val="visible"/>
                                      </p:to>
                                    </p:set>
                                    <p:animEffect transition="in" filter="wipe(down)">
                                      <p:cBhvr>
                                        <p:cTn id="7" dur="500"/>
                                        <p:tgtEl>
                                          <p:spTgt spid="522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down)">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500" fill="hold"/>
                                        <p:tgtEl>
                                          <p:spTgt spid="31"/>
                                        </p:tgtEl>
                                        <p:attrNameLst>
                                          <p:attrName>ppt_x</p:attrName>
                                        </p:attrNameLst>
                                      </p:cBhvr>
                                      <p:tavLst>
                                        <p:tav tm="0">
                                          <p:val>
                                            <p:strVal val="#ppt_x"/>
                                          </p:val>
                                        </p:tav>
                                        <p:tav tm="100000">
                                          <p:val>
                                            <p:strVal val="#ppt_x"/>
                                          </p:val>
                                        </p:tav>
                                      </p:tavLst>
                                    </p:anim>
                                    <p:anim calcmode="lin" valueType="num">
                                      <p:cBhvr additive="base">
                                        <p:cTn id="2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33"/>
                                        </p:tgtEl>
                                        <p:attrNameLst>
                                          <p:attrName>style.visibility</p:attrName>
                                        </p:attrNameLst>
                                      </p:cBhvr>
                                      <p:to>
                                        <p:strVal val="visible"/>
                                      </p:to>
                                    </p:set>
                                    <p:anim calcmode="lin" valueType="num">
                                      <p:cBhvr additive="base">
                                        <p:cTn id="28" dur="500" fill="hold"/>
                                        <p:tgtEl>
                                          <p:spTgt spid="33"/>
                                        </p:tgtEl>
                                        <p:attrNameLst>
                                          <p:attrName>ppt_x</p:attrName>
                                        </p:attrNameLst>
                                      </p:cBhvr>
                                      <p:tavLst>
                                        <p:tav tm="0">
                                          <p:val>
                                            <p:strVal val="#ppt_x"/>
                                          </p:val>
                                        </p:tav>
                                        <p:tav tm="100000">
                                          <p:val>
                                            <p:strVal val="#ppt_x"/>
                                          </p:val>
                                        </p:tav>
                                      </p:tavLst>
                                    </p:anim>
                                    <p:anim calcmode="lin" valueType="num">
                                      <p:cBhvr additive="base">
                                        <p:cTn id="29"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wipe(down)">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2"/>
                                        </p:tgtEl>
                                        <p:attrNameLst>
                                          <p:attrName>style.visibility</p:attrName>
                                        </p:attrNameLst>
                                      </p:cBhvr>
                                      <p:to>
                                        <p:strVal val="visible"/>
                                      </p:to>
                                    </p:set>
                                    <p:anim calcmode="lin" valueType="num">
                                      <p:cBhvr additive="base">
                                        <p:cTn id="39" dur="500" fill="hold"/>
                                        <p:tgtEl>
                                          <p:spTgt spid="32"/>
                                        </p:tgtEl>
                                        <p:attrNameLst>
                                          <p:attrName>ppt_x</p:attrName>
                                        </p:attrNameLst>
                                      </p:cBhvr>
                                      <p:tavLst>
                                        <p:tav tm="0">
                                          <p:val>
                                            <p:strVal val="#ppt_x"/>
                                          </p:val>
                                        </p:tav>
                                        <p:tav tm="100000">
                                          <p:val>
                                            <p:strVal val="#ppt_x"/>
                                          </p:val>
                                        </p:tav>
                                      </p:tavLst>
                                    </p:anim>
                                    <p:anim calcmode="lin" valueType="num">
                                      <p:cBhvr additive="base">
                                        <p:cTn id="4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anim calcmode="lin" valueType="num">
                                      <p:cBhvr additive="base">
                                        <p:cTn id="45" dur="500" fill="hold"/>
                                        <p:tgtEl>
                                          <p:spTgt spid="34"/>
                                        </p:tgtEl>
                                        <p:attrNameLst>
                                          <p:attrName>ppt_x</p:attrName>
                                        </p:attrNameLst>
                                      </p:cBhvr>
                                      <p:tavLst>
                                        <p:tav tm="0">
                                          <p:val>
                                            <p:strVal val="#ppt_x"/>
                                          </p:val>
                                        </p:tav>
                                        <p:tav tm="100000">
                                          <p:val>
                                            <p:strVal val="#ppt_x"/>
                                          </p:val>
                                        </p:tav>
                                      </p:tavLst>
                                    </p:anim>
                                    <p:anim calcmode="lin" valueType="num">
                                      <p:cBhvr additive="base">
                                        <p:cTn id="46"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2" grpId="0" animBg="1"/>
      <p:bldP spid="4" grpId="0" animBg="1"/>
      <p:bldP spid="7" grpId="0" animBg="1"/>
      <p:bldP spid="8" grpId="0"/>
      <p:bldP spid="31" grpId="0"/>
      <p:bldP spid="32" grpId="0"/>
      <p:bldP spid="33" grpId="0" animBg="1"/>
      <p:bldP spid="34"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pic>
        <p:nvPicPr>
          <p:cNvPr id="2" name="图片 1"/>
          <p:cNvPicPr>
            <a:picLocks noChangeAspect="1"/>
          </p:cNvPicPr>
          <p:nvPr/>
        </p:nvPicPr>
        <p:blipFill>
          <a:blip r:embed="rId2"/>
          <a:stretch>
            <a:fillRect/>
          </a:stretch>
        </p:blipFill>
        <p:spPr>
          <a:xfrm>
            <a:off x="2975610" y="451485"/>
            <a:ext cx="6104890" cy="3637915"/>
          </a:xfrm>
          <a:prstGeom prst="rect">
            <a:avLst/>
          </a:prstGeom>
        </p:spPr>
      </p:pic>
      <p:sp>
        <p:nvSpPr>
          <p:cNvPr id="220" name=" 220"/>
          <p:cNvSpPr/>
          <p:nvPr/>
        </p:nvSpPr>
        <p:spPr>
          <a:xfrm>
            <a:off x="0" y="554990"/>
            <a:ext cx="2860675" cy="500380"/>
          </a:xfrm>
          <a:prstGeom prst="homePlat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eaLnBrk="1" fontAlgn="auto" hangingPunct="1">
              <a:spcBef>
                <a:spcPts val="0"/>
              </a:spcBef>
              <a:spcAft>
                <a:spcPts val="0"/>
              </a:spcAft>
              <a:defRPr/>
            </a:pPr>
            <a:r>
              <a:rPr lang="zh-CN" altLang="en-US" sz="2800" b="1">
                <a:solidFill>
                  <a:srgbClr val="FFFFFF"/>
                </a:solidFill>
              </a:rPr>
              <a:t>条件传送指令：</a:t>
            </a:r>
          </a:p>
        </p:txBody>
      </p:sp>
      <p:sp>
        <p:nvSpPr>
          <p:cNvPr id="4" name="文本框 3"/>
          <p:cNvSpPr txBox="1"/>
          <p:nvPr/>
        </p:nvSpPr>
        <p:spPr>
          <a:xfrm>
            <a:off x="647065" y="4431665"/>
            <a:ext cx="7665085" cy="1476375"/>
          </a:xfrm>
          <a:prstGeom prst="rect">
            <a:avLst/>
          </a:prstGeom>
          <a:noFill/>
        </p:spPr>
        <p:txBody>
          <a:bodyPr wrap="square" rtlCol="0">
            <a:spAutoFit/>
          </a:bodyPr>
          <a:lstStyle/>
          <a:p>
            <a:pPr marL="285750" indent="-285750" fontAlgn="auto">
              <a:lnSpc>
                <a:spcPct val="150000"/>
              </a:lnSpc>
              <a:buFont typeface="Wingdings" panose="05000000000000000000" charset="0"/>
              <a:buChar char=""/>
            </a:pPr>
            <a:r>
              <a:rPr lang="zh-CN" altLang="en-US" sz="2000" dirty="0"/>
              <a:t>与条件跳转不同，</a:t>
            </a:r>
            <a:r>
              <a:rPr lang="zh-CN" altLang="en-US" sz="2000" dirty="0">
                <a:highlight>
                  <a:srgbClr val="FFFF00"/>
                </a:highlight>
              </a:rPr>
              <a:t>处理器无需预测测试结果就可以执行条件传送</a:t>
            </a:r>
            <a:r>
              <a:rPr lang="zh-CN" altLang="en-US" sz="2000" dirty="0"/>
              <a:t>。</a:t>
            </a:r>
          </a:p>
          <a:p>
            <a:pPr marL="285750" indent="-285750" fontAlgn="auto">
              <a:lnSpc>
                <a:spcPct val="150000"/>
              </a:lnSpc>
              <a:buFont typeface="Wingdings" panose="05000000000000000000" charset="0"/>
              <a:buChar char=""/>
            </a:pPr>
            <a:r>
              <a:rPr lang="zh-CN" altLang="en-US" sz="2000" dirty="0"/>
              <a:t>处理器只是读源值（可能是从内存中</a:t>
            </a:r>
            <a:r>
              <a:rPr lang="en-US" altLang="zh-CN" sz="2000" dirty="0"/>
              <a:t>)</a:t>
            </a:r>
            <a:r>
              <a:rPr lang="zh-CN" altLang="en-US" sz="2000" dirty="0"/>
              <a:t>，检查条件码，然后要么更新目的寄存器，要么保持不变。</a:t>
            </a:r>
          </a:p>
        </p:txBody>
      </p:sp>
      <p:sp>
        <p:nvSpPr>
          <p:cNvPr id="5" name="左大括号 4"/>
          <p:cNvSpPr/>
          <p:nvPr/>
        </p:nvSpPr>
        <p:spPr>
          <a:xfrm>
            <a:off x="2413635" y="804545"/>
            <a:ext cx="561975" cy="3231515"/>
          </a:xfrm>
          <a:prstGeom prst="leftBrace">
            <a:avLst>
              <a:gd name="adj1" fmla="val 113898"/>
              <a:gd name="adj2" fmla="val 63225"/>
            </a:avLst>
          </a:prstGeom>
        </p:spPr>
        <p:style>
          <a:lnRef idx="1">
            <a:schemeClr val="accent3"/>
          </a:lnRef>
          <a:fillRef idx="0">
            <a:schemeClr val="accent3"/>
          </a:fillRef>
          <a:effectRef idx="0">
            <a:schemeClr val="accent3"/>
          </a:effectRef>
          <a:fontRef idx="minor">
            <a:schemeClr val="tx1"/>
          </a:fontRef>
        </p:style>
        <p:txBody>
          <a:bodyPr rtlCol="0" anchor="ctr"/>
          <a:lstStyle/>
          <a:p>
            <a:pPr algn="ctr"/>
            <a:endParaRPr lang="zh-CN" altLang="en-US"/>
          </a:p>
        </p:txBody>
      </p:sp>
      <p:sp>
        <p:nvSpPr>
          <p:cNvPr id="6" name="流程图: 顺序访问存储器 5"/>
          <p:cNvSpPr/>
          <p:nvPr/>
        </p:nvSpPr>
        <p:spPr>
          <a:xfrm>
            <a:off x="124460" y="1566545"/>
            <a:ext cx="2145030" cy="1407795"/>
          </a:xfrm>
          <a:prstGeom prst="flowChartMagneticTap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当传送条件满足时，</a:t>
            </a:r>
            <a:r>
              <a:rPr lang="zh-CN" altLang="en-US" dirty="0">
                <a:solidFill>
                  <a:schemeClr val="tx1"/>
                </a:solidFill>
                <a:highlight>
                  <a:srgbClr val="FFFF00"/>
                </a:highlight>
              </a:rPr>
              <a:t>指令把源值</a:t>
            </a:r>
            <a:r>
              <a:rPr lang="en-US" altLang="zh-CN" dirty="0">
                <a:solidFill>
                  <a:schemeClr val="tx1"/>
                </a:solidFill>
                <a:highlight>
                  <a:srgbClr val="FFFF00"/>
                </a:highlight>
              </a:rPr>
              <a:t>S</a:t>
            </a:r>
            <a:r>
              <a:rPr lang="zh-CN" altLang="en-US" dirty="0">
                <a:solidFill>
                  <a:schemeClr val="tx1"/>
                </a:solidFill>
                <a:highlight>
                  <a:srgbClr val="FFFF00"/>
                </a:highlight>
              </a:rPr>
              <a:t>复制到目的</a:t>
            </a:r>
            <a:r>
              <a:rPr lang="en-US" altLang="zh-CN" dirty="0">
                <a:solidFill>
                  <a:schemeClr val="tx1"/>
                </a:solidFill>
                <a:highlight>
                  <a:srgbClr val="FFFF00"/>
                </a:highlight>
              </a:rPr>
              <a:t>R</a:t>
            </a:r>
            <a:r>
              <a:rPr lang="zh-CN" altLang="en-US" dirty="0">
                <a:solidFill>
                  <a:schemeClr val="tx1"/>
                </a:solidFill>
                <a:highlight>
                  <a:srgbClr val="FFFF00"/>
                </a:highligh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Effect transition="in" filter="wipe(down)">
                                      <p:cBhvr>
                                        <p:cTn id="18" dur="500"/>
                                        <p:tgtEl>
                                          <p:spTgt spid="4">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
                                            <p:txEl>
                                              <p:pRg st="1" end="1"/>
                                            </p:txEl>
                                          </p:spTgt>
                                        </p:tgtEl>
                                        <p:attrNameLst>
                                          <p:attrName>style.visibility</p:attrName>
                                        </p:attrNameLst>
                                      </p:cBhvr>
                                      <p:to>
                                        <p:strVal val="visible"/>
                                      </p:to>
                                    </p:set>
                                    <p:animEffect transition="in" filter="wipe(down)">
                                      <p:cBhvr>
                                        <p:cTn id="23"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5452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5715839" y="-7839"/>
            <a:ext cx="944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循环</a:t>
            </a:r>
          </a:p>
        </p:txBody>
      </p:sp>
      <p:sp>
        <p:nvSpPr>
          <p:cNvPr id="220" name=" 220"/>
          <p:cNvSpPr/>
          <p:nvPr/>
        </p:nvSpPr>
        <p:spPr>
          <a:xfrm>
            <a:off x="0" y="1473835"/>
            <a:ext cx="2225040" cy="539115"/>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a:solidFill>
                  <a:schemeClr val="tx1"/>
                </a:solidFill>
                <a:sym typeface="+mn-ea"/>
              </a:rPr>
              <a:t>Do-While</a:t>
            </a:r>
            <a:endParaRPr lang="en-US" altLang="en-US" sz="2400">
              <a:solidFill>
                <a:schemeClr val="tx1"/>
              </a:solidFill>
              <a:sym typeface="+mn-ea"/>
            </a:endParaRPr>
          </a:p>
        </p:txBody>
      </p:sp>
      <p:sp>
        <p:nvSpPr>
          <p:cNvPr id="54276" name="Rectangle 4"/>
          <p:cNvSpPr/>
          <p:nvPr/>
        </p:nvSpPr>
        <p:spPr bwMode="auto">
          <a:xfrm>
            <a:off x="424815" y="2245359"/>
            <a:ext cx="3736976" cy="2632076"/>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pcount_do</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do {</a:t>
            </a:r>
          </a:p>
          <a:p>
            <a:pPr algn="l"/>
            <a:r>
              <a:rPr lang="en-US" sz="1800" b="1" dirty="0">
                <a:solidFill>
                  <a:schemeClr val="tx1"/>
                </a:solidFill>
                <a:latin typeface="Courier New" panose="02070309020205020404" charset="0"/>
                <a:cs typeface="Courier New" panose="02070309020205020404" charset="0"/>
                <a:sym typeface="Courier New Bold" charset="0"/>
              </a:rPr>
              <a:t>    result += x &amp; 0x1;</a:t>
            </a:r>
          </a:p>
          <a:p>
            <a:pPr algn="l"/>
            <a:r>
              <a:rPr lang="en-US" sz="1800" b="1" dirty="0">
                <a:solidFill>
                  <a:schemeClr val="tx1"/>
                </a:solidFill>
                <a:latin typeface="Courier New" panose="02070309020205020404" charset="0"/>
                <a:cs typeface="Courier New" panose="02070309020205020404" charset="0"/>
                <a:sym typeface="Courier New Bold" charset="0"/>
              </a:rPr>
              <a:t>    x &gt;&gt;= 1;</a:t>
            </a:r>
          </a:p>
          <a:p>
            <a:pPr algn="l"/>
            <a:r>
              <a:rPr lang="en-US" sz="1800" b="1" dirty="0">
                <a:solidFill>
                  <a:schemeClr val="tx1"/>
                </a:solidFill>
                <a:latin typeface="Courier New" panose="02070309020205020404" charset="0"/>
                <a:cs typeface="Courier New" panose="02070309020205020404" charset="0"/>
                <a:sym typeface="Courier New Bold" charset="0"/>
              </a:rPr>
              <a:t>  } while (x);</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54278" name="Rectangle 6"/>
          <p:cNvSpPr/>
          <p:nvPr/>
        </p:nvSpPr>
        <p:spPr bwMode="auto">
          <a:xfrm>
            <a:off x="4902199" y="3217544"/>
            <a:ext cx="4041775" cy="2936875"/>
          </a:xfrm>
          <a:prstGeom prst="rect">
            <a:avLst/>
          </a:prstGeom>
          <a:solidFill>
            <a:srgbClr val="D5F1C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pcount_goto</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rgbClr val="CC0000"/>
                </a:solidFill>
                <a:latin typeface="Courier New" panose="02070309020205020404" charset="0"/>
                <a:cs typeface="Courier New" panose="02070309020205020404" charset="0"/>
                <a:sym typeface="Courier New Bold" charset="0"/>
              </a:rPr>
              <a:t> loop:</a:t>
            </a:r>
          </a:p>
          <a:p>
            <a:pPr algn="l"/>
            <a:r>
              <a:rPr lang="en-US" sz="1800" b="1" dirty="0">
                <a:solidFill>
                  <a:schemeClr val="tx1"/>
                </a:solidFill>
                <a:latin typeface="Courier New" panose="02070309020205020404" charset="0"/>
                <a:cs typeface="Courier New" panose="02070309020205020404" charset="0"/>
                <a:sym typeface="Courier New Bold" charset="0"/>
              </a:rPr>
              <a:t>  result += x &amp; 0x1;</a:t>
            </a:r>
          </a:p>
          <a:p>
            <a:pPr algn="l"/>
            <a:r>
              <a:rPr lang="en-US" sz="1800" b="1" dirty="0">
                <a:solidFill>
                  <a:schemeClr val="tx1"/>
                </a:solidFill>
                <a:latin typeface="Courier New" panose="02070309020205020404" charset="0"/>
                <a:cs typeface="Courier New" panose="02070309020205020404" charset="0"/>
                <a:sym typeface="Courier New Bold" charset="0"/>
              </a:rPr>
              <a:t>  x &gt;&gt;= 1;</a:t>
            </a:r>
          </a:p>
          <a:p>
            <a:pPr algn="l"/>
            <a:r>
              <a:rPr lang="en-US" sz="1800" b="1" dirty="0">
                <a:solidFill>
                  <a:schemeClr val="tx1"/>
                </a:solidFill>
                <a:latin typeface="Courier New" panose="02070309020205020404" charset="0"/>
                <a:cs typeface="Courier New" panose="02070309020205020404" charset="0"/>
                <a:sym typeface="Courier New Bold" charset="0"/>
              </a:rPr>
              <a:t>  if(x)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C0000"/>
                </a:solidFill>
                <a:latin typeface="Courier New" panose="02070309020205020404" charset="0"/>
                <a:cs typeface="Courier New" panose="02070309020205020404" charset="0"/>
                <a:sym typeface="Courier New Bold" charset="0"/>
              </a:rPr>
              <a:t>loop</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1" name="椭圆形标注 20"/>
          <p:cNvSpPr/>
          <p:nvPr/>
        </p:nvSpPr>
        <p:spPr>
          <a:xfrm>
            <a:off x="4744720" y="1409700"/>
            <a:ext cx="3880485" cy="1367155"/>
          </a:xfrm>
          <a:prstGeom prst="wedgeEllipseCallout">
            <a:avLst>
              <a:gd name="adj1" fmla="val 1219"/>
              <a:gd name="adj2" fmla="val 73084"/>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a:solidFill>
                  <a:schemeClr val="tx1"/>
                </a:solidFill>
              </a:rPr>
              <a:t>goto</a:t>
            </a:r>
            <a:r>
              <a:rPr lang="zh-CN" altLang="en-US" sz="2000">
                <a:solidFill>
                  <a:schemeClr val="tx1"/>
                </a:solidFill>
              </a:rPr>
              <a:t>代码展示如何把循环变成低级的测试和条件跳转组合。</a:t>
            </a:r>
          </a:p>
        </p:txBody>
      </p:sp>
      <p:sp>
        <p:nvSpPr>
          <p:cNvPr id="23" name="文本框 22"/>
          <p:cNvSpPr txBox="1"/>
          <p:nvPr/>
        </p:nvSpPr>
        <p:spPr>
          <a:xfrm>
            <a:off x="414020" y="5194300"/>
            <a:ext cx="4093845" cy="1076325"/>
          </a:xfrm>
          <a:prstGeom prst="rect">
            <a:avLst/>
          </a:prstGeom>
          <a:noFill/>
        </p:spPr>
        <p:txBody>
          <a:bodyPr wrap="square" rtlCol="0">
            <a:spAutoFit/>
          </a:bodyPr>
          <a:lstStyle/>
          <a:p>
            <a:pPr marL="285750" indent="-285750">
              <a:buFont typeface="Wingdings" panose="05000000000000000000" charset="0"/>
              <a:buChar char=""/>
            </a:pPr>
            <a:r>
              <a:rPr lang="zh-CN" altLang="en-US" sz="2000">
                <a:sym typeface="+mn-ea"/>
              </a:rPr>
              <a:t>使用条件分支要么继续循环，要么退出循环。</a:t>
            </a:r>
            <a:endParaRPr lang="zh-CN" altLang="en-US" sz="2400">
              <a:solidFill>
                <a:schemeClr val="tx1"/>
              </a:solidFill>
              <a:sym typeface="+mn-ea"/>
            </a:endParaRPr>
          </a:p>
          <a:p>
            <a:endParaRPr lang="zh-CN" altLang="en-US" sz="2400">
              <a:solidFill>
                <a:schemeClr val="tx1"/>
              </a:solidFill>
              <a:sym typeface="+mn-ea"/>
            </a:endParaRPr>
          </a:p>
        </p:txBody>
      </p:sp>
      <p:sp>
        <p:nvSpPr>
          <p:cNvPr id="24" name="左右箭头 23"/>
          <p:cNvSpPr/>
          <p:nvPr/>
        </p:nvSpPr>
        <p:spPr>
          <a:xfrm>
            <a:off x="3954780" y="3803015"/>
            <a:ext cx="1144905" cy="500380"/>
          </a:xfrm>
          <a:prstGeom prst="leftRightArrow">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4"/>
                                        </p:tgtEl>
                                        <p:attrNameLst>
                                          <p:attrName>style.visibility</p:attrName>
                                        </p:attrNameLst>
                                      </p:cBhvr>
                                      <p:to>
                                        <p:strVal val="visible"/>
                                      </p:to>
                                    </p:set>
                                    <p:anim calcmode="lin" valueType="num">
                                      <p:cBhvr additive="base">
                                        <p:cTn id="22" dur="500" fill="hold"/>
                                        <p:tgtEl>
                                          <p:spTgt spid="24"/>
                                        </p:tgtEl>
                                        <p:attrNameLst>
                                          <p:attrName>ppt_x</p:attrName>
                                        </p:attrNameLst>
                                      </p:cBhvr>
                                      <p:tavLst>
                                        <p:tav tm="0">
                                          <p:val>
                                            <p:strVal val="#ppt_x"/>
                                          </p:val>
                                        </p:tav>
                                        <p:tav tm="100000">
                                          <p:val>
                                            <p:strVal val="#ppt_x"/>
                                          </p:val>
                                        </p:tav>
                                      </p:tavLst>
                                    </p:anim>
                                    <p:anim calcmode="lin" valueType="num">
                                      <p:cBhvr additive="base">
                                        <p:cTn id="23"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54278"/>
                                        </p:tgtEl>
                                        <p:attrNameLst>
                                          <p:attrName>style.visibility</p:attrName>
                                        </p:attrNameLst>
                                      </p:cBhvr>
                                      <p:to>
                                        <p:strVal val="visible"/>
                                      </p:to>
                                    </p:set>
                                    <p:anim calcmode="lin" valueType="num">
                                      <p:cBhvr additive="base">
                                        <p:cTn id="28" dur="500" fill="hold"/>
                                        <p:tgtEl>
                                          <p:spTgt spid="54278"/>
                                        </p:tgtEl>
                                        <p:attrNameLst>
                                          <p:attrName>ppt_x</p:attrName>
                                        </p:attrNameLst>
                                      </p:cBhvr>
                                      <p:tavLst>
                                        <p:tav tm="0">
                                          <p:val>
                                            <p:strVal val="#ppt_x"/>
                                          </p:val>
                                        </p:tav>
                                        <p:tav tm="100000">
                                          <p:val>
                                            <p:strVal val="#ppt_x"/>
                                          </p:val>
                                        </p:tav>
                                      </p:tavLst>
                                    </p:anim>
                                    <p:anim calcmode="lin" valueType="num">
                                      <p:cBhvr additive="base">
                                        <p:cTn id="29" dur="500" fill="hold"/>
                                        <p:tgtEl>
                                          <p:spTgt spid="54278"/>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500" fill="hold"/>
                                        <p:tgtEl>
                                          <p:spTgt spid="21"/>
                                        </p:tgtEl>
                                        <p:attrNameLst>
                                          <p:attrName>ppt_x</p:attrName>
                                        </p:attrNameLst>
                                      </p:cBhvr>
                                      <p:tavLst>
                                        <p:tav tm="0">
                                          <p:val>
                                            <p:strVal val="#ppt_x"/>
                                          </p:val>
                                        </p:tav>
                                        <p:tav tm="100000">
                                          <p:val>
                                            <p:strVal val="#ppt_x"/>
                                          </p:val>
                                        </p:tav>
                                      </p:tavLst>
                                    </p:anim>
                                    <p:anim calcmode="lin" valueType="num">
                                      <p:cBhvr additive="base">
                                        <p:cTn id="3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down)">
                                      <p:cBhvr>
                                        <p:cTn id="4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54278" grpId="0" animBg="1"/>
      <p:bldP spid="21" grpId="0" animBg="1"/>
      <p:bldP spid="23" grpId="0"/>
      <p:bldP spid="2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46405"/>
            <a:ext cx="2435225" cy="658495"/>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循环编译</a:t>
            </a:r>
            <a:r>
              <a:rPr lang="en-US" altLang="zh-CN" sz="2400"/>
              <a:t>:</a:t>
            </a:r>
          </a:p>
        </p:txBody>
      </p:sp>
      <p:sp>
        <p:nvSpPr>
          <p:cNvPr id="9" name="Rectangle 6"/>
          <p:cNvSpPr/>
          <p:nvPr/>
        </p:nvSpPr>
        <p:spPr bwMode="auto">
          <a:xfrm>
            <a:off x="381000" y="1524001"/>
            <a:ext cx="4041775" cy="2590800"/>
          </a:xfrm>
          <a:prstGeom prst="rect">
            <a:avLst/>
          </a:prstGeom>
          <a:solidFill>
            <a:srgbClr val="D5F1C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pcount_goto</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rgbClr val="CC0000"/>
                </a:solidFill>
                <a:latin typeface="Courier New" panose="02070309020205020404" charset="0"/>
                <a:cs typeface="Courier New" panose="02070309020205020404" charset="0"/>
                <a:sym typeface="Courier New Bold" charset="0"/>
              </a:rPr>
              <a:t> loop:</a:t>
            </a:r>
          </a:p>
          <a:p>
            <a:pPr algn="l"/>
            <a:r>
              <a:rPr lang="en-US" sz="1800" b="1" dirty="0">
                <a:solidFill>
                  <a:schemeClr val="tx1"/>
                </a:solidFill>
                <a:latin typeface="Courier New" panose="02070309020205020404" charset="0"/>
                <a:cs typeface="Courier New" panose="02070309020205020404" charset="0"/>
                <a:sym typeface="Courier New Bold" charset="0"/>
              </a:rPr>
              <a:t>  result += x &amp; 0x1;</a:t>
            </a:r>
          </a:p>
          <a:p>
            <a:pPr algn="l"/>
            <a:r>
              <a:rPr lang="en-US" sz="1800" b="1" dirty="0">
                <a:solidFill>
                  <a:schemeClr val="tx1"/>
                </a:solidFill>
                <a:latin typeface="Courier New" panose="02070309020205020404" charset="0"/>
                <a:cs typeface="Courier New" panose="02070309020205020404" charset="0"/>
                <a:sym typeface="Courier New Bold" charset="0"/>
              </a:rPr>
              <a:t>  x &gt;&gt;= 1;</a:t>
            </a:r>
          </a:p>
          <a:p>
            <a:pPr algn="l"/>
            <a:r>
              <a:rPr lang="en-US" sz="1800" b="1" dirty="0">
                <a:solidFill>
                  <a:schemeClr val="tx1"/>
                </a:solidFill>
                <a:latin typeface="Courier New" panose="02070309020205020404" charset="0"/>
                <a:cs typeface="Courier New" panose="02070309020205020404" charset="0"/>
                <a:sym typeface="Courier New Bold" charset="0"/>
              </a:rPr>
              <a:t>  if(x)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C0000"/>
                </a:solidFill>
                <a:latin typeface="Courier New" panose="02070309020205020404" charset="0"/>
                <a:cs typeface="Courier New" panose="02070309020205020404" charset="0"/>
                <a:sym typeface="Courier New Bold" charset="0"/>
              </a:rPr>
              <a:t>loop</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graphicFrame>
        <p:nvGraphicFramePr>
          <p:cNvPr id="11" name="Table 10"/>
          <p:cNvGraphicFramePr>
            <a:graphicFrameLocks noGrp="1"/>
          </p:cNvGraphicFramePr>
          <p:nvPr/>
        </p:nvGraphicFramePr>
        <p:xfrm>
          <a:off x="4710430" y="1917700"/>
          <a:ext cx="3352800" cy="1143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dirty="0">
                          <a:latin typeface="Calibri" panose="020F0502020204030204"/>
                          <a:cs typeface="Calibri" panose="020F0502020204030204"/>
                        </a:rPr>
                        <a:t> </a:t>
                      </a:r>
                      <a:r>
                        <a:rPr lang="en-US" b="1" i="0" dirty="0">
                          <a:latin typeface="Courier New" panose="02070309020205020404"/>
                          <a:cs typeface="Courier New" panose="02070309020205020404"/>
                        </a:rPr>
                        <a:t>x</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result</a:t>
                      </a:r>
                    </a:p>
                  </a:txBody>
                  <a:tcPr/>
                </a:tc>
                <a:extLst>
                  <a:ext uri="{0D108BD9-81ED-4DB2-BD59-A6C34878D82A}">
                    <a16:rowId xmlns:a16="http://schemas.microsoft.com/office/drawing/2014/main" val="10002"/>
                  </a:ext>
                </a:extLst>
              </a:tr>
            </a:tbl>
          </a:graphicData>
        </a:graphic>
      </p:graphicFrame>
      <p:sp>
        <p:nvSpPr>
          <p:cNvPr id="55307" name="Rectangle 11"/>
          <p:cNvSpPr/>
          <p:nvPr/>
        </p:nvSpPr>
        <p:spPr bwMode="auto">
          <a:xfrm>
            <a:off x="1003300" y="4330065"/>
            <a:ext cx="5791200" cy="2057400"/>
          </a:xfrm>
          <a:prstGeom prst="rect">
            <a:avLst/>
          </a:prstGeom>
          <a:noFill/>
          <a:ln w="12700" cap="flat">
            <a:noFill/>
            <a:miter lim="800000"/>
            <a:headEnd type="none" w="med" len="med"/>
            <a:tailEnd type="none" w="med" len="med"/>
          </a:ln>
        </p:spPr>
        <p:txBody>
          <a:bodyPr lIns="38100" tIns="38100" rIns="38100" bIns="38100"/>
          <a:lstStyle/>
          <a:p>
            <a:pPr algn="l">
              <a:tabLst>
                <a:tab pos="292100" algn="l"/>
                <a:tab pos="292100" algn="l"/>
                <a:tab pos="292100" algn="l"/>
                <a:tab pos="1150620" algn="l"/>
                <a:tab pos="292100" algn="l"/>
                <a:tab pos="2860675"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Lst>
            </a:pPr>
            <a:r>
              <a:rPr lang="en-US"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movl</a:t>
            </a:r>
            <a:r>
              <a:rPr lang="cs-CZ" sz="1800" b="1" dirty="0">
                <a:solidFill>
                  <a:schemeClr val="tx1"/>
                </a:solidFill>
                <a:latin typeface="Courier New" panose="02070309020205020404" charset="0"/>
                <a:ea typeface="Monaco" charset="0"/>
                <a:cs typeface="Courier New" panose="02070309020205020404" charset="0"/>
                <a:sym typeface="Monaco" charset="0"/>
              </a:rPr>
              <a:t>    $0, %</a:t>
            </a:r>
            <a:r>
              <a:rPr lang="cs-CZ" sz="1800" b="1" dirty="0" err="1">
                <a:solidFill>
                  <a:schemeClr val="tx1"/>
                </a:solidFill>
                <a:latin typeface="Courier New" panose="02070309020205020404" charset="0"/>
                <a:ea typeface="Monaco" charset="0"/>
                <a:cs typeface="Courier New" panose="02070309020205020404" charset="0"/>
                <a:sym typeface="Monaco" charset="0"/>
              </a:rPr>
              <a:t>eax</a:t>
            </a:r>
            <a:r>
              <a:rPr lang="cs-CZ" sz="1800" b="1" dirty="0">
                <a:solidFill>
                  <a:schemeClr val="tx1"/>
                </a:solidFill>
                <a:latin typeface="Courier New" panose="02070309020205020404" charset="0"/>
                <a:ea typeface="Monaco" charset="0"/>
                <a:cs typeface="Courier New" panose="02070309020205020404" charset="0"/>
                <a:sym typeface="Monaco" charset="0"/>
              </a:rPr>
              <a:t>		#  </a:t>
            </a:r>
            <a:r>
              <a:rPr lang="cs-CZ" sz="1800" b="1" dirty="0" err="1">
                <a:solidFill>
                  <a:schemeClr val="tx1"/>
                </a:solidFill>
                <a:latin typeface="Courier New" panose="02070309020205020404" charset="0"/>
                <a:ea typeface="Monaco" charset="0"/>
                <a:cs typeface="Courier New" panose="02070309020205020404" charset="0"/>
                <a:sym typeface="Monaco" charset="0"/>
              </a:rPr>
              <a:t>result</a:t>
            </a:r>
            <a:r>
              <a:rPr lang="cs-CZ" sz="1800" b="1" dirty="0">
                <a:solidFill>
                  <a:schemeClr val="tx1"/>
                </a:solidFill>
                <a:latin typeface="Courier New" panose="02070309020205020404" charset="0"/>
                <a:ea typeface="Monaco" charset="0"/>
                <a:cs typeface="Courier New" panose="02070309020205020404" charset="0"/>
                <a:sym typeface="Monaco" charset="0"/>
              </a:rPr>
              <a:t> = 0</a:t>
            </a:r>
          </a:p>
          <a:p>
            <a:pPr algn="l">
              <a:tabLst>
                <a:tab pos="292100" algn="l"/>
                <a:tab pos="292100" algn="l"/>
                <a:tab pos="292100" algn="l"/>
                <a:tab pos="1150620" algn="l"/>
                <a:tab pos="292100" algn="l"/>
                <a:tab pos="2860675"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Lst>
            </a:pPr>
            <a:r>
              <a:rPr lang="cs-CZ" sz="1800" b="1" dirty="0">
                <a:solidFill>
                  <a:schemeClr val="tx1"/>
                </a:solidFill>
                <a:latin typeface="Courier New" panose="02070309020205020404" charset="0"/>
                <a:ea typeface="Monaco" charset="0"/>
                <a:cs typeface="Courier New" panose="02070309020205020404" charset="0"/>
                <a:sym typeface="Monaco" charset="0"/>
              </a:rPr>
              <a:t>.L2:			# </a:t>
            </a:r>
            <a:r>
              <a:rPr lang="cs-CZ" sz="1800" b="1" dirty="0" err="1">
                <a:solidFill>
                  <a:schemeClr val="tx1"/>
                </a:solidFill>
                <a:latin typeface="Courier New" panose="02070309020205020404" charset="0"/>
                <a:ea typeface="Monaco" charset="0"/>
                <a:cs typeface="Courier New" panose="02070309020205020404" charset="0"/>
                <a:sym typeface="Monaco" charset="0"/>
              </a:rPr>
              <a:t>loop</a:t>
            </a:r>
            <a:r>
              <a:rPr lang="cs-CZ" sz="1800" b="1" dirty="0">
                <a:solidFill>
                  <a:schemeClr val="tx1"/>
                </a:solidFill>
                <a:latin typeface="Courier New" panose="02070309020205020404" charset="0"/>
                <a:ea typeface="Monaco" charset="0"/>
                <a:cs typeface="Courier New" panose="02070309020205020404" charset="0"/>
                <a:sym typeface="Monaco" charset="0"/>
              </a:rPr>
              <a:t>:</a:t>
            </a:r>
          </a:p>
          <a:p>
            <a:pPr algn="l">
              <a:tabLst>
                <a:tab pos="292100" algn="l"/>
                <a:tab pos="292100" algn="l"/>
                <a:tab pos="292100" algn="l"/>
                <a:tab pos="1150620" algn="l"/>
                <a:tab pos="292100" algn="l"/>
                <a:tab pos="2860675"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Lst>
            </a:pP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movq</a:t>
            </a:r>
            <a:r>
              <a:rPr lang="cs-CZ" sz="1800" b="1" dirty="0">
                <a:solidFill>
                  <a:schemeClr val="tx1"/>
                </a:solidFill>
                <a:latin typeface="Courier New" panose="02070309020205020404" charset="0"/>
                <a:ea typeface="Monaco" charset="0"/>
                <a:cs typeface="Courier New" panose="02070309020205020404" charset="0"/>
                <a:sym typeface="Monaco" charset="0"/>
              </a:rPr>
              <a:t>    %rdi, %</a:t>
            </a:r>
            <a:r>
              <a:rPr lang="cs-CZ" sz="1800" b="1" dirty="0" err="1">
                <a:solidFill>
                  <a:schemeClr val="tx1"/>
                </a:solidFill>
                <a:latin typeface="Courier New" panose="02070309020205020404" charset="0"/>
                <a:ea typeface="Monaco" charset="0"/>
                <a:cs typeface="Courier New" panose="02070309020205020404" charset="0"/>
                <a:sym typeface="Monaco" charset="0"/>
              </a:rPr>
              <a:t>rdx</a:t>
            </a:r>
            <a:r>
              <a:rPr lang="cs-CZ" sz="1800" b="1" dirty="0">
                <a:solidFill>
                  <a:schemeClr val="tx1"/>
                </a:solidFill>
                <a:latin typeface="Courier New" panose="02070309020205020404" charset="0"/>
                <a:ea typeface="Monaco" charset="0"/>
                <a:cs typeface="Courier New" panose="02070309020205020404" charset="0"/>
                <a:sym typeface="Monaco" charset="0"/>
              </a:rPr>
              <a:t>	</a:t>
            </a:r>
          </a:p>
          <a:p>
            <a:pPr algn="l">
              <a:tabLst>
                <a:tab pos="292100" algn="l"/>
                <a:tab pos="292100" algn="l"/>
                <a:tab pos="292100" algn="l"/>
                <a:tab pos="1150620" algn="l"/>
                <a:tab pos="292100" algn="l"/>
                <a:tab pos="2860675"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Lst>
            </a:pP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andl</a:t>
            </a:r>
            <a:r>
              <a:rPr lang="cs-CZ" sz="1800" b="1" dirty="0">
                <a:solidFill>
                  <a:schemeClr val="tx1"/>
                </a:solidFill>
                <a:latin typeface="Courier New" panose="02070309020205020404" charset="0"/>
                <a:ea typeface="Monaco" charset="0"/>
                <a:cs typeface="Courier New" panose="02070309020205020404" charset="0"/>
                <a:sym typeface="Monaco" charset="0"/>
              </a:rPr>
              <a:t>    $1, %</a:t>
            </a:r>
            <a:r>
              <a:rPr lang="cs-CZ" sz="1800" b="1" dirty="0" err="1">
                <a:solidFill>
                  <a:schemeClr val="tx1"/>
                </a:solidFill>
                <a:latin typeface="Courier New" panose="02070309020205020404" charset="0"/>
                <a:ea typeface="Monaco" charset="0"/>
                <a:cs typeface="Courier New" panose="02070309020205020404" charset="0"/>
                <a:sym typeface="Monaco" charset="0"/>
              </a:rPr>
              <a:t>edx</a:t>
            </a:r>
            <a:r>
              <a:rPr lang="cs-CZ" sz="1800" b="1" dirty="0">
                <a:solidFill>
                  <a:schemeClr val="tx1"/>
                </a:solidFill>
                <a:latin typeface="Courier New" panose="02070309020205020404" charset="0"/>
                <a:ea typeface="Monaco" charset="0"/>
                <a:cs typeface="Courier New" panose="02070309020205020404" charset="0"/>
                <a:sym typeface="Monaco" charset="0"/>
              </a:rPr>
              <a:t>		#  t = </a:t>
            </a:r>
            <a:r>
              <a:rPr lang="cs-CZ" sz="1800" b="1" dirty="0" err="1">
                <a:solidFill>
                  <a:schemeClr val="tx1"/>
                </a:solidFill>
                <a:latin typeface="Courier New" panose="02070309020205020404" charset="0"/>
                <a:ea typeface="Monaco" charset="0"/>
                <a:cs typeface="Courier New" panose="02070309020205020404" charset="0"/>
                <a:sym typeface="Monaco" charset="0"/>
              </a:rPr>
              <a:t>x</a:t>
            </a:r>
            <a:r>
              <a:rPr lang="cs-CZ" sz="1800" b="1" dirty="0">
                <a:solidFill>
                  <a:schemeClr val="tx1"/>
                </a:solidFill>
                <a:latin typeface="Courier New" panose="02070309020205020404" charset="0"/>
                <a:ea typeface="Monaco" charset="0"/>
                <a:cs typeface="Courier New" panose="02070309020205020404" charset="0"/>
                <a:sym typeface="Monaco" charset="0"/>
              </a:rPr>
              <a:t> &amp; 0x1</a:t>
            </a:r>
          </a:p>
          <a:p>
            <a:pPr algn="l">
              <a:tabLst>
                <a:tab pos="292100" algn="l"/>
                <a:tab pos="292100" algn="l"/>
                <a:tab pos="292100" algn="l"/>
                <a:tab pos="1150620" algn="l"/>
                <a:tab pos="292100" algn="l"/>
                <a:tab pos="2860675"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Lst>
            </a:pP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addq</a:t>
            </a: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rdx</a:t>
            </a: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rax</a:t>
            </a:r>
            <a:r>
              <a:rPr lang="cs-CZ" sz="1800" b="1" dirty="0">
                <a:solidFill>
                  <a:schemeClr val="tx1"/>
                </a:solidFill>
                <a:latin typeface="Courier New" panose="02070309020205020404" charset="0"/>
                <a:ea typeface="Monaco" charset="0"/>
                <a:cs typeface="Courier New" panose="02070309020205020404" charset="0"/>
                <a:sym typeface="Monaco" charset="0"/>
              </a:rPr>
              <a:t>	#  </a:t>
            </a:r>
            <a:r>
              <a:rPr lang="cs-CZ" sz="1800" b="1" dirty="0" err="1">
                <a:solidFill>
                  <a:schemeClr val="tx1"/>
                </a:solidFill>
                <a:latin typeface="Courier New" panose="02070309020205020404" charset="0"/>
                <a:ea typeface="Monaco" charset="0"/>
                <a:cs typeface="Courier New" panose="02070309020205020404" charset="0"/>
                <a:sym typeface="Monaco" charset="0"/>
              </a:rPr>
              <a:t>result</a:t>
            </a:r>
            <a:r>
              <a:rPr lang="cs-CZ" sz="1800" b="1" dirty="0">
                <a:solidFill>
                  <a:schemeClr val="tx1"/>
                </a:solidFill>
                <a:latin typeface="Courier New" panose="02070309020205020404" charset="0"/>
                <a:ea typeface="Monaco" charset="0"/>
                <a:cs typeface="Courier New" panose="02070309020205020404" charset="0"/>
                <a:sym typeface="Monaco" charset="0"/>
              </a:rPr>
              <a:t> += t</a:t>
            </a:r>
          </a:p>
          <a:p>
            <a:pPr algn="l">
              <a:tabLst>
                <a:tab pos="292100" algn="l"/>
                <a:tab pos="292100" algn="l"/>
                <a:tab pos="292100" algn="l"/>
                <a:tab pos="1150620" algn="l"/>
                <a:tab pos="292100" algn="l"/>
                <a:tab pos="2860675"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Lst>
            </a:pP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shrq</a:t>
            </a:r>
            <a:r>
              <a:rPr lang="cs-CZ" sz="1800" b="1" dirty="0">
                <a:solidFill>
                  <a:schemeClr val="tx1"/>
                </a:solidFill>
                <a:latin typeface="Courier New" panose="02070309020205020404" charset="0"/>
                <a:ea typeface="Monaco" charset="0"/>
                <a:cs typeface="Courier New" panose="02070309020205020404" charset="0"/>
                <a:sym typeface="Monaco" charset="0"/>
              </a:rPr>
              <a:t>    %rdi		#  </a:t>
            </a:r>
            <a:r>
              <a:rPr lang="cs-CZ" sz="1800" b="1" dirty="0" err="1">
                <a:solidFill>
                  <a:schemeClr val="tx1"/>
                </a:solidFill>
                <a:latin typeface="Courier New" panose="02070309020205020404" charset="0"/>
                <a:ea typeface="Monaco" charset="0"/>
                <a:cs typeface="Courier New" panose="02070309020205020404" charset="0"/>
                <a:sym typeface="Monaco" charset="0"/>
              </a:rPr>
              <a:t>x</a:t>
            </a:r>
            <a:r>
              <a:rPr lang="cs-CZ" sz="1800" b="1" dirty="0">
                <a:solidFill>
                  <a:schemeClr val="tx1"/>
                </a:solidFill>
                <a:latin typeface="Courier New" panose="02070309020205020404" charset="0"/>
                <a:ea typeface="Monaco" charset="0"/>
                <a:cs typeface="Courier New" panose="02070309020205020404" charset="0"/>
                <a:sym typeface="Monaco" charset="0"/>
              </a:rPr>
              <a:t> &gt;&gt;= 1</a:t>
            </a:r>
          </a:p>
          <a:p>
            <a:pPr algn="l">
              <a:tabLst>
                <a:tab pos="292100" algn="l"/>
                <a:tab pos="292100" algn="l"/>
                <a:tab pos="292100" algn="l"/>
                <a:tab pos="1150620" algn="l"/>
                <a:tab pos="292100" algn="l"/>
                <a:tab pos="2860675"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Lst>
            </a:pP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jne</a:t>
            </a:r>
            <a:r>
              <a:rPr lang="cs-CZ" sz="1800" b="1" dirty="0">
                <a:solidFill>
                  <a:schemeClr val="tx1"/>
                </a:solidFill>
                <a:latin typeface="Courier New" panose="02070309020205020404" charset="0"/>
                <a:ea typeface="Monaco" charset="0"/>
                <a:cs typeface="Courier New" panose="02070309020205020404" charset="0"/>
                <a:sym typeface="Monaco" charset="0"/>
              </a:rPr>
              <a:t>     .L2		#  </a:t>
            </a:r>
            <a:r>
              <a:rPr lang="cs-CZ" sz="1800" b="1" dirty="0" err="1">
                <a:solidFill>
                  <a:schemeClr val="tx1"/>
                </a:solidFill>
                <a:latin typeface="Courier New" panose="02070309020205020404" charset="0"/>
                <a:ea typeface="Monaco" charset="0"/>
                <a:cs typeface="Courier New" panose="02070309020205020404" charset="0"/>
                <a:sym typeface="Monaco" charset="0"/>
              </a:rPr>
              <a:t>if</a:t>
            </a: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x</a:t>
            </a: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goto</a:t>
            </a: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loop</a:t>
            </a:r>
            <a:endParaRPr lang="cs-CZ" sz="1800" b="1" dirty="0">
              <a:solidFill>
                <a:schemeClr val="tx1"/>
              </a:solidFill>
              <a:latin typeface="Courier New" panose="02070309020205020404" charset="0"/>
              <a:ea typeface="Monaco" charset="0"/>
              <a:cs typeface="Courier New" panose="02070309020205020404" charset="0"/>
              <a:sym typeface="Monaco" charset="0"/>
            </a:endParaRPr>
          </a:p>
          <a:p>
            <a:pPr algn="l">
              <a:tabLst>
                <a:tab pos="292100" algn="l"/>
                <a:tab pos="292100" algn="l"/>
                <a:tab pos="292100" algn="l"/>
                <a:tab pos="1150620" algn="l"/>
                <a:tab pos="292100" algn="l"/>
                <a:tab pos="2860675"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 pos="292100" algn="l"/>
                <a:tab pos="3086100" algn="l"/>
              </a:tabLst>
            </a:pPr>
            <a:r>
              <a:rPr lang="cs-CZ" sz="1800" b="1" dirty="0">
                <a:solidFill>
                  <a:schemeClr val="tx1"/>
                </a:solidFill>
                <a:latin typeface="Courier New" panose="02070309020205020404" charset="0"/>
                <a:ea typeface="Monaco" charset="0"/>
                <a:cs typeface="Courier New" panose="02070309020205020404" charset="0"/>
                <a:sym typeface="Monaco" charset="0"/>
              </a:rPr>
              <a:t>   </a:t>
            </a:r>
            <a:r>
              <a:rPr lang="cs-CZ" sz="1800" b="1" dirty="0" err="1">
                <a:solidFill>
                  <a:schemeClr val="tx1"/>
                </a:solidFill>
                <a:latin typeface="Courier New" panose="02070309020205020404" charset="0"/>
                <a:ea typeface="Monaco" charset="0"/>
                <a:cs typeface="Courier New" panose="02070309020205020404" charset="0"/>
                <a:sym typeface="Monaco" charset="0"/>
              </a:rPr>
              <a:t>rep</a:t>
            </a:r>
            <a:r>
              <a:rPr lang="cs-CZ" sz="1800" b="1" dirty="0">
                <a:solidFill>
                  <a:schemeClr val="tx1"/>
                </a:solidFill>
                <a:latin typeface="Courier New" panose="02070309020205020404" charset="0"/>
                <a:ea typeface="Monaco" charset="0"/>
                <a:cs typeface="Courier New" panose="02070309020205020404" charset="0"/>
                <a:sym typeface="Monaco" charset="0"/>
              </a:rPr>
              <a:t>; ret</a:t>
            </a:r>
            <a:endParaRPr lang="en-US" sz="1800" b="1" dirty="0">
              <a:solidFill>
                <a:schemeClr val="tx1"/>
              </a:solidFill>
              <a:latin typeface="Courier New" panose="02070309020205020404" charset="0"/>
              <a:ea typeface="Monaco" charset="0"/>
              <a:cs typeface="Courier New" panose="02070309020205020404" charset="0"/>
              <a:sym typeface="Monaco"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307"/>
                                        </p:tgtEl>
                                        <p:attrNameLst>
                                          <p:attrName>style.visibility</p:attrName>
                                        </p:attrNameLst>
                                      </p:cBhvr>
                                      <p:to>
                                        <p:strVal val="visible"/>
                                      </p:to>
                                    </p:set>
                                    <p:anim calcmode="lin" valueType="num">
                                      <p:cBhvr additive="base">
                                        <p:cTn id="7" dur="500" fill="hold"/>
                                        <p:tgtEl>
                                          <p:spTgt spid="55307"/>
                                        </p:tgtEl>
                                        <p:attrNameLst>
                                          <p:attrName>ppt_x</p:attrName>
                                        </p:attrNameLst>
                                      </p:cBhvr>
                                      <p:tavLst>
                                        <p:tav tm="0">
                                          <p:val>
                                            <p:strVal val="#ppt_x"/>
                                          </p:val>
                                        </p:tav>
                                        <p:tav tm="100000">
                                          <p:val>
                                            <p:strVal val="#ppt_x"/>
                                          </p:val>
                                        </p:tav>
                                      </p:tavLst>
                                    </p:anim>
                                    <p:anim calcmode="lin" valueType="num">
                                      <p:cBhvr additive="base">
                                        <p:cTn id="8" dur="500" fill="hold"/>
                                        <p:tgtEl>
                                          <p:spTgt spid="5530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7"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云形 1"/>
          <p:cNvSpPr/>
          <p:nvPr/>
        </p:nvSpPr>
        <p:spPr>
          <a:xfrm>
            <a:off x="708025" y="358775"/>
            <a:ext cx="6009005" cy="1092835"/>
          </a:xfrm>
          <a:prstGeom prst="clou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一般的</a:t>
            </a:r>
            <a:r>
              <a:rPr lang="en-US" sz="2400">
                <a:solidFill>
                  <a:schemeClr val="tx1"/>
                </a:solidFill>
                <a:sym typeface="+mn-ea"/>
              </a:rPr>
              <a:t>“Do-While”</a:t>
            </a:r>
            <a:r>
              <a:rPr lang="zh-CN" altLang="en-US" sz="2400">
                <a:solidFill>
                  <a:schemeClr val="tx1"/>
                </a:solidFill>
                <a:sym typeface="+mn-ea"/>
              </a:rPr>
              <a:t>翻译方法：</a:t>
            </a:r>
          </a:p>
        </p:txBody>
      </p:sp>
      <p:sp>
        <p:nvSpPr>
          <p:cNvPr id="56323" name="Rectangle 3"/>
          <p:cNvSpPr/>
          <p:nvPr/>
        </p:nvSpPr>
        <p:spPr bwMode="auto">
          <a:xfrm>
            <a:off x="444500" y="1520825"/>
            <a:ext cx="26162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a:solidFill>
                  <a:schemeClr val="tx1"/>
                </a:solidFill>
                <a:latin typeface="Calibri Bold" charset="0"/>
                <a:ea typeface="Calibri Bold" charset="0"/>
                <a:cs typeface="Calibri Bold" charset="0"/>
                <a:sym typeface="Calibri Bold" charset="0"/>
              </a:rPr>
              <a:t>C </a:t>
            </a:r>
            <a:r>
              <a:rPr lang="zh-CN" altLang="en-US" sz="2400">
                <a:solidFill>
                  <a:schemeClr val="tx1"/>
                </a:solidFill>
                <a:latin typeface="Calibri Bold" charset="0"/>
                <a:ea typeface="宋体" panose="02010600030101010101" pitchFamily="2" charset="-122"/>
                <a:cs typeface="Calibri Bold" charset="0"/>
                <a:sym typeface="Calibri Bold" charset="0"/>
              </a:rPr>
              <a:t>代码</a:t>
            </a:r>
          </a:p>
        </p:txBody>
      </p:sp>
      <p:sp>
        <p:nvSpPr>
          <p:cNvPr id="56324" name="Rectangle 4"/>
          <p:cNvSpPr/>
          <p:nvPr/>
        </p:nvSpPr>
        <p:spPr bwMode="auto">
          <a:xfrm>
            <a:off x="533400" y="1933575"/>
            <a:ext cx="2895600" cy="12192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2400" dirty="0">
                <a:solidFill>
                  <a:schemeClr val="tx1"/>
                </a:solidFill>
                <a:latin typeface="Courier New" panose="02070309020205020404" charset="0"/>
                <a:cs typeface="Courier New" panose="02070309020205020404" charset="0"/>
                <a:sym typeface="Courier New Bold" charset="0"/>
              </a:rPr>
              <a:t>do </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i="1" dirty="0">
                <a:solidFill>
                  <a:schemeClr val="tx1"/>
                </a:solidFill>
                <a:latin typeface="+mj-lt"/>
                <a:ea typeface="Calibri Bold Italic" charset="0"/>
                <a:cs typeface="Courier New" panose="02070309020205020404" charset="0"/>
                <a:sym typeface="Calibri Bold Italic" charset="0"/>
              </a:rPr>
              <a:t>Body</a:t>
            </a:r>
            <a:endParaRPr lang="en-US" sz="3200" i="1" dirty="0">
              <a:solidFill>
                <a:schemeClr val="tx1"/>
              </a:solidFill>
              <a:latin typeface="+mj-lt"/>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while (</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p>
        </p:txBody>
      </p:sp>
      <p:sp>
        <p:nvSpPr>
          <p:cNvPr id="56325" name="Rectangle 5"/>
          <p:cNvSpPr/>
          <p:nvPr/>
        </p:nvSpPr>
        <p:spPr bwMode="auto">
          <a:xfrm>
            <a:off x="4279900" y="1511300"/>
            <a:ext cx="23114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a:solidFill>
                  <a:schemeClr val="tx1"/>
                </a:solidFill>
                <a:latin typeface="Calibri Bold" charset="0"/>
                <a:ea typeface="Calibri Bold" charset="0"/>
                <a:cs typeface="Calibri Bold" charset="0"/>
                <a:sym typeface="Calibri Bold" charset="0"/>
              </a:rPr>
              <a:t>Goto </a:t>
            </a:r>
            <a:r>
              <a:rPr lang="zh-CN" altLang="en-US" sz="2400">
                <a:solidFill>
                  <a:schemeClr val="tx1"/>
                </a:solidFill>
                <a:latin typeface="Calibri Bold" charset="0"/>
                <a:ea typeface="宋体" panose="02010600030101010101" pitchFamily="2" charset="-122"/>
                <a:cs typeface="Calibri Bold" charset="0"/>
                <a:sym typeface="Calibri Bold" charset="0"/>
              </a:rPr>
              <a:t>版本</a:t>
            </a:r>
          </a:p>
        </p:txBody>
      </p:sp>
      <p:sp>
        <p:nvSpPr>
          <p:cNvPr id="56326" name="Rectangle 6"/>
          <p:cNvSpPr/>
          <p:nvPr/>
        </p:nvSpPr>
        <p:spPr bwMode="auto">
          <a:xfrm>
            <a:off x="4356100" y="1924049"/>
            <a:ext cx="2743200" cy="1685925"/>
          </a:xfrm>
          <a:prstGeom prst="rect">
            <a:avLst/>
          </a:prstGeom>
          <a:solidFill>
            <a:srgbClr val="D5F1C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2400" dirty="0">
                <a:solidFill>
                  <a:schemeClr val="tx1"/>
                </a:solidFill>
                <a:latin typeface="Courier New" panose="02070309020205020404" charset="0"/>
                <a:cs typeface="Courier New" panose="02070309020205020404" charset="0"/>
                <a:sym typeface="Courier New Bold Italic" charset="0"/>
              </a:rPr>
              <a:t>loop:</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i="1" dirty="0">
                <a:solidFill>
                  <a:schemeClr val="tx1"/>
                </a:solidFill>
                <a:latin typeface="+mj-lt"/>
                <a:ea typeface="Calibri Bold Italic" charset="0"/>
                <a:cs typeface="Courier New" panose="02070309020205020404" charset="0"/>
                <a:sym typeface="Calibri Bold Italic" charset="0"/>
              </a:rPr>
              <a:t>Body</a:t>
            </a:r>
            <a:endParaRPr lang="en-US" sz="3200" i="1" dirty="0">
              <a:solidFill>
                <a:schemeClr val="tx1"/>
              </a:solidFill>
              <a:latin typeface="+mj-lt"/>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if (</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dirty="0" err="1">
                <a:solidFill>
                  <a:schemeClr val="tx1"/>
                </a:solidFill>
                <a:latin typeface="Courier New" panose="02070309020205020404" charset="0"/>
                <a:cs typeface="Courier New" panose="02070309020205020404" charset="0"/>
                <a:sym typeface="Courier New Bold" charset="0"/>
              </a:rPr>
              <a:t>goto</a:t>
            </a:r>
            <a:r>
              <a:rPr lang="en-US" sz="2400" dirty="0">
                <a:solidFill>
                  <a:schemeClr val="tx1"/>
                </a:solidFill>
                <a:latin typeface="Courier New" panose="02070309020205020404" charset="0"/>
                <a:cs typeface="Courier New" panose="02070309020205020404" charset="0"/>
                <a:sym typeface="Courier New Bold" charset="0"/>
              </a:rPr>
              <a:t> </a:t>
            </a:r>
            <a:r>
              <a:rPr lang="en-US" sz="2400" dirty="0">
                <a:solidFill>
                  <a:schemeClr val="tx1"/>
                </a:solidFill>
                <a:latin typeface="Courier New" panose="02070309020205020404" charset="0"/>
                <a:cs typeface="Courier New" panose="02070309020205020404" charset="0"/>
                <a:sym typeface="Courier New Bold Italic" charset="0"/>
              </a:rPr>
              <a:t>loop</a:t>
            </a:r>
          </a:p>
        </p:txBody>
      </p:sp>
      <p:sp>
        <p:nvSpPr>
          <p:cNvPr id="56329" name="Rectangle 9"/>
          <p:cNvSpPr/>
          <p:nvPr/>
        </p:nvSpPr>
        <p:spPr bwMode="auto">
          <a:xfrm>
            <a:off x="1625600" y="3438525"/>
            <a:ext cx="2222500" cy="2260600"/>
          </a:xfrm>
          <a:prstGeom prst="rect">
            <a:avLst/>
          </a:prstGeom>
          <a:noFill/>
          <a:ln w="12700" cap="flat">
            <a:noFill/>
            <a:miter lim="800000"/>
            <a:headEnd type="none" w="med" len="med"/>
            <a:tailEnd type="none" w="med" len="med"/>
          </a:ln>
        </p:spPr>
        <p:txBody>
          <a:bodyPr lIns="38100" tIns="38100" rIns="38100" bIns="38100"/>
          <a:lstStyle/>
          <a:p>
            <a:pPr algn="l"/>
            <a:r>
              <a:rPr lang="en-US" sz="2000" b="1" dirty="0">
                <a:solidFill>
                  <a:schemeClr val="tx1"/>
                </a:solidFill>
                <a:latin typeface="Courier New" panose="02070309020205020404"/>
                <a:ea typeface="Monaco" charset="0"/>
                <a:cs typeface="Courier New" panose="02070309020205020404"/>
                <a:sym typeface="Monaco" charset="0"/>
              </a:rPr>
              <a:t>{</a:t>
            </a:r>
            <a:endParaRPr lang="en-US" b="1" dirty="0">
              <a:solidFill>
                <a:schemeClr val="tx1"/>
              </a:solidFill>
              <a:latin typeface="Courier New" panose="02070309020205020404"/>
              <a:ea typeface="Monaco" charset="0"/>
              <a:cs typeface="Courier New" panose="02070309020205020404"/>
              <a:sym typeface="Monaco" charset="0"/>
            </a:endParaRPr>
          </a:p>
          <a:p>
            <a:pPr algn="l"/>
            <a:r>
              <a:rPr lang="en-US" sz="2000" b="1" dirty="0">
                <a:solidFill>
                  <a:schemeClr val="tx1"/>
                </a:solidFill>
                <a:latin typeface="Courier New" panose="02070309020205020404"/>
                <a:ea typeface="Monaco" charset="0"/>
                <a:cs typeface="Courier New" panose="02070309020205020404"/>
                <a:sym typeface="Monaco" charset="0"/>
              </a:rPr>
              <a:t>  Statement</a:t>
            </a:r>
            <a:r>
              <a:rPr lang="en-US" sz="2000" b="1" baseline="-25000" dirty="0">
                <a:solidFill>
                  <a:schemeClr val="tx1"/>
                </a:solidFill>
                <a:latin typeface="Courier New" panose="02070309020205020404"/>
                <a:ea typeface="Monaco" charset="0"/>
                <a:cs typeface="Courier New" panose="02070309020205020404"/>
                <a:sym typeface="Monaco" charset="0"/>
              </a:rPr>
              <a:t>1</a:t>
            </a:r>
            <a:r>
              <a:rPr lang="en-US" sz="2000" b="1" dirty="0">
                <a:solidFill>
                  <a:schemeClr val="tx1"/>
                </a:solidFill>
                <a:latin typeface="Courier New" panose="02070309020205020404"/>
                <a:ea typeface="Monaco" charset="0"/>
                <a:cs typeface="Courier New" panose="02070309020205020404"/>
                <a:sym typeface="Monaco" charset="0"/>
              </a:rPr>
              <a:t>;</a:t>
            </a:r>
            <a:endParaRPr lang="en-US" b="1" dirty="0">
              <a:solidFill>
                <a:schemeClr val="tx1"/>
              </a:solidFill>
              <a:latin typeface="Courier New" panose="02070309020205020404"/>
              <a:ea typeface="Monaco" charset="0"/>
              <a:cs typeface="Courier New" panose="02070309020205020404"/>
              <a:sym typeface="Monaco" charset="0"/>
            </a:endParaRPr>
          </a:p>
          <a:p>
            <a:pPr algn="l"/>
            <a:r>
              <a:rPr lang="en-US" sz="2000" b="1" dirty="0">
                <a:solidFill>
                  <a:schemeClr val="tx1"/>
                </a:solidFill>
                <a:latin typeface="Courier New" panose="02070309020205020404"/>
                <a:ea typeface="Monaco" charset="0"/>
                <a:cs typeface="Courier New" panose="02070309020205020404"/>
                <a:sym typeface="Monaco" charset="0"/>
              </a:rPr>
              <a:t>  Statement</a:t>
            </a:r>
            <a:r>
              <a:rPr lang="en-US" sz="2000" b="1" baseline="-25000" dirty="0">
                <a:solidFill>
                  <a:schemeClr val="tx1"/>
                </a:solidFill>
                <a:latin typeface="Courier New" panose="02070309020205020404"/>
                <a:ea typeface="Monaco" charset="0"/>
                <a:cs typeface="Courier New" panose="02070309020205020404"/>
                <a:sym typeface="Monaco" charset="0"/>
              </a:rPr>
              <a:t>2</a:t>
            </a:r>
            <a:r>
              <a:rPr lang="en-US" sz="2000" b="1" dirty="0">
                <a:solidFill>
                  <a:schemeClr val="tx1"/>
                </a:solidFill>
                <a:latin typeface="Courier New" panose="02070309020205020404"/>
                <a:ea typeface="Monaco" charset="0"/>
                <a:cs typeface="Courier New" panose="02070309020205020404"/>
                <a:sym typeface="Monaco" charset="0"/>
              </a:rPr>
              <a:t>;</a:t>
            </a:r>
            <a:endParaRPr lang="en-US" b="1" dirty="0">
              <a:solidFill>
                <a:schemeClr val="tx1"/>
              </a:solidFill>
              <a:latin typeface="Courier New" panose="02070309020205020404"/>
              <a:ea typeface="Monaco" charset="0"/>
              <a:cs typeface="Courier New" panose="02070309020205020404"/>
              <a:sym typeface="Monaco" charset="0"/>
            </a:endParaRPr>
          </a:p>
          <a:p>
            <a:pPr algn="l"/>
            <a:r>
              <a:rPr lang="en-US" sz="2000" b="1" dirty="0">
                <a:solidFill>
                  <a:schemeClr val="tx1"/>
                </a:solidFill>
                <a:latin typeface="Courier New" panose="02070309020205020404"/>
                <a:ea typeface="Monaco" charset="0"/>
                <a:cs typeface="Courier New" panose="02070309020205020404"/>
                <a:sym typeface="Monaco" charset="0"/>
              </a:rPr>
              <a:t>    …</a:t>
            </a:r>
            <a:endParaRPr lang="en-US" b="1" dirty="0">
              <a:solidFill>
                <a:schemeClr val="tx1"/>
              </a:solidFill>
              <a:latin typeface="Courier New" panose="02070309020205020404"/>
              <a:ea typeface="Monaco" charset="0"/>
              <a:cs typeface="Courier New" panose="02070309020205020404"/>
              <a:sym typeface="Monaco" charset="0"/>
            </a:endParaRPr>
          </a:p>
          <a:p>
            <a:pPr algn="l"/>
            <a:r>
              <a:rPr lang="en-US" sz="2000" b="1" dirty="0">
                <a:solidFill>
                  <a:schemeClr val="tx1"/>
                </a:solidFill>
                <a:latin typeface="Courier New" panose="02070309020205020404"/>
                <a:ea typeface="Monaco" charset="0"/>
                <a:cs typeface="Courier New" panose="02070309020205020404"/>
                <a:sym typeface="Monaco" charset="0"/>
              </a:rPr>
              <a:t>  </a:t>
            </a:r>
            <a:r>
              <a:rPr lang="en-US" sz="2000" b="1" dirty="0" err="1">
                <a:solidFill>
                  <a:schemeClr val="tx1"/>
                </a:solidFill>
                <a:latin typeface="Courier New" panose="02070309020205020404"/>
                <a:ea typeface="Monaco" charset="0"/>
                <a:cs typeface="Courier New" panose="02070309020205020404"/>
                <a:sym typeface="Monaco" charset="0"/>
              </a:rPr>
              <a:t>Statement</a:t>
            </a:r>
            <a:r>
              <a:rPr lang="en-US" sz="2000" b="1" baseline="-25000" dirty="0" err="1">
                <a:solidFill>
                  <a:schemeClr val="tx1"/>
                </a:solidFill>
                <a:latin typeface="Courier New" panose="02070309020205020404"/>
                <a:ea typeface="Monaco" charset="0"/>
                <a:cs typeface="Courier New" panose="02070309020205020404"/>
                <a:sym typeface="Monaco" charset="0"/>
              </a:rPr>
              <a:t>n</a:t>
            </a:r>
            <a:r>
              <a:rPr lang="en-US" sz="2000" b="1" dirty="0">
                <a:solidFill>
                  <a:schemeClr val="tx1"/>
                </a:solidFill>
                <a:latin typeface="Courier New" panose="02070309020205020404"/>
                <a:ea typeface="Monaco" charset="0"/>
                <a:cs typeface="Courier New" panose="02070309020205020404"/>
                <a:sym typeface="Monaco" charset="0"/>
              </a:rPr>
              <a:t>;</a:t>
            </a:r>
            <a:endParaRPr lang="en-US" b="1" dirty="0">
              <a:solidFill>
                <a:schemeClr val="tx1"/>
              </a:solidFill>
              <a:latin typeface="Courier New" panose="02070309020205020404"/>
              <a:ea typeface="Monaco" charset="0"/>
              <a:cs typeface="Courier New" panose="02070309020205020404"/>
              <a:sym typeface="Monaco" charset="0"/>
            </a:endParaRPr>
          </a:p>
          <a:p>
            <a:pPr algn="l"/>
            <a:r>
              <a:rPr lang="en-US" sz="2000" b="1" dirty="0">
                <a:solidFill>
                  <a:schemeClr val="tx1"/>
                </a:solidFill>
                <a:latin typeface="Courier New" panose="02070309020205020404"/>
                <a:ea typeface="Monaco" charset="0"/>
                <a:cs typeface="Courier New" panose="02070309020205020404"/>
                <a:sym typeface="Monaco" charset="0"/>
              </a:rPr>
              <a:t>}</a:t>
            </a:r>
          </a:p>
        </p:txBody>
      </p:sp>
      <p:sp>
        <p:nvSpPr>
          <p:cNvPr id="4" name="文本框 3"/>
          <p:cNvSpPr txBox="1"/>
          <p:nvPr/>
        </p:nvSpPr>
        <p:spPr>
          <a:xfrm>
            <a:off x="708025" y="3413125"/>
            <a:ext cx="863600" cy="398780"/>
          </a:xfrm>
          <a:prstGeom prst="rect">
            <a:avLst/>
          </a:prstGeom>
          <a:noFill/>
        </p:spPr>
        <p:txBody>
          <a:bodyPr wrap="none" rtlCol="0" anchor="t">
            <a:spAutoFit/>
          </a:bodyPr>
          <a:lstStyle/>
          <a:p>
            <a:r>
              <a:rPr lang="en-US" sz="2000" b="1" dirty="0">
                <a:solidFill>
                  <a:schemeClr val="tx1"/>
                </a:solidFill>
                <a:sym typeface="+mn-ea"/>
              </a:rPr>
              <a:t>Body:</a:t>
            </a:r>
            <a:endParaRPr lang="en-US" altLang="en-US" sz="2000" b="1" dirty="0">
              <a:solidFill>
                <a:schemeClr val="tx1"/>
              </a:solidFill>
              <a:sym typeface="+mn-ea"/>
            </a:endParaRPr>
          </a:p>
        </p:txBody>
      </p:sp>
      <p:sp>
        <p:nvSpPr>
          <p:cNvPr id="5" name="左右箭头 4"/>
          <p:cNvSpPr/>
          <p:nvPr/>
        </p:nvSpPr>
        <p:spPr>
          <a:xfrm>
            <a:off x="3244850" y="2333625"/>
            <a:ext cx="1359535" cy="543560"/>
          </a:xfrm>
          <a:prstGeom prst="lef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6329"/>
                                        </p:tgtEl>
                                        <p:attrNameLst>
                                          <p:attrName>style.visibility</p:attrName>
                                        </p:attrNameLst>
                                      </p:cBhvr>
                                      <p:to>
                                        <p:strVal val="visible"/>
                                      </p:to>
                                    </p:set>
                                    <p:anim calcmode="lin" valueType="num">
                                      <p:cBhvr additive="base">
                                        <p:cTn id="7" dur="500" fill="hold"/>
                                        <p:tgtEl>
                                          <p:spTgt spid="56329"/>
                                        </p:tgtEl>
                                        <p:attrNameLst>
                                          <p:attrName>ppt_x</p:attrName>
                                        </p:attrNameLst>
                                      </p:cBhvr>
                                      <p:tavLst>
                                        <p:tav tm="0">
                                          <p:val>
                                            <p:strVal val="#ppt_x"/>
                                          </p:val>
                                        </p:tav>
                                        <p:tav tm="100000">
                                          <p:val>
                                            <p:strVal val="#ppt_x"/>
                                          </p:val>
                                        </p:tav>
                                      </p:tavLst>
                                    </p:anim>
                                    <p:anim calcmode="lin" valueType="num">
                                      <p:cBhvr additive="base">
                                        <p:cTn id="8" dur="500" fill="hold"/>
                                        <p:tgtEl>
                                          <p:spTgt spid="5632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9" grpId="0"/>
      <p:bldP spid="4"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云形 1"/>
          <p:cNvSpPr/>
          <p:nvPr/>
        </p:nvSpPr>
        <p:spPr>
          <a:xfrm>
            <a:off x="708025" y="358775"/>
            <a:ext cx="6009005" cy="1092835"/>
          </a:xfrm>
          <a:prstGeom prst="clou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一般的</a:t>
            </a:r>
            <a:r>
              <a:rPr lang="en-US" sz="2400">
                <a:solidFill>
                  <a:schemeClr val="tx1"/>
                </a:solidFill>
                <a:sym typeface="+mn-ea"/>
              </a:rPr>
              <a:t>“While”</a:t>
            </a:r>
            <a:r>
              <a:rPr lang="zh-CN" altLang="en-US" sz="2400">
                <a:solidFill>
                  <a:schemeClr val="tx1"/>
                </a:solidFill>
                <a:sym typeface="+mn-ea"/>
              </a:rPr>
              <a:t>翻译方法：</a:t>
            </a:r>
          </a:p>
        </p:txBody>
      </p:sp>
      <p:sp>
        <p:nvSpPr>
          <p:cNvPr id="6" name="Content Placeholder 1"/>
          <p:cNvSpPr>
            <a:spLocks noGrp="1"/>
          </p:cNvSpPr>
          <p:nvPr/>
        </p:nvSpPr>
        <p:spPr>
          <a:xfrm>
            <a:off x="457200" y="1600200"/>
            <a:ext cx="8229600" cy="4525963"/>
          </a:xfrm>
          <a:prstGeom prst="rect">
            <a:avLst/>
          </a:prstGeom>
        </p:spPr>
        <p:txBody>
          <a:bodyPr/>
          <a:lstStyle>
            <a:lvl1pPr marL="342900" indent="-342900" algn="l" rtl="0" fontAlgn="base">
              <a:spcBef>
                <a:spcPts val="600"/>
              </a:spcBef>
              <a:spcAft>
                <a:spcPct val="0"/>
              </a:spcAft>
              <a:buClr>
                <a:srgbClr val="990000"/>
              </a:buClr>
              <a:buSzPct val="60000"/>
              <a:buFont typeface="Wingdings 2" panose="05020102010507070707" pitchFamily="18"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r>
              <a:rPr lang="en-US" dirty="0"/>
              <a:t>“Jump-to-middle” </a:t>
            </a:r>
          </a:p>
          <a:p>
            <a:r>
              <a:rPr lang="zh-CN" altLang="en-US"/>
              <a:t>与 -Og 一起使用</a:t>
            </a:r>
            <a:endParaRPr lang="zh-CN" altLang="en-US" dirty="0" err="1">
              <a:latin typeface="Courier New" panose="02070309020205020404"/>
              <a:cs typeface="Courier New" panose="02070309020205020404"/>
            </a:endParaRPr>
          </a:p>
        </p:txBody>
      </p:sp>
      <p:sp>
        <p:nvSpPr>
          <p:cNvPr id="59395" name="Rectangle 3"/>
          <p:cNvSpPr/>
          <p:nvPr/>
        </p:nvSpPr>
        <p:spPr bwMode="auto">
          <a:xfrm>
            <a:off x="304800" y="3086100"/>
            <a:ext cx="26162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a:solidFill>
                  <a:schemeClr val="tx1"/>
                </a:solidFill>
                <a:latin typeface="Calibri Bold" charset="0"/>
                <a:ea typeface="Calibri Bold" charset="0"/>
                <a:cs typeface="Calibri Bold" charset="0"/>
                <a:sym typeface="Calibri Bold" charset="0"/>
              </a:rPr>
              <a:t>While </a:t>
            </a:r>
            <a:r>
              <a:rPr lang="zh-CN" altLang="en-US" sz="2400">
                <a:solidFill>
                  <a:schemeClr val="tx1"/>
                </a:solidFill>
                <a:latin typeface="Calibri Bold" charset="0"/>
                <a:ea typeface="宋体" panose="02010600030101010101" pitchFamily="2" charset="-122"/>
                <a:cs typeface="Calibri Bold" charset="0"/>
                <a:sym typeface="Calibri Bold" charset="0"/>
              </a:rPr>
              <a:t>版本</a:t>
            </a:r>
          </a:p>
        </p:txBody>
      </p:sp>
      <p:sp>
        <p:nvSpPr>
          <p:cNvPr id="59396" name="Rectangle 4"/>
          <p:cNvSpPr/>
          <p:nvPr/>
        </p:nvSpPr>
        <p:spPr bwMode="auto">
          <a:xfrm>
            <a:off x="381000" y="3505200"/>
            <a:ext cx="2514600" cy="8001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2400" dirty="0">
                <a:solidFill>
                  <a:schemeClr val="tx1"/>
                </a:solidFill>
                <a:latin typeface="Courier New" panose="02070309020205020404" charset="0"/>
                <a:cs typeface="Courier New" panose="02070309020205020404" charset="0"/>
                <a:sym typeface="Courier New Bold" charset="0"/>
              </a:rPr>
              <a:t>while (</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i="1" dirty="0">
                <a:solidFill>
                  <a:schemeClr val="tx1"/>
                </a:solidFill>
                <a:latin typeface="+mj-lt"/>
                <a:cs typeface="Courier New" panose="02070309020205020404" charset="0"/>
                <a:sym typeface="Courier New Bold" charset="0"/>
              </a:rPr>
              <a:t>Body</a:t>
            </a:r>
          </a:p>
        </p:txBody>
      </p:sp>
      <p:sp>
        <p:nvSpPr>
          <p:cNvPr id="59400" name="Rectangle 8"/>
          <p:cNvSpPr/>
          <p:nvPr/>
        </p:nvSpPr>
        <p:spPr bwMode="auto">
          <a:xfrm>
            <a:off x="5181600" y="2095501"/>
            <a:ext cx="29083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dirty="0" err="1">
                <a:solidFill>
                  <a:schemeClr val="tx1"/>
                </a:solidFill>
                <a:latin typeface="Calibri Bold" charset="0"/>
                <a:ea typeface="Calibri Bold" charset="0"/>
                <a:cs typeface="Calibri Bold" charset="0"/>
                <a:sym typeface="Calibri Bold" charset="0"/>
              </a:rPr>
              <a:t>Goto</a:t>
            </a:r>
            <a:r>
              <a:rPr lang="en-US" sz="2400" dirty="0">
                <a:solidFill>
                  <a:schemeClr val="tx1"/>
                </a:solidFill>
                <a:latin typeface="Calibri Bold" charset="0"/>
                <a:ea typeface="Calibri Bold" charset="0"/>
                <a:cs typeface="Calibri Bold" charset="0"/>
                <a:sym typeface="Calibri Bold" charset="0"/>
              </a:rPr>
              <a:t> </a:t>
            </a:r>
            <a:r>
              <a:rPr lang="zh-CN" altLang="en-US" sz="2400" dirty="0">
                <a:solidFill>
                  <a:schemeClr val="tx1"/>
                </a:solidFill>
                <a:latin typeface="Calibri Bold" charset="0"/>
                <a:ea typeface="宋体" panose="02010600030101010101" pitchFamily="2" charset="-122"/>
                <a:cs typeface="Calibri Bold" charset="0"/>
                <a:sym typeface="Calibri Bold" charset="0"/>
              </a:rPr>
              <a:t>版本</a:t>
            </a:r>
          </a:p>
        </p:txBody>
      </p:sp>
      <p:sp>
        <p:nvSpPr>
          <p:cNvPr id="59401" name="Rectangle 9"/>
          <p:cNvSpPr/>
          <p:nvPr/>
        </p:nvSpPr>
        <p:spPr bwMode="auto">
          <a:xfrm>
            <a:off x="5257800" y="2514600"/>
            <a:ext cx="3429000" cy="2624138"/>
          </a:xfrm>
          <a:prstGeom prst="rect">
            <a:avLst/>
          </a:prstGeom>
          <a:solidFill>
            <a:srgbClr val="D5F1C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dirty="0" err="1">
                <a:solidFill>
                  <a:schemeClr val="tx1"/>
                </a:solidFill>
                <a:latin typeface="Courier New" panose="02070309020205020404" charset="0"/>
                <a:cs typeface="Courier New" panose="02070309020205020404" charset="0"/>
                <a:sym typeface="Courier New Bold" charset="0"/>
              </a:rPr>
              <a:t>goto</a:t>
            </a:r>
            <a:r>
              <a:rPr lang="en-US" sz="2400" dirty="0">
                <a:solidFill>
                  <a:schemeClr val="tx1"/>
                </a:solidFill>
                <a:latin typeface="Courier New" panose="02070309020205020404" charset="0"/>
                <a:cs typeface="Courier New" panose="02070309020205020404" charset="0"/>
                <a:sym typeface="Courier New Bold" charset="0"/>
              </a:rPr>
              <a:t> </a:t>
            </a:r>
            <a:r>
              <a:rPr lang="en-US" sz="2400" dirty="0">
                <a:solidFill>
                  <a:schemeClr val="tx1"/>
                </a:solidFill>
                <a:latin typeface="Courier New" panose="02070309020205020404" charset="0"/>
                <a:cs typeface="Courier New" panose="02070309020205020404" charset="0"/>
                <a:sym typeface="Courier New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Italic" charset="0"/>
              </a:rPr>
              <a:t>loop:</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i="1" dirty="0">
                <a:solidFill>
                  <a:schemeClr val="tx1"/>
                </a:solidFill>
                <a:latin typeface="+mj-lt"/>
                <a:ea typeface="Calibri Bold Italic" charset="0"/>
                <a:cs typeface="Courier New" panose="02070309020205020404" charset="0"/>
                <a:sym typeface="Calibri Bold Italic" charset="0"/>
              </a:rPr>
              <a:t>Body</a:t>
            </a:r>
            <a:endParaRPr lang="en-US" sz="3200" i="1" dirty="0">
              <a:solidFill>
                <a:schemeClr val="tx1"/>
              </a:solidFill>
              <a:latin typeface="+mj-lt"/>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test:</a:t>
            </a:r>
          </a:p>
          <a:p>
            <a:pPr algn="l"/>
            <a:r>
              <a:rPr lang="en-US" sz="2400" dirty="0">
                <a:solidFill>
                  <a:schemeClr val="tx1"/>
                </a:solidFill>
                <a:latin typeface="Courier New" panose="02070309020205020404" charset="0"/>
                <a:cs typeface="Courier New" panose="02070309020205020404" charset="0"/>
                <a:sym typeface="Courier New Bold" charset="0"/>
              </a:rPr>
              <a:t>  if (</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dirty="0" err="1">
                <a:solidFill>
                  <a:schemeClr val="tx1"/>
                </a:solidFill>
                <a:latin typeface="Courier New" panose="02070309020205020404" charset="0"/>
                <a:cs typeface="Courier New" panose="02070309020205020404" charset="0"/>
                <a:sym typeface="Courier New Bold" charset="0"/>
              </a:rPr>
              <a:t>goto</a:t>
            </a:r>
            <a:r>
              <a:rPr lang="en-US" sz="2400" dirty="0">
                <a:solidFill>
                  <a:schemeClr val="tx1"/>
                </a:solidFill>
                <a:latin typeface="Courier New" panose="02070309020205020404" charset="0"/>
                <a:cs typeface="Courier New" panose="02070309020205020404" charset="0"/>
                <a:sym typeface="Courier New Bold" charset="0"/>
              </a:rPr>
              <a:t> </a:t>
            </a:r>
            <a:r>
              <a:rPr lang="en-US" sz="2400" dirty="0">
                <a:solidFill>
                  <a:schemeClr val="tx1"/>
                </a:solidFill>
                <a:latin typeface="Courier New" panose="02070309020205020404" charset="0"/>
                <a:cs typeface="Courier New" panose="02070309020205020404" charset="0"/>
                <a:sym typeface="Courier New Bold Italic" charset="0"/>
              </a:rPr>
              <a:t>loop</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Italic" charset="0"/>
              </a:rPr>
              <a:t>done:</a:t>
            </a:r>
          </a:p>
        </p:txBody>
      </p:sp>
      <p:sp>
        <p:nvSpPr>
          <p:cNvPr id="59403" name="AutoShape 11"/>
          <p:cNvSpPr/>
          <p:nvPr/>
        </p:nvSpPr>
        <p:spPr bwMode="auto">
          <a:xfrm rot="16200000">
            <a:off x="3657600" y="3048000"/>
            <a:ext cx="762000" cy="1524000"/>
          </a:xfrm>
          <a:custGeom>
            <a:avLst/>
            <a:gdLst>
              <a:gd name="T0" fmla="*/ 10800 w 21600"/>
              <a:gd name="T1" fmla="*/ 10800 h 21600"/>
            </a:gdLst>
            <a:ahLst/>
            <a:cxnLst>
              <a:cxn ang="0">
                <a:pos x="T0" y="T1"/>
              </a:cxn>
            </a:cxnLst>
            <a:rect l="0" t="0" r="r" b="b"/>
            <a:pathLst>
              <a:path w="21600" h="21600">
                <a:moveTo>
                  <a:pt x="0" y="16200"/>
                </a:moveTo>
                <a:lnTo>
                  <a:pt x="5400" y="16200"/>
                </a:lnTo>
                <a:lnTo>
                  <a:pt x="5400" y="0"/>
                </a:lnTo>
                <a:lnTo>
                  <a:pt x="16200" y="0"/>
                </a:lnTo>
                <a:lnTo>
                  <a:pt x="16200" y="16200"/>
                </a:lnTo>
                <a:lnTo>
                  <a:pt x="21600" y="16200"/>
                </a:lnTo>
                <a:lnTo>
                  <a:pt x="10800" y="21600"/>
                </a:lnTo>
                <a:close/>
                <a:moveTo>
                  <a:pt x="0" y="16200"/>
                </a:moveTo>
              </a:path>
            </a:pathLst>
          </a:custGeom>
          <a:solidFill>
            <a:srgbClr val="980002"/>
          </a:solidFill>
          <a:ln w="25400" cap="flat">
            <a:noFill/>
            <a:round/>
            <a:headEnd type="none" w="med" len="med"/>
            <a:tailEnd type="triangle" w="med" len="med"/>
          </a:ln>
          <a:effectLst>
            <a:outerShdw dist="50799" dir="5400000" algn="ctr" rotWithShape="0">
              <a:schemeClr val="bg2">
                <a:alpha val="50000"/>
              </a:schemeClr>
            </a:outerShdw>
          </a:effectLst>
        </p:spPr>
        <p:txBody>
          <a:bodyPr lIns="0" tIns="0" rIns="0" bIns="0"/>
          <a:lstStyle/>
          <a:p>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5452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5715839" y="-7839"/>
            <a:ext cx="944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循环</a:t>
            </a:r>
          </a:p>
        </p:txBody>
      </p:sp>
      <p:sp>
        <p:nvSpPr>
          <p:cNvPr id="220" name=" 220"/>
          <p:cNvSpPr/>
          <p:nvPr/>
        </p:nvSpPr>
        <p:spPr>
          <a:xfrm>
            <a:off x="0" y="1473835"/>
            <a:ext cx="2225040" cy="539115"/>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a:solidFill>
                  <a:schemeClr val="tx1"/>
                </a:solidFill>
                <a:sym typeface="+mn-ea"/>
              </a:rPr>
              <a:t>While</a:t>
            </a:r>
            <a:endParaRPr lang="en-US" altLang="en-US" sz="2400">
              <a:solidFill>
                <a:schemeClr val="tx1"/>
              </a:solidFill>
              <a:sym typeface="+mn-ea"/>
            </a:endParaRPr>
          </a:p>
        </p:txBody>
      </p:sp>
      <p:sp>
        <p:nvSpPr>
          <p:cNvPr id="23" name="文本框 22"/>
          <p:cNvSpPr txBox="1"/>
          <p:nvPr/>
        </p:nvSpPr>
        <p:spPr>
          <a:xfrm>
            <a:off x="334645" y="5154930"/>
            <a:ext cx="4093845" cy="1383665"/>
          </a:xfrm>
          <a:prstGeom prst="rect">
            <a:avLst/>
          </a:prstGeom>
          <a:noFill/>
        </p:spPr>
        <p:txBody>
          <a:bodyPr wrap="square" rtlCol="0">
            <a:spAutoFit/>
          </a:bodyPr>
          <a:lstStyle/>
          <a:p>
            <a:pPr marL="285750" indent="-285750" fontAlgn="auto">
              <a:lnSpc>
                <a:spcPct val="150000"/>
              </a:lnSpc>
              <a:buFont typeface="Wingdings" panose="05000000000000000000" charset="0"/>
              <a:buChar char=""/>
            </a:pPr>
            <a:r>
              <a:rPr lang="zh-CN" altLang="en-US" sz="2000">
                <a:sym typeface="+mn-ea"/>
              </a:rPr>
              <a:t>与do</a:t>
            </a:r>
            <a:r>
              <a:rPr lang="en-US" altLang="zh-CN" sz="2000">
                <a:sym typeface="+mn-ea"/>
              </a:rPr>
              <a:t>-</a:t>
            </a:r>
            <a:r>
              <a:rPr lang="zh-CN" altLang="en-US" sz="2000">
                <a:sym typeface="+mn-ea"/>
              </a:rPr>
              <a:t>while的函数版本比较</a:t>
            </a:r>
          </a:p>
          <a:p>
            <a:pPr marL="285750" indent="-285750" fontAlgn="auto">
              <a:lnSpc>
                <a:spcPct val="150000"/>
              </a:lnSpc>
              <a:buFont typeface="Wingdings" panose="05000000000000000000" charset="0"/>
              <a:buChar char=""/>
            </a:pPr>
            <a:r>
              <a:rPr lang="zh-CN" altLang="en-US" sz="2000">
                <a:sym typeface="+mn-ea"/>
              </a:rPr>
              <a:t>初始跳转在测试时启动循环</a:t>
            </a:r>
          </a:p>
          <a:p>
            <a:endParaRPr lang="zh-CN" altLang="en-US" sz="2400">
              <a:solidFill>
                <a:schemeClr val="tx1"/>
              </a:solidFill>
              <a:sym typeface="+mn-ea"/>
            </a:endParaRPr>
          </a:p>
        </p:txBody>
      </p:sp>
      <p:sp>
        <p:nvSpPr>
          <p:cNvPr id="2" name="Rectangle 4"/>
          <p:cNvSpPr/>
          <p:nvPr/>
        </p:nvSpPr>
        <p:spPr bwMode="auto">
          <a:xfrm>
            <a:off x="334645" y="2337434"/>
            <a:ext cx="3736976" cy="2632076"/>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pcount_while</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while (x) {</a:t>
            </a:r>
          </a:p>
          <a:p>
            <a:pPr algn="l"/>
            <a:r>
              <a:rPr lang="en-US" sz="1800" b="1" dirty="0">
                <a:solidFill>
                  <a:schemeClr val="tx1"/>
                </a:solidFill>
                <a:latin typeface="Courier New" panose="02070309020205020404" charset="0"/>
                <a:cs typeface="Courier New" panose="02070309020205020404" charset="0"/>
                <a:sym typeface="Courier New Bold" charset="0"/>
              </a:rPr>
              <a:t>    result += x &amp; 0x1;</a:t>
            </a:r>
          </a:p>
          <a:p>
            <a:pPr algn="l"/>
            <a:r>
              <a:rPr lang="en-US" sz="1800" b="1" dirty="0">
                <a:solidFill>
                  <a:schemeClr val="tx1"/>
                </a:solidFill>
                <a:latin typeface="Courier New" panose="02070309020205020404" charset="0"/>
                <a:cs typeface="Courier New" panose="02070309020205020404" charset="0"/>
                <a:sym typeface="Courier New Bold" charset="0"/>
              </a:rPr>
              <a:t>    x &gt;&gt;= 1;</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19" name="Rectangle 6"/>
          <p:cNvSpPr/>
          <p:nvPr/>
        </p:nvSpPr>
        <p:spPr bwMode="auto">
          <a:xfrm>
            <a:off x="4994909" y="2070734"/>
            <a:ext cx="4041775" cy="3165476"/>
          </a:xfrm>
          <a:prstGeom prst="rect">
            <a:avLst/>
          </a:prstGeom>
          <a:solidFill>
            <a:srgbClr val="D5F1C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pcount_goto_jtm</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0000FF"/>
                </a:solidFill>
                <a:latin typeface="Courier New" panose="02070309020205020404" charset="0"/>
                <a:cs typeface="Courier New" panose="02070309020205020404" charset="0"/>
                <a:sym typeface="Courier New Bold" charset="0"/>
              </a:rPr>
              <a:t>test</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rgbClr val="CC0000"/>
                </a:solidFill>
                <a:latin typeface="Courier New" panose="02070309020205020404" charset="0"/>
                <a:cs typeface="Courier New" panose="02070309020205020404" charset="0"/>
                <a:sym typeface="Courier New Bold" charset="0"/>
              </a:rPr>
              <a:t> loop:</a:t>
            </a:r>
          </a:p>
          <a:p>
            <a:pPr algn="l"/>
            <a:r>
              <a:rPr lang="en-US" sz="1800" b="1" dirty="0">
                <a:solidFill>
                  <a:schemeClr val="tx1"/>
                </a:solidFill>
                <a:latin typeface="Courier New" panose="02070309020205020404" charset="0"/>
                <a:cs typeface="Courier New" panose="02070309020205020404" charset="0"/>
                <a:sym typeface="Courier New Bold" charset="0"/>
              </a:rPr>
              <a:t>  result += x &amp; 0x1;</a:t>
            </a:r>
          </a:p>
          <a:p>
            <a:pPr algn="l"/>
            <a:r>
              <a:rPr lang="en-US" sz="1800" b="1" dirty="0">
                <a:solidFill>
                  <a:schemeClr val="tx1"/>
                </a:solidFill>
                <a:latin typeface="Courier New" panose="02070309020205020404" charset="0"/>
                <a:cs typeface="Courier New" panose="02070309020205020404" charset="0"/>
                <a:sym typeface="Courier New Bold" charset="0"/>
              </a:rPr>
              <a:t>  x &gt;&gt;= 1;</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0000FF"/>
                </a:solidFill>
                <a:latin typeface="Courier New" panose="02070309020205020404" charset="0"/>
                <a:cs typeface="Courier New" panose="02070309020205020404" charset="0"/>
                <a:sym typeface="Courier New Bold" charset="0"/>
              </a:rPr>
              <a:t>test:</a:t>
            </a:r>
          </a:p>
          <a:p>
            <a:pPr algn="l"/>
            <a:r>
              <a:rPr lang="en-US" sz="1800" b="1" dirty="0">
                <a:solidFill>
                  <a:schemeClr val="tx1"/>
                </a:solidFill>
                <a:latin typeface="Courier New" panose="02070309020205020404" charset="0"/>
                <a:cs typeface="Courier New" panose="02070309020205020404" charset="0"/>
                <a:sym typeface="Courier New Bold" charset="0"/>
              </a:rPr>
              <a:t>  if(x)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C0000"/>
                </a:solidFill>
                <a:latin typeface="Courier New" panose="02070309020205020404" charset="0"/>
                <a:cs typeface="Courier New" panose="02070309020205020404" charset="0"/>
                <a:sym typeface="Courier New Bold" charset="0"/>
              </a:rPr>
              <a:t>loop</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4" name="左右箭头 23"/>
          <p:cNvSpPr/>
          <p:nvPr/>
        </p:nvSpPr>
        <p:spPr>
          <a:xfrm>
            <a:off x="3999230" y="3603625"/>
            <a:ext cx="1144905" cy="500380"/>
          </a:xfrm>
          <a:prstGeom prst="leftRightArrow">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p:cNvSpPr txBox="1"/>
          <p:nvPr/>
        </p:nvSpPr>
        <p:spPr>
          <a:xfrm>
            <a:off x="4994910" y="1702435"/>
            <a:ext cx="3484880" cy="398780"/>
          </a:xfrm>
          <a:prstGeom prst="rect">
            <a:avLst/>
          </a:prstGeom>
          <a:noFill/>
        </p:spPr>
        <p:txBody>
          <a:bodyPr wrap="none" rtlCol="0" anchor="t">
            <a:spAutoFit/>
          </a:bodyPr>
          <a:lstStyle/>
          <a:p>
            <a:r>
              <a:rPr lang="zh-CN" altLang="en-US" sz="2000" dirty="0">
                <a:latin typeface="Calibri Bold" charset="0"/>
                <a:ea typeface="宋体" panose="02010600030101010101" pitchFamily="2" charset="-122"/>
                <a:cs typeface="Calibri Bold" charset="0"/>
                <a:sym typeface="Calibri Bold" charset="0"/>
              </a:rPr>
              <a:t>第一种翻译方法：跳转到中间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3">
                                            <p:txEl>
                                              <p:pRg st="0" end="0"/>
                                            </p:txEl>
                                          </p:spTgt>
                                        </p:tgtEl>
                                        <p:attrNameLst>
                                          <p:attrName>style.visibility</p:attrName>
                                        </p:attrNameLst>
                                      </p:cBhvr>
                                      <p:to>
                                        <p:strVal val="visible"/>
                                      </p:to>
                                    </p:set>
                                    <p:anim calcmode="lin" valueType="num">
                                      <p:cBhvr additive="base">
                                        <p:cTn id="22"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3">
                                            <p:txEl>
                                              <p:pRg st="1" end="1"/>
                                            </p:txEl>
                                          </p:spTgt>
                                        </p:tgtEl>
                                        <p:attrNameLst>
                                          <p:attrName>style.visibility</p:attrName>
                                        </p:attrNameLst>
                                      </p:cBhvr>
                                      <p:to>
                                        <p:strVal val="visible"/>
                                      </p:to>
                                    </p:set>
                                    <p:anim calcmode="lin" valueType="num">
                                      <p:cBhvr additive="base">
                                        <p:cTn id="28" dur="500" fill="hold"/>
                                        <p:tgtEl>
                                          <p:spTgt spid="23">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9395" name="Rectangle 3"/>
          <p:cNvSpPr/>
          <p:nvPr/>
        </p:nvSpPr>
        <p:spPr bwMode="auto">
          <a:xfrm>
            <a:off x="533400" y="901700"/>
            <a:ext cx="26162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dirty="0">
                <a:solidFill>
                  <a:schemeClr val="tx1"/>
                </a:solidFill>
                <a:latin typeface="Calibri Bold" charset="0"/>
                <a:ea typeface="Calibri Bold" charset="0"/>
                <a:cs typeface="Calibri Bold" charset="0"/>
                <a:sym typeface="Calibri Bold" charset="0"/>
              </a:rPr>
              <a:t>While </a:t>
            </a:r>
            <a:r>
              <a:rPr lang="zh-CN" altLang="en-US" sz="2400" dirty="0">
                <a:solidFill>
                  <a:schemeClr val="tx1"/>
                </a:solidFill>
                <a:latin typeface="Calibri Bold" charset="0"/>
                <a:ea typeface="宋体" panose="02010600030101010101" pitchFamily="2" charset="-122"/>
                <a:cs typeface="Calibri Bold" charset="0"/>
                <a:sym typeface="Calibri Bold" charset="0"/>
              </a:rPr>
              <a:t>版本</a:t>
            </a:r>
          </a:p>
        </p:txBody>
      </p:sp>
      <p:sp>
        <p:nvSpPr>
          <p:cNvPr id="59396" name="Rectangle 4"/>
          <p:cNvSpPr/>
          <p:nvPr/>
        </p:nvSpPr>
        <p:spPr bwMode="auto">
          <a:xfrm>
            <a:off x="609600" y="1384301"/>
            <a:ext cx="2514600" cy="8001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2400" dirty="0">
                <a:solidFill>
                  <a:schemeClr val="tx1"/>
                </a:solidFill>
                <a:latin typeface="Courier New" panose="02070309020205020404" charset="0"/>
                <a:cs typeface="Courier New" panose="02070309020205020404" charset="0"/>
                <a:sym typeface="Courier New Bold" charset="0"/>
              </a:rPr>
              <a:t>while (</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i="1" dirty="0">
                <a:solidFill>
                  <a:schemeClr val="tx1"/>
                </a:solidFill>
                <a:latin typeface="+mj-lt"/>
                <a:cs typeface="Courier New" panose="02070309020205020404" charset="0"/>
                <a:sym typeface="Courier New Bold" charset="0"/>
              </a:rPr>
              <a:t>Body</a:t>
            </a:r>
          </a:p>
        </p:txBody>
      </p:sp>
      <p:sp>
        <p:nvSpPr>
          <p:cNvPr id="59397" name="Rectangle 5"/>
          <p:cNvSpPr/>
          <p:nvPr/>
        </p:nvSpPr>
        <p:spPr bwMode="auto">
          <a:xfrm>
            <a:off x="533400" y="3065464"/>
            <a:ext cx="29083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a:solidFill>
                  <a:schemeClr val="tx1"/>
                </a:solidFill>
                <a:latin typeface="Calibri Bold" charset="0"/>
                <a:ea typeface="Calibri Bold" charset="0"/>
                <a:cs typeface="Calibri Bold" charset="0"/>
                <a:sym typeface="Calibri Bold" charset="0"/>
              </a:rPr>
              <a:t>Do-While </a:t>
            </a:r>
            <a:r>
              <a:rPr lang="zh-CN" altLang="en-US" sz="2400">
                <a:solidFill>
                  <a:schemeClr val="tx1"/>
                </a:solidFill>
                <a:latin typeface="Calibri Bold" charset="0"/>
                <a:ea typeface="宋体" panose="02010600030101010101" pitchFamily="2" charset="-122"/>
                <a:cs typeface="Calibri Bold" charset="0"/>
                <a:sym typeface="Calibri Bold" charset="0"/>
              </a:rPr>
              <a:t>版本</a:t>
            </a:r>
          </a:p>
        </p:txBody>
      </p:sp>
      <p:sp>
        <p:nvSpPr>
          <p:cNvPr id="59398" name="Rectangle 6"/>
          <p:cNvSpPr/>
          <p:nvPr/>
        </p:nvSpPr>
        <p:spPr bwMode="auto">
          <a:xfrm>
            <a:off x="457200" y="3484563"/>
            <a:ext cx="3048000" cy="2205037"/>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2400" dirty="0">
                <a:solidFill>
                  <a:schemeClr val="tx1"/>
                </a:solidFill>
                <a:latin typeface="Courier New" panose="02070309020205020404" charset="0"/>
                <a:cs typeface="Courier New" panose="02070309020205020404" charset="0"/>
                <a:sym typeface="Courier New Bold" charset="0"/>
              </a:rPr>
              <a:t>  if (!</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 </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dirty="0" err="1">
                <a:solidFill>
                  <a:schemeClr val="tx1"/>
                </a:solidFill>
                <a:latin typeface="Courier New" panose="02070309020205020404" charset="0"/>
                <a:cs typeface="Courier New" panose="02070309020205020404" charset="0"/>
                <a:sym typeface="Courier New Bold" charset="0"/>
              </a:rPr>
              <a:t>goto</a:t>
            </a:r>
            <a:r>
              <a:rPr lang="en-US" sz="2400" dirty="0">
                <a:solidFill>
                  <a:schemeClr val="tx1"/>
                </a:solidFill>
                <a:latin typeface="Courier New" panose="02070309020205020404" charset="0"/>
                <a:cs typeface="Courier New" panose="02070309020205020404" charset="0"/>
                <a:sym typeface="Courier New Bold" charset="0"/>
              </a:rPr>
              <a:t> </a:t>
            </a:r>
            <a:r>
              <a:rPr lang="en-US" sz="2400" dirty="0">
                <a:solidFill>
                  <a:schemeClr val="tx1"/>
                </a:solidFill>
                <a:latin typeface="Courier New" panose="02070309020205020404" charset="0"/>
                <a:cs typeface="Courier New" panose="02070309020205020404" charset="0"/>
                <a:sym typeface="Courier New Bold Italic" charset="0"/>
              </a:rPr>
              <a:t>done</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do</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i="1" dirty="0">
                <a:solidFill>
                  <a:schemeClr val="tx1"/>
                </a:solidFill>
                <a:latin typeface="+mj-lt"/>
                <a:ea typeface="Calibri Bold Italic" charset="0"/>
                <a:cs typeface="Courier New" panose="02070309020205020404" charset="0"/>
                <a:sym typeface="Calibri Bold Italic" charset="0"/>
              </a:rPr>
              <a:t>Body</a:t>
            </a:r>
            <a:endParaRPr lang="en-US" sz="3200" i="1" dirty="0">
              <a:solidFill>
                <a:schemeClr val="tx1"/>
              </a:solidFill>
              <a:latin typeface="+mj-lt"/>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while(</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done:</a:t>
            </a:r>
          </a:p>
        </p:txBody>
      </p:sp>
      <p:sp>
        <p:nvSpPr>
          <p:cNvPr id="21" name="Content Placeholder 1"/>
          <p:cNvSpPr>
            <a:spLocks noGrp="1"/>
          </p:cNvSpPr>
          <p:nvPr/>
        </p:nvSpPr>
        <p:spPr>
          <a:xfrm>
            <a:off x="4267200" y="1130300"/>
            <a:ext cx="4419600" cy="3992563"/>
          </a:xfrm>
          <a:prstGeom prst="rect">
            <a:avLst/>
          </a:prstGeom>
        </p:spPr>
        <p:txBody>
          <a:bodyPr/>
          <a:lstStyle>
            <a:lvl1pPr marL="342900" indent="-342900" algn="l" rtl="0" fontAlgn="base">
              <a:spcBef>
                <a:spcPts val="600"/>
              </a:spcBef>
              <a:spcAft>
                <a:spcPct val="0"/>
              </a:spcAft>
              <a:buClr>
                <a:srgbClr val="990000"/>
              </a:buClr>
              <a:buSzPct val="60000"/>
              <a:buFont typeface="Wingdings 2" panose="05020102010507070707" pitchFamily="18"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marL="0" indent="0">
              <a:buNone/>
            </a:pPr>
            <a:endParaRPr lang="en-US" b="1" dirty="0">
              <a:latin typeface="Courier New" panose="02070309020205020404"/>
              <a:cs typeface="Courier New" panose="02070309020205020404"/>
            </a:endParaRPr>
          </a:p>
        </p:txBody>
      </p:sp>
      <p:sp>
        <p:nvSpPr>
          <p:cNvPr id="59400" name="Rectangle 8"/>
          <p:cNvSpPr/>
          <p:nvPr/>
        </p:nvSpPr>
        <p:spPr bwMode="auto">
          <a:xfrm>
            <a:off x="5257800" y="2730500"/>
            <a:ext cx="29083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a:solidFill>
                  <a:schemeClr val="tx1"/>
                </a:solidFill>
                <a:latin typeface="Calibri Bold" charset="0"/>
                <a:ea typeface="Calibri Bold" charset="0"/>
                <a:cs typeface="Calibri Bold" charset="0"/>
                <a:sym typeface="Calibri Bold" charset="0"/>
              </a:rPr>
              <a:t>Goto </a:t>
            </a:r>
            <a:r>
              <a:rPr lang="zh-CN" altLang="en-US" sz="2400">
                <a:solidFill>
                  <a:schemeClr val="tx1"/>
                </a:solidFill>
                <a:latin typeface="Calibri Bold" charset="0"/>
                <a:ea typeface="宋体" panose="02010600030101010101" pitchFamily="2" charset="-122"/>
                <a:cs typeface="Calibri Bold" charset="0"/>
                <a:sym typeface="Calibri Bold" charset="0"/>
              </a:rPr>
              <a:t>版本</a:t>
            </a:r>
          </a:p>
        </p:txBody>
      </p:sp>
      <p:sp>
        <p:nvSpPr>
          <p:cNvPr id="59401" name="Rectangle 9"/>
          <p:cNvSpPr/>
          <p:nvPr/>
        </p:nvSpPr>
        <p:spPr bwMode="auto">
          <a:xfrm>
            <a:off x="5334000" y="3149599"/>
            <a:ext cx="3429000" cy="2624138"/>
          </a:xfrm>
          <a:prstGeom prst="rect">
            <a:avLst/>
          </a:prstGeom>
          <a:solidFill>
            <a:srgbClr val="D5F1C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2400" dirty="0">
                <a:solidFill>
                  <a:schemeClr val="tx1"/>
                </a:solidFill>
                <a:latin typeface="Courier New" panose="02070309020205020404" charset="0"/>
                <a:cs typeface="Courier New" panose="02070309020205020404" charset="0"/>
                <a:sym typeface="Courier New Bold" charset="0"/>
              </a:rPr>
              <a:t>  if (!</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dirty="0" err="1">
                <a:solidFill>
                  <a:schemeClr val="tx1"/>
                </a:solidFill>
                <a:latin typeface="Courier New" panose="02070309020205020404" charset="0"/>
                <a:cs typeface="Courier New" panose="02070309020205020404" charset="0"/>
                <a:sym typeface="Courier New Bold" charset="0"/>
              </a:rPr>
              <a:t>goto</a:t>
            </a:r>
            <a:r>
              <a:rPr lang="en-US" sz="2400" dirty="0">
                <a:solidFill>
                  <a:schemeClr val="tx1"/>
                </a:solidFill>
                <a:latin typeface="Courier New" panose="02070309020205020404" charset="0"/>
                <a:cs typeface="Courier New" panose="02070309020205020404" charset="0"/>
                <a:sym typeface="Courier New Bold" charset="0"/>
              </a:rPr>
              <a:t> </a:t>
            </a:r>
            <a:r>
              <a:rPr lang="en-US" sz="2400" dirty="0">
                <a:solidFill>
                  <a:schemeClr val="tx1"/>
                </a:solidFill>
                <a:latin typeface="Courier New" panose="02070309020205020404" charset="0"/>
                <a:cs typeface="Courier New" panose="02070309020205020404" charset="0"/>
                <a:sym typeface="Courier New Bold Italic" charset="0"/>
              </a:rPr>
              <a:t>done</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Italic" charset="0"/>
              </a:rPr>
              <a:t>loop:</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i="1" dirty="0">
                <a:solidFill>
                  <a:schemeClr val="tx1"/>
                </a:solidFill>
                <a:latin typeface="+mj-lt"/>
                <a:ea typeface="Calibri Bold Italic" charset="0"/>
                <a:cs typeface="Courier New" panose="02070309020205020404" charset="0"/>
                <a:sym typeface="Calibri Bold Italic" charset="0"/>
              </a:rPr>
              <a:t>Body</a:t>
            </a:r>
            <a:endParaRPr lang="en-US" sz="3200" i="1" dirty="0">
              <a:solidFill>
                <a:schemeClr val="tx1"/>
              </a:solidFill>
              <a:latin typeface="+mj-lt"/>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if (</a:t>
            </a:r>
            <a:r>
              <a:rPr lang="en-US" sz="2400" i="1" dirty="0">
                <a:solidFill>
                  <a:schemeClr val="tx1"/>
                </a:solidFill>
                <a:latin typeface="+mj-lt"/>
                <a:ea typeface="Calibri Bold Italic" charset="0"/>
                <a:cs typeface="Courier New" panose="02070309020205020404" charset="0"/>
                <a:sym typeface="Calibri Bold Italic" charset="0"/>
              </a:rPr>
              <a:t>Test</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charset="0"/>
              </a:rPr>
              <a:t>    </a:t>
            </a:r>
            <a:r>
              <a:rPr lang="en-US" sz="2400" dirty="0" err="1">
                <a:solidFill>
                  <a:schemeClr val="tx1"/>
                </a:solidFill>
                <a:latin typeface="Courier New" panose="02070309020205020404" charset="0"/>
                <a:cs typeface="Courier New" panose="02070309020205020404" charset="0"/>
                <a:sym typeface="Courier New Bold" charset="0"/>
              </a:rPr>
              <a:t>goto</a:t>
            </a:r>
            <a:r>
              <a:rPr lang="en-US" sz="2400" dirty="0">
                <a:solidFill>
                  <a:schemeClr val="tx1"/>
                </a:solidFill>
                <a:latin typeface="Courier New" panose="02070309020205020404" charset="0"/>
                <a:cs typeface="Courier New" panose="02070309020205020404" charset="0"/>
                <a:sym typeface="Courier New Bold" charset="0"/>
              </a:rPr>
              <a:t> </a:t>
            </a:r>
            <a:r>
              <a:rPr lang="en-US" sz="2400" dirty="0">
                <a:solidFill>
                  <a:schemeClr val="tx1"/>
                </a:solidFill>
                <a:latin typeface="Courier New" panose="02070309020205020404" charset="0"/>
                <a:cs typeface="Courier New" panose="02070309020205020404" charset="0"/>
                <a:sym typeface="Courier New Bold Italic" charset="0"/>
              </a:rPr>
              <a:t>loop</a:t>
            </a:r>
            <a:r>
              <a:rPr lang="en-US" sz="2400" dirty="0">
                <a:solidFill>
                  <a:schemeClr val="tx1"/>
                </a:solidFill>
                <a:latin typeface="Courier New" panose="02070309020205020404" charset="0"/>
                <a:cs typeface="Courier New" panose="02070309020205020404" charset="0"/>
                <a:sym typeface="Courier New Bold" charset="0"/>
              </a:rPr>
              <a:t>;</a:t>
            </a:r>
            <a:endParaRPr lang="en-US" sz="3200"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2400" dirty="0">
                <a:solidFill>
                  <a:schemeClr val="tx1"/>
                </a:solidFill>
                <a:latin typeface="Courier New" panose="02070309020205020404" charset="0"/>
                <a:cs typeface="Courier New" panose="02070309020205020404" charset="0"/>
                <a:sym typeface="Courier New Bold Italic" charset="0"/>
              </a:rPr>
              <a:t>done:</a:t>
            </a:r>
          </a:p>
        </p:txBody>
      </p:sp>
      <p:sp>
        <p:nvSpPr>
          <p:cNvPr id="59402" name="AutoShape 10"/>
          <p:cNvSpPr/>
          <p:nvPr/>
        </p:nvSpPr>
        <p:spPr bwMode="auto">
          <a:xfrm>
            <a:off x="1371600" y="2255838"/>
            <a:ext cx="762000" cy="842963"/>
          </a:xfrm>
          <a:custGeom>
            <a:avLst/>
            <a:gdLst>
              <a:gd name="T0" fmla="*/ 10800 w 21600"/>
              <a:gd name="T1" fmla="*/ 10800 h 21600"/>
            </a:gdLst>
            <a:ahLst/>
            <a:cxnLst>
              <a:cxn ang="0">
                <a:pos x="T0" y="T1"/>
              </a:cxn>
            </a:cxnLst>
            <a:rect l="0" t="0" r="r" b="b"/>
            <a:pathLst>
              <a:path w="21600" h="21600">
                <a:moveTo>
                  <a:pt x="0" y="11842"/>
                </a:moveTo>
                <a:lnTo>
                  <a:pt x="5400" y="11842"/>
                </a:lnTo>
                <a:lnTo>
                  <a:pt x="5400" y="0"/>
                </a:lnTo>
                <a:lnTo>
                  <a:pt x="16200" y="0"/>
                </a:lnTo>
                <a:lnTo>
                  <a:pt x="16200" y="11842"/>
                </a:lnTo>
                <a:lnTo>
                  <a:pt x="21600" y="11842"/>
                </a:lnTo>
                <a:lnTo>
                  <a:pt x="10800" y="21600"/>
                </a:lnTo>
                <a:close/>
                <a:moveTo>
                  <a:pt x="0" y="11842"/>
                </a:moveTo>
              </a:path>
            </a:pathLst>
          </a:custGeom>
          <a:solidFill>
            <a:srgbClr val="980002"/>
          </a:solidFill>
          <a:ln w="25400" cap="flat">
            <a:noFill/>
            <a:round/>
            <a:headEnd type="none" w="med" len="med"/>
            <a:tailEnd type="triangle" w="med" len="med"/>
          </a:ln>
          <a:effectLst>
            <a:outerShdw dist="50799" dir="5400000" algn="ctr" rotWithShape="0">
              <a:schemeClr val="bg2">
                <a:alpha val="50000"/>
              </a:schemeClr>
            </a:outerShdw>
          </a:effectLst>
        </p:spPr>
        <p:txBody>
          <a:bodyPr lIns="0" tIns="0" rIns="0" bIns="0"/>
          <a:lstStyle/>
          <a:p>
            <a:endParaRPr lang="en-US"/>
          </a:p>
        </p:txBody>
      </p:sp>
      <p:sp>
        <p:nvSpPr>
          <p:cNvPr id="59403" name="AutoShape 11"/>
          <p:cNvSpPr/>
          <p:nvPr/>
        </p:nvSpPr>
        <p:spPr bwMode="auto">
          <a:xfrm rot="16200000">
            <a:off x="4038600" y="3556001"/>
            <a:ext cx="762000" cy="1524000"/>
          </a:xfrm>
          <a:custGeom>
            <a:avLst/>
            <a:gdLst>
              <a:gd name="T0" fmla="*/ 10800 w 21600"/>
              <a:gd name="T1" fmla="*/ 10800 h 21600"/>
            </a:gdLst>
            <a:ahLst/>
            <a:cxnLst>
              <a:cxn ang="0">
                <a:pos x="T0" y="T1"/>
              </a:cxn>
            </a:cxnLst>
            <a:rect l="0" t="0" r="r" b="b"/>
            <a:pathLst>
              <a:path w="21600" h="21600">
                <a:moveTo>
                  <a:pt x="0" y="16200"/>
                </a:moveTo>
                <a:lnTo>
                  <a:pt x="5400" y="16200"/>
                </a:lnTo>
                <a:lnTo>
                  <a:pt x="5400" y="0"/>
                </a:lnTo>
                <a:lnTo>
                  <a:pt x="16200" y="0"/>
                </a:lnTo>
                <a:lnTo>
                  <a:pt x="16200" y="16200"/>
                </a:lnTo>
                <a:lnTo>
                  <a:pt x="21600" y="16200"/>
                </a:lnTo>
                <a:lnTo>
                  <a:pt x="10800" y="21600"/>
                </a:lnTo>
                <a:close/>
                <a:moveTo>
                  <a:pt x="0" y="16200"/>
                </a:moveTo>
              </a:path>
            </a:pathLst>
          </a:custGeom>
          <a:solidFill>
            <a:srgbClr val="980002"/>
          </a:solidFill>
          <a:ln w="25400" cap="flat">
            <a:noFill/>
            <a:round/>
            <a:headEnd type="none" w="med" len="med"/>
            <a:tailEnd type="triangle" w="med" len="med"/>
          </a:ln>
          <a:effectLst>
            <a:outerShdw dist="50799" dir="5400000" algn="ctr" rotWithShape="0">
              <a:schemeClr val="bg2">
                <a:alpha val="50000"/>
              </a:schemeClr>
            </a:outerShdw>
          </a:effectLst>
        </p:spPr>
        <p:txBody>
          <a:bodyPr lIns="0" tIns="0" rIns="0" bIns="0"/>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9402"/>
                                        </p:tgtEl>
                                        <p:attrNameLst>
                                          <p:attrName>style.visibility</p:attrName>
                                        </p:attrNameLst>
                                      </p:cBhvr>
                                      <p:to>
                                        <p:strVal val="visible"/>
                                      </p:to>
                                    </p:set>
                                    <p:anim calcmode="lin" valueType="num">
                                      <p:cBhvr additive="base">
                                        <p:cTn id="7" dur="500" fill="hold"/>
                                        <p:tgtEl>
                                          <p:spTgt spid="59402"/>
                                        </p:tgtEl>
                                        <p:attrNameLst>
                                          <p:attrName>ppt_x</p:attrName>
                                        </p:attrNameLst>
                                      </p:cBhvr>
                                      <p:tavLst>
                                        <p:tav tm="0">
                                          <p:val>
                                            <p:strVal val="#ppt_x"/>
                                          </p:val>
                                        </p:tav>
                                        <p:tav tm="100000">
                                          <p:val>
                                            <p:strVal val="#ppt_x"/>
                                          </p:val>
                                        </p:tav>
                                      </p:tavLst>
                                    </p:anim>
                                    <p:anim calcmode="lin" valueType="num">
                                      <p:cBhvr additive="base">
                                        <p:cTn id="8" dur="500" fill="hold"/>
                                        <p:tgtEl>
                                          <p:spTgt spid="5940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398"/>
                                        </p:tgtEl>
                                        <p:attrNameLst>
                                          <p:attrName>style.visibility</p:attrName>
                                        </p:attrNameLst>
                                      </p:cBhvr>
                                      <p:to>
                                        <p:strVal val="visible"/>
                                      </p:to>
                                    </p:set>
                                    <p:anim calcmode="lin" valueType="num">
                                      <p:cBhvr additive="base">
                                        <p:cTn id="13" dur="500" fill="hold"/>
                                        <p:tgtEl>
                                          <p:spTgt spid="59398"/>
                                        </p:tgtEl>
                                        <p:attrNameLst>
                                          <p:attrName>ppt_x</p:attrName>
                                        </p:attrNameLst>
                                      </p:cBhvr>
                                      <p:tavLst>
                                        <p:tav tm="0">
                                          <p:val>
                                            <p:strVal val="#ppt_x"/>
                                          </p:val>
                                        </p:tav>
                                        <p:tav tm="100000">
                                          <p:val>
                                            <p:strVal val="#ppt_x"/>
                                          </p:val>
                                        </p:tav>
                                      </p:tavLst>
                                    </p:anim>
                                    <p:anim calcmode="lin" valueType="num">
                                      <p:cBhvr additive="base">
                                        <p:cTn id="14" dur="500" fill="hold"/>
                                        <p:tgtEl>
                                          <p:spTgt spid="5939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403"/>
                                        </p:tgtEl>
                                        <p:attrNameLst>
                                          <p:attrName>style.visibility</p:attrName>
                                        </p:attrNameLst>
                                      </p:cBhvr>
                                      <p:to>
                                        <p:strVal val="visible"/>
                                      </p:to>
                                    </p:set>
                                    <p:anim calcmode="lin" valueType="num">
                                      <p:cBhvr additive="base">
                                        <p:cTn id="19" dur="500" fill="hold"/>
                                        <p:tgtEl>
                                          <p:spTgt spid="59403"/>
                                        </p:tgtEl>
                                        <p:attrNameLst>
                                          <p:attrName>ppt_x</p:attrName>
                                        </p:attrNameLst>
                                      </p:cBhvr>
                                      <p:tavLst>
                                        <p:tav tm="0">
                                          <p:val>
                                            <p:strVal val="#ppt_x"/>
                                          </p:val>
                                        </p:tav>
                                        <p:tav tm="100000">
                                          <p:val>
                                            <p:strVal val="#ppt_x"/>
                                          </p:val>
                                        </p:tav>
                                      </p:tavLst>
                                    </p:anim>
                                    <p:anim calcmode="lin" valueType="num">
                                      <p:cBhvr additive="base">
                                        <p:cTn id="20" dur="500" fill="hold"/>
                                        <p:tgtEl>
                                          <p:spTgt spid="5940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59401"/>
                                        </p:tgtEl>
                                        <p:attrNameLst>
                                          <p:attrName>style.visibility</p:attrName>
                                        </p:attrNameLst>
                                      </p:cBhvr>
                                      <p:to>
                                        <p:strVal val="visible"/>
                                      </p:to>
                                    </p:set>
                                    <p:anim calcmode="lin" valueType="num">
                                      <p:cBhvr additive="base">
                                        <p:cTn id="23" dur="500" fill="hold"/>
                                        <p:tgtEl>
                                          <p:spTgt spid="59401"/>
                                        </p:tgtEl>
                                        <p:attrNameLst>
                                          <p:attrName>ppt_x</p:attrName>
                                        </p:attrNameLst>
                                      </p:cBhvr>
                                      <p:tavLst>
                                        <p:tav tm="0">
                                          <p:val>
                                            <p:strVal val="#ppt_x"/>
                                          </p:val>
                                        </p:tav>
                                        <p:tav tm="100000">
                                          <p:val>
                                            <p:strVal val="#ppt_x"/>
                                          </p:val>
                                        </p:tav>
                                      </p:tavLst>
                                    </p:anim>
                                    <p:anim calcmode="lin" valueType="num">
                                      <p:cBhvr additive="base">
                                        <p:cTn id="24" dur="500" fill="hold"/>
                                        <p:tgtEl>
                                          <p:spTgt spid="594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 grpId="0" animBg="1"/>
      <p:bldP spid="59401" grpId="0" animBg="1"/>
      <p:bldP spid="59402" grpId="0" animBg="1"/>
      <p:bldP spid="59403"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5452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5715839" y="-7839"/>
            <a:ext cx="944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循环</a:t>
            </a:r>
          </a:p>
        </p:txBody>
      </p:sp>
      <p:sp>
        <p:nvSpPr>
          <p:cNvPr id="220" name=" 220"/>
          <p:cNvSpPr/>
          <p:nvPr/>
        </p:nvSpPr>
        <p:spPr>
          <a:xfrm>
            <a:off x="0" y="1473835"/>
            <a:ext cx="2225040" cy="539115"/>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sz="2400">
                <a:solidFill>
                  <a:schemeClr val="tx1"/>
                </a:solidFill>
                <a:sym typeface="+mn-ea"/>
              </a:rPr>
              <a:t>While</a:t>
            </a:r>
            <a:endParaRPr lang="en-US" altLang="en-US" sz="2400">
              <a:solidFill>
                <a:schemeClr val="tx1"/>
              </a:solidFill>
              <a:sym typeface="+mn-ea"/>
            </a:endParaRPr>
          </a:p>
        </p:txBody>
      </p:sp>
      <p:sp>
        <p:nvSpPr>
          <p:cNvPr id="23" name="文本框 22"/>
          <p:cNvSpPr txBox="1"/>
          <p:nvPr/>
        </p:nvSpPr>
        <p:spPr>
          <a:xfrm>
            <a:off x="334645" y="5154930"/>
            <a:ext cx="4093845" cy="1383665"/>
          </a:xfrm>
          <a:prstGeom prst="rect">
            <a:avLst/>
          </a:prstGeom>
          <a:noFill/>
        </p:spPr>
        <p:txBody>
          <a:bodyPr wrap="square" rtlCol="0">
            <a:spAutoFit/>
          </a:bodyPr>
          <a:lstStyle/>
          <a:p>
            <a:pPr marL="285750" indent="-285750" fontAlgn="auto">
              <a:lnSpc>
                <a:spcPct val="150000"/>
              </a:lnSpc>
              <a:buFont typeface="Wingdings" panose="05000000000000000000" charset="0"/>
              <a:buChar char=""/>
            </a:pPr>
            <a:r>
              <a:rPr lang="zh-CN" altLang="en-US" sz="2000">
                <a:sym typeface="+mn-ea"/>
              </a:rPr>
              <a:t>与do</a:t>
            </a:r>
            <a:r>
              <a:rPr lang="en-US" altLang="zh-CN" sz="2000">
                <a:sym typeface="+mn-ea"/>
              </a:rPr>
              <a:t>-</a:t>
            </a:r>
            <a:r>
              <a:rPr lang="zh-CN" altLang="en-US" sz="2000">
                <a:sym typeface="+mn-ea"/>
              </a:rPr>
              <a:t>while的函数版本比较</a:t>
            </a:r>
          </a:p>
          <a:p>
            <a:pPr marL="285750" indent="-285750" fontAlgn="auto">
              <a:lnSpc>
                <a:spcPct val="150000"/>
              </a:lnSpc>
              <a:buFont typeface="Wingdings" panose="05000000000000000000" charset="0"/>
              <a:buChar char=""/>
            </a:pPr>
            <a:r>
              <a:rPr lang="zh-CN" altLang="en-US" sz="2000">
                <a:sym typeface="+mn-ea"/>
              </a:rPr>
              <a:t>初始条件不成立就跳过循环</a:t>
            </a:r>
          </a:p>
          <a:p>
            <a:endParaRPr lang="zh-CN" altLang="en-US" sz="2400">
              <a:solidFill>
                <a:schemeClr val="tx1"/>
              </a:solidFill>
              <a:sym typeface="+mn-ea"/>
            </a:endParaRPr>
          </a:p>
        </p:txBody>
      </p:sp>
      <p:sp>
        <p:nvSpPr>
          <p:cNvPr id="2" name="Rectangle 4"/>
          <p:cNvSpPr/>
          <p:nvPr/>
        </p:nvSpPr>
        <p:spPr bwMode="auto">
          <a:xfrm>
            <a:off x="334645" y="2337434"/>
            <a:ext cx="3736976" cy="2632076"/>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pcount_while</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while (x) {</a:t>
            </a:r>
          </a:p>
          <a:p>
            <a:pPr algn="l"/>
            <a:r>
              <a:rPr lang="en-US" sz="1800" b="1" dirty="0">
                <a:solidFill>
                  <a:schemeClr val="tx1"/>
                </a:solidFill>
                <a:latin typeface="Courier New" panose="02070309020205020404" charset="0"/>
                <a:cs typeface="Courier New" panose="02070309020205020404" charset="0"/>
                <a:sym typeface="Courier New Bold" charset="0"/>
              </a:rPr>
              <a:t>    result += x &amp; 0x1;</a:t>
            </a:r>
          </a:p>
          <a:p>
            <a:pPr algn="l"/>
            <a:r>
              <a:rPr lang="en-US" sz="1800" b="1" dirty="0">
                <a:solidFill>
                  <a:schemeClr val="tx1"/>
                </a:solidFill>
                <a:latin typeface="Courier New" panose="02070309020205020404" charset="0"/>
                <a:cs typeface="Courier New" panose="02070309020205020404" charset="0"/>
                <a:sym typeface="Courier New Bold" charset="0"/>
              </a:rPr>
              <a:t>    x &gt;&gt;= 1;</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54278" name="Rectangle 6"/>
          <p:cNvSpPr/>
          <p:nvPr/>
        </p:nvSpPr>
        <p:spPr bwMode="auto">
          <a:xfrm>
            <a:off x="4850129" y="2101214"/>
            <a:ext cx="4041775" cy="3165476"/>
          </a:xfrm>
          <a:prstGeom prst="rect">
            <a:avLst/>
          </a:prstGeom>
          <a:solidFill>
            <a:srgbClr val="D5F1CF"/>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pcount_goto_dw</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if (!x)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0000FF"/>
                </a:solidFill>
                <a:latin typeface="Courier New" panose="02070309020205020404" charset="0"/>
                <a:cs typeface="Courier New" panose="02070309020205020404" charset="0"/>
                <a:sym typeface="Courier New Bold" charset="0"/>
              </a:rPr>
              <a:t>done</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rgbClr val="CC0000"/>
                </a:solidFill>
                <a:latin typeface="Courier New" panose="02070309020205020404" charset="0"/>
                <a:cs typeface="Courier New" panose="02070309020205020404" charset="0"/>
                <a:sym typeface="Courier New Bold" charset="0"/>
              </a:rPr>
              <a:t> loop:</a:t>
            </a:r>
          </a:p>
          <a:p>
            <a:pPr algn="l"/>
            <a:r>
              <a:rPr lang="en-US" sz="1800" b="1" dirty="0">
                <a:solidFill>
                  <a:schemeClr val="tx1"/>
                </a:solidFill>
                <a:latin typeface="Courier New" panose="02070309020205020404" charset="0"/>
                <a:cs typeface="Courier New" panose="02070309020205020404" charset="0"/>
                <a:sym typeface="Courier New Bold" charset="0"/>
              </a:rPr>
              <a:t>  result += x &amp; 0x1;</a:t>
            </a:r>
          </a:p>
          <a:p>
            <a:pPr algn="l"/>
            <a:r>
              <a:rPr lang="en-US" sz="1800" b="1" dirty="0">
                <a:solidFill>
                  <a:schemeClr val="tx1"/>
                </a:solidFill>
                <a:latin typeface="Courier New" panose="02070309020205020404" charset="0"/>
                <a:cs typeface="Courier New" panose="02070309020205020404" charset="0"/>
                <a:sym typeface="Courier New Bold" charset="0"/>
              </a:rPr>
              <a:t>  x &gt;&gt;= 1;</a:t>
            </a:r>
          </a:p>
          <a:p>
            <a:pPr algn="l"/>
            <a:r>
              <a:rPr lang="en-US" sz="1800" b="1" dirty="0">
                <a:solidFill>
                  <a:schemeClr val="tx1"/>
                </a:solidFill>
                <a:latin typeface="Courier New" panose="02070309020205020404" charset="0"/>
                <a:cs typeface="Courier New" panose="02070309020205020404" charset="0"/>
                <a:sym typeface="Courier New Bold" charset="0"/>
              </a:rPr>
              <a:t>  if(x)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C0000"/>
                </a:solidFill>
                <a:latin typeface="Courier New" panose="02070309020205020404" charset="0"/>
                <a:cs typeface="Courier New" panose="02070309020205020404" charset="0"/>
                <a:sym typeface="Courier New Bold" charset="0"/>
              </a:rPr>
              <a:t>loop</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rgbClr val="CC0000"/>
                </a:solidFill>
                <a:latin typeface="Courier New" panose="02070309020205020404" charset="0"/>
                <a:cs typeface="Courier New" panose="02070309020205020404" charset="0"/>
                <a:sym typeface="Courier New Bold" charset="0"/>
              </a:rPr>
              <a:t> </a:t>
            </a:r>
            <a:r>
              <a:rPr lang="en-US" sz="1800" b="1" dirty="0">
                <a:solidFill>
                  <a:srgbClr val="0000FF"/>
                </a:solidFill>
                <a:latin typeface="Courier New" panose="02070309020205020404" charset="0"/>
                <a:cs typeface="Courier New" panose="02070309020205020404" charset="0"/>
                <a:sym typeface="Courier New Bold" charset="0"/>
              </a:rPr>
              <a:t>done:</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4" name="左右箭头 23"/>
          <p:cNvSpPr/>
          <p:nvPr/>
        </p:nvSpPr>
        <p:spPr>
          <a:xfrm>
            <a:off x="3919220" y="3550920"/>
            <a:ext cx="1144905" cy="500380"/>
          </a:xfrm>
          <a:prstGeom prst="leftRightArrow">
            <a:avLst/>
          </a:prstGeom>
          <a:solidFill>
            <a:srgbClr val="BDD7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4994910" y="1702435"/>
            <a:ext cx="3554730" cy="398780"/>
          </a:xfrm>
          <a:prstGeom prst="rect">
            <a:avLst/>
          </a:prstGeom>
          <a:noFill/>
        </p:spPr>
        <p:txBody>
          <a:bodyPr wrap="none" rtlCol="0" anchor="t">
            <a:spAutoFit/>
          </a:bodyPr>
          <a:lstStyle/>
          <a:p>
            <a:pPr algn="l"/>
            <a:r>
              <a:rPr lang="zh-CN" altLang="en-US" sz="2000" dirty="0">
                <a:latin typeface="Calibri Bold" charset="0"/>
                <a:ea typeface="宋体" panose="02010600030101010101" pitchFamily="2" charset="-122"/>
                <a:cs typeface="Calibri Bold" charset="0"/>
                <a:sym typeface="Calibri Bold" charset="0"/>
              </a:rPr>
              <a:t>第二种翻译方法：</a:t>
            </a:r>
            <a:r>
              <a:rPr lang="en-US" sz="2000" dirty="0">
                <a:sym typeface="+mn-ea"/>
              </a:rPr>
              <a:t>guarded-do</a:t>
            </a:r>
            <a:endParaRPr lang="zh-CN" altLang="en-US" sz="2000" dirty="0">
              <a:latin typeface="Calibri Bold" charset="0"/>
              <a:ea typeface="宋体" panose="02010600030101010101" pitchFamily="2" charset="-122"/>
              <a:cs typeface="Calibri Bold" charset="0"/>
              <a:sym typeface="Calibri Bold"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3">
                                            <p:txEl>
                                              <p:pRg st="0" end="0"/>
                                            </p:txEl>
                                          </p:spTgt>
                                        </p:tgtEl>
                                        <p:attrNameLst>
                                          <p:attrName>style.visibility</p:attrName>
                                        </p:attrNameLst>
                                      </p:cBhvr>
                                      <p:to>
                                        <p:strVal val="visible"/>
                                      </p:to>
                                    </p:set>
                                    <p:anim calcmode="lin" valueType="num">
                                      <p:cBhvr additive="base">
                                        <p:cTn id="22" dur="500" fill="hold"/>
                                        <p:tgtEl>
                                          <p:spTgt spid="23">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3">
                                            <p:txEl>
                                              <p:pRg st="1" end="1"/>
                                            </p:txEl>
                                          </p:spTgt>
                                        </p:tgtEl>
                                        <p:attrNameLst>
                                          <p:attrName>style.visibility</p:attrName>
                                        </p:attrNameLst>
                                      </p:cBhvr>
                                      <p:to>
                                        <p:strVal val="visible"/>
                                      </p:to>
                                    </p:set>
                                    <p:anim calcmode="lin" valueType="num">
                                      <p:cBhvr additive="base">
                                        <p:cTn id="28" dur="500" fill="hold"/>
                                        <p:tgtEl>
                                          <p:spTgt spid="23">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4690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5715839" y="-7839"/>
            <a:ext cx="944880" cy="553085"/>
          </a:xfrm>
          <a:prstGeom prst="rect">
            <a:avLst/>
          </a:prstGeom>
          <a:noFill/>
        </p:spPr>
        <p:txBody>
          <a:bodyPr wrap="none" rtlCol="0">
            <a:spAutoFit/>
          </a:bodyPr>
          <a:lstStyle/>
          <a:p>
            <a:pPr algn="l"/>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循环</a:t>
            </a:r>
          </a:p>
        </p:txBody>
      </p:sp>
      <p:sp>
        <p:nvSpPr>
          <p:cNvPr id="2" name="Rectangle 3"/>
          <p:cNvSpPr>
            <a:spLocks noChangeArrowheads="1"/>
          </p:cNvSpPr>
          <p:nvPr/>
        </p:nvSpPr>
        <p:spPr bwMode="auto">
          <a:xfrm>
            <a:off x="205105" y="1526540"/>
            <a:ext cx="4419600" cy="1012190"/>
          </a:xfrm>
          <a:prstGeom prst="rect">
            <a:avLst/>
          </a:prstGeom>
          <a:solidFill>
            <a:schemeClr val="accent2">
              <a:lumMod val="20000"/>
              <a:lumOff val="80000"/>
            </a:schemeClr>
          </a:solidFill>
          <a:ln w="57150" cmpd="thickThin">
            <a:solidFill>
              <a:schemeClr val="tx1"/>
            </a:solidFill>
            <a:miter lim="800000"/>
          </a:ln>
          <a:effectLst/>
        </p:spPr>
        <p:txBody>
          <a:bodyPr wrap="square" lIns="90487" tIns="44450" rIns="90487" bIns="44450">
            <a:spAutoFit/>
          </a:bodyPr>
          <a:lstStyle/>
          <a:p>
            <a:pPr>
              <a:lnSpc>
                <a:spcPct val="100000"/>
              </a:lnSpc>
              <a:spcBef>
                <a:spcPct val="50000"/>
              </a:spcBef>
            </a:pPr>
            <a:r>
              <a:rPr lang="en-US" sz="2400">
                <a:latin typeface="Courier New" panose="02070309020205020404" charset="0"/>
              </a:rPr>
              <a:t>for (</a:t>
            </a:r>
            <a:r>
              <a:rPr lang="zh-CN" altLang="en-US" sz="2400">
                <a:latin typeface="Courier New" panose="02070309020205020404" charset="0"/>
              </a:rPr>
              <a:t>初始化</a:t>
            </a:r>
            <a:r>
              <a:rPr lang="en-US" sz="2400">
                <a:latin typeface="Courier New" panose="02070309020205020404" charset="0"/>
              </a:rPr>
              <a:t>; </a:t>
            </a:r>
            <a:r>
              <a:rPr lang="zh-CN" altLang="en-US" sz="2400">
                <a:latin typeface="Courier New" panose="02070309020205020404" charset="0"/>
              </a:rPr>
              <a:t>判断</a:t>
            </a:r>
            <a:r>
              <a:rPr lang="en-US" sz="2400">
                <a:latin typeface="Courier New" panose="02070309020205020404" charset="0"/>
              </a:rPr>
              <a:t>; </a:t>
            </a:r>
            <a:r>
              <a:rPr lang="zh-CN" altLang="en-US" sz="2400">
                <a:latin typeface="Courier New" panose="02070309020205020404" charset="0"/>
              </a:rPr>
              <a:t>更新</a:t>
            </a:r>
            <a:r>
              <a:rPr lang="en-US" sz="2400" i="1"/>
              <a:t> </a:t>
            </a:r>
            <a:r>
              <a:rPr lang="en-US" sz="2400">
                <a:latin typeface="Courier New" panose="02070309020205020404" charset="0"/>
              </a:rPr>
              <a:t>)</a:t>
            </a:r>
          </a:p>
          <a:p>
            <a:pPr>
              <a:lnSpc>
                <a:spcPct val="100000"/>
              </a:lnSpc>
              <a:spcBef>
                <a:spcPct val="50000"/>
              </a:spcBef>
            </a:pPr>
            <a:r>
              <a:rPr lang="en-US" sz="2400">
                <a:latin typeface="Courier New" panose="02070309020205020404" charset="0"/>
              </a:rPr>
              <a:t>    </a:t>
            </a:r>
            <a:r>
              <a:rPr lang="zh-CN" altLang="en-US" sz="2400">
                <a:latin typeface="Courier New" panose="02070309020205020404" charset="0"/>
              </a:rPr>
              <a:t>代码主体</a:t>
            </a:r>
            <a:endParaRPr lang="zh-CN" altLang="en-US" sz="2400" i="1">
              <a:latin typeface="Courier New" panose="02070309020205020404" charset="0"/>
            </a:endParaRPr>
          </a:p>
        </p:txBody>
      </p:sp>
      <p:sp>
        <p:nvSpPr>
          <p:cNvPr id="19" name="Rectangle 4"/>
          <p:cNvSpPr/>
          <p:nvPr/>
        </p:nvSpPr>
        <p:spPr bwMode="auto">
          <a:xfrm>
            <a:off x="167005" y="2660015"/>
            <a:ext cx="4495800" cy="39624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#define WSIZE 8*</a:t>
            </a:r>
            <a:r>
              <a:rPr lang="en-US" sz="1800" b="1" dirty="0" err="1">
                <a:solidFill>
                  <a:schemeClr val="tx1"/>
                </a:solidFill>
                <a:latin typeface="Courier New" panose="02070309020205020404" charset="0"/>
                <a:cs typeface="Courier New" panose="02070309020205020404" charset="0"/>
                <a:sym typeface="Courier New Bold" charset="0"/>
              </a:rPr>
              <a:t>sizeof</a:t>
            </a:r>
            <a:r>
              <a:rPr lang="en-US" sz="1800" b="1" dirty="0">
                <a:solidFill>
                  <a:schemeClr val="tx1"/>
                </a:solidFill>
                <a:latin typeface="Courier New" panose="02070309020205020404" charset="0"/>
                <a:cs typeface="Courier New" panose="02070309020205020404" charset="0"/>
                <a:sym typeface="Courier New Bold" charset="0"/>
              </a:rPr>
              <a:t>(</a:t>
            </a:r>
            <a:r>
              <a:rPr lang="en-US" sz="1800" b="1" dirty="0" err="1">
                <a:solidFill>
                  <a:schemeClr val="tx1"/>
                </a:solidFill>
                <a:latin typeface="Courier New" panose="02070309020205020404" charset="0"/>
                <a:cs typeface="Courier New" panose="02070309020205020404" charset="0"/>
                <a:sym typeface="Courier New Bold" charset="0"/>
              </a:rPr>
              <a:t>int</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pcount_for</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size_t</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for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 0;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&lt; WSIZE;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unsigned bit = </a:t>
            </a:r>
          </a:p>
          <a:p>
            <a:pPr algn="l"/>
            <a:r>
              <a:rPr lang="en-US" sz="1800" b="1" dirty="0">
                <a:solidFill>
                  <a:schemeClr val="tx1"/>
                </a:solidFill>
                <a:latin typeface="Courier New" panose="02070309020205020404" charset="0"/>
                <a:cs typeface="Courier New" panose="02070309020205020404" charset="0"/>
                <a:sym typeface="Courier New Bold" charset="0"/>
              </a:rPr>
              <a:t>      (x &gt;&gt;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&amp; 0x1;</a:t>
            </a:r>
          </a:p>
          <a:p>
            <a:pPr algn="l"/>
            <a:r>
              <a:rPr lang="en-US" sz="1800" b="1" dirty="0">
                <a:solidFill>
                  <a:schemeClr val="tx1"/>
                </a:solidFill>
                <a:latin typeface="Courier New" panose="02070309020205020404" charset="0"/>
                <a:cs typeface="Courier New" panose="02070309020205020404" charset="0"/>
                <a:sym typeface="Courier New Bold" charset="0"/>
              </a:rPr>
              <a:t>    result += bit;</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5" name="Rectangle 4"/>
          <p:cNvSpPr/>
          <p:nvPr/>
        </p:nvSpPr>
        <p:spPr bwMode="auto">
          <a:xfrm>
            <a:off x="5067300" y="2158365"/>
            <a:ext cx="2133600" cy="381000"/>
          </a:xfrm>
          <a:prstGeom prst="rect">
            <a:avLst/>
          </a:prstGeom>
          <a:solidFill>
            <a:srgbClr val="CCFFCC"/>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 0</a:t>
            </a:r>
          </a:p>
        </p:txBody>
      </p:sp>
      <p:sp>
        <p:nvSpPr>
          <p:cNvPr id="26" name="Rectangle 4"/>
          <p:cNvSpPr/>
          <p:nvPr/>
        </p:nvSpPr>
        <p:spPr bwMode="auto">
          <a:xfrm>
            <a:off x="5067300" y="3072765"/>
            <a:ext cx="2133600" cy="381000"/>
          </a:xfrm>
          <a:prstGeom prst="rect">
            <a:avLst/>
          </a:prstGeom>
          <a:solidFill>
            <a:srgbClr val="CCFFCC"/>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&lt; WSIZE</a:t>
            </a:r>
          </a:p>
        </p:txBody>
      </p:sp>
      <p:sp>
        <p:nvSpPr>
          <p:cNvPr id="27" name="Rectangle 4"/>
          <p:cNvSpPr/>
          <p:nvPr/>
        </p:nvSpPr>
        <p:spPr bwMode="auto">
          <a:xfrm>
            <a:off x="5067300" y="4063365"/>
            <a:ext cx="2133600" cy="381000"/>
          </a:xfrm>
          <a:prstGeom prst="rect">
            <a:avLst/>
          </a:prstGeom>
          <a:solidFill>
            <a:srgbClr val="CCFFCC"/>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8" name="Rectangle 4"/>
          <p:cNvSpPr/>
          <p:nvPr/>
        </p:nvSpPr>
        <p:spPr bwMode="auto">
          <a:xfrm>
            <a:off x="4914900" y="5053965"/>
            <a:ext cx="4114800" cy="1524000"/>
          </a:xfrm>
          <a:prstGeom prst="rect">
            <a:avLst/>
          </a:prstGeom>
          <a:solidFill>
            <a:srgbClr val="CCFFCC"/>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unsigned bit =</a:t>
            </a:r>
          </a:p>
          <a:p>
            <a:pPr algn="l"/>
            <a:r>
              <a:rPr lang="en-US" sz="1800" b="1" dirty="0">
                <a:solidFill>
                  <a:schemeClr val="tx1"/>
                </a:solidFill>
                <a:latin typeface="Courier New" panose="02070309020205020404" charset="0"/>
                <a:cs typeface="Courier New" panose="02070309020205020404" charset="0"/>
                <a:sym typeface="Courier New Bold" charset="0"/>
              </a:rPr>
              <a:t>     (x &gt;&gt;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&amp; 0x1;</a:t>
            </a:r>
          </a:p>
          <a:p>
            <a:pPr algn="l"/>
            <a:r>
              <a:rPr lang="en-US" sz="1800" b="1" dirty="0">
                <a:solidFill>
                  <a:schemeClr val="tx1"/>
                </a:solidFill>
                <a:latin typeface="Courier New" panose="02070309020205020404" charset="0"/>
                <a:cs typeface="Courier New" panose="02070309020205020404" charset="0"/>
                <a:sym typeface="Courier New Bold" charset="0"/>
              </a:rPr>
              <a:t>  result += bit;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9" name="Rectangle 5"/>
          <p:cNvSpPr>
            <a:spLocks noChangeArrowheads="1"/>
          </p:cNvSpPr>
          <p:nvPr/>
        </p:nvSpPr>
        <p:spPr bwMode="auto">
          <a:xfrm>
            <a:off x="5124450" y="1701165"/>
            <a:ext cx="3448050" cy="412750"/>
          </a:xfrm>
          <a:prstGeom prst="rect">
            <a:avLst/>
          </a:prstGeom>
          <a:noFill/>
          <a:ln w="12700">
            <a:noFill/>
            <a:miter lim="800000"/>
          </a:ln>
          <a:effectLst/>
        </p:spPr>
        <p:txBody>
          <a:bodyPr lIns="90487" tIns="44450" rIns="90487" bIns="44450"/>
          <a:lstStyle/>
          <a:p>
            <a:pPr marL="224155" indent="-224155" algn="l" defTabSz="895350">
              <a:spcBef>
                <a:spcPct val="30000"/>
              </a:spcBef>
            </a:pPr>
            <a:r>
              <a:rPr lang="zh-CN" altLang="en-US" sz="2400" dirty="0">
                <a:solidFill>
                  <a:schemeClr val="tx2"/>
                </a:solidFill>
                <a:latin typeface="+mj-lt"/>
                <a:cs typeface="Calibri" panose="020F0502020204030204"/>
              </a:rPr>
              <a:t>初始化</a:t>
            </a:r>
          </a:p>
          <a:p>
            <a:pPr marL="224155" indent="-224155" algn="l" defTabSz="895350">
              <a:lnSpc>
                <a:spcPct val="100000"/>
              </a:lnSpc>
            </a:pPr>
            <a:endParaRPr lang="en-US" sz="2400" dirty="0">
              <a:solidFill>
                <a:schemeClr val="tx2"/>
              </a:solidFill>
              <a:latin typeface="+mj-lt"/>
              <a:cs typeface="Calibri" panose="020F0502020204030204"/>
            </a:endParaRPr>
          </a:p>
        </p:txBody>
      </p:sp>
      <p:sp>
        <p:nvSpPr>
          <p:cNvPr id="30" name="Rectangle 5"/>
          <p:cNvSpPr>
            <a:spLocks noChangeArrowheads="1"/>
          </p:cNvSpPr>
          <p:nvPr/>
        </p:nvSpPr>
        <p:spPr bwMode="auto">
          <a:xfrm>
            <a:off x="5124450" y="2660015"/>
            <a:ext cx="3448050" cy="412750"/>
          </a:xfrm>
          <a:prstGeom prst="rect">
            <a:avLst/>
          </a:prstGeom>
          <a:noFill/>
          <a:ln w="12700">
            <a:noFill/>
            <a:miter lim="800000"/>
          </a:ln>
          <a:effectLst/>
        </p:spPr>
        <p:txBody>
          <a:bodyPr lIns="90487" tIns="44450" rIns="90487" bIns="44450"/>
          <a:lstStyle/>
          <a:p>
            <a:pPr marL="224155" indent="-224155" algn="l" defTabSz="895350">
              <a:spcBef>
                <a:spcPct val="30000"/>
              </a:spcBef>
            </a:pPr>
            <a:r>
              <a:rPr lang="zh-CN" altLang="en-US" sz="2400" dirty="0">
                <a:solidFill>
                  <a:schemeClr val="tx2"/>
                </a:solidFill>
                <a:latin typeface="+mj-lt"/>
                <a:cs typeface="Calibri" panose="020F0502020204030204"/>
              </a:rPr>
              <a:t>判断</a:t>
            </a:r>
          </a:p>
          <a:p>
            <a:pPr marL="224155" indent="-224155" algn="l" defTabSz="895350">
              <a:lnSpc>
                <a:spcPct val="100000"/>
              </a:lnSpc>
            </a:pPr>
            <a:endParaRPr lang="en-US" sz="2400" dirty="0">
              <a:solidFill>
                <a:schemeClr val="tx2"/>
              </a:solidFill>
              <a:latin typeface="+mj-lt"/>
              <a:cs typeface="Calibri" panose="020F0502020204030204"/>
            </a:endParaRPr>
          </a:p>
        </p:txBody>
      </p:sp>
      <p:sp>
        <p:nvSpPr>
          <p:cNvPr id="31" name="Rectangle 5"/>
          <p:cNvSpPr>
            <a:spLocks noChangeArrowheads="1"/>
          </p:cNvSpPr>
          <p:nvPr/>
        </p:nvSpPr>
        <p:spPr bwMode="auto">
          <a:xfrm>
            <a:off x="5143500" y="3650615"/>
            <a:ext cx="3448050" cy="412750"/>
          </a:xfrm>
          <a:prstGeom prst="rect">
            <a:avLst/>
          </a:prstGeom>
          <a:noFill/>
          <a:ln w="12700">
            <a:noFill/>
            <a:miter lim="800000"/>
          </a:ln>
          <a:effectLst/>
        </p:spPr>
        <p:txBody>
          <a:bodyPr lIns="90487" tIns="44450" rIns="90487" bIns="44450"/>
          <a:lstStyle/>
          <a:p>
            <a:pPr marL="224155" indent="-224155" algn="l" defTabSz="895350">
              <a:spcBef>
                <a:spcPct val="30000"/>
              </a:spcBef>
            </a:pPr>
            <a:r>
              <a:rPr lang="zh-CN" altLang="en-US" sz="2400" dirty="0">
                <a:solidFill>
                  <a:schemeClr val="tx2"/>
                </a:solidFill>
                <a:latin typeface="+mj-lt"/>
                <a:cs typeface="Calibri" panose="020F0502020204030204"/>
              </a:rPr>
              <a:t>更新</a:t>
            </a:r>
          </a:p>
          <a:p>
            <a:pPr marL="224155" indent="-224155" algn="l" defTabSz="895350">
              <a:lnSpc>
                <a:spcPct val="100000"/>
              </a:lnSpc>
            </a:pPr>
            <a:endParaRPr lang="en-US" sz="2400" dirty="0">
              <a:solidFill>
                <a:schemeClr val="tx2"/>
              </a:solidFill>
              <a:latin typeface="+mj-lt"/>
              <a:cs typeface="Calibri" panose="020F0502020204030204"/>
            </a:endParaRPr>
          </a:p>
        </p:txBody>
      </p:sp>
      <p:sp>
        <p:nvSpPr>
          <p:cNvPr id="32" name="Rectangle 5"/>
          <p:cNvSpPr>
            <a:spLocks noChangeArrowheads="1"/>
          </p:cNvSpPr>
          <p:nvPr/>
        </p:nvSpPr>
        <p:spPr bwMode="auto">
          <a:xfrm>
            <a:off x="5162550" y="4641215"/>
            <a:ext cx="3448050" cy="412750"/>
          </a:xfrm>
          <a:prstGeom prst="rect">
            <a:avLst/>
          </a:prstGeom>
          <a:noFill/>
          <a:ln w="12700">
            <a:noFill/>
            <a:miter lim="800000"/>
          </a:ln>
          <a:effectLst/>
        </p:spPr>
        <p:txBody>
          <a:bodyPr lIns="90487" tIns="44450" rIns="90487" bIns="44450"/>
          <a:lstStyle/>
          <a:p>
            <a:pPr marL="224155" indent="-224155" algn="l" defTabSz="895350">
              <a:spcBef>
                <a:spcPct val="30000"/>
              </a:spcBef>
            </a:pPr>
            <a:r>
              <a:rPr lang="zh-CN" altLang="en-US" sz="2400" dirty="0">
                <a:solidFill>
                  <a:schemeClr val="tx2"/>
                </a:solidFill>
                <a:latin typeface="+mj-lt"/>
                <a:cs typeface="Calibri" panose="020F0502020204030204"/>
              </a:rPr>
              <a:t>代码主体</a:t>
            </a:r>
          </a:p>
          <a:p>
            <a:pPr marL="224155" indent="-224155" algn="l" defTabSz="895350">
              <a:lnSpc>
                <a:spcPct val="100000"/>
              </a:lnSpc>
            </a:pPr>
            <a:endParaRPr lang="en-US" sz="2400" dirty="0">
              <a:solidFill>
                <a:schemeClr val="tx2"/>
              </a:solidFill>
              <a:latin typeface="+mj-lt"/>
              <a:cs typeface="Calibri" panose="020F0502020204030204"/>
            </a:endParaRPr>
          </a:p>
        </p:txBody>
      </p:sp>
      <p:sp>
        <p:nvSpPr>
          <p:cNvPr id="33" name="左箭头 32"/>
          <p:cNvSpPr/>
          <p:nvPr/>
        </p:nvSpPr>
        <p:spPr>
          <a:xfrm>
            <a:off x="7321550" y="1153795"/>
            <a:ext cx="1822450" cy="657225"/>
          </a:xfrm>
          <a:prstGeom prst="left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for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fill="hold"/>
                                        <p:tgtEl>
                                          <p:spTgt spid="25"/>
                                        </p:tgtEl>
                                        <p:attrNameLst>
                                          <p:attrName>ppt_x</p:attrName>
                                        </p:attrNameLst>
                                      </p:cBhvr>
                                      <p:tavLst>
                                        <p:tav tm="0">
                                          <p:val>
                                            <p:strVal val="#ppt_x"/>
                                          </p:val>
                                        </p:tav>
                                        <p:tav tm="100000">
                                          <p:val>
                                            <p:strVal val="#ppt_x"/>
                                          </p:val>
                                        </p:tav>
                                      </p:tavLst>
                                    </p:anim>
                                    <p:anim calcmode="lin" valueType="num">
                                      <p:cBhvr additive="base">
                                        <p:cTn id="29" dur="500" fill="hold"/>
                                        <p:tgtEl>
                                          <p:spTgt spid="25"/>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29"/>
                                        </p:tgtEl>
                                        <p:attrNameLst>
                                          <p:attrName>style.visibility</p:attrName>
                                        </p:attrNameLst>
                                      </p:cBhvr>
                                      <p:to>
                                        <p:strVal val="visible"/>
                                      </p:to>
                                    </p:set>
                                    <p:anim calcmode="lin" valueType="num">
                                      <p:cBhvr additive="base">
                                        <p:cTn id="32" dur="500" fill="hold"/>
                                        <p:tgtEl>
                                          <p:spTgt spid="29"/>
                                        </p:tgtEl>
                                        <p:attrNameLst>
                                          <p:attrName>ppt_x</p:attrName>
                                        </p:attrNameLst>
                                      </p:cBhvr>
                                      <p:tavLst>
                                        <p:tav tm="0">
                                          <p:val>
                                            <p:strVal val="#ppt_x"/>
                                          </p:val>
                                        </p:tav>
                                        <p:tav tm="100000">
                                          <p:val>
                                            <p:strVal val="#ppt_x"/>
                                          </p:val>
                                        </p:tav>
                                      </p:tavLst>
                                    </p:anim>
                                    <p:anim calcmode="lin" valueType="num">
                                      <p:cBhvr additive="base">
                                        <p:cTn id="33" dur="500" fill="hold"/>
                                        <p:tgtEl>
                                          <p:spTgt spid="2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26"/>
                                        </p:tgtEl>
                                        <p:attrNameLst>
                                          <p:attrName>style.visibility</p:attrName>
                                        </p:attrNameLst>
                                      </p:cBhvr>
                                      <p:to>
                                        <p:strVal val="visible"/>
                                      </p:to>
                                    </p:set>
                                    <p:anim calcmode="lin" valueType="num">
                                      <p:cBhvr additive="base">
                                        <p:cTn id="38" dur="500" fill="hold"/>
                                        <p:tgtEl>
                                          <p:spTgt spid="26"/>
                                        </p:tgtEl>
                                        <p:attrNameLst>
                                          <p:attrName>ppt_x</p:attrName>
                                        </p:attrNameLst>
                                      </p:cBhvr>
                                      <p:tavLst>
                                        <p:tav tm="0">
                                          <p:val>
                                            <p:strVal val="#ppt_x"/>
                                          </p:val>
                                        </p:tav>
                                        <p:tav tm="100000">
                                          <p:val>
                                            <p:strVal val="#ppt_x"/>
                                          </p:val>
                                        </p:tav>
                                      </p:tavLst>
                                    </p:anim>
                                    <p:anim calcmode="lin" valueType="num">
                                      <p:cBhvr additive="base">
                                        <p:cTn id="39" dur="500" fill="hold"/>
                                        <p:tgtEl>
                                          <p:spTgt spid="26"/>
                                        </p:tgtEl>
                                        <p:attrNameLst>
                                          <p:attrName>ppt_y</p:attrName>
                                        </p:attrNameLst>
                                      </p:cBhvr>
                                      <p:tavLst>
                                        <p:tav tm="0">
                                          <p:val>
                                            <p:strVal val="1+#ppt_h/2"/>
                                          </p:val>
                                        </p:tav>
                                        <p:tav tm="100000">
                                          <p:val>
                                            <p:strVal val="#ppt_y"/>
                                          </p:val>
                                        </p:tav>
                                      </p:tavLst>
                                    </p:anim>
                                  </p:childTnLst>
                                </p:cTn>
                              </p:par>
                              <p:par>
                                <p:cTn id="40" presetID="2" presetClass="entr" presetSubtype="4" fill="hold" grpId="0" nodeType="withEffect">
                                  <p:stCondLst>
                                    <p:cond delay="0"/>
                                  </p:stCondLst>
                                  <p:childTnLst>
                                    <p:set>
                                      <p:cBhvr>
                                        <p:cTn id="41" dur="1" fill="hold">
                                          <p:stCondLst>
                                            <p:cond delay="0"/>
                                          </p:stCondLst>
                                        </p:cTn>
                                        <p:tgtEl>
                                          <p:spTgt spid="30"/>
                                        </p:tgtEl>
                                        <p:attrNameLst>
                                          <p:attrName>style.visibility</p:attrName>
                                        </p:attrNameLst>
                                      </p:cBhvr>
                                      <p:to>
                                        <p:strVal val="visible"/>
                                      </p:to>
                                    </p:set>
                                    <p:anim calcmode="lin" valueType="num">
                                      <p:cBhvr additive="base">
                                        <p:cTn id="42" dur="500" fill="hold"/>
                                        <p:tgtEl>
                                          <p:spTgt spid="30"/>
                                        </p:tgtEl>
                                        <p:attrNameLst>
                                          <p:attrName>ppt_x</p:attrName>
                                        </p:attrNameLst>
                                      </p:cBhvr>
                                      <p:tavLst>
                                        <p:tav tm="0">
                                          <p:val>
                                            <p:strVal val="#ppt_x"/>
                                          </p:val>
                                        </p:tav>
                                        <p:tav tm="100000">
                                          <p:val>
                                            <p:strVal val="#ppt_x"/>
                                          </p:val>
                                        </p:tav>
                                      </p:tavLst>
                                    </p:anim>
                                    <p:anim calcmode="lin" valueType="num">
                                      <p:cBhvr additive="base">
                                        <p:cTn id="43"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 calcmode="lin" valueType="num">
                                      <p:cBhvr additive="base">
                                        <p:cTn id="48" dur="500" fill="hold"/>
                                        <p:tgtEl>
                                          <p:spTgt spid="27"/>
                                        </p:tgtEl>
                                        <p:attrNameLst>
                                          <p:attrName>ppt_x</p:attrName>
                                        </p:attrNameLst>
                                      </p:cBhvr>
                                      <p:tavLst>
                                        <p:tav tm="0">
                                          <p:val>
                                            <p:strVal val="#ppt_x"/>
                                          </p:val>
                                        </p:tav>
                                        <p:tav tm="100000">
                                          <p:val>
                                            <p:strVal val="#ppt_x"/>
                                          </p:val>
                                        </p:tav>
                                      </p:tavLst>
                                    </p:anim>
                                    <p:anim calcmode="lin" valueType="num">
                                      <p:cBhvr additive="base">
                                        <p:cTn id="49" dur="500" fill="hold"/>
                                        <p:tgtEl>
                                          <p:spTgt spid="27"/>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31"/>
                                        </p:tgtEl>
                                        <p:attrNameLst>
                                          <p:attrName>style.visibility</p:attrName>
                                        </p:attrNameLst>
                                      </p:cBhvr>
                                      <p:to>
                                        <p:strVal val="visible"/>
                                      </p:to>
                                    </p:set>
                                    <p:anim calcmode="lin" valueType="num">
                                      <p:cBhvr additive="base">
                                        <p:cTn id="52" dur="500" fill="hold"/>
                                        <p:tgtEl>
                                          <p:spTgt spid="31"/>
                                        </p:tgtEl>
                                        <p:attrNameLst>
                                          <p:attrName>ppt_x</p:attrName>
                                        </p:attrNameLst>
                                      </p:cBhvr>
                                      <p:tavLst>
                                        <p:tav tm="0">
                                          <p:val>
                                            <p:strVal val="#ppt_x"/>
                                          </p:val>
                                        </p:tav>
                                        <p:tav tm="100000">
                                          <p:val>
                                            <p:strVal val="#ppt_x"/>
                                          </p:val>
                                        </p:tav>
                                      </p:tavLst>
                                    </p:anim>
                                    <p:anim calcmode="lin" valueType="num">
                                      <p:cBhvr additive="base">
                                        <p:cTn id="5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28"/>
                                        </p:tgtEl>
                                        <p:attrNameLst>
                                          <p:attrName>style.visibility</p:attrName>
                                        </p:attrNameLst>
                                      </p:cBhvr>
                                      <p:to>
                                        <p:strVal val="visible"/>
                                      </p:to>
                                    </p:set>
                                    <p:anim calcmode="lin" valueType="num">
                                      <p:cBhvr additive="base">
                                        <p:cTn id="58" dur="500" fill="hold"/>
                                        <p:tgtEl>
                                          <p:spTgt spid="28"/>
                                        </p:tgtEl>
                                        <p:attrNameLst>
                                          <p:attrName>ppt_x</p:attrName>
                                        </p:attrNameLst>
                                      </p:cBhvr>
                                      <p:tavLst>
                                        <p:tav tm="0">
                                          <p:val>
                                            <p:strVal val="#ppt_x"/>
                                          </p:val>
                                        </p:tav>
                                        <p:tav tm="100000">
                                          <p:val>
                                            <p:strVal val="#ppt_x"/>
                                          </p:val>
                                        </p:tav>
                                      </p:tavLst>
                                    </p:anim>
                                    <p:anim calcmode="lin" valueType="num">
                                      <p:cBhvr additive="base">
                                        <p:cTn id="59" dur="500" fill="hold"/>
                                        <p:tgtEl>
                                          <p:spTgt spid="28"/>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32"/>
                                        </p:tgtEl>
                                        <p:attrNameLst>
                                          <p:attrName>style.visibility</p:attrName>
                                        </p:attrNameLst>
                                      </p:cBhvr>
                                      <p:to>
                                        <p:strVal val="visible"/>
                                      </p:to>
                                    </p:set>
                                    <p:anim calcmode="lin" valueType="num">
                                      <p:cBhvr additive="base">
                                        <p:cTn id="62" dur="500" fill="hold"/>
                                        <p:tgtEl>
                                          <p:spTgt spid="32"/>
                                        </p:tgtEl>
                                        <p:attrNameLst>
                                          <p:attrName>ppt_x</p:attrName>
                                        </p:attrNameLst>
                                      </p:cBhvr>
                                      <p:tavLst>
                                        <p:tav tm="0">
                                          <p:val>
                                            <p:strVal val="#ppt_x"/>
                                          </p:val>
                                        </p:tav>
                                        <p:tav tm="100000">
                                          <p:val>
                                            <p:strVal val="#ppt_x"/>
                                          </p:val>
                                        </p:tav>
                                      </p:tavLst>
                                    </p:anim>
                                    <p:anim calcmode="lin" valueType="num">
                                      <p:cBhvr additive="base">
                                        <p:cTn id="6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2"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11" name="Rectangle 3"/>
          <p:cNvSpPr>
            <a:spLocks noChangeArrowheads="1"/>
          </p:cNvSpPr>
          <p:nvPr/>
        </p:nvSpPr>
        <p:spPr bwMode="auto">
          <a:xfrm>
            <a:off x="381000" y="1346200"/>
            <a:ext cx="4419600" cy="1012190"/>
          </a:xfrm>
          <a:prstGeom prst="rect">
            <a:avLst/>
          </a:prstGeom>
          <a:solidFill>
            <a:schemeClr val="accent2">
              <a:lumMod val="20000"/>
              <a:lumOff val="80000"/>
            </a:schemeClr>
          </a:solidFill>
          <a:ln w="57150" cmpd="thickThin">
            <a:solidFill>
              <a:schemeClr val="tx1"/>
            </a:solidFill>
            <a:miter lim="800000"/>
          </a:ln>
          <a:effectLst/>
        </p:spPr>
        <p:txBody>
          <a:bodyPr wrap="square" lIns="90487" tIns="44450" rIns="90487" bIns="44450">
            <a:spAutoFit/>
          </a:bodyPr>
          <a:lstStyle/>
          <a:p>
            <a:pPr>
              <a:lnSpc>
                <a:spcPct val="100000"/>
              </a:lnSpc>
              <a:spcBef>
                <a:spcPct val="50000"/>
              </a:spcBef>
            </a:pPr>
            <a:r>
              <a:rPr lang="en-US" sz="2400" dirty="0">
                <a:latin typeface="Courier New" panose="02070309020205020404" charset="0"/>
              </a:rPr>
              <a:t>for (</a:t>
            </a:r>
            <a:r>
              <a:rPr lang="zh-CN" altLang="en-US" sz="2400">
                <a:latin typeface="Courier New" panose="02070309020205020404" charset="0"/>
                <a:sym typeface="+mn-ea"/>
              </a:rPr>
              <a:t>初始化</a:t>
            </a:r>
            <a:r>
              <a:rPr lang="en-US" sz="2400">
                <a:latin typeface="Courier New" panose="02070309020205020404" charset="0"/>
                <a:sym typeface="+mn-ea"/>
              </a:rPr>
              <a:t>; </a:t>
            </a:r>
            <a:r>
              <a:rPr lang="zh-CN" altLang="en-US" sz="2400">
                <a:latin typeface="Courier New" panose="02070309020205020404" charset="0"/>
                <a:sym typeface="+mn-ea"/>
              </a:rPr>
              <a:t>判断</a:t>
            </a:r>
            <a:r>
              <a:rPr lang="en-US" sz="2400">
                <a:latin typeface="Courier New" panose="02070309020205020404" charset="0"/>
                <a:sym typeface="+mn-ea"/>
              </a:rPr>
              <a:t>; </a:t>
            </a:r>
            <a:r>
              <a:rPr lang="zh-CN" altLang="en-US" sz="2400">
                <a:latin typeface="Courier New" panose="02070309020205020404" charset="0"/>
                <a:sym typeface="+mn-ea"/>
              </a:rPr>
              <a:t>更新</a:t>
            </a:r>
            <a:r>
              <a:rPr lang="en-US" sz="2400" i="1" dirty="0"/>
              <a:t> </a:t>
            </a:r>
            <a:r>
              <a:rPr lang="en-US" sz="2400" dirty="0">
                <a:latin typeface="Courier New" panose="02070309020205020404" charset="0"/>
              </a:rPr>
              <a:t>)</a:t>
            </a:r>
          </a:p>
          <a:p>
            <a:pPr>
              <a:lnSpc>
                <a:spcPct val="100000"/>
              </a:lnSpc>
              <a:spcBef>
                <a:spcPct val="50000"/>
              </a:spcBef>
            </a:pPr>
            <a:r>
              <a:rPr lang="en-US" sz="2400" dirty="0">
                <a:latin typeface="Courier New" panose="02070309020205020404" charset="0"/>
              </a:rPr>
              <a:t>    </a:t>
            </a:r>
            <a:r>
              <a:rPr lang="zh-CN" altLang="en-US" sz="2400">
                <a:latin typeface="Courier New" panose="02070309020205020404" charset="0"/>
                <a:sym typeface="+mn-ea"/>
              </a:rPr>
              <a:t>代码主体</a:t>
            </a:r>
            <a:endParaRPr lang="en-US" sz="2400" i="1" dirty="0">
              <a:latin typeface="+mj-lt"/>
            </a:endParaRPr>
          </a:p>
        </p:txBody>
      </p:sp>
      <p:sp>
        <p:nvSpPr>
          <p:cNvPr id="12" name="Rectangle 5"/>
          <p:cNvSpPr>
            <a:spLocks noChangeArrowheads="1"/>
          </p:cNvSpPr>
          <p:nvPr/>
        </p:nvSpPr>
        <p:spPr bwMode="auto">
          <a:xfrm>
            <a:off x="514350" y="812800"/>
            <a:ext cx="3448050" cy="412750"/>
          </a:xfrm>
          <a:prstGeom prst="rect">
            <a:avLst/>
          </a:prstGeom>
          <a:noFill/>
          <a:ln w="12700">
            <a:noFill/>
            <a:miter lim="800000"/>
          </a:ln>
          <a:effectLst/>
        </p:spPr>
        <p:txBody>
          <a:bodyPr lIns="90487" tIns="44450" rIns="90487" bIns="44450"/>
          <a:lstStyle/>
          <a:p>
            <a:pPr marL="224155" indent="-224155" algn="l" defTabSz="895350">
              <a:spcBef>
                <a:spcPct val="30000"/>
              </a:spcBef>
            </a:pPr>
            <a:r>
              <a:rPr lang="en-US" sz="2400" dirty="0">
                <a:solidFill>
                  <a:schemeClr val="tx2"/>
                </a:solidFill>
                <a:latin typeface="+mj-lt"/>
              </a:rPr>
              <a:t>For </a:t>
            </a:r>
            <a:r>
              <a:rPr lang="zh-CN" altLang="en-US" sz="2400" dirty="0">
                <a:solidFill>
                  <a:schemeClr val="tx2"/>
                </a:solidFill>
                <a:latin typeface="+mj-lt"/>
              </a:rPr>
              <a:t>版本</a:t>
            </a:r>
          </a:p>
          <a:p>
            <a:pPr marL="224155" indent="-224155" algn="l" defTabSz="895350">
              <a:lnSpc>
                <a:spcPct val="100000"/>
              </a:lnSpc>
            </a:pPr>
            <a:endParaRPr lang="en-US" sz="2400" dirty="0">
              <a:solidFill>
                <a:schemeClr val="tx2"/>
              </a:solidFill>
              <a:latin typeface="+mj-lt"/>
            </a:endParaRPr>
          </a:p>
        </p:txBody>
      </p:sp>
      <p:sp>
        <p:nvSpPr>
          <p:cNvPr id="2" name="Rectangle 3"/>
          <p:cNvSpPr>
            <a:spLocks noChangeArrowheads="1"/>
          </p:cNvSpPr>
          <p:nvPr/>
        </p:nvSpPr>
        <p:spPr bwMode="auto">
          <a:xfrm>
            <a:off x="1447800" y="3632200"/>
            <a:ext cx="2819400" cy="2673985"/>
          </a:xfrm>
          <a:prstGeom prst="rect">
            <a:avLst/>
          </a:prstGeom>
          <a:solidFill>
            <a:schemeClr val="accent2">
              <a:lumMod val="20000"/>
              <a:lumOff val="80000"/>
            </a:schemeClr>
          </a:solidFill>
          <a:ln w="57150" cmpd="thickThin">
            <a:solidFill>
              <a:schemeClr val="tx1"/>
            </a:solidFill>
            <a:miter lim="800000"/>
          </a:ln>
          <a:effectLst/>
        </p:spPr>
        <p:txBody>
          <a:bodyPr wrap="square" lIns="90487" tIns="44450" rIns="90487" bIns="44450">
            <a:spAutoFit/>
          </a:bodyPr>
          <a:lstStyle/>
          <a:p>
            <a:pPr algn="l">
              <a:lnSpc>
                <a:spcPct val="100000"/>
              </a:lnSpc>
              <a:spcBef>
                <a:spcPct val="50000"/>
              </a:spcBef>
            </a:pPr>
            <a:r>
              <a:rPr lang="en-US" sz="2400" i="1" dirty="0">
                <a:latin typeface="+mj-lt"/>
              </a:rPr>
              <a:t>Init</a:t>
            </a:r>
            <a:r>
              <a:rPr lang="en-US" sz="2400" i="1" dirty="0">
                <a:latin typeface="Courier New" panose="02070309020205020404" charset="0"/>
              </a:rPr>
              <a:t>;</a:t>
            </a:r>
          </a:p>
          <a:p>
            <a:pPr algn="l">
              <a:lnSpc>
                <a:spcPct val="100000"/>
              </a:lnSpc>
              <a:spcBef>
                <a:spcPct val="50000"/>
              </a:spcBef>
            </a:pPr>
            <a:r>
              <a:rPr lang="en-US" sz="2400" dirty="0">
                <a:latin typeface="Courier New" panose="02070309020205020404" charset="0"/>
              </a:rPr>
              <a:t>while (</a:t>
            </a:r>
            <a:r>
              <a:rPr lang="zh-CN" altLang="en-US" sz="2400" dirty="0">
                <a:latin typeface="Courier New" panose="02070309020205020404" charset="0"/>
                <a:sym typeface="+mn-ea"/>
              </a:rPr>
              <a:t>判断</a:t>
            </a:r>
            <a:r>
              <a:rPr lang="en-US" sz="2400" i="1" dirty="0">
                <a:latin typeface="+mj-lt"/>
              </a:rPr>
              <a:t> </a:t>
            </a:r>
            <a:r>
              <a:rPr lang="en-US" sz="2400" dirty="0">
                <a:latin typeface="Courier New" panose="02070309020205020404" charset="0"/>
              </a:rPr>
              <a:t>) {</a:t>
            </a:r>
          </a:p>
          <a:p>
            <a:pPr algn="l">
              <a:lnSpc>
                <a:spcPct val="100000"/>
              </a:lnSpc>
              <a:spcBef>
                <a:spcPct val="50000"/>
              </a:spcBef>
            </a:pPr>
            <a:r>
              <a:rPr lang="en-US" sz="2400" dirty="0">
                <a:latin typeface="Courier New" panose="02070309020205020404" charset="0"/>
              </a:rPr>
              <a:t>    </a:t>
            </a:r>
            <a:r>
              <a:rPr lang="zh-CN" altLang="en-US" sz="2400" dirty="0">
                <a:latin typeface="Courier New" panose="02070309020205020404" charset="0"/>
                <a:sym typeface="+mn-ea"/>
              </a:rPr>
              <a:t>代码主体</a:t>
            </a:r>
            <a:endParaRPr lang="en-US" sz="2400" i="1" dirty="0"/>
          </a:p>
          <a:p>
            <a:pPr algn="l">
              <a:spcBef>
                <a:spcPct val="50000"/>
              </a:spcBef>
            </a:pPr>
            <a:r>
              <a:rPr lang="en-US" sz="2400" i="1" dirty="0">
                <a:latin typeface="Courier New" panose="02070309020205020404" charset="0"/>
                <a:cs typeface="Courier New" panose="02070309020205020404" charset="0"/>
              </a:rPr>
              <a:t>    </a:t>
            </a:r>
            <a:r>
              <a:rPr lang="zh-CN" altLang="en-US" sz="2400" dirty="0">
                <a:latin typeface="Courier New" panose="02070309020205020404" charset="0"/>
                <a:sym typeface="+mn-ea"/>
              </a:rPr>
              <a:t>更新</a:t>
            </a:r>
            <a:r>
              <a:rPr lang="en-US" sz="2400" dirty="0">
                <a:latin typeface="Courier New" panose="02070309020205020404" charset="0"/>
                <a:cs typeface="Courier New" panose="02070309020205020404" charset="0"/>
              </a:rPr>
              <a:t>;</a:t>
            </a:r>
          </a:p>
          <a:p>
            <a:pPr algn="l">
              <a:spcBef>
                <a:spcPct val="50000"/>
              </a:spcBef>
            </a:pPr>
            <a:r>
              <a:rPr lang="en-US" sz="2400" dirty="0">
                <a:latin typeface="Courier New" panose="02070309020205020404" charset="0"/>
                <a:cs typeface="Courier New" panose="02070309020205020404" charset="0"/>
              </a:rPr>
              <a:t>}</a:t>
            </a:r>
          </a:p>
        </p:txBody>
      </p:sp>
      <p:sp>
        <p:nvSpPr>
          <p:cNvPr id="18" name="Rectangle 5"/>
          <p:cNvSpPr>
            <a:spLocks noChangeArrowheads="1"/>
          </p:cNvSpPr>
          <p:nvPr/>
        </p:nvSpPr>
        <p:spPr bwMode="auto">
          <a:xfrm>
            <a:off x="590550" y="3098800"/>
            <a:ext cx="3448050" cy="412750"/>
          </a:xfrm>
          <a:prstGeom prst="rect">
            <a:avLst/>
          </a:prstGeom>
          <a:noFill/>
          <a:ln w="12700">
            <a:noFill/>
            <a:miter lim="800000"/>
          </a:ln>
          <a:effectLst/>
        </p:spPr>
        <p:txBody>
          <a:bodyPr lIns="90487" tIns="44450" rIns="90487" bIns="44450"/>
          <a:lstStyle/>
          <a:p>
            <a:pPr marL="224155" indent="-224155" algn="l" defTabSz="895350">
              <a:spcBef>
                <a:spcPct val="30000"/>
              </a:spcBef>
            </a:pPr>
            <a:r>
              <a:rPr lang="en-US" sz="2400" dirty="0">
                <a:solidFill>
                  <a:schemeClr val="tx2"/>
                </a:solidFill>
                <a:latin typeface="+mj-lt"/>
              </a:rPr>
              <a:t>While </a:t>
            </a:r>
            <a:r>
              <a:rPr lang="zh-CN" altLang="en-US" sz="2400" dirty="0">
                <a:solidFill>
                  <a:schemeClr val="tx2"/>
                </a:solidFill>
                <a:latin typeface="+mj-lt"/>
              </a:rPr>
              <a:t>版本</a:t>
            </a:r>
          </a:p>
          <a:p>
            <a:pPr marL="224155" indent="-224155" algn="l" defTabSz="895350">
              <a:lnSpc>
                <a:spcPct val="100000"/>
              </a:lnSpc>
            </a:pPr>
            <a:endParaRPr lang="en-US" sz="2400" dirty="0">
              <a:solidFill>
                <a:schemeClr val="tx2"/>
              </a:solidFill>
              <a:latin typeface="+mj-lt"/>
            </a:endParaRPr>
          </a:p>
        </p:txBody>
      </p:sp>
      <p:sp>
        <p:nvSpPr>
          <p:cNvPr id="19" name="AutoShape 10"/>
          <p:cNvSpPr/>
          <p:nvPr/>
        </p:nvSpPr>
        <p:spPr bwMode="auto">
          <a:xfrm>
            <a:off x="2438400" y="2565400"/>
            <a:ext cx="762000" cy="842963"/>
          </a:xfrm>
          <a:custGeom>
            <a:avLst/>
            <a:gdLst>
              <a:gd name="T0" fmla="*/ 10800 w 21600"/>
              <a:gd name="T1" fmla="*/ 10800 h 21600"/>
            </a:gdLst>
            <a:ahLst/>
            <a:cxnLst>
              <a:cxn ang="0">
                <a:pos x="T0" y="T1"/>
              </a:cxn>
            </a:cxnLst>
            <a:rect l="0" t="0" r="r" b="b"/>
            <a:pathLst>
              <a:path w="21600" h="21600">
                <a:moveTo>
                  <a:pt x="0" y="11842"/>
                </a:moveTo>
                <a:lnTo>
                  <a:pt x="5400" y="11842"/>
                </a:lnTo>
                <a:lnTo>
                  <a:pt x="5400" y="0"/>
                </a:lnTo>
                <a:lnTo>
                  <a:pt x="16200" y="0"/>
                </a:lnTo>
                <a:lnTo>
                  <a:pt x="16200" y="11842"/>
                </a:lnTo>
                <a:lnTo>
                  <a:pt x="21600" y="11842"/>
                </a:lnTo>
                <a:lnTo>
                  <a:pt x="10800" y="21600"/>
                </a:lnTo>
                <a:close/>
                <a:moveTo>
                  <a:pt x="0" y="11842"/>
                </a:moveTo>
              </a:path>
            </a:pathLst>
          </a:custGeom>
          <a:solidFill>
            <a:srgbClr val="980002"/>
          </a:solidFill>
          <a:ln w="25400" cap="flat">
            <a:noFill/>
            <a:round/>
            <a:headEnd type="none" w="med" len="med"/>
            <a:tailEnd type="triangle" w="med" len="med"/>
          </a:ln>
          <a:effectLst>
            <a:outerShdw dist="50799" dir="5400000" algn="ctr" rotWithShape="0">
              <a:schemeClr val="bg2">
                <a:alpha val="50000"/>
              </a:schemeClr>
            </a:outerShdw>
          </a:effectLst>
        </p:spPr>
        <p:txBody>
          <a:bodyPr lIns="0" tIns="0" rIns="0" bIns="0"/>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 calcmode="lin" valueType="num">
                                      <p:cBhvr additive="base">
                                        <p:cTn id="15" dur="500" fill="hold"/>
                                        <p:tgtEl>
                                          <p:spTgt spid="18"/>
                                        </p:tgtEl>
                                        <p:attrNameLst>
                                          <p:attrName>ppt_x</p:attrName>
                                        </p:attrNameLst>
                                      </p:cBhvr>
                                      <p:tavLst>
                                        <p:tav tm="0">
                                          <p:val>
                                            <p:strVal val="#ppt_x"/>
                                          </p:val>
                                        </p:tav>
                                        <p:tav tm="100000">
                                          <p:val>
                                            <p:strVal val="#ppt_x"/>
                                          </p:val>
                                        </p:tav>
                                      </p:tavLst>
                                    </p:anim>
                                    <p:anim calcmode="lin" valueType="num">
                                      <p:cBhvr additive="base">
                                        <p:cTn id="16"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8" grpId="0" animBg="1"/>
      <p:bldP spid="19"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pic>
        <p:nvPicPr>
          <p:cNvPr id="2" name="图片 1"/>
          <p:cNvPicPr>
            <a:picLocks noChangeAspect="1"/>
          </p:cNvPicPr>
          <p:nvPr/>
        </p:nvPicPr>
        <p:blipFill>
          <a:blip r:embed="rId2"/>
          <a:srcRect r="32072" b="5703"/>
          <a:stretch>
            <a:fillRect/>
          </a:stretch>
        </p:blipFill>
        <p:spPr>
          <a:xfrm>
            <a:off x="5618480" y="1105535"/>
            <a:ext cx="3066415" cy="4157980"/>
          </a:xfrm>
          <a:prstGeom prst="rect">
            <a:avLst/>
          </a:prstGeom>
        </p:spPr>
      </p:pic>
      <p:sp>
        <p:nvSpPr>
          <p:cNvPr id="4" name="Rectangle 4"/>
          <p:cNvSpPr/>
          <p:nvPr/>
        </p:nvSpPr>
        <p:spPr bwMode="auto">
          <a:xfrm>
            <a:off x="222885" y="1203325"/>
            <a:ext cx="4495800" cy="39624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#define WSIZE 8*</a:t>
            </a:r>
            <a:r>
              <a:rPr lang="en-US" sz="1800" b="1" dirty="0" err="1">
                <a:solidFill>
                  <a:schemeClr val="tx1"/>
                </a:solidFill>
                <a:latin typeface="Courier New" panose="02070309020205020404" charset="0"/>
                <a:cs typeface="Courier New" panose="02070309020205020404" charset="0"/>
                <a:sym typeface="Courier New Bold" charset="0"/>
              </a:rPr>
              <a:t>sizeof</a:t>
            </a:r>
            <a:r>
              <a:rPr lang="en-US" sz="1800" b="1" dirty="0">
                <a:solidFill>
                  <a:schemeClr val="tx1"/>
                </a:solidFill>
                <a:latin typeface="Courier New" panose="02070309020205020404" charset="0"/>
                <a:cs typeface="Courier New" panose="02070309020205020404" charset="0"/>
                <a:sym typeface="Courier New Bold" charset="0"/>
              </a:rPr>
              <a:t>(</a:t>
            </a:r>
            <a:r>
              <a:rPr lang="en-US" sz="1800" b="1" dirty="0" err="1">
                <a:solidFill>
                  <a:schemeClr val="tx1"/>
                </a:solidFill>
                <a:latin typeface="Courier New" panose="02070309020205020404" charset="0"/>
                <a:cs typeface="Courier New" panose="02070309020205020404" charset="0"/>
                <a:sym typeface="Courier New Bold" charset="0"/>
              </a:rPr>
              <a:t>int</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pcount_for</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size_t</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for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 0;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&lt; WSIZE;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unsigned bit = </a:t>
            </a:r>
          </a:p>
          <a:p>
            <a:pPr algn="l"/>
            <a:r>
              <a:rPr lang="en-US" sz="1800" b="1" dirty="0">
                <a:solidFill>
                  <a:schemeClr val="tx1"/>
                </a:solidFill>
                <a:latin typeface="Courier New" panose="02070309020205020404" charset="0"/>
                <a:cs typeface="Courier New" panose="02070309020205020404" charset="0"/>
                <a:sym typeface="Courier New Bold" charset="0"/>
              </a:rPr>
              <a:t>      (x &gt;&gt;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&amp; 0x1;</a:t>
            </a:r>
          </a:p>
          <a:p>
            <a:pPr algn="l"/>
            <a:r>
              <a:rPr lang="en-US" sz="1800" b="1" dirty="0">
                <a:solidFill>
                  <a:schemeClr val="tx1"/>
                </a:solidFill>
                <a:latin typeface="Courier New" panose="02070309020205020404" charset="0"/>
                <a:cs typeface="Courier New" panose="02070309020205020404" charset="0"/>
                <a:sym typeface="Courier New Bold" charset="0"/>
              </a:rPr>
              <a:t>    result += bit;</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5" name="左右箭头 4"/>
          <p:cNvSpPr/>
          <p:nvPr/>
        </p:nvSpPr>
        <p:spPr>
          <a:xfrm>
            <a:off x="4361180" y="2947035"/>
            <a:ext cx="1520190" cy="803275"/>
          </a:xfrm>
          <a:prstGeom prst="lef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222885" y="2855595"/>
            <a:ext cx="4138295" cy="3949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5618480" y="2723515"/>
            <a:ext cx="3066415" cy="3416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燕尾形 7"/>
          <p:cNvSpPr/>
          <p:nvPr/>
        </p:nvSpPr>
        <p:spPr>
          <a:xfrm>
            <a:off x="156845" y="381000"/>
            <a:ext cx="2959735" cy="60642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ym typeface="+mn-ea"/>
              </a:rPr>
              <a:t>For-While</a:t>
            </a:r>
            <a:r>
              <a:rPr lang="zh-CN" altLang="en-US" sz="2400" dirty="0">
                <a:sym typeface="+mn-ea"/>
              </a:rPr>
              <a:t>转换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ppt_x"/>
                                          </p:val>
                                        </p:tav>
                                        <p:tav tm="100000">
                                          <p:val>
                                            <p:strVal val="#ppt_x"/>
                                          </p:val>
                                        </p:tav>
                                      </p:tavLst>
                                    </p:anim>
                                    <p:anim calcmode="lin" valueType="num">
                                      <p:cBhvr additive="base">
                                        <p:cTn id="3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Rectangle 4"/>
          <p:cNvSpPr/>
          <p:nvPr/>
        </p:nvSpPr>
        <p:spPr bwMode="auto">
          <a:xfrm>
            <a:off x="156845" y="1203325"/>
            <a:ext cx="4204335" cy="39624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#define WSIZE 8*</a:t>
            </a:r>
            <a:r>
              <a:rPr lang="en-US" sz="1800" b="1" dirty="0" err="1">
                <a:solidFill>
                  <a:schemeClr val="tx1"/>
                </a:solidFill>
                <a:latin typeface="Courier New" panose="02070309020205020404" charset="0"/>
                <a:cs typeface="Courier New" panose="02070309020205020404" charset="0"/>
                <a:sym typeface="Courier New Bold" charset="0"/>
              </a:rPr>
              <a:t>sizeof</a:t>
            </a:r>
            <a:r>
              <a:rPr lang="en-US" sz="1800" b="1" dirty="0">
                <a:solidFill>
                  <a:schemeClr val="tx1"/>
                </a:solidFill>
                <a:latin typeface="Courier New" panose="02070309020205020404" charset="0"/>
                <a:cs typeface="Courier New" panose="02070309020205020404" charset="0"/>
                <a:sym typeface="Courier New Bold" charset="0"/>
              </a:rPr>
              <a:t>(</a:t>
            </a:r>
            <a:r>
              <a:rPr lang="en-US" sz="1800" b="1" dirty="0" err="1">
                <a:solidFill>
                  <a:schemeClr val="tx1"/>
                </a:solidFill>
                <a:latin typeface="Courier New" panose="02070309020205020404" charset="0"/>
                <a:cs typeface="Courier New" panose="02070309020205020404" charset="0"/>
                <a:sym typeface="Courier New Bold" charset="0"/>
              </a:rPr>
              <a:t>int</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pcount_for</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size_t</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for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 0;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&lt; WSIZE;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unsigned bit = </a:t>
            </a:r>
          </a:p>
          <a:p>
            <a:pPr algn="l"/>
            <a:r>
              <a:rPr lang="en-US" sz="1800" b="1" dirty="0">
                <a:solidFill>
                  <a:schemeClr val="tx1"/>
                </a:solidFill>
                <a:latin typeface="Courier New" panose="02070309020205020404" charset="0"/>
                <a:cs typeface="Courier New" panose="02070309020205020404" charset="0"/>
                <a:sym typeface="Courier New Bold" charset="0"/>
              </a:rPr>
              <a:t>      (x &gt;&gt;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&amp; 0x1;</a:t>
            </a:r>
          </a:p>
          <a:p>
            <a:pPr algn="l"/>
            <a:r>
              <a:rPr lang="en-US" sz="1800" b="1" dirty="0">
                <a:solidFill>
                  <a:schemeClr val="tx1"/>
                </a:solidFill>
                <a:latin typeface="Courier New" panose="02070309020205020404" charset="0"/>
                <a:cs typeface="Courier New" panose="02070309020205020404" charset="0"/>
                <a:sym typeface="Courier New Bold" charset="0"/>
              </a:rPr>
              <a:t>    result += bit;</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6" name="椭圆 5"/>
          <p:cNvSpPr/>
          <p:nvPr/>
        </p:nvSpPr>
        <p:spPr>
          <a:xfrm>
            <a:off x="222885" y="2855595"/>
            <a:ext cx="4138295" cy="39497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燕尾形 7"/>
          <p:cNvSpPr/>
          <p:nvPr/>
        </p:nvSpPr>
        <p:spPr>
          <a:xfrm>
            <a:off x="156845" y="381000"/>
            <a:ext cx="2959735" cy="60642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ym typeface="Wingdings" panose="05000000000000000000"/>
              </a:rPr>
              <a:t>Do-While</a:t>
            </a:r>
            <a:r>
              <a:rPr lang="zh-CN" altLang="en-US" sz="2400" dirty="0">
                <a:sym typeface="+mn-ea"/>
              </a:rPr>
              <a:t>转换</a:t>
            </a:r>
          </a:p>
        </p:txBody>
      </p:sp>
      <p:sp>
        <p:nvSpPr>
          <p:cNvPr id="9" name="Rectangle 4"/>
          <p:cNvSpPr/>
          <p:nvPr/>
        </p:nvSpPr>
        <p:spPr bwMode="auto">
          <a:xfrm>
            <a:off x="4686300" y="347980"/>
            <a:ext cx="4343400" cy="5410200"/>
          </a:xfrm>
          <a:prstGeom prst="rect">
            <a:avLst/>
          </a:prstGeom>
          <a:solidFill>
            <a:srgbClr val="F6F5BD"/>
          </a:solidFill>
          <a:ln w="12700" cap="flat">
            <a:solidFill>
              <a:schemeClr val="tx1"/>
            </a:solidFill>
            <a:prstDash val="solid"/>
            <a:miter lim="800000"/>
            <a:headEnd type="none" w="med" len="med"/>
            <a:tailEnd type="none" w="med" len="med"/>
          </a:ln>
          <a:effectLst>
            <a:outerShdw dist="50799" dir="5400000" algn="ctr" rotWithShape="0">
              <a:schemeClr val="bg2">
                <a:alpha val="50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pcount_for_goto_dw</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size_t</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result = 0;</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 0;</a:t>
            </a:r>
          </a:p>
          <a:p>
            <a:pPr algn="l"/>
            <a:r>
              <a:rPr lang="en-US" sz="1800" b="1" dirty="0">
                <a:solidFill>
                  <a:schemeClr val="tx1"/>
                </a:solidFill>
                <a:latin typeface="Courier New" panose="02070309020205020404" charset="0"/>
                <a:cs typeface="Courier New" panose="02070309020205020404" charset="0"/>
                <a:sym typeface="Courier New Bold" charset="0"/>
              </a:rPr>
              <a:t>  if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&lt; WSIZE))</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done;</a:t>
            </a:r>
          </a:p>
          <a:p>
            <a:pPr algn="l"/>
            <a:r>
              <a:rPr lang="en-US" sz="1800" b="1" dirty="0">
                <a:solidFill>
                  <a:schemeClr val="tx1"/>
                </a:solidFill>
                <a:latin typeface="Courier New" panose="02070309020205020404" charset="0"/>
                <a:cs typeface="Courier New" panose="02070309020205020404" charset="0"/>
                <a:sym typeface="Courier New Bold" charset="0"/>
              </a:rPr>
              <a:t> loop:</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unsigned bit = </a:t>
            </a:r>
          </a:p>
          <a:p>
            <a:pPr algn="l"/>
            <a:r>
              <a:rPr lang="en-US" sz="1800" b="1" dirty="0">
                <a:solidFill>
                  <a:schemeClr val="tx1"/>
                </a:solidFill>
                <a:latin typeface="Courier New" panose="02070309020205020404" charset="0"/>
                <a:cs typeface="Courier New" panose="02070309020205020404" charset="0"/>
                <a:sym typeface="Courier New Bold" charset="0"/>
              </a:rPr>
              <a:t>      (x &gt;&gt;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&amp; 0x1;</a:t>
            </a:r>
          </a:p>
          <a:p>
            <a:pPr algn="l"/>
            <a:r>
              <a:rPr lang="en-US" sz="1800" b="1" dirty="0">
                <a:solidFill>
                  <a:schemeClr val="tx1"/>
                </a:solidFill>
                <a:latin typeface="Courier New" panose="02070309020205020404" charset="0"/>
                <a:cs typeface="Courier New" panose="02070309020205020404" charset="0"/>
                <a:sym typeface="Courier New Bold" charset="0"/>
              </a:rPr>
              <a:t>    result += bit;</a:t>
            </a:r>
          </a:p>
          <a:p>
            <a:pPr algn="l"/>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if (</a:t>
            </a:r>
            <a:r>
              <a:rPr lang="en-US" sz="1800" b="1" dirty="0" err="1">
                <a:solidFill>
                  <a:schemeClr val="tx1"/>
                </a:solidFill>
                <a:latin typeface="Courier New" panose="02070309020205020404" charset="0"/>
                <a:cs typeface="Courier New" panose="02070309020205020404" charset="0"/>
                <a:sym typeface="Courier New Bold" charset="0"/>
              </a:rPr>
              <a:t>i</a:t>
            </a:r>
            <a:r>
              <a:rPr lang="en-US" sz="1800" b="1" dirty="0">
                <a:solidFill>
                  <a:schemeClr val="tx1"/>
                </a:solidFill>
                <a:latin typeface="Courier New" panose="02070309020205020404" charset="0"/>
                <a:cs typeface="Courier New" panose="02070309020205020404" charset="0"/>
                <a:sym typeface="Courier New Bold" charset="0"/>
              </a:rPr>
              <a:t> &lt; WSIZE)</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goto</a:t>
            </a:r>
            <a:r>
              <a:rPr lang="en-US" sz="1800" b="1" dirty="0">
                <a:solidFill>
                  <a:schemeClr val="tx1"/>
                </a:solidFill>
                <a:latin typeface="Courier New" panose="02070309020205020404" charset="0"/>
                <a:cs typeface="Courier New" panose="02070309020205020404" charset="0"/>
                <a:sym typeface="Courier New Bold" charset="0"/>
              </a:rPr>
              <a:t> loop;</a:t>
            </a:r>
          </a:p>
          <a:p>
            <a:pPr algn="l"/>
            <a:r>
              <a:rPr lang="en-US" sz="1800" b="1" dirty="0">
                <a:solidFill>
                  <a:schemeClr val="tx1"/>
                </a:solidFill>
                <a:latin typeface="Courier New" panose="02070309020205020404" charset="0"/>
                <a:cs typeface="Courier New" panose="02070309020205020404" charset="0"/>
                <a:sym typeface="Courier New Bold" charset="0"/>
              </a:rPr>
              <a:t> done:</a:t>
            </a:r>
          </a:p>
          <a:p>
            <a:pPr algn="l"/>
            <a:r>
              <a:rPr lang="en-US" sz="1800" b="1" dirty="0">
                <a:solidFill>
                  <a:schemeClr val="tx1"/>
                </a:solidFill>
                <a:latin typeface="Courier New" panose="02070309020205020404" charset="0"/>
                <a:cs typeface="Courier New" panose="02070309020205020404" charset="0"/>
                <a:sym typeface="Courier New Bold" charset="0"/>
              </a:rPr>
              <a:t>  return result;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5" name="左右箭头 4"/>
          <p:cNvSpPr/>
          <p:nvPr/>
        </p:nvSpPr>
        <p:spPr>
          <a:xfrm>
            <a:off x="3503930" y="3395980"/>
            <a:ext cx="1520190" cy="803275"/>
          </a:xfrm>
          <a:prstGeom prst="lef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p:cNvSpPr txBox="1"/>
          <p:nvPr/>
        </p:nvSpPr>
        <p:spPr>
          <a:xfrm>
            <a:off x="7315200" y="1498600"/>
            <a:ext cx="868680" cy="368300"/>
          </a:xfrm>
          <a:prstGeom prst="rect">
            <a:avLst/>
          </a:prstGeom>
          <a:solidFill>
            <a:schemeClr val="accent1">
              <a:lumMod val="20000"/>
              <a:lumOff val="80000"/>
            </a:schemeClr>
          </a:solidFill>
        </p:spPr>
        <p:txBody>
          <a:bodyPr wrap="none" rtlCol="0">
            <a:spAutoFit/>
          </a:bodyPr>
          <a:lstStyle/>
          <a:p>
            <a:r>
              <a:rPr lang="zh-CN" altLang="en-US" sz="1800" i="1" dirty="0">
                <a:latin typeface="+mj-lt"/>
              </a:rPr>
              <a:t>初始化</a:t>
            </a:r>
          </a:p>
        </p:txBody>
      </p:sp>
      <p:sp>
        <p:nvSpPr>
          <p:cNvPr id="11" name="TextBox 10"/>
          <p:cNvSpPr txBox="1"/>
          <p:nvPr/>
        </p:nvSpPr>
        <p:spPr>
          <a:xfrm>
            <a:off x="7315200" y="1955800"/>
            <a:ext cx="777240" cy="368300"/>
          </a:xfrm>
          <a:prstGeom prst="rect">
            <a:avLst/>
          </a:prstGeom>
          <a:solidFill>
            <a:schemeClr val="accent1">
              <a:lumMod val="20000"/>
              <a:lumOff val="80000"/>
            </a:schemeClr>
          </a:solidFill>
        </p:spPr>
        <p:txBody>
          <a:bodyPr wrap="none" rtlCol="0">
            <a:spAutoFit/>
          </a:bodyPr>
          <a:lstStyle/>
          <a:p>
            <a:r>
              <a:rPr lang="en-US" sz="1800" dirty="0">
                <a:latin typeface="Courier New" panose="02070309020205020404" charset="0"/>
                <a:cs typeface="Courier New" panose="02070309020205020404" charset="0"/>
              </a:rPr>
              <a:t>!</a:t>
            </a:r>
            <a:r>
              <a:rPr lang="zh-CN" altLang="en-US" sz="1800" dirty="0">
                <a:latin typeface="Courier New" panose="02070309020205020404" charset="0"/>
                <a:cs typeface="Courier New" panose="02070309020205020404" charset="0"/>
              </a:rPr>
              <a:t>判断</a:t>
            </a:r>
            <a:endParaRPr lang="zh-CN" altLang="en-US" sz="1800" i="1" dirty="0">
              <a:latin typeface="Courier New" panose="02070309020205020404" charset="0"/>
              <a:cs typeface="Courier New" panose="02070309020205020404" charset="0"/>
            </a:endParaRPr>
          </a:p>
        </p:txBody>
      </p:sp>
      <p:sp>
        <p:nvSpPr>
          <p:cNvPr id="13" name="TextBox 12"/>
          <p:cNvSpPr txBox="1"/>
          <p:nvPr/>
        </p:nvSpPr>
        <p:spPr>
          <a:xfrm>
            <a:off x="7696200" y="3022600"/>
            <a:ext cx="1097280" cy="368300"/>
          </a:xfrm>
          <a:prstGeom prst="rect">
            <a:avLst/>
          </a:prstGeom>
          <a:solidFill>
            <a:schemeClr val="accent1">
              <a:lumMod val="20000"/>
              <a:lumOff val="80000"/>
            </a:schemeClr>
          </a:solidFill>
        </p:spPr>
        <p:txBody>
          <a:bodyPr wrap="none" rtlCol="0">
            <a:spAutoFit/>
          </a:bodyPr>
          <a:lstStyle/>
          <a:p>
            <a:r>
              <a:rPr lang="zh-CN" altLang="en-US" sz="1800" i="1" dirty="0">
                <a:latin typeface="+mj-lt"/>
              </a:rPr>
              <a:t>代码主体</a:t>
            </a:r>
          </a:p>
        </p:txBody>
      </p:sp>
      <p:sp>
        <p:nvSpPr>
          <p:cNvPr id="14" name="TextBox 13"/>
          <p:cNvSpPr txBox="1"/>
          <p:nvPr/>
        </p:nvSpPr>
        <p:spPr>
          <a:xfrm>
            <a:off x="5638800" y="3860800"/>
            <a:ext cx="640080" cy="368300"/>
          </a:xfrm>
          <a:prstGeom prst="rect">
            <a:avLst/>
          </a:prstGeom>
          <a:solidFill>
            <a:schemeClr val="accent1">
              <a:lumMod val="20000"/>
              <a:lumOff val="80000"/>
            </a:schemeClr>
          </a:solidFill>
        </p:spPr>
        <p:txBody>
          <a:bodyPr wrap="none" rtlCol="0">
            <a:spAutoFit/>
          </a:bodyPr>
          <a:lstStyle/>
          <a:p>
            <a:r>
              <a:rPr lang="zh-CN" altLang="en-US" sz="1800" i="1" dirty="0">
                <a:latin typeface="+mj-lt"/>
              </a:rPr>
              <a:t>更新</a:t>
            </a:r>
          </a:p>
        </p:txBody>
      </p:sp>
      <p:sp>
        <p:nvSpPr>
          <p:cNvPr id="16" name="TextBox 15"/>
          <p:cNvSpPr txBox="1"/>
          <p:nvPr/>
        </p:nvSpPr>
        <p:spPr>
          <a:xfrm>
            <a:off x="7010400" y="4318000"/>
            <a:ext cx="640080" cy="368300"/>
          </a:xfrm>
          <a:prstGeom prst="rect">
            <a:avLst/>
          </a:prstGeom>
          <a:solidFill>
            <a:schemeClr val="accent1">
              <a:lumMod val="20000"/>
              <a:lumOff val="80000"/>
            </a:schemeClr>
          </a:solidFill>
        </p:spPr>
        <p:txBody>
          <a:bodyPr wrap="none" rtlCol="0">
            <a:spAutoFit/>
          </a:bodyPr>
          <a:lstStyle/>
          <a:p>
            <a:r>
              <a:rPr lang="zh-CN" altLang="en-US" sz="1800" i="1" dirty="0">
                <a:latin typeface="+mj-lt"/>
              </a:rPr>
              <a:t>判断</a:t>
            </a:r>
          </a:p>
        </p:txBody>
      </p:sp>
      <p:grpSp>
        <p:nvGrpSpPr>
          <p:cNvPr id="20" name="Group 19"/>
          <p:cNvGrpSpPr/>
          <p:nvPr/>
        </p:nvGrpSpPr>
        <p:grpSpPr>
          <a:xfrm>
            <a:off x="5029200" y="1803400"/>
            <a:ext cx="2209800" cy="533400"/>
            <a:chOff x="5029200" y="2743200"/>
            <a:chExt cx="2209800" cy="533400"/>
          </a:xfrm>
        </p:grpSpPr>
        <p:cxnSp>
          <p:nvCxnSpPr>
            <p:cNvPr id="18" name="Straight Connector 17"/>
            <p:cNvCxnSpPr/>
            <p:nvPr/>
          </p:nvCxnSpPr>
          <p:spPr bwMode="auto">
            <a:xfrm>
              <a:off x="5029200" y="2743200"/>
              <a:ext cx="2209800" cy="533400"/>
            </a:xfrm>
            <a:prstGeom prst="line">
              <a:avLst/>
            </a:prstGeom>
            <a:solidFill>
              <a:schemeClr val="accent1"/>
            </a:solidFill>
            <a:ln w="25400" cap="flat" cmpd="sng" algn="ctr">
              <a:solidFill>
                <a:srgbClr val="000000"/>
              </a:solidFill>
              <a:prstDash val="solid"/>
              <a:round/>
              <a:headEnd type="none" w="med" len="med"/>
              <a:tailEnd type="none" w="med" len="med"/>
            </a:ln>
            <a:effectLst/>
          </p:spPr>
        </p:cxnSp>
        <p:cxnSp>
          <p:nvCxnSpPr>
            <p:cNvPr id="19" name="Straight Connector 18"/>
            <p:cNvCxnSpPr/>
            <p:nvPr/>
          </p:nvCxnSpPr>
          <p:spPr bwMode="auto">
            <a:xfrm flipH="1">
              <a:off x="5029200" y="2743200"/>
              <a:ext cx="2209800" cy="533400"/>
            </a:xfrm>
            <a:prstGeom prst="line">
              <a:avLst/>
            </a:prstGeom>
            <a:solidFill>
              <a:schemeClr val="accent1"/>
            </a:solidFill>
            <a:ln w="25400" cap="flat" cmpd="sng" algn="ctr">
              <a:solidFill>
                <a:srgbClr val="000000"/>
              </a:solidFill>
              <a:prstDash val="solid"/>
              <a:round/>
              <a:headEnd type="none" w="med" len="med"/>
              <a:tailEnd type="none" w="med" len="med"/>
            </a:ln>
            <a:effectLst/>
          </p:spPr>
        </p:cxnSp>
      </p:grpSp>
      <p:sp>
        <p:nvSpPr>
          <p:cNvPr id="57356" name="Rectangle 12"/>
          <p:cNvSpPr>
            <a:spLocks noGrp="1" noChangeArrowheads="1"/>
          </p:cNvSpPr>
          <p:nvPr/>
        </p:nvSpPr>
        <p:spPr>
          <a:xfrm>
            <a:off x="156845" y="5348605"/>
            <a:ext cx="4191000" cy="876300"/>
          </a:xfrm>
          <a:prstGeom prst="rect">
            <a:avLst/>
          </a:prstGeom>
        </p:spPr>
        <p:txBody>
          <a:bodyPr/>
          <a:lstStyle>
            <a:lvl1pPr marL="342900" indent="-342900" algn="l" rtl="0" fontAlgn="base">
              <a:spcBef>
                <a:spcPts val="600"/>
              </a:spcBef>
              <a:spcAft>
                <a:spcPct val="0"/>
              </a:spcAft>
              <a:buClr>
                <a:srgbClr val="990000"/>
              </a:buClr>
              <a:buSzPct val="60000"/>
              <a:buFont typeface="Wingdings 2" panose="05020102010507070707" pitchFamily="18"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ED7D31"/>
              </a:buClr>
            </a:pPr>
            <a:r>
              <a:rPr lang="en-US" dirty="0"/>
              <a:t>初始</a:t>
            </a:r>
            <a:r>
              <a:rPr lang="zh-CN" altLang="en-US" dirty="0"/>
              <a:t>判断</a:t>
            </a:r>
            <a:r>
              <a:rPr lang="en-US" dirty="0"/>
              <a:t>可以优化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pSp>
        <p:nvGrpSpPr>
          <p:cNvPr id="22" name="组合 21"/>
          <p:cNvGrpSpPr/>
          <p:nvPr/>
        </p:nvGrpSpPr>
        <p:grpSpPr>
          <a:xfrm>
            <a:off x="-158749" y="469010"/>
            <a:ext cx="9583868" cy="684406"/>
            <a:chOff x="0" y="2158337"/>
            <a:chExt cx="12778491" cy="912541"/>
          </a:xfrm>
        </p:grpSpPr>
        <p:sp>
          <p:nvSpPr>
            <p:cNvPr id="5" name="矩形 4"/>
            <p:cNvSpPr/>
            <p:nvPr/>
          </p:nvSpPr>
          <p:spPr>
            <a:xfrm>
              <a:off x="211666" y="2513302"/>
              <a:ext cx="12192000" cy="21107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p>
          </p:txBody>
        </p:sp>
        <p:sp>
          <p:nvSpPr>
            <p:cNvPr id="6" name="等腰三角形 5"/>
            <p:cNvSpPr/>
            <p:nvPr/>
          </p:nvSpPr>
          <p:spPr>
            <a:xfrm>
              <a:off x="0"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8" name="等腰三角形 7"/>
            <p:cNvSpPr/>
            <p:nvPr/>
          </p:nvSpPr>
          <p:spPr>
            <a:xfrm>
              <a:off x="1056391" y="2160196"/>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9" name="等腰三角形 8"/>
            <p:cNvSpPr/>
            <p:nvPr/>
          </p:nvSpPr>
          <p:spPr>
            <a:xfrm>
              <a:off x="2120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0" name="等腰三角形 9"/>
            <p:cNvSpPr/>
            <p:nvPr/>
          </p:nvSpPr>
          <p:spPr>
            <a:xfrm>
              <a:off x="3187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1" name="等腰三角形 10"/>
            <p:cNvSpPr/>
            <p:nvPr/>
          </p:nvSpPr>
          <p:spPr>
            <a:xfrm>
              <a:off x="4254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2" name="等腰三角形 11"/>
            <p:cNvSpPr/>
            <p:nvPr/>
          </p:nvSpPr>
          <p:spPr>
            <a:xfrm>
              <a:off x="5321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3" name="等腰三角形 12"/>
            <p:cNvSpPr/>
            <p:nvPr/>
          </p:nvSpPr>
          <p:spPr>
            <a:xfrm>
              <a:off x="6388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4" name="等腰三角形 13"/>
            <p:cNvSpPr/>
            <p:nvPr/>
          </p:nvSpPr>
          <p:spPr>
            <a:xfrm>
              <a:off x="74549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5" name="等腰三角形 14"/>
            <p:cNvSpPr/>
            <p:nvPr/>
          </p:nvSpPr>
          <p:spPr>
            <a:xfrm>
              <a:off x="85217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6" name="等腰三角形 15"/>
            <p:cNvSpPr/>
            <p:nvPr/>
          </p:nvSpPr>
          <p:spPr>
            <a:xfrm>
              <a:off x="95885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4" name="等腰三角形 3"/>
            <p:cNvSpPr/>
            <p:nvPr/>
          </p:nvSpPr>
          <p:spPr>
            <a:xfrm>
              <a:off x="106553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sp>
          <p:nvSpPr>
            <p:cNvPr id="18" name="等腰三角形 17"/>
            <p:cNvSpPr/>
            <p:nvPr/>
          </p:nvSpPr>
          <p:spPr>
            <a:xfrm>
              <a:off x="11722100" y="2158337"/>
              <a:ext cx="1056391" cy="910682"/>
            </a:xfrm>
            <a:prstGeom prst="triangle">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p>
          </p:txBody>
        </p:sp>
        <p:cxnSp>
          <p:nvCxnSpPr>
            <p:cNvPr id="20" name="直接连接符 19"/>
            <p:cNvCxnSpPr/>
            <p:nvPr/>
          </p:nvCxnSpPr>
          <p:spPr>
            <a:xfrm>
              <a:off x="0" y="3060294"/>
              <a:ext cx="12778491"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7" name="TextBox 24"/>
          <p:cNvSpPr txBox="1"/>
          <p:nvPr/>
        </p:nvSpPr>
        <p:spPr>
          <a:xfrm>
            <a:off x="5715839" y="-7839"/>
            <a:ext cx="2099310" cy="553085"/>
          </a:xfrm>
          <a:prstGeom prst="rect">
            <a:avLst/>
          </a:prstGeom>
          <a:noFill/>
        </p:spPr>
        <p:txBody>
          <a:bodyPr wrap="none" rtlCol="0">
            <a:spAutoFit/>
          </a:bodyPr>
          <a:lstStyle/>
          <a:p>
            <a:pPr algn="l"/>
            <a:r>
              <a:rPr lang="en-US" altLang="zh-CN"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switch</a:t>
            </a:r>
            <a:r>
              <a:rPr lang="zh-CN" altLang="en-US" sz="3000" b="1" dirty="0">
                <a:gradFill>
                  <a:gsLst>
                    <a:gs pos="0">
                      <a:srgbClr val="F17475"/>
                    </a:gs>
                    <a:gs pos="57000">
                      <a:srgbClr val="01B3C5"/>
                    </a:gs>
                    <a:gs pos="100000">
                      <a:srgbClr val="C65885"/>
                    </a:gs>
                  </a:gsLst>
                  <a:lin ang="8100000" scaled="0"/>
                </a:gradFill>
                <a:effectLst>
                  <a:outerShdw blurRad="50800" dist="25400" dir="8100000" algn="tr" rotWithShape="0">
                    <a:prstClr val="black">
                      <a:alpha val="40000"/>
                    </a:prstClr>
                  </a:outerShdw>
                </a:effectLst>
                <a:latin typeface="黑体" panose="02010609060101010101" charset="-122"/>
                <a:cs typeface="黑体" panose="02010609060101010101" charset="-122"/>
              </a:rPr>
              <a:t>语句</a:t>
            </a:r>
          </a:p>
        </p:txBody>
      </p:sp>
      <p:sp>
        <p:nvSpPr>
          <p:cNvPr id="21509" name="Rectangle 5"/>
          <p:cNvSpPr/>
          <p:nvPr/>
        </p:nvSpPr>
        <p:spPr bwMode="auto">
          <a:xfrm>
            <a:off x="31750" y="507365"/>
            <a:ext cx="3982720" cy="6299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switch_eg</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x, long y, long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w = 1;</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switch(x)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1:</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y*z;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2:</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y/z;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Fall Through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3:</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5:</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6:</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default:</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2;</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return w;</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1" name="流程图: 多文档 20"/>
          <p:cNvSpPr/>
          <p:nvPr/>
        </p:nvSpPr>
        <p:spPr>
          <a:xfrm>
            <a:off x="4402455" y="1316355"/>
            <a:ext cx="4570095" cy="5592445"/>
          </a:xfrm>
          <a:prstGeom prst="flowChartMultidocument">
            <a:avLst/>
          </a:prstGeom>
          <a:solidFill>
            <a:srgbClr val="FBE5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0" algn="ctr" fontAlgn="auto">
              <a:lnSpc>
                <a:spcPct val="150000"/>
              </a:lnSpc>
            </a:pPr>
            <a:r>
              <a:rPr lang="en-US" altLang="zh-CN">
                <a:solidFill>
                  <a:schemeClr val="tx1"/>
                </a:solidFill>
              </a:rPr>
              <a:t>switch</a:t>
            </a:r>
            <a:r>
              <a:rPr lang="zh-CN" altLang="en-US">
                <a:solidFill>
                  <a:schemeClr val="tx1"/>
                </a:solidFill>
              </a:rPr>
              <a:t>语句可以根究一个整数索引值进行多重分支。</a:t>
            </a:r>
          </a:p>
          <a:p>
            <a:pPr marL="285750" indent="0" algn="ctr" fontAlgn="auto">
              <a:lnSpc>
                <a:spcPct val="150000"/>
              </a:lnSpc>
              <a:buFont typeface="Wingdings" panose="05000000000000000000" charset="0"/>
              <a:buChar char=""/>
            </a:pPr>
            <a:r>
              <a:rPr lang="zh-CN" altLang="en-US">
                <a:solidFill>
                  <a:schemeClr val="tx1"/>
                </a:solidFill>
              </a:rPr>
              <a:t>提高了</a:t>
            </a:r>
            <a:r>
              <a:rPr lang="en-US" altLang="zh-CN">
                <a:solidFill>
                  <a:schemeClr val="tx1"/>
                </a:solidFill>
              </a:rPr>
              <a:t>C</a:t>
            </a:r>
            <a:r>
              <a:rPr lang="zh-CN" altLang="en-US">
                <a:solidFill>
                  <a:schemeClr val="tx1"/>
                </a:solidFill>
              </a:rPr>
              <a:t>代码的可读性，使用跳转表这种数据结构使得实现更加高校。</a:t>
            </a:r>
          </a:p>
          <a:p>
            <a:pPr marL="285750" indent="0" algn="ctr" fontAlgn="auto">
              <a:lnSpc>
                <a:spcPct val="150000"/>
              </a:lnSpc>
              <a:buFont typeface="Wingdings" panose="05000000000000000000" charset="0"/>
              <a:buChar char=""/>
            </a:pPr>
            <a:r>
              <a:rPr lang="zh-CN" altLang="en-US">
                <a:solidFill>
                  <a:schemeClr val="tx1"/>
                </a:solidFill>
              </a:rPr>
              <a:t>使用跳转表的优点是执行开关语句的时间与开关情况的数量无关。</a:t>
            </a:r>
          </a:p>
          <a:p>
            <a:pPr marL="285750" indent="0" algn="ctr" fontAlgn="auto">
              <a:lnSpc>
                <a:spcPct val="150000"/>
              </a:lnSpc>
              <a:buFont typeface="Wingdings" panose="05000000000000000000" charset="0"/>
              <a:buChar char=""/>
            </a:pPr>
            <a:r>
              <a:rPr lang="zh-CN" altLang="en-US">
                <a:solidFill>
                  <a:schemeClr val="tx1"/>
                </a:solidFill>
              </a:rPr>
              <a:t>左图是一个</a:t>
            </a:r>
            <a:r>
              <a:rPr lang="en-US" altLang="zh-CN">
                <a:solidFill>
                  <a:schemeClr val="tx1"/>
                </a:solidFill>
              </a:rPr>
              <a:t>C</a:t>
            </a:r>
            <a:r>
              <a:rPr lang="zh-CN" altLang="en-US">
                <a:solidFill>
                  <a:schemeClr val="tx1"/>
                </a:solidFill>
              </a:rPr>
              <a:t>语言</a:t>
            </a:r>
            <a:r>
              <a:rPr lang="en-US" altLang="zh-CN">
                <a:solidFill>
                  <a:schemeClr val="tx1"/>
                </a:solidFill>
              </a:rPr>
              <a:t>switch</a:t>
            </a:r>
            <a:r>
              <a:rPr lang="zh-CN" altLang="en-US">
                <a:solidFill>
                  <a:schemeClr val="tx1"/>
                </a:solidFill>
              </a:rPr>
              <a:t>语句的示例。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by="(-#ppt_w*2)" calcmode="lin" valueType="num">
                                      <p:cBhvr rctx="PPT">
                                        <p:cTn id="7" dur="500" autoRev="1" fill="hold">
                                          <p:stCondLst>
                                            <p:cond delay="0"/>
                                          </p:stCondLst>
                                        </p:cTn>
                                        <p:tgtEl>
                                          <p:spTgt spid="7"/>
                                        </p:tgtEl>
                                        <p:attrNameLst>
                                          <p:attrName>ppt_w</p:attrName>
                                        </p:attrNameLst>
                                      </p:cBhvr>
                                    </p:anim>
                                    <p:anim by="(#ppt_w*0.50)" calcmode="lin" valueType="num">
                                      <p:cBhvr>
                                        <p:cTn id="8" dur="500" decel="50000" autoRev="1" fill="hold">
                                          <p:stCondLst>
                                            <p:cond delay="0"/>
                                          </p:stCondLst>
                                        </p:cTn>
                                        <p:tgtEl>
                                          <p:spTgt spid="7"/>
                                        </p:tgtEl>
                                        <p:attrNameLst>
                                          <p:attrName>ppt_x</p:attrName>
                                        </p:attrNameLst>
                                      </p:cBhvr>
                                    </p:anim>
                                    <p:anim from="(-#ppt_h/2)" to="(#ppt_y)" calcmode="lin" valueType="num">
                                      <p:cBhvr>
                                        <p:cTn id="9" dur="1000" fill="hold">
                                          <p:stCondLst>
                                            <p:cond delay="0"/>
                                          </p:stCondLst>
                                        </p:cTn>
                                        <p:tgtEl>
                                          <p:spTgt spid="7"/>
                                        </p:tgtEl>
                                        <p:attrNameLst>
                                          <p:attrName>ppt_y</p:attrName>
                                        </p:attrNameLst>
                                      </p:cBhvr>
                                    </p:anim>
                                    <p:animRot by="21600000">
                                      <p:cBhvr>
                                        <p:cTn id="10" dur="1000" fill="hold">
                                          <p:stCondLst>
                                            <p:cond delay="0"/>
                                          </p:stCondLst>
                                        </p:cTn>
                                        <p:tgtEl>
                                          <p:spTgt spid="7"/>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7"/>
                                        </p:tgtEl>
                                        <p:attrNameLst>
                                          <p:attrName>style.visibility</p:attrName>
                                        </p:attrNameLst>
                                      </p:cBhvr>
                                      <p:to>
                                        <p:strVal val="visible"/>
                                      </p:to>
                                    </p:set>
                                    <p:anim calcmode="lin" valueType="num">
                                      <p:cBhvr>
                                        <p:cTn id="13" dur="100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7"/>
                                        </p:tgtEl>
                                        <p:attrNameLst>
                                          <p:attrName>ppt_y</p:attrName>
                                        </p:attrNameLst>
                                      </p:cBhvr>
                                      <p:tavLst>
                                        <p:tav tm="0">
                                          <p:val>
                                            <p:strVal val="#ppt_y"/>
                                          </p:val>
                                        </p:tav>
                                        <p:tav tm="100000">
                                          <p:val>
                                            <p:strVal val="#ppt_y"/>
                                          </p:val>
                                        </p:tav>
                                      </p:tavLst>
                                    </p:anim>
                                    <p:anim calcmode="lin" valueType="num">
                                      <p:cBhvr>
                                        <p:cTn id="15" dur="100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1">
                                            <p:txEl>
                                              <p:pRg st="0" end="0"/>
                                            </p:txEl>
                                          </p:spTgt>
                                        </p:tgtEl>
                                        <p:attrNameLst>
                                          <p:attrName>style.visibility</p:attrName>
                                        </p:attrNameLst>
                                      </p:cBhvr>
                                      <p:to>
                                        <p:strVal val="visible"/>
                                      </p:to>
                                    </p:set>
                                    <p:anim calcmode="lin" valueType="num">
                                      <p:cBhvr additive="base">
                                        <p:cTn id="22"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1">
                                            <p:txEl>
                                              <p:pRg st="1" end="1"/>
                                            </p:txEl>
                                          </p:spTgt>
                                        </p:tgtEl>
                                        <p:attrNameLst>
                                          <p:attrName>style.visibility</p:attrName>
                                        </p:attrNameLst>
                                      </p:cBhvr>
                                      <p:to>
                                        <p:strVal val="visible"/>
                                      </p:to>
                                    </p:set>
                                    <p:anim calcmode="lin" valueType="num">
                                      <p:cBhvr additive="base">
                                        <p:cTn id="28" dur="500" fill="hold"/>
                                        <p:tgtEl>
                                          <p:spTgt spid="21">
                                            <p:txEl>
                                              <p:pRg st="1" end="1"/>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2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21">
                                            <p:txEl>
                                              <p:pRg st="2" end="2"/>
                                            </p:txEl>
                                          </p:spTgt>
                                        </p:tgtEl>
                                        <p:attrNameLst>
                                          <p:attrName>style.visibility</p:attrName>
                                        </p:attrNameLst>
                                      </p:cBhvr>
                                      <p:to>
                                        <p:strVal val="visible"/>
                                      </p:to>
                                    </p:set>
                                    <p:anim calcmode="lin" valueType="num">
                                      <p:cBhvr additive="base">
                                        <p:cTn id="34" dur="500" fill="hold"/>
                                        <p:tgtEl>
                                          <p:spTgt spid="21">
                                            <p:txEl>
                                              <p:pRg st="2" end="2"/>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21">
                                            <p:txEl>
                                              <p:pRg st="3" end="3"/>
                                            </p:txEl>
                                          </p:spTgt>
                                        </p:tgtEl>
                                        <p:attrNameLst>
                                          <p:attrName>style.visibility</p:attrName>
                                        </p:attrNameLst>
                                      </p:cBhvr>
                                      <p:to>
                                        <p:strVal val="visible"/>
                                      </p:to>
                                    </p:set>
                                    <p:anim calcmode="lin" valueType="num">
                                      <p:cBhvr additive="base">
                                        <p:cTn id="40" dur="500" fill="hold"/>
                                        <p:tgtEl>
                                          <p:spTgt spid="21">
                                            <p:txEl>
                                              <p:pRg st="3" end="3"/>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2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2532" name="Rectangle 4"/>
          <p:cNvSpPr/>
          <p:nvPr/>
        </p:nvSpPr>
        <p:spPr bwMode="auto">
          <a:xfrm>
            <a:off x="7235825" y="1587500"/>
            <a:ext cx="1160463" cy="838200"/>
          </a:xfrm>
          <a:prstGeom prst="rect">
            <a:avLst/>
          </a:prstGeom>
          <a:solidFill>
            <a:srgbClr val="CCFFCC"/>
          </a:solidFill>
          <a:ln w="25400" cap="flat">
            <a:solidFill>
              <a:schemeClr val="tx1"/>
            </a:solidFill>
            <a:prstDash val="solid"/>
            <a:miter lim="800000"/>
            <a:headEnd type="none" w="med" len="med"/>
            <a:tailEnd type="none" w="med" len="med"/>
          </a:ln>
        </p:spPr>
        <p:txBody>
          <a:bodyPr wrap="none" lIns="38100" tIns="38100" rIns="38100" bIns="38100" anchor="ctr"/>
          <a:lstStyle/>
          <a:p>
            <a:r>
              <a:rPr lang="en-US" sz="1800">
                <a:solidFill>
                  <a:schemeClr val="tx1"/>
                </a:solidFill>
                <a:latin typeface="Calibri Bold" charset="0"/>
                <a:ea typeface="Calibri Bold" charset="0"/>
                <a:cs typeface="Calibri Bold" charset="0"/>
                <a:sym typeface="Calibri Bold" charset="0"/>
              </a:rPr>
              <a:t>Code Block</a:t>
            </a:r>
            <a:endParaRPr 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alibri Bold" charset="0"/>
                <a:ea typeface="Calibri Bold" charset="0"/>
                <a:cs typeface="Calibri Bold" charset="0"/>
                <a:sym typeface="Calibri Bold" charset="0"/>
              </a:rPr>
              <a:t>0</a:t>
            </a:r>
          </a:p>
        </p:txBody>
      </p:sp>
      <p:sp>
        <p:nvSpPr>
          <p:cNvPr id="22533" name="Rectangle 5"/>
          <p:cNvSpPr/>
          <p:nvPr/>
        </p:nvSpPr>
        <p:spPr bwMode="auto">
          <a:xfrm>
            <a:off x="6030913" y="1587500"/>
            <a:ext cx="1004887" cy="36830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2000">
                <a:solidFill>
                  <a:schemeClr val="tx1"/>
                </a:solidFill>
                <a:latin typeface="Courier New Bold" charset="0"/>
                <a:cs typeface="Courier New Bold" charset="0"/>
                <a:sym typeface="Courier New Bold" charset="0"/>
              </a:rPr>
              <a:t>Targ0:</a:t>
            </a:r>
          </a:p>
        </p:txBody>
      </p:sp>
      <p:sp>
        <p:nvSpPr>
          <p:cNvPr id="22534" name="Rectangle 6"/>
          <p:cNvSpPr/>
          <p:nvPr/>
        </p:nvSpPr>
        <p:spPr bwMode="auto">
          <a:xfrm>
            <a:off x="7235825" y="2578100"/>
            <a:ext cx="1160463" cy="838200"/>
          </a:xfrm>
          <a:prstGeom prst="rect">
            <a:avLst/>
          </a:prstGeom>
          <a:solidFill>
            <a:srgbClr val="CCFFCC"/>
          </a:solidFill>
          <a:ln w="25400" cap="flat">
            <a:solidFill>
              <a:schemeClr val="tx1"/>
            </a:solidFill>
            <a:prstDash val="solid"/>
            <a:miter lim="800000"/>
            <a:headEnd type="none" w="med" len="med"/>
            <a:tailEnd type="none" w="med" len="med"/>
          </a:ln>
        </p:spPr>
        <p:txBody>
          <a:bodyPr wrap="none" lIns="38100" tIns="38100" rIns="38100" bIns="38100" anchor="ctr"/>
          <a:lstStyle/>
          <a:p>
            <a:r>
              <a:rPr lang="en-US" sz="1800">
                <a:solidFill>
                  <a:schemeClr val="tx1"/>
                </a:solidFill>
                <a:latin typeface="Calibri Bold" charset="0"/>
                <a:ea typeface="Calibri Bold" charset="0"/>
                <a:cs typeface="Calibri Bold" charset="0"/>
                <a:sym typeface="Calibri Bold" charset="0"/>
              </a:rPr>
              <a:t>Code Block</a:t>
            </a:r>
            <a:endParaRPr 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alibri Bold" charset="0"/>
                <a:ea typeface="Calibri Bold" charset="0"/>
                <a:cs typeface="Calibri Bold" charset="0"/>
                <a:sym typeface="Calibri Bold" charset="0"/>
              </a:rPr>
              <a:t>1</a:t>
            </a:r>
          </a:p>
        </p:txBody>
      </p:sp>
      <p:sp>
        <p:nvSpPr>
          <p:cNvPr id="22535" name="Rectangle 7"/>
          <p:cNvSpPr/>
          <p:nvPr/>
        </p:nvSpPr>
        <p:spPr bwMode="auto">
          <a:xfrm>
            <a:off x="6030913" y="2578100"/>
            <a:ext cx="1004887" cy="36830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2000">
                <a:solidFill>
                  <a:schemeClr val="tx1"/>
                </a:solidFill>
                <a:latin typeface="Courier New Bold" charset="0"/>
                <a:cs typeface="Courier New Bold" charset="0"/>
                <a:sym typeface="Courier New Bold" charset="0"/>
              </a:rPr>
              <a:t>Targ1:</a:t>
            </a:r>
          </a:p>
        </p:txBody>
      </p:sp>
      <p:sp>
        <p:nvSpPr>
          <p:cNvPr id="22536" name="Rectangle 8"/>
          <p:cNvSpPr/>
          <p:nvPr/>
        </p:nvSpPr>
        <p:spPr bwMode="auto">
          <a:xfrm>
            <a:off x="7235825" y="3568700"/>
            <a:ext cx="1160463" cy="838200"/>
          </a:xfrm>
          <a:prstGeom prst="rect">
            <a:avLst/>
          </a:prstGeom>
          <a:solidFill>
            <a:srgbClr val="CCFFCC"/>
          </a:solidFill>
          <a:ln w="25400" cap="flat">
            <a:solidFill>
              <a:schemeClr val="tx1"/>
            </a:solidFill>
            <a:prstDash val="solid"/>
            <a:miter lim="800000"/>
            <a:headEnd type="none" w="med" len="med"/>
            <a:tailEnd type="none" w="med" len="med"/>
          </a:ln>
        </p:spPr>
        <p:txBody>
          <a:bodyPr wrap="none" lIns="38100" tIns="38100" rIns="38100" bIns="38100" anchor="ctr"/>
          <a:lstStyle/>
          <a:p>
            <a:r>
              <a:rPr lang="en-US" sz="1800">
                <a:solidFill>
                  <a:schemeClr val="tx1"/>
                </a:solidFill>
                <a:latin typeface="Calibri Bold" charset="0"/>
                <a:ea typeface="Calibri Bold" charset="0"/>
                <a:cs typeface="Calibri Bold" charset="0"/>
                <a:sym typeface="Calibri Bold" charset="0"/>
              </a:rPr>
              <a:t>Code Block</a:t>
            </a:r>
            <a:endParaRPr 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alibri Bold" charset="0"/>
                <a:ea typeface="Calibri Bold" charset="0"/>
                <a:cs typeface="Calibri Bold" charset="0"/>
                <a:sym typeface="Calibri Bold" charset="0"/>
              </a:rPr>
              <a:t>2</a:t>
            </a:r>
          </a:p>
        </p:txBody>
      </p:sp>
      <p:sp>
        <p:nvSpPr>
          <p:cNvPr id="22537" name="Rectangle 9"/>
          <p:cNvSpPr/>
          <p:nvPr/>
        </p:nvSpPr>
        <p:spPr bwMode="auto">
          <a:xfrm>
            <a:off x="6030913" y="3568700"/>
            <a:ext cx="1004887" cy="36830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2000">
                <a:solidFill>
                  <a:schemeClr val="tx1"/>
                </a:solidFill>
                <a:latin typeface="Courier New Bold" charset="0"/>
                <a:cs typeface="Courier New Bold" charset="0"/>
                <a:sym typeface="Courier New Bold" charset="0"/>
              </a:rPr>
              <a:t>Targ2:</a:t>
            </a:r>
          </a:p>
        </p:txBody>
      </p:sp>
      <p:sp>
        <p:nvSpPr>
          <p:cNvPr id="22538" name="Rectangle 10"/>
          <p:cNvSpPr/>
          <p:nvPr/>
        </p:nvSpPr>
        <p:spPr bwMode="auto">
          <a:xfrm>
            <a:off x="7204075" y="5702300"/>
            <a:ext cx="1160463" cy="838200"/>
          </a:xfrm>
          <a:prstGeom prst="rect">
            <a:avLst/>
          </a:prstGeom>
          <a:solidFill>
            <a:srgbClr val="CCFFCC"/>
          </a:solidFill>
          <a:ln w="25400" cap="flat">
            <a:solidFill>
              <a:schemeClr val="tx1"/>
            </a:solidFill>
            <a:prstDash val="solid"/>
            <a:miter lim="800000"/>
            <a:headEnd type="none" w="med" len="med"/>
            <a:tailEnd type="none" w="med" len="med"/>
          </a:ln>
        </p:spPr>
        <p:txBody>
          <a:bodyPr wrap="none" lIns="38100" tIns="38100" rIns="38100" bIns="38100" anchor="ctr"/>
          <a:lstStyle/>
          <a:p>
            <a:r>
              <a:rPr lang="en-US" sz="1800">
                <a:solidFill>
                  <a:schemeClr val="tx1"/>
                </a:solidFill>
                <a:latin typeface="Calibri Bold" charset="0"/>
                <a:ea typeface="Calibri Bold" charset="0"/>
                <a:cs typeface="Calibri Bold" charset="0"/>
                <a:sym typeface="Calibri Bold" charset="0"/>
              </a:rPr>
              <a:t>Code Block</a:t>
            </a:r>
            <a:endParaRPr 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alibri Bold Italic" charset="0"/>
                <a:ea typeface="Calibri Bold Italic" charset="0"/>
                <a:cs typeface="Calibri Bold Italic" charset="0"/>
                <a:sym typeface="Calibri Bold Italic" charset="0"/>
              </a:rPr>
              <a:t>n</a:t>
            </a:r>
            <a:r>
              <a:rPr lang="en-US" sz="1800">
                <a:solidFill>
                  <a:schemeClr val="tx1"/>
                </a:solidFill>
                <a:latin typeface="Calibri Bold" charset="0"/>
                <a:ea typeface="Calibri Bold" charset="0"/>
                <a:cs typeface="Calibri Bold" charset="0"/>
                <a:sym typeface="Calibri Bold" charset="0"/>
              </a:rPr>
              <a:t>–1</a:t>
            </a:r>
          </a:p>
        </p:txBody>
      </p:sp>
      <p:sp>
        <p:nvSpPr>
          <p:cNvPr id="22539" name="Rectangle 11"/>
          <p:cNvSpPr/>
          <p:nvPr/>
        </p:nvSpPr>
        <p:spPr bwMode="auto">
          <a:xfrm>
            <a:off x="5694363" y="5702300"/>
            <a:ext cx="1309687" cy="36830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2000">
                <a:solidFill>
                  <a:schemeClr val="tx1"/>
                </a:solidFill>
                <a:latin typeface="Courier New Bold" charset="0"/>
                <a:cs typeface="Courier New Bold" charset="0"/>
                <a:sym typeface="Courier New Bold" charset="0"/>
              </a:rPr>
              <a:t>Targ</a:t>
            </a:r>
            <a:r>
              <a:rPr lang="en-US" sz="2000">
                <a:solidFill>
                  <a:schemeClr val="tx1"/>
                </a:solidFill>
                <a:latin typeface="Courier New Bold Italic" charset="0"/>
                <a:cs typeface="Courier New Bold Italic" charset="0"/>
                <a:sym typeface="Courier New Bold Italic" charset="0"/>
              </a:rPr>
              <a:t>n</a:t>
            </a:r>
            <a:r>
              <a:rPr lang="en-US" sz="2000">
                <a:solidFill>
                  <a:schemeClr val="tx1"/>
                </a:solidFill>
                <a:latin typeface="Courier New Bold" charset="0"/>
                <a:cs typeface="Courier New Bold" charset="0"/>
                <a:sym typeface="Courier New Bold" charset="0"/>
              </a:rPr>
              <a:t>-1:</a:t>
            </a:r>
          </a:p>
        </p:txBody>
      </p:sp>
      <p:sp>
        <p:nvSpPr>
          <p:cNvPr id="22540" name="Rectangle 12"/>
          <p:cNvSpPr/>
          <p:nvPr/>
        </p:nvSpPr>
        <p:spPr bwMode="auto">
          <a:xfrm>
            <a:off x="7702550" y="4559300"/>
            <a:ext cx="227013" cy="9144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r>
              <a:rPr lang="en-US" sz="1800">
                <a:solidFill>
                  <a:schemeClr val="tx1"/>
                </a:solidFill>
                <a:latin typeface="Courier New Bold" charset="0"/>
                <a:cs typeface="Courier New Bold" charset="0"/>
                <a:sym typeface="Courier New Bold" charset="0"/>
              </a:rPr>
              <a:t>•</a:t>
            </a:r>
            <a:endParaRPr 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ourier New Bold" charset="0"/>
                <a:cs typeface="Courier New Bold" charset="0"/>
                <a:sym typeface="Courier New Bold" charset="0"/>
              </a:rPr>
              <a:t>•</a:t>
            </a:r>
            <a:endParaRPr 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ourier New Bold" charset="0"/>
                <a:cs typeface="Courier New Bold" charset="0"/>
                <a:sym typeface="Courier New Bold" charset="0"/>
              </a:rPr>
              <a:t>•</a:t>
            </a:r>
          </a:p>
        </p:txBody>
      </p:sp>
      <p:sp>
        <p:nvSpPr>
          <p:cNvPr id="22541" name="Rectangle 13"/>
          <p:cNvSpPr/>
          <p:nvPr/>
        </p:nvSpPr>
        <p:spPr bwMode="auto">
          <a:xfrm>
            <a:off x="3937000" y="1714500"/>
            <a:ext cx="1270000" cy="381000"/>
          </a:xfrm>
          <a:prstGeom prst="rect">
            <a:avLst/>
          </a:prstGeom>
          <a:solidFill>
            <a:srgbClr val="D6D6F4"/>
          </a:solidFill>
          <a:ln w="28575"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Targ0</a:t>
            </a:r>
          </a:p>
        </p:txBody>
      </p:sp>
      <p:sp>
        <p:nvSpPr>
          <p:cNvPr id="22542" name="Rectangle 14"/>
          <p:cNvSpPr/>
          <p:nvPr/>
        </p:nvSpPr>
        <p:spPr bwMode="auto">
          <a:xfrm>
            <a:off x="3937000" y="2095500"/>
            <a:ext cx="1270000" cy="381000"/>
          </a:xfrm>
          <a:prstGeom prst="rect">
            <a:avLst/>
          </a:prstGeom>
          <a:solidFill>
            <a:srgbClr val="D6D6F4"/>
          </a:solidFill>
          <a:ln w="28575" cap="flat">
            <a:solidFill>
              <a:schemeClr val="tx1"/>
            </a:solidFill>
            <a:prstDash val="solid"/>
            <a:miter lim="800000"/>
            <a:headEnd type="none" w="med" len="med"/>
            <a:tailEnd type="none" w="med" len="med"/>
          </a:ln>
        </p:spPr>
        <p:txBody>
          <a:bodyPr lIns="38100" tIns="38100" rIns="38100" bIns="38100" anchor="ctr"/>
          <a:lstStyle/>
          <a:p>
            <a:r>
              <a:rPr lang="en-US" sz="1800">
                <a:solidFill>
                  <a:schemeClr val="tx1"/>
                </a:solidFill>
                <a:latin typeface="Courier New Bold" charset="0"/>
                <a:cs typeface="Courier New Bold" charset="0"/>
                <a:sym typeface="Courier New Bold" charset="0"/>
              </a:rPr>
              <a:t>Targ1</a:t>
            </a:r>
          </a:p>
        </p:txBody>
      </p:sp>
      <p:sp>
        <p:nvSpPr>
          <p:cNvPr id="22543" name="Rectangle 15"/>
          <p:cNvSpPr/>
          <p:nvPr/>
        </p:nvSpPr>
        <p:spPr bwMode="auto">
          <a:xfrm>
            <a:off x="3937000" y="2476500"/>
            <a:ext cx="1270000" cy="381000"/>
          </a:xfrm>
          <a:prstGeom prst="rect">
            <a:avLst/>
          </a:prstGeom>
          <a:solidFill>
            <a:srgbClr val="D6D6F4"/>
          </a:solidFill>
          <a:ln w="28575" cap="flat">
            <a:solidFill>
              <a:schemeClr val="tx1"/>
            </a:solidFill>
            <a:prstDash val="solid"/>
            <a:miter lim="800000"/>
            <a:headEnd type="none" w="med" len="med"/>
            <a:tailEnd type="none" w="med" len="med"/>
          </a:ln>
        </p:spPr>
        <p:txBody>
          <a:bodyPr lIns="38100" tIns="38100" rIns="38100" bIns="38100" anchor="ctr"/>
          <a:lstStyle/>
          <a:p>
            <a:r>
              <a:rPr lang="en-US" sz="1800">
                <a:solidFill>
                  <a:schemeClr val="tx1"/>
                </a:solidFill>
                <a:latin typeface="Courier New Bold" charset="0"/>
                <a:cs typeface="Courier New Bold" charset="0"/>
                <a:sym typeface="Courier New Bold" charset="0"/>
              </a:rPr>
              <a:t>Targ2</a:t>
            </a:r>
          </a:p>
        </p:txBody>
      </p:sp>
      <p:sp>
        <p:nvSpPr>
          <p:cNvPr id="22544" name="Rectangle 16"/>
          <p:cNvSpPr/>
          <p:nvPr/>
        </p:nvSpPr>
        <p:spPr bwMode="auto">
          <a:xfrm>
            <a:off x="3937000" y="3771900"/>
            <a:ext cx="1270000" cy="381000"/>
          </a:xfrm>
          <a:prstGeom prst="rect">
            <a:avLst/>
          </a:prstGeom>
          <a:solidFill>
            <a:srgbClr val="D6D6F4"/>
          </a:solidFill>
          <a:ln w="28575" cap="flat">
            <a:solidFill>
              <a:schemeClr val="tx1"/>
            </a:solidFill>
            <a:prstDash val="solid"/>
            <a:miter lim="800000"/>
            <a:headEnd type="none" w="med" len="med"/>
            <a:tailEnd type="none" w="med" len="med"/>
          </a:ln>
        </p:spPr>
        <p:txBody>
          <a:bodyPr lIns="38100" tIns="38100" rIns="38100" bIns="38100" anchor="ctr"/>
          <a:lstStyle/>
          <a:p>
            <a:r>
              <a:rPr lang="en-US" sz="1800">
                <a:solidFill>
                  <a:schemeClr val="tx1"/>
                </a:solidFill>
                <a:latin typeface="Courier New Bold" charset="0"/>
                <a:cs typeface="Courier New Bold" charset="0"/>
                <a:sym typeface="Courier New Bold" charset="0"/>
              </a:rPr>
              <a:t>Targ</a:t>
            </a:r>
            <a:r>
              <a:rPr lang="en-US" sz="1800">
                <a:solidFill>
                  <a:schemeClr val="tx1"/>
                </a:solidFill>
                <a:latin typeface="Courier New Bold Italic" charset="0"/>
                <a:cs typeface="Courier New Bold Italic" charset="0"/>
                <a:sym typeface="Courier New Bold Italic" charset="0"/>
              </a:rPr>
              <a:t>n</a:t>
            </a:r>
            <a:r>
              <a:rPr lang="en-US" sz="1800">
                <a:solidFill>
                  <a:schemeClr val="tx1"/>
                </a:solidFill>
                <a:latin typeface="Courier New Bold" charset="0"/>
                <a:cs typeface="Courier New Bold" charset="0"/>
                <a:sym typeface="Courier New Bold" charset="0"/>
              </a:rPr>
              <a:t>-1</a:t>
            </a:r>
          </a:p>
        </p:txBody>
      </p:sp>
      <p:sp>
        <p:nvSpPr>
          <p:cNvPr id="22545" name="Rectangle 17"/>
          <p:cNvSpPr/>
          <p:nvPr/>
        </p:nvSpPr>
        <p:spPr bwMode="auto">
          <a:xfrm>
            <a:off x="3937000" y="2857500"/>
            <a:ext cx="1270000" cy="914400"/>
          </a:xfrm>
          <a:prstGeom prst="rect">
            <a:avLst/>
          </a:prstGeom>
          <a:solidFill>
            <a:srgbClr val="D6D6F4"/>
          </a:solidFill>
          <a:ln w="28575" cap="flat">
            <a:solidFill>
              <a:schemeClr val="tx1"/>
            </a:solidFill>
            <a:prstDash val="solid"/>
            <a:miter lim="800000"/>
            <a:headEnd type="none" w="med" len="med"/>
            <a:tailEnd type="none" w="med" len="med"/>
          </a:ln>
        </p:spPr>
        <p:txBody>
          <a:bodyPr lIns="38100" tIns="38100" rIns="38100" bIns="38100" anchor="ctr"/>
          <a:lstStyle/>
          <a:p>
            <a:r>
              <a:rPr lang="en-US" sz="1800">
                <a:solidFill>
                  <a:schemeClr val="tx1"/>
                </a:solidFill>
                <a:latin typeface="Courier New Bold" charset="0"/>
                <a:cs typeface="Courier New Bold" charset="0"/>
                <a:sym typeface="Courier New Bold" charset="0"/>
              </a:rPr>
              <a:t>•</a:t>
            </a:r>
            <a:endParaRPr 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ourier New Bold" charset="0"/>
                <a:cs typeface="Courier New Bold" charset="0"/>
                <a:sym typeface="Courier New Bold" charset="0"/>
              </a:rPr>
              <a:t>•</a:t>
            </a:r>
            <a:endParaRPr 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ourier New Bold" charset="0"/>
                <a:cs typeface="Courier New Bold" charset="0"/>
                <a:sym typeface="Courier New Bold" charset="0"/>
              </a:rPr>
              <a:t>•</a:t>
            </a:r>
          </a:p>
        </p:txBody>
      </p:sp>
      <p:sp>
        <p:nvSpPr>
          <p:cNvPr id="22546" name="Rectangle 18"/>
          <p:cNvSpPr/>
          <p:nvPr/>
        </p:nvSpPr>
        <p:spPr bwMode="auto">
          <a:xfrm>
            <a:off x="3111500" y="1701800"/>
            <a:ext cx="852488" cy="36830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2000">
                <a:solidFill>
                  <a:schemeClr val="tx1"/>
                </a:solidFill>
                <a:latin typeface="Courier New Bold" charset="0"/>
                <a:cs typeface="Courier New Bold" charset="0"/>
                <a:sym typeface="Courier New Bold" charset="0"/>
              </a:rPr>
              <a:t>jtab:</a:t>
            </a:r>
          </a:p>
        </p:txBody>
      </p:sp>
      <p:sp>
        <p:nvSpPr>
          <p:cNvPr id="22547" name="Rectangle 19"/>
          <p:cNvSpPr/>
          <p:nvPr/>
        </p:nvSpPr>
        <p:spPr bwMode="auto">
          <a:xfrm>
            <a:off x="304800" y="5092700"/>
            <a:ext cx="2667000" cy="3937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Bold" charset="0"/>
                <a:cs typeface="Courier New Bold" charset="0"/>
                <a:sym typeface="Courier New Bold" charset="0"/>
              </a:rPr>
              <a:t>goto</a:t>
            </a:r>
            <a:r>
              <a:rPr lang="en-US" sz="1800" dirty="0">
                <a:solidFill>
                  <a:schemeClr val="tx1"/>
                </a:solidFill>
                <a:latin typeface="Courier New Bold" charset="0"/>
                <a:cs typeface="Courier New Bold" charset="0"/>
                <a:sym typeface="Courier New Bold" charset="0"/>
              </a:rPr>
              <a:t> *</a:t>
            </a:r>
            <a:r>
              <a:rPr lang="en-US" sz="1800" dirty="0" err="1">
                <a:solidFill>
                  <a:schemeClr val="tx1"/>
                </a:solidFill>
                <a:latin typeface="Courier New Bold" charset="0"/>
                <a:cs typeface="Courier New Bold" charset="0"/>
                <a:sym typeface="Courier New Bold" charset="0"/>
              </a:rPr>
              <a:t>JTab</a:t>
            </a:r>
            <a:r>
              <a:rPr lang="en-US" sz="1800" dirty="0">
                <a:solidFill>
                  <a:schemeClr val="tx1"/>
                </a:solidFill>
                <a:latin typeface="Courier New Bold" charset="0"/>
                <a:cs typeface="Courier New Bold" charset="0"/>
                <a:sym typeface="Courier New Bold" charset="0"/>
              </a:rPr>
              <a:t>[x];</a:t>
            </a:r>
            <a:endParaRPr lang="en-US" sz="2400" dirty="0">
              <a:solidFill>
                <a:schemeClr val="tx1"/>
              </a:solidFill>
              <a:latin typeface="Arial Narrow Bold" charset="0"/>
              <a:ea typeface="Lucida Grande" charset="0"/>
              <a:cs typeface="Lucida Grande" charset="0"/>
              <a:sym typeface="Arial Narrow Bold" charset="0"/>
            </a:endParaRPr>
          </a:p>
        </p:txBody>
      </p:sp>
      <p:sp>
        <p:nvSpPr>
          <p:cNvPr id="22548" name="Rectangle 20"/>
          <p:cNvSpPr/>
          <p:nvPr/>
        </p:nvSpPr>
        <p:spPr bwMode="auto">
          <a:xfrm>
            <a:off x="304800" y="1663700"/>
            <a:ext cx="2298700" cy="26035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Bold" charset="0"/>
                <a:cs typeface="Courier New Bold" charset="0"/>
                <a:sym typeface="Courier New Bold" charset="0"/>
              </a:rPr>
              <a:t>switch(x) {</a:t>
            </a:r>
            <a:endParaRPr lang="en-US" sz="2400" dirty="0">
              <a:solidFill>
                <a:schemeClr val="tx1"/>
              </a:solidFill>
              <a:latin typeface="Arial Narrow Bold" charset="0"/>
              <a:ea typeface="Lucida Grande" charset="0"/>
              <a:cs typeface="Lucida Grande" charset="0"/>
              <a:sym typeface="Arial Narrow Bold" charset="0"/>
            </a:endParaRPr>
          </a:p>
          <a:p>
            <a:pPr algn="l"/>
            <a:r>
              <a:rPr lang="en-US" sz="1800" dirty="0">
                <a:solidFill>
                  <a:schemeClr val="tx1"/>
                </a:solidFill>
                <a:latin typeface="Courier New Bold" charset="0"/>
                <a:cs typeface="Courier New Bold" charset="0"/>
                <a:sym typeface="Courier New Bold" charset="0"/>
              </a:rPr>
              <a:t>  case val_0:</a:t>
            </a:r>
            <a:endParaRPr lang="en-US" sz="2400" dirty="0">
              <a:solidFill>
                <a:schemeClr val="tx1"/>
              </a:solidFill>
              <a:latin typeface="Arial Narrow Bold" charset="0"/>
              <a:ea typeface="Lucida Grande" charset="0"/>
              <a:cs typeface="Lucida Grande" charset="0"/>
              <a:sym typeface="Arial Narrow Bold" charset="0"/>
            </a:endParaRPr>
          </a:p>
          <a:p>
            <a:pPr algn="l"/>
            <a:r>
              <a:rPr lang="en-US" sz="1800" dirty="0">
                <a:solidFill>
                  <a:schemeClr val="tx1"/>
                </a:solidFill>
                <a:latin typeface="Courier New Bold" charset="0"/>
                <a:cs typeface="Courier New Bold" charset="0"/>
                <a:sym typeface="Courier New Bold" charset="0"/>
              </a:rPr>
              <a:t>    </a:t>
            </a:r>
            <a:r>
              <a:rPr lang="en-US" sz="1800" dirty="0">
                <a:solidFill>
                  <a:schemeClr val="tx1"/>
                </a:solidFill>
                <a:latin typeface="Calibri Bold Italic" charset="0"/>
                <a:ea typeface="Calibri Bold Italic" charset="0"/>
                <a:cs typeface="Calibri Bold Italic" charset="0"/>
                <a:sym typeface="Calibri Bold Italic" charset="0"/>
              </a:rPr>
              <a:t>Block</a:t>
            </a:r>
            <a:r>
              <a:rPr lang="en-US" sz="1800" dirty="0">
                <a:solidFill>
                  <a:schemeClr val="tx1"/>
                </a:solidFill>
                <a:latin typeface="Calibri Bold" charset="0"/>
                <a:ea typeface="Calibri Bold" charset="0"/>
                <a:cs typeface="Calibri Bold" charset="0"/>
                <a:sym typeface="Calibri Bold" charset="0"/>
              </a:rPr>
              <a:t> 0</a:t>
            </a:r>
            <a:endParaRPr lang="en-US" sz="2400" dirty="0">
              <a:solidFill>
                <a:schemeClr val="tx1"/>
              </a:solidFill>
              <a:latin typeface="Arial Narrow Bold" charset="0"/>
              <a:ea typeface="Lucida Grande" charset="0"/>
              <a:cs typeface="Lucida Grande" charset="0"/>
              <a:sym typeface="Arial Narrow Bold" charset="0"/>
            </a:endParaRPr>
          </a:p>
          <a:p>
            <a:pPr algn="l"/>
            <a:r>
              <a:rPr lang="en-US" sz="1800" dirty="0">
                <a:solidFill>
                  <a:schemeClr val="tx1"/>
                </a:solidFill>
                <a:latin typeface="Courier New Bold" charset="0"/>
                <a:cs typeface="Courier New Bold" charset="0"/>
                <a:sym typeface="Courier New Bold" charset="0"/>
              </a:rPr>
              <a:t>  case val_1:</a:t>
            </a:r>
            <a:endParaRPr lang="en-US" sz="2400" dirty="0">
              <a:solidFill>
                <a:schemeClr val="tx1"/>
              </a:solidFill>
              <a:latin typeface="Arial Narrow Bold" charset="0"/>
              <a:ea typeface="Lucida Grande" charset="0"/>
              <a:cs typeface="Lucida Grande" charset="0"/>
              <a:sym typeface="Arial Narrow Bold" charset="0"/>
            </a:endParaRPr>
          </a:p>
          <a:p>
            <a:pPr algn="l"/>
            <a:r>
              <a:rPr lang="en-US" sz="1800" dirty="0">
                <a:solidFill>
                  <a:schemeClr val="tx1"/>
                </a:solidFill>
                <a:latin typeface="Courier New Bold" charset="0"/>
                <a:cs typeface="Courier New Bold" charset="0"/>
                <a:sym typeface="Courier New Bold" charset="0"/>
              </a:rPr>
              <a:t>    </a:t>
            </a:r>
            <a:r>
              <a:rPr lang="en-US" sz="1800" dirty="0">
                <a:solidFill>
                  <a:schemeClr val="tx1"/>
                </a:solidFill>
                <a:latin typeface="Calibri Bold Italic" charset="0"/>
                <a:ea typeface="Calibri Bold Italic" charset="0"/>
                <a:cs typeface="Calibri Bold Italic" charset="0"/>
                <a:sym typeface="Calibri Bold Italic" charset="0"/>
              </a:rPr>
              <a:t>Block</a:t>
            </a:r>
            <a:r>
              <a:rPr lang="en-US" sz="1800" dirty="0">
                <a:solidFill>
                  <a:schemeClr val="tx1"/>
                </a:solidFill>
                <a:latin typeface="Calibri Bold" charset="0"/>
                <a:ea typeface="Calibri Bold" charset="0"/>
                <a:cs typeface="Calibri Bold" charset="0"/>
                <a:sym typeface="Calibri Bold" charset="0"/>
              </a:rPr>
              <a:t> 1</a:t>
            </a:r>
            <a:endParaRPr lang="en-US" sz="2400" dirty="0">
              <a:solidFill>
                <a:schemeClr val="tx1"/>
              </a:solidFill>
              <a:latin typeface="Arial Narrow Bold" charset="0"/>
              <a:ea typeface="Lucida Grande" charset="0"/>
              <a:cs typeface="Lucida Grande" charset="0"/>
              <a:sym typeface="Arial Narrow Bold" charset="0"/>
            </a:endParaRPr>
          </a:p>
          <a:p>
            <a:pPr algn="l"/>
            <a:r>
              <a:rPr lang="en-US" sz="1800" dirty="0">
                <a:solidFill>
                  <a:schemeClr val="tx1"/>
                </a:solidFill>
                <a:latin typeface="Courier New Bold" charset="0"/>
                <a:cs typeface="Courier New Bold" charset="0"/>
                <a:sym typeface="Courier New Bold" charset="0"/>
              </a:rPr>
              <a:t>    • • •</a:t>
            </a:r>
            <a:endParaRPr lang="en-US" sz="2400" dirty="0">
              <a:solidFill>
                <a:schemeClr val="tx1"/>
              </a:solidFill>
              <a:latin typeface="Arial Narrow Bold" charset="0"/>
              <a:ea typeface="Lucida Grande" charset="0"/>
              <a:cs typeface="Lucida Grande" charset="0"/>
              <a:sym typeface="Arial Narrow Bold" charset="0"/>
            </a:endParaRPr>
          </a:p>
          <a:p>
            <a:pPr algn="l"/>
            <a:r>
              <a:rPr lang="en-US" sz="1800" dirty="0">
                <a:solidFill>
                  <a:schemeClr val="tx1"/>
                </a:solidFill>
                <a:latin typeface="Courier New Bold" charset="0"/>
                <a:cs typeface="Courier New Bold" charset="0"/>
                <a:sym typeface="Courier New Bold" charset="0"/>
              </a:rPr>
              <a:t>  case val_</a:t>
            </a:r>
            <a:r>
              <a:rPr lang="en-US" sz="1800" dirty="0">
                <a:solidFill>
                  <a:schemeClr val="tx1"/>
                </a:solidFill>
                <a:latin typeface="Courier New Bold Italic" charset="0"/>
                <a:cs typeface="Courier New Bold Italic" charset="0"/>
                <a:sym typeface="Courier New Bold Italic" charset="0"/>
              </a:rPr>
              <a:t>n</a:t>
            </a:r>
            <a:r>
              <a:rPr lang="en-US" sz="1800" dirty="0">
                <a:solidFill>
                  <a:schemeClr val="tx1"/>
                </a:solidFill>
                <a:latin typeface="Courier New Bold" charset="0"/>
                <a:cs typeface="Courier New Bold" charset="0"/>
                <a:sym typeface="Courier New Bold" charset="0"/>
              </a:rPr>
              <a:t>-1:</a:t>
            </a:r>
            <a:endParaRPr lang="en-US" sz="2400" dirty="0">
              <a:solidFill>
                <a:schemeClr val="tx1"/>
              </a:solidFill>
              <a:latin typeface="Arial Narrow Bold" charset="0"/>
              <a:ea typeface="Lucida Grande" charset="0"/>
              <a:cs typeface="Lucida Grande" charset="0"/>
              <a:sym typeface="Arial Narrow Bold" charset="0"/>
            </a:endParaRPr>
          </a:p>
          <a:p>
            <a:pPr algn="l"/>
            <a:r>
              <a:rPr lang="en-US" sz="1800" dirty="0">
                <a:solidFill>
                  <a:schemeClr val="tx1"/>
                </a:solidFill>
                <a:latin typeface="Courier New Bold" charset="0"/>
                <a:cs typeface="Courier New Bold" charset="0"/>
                <a:sym typeface="Courier New Bold" charset="0"/>
              </a:rPr>
              <a:t>    </a:t>
            </a:r>
            <a:r>
              <a:rPr lang="en-US" sz="1800" dirty="0">
                <a:solidFill>
                  <a:schemeClr val="tx1"/>
                </a:solidFill>
                <a:latin typeface="Calibri Bold Italic" charset="0"/>
                <a:ea typeface="Calibri Bold Italic" charset="0"/>
                <a:cs typeface="Calibri Bold Italic" charset="0"/>
                <a:sym typeface="Calibri Bold Italic" charset="0"/>
              </a:rPr>
              <a:t>Block</a:t>
            </a:r>
            <a:r>
              <a:rPr lang="en-US" sz="1800" dirty="0">
                <a:solidFill>
                  <a:schemeClr val="tx1"/>
                </a:solidFill>
                <a:latin typeface="Calibri Bold" charset="0"/>
                <a:ea typeface="Calibri Bold" charset="0"/>
                <a:cs typeface="Calibri Bold" charset="0"/>
                <a:sym typeface="Calibri Bold" charset="0"/>
              </a:rPr>
              <a:t> </a:t>
            </a:r>
            <a:r>
              <a:rPr lang="en-US" sz="1800" dirty="0">
                <a:solidFill>
                  <a:schemeClr val="tx1"/>
                </a:solidFill>
                <a:latin typeface="Calibri Bold Italic" charset="0"/>
                <a:ea typeface="Calibri Bold Italic" charset="0"/>
                <a:cs typeface="Calibri Bold Italic" charset="0"/>
                <a:sym typeface="Calibri Bold Italic" charset="0"/>
              </a:rPr>
              <a:t>n</a:t>
            </a:r>
            <a:r>
              <a:rPr lang="en-US" sz="1800" dirty="0">
                <a:solidFill>
                  <a:schemeClr val="tx1"/>
                </a:solidFill>
                <a:latin typeface="Calibri Bold" charset="0"/>
                <a:ea typeface="Calibri Bold" charset="0"/>
                <a:cs typeface="Calibri Bold" charset="0"/>
                <a:sym typeface="Calibri Bold" charset="0"/>
              </a:rPr>
              <a:t>–1</a:t>
            </a:r>
            <a:endParaRPr lang="en-US" sz="2400" dirty="0">
              <a:solidFill>
                <a:schemeClr val="tx1"/>
              </a:solidFill>
              <a:latin typeface="Arial Narrow Bold" charset="0"/>
              <a:ea typeface="Lucida Grande" charset="0"/>
              <a:cs typeface="Lucida Grande" charset="0"/>
              <a:sym typeface="Arial Narrow Bold" charset="0"/>
            </a:endParaRPr>
          </a:p>
          <a:p>
            <a:pPr algn="l"/>
            <a:r>
              <a:rPr lang="en-US" sz="1800" dirty="0">
                <a:solidFill>
                  <a:schemeClr val="tx1"/>
                </a:solidFill>
                <a:latin typeface="Courier New Bold" charset="0"/>
                <a:cs typeface="Courier New Bold" charset="0"/>
                <a:sym typeface="Courier New Bold" charset="0"/>
              </a:rPr>
              <a:t>}</a:t>
            </a:r>
          </a:p>
        </p:txBody>
      </p:sp>
      <p:sp>
        <p:nvSpPr>
          <p:cNvPr id="22549" name="Rectangle 21"/>
          <p:cNvSpPr/>
          <p:nvPr/>
        </p:nvSpPr>
        <p:spPr bwMode="auto">
          <a:xfrm>
            <a:off x="285750" y="1295400"/>
            <a:ext cx="131826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2000">
                <a:solidFill>
                  <a:schemeClr val="tx1"/>
                </a:solidFill>
                <a:latin typeface="Calibri Bold" charset="0"/>
                <a:ea typeface="Calibri Bold" charset="0"/>
                <a:cs typeface="Calibri Bold" charset="0"/>
                <a:sym typeface="Calibri Bold" charset="0"/>
              </a:rPr>
              <a:t>Switch </a:t>
            </a:r>
            <a:r>
              <a:rPr lang="zh-CN" altLang="en-US" sz="2000">
                <a:solidFill>
                  <a:schemeClr val="tx1"/>
                </a:solidFill>
                <a:latin typeface="Calibri Bold" charset="0"/>
                <a:ea typeface="宋体" panose="02010600030101010101" pitchFamily="2" charset="-122"/>
                <a:cs typeface="Calibri Bold" charset="0"/>
                <a:sym typeface="Calibri Bold" charset="0"/>
              </a:rPr>
              <a:t>形式</a:t>
            </a:r>
          </a:p>
        </p:txBody>
      </p:sp>
      <p:sp>
        <p:nvSpPr>
          <p:cNvPr id="22550" name="Rectangle 22"/>
          <p:cNvSpPr/>
          <p:nvPr/>
        </p:nvSpPr>
        <p:spPr bwMode="auto">
          <a:xfrm>
            <a:off x="271463" y="4724400"/>
            <a:ext cx="1438275"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翻译</a:t>
            </a:r>
            <a:r>
              <a:rPr lang="en-US" sz="2000" dirty="0">
                <a:solidFill>
                  <a:schemeClr val="tx1"/>
                </a:solidFill>
                <a:latin typeface="Calibri Bold" charset="0"/>
                <a:ea typeface="Calibri Bold" charset="0"/>
                <a:cs typeface="Calibri Bold" charset="0"/>
                <a:sym typeface="Calibri Bold" charset="0"/>
              </a:rPr>
              <a:t> (C</a:t>
            </a:r>
            <a:r>
              <a:rPr lang="zh-CN" altLang="en-US" sz="2000" dirty="0">
                <a:solidFill>
                  <a:schemeClr val="tx1"/>
                </a:solidFill>
                <a:latin typeface="Calibri Bold" charset="0"/>
                <a:ea typeface="宋体" panose="02010600030101010101" pitchFamily="2" charset="-122"/>
                <a:cs typeface="Calibri Bold" charset="0"/>
                <a:sym typeface="Calibri Bold" charset="0"/>
              </a:rPr>
              <a:t>扩展</a:t>
            </a:r>
            <a:r>
              <a:rPr lang="en-US" sz="2000" dirty="0">
                <a:solidFill>
                  <a:schemeClr val="tx1"/>
                </a:solidFill>
                <a:latin typeface="Calibri Bold" charset="0"/>
                <a:ea typeface="Calibri Bold" charset="0"/>
                <a:cs typeface="Calibri Bold" charset="0"/>
                <a:sym typeface="Calibri Bold" charset="0"/>
              </a:rPr>
              <a:t>)</a:t>
            </a:r>
          </a:p>
        </p:txBody>
      </p:sp>
      <p:sp>
        <p:nvSpPr>
          <p:cNvPr id="22551" name="Rectangle 23"/>
          <p:cNvSpPr/>
          <p:nvPr/>
        </p:nvSpPr>
        <p:spPr bwMode="auto">
          <a:xfrm>
            <a:off x="3725863" y="1282700"/>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r>
              <a:rPr lang="zh-CN" altLang="en-US" sz="2000">
                <a:solidFill>
                  <a:schemeClr val="tx1"/>
                </a:solidFill>
                <a:latin typeface="Calibri Bold" charset="0"/>
                <a:ea typeface="宋体" panose="02010600030101010101" pitchFamily="2" charset="-122"/>
                <a:cs typeface="Calibri Bold" charset="0"/>
                <a:sym typeface="Calibri Bold" charset="0"/>
              </a:rPr>
              <a:t>跳转表</a:t>
            </a:r>
          </a:p>
        </p:txBody>
      </p:sp>
      <p:sp>
        <p:nvSpPr>
          <p:cNvPr id="22552" name="Rectangle 24"/>
          <p:cNvSpPr/>
          <p:nvPr/>
        </p:nvSpPr>
        <p:spPr bwMode="auto">
          <a:xfrm>
            <a:off x="6923088" y="1219200"/>
            <a:ext cx="1346200" cy="383540"/>
          </a:xfrm>
          <a:prstGeom prst="rect">
            <a:avLst/>
          </a:prstGeom>
          <a:noFill/>
          <a:ln w="25400" cap="flat">
            <a:noFill/>
            <a:miter lim="800000"/>
            <a:headEnd type="none" w="med" len="med"/>
            <a:tailEnd type="none" w="med" len="med"/>
          </a:ln>
        </p:spPr>
        <p:txBody>
          <a:bodyPr wrap="none" lIns="38100" tIns="38100" rIns="38100" bIns="38100">
            <a:spAutoFit/>
          </a:bodyPr>
          <a:lstStyle/>
          <a:p>
            <a:r>
              <a:rPr lang="zh-CN" altLang="en-US" sz="2000">
                <a:solidFill>
                  <a:schemeClr val="tx1"/>
                </a:solidFill>
                <a:latin typeface="Calibri Bold" charset="0"/>
                <a:ea typeface="宋体" panose="02010600030101010101" pitchFamily="2" charset="-122"/>
                <a:cs typeface="Calibri Bold" charset="0"/>
                <a:sym typeface="Calibri Bold" charset="0"/>
              </a:rPr>
              <a:t>跳转目标块</a:t>
            </a:r>
          </a:p>
        </p:txBody>
      </p:sp>
      <p:sp>
        <p:nvSpPr>
          <p:cNvPr id="22531" name="Rectangle 3"/>
          <p:cNvSpPr>
            <a:spLocks noGrp="1" noChangeArrowheads="1"/>
          </p:cNvSpPr>
          <p:nvPr/>
        </p:nvSpPr>
        <p:spPr>
          <a:xfrm>
            <a:off x="169545" y="15875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endParaRPr lang="zh-CN" altLang="en-US"/>
          </a:p>
        </p:txBody>
      </p:sp>
      <p:sp>
        <p:nvSpPr>
          <p:cNvPr id="2" name="左箭头 1"/>
          <p:cNvSpPr/>
          <p:nvPr/>
        </p:nvSpPr>
        <p:spPr>
          <a:xfrm>
            <a:off x="6653530" y="635"/>
            <a:ext cx="2478405" cy="1061085"/>
          </a:xfrm>
          <a:prstGeom prst="lef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9380" indent="-119380"/>
            <a:r>
              <a:rPr lang="zh-CN" altLang="en-US" sz="2800">
                <a:sym typeface="+mn-ea"/>
              </a:rPr>
              <a:t>跳转表结构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41"/>
                                        </p:tgtEl>
                                        <p:attrNameLst>
                                          <p:attrName>style.visibility</p:attrName>
                                        </p:attrNameLst>
                                      </p:cBhvr>
                                      <p:to>
                                        <p:strVal val="visible"/>
                                      </p:to>
                                    </p:set>
                                    <p:anim calcmode="lin" valueType="num">
                                      <p:cBhvr additive="base">
                                        <p:cTn id="7" dur="500" fill="hold"/>
                                        <p:tgtEl>
                                          <p:spTgt spid="22541"/>
                                        </p:tgtEl>
                                        <p:attrNameLst>
                                          <p:attrName>ppt_x</p:attrName>
                                        </p:attrNameLst>
                                      </p:cBhvr>
                                      <p:tavLst>
                                        <p:tav tm="0">
                                          <p:val>
                                            <p:strVal val="#ppt_x"/>
                                          </p:val>
                                        </p:tav>
                                        <p:tav tm="100000">
                                          <p:val>
                                            <p:strVal val="#ppt_x"/>
                                          </p:val>
                                        </p:tav>
                                      </p:tavLst>
                                    </p:anim>
                                    <p:anim calcmode="lin" valueType="num">
                                      <p:cBhvr additive="base">
                                        <p:cTn id="8" dur="500" fill="hold"/>
                                        <p:tgtEl>
                                          <p:spTgt spid="2254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542"/>
                                        </p:tgtEl>
                                        <p:attrNameLst>
                                          <p:attrName>style.visibility</p:attrName>
                                        </p:attrNameLst>
                                      </p:cBhvr>
                                      <p:to>
                                        <p:strVal val="visible"/>
                                      </p:to>
                                    </p:set>
                                    <p:anim calcmode="lin" valueType="num">
                                      <p:cBhvr additive="base">
                                        <p:cTn id="11" dur="500" fill="hold"/>
                                        <p:tgtEl>
                                          <p:spTgt spid="22542"/>
                                        </p:tgtEl>
                                        <p:attrNameLst>
                                          <p:attrName>ppt_x</p:attrName>
                                        </p:attrNameLst>
                                      </p:cBhvr>
                                      <p:tavLst>
                                        <p:tav tm="0">
                                          <p:val>
                                            <p:strVal val="#ppt_x"/>
                                          </p:val>
                                        </p:tav>
                                        <p:tav tm="100000">
                                          <p:val>
                                            <p:strVal val="#ppt_x"/>
                                          </p:val>
                                        </p:tav>
                                      </p:tavLst>
                                    </p:anim>
                                    <p:anim calcmode="lin" valueType="num">
                                      <p:cBhvr additive="base">
                                        <p:cTn id="12" dur="500" fill="hold"/>
                                        <p:tgtEl>
                                          <p:spTgt spid="2254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2543"/>
                                        </p:tgtEl>
                                        <p:attrNameLst>
                                          <p:attrName>style.visibility</p:attrName>
                                        </p:attrNameLst>
                                      </p:cBhvr>
                                      <p:to>
                                        <p:strVal val="visible"/>
                                      </p:to>
                                    </p:set>
                                    <p:anim calcmode="lin" valueType="num">
                                      <p:cBhvr additive="base">
                                        <p:cTn id="15" dur="500" fill="hold"/>
                                        <p:tgtEl>
                                          <p:spTgt spid="22543"/>
                                        </p:tgtEl>
                                        <p:attrNameLst>
                                          <p:attrName>ppt_x</p:attrName>
                                        </p:attrNameLst>
                                      </p:cBhvr>
                                      <p:tavLst>
                                        <p:tav tm="0">
                                          <p:val>
                                            <p:strVal val="#ppt_x"/>
                                          </p:val>
                                        </p:tav>
                                        <p:tav tm="100000">
                                          <p:val>
                                            <p:strVal val="#ppt_x"/>
                                          </p:val>
                                        </p:tav>
                                      </p:tavLst>
                                    </p:anim>
                                    <p:anim calcmode="lin" valueType="num">
                                      <p:cBhvr additive="base">
                                        <p:cTn id="16" dur="500" fill="hold"/>
                                        <p:tgtEl>
                                          <p:spTgt spid="22543"/>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2544"/>
                                        </p:tgtEl>
                                        <p:attrNameLst>
                                          <p:attrName>style.visibility</p:attrName>
                                        </p:attrNameLst>
                                      </p:cBhvr>
                                      <p:to>
                                        <p:strVal val="visible"/>
                                      </p:to>
                                    </p:set>
                                    <p:anim calcmode="lin" valueType="num">
                                      <p:cBhvr additive="base">
                                        <p:cTn id="19" dur="500" fill="hold"/>
                                        <p:tgtEl>
                                          <p:spTgt spid="22544"/>
                                        </p:tgtEl>
                                        <p:attrNameLst>
                                          <p:attrName>ppt_x</p:attrName>
                                        </p:attrNameLst>
                                      </p:cBhvr>
                                      <p:tavLst>
                                        <p:tav tm="0">
                                          <p:val>
                                            <p:strVal val="#ppt_x"/>
                                          </p:val>
                                        </p:tav>
                                        <p:tav tm="100000">
                                          <p:val>
                                            <p:strVal val="#ppt_x"/>
                                          </p:val>
                                        </p:tav>
                                      </p:tavLst>
                                    </p:anim>
                                    <p:anim calcmode="lin" valueType="num">
                                      <p:cBhvr additive="base">
                                        <p:cTn id="20" dur="500" fill="hold"/>
                                        <p:tgtEl>
                                          <p:spTgt spid="22544"/>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2545"/>
                                        </p:tgtEl>
                                        <p:attrNameLst>
                                          <p:attrName>style.visibility</p:attrName>
                                        </p:attrNameLst>
                                      </p:cBhvr>
                                      <p:to>
                                        <p:strVal val="visible"/>
                                      </p:to>
                                    </p:set>
                                    <p:anim calcmode="lin" valueType="num">
                                      <p:cBhvr additive="base">
                                        <p:cTn id="23" dur="500" fill="hold"/>
                                        <p:tgtEl>
                                          <p:spTgt spid="22545"/>
                                        </p:tgtEl>
                                        <p:attrNameLst>
                                          <p:attrName>ppt_x</p:attrName>
                                        </p:attrNameLst>
                                      </p:cBhvr>
                                      <p:tavLst>
                                        <p:tav tm="0">
                                          <p:val>
                                            <p:strVal val="#ppt_x"/>
                                          </p:val>
                                        </p:tav>
                                        <p:tav tm="100000">
                                          <p:val>
                                            <p:strVal val="#ppt_x"/>
                                          </p:val>
                                        </p:tav>
                                      </p:tavLst>
                                    </p:anim>
                                    <p:anim calcmode="lin" valueType="num">
                                      <p:cBhvr additive="base">
                                        <p:cTn id="24" dur="500" fill="hold"/>
                                        <p:tgtEl>
                                          <p:spTgt spid="22545"/>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2546"/>
                                        </p:tgtEl>
                                        <p:attrNameLst>
                                          <p:attrName>style.visibility</p:attrName>
                                        </p:attrNameLst>
                                      </p:cBhvr>
                                      <p:to>
                                        <p:strVal val="visible"/>
                                      </p:to>
                                    </p:set>
                                    <p:anim calcmode="lin" valueType="num">
                                      <p:cBhvr additive="base">
                                        <p:cTn id="27" dur="500" fill="hold"/>
                                        <p:tgtEl>
                                          <p:spTgt spid="22546"/>
                                        </p:tgtEl>
                                        <p:attrNameLst>
                                          <p:attrName>ppt_x</p:attrName>
                                        </p:attrNameLst>
                                      </p:cBhvr>
                                      <p:tavLst>
                                        <p:tav tm="0">
                                          <p:val>
                                            <p:strVal val="#ppt_x"/>
                                          </p:val>
                                        </p:tav>
                                        <p:tav tm="100000">
                                          <p:val>
                                            <p:strVal val="#ppt_x"/>
                                          </p:val>
                                        </p:tav>
                                      </p:tavLst>
                                    </p:anim>
                                    <p:anim calcmode="lin" valueType="num">
                                      <p:cBhvr additive="base">
                                        <p:cTn id="28" dur="500" fill="hold"/>
                                        <p:tgtEl>
                                          <p:spTgt spid="22546"/>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2551"/>
                                        </p:tgtEl>
                                        <p:attrNameLst>
                                          <p:attrName>style.visibility</p:attrName>
                                        </p:attrNameLst>
                                      </p:cBhvr>
                                      <p:to>
                                        <p:strVal val="visible"/>
                                      </p:to>
                                    </p:set>
                                    <p:anim calcmode="lin" valueType="num">
                                      <p:cBhvr additive="base">
                                        <p:cTn id="31" dur="500" fill="hold"/>
                                        <p:tgtEl>
                                          <p:spTgt spid="22551"/>
                                        </p:tgtEl>
                                        <p:attrNameLst>
                                          <p:attrName>ppt_x</p:attrName>
                                        </p:attrNameLst>
                                      </p:cBhvr>
                                      <p:tavLst>
                                        <p:tav tm="0">
                                          <p:val>
                                            <p:strVal val="#ppt_x"/>
                                          </p:val>
                                        </p:tav>
                                        <p:tav tm="100000">
                                          <p:val>
                                            <p:strVal val="#ppt_x"/>
                                          </p:val>
                                        </p:tav>
                                      </p:tavLst>
                                    </p:anim>
                                    <p:anim calcmode="lin" valueType="num">
                                      <p:cBhvr additive="base">
                                        <p:cTn id="32" dur="500" fill="hold"/>
                                        <p:tgtEl>
                                          <p:spTgt spid="2255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2532"/>
                                        </p:tgtEl>
                                        <p:attrNameLst>
                                          <p:attrName>style.visibility</p:attrName>
                                        </p:attrNameLst>
                                      </p:cBhvr>
                                      <p:to>
                                        <p:strVal val="visible"/>
                                      </p:to>
                                    </p:set>
                                    <p:anim calcmode="lin" valueType="num">
                                      <p:cBhvr additive="base">
                                        <p:cTn id="37" dur="500" fill="hold"/>
                                        <p:tgtEl>
                                          <p:spTgt spid="22532"/>
                                        </p:tgtEl>
                                        <p:attrNameLst>
                                          <p:attrName>ppt_x</p:attrName>
                                        </p:attrNameLst>
                                      </p:cBhvr>
                                      <p:tavLst>
                                        <p:tav tm="0">
                                          <p:val>
                                            <p:strVal val="#ppt_x"/>
                                          </p:val>
                                        </p:tav>
                                        <p:tav tm="100000">
                                          <p:val>
                                            <p:strVal val="#ppt_x"/>
                                          </p:val>
                                        </p:tav>
                                      </p:tavLst>
                                    </p:anim>
                                    <p:anim calcmode="lin" valueType="num">
                                      <p:cBhvr additive="base">
                                        <p:cTn id="38" dur="500" fill="hold"/>
                                        <p:tgtEl>
                                          <p:spTgt spid="2253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2533"/>
                                        </p:tgtEl>
                                        <p:attrNameLst>
                                          <p:attrName>style.visibility</p:attrName>
                                        </p:attrNameLst>
                                      </p:cBhvr>
                                      <p:to>
                                        <p:strVal val="visible"/>
                                      </p:to>
                                    </p:set>
                                    <p:anim calcmode="lin" valueType="num">
                                      <p:cBhvr additive="base">
                                        <p:cTn id="41" dur="500" fill="hold"/>
                                        <p:tgtEl>
                                          <p:spTgt spid="22533"/>
                                        </p:tgtEl>
                                        <p:attrNameLst>
                                          <p:attrName>ppt_x</p:attrName>
                                        </p:attrNameLst>
                                      </p:cBhvr>
                                      <p:tavLst>
                                        <p:tav tm="0">
                                          <p:val>
                                            <p:strVal val="#ppt_x"/>
                                          </p:val>
                                        </p:tav>
                                        <p:tav tm="100000">
                                          <p:val>
                                            <p:strVal val="#ppt_x"/>
                                          </p:val>
                                        </p:tav>
                                      </p:tavLst>
                                    </p:anim>
                                    <p:anim calcmode="lin" valueType="num">
                                      <p:cBhvr additive="base">
                                        <p:cTn id="42" dur="500" fill="hold"/>
                                        <p:tgtEl>
                                          <p:spTgt spid="2253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22534"/>
                                        </p:tgtEl>
                                        <p:attrNameLst>
                                          <p:attrName>style.visibility</p:attrName>
                                        </p:attrNameLst>
                                      </p:cBhvr>
                                      <p:to>
                                        <p:strVal val="visible"/>
                                      </p:to>
                                    </p:set>
                                    <p:anim calcmode="lin" valueType="num">
                                      <p:cBhvr additive="base">
                                        <p:cTn id="45" dur="500" fill="hold"/>
                                        <p:tgtEl>
                                          <p:spTgt spid="22534"/>
                                        </p:tgtEl>
                                        <p:attrNameLst>
                                          <p:attrName>ppt_x</p:attrName>
                                        </p:attrNameLst>
                                      </p:cBhvr>
                                      <p:tavLst>
                                        <p:tav tm="0">
                                          <p:val>
                                            <p:strVal val="#ppt_x"/>
                                          </p:val>
                                        </p:tav>
                                        <p:tav tm="100000">
                                          <p:val>
                                            <p:strVal val="#ppt_x"/>
                                          </p:val>
                                        </p:tav>
                                      </p:tavLst>
                                    </p:anim>
                                    <p:anim calcmode="lin" valueType="num">
                                      <p:cBhvr additive="base">
                                        <p:cTn id="46" dur="500" fill="hold"/>
                                        <p:tgtEl>
                                          <p:spTgt spid="22534"/>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22535"/>
                                        </p:tgtEl>
                                        <p:attrNameLst>
                                          <p:attrName>style.visibility</p:attrName>
                                        </p:attrNameLst>
                                      </p:cBhvr>
                                      <p:to>
                                        <p:strVal val="visible"/>
                                      </p:to>
                                    </p:set>
                                    <p:anim calcmode="lin" valueType="num">
                                      <p:cBhvr additive="base">
                                        <p:cTn id="49" dur="500" fill="hold"/>
                                        <p:tgtEl>
                                          <p:spTgt spid="22535"/>
                                        </p:tgtEl>
                                        <p:attrNameLst>
                                          <p:attrName>ppt_x</p:attrName>
                                        </p:attrNameLst>
                                      </p:cBhvr>
                                      <p:tavLst>
                                        <p:tav tm="0">
                                          <p:val>
                                            <p:strVal val="#ppt_x"/>
                                          </p:val>
                                        </p:tav>
                                        <p:tav tm="100000">
                                          <p:val>
                                            <p:strVal val="#ppt_x"/>
                                          </p:val>
                                        </p:tav>
                                      </p:tavLst>
                                    </p:anim>
                                    <p:anim calcmode="lin" valueType="num">
                                      <p:cBhvr additive="base">
                                        <p:cTn id="50" dur="500" fill="hold"/>
                                        <p:tgtEl>
                                          <p:spTgt spid="22535"/>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22536"/>
                                        </p:tgtEl>
                                        <p:attrNameLst>
                                          <p:attrName>style.visibility</p:attrName>
                                        </p:attrNameLst>
                                      </p:cBhvr>
                                      <p:to>
                                        <p:strVal val="visible"/>
                                      </p:to>
                                    </p:set>
                                    <p:anim calcmode="lin" valueType="num">
                                      <p:cBhvr additive="base">
                                        <p:cTn id="53" dur="500" fill="hold"/>
                                        <p:tgtEl>
                                          <p:spTgt spid="22536"/>
                                        </p:tgtEl>
                                        <p:attrNameLst>
                                          <p:attrName>ppt_x</p:attrName>
                                        </p:attrNameLst>
                                      </p:cBhvr>
                                      <p:tavLst>
                                        <p:tav tm="0">
                                          <p:val>
                                            <p:strVal val="#ppt_x"/>
                                          </p:val>
                                        </p:tav>
                                        <p:tav tm="100000">
                                          <p:val>
                                            <p:strVal val="#ppt_x"/>
                                          </p:val>
                                        </p:tav>
                                      </p:tavLst>
                                    </p:anim>
                                    <p:anim calcmode="lin" valueType="num">
                                      <p:cBhvr additive="base">
                                        <p:cTn id="54" dur="500" fill="hold"/>
                                        <p:tgtEl>
                                          <p:spTgt spid="22536"/>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2537"/>
                                        </p:tgtEl>
                                        <p:attrNameLst>
                                          <p:attrName>style.visibility</p:attrName>
                                        </p:attrNameLst>
                                      </p:cBhvr>
                                      <p:to>
                                        <p:strVal val="visible"/>
                                      </p:to>
                                    </p:set>
                                    <p:anim calcmode="lin" valueType="num">
                                      <p:cBhvr additive="base">
                                        <p:cTn id="57" dur="500" fill="hold"/>
                                        <p:tgtEl>
                                          <p:spTgt spid="22537"/>
                                        </p:tgtEl>
                                        <p:attrNameLst>
                                          <p:attrName>ppt_x</p:attrName>
                                        </p:attrNameLst>
                                      </p:cBhvr>
                                      <p:tavLst>
                                        <p:tav tm="0">
                                          <p:val>
                                            <p:strVal val="#ppt_x"/>
                                          </p:val>
                                        </p:tav>
                                        <p:tav tm="100000">
                                          <p:val>
                                            <p:strVal val="#ppt_x"/>
                                          </p:val>
                                        </p:tav>
                                      </p:tavLst>
                                    </p:anim>
                                    <p:anim calcmode="lin" valueType="num">
                                      <p:cBhvr additive="base">
                                        <p:cTn id="58" dur="500" fill="hold"/>
                                        <p:tgtEl>
                                          <p:spTgt spid="2253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2538"/>
                                        </p:tgtEl>
                                        <p:attrNameLst>
                                          <p:attrName>style.visibility</p:attrName>
                                        </p:attrNameLst>
                                      </p:cBhvr>
                                      <p:to>
                                        <p:strVal val="visible"/>
                                      </p:to>
                                    </p:set>
                                    <p:anim calcmode="lin" valueType="num">
                                      <p:cBhvr additive="base">
                                        <p:cTn id="61" dur="500" fill="hold"/>
                                        <p:tgtEl>
                                          <p:spTgt spid="22538"/>
                                        </p:tgtEl>
                                        <p:attrNameLst>
                                          <p:attrName>ppt_x</p:attrName>
                                        </p:attrNameLst>
                                      </p:cBhvr>
                                      <p:tavLst>
                                        <p:tav tm="0">
                                          <p:val>
                                            <p:strVal val="#ppt_x"/>
                                          </p:val>
                                        </p:tav>
                                        <p:tav tm="100000">
                                          <p:val>
                                            <p:strVal val="#ppt_x"/>
                                          </p:val>
                                        </p:tav>
                                      </p:tavLst>
                                    </p:anim>
                                    <p:anim calcmode="lin" valueType="num">
                                      <p:cBhvr additive="base">
                                        <p:cTn id="62" dur="500" fill="hold"/>
                                        <p:tgtEl>
                                          <p:spTgt spid="22538"/>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22539"/>
                                        </p:tgtEl>
                                        <p:attrNameLst>
                                          <p:attrName>style.visibility</p:attrName>
                                        </p:attrNameLst>
                                      </p:cBhvr>
                                      <p:to>
                                        <p:strVal val="visible"/>
                                      </p:to>
                                    </p:set>
                                    <p:anim calcmode="lin" valueType="num">
                                      <p:cBhvr additive="base">
                                        <p:cTn id="65" dur="500" fill="hold"/>
                                        <p:tgtEl>
                                          <p:spTgt spid="22539"/>
                                        </p:tgtEl>
                                        <p:attrNameLst>
                                          <p:attrName>ppt_x</p:attrName>
                                        </p:attrNameLst>
                                      </p:cBhvr>
                                      <p:tavLst>
                                        <p:tav tm="0">
                                          <p:val>
                                            <p:strVal val="#ppt_x"/>
                                          </p:val>
                                        </p:tav>
                                        <p:tav tm="100000">
                                          <p:val>
                                            <p:strVal val="#ppt_x"/>
                                          </p:val>
                                        </p:tav>
                                      </p:tavLst>
                                    </p:anim>
                                    <p:anim calcmode="lin" valueType="num">
                                      <p:cBhvr additive="base">
                                        <p:cTn id="66" dur="500" fill="hold"/>
                                        <p:tgtEl>
                                          <p:spTgt spid="22539"/>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22540"/>
                                        </p:tgtEl>
                                        <p:attrNameLst>
                                          <p:attrName>style.visibility</p:attrName>
                                        </p:attrNameLst>
                                      </p:cBhvr>
                                      <p:to>
                                        <p:strVal val="visible"/>
                                      </p:to>
                                    </p:set>
                                    <p:anim calcmode="lin" valueType="num">
                                      <p:cBhvr additive="base">
                                        <p:cTn id="69" dur="500" fill="hold"/>
                                        <p:tgtEl>
                                          <p:spTgt spid="22540"/>
                                        </p:tgtEl>
                                        <p:attrNameLst>
                                          <p:attrName>ppt_x</p:attrName>
                                        </p:attrNameLst>
                                      </p:cBhvr>
                                      <p:tavLst>
                                        <p:tav tm="0">
                                          <p:val>
                                            <p:strVal val="#ppt_x"/>
                                          </p:val>
                                        </p:tav>
                                        <p:tav tm="100000">
                                          <p:val>
                                            <p:strVal val="#ppt_x"/>
                                          </p:val>
                                        </p:tav>
                                      </p:tavLst>
                                    </p:anim>
                                    <p:anim calcmode="lin" valueType="num">
                                      <p:cBhvr additive="base">
                                        <p:cTn id="70" dur="500" fill="hold"/>
                                        <p:tgtEl>
                                          <p:spTgt spid="22540"/>
                                        </p:tgtEl>
                                        <p:attrNameLst>
                                          <p:attrName>ppt_y</p:attrName>
                                        </p:attrNameLst>
                                      </p:cBhvr>
                                      <p:tavLst>
                                        <p:tav tm="0">
                                          <p:val>
                                            <p:strVal val="1+#ppt_h/2"/>
                                          </p:val>
                                        </p:tav>
                                        <p:tav tm="100000">
                                          <p:val>
                                            <p:strVal val="#ppt_y"/>
                                          </p:val>
                                        </p:tav>
                                      </p:tavLst>
                                    </p:anim>
                                  </p:childTnLst>
                                </p:cTn>
                              </p:par>
                              <p:par>
                                <p:cTn id="71" presetID="2" presetClass="entr" presetSubtype="4" fill="hold" grpId="0" nodeType="withEffect">
                                  <p:stCondLst>
                                    <p:cond delay="0"/>
                                  </p:stCondLst>
                                  <p:childTnLst>
                                    <p:set>
                                      <p:cBhvr>
                                        <p:cTn id="72" dur="1" fill="hold">
                                          <p:stCondLst>
                                            <p:cond delay="0"/>
                                          </p:stCondLst>
                                        </p:cTn>
                                        <p:tgtEl>
                                          <p:spTgt spid="22552"/>
                                        </p:tgtEl>
                                        <p:attrNameLst>
                                          <p:attrName>style.visibility</p:attrName>
                                        </p:attrNameLst>
                                      </p:cBhvr>
                                      <p:to>
                                        <p:strVal val="visible"/>
                                      </p:to>
                                    </p:set>
                                    <p:anim calcmode="lin" valueType="num">
                                      <p:cBhvr additive="base">
                                        <p:cTn id="73" dur="500" fill="hold"/>
                                        <p:tgtEl>
                                          <p:spTgt spid="22552"/>
                                        </p:tgtEl>
                                        <p:attrNameLst>
                                          <p:attrName>ppt_x</p:attrName>
                                        </p:attrNameLst>
                                      </p:cBhvr>
                                      <p:tavLst>
                                        <p:tav tm="0">
                                          <p:val>
                                            <p:strVal val="#ppt_x"/>
                                          </p:val>
                                        </p:tav>
                                        <p:tav tm="100000">
                                          <p:val>
                                            <p:strVal val="#ppt_x"/>
                                          </p:val>
                                        </p:tav>
                                      </p:tavLst>
                                    </p:anim>
                                    <p:anim calcmode="lin" valueType="num">
                                      <p:cBhvr additive="base">
                                        <p:cTn id="74" dur="500" fill="hold"/>
                                        <p:tgtEl>
                                          <p:spTgt spid="22552"/>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22547"/>
                                        </p:tgtEl>
                                        <p:attrNameLst>
                                          <p:attrName>style.visibility</p:attrName>
                                        </p:attrNameLst>
                                      </p:cBhvr>
                                      <p:to>
                                        <p:strVal val="visible"/>
                                      </p:to>
                                    </p:set>
                                    <p:anim calcmode="lin" valueType="num">
                                      <p:cBhvr additive="base">
                                        <p:cTn id="79" dur="500" fill="hold"/>
                                        <p:tgtEl>
                                          <p:spTgt spid="22547"/>
                                        </p:tgtEl>
                                        <p:attrNameLst>
                                          <p:attrName>ppt_x</p:attrName>
                                        </p:attrNameLst>
                                      </p:cBhvr>
                                      <p:tavLst>
                                        <p:tav tm="0">
                                          <p:val>
                                            <p:strVal val="#ppt_x"/>
                                          </p:val>
                                        </p:tav>
                                        <p:tav tm="100000">
                                          <p:val>
                                            <p:strVal val="#ppt_x"/>
                                          </p:val>
                                        </p:tav>
                                      </p:tavLst>
                                    </p:anim>
                                    <p:anim calcmode="lin" valueType="num">
                                      <p:cBhvr additive="base">
                                        <p:cTn id="80" dur="500" fill="hold"/>
                                        <p:tgtEl>
                                          <p:spTgt spid="22547"/>
                                        </p:tgtEl>
                                        <p:attrNameLst>
                                          <p:attrName>ppt_y</p:attrName>
                                        </p:attrNameLst>
                                      </p:cBhvr>
                                      <p:tavLst>
                                        <p:tav tm="0">
                                          <p:val>
                                            <p:strVal val="1+#ppt_h/2"/>
                                          </p:val>
                                        </p:tav>
                                        <p:tav tm="100000">
                                          <p:val>
                                            <p:strVal val="#ppt_y"/>
                                          </p:val>
                                        </p:tav>
                                      </p:tavLst>
                                    </p:anim>
                                  </p:childTnLst>
                                </p:cTn>
                              </p:par>
                              <p:par>
                                <p:cTn id="81" presetID="2" presetClass="entr" presetSubtype="4" fill="hold" grpId="0" nodeType="withEffect">
                                  <p:stCondLst>
                                    <p:cond delay="0"/>
                                  </p:stCondLst>
                                  <p:childTnLst>
                                    <p:set>
                                      <p:cBhvr>
                                        <p:cTn id="82" dur="1" fill="hold">
                                          <p:stCondLst>
                                            <p:cond delay="0"/>
                                          </p:stCondLst>
                                        </p:cTn>
                                        <p:tgtEl>
                                          <p:spTgt spid="22550"/>
                                        </p:tgtEl>
                                        <p:attrNameLst>
                                          <p:attrName>style.visibility</p:attrName>
                                        </p:attrNameLst>
                                      </p:cBhvr>
                                      <p:to>
                                        <p:strVal val="visible"/>
                                      </p:to>
                                    </p:set>
                                    <p:anim calcmode="lin" valueType="num">
                                      <p:cBhvr additive="base">
                                        <p:cTn id="83" dur="500" fill="hold"/>
                                        <p:tgtEl>
                                          <p:spTgt spid="22550"/>
                                        </p:tgtEl>
                                        <p:attrNameLst>
                                          <p:attrName>ppt_x</p:attrName>
                                        </p:attrNameLst>
                                      </p:cBhvr>
                                      <p:tavLst>
                                        <p:tav tm="0">
                                          <p:val>
                                            <p:strVal val="#ppt_x"/>
                                          </p:val>
                                        </p:tav>
                                        <p:tav tm="100000">
                                          <p:val>
                                            <p:strVal val="#ppt_x"/>
                                          </p:val>
                                        </p:tav>
                                      </p:tavLst>
                                    </p:anim>
                                    <p:anim calcmode="lin" valueType="num">
                                      <p:cBhvr additive="base">
                                        <p:cTn id="84" dur="500" fill="hold"/>
                                        <p:tgtEl>
                                          <p:spTgt spid="225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 grpId="0" animBg="1"/>
      <p:bldP spid="22533" grpId="0"/>
      <p:bldP spid="22534" grpId="0" animBg="1"/>
      <p:bldP spid="22535" grpId="0"/>
      <p:bldP spid="22536" grpId="0" animBg="1"/>
      <p:bldP spid="22537" grpId="0"/>
      <p:bldP spid="22538" grpId="0" animBg="1"/>
      <p:bldP spid="22539" grpId="0"/>
      <p:bldP spid="22540" grpId="0" animBg="1"/>
      <p:bldP spid="22541" grpId="0" animBg="1"/>
      <p:bldP spid="22542" grpId="0" animBg="1"/>
      <p:bldP spid="22543" grpId="0" animBg="1"/>
      <p:bldP spid="22544" grpId="0" animBg="1"/>
      <p:bldP spid="22545" grpId="0" animBg="1"/>
      <p:bldP spid="22546" grpId="0"/>
      <p:bldP spid="22547" grpId="0" animBg="1"/>
      <p:bldP spid="22550" grpId="0"/>
      <p:bldP spid="22551" grpId="0"/>
      <p:bldP spid="22552"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3563" name="Rectangle 11"/>
          <p:cNvSpPr/>
          <p:nvPr/>
        </p:nvSpPr>
        <p:spPr bwMode="auto">
          <a:xfrm>
            <a:off x="246380" y="823912"/>
            <a:ext cx="5575300" cy="2306637"/>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switch_eg</a:t>
            </a:r>
            <a:r>
              <a:rPr lang="en-US" sz="1800" b="1" dirty="0">
                <a:solidFill>
                  <a:schemeClr val="tx1"/>
                </a:solidFill>
                <a:latin typeface="Courier New" panose="02070309020205020404" charset="0"/>
                <a:cs typeface="Courier New" panose="02070309020205020404" charset="0"/>
                <a:sym typeface="Courier New Bold" charset="0"/>
              </a:rPr>
              <a:t>(long x, long y, long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w = 1;</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switch(x)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return w;</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18" name="Rectangle 1"/>
          <p:cNvSpPr/>
          <p:nvPr/>
        </p:nvSpPr>
        <p:spPr bwMode="auto">
          <a:xfrm>
            <a:off x="246380" y="3674745"/>
            <a:ext cx="7620000" cy="2159000"/>
          </a:xfrm>
          <a:prstGeom prst="rect">
            <a:avLst/>
          </a:prstGeom>
          <a:noFill/>
          <a:ln w="12700" cap="flat">
            <a:noFill/>
            <a:miter lim="800000"/>
            <a:headEnd type="none" w="med" len="med"/>
            <a:tailEnd type="none" w="med" len="med"/>
          </a:ln>
        </p:spPr>
        <p:txBody>
          <a:bodyPr lIns="38100" tIns="38100" rIns="38100" bIns="38100"/>
          <a:lstStyle/>
          <a:p>
            <a:pPr algn="l">
              <a:tabLst>
                <a:tab pos="342900" algn="l"/>
                <a:tab pos="342900" algn="l"/>
                <a:tab pos="1311275" algn="l"/>
                <a:tab pos="3251200" algn="l"/>
                <a:tab pos="342900" algn="l"/>
                <a:tab pos="3251200" algn="l"/>
                <a:tab pos="342900" algn="l"/>
                <a:tab pos="3251200" algn="l"/>
                <a:tab pos="342900" algn="l"/>
                <a:tab pos="3251200" algn="l"/>
                <a:tab pos="342900" algn="l"/>
                <a:tab pos="3251200" algn="l"/>
                <a:tab pos="342900" algn="l"/>
                <a:tab pos="3251200" algn="l"/>
                <a:tab pos="342900" algn="l"/>
                <a:tab pos="3251200" algn="l"/>
                <a:tab pos="342900" algn="l"/>
                <a:tab pos="3251200" algn="l"/>
                <a:tab pos="342900" algn="l"/>
                <a:tab pos="3251200" algn="l"/>
              </a:tabLst>
            </a:pPr>
            <a:r>
              <a:rPr lang="en-US" sz="1800" b="1" dirty="0" err="1">
                <a:solidFill>
                  <a:schemeClr val="tx1"/>
                </a:solidFill>
                <a:latin typeface="Courier New" panose="02070309020205020404" charset="0"/>
                <a:cs typeface="Courier New" panose="02070309020205020404" charset="0"/>
                <a:sym typeface="Courier New Bold" charset="0"/>
              </a:rPr>
              <a:t>switch_eg</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movq</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rdx</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rcx</a:t>
            </a:r>
            <a:endParaRPr lang="cs-CZ" sz="1800" b="1" dirty="0">
              <a:solidFill>
                <a:schemeClr val="tx1"/>
              </a:solidFill>
              <a:latin typeface="Courier New" panose="02070309020205020404" charset="0"/>
              <a:cs typeface="Courier New" panose="02070309020205020404" charset="0"/>
              <a:sym typeface="Courier New Bold" charset="0"/>
            </a:endParaRPr>
          </a:p>
          <a:p>
            <a:pPr algn="l"/>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cmpq</a:t>
            </a:r>
            <a:r>
              <a:rPr lang="cs-CZ" sz="1800" b="1" dirty="0">
                <a:solidFill>
                  <a:schemeClr val="tx1"/>
                </a:solidFill>
                <a:latin typeface="Courier New" panose="02070309020205020404" charset="0"/>
                <a:cs typeface="Courier New" panose="02070309020205020404" charset="0"/>
                <a:sym typeface="Courier New Bold" charset="0"/>
              </a:rPr>
              <a:t>    $6, %rdi   # x:6</a:t>
            </a:r>
          </a:p>
          <a:p>
            <a:pPr algn="l"/>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ja</a:t>
            </a:r>
            <a:r>
              <a:rPr lang="cs-CZ" sz="1800" b="1" dirty="0">
                <a:solidFill>
                  <a:schemeClr val="tx1"/>
                </a:solidFill>
                <a:latin typeface="Courier New" panose="02070309020205020404" charset="0"/>
                <a:cs typeface="Courier New" panose="02070309020205020404" charset="0"/>
                <a:sym typeface="Courier New Bold" charset="0"/>
              </a:rPr>
              <a:t>      .L8</a:t>
            </a:r>
          </a:p>
          <a:p>
            <a:pPr algn="l"/>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jmp</a:t>
            </a:r>
            <a:r>
              <a:rPr lang="cs-CZ" sz="1800" b="1" dirty="0">
                <a:solidFill>
                  <a:schemeClr val="tx1"/>
                </a:solidFill>
                <a:latin typeface="Courier New" panose="02070309020205020404" charset="0"/>
                <a:cs typeface="Courier New" panose="02070309020205020404" charset="0"/>
                <a:sym typeface="Courier New Bold" charset="0"/>
              </a:rPr>
              <a:t>     *.L4(,%rdi,8)</a:t>
            </a:r>
            <a:endParaRPr lang="en-US" sz="1800" b="1" dirty="0">
              <a:solidFill>
                <a:schemeClr val="tx1"/>
              </a:solidFill>
              <a:latin typeface="Courier New" panose="02070309020205020404" charset="0"/>
              <a:cs typeface="Courier New" panose="02070309020205020404" charset="0"/>
              <a:sym typeface="Courier New Bold" charset="0"/>
            </a:endParaRPr>
          </a:p>
        </p:txBody>
      </p:sp>
      <p:graphicFrame>
        <p:nvGraphicFramePr>
          <p:cNvPr id="12" name="Table 11"/>
          <p:cNvGraphicFramePr>
            <a:graphicFrameLocks noGrp="1"/>
          </p:cNvGraphicFramePr>
          <p:nvPr/>
        </p:nvGraphicFramePr>
        <p:xfrm>
          <a:off x="5036820" y="3509010"/>
          <a:ext cx="3352800" cy="1905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y</a:t>
                      </a:r>
                    </a:p>
                  </a:txBody>
                  <a:tcPr/>
                </a:tc>
                <a:extLst>
                  <a:ext uri="{0D108BD9-81ED-4DB2-BD59-A6C34878D82A}">
                    <a16:rowId xmlns:a16="http://schemas.microsoft.com/office/drawing/2014/main" val="10002"/>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rdx</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z</a:t>
                      </a:r>
                    </a:p>
                  </a:txBody>
                  <a:tcPr/>
                </a:tc>
                <a:extLst>
                  <a:ext uri="{0D108BD9-81ED-4DB2-BD59-A6C34878D82A}">
                    <a16:rowId xmlns:a16="http://schemas.microsoft.com/office/drawing/2014/main" val="10003"/>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b="1" i="0" dirty="0">
                          <a:latin typeface="Courier New" panose="02070309020205020404"/>
                          <a:cs typeface="Courier New" panose="02070309020205020404"/>
                        </a:rPr>
                        <a:t>返回值</a:t>
                      </a:r>
                    </a:p>
                  </a:txBody>
                  <a:tcPr/>
                </a:tc>
                <a:extLst>
                  <a:ext uri="{0D108BD9-81ED-4DB2-BD59-A6C34878D82A}">
                    <a16:rowId xmlns:a16="http://schemas.microsoft.com/office/drawing/2014/main" val="10004"/>
                  </a:ext>
                </a:extLst>
              </a:tr>
            </a:tbl>
          </a:graphicData>
        </a:graphic>
      </p:graphicFrame>
      <p:cxnSp>
        <p:nvCxnSpPr>
          <p:cNvPr id="20" name="Straight Arrow Connector 19"/>
          <p:cNvCxnSpPr/>
          <p:nvPr/>
        </p:nvCxnSpPr>
        <p:spPr bwMode="auto">
          <a:xfrm flipH="1" flipV="1">
            <a:off x="1216025" y="4689475"/>
            <a:ext cx="990600" cy="609600"/>
          </a:xfrm>
          <a:prstGeom prst="straightConnector1">
            <a:avLst/>
          </a:prstGeom>
          <a:solidFill>
            <a:schemeClr val="accent1"/>
          </a:solidFill>
          <a:ln w="25400" cap="flat" cmpd="sng" algn="ctr">
            <a:solidFill>
              <a:srgbClr val="4F81BD"/>
            </a:solidFill>
            <a:prstDash val="solid"/>
            <a:round/>
            <a:headEnd type="none" w="med" len="med"/>
            <a:tailEnd type="arrow"/>
          </a:ln>
          <a:effectLst/>
        </p:spPr>
      </p:cxnSp>
      <p:sp>
        <p:nvSpPr>
          <p:cNvPr id="22" name="TextBox 21"/>
          <p:cNvSpPr txBox="1"/>
          <p:nvPr/>
        </p:nvSpPr>
        <p:spPr>
          <a:xfrm>
            <a:off x="904240" y="5414010"/>
            <a:ext cx="2895600" cy="460375"/>
          </a:xfrm>
          <a:prstGeom prst="rect">
            <a:avLst/>
          </a:prstGeom>
          <a:noFill/>
        </p:spPr>
        <p:txBody>
          <a:bodyPr wrap="square" rtlCol="0">
            <a:spAutoFit/>
          </a:bodyPr>
          <a:lstStyle/>
          <a:p>
            <a:r>
              <a:rPr lang="en-US" sz="2400" dirty="0">
                <a:latin typeface="宋体" panose="02010600030101010101" pitchFamily="2" charset="-122"/>
                <a:ea typeface="宋体" panose="02010600030101010101" pitchFamily="2" charset="-122"/>
              </a:rPr>
              <a:t>默认值是什么范围？</a:t>
            </a:r>
          </a:p>
        </p:txBody>
      </p:sp>
      <p:sp>
        <p:nvSpPr>
          <p:cNvPr id="11" name="TextBox 10"/>
          <p:cNvSpPr txBox="1"/>
          <p:nvPr/>
        </p:nvSpPr>
        <p:spPr>
          <a:xfrm>
            <a:off x="6322060" y="5522595"/>
            <a:ext cx="2209800" cy="1198880"/>
          </a:xfrm>
          <a:prstGeom prst="rect">
            <a:avLst/>
          </a:prstGeom>
          <a:noFill/>
        </p:spPr>
        <p:txBody>
          <a:bodyPr wrap="square" rtlCol="0">
            <a:spAutoFit/>
          </a:bodyPr>
          <a:lstStyle/>
          <a:p>
            <a:pPr algn="l"/>
            <a:r>
              <a:rPr lang="zh-CN" altLang="en-US" sz="2400" dirty="0">
                <a:solidFill>
                  <a:srgbClr val="C00000"/>
                </a:solidFill>
                <a:latin typeface="Calibri" panose="020F0502020204030204" charset="0"/>
              </a:rPr>
              <a:t>注意</a:t>
            </a:r>
            <a:r>
              <a:rPr lang="en-US" altLang="zh-CN" sz="2400" dirty="0">
                <a:solidFill>
                  <a:srgbClr val="C00000"/>
                </a:solidFill>
                <a:latin typeface="Calibri" panose="020F0502020204030204" charset="0"/>
              </a:rPr>
              <a:t>w</a:t>
            </a:r>
            <a:r>
              <a:rPr lang="zh-CN" altLang="en-US" sz="2400" dirty="0">
                <a:solidFill>
                  <a:srgbClr val="C00000"/>
                </a:solidFill>
                <a:latin typeface="Calibri" panose="020F0502020204030204" charset="0"/>
              </a:rPr>
              <a:t>在此处没有初始化寄存器。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additive="base">
                                        <p:cTn id="19" dur="500" fill="hold"/>
                                        <p:tgtEl>
                                          <p:spTgt spid="20"/>
                                        </p:tgtEl>
                                        <p:attrNameLst>
                                          <p:attrName>ppt_x</p:attrName>
                                        </p:attrNameLst>
                                      </p:cBhvr>
                                      <p:tavLst>
                                        <p:tav tm="0">
                                          <p:val>
                                            <p:strVal val="#ppt_x"/>
                                          </p:val>
                                        </p:tav>
                                        <p:tav tm="100000">
                                          <p:val>
                                            <p:strVal val="#ppt_x"/>
                                          </p:val>
                                        </p:tav>
                                      </p:tavLst>
                                    </p:anim>
                                    <p:anim calcmode="lin" valueType="num">
                                      <p:cBhvr additive="base">
                                        <p:cTn id="2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2"/>
                                        </p:tgtEl>
                                        <p:attrNameLst>
                                          <p:attrName>style.visibility</p:attrName>
                                        </p:attrNameLst>
                                      </p:cBhvr>
                                      <p:to>
                                        <p:strVal val="visible"/>
                                      </p:to>
                                    </p:set>
                                    <p:anim calcmode="lin" valueType="num">
                                      <p:cBhvr additive="base">
                                        <p:cTn id="25" dur="500" fill="hold"/>
                                        <p:tgtEl>
                                          <p:spTgt spid="22"/>
                                        </p:tgtEl>
                                        <p:attrNameLst>
                                          <p:attrName>ppt_x</p:attrName>
                                        </p:attrNameLst>
                                      </p:cBhvr>
                                      <p:tavLst>
                                        <p:tav tm="0">
                                          <p:val>
                                            <p:strVal val="#ppt_x"/>
                                          </p:val>
                                        </p:tav>
                                        <p:tav tm="100000">
                                          <p:val>
                                            <p:strVal val="#ppt_x"/>
                                          </p:val>
                                        </p:tav>
                                      </p:tavLst>
                                    </p:anim>
                                    <p:anim calcmode="lin" valueType="num">
                                      <p:cBhvr additive="base">
                                        <p:cTn id="2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22" grpId="0"/>
      <p:bldP spid="11"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3563" name="Rectangle 11"/>
          <p:cNvSpPr/>
          <p:nvPr/>
        </p:nvSpPr>
        <p:spPr bwMode="auto">
          <a:xfrm>
            <a:off x="246380" y="823912"/>
            <a:ext cx="5575300" cy="2306637"/>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switch_eg</a:t>
            </a:r>
            <a:r>
              <a:rPr lang="en-US" sz="1800" b="1" dirty="0">
                <a:solidFill>
                  <a:schemeClr val="tx1"/>
                </a:solidFill>
                <a:latin typeface="Courier New" panose="02070309020205020404" charset="0"/>
                <a:cs typeface="Courier New" panose="02070309020205020404" charset="0"/>
                <a:sym typeface="Courier New Bold" charset="0"/>
              </a:rPr>
              <a:t>(long x, long y, long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w = 1;</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switch(x)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return w;</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4581" name="Rectangle 5"/>
          <p:cNvSpPr/>
          <p:nvPr/>
        </p:nvSpPr>
        <p:spPr bwMode="auto">
          <a:xfrm>
            <a:off x="469900" y="4826000"/>
            <a:ext cx="533400" cy="629920"/>
          </a:xfrm>
          <a:prstGeom prst="rect">
            <a:avLst/>
          </a:prstGeom>
          <a:noFill/>
          <a:ln w="12700" cap="rnd">
            <a:noFill/>
            <a:round/>
            <a:headEnd type="none" w="med" len="med"/>
            <a:tailEnd type="none" w="med" len="med"/>
          </a:ln>
        </p:spPr>
        <p:txBody>
          <a:bodyPr wrap="none" lIns="38100" tIns="38100" rIns="38100" bIns="38100">
            <a:spAutoFit/>
          </a:bodyPr>
          <a:lstStyle/>
          <a:p>
            <a:r>
              <a:rPr lang="zh-CN" altLang="en-US" sz="1800" dirty="0">
                <a:solidFill>
                  <a:srgbClr val="C00000"/>
                </a:solidFill>
                <a:latin typeface="Calibri Bold Italic" charset="0"/>
                <a:ea typeface="Calibri Bold Italic" charset="0"/>
                <a:cs typeface="Calibri Bold Italic" charset="0"/>
                <a:sym typeface="Calibri Bold Italic" charset="0"/>
              </a:rPr>
              <a:t>间接</a:t>
            </a:r>
          </a:p>
          <a:p>
            <a:r>
              <a:rPr lang="zh-CN" altLang="en-US" sz="1800" dirty="0">
                <a:solidFill>
                  <a:srgbClr val="C00000"/>
                </a:solidFill>
                <a:latin typeface="Calibri Bold Italic" charset="0"/>
                <a:ea typeface="Calibri Bold Italic" charset="0"/>
                <a:cs typeface="Calibri Bold Italic" charset="0"/>
                <a:sym typeface="Calibri Bold Italic" charset="0"/>
              </a:rPr>
              <a:t>跳转</a:t>
            </a:r>
          </a:p>
        </p:txBody>
      </p:sp>
      <p:sp>
        <p:nvSpPr>
          <p:cNvPr id="24582" name="AutoShape 6"/>
          <p:cNvSpPr/>
          <p:nvPr/>
        </p:nvSpPr>
        <p:spPr bwMode="auto">
          <a:xfrm>
            <a:off x="1066800" y="5080000"/>
            <a:ext cx="631825" cy="381000"/>
          </a:xfrm>
          <a:prstGeom prst="rightArrow">
            <a:avLst>
              <a:gd name="adj1" fmla="val 50000"/>
              <a:gd name="adj2" fmla="val 50019"/>
            </a:avLst>
          </a:prstGeom>
          <a:solidFill>
            <a:srgbClr val="C00000"/>
          </a:solidFill>
          <a:ln w="25400" cap="flat">
            <a:noFill/>
            <a:round/>
            <a:headEnd type="none" w="med" len="med"/>
            <a:tailEnd type="triangle" w="med" len="med"/>
          </a:ln>
        </p:spPr>
        <p:txBody>
          <a:bodyPr lIns="0" tIns="0" rIns="0" bIns="0"/>
          <a:lstStyle/>
          <a:p>
            <a:endParaRPr lang="en-US"/>
          </a:p>
        </p:txBody>
      </p:sp>
      <p:sp>
        <p:nvSpPr>
          <p:cNvPr id="24586" name="Rectangle 10"/>
          <p:cNvSpPr/>
          <p:nvPr/>
        </p:nvSpPr>
        <p:spPr bwMode="auto">
          <a:xfrm>
            <a:off x="393700" y="3587750"/>
            <a:ext cx="3454400" cy="381000"/>
          </a:xfrm>
          <a:prstGeom prst="rect">
            <a:avLst/>
          </a:prstGeom>
          <a:noFill/>
          <a:ln w="12700" cap="flat">
            <a:noFill/>
            <a:miter lim="800000"/>
            <a:headEnd type="none" w="med" len="med"/>
            <a:tailEnd type="none" w="med" len="med"/>
          </a:ln>
        </p:spPr>
        <p:txBody>
          <a:bodyPr lIns="0" tIns="0" rIns="0" bIns="0"/>
          <a:lstStyle/>
          <a:p>
            <a:pPr marL="224155" indent="-224155" algn="l">
              <a:spcBef>
                <a:spcPts val="640"/>
              </a:spcBef>
            </a:pPr>
            <a:r>
              <a:rPr lang="en-US" sz="2000">
                <a:solidFill>
                  <a:schemeClr val="tx1"/>
                </a:solidFill>
                <a:latin typeface="Calibri Bold" charset="0"/>
                <a:ea typeface="Calibri Bold" charset="0"/>
                <a:cs typeface="Calibri Bold" charset="0"/>
                <a:sym typeface="Calibri Bold" charset="0"/>
              </a:rPr>
              <a:t>Setup:</a:t>
            </a:r>
          </a:p>
        </p:txBody>
      </p:sp>
      <p:sp>
        <p:nvSpPr>
          <p:cNvPr id="2" name="Rectangle 1"/>
          <p:cNvSpPr/>
          <p:nvPr/>
        </p:nvSpPr>
        <p:spPr bwMode="auto">
          <a:xfrm>
            <a:off x="1143000" y="4013200"/>
            <a:ext cx="5867400" cy="2082800"/>
          </a:xfrm>
          <a:prstGeom prst="rect">
            <a:avLst/>
          </a:prstGeom>
          <a:noFill/>
          <a:ln w="12700" cap="flat">
            <a:noFill/>
            <a:miter lim="800000"/>
            <a:headEnd type="none" w="med" len="med"/>
            <a:tailEnd type="none" w="med" len="med"/>
          </a:ln>
        </p:spPr>
        <p:txBody>
          <a:bodyPr lIns="38100" tIns="38100" rIns="38100" bIns="38100"/>
          <a:lstStyle/>
          <a:p>
            <a:pPr algn="l">
              <a:tabLst>
                <a:tab pos="342900" algn="l"/>
                <a:tab pos="342900" algn="l"/>
                <a:tab pos="1311275" algn="l"/>
                <a:tab pos="3251200" algn="l"/>
                <a:tab pos="342900" algn="l"/>
                <a:tab pos="3251200" algn="l"/>
                <a:tab pos="342900" algn="l"/>
                <a:tab pos="3251200" algn="l"/>
                <a:tab pos="342900" algn="l"/>
                <a:tab pos="3251200" algn="l"/>
                <a:tab pos="342900" algn="l"/>
                <a:tab pos="3251200" algn="l"/>
                <a:tab pos="342900" algn="l"/>
                <a:tab pos="3251200" algn="l"/>
                <a:tab pos="342900" algn="l"/>
                <a:tab pos="3251200" algn="l"/>
                <a:tab pos="342900" algn="l"/>
                <a:tab pos="3251200" algn="l"/>
                <a:tab pos="342900" algn="l"/>
                <a:tab pos="3251200" algn="l"/>
              </a:tabLst>
            </a:pPr>
            <a:r>
              <a:rPr lang="en-US" sz="1800" b="1" dirty="0" err="1">
                <a:solidFill>
                  <a:schemeClr val="tx1"/>
                </a:solidFill>
                <a:latin typeface="Courier New" panose="02070309020205020404" charset="0"/>
                <a:cs typeface="Courier New" panose="02070309020205020404" charset="0"/>
                <a:sym typeface="Courier New Bold" charset="0"/>
              </a:rPr>
              <a:t>switch_eg</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movq</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rdx</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rcx</a:t>
            </a:r>
            <a:endParaRPr lang="cs-CZ" sz="1800" b="1" dirty="0">
              <a:solidFill>
                <a:schemeClr val="tx1"/>
              </a:solidFill>
              <a:latin typeface="Courier New" panose="02070309020205020404" charset="0"/>
              <a:cs typeface="Courier New" panose="02070309020205020404" charset="0"/>
              <a:sym typeface="Courier New Bold" charset="0"/>
            </a:endParaRPr>
          </a:p>
          <a:p>
            <a:pPr algn="l"/>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cmpq</a:t>
            </a:r>
            <a:r>
              <a:rPr lang="cs-CZ" sz="1800" b="1" dirty="0">
                <a:solidFill>
                  <a:schemeClr val="tx1"/>
                </a:solidFill>
                <a:latin typeface="Courier New" panose="02070309020205020404" charset="0"/>
                <a:cs typeface="Courier New" panose="02070309020205020404" charset="0"/>
                <a:sym typeface="Courier New Bold" charset="0"/>
              </a:rPr>
              <a:t>    $6, %rdi      # x:6</a:t>
            </a:r>
          </a:p>
          <a:p>
            <a:pPr algn="l"/>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ja</a:t>
            </a:r>
            <a:r>
              <a:rPr lang="cs-CZ" sz="1800" b="1" dirty="0">
                <a:solidFill>
                  <a:schemeClr val="tx1"/>
                </a:solidFill>
                <a:latin typeface="Courier New" panose="02070309020205020404" charset="0"/>
                <a:cs typeface="Courier New" panose="02070309020205020404" charset="0"/>
                <a:sym typeface="Courier New Bold" charset="0"/>
              </a:rPr>
              <a:t>      .L8           # Use default</a:t>
            </a:r>
          </a:p>
          <a:p>
            <a:pPr algn="l"/>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jmp</a:t>
            </a:r>
            <a:r>
              <a:rPr lang="cs-CZ" sz="1800" b="1" dirty="0">
                <a:solidFill>
                  <a:schemeClr val="tx1"/>
                </a:solidFill>
                <a:latin typeface="Courier New" panose="02070309020205020404" charset="0"/>
                <a:cs typeface="Courier New" panose="02070309020205020404" charset="0"/>
                <a:sym typeface="Courier New Bold" charset="0"/>
              </a:rPr>
              <a:t>     *.L4(,%rdi,8) # </a:t>
            </a:r>
            <a:r>
              <a:rPr lang="cs-CZ" sz="1800" b="1" dirty="0" err="1">
                <a:solidFill>
                  <a:schemeClr val="tx1"/>
                </a:solidFill>
                <a:latin typeface="Courier New" panose="02070309020205020404" charset="0"/>
                <a:cs typeface="Courier New" panose="02070309020205020404" charset="0"/>
                <a:sym typeface="Courier New Bold" charset="0"/>
              </a:rPr>
              <a:t>goto</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JTab</a:t>
            </a:r>
            <a:r>
              <a:rPr lang="cs-CZ" sz="1800" b="1" dirty="0">
                <a:solidFill>
                  <a:schemeClr val="tx1"/>
                </a:solidFill>
                <a:latin typeface="Courier New" panose="02070309020205020404" charset="0"/>
                <a:cs typeface="Courier New" panose="02070309020205020404" charset="0"/>
                <a:sym typeface="Courier New Bold" charset="0"/>
              </a:rPr>
              <a:t>[</a:t>
            </a:r>
            <a:r>
              <a:rPr lang="cs-CZ" sz="1800" b="1" dirty="0" err="1">
                <a:solidFill>
                  <a:schemeClr val="tx1"/>
                </a:solidFill>
                <a:latin typeface="Courier New" panose="02070309020205020404" charset="0"/>
                <a:cs typeface="Courier New" panose="02070309020205020404" charset="0"/>
                <a:sym typeface="Courier New Bold" charset="0"/>
              </a:rPr>
              <a:t>x</a:t>
            </a:r>
            <a:r>
              <a:rPr lang="cs-CZ" sz="1800" b="1" dirty="0">
                <a:solidFill>
                  <a:schemeClr val="tx1"/>
                </a:solidFill>
                <a:latin typeface="Courier New" panose="02070309020205020404" charset="0"/>
                <a:cs typeface="Courier New" panose="02070309020205020404" charset="0"/>
                <a:sym typeface="Courier New Bold" charset="0"/>
              </a:rPr>
              <a:t>]</a:t>
            </a: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24584" name="Rectangle 8"/>
          <p:cNvSpPr/>
          <p:nvPr/>
        </p:nvSpPr>
        <p:spPr bwMode="auto">
          <a:xfrm>
            <a:off x="6142990" y="2286000"/>
            <a:ext cx="2832100" cy="2286000"/>
          </a:xfrm>
          <a:prstGeom prst="rect">
            <a:avLst/>
          </a:prstGeom>
          <a:solidFill>
            <a:srgbClr val="D6D6F4"/>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.section	.</a:t>
            </a:r>
            <a:r>
              <a:rPr lang="en-US" sz="1400" b="1" dirty="0" err="1">
                <a:solidFill>
                  <a:schemeClr val="tx1"/>
                </a:solidFill>
                <a:latin typeface="Courier New" panose="02070309020205020404" charset="0"/>
                <a:cs typeface="Courier New" panose="02070309020205020404" charset="0"/>
                <a:sym typeface="Courier New Bold" charset="0"/>
              </a:rPr>
              <a:t>rodata</a:t>
            </a:r>
            <a:endParaRPr lang="en-US" sz="1400" b="1" dirty="0">
              <a:solidFill>
                <a:schemeClr val="tx1"/>
              </a:solidFill>
              <a:latin typeface="Courier New" panose="02070309020205020404" charset="0"/>
              <a:cs typeface="Courier New" panose="02070309020205020404" charset="0"/>
              <a:sym typeface="Courier New Bold" charset="0"/>
            </a:endParaRP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.align 8</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.L4:</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.L8	# x = 0</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.L3	# x = 1</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.L5	# x = 2</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.L9	# x = 3</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.L8	# x = 4</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.L7	# x = 5</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.L7	# x = 6</a:t>
            </a:r>
            <a:endParaRPr lang="en-US" sz="1400" b="1" dirty="0">
              <a:solidFill>
                <a:schemeClr val="tx1"/>
              </a:solidFill>
              <a:latin typeface="Courier New" panose="02070309020205020404" charset="0"/>
              <a:ea typeface="Monaco" charset="0"/>
              <a:cs typeface="Courier New" panose="02070309020205020404" charset="0"/>
              <a:sym typeface="Courier New Bold" charset="0"/>
            </a:endParaRPr>
          </a:p>
        </p:txBody>
      </p:sp>
      <p:sp>
        <p:nvSpPr>
          <p:cNvPr id="24583" name="Rectangle 7"/>
          <p:cNvSpPr/>
          <p:nvPr/>
        </p:nvSpPr>
        <p:spPr bwMode="auto">
          <a:xfrm>
            <a:off x="6172200" y="1866900"/>
            <a:ext cx="838200" cy="383540"/>
          </a:xfrm>
          <a:prstGeom prst="rect">
            <a:avLst/>
          </a:prstGeom>
          <a:noFill/>
          <a:ln w="12700" cap="rnd">
            <a:noFill/>
            <a:round/>
            <a:headEnd type="none" w="med" len="med"/>
            <a:tailEnd type="none" w="med" len="med"/>
          </a:ln>
        </p:spPr>
        <p:txBody>
          <a:bodyPr wrap="none" lIns="38100" tIns="38100" rIns="38100" bIns="38100">
            <a:spAutoFit/>
          </a:bodyPr>
          <a:lstStyle/>
          <a:p>
            <a:r>
              <a:rPr lang="zh-CN" altLang="en-US" sz="2000" dirty="0">
                <a:solidFill>
                  <a:schemeClr val="tx1"/>
                </a:solidFill>
                <a:latin typeface="Calibri Bold" charset="0"/>
                <a:ea typeface="Calibri Bold" charset="0"/>
                <a:cs typeface="Calibri Bold" charset="0"/>
                <a:sym typeface="Calibri Bold" charset="0"/>
              </a:rPr>
              <a:t>跳转表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582"/>
                                        </p:tgtEl>
                                        <p:attrNameLst>
                                          <p:attrName>style.visibility</p:attrName>
                                        </p:attrNameLst>
                                      </p:cBhvr>
                                      <p:to>
                                        <p:strVal val="visible"/>
                                      </p:to>
                                    </p:set>
                                    <p:anim calcmode="lin" valueType="num">
                                      <p:cBhvr additive="base">
                                        <p:cTn id="7" dur="500" fill="hold"/>
                                        <p:tgtEl>
                                          <p:spTgt spid="24582"/>
                                        </p:tgtEl>
                                        <p:attrNameLst>
                                          <p:attrName>ppt_x</p:attrName>
                                        </p:attrNameLst>
                                      </p:cBhvr>
                                      <p:tavLst>
                                        <p:tav tm="0">
                                          <p:val>
                                            <p:strVal val="#ppt_x"/>
                                          </p:val>
                                        </p:tav>
                                        <p:tav tm="100000">
                                          <p:val>
                                            <p:strVal val="#ppt_x"/>
                                          </p:val>
                                        </p:tav>
                                      </p:tavLst>
                                    </p:anim>
                                    <p:anim calcmode="lin" valueType="num">
                                      <p:cBhvr additive="base">
                                        <p:cTn id="8" dur="500" fill="hold"/>
                                        <p:tgtEl>
                                          <p:spTgt spid="2458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4581"/>
                                        </p:tgtEl>
                                        <p:attrNameLst>
                                          <p:attrName>style.visibility</p:attrName>
                                        </p:attrNameLst>
                                      </p:cBhvr>
                                      <p:to>
                                        <p:strVal val="visible"/>
                                      </p:to>
                                    </p:set>
                                    <p:anim calcmode="lin" valueType="num">
                                      <p:cBhvr additive="base">
                                        <p:cTn id="11" dur="500" fill="hold"/>
                                        <p:tgtEl>
                                          <p:spTgt spid="24581"/>
                                        </p:tgtEl>
                                        <p:attrNameLst>
                                          <p:attrName>ppt_x</p:attrName>
                                        </p:attrNameLst>
                                      </p:cBhvr>
                                      <p:tavLst>
                                        <p:tav tm="0">
                                          <p:val>
                                            <p:strVal val="#ppt_x"/>
                                          </p:val>
                                        </p:tav>
                                        <p:tav tm="100000">
                                          <p:val>
                                            <p:strVal val="#ppt_x"/>
                                          </p:val>
                                        </p:tav>
                                      </p:tavLst>
                                    </p:anim>
                                    <p:anim calcmode="lin" valueType="num">
                                      <p:cBhvr additive="base">
                                        <p:cTn id="12" dur="500" fill="hold"/>
                                        <p:tgtEl>
                                          <p:spTgt spid="245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P spid="24582" grpId="0"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五边形 1"/>
          <p:cNvSpPr/>
          <p:nvPr/>
        </p:nvSpPr>
        <p:spPr>
          <a:xfrm>
            <a:off x="-25400" y="295275"/>
            <a:ext cx="3584575" cy="64135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5604" name="Rectangle 4"/>
          <p:cNvSpPr>
            <a:spLocks noGrp="1" noChangeArrowheads="1"/>
          </p:cNvSpPr>
          <p:nvPr/>
        </p:nvSpPr>
        <p:spPr>
          <a:xfrm>
            <a:off x="196850" y="986790"/>
            <a:ext cx="8382000" cy="5156200"/>
          </a:xfrm>
          <a:prstGeom prst="rect">
            <a:avLst/>
          </a:prstGeom>
        </p:spPr>
        <p:txBody>
          <a:bodyPr/>
          <a:lstStyle>
            <a:lvl1pPr marL="342900" indent="-342900" algn="l" rtl="0" fontAlgn="base">
              <a:spcBef>
                <a:spcPts val="600"/>
              </a:spcBef>
              <a:spcAft>
                <a:spcPct val="0"/>
              </a:spcAft>
              <a:buClr>
                <a:srgbClr val="990000"/>
              </a:buClr>
              <a:buSzPct val="60000"/>
              <a:buFont typeface="Wingdings 2" panose="05020102010507070707" pitchFamily="18"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F4B183"/>
              </a:buClr>
            </a:pPr>
            <a:r>
              <a:rPr lang="zh-CN" altLang="en-US" dirty="0"/>
              <a:t>表结构</a:t>
            </a:r>
          </a:p>
          <a:p>
            <a:pPr marL="552450" lvl="1">
              <a:buClr>
                <a:srgbClr val="F4B183"/>
              </a:buClr>
            </a:pPr>
            <a:r>
              <a:rPr lang="en-US" dirty="0">
                <a:highlight>
                  <a:srgbClr val="FFFF00"/>
                </a:highlight>
              </a:rPr>
              <a:t>每个目标需要8字节。</a:t>
            </a:r>
          </a:p>
          <a:p>
            <a:pPr marL="552450" lvl="1">
              <a:buClr>
                <a:srgbClr val="F4B183"/>
              </a:buClr>
            </a:pPr>
            <a:r>
              <a:rPr lang="en-US" dirty="0"/>
              <a:t>基址在 </a:t>
            </a:r>
            <a:r>
              <a:rPr lang="en-US" dirty="0">
                <a:sym typeface="Courier New Bold" charset="0"/>
              </a:rPr>
              <a:t>.L4</a:t>
            </a:r>
            <a:endParaRPr lang="en-US" dirty="0"/>
          </a:p>
          <a:p>
            <a:pPr>
              <a:buClr>
                <a:srgbClr val="F4B183"/>
              </a:buClr>
            </a:pPr>
            <a:r>
              <a:rPr lang="zh-CN" altLang="en-US" dirty="0"/>
              <a:t>跳转</a:t>
            </a:r>
          </a:p>
          <a:p>
            <a:pPr marL="552450" lvl="1">
              <a:buClr>
                <a:srgbClr val="F4B183"/>
              </a:buClr>
            </a:pPr>
            <a:r>
              <a:rPr lang="zh-CN" altLang="en-US" dirty="0">
                <a:solidFill>
                  <a:srgbClr val="980002"/>
                </a:solidFill>
                <a:latin typeface="Calibri Bold" charset="0"/>
                <a:ea typeface="宋体" panose="02010600030101010101" pitchFamily="2" charset="-122"/>
                <a:cs typeface="Calibri Bold" charset="0"/>
                <a:sym typeface="Calibri Bold" charset="0"/>
              </a:rPr>
              <a:t>直接</a:t>
            </a:r>
            <a:r>
              <a:rPr lang="en-US" dirty="0">
                <a:solidFill>
                  <a:srgbClr val="980002"/>
                </a:solidFill>
                <a:latin typeface="Calibri Bold" charset="0"/>
                <a:ea typeface="Calibri Bold" charset="0"/>
                <a:cs typeface="Calibri Bold" charset="0"/>
                <a:sym typeface="Calibri Bold" charset="0"/>
              </a:rPr>
              <a:t>:</a:t>
            </a:r>
            <a:r>
              <a:rPr lang="en-US" dirty="0"/>
              <a:t> </a:t>
            </a:r>
            <a:r>
              <a:rPr lang="en-US" b="1" dirty="0" err="1">
                <a:latin typeface="Courier New" panose="02070309020205020404" charset="0"/>
                <a:cs typeface="Courier New" panose="02070309020205020404" charset="0"/>
                <a:sym typeface="Courier New Bold" charset="0"/>
              </a:rPr>
              <a:t>jmp</a:t>
            </a:r>
            <a:r>
              <a:rPr lang="en-US" b="1" dirty="0">
                <a:latin typeface="Courier New" panose="02070309020205020404" charset="0"/>
                <a:cs typeface="Courier New" panose="02070309020205020404" charset="0"/>
                <a:sym typeface="Courier New Bold" charset="0"/>
              </a:rPr>
              <a:t> .L8</a:t>
            </a:r>
            <a:endParaRPr lang="en-US" b="1" dirty="0">
              <a:latin typeface="Courier New" panose="02070309020205020404" charset="0"/>
              <a:cs typeface="Courier New" panose="02070309020205020404" charset="0"/>
            </a:endParaRPr>
          </a:p>
          <a:p>
            <a:pPr marL="552450" lvl="1">
              <a:buClr>
                <a:srgbClr val="F4B183"/>
              </a:buClr>
            </a:pPr>
            <a:r>
              <a:rPr lang="en-US" dirty="0"/>
              <a:t>跳转目标用标签</a:t>
            </a:r>
            <a:r>
              <a:rPr lang="en-US" dirty="0">
                <a:latin typeface="Courier New Bold" charset="0"/>
                <a:cs typeface="Courier New Bold" charset="0"/>
                <a:sym typeface="Courier New Bold" charset="0"/>
              </a:rPr>
              <a:t>.L8</a:t>
            </a:r>
            <a:endParaRPr lang="en-US" dirty="0"/>
          </a:p>
          <a:p>
            <a:pPr marL="552450" lvl="1"/>
            <a:endParaRPr lang="en-US" dirty="0"/>
          </a:p>
          <a:p>
            <a:pPr marL="552450" lvl="1">
              <a:buClr>
                <a:srgbClr val="F4B183"/>
              </a:buClr>
            </a:pPr>
            <a:r>
              <a:rPr lang="zh-CN" altLang="en-US" dirty="0">
                <a:solidFill>
                  <a:srgbClr val="980002"/>
                </a:solidFill>
                <a:latin typeface="Calibri Bold" charset="0"/>
                <a:ea typeface="宋体" panose="02010600030101010101" pitchFamily="2" charset="-122"/>
                <a:cs typeface="Calibri Bold" charset="0"/>
                <a:sym typeface="Calibri Bold" charset="0"/>
              </a:rPr>
              <a:t>间接</a:t>
            </a:r>
            <a:r>
              <a:rPr lang="en-US" dirty="0">
                <a:solidFill>
                  <a:srgbClr val="980002"/>
                </a:solidFill>
                <a:latin typeface="Calibri Bold" charset="0"/>
                <a:ea typeface="Calibri Bold" charset="0"/>
                <a:cs typeface="Calibri Bold" charset="0"/>
                <a:sym typeface="Calibri Bold" charset="0"/>
              </a:rPr>
              <a:t>:</a:t>
            </a:r>
            <a:r>
              <a:rPr lang="en-US" dirty="0"/>
              <a:t> </a:t>
            </a:r>
            <a:r>
              <a:rPr lang="en-US" b="1" dirty="0" err="1">
                <a:latin typeface="Courier New" panose="02070309020205020404" charset="0"/>
                <a:cs typeface="Courier New" panose="02070309020205020404" charset="0"/>
                <a:sym typeface="Courier New Bold" charset="0"/>
              </a:rPr>
              <a:t>jmp</a:t>
            </a:r>
            <a:r>
              <a:rPr lang="en-US" b="1" dirty="0">
                <a:latin typeface="Courier New" panose="02070309020205020404" charset="0"/>
                <a:cs typeface="Courier New" panose="02070309020205020404" charset="0"/>
                <a:sym typeface="Courier New Bold" charset="0"/>
              </a:rPr>
              <a:t> *.L4(,%rdi,8)</a:t>
            </a:r>
            <a:endParaRPr lang="en-US" b="1" dirty="0">
              <a:latin typeface="Courier New" panose="02070309020205020404" charset="0"/>
              <a:cs typeface="Courier New" panose="02070309020205020404" charset="0"/>
            </a:endParaRPr>
          </a:p>
          <a:p>
            <a:pPr marL="552450" lvl="1">
              <a:buClr>
                <a:srgbClr val="F4B183"/>
              </a:buClr>
            </a:pPr>
            <a:r>
              <a:rPr lang="zh-CN" altLang="en-US" dirty="0">
                <a:ea typeface="宋体" panose="02010600030101010101" pitchFamily="2" charset="-122"/>
              </a:rPr>
              <a:t>跳转表的开始</a:t>
            </a:r>
            <a:r>
              <a:rPr lang="en-US" dirty="0"/>
              <a:t>: </a:t>
            </a:r>
            <a:r>
              <a:rPr lang="en-US" dirty="0">
                <a:latin typeface="Courier New Bold" charset="0"/>
                <a:cs typeface="Courier New Bold" charset="0"/>
                <a:sym typeface="Courier New Bold" charset="0"/>
              </a:rPr>
              <a:t>.L4</a:t>
            </a:r>
            <a:endParaRPr lang="en-US" dirty="0"/>
          </a:p>
          <a:p>
            <a:pPr marL="552450" lvl="1">
              <a:buClr>
                <a:srgbClr val="F4B183"/>
              </a:buClr>
            </a:pPr>
            <a:r>
              <a:rPr lang="en-US" dirty="0"/>
              <a:t>必须按8的比例缩放（地址是8字节）</a:t>
            </a:r>
          </a:p>
          <a:p>
            <a:pPr marL="552450" lvl="1">
              <a:buClr>
                <a:srgbClr val="F4B183"/>
              </a:buClr>
            </a:pPr>
            <a:r>
              <a:rPr lang="en-US" dirty="0"/>
              <a:t>从有效地址中获取目标 </a:t>
            </a:r>
            <a:r>
              <a:rPr lang="en-US" dirty="0">
                <a:latin typeface="Courier New Bold" charset="0"/>
                <a:cs typeface="Courier New Bold" charset="0"/>
                <a:sym typeface="Courier New Bold" charset="0"/>
              </a:rPr>
              <a:t>.L4 + x*8</a:t>
            </a:r>
            <a:endParaRPr lang="en-US" dirty="0"/>
          </a:p>
          <a:p>
            <a:pPr marL="838200" lvl="2">
              <a:buClr>
                <a:srgbClr val="F4B183"/>
              </a:buClr>
            </a:pPr>
            <a:r>
              <a:rPr lang="en-US" dirty="0"/>
              <a:t>Only for  0 ≤ </a:t>
            </a:r>
            <a:r>
              <a:rPr lang="en-US" dirty="0">
                <a:latin typeface="Courier New Bold" charset="0"/>
                <a:cs typeface="Courier New Bold" charset="0"/>
                <a:sym typeface="Courier New Bold" charset="0"/>
              </a:rPr>
              <a:t>x</a:t>
            </a:r>
            <a:r>
              <a:rPr lang="en-US" dirty="0"/>
              <a:t> ≤ 6</a:t>
            </a:r>
          </a:p>
        </p:txBody>
      </p:sp>
      <p:sp>
        <p:nvSpPr>
          <p:cNvPr id="25606" name="Rectangle 6"/>
          <p:cNvSpPr/>
          <p:nvPr/>
        </p:nvSpPr>
        <p:spPr bwMode="auto">
          <a:xfrm>
            <a:off x="5276850" y="1261428"/>
            <a:ext cx="838200" cy="383540"/>
          </a:xfrm>
          <a:prstGeom prst="rect">
            <a:avLst/>
          </a:prstGeom>
          <a:noFill/>
          <a:ln w="12700" cap="rnd">
            <a:noFill/>
            <a:round/>
            <a:headEnd type="none" w="med" len="med"/>
            <a:tailEnd type="none" w="med" len="med"/>
          </a:ln>
        </p:spPr>
        <p:txBody>
          <a:bodyPr wrap="none" lIns="38100" tIns="38100" rIns="38100" bIns="38100">
            <a:spAutoFit/>
          </a:bodyPr>
          <a:lstStyle/>
          <a:p>
            <a:r>
              <a:rPr lang="zh-CN" altLang="en-US" sz="2000">
                <a:solidFill>
                  <a:schemeClr val="tx1"/>
                </a:solidFill>
                <a:latin typeface="Calibri Bold" charset="0"/>
                <a:ea typeface="宋体" panose="02010600030101010101" pitchFamily="2" charset="-122"/>
                <a:cs typeface="Calibri Bold" charset="0"/>
                <a:sym typeface="Calibri Bold" charset="0"/>
              </a:rPr>
              <a:t>跳转表</a:t>
            </a:r>
          </a:p>
        </p:txBody>
      </p:sp>
      <p:sp>
        <p:nvSpPr>
          <p:cNvPr id="9" name="Rectangle 8"/>
          <p:cNvSpPr/>
          <p:nvPr/>
        </p:nvSpPr>
        <p:spPr bwMode="auto">
          <a:xfrm>
            <a:off x="5302250" y="1672590"/>
            <a:ext cx="2832100" cy="2286000"/>
          </a:xfrm>
          <a:prstGeom prst="rect">
            <a:avLst/>
          </a:prstGeom>
          <a:solidFill>
            <a:srgbClr val="D6D6F4"/>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.section	.</a:t>
            </a:r>
            <a:r>
              <a:rPr lang="en-US" sz="1400" b="1" dirty="0" err="1">
                <a:solidFill>
                  <a:schemeClr val="tx1"/>
                </a:solidFill>
                <a:latin typeface="Courier New" panose="02070309020205020404" charset="0"/>
                <a:cs typeface="Courier New" panose="02070309020205020404" charset="0"/>
                <a:sym typeface="Courier New Bold" charset="0"/>
              </a:rPr>
              <a:t>rodata</a:t>
            </a:r>
            <a:endParaRPr lang="en-US" sz="1400" b="1" dirty="0">
              <a:solidFill>
                <a:schemeClr val="tx1"/>
              </a:solidFill>
              <a:latin typeface="Courier New" panose="02070309020205020404" charset="0"/>
              <a:cs typeface="Courier New" panose="02070309020205020404" charset="0"/>
              <a:sym typeface="Courier New Bold" charset="0"/>
            </a:endParaRP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.align 8</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.L4:</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.L8	# x = 0</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.L3	# x = 1</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.L5	# x = 2</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.L9	# x = 3</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.L8	# x = 4</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.L7	# x = 5</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.L7	# x = 6</a:t>
            </a:r>
            <a:endParaRPr lang="en-US" sz="1400" b="1" dirty="0">
              <a:solidFill>
                <a:schemeClr val="tx1"/>
              </a:solidFill>
              <a:latin typeface="Courier New" panose="02070309020205020404" charset="0"/>
              <a:ea typeface="Monaco" charset="0"/>
              <a:cs typeface="Courier New" panose="02070309020205020404" charset="0"/>
              <a:sym typeface="Courier New Bold" charset="0"/>
            </a:endParaRPr>
          </a:p>
        </p:txBody>
      </p:sp>
      <p:sp>
        <p:nvSpPr>
          <p:cNvPr id="25603" name="Rectangle 3"/>
          <p:cNvSpPr>
            <a:spLocks noGrp="1" noChangeArrowheads="1"/>
          </p:cNvSpPr>
          <p:nvPr/>
        </p:nvSpPr>
        <p:spPr>
          <a:xfrm>
            <a:off x="91440" y="4445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zh-CN" altLang="en-US" sz="3200" dirty="0">
                <a:solidFill>
                  <a:schemeClr val="bg1"/>
                </a:solidFill>
              </a:rPr>
              <a:t>汇编结果说明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604">
                                            <p:txEl>
                                              <p:pRg st="1" end="1"/>
                                            </p:txEl>
                                          </p:spTgt>
                                        </p:tgtEl>
                                        <p:attrNameLst>
                                          <p:attrName>style.visibility</p:attrName>
                                        </p:attrNameLst>
                                      </p:cBhvr>
                                      <p:to>
                                        <p:strVal val="visible"/>
                                      </p:to>
                                    </p:set>
                                    <p:anim calcmode="lin" valueType="num">
                                      <p:cBhvr additive="base">
                                        <p:cTn id="7" dur="500" fill="hold"/>
                                        <p:tgtEl>
                                          <p:spTgt spid="2560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604">
                                            <p:txEl>
                                              <p:pRg st="2" end="2"/>
                                            </p:txEl>
                                          </p:spTgt>
                                        </p:tgtEl>
                                        <p:attrNameLst>
                                          <p:attrName>style.visibility</p:attrName>
                                        </p:attrNameLst>
                                      </p:cBhvr>
                                      <p:to>
                                        <p:strVal val="visible"/>
                                      </p:to>
                                    </p:set>
                                    <p:anim calcmode="lin" valueType="num">
                                      <p:cBhvr additive="base">
                                        <p:cTn id="11" dur="500" fill="hold"/>
                                        <p:tgtEl>
                                          <p:spTgt spid="2560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60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5604">
                                            <p:txEl>
                                              <p:pRg st="4" end="4"/>
                                            </p:txEl>
                                          </p:spTgt>
                                        </p:tgtEl>
                                        <p:attrNameLst>
                                          <p:attrName>style.visibility</p:attrName>
                                        </p:attrNameLst>
                                      </p:cBhvr>
                                      <p:to>
                                        <p:strVal val="visible"/>
                                      </p:to>
                                    </p:set>
                                    <p:anim calcmode="lin" valueType="num">
                                      <p:cBhvr additive="base">
                                        <p:cTn id="17" dur="500" fill="hold"/>
                                        <p:tgtEl>
                                          <p:spTgt spid="25604">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5604">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5604">
                                            <p:txEl>
                                              <p:pRg st="5" end="5"/>
                                            </p:txEl>
                                          </p:spTgt>
                                        </p:tgtEl>
                                        <p:attrNameLst>
                                          <p:attrName>style.visibility</p:attrName>
                                        </p:attrNameLst>
                                      </p:cBhvr>
                                      <p:to>
                                        <p:strVal val="visible"/>
                                      </p:to>
                                    </p:set>
                                    <p:anim calcmode="lin" valueType="num">
                                      <p:cBhvr additive="base">
                                        <p:cTn id="21" dur="500" fill="hold"/>
                                        <p:tgtEl>
                                          <p:spTgt spid="25604">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560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5604">
                                            <p:txEl>
                                              <p:pRg st="7" end="7"/>
                                            </p:txEl>
                                          </p:spTgt>
                                        </p:tgtEl>
                                        <p:attrNameLst>
                                          <p:attrName>style.visibility</p:attrName>
                                        </p:attrNameLst>
                                      </p:cBhvr>
                                      <p:to>
                                        <p:strVal val="visible"/>
                                      </p:to>
                                    </p:set>
                                    <p:anim calcmode="lin" valueType="num">
                                      <p:cBhvr additive="base">
                                        <p:cTn id="27" dur="500" fill="hold"/>
                                        <p:tgtEl>
                                          <p:spTgt spid="25604">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5604">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5604">
                                            <p:txEl>
                                              <p:pRg st="8" end="8"/>
                                            </p:txEl>
                                          </p:spTgt>
                                        </p:tgtEl>
                                        <p:attrNameLst>
                                          <p:attrName>style.visibility</p:attrName>
                                        </p:attrNameLst>
                                      </p:cBhvr>
                                      <p:to>
                                        <p:strVal val="visible"/>
                                      </p:to>
                                    </p:set>
                                    <p:anim calcmode="lin" valueType="num">
                                      <p:cBhvr additive="base">
                                        <p:cTn id="31" dur="500" fill="hold"/>
                                        <p:tgtEl>
                                          <p:spTgt spid="25604">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5604">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5604">
                                            <p:txEl>
                                              <p:pRg st="9" end="9"/>
                                            </p:txEl>
                                          </p:spTgt>
                                        </p:tgtEl>
                                        <p:attrNameLst>
                                          <p:attrName>style.visibility</p:attrName>
                                        </p:attrNameLst>
                                      </p:cBhvr>
                                      <p:to>
                                        <p:strVal val="visible"/>
                                      </p:to>
                                    </p:set>
                                    <p:anim calcmode="lin" valueType="num">
                                      <p:cBhvr additive="base">
                                        <p:cTn id="35" dur="500" fill="hold"/>
                                        <p:tgtEl>
                                          <p:spTgt spid="25604">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5604">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5604">
                                            <p:txEl>
                                              <p:pRg st="10" end="10"/>
                                            </p:txEl>
                                          </p:spTgt>
                                        </p:tgtEl>
                                        <p:attrNameLst>
                                          <p:attrName>style.visibility</p:attrName>
                                        </p:attrNameLst>
                                      </p:cBhvr>
                                      <p:to>
                                        <p:strVal val="visible"/>
                                      </p:to>
                                    </p:set>
                                    <p:anim calcmode="lin" valueType="num">
                                      <p:cBhvr additive="base">
                                        <p:cTn id="39" dur="500" fill="hold"/>
                                        <p:tgtEl>
                                          <p:spTgt spid="25604">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5604">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5604">
                                            <p:txEl>
                                              <p:pRg st="11" end="11"/>
                                            </p:txEl>
                                          </p:spTgt>
                                        </p:tgtEl>
                                        <p:attrNameLst>
                                          <p:attrName>style.visibility</p:attrName>
                                        </p:attrNameLst>
                                      </p:cBhvr>
                                      <p:to>
                                        <p:strVal val="visible"/>
                                      </p:to>
                                    </p:set>
                                    <p:anim calcmode="lin" valueType="num">
                                      <p:cBhvr additive="base">
                                        <p:cTn id="43" dur="500" fill="hold"/>
                                        <p:tgtEl>
                                          <p:spTgt spid="25604">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560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8"/>
          <p:cNvSpPr/>
          <p:nvPr/>
        </p:nvSpPr>
        <p:spPr bwMode="auto">
          <a:xfrm>
            <a:off x="876300" y="1587500"/>
            <a:ext cx="2832100" cy="2286000"/>
          </a:xfrm>
          <a:prstGeom prst="rect">
            <a:avLst/>
          </a:prstGeom>
          <a:solidFill>
            <a:srgbClr val="D6D6F4"/>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.section	.</a:t>
            </a:r>
            <a:r>
              <a:rPr lang="en-US" sz="1400" b="1" dirty="0" err="1">
                <a:solidFill>
                  <a:schemeClr val="tx1"/>
                </a:solidFill>
                <a:latin typeface="Courier New" panose="02070309020205020404" charset="0"/>
                <a:cs typeface="Courier New" panose="02070309020205020404" charset="0"/>
                <a:sym typeface="Courier New Bold" charset="0"/>
              </a:rPr>
              <a:t>rodata</a:t>
            </a:r>
            <a:endParaRPr lang="en-US" sz="1400" b="1" dirty="0">
              <a:solidFill>
                <a:schemeClr val="tx1"/>
              </a:solidFill>
              <a:latin typeface="Courier New" panose="02070309020205020404" charset="0"/>
              <a:cs typeface="Courier New" panose="02070309020205020404" charset="0"/>
              <a:sym typeface="Courier New Bold" charset="0"/>
            </a:endParaRP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.align 8</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.L4:</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.L8	# x = 0</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.L3	# x = 1</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.L5	# x = 2</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.L9	# x = 3</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.L8	# x = 4</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.L7	# x = 5</a:t>
            </a:r>
          </a:p>
          <a:p>
            <a:pPr algn="l">
              <a:tabLst>
                <a:tab pos="228600" algn="l"/>
                <a:tab pos="1201420" algn="l"/>
                <a:tab pos="1768475" algn="l"/>
                <a:tab pos="2463800" algn="l"/>
                <a:tab pos="2286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 pos="228600" algn="l"/>
                <a:tab pos="1663700" algn="l"/>
                <a:tab pos="2463800" algn="l"/>
              </a:tabLst>
            </a:pPr>
            <a:r>
              <a:rPr lang="en-US" sz="1400" b="1" dirty="0">
                <a:solidFill>
                  <a:schemeClr val="tx1"/>
                </a:solidFill>
                <a:latin typeface="Courier New" panose="02070309020205020404" charset="0"/>
                <a:cs typeface="Courier New" panose="02070309020205020404" charset="0"/>
                <a:sym typeface="Courier New Bold" charset="0"/>
              </a:rPr>
              <a:t>	.quad	.L7	# x = 6</a:t>
            </a:r>
            <a:endParaRPr lang="en-US" sz="1400" b="1" dirty="0">
              <a:solidFill>
                <a:schemeClr val="tx1"/>
              </a:solidFill>
              <a:latin typeface="Courier New" panose="02070309020205020404" charset="0"/>
              <a:ea typeface="Monaco" charset="0"/>
              <a:cs typeface="Courier New" panose="02070309020205020404" charset="0"/>
              <a:sym typeface="Courier New Bold" charset="0"/>
            </a:endParaRPr>
          </a:p>
        </p:txBody>
      </p:sp>
      <p:sp>
        <p:nvSpPr>
          <p:cNvPr id="26629" name="Rectangle 5"/>
          <p:cNvSpPr/>
          <p:nvPr/>
        </p:nvSpPr>
        <p:spPr bwMode="auto">
          <a:xfrm>
            <a:off x="177800" y="977900"/>
            <a:ext cx="3454400" cy="3810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640"/>
              </a:spcBef>
            </a:pPr>
            <a:r>
              <a:rPr lang="zh-CN" altLang="en-US" sz="2000">
                <a:solidFill>
                  <a:schemeClr val="tx1"/>
                </a:solidFill>
                <a:latin typeface="Calibri Bold" charset="0"/>
                <a:ea typeface="宋体" panose="02010600030101010101" pitchFamily="2" charset="-122"/>
                <a:cs typeface="Calibri Bold" charset="0"/>
                <a:sym typeface="Calibri Bold" charset="0"/>
              </a:rPr>
              <a:t>跳转表</a:t>
            </a:r>
          </a:p>
        </p:txBody>
      </p:sp>
      <p:sp>
        <p:nvSpPr>
          <p:cNvPr id="26630" name="Rectangle 6"/>
          <p:cNvSpPr/>
          <p:nvPr/>
        </p:nvSpPr>
        <p:spPr bwMode="auto">
          <a:xfrm>
            <a:off x="4305300" y="1206500"/>
            <a:ext cx="4432300" cy="4770437"/>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switch(x)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1:      // .L3</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y*z;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2:      // .L5</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y/z;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Fall Through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3:      // .L9</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5:</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6:      // .L7</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default:     // .L8</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2;</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a:t>
            </a:r>
          </a:p>
        </p:txBody>
      </p:sp>
      <p:sp>
        <p:nvSpPr>
          <p:cNvPr id="26632" name="Line 8"/>
          <p:cNvSpPr>
            <a:spLocks noChangeShapeType="1"/>
          </p:cNvSpPr>
          <p:nvPr/>
        </p:nvSpPr>
        <p:spPr bwMode="auto">
          <a:xfrm rot="10800000" flipH="1">
            <a:off x="3460750" y="1752598"/>
            <a:ext cx="1384300" cy="814071"/>
          </a:xfrm>
          <a:prstGeom prst="line">
            <a:avLst/>
          </a:prstGeom>
          <a:noFill/>
          <a:ln w="25400" cap="flat">
            <a:solidFill>
              <a:srgbClr val="C00000"/>
            </a:solidFill>
            <a:prstDash val="solid"/>
            <a:round/>
            <a:headEnd type="none" w="med" len="med"/>
            <a:tailEnd type="none" w="med" len="med"/>
          </a:ln>
        </p:spPr>
        <p:txBody>
          <a:bodyPr lIns="0" tIns="0" rIns="0" bIns="0"/>
          <a:lstStyle/>
          <a:p>
            <a:endParaRPr lang="en-US"/>
          </a:p>
        </p:txBody>
      </p:sp>
      <p:sp>
        <p:nvSpPr>
          <p:cNvPr id="26633" name="Line 9"/>
          <p:cNvSpPr>
            <a:spLocks noChangeShapeType="1"/>
          </p:cNvSpPr>
          <p:nvPr/>
        </p:nvSpPr>
        <p:spPr bwMode="auto">
          <a:xfrm rot="10800000" flipH="1">
            <a:off x="3460750" y="2513010"/>
            <a:ext cx="1387475" cy="270830"/>
          </a:xfrm>
          <a:prstGeom prst="line">
            <a:avLst/>
          </a:prstGeom>
          <a:noFill/>
          <a:ln w="25400" cap="flat">
            <a:solidFill>
              <a:srgbClr val="C00000"/>
            </a:solidFill>
            <a:prstDash val="solid"/>
            <a:round/>
            <a:headEnd type="none" w="med" len="med"/>
            <a:tailEnd type="none" w="med" len="med"/>
          </a:ln>
        </p:spPr>
        <p:txBody>
          <a:bodyPr lIns="0" tIns="0" rIns="0" bIns="0"/>
          <a:lstStyle/>
          <a:p>
            <a:endParaRPr lang="en-US"/>
          </a:p>
        </p:txBody>
      </p:sp>
      <p:sp>
        <p:nvSpPr>
          <p:cNvPr id="26634" name="Line 10"/>
          <p:cNvSpPr>
            <a:spLocks noChangeShapeType="1"/>
          </p:cNvSpPr>
          <p:nvPr/>
        </p:nvSpPr>
        <p:spPr bwMode="auto">
          <a:xfrm>
            <a:off x="3460750" y="3009900"/>
            <a:ext cx="1390650" cy="271463"/>
          </a:xfrm>
          <a:prstGeom prst="line">
            <a:avLst/>
          </a:prstGeom>
          <a:noFill/>
          <a:ln w="25400" cap="flat">
            <a:solidFill>
              <a:srgbClr val="C00000"/>
            </a:solidFill>
            <a:prstDash val="solid"/>
            <a:round/>
            <a:headEnd type="none" w="med" len="med"/>
            <a:tailEnd type="none" w="med" len="med"/>
          </a:ln>
        </p:spPr>
        <p:txBody>
          <a:bodyPr lIns="0" tIns="0" rIns="0" bIns="0"/>
          <a:lstStyle/>
          <a:p>
            <a:endParaRPr lang="en-US"/>
          </a:p>
        </p:txBody>
      </p:sp>
      <p:grpSp>
        <p:nvGrpSpPr>
          <p:cNvPr id="2" name="Group 1"/>
          <p:cNvGrpSpPr/>
          <p:nvPr/>
        </p:nvGrpSpPr>
        <p:grpSpPr>
          <a:xfrm>
            <a:off x="3460750" y="2349500"/>
            <a:ext cx="1379538" cy="2724150"/>
            <a:chOff x="3575050" y="2743200"/>
            <a:chExt cx="1379538" cy="2724150"/>
          </a:xfrm>
        </p:grpSpPr>
        <p:sp>
          <p:nvSpPr>
            <p:cNvPr id="26631" name="Line 7"/>
            <p:cNvSpPr>
              <a:spLocks noChangeShapeType="1"/>
            </p:cNvSpPr>
            <p:nvPr/>
          </p:nvSpPr>
          <p:spPr bwMode="auto">
            <a:xfrm>
              <a:off x="3581400" y="2743200"/>
              <a:ext cx="1371600" cy="2724150"/>
            </a:xfrm>
            <a:prstGeom prst="line">
              <a:avLst/>
            </a:prstGeom>
            <a:noFill/>
            <a:ln w="25400" cap="flat">
              <a:solidFill>
                <a:srgbClr val="00B050"/>
              </a:solidFill>
              <a:prstDash val="solid"/>
              <a:round/>
              <a:headEnd type="none" w="med" len="med"/>
              <a:tailEnd type="none" w="med" len="med"/>
            </a:ln>
          </p:spPr>
          <p:txBody>
            <a:bodyPr lIns="0" tIns="0" rIns="0" bIns="0"/>
            <a:lstStyle/>
            <a:p>
              <a:endParaRPr lang="en-US"/>
            </a:p>
          </p:txBody>
        </p:sp>
        <p:sp>
          <p:nvSpPr>
            <p:cNvPr id="26635" name="Line 11"/>
            <p:cNvSpPr>
              <a:spLocks noChangeShapeType="1"/>
            </p:cNvSpPr>
            <p:nvPr/>
          </p:nvSpPr>
          <p:spPr bwMode="auto">
            <a:xfrm>
              <a:off x="3575050" y="3611880"/>
              <a:ext cx="1379538" cy="1855470"/>
            </a:xfrm>
            <a:prstGeom prst="line">
              <a:avLst/>
            </a:prstGeom>
            <a:noFill/>
            <a:ln w="25400" cap="flat">
              <a:solidFill>
                <a:srgbClr val="00B050"/>
              </a:solidFill>
              <a:prstDash val="solid"/>
              <a:round/>
              <a:headEnd type="none" w="med" len="med"/>
              <a:tailEnd type="none" w="med" len="med"/>
            </a:ln>
          </p:spPr>
          <p:txBody>
            <a:bodyPr lIns="0" tIns="0" rIns="0" bIns="0"/>
            <a:lstStyle/>
            <a:p>
              <a:endParaRPr lang="en-US"/>
            </a:p>
          </p:txBody>
        </p:sp>
      </p:grpSp>
      <p:sp>
        <p:nvSpPr>
          <p:cNvPr id="26636" name="Line 12"/>
          <p:cNvSpPr>
            <a:spLocks noChangeShapeType="1"/>
          </p:cNvSpPr>
          <p:nvPr/>
        </p:nvSpPr>
        <p:spPr bwMode="auto">
          <a:xfrm>
            <a:off x="3460750" y="3439160"/>
            <a:ext cx="1301750" cy="739140"/>
          </a:xfrm>
          <a:prstGeom prst="line">
            <a:avLst/>
          </a:prstGeom>
          <a:noFill/>
          <a:ln w="25400" cap="flat">
            <a:solidFill>
              <a:srgbClr val="C00000"/>
            </a:solidFill>
            <a:prstDash val="solid"/>
            <a:round/>
            <a:headEnd type="none" w="med" len="med"/>
            <a:tailEnd type="none" w="med" len="med"/>
          </a:ln>
        </p:spPr>
        <p:txBody>
          <a:bodyPr lIns="0" tIns="0" rIns="0" bIns="0"/>
          <a:lstStyle/>
          <a:p>
            <a:endParaRPr lang="en-US"/>
          </a:p>
        </p:txBody>
      </p:sp>
      <p:sp>
        <p:nvSpPr>
          <p:cNvPr id="26637" name="Line 13"/>
          <p:cNvSpPr>
            <a:spLocks noChangeShapeType="1"/>
          </p:cNvSpPr>
          <p:nvPr/>
        </p:nvSpPr>
        <p:spPr bwMode="auto">
          <a:xfrm>
            <a:off x="3460750" y="3663950"/>
            <a:ext cx="1301750" cy="742950"/>
          </a:xfrm>
          <a:prstGeom prst="line">
            <a:avLst/>
          </a:prstGeom>
          <a:noFill/>
          <a:ln w="25400" cap="flat">
            <a:solidFill>
              <a:srgbClr val="C00000"/>
            </a:solidFill>
            <a:prstDash val="solid"/>
            <a:round/>
            <a:headEnd type="none" w="med" len="med"/>
            <a:tailEnd type="none" w="med" len="med"/>
          </a:ln>
        </p:spPr>
        <p:txBody>
          <a:bodyPr lIns="0" tIns="0" rIns="0" bIns="0"/>
          <a:lstStyle/>
          <a:p>
            <a:endParaRPr lang="en-US"/>
          </a:p>
        </p:txBody>
      </p:sp>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17" name="椭圆 16"/>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矩形 3"/>
          <p:cNvSpPr/>
          <p:nvPr/>
        </p:nvSpPr>
        <p:spPr>
          <a:xfrm>
            <a:off x="4088765" y="1508760"/>
            <a:ext cx="4857750" cy="840740"/>
          </a:xfrm>
          <a:prstGeom prst="rect">
            <a:avLst/>
          </a:prstGeom>
          <a:solidFill>
            <a:schemeClr val="accent2">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p:cNvCxnSpPr/>
          <p:nvPr/>
        </p:nvCxnSpPr>
        <p:spPr>
          <a:xfrm flipH="1">
            <a:off x="3632200" y="1929130"/>
            <a:ext cx="462915" cy="3144520"/>
          </a:xfrm>
          <a:prstGeom prst="straightConnector1">
            <a:avLst/>
          </a:prstGeom>
          <a:ln>
            <a:tailEnd type="arrow" w="med" len="med"/>
          </a:ln>
        </p:spPr>
        <p:style>
          <a:lnRef idx="3">
            <a:schemeClr val="accent2"/>
          </a:lnRef>
          <a:fillRef idx="0">
            <a:schemeClr val="accent2"/>
          </a:fillRef>
          <a:effectRef idx="2">
            <a:schemeClr val="accent2"/>
          </a:effectRef>
          <a:fontRef idx="minor">
            <a:schemeClr val="tx1"/>
          </a:fontRef>
        </p:style>
      </p:cxnSp>
      <p:sp>
        <p:nvSpPr>
          <p:cNvPr id="27652" name="Rectangle 4"/>
          <p:cNvSpPr/>
          <p:nvPr/>
        </p:nvSpPr>
        <p:spPr bwMode="auto">
          <a:xfrm>
            <a:off x="0" y="5073650"/>
            <a:ext cx="4095115" cy="126619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pt-BR" sz="1800" b="1" dirty="0">
                <a:solidFill>
                  <a:schemeClr val="tx1"/>
                </a:solidFill>
                <a:latin typeface="Courier New" panose="02070309020205020404" charset="0"/>
                <a:cs typeface="Courier New" panose="02070309020205020404" charset="0"/>
                <a:sym typeface="Courier New Bold" charset="0"/>
              </a:rPr>
              <a:t>.L3:</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pt-BR" sz="1800" b="1" dirty="0">
                <a:solidFill>
                  <a:schemeClr val="tx1"/>
                </a:solidFill>
                <a:latin typeface="Courier New" panose="02070309020205020404" charset="0"/>
                <a:cs typeface="Courier New" panose="02070309020205020404" charset="0"/>
                <a:sym typeface="Courier New Bold" charset="0"/>
              </a:rPr>
              <a:t>   </a:t>
            </a:r>
            <a:r>
              <a:rPr lang="pt-BR" sz="1800" b="1" dirty="0" err="1">
                <a:solidFill>
                  <a:schemeClr val="tx1"/>
                </a:solidFill>
                <a:latin typeface="Courier New" panose="02070309020205020404" charset="0"/>
                <a:cs typeface="Courier New" panose="02070309020205020404" charset="0"/>
                <a:sym typeface="Courier New Bold" charset="0"/>
              </a:rPr>
              <a:t>movq</a:t>
            </a:r>
            <a:r>
              <a:rPr lang="pt-BR" sz="1800" b="1" dirty="0">
                <a:solidFill>
                  <a:schemeClr val="tx1"/>
                </a:solidFill>
                <a:latin typeface="Courier New" panose="02070309020205020404" charset="0"/>
                <a:cs typeface="Courier New" panose="02070309020205020404" charset="0"/>
                <a:sym typeface="Courier New Bold" charset="0"/>
              </a:rPr>
              <a:t>    %</a:t>
            </a:r>
            <a:r>
              <a:rPr lang="pt-BR" sz="1800" b="1" dirty="0" err="1">
                <a:solidFill>
                  <a:schemeClr val="tx1"/>
                </a:solidFill>
                <a:latin typeface="Courier New" panose="02070309020205020404" charset="0"/>
                <a:cs typeface="Courier New" panose="02070309020205020404" charset="0"/>
                <a:sym typeface="Courier New Bold" charset="0"/>
              </a:rPr>
              <a:t>rsi</a:t>
            </a:r>
            <a:r>
              <a:rPr lang="pt-BR" sz="1800" b="1" dirty="0">
                <a:solidFill>
                  <a:schemeClr val="tx1"/>
                </a:solidFill>
                <a:latin typeface="Courier New" panose="02070309020205020404" charset="0"/>
                <a:cs typeface="Courier New" panose="02070309020205020404" charset="0"/>
                <a:sym typeface="Courier New Bold" charset="0"/>
              </a:rPr>
              <a:t>, %</a:t>
            </a:r>
            <a:r>
              <a:rPr lang="pt-BR" sz="1800" b="1" dirty="0" err="1">
                <a:solidFill>
                  <a:schemeClr val="tx1"/>
                </a:solidFill>
                <a:latin typeface="Courier New" panose="02070309020205020404" charset="0"/>
                <a:cs typeface="Courier New" panose="02070309020205020404" charset="0"/>
                <a:sym typeface="Courier New Bold" charset="0"/>
              </a:rPr>
              <a:t>rax</a:t>
            </a:r>
            <a:r>
              <a:rPr lang="pt-BR" sz="1800" b="1" dirty="0">
                <a:solidFill>
                  <a:schemeClr val="tx1"/>
                </a:solidFill>
                <a:latin typeface="Courier New" panose="02070309020205020404" charset="0"/>
                <a:cs typeface="Courier New" panose="02070309020205020404" charset="0"/>
                <a:sym typeface="Courier New Bold" charset="0"/>
              </a:rPr>
              <a:t>  # </a:t>
            </a:r>
            <a:r>
              <a:rPr lang="pt-BR" sz="1800" b="1" dirty="0" err="1">
                <a:solidFill>
                  <a:schemeClr val="tx1"/>
                </a:solidFill>
                <a:latin typeface="Courier New" panose="02070309020205020404" charset="0"/>
                <a:cs typeface="Courier New" panose="02070309020205020404" charset="0"/>
                <a:sym typeface="Courier New Bold" charset="0"/>
              </a:rPr>
              <a:t>y</a:t>
            </a:r>
            <a:endParaRPr lang="pt-BR" sz="1800" b="1" dirty="0">
              <a:solidFill>
                <a:schemeClr val="tx1"/>
              </a:solidFill>
              <a:latin typeface="Courier New" panose="02070309020205020404" charset="0"/>
              <a:cs typeface="Courier New" panose="02070309020205020404" charset="0"/>
              <a:sym typeface="Courier New Bold" charset="0"/>
            </a:endParaRP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pt-BR" sz="1800" b="1" dirty="0">
                <a:solidFill>
                  <a:schemeClr val="tx1"/>
                </a:solidFill>
                <a:latin typeface="Courier New" panose="02070309020205020404" charset="0"/>
                <a:cs typeface="Courier New" panose="02070309020205020404" charset="0"/>
                <a:sym typeface="Courier New Bold" charset="0"/>
              </a:rPr>
              <a:t>   </a:t>
            </a:r>
            <a:r>
              <a:rPr lang="pt-BR" sz="1800" b="1" dirty="0" err="1">
                <a:solidFill>
                  <a:schemeClr val="tx1"/>
                </a:solidFill>
                <a:latin typeface="Courier New" panose="02070309020205020404" charset="0"/>
                <a:cs typeface="Courier New" panose="02070309020205020404" charset="0"/>
                <a:sym typeface="Courier New Bold" charset="0"/>
              </a:rPr>
              <a:t>imulq</a:t>
            </a:r>
            <a:r>
              <a:rPr lang="pt-BR" sz="1800" b="1" dirty="0">
                <a:solidFill>
                  <a:schemeClr val="tx1"/>
                </a:solidFill>
                <a:latin typeface="Courier New" panose="02070309020205020404" charset="0"/>
                <a:cs typeface="Courier New" panose="02070309020205020404" charset="0"/>
                <a:sym typeface="Courier New Bold" charset="0"/>
              </a:rPr>
              <a:t>   %</a:t>
            </a:r>
            <a:r>
              <a:rPr lang="pt-BR" sz="1800" b="1" dirty="0" err="1">
                <a:solidFill>
                  <a:schemeClr val="tx1"/>
                </a:solidFill>
                <a:latin typeface="Courier New" panose="02070309020205020404" charset="0"/>
                <a:cs typeface="Courier New" panose="02070309020205020404" charset="0"/>
                <a:sym typeface="Courier New Bold" charset="0"/>
              </a:rPr>
              <a:t>rdx</a:t>
            </a:r>
            <a:r>
              <a:rPr lang="pt-BR" sz="1800" b="1" dirty="0">
                <a:solidFill>
                  <a:schemeClr val="tx1"/>
                </a:solidFill>
                <a:latin typeface="Courier New" panose="02070309020205020404" charset="0"/>
                <a:cs typeface="Courier New" panose="02070309020205020404" charset="0"/>
                <a:sym typeface="Courier New Bold" charset="0"/>
              </a:rPr>
              <a:t>, %</a:t>
            </a:r>
            <a:r>
              <a:rPr lang="pt-BR" sz="1800" b="1" dirty="0" err="1">
                <a:solidFill>
                  <a:schemeClr val="tx1"/>
                </a:solidFill>
                <a:latin typeface="Courier New" panose="02070309020205020404" charset="0"/>
                <a:cs typeface="Courier New" panose="02070309020205020404" charset="0"/>
                <a:sym typeface="Courier New Bold" charset="0"/>
              </a:rPr>
              <a:t>rax</a:t>
            </a:r>
            <a:r>
              <a:rPr lang="pt-BR" sz="1800" b="1" dirty="0">
                <a:solidFill>
                  <a:schemeClr val="tx1"/>
                </a:solidFill>
                <a:latin typeface="Courier New" panose="02070309020205020404" charset="0"/>
                <a:cs typeface="Courier New" panose="02070309020205020404" charset="0"/>
                <a:sym typeface="Courier New Bold" charset="0"/>
              </a:rPr>
              <a:t>  # </a:t>
            </a:r>
            <a:r>
              <a:rPr lang="pt-BR" sz="1800" b="1" dirty="0" err="1">
                <a:solidFill>
                  <a:schemeClr val="tx1"/>
                </a:solidFill>
                <a:latin typeface="Courier New" panose="02070309020205020404" charset="0"/>
                <a:cs typeface="Courier New" panose="02070309020205020404" charset="0"/>
                <a:sym typeface="Courier New Bold" charset="0"/>
              </a:rPr>
              <a:t>y</a:t>
            </a:r>
            <a:r>
              <a:rPr lang="pt-BR" sz="1800" b="1" dirty="0">
                <a:solidFill>
                  <a:schemeClr val="tx1"/>
                </a:solidFill>
                <a:latin typeface="Courier New" panose="02070309020205020404" charset="0"/>
                <a:cs typeface="Courier New" panose="02070309020205020404" charset="0"/>
                <a:sym typeface="Courier New Bold" charset="0"/>
              </a:rPr>
              <a:t>*</a:t>
            </a:r>
            <a:r>
              <a:rPr lang="pt-BR" sz="1800" b="1" dirty="0" err="1">
                <a:solidFill>
                  <a:schemeClr val="tx1"/>
                </a:solidFill>
                <a:latin typeface="Courier New" panose="02070309020205020404" charset="0"/>
                <a:cs typeface="Courier New" panose="02070309020205020404" charset="0"/>
                <a:sym typeface="Courier New Bold" charset="0"/>
              </a:rPr>
              <a:t>z</a:t>
            </a:r>
            <a:endParaRPr lang="pt-BR" sz="1800" b="1" dirty="0">
              <a:solidFill>
                <a:schemeClr val="tx1"/>
              </a:solidFill>
              <a:latin typeface="Courier New" panose="02070309020205020404" charset="0"/>
              <a:cs typeface="Courier New" panose="02070309020205020404" charset="0"/>
              <a:sym typeface="Courier New Bold" charset="0"/>
            </a:endParaRP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pt-BR" sz="1800" b="1" dirty="0">
                <a:solidFill>
                  <a:schemeClr val="tx1"/>
                </a:solidFill>
                <a:latin typeface="Courier New" panose="02070309020205020404" charset="0"/>
                <a:cs typeface="Courier New" panose="02070309020205020404" charset="0"/>
                <a:sym typeface="Courier New Bold" charset="0"/>
              </a:rPr>
              <a:t>   </a:t>
            </a:r>
            <a:r>
              <a:rPr lang="pt-BR" sz="1800" b="1" dirty="0" err="1">
                <a:solidFill>
                  <a:schemeClr val="tx1"/>
                </a:solidFill>
                <a:latin typeface="Courier New" panose="02070309020205020404" charset="0"/>
                <a:cs typeface="Courier New" panose="02070309020205020404" charset="0"/>
                <a:sym typeface="Courier New Bold" charset="0"/>
              </a:rPr>
              <a:t>ret</a:t>
            </a:r>
            <a:endParaRPr lang="en-US" sz="1800" b="1" dirty="0">
              <a:solidFill>
                <a:schemeClr val="tx1"/>
              </a:solidFill>
              <a:latin typeface="Courier New" panose="02070309020205020404" charset="0"/>
              <a:cs typeface="Courier New" panose="02070309020205020404" charset="0"/>
              <a:sym typeface="Courier New Bold" charset="0"/>
            </a:endParaRPr>
          </a:p>
        </p:txBody>
      </p:sp>
      <p:cxnSp>
        <p:nvCxnSpPr>
          <p:cNvPr id="6" name="肘形连接符 5"/>
          <p:cNvCxnSpPr/>
          <p:nvPr/>
        </p:nvCxnSpPr>
        <p:spPr>
          <a:xfrm rot="5400000">
            <a:off x="-582295" y="3622040"/>
            <a:ext cx="2508250" cy="394970"/>
          </a:xfrm>
          <a:prstGeom prst="bentConnector3">
            <a:avLst>
              <a:gd name="adj1" fmla="val 1215"/>
            </a:avLst>
          </a:prstGeom>
          <a:ln>
            <a:tailEnd type="arrow" w="med" len="med"/>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6632"/>
                                        </p:tgtEl>
                                        <p:attrNameLst>
                                          <p:attrName>style.visibility</p:attrName>
                                        </p:attrNameLst>
                                      </p:cBhvr>
                                      <p:to>
                                        <p:strVal val="visible"/>
                                      </p:to>
                                    </p:set>
                                    <p:anim calcmode="lin" valueType="num">
                                      <p:cBhvr additive="base">
                                        <p:cTn id="7" dur="500" fill="hold"/>
                                        <p:tgtEl>
                                          <p:spTgt spid="26632"/>
                                        </p:tgtEl>
                                        <p:attrNameLst>
                                          <p:attrName>ppt_x</p:attrName>
                                        </p:attrNameLst>
                                      </p:cBhvr>
                                      <p:tavLst>
                                        <p:tav tm="0">
                                          <p:val>
                                            <p:strVal val="#ppt_x"/>
                                          </p:val>
                                        </p:tav>
                                        <p:tav tm="100000">
                                          <p:val>
                                            <p:strVal val="#ppt_x"/>
                                          </p:val>
                                        </p:tav>
                                      </p:tavLst>
                                    </p:anim>
                                    <p:anim calcmode="lin" valueType="num">
                                      <p:cBhvr additive="base">
                                        <p:cTn id="8" dur="500" fill="hold"/>
                                        <p:tgtEl>
                                          <p:spTgt spid="2663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6633"/>
                                        </p:tgtEl>
                                        <p:attrNameLst>
                                          <p:attrName>style.visibility</p:attrName>
                                        </p:attrNameLst>
                                      </p:cBhvr>
                                      <p:to>
                                        <p:strVal val="visible"/>
                                      </p:to>
                                    </p:set>
                                    <p:anim calcmode="lin" valueType="num">
                                      <p:cBhvr additive="base">
                                        <p:cTn id="13" dur="500" fill="hold"/>
                                        <p:tgtEl>
                                          <p:spTgt spid="26633"/>
                                        </p:tgtEl>
                                        <p:attrNameLst>
                                          <p:attrName>ppt_x</p:attrName>
                                        </p:attrNameLst>
                                      </p:cBhvr>
                                      <p:tavLst>
                                        <p:tav tm="0">
                                          <p:val>
                                            <p:strVal val="#ppt_x"/>
                                          </p:val>
                                        </p:tav>
                                        <p:tav tm="100000">
                                          <p:val>
                                            <p:strVal val="#ppt_x"/>
                                          </p:val>
                                        </p:tav>
                                      </p:tavLst>
                                    </p:anim>
                                    <p:anim calcmode="lin" valueType="num">
                                      <p:cBhvr additive="base">
                                        <p:cTn id="14" dur="500" fill="hold"/>
                                        <p:tgtEl>
                                          <p:spTgt spid="2663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6634"/>
                                        </p:tgtEl>
                                        <p:attrNameLst>
                                          <p:attrName>style.visibility</p:attrName>
                                        </p:attrNameLst>
                                      </p:cBhvr>
                                      <p:to>
                                        <p:strVal val="visible"/>
                                      </p:to>
                                    </p:set>
                                    <p:anim calcmode="lin" valueType="num">
                                      <p:cBhvr additive="base">
                                        <p:cTn id="19" dur="500" fill="hold"/>
                                        <p:tgtEl>
                                          <p:spTgt spid="26634"/>
                                        </p:tgtEl>
                                        <p:attrNameLst>
                                          <p:attrName>ppt_x</p:attrName>
                                        </p:attrNameLst>
                                      </p:cBhvr>
                                      <p:tavLst>
                                        <p:tav tm="0">
                                          <p:val>
                                            <p:strVal val="#ppt_x"/>
                                          </p:val>
                                        </p:tav>
                                        <p:tav tm="100000">
                                          <p:val>
                                            <p:strVal val="#ppt_x"/>
                                          </p:val>
                                        </p:tav>
                                      </p:tavLst>
                                    </p:anim>
                                    <p:anim calcmode="lin" valueType="num">
                                      <p:cBhvr additive="base">
                                        <p:cTn id="20" dur="500" fill="hold"/>
                                        <p:tgtEl>
                                          <p:spTgt spid="2663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6636"/>
                                        </p:tgtEl>
                                        <p:attrNameLst>
                                          <p:attrName>style.visibility</p:attrName>
                                        </p:attrNameLst>
                                      </p:cBhvr>
                                      <p:to>
                                        <p:strVal val="visible"/>
                                      </p:to>
                                    </p:set>
                                    <p:anim calcmode="lin" valueType="num">
                                      <p:cBhvr additive="base">
                                        <p:cTn id="25" dur="500" fill="hold"/>
                                        <p:tgtEl>
                                          <p:spTgt spid="26636"/>
                                        </p:tgtEl>
                                        <p:attrNameLst>
                                          <p:attrName>ppt_x</p:attrName>
                                        </p:attrNameLst>
                                      </p:cBhvr>
                                      <p:tavLst>
                                        <p:tav tm="0">
                                          <p:val>
                                            <p:strVal val="#ppt_x"/>
                                          </p:val>
                                        </p:tav>
                                        <p:tav tm="100000">
                                          <p:val>
                                            <p:strVal val="#ppt_x"/>
                                          </p:val>
                                        </p:tav>
                                      </p:tavLst>
                                    </p:anim>
                                    <p:anim calcmode="lin" valueType="num">
                                      <p:cBhvr additive="base">
                                        <p:cTn id="26" dur="500" fill="hold"/>
                                        <p:tgtEl>
                                          <p:spTgt spid="2663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6637"/>
                                        </p:tgtEl>
                                        <p:attrNameLst>
                                          <p:attrName>style.visibility</p:attrName>
                                        </p:attrNameLst>
                                      </p:cBhvr>
                                      <p:to>
                                        <p:strVal val="visible"/>
                                      </p:to>
                                    </p:set>
                                    <p:anim calcmode="lin" valueType="num">
                                      <p:cBhvr additive="base">
                                        <p:cTn id="31" dur="500" fill="hold"/>
                                        <p:tgtEl>
                                          <p:spTgt spid="26637"/>
                                        </p:tgtEl>
                                        <p:attrNameLst>
                                          <p:attrName>ppt_x</p:attrName>
                                        </p:attrNameLst>
                                      </p:cBhvr>
                                      <p:tavLst>
                                        <p:tav tm="0">
                                          <p:val>
                                            <p:strVal val="#ppt_x"/>
                                          </p:val>
                                        </p:tav>
                                        <p:tav tm="100000">
                                          <p:val>
                                            <p:strVal val="#ppt_x"/>
                                          </p:val>
                                        </p:tav>
                                      </p:tavLst>
                                    </p:anim>
                                    <p:anim calcmode="lin" valueType="num">
                                      <p:cBhvr additive="base">
                                        <p:cTn id="32" dur="500" fill="hold"/>
                                        <p:tgtEl>
                                          <p:spTgt spid="2663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 calcmode="lin" valueType="num">
                                      <p:cBhvr additive="base">
                                        <p:cTn id="37" dur="500" fill="hold"/>
                                        <p:tgtEl>
                                          <p:spTgt spid="2"/>
                                        </p:tgtEl>
                                        <p:attrNameLst>
                                          <p:attrName>ppt_x</p:attrName>
                                        </p:attrNameLst>
                                      </p:cBhvr>
                                      <p:tavLst>
                                        <p:tav tm="0">
                                          <p:val>
                                            <p:strVal val="#ppt_x"/>
                                          </p:val>
                                        </p:tav>
                                        <p:tav tm="100000">
                                          <p:val>
                                            <p:strVal val="#ppt_x"/>
                                          </p:val>
                                        </p:tav>
                                      </p:tavLst>
                                    </p:anim>
                                    <p:anim calcmode="lin" valueType="num">
                                      <p:cBhvr additive="base">
                                        <p:cTn id="3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
                                        </p:tgtEl>
                                        <p:attrNameLst>
                                          <p:attrName>style.visibility</p:attrName>
                                        </p:attrNameLst>
                                      </p:cBhvr>
                                      <p:to>
                                        <p:strVal val="visible"/>
                                      </p:to>
                                    </p:set>
                                    <p:anim calcmode="lin" valueType="num">
                                      <p:cBhvr additive="base">
                                        <p:cTn id="43" dur="500" fill="hold"/>
                                        <p:tgtEl>
                                          <p:spTgt spid="4"/>
                                        </p:tgtEl>
                                        <p:attrNameLst>
                                          <p:attrName>ppt_x</p:attrName>
                                        </p:attrNameLst>
                                      </p:cBhvr>
                                      <p:tavLst>
                                        <p:tav tm="0">
                                          <p:val>
                                            <p:strVal val="#ppt_x"/>
                                          </p:val>
                                        </p:tav>
                                        <p:tav tm="100000">
                                          <p:val>
                                            <p:strVal val="#ppt_x"/>
                                          </p:val>
                                        </p:tav>
                                      </p:tavLst>
                                    </p:anim>
                                    <p:anim calcmode="lin" valueType="num">
                                      <p:cBhvr additive="base">
                                        <p:cTn id="4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ppt_x"/>
                                          </p:val>
                                        </p:tav>
                                        <p:tav tm="100000">
                                          <p:val>
                                            <p:strVal val="#ppt_x"/>
                                          </p:val>
                                        </p:tav>
                                      </p:tavLst>
                                    </p:anim>
                                    <p:anim calcmode="lin" valueType="num">
                                      <p:cBhvr additive="base">
                                        <p:cTn id="5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五边形 3"/>
          <p:cNvSpPr/>
          <p:nvPr/>
        </p:nvSpPr>
        <p:spPr>
          <a:xfrm>
            <a:off x="0" y="538480"/>
            <a:ext cx="2190750" cy="605790"/>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630" name="Rectangle 6"/>
          <p:cNvSpPr/>
          <p:nvPr/>
        </p:nvSpPr>
        <p:spPr bwMode="auto">
          <a:xfrm>
            <a:off x="139700" y="1524000"/>
            <a:ext cx="36703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long w = 1;</a:t>
            </a:r>
          </a:p>
          <a:p>
            <a:pPr algn="l"/>
            <a:r>
              <a:rPr lang="en-US" sz="1800" b="1" dirty="0">
                <a:solidFill>
                  <a:schemeClr val="tx1"/>
                </a:solidFill>
                <a:latin typeface="Courier New" panose="02070309020205020404" charset="0"/>
                <a:cs typeface="Courier New" panose="02070309020205020404" charset="0"/>
                <a:sym typeface="Courier New Bold" charset="0"/>
              </a:rPr>
              <a:t>	. . .</a:t>
            </a:r>
          </a:p>
          <a:p>
            <a:pPr algn="l"/>
            <a:r>
              <a:rPr lang="en-US" sz="1800" b="1" dirty="0">
                <a:solidFill>
                  <a:schemeClr val="tx1"/>
                </a:solidFill>
                <a:latin typeface="Courier New" panose="02070309020205020404" charset="0"/>
                <a:cs typeface="Courier New" panose="02070309020205020404" charset="0"/>
                <a:sym typeface="Courier New Bold" charset="0"/>
              </a:rPr>
              <a:t>    switch(x)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 .	</a:t>
            </a:r>
          </a:p>
          <a:p>
            <a:pPr algn="l"/>
            <a:r>
              <a:rPr lang="en-US" sz="1800" b="1" dirty="0">
                <a:solidFill>
                  <a:schemeClr val="tx1"/>
                </a:solidFill>
                <a:latin typeface="Courier New" panose="02070309020205020404" charset="0"/>
                <a:cs typeface="Courier New" panose="02070309020205020404" charset="0"/>
                <a:sym typeface="Courier New Bold" charset="0"/>
              </a:rPr>
              <a:t>    case 2:</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y/z;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Fall Through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3:</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a:t>
            </a:r>
          </a:p>
        </p:txBody>
      </p:sp>
      <p:sp>
        <p:nvSpPr>
          <p:cNvPr id="16" name="Rectangle 6"/>
          <p:cNvSpPr/>
          <p:nvPr/>
        </p:nvSpPr>
        <p:spPr bwMode="auto">
          <a:xfrm>
            <a:off x="6172200" y="4419600"/>
            <a:ext cx="2743200" cy="7620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case 3:</a:t>
            </a:r>
          </a:p>
          <a:p>
            <a:pPr algn="l"/>
            <a:r>
              <a:rPr lang="en-US" sz="1800" b="1" dirty="0">
                <a:solidFill>
                  <a:schemeClr val="tx1"/>
                </a:solidFill>
                <a:latin typeface="Courier New" panose="02070309020205020404" charset="0"/>
                <a:ea typeface="Lucida Grande" charset="0"/>
                <a:cs typeface="Courier New" panose="02070309020205020404" charset="0"/>
                <a:sym typeface="Courier New Bold" charset="0"/>
              </a:rPr>
              <a:t>        w = 1;</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p:txBody>
      </p:sp>
      <p:sp>
        <p:nvSpPr>
          <p:cNvPr id="17" name="Rectangle 6"/>
          <p:cNvSpPr/>
          <p:nvPr/>
        </p:nvSpPr>
        <p:spPr bwMode="auto">
          <a:xfrm>
            <a:off x="4191000" y="2133600"/>
            <a:ext cx="2743200" cy="9906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case 2:</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y/z;</a:t>
            </a:r>
          </a:p>
          <a:p>
            <a:pPr algn="l"/>
            <a:r>
              <a:rPr lang="en-US" sz="1800" b="1" dirty="0">
                <a:solidFill>
                  <a:schemeClr val="tx1"/>
                </a:solidFill>
                <a:latin typeface="Courier New" panose="02070309020205020404" charset="0"/>
                <a:ea typeface="Lucida Grande" charset="0"/>
                <a:cs typeface="Courier New" panose="02070309020205020404" charset="0"/>
                <a:sym typeface="Courier New Bold" charset="0"/>
              </a:rPr>
              <a:t>        </a:t>
            </a:r>
            <a:r>
              <a:rPr lang="en-US" sz="1800" b="1" dirty="0" err="1">
                <a:solidFill>
                  <a:schemeClr val="tx1"/>
                </a:solidFill>
                <a:latin typeface="Courier New" panose="02070309020205020404" charset="0"/>
                <a:ea typeface="Lucida Grande" charset="0"/>
                <a:cs typeface="Courier New" panose="02070309020205020404" charset="0"/>
                <a:sym typeface="Courier New Bold" charset="0"/>
              </a:rPr>
              <a:t>goto</a:t>
            </a:r>
            <a:r>
              <a:rPr lang="en-US" sz="1800" b="1" dirty="0">
                <a:solidFill>
                  <a:schemeClr val="tx1"/>
                </a:solidFill>
                <a:latin typeface="Courier New" panose="02070309020205020404" charset="0"/>
                <a:ea typeface="Lucida Grande" charset="0"/>
                <a:cs typeface="Courier New" panose="02070309020205020404" charset="0"/>
                <a:sym typeface="Courier New Bold" charset="0"/>
              </a:rPr>
              <a:t> merge;</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p:txBody>
      </p:sp>
      <p:sp>
        <p:nvSpPr>
          <p:cNvPr id="18" name="Rectangle 6"/>
          <p:cNvSpPr/>
          <p:nvPr/>
        </p:nvSpPr>
        <p:spPr bwMode="auto">
          <a:xfrm>
            <a:off x="6172200" y="5181600"/>
            <a:ext cx="2743200" cy="685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merge:</a:t>
            </a:r>
          </a:p>
          <a:p>
            <a:pPr algn="l"/>
            <a:r>
              <a:rPr lang="en-US" sz="1800" b="1" dirty="0">
                <a:solidFill>
                  <a:schemeClr val="tx1"/>
                </a:solidFill>
                <a:latin typeface="Courier New" panose="02070309020205020404" charset="0"/>
                <a:ea typeface="Lucida Grande" charset="0"/>
                <a:cs typeface="Courier New" panose="02070309020205020404" charset="0"/>
                <a:sym typeface="Courier New Bold" charset="0"/>
              </a:rPr>
              <a:t>        w +=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p:txBody>
      </p:sp>
      <p:cxnSp>
        <p:nvCxnSpPr>
          <p:cNvPr id="20" name="Straight Arrow Connector 19"/>
          <p:cNvCxnSpPr>
            <a:endCxn id="17" idx="1"/>
          </p:cNvCxnSpPr>
          <p:nvPr/>
        </p:nvCxnSpPr>
        <p:spPr bwMode="auto">
          <a:xfrm flipV="1">
            <a:off x="1752600" y="2628900"/>
            <a:ext cx="2438400" cy="190500"/>
          </a:xfrm>
          <a:prstGeom prst="straightConnector1">
            <a:avLst/>
          </a:prstGeom>
          <a:solidFill>
            <a:schemeClr val="accent1"/>
          </a:solidFill>
          <a:ln w="25400" cap="flat" cmpd="sng" algn="ctr">
            <a:solidFill>
              <a:srgbClr val="C00000"/>
            </a:solidFill>
            <a:prstDash val="solid"/>
            <a:round/>
            <a:headEnd type="none" w="med" len="med"/>
            <a:tailEnd type="arrow"/>
          </a:ln>
          <a:effectLst/>
        </p:spPr>
      </p:cxnSp>
      <p:cxnSp>
        <p:nvCxnSpPr>
          <p:cNvPr id="21" name="Straight Arrow Connector 20"/>
          <p:cNvCxnSpPr>
            <a:endCxn id="16" idx="1"/>
          </p:cNvCxnSpPr>
          <p:nvPr/>
        </p:nvCxnSpPr>
        <p:spPr bwMode="auto">
          <a:xfrm>
            <a:off x="1905000" y="3733800"/>
            <a:ext cx="4267200" cy="1066800"/>
          </a:xfrm>
          <a:prstGeom prst="straightConnector1">
            <a:avLst/>
          </a:prstGeom>
          <a:solidFill>
            <a:schemeClr val="accent1"/>
          </a:solidFill>
          <a:ln w="25400" cap="flat" cmpd="sng" algn="ctr">
            <a:solidFill>
              <a:srgbClr val="C00000"/>
            </a:solidFill>
            <a:prstDash val="solid"/>
            <a:round/>
            <a:headEnd type="none" w="med" len="med"/>
            <a:tailEnd type="arrow"/>
          </a:ln>
          <a:effectLst/>
        </p:spPr>
      </p:cxnSp>
      <p:cxnSp>
        <p:nvCxnSpPr>
          <p:cNvPr id="13" name="Straight Arrow Connector 12"/>
          <p:cNvCxnSpPr>
            <a:stCxn id="17" idx="2"/>
          </p:cNvCxnSpPr>
          <p:nvPr/>
        </p:nvCxnSpPr>
        <p:spPr bwMode="auto">
          <a:xfrm>
            <a:off x="5562600" y="3124200"/>
            <a:ext cx="609600" cy="2286000"/>
          </a:xfrm>
          <a:prstGeom prst="straightConnector1">
            <a:avLst/>
          </a:prstGeom>
          <a:solidFill>
            <a:schemeClr val="accent1"/>
          </a:solidFill>
          <a:ln w="25400" cap="flat" cmpd="sng" algn="ctr">
            <a:solidFill>
              <a:srgbClr val="7030A0"/>
            </a:solidFill>
            <a:prstDash val="solid"/>
            <a:round/>
            <a:headEnd type="none" w="med" len="med"/>
            <a:tailEnd type="arrow"/>
          </a:ln>
          <a:effectLst/>
        </p:spPr>
      </p:cxnSp>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2" name="椭圆 1"/>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6627" name="Rectangle 3"/>
          <p:cNvSpPr>
            <a:spLocks noGrp="1" noChangeArrowheads="1"/>
          </p:cNvSpPr>
          <p:nvPr/>
        </p:nvSpPr>
        <p:spPr>
          <a:xfrm>
            <a:off x="0" y="253365"/>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ltLang="zh-CN" sz="3200" dirty="0">
                <a:solidFill>
                  <a:schemeClr val="bg1"/>
                </a:solidFill>
              </a:rPr>
              <a:t>case</a:t>
            </a:r>
            <a:r>
              <a:rPr lang="zh-CN" altLang="en-US" sz="3200" dirty="0">
                <a:solidFill>
                  <a:schemeClr val="bg1"/>
                </a:solidFill>
              </a:rPr>
              <a:t>落空</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 calcmode="lin" valueType="num">
                                      <p:cBhvr additive="base">
                                        <p:cTn id="29" dur="500" fill="hold"/>
                                        <p:tgtEl>
                                          <p:spTgt spid="18"/>
                                        </p:tgtEl>
                                        <p:attrNameLst>
                                          <p:attrName>ppt_x</p:attrName>
                                        </p:attrNameLst>
                                      </p:cBhvr>
                                      <p:tavLst>
                                        <p:tav tm="0">
                                          <p:val>
                                            <p:strVal val="#ppt_x"/>
                                          </p:val>
                                        </p:tav>
                                        <p:tav tm="100000">
                                          <p:val>
                                            <p:strVal val="#ppt_x"/>
                                          </p:val>
                                        </p:tav>
                                      </p:tavLst>
                                    </p:anim>
                                    <p:anim calcmode="lin" valueType="num">
                                      <p:cBhvr additive="base">
                                        <p:cTn id="3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dirty="0"/>
              <a:t>Code Blocks (x == 2, x == 3)</a:t>
            </a:r>
          </a:p>
        </p:txBody>
      </p:sp>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2" name="椭圆 1"/>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7" name="Rectangle 6"/>
          <p:cNvSpPr/>
          <p:nvPr/>
        </p:nvSpPr>
        <p:spPr bwMode="auto">
          <a:xfrm>
            <a:off x="139700" y="1524000"/>
            <a:ext cx="36703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long w = 1;</a:t>
            </a:r>
          </a:p>
          <a:p>
            <a:pPr algn="l"/>
            <a:r>
              <a:rPr lang="en-US" sz="1800" b="1" dirty="0">
                <a:solidFill>
                  <a:schemeClr val="tx1"/>
                </a:solidFill>
                <a:latin typeface="Courier New" panose="02070309020205020404" charset="0"/>
                <a:cs typeface="Courier New" panose="02070309020205020404" charset="0"/>
                <a:sym typeface="Courier New Bold" charset="0"/>
              </a:rPr>
              <a:t>	. . .</a:t>
            </a:r>
          </a:p>
          <a:p>
            <a:pPr algn="l"/>
            <a:r>
              <a:rPr lang="en-US" sz="1800" b="1" dirty="0">
                <a:solidFill>
                  <a:schemeClr val="tx1"/>
                </a:solidFill>
                <a:latin typeface="Courier New" panose="02070309020205020404" charset="0"/>
                <a:cs typeface="Courier New" panose="02070309020205020404" charset="0"/>
                <a:sym typeface="Courier New Bold" charset="0"/>
              </a:rPr>
              <a:t>    switch(x)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 .	</a:t>
            </a:r>
          </a:p>
          <a:p>
            <a:pPr algn="l"/>
            <a:r>
              <a:rPr lang="en-US" sz="1800" b="1" dirty="0">
                <a:solidFill>
                  <a:schemeClr val="tx1"/>
                </a:solidFill>
                <a:latin typeface="Courier New" panose="02070309020205020404" charset="0"/>
                <a:cs typeface="Courier New" panose="02070309020205020404" charset="0"/>
                <a:sym typeface="Courier New Bold" charset="0"/>
              </a:rPr>
              <a:t>    case 2:</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y/z;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Fall Through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3:</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a:t>
            </a:r>
          </a:p>
        </p:txBody>
      </p:sp>
      <p:sp>
        <p:nvSpPr>
          <p:cNvPr id="27652" name="Rectangle 4"/>
          <p:cNvSpPr/>
          <p:nvPr/>
        </p:nvSpPr>
        <p:spPr bwMode="auto">
          <a:xfrm>
            <a:off x="3962400" y="1295400"/>
            <a:ext cx="5041900" cy="3048000"/>
          </a:xfrm>
          <a:prstGeom prst="rect">
            <a:avLst/>
          </a:prstGeom>
          <a:solidFill>
            <a:srgbClr val="F1C7C7"/>
          </a:solidFill>
          <a:ln w="12700" cap="flat">
            <a:solidFill>
              <a:srgbClr val="000000"/>
            </a:solidFill>
            <a:prstDash val="solid"/>
            <a:miter lim="800000"/>
            <a:headEnd type="none" w="med" len="med"/>
            <a:tailEnd type="none" w="med" len="med"/>
          </a:ln>
          <a:effectLst>
            <a:outerShdw dist="76199" dir="2700000" algn="ctr" rotWithShape="0">
              <a:srgbClr val="000000">
                <a:alpha val="75000"/>
              </a:srgbClr>
            </a:outerShdw>
          </a:effectLst>
        </p:spPr>
        <p:txBody>
          <a:bodyPr lIns="38100" tIns="38100" rIns="38100" bIns="38100"/>
          <a:lstStyle/>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.L5:                  # Case 2</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movq</a:t>
            </a: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rsi</a:t>
            </a: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rax</a:t>
            </a:r>
            <a:endParaRPr lang="cs-CZ" sz="1800" b="1" dirty="0">
              <a:solidFill>
                <a:srgbClr val="000000"/>
              </a:solidFill>
              <a:latin typeface="Courier New" panose="02070309020205020404" charset="0"/>
              <a:cs typeface="Courier New" panose="02070309020205020404" charset="0"/>
              <a:sym typeface="Courier New Bold" charset="0"/>
            </a:endParaRP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cqto</a:t>
            </a:r>
            <a:endParaRPr lang="cs-CZ" sz="1800" b="1" dirty="0">
              <a:solidFill>
                <a:srgbClr val="000000"/>
              </a:solidFill>
              <a:latin typeface="Courier New" panose="02070309020205020404" charset="0"/>
              <a:cs typeface="Courier New" panose="02070309020205020404" charset="0"/>
              <a:sym typeface="Courier New Bold" charset="0"/>
            </a:endParaRP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idivq</a:t>
            </a: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rcx</a:t>
            </a:r>
            <a:r>
              <a:rPr lang="cs-CZ" sz="1800" b="1" dirty="0">
                <a:solidFill>
                  <a:srgbClr val="000000"/>
                </a:solidFill>
                <a:latin typeface="Courier New" panose="02070309020205020404" charset="0"/>
                <a:cs typeface="Courier New" panose="02070309020205020404" charset="0"/>
                <a:sym typeface="Courier New Bold" charset="0"/>
              </a:rPr>
              <a:t>       #  </a:t>
            </a:r>
            <a:r>
              <a:rPr lang="cs-CZ" sz="1800" b="1" dirty="0" err="1">
                <a:solidFill>
                  <a:srgbClr val="000000"/>
                </a:solidFill>
                <a:latin typeface="Courier New" panose="02070309020205020404" charset="0"/>
                <a:cs typeface="Courier New" panose="02070309020205020404" charset="0"/>
                <a:sym typeface="Courier New Bold" charset="0"/>
              </a:rPr>
              <a:t>y</a:t>
            </a:r>
            <a:r>
              <a:rPr lang="cs-CZ" sz="1800" b="1" dirty="0">
                <a:solidFill>
                  <a:srgbClr val="000000"/>
                </a:solidFill>
                <a:latin typeface="Courier New" panose="02070309020205020404" charset="0"/>
                <a:cs typeface="Courier New" panose="02070309020205020404" charset="0"/>
                <a:sym typeface="Courier New Bold" charset="0"/>
              </a:rPr>
              <a:t>/z</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jmp</a:t>
            </a:r>
            <a:r>
              <a:rPr lang="cs-CZ" sz="1800" b="1" dirty="0">
                <a:solidFill>
                  <a:srgbClr val="000000"/>
                </a:solidFill>
                <a:latin typeface="Courier New" panose="02070309020205020404" charset="0"/>
                <a:cs typeface="Courier New" panose="02070309020205020404" charset="0"/>
                <a:sym typeface="Courier New Bold" charset="0"/>
              </a:rPr>
              <a:t>     .L6        #  </a:t>
            </a:r>
            <a:r>
              <a:rPr lang="cs-CZ" sz="1800" b="1" dirty="0" err="1">
                <a:solidFill>
                  <a:srgbClr val="000000"/>
                </a:solidFill>
                <a:latin typeface="Courier New" panose="02070309020205020404" charset="0"/>
                <a:cs typeface="Courier New" panose="02070309020205020404" charset="0"/>
                <a:sym typeface="Courier New Bold" charset="0"/>
              </a:rPr>
              <a:t>goto</a:t>
            </a: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merge</a:t>
            </a:r>
            <a:endParaRPr lang="cs-CZ" sz="1800" b="1" dirty="0">
              <a:solidFill>
                <a:srgbClr val="000000"/>
              </a:solidFill>
              <a:latin typeface="Courier New" panose="02070309020205020404" charset="0"/>
              <a:cs typeface="Courier New" panose="02070309020205020404" charset="0"/>
              <a:sym typeface="Courier New Bold" charset="0"/>
            </a:endParaRP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.L9:                  # Case 3</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movl</a:t>
            </a:r>
            <a:r>
              <a:rPr lang="cs-CZ" sz="1800" b="1" dirty="0">
                <a:solidFill>
                  <a:srgbClr val="000000"/>
                </a:solidFill>
                <a:latin typeface="Courier New" panose="02070309020205020404" charset="0"/>
                <a:cs typeface="Courier New" panose="02070309020205020404" charset="0"/>
                <a:sym typeface="Courier New Bold" charset="0"/>
              </a:rPr>
              <a:t>    $1, %</a:t>
            </a:r>
            <a:r>
              <a:rPr lang="cs-CZ" sz="1800" b="1" dirty="0" err="1">
                <a:solidFill>
                  <a:srgbClr val="000000"/>
                </a:solidFill>
                <a:latin typeface="Courier New" panose="02070309020205020404" charset="0"/>
                <a:cs typeface="Courier New" panose="02070309020205020404" charset="0"/>
                <a:sym typeface="Courier New Bold" charset="0"/>
              </a:rPr>
              <a:t>eax</a:t>
            </a:r>
            <a:r>
              <a:rPr lang="cs-CZ" sz="1800" b="1" dirty="0">
                <a:solidFill>
                  <a:srgbClr val="000000"/>
                </a:solidFill>
                <a:latin typeface="Courier New" panose="02070309020205020404" charset="0"/>
                <a:cs typeface="Courier New" panose="02070309020205020404" charset="0"/>
                <a:sym typeface="Courier New Bold" charset="0"/>
              </a:rPr>
              <a:t>   #  </a:t>
            </a:r>
            <a:r>
              <a:rPr lang="cs-CZ" sz="1800" b="1" dirty="0" err="1">
                <a:solidFill>
                  <a:srgbClr val="000000"/>
                </a:solidFill>
                <a:latin typeface="Courier New" panose="02070309020205020404" charset="0"/>
                <a:cs typeface="Courier New" panose="02070309020205020404" charset="0"/>
                <a:sym typeface="Courier New Bold" charset="0"/>
              </a:rPr>
              <a:t>w</a:t>
            </a:r>
            <a:r>
              <a:rPr lang="cs-CZ" sz="1800" b="1" dirty="0">
                <a:solidFill>
                  <a:srgbClr val="000000"/>
                </a:solidFill>
                <a:latin typeface="Courier New" panose="02070309020205020404" charset="0"/>
                <a:cs typeface="Courier New" panose="02070309020205020404" charset="0"/>
                <a:sym typeface="Courier New Bold" charset="0"/>
              </a:rPr>
              <a:t> = 1</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.L6:                  # </a:t>
            </a:r>
            <a:r>
              <a:rPr lang="cs-CZ" sz="1800" b="1" dirty="0" err="1">
                <a:solidFill>
                  <a:srgbClr val="000000"/>
                </a:solidFill>
                <a:latin typeface="Courier New" panose="02070309020205020404" charset="0"/>
                <a:cs typeface="Courier New" panose="02070309020205020404" charset="0"/>
                <a:sym typeface="Courier New Bold" charset="0"/>
              </a:rPr>
              <a:t>merge</a:t>
            </a:r>
            <a:r>
              <a:rPr lang="cs-CZ" sz="1800" b="1" dirty="0">
                <a:solidFill>
                  <a:srgbClr val="000000"/>
                </a:solidFill>
                <a:latin typeface="Courier New" panose="02070309020205020404" charset="0"/>
                <a:cs typeface="Courier New" panose="02070309020205020404" charset="0"/>
                <a:sym typeface="Courier New Bold" charset="0"/>
              </a:rPr>
              <a:t>:</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addq</a:t>
            </a: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rcx</a:t>
            </a:r>
            <a:r>
              <a:rPr lang="cs-CZ" sz="1800" b="1" dirty="0">
                <a:solidFill>
                  <a:srgbClr val="000000"/>
                </a:solidFill>
                <a:latin typeface="Courier New" panose="02070309020205020404" charset="0"/>
                <a:cs typeface="Courier New" panose="02070309020205020404" charset="0"/>
                <a:sym typeface="Courier New Bold" charset="0"/>
              </a:rPr>
              <a:t>, %</a:t>
            </a:r>
            <a:r>
              <a:rPr lang="cs-CZ" sz="1800" b="1" dirty="0" err="1">
                <a:solidFill>
                  <a:srgbClr val="000000"/>
                </a:solidFill>
                <a:latin typeface="Courier New" panose="02070309020205020404" charset="0"/>
                <a:cs typeface="Courier New" panose="02070309020205020404" charset="0"/>
                <a:sym typeface="Courier New Bold" charset="0"/>
              </a:rPr>
              <a:t>rax</a:t>
            </a:r>
            <a:r>
              <a:rPr lang="cs-CZ" sz="1800" b="1" dirty="0">
                <a:solidFill>
                  <a:srgbClr val="000000"/>
                </a:solidFill>
                <a:latin typeface="Courier New" panose="02070309020205020404" charset="0"/>
                <a:cs typeface="Courier New" panose="02070309020205020404" charset="0"/>
                <a:sym typeface="Courier New Bold" charset="0"/>
              </a:rPr>
              <a:t> #  </a:t>
            </a:r>
            <a:r>
              <a:rPr lang="cs-CZ" sz="1800" b="1" dirty="0" err="1">
                <a:solidFill>
                  <a:srgbClr val="000000"/>
                </a:solidFill>
                <a:latin typeface="Courier New" panose="02070309020205020404" charset="0"/>
                <a:cs typeface="Courier New" panose="02070309020205020404" charset="0"/>
                <a:sym typeface="Courier New Bold" charset="0"/>
              </a:rPr>
              <a:t>w</a:t>
            </a:r>
            <a:r>
              <a:rPr lang="cs-CZ" sz="1800" b="1" dirty="0">
                <a:solidFill>
                  <a:srgbClr val="000000"/>
                </a:solidFill>
                <a:latin typeface="Courier New" panose="02070309020205020404" charset="0"/>
                <a:cs typeface="Courier New" panose="02070309020205020404" charset="0"/>
                <a:sym typeface="Courier New Bold" charset="0"/>
              </a:rPr>
              <a:t> += z</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rgbClr val="000000"/>
                </a:solidFill>
                <a:latin typeface="Courier New" panose="02070309020205020404" charset="0"/>
                <a:cs typeface="Courier New" panose="02070309020205020404" charset="0"/>
                <a:sym typeface="Courier New Bold" charset="0"/>
              </a:rPr>
              <a:t>   ret</a:t>
            </a:r>
          </a:p>
        </p:txBody>
      </p:sp>
      <p:graphicFrame>
        <p:nvGraphicFramePr>
          <p:cNvPr id="12" name="Table 11"/>
          <p:cNvGraphicFramePr>
            <a:graphicFrameLocks noGrp="1"/>
          </p:cNvGraphicFramePr>
          <p:nvPr/>
        </p:nvGraphicFramePr>
        <p:xfrm>
          <a:off x="3641090" y="4193540"/>
          <a:ext cx="3352800" cy="1905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y</a:t>
                      </a:r>
                    </a:p>
                  </a:txBody>
                  <a:tcPr/>
                </a:tc>
                <a:extLst>
                  <a:ext uri="{0D108BD9-81ED-4DB2-BD59-A6C34878D82A}">
                    <a16:rowId xmlns:a16="http://schemas.microsoft.com/office/drawing/2014/main" val="10002"/>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rdx</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z</a:t>
                      </a:r>
                    </a:p>
                  </a:txBody>
                  <a:tcPr/>
                </a:tc>
                <a:extLst>
                  <a:ext uri="{0D108BD9-81ED-4DB2-BD59-A6C34878D82A}">
                    <a16:rowId xmlns:a16="http://schemas.microsoft.com/office/drawing/2014/main" val="10003"/>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b="1" i="0" dirty="0">
                          <a:latin typeface="Courier New" panose="02070309020205020404"/>
                          <a:cs typeface="Courier New" panose="02070309020205020404"/>
                        </a:rPr>
                        <a:t>返回值</a:t>
                      </a:r>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dirty="0"/>
              <a:t>Code Blocks (</a:t>
            </a:r>
            <a:r>
              <a:rPr lang="en-US" dirty="0">
                <a:sym typeface="+mn-ea"/>
              </a:rPr>
              <a:t>x == 5, x == 6, default</a:t>
            </a:r>
            <a:r>
              <a:rPr lang="en-US" dirty="0"/>
              <a:t>)</a:t>
            </a:r>
          </a:p>
        </p:txBody>
      </p:sp>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2" name="椭圆 1"/>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aphicFrame>
        <p:nvGraphicFramePr>
          <p:cNvPr id="12" name="Table 11"/>
          <p:cNvGraphicFramePr>
            <a:graphicFrameLocks noGrp="1"/>
          </p:cNvGraphicFramePr>
          <p:nvPr/>
        </p:nvGraphicFramePr>
        <p:xfrm>
          <a:off x="3641090" y="4193540"/>
          <a:ext cx="3352800" cy="1905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tblGrid>
              <a:tr h="3810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y</a:t>
                      </a:r>
                    </a:p>
                  </a:txBody>
                  <a:tcPr/>
                </a:tc>
                <a:extLst>
                  <a:ext uri="{0D108BD9-81ED-4DB2-BD59-A6C34878D82A}">
                    <a16:rowId xmlns:a16="http://schemas.microsoft.com/office/drawing/2014/main" val="10002"/>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rdx</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z</a:t>
                      </a:r>
                    </a:p>
                  </a:txBody>
                  <a:tcPr/>
                </a:tc>
                <a:extLst>
                  <a:ext uri="{0D108BD9-81ED-4DB2-BD59-A6C34878D82A}">
                    <a16:rowId xmlns:a16="http://schemas.microsoft.com/office/drawing/2014/main" val="10003"/>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b="1" i="0" dirty="0">
                          <a:latin typeface="Courier New" panose="02070309020205020404"/>
                          <a:cs typeface="Courier New" panose="02070309020205020404"/>
                        </a:rPr>
                        <a:t>返回值</a:t>
                      </a:r>
                    </a:p>
                  </a:txBody>
                  <a:tcPr/>
                </a:tc>
                <a:extLst>
                  <a:ext uri="{0D108BD9-81ED-4DB2-BD59-A6C34878D82A}">
                    <a16:rowId xmlns:a16="http://schemas.microsoft.com/office/drawing/2014/main" val="10004"/>
                  </a:ext>
                </a:extLst>
              </a:tr>
            </a:tbl>
          </a:graphicData>
        </a:graphic>
      </p:graphicFrame>
      <p:sp>
        <p:nvSpPr>
          <p:cNvPr id="27653" name="Rectangle 5"/>
          <p:cNvSpPr/>
          <p:nvPr/>
        </p:nvSpPr>
        <p:spPr bwMode="auto">
          <a:xfrm>
            <a:off x="228600" y="1295400"/>
            <a:ext cx="3898900" cy="28194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switch(x)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case 5:  // .L7</a:t>
            </a:r>
          </a:p>
          <a:p>
            <a:pPr algn="l"/>
            <a:r>
              <a:rPr lang="en-US" sz="1800" b="1" dirty="0">
                <a:latin typeface="Courier New" panose="02070309020205020404" charset="0"/>
                <a:cs typeface="Courier New" panose="02070309020205020404" charset="0"/>
                <a:sym typeface="Courier New Bold" charset="0"/>
              </a:rPr>
              <a:t>    case 6:  // .L7</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z;</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break;</a:t>
            </a:r>
          </a:p>
          <a:p>
            <a:pPr algn="l"/>
            <a:r>
              <a:rPr lang="en-US" sz="1800" b="1" dirty="0">
                <a:solidFill>
                  <a:schemeClr val="tx1"/>
                </a:solidFill>
                <a:latin typeface="Courier New" panose="02070309020205020404" charset="0"/>
                <a:cs typeface="Courier New" panose="02070309020205020404" charset="0"/>
                <a:sym typeface="Courier New Bold" charset="0"/>
              </a:rPr>
              <a:t>    default: // .L8</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w = 2; </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4" name="Rectangle 4"/>
          <p:cNvSpPr/>
          <p:nvPr/>
        </p:nvSpPr>
        <p:spPr bwMode="auto">
          <a:xfrm>
            <a:off x="4267200" y="1295400"/>
            <a:ext cx="4737100" cy="21336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chemeClr val="tx1"/>
                </a:solidFill>
                <a:latin typeface="Courier New" panose="02070309020205020404" charset="0"/>
                <a:cs typeface="Courier New" panose="02070309020205020404" charset="0"/>
                <a:sym typeface="Courier New Bold" charset="0"/>
              </a:rPr>
              <a:t>.L7:               # Case 5,6</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movl</a:t>
            </a:r>
            <a:r>
              <a:rPr lang="cs-CZ" sz="1800" b="1" dirty="0">
                <a:solidFill>
                  <a:schemeClr val="tx1"/>
                </a:solidFill>
                <a:latin typeface="Courier New" panose="02070309020205020404" charset="0"/>
                <a:cs typeface="Courier New" panose="02070309020205020404" charset="0"/>
                <a:sym typeface="Courier New Bold" charset="0"/>
              </a:rPr>
              <a:t>  $1, %</a:t>
            </a:r>
            <a:r>
              <a:rPr lang="cs-CZ" sz="1800" b="1" dirty="0" err="1">
                <a:solidFill>
                  <a:schemeClr val="tx1"/>
                </a:solidFill>
                <a:latin typeface="Courier New" panose="02070309020205020404" charset="0"/>
                <a:cs typeface="Courier New" panose="02070309020205020404" charset="0"/>
                <a:sym typeface="Courier New Bold" charset="0"/>
              </a:rPr>
              <a:t>eax</a:t>
            </a:r>
            <a:r>
              <a:rPr lang="cs-CZ" sz="1800" b="1" dirty="0">
                <a:solidFill>
                  <a:schemeClr val="tx1"/>
                </a:solidFill>
                <a:latin typeface="Courier New" panose="02070309020205020404" charset="0"/>
                <a:cs typeface="Courier New" panose="02070309020205020404" charset="0"/>
                <a:sym typeface="Courier New Bold" charset="0"/>
              </a:rPr>
              <a:t>   #  </a:t>
            </a:r>
            <a:r>
              <a:rPr lang="cs-CZ" sz="1800" b="1" dirty="0" err="1">
                <a:solidFill>
                  <a:schemeClr val="tx1"/>
                </a:solidFill>
                <a:latin typeface="Courier New" panose="02070309020205020404" charset="0"/>
                <a:cs typeface="Courier New" panose="02070309020205020404" charset="0"/>
                <a:sym typeface="Courier New Bold" charset="0"/>
              </a:rPr>
              <a:t>w</a:t>
            </a:r>
            <a:r>
              <a:rPr lang="cs-CZ" sz="1800" b="1" dirty="0">
                <a:solidFill>
                  <a:schemeClr val="tx1"/>
                </a:solidFill>
                <a:latin typeface="Courier New" panose="02070309020205020404" charset="0"/>
                <a:cs typeface="Courier New" panose="02070309020205020404" charset="0"/>
                <a:sym typeface="Courier New Bold" charset="0"/>
              </a:rPr>
              <a:t> = 1</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subq</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rdx</a:t>
            </a: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rax</a:t>
            </a:r>
            <a:r>
              <a:rPr lang="cs-CZ" sz="1800" b="1" dirty="0">
                <a:solidFill>
                  <a:schemeClr val="tx1"/>
                </a:solidFill>
                <a:latin typeface="Courier New" panose="02070309020205020404" charset="0"/>
                <a:cs typeface="Courier New" panose="02070309020205020404" charset="0"/>
                <a:sym typeface="Courier New Bold" charset="0"/>
              </a:rPr>
              <a:t> #  </a:t>
            </a:r>
            <a:r>
              <a:rPr lang="cs-CZ" sz="1800" b="1" dirty="0" err="1">
                <a:solidFill>
                  <a:schemeClr val="tx1"/>
                </a:solidFill>
                <a:latin typeface="Courier New" panose="02070309020205020404" charset="0"/>
                <a:cs typeface="Courier New" panose="02070309020205020404" charset="0"/>
                <a:sym typeface="Courier New Bold" charset="0"/>
              </a:rPr>
              <a:t>w</a:t>
            </a:r>
            <a:r>
              <a:rPr lang="cs-CZ" sz="1800" b="1" dirty="0">
                <a:solidFill>
                  <a:schemeClr val="tx1"/>
                </a:solidFill>
                <a:latin typeface="Courier New" panose="02070309020205020404" charset="0"/>
                <a:cs typeface="Courier New" panose="02070309020205020404" charset="0"/>
                <a:sym typeface="Courier New Bold" charset="0"/>
              </a:rPr>
              <a:t> -= z</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chemeClr val="tx1"/>
                </a:solidFill>
                <a:latin typeface="Courier New" panose="02070309020205020404" charset="0"/>
                <a:cs typeface="Courier New" panose="02070309020205020404" charset="0"/>
                <a:sym typeface="Courier New Bold" charset="0"/>
              </a:rPr>
              <a:t>  ret</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chemeClr val="tx1"/>
                </a:solidFill>
                <a:latin typeface="Courier New" panose="02070309020205020404" charset="0"/>
                <a:cs typeface="Courier New" panose="02070309020205020404" charset="0"/>
                <a:sym typeface="Courier New Bold" charset="0"/>
              </a:rPr>
              <a:t>.L8:               # Default:</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chemeClr val="tx1"/>
                </a:solidFill>
                <a:latin typeface="Courier New" panose="02070309020205020404" charset="0"/>
                <a:cs typeface="Courier New" panose="02070309020205020404" charset="0"/>
                <a:sym typeface="Courier New Bold" charset="0"/>
              </a:rPr>
              <a:t>  </a:t>
            </a:r>
            <a:r>
              <a:rPr lang="cs-CZ" sz="1800" b="1" dirty="0" err="1">
                <a:solidFill>
                  <a:schemeClr val="tx1"/>
                </a:solidFill>
                <a:latin typeface="Courier New" panose="02070309020205020404" charset="0"/>
                <a:cs typeface="Courier New" panose="02070309020205020404" charset="0"/>
                <a:sym typeface="Courier New Bold" charset="0"/>
              </a:rPr>
              <a:t>movl</a:t>
            </a:r>
            <a:r>
              <a:rPr lang="cs-CZ" sz="1800" b="1" dirty="0">
                <a:solidFill>
                  <a:schemeClr val="tx1"/>
                </a:solidFill>
                <a:latin typeface="Courier New" panose="02070309020205020404" charset="0"/>
                <a:cs typeface="Courier New" panose="02070309020205020404" charset="0"/>
                <a:sym typeface="Courier New Bold" charset="0"/>
              </a:rPr>
              <a:t>  $2, %</a:t>
            </a:r>
            <a:r>
              <a:rPr lang="cs-CZ" sz="1800" b="1" dirty="0" err="1">
                <a:solidFill>
                  <a:schemeClr val="tx1"/>
                </a:solidFill>
                <a:latin typeface="Courier New" panose="02070309020205020404" charset="0"/>
                <a:cs typeface="Courier New" panose="02070309020205020404" charset="0"/>
                <a:sym typeface="Courier New Bold" charset="0"/>
              </a:rPr>
              <a:t>eax</a:t>
            </a:r>
            <a:r>
              <a:rPr lang="cs-CZ" sz="1800" b="1" dirty="0">
                <a:solidFill>
                  <a:schemeClr val="tx1"/>
                </a:solidFill>
                <a:latin typeface="Courier New" panose="02070309020205020404" charset="0"/>
                <a:cs typeface="Courier New" panose="02070309020205020404" charset="0"/>
                <a:sym typeface="Courier New Bold" charset="0"/>
              </a:rPr>
              <a:t>   #  2</a:t>
            </a:r>
          </a:p>
          <a:p>
            <a:pPr algn="l">
              <a:tabLst>
                <a:tab pos="342900" algn="l"/>
                <a:tab pos="342900" algn="l"/>
                <a:tab pos="1082675" algn="l"/>
                <a:tab pos="342900" algn="l"/>
                <a:tab pos="240665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 pos="342900" algn="l"/>
                <a:tab pos="2463800" algn="l"/>
              </a:tabLst>
            </a:pPr>
            <a:r>
              <a:rPr lang="cs-CZ" sz="1800" b="1" dirty="0">
                <a:solidFill>
                  <a:schemeClr val="tx1"/>
                </a:solidFill>
                <a:latin typeface="Courier New" panose="02070309020205020404" charset="0"/>
                <a:cs typeface="Courier New" panose="02070309020205020404" charset="0"/>
                <a:sym typeface="Courier New Bold" charset="0"/>
              </a:rPr>
              <a:t>  ret</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燕尾形 3"/>
          <p:cNvSpPr/>
          <p:nvPr/>
        </p:nvSpPr>
        <p:spPr>
          <a:xfrm>
            <a:off x="0" y="385445"/>
            <a:ext cx="2380615" cy="7016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942"/>
            <a:ext cx="2852420" cy="252730"/>
          </a:xfrm>
          <a:prstGeom prst="rect">
            <a:avLst/>
          </a:prstGeom>
        </p:spPr>
        <p:txBody>
          <a:bodyPr wrap="none">
            <a:spAutoFit/>
          </a:bodyPr>
          <a:lstStyle/>
          <a:p>
            <a:pPr algn="l"/>
            <a:r>
              <a:rPr lang="en-US" altLang="zh-CN" sz="1050" b="1" dirty="0"/>
              <a:t>PART TWO </a:t>
            </a:r>
            <a:r>
              <a:rPr lang="zh-CN" altLang="en-US" sz="1050" b="1" dirty="0"/>
              <a:t>第二讲：IA-32 /x86-64指令系统</a:t>
            </a:r>
          </a:p>
        </p:txBody>
      </p:sp>
      <p:sp>
        <p:nvSpPr>
          <p:cNvPr id="2" name="椭圆 1"/>
          <p:cNvSpPr/>
          <p:nvPr/>
        </p:nvSpPr>
        <p:spPr>
          <a:xfrm>
            <a:off x="2761416" y="738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39938" name="Rectangle 2"/>
          <p:cNvSpPr/>
          <p:nvPr/>
        </p:nvSpPr>
        <p:spPr bwMode="auto">
          <a:xfrm>
            <a:off x="7897813" y="-26988"/>
            <a:ext cx="1320800" cy="252413"/>
          </a:xfrm>
          <a:prstGeom prst="rect">
            <a:avLst/>
          </a:prstGeom>
          <a:noFill/>
          <a:ln w="25400" cap="flat">
            <a:noFill/>
            <a:miter lim="800000"/>
            <a:headEnd type="none" w="med" len="med"/>
            <a:tailEnd type="none" w="med" len="med"/>
          </a:ln>
        </p:spPr>
        <p:txBody>
          <a:bodyPr lIns="38100" tIns="38100" rIns="38100" bIns="38100"/>
          <a:lstStyle/>
          <a:p>
            <a:r>
              <a:rPr lang="en-US" sz="1200">
                <a:solidFill>
                  <a:srgbClr val="FFFFFF"/>
                </a:solidFill>
                <a:latin typeface="Times New Roman" panose="02020603050405020304" pitchFamily="18" charset="0"/>
                <a:cs typeface="Times New Roman" panose="02020603050405020304" pitchFamily="18" charset="0"/>
                <a:sym typeface="Times New Roman" panose="02020603050405020304" pitchFamily="18" charset="0"/>
              </a:rPr>
              <a:t>Carnegie Mellon</a:t>
            </a:r>
          </a:p>
        </p:txBody>
      </p:sp>
      <p:sp>
        <p:nvSpPr>
          <p:cNvPr id="39939" name="Rectangle 3"/>
          <p:cNvSpPr>
            <a:spLocks noGrp="1" noChangeArrowheads="1"/>
          </p:cNvSpPr>
          <p:nvPr/>
        </p:nvSpPr>
        <p:spPr>
          <a:xfrm>
            <a:off x="457200" y="1524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zh-CN" altLang="en-US" dirty="0">
                <a:solidFill>
                  <a:schemeClr val="bg1"/>
                </a:solidFill>
              </a:rPr>
              <a:t>总结</a:t>
            </a:r>
          </a:p>
        </p:txBody>
      </p:sp>
      <p:sp>
        <p:nvSpPr>
          <p:cNvPr id="39940" name="Rectangle 4"/>
          <p:cNvSpPr>
            <a:spLocks noGrp="1" noChangeArrowheads="1"/>
          </p:cNvSpPr>
          <p:nvPr/>
        </p:nvSpPr>
        <p:spPr>
          <a:xfrm>
            <a:off x="381000" y="1219200"/>
            <a:ext cx="8382000" cy="5435600"/>
          </a:xfrm>
          <a:prstGeom prst="rect">
            <a:avLst/>
          </a:prstGeom>
        </p:spPr>
        <p:txBody>
          <a:bodyPr/>
          <a:lstStyle>
            <a:lvl1pPr marL="342900" indent="-342900" algn="l" rtl="0" fontAlgn="base">
              <a:spcBef>
                <a:spcPts val="600"/>
              </a:spcBef>
              <a:spcAft>
                <a:spcPct val="0"/>
              </a:spcAft>
              <a:buClr>
                <a:srgbClr val="990000"/>
              </a:buClr>
              <a:buSzPct val="60000"/>
              <a:buFont typeface="Wingdings 2" panose="05020102010507070707" pitchFamily="18" charset="2"/>
              <a:buChar char="¢"/>
              <a:defRPr sz="2400">
                <a:solidFill>
                  <a:schemeClr val="tx1"/>
                </a:solidFill>
                <a:latin typeface="+mn-lt"/>
                <a:ea typeface="+mn-ea"/>
                <a:cs typeface="+mn-cs"/>
                <a:sym typeface="Calibri Bold" charset="0"/>
              </a:defRPr>
            </a:lvl1pPr>
            <a:lvl2pPr marL="742950" indent="-2857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1143000" indent="-2286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600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20574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5146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9718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429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8862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0D0D0D"/>
              </a:buClr>
            </a:pPr>
            <a:r>
              <a:rPr lang="en-US" dirty="0"/>
              <a:t>C </a:t>
            </a:r>
            <a:r>
              <a:rPr lang="zh-CN" altLang="en-US" dirty="0"/>
              <a:t>控制</a:t>
            </a:r>
          </a:p>
          <a:p>
            <a:pPr marL="546100" lvl="1">
              <a:buClr>
                <a:srgbClr val="0D0D0D"/>
              </a:buClr>
            </a:pPr>
            <a:r>
              <a:rPr lang="en-US" dirty="0"/>
              <a:t>if-then-else</a:t>
            </a:r>
          </a:p>
          <a:p>
            <a:pPr marL="546100" lvl="1" algn="l">
              <a:buClr>
                <a:srgbClr val="0D0D0D"/>
              </a:buClr>
            </a:pPr>
            <a:r>
              <a:rPr lang="en-US" dirty="0"/>
              <a:t>do-while</a:t>
            </a:r>
          </a:p>
          <a:p>
            <a:pPr marL="546100" lvl="1">
              <a:buClr>
                <a:srgbClr val="0D0D0D"/>
              </a:buClr>
            </a:pPr>
            <a:r>
              <a:rPr lang="en-US" dirty="0"/>
              <a:t>while, for</a:t>
            </a:r>
          </a:p>
          <a:p>
            <a:pPr marL="546100" lvl="1">
              <a:buClr>
                <a:srgbClr val="0D0D0D"/>
              </a:buClr>
            </a:pPr>
            <a:r>
              <a:rPr lang="en-US" dirty="0"/>
              <a:t>switch</a:t>
            </a:r>
          </a:p>
          <a:p>
            <a:pPr>
              <a:buClr>
                <a:srgbClr val="0D0D0D"/>
              </a:buClr>
            </a:pPr>
            <a:r>
              <a:rPr lang="zh-CN" altLang="en-US" dirty="0"/>
              <a:t>汇编程序控制</a:t>
            </a:r>
          </a:p>
          <a:p>
            <a:pPr marL="546100" lvl="1">
              <a:buClr>
                <a:srgbClr val="0D0D0D"/>
              </a:buClr>
            </a:pPr>
            <a:r>
              <a:rPr lang="zh-CN" altLang="en-US" dirty="0">
                <a:ea typeface="宋体" panose="02010600030101010101" pitchFamily="2" charset="-122"/>
              </a:rPr>
              <a:t>条件跳转</a:t>
            </a:r>
          </a:p>
          <a:p>
            <a:pPr marL="546100" lvl="1">
              <a:buClr>
                <a:srgbClr val="181717"/>
              </a:buClr>
            </a:pPr>
            <a:r>
              <a:rPr lang="zh-CN" altLang="en-US" dirty="0">
                <a:ea typeface="宋体" panose="02010600030101010101" pitchFamily="2" charset="-122"/>
              </a:rPr>
              <a:t>条件传送</a:t>
            </a:r>
          </a:p>
          <a:p>
            <a:pPr marL="546100" lvl="1">
              <a:buClr>
                <a:srgbClr val="0D0D0D"/>
              </a:buClr>
            </a:pPr>
            <a:r>
              <a:rPr lang="zh-CN" altLang="en-US" dirty="0">
                <a:ea typeface="宋体" panose="02010600030101010101" pitchFamily="2" charset="-122"/>
              </a:rPr>
              <a:t>间接跳转</a:t>
            </a:r>
            <a:r>
              <a:rPr lang="en-US" dirty="0"/>
              <a:t> (</a:t>
            </a:r>
            <a:r>
              <a:rPr lang="zh-CN" altLang="en-US" dirty="0">
                <a:ea typeface="宋体" panose="02010600030101010101" pitchFamily="2" charset="-122"/>
              </a:rPr>
              <a:t>通过跳转表</a:t>
            </a:r>
            <a:r>
              <a:rPr lang="en-US" dirty="0"/>
              <a:t>)</a:t>
            </a:r>
          </a:p>
          <a:p>
            <a:pPr marL="546100" lvl="1">
              <a:buClr>
                <a:srgbClr val="0D0D0D"/>
              </a:buClr>
            </a:pPr>
            <a:r>
              <a:rPr lang="en-US" dirty="0"/>
              <a:t>编译器生成代码序列来实现更复杂的控制。</a:t>
            </a:r>
          </a:p>
          <a:p>
            <a:pPr>
              <a:buClr>
                <a:srgbClr val="0D0D0D"/>
              </a:buClr>
            </a:pPr>
            <a:r>
              <a:rPr lang="en-US" dirty="0"/>
              <a:t>标准技术</a:t>
            </a:r>
          </a:p>
          <a:p>
            <a:pPr marL="546100" lvl="1">
              <a:buClr>
                <a:srgbClr val="0D0D0D"/>
              </a:buClr>
            </a:pPr>
            <a:r>
              <a:rPr lang="en-US" dirty="0"/>
              <a:t>Loops </a:t>
            </a:r>
            <a:r>
              <a:rPr lang="zh-CN" altLang="en-US" dirty="0">
                <a:ea typeface="宋体" panose="02010600030101010101" pitchFamily="2" charset="-122"/>
              </a:rPr>
              <a:t>转换成</a:t>
            </a:r>
            <a:r>
              <a:rPr lang="en-US" dirty="0"/>
              <a:t> do-while </a:t>
            </a:r>
            <a:r>
              <a:rPr lang="zh-CN" altLang="en-US" dirty="0">
                <a:ea typeface="宋体" panose="02010600030101010101" pitchFamily="2" charset="-122"/>
              </a:rPr>
              <a:t>或者</a:t>
            </a:r>
            <a:r>
              <a:rPr lang="en-US" dirty="0"/>
              <a:t> jump-to-middle </a:t>
            </a:r>
            <a:r>
              <a:rPr lang="zh-CN" altLang="en-US" dirty="0">
                <a:ea typeface="宋体" panose="02010600030101010101" pitchFamily="2" charset="-122"/>
              </a:rPr>
              <a:t>形式</a:t>
            </a:r>
          </a:p>
          <a:p>
            <a:pPr marL="546100" lvl="1">
              <a:buClr>
                <a:srgbClr val="0D0D0D"/>
              </a:buClr>
            </a:pPr>
            <a:r>
              <a:rPr lang="en-US" dirty="0"/>
              <a:t>大型开关语句使用跳转表</a:t>
            </a:r>
          </a:p>
          <a:p>
            <a:pPr marL="546100" lvl="1">
              <a:buClr>
                <a:srgbClr val="0D0D0D"/>
              </a:buClr>
            </a:pPr>
            <a:r>
              <a:rPr lang="en-US" dirty="0"/>
              <a:t>稀疏的switch语句可以使用决策树 (if-</a:t>
            </a:r>
            <a:r>
              <a:rPr lang="en-US" dirty="0" err="1"/>
              <a:t>elseif</a:t>
            </a:r>
            <a:r>
              <a:rPr lang="en-US" dirty="0"/>
              <a:t>-</a:t>
            </a:r>
            <a:r>
              <a:rPr lang="en-US" dirty="0" err="1"/>
              <a:t>elseif</a:t>
            </a:r>
            <a:r>
              <a:rPr lang="en-US" dirty="0"/>
              <a:t>-else)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9940">
                                            <p:txEl>
                                              <p:pRg st="1" end="1"/>
                                            </p:txEl>
                                          </p:spTgt>
                                        </p:tgtEl>
                                        <p:attrNameLst>
                                          <p:attrName>style.visibility</p:attrName>
                                        </p:attrNameLst>
                                      </p:cBhvr>
                                      <p:to>
                                        <p:strVal val="visible"/>
                                      </p:to>
                                    </p:set>
                                    <p:animEffect transition="in" filter="wipe(down)">
                                      <p:cBhvr>
                                        <p:cTn id="7" dur="500"/>
                                        <p:tgtEl>
                                          <p:spTgt spid="39940">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9940">
                                            <p:txEl>
                                              <p:pRg st="2" end="2"/>
                                            </p:txEl>
                                          </p:spTgt>
                                        </p:tgtEl>
                                        <p:attrNameLst>
                                          <p:attrName>style.visibility</p:attrName>
                                        </p:attrNameLst>
                                      </p:cBhvr>
                                      <p:to>
                                        <p:strVal val="visible"/>
                                      </p:to>
                                    </p:set>
                                    <p:animEffect transition="in" filter="wipe(down)">
                                      <p:cBhvr>
                                        <p:cTn id="10" dur="500"/>
                                        <p:tgtEl>
                                          <p:spTgt spid="39940">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9940">
                                            <p:txEl>
                                              <p:pRg st="3" end="3"/>
                                            </p:txEl>
                                          </p:spTgt>
                                        </p:tgtEl>
                                        <p:attrNameLst>
                                          <p:attrName>style.visibility</p:attrName>
                                        </p:attrNameLst>
                                      </p:cBhvr>
                                      <p:to>
                                        <p:strVal val="visible"/>
                                      </p:to>
                                    </p:set>
                                    <p:animEffect transition="in" filter="wipe(down)">
                                      <p:cBhvr>
                                        <p:cTn id="13" dur="500"/>
                                        <p:tgtEl>
                                          <p:spTgt spid="39940">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9940">
                                            <p:txEl>
                                              <p:pRg st="4" end="4"/>
                                            </p:txEl>
                                          </p:spTgt>
                                        </p:tgtEl>
                                        <p:attrNameLst>
                                          <p:attrName>style.visibility</p:attrName>
                                        </p:attrNameLst>
                                      </p:cBhvr>
                                      <p:to>
                                        <p:strVal val="visible"/>
                                      </p:to>
                                    </p:set>
                                    <p:animEffect transition="in" filter="wipe(down)">
                                      <p:cBhvr>
                                        <p:cTn id="16" dur="500"/>
                                        <p:tgtEl>
                                          <p:spTgt spid="39940">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9940">
                                            <p:txEl>
                                              <p:pRg st="6" end="6"/>
                                            </p:txEl>
                                          </p:spTgt>
                                        </p:tgtEl>
                                        <p:attrNameLst>
                                          <p:attrName>style.visibility</p:attrName>
                                        </p:attrNameLst>
                                      </p:cBhvr>
                                      <p:to>
                                        <p:strVal val="visible"/>
                                      </p:to>
                                    </p:set>
                                    <p:animEffect transition="in" filter="wipe(down)">
                                      <p:cBhvr>
                                        <p:cTn id="21" dur="500"/>
                                        <p:tgtEl>
                                          <p:spTgt spid="39940">
                                            <p:txEl>
                                              <p:pRg st="6" end="6"/>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9940">
                                            <p:txEl>
                                              <p:pRg st="7" end="7"/>
                                            </p:txEl>
                                          </p:spTgt>
                                        </p:tgtEl>
                                        <p:attrNameLst>
                                          <p:attrName>style.visibility</p:attrName>
                                        </p:attrNameLst>
                                      </p:cBhvr>
                                      <p:to>
                                        <p:strVal val="visible"/>
                                      </p:to>
                                    </p:set>
                                    <p:animEffect transition="in" filter="wipe(down)">
                                      <p:cBhvr>
                                        <p:cTn id="24" dur="500"/>
                                        <p:tgtEl>
                                          <p:spTgt spid="39940">
                                            <p:txEl>
                                              <p:pRg st="7" end="7"/>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39940">
                                            <p:txEl>
                                              <p:pRg st="8" end="8"/>
                                            </p:txEl>
                                          </p:spTgt>
                                        </p:tgtEl>
                                        <p:attrNameLst>
                                          <p:attrName>style.visibility</p:attrName>
                                        </p:attrNameLst>
                                      </p:cBhvr>
                                      <p:to>
                                        <p:strVal val="visible"/>
                                      </p:to>
                                    </p:set>
                                    <p:animEffect transition="in" filter="wipe(down)">
                                      <p:cBhvr>
                                        <p:cTn id="27" dur="500"/>
                                        <p:tgtEl>
                                          <p:spTgt spid="39940">
                                            <p:txEl>
                                              <p:pRg st="8" end="8"/>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39940">
                                            <p:txEl>
                                              <p:pRg st="9" end="9"/>
                                            </p:txEl>
                                          </p:spTgt>
                                        </p:tgtEl>
                                        <p:attrNameLst>
                                          <p:attrName>style.visibility</p:attrName>
                                        </p:attrNameLst>
                                      </p:cBhvr>
                                      <p:to>
                                        <p:strVal val="visible"/>
                                      </p:to>
                                    </p:set>
                                    <p:animEffect transition="in" filter="wipe(down)">
                                      <p:cBhvr>
                                        <p:cTn id="30" dur="500"/>
                                        <p:tgtEl>
                                          <p:spTgt spid="39940">
                                            <p:txEl>
                                              <p:pRg st="9" end="9"/>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39940">
                                            <p:txEl>
                                              <p:pRg st="11" end="11"/>
                                            </p:txEl>
                                          </p:spTgt>
                                        </p:tgtEl>
                                        <p:attrNameLst>
                                          <p:attrName>style.visibility</p:attrName>
                                        </p:attrNameLst>
                                      </p:cBhvr>
                                      <p:to>
                                        <p:strVal val="visible"/>
                                      </p:to>
                                    </p:set>
                                    <p:animEffect transition="in" filter="wipe(down)">
                                      <p:cBhvr>
                                        <p:cTn id="35" dur="500"/>
                                        <p:tgtEl>
                                          <p:spTgt spid="39940">
                                            <p:txEl>
                                              <p:pRg st="11" end="11"/>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39940">
                                            <p:txEl>
                                              <p:pRg st="12" end="12"/>
                                            </p:txEl>
                                          </p:spTgt>
                                        </p:tgtEl>
                                        <p:attrNameLst>
                                          <p:attrName>style.visibility</p:attrName>
                                        </p:attrNameLst>
                                      </p:cBhvr>
                                      <p:to>
                                        <p:strVal val="visible"/>
                                      </p:to>
                                    </p:set>
                                    <p:animEffect transition="in" filter="wipe(down)">
                                      <p:cBhvr>
                                        <p:cTn id="38" dur="500"/>
                                        <p:tgtEl>
                                          <p:spTgt spid="39940">
                                            <p:txEl>
                                              <p:pRg st="12" end="12"/>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39940">
                                            <p:txEl>
                                              <p:pRg st="13" end="13"/>
                                            </p:txEl>
                                          </p:spTgt>
                                        </p:tgtEl>
                                        <p:attrNameLst>
                                          <p:attrName>style.visibility</p:attrName>
                                        </p:attrNameLst>
                                      </p:cBhvr>
                                      <p:to>
                                        <p:strVal val="visible"/>
                                      </p:to>
                                    </p:set>
                                    <p:animEffect transition="in" filter="wipe(down)">
                                      <p:cBhvr>
                                        <p:cTn id="41" dur="500"/>
                                        <p:tgtEl>
                                          <p:spTgt spid="39940">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20560" y="3295368"/>
            <a:ext cx="2701610" cy="751205"/>
          </a:xfrm>
          <a:prstGeom prst="rect">
            <a:avLst/>
          </a:prstGeom>
          <a:noFill/>
        </p:spPr>
        <p:txBody>
          <a:bodyPr wrap="square" rtlCol="0">
            <a:spAutoFit/>
          </a:bodyPr>
          <a:lstStyle/>
          <a:p>
            <a:pPr algn="ctr" defTabSz="608965">
              <a:lnSpc>
                <a:spcPct val="130000"/>
              </a:lnSpc>
            </a:pPr>
            <a:r>
              <a:rPr lang="en-US" altLang="zh-CN" sz="3300" b="1" dirty="0">
                <a:latin typeface="+mj-lt"/>
                <a:ea typeface="微软雅黑" panose="020B0503020204020204" charset="-122"/>
              </a:rPr>
              <a:t>PART THREE</a:t>
            </a:r>
          </a:p>
        </p:txBody>
      </p:sp>
      <p:sp>
        <p:nvSpPr>
          <p:cNvPr id="3" name="文本框 2"/>
          <p:cNvSpPr txBox="1"/>
          <p:nvPr/>
        </p:nvSpPr>
        <p:spPr>
          <a:xfrm>
            <a:off x="97155" y="2670175"/>
            <a:ext cx="9017635" cy="783590"/>
          </a:xfrm>
          <a:prstGeom prst="rect">
            <a:avLst/>
          </a:prstGeom>
          <a:noFill/>
        </p:spPr>
        <p:txBody>
          <a:bodyPr wrap="square" rtlCol="0">
            <a:spAutoFit/>
          </a:bodyPr>
          <a:lstStyle/>
          <a:p>
            <a:pPr algn="l"/>
            <a:r>
              <a:rPr lang="zh-CN" altLang="en-US" sz="4500" dirty="0">
                <a:latin typeface="+mn-ea"/>
                <a:cs typeface="+mn-ea"/>
                <a:sym typeface="+mn-ea"/>
              </a:rPr>
              <a:t>第三讲： C语言程序的机器级表示</a:t>
            </a:r>
            <a:endParaRPr lang="zh-CN" altLang="en-US" sz="4500" dirty="0">
              <a:latin typeface="+mj-lt"/>
              <a:ea typeface="微软雅黑" panose="020B0503020204020204" charset="-122"/>
            </a:endParaRPr>
          </a:p>
        </p:txBody>
      </p:sp>
      <p:sp>
        <p:nvSpPr>
          <p:cNvPr id="4" name="矩形 3"/>
          <p:cNvSpPr/>
          <p:nvPr/>
        </p:nvSpPr>
        <p:spPr>
          <a:xfrm>
            <a:off x="3667363" y="3962018"/>
            <a:ext cx="1809275" cy="8500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spd="slow">
    <p:push dir="u"/>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3" name="椭圆 2"/>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40665"/>
            <a:ext cx="3051175" cy="947420"/>
          </a:xfrm>
          <a:prstGeom prst="notched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过程调用机制</a:t>
            </a:r>
          </a:p>
        </p:txBody>
      </p:sp>
      <p:sp>
        <p:nvSpPr>
          <p:cNvPr id="7" name="Content Placeholder 6"/>
          <p:cNvSpPr>
            <a:spLocks noGrp="1"/>
          </p:cNvSpPr>
          <p:nvPr/>
        </p:nvSpPr>
        <p:spPr>
          <a:xfrm>
            <a:off x="381000" y="1219200"/>
            <a:ext cx="5815965"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0D0D0D"/>
              </a:buClr>
            </a:pPr>
            <a:r>
              <a:rPr lang="zh-CN" altLang="en-US" dirty="0"/>
              <a:t>传递控制</a:t>
            </a:r>
          </a:p>
          <a:p>
            <a:pPr lvl="1">
              <a:buClr>
                <a:srgbClr val="0D0D0D"/>
              </a:buClr>
            </a:pPr>
            <a:r>
              <a:rPr lang="zh-CN" altLang="en-US" dirty="0">
                <a:ea typeface="宋体" panose="02010600030101010101" pitchFamily="2" charset="-122"/>
              </a:rPr>
              <a:t>进入过程</a:t>
            </a:r>
            <a:r>
              <a:rPr lang="en-US" altLang="zh-CN" dirty="0">
                <a:ea typeface="宋体" panose="02010600030101010101" pitchFamily="2" charset="-122"/>
              </a:rPr>
              <a:t>Q</a:t>
            </a:r>
            <a:r>
              <a:rPr lang="zh-CN" altLang="en-US" dirty="0">
                <a:ea typeface="宋体" panose="02010600030101010101" pitchFamily="2" charset="-122"/>
              </a:rPr>
              <a:t>，</a:t>
            </a:r>
            <a:r>
              <a:rPr lang="en-US" altLang="zh-CN" dirty="0">
                <a:ea typeface="宋体" panose="02010600030101010101" pitchFamily="2" charset="-122"/>
              </a:rPr>
              <a:t>PC</a:t>
            </a:r>
            <a:r>
              <a:rPr lang="zh-CN" altLang="en-US" dirty="0">
                <a:ea typeface="宋体" panose="02010600030101010101" pitchFamily="2" charset="-122"/>
              </a:rPr>
              <a:t>设置为</a:t>
            </a:r>
            <a:r>
              <a:rPr lang="en-US" altLang="zh-CN" dirty="0">
                <a:ea typeface="宋体" panose="02010600030101010101" pitchFamily="2" charset="-122"/>
              </a:rPr>
              <a:t>Q</a:t>
            </a:r>
            <a:r>
              <a:rPr lang="zh-CN" altLang="en-US" dirty="0">
                <a:ea typeface="宋体" panose="02010600030101010101" pitchFamily="2" charset="-122"/>
              </a:rPr>
              <a:t>的起始地址</a:t>
            </a:r>
          </a:p>
          <a:p>
            <a:pPr lvl="1">
              <a:buClr>
                <a:srgbClr val="0D0D0D"/>
              </a:buClr>
            </a:pPr>
            <a:r>
              <a:rPr lang="zh-CN" altLang="en-US" dirty="0">
                <a:ea typeface="宋体" panose="02010600030101010101" pitchFamily="2" charset="-122"/>
              </a:rPr>
              <a:t>返回时，</a:t>
            </a:r>
            <a:r>
              <a:rPr lang="en-US" altLang="zh-CN" dirty="0">
                <a:ea typeface="宋体" panose="02010600030101010101" pitchFamily="2" charset="-122"/>
              </a:rPr>
              <a:t>PC</a:t>
            </a:r>
            <a:r>
              <a:rPr lang="zh-CN" altLang="en-US" dirty="0">
                <a:ea typeface="宋体" panose="02010600030101010101" pitchFamily="2" charset="-122"/>
              </a:rPr>
              <a:t>设置为</a:t>
            </a:r>
            <a:r>
              <a:rPr lang="en-US" altLang="zh-CN" dirty="0">
                <a:ea typeface="宋体" panose="02010600030101010101" pitchFamily="2" charset="-122"/>
              </a:rPr>
              <a:t>P</a:t>
            </a:r>
            <a:r>
              <a:rPr lang="zh-CN" altLang="en-US" dirty="0">
                <a:ea typeface="宋体" panose="02010600030101010101" pitchFamily="2" charset="-122"/>
              </a:rPr>
              <a:t>中调用</a:t>
            </a:r>
            <a:r>
              <a:rPr lang="en-US" altLang="zh-CN" dirty="0">
                <a:ea typeface="宋体" panose="02010600030101010101" pitchFamily="2" charset="-122"/>
              </a:rPr>
              <a:t>Q</a:t>
            </a:r>
            <a:r>
              <a:rPr lang="zh-CN" altLang="en-US" dirty="0">
                <a:ea typeface="宋体" panose="02010600030101010101" pitchFamily="2" charset="-122"/>
              </a:rPr>
              <a:t>后面那条指令地址</a:t>
            </a:r>
          </a:p>
          <a:p>
            <a:pPr>
              <a:buClr>
                <a:srgbClr val="0D0D0D"/>
              </a:buClr>
            </a:pPr>
            <a:r>
              <a:rPr lang="zh-CN" altLang="en-US" dirty="0"/>
              <a:t>传递数据</a:t>
            </a:r>
          </a:p>
          <a:p>
            <a:pPr lvl="1">
              <a:buClr>
                <a:srgbClr val="0D0D0D"/>
              </a:buClr>
            </a:pPr>
            <a:r>
              <a:rPr lang="en-US" dirty="0"/>
              <a:t>P</a:t>
            </a:r>
            <a:r>
              <a:rPr lang="zh-CN" altLang="en-US" dirty="0">
                <a:ea typeface="宋体" panose="02010600030101010101" pitchFamily="2" charset="-122"/>
              </a:rPr>
              <a:t>向</a:t>
            </a:r>
            <a:r>
              <a:rPr lang="en-US" altLang="zh-CN" dirty="0">
                <a:ea typeface="宋体" panose="02010600030101010101" pitchFamily="2" charset="-122"/>
              </a:rPr>
              <a:t>Q</a:t>
            </a:r>
            <a:r>
              <a:rPr lang="zh-CN" altLang="en-US" dirty="0">
                <a:ea typeface="宋体" panose="02010600030101010101" pitchFamily="2" charset="-122"/>
              </a:rPr>
              <a:t>提供一个或多个数据</a:t>
            </a:r>
          </a:p>
          <a:p>
            <a:pPr lvl="1">
              <a:buClr>
                <a:srgbClr val="0D0D0D"/>
              </a:buClr>
            </a:pPr>
            <a:r>
              <a:rPr lang="en-US" dirty="0"/>
              <a:t>Q</a:t>
            </a:r>
            <a:r>
              <a:rPr lang="zh-CN" altLang="en-US" dirty="0">
                <a:ea typeface="宋体" panose="02010600030101010101" pitchFamily="2" charset="-122"/>
              </a:rPr>
              <a:t>必须能够向</a:t>
            </a:r>
            <a:r>
              <a:rPr lang="en-US" altLang="zh-CN" dirty="0">
                <a:ea typeface="宋体" panose="02010600030101010101" pitchFamily="2" charset="-122"/>
              </a:rPr>
              <a:t>P</a:t>
            </a:r>
            <a:r>
              <a:rPr lang="zh-CN" altLang="en-US" dirty="0">
                <a:ea typeface="宋体" panose="02010600030101010101" pitchFamily="2" charset="-122"/>
              </a:rPr>
              <a:t>返回一个值</a:t>
            </a:r>
          </a:p>
          <a:p>
            <a:pPr>
              <a:buClr>
                <a:srgbClr val="0D0D0D"/>
              </a:buClr>
            </a:pPr>
            <a:r>
              <a:rPr lang="zh-CN" altLang="en-US" dirty="0"/>
              <a:t>内存管理</a:t>
            </a:r>
          </a:p>
          <a:p>
            <a:pPr lvl="1">
              <a:buClr>
                <a:srgbClr val="0D0D0D"/>
              </a:buClr>
            </a:pPr>
            <a:r>
              <a:rPr lang="en-US" altLang="zh-CN" dirty="0">
                <a:ea typeface="宋体" panose="02010600030101010101" pitchFamily="2" charset="-122"/>
              </a:rPr>
              <a:t>Q</a:t>
            </a:r>
            <a:r>
              <a:rPr lang="zh-CN" altLang="en-US" dirty="0">
                <a:ea typeface="宋体" panose="02010600030101010101" pitchFamily="2" charset="-122"/>
              </a:rPr>
              <a:t>为局部变量分配空间</a:t>
            </a:r>
          </a:p>
          <a:p>
            <a:pPr lvl="1">
              <a:buClr>
                <a:srgbClr val="0D0D0D"/>
              </a:buClr>
            </a:pPr>
            <a:r>
              <a:rPr lang="zh-CN" altLang="en-US" dirty="0">
                <a:ea typeface="宋体" panose="02010600030101010101" pitchFamily="2" charset="-122"/>
              </a:rPr>
              <a:t>返回前释放存储空间</a:t>
            </a:r>
          </a:p>
          <a:p>
            <a:pPr>
              <a:buClr>
                <a:srgbClr val="0D0D0D"/>
              </a:buClr>
            </a:pPr>
            <a:r>
              <a:rPr lang="en-US" dirty="0"/>
              <a:t>所有用机器指令实现的机制</a:t>
            </a:r>
          </a:p>
          <a:p>
            <a:pPr>
              <a:buClr>
                <a:srgbClr val="0D0D0D"/>
              </a:buClr>
            </a:pPr>
            <a:r>
              <a:rPr lang="en-US" dirty="0"/>
              <a:t>x86-64执行一个程序使用这些机制</a:t>
            </a:r>
          </a:p>
        </p:txBody>
      </p:sp>
      <p:sp>
        <p:nvSpPr>
          <p:cNvPr id="8" name="Rectangle 4"/>
          <p:cNvSpPr/>
          <p:nvPr/>
        </p:nvSpPr>
        <p:spPr bwMode="auto">
          <a:xfrm>
            <a:off x="6343650" y="859155"/>
            <a:ext cx="18415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P(…)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y = Q(x);</a:t>
            </a:r>
          </a:p>
          <a:p>
            <a:pPr algn="l"/>
            <a:r>
              <a:rPr lang="en-US" sz="1800" dirty="0">
                <a:solidFill>
                  <a:schemeClr val="tx1"/>
                </a:solidFill>
                <a:latin typeface="Courier New" panose="02070309020205020404" charset="0"/>
                <a:cs typeface="Courier New" panose="02070309020205020404" charset="0"/>
                <a:sym typeface="Courier New Bold" charset="0"/>
              </a:rPr>
              <a:t>  print(y)</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9" name="Rectangle 5"/>
          <p:cNvSpPr/>
          <p:nvPr/>
        </p:nvSpPr>
        <p:spPr bwMode="auto">
          <a:xfrm>
            <a:off x="6197600" y="3568065"/>
            <a:ext cx="2133600" cy="236220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Q(</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t = 3*</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v[10];</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return v[t];</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wipe(down)">
                                      <p:cBhvr>
                                        <p:cTn id="7" dur="500"/>
                                        <p:tgtEl>
                                          <p:spTgt spid="7">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wipe(down)">
                                      <p:cBhvr>
                                        <p:cTn id="10" dur="500"/>
                                        <p:tgtEl>
                                          <p:spTgt spid="7">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animEffect transition="in" filter="wipe(down)">
                                      <p:cBhvr>
                                        <p:cTn id="15" dur="500"/>
                                        <p:tgtEl>
                                          <p:spTgt spid="7">
                                            <p:txEl>
                                              <p:pRg st="4" end="4"/>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7">
                                            <p:txEl>
                                              <p:pRg st="5" end="5"/>
                                            </p:txEl>
                                          </p:spTgt>
                                        </p:tgtEl>
                                        <p:attrNameLst>
                                          <p:attrName>style.visibility</p:attrName>
                                        </p:attrNameLst>
                                      </p:cBhvr>
                                      <p:to>
                                        <p:strVal val="visible"/>
                                      </p:to>
                                    </p:set>
                                    <p:animEffect transition="in" filter="wipe(down)">
                                      <p:cBhvr>
                                        <p:cTn id="18" dur="500"/>
                                        <p:tgtEl>
                                          <p:spTgt spid="7">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animEffect transition="in" filter="wipe(down)">
                                      <p:cBhvr>
                                        <p:cTn id="23" dur="500"/>
                                        <p:tgtEl>
                                          <p:spTgt spid="7">
                                            <p:txEl>
                                              <p:pRg st="7" end="7"/>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7">
                                            <p:txEl>
                                              <p:pRg st="8" end="8"/>
                                            </p:txEl>
                                          </p:spTgt>
                                        </p:tgtEl>
                                        <p:attrNameLst>
                                          <p:attrName>style.visibility</p:attrName>
                                        </p:attrNameLst>
                                      </p:cBhvr>
                                      <p:to>
                                        <p:strVal val="visible"/>
                                      </p:to>
                                    </p:set>
                                    <p:animEffect transition="in" filter="wipe(down)">
                                      <p:cBhvr>
                                        <p:cTn id="26"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3" name="椭圆 2"/>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40665"/>
            <a:ext cx="3051175" cy="947420"/>
          </a:xfrm>
          <a:prstGeom prst="notched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过程调用机制</a:t>
            </a:r>
          </a:p>
        </p:txBody>
      </p:sp>
      <p:sp>
        <p:nvSpPr>
          <p:cNvPr id="7" name="Content Placeholder 6"/>
          <p:cNvSpPr>
            <a:spLocks noGrp="1"/>
          </p:cNvSpPr>
          <p:nvPr/>
        </p:nvSpPr>
        <p:spPr>
          <a:xfrm>
            <a:off x="381000" y="1219200"/>
            <a:ext cx="5815965"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0D0D0D"/>
              </a:buClr>
            </a:pPr>
            <a:r>
              <a:rPr lang="zh-CN" altLang="en-US" dirty="0"/>
              <a:t>传递控制</a:t>
            </a:r>
          </a:p>
          <a:p>
            <a:pPr lvl="1">
              <a:buClr>
                <a:srgbClr val="0D0D0D"/>
              </a:buClr>
            </a:pPr>
            <a:r>
              <a:rPr lang="zh-CN" altLang="en-US" dirty="0">
                <a:solidFill>
                  <a:srgbClr val="FF0000"/>
                </a:solidFill>
                <a:ea typeface="宋体" panose="02010600030101010101" pitchFamily="2" charset="-122"/>
              </a:rPr>
              <a:t>进入过程</a:t>
            </a:r>
            <a:r>
              <a:rPr lang="en-US" altLang="zh-CN" dirty="0">
                <a:solidFill>
                  <a:srgbClr val="FF0000"/>
                </a:solidFill>
                <a:ea typeface="宋体" panose="02010600030101010101" pitchFamily="2" charset="-122"/>
              </a:rPr>
              <a:t>Q</a:t>
            </a:r>
            <a:r>
              <a:rPr lang="zh-CN" altLang="en-US" dirty="0">
                <a:solidFill>
                  <a:srgbClr val="FF0000"/>
                </a:solidFill>
                <a:ea typeface="宋体" panose="02010600030101010101" pitchFamily="2" charset="-122"/>
              </a:rPr>
              <a:t>，</a:t>
            </a:r>
            <a:r>
              <a:rPr lang="en-US" altLang="zh-CN" dirty="0">
                <a:solidFill>
                  <a:srgbClr val="FF0000"/>
                </a:solidFill>
                <a:ea typeface="宋体" panose="02010600030101010101" pitchFamily="2" charset="-122"/>
              </a:rPr>
              <a:t>PC</a:t>
            </a:r>
            <a:r>
              <a:rPr lang="zh-CN" altLang="en-US" dirty="0">
                <a:solidFill>
                  <a:srgbClr val="FF0000"/>
                </a:solidFill>
                <a:ea typeface="宋体" panose="02010600030101010101" pitchFamily="2" charset="-122"/>
              </a:rPr>
              <a:t>设置为</a:t>
            </a:r>
            <a:r>
              <a:rPr lang="en-US" altLang="zh-CN" dirty="0">
                <a:solidFill>
                  <a:srgbClr val="FF0000"/>
                </a:solidFill>
                <a:ea typeface="宋体" panose="02010600030101010101" pitchFamily="2" charset="-122"/>
              </a:rPr>
              <a:t>Q</a:t>
            </a:r>
            <a:r>
              <a:rPr lang="zh-CN" altLang="en-US" dirty="0">
                <a:solidFill>
                  <a:srgbClr val="FF0000"/>
                </a:solidFill>
                <a:ea typeface="宋体" panose="02010600030101010101" pitchFamily="2" charset="-122"/>
              </a:rPr>
              <a:t>的起始地址</a:t>
            </a:r>
          </a:p>
          <a:p>
            <a:pPr lvl="1">
              <a:buClr>
                <a:srgbClr val="0D0D0D"/>
              </a:buClr>
            </a:pPr>
            <a:r>
              <a:rPr lang="zh-CN" altLang="en-US" dirty="0">
                <a:solidFill>
                  <a:srgbClr val="0070C0"/>
                </a:solidFill>
                <a:ea typeface="宋体" panose="02010600030101010101" pitchFamily="2" charset="-122"/>
              </a:rPr>
              <a:t>返回时，</a:t>
            </a:r>
            <a:r>
              <a:rPr lang="en-US" altLang="zh-CN" dirty="0">
                <a:solidFill>
                  <a:srgbClr val="0070C0"/>
                </a:solidFill>
                <a:ea typeface="宋体" panose="02010600030101010101" pitchFamily="2" charset="-122"/>
              </a:rPr>
              <a:t>PC</a:t>
            </a:r>
            <a:r>
              <a:rPr lang="zh-CN" altLang="en-US" dirty="0">
                <a:solidFill>
                  <a:srgbClr val="0070C0"/>
                </a:solidFill>
                <a:ea typeface="宋体" panose="02010600030101010101" pitchFamily="2" charset="-122"/>
              </a:rPr>
              <a:t>设置为</a:t>
            </a:r>
            <a:r>
              <a:rPr lang="en-US" altLang="zh-CN" dirty="0">
                <a:solidFill>
                  <a:srgbClr val="0070C0"/>
                </a:solidFill>
                <a:ea typeface="宋体" panose="02010600030101010101" pitchFamily="2" charset="-122"/>
              </a:rPr>
              <a:t>P</a:t>
            </a:r>
            <a:r>
              <a:rPr lang="zh-CN" altLang="en-US" dirty="0">
                <a:solidFill>
                  <a:srgbClr val="0070C0"/>
                </a:solidFill>
                <a:ea typeface="宋体" panose="02010600030101010101" pitchFamily="2" charset="-122"/>
              </a:rPr>
              <a:t>中调用</a:t>
            </a:r>
            <a:r>
              <a:rPr lang="en-US" altLang="zh-CN" dirty="0">
                <a:solidFill>
                  <a:srgbClr val="0070C0"/>
                </a:solidFill>
                <a:ea typeface="宋体" panose="02010600030101010101" pitchFamily="2" charset="-122"/>
              </a:rPr>
              <a:t>Q</a:t>
            </a:r>
            <a:r>
              <a:rPr lang="zh-CN" altLang="en-US" dirty="0">
                <a:solidFill>
                  <a:srgbClr val="0070C0"/>
                </a:solidFill>
                <a:ea typeface="宋体" panose="02010600030101010101" pitchFamily="2" charset="-122"/>
              </a:rPr>
              <a:t>后面那条指令地址</a:t>
            </a:r>
          </a:p>
          <a:p>
            <a:pPr>
              <a:buClr>
                <a:srgbClr val="0D0D0D"/>
              </a:buClr>
            </a:pPr>
            <a:r>
              <a:rPr lang="zh-CN" altLang="en-US" dirty="0"/>
              <a:t>传递数据</a:t>
            </a:r>
          </a:p>
          <a:p>
            <a:pPr lvl="1">
              <a:buClr>
                <a:srgbClr val="0D0D0D"/>
              </a:buClr>
            </a:pPr>
            <a:r>
              <a:rPr lang="en-US" dirty="0"/>
              <a:t>P</a:t>
            </a:r>
            <a:r>
              <a:rPr lang="zh-CN" altLang="en-US" dirty="0">
                <a:ea typeface="宋体" panose="02010600030101010101" pitchFamily="2" charset="-122"/>
              </a:rPr>
              <a:t>向</a:t>
            </a:r>
            <a:r>
              <a:rPr lang="en-US" altLang="zh-CN" dirty="0">
                <a:ea typeface="宋体" panose="02010600030101010101" pitchFamily="2" charset="-122"/>
              </a:rPr>
              <a:t>Q</a:t>
            </a:r>
            <a:r>
              <a:rPr lang="zh-CN" altLang="en-US" dirty="0">
                <a:ea typeface="宋体" panose="02010600030101010101" pitchFamily="2" charset="-122"/>
              </a:rPr>
              <a:t>提供一个或多个数据</a:t>
            </a:r>
          </a:p>
          <a:p>
            <a:pPr lvl="1">
              <a:buClr>
                <a:srgbClr val="0D0D0D"/>
              </a:buClr>
            </a:pPr>
            <a:r>
              <a:rPr lang="en-US" dirty="0"/>
              <a:t>Q</a:t>
            </a:r>
            <a:r>
              <a:rPr lang="zh-CN" altLang="en-US" dirty="0">
                <a:ea typeface="宋体" panose="02010600030101010101" pitchFamily="2" charset="-122"/>
              </a:rPr>
              <a:t>必须能够向</a:t>
            </a:r>
            <a:r>
              <a:rPr lang="en-US" altLang="zh-CN" dirty="0">
                <a:ea typeface="宋体" panose="02010600030101010101" pitchFamily="2" charset="-122"/>
              </a:rPr>
              <a:t>P</a:t>
            </a:r>
            <a:r>
              <a:rPr lang="zh-CN" altLang="en-US" dirty="0">
                <a:ea typeface="宋体" panose="02010600030101010101" pitchFamily="2" charset="-122"/>
              </a:rPr>
              <a:t>返回一个值</a:t>
            </a:r>
          </a:p>
          <a:p>
            <a:pPr>
              <a:buClr>
                <a:srgbClr val="0D0D0D"/>
              </a:buClr>
            </a:pPr>
            <a:r>
              <a:rPr lang="zh-CN" altLang="en-US" dirty="0"/>
              <a:t>内存管理</a:t>
            </a:r>
          </a:p>
          <a:p>
            <a:pPr lvl="1">
              <a:buClr>
                <a:srgbClr val="0D0D0D"/>
              </a:buClr>
            </a:pPr>
            <a:r>
              <a:rPr lang="en-US" altLang="zh-CN" dirty="0">
                <a:ea typeface="宋体" panose="02010600030101010101" pitchFamily="2" charset="-122"/>
              </a:rPr>
              <a:t>Q</a:t>
            </a:r>
            <a:r>
              <a:rPr lang="zh-CN" altLang="en-US" dirty="0">
                <a:ea typeface="宋体" panose="02010600030101010101" pitchFamily="2" charset="-122"/>
              </a:rPr>
              <a:t>为局部变量分配空间</a:t>
            </a:r>
          </a:p>
          <a:p>
            <a:pPr lvl="1">
              <a:buClr>
                <a:srgbClr val="0D0D0D"/>
              </a:buClr>
            </a:pPr>
            <a:r>
              <a:rPr lang="zh-CN" altLang="en-US" dirty="0">
                <a:ea typeface="宋体" panose="02010600030101010101" pitchFamily="2" charset="-122"/>
              </a:rPr>
              <a:t>返回前释放存储空间</a:t>
            </a:r>
          </a:p>
          <a:p>
            <a:pPr>
              <a:buClr>
                <a:srgbClr val="0D0D0D"/>
              </a:buClr>
            </a:pPr>
            <a:r>
              <a:rPr lang="en-US" dirty="0"/>
              <a:t>所有用机器指令实现的机制</a:t>
            </a:r>
          </a:p>
          <a:p>
            <a:pPr>
              <a:buClr>
                <a:srgbClr val="0D0D0D"/>
              </a:buClr>
            </a:pPr>
            <a:r>
              <a:rPr lang="en-US" dirty="0"/>
              <a:t>x86-64执行一个程序使用这些机制</a:t>
            </a:r>
          </a:p>
        </p:txBody>
      </p:sp>
      <p:sp>
        <p:nvSpPr>
          <p:cNvPr id="8" name="Rectangle 4"/>
          <p:cNvSpPr/>
          <p:nvPr/>
        </p:nvSpPr>
        <p:spPr bwMode="auto">
          <a:xfrm>
            <a:off x="6343650" y="859155"/>
            <a:ext cx="18415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P(…)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y = Q(x);</a:t>
            </a:r>
          </a:p>
          <a:p>
            <a:pPr algn="l"/>
            <a:r>
              <a:rPr lang="en-US" sz="1800" dirty="0">
                <a:solidFill>
                  <a:schemeClr val="tx1"/>
                </a:solidFill>
                <a:latin typeface="Courier New" panose="02070309020205020404" charset="0"/>
                <a:cs typeface="Courier New" panose="02070309020205020404" charset="0"/>
                <a:sym typeface="Courier New Bold" charset="0"/>
              </a:rPr>
              <a:t>  print(y)</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9" name="Rectangle 5"/>
          <p:cNvSpPr/>
          <p:nvPr/>
        </p:nvSpPr>
        <p:spPr bwMode="auto">
          <a:xfrm>
            <a:off x="6197600" y="3568065"/>
            <a:ext cx="2133600" cy="236220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Q(</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t = 3*</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v[10];</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return v[t];</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11" name="Arc 10"/>
          <p:cNvSpPr/>
          <p:nvPr/>
        </p:nvSpPr>
        <p:spPr bwMode="auto">
          <a:xfrm rot="10800000">
            <a:off x="5740399" y="2159000"/>
            <a:ext cx="1371600" cy="3314700"/>
          </a:xfrm>
          <a:prstGeom prst="arc">
            <a:avLst>
              <a:gd name="adj1" fmla="val 16200000"/>
              <a:gd name="adj2" fmla="val 5567493"/>
            </a:avLst>
          </a:prstGeom>
          <a:noFill/>
          <a:ln w="25400" cap="flat" cmpd="sng" algn="ctr">
            <a:solidFill>
              <a:srgbClr val="0070C0"/>
            </a:solidFill>
            <a:prstDash val="solid"/>
            <a:round/>
            <a:headEnd type="none" w="med" len="med"/>
            <a:tailEnd type="arrow"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12" name="Freeform 1"/>
          <p:cNvSpPr/>
          <p:nvPr/>
        </p:nvSpPr>
        <p:spPr bwMode="auto">
          <a:xfrm>
            <a:off x="6450360" y="1983368"/>
            <a:ext cx="2086671" cy="2085278"/>
          </a:xfrm>
          <a:custGeom>
            <a:avLst/>
            <a:gdLst>
              <a:gd name="connsiteX0" fmla="*/ 1616926 w 2665494"/>
              <a:gd name="connsiteY0" fmla="*/ 0 h 2230244"/>
              <a:gd name="connsiteX1" fmla="*/ 2631687 w 2665494"/>
              <a:gd name="connsiteY1" fmla="*/ 1248937 h 2230244"/>
              <a:gd name="connsiteX2" fmla="*/ 512956 w 2665494"/>
              <a:gd name="connsiteY2" fmla="*/ 1873405 h 2230244"/>
              <a:gd name="connsiteX3" fmla="*/ 0 w 2665494"/>
              <a:gd name="connsiteY3" fmla="*/ 2230244 h 2230244"/>
              <a:gd name="connsiteX0-1" fmla="*/ 1616926 w 2445343"/>
              <a:gd name="connsiteY0-2" fmla="*/ 0 h 2230244"/>
              <a:gd name="connsiteX1-3" fmla="*/ 2397512 w 2445343"/>
              <a:gd name="connsiteY1-4" fmla="*/ 970156 h 2230244"/>
              <a:gd name="connsiteX2-5" fmla="*/ 512956 w 2445343"/>
              <a:gd name="connsiteY2-6" fmla="*/ 1873405 h 2230244"/>
              <a:gd name="connsiteX3-7" fmla="*/ 0 w 2445343"/>
              <a:gd name="connsiteY3-8" fmla="*/ 2230244 h 2230244"/>
              <a:gd name="connsiteX0-9" fmla="*/ 1616926 w 2415785"/>
              <a:gd name="connsiteY0-10" fmla="*/ 0 h 2230244"/>
              <a:gd name="connsiteX1-11" fmla="*/ 2397512 w 2415785"/>
              <a:gd name="connsiteY1-12" fmla="*/ 970156 h 2230244"/>
              <a:gd name="connsiteX2-13" fmla="*/ 512956 w 2415785"/>
              <a:gd name="connsiteY2-14" fmla="*/ 1873405 h 2230244"/>
              <a:gd name="connsiteX3-15" fmla="*/ 0 w 2415785"/>
              <a:gd name="connsiteY3-16" fmla="*/ 2230244 h 2230244"/>
              <a:gd name="connsiteX0-17" fmla="*/ 1616926 w 2410056"/>
              <a:gd name="connsiteY0-18" fmla="*/ 0 h 2230244"/>
              <a:gd name="connsiteX1-19" fmla="*/ 2397512 w 2410056"/>
              <a:gd name="connsiteY1-20" fmla="*/ 970156 h 2230244"/>
              <a:gd name="connsiteX2-21" fmla="*/ 1170878 w 2410056"/>
              <a:gd name="connsiteY2-22" fmla="*/ 970156 h 2230244"/>
              <a:gd name="connsiteX3-23" fmla="*/ 0 w 2410056"/>
              <a:gd name="connsiteY3-24" fmla="*/ 2230244 h 2230244"/>
              <a:gd name="connsiteX0-25" fmla="*/ 1293541 w 2086671"/>
              <a:gd name="connsiteY0-26" fmla="*/ 0 h 2085278"/>
              <a:gd name="connsiteX1-27" fmla="*/ 2074127 w 2086671"/>
              <a:gd name="connsiteY1-28" fmla="*/ 970156 h 2085278"/>
              <a:gd name="connsiteX2-29" fmla="*/ 847493 w 2086671"/>
              <a:gd name="connsiteY2-30" fmla="*/ 970156 h 2085278"/>
              <a:gd name="connsiteX3-31" fmla="*/ 0 w 2086671"/>
              <a:gd name="connsiteY3-32" fmla="*/ 2085278 h 2085278"/>
            </a:gdLst>
            <a:ahLst/>
            <a:cxnLst>
              <a:cxn ang="0">
                <a:pos x="connsiteX0-1" y="connsiteY0-2"/>
              </a:cxn>
              <a:cxn ang="0">
                <a:pos x="connsiteX1-3" y="connsiteY1-4"/>
              </a:cxn>
              <a:cxn ang="0">
                <a:pos x="connsiteX2-5" y="connsiteY2-6"/>
              </a:cxn>
              <a:cxn ang="0">
                <a:pos x="connsiteX3-7" y="connsiteY3-8"/>
              </a:cxn>
            </a:cxnLst>
            <a:rect l="l" t="t" r="r" b="b"/>
            <a:pathLst>
              <a:path w="2086671" h="2085278">
                <a:moveTo>
                  <a:pt x="1293541" y="0"/>
                </a:moveTo>
                <a:cubicBezTo>
                  <a:pt x="1892919" y="468351"/>
                  <a:pt x="2148468" y="808463"/>
                  <a:pt x="2074127" y="970156"/>
                </a:cubicBezTo>
                <a:cubicBezTo>
                  <a:pt x="1999786" y="1131849"/>
                  <a:pt x="1193181" y="784302"/>
                  <a:pt x="847493" y="970156"/>
                </a:cubicBezTo>
                <a:cubicBezTo>
                  <a:pt x="501805" y="1156010"/>
                  <a:pt x="0" y="2085278"/>
                  <a:pt x="0" y="2085278"/>
                </a:cubicBezTo>
              </a:path>
            </a:pathLst>
          </a:custGeom>
          <a:noFill/>
          <a:ln w="25400" cap="flat" cmpd="sng" algn="ctr">
            <a:solidFill>
              <a:srgbClr val="FF0000"/>
            </a:solidFill>
            <a:prstDash val="solid"/>
            <a:round/>
            <a:headEnd type="none" w="med" len="med"/>
            <a:tailEnd type="arrow"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3" name="椭圆 2"/>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40665"/>
            <a:ext cx="3051175" cy="947420"/>
          </a:xfrm>
          <a:prstGeom prst="notched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过程调用机制</a:t>
            </a:r>
          </a:p>
        </p:txBody>
      </p:sp>
      <p:sp>
        <p:nvSpPr>
          <p:cNvPr id="7" name="Content Placeholder 6"/>
          <p:cNvSpPr>
            <a:spLocks noGrp="1"/>
          </p:cNvSpPr>
          <p:nvPr/>
        </p:nvSpPr>
        <p:spPr>
          <a:xfrm>
            <a:off x="381000" y="1219200"/>
            <a:ext cx="5815965"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0D0D0D"/>
              </a:buClr>
            </a:pPr>
            <a:r>
              <a:rPr lang="zh-CN" altLang="en-US" dirty="0"/>
              <a:t>传递控制</a:t>
            </a:r>
          </a:p>
          <a:p>
            <a:pPr lvl="1">
              <a:buClr>
                <a:srgbClr val="0D0D0D"/>
              </a:buClr>
            </a:pPr>
            <a:r>
              <a:rPr lang="zh-CN" altLang="en-US" dirty="0">
                <a:ea typeface="宋体" panose="02010600030101010101" pitchFamily="2" charset="-122"/>
              </a:rPr>
              <a:t>进入过程</a:t>
            </a:r>
            <a:r>
              <a:rPr lang="en-US" altLang="zh-CN" dirty="0">
                <a:ea typeface="宋体" panose="02010600030101010101" pitchFamily="2" charset="-122"/>
              </a:rPr>
              <a:t>Q</a:t>
            </a:r>
            <a:r>
              <a:rPr lang="zh-CN" altLang="en-US" dirty="0">
                <a:ea typeface="宋体" panose="02010600030101010101" pitchFamily="2" charset="-122"/>
              </a:rPr>
              <a:t>，</a:t>
            </a:r>
            <a:r>
              <a:rPr lang="en-US" altLang="zh-CN" dirty="0">
                <a:ea typeface="宋体" panose="02010600030101010101" pitchFamily="2" charset="-122"/>
              </a:rPr>
              <a:t>PC</a:t>
            </a:r>
            <a:r>
              <a:rPr lang="zh-CN" altLang="en-US" dirty="0">
                <a:ea typeface="宋体" panose="02010600030101010101" pitchFamily="2" charset="-122"/>
              </a:rPr>
              <a:t>设置为</a:t>
            </a:r>
            <a:r>
              <a:rPr lang="en-US" altLang="zh-CN" dirty="0">
                <a:ea typeface="宋体" panose="02010600030101010101" pitchFamily="2" charset="-122"/>
              </a:rPr>
              <a:t>Q</a:t>
            </a:r>
            <a:r>
              <a:rPr lang="zh-CN" altLang="en-US" dirty="0">
                <a:ea typeface="宋体" panose="02010600030101010101" pitchFamily="2" charset="-122"/>
              </a:rPr>
              <a:t>的起始地址</a:t>
            </a:r>
          </a:p>
          <a:p>
            <a:pPr lvl="1">
              <a:buClr>
                <a:srgbClr val="0D0D0D"/>
              </a:buClr>
            </a:pPr>
            <a:r>
              <a:rPr lang="zh-CN" altLang="en-US" dirty="0">
                <a:ea typeface="宋体" panose="02010600030101010101" pitchFamily="2" charset="-122"/>
              </a:rPr>
              <a:t>返回时，</a:t>
            </a:r>
            <a:r>
              <a:rPr lang="en-US" altLang="zh-CN" dirty="0">
                <a:ea typeface="宋体" panose="02010600030101010101" pitchFamily="2" charset="-122"/>
              </a:rPr>
              <a:t>PC</a:t>
            </a:r>
            <a:r>
              <a:rPr lang="zh-CN" altLang="en-US" dirty="0">
                <a:ea typeface="宋体" panose="02010600030101010101" pitchFamily="2" charset="-122"/>
              </a:rPr>
              <a:t>设置为</a:t>
            </a:r>
            <a:r>
              <a:rPr lang="en-US" altLang="zh-CN" dirty="0">
                <a:ea typeface="宋体" panose="02010600030101010101" pitchFamily="2" charset="-122"/>
              </a:rPr>
              <a:t>P</a:t>
            </a:r>
            <a:r>
              <a:rPr lang="zh-CN" altLang="en-US" dirty="0">
                <a:ea typeface="宋体" panose="02010600030101010101" pitchFamily="2" charset="-122"/>
              </a:rPr>
              <a:t>中调用</a:t>
            </a:r>
            <a:r>
              <a:rPr lang="en-US" altLang="zh-CN" dirty="0">
                <a:ea typeface="宋体" panose="02010600030101010101" pitchFamily="2" charset="-122"/>
              </a:rPr>
              <a:t>Q</a:t>
            </a:r>
            <a:r>
              <a:rPr lang="zh-CN" altLang="en-US" dirty="0">
                <a:ea typeface="宋体" panose="02010600030101010101" pitchFamily="2" charset="-122"/>
              </a:rPr>
              <a:t>后面那条指令地址</a:t>
            </a:r>
          </a:p>
          <a:p>
            <a:pPr>
              <a:buClr>
                <a:srgbClr val="0D0D0D"/>
              </a:buClr>
            </a:pPr>
            <a:r>
              <a:rPr lang="zh-CN" altLang="en-US" dirty="0"/>
              <a:t>传递数据</a:t>
            </a:r>
          </a:p>
          <a:p>
            <a:pPr lvl="1">
              <a:buClr>
                <a:srgbClr val="0D0D0D"/>
              </a:buClr>
            </a:pPr>
            <a:r>
              <a:rPr lang="en-US" dirty="0">
                <a:solidFill>
                  <a:srgbClr val="549EBE"/>
                </a:solidFill>
              </a:rPr>
              <a:t>P</a:t>
            </a:r>
            <a:r>
              <a:rPr lang="zh-CN" altLang="en-US" dirty="0">
                <a:solidFill>
                  <a:srgbClr val="549EBE"/>
                </a:solidFill>
                <a:ea typeface="宋体" panose="02010600030101010101" pitchFamily="2" charset="-122"/>
              </a:rPr>
              <a:t>向</a:t>
            </a:r>
            <a:r>
              <a:rPr lang="en-US" altLang="zh-CN" dirty="0">
                <a:solidFill>
                  <a:srgbClr val="549EBE"/>
                </a:solidFill>
                <a:ea typeface="宋体" panose="02010600030101010101" pitchFamily="2" charset="-122"/>
              </a:rPr>
              <a:t>Q</a:t>
            </a:r>
            <a:r>
              <a:rPr lang="zh-CN" altLang="en-US" dirty="0">
                <a:solidFill>
                  <a:srgbClr val="549EBE"/>
                </a:solidFill>
                <a:ea typeface="宋体" panose="02010600030101010101" pitchFamily="2" charset="-122"/>
              </a:rPr>
              <a:t>提供一个或多个数据</a:t>
            </a:r>
          </a:p>
          <a:p>
            <a:pPr lvl="1">
              <a:buClr>
                <a:srgbClr val="0D0D0D"/>
              </a:buClr>
            </a:pPr>
            <a:r>
              <a:rPr lang="en-US" dirty="0">
                <a:solidFill>
                  <a:srgbClr val="F70000"/>
                </a:solidFill>
              </a:rPr>
              <a:t>Q</a:t>
            </a:r>
            <a:r>
              <a:rPr lang="zh-CN" altLang="en-US" dirty="0">
                <a:solidFill>
                  <a:srgbClr val="F70000"/>
                </a:solidFill>
                <a:ea typeface="宋体" panose="02010600030101010101" pitchFamily="2" charset="-122"/>
              </a:rPr>
              <a:t>必须能够向</a:t>
            </a:r>
            <a:r>
              <a:rPr lang="en-US" altLang="zh-CN" dirty="0">
                <a:solidFill>
                  <a:srgbClr val="F70000"/>
                </a:solidFill>
                <a:ea typeface="宋体" panose="02010600030101010101" pitchFamily="2" charset="-122"/>
              </a:rPr>
              <a:t>P</a:t>
            </a:r>
            <a:r>
              <a:rPr lang="zh-CN" altLang="en-US" dirty="0">
                <a:solidFill>
                  <a:srgbClr val="F70000"/>
                </a:solidFill>
                <a:ea typeface="宋体" panose="02010600030101010101" pitchFamily="2" charset="-122"/>
              </a:rPr>
              <a:t>返回一个值</a:t>
            </a:r>
          </a:p>
          <a:p>
            <a:pPr>
              <a:buClr>
                <a:srgbClr val="0D0D0D"/>
              </a:buClr>
            </a:pPr>
            <a:r>
              <a:rPr lang="zh-CN" altLang="en-US" dirty="0"/>
              <a:t>内存管理</a:t>
            </a:r>
          </a:p>
          <a:p>
            <a:pPr lvl="1">
              <a:buClr>
                <a:srgbClr val="0D0D0D"/>
              </a:buClr>
            </a:pPr>
            <a:r>
              <a:rPr lang="en-US" altLang="zh-CN" dirty="0">
                <a:ea typeface="宋体" panose="02010600030101010101" pitchFamily="2" charset="-122"/>
              </a:rPr>
              <a:t>Q</a:t>
            </a:r>
            <a:r>
              <a:rPr lang="zh-CN" altLang="en-US" dirty="0">
                <a:ea typeface="宋体" panose="02010600030101010101" pitchFamily="2" charset="-122"/>
              </a:rPr>
              <a:t>为局部变量分配空间</a:t>
            </a:r>
          </a:p>
          <a:p>
            <a:pPr lvl="1">
              <a:buClr>
                <a:srgbClr val="0D0D0D"/>
              </a:buClr>
            </a:pPr>
            <a:r>
              <a:rPr lang="zh-CN" altLang="en-US" dirty="0">
                <a:ea typeface="宋体" panose="02010600030101010101" pitchFamily="2" charset="-122"/>
              </a:rPr>
              <a:t>返回前释放存储空间</a:t>
            </a:r>
          </a:p>
          <a:p>
            <a:pPr>
              <a:buClr>
                <a:srgbClr val="0D0D0D"/>
              </a:buClr>
            </a:pPr>
            <a:r>
              <a:rPr lang="en-US" dirty="0"/>
              <a:t>所有用机器指令实现的机制</a:t>
            </a:r>
          </a:p>
          <a:p>
            <a:pPr>
              <a:buClr>
                <a:srgbClr val="0D0D0D"/>
              </a:buClr>
            </a:pPr>
            <a:r>
              <a:rPr lang="en-US" dirty="0"/>
              <a:t>x86-64执行一个程序使用这些机制</a:t>
            </a:r>
          </a:p>
        </p:txBody>
      </p:sp>
      <p:sp>
        <p:nvSpPr>
          <p:cNvPr id="8" name="Rectangle 4"/>
          <p:cNvSpPr/>
          <p:nvPr/>
        </p:nvSpPr>
        <p:spPr bwMode="auto">
          <a:xfrm>
            <a:off x="6343650" y="859155"/>
            <a:ext cx="18415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P(…)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y = Q(x);</a:t>
            </a:r>
          </a:p>
          <a:p>
            <a:pPr algn="l"/>
            <a:r>
              <a:rPr lang="en-US" sz="1800" dirty="0">
                <a:solidFill>
                  <a:schemeClr val="tx1"/>
                </a:solidFill>
                <a:latin typeface="Courier New" panose="02070309020205020404" charset="0"/>
                <a:cs typeface="Courier New" panose="02070309020205020404" charset="0"/>
                <a:sym typeface="Courier New Bold" charset="0"/>
              </a:rPr>
              <a:t>  print(y)</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9" name="Rectangle 5"/>
          <p:cNvSpPr/>
          <p:nvPr/>
        </p:nvSpPr>
        <p:spPr bwMode="auto">
          <a:xfrm>
            <a:off x="6197600" y="3568065"/>
            <a:ext cx="2133600" cy="236220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Q(</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t = 3*</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v[10];</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return v[t];</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cxnSp>
        <p:nvCxnSpPr>
          <p:cNvPr id="14" name="Straight Arrow Connector 13"/>
          <p:cNvCxnSpPr/>
          <p:nvPr/>
        </p:nvCxnSpPr>
        <p:spPr bwMode="auto">
          <a:xfrm flipH="1" flipV="1">
            <a:off x="6722110" y="1988820"/>
            <a:ext cx="914400" cy="32004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cxnSp>
        <p:nvCxnSpPr>
          <p:cNvPr id="13" name="Straight Arrow Connector 12"/>
          <p:cNvCxnSpPr/>
          <p:nvPr/>
        </p:nvCxnSpPr>
        <p:spPr bwMode="auto">
          <a:xfrm>
            <a:off x="7636510" y="1988820"/>
            <a:ext cx="0" cy="1697990"/>
          </a:xfrm>
          <a:prstGeom prst="straightConnector1">
            <a:avLst/>
          </a:prstGeom>
          <a:solidFill>
            <a:schemeClr val="accent1"/>
          </a:solidFill>
          <a:ln w="25400" cap="flat" cmpd="sng" algn="ctr">
            <a:solidFill>
              <a:srgbClr val="0070C0"/>
            </a:solidFill>
            <a:prstDash val="solid"/>
            <a:round/>
            <a:headEnd type="none" w="med" len="med"/>
            <a:tailEnd type="arrow"/>
          </a:ln>
          <a:effectLst/>
        </p:spPr>
      </p:cxn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5"/>
          <p:cNvSpPr/>
          <p:nvPr/>
        </p:nvSpPr>
        <p:spPr bwMode="auto">
          <a:xfrm>
            <a:off x="6197600" y="3568065"/>
            <a:ext cx="2133600" cy="236220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Q(</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t = 3*</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v[10];</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return v[t];</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5" name="矩形 4"/>
          <p:cNvSpPr/>
          <p:nvPr/>
        </p:nvSpPr>
        <p:spPr>
          <a:xfrm>
            <a:off x="0" y="3568065"/>
            <a:ext cx="3932555" cy="1248410"/>
          </a:xfrm>
          <a:prstGeom prst="rect">
            <a:avLst/>
          </a:prstGeom>
          <a:solidFill>
            <a:schemeClr val="accent2">
              <a:lumMod val="20000"/>
              <a:lumOff val="80000"/>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3" name="椭圆 2"/>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40665"/>
            <a:ext cx="3051175" cy="947420"/>
          </a:xfrm>
          <a:prstGeom prst="notched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solidFill>
                  <a:schemeClr val="tx1"/>
                </a:solidFill>
              </a:rPr>
              <a:t>过程调用机制</a:t>
            </a:r>
          </a:p>
        </p:txBody>
      </p:sp>
      <p:sp>
        <p:nvSpPr>
          <p:cNvPr id="7" name="Content Placeholder 6"/>
          <p:cNvSpPr>
            <a:spLocks noGrp="1"/>
          </p:cNvSpPr>
          <p:nvPr/>
        </p:nvSpPr>
        <p:spPr>
          <a:xfrm>
            <a:off x="381000" y="1219200"/>
            <a:ext cx="5815965"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0D0D0D"/>
              </a:buClr>
            </a:pPr>
            <a:r>
              <a:rPr lang="zh-CN" altLang="en-US" dirty="0"/>
              <a:t>传递控制</a:t>
            </a:r>
          </a:p>
          <a:p>
            <a:pPr lvl="1">
              <a:buClr>
                <a:srgbClr val="0D0D0D"/>
              </a:buClr>
            </a:pPr>
            <a:r>
              <a:rPr lang="zh-CN" altLang="en-US" dirty="0">
                <a:ea typeface="宋体" panose="02010600030101010101" pitchFamily="2" charset="-122"/>
              </a:rPr>
              <a:t>进入过程</a:t>
            </a:r>
            <a:r>
              <a:rPr lang="en-US" altLang="zh-CN" dirty="0">
                <a:ea typeface="宋体" panose="02010600030101010101" pitchFamily="2" charset="-122"/>
              </a:rPr>
              <a:t>Q</a:t>
            </a:r>
            <a:r>
              <a:rPr lang="zh-CN" altLang="en-US" dirty="0">
                <a:ea typeface="宋体" panose="02010600030101010101" pitchFamily="2" charset="-122"/>
              </a:rPr>
              <a:t>，</a:t>
            </a:r>
            <a:r>
              <a:rPr lang="en-US" altLang="zh-CN" dirty="0">
                <a:ea typeface="宋体" panose="02010600030101010101" pitchFamily="2" charset="-122"/>
              </a:rPr>
              <a:t>PC</a:t>
            </a:r>
            <a:r>
              <a:rPr lang="zh-CN" altLang="en-US" dirty="0">
                <a:ea typeface="宋体" panose="02010600030101010101" pitchFamily="2" charset="-122"/>
              </a:rPr>
              <a:t>设置为</a:t>
            </a:r>
            <a:r>
              <a:rPr lang="en-US" altLang="zh-CN" dirty="0">
                <a:ea typeface="宋体" panose="02010600030101010101" pitchFamily="2" charset="-122"/>
              </a:rPr>
              <a:t>Q</a:t>
            </a:r>
            <a:r>
              <a:rPr lang="zh-CN" altLang="en-US" dirty="0">
                <a:ea typeface="宋体" panose="02010600030101010101" pitchFamily="2" charset="-122"/>
              </a:rPr>
              <a:t>的起始地址</a:t>
            </a:r>
          </a:p>
          <a:p>
            <a:pPr lvl="1">
              <a:buClr>
                <a:srgbClr val="0D0D0D"/>
              </a:buClr>
            </a:pPr>
            <a:r>
              <a:rPr lang="zh-CN" altLang="en-US" dirty="0">
                <a:ea typeface="宋体" panose="02010600030101010101" pitchFamily="2" charset="-122"/>
              </a:rPr>
              <a:t>返回时，</a:t>
            </a:r>
            <a:r>
              <a:rPr lang="en-US" altLang="zh-CN" dirty="0">
                <a:ea typeface="宋体" panose="02010600030101010101" pitchFamily="2" charset="-122"/>
              </a:rPr>
              <a:t>PC</a:t>
            </a:r>
            <a:r>
              <a:rPr lang="zh-CN" altLang="en-US" dirty="0">
                <a:ea typeface="宋体" panose="02010600030101010101" pitchFamily="2" charset="-122"/>
              </a:rPr>
              <a:t>设置为</a:t>
            </a:r>
            <a:r>
              <a:rPr lang="en-US" altLang="zh-CN" dirty="0">
                <a:ea typeface="宋体" panose="02010600030101010101" pitchFamily="2" charset="-122"/>
              </a:rPr>
              <a:t>P</a:t>
            </a:r>
            <a:r>
              <a:rPr lang="zh-CN" altLang="en-US" dirty="0">
                <a:ea typeface="宋体" panose="02010600030101010101" pitchFamily="2" charset="-122"/>
              </a:rPr>
              <a:t>中调用</a:t>
            </a:r>
            <a:r>
              <a:rPr lang="en-US" altLang="zh-CN" dirty="0">
                <a:ea typeface="宋体" panose="02010600030101010101" pitchFamily="2" charset="-122"/>
              </a:rPr>
              <a:t>Q</a:t>
            </a:r>
            <a:r>
              <a:rPr lang="zh-CN" altLang="en-US" dirty="0">
                <a:ea typeface="宋体" panose="02010600030101010101" pitchFamily="2" charset="-122"/>
              </a:rPr>
              <a:t>后面那条指令地址</a:t>
            </a:r>
          </a:p>
          <a:p>
            <a:pPr>
              <a:buClr>
                <a:srgbClr val="0D0D0D"/>
              </a:buClr>
            </a:pPr>
            <a:r>
              <a:rPr lang="zh-CN" altLang="en-US" dirty="0"/>
              <a:t>传递数据</a:t>
            </a:r>
          </a:p>
          <a:p>
            <a:pPr lvl="1">
              <a:buClr>
                <a:srgbClr val="0D0D0D"/>
              </a:buClr>
            </a:pPr>
            <a:r>
              <a:rPr lang="en-US" dirty="0"/>
              <a:t>P</a:t>
            </a:r>
            <a:r>
              <a:rPr lang="zh-CN" altLang="en-US" dirty="0">
                <a:ea typeface="宋体" panose="02010600030101010101" pitchFamily="2" charset="-122"/>
              </a:rPr>
              <a:t>向</a:t>
            </a:r>
            <a:r>
              <a:rPr lang="en-US" altLang="zh-CN" dirty="0">
                <a:ea typeface="宋体" panose="02010600030101010101" pitchFamily="2" charset="-122"/>
              </a:rPr>
              <a:t>Q</a:t>
            </a:r>
            <a:r>
              <a:rPr lang="zh-CN" altLang="en-US" dirty="0">
                <a:ea typeface="宋体" panose="02010600030101010101" pitchFamily="2" charset="-122"/>
              </a:rPr>
              <a:t>提供一个或多个数据</a:t>
            </a:r>
          </a:p>
          <a:p>
            <a:pPr lvl="1">
              <a:buClr>
                <a:srgbClr val="0D0D0D"/>
              </a:buClr>
            </a:pPr>
            <a:r>
              <a:rPr lang="en-US" dirty="0"/>
              <a:t>Q</a:t>
            </a:r>
            <a:r>
              <a:rPr lang="zh-CN" altLang="en-US" dirty="0">
                <a:ea typeface="宋体" panose="02010600030101010101" pitchFamily="2" charset="-122"/>
              </a:rPr>
              <a:t>必须能够向</a:t>
            </a:r>
            <a:r>
              <a:rPr lang="en-US" altLang="zh-CN" dirty="0">
                <a:ea typeface="宋体" panose="02010600030101010101" pitchFamily="2" charset="-122"/>
              </a:rPr>
              <a:t>P</a:t>
            </a:r>
            <a:r>
              <a:rPr lang="zh-CN" altLang="en-US" dirty="0">
                <a:ea typeface="宋体" panose="02010600030101010101" pitchFamily="2" charset="-122"/>
              </a:rPr>
              <a:t>返回一个值</a:t>
            </a:r>
          </a:p>
          <a:p>
            <a:pPr>
              <a:buClr>
                <a:srgbClr val="0D0D0D"/>
              </a:buClr>
            </a:pPr>
            <a:r>
              <a:rPr lang="zh-CN" altLang="en-US" dirty="0"/>
              <a:t>内存管理</a:t>
            </a:r>
          </a:p>
          <a:p>
            <a:pPr lvl="1">
              <a:buClr>
                <a:srgbClr val="0D0D0D"/>
              </a:buClr>
            </a:pPr>
            <a:r>
              <a:rPr lang="en-US" altLang="zh-CN" dirty="0">
                <a:ea typeface="宋体" panose="02010600030101010101" pitchFamily="2" charset="-122"/>
              </a:rPr>
              <a:t>Q</a:t>
            </a:r>
            <a:r>
              <a:rPr lang="zh-CN" altLang="en-US" dirty="0">
                <a:ea typeface="宋体" panose="02010600030101010101" pitchFamily="2" charset="-122"/>
              </a:rPr>
              <a:t>为局部变量分配空间</a:t>
            </a:r>
          </a:p>
          <a:p>
            <a:pPr lvl="1">
              <a:buClr>
                <a:srgbClr val="0D0D0D"/>
              </a:buClr>
            </a:pPr>
            <a:r>
              <a:rPr lang="zh-CN" altLang="en-US" dirty="0">
                <a:ea typeface="宋体" panose="02010600030101010101" pitchFamily="2" charset="-122"/>
              </a:rPr>
              <a:t>返回前释放存储空间</a:t>
            </a:r>
          </a:p>
          <a:p>
            <a:pPr>
              <a:buClr>
                <a:srgbClr val="0D0D0D"/>
              </a:buClr>
            </a:pPr>
            <a:r>
              <a:rPr lang="en-US" dirty="0"/>
              <a:t>所有用机器指令实现的机制</a:t>
            </a:r>
          </a:p>
          <a:p>
            <a:pPr>
              <a:buClr>
                <a:srgbClr val="0D0D0D"/>
              </a:buClr>
            </a:pPr>
            <a:r>
              <a:rPr lang="en-US" dirty="0"/>
              <a:t>x86-64执行一个程序使用这些机制</a:t>
            </a:r>
          </a:p>
        </p:txBody>
      </p:sp>
      <p:sp>
        <p:nvSpPr>
          <p:cNvPr id="8" name="Rectangle 4"/>
          <p:cNvSpPr/>
          <p:nvPr/>
        </p:nvSpPr>
        <p:spPr bwMode="auto">
          <a:xfrm>
            <a:off x="6343650" y="859155"/>
            <a:ext cx="18415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P(…)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y = Q(x);</a:t>
            </a:r>
          </a:p>
          <a:p>
            <a:pPr algn="l"/>
            <a:r>
              <a:rPr lang="en-US" sz="1800" dirty="0">
                <a:solidFill>
                  <a:schemeClr val="tx1"/>
                </a:solidFill>
                <a:latin typeface="Courier New" panose="02070309020205020404" charset="0"/>
                <a:cs typeface="Courier New" panose="02070309020205020404" charset="0"/>
                <a:sym typeface="Courier New Bold" charset="0"/>
              </a:rPr>
              <a:t>  print(y)</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cxnSp>
        <p:nvCxnSpPr>
          <p:cNvPr id="11" name="直接箭头连接符 10"/>
          <p:cNvCxnSpPr/>
          <p:nvPr/>
        </p:nvCxnSpPr>
        <p:spPr>
          <a:xfrm>
            <a:off x="4025265" y="4382135"/>
            <a:ext cx="2318385" cy="197485"/>
          </a:xfrm>
          <a:prstGeom prst="straightConnector1">
            <a:avLst/>
          </a:prstGeom>
          <a:ln>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4726305" y="779780"/>
            <a:ext cx="4020820" cy="5838190"/>
          </a:xfrm>
          <a:prstGeom prst="rect">
            <a:avLst/>
          </a:prstGeom>
        </p:spPr>
      </p:pic>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4" name="椭圆 3"/>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箭头 4"/>
          <p:cNvSpPr/>
          <p:nvPr/>
        </p:nvSpPr>
        <p:spPr>
          <a:xfrm>
            <a:off x="0" y="266065"/>
            <a:ext cx="2540635" cy="1132205"/>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运行时栈</a:t>
            </a:r>
          </a:p>
        </p:txBody>
      </p:sp>
      <p:sp>
        <p:nvSpPr>
          <p:cNvPr id="7" name="文本框 6"/>
          <p:cNvSpPr txBox="1"/>
          <p:nvPr/>
        </p:nvSpPr>
        <p:spPr>
          <a:xfrm>
            <a:off x="193040" y="1539240"/>
            <a:ext cx="4224655" cy="5169535"/>
          </a:xfrm>
          <a:prstGeom prst="rect">
            <a:avLst/>
          </a:prstGeom>
          <a:noFill/>
        </p:spPr>
        <p:txBody>
          <a:bodyPr wrap="square" rtlCol="0">
            <a:spAutoFit/>
          </a:bodyPr>
          <a:lstStyle/>
          <a:p>
            <a:pPr marL="285750" indent="-285750" fontAlgn="auto">
              <a:lnSpc>
                <a:spcPct val="150000"/>
              </a:lnSpc>
              <a:buFont typeface="Wingdings" panose="05000000000000000000" charset="0"/>
              <a:buChar char=""/>
            </a:pPr>
            <a:r>
              <a:rPr lang="en-US" altLang="zh-CN" sz="2000"/>
              <a:t>C</a:t>
            </a:r>
            <a:r>
              <a:rPr lang="zh-CN" altLang="en-US" sz="2000"/>
              <a:t>语言过程调用机制的一个关键特性在于使用了栈数据结构提供的后进先出的内存管理原则。</a:t>
            </a:r>
          </a:p>
          <a:p>
            <a:pPr marL="285750" indent="-285750" fontAlgn="auto">
              <a:lnSpc>
                <a:spcPct val="150000"/>
              </a:lnSpc>
              <a:buFont typeface="Wingdings" panose="05000000000000000000" charset="0"/>
              <a:buChar char=""/>
            </a:pPr>
            <a:r>
              <a:rPr lang="zh-CN" altLang="en-US" sz="2000"/>
              <a:t>在过程</a:t>
            </a:r>
            <a:r>
              <a:rPr lang="en-US" altLang="zh-CN" sz="2000"/>
              <a:t>P</a:t>
            </a:r>
            <a:r>
              <a:rPr lang="zh-CN" altLang="en-US" sz="2000"/>
              <a:t>调用过程</a:t>
            </a:r>
            <a:r>
              <a:rPr lang="en-US" altLang="zh-CN" sz="2000"/>
              <a:t>Q</a:t>
            </a:r>
            <a:r>
              <a:rPr lang="zh-CN" altLang="en-US" sz="2000"/>
              <a:t>的例子中当</a:t>
            </a:r>
            <a:r>
              <a:rPr lang="en-US" altLang="zh-CN" sz="2000"/>
              <a:t>Q</a:t>
            </a:r>
            <a:r>
              <a:rPr lang="zh-CN" altLang="en-US" sz="2000"/>
              <a:t>在执行时，</a:t>
            </a:r>
            <a:r>
              <a:rPr lang="en-US" altLang="zh-CN" sz="2000"/>
              <a:t>P</a:t>
            </a:r>
            <a:r>
              <a:rPr lang="zh-CN" altLang="en-US" sz="2000"/>
              <a:t>以及所有在向上追溯到</a:t>
            </a:r>
            <a:r>
              <a:rPr lang="en-US" altLang="zh-CN" sz="2000"/>
              <a:t>P</a:t>
            </a:r>
            <a:r>
              <a:rPr lang="zh-CN" altLang="en-US" sz="2000"/>
              <a:t>的调用链中的过程，都是暂时挂起的。</a:t>
            </a:r>
          </a:p>
          <a:p>
            <a:pPr marL="285750" indent="-285750" fontAlgn="auto">
              <a:lnSpc>
                <a:spcPct val="150000"/>
              </a:lnSpc>
              <a:buFont typeface="Wingdings" panose="05000000000000000000" charset="0"/>
              <a:buChar char=""/>
            </a:pPr>
            <a:r>
              <a:rPr lang="zh-CN" altLang="en-US" sz="2000"/>
              <a:t>程序用栈来管理它的过程所需要的存储空间，栈和程序寄存器存放着传递控制和数据、分配内存所需要的信息。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down)">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down)">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燕尾形 8"/>
          <p:cNvSpPr/>
          <p:nvPr/>
        </p:nvSpPr>
        <p:spPr>
          <a:xfrm rot="10800000">
            <a:off x="6325235" y="86360"/>
            <a:ext cx="2513965" cy="7270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4" name="椭圆 3"/>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Rectangle 4"/>
          <p:cNvSpPr/>
          <p:nvPr/>
        </p:nvSpPr>
        <p:spPr bwMode="auto">
          <a:xfrm>
            <a:off x="76199" y="4395486"/>
            <a:ext cx="3963365" cy="1507603"/>
          </a:xfrm>
          <a:prstGeom prst="rect">
            <a:avLst/>
          </a:prstGeom>
          <a:solidFill>
            <a:srgbClr val="CC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long mult2(long a, long b)</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long s = a * b;</a:t>
            </a:r>
          </a:p>
          <a:p>
            <a:pPr algn="l"/>
            <a:r>
              <a:rPr lang="en-US" sz="1800" dirty="0">
                <a:solidFill>
                  <a:schemeClr val="tx1"/>
                </a:solidFill>
                <a:latin typeface="Courier New" panose="02070309020205020404" charset="0"/>
                <a:cs typeface="Courier New" panose="02070309020205020404" charset="0"/>
                <a:sym typeface="Courier New Bold" charset="0"/>
              </a:rPr>
              <a:t>  return s;</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5" name="Rectangle 4"/>
          <p:cNvSpPr/>
          <p:nvPr/>
        </p:nvSpPr>
        <p:spPr bwMode="auto">
          <a:xfrm>
            <a:off x="76199" y="903469"/>
            <a:ext cx="5835569" cy="1540397"/>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void </a:t>
            </a:r>
            <a:r>
              <a:rPr lang="en-US" sz="1800" dirty="0" err="1">
                <a:solidFill>
                  <a:schemeClr val="tx1"/>
                </a:solidFill>
                <a:latin typeface="Courier New" panose="02070309020205020404" charset="0"/>
                <a:cs typeface="Courier New" panose="02070309020205020404" charset="0"/>
                <a:sym typeface="Courier New Bold" charset="0"/>
              </a:rPr>
              <a:t>multstore</a:t>
            </a:r>
            <a:r>
              <a:rPr lang="en-US" sz="1800" dirty="0">
                <a:solidFill>
                  <a:schemeClr val="tx1"/>
                </a:solidFill>
                <a:latin typeface="Courier New" panose="02070309020205020404" charset="0"/>
                <a:cs typeface="Courier New" panose="02070309020205020404" charset="0"/>
                <a:sym typeface="Courier New Bold" charset="0"/>
              </a:rPr>
              <a:t>(long x, long y, long *</a:t>
            </a:r>
            <a:r>
              <a:rPr lang="en-US" sz="1800" dirty="0" err="1">
                <a:solidFill>
                  <a:schemeClr val="tx1"/>
                </a:solidFill>
                <a:latin typeface="Courier New" panose="02070309020205020404" charset="0"/>
                <a:cs typeface="Courier New" panose="02070309020205020404" charset="0"/>
                <a:sym typeface="Courier New Bold" charset="0"/>
              </a:rPr>
              <a:t>dest</a:t>
            </a:r>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long t = mult2(x, y);</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dest</a:t>
            </a:r>
            <a:r>
              <a:rPr lang="en-US" sz="1800" dirty="0">
                <a:solidFill>
                  <a:schemeClr val="tx1"/>
                </a:solidFill>
                <a:latin typeface="Courier New" panose="02070309020205020404" charset="0"/>
                <a:cs typeface="Courier New" panose="02070309020205020404" charset="0"/>
                <a:sym typeface="Courier New Bold" charset="0"/>
              </a:rPr>
              <a:t> = t;</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6" name="Rectangle 4"/>
          <p:cNvSpPr/>
          <p:nvPr/>
        </p:nvSpPr>
        <p:spPr bwMode="auto">
          <a:xfrm>
            <a:off x="2971800" y="4800600"/>
            <a:ext cx="5867400" cy="1828800"/>
          </a:xfrm>
          <a:prstGeom prst="rect">
            <a:avLst/>
          </a:prstGeom>
          <a:solidFill>
            <a:srgbClr val="CC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ro-RO" sz="1800" dirty="0">
                <a:solidFill>
                  <a:schemeClr val="tx1"/>
                </a:solidFill>
                <a:latin typeface="Courier New" panose="02070309020205020404" charset="0"/>
                <a:cs typeface="Courier New" panose="02070309020205020404" charset="0"/>
                <a:sym typeface="Courier New Bold" charset="0"/>
              </a:rPr>
              <a:t>0000000000400550 &lt;mult2&gt;:</a:t>
            </a:r>
          </a:p>
          <a:p>
            <a:pPr algn="l"/>
            <a:r>
              <a:rPr lang="ro-RO" sz="1800" dirty="0">
                <a:solidFill>
                  <a:schemeClr val="tx1"/>
                </a:solidFill>
                <a:latin typeface="Courier New" panose="02070309020205020404" charset="0"/>
                <a:cs typeface="Courier New" panose="02070309020205020404" charset="0"/>
                <a:sym typeface="Courier New Bold" charset="0"/>
              </a:rPr>
              <a:t>  400550:  mov    %rdi,%rax	# a </a:t>
            </a:r>
          </a:p>
          <a:p>
            <a:pPr algn="l"/>
            <a:r>
              <a:rPr lang="ro-RO" sz="1800" dirty="0">
                <a:solidFill>
                  <a:schemeClr val="tx1"/>
                </a:solidFill>
                <a:latin typeface="Courier New" panose="02070309020205020404" charset="0"/>
                <a:cs typeface="Courier New" panose="02070309020205020404" charset="0"/>
                <a:sym typeface="Courier New Bold" charset="0"/>
              </a:rPr>
              <a:t>  400553:  imul   %rsi,%rax	# a * b</a:t>
            </a:r>
          </a:p>
          <a:p>
            <a:pPr algn="l"/>
            <a:r>
              <a:rPr lang="ro-RO" sz="1800" dirty="0">
                <a:solidFill>
                  <a:schemeClr val="tx1"/>
                </a:solidFill>
                <a:latin typeface="Courier New" panose="02070309020205020404" charset="0"/>
                <a:cs typeface="Courier New" panose="02070309020205020404" charset="0"/>
                <a:sym typeface="Courier New Bold" charset="0"/>
              </a:rPr>
              <a:t>  400557:  retq			# Return</a:t>
            </a:r>
          </a:p>
        </p:txBody>
      </p:sp>
      <p:sp>
        <p:nvSpPr>
          <p:cNvPr id="8" name="Rectangle 7"/>
          <p:cNvSpPr/>
          <p:nvPr/>
        </p:nvSpPr>
        <p:spPr bwMode="auto">
          <a:xfrm>
            <a:off x="2200154" y="2108200"/>
            <a:ext cx="6781800" cy="20574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sk-SK" sz="1800" dirty="0">
                <a:solidFill>
                  <a:schemeClr val="tx1"/>
                </a:solidFill>
                <a:latin typeface="Courier New" panose="02070309020205020404" charset="0"/>
                <a:cs typeface="Courier New" panose="02070309020205020404" charset="0"/>
                <a:sym typeface="Courier New Bold" charset="0"/>
              </a:rPr>
              <a:t>0000000000400540 &lt;multstore&gt;:</a:t>
            </a:r>
          </a:p>
          <a:p>
            <a:pPr algn="l"/>
            <a:r>
              <a:rPr lang="sk-SK" sz="1800" dirty="0">
                <a:solidFill>
                  <a:schemeClr val="tx1"/>
                </a:solidFill>
                <a:latin typeface="Courier New" panose="02070309020205020404" charset="0"/>
                <a:cs typeface="Courier New" panose="02070309020205020404" charset="0"/>
                <a:sym typeface="Courier New Bold" charset="0"/>
              </a:rPr>
              <a:t>  400540: push   %rbx		# Save %rbx</a:t>
            </a:r>
          </a:p>
          <a:p>
            <a:pPr algn="l"/>
            <a:r>
              <a:rPr lang="sk-SK" sz="1800" dirty="0">
                <a:solidFill>
                  <a:schemeClr val="tx1"/>
                </a:solidFill>
                <a:latin typeface="Courier New" panose="02070309020205020404" charset="0"/>
                <a:cs typeface="Courier New" panose="02070309020205020404" charset="0"/>
                <a:sym typeface="Courier New Bold" charset="0"/>
              </a:rPr>
              <a:t>  400541: mov    %rdx,%rbx		# Save dest</a:t>
            </a:r>
          </a:p>
          <a:p>
            <a:pPr algn="l"/>
            <a:r>
              <a:rPr lang="sk-SK" sz="1800" dirty="0">
                <a:solidFill>
                  <a:schemeClr val="tx1"/>
                </a:solidFill>
                <a:latin typeface="Courier New" panose="02070309020205020404" charset="0"/>
                <a:cs typeface="Courier New" panose="02070309020205020404" charset="0"/>
                <a:sym typeface="Courier New Bold" charset="0"/>
              </a:rPr>
              <a:t>  400544: callq  400550 &lt;mult2&gt;	# mult2(x,y)</a:t>
            </a:r>
          </a:p>
          <a:p>
            <a:pPr algn="l"/>
            <a:r>
              <a:rPr lang="sk-SK" sz="1800" dirty="0">
                <a:solidFill>
                  <a:schemeClr val="tx1"/>
                </a:solidFill>
                <a:latin typeface="Courier New" panose="02070309020205020404" charset="0"/>
                <a:cs typeface="Courier New" panose="02070309020205020404" charset="0"/>
                <a:sym typeface="Courier New Bold" charset="0"/>
              </a:rPr>
              <a:t>  400549: mov    %rax,(%rbx)	# Save at dest</a:t>
            </a:r>
          </a:p>
          <a:p>
            <a:pPr algn="l"/>
            <a:r>
              <a:rPr lang="sk-SK" sz="1800" dirty="0">
                <a:solidFill>
                  <a:schemeClr val="tx1"/>
                </a:solidFill>
                <a:latin typeface="Courier New" panose="02070309020205020404" charset="0"/>
                <a:cs typeface="Courier New" panose="02070309020205020404" charset="0"/>
                <a:sym typeface="Courier New Bold" charset="0"/>
              </a:rPr>
              <a:t>  40054c: pop    %rbx		# Restore %rbx</a:t>
            </a:r>
          </a:p>
          <a:p>
            <a:pPr algn="l"/>
            <a:r>
              <a:rPr lang="sk-SK" sz="1800" dirty="0">
                <a:solidFill>
                  <a:schemeClr val="tx1"/>
                </a:solidFill>
                <a:latin typeface="Courier New" panose="02070309020205020404" charset="0"/>
                <a:cs typeface="Courier New" panose="02070309020205020404" charset="0"/>
                <a:sym typeface="Courier New Bold" charset="0"/>
              </a:rPr>
              <a:t>  40054d: retq			# Return</a:t>
            </a:r>
          </a:p>
        </p:txBody>
      </p:sp>
      <p:sp>
        <p:nvSpPr>
          <p:cNvPr id="7" name="文本框 6"/>
          <p:cNvSpPr txBox="1"/>
          <p:nvPr/>
        </p:nvSpPr>
        <p:spPr>
          <a:xfrm>
            <a:off x="6837680" y="171450"/>
            <a:ext cx="1605280" cy="521970"/>
          </a:xfrm>
          <a:prstGeom prst="rect">
            <a:avLst/>
          </a:prstGeom>
          <a:noFill/>
        </p:spPr>
        <p:txBody>
          <a:bodyPr wrap="none" rtlCol="0" anchor="t">
            <a:spAutoFit/>
          </a:bodyPr>
          <a:lstStyle/>
          <a:p>
            <a:r>
              <a:rPr lang="zh-CN" altLang="en-US" sz="2800">
                <a:solidFill>
                  <a:schemeClr val="bg1"/>
                </a:solidFill>
              </a:rPr>
              <a:t>代码例子</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4" name="椭圆 3"/>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5061" name="Rectangle 5"/>
          <p:cNvSpPr>
            <a:spLocks noGrp="1" noChangeArrowheads="1"/>
          </p:cNvSpPr>
          <p:nvPr/>
        </p:nvSpPr>
        <p:spPr>
          <a:xfrm>
            <a:off x="210820" y="1094105"/>
            <a:ext cx="8382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ED7D31"/>
              </a:buClr>
            </a:pPr>
            <a:r>
              <a:rPr lang="en-US" dirty="0"/>
              <a:t>使用栈支持过程调用和返回</a:t>
            </a:r>
          </a:p>
          <a:p>
            <a:pPr>
              <a:buClr>
                <a:srgbClr val="ED7D31"/>
              </a:buClr>
            </a:pPr>
            <a:r>
              <a:rPr lang="zh-CN" altLang="en-US" dirty="0">
                <a:solidFill>
                  <a:srgbClr val="ED7D31"/>
                </a:solidFill>
              </a:rPr>
              <a:t>过程调用</a:t>
            </a:r>
            <a:r>
              <a:rPr lang="en-US" dirty="0">
                <a:solidFill>
                  <a:srgbClr val="ED7D31"/>
                </a:solidFill>
              </a:rPr>
              <a:t>:</a:t>
            </a:r>
            <a:r>
              <a:rPr lang="en-US" dirty="0"/>
              <a:t> </a:t>
            </a:r>
            <a:r>
              <a:rPr lang="en-US" b="1" dirty="0">
                <a:latin typeface="Courier New" panose="02070309020205020404" charset="0"/>
                <a:cs typeface="Courier New" panose="02070309020205020404" charset="0"/>
                <a:sym typeface="Courier New Bold" charset="0"/>
              </a:rPr>
              <a:t>call</a:t>
            </a:r>
            <a:r>
              <a:rPr lang="en-US" b="1" dirty="0">
                <a:latin typeface="Courier New" panose="02070309020205020404" charset="0"/>
                <a:cs typeface="Courier New" panose="02070309020205020404" charset="0"/>
              </a:rPr>
              <a:t> </a:t>
            </a:r>
            <a:r>
              <a:rPr lang="en-US" b="1" dirty="0">
                <a:latin typeface="Courier New" panose="02070309020205020404" charset="0"/>
                <a:ea typeface="Calibri Bold Italic" charset="0"/>
                <a:cs typeface="Courier New" panose="02070309020205020404" charset="0"/>
                <a:sym typeface="Calibri Bold Italic" charset="0"/>
              </a:rPr>
              <a:t>label</a:t>
            </a:r>
            <a:endParaRPr lang="en-US" b="1" dirty="0">
              <a:latin typeface="Courier New" panose="02070309020205020404" charset="0"/>
              <a:cs typeface="Courier New" panose="02070309020205020404" charset="0"/>
            </a:endParaRPr>
          </a:p>
          <a:p>
            <a:pPr marL="552450" lvl="1">
              <a:buClr>
                <a:srgbClr val="ED7D31"/>
              </a:buClr>
            </a:pPr>
            <a:r>
              <a:rPr lang="en-US" dirty="0"/>
              <a:t>栈上的返回地址</a:t>
            </a:r>
          </a:p>
          <a:p>
            <a:pPr marL="552450" lvl="1">
              <a:buClr>
                <a:srgbClr val="ED7D31"/>
              </a:buClr>
            </a:pPr>
            <a:r>
              <a:rPr lang="en-US" dirty="0"/>
              <a:t>跳转到 </a:t>
            </a:r>
            <a:r>
              <a:rPr lang="en-US" dirty="0">
                <a:latin typeface="Calibri Bold Italic" charset="0"/>
                <a:ea typeface="Calibri Bold Italic" charset="0"/>
                <a:cs typeface="Calibri Bold Italic" charset="0"/>
                <a:sym typeface="Calibri Bold Italic" charset="0"/>
              </a:rPr>
              <a:t>label</a:t>
            </a:r>
            <a:endParaRPr lang="en-US" dirty="0"/>
          </a:p>
          <a:p>
            <a:pPr>
              <a:buClr>
                <a:srgbClr val="ED7D31"/>
              </a:buClr>
            </a:pPr>
            <a:r>
              <a:rPr dirty="0"/>
              <a:t>返回地址</a:t>
            </a:r>
            <a:r>
              <a:rPr lang="en-US" dirty="0"/>
              <a:t>:</a:t>
            </a:r>
          </a:p>
          <a:p>
            <a:pPr marL="552450" lvl="1">
              <a:buClr>
                <a:srgbClr val="ED7D31"/>
              </a:buClr>
            </a:pPr>
            <a:r>
              <a:rPr lang="zh-CN" altLang="en-US" dirty="0">
                <a:ea typeface="宋体" panose="02010600030101010101" pitchFamily="2" charset="-122"/>
              </a:rPr>
              <a:t>结束调用后的下一条指令的地址</a:t>
            </a:r>
          </a:p>
          <a:p>
            <a:pPr marL="552450" lvl="1">
              <a:buClr>
                <a:srgbClr val="ED7D31"/>
              </a:buClr>
            </a:pPr>
            <a:r>
              <a:rPr lang="zh-CN" altLang="en-US" dirty="0">
                <a:ea typeface="宋体" panose="02010600030101010101" pitchFamily="2" charset="-122"/>
              </a:rPr>
              <a:t>反汇编的例子</a:t>
            </a:r>
          </a:p>
          <a:p>
            <a:pPr>
              <a:buClr>
                <a:srgbClr val="ED7D31"/>
              </a:buClr>
            </a:pPr>
            <a:r>
              <a:rPr lang="zh-CN" altLang="en-US" dirty="0">
                <a:solidFill>
                  <a:srgbClr val="ED7D31"/>
                </a:solidFill>
              </a:rPr>
              <a:t>过程返回</a:t>
            </a:r>
            <a:r>
              <a:rPr lang="en-US" dirty="0">
                <a:solidFill>
                  <a:srgbClr val="ED7D31"/>
                </a:solidFill>
              </a:rPr>
              <a:t>:</a:t>
            </a:r>
            <a:r>
              <a:rPr lang="en-US" dirty="0"/>
              <a:t> </a:t>
            </a:r>
            <a:r>
              <a:rPr lang="en-US" b="1" dirty="0">
                <a:latin typeface="Courier New" panose="02070309020205020404" charset="0"/>
                <a:cs typeface="Courier New" panose="02070309020205020404" charset="0"/>
                <a:sym typeface="Courier New Bold" charset="0"/>
              </a:rPr>
              <a:t>ret</a:t>
            </a:r>
            <a:endParaRPr lang="en-US" b="1" dirty="0">
              <a:latin typeface="Courier New" panose="02070309020205020404" charset="0"/>
              <a:cs typeface="Courier New" panose="02070309020205020404" charset="0"/>
            </a:endParaRPr>
          </a:p>
          <a:p>
            <a:pPr marL="552450" lvl="1">
              <a:buClr>
                <a:srgbClr val="ED7D31"/>
              </a:buClr>
            </a:pPr>
            <a:r>
              <a:rPr lang="zh-CN" altLang="en-US" dirty="0">
                <a:ea typeface="宋体" panose="02010600030101010101" pitchFamily="2" charset="-122"/>
              </a:rPr>
              <a:t>栈中弹出地址</a:t>
            </a:r>
          </a:p>
          <a:p>
            <a:pPr marL="552450" lvl="1">
              <a:buClr>
                <a:srgbClr val="ED7D31"/>
              </a:buClr>
            </a:pPr>
            <a:r>
              <a:rPr lang="zh-CN" altLang="en-US" dirty="0">
                <a:ea typeface="宋体" panose="02010600030101010101" pitchFamily="2" charset="-122"/>
              </a:rPr>
              <a:t>跳转到该地址</a:t>
            </a:r>
          </a:p>
        </p:txBody>
      </p:sp>
      <p:sp>
        <p:nvSpPr>
          <p:cNvPr id="2" name="燕尾形箭头 1"/>
          <p:cNvSpPr/>
          <p:nvPr/>
        </p:nvSpPr>
        <p:spPr>
          <a:xfrm>
            <a:off x="0" y="170815"/>
            <a:ext cx="3123565" cy="73914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过程控制流</a:t>
            </a:r>
          </a:p>
        </p:txBody>
      </p:sp>
      <p:pic>
        <p:nvPicPr>
          <p:cNvPr id="5" name="图片 4"/>
          <p:cNvPicPr>
            <a:picLocks noChangeAspect="1"/>
          </p:cNvPicPr>
          <p:nvPr/>
        </p:nvPicPr>
        <p:blipFill>
          <a:blip r:embed="rId2"/>
          <a:stretch>
            <a:fillRect/>
          </a:stretch>
        </p:blipFill>
        <p:spPr>
          <a:xfrm>
            <a:off x="303179" y="5110001"/>
            <a:ext cx="4927008" cy="172116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5061">
                                            <p:txEl>
                                              <p:pRg st="0" end="0"/>
                                            </p:txEl>
                                          </p:spTgt>
                                        </p:tgtEl>
                                        <p:attrNameLst>
                                          <p:attrName>style.visibility</p:attrName>
                                        </p:attrNameLst>
                                      </p:cBhvr>
                                      <p:to>
                                        <p:strVal val="visible"/>
                                      </p:to>
                                    </p:set>
                                    <p:animEffect transition="in" filter="wipe(down)">
                                      <p:cBhvr>
                                        <p:cTn id="7" dur="500"/>
                                        <p:tgtEl>
                                          <p:spTgt spid="450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5061">
                                            <p:txEl>
                                              <p:pRg st="1" end="1"/>
                                            </p:txEl>
                                          </p:spTgt>
                                        </p:tgtEl>
                                        <p:attrNameLst>
                                          <p:attrName>style.visibility</p:attrName>
                                        </p:attrNameLst>
                                      </p:cBhvr>
                                      <p:to>
                                        <p:strVal val="visible"/>
                                      </p:to>
                                    </p:set>
                                    <p:animEffect transition="in" filter="wipe(down)">
                                      <p:cBhvr>
                                        <p:cTn id="12" dur="500"/>
                                        <p:tgtEl>
                                          <p:spTgt spid="450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5061">
                                            <p:txEl>
                                              <p:pRg st="2" end="2"/>
                                            </p:txEl>
                                          </p:spTgt>
                                        </p:tgtEl>
                                        <p:attrNameLst>
                                          <p:attrName>style.visibility</p:attrName>
                                        </p:attrNameLst>
                                      </p:cBhvr>
                                      <p:to>
                                        <p:strVal val="visible"/>
                                      </p:to>
                                    </p:set>
                                    <p:animEffect transition="in" filter="wipe(down)">
                                      <p:cBhvr>
                                        <p:cTn id="17" dur="500"/>
                                        <p:tgtEl>
                                          <p:spTgt spid="45061">
                                            <p:txEl>
                                              <p:pRg st="2" end="2"/>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45061">
                                            <p:txEl>
                                              <p:pRg st="3" end="3"/>
                                            </p:txEl>
                                          </p:spTgt>
                                        </p:tgtEl>
                                        <p:attrNameLst>
                                          <p:attrName>style.visibility</p:attrName>
                                        </p:attrNameLst>
                                      </p:cBhvr>
                                      <p:to>
                                        <p:strVal val="visible"/>
                                      </p:to>
                                    </p:set>
                                    <p:animEffect transition="in" filter="wipe(down)">
                                      <p:cBhvr>
                                        <p:cTn id="20" dur="500"/>
                                        <p:tgtEl>
                                          <p:spTgt spid="4506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5061">
                                            <p:txEl>
                                              <p:pRg st="4" end="4"/>
                                            </p:txEl>
                                          </p:spTgt>
                                        </p:tgtEl>
                                        <p:attrNameLst>
                                          <p:attrName>style.visibility</p:attrName>
                                        </p:attrNameLst>
                                      </p:cBhvr>
                                      <p:to>
                                        <p:strVal val="visible"/>
                                      </p:to>
                                    </p:set>
                                    <p:animEffect transition="in" filter="wipe(down)">
                                      <p:cBhvr>
                                        <p:cTn id="25" dur="500"/>
                                        <p:tgtEl>
                                          <p:spTgt spid="45061">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5061">
                                            <p:txEl>
                                              <p:pRg st="5" end="5"/>
                                            </p:txEl>
                                          </p:spTgt>
                                        </p:tgtEl>
                                        <p:attrNameLst>
                                          <p:attrName>style.visibility</p:attrName>
                                        </p:attrNameLst>
                                      </p:cBhvr>
                                      <p:to>
                                        <p:strVal val="visible"/>
                                      </p:to>
                                    </p:set>
                                    <p:animEffect transition="in" filter="wipe(down)">
                                      <p:cBhvr>
                                        <p:cTn id="30" dur="500"/>
                                        <p:tgtEl>
                                          <p:spTgt spid="45061">
                                            <p:txEl>
                                              <p:pRg st="5" end="5"/>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45061">
                                            <p:txEl>
                                              <p:pRg st="6" end="6"/>
                                            </p:txEl>
                                          </p:spTgt>
                                        </p:tgtEl>
                                        <p:attrNameLst>
                                          <p:attrName>style.visibility</p:attrName>
                                        </p:attrNameLst>
                                      </p:cBhvr>
                                      <p:to>
                                        <p:strVal val="visible"/>
                                      </p:to>
                                    </p:set>
                                    <p:animEffect transition="in" filter="wipe(down)">
                                      <p:cBhvr>
                                        <p:cTn id="33" dur="500"/>
                                        <p:tgtEl>
                                          <p:spTgt spid="45061">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45061">
                                            <p:txEl>
                                              <p:pRg st="7" end="7"/>
                                            </p:txEl>
                                          </p:spTgt>
                                        </p:tgtEl>
                                        <p:attrNameLst>
                                          <p:attrName>style.visibility</p:attrName>
                                        </p:attrNameLst>
                                      </p:cBhvr>
                                      <p:to>
                                        <p:strVal val="visible"/>
                                      </p:to>
                                    </p:set>
                                    <p:animEffect transition="in" filter="wipe(down)">
                                      <p:cBhvr>
                                        <p:cTn id="38" dur="500"/>
                                        <p:tgtEl>
                                          <p:spTgt spid="45061">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45061">
                                            <p:txEl>
                                              <p:pRg st="8" end="8"/>
                                            </p:txEl>
                                          </p:spTgt>
                                        </p:tgtEl>
                                        <p:attrNameLst>
                                          <p:attrName>style.visibility</p:attrName>
                                        </p:attrNameLst>
                                      </p:cBhvr>
                                      <p:to>
                                        <p:strVal val="visible"/>
                                      </p:to>
                                    </p:set>
                                    <p:animEffect transition="in" filter="wipe(down)">
                                      <p:cBhvr>
                                        <p:cTn id="43" dur="500"/>
                                        <p:tgtEl>
                                          <p:spTgt spid="45061">
                                            <p:txEl>
                                              <p:pRg st="8" end="8"/>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45061">
                                            <p:txEl>
                                              <p:pRg st="9" end="9"/>
                                            </p:txEl>
                                          </p:spTgt>
                                        </p:tgtEl>
                                        <p:attrNameLst>
                                          <p:attrName>style.visibility</p:attrName>
                                        </p:attrNameLst>
                                      </p:cBhvr>
                                      <p:to>
                                        <p:strVal val="visible"/>
                                      </p:to>
                                    </p:set>
                                    <p:animEffect transition="in" filter="wipe(down)">
                                      <p:cBhvr>
                                        <p:cTn id="46" dur="500"/>
                                        <p:tgtEl>
                                          <p:spTgt spid="45061">
                                            <p:txEl>
                                              <p:pRg st="9" end="9"/>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5"/>
                                        </p:tgtEl>
                                        <p:attrNameLst>
                                          <p:attrName>style.visibility</p:attrName>
                                        </p:attrNameLst>
                                      </p:cBhvr>
                                      <p:to>
                                        <p:strVal val="visible"/>
                                      </p:to>
                                    </p:set>
                                    <p:animEffect transition="in" filter="wipe(down)">
                                      <p:cBhvr>
                                        <p:cTn id="5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89890" y="337820"/>
            <a:ext cx="6704965" cy="2466975"/>
          </a:xfrm>
          <a:prstGeom prst="rect">
            <a:avLst/>
          </a:prstGeom>
        </p:spPr>
      </p:pic>
      <p:pic>
        <p:nvPicPr>
          <p:cNvPr id="3" name="图片 2"/>
          <p:cNvPicPr>
            <a:picLocks noChangeAspect="1"/>
          </p:cNvPicPr>
          <p:nvPr/>
        </p:nvPicPr>
        <p:blipFill>
          <a:blip r:embed="rId3"/>
          <a:stretch>
            <a:fillRect/>
          </a:stretch>
        </p:blipFill>
        <p:spPr>
          <a:xfrm>
            <a:off x="326390" y="2528570"/>
            <a:ext cx="7837805" cy="1123950"/>
          </a:xfrm>
          <a:prstGeom prst="rect">
            <a:avLst/>
          </a:prstGeom>
        </p:spPr>
      </p:pic>
      <p:sp>
        <p:nvSpPr>
          <p:cNvPr id="4" name="矩形 3"/>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5" name="椭圆 4"/>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pic>
        <p:nvPicPr>
          <p:cNvPr id="6" name="图片 5"/>
          <p:cNvPicPr>
            <a:picLocks noChangeAspect="1"/>
          </p:cNvPicPr>
          <p:nvPr/>
        </p:nvPicPr>
        <p:blipFill>
          <a:blip r:embed="rId4"/>
          <a:stretch>
            <a:fillRect/>
          </a:stretch>
        </p:blipFill>
        <p:spPr>
          <a:xfrm>
            <a:off x="0" y="3903345"/>
            <a:ext cx="9171305" cy="2971165"/>
          </a:xfrm>
          <a:prstGeom prst="rect">
            <a:avLst/>
          </a:prstGeom>
        </p:spPr>
      </p:pic>
      <p:sp>
        <p:nvSpPr>
          <p:cNvPr id="7" name="左箭头 6"/>
          <p:cNvSpPr/>
          <p:nvPr/>
        </p:nvSpPr>
        <p:spPr>
          <a:xfrm>
            <a:off x="5805805" y="13970"/>
            <a:ext cx="3340100" cy="948690"/>
          </a:xfrm>
          <a:prstGeom prst="left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a:t>call</a:t>
            </a:r>
            <a:r>
              <a:rPr lang="zh-CN" altLang="en-US" sz="2400"/>
              <a:t>和</a:t>
            </a:r>
            <a:r>
              <a:rPr lang="en-US" altLang="zh-CN" sz="2400"/>
              <a:t>ret</a:t>
            </a:r>
            <a:r>
              <a:rPr lang="zh-CN" altLang="en-US" sz="2400"/>
              <a:t>函数的说明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4" name="椭圆 3"/>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Title 1"/>
          <p:cNvSpPr>
            <a:spLocks noGrp="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r>
              <a:rPr lang="zh-CN" altLang="en-US" dirty="0"/>
              <a:t>过程控制流例子</a:t>
            </a:r>
            <a:r>
              <a:rPr lang="en-US" dirty="0"/>
              <a:t> #1</a:t>
            </a:r>
          </a:p>
        </p:txBody>
      </p:sp>
      <p:sp>
        <p:nvSpPr>
          <p:cNvPr id="6" name="Rectangle 4"/>
          <p:cNvSpPr/>
          <p:nvPr/>
        </p:nvSpPr>
        <p:spPr bwMode="auto">
          <a:xfrm>
            <a:off x="228600" y="3962400"/>
            <a:ext cx="4495800" cy="1524000"/>
          </a:xfrm>
          <a:prstGeom prst="rect">
            <a:avLst/>
          </a:prstGeom>
          <a:solidFill>
            <a:srgbClr val="CC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ro-RO" sz="1800" dirty="0">
                <a:solidFill>
                  <a:schemeClr val="tx1"/>
                </a:solidFill>
                <a:latin typeface="Courier New" panose="02070309020205020404" charset="0"/>
                <a:cs typeface="Courier New" panose="02070309020205020404" charset="0"/>
                <a:sym typeface="Courier New Bold" charset="0"/>
              </a:rPr>
              <a:t>0000000000400550 &lt;mult2&gt;:</a:t>
            </a:r>
          </a:p>
          <a:p>
            <a:pPr algn="l"/>
            <a:r>
              <a:rPr lang="ro-RO" sz="1800" dirty="0">
                <a:solidFill>
                  <a:schemeClr val="tx1"/>
                </a:solidFill>
                <a:latin typeface="Courier New" panose="02070309020205020404" charset="0"/>
                <a:cs typeface="Courier New" panose="02070309020205020404" charset="0"/>
                <a:sym typeface="Courier New Bold" charset="0"/>
              </a:rPr>
              <a:t>  400550:  mov    %rdi,%rax</a:t>
            </a:r>
          </a:p>
          <a:p>
            <a:pPr algn="l"/>
            <a:r>
              <a:rPr lang="ro-RO" sz="1800"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endParaRPr lang="ro-RO" sz="1800" dirty="0">
              <a:solidFill>
                <a:schemeClr val="tx1"/>
              </a:solidFill>
              <a:latin typeface="Courier New" panose="02070309020205020404" charset="0"/>
              <a:cs typeface="Courier New" panose="02070309020205020404" charset="0"/>
              <a:sym typeface="Courier New Bold" charset="0"/>
            </a:endParaRPr>
          </a:p>
          <a:p>
            <a:pPr algn="l"/>
            <a:r>
              <a:rPr lang="ro-RO" sz="1800" dirty="0">
                <a:solidFill>
                  <a:schemeClr val="tx1"/>
                </a:solidFill>
                <a:latin typeface="Courier New" panose="02070309020205020404" charset="0"/>
                <a:cs typeface="Courier New" panose="02070309020205020404" charset="0"/>
                <a:sym typeface="Courier New Bold" charset="0"/>
              </a:rPr>
              <a:t>  400557:  retq</a:t>
            </a:r>
          </a:p>
        </p:txBody>
      </p:sp>
      <p:sp>
        <p:nvSpPr>
          <p:cNvPr id="8" name="Rectangle 7"/>
          <p:cNvSpPr/>
          <p:nvPr/>
        </p:nvSpPr>
        <p:spPr bwMode="auto">
          <a:xfrm>
            <a:off x="228600" y="1295400"/>
            <a:ext cx="4495800" cy="20574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sk-SK" sz="1800" dirty="0">
                <a:solidFill>
                  <a:schemeClr val="tx1"/>
                </a:solidFill>
                <a:latin typeface="Courier New" panose="02070309020205020404" charset="0"/>
                <a:cs typeface="Courier New" panose="02070309020205020404" charset="0"/>
                <a:sym typeface="Courier New Bold" charset="0"/>
              </a:rPr>
              <a:t>0000000000400540 &lt;multstore&gt;:</a:t>
            </a:r>
          </a:p>
          <a:p>
            <a:pPr algn="l"/>
            <a:r>
              <a:rPr lang="sk-SK" sz="1800"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sk-SK" sz="1800" dirty="0">
                <a:solidFill>
                  <a:schemeClr val="tx1"/>
                </a:solidFill>
                <a:latin typeface="Courier New" panose="02070309020205020404" charset="0"/>
                <a:cs typeface="Courier New" panose="02070309020205020404" charset="0"/>
                <a:sym typeface="Courier New Bold" charset="0"/>
              </a:rPr>
              <a:t>  400544: callq  400550 &lt;mult2&gt;</a:t>
            </a:r>
          </a:p>
          <a:p>
            <a:pPr algn="l"/>
            <a:r>
              <a:rPr lang="sk-SK" sz="1800" dirty="0">
                <a:solidFill>
                  <a:schemeClr val="tx1"/>
                </a:solidFill>
                <a:latin typeface="Courier New" panose="02070309020205020404" charset="0"/>
                <a:cs typeface="Courier New" panose="02070309020205020404" charset="0"/>
                <a:sym typeface="Courier New Bold" charset="0"/>
              </a:rPr>
              <a:t>  400549: mov    %rax,(%rbx)</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11" name="Rectangle 8"/>
          <p:cNvSpPr/>
          <p:nvPr/>
        </p:nvSpPr>
        <p:spPr bwMode="auto">
          <a:xfrm>
            <a:off x="6248400" y="3505200"/>
            <a:ext cx="1346200" cy="381000"/>
          </a:xfrm>
          <a:prstGeom prst="rect">
            <a:avLst/>
          </a:prstGeom>
          <a:solidFill>
            <a:srgbClr val="FFCCCC"/>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0x400544</a:t>
            </a:r>
          </a:p>
        </p:txBody>
      </p:sp>
      <p:sp>
        <p:nvSpPr>
          <p:cNvPr id="12" name="Rectangle 9"/>
          <p:cNvSpPr/>
          <p:nvPr/>
        </p:nvSpPr>
        <p:spPr bwMode="auto">
          <a:xfrm>
            <a:off x="6248400" y="28956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0x120</a:t>
            </a:r>
          </a:p>
        </p:txBody>
      </p:sp>
      <p:sp>
        <p:nvSpPr>
          <p:cNvPr id="18" name="Rectangle 15"/>
          <p:cNvSpPr/>
          <p:nvPr/>
        </p:nvSpPr>
        <p:spPr bwMode="auto">
          <a:xfrm>
            <a:off x="6248400" y="381000"/>
            <a:ext cx="1346200" cy="19050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en-US" sz="2400" dirty="0"/>
              <a:t>       •</a:t>
            </a:r>
          </a:p>
          <a:p>
            <a:r>
              <a:rPr lang="en-US" sz="2400" dirty="0"/>
              <a:t>       •</a:t>
            </a:r>
          </a:p>
          <a:p>
            <a:r>
              <a:rPr lang="en-US" sz="2400" dirty="0"/>
              <a:t>       •</a:t>
            </a:r>
          </a:p>
        </p:txBody>
      </p:sp>
      <p:sp>
        <p:nvSpPr>
          <p:cNvPr id="20" name="Arc 19"/>
          <p:cNvSpPr/>
          <p:nvPr/>
        </p:nvSpPr>
        <p:spPr bwMode="auto">
          <a:xfrm flipV="1">
            <a:off x="6629400" y="2133600"/>
            <a:ext cx="1676400" cy="990600"/>
          </a:xfrm>
          <a:prstGeom prst="arc">
            <a:avLst>
              <a:gd name="adj1" fmla="val 17108922"/>
              <a:gd name="adj2" fmla="val 4768750"/>
            </a:avLst>
          </a:prstGeom>
          <a:noFill/>
          <a:ln w="25400" cap="flat" cmpd="sng" algn="ctr">
            <a:solidFill>
              <a:srgbClr val="008000"/>
            </a:solidFill>
            <a:prstDash val="solid"/>
            <a:round/>
            <a:headEnd type="none" w="med" len="med"/>
            <a:tailEnd type="arrow"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cxnSp>
        <p:nvCxnSpPr>
          <p:cNvPr id="22" name="Straight Arrow Connector 21"/>
          <p:cNvCxnSpPr>
            <a:stCxn id="11" idx="1"/>
          </p:cNvCxnSpPr>
          <p:nvPr/>
        </p:nvCxnSpPr>
        <p:spPr bwMode="auto">
          <a:xfrm flipH="1" flipV="1">
            <a:off x="4572000" y="2362200"/>
            <a:ext cx="1676400" cy="13335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sp>
        <p:nvSpPr>
          <p:cNvPr id="24" name="Rectangle 3"/>
          <p:cNvSpPr/>
          <p:nvPr/>
        </p:nvSpPr>
        <p:spPr bwMode="auto">
          <a:xfrm>
            <a:off x="5472112" y="2895600"/>
            <a:ext cx="638175"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5" name="Rectangle 10"/>
          <p:cNvSpPr/>
          <p:nvPr/>
        </p:nvSpPr>
        <p:spPr bwMode="auto">
          <a:xfrm>
            <a:off x="5334000" y="1905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0x120</a:t>
            </a:r>
          </a:p>
        </p:txBody>
      </p:sp>
      <p:sp>
        <p:nvSpPr>
          <p:cNvPr id="26" name="Rectangle 11"/>
          <p:cNvSpPr/>
          <p:nvPr/>
        </p:nvSpPr>
        <p:spPr bwMode="auto">
          <a:xfrm>
            <a:off x="5334000" y="1524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0x128</a:t>
            </a:r>
          </a:p>
        </p:txBody>
      </p:sp>
      <p:sp>
        <p:nvSpPr>
          <p:cNvPr id="27" name="Rectangle 12"/>
          <p:cNvSpPr/>
          <p:nvPr/>
        </p:nvSpPr>
        <p:spPr bwMode="auto">
          <a:xfrm>
            <a:off x="5334000" y="1143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0x130</a:t>
            </a:r>
          </a:p>
        </p:txBody>
      </p:sp>
      <p:sp>
        <p:nvSpPr>
          <p:cNvPr id="29" name="Rectangle 4"/>
          <p:cNvSpPr/>
          <p:nvPr/>
        </p:nvSpPr>
        <p:spPr bwMode="auto">
          <a:xfrm>
            <a:off x="5472112" y="3505200"/>
            <a:ext cx="638175"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%rip</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r>
              <a:rPr lang="zh-CN" altLang="en-US" dirty="0"/>
              <a:t>过程控制流例子</a:t>
            </a:r>
            <a:r>
              <a:rPr lang="en-US" dirty="0"/>
              <a:t> #2</a:t>
            </a:r>
          </a:p>
        </p:txBody>
      </p:sp>
      <p:sp>
        <p:nvSpPr>
          <p:cNvPr id="6" name="Rectangle 4"/>
          <p:cNvSpPr/>
          <p:nvPr/>
        </p:nvSpPr>
        <p:spPr bwMode="auto">
          <a:xfrm>
            <a:off x="228600" y="3962400"/>
            <a:ext cx="4495800" cy="1524000"/>
          </a:xfrm>
          <a:prstGeom prst="rect">
            <a:avLst/>
          </a:prstGeom>
          <a:solidFill>
            <a:srgbClr val="CC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ro-RO" sz="1800" dirty="0">
                <a:solidFill>
                  <a:schemeClr val="tx1"/>
                </a:solidFill>
                <a:latin typeface="Courier New" panose="02070309020205020404" charset="0"/>
                <a:cs typeface="Courier New" panose="02070309020205020404" charset="0"/>
                <a:sym typeface="Courier New Bold" charset="0"/>
              </a:rPr>
              <a:t>0000000000400550 &lt;mult2&gt;:</a:t>
            </a:r>
          </a:p>
          <a:p>
            <a:pPr algn="l"/>
            <a:r>
              <a:rPr lang="ro-RO" sz="1800" dirty="0">
                <a:solidFill>
                  <a:schemeClr val="tx1"/>
                </a:solidFill>
                <a:latin typeface="Courier New" panose="02070309020205020404" charset="0"/>
                <a:cs typeface="Courier New" panose="02070309020205020404" charset="0"/>
                <a:sym typeface="Courier New Bold" charset="0"/>
              </a:rPr>
              <a:t>  400550:  mov    %rdi,%rax</a:t>
            </a:r>
          </a:p>
          <a:p>
            <a:pPr algn="l"/>
            <a:r>
              <a:rPr lang="ro-RO" sz="1800"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endParaRPr lang="ro-RO" sz="1800" dirty="0">
              <a:solidFill>
                <a:schemeClr val="tx1"/>
              </a:solidFill>
              <a:latin typeface="Courier New" panose="02070309020205020404" charset="0"/>
              <a:cs typeface="Courier New" panose="02070309020205020404" charset="0"/>
              <a:sym typeface="Courier New Bold" charset="0"/>
            </a:endParaRPr>
          </a:p>
          <a:p>
            <a:pPr algn="l"/>
            <a:r>
              <a:rPr lang="ro-RO" sz="1800" dirty="0">
                <a:solidFill>
                  <a:schemeClr val="tx1"/>
                </a:solidFill>
                <a:latin typeface="Courier New" panose="02070309020205020404" charset="0"/>
                <a:cs typeface="Courier New" panose="02070309020205020404" charset="0"/>
                <a:sym typeface="Courier New Bold" charset="0"/>
              </a:rPr>
              <a:t>  400557:  retq		</a:t>
            </a:r>
          </a:p>
        </p:txBody>
      </p:sp>
      <p:sp>
        <p:nvSpPr>
          <p:cNvPr id="8" name="Rectangle 7"/>
          <p:cNvSpPr/>
          <p:nvPr/>
        </p:nvSpPr>
        <p:spPr bwMode="auto">
          <a:xfrm>
            <a:off x="228600" y="1295400"/>
            <a:ext cx="4495800" cy="20574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sk-SK" sz="1800" dirty="0">
                <a:solidFill>
                  <a:schemeClr val="tx1"/>
                </a:solidFill>
                <a:latin typeface="Courier New" panose="02070309020205020404" charset="0"/>
                <a:cs typeface="Courier New" panose="02070309020205020404" charset="0"/>
                <a:sym typeface="Courier New Bold" charset="0"/>
              </a:rPr>
              <a:t>0000000000400540 &lt;multstore&gt;:</a:t>
            </a:r>
          </a:p>
          <a:p>
            <a:pPr algn="l"/>
            <a:r>
              <a:rPr lang="sk-SK" sz="1800"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sk-SK" sz="1800" dirty="0">
                <a:solidFill>
                  <a:schemeClr val="tx1"/>
                </a:solidFill>
                <a:latin typeface="Courier New" panose="02070309020205020404" charset="0"/>
                <a:cs typeface="Courier New" panose="02070309020205020404" charset="0"/>
                <a:sym typeface="Courier New Bold" charset="0"/>
              </a:rPr>
              <a:t>  400544: callq  400550 &lt;mult2&gt;</a:t>
            </a:r>
          </a:p>
          <a:p>
            <a:pPr algn="l"/>
            <a:r>
              <a:rPr lang="sk-SK" sz="1800" dirty="0">
                <a:solidFill>
                  <a:schemeClr val="tx1"/>
                </a:solidFill>
                <a:latin typeface="Courier New" panose="02070309020205020404" charset="0"/>
                <a:cs typeface="Courier New" panose="02070309020205020404" charset="0"/>
                <a:sym typeface="Courier New Bold" charset="0"/>
              </a:rPr>
              <a:t>  400549: mov    %rax,(%rbx)</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11" name="Rectangle 8"/>
          <p:cNvSpPr/>
          <p:nvPr/>
        </p:nvSpPr>
        <p:spPr bwMode="auto">
          <a:xfrm>
            <a:off x="6248400" y="3505200"/>
            <a:ext cx="1346200" cy="381000"/>
          </a:xfrm>
          <a:prstGeom prst="rect">
            <a:avLst/>
          </a:prstGeom>
          <a:solidFill>
            <a:srgbClr val="FFCCCC"/>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0x400550</a:t>
            </a:r>
          </a:p>
        </p:txBody>
      </p:sp>
      <p:sp>
        <p:nvSpPr>
          <p:cNvPr id="12" name="Rectangle 9"/>
          <p:cNvSpPr/>
          <p:nvPr/>
        </p:nvSpPr>
        <p:spPr bwMode="auto">
          <a:xfrm>
            <a:off x="6248400" y="28956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0x118</a:t>
            </a:r>
          </a:p>
        </p:txBody>
      </p:sp>
      <p:sp>
        <p:nvSpPr>
          <p:cNvPr id="17" name="Rectangle 14"/>
          <p:cNvSpPr/>
          <p:nvPr/>
        </p:nvSpPr>
        <p:spPr bwMode="auto">
          <a:xfrm>
            <a:off x="6248400" y="2286000"/>
            <a:ext cx="13462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0x400549</a:t>
            </a:r>
          </a:p>
        </p:txBody>
      </p:sp>
      <p:sp>
        <p:nvSpPr>
          <p:cNvPr id="18" name="Rectangle 15"/>
          <p:cNvSpPr/>
          <p:nvPr/>
        </p:nvSpPr>
        <p:spPr bwMode="auto">
          <a:xfrm>
            <a:off x="6248400" y="381000"/>
            <a:ext cx="1346200" cy="19050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en-US" sz="2400" dirty="0"/>
              <a:t>       •</a:t>
            </a:r>
          </a:p>
          <a:p>
            <a:r>
              <a:rPr lang="en-US" sz="2400" dirty="0"/>
              <a:t>       •</a:t>
            </a:r>
          </a:p>
          <a:p>
            <a:r>
              <a:rPr lang="en-US" sz="2400" dirty="0"/>
              <a:t>       •</a:t>
            </a:r>
          </a:p>
        </p:txBody>
      </p:sp>
      <p:sp>
        <p:nvSpPr>
          <p:cNvPr id="20" name="Arc 19"/>
          <p:cNvSpPr/>
          <p:nvPr/>
        </p:nvSpPr>
        <p:spPr bwMode="auto">
          <a:xfrm flipV="1">
            <a:off x="6629400" y="2438400"/>
            <a:ext cx="1676400" cy="685800"/>
          </a:xfrm>
          <a:prstGeom prst="arc">
            <a:avLst>
              <a:gd name="adj1" fmla="val 17108922"/>
              <a:gd name="adj2" fmla="val 4394693"/>
            </a:avLst>
          </a:prstGeom>
          <a:noFill/>
          <a:ln w="25400" cap="flat" cmpd="sng" algn="ctr">
            <a:solidFill>
              <a:srgbClr val="008000"/>
            </a:solidFill>
            <a:prstDash val="solid"/>
            <a:round/>
            <a:headEnd type="none" w="med" len="med"/>
            <a:tailEnd type="arrow"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cxnSp>
        <p:nvCxnSpPr>
          <p:cNvPr id="22" name="Straight Arrow Connector 21"/>
          <p:cNvCxnSpPr>
            <a:stCxn id="11" idx="1"/>
          </p:cNvCxnSpPr>
          <p:nvPr/>
        </p:nvCxnSpPr>
        <p:spPr bwMode="auto">
          <a:xfrm flipH="1">
            <a:off x="4038600" y="3695700"/>
            <a:ext cx="2209800" cy="7239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cxnSp>
        <p:nvCxnSpPr>
          <p:cNvPr id="19" name="Straight Arrow Connector 18"/>
          <p:cNvCxnSpPr/>
          <p:nvPr/>
        </p:nvCxnSpPr>
        <p:spPr bwMode="auto">
          <a:xfrm flipH="1">
            <a:off x="4114800" y="2514600"/>
            <a:ext cx="2133600" cy="762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grpSp>
        <p:nvGrpSpPr>
          <p:cNvPr id="5" name="Group 4"/>
          <p:cNvGrpSpPr/>
          <p:nvPr/>
        </p:nvGrpSpPr>
        <p:grpSpPr>
          <a:xfrm>
            <a:off x="5334000" y="1143000"/>
            <a:ext cx="776287" cy="2743200"/>
            <a:chOff x="5334000" y="1143000"/>
            <a:chExt cx="776287" cy="2743200"/>
          </a:xfrm>
        </p:grpSpPr>
        <p:sp>
          <p:nvSpPr>
            <p:cNvPr id="7" name="Rectangle 3"/>
            <p:cNvSpPr/>
            <p:nvPr/>
          </p:nvSpPr>
          <p:spPr bwMode="auto">
            <a:xfrm>
              <a:off x="5472112" y="2895600"/>
              <a:ext cx="638175"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13" name="Rectangle 10"/>
            <p:cNvSpPr/>
            <p:nvPr/>
          </p:nvSpPr>
          <p:spPr bwMode="auto">
            <a:xfrm>
              <a:off x="5334000" y="1905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0x120</a:t>
              </a:r>
            </a:p>
          </p:txBody>
        </p:sp>
        <p:sp>
          <p:nvSpPr>
            <p:cNvPr id="14" name="Rectangle 11"/>
            <p:cNvSpPr/>
            <p:nvPr/>
          </p:nvSpPr>
          <p:spPr bwMode="auto">
            <a:xfrm>
              <a:off x="5334000" y="1524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0x128</a:t>
              </a:r>
            </a:p>
          </p:txBody>
        </p:sp>
        <p:sp>
          <p:nvSpPr>
            <p:cNvPr id="15" name="Rectangle 12"/>
            <p:cNvSpPr/>
            <p:nvPr/>
          </p:nvSpPr>
          <p:spPr bwMode="auto">
            <a:xfrm>
              <a:off x="5334000" y="1143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0x130</a:t>
              </a:r>
            </a:p>
          </p:txBody>
        </p:sp>
        <p:sp>
          <p:nvSpPr>
            <p:cNvPr id="21" name="Rectangle 11"/>
            <p:cNvSpPr/>
            <p:nvPr/>
          </p:nvSpPr>
          <p:spPr bwMode="auto">
            <a:xfrm>
              <a:off x="5334000" y="2286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0x118</a:t>
              </a:r>
            </a:p>
          </p:txBody>
        </p:sp>
        <p:sp>
          <p:nvSpPr>
            <p:cNvPr id="9" name="Rectangle 4"/>
            <p:cNvSpPr/>
            <p:nvPr/>
          </p:nvSpPr>
          <p:spPr bwMode="auto">
            <a:xfrm>
              <a:off x="5472112" y="3505200"/>
              <a:ext cx="638175"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%rip</a:t>
              </a:r>
            </a:p>
          </p:txBody>
        </p:sp>
      </p:gr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4" name="椭圆 3"/>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4" name="椭圆 3"/>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6" name="Rectangle 4"/>
          <p:cNvSpPr/>
          <p:nvPr/>
        </p:nvSpPr>
        <p:spPr bwMode="auto">
          <a:xfrm>
            <a:off x="228600" y="3962400"/>
            <a:ext cx="4495800" cy="1524000"/>
          </a:xfrm>
          <a:prstGeom prst="rect">
            <a:avLst/>
          </a:prstGeom>
          <a:solidFill>
            <a:srgbClr val="CC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ro-RO" sz="1800" dirty="0">
                <a:solidFill>
                  <a:schemeClr val="tx1"/>
                </a:solidFill>
                <a:latin typeface="Courier New" panose="02070309020205020404" charset="0"/>
                <a:cs typeface="Courier New" panose="02070309020205020404" charset="0"/>
                <a:sym typeface="Courier New Bold" charset="0"/>
              </a:rPr>
              <a:t>0000000000400550 &lt;mult2&gt;:</a:t>
            </a:r>
          </a:p>
          <a:p>
            <a:pPr algn="l"/>
            <a:r>
              <a:rPr lang="ro-RO" sz="1800" dirty="0">
                <a:solidFill>
                  <a:schemeClr val="tx1"/>
                </a:solidFill>
                <a:latin typeface="Courier New" panose="02070309020205020404" charset="0"/>
                <a:cs typeface="Courier New" panose="02070309020205020404" charset="0"/>
                <a:sym typeface="Courier New Bold" charset="0"/>
              </a:rPr>
              <a:t>  400550:  mov    %rdi,%rax</a:t>
            </a:r>
          </a:p>
          <a:p>
            <a:pPr algn="l"/>
            <a:r>
              <a:rPr lang="ro-RO" sz="1800"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endParaRPr lang="ro-RO" sz="1800" dirty="0">
              <a:solidFill>
                <a:schemeClr val="tx1"/>
              </a:solidFill>
              <a:latin typeface="Courier New" panose="02070309020205020404" charset="0"/>
              <a:cs typeface="Courier New" panose="02070309020205020404" charset="0"/>
              <a:sym typeface="Courier New Bold" charset="0"/>
            </a:endParaRPr>
          </a:p>
          <a:p>
            <a:pPr algn="l"/>
            <a:r>
              <a:rPr lang="ro-RO" sz="1800" dirty="0">
                <a:solidFill>
                  <a:schemeClr val="tx1"/>
                </a:solidFill>
                <a:latin typeface="Courier New" panose="02070309020205020404" charset="0"/>
                <a:cs typeface="Courier New" panose="02070309020205020404" charset="0"/>
                <a:sym typeface="Courier New Bold" charset="0"/>
              </a:rPr>
              <a:t>  400557:  retq		</a:t>
            </a:r>
          </a:p>
        </p:txBody>
      </p:sp>
      <p:sp>
        <p:nvSpPr>
          <p:cNvPr id="8" name="Rectangle 7"/>
          <p:cNvSpPr/>
          <p:nvPr/>
        </p:nvSpPr>
        <p:spPr bwMode="auto">
          <a:xfrm>
            <a:off x="228600" y="1295400"/>
            <a:ext cx="4495800" cy="20574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sk-SK" sz="1800" dirty="0">
                <a:solidFill>
                  <a:schemeClr val="tx1"/>
                </a:solidFill>
                <a:latin typeface="Courier New" panose="02070309020205020404" charset="0"/>
                <a:cs typeface="Courier New" panose="02070309020205020404" charset="0"/>
                <a:sym typeface="Courier New Bold" charset="0"/>
              </a:rPr>
              <a:t>0000000000400540 &lt;multstore&gt;:</a:t>
            </a:r>
          </a:p>
          <a:p>
            <a:pPr algn="l"/>
            <a:r>
              <a:rPr lang="sk-SK" sz="1800"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sk-SK" sz="1800" dirty="0">
                <a:solidFill>
                  <a:schemeClr val="tx1"/>
                </a:solidFill>
                <a:latin typeface="Courier New" panose="02070309020205020404" charset="0"/>
                <a:cs typeface="Courier New" panose="02070309020205020404" charset="0"/>
                <a:sym typeface="Courier New Bold" charset="0"/>
              </a:rPr>
              <a:t>  400544: callq  400550 &lt;mult2&gt;</a:t>
            </a:r>
          </a:p>
          <a:p>
            <a:pPr algn="l"/>
            <a:r>
              <a:rPr lang="sk-SK" sz="1800" dirty="0">
                <a:solidFill>
                  <a:schemeClr val="tx1"/>
                </a:solidFill>
                <a:latin typeface="Courier New" panose="02070309020205020404" charset="0"/>
                <a:cs typeface="Courier New" panose="02070309020205020404" charset="0"/>
                <a:sym typeface="Courier New Bold" charset="0"/>
              </a:rPr>
              <a:t>  400549: mov    %rax,(%rbx)</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11" name="Rectangle 8"/>
          <p:cNvSpPr/>
          <p:nvPr/>
        </p:nvSpPr>
        <p:spPr bwMode="auto">
          <a:xfrm>
            <a:off x="6248400" y="3505200"/>
            <a:ext cx="1346200" cy="381000"/>
          </a:xfrm>
          <a:prstGeom prst="rect">
            <a:avLst/>
          </a:prstGeom>
          <a:solidFill>
            <a:srgbClr val="FFCCCC"/>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0x400557</a:t>
            </a:r>
          </a:p>
        </p:txBody>
      </p:sp>
      <p:sp>
        <p:nvSpPr>
          <p:cNvPr id="12" name="Rectangle 9"/>
          <p:cNvSpPr/>
          <p:nvPr/>
        </p:nvSpPr>
        <p:spPr bwMode="auto">
          <a:xfrm>
            <a:off x="6248400" y="28956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0x118</a:t>
            </a:r>
          </a:p>
        </p:txBody>
      </p:sp>
      <p:sp>
        <p:nvSpPr>
          <p:cNvPr id="17" name="Rectangle 14"/>
          <p:cNvSpPr/>
          <p:nvPr/>
        </p:nvSpPr>
        <p:spPr bwMode="auto">
          <a:xfrm>
            <a:off x="6248400" y="2286000"/>
            <a:ext cx="13462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0x400549</a:t>
            </a:r>
          </a:p>
        </p:txBody>
      </p:sp>
      <p:sp>
        <p:nvSpPr>
          <p:cNvPr id="18" name="Rectangle 15"/>
          <p:cNvSpPr/>
          <p:nvPr/>
        </p:nvSpPr>
        <p:spPr bwMode="auto">
          <a:xfrm>
            <a:off x="6248400" y="381000"/>
            <a:ext cx="1346200" cy="19050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en-US" sz="2400" dirty="0"/>
              <a:t>       •</a:t>
            </a:r>
          </a:p>
          <a:p>
            <a:r>
              <a:rPr lang="en-US" sz="2400" dirty="0"/>
              <a:t>       •</a:t>
            </a:r>
          </a:p>
          <a:p>
            <a:r>
              <a:rPr lang="en-US" sz="2400" dirty="0"/>
              <a:t>       •</a:t>
            </a:r>
          </a:p>
        </p:txBody>
      </p:sp>
      <p:sp>
        <p:nvSpPr>
          <p:cNvPr id="20" name="Arc 19"/>
          <p:cNvSpPr/>
          <p:nvPr/>
        </p:nvSpPr>
        <p:spPr bwMode="auto">
          <a:xfrm flipV="1">
            <a:off x="6629400" y="2438400"/>
            <a:ext cx="1676400" cy="685800"/>
          </a:xfrm>
          <a:prstGeom prst="arc">
            <a:avLst>
              <a:gd name="adj1" fmla="val 17108922"/>
              <a:gd name="adj2" fmla="val 4394693"/>
            </a:avLst>
          </a:prstGeom>
          <a:noFill/>
          <a:ln w="25400" cap="flat" cmpd="sng" algn="ctr">
            <a:solidFill>
              <a:srgbClr val="008000"/>
            </a:solidFill>
            <a:prstDash val="solid"/>
            <a:round/>
            <a:headEnd type="none" w="med" len="med"/>
            <a:tailEnd type="arrow"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cxnSp>
        <p:nvCxnSpPr>
          <p:cNvPr id="22" name="Straight Arrow Connector 21"/>
          <p:cNvCxnSpPr>
            <a:stCxn id="11" idx="1"/>
          </p:cNvCxnSpPr>
          <p:nvPr/>
        </p:nvCxnSpPr>
        <p:spPr bwMode="auto">
          <a:xfrm flipH="1">
            <a:off x="2362200" y="3695700"/>
            <a:ext cx="3886200" cy="15621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cxnSp>
        <p:nvCxnSpPr>
          <p:cNvPr id="19" name="Straight Arrow Connector 18"/>
          <p:cNvCxnSpPr/>
          <p:nvPr/>
        </p:nvCxnSpPr>
        <p:spPr bwMode="auto">
          <a:xfrm flipH="1">
            <a:off x="4114800" y="2514600"/>
            <a:ext cx="2133600" cy="762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grpSp>
        <p:nvGrpSpPr>
          <p:cNvPr id="21" name="Group 20"/>
          <p:cNvGrpSpPr/>
          <p:nvPr/>
        </p:nvGrpSpPr>
        <p:grpSpPr>
          <a:xfrm>
            <a:off x="5334000" y="1143000"/>
            <a:ext cx="776287" cy="2743200"/>
            <a:chOff x="5334000" y="1143000"/>
            <a:chExt cx="776287" cy="2743200"/>
          </a:xfrm>
        </p:grpSpPr>
        <p:sp>
          <p:nvSpPr>
            <p:cNvPr id="23" name="Rectangle 3"/>
            <p:cNvSpPr/>
            <p:nvPr/>
          </p:nvSpPr>
          <p:spPr bwMode="auto">
            <a:xfrm>
              <a:off x="5472112" y="2895600"/>
              <a:ext cx="638175"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4" name="Rectangle 10"/>
            <p:cNvSpPr/>
            <p:nvPr/>
          </p:nvSpPr>
          <p:spPr bwMode="auto">
            <a:xfrm>
              <a:off x="5334000" y="1905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0x120</a:t>
              </a:r>
            </a:p>
          </p:txBody>
        </p:sp>
        <p:sp>
          <p:nvSpPr>
            <p:cNvPr id="25" name="Rectangle 11"/>
            <p:cNvSpPr/>
            <p:nvPr/>
          </p:nvSpPr>
          <p:spPr bwMode="auto">
            <a:xfrm>
              <a:off x="5334000" y="1524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0x128</a:t>
              </a:r>
            </a:p>
          </p:txBody>
        </p:sp>
        <p:sp>
          <p:nvSpPr>
            <p:cNvPr id="26" name="Rectangle 12"/>
            <p:cNvSpPr/>
            <p:nvPr/>
          </p:nvSpPr>
          <p:spPr bwMode="auto">
            <a:xfrm>
              <a:off x="5334000" y="1143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0x130</a:t>
              </a:r>
            </a:p>
          </p:txBody>
        </p:sp>
        <p:sp>
          <p:nvSpPr>
            <p:cNvPr id="27" name="Rectangle 11"/>
            <p:cNvSpPr/>
            <p:nvPr/>
          </p:nvSpPr>
          <p:spPr bwMode="auto">
            <a:xfrm>
              <a:off x="5334000" y="2286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0x118</a:t>
              </a:r>
            </a:p>
          </p:txBody>
        </p:sp>
        <p:sp>
          <p:nvSpPr>
            <p:cNvPr id="28" name="Rectangle 4"/>
            <p:cNvSpPr/>
            <p:nvPr/>
          </p:nvSpPr>
          <p:spPr bwMode="auto">
            <a:xfrm>
              <a:off x="5472112" y="3505200"/>
              <a:ext cx="638175"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%rip</a:t>
              </a:r>
            </a:p>
          </p:txBody>
        </p:sp>
      </p:grpSp>
      <p:sp>
        <p:nvSpPr>
          <p:cNvPr id="2" name="Title 1"/>
          <p:cNvSpPr>
            <a:spLocks noGrp="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r>
              <a:rPr lang="zh-CN" altLang="en-US" dirty="0"/>
              <a:t>过程控制流例子</a:t>
            </a:r>
            <a:r>
              <a:rPr lang="en-US" dirty="0"/>
              <a:t> #3</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r>
              <a:rPr lang="zh-CN" altLang="en-US" dirty="0"/>
              <a:t>过程控制流例子</a:t>
            </a:r>
            <a:r>
              <a:rPr lang="en-US" dirty="0"/>
              <a:t> #4</a:t>
            </a:r>
          </a:p>
        </p:txBody>
      </p:sp>
      <p:sp>
        <p:nvSpPr>
          <p:cNvPr id="6" name="Rectangle 4"/>
          <p:cNvSpPr/>
          <p:nvPr/>
        </p:nvSpPr>
        <p:spPr bwMode="auto">
          <a:xfrm>
            <a:off x="228600" y="3962400"/>
            <a:ext cx="4495800" cy="1524000"/>
          </a:xfrm>
          <a:prstGeom prst="rect">
            <a:avLst/>
          </a:prstGeom>
          <a:solidFill>
            <a:srgbClr val="CC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ro-RO" sz="1800" dirty="0">
                <a:solidFill>
                  <a:schemeClr val="tx1"/>
                </a:solidFill>
                <a:latin typeface="Courier New" panose="02070309020205020404" charset="0"/>
                <a:cs typeface="Courier New" panose="02070309020205020404" charset="0"/>
                <a:sym typeface="Courier New Bold" charset="0"/>
              </a:rPr>
              <a:t>0000000000400550 &lt;mult2&gt;:</a:t>
            </a:r>
          </a:p>
          <a:p>
            <a:pPr algn="l"/>
            <a:r>
              <a:rPr lang="ro-RO" sz="1800" dirty="0">
                <a:solidFill>
                  <a:schemeClr val="tx1"/>
                </a:solidFill>
                <a:latin typeface="Courier New" panose="02070309020205020404" charset="0"/>
                <a:cs typeface="Courier New" panose="02070309020205020404" charset="0"/>
                <a:sym typeface="Courier New Bold" charset="0"/>
              </a:rPr>
              <a:t>  400550:  mov    %rdi,%rax</a:t>
            </a:r>
          </a:p>
          <a:p>
            <a:pPr algn="l"/>
            <a:r>
              <a:rPr lang="ro-RO" sz="1800"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endParaRPr lang="ro-RO" sz="1800" dirty="0">
              <a:solidFill>
                <a:schemeClr val="tx1"/>
              </a:solidFill>
              <a:latin typeface="Courier New" panose="02070309020205020404" charset="0"/>
              <a:cs typeface="Courier New" panose="02070309020205020404" charset="0"/>
              <a:sym typeface="Courier New Bold" charset="0"/>
            </a:endParaRPr>
          </a:p>
          <a:p>
            <a:pPr algn="l"/>
            <a:r>
              <a:rPr lang="ro-RO" sz="1800" dirty="0">
                <a:solidFill>
                  <a:schemeClr val="tx1"/>
                </a:solidFill>
                <a:latin typeface="Courier New" panose="02070309020205020404" charset="0"/>
                <a:cs typeface="Courier New" panose="02070309020205020404" charset="0"/>
                <a:sym typeface="Courier New Bold" charset="0"/>
              </a:rPr>
              <a:t>  400557:  retq		</a:t>
            </a:r>
          </a:p>
        </p:txBody>
      </p:sp>
      <p:sp>
        <p:nvSpPr>
          <p:cNvPr id="8" name="Rectangle 7"/>
          <p:cNvSpPr/>
          <p:nvPr/>
        </p:nvSpPr>
        <p:spPr bwMode="auto">
          <a:xfrm>
            <a:off x="228600" y="1295400"/>
            <a:ext cx="4495800" cy="20574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sk-SK" sz="1800" dirty="0">
                <a:solidFill>
                  <a:schemeClr val="tx1"/>
                </a:solidFill>
                <a:latin typeface="Courier New" panose="02070309020205020404" charset="0"/>
                <a:cs typeface="Courier New" panose="02070309020205020404" charset="0"/>
                <a:sym typeface="Courier New Bold" charset="0"/>
              </a:rPr>
              <a:t>0000000000400540 &lt;multstore&gt;:</a:t>
            </a:r>
          </a:p>
          <a:p>
            <a:pPr algn="l"/>
            <a:r>
              <a:rPr lang="sk-SK" sz="1800"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sk-SK" sz="1800" dirty="0">
                <a:solidFill>
                  <a:schemeClr val="tx1"/>
                </a:solidFill>
                <a:latin typeface="Courier New" panose="02070309020205020404" charset="0"/>
                <a:cs typeface="Courier New" panose="02070309020205020404" charset="0"/>
                <a:sym typeface="Courier New Bold" charset="0"/>
              </a:rPr>
              <a:t>  400544: callq  400550 &lt;mult2&gt;</a:t>
            </a:r>
          </a:p>
          <a:p>
            <a:pPr algn="l"/>
            <a:r>
              <a:rPr lang="sk-SK" sz="1800" dirty="0">
                <a:solidFill>
                  <a:schemeClr val="tx1"/>
                </a:solidFill>
                <a:latin typeface="Courier New" panose="02070309020205020404" charset="0"/>
                <a:cs typeface="Courier New" panose="02070309020205020404" charset="0"/>
                <a:sym typeface="Courier New Bold" charset="0"/>
              </a:rPr>
              <a:t>  400549: mov    %rax,(%rbx)</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11" name="Rectangle 8"/>
          <p:cNvSpPr/>
          <p:nvPr/>
        </p:nvSpPr>
        <p:spPr bwMode="auto">
          <a:xfrm>
            <a:off x="6248400" y="3505200"/>
            <a:ext cx="1346200" cy="381000"/>
          </a:xfrm>
          <a:prstGeom prst="rect">
            <a:avLst/>
          </a:prstGeom>
          <a:solidFill>
            <a:srgbClr val="FFCCCC"/>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0x400549</a:t>
            </a:r>
          </a:p>
        </p:txBody>
      </p:sp>
      <p:sp>
        <p:nvSpPr>
          <p:cNvPr id="12" name="Rectangle 9"/>
          <p:cNvSpPr/>
          <p:nvPr/>
        </p:nvSpPr>
        <p:spPr bwMode="auto">
          <a:xfrm>
            <a:off x="6248400" y="28956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0x120</a:t>
            </a:r>
          </a:p>
        </p:txBody>
      </p:sp>
      <p:sp>
        <p:nvSpPr>
          <p:cNvPr id="18" name="Rectangle 15"/>
          <p:cNvSpPr/>
          <p:nvPr/>
        </p:nvSpPr>
        <p:spPr bwMode="auto">
          <a:xfrm>
            <a:off x="6248400" y="393700"/>
            <a:ext cx="1346200" cy="19050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en-US" sz="2400" dirty="0"/>
              <a:t>       •</a:t>
            </a:r>
          </a:p>
          <a:p>
            <a:r>
              <a:rPr lang="en-US" sz="2400" dirty="0"/>
              <a:t>       •</a:t>
            </a:r>
          </a:p>
          <a:p>
            <a:r>
              <a:rPr lang="en-US" sz="2400" dirty="0"/>
              <a:t>       •</a:t>
            </a:r>
          </a:p>
        </p:txBody>
      </p:sp>
      <p:sp>
        <p:nvSpPr>
          <p:cNvPr id="20" name="Arc 19"/>
          <p:cNvSpPr/>
          <p:nvPr/>
        </p:nvSpPr>
        <p:spPr bwMode="auto">
          <a:xfrm flipV="1">
            <a:off x="6629400" y="2133600"/>
            <a:ext cx="1676400" cy="990600"/>
          </a:xfrm>
          <a:prstGeom prst="arc">
            <a:avLst>
              <a:gd name="adj1" fmla="val 17108922"/>
              <a:gd name="adj2" fmla="val 4768750"/>
            </a:avLst>
          </a:prstGeom>
          <a:noFill/>
          <a:ln w="25400" cap="flat" cmpd="sng" algn="ctr">
            <a:solidFill>
              <a:srgbClr val="008000"/>
            </a:solidFill>
            <a:prstDash val="solid"/>
            <a:round/>
            <a:headEnd type="none" w="med" len="med"/>
            <a:tailEnd type="arrow"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cxnSp>
        <p:nvCxnSpPr>
          <p:cNvPr id="22" name="Straight Arrow Connector 21"/>
          <p:cNvCxnSpPr>
            <a:stCxn id="11" idx="1"/>
          </p:cNvCxnSpPr>
          <p:nvPr/>
        </p:nvCxnSpPr>
        <p:spPr bwMode="auto">
          <a:xfrm flipH="1" flipV="1">
            <a:off x="4114800" y="2590800"/>
            <a:ext cx="2133600" cy="1104900"/>
          </a:xfrm>
          <a:prstGeom prst="straightConnector1">
            <a:avLst/>
          </a:prstGeom>
          <a:solidFill>
            <a:schemeClr val="accent1"/>
          </a:solidFill>
          <a:ln w="25400" cap="flat" cmpd="sng" algn="ctr">
            <a:solidFill>
              <a:srgbClr val="FF0000"/>
            </a:solidFill>
            <a:prstDash val="solid"/>
            <a:round/>
            <a:headEnd type="none" w="med" len="med"/>
            <a:tailEnd type="arrow"/>
          </a:ln>
          <a:effectLst/>
        </p:spPr>
      </p:cxnSp>
      <p:sp>
        <p:nvSpPr>
          <p:cNvPr id="21" name="Rectangle 3"/>
          <p:cNvSpPr/>
          <p:nvPr/>
        </p:nvSpPr>
        <p:spPr bwMode="auto">
          <a:xfrm>
            <a:off x="5472112" y="2895600"/>
            <a:ext cx="638175"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3" name="Rectangle 10"/>
          <p:cNvSpPr/>
          <p:nvPr/>
        </p:nvSpPr>
        <p:spPr bwMode="auto">
          <a:xfrm>
            <a:off x="5334000" y="1905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0x120</a:t>
            </a:r>
          </a:p>
        </p:txBody>
      </p:sp>
      <p:sp>
        <p:nvSpPr>
          <p:cNvPr id="24" name="Rectangle 11"/>
          <p:cNvSpPr/>
          <p:nvPr/>
        </p:nvSpPr>
        <p:spPr bwMode="auto">
          <a:xfrm>
            <a:off x="5334000" y="1524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0x128</a:t>
            </a:r>
          </a:p>
        </p:txBody>
      </p:sp>
      <p:sp>
        <p:nvSpPr>
          <p:cNvPr id="25" name="Rectangle 12"/>
          <p:cNvSpPr/>
          <p:nvPr/>
        </p:nvSpPr>
        <p:spPr bwMode="auto">
          <a:xfrm>
            <a:off x="5334000" y="1143000"/>
            <a:ext cx="776287"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0x130</a:t>
            </a:r>
          </a:p>
        </p:txBody>
      </p:sp>
      <p:sp>
        <p:nvSpPr>
          <p:cNvPr id="27" name="Rectangle 4"/>
          <p:cNvSpPr/>
          <p:nvPr/>
        </p:nvSpPr>
        <p:spPr bwMode="auto">
          <a:xfrm>
            <a:off x="5472112" y="3505200"/>
            <a:ext cx="638175" cy="381000"/>
          </a:xfrm>
          <a:prstGeom prst="rect">
            <a:avLst/>
          </a:prstGeom>
          <a:solidFill>
            <a:srgbClr val="FFFFFF"/>
          </a:solidFill>
          <a:ln w="25400" cap="flat">
            <a:noFill/>
            <a:miter lim="800000"/>
            <a:headEnd type="none" w="med" len="med"/>
            <a:tailEnd type="none" w="med" len="med"/>
          </a:ln>
        </p:spPr>
        <p:txBody>
          <a:bodyPr wrap="none" lIns="38100" tIns="38100" rIns="38100" bIns="38100" anchor="ctr"/>
          <a:lstStyle/>
          <a:p>
            <a:pPr algn="r"/>
            <a:r>
              <a:rPr lang="en-US" sz="1800" dirty="0">
                <a:solidFill>
                  <a:schemeClr val="tx1"/>
                </a:solidFill>
                <a:latin typeface="Courier New Bold" charset="0"/>
                <a:cs typeface="Courier New Bold" charset="0"/>
                <a:sym typeface="Courier New Bold" charset="0"/>
              </a:rPr>
              <a:t>%rip</a:t>
            </a:r>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4" name="椭圆 3"/>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4" name="椭圆 3"/>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5061" name="Rectangle 5"/>
          <p:cNvSpPr>
            <a:spLocks noGrp="1" noChangeArrowheads="1"/>
          </p:cNvSpPr>
          <p:nvPr/>
        </p:nvSpPr>
        <p:spPr>
          <a:xfrm>
            <a:off x="711200" y="1535113"/>
            <a:ext cx="4040188" cy="639762"/>
          </a:xfrm>
          <a:prstGeom prst="rect">
            <a:avLst/>
          </a:prstGeom>
          <a:noFill/>
          <a:ln w="9525">
            <a:noFill/>
            <a:miter lim="800000"/>
          </a:ln>
          <a:effectLst/>
        </p:spPr>
        <p:txBody>
          <a:bodyPr vert="horz" wrap="square" lIns="38100" tIns="38100" rIns="38100" bIns="38100" numCol="1" anchor="b" anchorCtr="0" compatLnSpc="1"/>
          <a:lstStyle>
            <a:lvl1pPr marL="0" indent="0" algn="l" rtl="0" fontAlgn="base">
              <a:spcBef>
                <a:spcPts val="600"/>
              </a:spcBef>
              <a:spcAft>
                <a:spcPct val="0"/>
              </a:spcAft>
              <a:buClr>
                <a:srgbClr val="990000"/>
              </a:buClr>
              <a:buSzPct val="60000"/>
              <a:buFont typeface="Wingdings 2" panose="05020102010507070707" pitchFamily="18" charset="2"/>
              <a:buNone/>
              <a:defRPr sz="2400" b="1">
                <a:solidFill>
                  <a:schemeClr val="tx1"/>
                </a:solidFill>
                <a:latin typeface="+mn-lt"/>
                <a:ea typeface="+mn-ea"/>
                <a:cs typeface="+mn-cs"/>
                <a:sym typeface="Calibri Bold" charset="0"/>
              </a:defRPr>
            </a:lvl1pPr>
            <a:lvl2pPr marL="457200" indent="0" algn="l" rtl="0" fontAlgn="base">
              <a:spcBef>
                <a:spcPts val="500"/>
              </a:spcBef>
              <a:spcAft>
                <a:spcPct val="0"/>
              </a:spcAft>
              <a:buClr>
                <a:srgbClr val="990000"/>
              </a:buClr>
              <a:buSzPct val="110000"/>
              <a:buFont typeface="Wingdings" panose="05000000000000000000" pitchFamily="2" charset="2"/>
              <a:buNone/>
              <a:defRPr sz="2000" b="1">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914400" indent="0" algn="l" rtl="0" fontAlgn="base">
              <a:spcBef>
                <a:spcPts val="500"/>
              </a:spcBef>
              <a:spcAft>
                <a:spcPct val="0"/>
              </a:spcAft>
              <a:buClr>
                <a:srgbClr val="000000"/>
              </a:buClr>
              <a:buSzPct val="80000"/>
              <a:buFont typeface="Wingdings" panose="05000000000000000000" pitchFamily="2" charset="2"/>
              <a:buNone/>
              <a:defRPr sz="1800" b="1">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3716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8288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2860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7432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2004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6576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r>
              <a:rPr lang="zh-CN" altLang="en-US" dirty="0"/>
              <a:t>寄存器</a:t>
            </a:r>
          </a:p>
        </p:txBody>
      </p:sp>
      <p:sp>
        <p:nvSpPr>
          <p:cNvPr id="2" name="Content Placeholder 1"/>
          <p:cNvSpPr>
            <a:spLocks noGrp="1"/>
          </p:cNvSpPr>
          <p:nvPr/>
        </p:nvSpPr>
        <p:spPr>
          <a:xfrm>
            <a:off x="457200" y="2174875"/>
            <a:ext cx="4040188" cy="3951288"/>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18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ED7D31"/>
              </a:buClr>
            </a:pPr>
            <a:r>
              <a:rPr lang="en-US" dirty="0"/>
              <a:t>6</a:t>
            </a:r>
            <a:r>
              <a:rPr lang="zh-CN" altLang="en-US" dirty="0"/>
              <a:t>个实参</a:t>
            </a:r>
          </a:p>
          <a:p>
            <a:endParaRPr lang="en-US" dirty="0"/>
          </a:p>
          <a:p>
            <a:endParaRPr lang="en-US" dirty="0"/>
          </a:p>
          <a:p>
            <a:endParaRPr lang="en-US" dirty="0"/>
          </a:p>
          <a:p>
            <a:endParaRPr lang="en-US" dirty="0"/>
          </a:p>
          <a:p>
            <a:pPr marL="0" indent="0">
              <a:buNone/>
            </a:pPr>
            <a:endParaRPr lang="en-US" dirty="0"/>
          </a:p>
          <a:p>
            <a:pPr marL="0" indent="0">
              <a:buNone/>
            </a:pPr>
            <a:endParaRPr lang="en-US" dirty="0"/>
          </a:p>
          <a:p>
            <a:pPr>
              <a:buClr>
                <a:srgbClr val="ED7D31"/>
              </a:buClr>
            </a:pPr>
            <a:r>
              <a:rPr lang="zh-CN" altLang="en-US" dirty="0"/>
              <a:t>返回值</a:t>
            </a:r>
          </a:p>
        </p:txBody>
      </p:sp>
      <p:sp>
        <p:nvSpPr>
          <p:cNvPr id="5" name="Text Placeholder 2"/>
          <p:cNvSpPr>
            <a:spLocks noGrp="1"/>
          </p:cNvSpPr>
          <p:nvPr/>
        </p:nvSpPr>
        <p:spPr>
          <a:xfrm>
            <a:off x="4184015" y="1535430"/>
            <a:ext cx="722630" cy="639445"/>
          </a:xfrm>
          <a:prstGeom prst="rect">
            <a:avLst/>
          </a:prstGeom>
          <a:noFill/>
          <a:ln w="9525">
            <a:noFill/>
            <a:miter lim="800000"/>
          </a:ln>
          <a:effectLst/>
        </p:spPr>
        <p:txBody>
          <a:bodyPr vert="horz" wrap="square" lIns="38100" tIns="38100" rIns="38100" bIns="38100" numCol="1" anchor="b" anchorCtr="0" compatLnSpc="1"/>
          <a:lstStyle>
            <a:lvl1pPr marL="0" indent="0" algn="l" rtl="0" fontAlgn="base">
              <a:spcBef>
                <a:spcPts val="600"/>
              </a:spcBef>
              <a:spcAft>
                <a:spcPct val="0"/>
              </a:spcAft>
              <a:buClr>
                <a:srgbClr val="990000"/>
              </a:buClr>
              <a:buSzPct val="60000"/>
              <a:buFont typeface="Wingdings 2" panose="05020102010507070707" pitchFamily="18" charset="2"/>
              <a:buNone/>
              <a:defRPr sz="2400" b="1">
                <a:solidFill>
                  <a:schemeClr val="tx1"/>
                </a:solidFill>
                <a:latin typeface="+mn-lt"/>
                <a:ea typeface="+mn-ea"/>
                <a:cs typeface="+mn-cs"/>
                <a:sym typeface="Calibri Bold" charset="0"/>
              </a:defRPr>
            </a:lvl1pPr>
            <a:lvl2pPr marL="457200" indent="0" algn="l" rtl="0" fontAlgn="base">
              <a:spcBef>
                <a:spcPts val="500"/>
              </a:spcBef>
              <a:spcAft>
                <a:spcPct val="0"/>
              </a:spcAft>
              <a:buClr>
                <a:srgbClr val="990000"/>
              </a:buClr>
              <a:buSzPct val="110000"/>
              <a:buFont typeface="Wingdings" panose="05000000000000000000" pitchFamily="2" charset="2"/>
              <a:buNone/>
              <a:defRPr sz="2000" b="1">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914400" indent="0" algn="l" rtl="0" fontAlgn="base">
              <a:spcBef>
                <a:spcPts val="500"/>
              </a:spcBef>
              <a:spcAft>
                <a:spcPct val="0"/>
              </a:spcAft>
              <a:buClr>
                <a:srgbClr val="000000"/>
              </a:buClr>
              <a:buSzPct val="80000"/>
              <a:buFont typeface="Wingdings" panose="05000000000000000000" pitchFamily="2" charset="2"/>
              <a:buNone/>
              <a:defRPr sz="1800" b="1">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3716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8288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22860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7432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32004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657600" indent="0" algn="l" rtl="0" fontAlgn="base">
              <a:spcBef>
                <a:spcPts val="500"/>
              </a:spcBef>
              <a:spcAft>
                <a:spcPct val="0"/>
              </a:spcAft>
              <a:buClr>
                <a:srgbClr val="000000"/>
              </a:buClr>
              <a:buSzPct val="100000"/>
              <a:buFont typeface="Calibri" panose="020F0502020204030204" charset="0"/>
              <a:buNone/>
              <a:defRPr sz="1600" b="1">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r>
              <a:rPr lang="zh-CN" altLang="en-US" dirty="0"/>
              <a:t>栈</a:t>
            </a:r>
          </a:p>
        </p:txBody>
      </p:sp>
      <p:sp>
        <p:nvSpPr>
          <p:cNvPr id="6" name="Content Placeholder 3"/>
          <p:cNvSpPr>
            <a:spLocks noGrp="1"/>
          </p:cNvSpPr>
          <p:nvPr/>
        </p:nvSpPr>
        <p:spPr>
          <a:xfrm>
            <a:off x="2854325" y="5791199"/>
            <a:ext cx="4041775" cy="334963"/>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18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16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ED7D31"/>
              </a:buClr>
            </a:pPr>
            <a:r>
              <a:rPr lang="zh-CN" altLang="en-US" dirty="0"/>
              <a:t>只有当需要时才分配栈空间</a:t>
            </a:r>
          </a:p>
        </p:txBody>
      </p:sp>
      <p:sp>
        <p:nvSpPr>
          <p:cNvPr id="9" name="Rectangle 9"/>
          <p:cNvSpPr/>
          <p:nvPr/>
        </p:nvSpPr>
        <p:spPr bwMode="auto">
          <a:xfrm>
            <a:off x="762000" y="28194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rdi</a:t>
            </a:r>
            <a:endParaRPr lang="en-US" sz="1800" dirty="0">
              <a:solidFill>
                <a:schemeClr val="tx1"/>
              </a:solidFill>
              <a:latin typeface="Courier New Bold" charset="0"/>
              <a:cs typeface="Courier New Bold" charset="0"/>
              <a:sym typeface="Courier New Bold" charset="0"/>
            </a:endParaRPr>
          </a:p>
        </p:txBody>
      </p:sp>
      <p:sp>
        <p:nvSpPr>
          <p:cNvPr id="10" name="Rectangle 9"/>
          <p:cNvSpPr/>
          <p:nvPr/>
        </p:nvSpPr>
        <p:spPr bwMode="auto">
          <a:xfrm>
            <a:off x="762000" y="32004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rsi</a:t>
            </a:r>
            <a:endParaRPr lang="en-US" sz="1800" dirty="0">
              <a:solidFill>
                <a:schemeClr val="tx1"/>
              </a:solidFill>
              <a:latin typeface="Courier New Bold" charset="0"/>
              <a:cs typeface="Courier New Bold" charset="0"/>
              <a:sym typeface="Courier New Bold" charset="0"/>
            </a:endParaRPr>
          </a:p>
        </p:txBody>
      </p:sp>
      <p:sp>
        <p:nvSpPr>
          <p:cNvPr id="11" name="Rectangle 10"/>
          <p:cNvSpPr/>
          <p:nvPr/>
        </p:nvSpPr>
        <p:spPr bwMode="auto">
          <a:xfrm>
            <a:off x="762000" y="35814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rdx</a:t>
            </a:r>
            <a:endParaRPr lang="en-US" sz="1800" dirty="0">
              <a:solidFill>
                <a:schemeClr val="tx1"/>
              </a:solidFill>
              <a:latin typeface="Courier New Bold" charset="0"/>
              <a:cs typeface="Courier New Bold" charset="0"/>
              <a:sym typeface="Courier New Bold" charset="0"/>
            </a:endParaRPr>
          </a:p>
        </p:txBody>
      </p:sp>
      <p:sp>
        <p:nvSpPr>
          <p:cNvPr id="12" name="Rectangle 11"/>
          <p:cNvSpPr/>
          <p:nvPr/>
        </p:nvSpPr>
        <p:spPr bwMode="auto">
          <a:xfrm>
            <a:off x="762000" y="39624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rcx</a:t>
            </a:r>
            <a:endParaRPr lang="en-US" sz="1800" dirty="0">
              <a:solidFill>
                <a:schemeClr val="tx1"/>
              </a:solidFill>
              <a:latin typeface="Courier New Bold" charset="0"/>
              <a:cs typeface="Courier New Bold" charset="0"/>
              <a:sym typeface="Courier New Bold" charset="0"/>
            </a:endParaRPr>
          </a:p>
        </p:txBody>
      </p:sp>
      <p:sp>
        <p:nvSpPr>
          <p:cNvPr id="13" name="Rectangle 12"/>
          <p:cNvSpPr/>
          <p:nvPr/>
        </p:nvSpPr>
        <p:spPr bwMode="auto">
          <a:xfrm>
            <a:off x="762000" y="43434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%r8</a:t>
            </a:r>
          </a:p>
        </p:txBody>
      </p:sp>
      <p:sp>
        <p:nvSpPr>
          <p:cNvPr id="14" name="Rectangle 13"/>
          <p:cNvSpPr/>
          <p:nvPr/>
        </p:nvSpPr>
        <p:spPr bwMode="auto">
          <a:xfrm>
            <a:off x="762000" y="47244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%r9</a:t>
            </a:r>
          </a:p>
        </p:txBody>
      </p:sp>
      <p:sp>
        <p:nvSpPr>
          <p:cNvPr id="15" name="Rectangle 14"/>
          <p:cNvSpPr/>
          <p:nvPr/>
        </p:nvSpPr>
        <p:spPr bwMode="auto">
          <a:xfrm>
            <a:off x="762000" y="5791200"/>
            <a:ext cx="13462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rax</a:t>
            </a:r>
            <a:endParaRPr lang="en-US" sz="1800" dirty="0">
              <a:solidFill>
                <a:schemeClr val="tx1"/>
              </a:solidFill>
              <a:latin typeface="Courier New Bold" charset="0"/>
              <a:cs typeface="Courier New Bold" charset="0"/>
              <a:sym typeface="Courier New Bold" charset="0"/>
            </a:endParaRPr>
          </a:p>
        </p:txBody>
      </p:sp>
      <p:grpSp>
        <p:nvGrpSpPr>
          <p:cNvPr id="7" name="Group 4"/>
          <p:cNvGrpSpPr/>
          <p:nvPr/>
        </p:nvGrpSpPr>
        <p:grpSpPr>
          <a:xfrm>
            <a:off x="3848100" y="2438400"/>
            <a:ext cx="1346200" cy="2667000"/>
            <a:chOff x="5943600" y="2057400"/>
            <a:chExt cx="1346200" cy="2667000"/>
          </a:xfrm>
        </p:grpSpPr>
        <p:sp>
          <p:nvSpPr>
            <p:cNvPr id="16" name="Rectangle 14"/>
            <p:cNvSpPr/>
            <p:nvPr/>
          </p:nvSpPr>
          <p:spPr bwMode="auto">
            <a:xfrm>
              <a:off x="5943600" y="4343400"/>
              <a:ext cx="13462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mn-lt"/>
                  <a:cs typeface="Courier New Bold" charset="0"/>
                  <a:sym typeface="Courier New Bold" charset="0"/>
                </a:rPr>
                <a:t>Arg</a:t>
              </a:r>
              <a:r>
                <a:rPr lang="en-US" sz="1800" dirty="0">
                  <a:solidFill>
                    <a:schemeClr val="tx1"/>
                  </a:solidFill>
                  <a:latin typeface="+mn-lt"/>
                  <a:cs typeface="Courier New Bold" charset="0"/>
                  <a:sym typeface="Courier New Bold" charset="0"/>
                </a:rPr>
                <a:t> </a:t>
              </a:r>
              <a:r>
                <a:rPr lang="en-US" sz="1800" dirty="0">
                  <a:solidFill>
                    <a:schemeClr val="tx1"/>
                  </a:solidFill>
                  <a:latin typeface="Courier New Bold" charset="0"/>
                  <a:cs typeface="Courier New Bold" charset="0"/>
                  <a:sym typeface="Courier New Bold" charset="0"/>
                </a:rPr>
                <a:t>7</a:t>
              </a:r>
            </a:p>
          </p:txBody>
        </p:sp>
        <p:sp>
          <p:nvSpPr>
            <p:cNvPr id="17" name="Rectangle 15"/>
            <p:cNvSpPr/>
            <p:nvPr/>
          </p:nvSpPr>
          <p:spPr bwMode="auto">
            <a:xfrm>
              <a:off x="5943600" y="3200400"/>
              <a:ext cx="1346200" cy="7620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en-US" sz="2400" dirty="0"/>
                <a:t>• • •</a:t>
              </a:r>
            </a:p>
          </p:txBody>
        </p:sp>
        <p:sp>
          <p:nvSpPr>
            <p:cNvPr id="18" name="Rectangle 14"/>
            <p:cNvSpPr/>
            <p:nvPr/>
          </p:nvSpPr>
          <p:spPr bwMode="auto">
            <a:xfrm>
              <a:off x="5943600" y="3962400"/>
              <a:ext cx="13462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mn-lt"/>
                  <a:cs typeface="Courier New Bold" charset="0"/>
                  <a:sym typeface="Courier New Bold" charset="0"/>
                </a:rPr>
                <a:t>Arg</a:t>
              </a:r>
              <a:r>
                <a:rPr lang="en-US" sz="1800" dirty="0">
                  <a:solidFill>
                    <a:schemeClr val="tx1"/>
                  </a:solidFill>
                  <a:latin typeface="+mn-lt"/>
                  <a:cs typeface="Courier New Bold" charset="0"/>
                  <a:sym typeface="Courier New Bold" charset="0"/>
                </a:rPr>
                <a:t> </a:t>
              </a:r>
              <a:r>
                <a:rPr lang="en-US" sz="1800" dirty="0">
                  <a:solidFill>
                    <a:schemeClr val="tx1"/>
                  </a:solidFill>
                  <a:latin typeface="Courier New Bold" charset="0"/>
                  <a:cs typeface="Courier New Bold" charset="0"/>
                  <a:sym typeface="Courier New Bold" charset="0"/>
                </a:rPr>
                <a:t>8</a:t>
              </a:r>
            </a:p>
          </p:txBody>
        </p:sp>
        <p:sp>
          <p:nvSpPr>
            <p:cNvPr id="19" name="Rectangle 14"/>
            <p:cNvSpPr/>
            <p:nvPr/>
          </p:nvSpPr>
          <p:spPr bwMode="auto">
            <a:xfrm>
              <a:off x="5943600" y="2819400"/>
              <a:ext cx="13462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mn-lt"/>
                  <a:cs typeface="Courier New Bold" charset="0"/>
                  <a:sym typeface="Courier New Bold" charset="0"/>
                </a:rPr>
                <a:t>Arg</a:t>
              </a:r>
              <a:r>
                <a:rPr lang="en-US" sz="1800" dirty="0">
                  <a:solidFill>
                    <a:schemeClr val="tx1"/>
                  </a:solidFill>
                  <a:latin typeface="+mn-lt"/>
                  <a:cs typeface="Courier New Bold" charset="0"/>
                  <a:sym typeface="Courier New Bold" charset="0"/>
                </a:rPr>
                <a:t> </a:t>
              </a:r>
              <a:r>
                <a:rPr lang="en-US" sz="1800" i="1" dirty="0">
                  <a:solidFill>
                    <a:schemeClr val="tx1"/>
                  </a:solidFill>
                  <a:latin typeface="+mn-lt"/>
                  <a:cs typeface="Courier New Bold" charset="0"/>
                  <a:sym typeface="Courier New Bold" charset="0"/>
                </a:rPr>
                <a:t>n</a:t>
              </a:r>
            </a:p>
          </p:txBody>
        </p:sp>
        <p:sp>
          <p:nvSpPr>
            <p:cNvPr id="20" name="Rectangle 15"/>
            <p:cNvSpPr/>
            <p:nvPr/>
          </p:nvSpPr>
          <p:spPr bwMode="auto">
            <a:xfrm>
              <a:off x="5943600" y="2057400"/>
              <a:ext cx="1346200" cy="7620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en-US" sz="2400" dirty="0"/>
                <a:t>• • •</a:t>
              </a:r>
            </a:p>
          </p:txBody>
        </p:sp>
      </p:grpSp>
      <p:sp>
        <p:nvSpPr>
          <p:cNvPr id="8" name="燕尾形 7"/>
          <p:cNvSpPr/>
          <p:nvPr/>
        </p:nvSpPr>
        <p:spPr>
          <a:xfrm>
            <a:off x="0" y="598170"/>
            <a:ext cx="3079750" cy="60579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过程数据流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p:nvPr/>
        </p:nvSpPr>
        <p:spPr bwMode="auto">
          <a:xfrm>
            <a:off x="76200" y="4800600"/>
            <a:ext cx="2667000" cy="1828800"/>
          </a:xfrm>
          <a:prstGeom prst="rect">
            <a:avLst/>
          </a:prstGeom>
          <a:solidFill>
            <a:srgbClr val="CC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long mult2</a:t>
            </a:r>
          </a:p>
          <a:p>
            <a:pPr algn="l"/>
            <a:r>
              <a:rPr lang="en-US" sz="1800" b="1" dirty="0">
                <a:solidFill>
                  <a:schemeClr val="tx1"/>
                </a:solidFill>
                <a:latin typeface="Courier New" panose="02070309020205020404" charset="0"/>
                <a:cs typeface="Courier New" panose="02070309020205020404" charset="0"/>
                <a:sym typeface="Courier New Bold" charset="0"/>
              </a:rPr>
              <a:t>  (long a, long b)</a:t>
            </a:r>
          </a:p>
          <a:p>
            <a:pPr algn="l"/>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  long s = a * b;</a:t>
            </a:r>
          </a:p>
          <a:p>
            <a:pPr algn="l"/>
            <a:r>
              <a:rPr lang="en-US" sz="1800" b="1" dirty="0">
                <a:solidFill>
                  <a:schemeClr val="tx1"/>
                </a:solidFill>
                <a:latin typeface="Courier New" panose="02070309020205020404" charset="0"/>
                <a:cs typeface="Courier New" panose="02070309020205020404" charset="0"/>
                <a:sym typeface="Courier New Bold" charset="0"/>
              </a:rPr>
              <a:t>  return s;</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5" name="Rectangle 4"/>
          <p:cNvSpPr/>
          <p:nvPr/>
        </p:nvSpPr>
        <p:spPr bwMode="auto">
          <a:xfrm>
            <a:off x="3505200" y="152400"/>
            <a:ext cx="4267200" cy="1828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void </a:t>
            </a:r>
            <a:r>
              <a:rPr lang="en-US" sz="1800" b="1" dirty="0" err="1">
                <a:solidFill>
                  <a:schemeClr val="tx1"/>
                </a:solidFill>
                <a:latin typeface="Courier New" panose="02070309020205020404" charset="0"/>
                <a:cs typeface="Courier New" panose="02070309020205020404" charset="0"/>
                <a:sym typeface="Courier New Bold" charset="0"/>
              </a:rPr>
              <a:t>multstore</a:t>
            </a:r>
            <a:endParaRPr lang="en-US" sz="1800" b="1" dirty="0">
              <a:solidFill>
                <a:schemeClr val="tx1"/>
              </a:solidFill>
              <a:latin typeface="Courier New" panose="02070309020205020404" charset="0"/>
              <a:cs typeface="Courier New" panose="02070309020205020404" charset="0"/>
              <a:sym typeface="Courier New Bold" charset="0"/>
            </a:endParaRPr>
          </a:p>
          <a:p>
            <a:pPr algn="l"/>
            <a:r>
              <a:rPr lang="en-US" sz="1800" b="1" dirty="0">
                <a:solidFill>
                  <a:schemeClr val="tx1"/>
                </a:solidFill>
                <a:latin typeface="Courier New" panose="02070309020205020404" charset="0"/>
                <a:cs typeface="Courier New" panose="02070309020205020404" charset="0"/>
                <a:sym typeface="Courier New Bold" charset="0"/>
              </a:rPr>
              <a:t> (long x, long y, long *</a:t>
            </a:r>
            <a:r>
              <a:rPr lang="en-US" sz="1800" b="1" dirty="0" err="1">
                <a:solidFill>
                  <a:schemeClr val="tx1"/>
                </a:solidFill>
                <a:latin typeface="Courier New" panose="02070309020205020404" charset="0"/>
                <a:cs typeface="Courier New" panose="02070309020205020404" charset="0"/>
                <a:sym typeface="Courier New Bold" charset="0"/>
              </a:rPr>
              <a:t>dest</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long t = mult2(x, y);</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dest</a:t>
            </a:r>
            <a:r>
              <a:rPr lang="en-US" sz="1800" b="1" dirty="0">
                <a:solidFill>
                  <a:schemeClr val="tx1"/>
                </a:solidFill>
                <a:latin typeface="Courier New" panose="02070309020205020404" charset="0"/>
                <a:cs typeface="Courier New" panose="02070309020205020404" charset="0"/>
                <a:sym typeface="Courier New Bold" charset="0"/>
              </a:rPr>
              <a:t> = 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6" name="Rectangle 4"/>
          <p:cNvSpPr/>
          <p:nvPr/>
        </p:nvSpPr>
        <p:spPr bwMode="auto">
          <a:xfrm>
            <a:off x="2971800" y="4800600"/>
            <a:ext cx="5867400" cy="1828800"/>
          </a:xfrm>
          <a:prstGeom prst="rect">
            <a:avLst/>
          </a:prstGeom>
          <a:solidFill>
            <a:srgbClr val="CC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ro-RO" sz="1800" b="1" dirty="0">
                <a:solidFill>
                  <a:schemeClr val="tx1"/>
                </a:solidFill>
                <a:latin typeface="Courier New" panose="02070309020205020404" charset="0"/>
                <a:cs typeface="Courier New" panose="02070309020205020404" charset="0"/>
                <a:sym typeface="Courier New Bold" charset="0"/>
              </a:rPr>
              <a:t>0000000000400550 &lt;mult2&gt;:</a:t>
            </a:r>
          </a:p>
          <a:p>
            <a:pPr algn="l"/>
            <a:r>
              <a:rPr lang="sk-SK" sz="1800" b="1" dirty="0">
                <a:solidFill>
                  <a:srgbClr val="FF0000"/>
                </a:solidFill>
                <a:latin typeface="Courier New" panose="02070309020205020404" charset="0"/>
                <a:cs typeface="Courier New" panose="02070309020205020404" charset="0"/>
                <a:sym typeface="Courier New Bold" charset="0"/>
              </a:rPr>
              <a:t>  # a in %rdi, b in %rsi</a:t>
            </a:r>
          </a:p>
          <a:p>
            <a:pPr algn="l"/>
            <a:r>
              <a:rPr lang="ro-RO" sz="1800" b="1" dirty="0">
                <a:solidFill>
                  <a:schemeClr val="tx1"/>
                </a:solidFill>
                <a:latin typeface="Courier New" panose="02070309020205020404" charset="0"/>
                <a:cs typeface="Courier New" panose="02070309020205020404" charset="0"/>
                <a:sym typeface="Courier New Bold" charset="0"/>
              </a:rPr>
              <a:t>  400550:  mov    %rdi,%rax	# a </a:t>
            </a:r>
          </a:p>
          <a:p>
            <a:pPr algn="l"/>
            <a:r>
              <a:rPr lang="ro-RO" sz="1800" b="1" dirty="0">
                <a:solidFill>
                  <a:schemeClr val="tx1"/>
                </a:solidFill>
                <a:latin typeface="Courier New" panose="02070309020205020404" charset="0"/>
                <a:cs typeface="Courier New" panose="02070309020205020404" charset="0"/>
                <a:sym typeface="Courier New Bold" charset="0"/>
              </a:rPr>
              <a:t>  400553:  imul   %rsi,%rax	# a * b</a:t>
            </a:r>
          </a:p>
          <a:p>
            <a:pPr algn="l"/>
            <a:r>
              <a:rPr lang="sk-SK" sz="1800" b="1" dirty="0">
                <a:solidFill>
                  <a:srgbClr val="FF0000"/>
                </a:solidFill>
                <a:latin typeface="Courier New" panose="02070309020205020404" charset="0"/>
                <a:cs typeface="Courier New" panose="02070309020205020404" charset="0"/>
                <a:sym typeface="Courier New Bold" charset="0"/>
              </a:rPr>
              <a:t>  # s in %rax</a:t>
            </a:r>
            <a:endParaRPr lang="ro-RO" sz="1800" b="1" dirty="0">
              <a:solidFill>
                <a:schemeClr val="tx1"/>
              </a:solidFill>
              <a:latin typeface="Courier New" panose="02070309020205020404" charset="0"/>
              <a:cs typeface="Courier New" panose="02070309020205020404" charset="0"/>
              <a:sym typeface="Courier New Bold" charset="0"/>
            </a:endParaRPr>
          </a:p>
          <a:p>
            <a:pPr algn="l"/>
            <a:r>
              <a:rPr lang="ro-RO" sz="1800" b="1" dirty="0">
                <a:solidFill>
                  <a:schemeClr val="tx1"/>
                </a:solidFill>
                <a:latin typeface="Courier New" panose="02070309020205020404" charset="0"/>
                <a:cs typeface="Courier New" panose="02070309020205020404" charset="0"/>
                <a:sym typeface="Courier New Bold" charset="0"/>
              </a:rPr>
              <a:t>  400557:  retq			# Return</a:t>
            </a:r>
          </a:p>
        </p:txBody>
      </p:sp>
      <p:sp>
        <p:nvSpPr>
          <p:cNvPr id="8" name="Rectangle 7"/>
          <p:cNvSpPr/>
          <p:nvPr/>
        </p:nvSpPr>
        <p:spPr bwMode="auto">
          <a:xfrm>
            <a:off x="1066800" y="2362200"/>
            <a:ext cx="6781800" cy="22860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sk-SK" sz="1800" b="1" dirty="0">
                <a:solidFill>
                  <a:schemeClr val="tx1"/>
                </a:solidFill>
                <a:latin typeface="Courier New" panose="02070309020205020404" charset="0"/>
                <a:cs typeface="Courier New" panose="02070309020205020404" charset="0"/>
                <a:sym typeface="Courier New Bold" charset="0"/>
              </a:rPr>
              <a:t>0000000000400540 &lt;multstore&gt;:</a:t>
            </a:r>
          </a:p>
          <a:p>
            <a:pPr algn="l"/>
            <a:r>
              <a:rPr lang="sk-SK" sz="1800" b="1" dirty="0">
                <a:solidFill>
                  <a:srgbClr val="FF0000"/>
                </a:solidFill>
                <a:latin typeface="Courier New" panose="02070309020205020404" charset="0"/>
                <a:cs typeface="Courier New" panose="02070309020205020404" charset="0"/>
                <a:sym typeface="Courier New Bold" charset="0"/>
              </a:rPr>
              <a:t>  # x in %rdi, y in %rsi, dest in %rdx</a:t>
            </a:r>
          </a:p>
          <a:p>
            <a:pPr algn="l"/>
            <a:r>
              <a:rPr lang="sk-SK" sz="1800" b="1" dirty="0">
                <a:solidFill>
                  <a:schemeClr val="tx1"/>
                </a:solidFill>
                <a:latin typeface="Courier New" panose="02070309020205020404" charset="0"/>
                <a:cs typeface="Courier New" panose="02070309020205020404" charset="0"/>
                <a:sym typeface="Courier New Bold" charset="0"/>
              </a:rPr>
              <a:t>  </a:t>
            </a:r>
            <a:r>
              <a:rPr lang="en-US" sz="1800" b="1" dirty="0"/>
              <a:t>• • •</a:t>
            </a:r>
            <a:endParaRPr lang="sk-SK" sz="1800" b="1" dirty="0">
              <a:solidFill>
                <a:schemeClr val="tx1"/>
              </a:solidFill>
              <a:latin typeface="Courier New" panose="02070309020205020404" charset="0"/>
              <a:cs typeface="Courier New" panose="02070309020205020404" charset="0"/>
              <a:sym typeface="Courier New Bold" charset="0"/>
            </a:endParaRPr>
          </a:p>
          <a:p>
            <a:pPr algn="l"/>
            <a:r>
              <a:rPr lang="sk-SK" sz="1800" b="1" dirty="0">
                <a:solidFill>
                  <a:schemeClr val="tx1"/>
                </a:solidFill>
                <a:latin typeface="Courier New" panose="02070309020205020404" charset="0"/>
                <a:cs typeface="Courier New" panose="02070309020205020404" charset="0"/>
                <a:sym typeface="Courier New Bold" charset="0"/>
              </a:rPr>
              <a:t>  400541: mov    %rdx,%rbx		# Save dest</a:t>
            </a:r>
          </a:p>
          <a:p>
            <a:pPr algn="l"/>
            <a:r>
              <a:rPr lang="sk-SK" sz="1800" b="1" dirty="0">
                <a:solidFill>
                  <a:schemeClr val="tx1"/>
                </a:solidFill>
                <a:latin typeface="Courier New" panose="02070309020205020404" charset="0"/>
                <a:cs typeface="Courier New" panose="02070309020205020404" charset="0"/>
                <a:sym typeface="Courier New Bold" charset="0"/>
              </a:rPr>
              <a:t>  400544: callq  400550 &lt;mult2&gt;	# mult2(x,y)</a:t>
            </a:r>
          </a:p>
          <a:p>
            <a:pPr algn="l"/>
            <a:r>
              <a:rPr lang="sk-SK" sz="1800" b="1" dirty="0">
                <a:solidFill>
                  <a:schemeClr val="tx1"/>
                </a:solidFill>
                <a:latin typeface="Courier New" panose="02070309020205020404" charset="0"/>
                <a:cs typeface="Courier New" panose="02070309020205020404" charset="0"/>
                <a:sym typeface="Courier New Bold" charset="0"/>
              </a:rPr>
              <a:t>  </a:t>
            </a:r>
            <a:r>
              <a:rPr lang="sk-SK" sz="1800" b="1" dirty="0">
                <a:solidFill>
                  <a:srgbClr val="FF0000"/>
                </a:solidFill>
                <a:latin typeface="Courier New" panose="02070309020205020404" charset="0"/>
                <a:cs typeface="Courier New" panose="02070309020205020404" charset="0"/>
                <a:sym typeface="Courier New Bold" charset="0"/>
              </a:rPr>
              <a:t># t in %rax</a:t>
            </a:r>
            <a:endParaRPr lang="sk-SK" sz="1800" b="1" dirty="0">
              <a:solidFill>
                <a:schemeClr val="tx1"/>
              </a:solidFill>
              <a:latin typeface="Courier New" panose="02070309020205020404" charset="0"/>
              <a:cs typeface="Courier New" panose="02070309020205020404" charset="0"/>
              <a:sym typeface="Courier New Bold" charset="0"/>
            </a:endParaRPr>
          </a:p>
          <a:p>
            <a:pPr algn="l"/>
            <a:r>
              <a:rPr lang="sk-SK" sz="1800" b="1" dirty="0">
                <a:solidFill>
                  <a:schemeClr val="tx1"/>
                </a:solidFill>
                <a:latin typeface="Courier New" panose="02070309020205020404" charset="0"/>
                <a:cs typeface="Courier New" panose="02070309020205020404" charset="0"/>
                <a:sym typeface="Courier New Bold" charset="0"/>
              </a:rPr>
              <a:t>  400549: mov    %rax,(%rbx)	# Save at dest</a:t>
            </a:r>
          </a:p>
          <a:p>
            <a:pPr algn="l"/>
            <a:r>
              <a:rPr lang="sk-SK" sz="1800" b="1" dirty="0">
                <a:solidFill>
                  <a:schemeClr val="tx1"/>
                </a:solidFill>
                <a:latin typeface="Courier New" panose="02070309020205020404" charset="0"/>
                <a:cs typeface="Courier New" panose="02070309020205020404" charset="0"/>
                <a:sym typeface="Courier New Bold" charset="0"/>
              </a:rPr>
              <a:t>  </a:t>
            </a:r>
            <a:r>
              <a:rPr lang="en-US" sz="1800" b="1" dirty="0"/>
              <a:t>• • •</a:t>
            </a:r>
            <a:endParaRPr lang="sk-SK" sz="1800" b="1" dirty="0">
              <a:solidFill>
                <a:schemeClr val="tx1"/>
              </a:solidFill>
              <a:latin typeface="Courier New" panose="02070309020205020404" charset="0"/>
              <a:cs typeface="Courier New" panose="02070309020205020404" charset="0"/>
              <a:sym typeface="Courier New Bold" charset="0"/>
            </a:endParaRPr>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9" name="五边形 8"/>
          <p:cNvSpPr/>
          <p:nvPr/>
        </p:nvSpPr>
        <p:spPr>
          <a:xfrm>
            <a:off x="76200" y="449580"/>
            <a:ext cx="2895600" cy="597535"/>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sym typeface="+mn-ea"/>
              </a:rPr>
              <a:t>数据流例子</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31445" y="443230"/>
            <a:ext cx="3611245" cy="76454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132" name="Rectangle 4"/>
          <p:cNvSpPr>
            <a:spLocks noGrp="1" noChangeArrowheads="1"/>
          </p:cNvSpPr>
          <p:nvPr/>
        </p:nvSpPr>
        <p:spPr>
          <a:xfrm>
            <a:off x="381000" y="1219200"/>
            <a:ext cx="8382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0D0D0D"/>
              </a:buClr>
            </a:pPr>
            <a:r>
              <a:rPr lang="en-US" dirty="0"/>
              <a:t>支持递归的语言</a:t>
            </a:r>
          </a:p>
          <a:p>
            <a:pPr marL="552450" lvl="1">
              <a:buClr>
                <a:srgbClr val="000000"/>
              </a:buClr>
            </a:pPr>
            <a:r>
              <a:rPr lang="en-US" dirty="0"/>
              <a:t>例如，C，Pascal，java</a:t>
            </a:r>
          </a:p>
          <a:p>
            <a:pPr marL="552450" lvl="1">
              <a:buClr>
                <a:srgbClr val="0D0D0D"/>
              </a:buClr>
            </a:pPr>
            <a:r>
              <a:rPr lang="en-US" dirty="0"/>
              <a:t>代码必须是“可重入”的</a:t>
            </a:r>
          </a:p>
          <a:p>
            <a:pPr marL="838200" lvl="2"/>
            <a:r>
              <a:rPr lang="zh-CN" altLang="en-US" dirty="0">
                <a:ea typeface="宋体" panose="02010600030101010101" pitchFamily="2" charset="-122"/>
              </a:rPr>
              <a:t>单过程调用的多个实例</a:t>
            </a:r>
          </a:p>
          <a:p>
            <a:pPr marL="552450" lvl="1">
              <a:buClr>
                <a:srgbClr val="0D0D0D"/>
              </a:buClr>
            </a:pPr>
            <a:r>
              <a:rPr lang="en-US" dirty="0"/>
              <a:t>需要某个地方存储每个实例化的状态</a:t>
            </a:r>
          </a:p>
          <a:p>
            <a:pPr marL="838200" lvl="2"/>
            <a:r>
              <a:rPr lang="zh-CN" altLang="en-US" dirty="0">
                <a:ea typeface="宋体" panose="02010600030101010101" pitchFamily="2" charset="-122"/>
              </a:rPr>
              <a:t>参数</a:t>
            </a:r>
          </a:p>
          <a:p>
            <a:pPr marL="838200" lvl="2"/>
            <a:r>
              <a:rPr lang="zh-CN" altLang="en-US" dirty="0">
                <a:ea typeface="宋体" panose="02010600030101010101" pitchFamily="2" charset="-122"/>
              </a:rPr>
              <a:t>局部变量</a:t>
            </a:r>
          </a:p>
          <a:p>
            <a:pPr marL="838200" lvl="2"/>
            <a:r>
              <a:rPr lang="en-US" dirty="0"/>
              <a:t>返回指针</a:t>
            </a:r>
          </a:p>
          <a:p>
            <a:pPr>
              <a:buClr>
                <a:srgbClr val="0D0D0D"/>
              </a:buClr>
            </a:pPr>
            <a:r>
              <a:rPr lang="zh-CN" altLang="en-US" dirty="0"/>
              <a:t>栈</a:t>
            </a:r>
            <a:endParaRPr lang="en-US" dirty="0"/>
          </a:p>
          <a:p>
            <a:pPr marL="552450" lvl="1">
              <a:buClr>
                <a:srgbClr val="0D0D0D"/>
              </a:buClr>
            </a:pPr>
            <a:r>
              <a:rPr lang="zh-CN" altLang="en-US" dirty="0" err="1">
                <a:ea typeface="宋体" panose="02010600030101010101" pitchFamily="2" charset="-122"/>
                <a:sym typeface="+mn-ea"/>
              </a:rPr>
              <a:t>何时调用何时返回</a:t>
            </a:r>
          </a:p>
          <a:p>
            <a:pPr marL="552450" lvl="1">
              <a:buClr>
                <a:srgbClr val="0D0D0D"/>
              </a:buClr>
            </a:pPr>
            <a:r>
              <a:rPr lang="zh-CN" altLang="en-US" dirty="0">
                <a:ea typeface="宋体" panose="02010600030101010101" pitchFamily="2" charset="-122"/>
              </a:rPr>
              <a:t>被调用者是否返回之前未调用处</a:t>
            </a:r>
          </a:p>
          <a:p>
            <a:pPr>
              <a:buClr>
                <a:srgbClr val="0D0D0D"/>
              </a:buClr>
            </a:pPr>
            <a:r>
              <a:rPr lang="en-US" dirty="0"/>
              <a:t>在帧中分配的栈</a:t>
            </a:r>
          </a:p>
          <a:p>
            <a:pPr marL="552450" lvl="1">
              <a:buClr>
                <a:srgbClr val="0D0D0D"/>
              </a:buClr>
            </a:pPr>
            <a:r>
              <a:rPr lang="en-US" dirty="0"/>
              <a:t>单一过程实例化的状态</a:t>
            </a:r>
          </a:p>
        </p:txBody>
      </p:sp>
      <p:sp>
        <p:nvSpPr>
          <p:cNvPr id="48131" name="Rectangle 3"/>
          <p:cNvSpPr>
            <a:spLocks noGrp="1" noChangeArrowheads="1"/>
          </p:cNvSpPr>
          <p:nvPr/>
        </p:nvSpPr>
        <p:spPr>
          <a:xfrm>
            <a:off x="4826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zh-CN" altLang="en-US" sz="3200">
                <a:solidFill>
                  <a:schemeClr val="bg1"/>
                </a:solidFill>
              </a:rPr>
              <a:t>基于堆栈的语言</a:t>
            </a:r>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8132">
                                            <p:txEl>
                                              <p:pRg st="1" end="1"/>
                                            </p:txEl>
                                          </p:spTgt>
                                        </p:tgtEl>
                                        <p:attrNameLst>
                                          <p:attrName>style.visibility</p:attrName>
                                        </p:attrNameLst>
                                      </p:cBhvr>
                                      <p:to>
                                        <p:strVal val="visible"/>
                                      </p:to>
                                    </p:set>
                                    <p:animEffect transition="in" filter="wipe(down)">
                                      <p:cBhvr>
                                        <p:cTn id="7" dur="500"/>
                                        <p:tgtEl>
                                          <p:spTgt spid="4813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8132">
                                            <p:txEl>
                                              <p:pRg st="2" end="2"/>
                                            </p:txEl>
                                          </p:spTgt>
                                        </p:tgtEl>
                                        <p:attrNameLst>
                                          <p:attrName>style.visibility</p:attrName>
                                        </p:attrNameLst>
                                      </p:cBhvr>
                                      <p:to>
                                        <p:strVal val="visible"/>
                                      </p:to>
                                    </p:set>
                                    <p:animEffect transition="in" filter="wipe(down)">
                                      <p:cBhvr>
                                        <p:cTn id="10" dur="500"/>
                                        <p:tgtEl>
                                          <p:spTgt spid="4813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8132">
                                            <p:txEl>
                                              <p:pRg st="3" end="3"/>
                                            </p:txEl>
                                          </p:spTgt>
                                        </p:tgtEl>
                                        <p:attrNameLst>
                                          <p:attrName>style.visibility</p:attrName>
                                        </p:attrNameLst>
                                      </p:cBhvr>
                                      <p:to>
                                        <p:strVal val="visible"/>
                                      </p:to>
                                    </p:set>
                                    <p:animEffect transition="in" filter="wipe(down)">
                                      <p:cBhvr>
                                        <p:cTn id="15" dur="500"/>
                                        <p:tgtEl>
                                          <p:spTgt spid="4813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48132">
                                            <p:txEl>
                                              <p:pRg st="4" end="4"/>
                                            </p:txEl>
                                          </p:spTgt>
                                        </p:tgtEl>
                                        <p:attrNameLst>
                                          <p:attrName>style.visibility</p:attrName>
                                        </p:attrNameLst>
                                      </p:cBhvr>
                                      <p:to>
                                        <p:strVal val="visible"/>
                                      </p:to>
                                    </p:set>
                                    <p:animEffect transition="in" filter="wipe(down)">
                                      <p:cBhvr>
                                        <p:cTn id="20" dur="500"/>
                                        <p:tgtEl>
                                          <p:spTgt spid="48132">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48132">
                                            <p:txEl>
                                              <p:pRg st="5" end="5"/>
                                            </p:txEl>
                                          </p:spTgt>
                                        </p:tgtEl>
                                        <p:attrNameLst>
                                          <p:attrName>style.visibility</p:attrName>
                                        </p:attrNameLst>
                                      </p:cBhvr>
                                      <p:to>
                                        <p:strVal val="visible"/>
                                      </p:to>
                                    </p:set>
                                    <p:animEffect transition="in" filter="wipe(down)">
                                      <p:cBhvr>
                                        <p:cTn id="25" dur="500"/>
                                        <p:tgtEl>
                                          <p:spTgt spid="48132">
                                            <p:txEl>
                                              <p:pRg st="5" end="5"/>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48132">
                                            <p:txEl>
                                              <p:pRg st="6" end="6"/>
                                            </p:txEl>
                                          </p:spTgt>
                                        </p:tgtEl>
                                        <p:attrNameLst>
                                          <p:attrName>style.visibility</p:attrName>
                                        </p:attrNameLst>
                                      </p:cBhvr>
                                      <p:to>
                                        <p:strVal val="visible"/>
                                      </p:to>
                                    </p:set>
                                    <p:animEffect transition="in" filter="wipe(down)">
                                      <p:cBhvr>
                                        <p:cTn id="28" dur="500"/>
                                        <p:tgtEl>
                                          <p:spTgt spid="48132">
                                            <p:txEl>
                                              <p:pRg st="6" end="6"/>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48132">
                                            <p:txEl>
                                              <p:pRg st="7" end="7"/>
                                            </p:txEl>
                                          </p:spTgt>
                                        </p:tgtEl>
                                        <p:attrNameLst>
                                          <p:attrName>style.visibility</p:attrName>
                                        </p:attrNameLst>
                                      </p:cBhvr>
                                      <p:to>
                                        <p:strVal val="visible"/>
                                      </p:to>
                                    </p:set>
                                    <p:animEffect transition="in" filter="wipe(down)">
                                      <p:cBhvr>
                                        <p:cTn id="31" dur="500"/>
                                        <p:tgtEl>
                                          <p:spTgt spid="4813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48132">
                                            <p:txEl>
                                              <p:pRg st="8" end="8"/>
                                            </p:txEl>
                                          </p:spTgt>
                                        </p:tgtEl>
                                        <p:attrNameLst>
                                          <p:attrName>style.visibility</p:attrName>
                                        </p:attrNameLst>
                                      </p:cBhvr>
                                      <p:to>
                                        <p:strVal val="visible"/>
                                      </p:to>
                                    </p:set>
                                    <p:animEffect transition="in" filter="wipe(down)">
                                      <p:cBhvr>
                                        <p:cTn id="36" dur="500"/>
                                        <p:tgtEl>
                                          <p:spTgt spid="48132">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8132">
                                            <p:txEl>
                                              <p:pRg st="9" end="9"/>
                                            </p:txEl>
                                          </p:spTgt>
                                        </p:tgtEl>
                                        <p:attrNameLst>
                                          <p:attrName>style.visibility</p:attrName>
                                        </p:attrNameLst>
                                      </p:cBhvr>
                                      <p:to>
                                        <p:strVal val="visible"/>
                                      </p:to>
                                    </p:set>
                                    <p:animEffect transition="in" filter="wipe(down)">
                                      <p:cBhvr>
                                        <p:cTn id="41" dur="500"/>
                                        <p:tgtEl>
                                          <p:spTgt spid="48132">
                                            <p:txEl>
                                              <p:pRg st="9" end="9"/>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48132">
                                            <p:txEl>
                                              <p:pRg st="10" end="10"/>
                                            </p:txEl>
                                          </p:spTgt>
                                        </p:tgtEl>
                                        <p:attrNameLst>
                                          <p:attrName>style.visibility</p:attrName>
                                        </p:attrNameLst>
                                      </p:cBhvr>
                                      <p:to>
                                        <p:strVal val="visible"/>
                                      </p:to>
                                    </p:set>
                                    <p:animEffect transition="in" filter="wipe(down)">
                                      <p:cBhvr>
                                        <p:cTn id="44" dur="500"/>
                                        <p:tgtEl>
                                          <p:spTgt spid="48132">
                                            <p:txEl>
                                              <p:pRg st="10" end="1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nodeType="clickEffect">
                                  <p:stCondLst>
                                    <p:cond delay="0"/>
                                  </p:stCondLst>
                                  <p:childTnLst>
                                    <p:set>
                                      <p:cBhvr>
                                        <p:cTn id="48" dur="1" fill="hold">
                                          <p:stCondLst>
                                            <p:cond delay="0"/>
                                          </p:stCondLst>
                                        </p:cTn>
                                        <p:tgtEl>
                                          <p:spTgt spid="48132">
                                            <p:txEl>
                                              <p:pRg st="11" end="11"/>
                                            </p:txEl>
                                          </p:spTgt>
                                        </p:tgtEl>
                                        <p:attrNameLst>
                                          <p:attrName>style.visibility</p:attrName>
                                        </p:attrNameLst>
                                      </p:cBhvr>
                                      <p:to>
                                        <p:strVal val="visible"/>
                                      </p:to>
                                    </p:set>
                                    <p:animEffect transition="in" filter="wipe(down)">
                                      <p:cBhvr>
                                        <p:cTn id="49" dur="500"/>
                                        <p:tgtEl>
                                          <p:spTgt spid="48132">
                                            <p:txEl>
                                              <p:pRg st="11" end="11"/>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4" fill="hold" nodeType="clickEffect">
                                  <p:stCondLst>
                                    <p:cond delay="0"/>
                                  </p:stCondLst>
                                  <p:childTnLst>
                                    <p:set>
                                      <p:cBhvr>
                                        <p:cTn id="53" dur="1" fill="hold">
                                          <p:stCondLst>
                                            <p:cond delay="0"/>
                                          </p:stCondLst>
                                        </p:cTn>
                                        <p:tgtEl>
                                          <p:spTgt spid="48132">
                                            <p:txEl>
                                              <p:pRg st="12" end="12"/>
                                            </p:txEl>
                                          </p:spTgt>
                                        </p:tgtEl>
                                        <p:attrNameLst>
                                          <p:attrName>style.visibility</p:attrName>
                                        </p:attrNameLst>
                                      </p:cBhvr>
                                      <p:to>
                                        <p:strVal val="visible"/>
                                      </p:to>
                                    </p:set>
                                    <p:animEffect transition="in" filter="wipe(down)">
                                      <p:cBhvr>
                                        <p:cTn id="54" dur="500"/>
                                        <p:tgtEl>
                                          <p:spTgt spid="4813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9156" name="Rectangle 4"/>
          <p:cNvSpPr/>
          <p:nvPr/>
        </p:nvSpPr>
        <p:spPr bwMode="auto">
          <a:xfrm>
            <a:off x="457200" y="14478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49157" name="Rectangle 5"/>
          <p:cNvSpPr/>
          <p:nvPr/>
        </p:nvSpPr>
        <p:spPr bwMode="auto">
          <a:xfrm>
            <a:off x="2286000" y="2362200"/>
            <a:ext cx="1612900" cy="236220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49158" name="Rectangle 6"/>
          <p:cNvSpPr/>
          <p:nvPr/>
        </p:nvSpPr>
        <p:spPr bwMode="auto">
          <a:xfrm>
            <a:off x="4191000" y="3276600"/>
            <a:ext cx="1536700" cy="23622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49159" name="Rectangle 7"/>
          <p:cNvSpPr/>
          <p:nvPr/>
        </p:nvSpPr>
        <p:spPr bwMode="auto">
          <a:xfrm>
            <a:off x="6883400" y="1676400"/>
            <a:ext cx="1549400" cy="3581400"/>
          </a:xfrm>
          <a:prstGeom prst="rect">
            <a:avLst/>
          </a:prstGeom>
          <a:solidFill>
            <a:srgbClr val="D8D8D8"/>
          </a:solidFill>
          <a:ln w="25400" cap="flat">
            <a:noFill/>
            <a:miter lim="800000"/>
            <a:headEnd type="none" w="med" len="med"/>
            <a:tailEnd type="none" w="med" len="med"/>
          </a:ln>
        </p:spPr>
        <p:txBody>
          <a:bodyPr lIns="0" tIns="0" rIns="0" bIns="0"/>
          <a:lstStyle/>
          <a:p>
            <a:endParaRPr lang="en-US"/>
          </a:p>
        </p:txBody>
      </p:sp>
      <p:sp>
        <p:nvSpPr>
          <p:cNvPr id="49160" name="Rectangle 8"/>
          <p:cNvSpPr/>
          <p:nvPr/>
        </p:nvSpPr>
        <p:spPr bwMode="auto">
          <a:xfrm>
            <a:off x="7096125" y="19050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49161" name="Rectangle 9"/>
          <p:cNvSpPr/>
          <p:nvPr/>
        </p:nvSpPr>
        <p:spPr bwMode="auto">
          <a:xfrm>
            <a:off x="7096125" y="25908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who</a:t>
            </a:r>
          </a:p>
        </p:txBody>
      </p:sp>
      <p:sp>
        <p:nvSpPr>
          <p:cNvPr id="49162" name="Rectangle 10"/>
          <p:cNvSpPr/>
          <p:nvPr/>
        </p:nvSpPr>
        <p:spPr bwMode="auto">
          <a:xfrm>
            <a:off x="7085013" y="32654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amI</a:t>
            </a:r>
          </a:p>
        </p:txBody>
      </p:sp>
      <p:sp>
        <p:nvSpPr>
          <p:cNvPr id="49163" name="Rectangle 11"/>
          <p:cNvSpPr/>
          <p:nvPr/>
        </p:nvSpPr>
        <p:spPr bwMode="auto">
          <a:xfrm>
            <a:off x="7096125" y="39624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amI</a:t>
            </a:r>
          </a:p>
        </p:txBody>
      </p:sp>
      <p:sp>
        <p:nvSpPr>
          <p:cNvPr id="49164" name="Rectangle 12"/>
          <p:cNvSpPr/>
          <p:nvPr/>
        </p:nvSpPr>
        <p:spPr bwMode="auto">
          <a:xfrm>
            <a:off x="7096125" y="47244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amI</a:t>
            </a:r>
          </a:p>
        </p:txBody>
      </p:sp>
      <p:sp>
        <p:nvSpPr>
          <p:cNvPr id="49165" name="Line 13"/>
          <p:cNvSpPr>
            <a:spLocks noChangeShapeType="1"/>
          </p:cNvSpPr>
          <p:nvPr/>
        </p:nvSpPr>
        <p:spPr bwMode="auto">
          <a:xfrm>
            <a:off x="7402513" y="2209800"/>
            <a:ext cx="0" cy="4318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49166" name="Line 14"/>
          <p:cNvSpPr>
            <a:spLocks noChangeShapeType="1"/>
          </p:cNvSpPr>
          <p:nvPr/>
        </p:nvSpPr>
        <p:spPr bwMode="auto">
          <a:xfrm>
            <a:off x="7402513" y="2895600"/>
            <a:ext cx="0" cy="4318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49167" name="Line 15"/>
          <p:cNvSpPr>
            <a:spLocks noChangeShapeType="1"/>
          </p:cNvSpPr>
          <p:nvPr/>
        </p:nvSpPr>
        <p:spPr bwMode="auto">
          <a:xfrm>
            <a:off x="7402513" y="3581400"/>
            <a:ext cx="0" cy="4318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49168" name="Line 16"/>
          <p:cNvSpPr>
            <a:spLocks noChangeShapeType="1"/>
          </p:cNvSpPr>
          <p:nvPr/>
        </p:nvSpPr>
        <p:spPr bwMode="auto">
          <a:xfrm>
            <a:off x="7402513" y="4343400"/>
            <a:ext cx="0" cy="4318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49169" name="Rectangle 17"/>
          <p:cNvSpPr/>
          <p:nvPr/>
        </p:nvSpPr>
        <p:spPr bwMode="auto">
          <a:xfrm>
            <a:off x="6848475" y="1066800"/>
            <a:ext cx="762000" cy="629920"/>
          </a:xfrm>
          <a:prstGeom prst="rect">
            <a:avLst/>
          </a:prstGeom>
          <a:noFill/>
          <a:ln w="25400" cap="flat">
            <a:noFill/>
            <a:miter lim="800000"/>
            <a:headEnd type="none" w="med" len="med"/>
            <a:tailEnd type="none" w="med" len="med"/>
          </a:ln>
        </p:spPr>
        <p:txBody>
          <a:bodyPr wrap="none" lIns="38100" tIns="38100" rIns="38100" bIns="38100">
            <a:spAutoFit/>
          </a:bodyPr>
          <a:lstStyle/>
          <a:p>
            <a:pPr algn="l"/>
            <a:endParaRPr lang="en-US">
              <a:solidFill>
                <a:schemeClr val="tx1"/>
              </a:solidFill>
              <a:latin typeface="Arial Narrow Bold" charset="0"/>
              <a:ea typeface="Lucida Grande" charset="0"/>
              <a:cs typeface="Lucida Grande" charset="0"/>
              <a:sym typeface="Arial Narrow Bold" charset="0"/>
            </a:endParaRPr>
          </a:p>
          <a:p>
            <a:pPr algn="l"/>
            <a:r>
              <a:rPr lang="zh-CN" altLang="en-US" sz="1800">
                <a:solidFill>
                  <a:schemeClr val="tx1"/>
                </a:solidFill>
                <a:latin typeface="Calibri Bold" charset="0"/>
                <a:ea typeface="宋体" panose="02010600030101010101" pitchFamily="2" charset="-122"/>
                <a:cs typeface="Calibri Bold" charset="0"/>
                <a:sym typeface="Calibri Bold" charset="0"/>
              </a:rPr>
              <a:t>调用链</a:t>
            </a:r>
          </a:p>
        </p:txBody>
      </p:sp>
      <p:sp>
        <p:nvSpPr>
          <p:cNvPr id="49170" name="Rectangle 18"/>
          <p:cNvSpPr/>
          <p:nvPr/>
        </p:nvSpPr>
        <p:spPr bwMode="auto">
          <a:xfrm>
            <a:off x="7762875" y="32654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amI</a:t>
            </a:r>
          </a:p>
        </p:txBody>
      </p:sp>
      <p:sp>
        <p:nvSpPr>
          <p:cNvPr id="49171" name="Line 19"/>
          <p:cNvSpPr>
            <a:spLocks noChangeShapeType="1"/>
          </p:cNvSpPr>
          <p:nvPr/>
        </p:nvSpPr>
        <p:spPr bwMode="auto">
          <a:xfrm>
            <a:off x="7543800" y="2895600"/>
            <a:ext cx="536575" cy="4318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49172" name="Rectangle 20"/>
          <p:cNvSpPr/>
          <p:nvPr/>
        </p:nvSpPr>
        <p:spPr bwMode="auto">
          <a:xfrm>
            <a:off x="3898900" y="5676900"/>
            <a:ext cx="2236470" cy="353060"/>
          </a:xfrm>
          <a:prstGeom prst="rect">
            <a:avLst/>
          </a:prstGeom>
          <a:noFill/>
          <a:ln w="12700" cap="rnd">
            <a:noFill/>
            <a:round/>
            <a:headEnd type="none" w="med" len="med"/>
            <a:tailEnd type="none" w="med" len="med"/>
          </a:ln>
        </p:spPr>
        <p:txBody>
          <a:bodyPr wrap="none" lIns="38100" tIns="38100" rIns="38100" bIns="38100">
            <a:spAutoFit/>
          </a:bodyPr>
          <a:lstStyle/>
          <a:p>
            <a:pPr algn="l"/>
            <a:r>
              <a:rPr lang="zh-CN" altLang="en-US" sz="1800" dirty="0">
                <a:solidFill>
                  <a:schemeClr val="tx1"/>
                </a:solidFill>
                <a:latin typeface="Calibri Bold" charset="0"/>
                <a:ea typeface="宋体" panose="02010600030101010101" pitchFamily="2" charset="-122"/>
                <a:cs typeface="Calibri Bold" charset="0"/>
                <a:sym typeface="Calibri Bold" charset="0"/>
              </a:rPr>
              <a:t>过程</a:t>
            </a:r>
            <a:r>
              <a:rPr lang="en-US" sz="1800" dirty="0">
                <a:solidFill>
                  <a:schemeClr val="tx1"/>
                </a:solidFill>
                <a:latin typeface="Calibri Bold" charset="0"/>
                <a:ea typeface="Calibri Bold" charset="0"/>
                <a:cs typeface="Calibri Bold" charset="0"/>
                <a:sym typeface="Calibri Bold" charset="0"/>
              </a:rPr>
              <a:t> </a:t>
            </a:r>
            <a:r>
              <a:rPr lang="en-US" sz="1800" dirty="0" err="1">
                <a:solidFill>
                  <a:schemeClr val="tx1"/>
                </a:solidFill>
                <a:latin typeface="Courier New Bold" charset="0"/>
                <a:cs typeface="Courier New Bold" charset="0"/>
                <a:sym typeface="Courier New Bold" charset="0"/>
              </a:rPr>
              <a:t>amI</a:t>
            </a:r>
            <a:r>
              <a:rPr lang="en-US" sz="1800" dirty="0">
                <a:solidFill>
                  <a:schemeClr val="tx1"/>
                </a:solidFill>
                <a:latin typeface="Courier New Bold" charset="0"/>
                <a:cs typeface="Courier New Bold" charset="0"/>
                <a:sym typeface="Courier New Bold" charset="0"/>
              </a:rPr>
              <a:t>()</a:t>
            </a:r>
            <a:r>
              <a:rPr lang="en-US" sz="1800" dirty="0">
                <a:solidFill>
                  <a:schemeClr val="tx1"/>
                </a:solidFill>
                <a:latin typeface="Calibri Bold" charset="0"/>
                <a:ea typeface="Calibri Bold" charset="0"/>
                <a:cs typeface="Calibri Bold" charset="0"/>
                <a:sym typeface="Calibri Bold" charset="0"/>
              </a:rPr>
              <a:t> </a:t>
            </a:r>
            <a:r>
              <a:rPr lang="zh-CN" altLang="en-US" sz="1800" dirty="0">
                <a:solidFill>
                  <a:schemeClr val="tx1"/>
                </a:solidFill>
                <a:latin typeface="Calibri Bold" charset="0"/>
                <a:ea typeface="宋体" panose="02010600030101010101" pitchFamily="2" charset="-122"/>
                <a:cs typeface="Calibri Bold" charset="0"/>
                <a:sym typeface="Calibri Bold" charset="0"/>
              </a:rPr>
              <a:t>是递归的</a:t>
            </a:r>
          </a:p>
        </p:txBody>
      </p:sp>
      <p:sp>
        <p:nvSpPr>
          <p:cNvPr id="5" name="燕尾形 4"/>
          <p:cNvSpPr/>
          <p:nvPr/>
        </p:nvSpPr>
        <p:spPr>
          <a:xfrm>
            <a:off x="0" y="394335"/>
            <a:ext cx="3134995" cy="67246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过程调用例子：</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0182" name="Rectangle 6"/>
          <p:cNvSpPr>
            <a:spLocks noGrp="1" noChangeArrowheads="1"/>
          </p:cNvSpPr>
          <p:nvPr/>
        </p:nvSpPr>
        <p:spPr>
          <a:xfrm>
            <a:off x="277495" y="1066800"/>
            <a:ext cx="46482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0D0D0D"/>
              </a:buClr>
            </a:pPr>
            <a:r>
              <a:rPr lang="en-US" dirty="0"/>
              <a:t>内容</a:t>
            </a:r>
          </a:p>
          <a:p>
            <a:pPr marL="552450" lvl="1">
              <a:buClr>
                <a:srgbClr val="0D0D0D"/>
              </a:buClr>
            </a:pPr>
            <a:r>
              <a:rPr lang="en-US" dirty="0"/>
              <a:t>返回信息</a:t>
            </a:r>
          </a:p>
          <a:p>
            <a:pPr marL="552450" lvl="1">
              <a:buClr>
                <a:srgbClr val="0D0D0D"/>
              </a:buClr>
            </a:pPr>
            <a:r>
              <a:rPr lang="en-US" dirty="0"/>
              <a:t>本地存储（如果需要）</a:t>
            </a:r>
          </a:p>
          <a:p>
            <a:pPr marL="552450" lvl="1">
              <a:buClr>
                <a:srgbClr val="0D0D0D"/>
              </a:buClr>
            </a:pPr>
            <a:r>
              <a:rPr lang="en-US" dirty="0"/>
              <a:t>临时空间（如果需要）</a:t>
            </a:r>
          </a:p>
          <a:p>
            <a:pPr marL="0" indent="0">
              <a:buNone/>
            </a:pPr>
            <a:endParaRPr lang="en-US" dirty="0"/>
          </a:p>
          <a:p>
            <a:endParaRPr lang="en-US" dirty="0"/>
          </a:p>
          <a:p>
            <a:pPr>
              <a:buClr>
                <a:srgbClr val="0D0D0D"/>
              </a:buClr>
            </a:pPr>
            <a:r>
              <a:rPr lang="en-US" dirty="0"/>
              <a:t>管理</a:t>
            </a:r>
          </a:p>
          <a:p>
            <a:pPr marL="552450" lvl="1">
              <a:buClr>
                <a:srgbClr val="0D0D0D"/>
              </a:buClr>
            </a:pPr>
            <a:r>
              <a:rPr lang="en-US" dirty="0"/>
              <a:t>进入过程时分配空间</a:t>
            </a:r>
          </a:p>
          <a:p>
            <a:pPr marL="838200" lvl="2"/>
            <a:r>
              <a:rPr lang="en-US" dirty="0"/>
              <a:t>“设置”代码</a:t>
            </a:r>
          </a:p>
          <a:p>
            <a:pPr marL="838200" lvl="2"/>
            <a:r>
              <a:rPr lang="en-US" dirty="0"/>
              <a:t>call 指令</a:t>
            </a:r>
            <a:r>
              <a:rPr lang="zh-CN" altLang="en-US" dirty="0">
                <a:ea typeface="宋体" panose="02010600030101010101" pitchFamily="2" charset="-122"/>
              </a:rPr>
              <a:t>压栈</a:t>
            </a:r>
          </a:p>
          <a:p>
            <a:pPr marL="552450" lvl="1">
              <a:buClr>
                <a:srgbClr val="0D0D0D"/>
              </a:buClr>
            </a:pPr>
            <a:r>
              <a:rPr lang="zh-CN" altLang="en-US">
                <a:ea typeface="宋体" panose="02010600030101010101" pitchFamily="2" charset="-122"/>
              </a:rPr>
              <a:t>返回时</a:t>
            </a:r>
            <a:r>
              <a:rPr lang="en-US"/>
              <a:t>释放</a:t>
            </a:r>
            <a:r>
              <a:rPr lang="zh-CN" altLang="en-US">
                <a:ea typeface="宋体" panose="02010600030101010101" pitchFamily="2" charset="-122"/>
              </a:rPr>
              <a:t>空间</a:t>
            </a:r>
          </a:p>
          <a:p>
            <a:pPr marL="838200" lvl="2"/>
            <a:r>
              <a:rPr lang="en-US" dirty="0"/>
              <a:t>“</a:t>
            </a:r>
            <a:r>
              <a:rPr lang="zh-CN" altLang="en-US" dirty="0">
                <a:ea typeface="宋体" panose="02010600030101010101" pitchFamily="2" charset="-122"/>
              </a:rPr>
              <a:t>完成</a:t>
            </a:r>
            <a:r>
              <a:rPr lang="en-US" dirty="0"/>
              <a:t>” </a:t>
            </a:r>
            <a:r>
              <a:rPr lang="zh-CN" altLang="en-US" dirty="0">
                <a:ea typeface="宋体" panose="02010600030101010101" pitchFamily="2" charset="-122"/>
              </a:rPr>
              <a:t>代码</a:t>
            </a:r>
          </a:p>
          <a:p>
            <a:pPr marL="838200" lvl="2"/>
            <a:r>
              <a:rPr lang="en-US" dirty="0"/>
              <a:t> </a:t>
            </a:r>
            <a:r>
              <a:rPr lang="en-US" b="1" dirty="0">
                <a:latin typeface="Courier New" panose="02070309020205020404"/>
                <a:cs typeface="Courier New" panose="02070309020205020404"/>
              </a:rPr>
              <a:t>ret</a:t>
            </a:r>
            <a:r>
              <a:rPr lang="en-US" dirty="0"/>
              <a:t> </a:t>
            </a:r>
            <a:r>
              <a:rPr lang="zh-CN" altLang="en-US" dirty="0">
                <a:ea typeface="宋体" panose="02010600030101010101" pitchFamily="2" charset="-122"/>
              </a:rPr>
              <a:t>指令弹出栈</a:t>
            </a:r>
          </a:p>
        </p:txBody>
      </p:sp>
      <p:sp>
        <p:nvSpPr>
          <p:cNvPr id="50178"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50179" name="Line 3"/>
          <p:cNvSpPr>
            <a:spLocks noChangeShapeType="1"/>
          </p:cNvSpPr>
          <p:nvPr/>
        </p:nvSpPr>
        <p:spPr bwMode="auto">
          <a:xfrm>
            <a:off x="6535737" y="2271713"/>
            <a:ext cx="717550" cy="0"/>
          </a:xfrm>
          <a:prstGeom prst="line">
            <a:avLst/>
          </a:prstGeom>
          <a:noFill/>
          <a:ln w="25400" cap="flat">
            <a:solidFill>
              <a:schemeClr val="bg1">
                <a:lumMod val="50000"/>
              </a:schemeClr>
            </a:solidFill>
            <a:prstDash val="solid"/>
            <a:round/>
            <a:headEnd type="none" w="med" len="med"/>
            <a:tailEnd type="triangle" w="med" len="med"/>
          </a:ln>
        </p:spPr>
        <p:txBody>
          <a:bodyPr lIns="0" tIns="0" rIns="0" bIns="0"/>
          <a:lstStyle/>
          <a:p>
            <a:endParaRPr lang="en-US"/>
          </a:p>
        </p:txBody>
      </p:sp>
      <p:sp>
        <p:nvSpPr>
          <p:cNvPr id="50180" name="Rectangle 4"/>
          <p:cNvSpPr/>
          <p:nvPr/>
        </p:nvSpPr>
        <p:spPr bwMode="auto">
          <a:xfrm>
            <a:off x="4019550" y="2084388"/>
            <a:ext cx="2439987" cy="366712"/>
          </a:xfrm>
          <a:prstGeom prst="rect">
            <a:avLst/>
          </a:prstGeom>
          <a:noFill/>
          <a:ln w="25400" cap="flat">
            <a:noFill/>
            <a:miter lim="800000"/>
            <a:headEnd type="none" w="med" len="med"/>
            <a:tailEnd type="none" w="med" len="med"/>
          </a:ln>
        </p:spPr>
        <p:txBody>
          <a:bodyPr lIns="38100" tIns="38100" rIns="38100" bIns="38100"/>
          <a:lstStyle/>
          <a:p>
            <a:pPr algn="r"/>
            <a:r>
              <a:rPr lang="zh-CN" altLang="en-US" sz="1800" dirty="0">
                <a:solidFill>
                  <a:schemeClr val="tx1"/>
                </a:solidFill>
                <a:latin typeface="Calibri Bold" charset="0"/>
                <a:ea typeface="宋体" panose="02010600030101010101" pitchFamily="2" charset="-122"/>
                <a:cs typeface="Calibri Bold" charset="0"/>
                <a:sym typeface="Calibri Bold" charset="0"/>
              </a:rPr>
              <a:t>帧指针</a:t>
            </a:r>
            <a:r>
              <a:rPr lang="en-US" sz="1800" dirty="0">
                <a:solidFill>
                  <a:schemeClr val="tx1"/>
                </a:solidFill>
                <a:latin typeface="Calibri Bold" charset="0"/>
                <a:ea typeface="Calibri Bold" charset="0"/>
                <a:cs typeface="Calibri Bold" charset="0"/>
                <a:sym typeface="Calibri Bold" charset="0"/>
              </a:rPr>
              <a:t>: </a:t>
            </a: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50183" name="Line 7"/>
          <p:cNvSpPr>
            <a:spLocks noChangeShapeType="1"/>
          </p:cNvSpPr>
          <p:nvPr/>
        </p:nvSpPr>
        <p:spPr bwMode="auto">
          <a:xfrm>
            <a:off x="6545262" y="3641725"/>
            <a:ext cx="71755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50184" name="Rectangle 8"/>
          <p:cNvSpPr/>
          <p:nvPr/>
        </p:nvSpPr>
        <p:spPr bwMode="auto">
          <a:xfrm>
            <a:off x="4068762" y="3452813"/>
            <a:ext cx="2438400" cy="366712"/>
          </a:xfrm>
          <a:prstGeom prst="rect">
            <a:avLst/>
          </a:prstGeom>
          <a:noFill/>
          <a:ln w="25400" cap="flat">
            <a:noFill/>
            <a:miter lim="800000"/>
            <a:headEnd type="none" w="med" len="med"/>
            <a:tailEnd type="none" w="med" len="med"/>
          </a:ln>
        </p:spPr>
        <p:txBody>
          <a:bodyPr lIns="38100" tIns="38100" rIns="38100" bIns="38100"/>
          <a:lstStyle/>
          <a:p>
            <a:pPr algn="r"/>
            <a:r>
              <a:rPr lang="zh-CN" altLang="en-US" sz="1800" dirty="0">
                <a:solidFill>
                  <a:schemeClr val="tx1"/>
                </a:solidFill>
                <a:latin typeface="Calibri Bold" charset="0"/>
                <a:ea typeface="宋体" panose="02010600030101010101" pitchFamily="2" charset="-122"/>
                <a:cs typeface="Calibri Bold" charset="0"/>
                <a:sym typeface="Calibri Bold" charset="0"/>
              </a:rPr>
              <a:t>栈指针</a:t>
            </a:r>
            <a:r>
              <a:rPr lang="en-US" sz="1800" dirty="0">
                <a:solidFill>
                  <a:schemeClr val="tx1"/>
                </a:solidFill>
                <a:latin typeface="Calibri Bold" charset="0"/>
                <a:ea typeface="Calibri Bold" charset="0"/>
                <a:cs typeface="Calibri Bold" charset="0"/>
                <a:sym typeface="Calibri Bold" charset="0"/>
              </a:rPr>
              <a:t>: </a:t>
            </a: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50185" name="Rectangle 9"/>
          <p:cNvSpPr/>
          <p:nvPr/>
        </p:nvSpPr>
        <p:spPr bwMode="auto">
          <a:xfrm>
            <a:off x="7596187" y="4283075"/>
            <a:ext cx="685800" cy="445135"/>
          </a:xfrm>
          <a:prstGeom prst="rect">
            <a:avLst/>
          </a:prstGeom>
          <a:noFill/>
          <a:ln w="25400" cap="flat">
            <a:noFill/>
            <a:miter lim="800000"/>
            <a:headEnd type="none" w="med" len="med"/>
            <a:tailEnd type="none" w="med" len="med"/>
          </a:ln>
        </p:spPr>
        <p:txBody>
          <a:bodyPr wrap="none" lIns="38100" tIns="38100" rIns="38100" bIns="38100">
            <a:spAutoFit/>
          </a:bodyPr>
          <a:lstStyle/>
          <a:p>
            <a:r>
              <a:rPr lang="zh-CN" altLang="en-US" sz="2400">
                <a:solidFill>
                  <a:srgbClr val="262699"/>
                </a:solidFill>
                <a:latin typeface="Calibri Bold" charset="0"/>
                <a:ea typeface="宋体" panose="02010600030101010101" pitchFamily="2" charset="-122"/>
                <a:cs typeface="Calibri Bold" charset="0"/>
                <a:sym typeface="Calibri Bold" charset="0"/>
              </a:rPr>
              <a:t>栈顶</a:t>
            </a:r>
          </a:p>
        </p:txBody>
      </p:sp>
      <p:sp>
        <p:nvSpPr>
          <p:cNvPr id="50186" name="AutoShape 10"/>
          <p:cNvSpPr/>
          <p:nvPr/>
        </p:nvSpPr>
        <p:spPr bwMode="auto">
          <a:xfrm rot="10800000" flipH="1">
            <a:off x="7672387" y="3902075"/>
            <a:ext cx="609600" cy="381000"/>
          </a:xfrm>
          <a:custGeom>
            <a:avLst/>
            <a:gdLst>
              <a:gd name="T0" fmla="*/ 10800 w 21600"/>
              <a:gd name="T1" fmla="*/ 10800 h 21600"/>
            </a:gdLst>
            <a:ahLst/>
            <a:cxnLst>
              <a:cxn ang="0">
                <a:pos x="T0" y="T1"/>
              </a:cxn>
            </a:cxnLst>
            <a:rect l="0" t="0" r="r" b="b"/>
            <a:pathLst>
              <a:path w="21600" h="21600">
                <a:moveTo>
                  <a:pt x="0" y="10800"/>
                </a:moveTo>
                <a:lnTo>
                  <a:pt x="5400" y="10800"/>
                </a:lnTo>
                <a:lnTo>
                  <a:pt x="5400" y="0"/>
                </a:lnTo>
                <a:lnTo>
                  <a:pt x="16200" y="0"/>
                </a:lnTo>
                <a:lnTo>
                  <a:pt x="16200" y="10800"/>
                </a:lnTo>
                <a:lnTo>
                  <a:pt x="21600" y="10800"/>
                </a:lnTo>
                <a:lnTo>
                  <a:pt x="10800" y="21600"/>
                </a:lnTo>
                <a:close/>
                <a:moveTo>
                  <a:pt x="0" y="10800"/>
                </a:moveTo>
              </a:path>
            </a:pathLst>
          </a:custGeom>
          <a:solidFill>
            <a:srgbClr val="ED7D31"/>
          </a:solidFill>
          <a:ln w="25400" cap="flat">
            <a:noFill/>
            <a:round/>
            <a:headEnd type="none" w="med" len="med"/>
            <a:tailEnd type="triangle" w="med" len="med"/>
          </a:ln>
          <a:effectLst>
            <a:outerShdw dist="76199" dir="2700000" algn="ctr" rotWithShape="0">
              <a:schemeClr val="bg2">
                <a:alpha val="75000"/>
              </a:schemeClr>
            </a:outerShdw>
          </a:effectLst>
        </p:spPr>
        <p:txBody>
          <a:bodyPr lIns="0" tIns="0" rIns="0" bIns="0"/>
          <a:lstStyle/>
          <a:p>
            <a:endParaRPr lang="en-US"/>
          </a:p>
        </p:txBody>
      </p:sp>
      <p:graphicFrame>
        <p:nvGraphicFramePr>
          <p:cNvPr id="50187" name="Group 11"/>
          <p:cNvGraphicFramePr>
            <a:graphicFrameLocks noGrp="1"/>
          </p:cNvGraphicFramePr>
          <p:nvPr/>
        </p:nvGraphicFramePr>
        <p:xfrm>
          <a:off x="7310437" y="396875"/>
          <a:ext cx="1320800" cy="3403600"/>
        </p:xfrm>
        <a:graphic>
          <a:graphicData uri="http://schemas.openxmlformats.org/drawingml/2006/table">
            <a:tbl>
              <a:tblPr/>
              <a:tblGrid>
                <a:gridCol w="1320800">
                  <a:extLst>
                    <a:ext uri="{9D8B030D-6E8A-4147-A177-3AD203B41FA5}">
                      <a16:colId xmlns:a16="http://schemas.microsoft.com/office/drawing/2014/main" val="20000"/>
                    </a:ext>
                  </a:extLst>
                </a:gridCol>
              </a:tblGrid>
              <a:tr h="17018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Previous Frame</a:t>
                      </a:r>
                    </a:p>
                  </a:txBody>
                  <a:tcPr marL="50800" marR="50800" marT="50800" marB="50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018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t>Frame for</a:t>
                      </a:r>
                      <a:br>
                        <a:rPr kumimoji="0" lang="en-US" sz="2000" b="0" i="0" u="none" strike="noStrike" cap="none" normalizeH="0" baseline="0">
                          <a:ln>
                            <a:noFill/>
                          </a:ln>
                          <a:solidFill>
                            <a:schemeClr val="tx1"/>
                          </a:solidFill>
                          <a:effectLst/>
                          <a:latin typeface="Calibri Bold" charset="0"/>
                          <a:ea typeface="ヒラギノ角ゴ ProN W6" charset="0"/>
                          <a:cs typeface="ヒラギノ角ゴ ProN W6" charset="0"/>
                          <a:sym typeface="Calibri Bold" charset="0"/>
                        </a:rPr>
                      </a:b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proc</a:t>
                      </a:r>
                    </a:p>
                  </a:txBody>
                  <a:tcPr marL="50800" marR="50800" marT="50800" marB="50800" anchor="ctr" horzOverflow="overflow">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1"/>
                  </a:ext>
                </a:extLst>
              </a:tr>
            </a:tbl>
          </a:graphicData>
        </a:graphic>
      </p:graphicFrame>
      <p:sp>
        <p:nvSpPr>
          <p:cNvPr id="14" name="Rectangle 4"/>
          <p:cNvSpPr/>
          <p:nvPr/>
        </p:nvSpPr>
        <p:spPr bwMode="auto">
          <a:xfrm>
            <a:off x="4021137" y="2365375"/>
            <a:ext cx="2439987" cy="366712"/>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alibri Bold" charset="0"/>
                <a:ea typeface="Calibri Bold" charset="0"/>
                <a:cs typeface="Calibri Bold" charset="0"/>
                <a:sym typeface="Calibri Bold" charset="0"/>
              </a:rPr>
              <a:t>(</a:t>
            </a:r>
            <a:r>
              <a:rPr lang="zh-CN" altLang="en-US" sz="1800" dirty="0">
                <a:solidFill>
                  <a:schemeClr val="tx1"/>
                </a:solidFill>
                <a:latin typeface="Calibri Bold" charset="0"/>
                <a:ea typeface="宋体" panose="02010600030101010101" pitchFamily="2" charset="-122"/>
                <a:cs typeface="Calibri Bold" charset="0"/>
                <a:sym typeface="Calibri Bold" charset="0"/>
              </a:rPr>
              <a:t>可选</a:t>
            </a:r>
            <a:r>
              <a:rPr lang="en-US" sz="1800" dirty="0">
                <a:solidFill>
                  <a:schemeClr val="tx1"/>
                </a:solidFill>
                <a:latin typeface="Calibri Bold" charset="0"/>
                <a:ea typeface="Calibri Bold" charset="0"/>
                <a:cs typeface="Calibri Bold" charset="0"/>
                <a:sym typeface="Calibri Bold" charset="0"/>
              </a:rPr>
              <a:t>)	</a:t>
            </a:r>
            <a:r>
              <a:rPr lang="en-US" sz="1800" dirty="0">
                <a:solidFill>
                  <a:schemeClr val="bg1"/>
                </a:solidFill>
                <a:latin typeface="Calibri Bold" charset="0"/>
                <a:ea typeface="Calibri Bold" charset="0"/>
                <a:cs typeface="Calibri Bold" charset="0"/>
                <a:sym typeface="Calibri Bold" charset="0"/>
              </a:rPr>
              <a:t>x</a:t>
            </a:r>
            <a:endParaRPr lang="en-US" sz="1800" dirty="0">
              <a:solidFill>
                <a:schemeClr val="bg1"/>
              </a:solidFill>
              <a:latin typeface="Courier New Bold" charset="0"/>
              <a:cs typeface="Courier New Bold" charset="0"/>
              <a:sym typeface="Courier New Bold" charset="0"/>
            </a:endParaRPr>
          </a:p>
        </p:txBody>
      </p:sp>
      <p:sp>
        <p:nvSpPr>
          <p:cNvPr id="5" name="燕尾形 4"/>
          <p:cNvSpPr/>
          <p:nvPr/>
        </p:nvSpPr>
        <p:spPr>
          <a:xfrm>
            <a:off x="0" y="394335"/>
            <a:ext cx="3134995" cy="67246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栈帧：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0182">
                                            <p:txEl>
                                              <p:pRg st="1" end="1"/>
                                            </p:txEl>
                                          </p:spTgt>
                                        </p:tgtEl>
                                        <p:attrNameLst>
                                          <p:attrName>style.visibility</p:attrName>
                                        </p:attrNameLst>
                                      </p:cBhvr>
                                      <p:to>
                                        <p:strVal val="visible"/>
                                      </p:to>
                                    </p:set>
                                    <p:animEffect transition="in" filter="wipe(down)">
                                      <p:cBhvr>
                                        <p:cTn id="7" dur="500"/>
                                        <p:tgtEl>
                                          <p:spTgt spid="5018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0182">
                                            <p:txEl>
                                              <p:pRg st="2" end="2"/>
                                            </p:txEl>
                                          </p:spTgt>
                                        </p:tgtEl>
                                        <p:attrNameLst>
                                          <p:attrName>style.visibility</p:attrName>
                                        </p:attrNameLst>
                                      </p:cBhvr>
                                      <p:to>
                                        <p:strVal val="visible"/>
                                      </p:to>
                                    </p:set>
                                    <p:animEffect transition="in" filter="wipe(down)">
                                      <p:cBhvr>
                                        <p:cTn id="10" dur="500"/>
                                        <p:tgtEl>
                                          <p:spTgt spid="5018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50182">
                                            <p:txEl>
                                              <p:pRg st="3" end="3"/>
                                            </p:txEl>
                                          </p:spTgt>
                                        </p:tgtEl>
                                        <p:attrNameLst>
                                          <p:attrName>style.visibility</p:attrName>
                                        </p:attrNameLst>
                                      </p:cBhvr>
                                      <p:to>
                                        <p:strVal val="visible"/>
                                      </p:to>
                                    </p:set>
                                    <p:animEffect transition="in" filter="wipe(down)">
                                      <p:cBhvr>
                                        <p:cTn id="13" dur="500"/>
                                        <p:tgtEl>
                                          <p:spTgt spid="5018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50182">
                                            <p:txEl>
                                              <p:pRg st="6" end="6"/>
                                            </p:txEl>
                                          </p:spTgt>
                                        </p:tgtEl>
                                        <p:attrNameLst>
                                          <p:attrName>style.visibility</p:attrName>
                                        </p:attrNameLst>
                                      </p:cBhvr>
                                      <p:to>
                                        <p:strVal val="visible"/>
                                      </p:to>
                                    </p:set>
                                    <p:animEffect transition="in" filter="wipe(down)">
                                      <p:cBhvr>
                                        <p:cTn id="18" dur="500"/>
                                        <p:tgtEl>
                                          <p:spTgt spid="50182">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0182">
                                            <p:txEl>
                                              <p:pRg st="7" end="7"/>
                                            </p:txEl>
                                          </p:spTgt>
                                        </p:tgtEl>
                                        <p:attrNameLst>
                                          <p:attrName>style.visibility</p:attrName>
                                        </p:attrNameLst>
                                      </p:cBhvr>
                                      <p:to>
                                        <p:strVal val="visible"/>
                                      </p:to>
                                    </p:set>
                                    <p:animEffect transition="in" filter="wipe(down)">
                                      <p:cBhvr>
                                        <p:cTn id="23" dur="500"/>
                                        <p:tgtEl>
                                          <p:spTgt spid="50182">
                                            <p:txEl>
                                              <p:pRg st="7" end="7"/>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50182">
                                            <p:txEl>
                                              <p:pRg st="8" end="8"/>
                                            </p:txEl>
                                          </p:spTgt>
                                        </p:tgtEl>
                                        <p:attrNameLst>
                                          <p:attrName>style.visibility</p:attrName>
                                        </p:attrNameLst>
                                      </p:cBhvr>
                                      <p:to>
                                        <p:strVal val="visible"/>
                                      </p:to>
                                    </p:set>
                                    <p:animEffect transition="in" filter="wipe(down)">
                                      <p:cBhvr>
                                        <p:cTn id="28" dur="500"/>
                                        <p:tgtEl>
                                          <p:spTgt spid="50182">
                                            <p:txEl>
                                              <p:pRg st="8" end="8"/>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50182">
                                            <p:txEl>
                                              <p:pRg st="9" end="9"/>
                                            </p:txEl>
                                          </p:spTgt>
                                        </p:tgtEl>
                                        <p:attrNameLst>
                                          <p:attrName>style.visibility</p:attrName>
                                        </p:attrNameLst>
                                      </p:cBhvr>
                                      <p:to>
                                        <p:strVal val="visible"/>
                                      </p:to>
                                    </p:set>
                                    <p:animEffect transition="in" filter="wipe(down)">
                                      <p:cBhvr>
                                        <p:cTn id="31" dur="500"/>
                                        <p:tgtEl>
                                          <p:spTgt spid="50182">
                                            <p:txEl>
                                              <p:pRg st="9" end="9"/>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50182">
                                            <p:txEl>
                                              <p:pRg st="10" end="10"/>
                                            </p:txEl>
                                          </p:spTgt>
                                        </p:tgtEl>
                                        <p:attrNameLst>
                                          <p:attrName>style.visibility</p:attrName>
                                        </p:attrNameLst>
                                      </p:cBhvr>
                                      <p:to>
                                        <p:strVal val="visible"/>
                                      </p:to>
                                    </p:set>
                                    <p:animEffect transition="in" filter="wipe(down)">
                                      <p:cBhvr>
                                        <p:cTn id="36" dur="500"/>
                                        <p:tgtEl>
                                          <p:spTgt spid="50182">
                                            <p:txEl>
                                              <p:pRg st="10" end="1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50182">
                                            <p:txEl>
                                              <p:pRg st="11" end="11"/>
                                            </p:txEl>
                                          </p:spTgt>
                                        </p:tgtEl>
                                        <p:attrNameLst>
                                          <p:attrName>style.visibility</p:attrName>
                                        </p:attrNameLst>
                                      </p:cBhvr>
                                      <p:to>
                                        <p:strVal val="visible"/>
                                      </p:to>
                                    </p:set>
                                    <p:animEffect transition="in" filter="wipe(down)">
                                      <p:cBhvr>
                                        <p:cTn id="41" dur="500"/>
                                        <p:tgtEl>
                                          <p:spTgt spid="50182">
                                            <p:txEl>
                                              <p:pRg st="11" end="11"/>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50182">
                                            <p:txEl>
                                              <p:pRg st="12" end="12"/>
                                            </p:txEl>
                                          </p:spTgt>
                                        </p:tgtEl>
                                        <p:attrNameLst>
                                          <p:attrName>style.visibility</p:attrName>
                                        </p:attrNameLst>
                                      </p:cBhvr>
                                      <p:to>
                                        <p:strVal val="visible"/>
                                      </p:to>
                                    </p:set>
                                    <p:animEffect transition="in" filter="wipe(down)">
                                      <p:cBhvr>
                                        <p:cTn id="44" dur="500"/>
                                        <p:tgtEl>
                                          <p:spTgt spid="50182">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who</a:t>
            </a: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54" name="AutoShape 54"/>
          <p:cNvSpPr/>
          <p:nvPr/>
        </p:nvSpPr>
        <p:spPr bwMode="auto">
          <a:xfrm>
            <a:off x="203200" y="2032000"/>
            <a:ext cx="68580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397500" y="1592263"/>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38775" y="2438083"/>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51254" name="AutoShape 54"/>
          <p:cNvSpPr/>
          <p:nvPr/>
        </p:nvSpPr>
        <p:spPr bwMode="auto">
          <a:xfrm>
            <a:off x="676910" y="2692400"/>
            <a:ext cx="68580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endParaRPr lang="en-US" sz="1800">
              <a:solidFill>
                <a:srgbClr val="A5A5A5"/>
              </a:solidFill>
              <a:latin typeface="Courier New Bold" charset="0"/>
              <a:cs typeface="Courier New Bold" charset="0"/>
              <a:sym typeface="Courier New Bold" charset="0"/>
            </a:endParaRP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40680" y="3259138"/>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8" name="Rectangle 6"/>
          <p:cNvSpPr/>
          <p:nvPr/>
        </p:nvSpPr>
        <p:spPr bwMode="auto">
          <a:xfrm>
            <a:off x="1521460" y="218440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3271" name="Group 23"/>
          <p:cNvGraphicFramePr>
            <a:graphicFrameLocks noGrp="1"/>
          </p:cNvGraphicFramePr>
          <p:nvPr/>
        </p:nvGraphicFramePr>
        <p:xfrm>
          <a:off x="693293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1254" name="AutoShape 54"/>
          <p:cNvSpPr/>
          <p:nvPr/>
        </p:nvSpPr>
        <p:spPr bwMode="auto">
          <a:xfrm>
            <a:off x="887095" y="2757805"/>
            <a:ext cx="68580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endParaRPr lang="en-US" sz="1800">
              <a:solidFill>
                <a:srgbClr val="A5A5A5"/>
              </a:solidFill>
              <a:latin typeface="Courier New Bold" charset="0"/>
              <a:cs typeface="Courier New Bold" charset="0"/>
              <a:sym typeface="Courier New Bold" charset="0"/>
            </a:endParaRP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40680" y="4078288"/>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8" name="Rectangle 6"/>
          <p:cNvSpPr/>
          <p:nvPr/>
        </p:nvSpPr>
        <p:spPr bwMode="auto">
          <a:xfrm>
            <a:off x="1521460" y="218440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3271"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63" name="Rectangle 6"/>
          <p:cNvSpPr/>
          <p:nvPr/>
        </p:nvSpPr>
        <p:spPr bwMode="auto">
          <a:xfrm>
            <a:off x="1635125" y="258445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51254" name="AutoShape 54"/>
          <p:cNvSpPr/>
          <p:nvPr/>
        </p:nvSpPr>
        <p:spPr bwMode="auto">
          <a:xfrm>
            <a:off x="871855" y="3213100"/>
            <a:ext cx="89662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graphicFrame>
        <p:nvGraphicFramePr>
          <p:cNvPr id="54295" name="Group 23"/>
          <p:cNvGraphicFramePr>
            <a:graphicFrameLocks noGrp="1"/>
          </p:cNvGraphicFramePr>
          <p:nvPr/>
        </p:nvGraphicFramePr>
        <p:xfrm>
          <a:off x="693293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endParaRPr lang="en-US" sz="1800">
              <a:solidFill>
                <a:srgbClr val="A5A5A5"/>
              </a:solidFill>
              <a:latin typeface="Courier New Bold" charset="0"/>
              <a:cs typeface="Courier New Bold" charset="0"/>
              <a:sym typeface="Courier New Bold" charset="0"/>
            </a:endParaRP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endParaRPr lang="en-US" sz="1800">
              <a:solidFill>
                <a:srgbClr val="A5A5A5"/>
              </a:solidFill>
              <a:latin typeface="Courier New Bold" charset="0"/>
              <a:cs typeface="Courier New Bold" charset="0"/>
              <a:sym typeface="Courier New Bold" charset="0"/>
            </a:endParaRP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40680" y="4880928"/>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8" name="Rectangle 6"/>
          <p:cNvSpPr/>
          <p:nvPr/>
        </p:nvSpPr>
        <p:spPr bwMode="auto">
          <a:xfrm>
            <a:off x="1521460" y="218440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3271"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63" name="Rectangle 6"/>
          <p:cNvSpPr/>
          <p:nvPr/>
        </p:nvSpPr>
        <p:spPr bwMode="auto">
          <a:xfrm>
            <a:off x="1635125" y="258445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4295" name="Group 23"/>
          <p:cNvGraphicFramePr>
            <a:graphicFrameLocks noGrp="1"/>
          </p:cNvGraphicFramePr>
          <p:nvPr/>
        </p:nvGraphicFramePr>
        <p:xfrm>
          <a:off x="693293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13" name="Rectangle 6"/>
          <p:cNvSpPr/>
          <p:nvPr/>
        </p:nvSpPr>
        <p:spPr bwMode="auto">
          <a:xfrm>
            <a:off x="1861820" y="2795905"/>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14" name="Group 24"/>
          <p:cNvGraphicFramePr>
            <a:graphicFrameLocks noGrp="1"/>
          </p:cNvGraphicFramePr>
          <p:nvPr/>
        </p:nvGraphicFramePr>
        <p:xfrm>
          <a:off x="693293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1254" name="AutoShape 54"/>
          <p:cNvSpPr/>
          <p:nvPr/>
        </p:nvSpPr>
        <p:spPr bwMode="auto">
          <a:xfrm>
            <a:off x="1057275" y="3511550"/>
            <a:ext cx="89662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endParaRPr lang="en-US" sz="1800">
              <a:solidFill>
                <a:srgbClr val="A5A5A5"/>
              </a:solidFill>
              <a:latin typeface="Courier New Bold" charset="0"/>
              <a:cs typeface="Courier New Bold" charset="0"/>
              <a:sym typeface="Courier New Bold" charset="0"/>
            </a:endParaRP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40680" y="4078288"/>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8" name="Rectangle 6"/>
          <p:cNvSpPr/>
          <p:nvPr/>
        </p:nvSpPr>
        <p:spPr bwMode="auto">
          <a:xfrm>
            <a:off x="1521460" y="218440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3271"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63" name="Rectangle 6"/>
          <p:cNvSpPr/>
          <p:nvPr/>
        </p:nvSpPr>
        <p:spPr bwMode="auto">
          <a:xfrm>
            <a:off x="1635125" y="258445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51254" name="AutoShape 54"/>
          <p:cNvSpPr/>
          <p:nvPr/>
        </p:nvSpPr>
        <p:spPr bwMode="auto">
          <a:xfrm>
            <a:off x="782320" y="3848100"/>
            <a:ext cx="89662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graphicFrame>
        <p:nvGraphicFramePr>
          <p:cNvPr id="54295" name="Group 23"/>
          <p:cNvGraphicFramePr>
            <a:graphicFrameLocks noGrp="1"/>
          </p:cNvGraphicFramePr>
          <p:nvPr/>
        </p:nvGraphicFramePr>
        <p:xfrm>
          <a:off x="693293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amI</a:t>
            </a:r>
            <a:endParaRPr lang="en-US" sz="1800">
              <a:solidFill>
                <a:srgbClr val="A5A5A5"/>
              </a:solidFill>
              <a:latin typeface="Courier New Bold" charset="0"/>
              <a:cs typeface="Courier New Bold" charset="0"/>
              <a:sym typeface="Courier New Bold" charset="0"/>
            </a:endParaRP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40680" y="3259138"/>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8" name="Rectangle 6"/>
          <p:cNvSpPr/>
          <p:nvPr/>
        </p:nvSpPr>
        <p:spPr bwMode="auto">
          <a:xfrm>
            <a:off x="1521460" y="218440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3271" name="Group 23"/>
          <p:cNvGraphicFramePr>
            <a:graphicFrameLocks noGrp="1"/>
          </p:cNvGraphicFramePr>
          <p:nvPr/>
        </p:nvGraphicFramePr>
        <p:xfrm>
          <a:off x="693293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1254" name="AutoShape 54"/>
          <p:cNvSpPr/>
          <p:nvPr/>
        </p:nvSpPr>
        <p:spPr bwMode="auto">
          <a:xfrm>
            <a:off x="833120" y="3587750"/>
            <a:ext cx="83058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38775" y="2438083"/>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51254" name="AutoShape 54"/>
          <p:cNvSpPr/>
          <p:nvPr/>
        </p:nvSpPr>
        <p:spPr bwMode="auto">
          <a:xfrm>
            <a:off x="690245" y="2985770"/>
            <a:ext cx="68580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ln>
            <a:headEnd type="none" w="med" len="med"/>
            <a:tailEnd type="triangle" w="med" len="med"/>
          </a:ln>
        </p:spPr>
        <p:style>
          <a:lnRef idx="1">
            <a:schemeClr val="accent3"/>
          </a:lnRef>
          <a:fillRef idx="0">
            <a:schemeClr val="accent3"/>
          </a:fillRef>
          <a:effectRef idx="0">
            <a:schemeClr val="accent3"/>
          </a:effectRef>
          <a:fontRef idx="minor">
            <a:schemeClr val="tx1"/>
          </a:fontRef>
        </p:style>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260850" y="2808288"/>
            <a:ext cx="622300" cy="330200"/>
          </a:xfrm>
          <a:prstGeom prst="rect">
            <a:avLst/>
          </a:prstGeom>
          <a:noFill/>
          <a:ln w="25400" cap="flat">
            <a:noFill/>
            <a:miter lim="800000"/>
            <a:headEnd type="none" w="med" len="med"/>
            <a:tailEnd type="none" w="med" len="med"/>
          </a:ln>
        </p:spPr>
        <p:txBody>
          <a:bodyPr lIns="38100" tIns="38100" rIns="38100" bIns="38100"/>
          <a:lstStyle/>
          <a:p>
            <a:pPr algn="l"/>
            <a:r>
              <a:rPr lang="en-US" sz="1800">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40680" y="3259138"/>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8" name="Rectangle 6"/>
          <p:cNvSpPr/>
          <p:nvPr/>
        </p:nvSpPr>
        <p:spPr bwMode="auto">
          <a:xfrm>
            <a:off x="1521460" y="2184400"/>
            <a:ext cx="1536700" cy="2286000"/>
          </a:xfrm>
          <a:prstGeom prst="rect">
            <a:avLst/>
          </a:prstGeom>
          <a:solidFill>
            <a:srgbClr val="F1C7C7"/>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53271" name="Group 23"/>
          <p:cNvGraphicFramePr>
            <a:graphicFrameLocks noGrp="1"/>
          </p:cNvGraphicFramePr>
          <p:nvPr/>
        </p:nvGraphicFramePr>
        <p:xfrm>
          <a:off x="693293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amI</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
        <p:nvSpPr>
          <p:cNvPr id="51254" name="AutoShape 54"/>
          <p:cNvSpPr/>
          <p:nvPr/>
        </p:nvSpPr>
        <p:spPr bwMode="auto">
          <a:xfrm>
            <a:off x="887730" y="3002280"/>
            <a:ext cx="68580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latin typeface="Courier New Bold" charset="0"/>
                <a:cs typeface="Courier New Bold" charset="0"/>
                <a:sym typeface="Courier New Bold" charset="0"/>
              </a:rPr>
              <a:t>who</a:t>
            </a:r>
            <a:endParaRPr lang="en-US" sz="1800">
              <a:solidFill>
                <a:srgbClr val="A5A5A5"/>
              </a:solidFill>
              <a:latin typeface="Courier New Bold" charset="0"/>
              <a:cs typeface="Courier New Bold" charset="0"/>
              <a:sym typeface="Courier New Bold" charset="0"/>
            </a:endParaRP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ln>
            <a:headEnd type="none" w="med" len="med"/>
            <a:tailEnd type="triangle" w="med" len="med"/>
          </a:ln>
        </p:spPr>
        <p:style>
          <a:lnRef idx="1">
            <a:schemeClr val="dk1"/>
          </a:lnRef>
          <a:fillRef idx="0">
            <a:schemeClr val="dk1"/>
          </a:fillRef>
          <a:effectRef idx="0">
            <a:schemeClr val="dk1"/>
          </a:effectRef>
          <a:fontRef idx="minor">
            <a:schemeClr val="tx1"/>
          </a:fontRef>
        </p:style>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438775" y="2438083"/>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
        <p:nvSpPr>
          <p:cNvPr id="57" name="Rectangle 5"/>
          <p:cNvSpPr/>
          <p:nvPr/>
        </p:nvSpPr>
        <p:spPr bwMode="auto">
          <a:xfrm>
            <a:off x="1203325" y="1922780"/>
            <a:ext cx="1612900" cy="225171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who(…)</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amI</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 • •</a:t>
            </a: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51254" name="AutoShape 54"/>
          <p:cNvSpPr/>
          <p:nvPr/>
        </p:nvSpPr>
        <p:spPr bwMode="auto">
          <a:xfrm>
            <a:off x="716915" y="3505200"/>
            <a:ext cx="68580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graphicFrame>
        <p:nvGraphicFramePr>
          <p:cNvPr id="52247" name="Group 23"/>
          <p:cNvGraphicFramePr>
            <a:graphicFrameLocks noGrp="1"/>
          </p:cNvGraphicFramePr>
          <p:nvPr/>
        </p:nvGraphicFramePr>
        <p:xfrm>
          <a:off x="6934200" y="838200"/>
          <a:ext cx="1397000" cy="5778500"/>
        </p:xfrm>
        <a:graphic>
          <a:graphicData uri="http://schemas.openxmlformats.org/drawingml/2006/table">
            <a:tbl>
              <a:tblPr/>
              <a:tblGrid>
                <a:gridCol w="1397000">
                  <a:extLst>
                    <a:ext uri="{9D8B030D-6E8A-4147-A177-3AD203B41FA5}">
                      <a16:colId xmlns:a16="http://schemas.microsoft.com/office/drawing/2014/main" val="20000"/>
                    </a:ext>
                  </a:extLst>
                </a:gridCol>
              </a:tblGrid>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CF3"/>
                    </a:solidFill>
                  </a:tcPr>
                </a:tc>
                <a:extLst>
                  <a:ext uri="{0D108BD9-81ED-4DB2-BD59-A6C34878D82A}">
                    <a16:rowId xmlns:a16="http://schemas.microsoft.com/office/drawing/2014/main" val="10000"/>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yoo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extLst>
                  <a:ext uri="{0D108BD9-81ED-4DB2-BD59-A6C34878D82A}">
                    <a16:rowId xmlns:a16="http://schemas.microsoft.com/office/drawing/2014/main" val="10001"/>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who</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DF1C5"/>
                    </a:solidFill>
                  </a:tcPr>
                </a:tc>
                <a:extLst>
                  <a:ext uri="{0D108BD9-81ED-4DB2-BD59-A6C34878D82A}">
                    <a16:rowId xmlns:a16="http://schemas.microsoft.com/office/drawing/2014/main" val="10002"/>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solidFill>
                      <a:srgbClr val="FFFFFF"/>
                    </a:solidFill>
                  </a:tcPr>
                </a:tc>
                <a:extLst>
                  <a:ext uri="{0D108BD9-81ED-4DB2-BD59-A6C34878D82A}">
                    <a16:rowId xmlns:a16="http://schemas.microsoft.com/office/drawing/2014/main" val="10003"/>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4"/>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5"/>
                  </a:ext>
                </a:extLst>
              </a:tr>
              <a:tr h="8255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20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cap="flat">
                      <a:noFill/>
                    </a:lnL>
                    <a:lnR cap="flat">
                      <a:noFill/>
                    </a:lnR>
                    <a:lnT cap="flat">
                      <a:noFill/>
                    </a:lnT>
                    <a:lnB cap="flat">
                      <a:noFill/>
                    </a:lnB>
                    <a:lnTlToBr>
                      <a:noFill/>
                    </a:lnTlToBr>
                    <a:lnBlToTr>
                      <a:noFill/>
                    </a:lnBlToTr>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1203"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a:t>Example</a:t>
            </a:r>
          </a:p>
        </p:txBody>
      </p:sp>
      <p:sp>
        <p:nvSpPr>
          <p:cNvPr id="51204" name="Rectangle 4"/>
          <p:cNvSpPr/>
          <p:nvPr/>
        </p:nvSpPr>
        <p:spPr bwMode="auto">
          <a:xfrm>
            <a:off x="3514725" y="1446213"/>
            <a:ext cx="622300" cy="331787"/>
          </a:xfrm>
          <a:prstGeom prst="rect">
            <a:avLst/>
          </a:prstGeom>
          <a:noFill/>
          <a:ln w="25400" cap="flat">
            <a:noFill/>
            <a:miter lim="800000"/>
            <a:headEnd type="none" w="med" len="med"/>
            <a:tailEnd type="none" w="med" len="med"/>
          </a:ln>
        </p:spPr>
        <p:txBody>
          <a:bodyPr lIns="38100" tIns="38100" rIns="38100" bIns="38100"/>
          <a:lstStyle/>
          <a:p>
            <a:r>
              <a:rPr lang="en-US" sz="1800">
                <a:solidFill>
                  <a:schemeClr val="tx1"/>
                </a:solidFill>
                <a:latin typeface="Courier New Bold" charset="0"/>
                <a:cs typeface="Courier New Bold" charset="0"/>
                <a:sym typeface="Courier New Bold" charset="0"/>
              </a:rPr>
              <a:t>yoo</a:t>
            </a:r>
          </a:p>
        </p:txBody>
      </p:sp>
      <p:sp>
        <p:nvSpPr>
          <p:cNvPr id="51205" name="Rectangle 5"/>
          <p:cNvSpPr/>
          <p:nvPr/>
        </p:nvSpPr>
        <p:spPr bwMode="auto">
          <a:xfrm>
            <a:off x="3514725" y="21336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who</a:t>
            </a:r>
          </a:p>
        </p:txBody>
      </p:sp>
      <p:sp>
        <p:nvSpPr>
          <p:cNvPr id="51206" name="Rectangle 6"/>
          <p:cNvSpPr/>
          <p:nvPr/>
        </p:nvSpPr>
        <p:spPr bwMode="auto">
          <a:xfrm>
            <a:off x="3503613" y="28082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7" name="Rectangle 7"/>
          <p:cNvSpPr/>
          <p:nvPr/>
        </p:nvSpPr>
        <p:spPr bwMode="auto">
          <a:xfrm>
            <a:off x="3514725" y="3505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8" name="Rectangle 8"/>
          <p:cNvSpPr/>
          <p:nvPr/>
        </p:nvSpPr>
        <p:spPr bwMode="auto">
          <a:xfrm>
            <a:off x="3514725" y="4267200"/>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09" name="Line 9"/>
          <p:cNvSpPr>
            <a:spLocks noChangeShapeType="1"/>
          </p:cNvSpPr>
          <p:nvPr/>
        </p:nvSpPr>
        <p:spPr bwMode="auto">
          <a:xfrm>
            <a:off x="3821113" y="17526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0" name="Line 10"/>
          <p:cNvSpPr>
            <a:spLocks noChangeShapeType="1"/>
          </p:cNvSpPr>
          <p:nvPr/>
        </p:nvSpPr>
        <p:spPr bwMode="auto">
          <a:xfrm>
            <a:off x="3821113" y="24384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1" name="Line 11"/>
          <p:cNvSpPr>
            <a:spLocks noChangeShapeType="1"/>
          </p:cNvSpPr>
          <p:nvPr/>
        </p:nvSpPr>
        <p:spPr bwMode="auto">
          <a:xfrm>
            <a:off x="3821113" y="3124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2" name="Line 12"/>
          <p:cNvSpPr>
            <a:spLocks noChangeShapeType="1"/>
          </p:cNvSpPr>
          <p:nvPr/>
        </p:nvSpPr>
        <p:spPr bwMode="auto">
          <a:xfrm>
            <a:off x="3821113" y="3886200"/>
            <a:ext cx="0"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13" name="Rectangle 13"/>
          <p:cNvSpPr/>
          <p:nvPr/>
        </p:nvSpPr>
        <p:spPr bwMode="auto">
          <a:xfrm>
            <a:off x="4181475" y="2795588"/>
            <a:ext cx="622300" cy="330200"/>
          </a:xfrm>
          <a:prstGeom prst="rect">
            <a:avLst/>
          </a:prstGeom>
          <a:noFill/>
          <a:ln w="25400" cap="flat">
            <a:noFill/>
            <a:miter lim="800000"/>
            <a:headEnd type="none" w="med" len="med"/>
            <a:tailEnd type="none" w="med" len="med"/>
          </a:ln>
        </p:spPr>
        <p:txBody>
          <a:bodyPr lIns="38100" tIns="38100" rIns="38100" bIns="38100"/>
          <a:lstStyle/>
          <a:p>
            <a:r>
              <a:rPr lang="en-US" sz="1800">
                <a:solidFill>
                  <a:srgbClr val="A5A5A5"/>
                </a:solidFill>
                <a:latin typeface="Courier New Bold" charset="0"/>
                <a:cs typeface="Courier New Bold" charset="0"/>
                <a:sym typeface="Courier New Bold" charset="0"/>
              </a:rPr>
              <a:t>amI</a:t>
            </a:r>
          </a:p>
        </p:txBody>
      </p:sp>
      <p:sp>
        <p:nvSpPr>
          <p:cNvPr id="51214" name="Line 14"/>
          <p:cNvSpPr>
            <a:spLocks noChangeShapeType="1"/>
          </p:cNvSpPr>
          <p:nvPr/>
        </p:nvSpPr>
        <p:spPr bwMode="auto">
          <a:xfrm>
            <a:off x="3962400" y="2438400"/>
            <a:ext cx="536575" cy="431800"/>
          </a:xfrm>
          <a:prstGeom prst="line">
            <a:avLst/>
          </a:prstGeom>
          <a:noFill/>
          <a:ln w="25400" cap="flat">
            <a:solidFill>
              <a:srgbClr val="A5A5A5"/>
            </a:solidFill>
            <a:prstDash val="solid"/>
            <a:round/>
            <a:headEnd type="none" w="med" len="med"/>
            <a:tailEnd type="triangle" w="med" len="med"/>
          </a:ln>
        </p:spPr>
        <p:txBody>
          <a:bodyPr lIns="0" tIns="0" rIns="0" bIns="0"/>
          <a:lstStyle/>
          <a:p>
            <a:endParaRPr lang="en-US"/>
          </a:p>
        </p:txBody>
      </p:sp>
      <p:sp>
        <p:nvSpPr>
          <p:cNvPr id="51254" name="AutoShape 54"/>
          <p:cNvSpPr/>
          <p:nvPr/>
        </p:nvSpPr>
        <p:spPr bwMode="auto">
          <a:xfrm>
            <a:off x="292100" y="2870200"/>
            <a:ext cx="685800" cy="431800"/>
          </a:xfrm>
          <a:prstGeom prst="rightArrow">
            <a:avLst>
              <a:gd name="adj1" fmla="val 41185"/>
              <a:gd name="adj2" fmla="val 76471"/>
            </a:avLst>
          </a:prstGeom>
          <a:solidFill>
            <a:srgbClr val="C00000"/>
          </a:solidFill>
          <a:ln w="25400" cap="flat">
            <a:noFill/>
            <a:miter lim="800000"/>
            <a:headEnd type="none" w="med" len="med"/>
            <a:tailEnd type="none" w="med" len="med"/>
          </a:ln>
          <a:effectLst>
            <a:outerShdw dist="76199" dir="2700000" algn="ctr" rotWithShape="0">
              <a:schemeClr val="bg2">
                <a:alpha val="75000"/>
              </a:schemeClr>
            </a:outerShdw>
          </a:effectLst>
        </p:spPr>
        <p:txBody>
          <a:bodyPr lIns="0" tIns="0" rIns="0" bIns="0"/>
          <a:lstStyle/>
          <a:p>
            <a:endParaRPr lang="en-US"/>
          </a:p>
        </p:txBody>
      </p:sp>
      <p:sp>
        <p:nvSpPr>
          <p:cNvPr id="56" name="Rectangle 4"/>
          <p:cNvSpPr/>
          <p:nvPr/>
        </p:nvSpPr>
        <p:spPr bwMode="auto">
          <a:xfrm>
            <a:off x="977900" y="1524000"/>
            <a:ext cx="15367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yoo</a:t>
            </a:r>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who();</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a:p>
            <a:pPr algn="l"/>
            <a:r>
              <a:rPr lang="en-US" sz="1800" dirty="0">
                <a:solidFill>
                  <a:schemeClr val="tx1"/>
                </a:solidFill>
                <a:latin typeface="Courier New" panose="02070309020205020404" charset="0"/>
                <a:cs typeface="Courier New" panose="02070309020205020404" charset="0"/>
                <a:sym typeface="Courier New Bold" charset="0"/>
              </a:rPr>
              <a:t>}  </a:t>
            </a:r>
          </a:p>
        </p:txBody>
      </p:sp>
      <p:sp>
        <p:nvSpPr>
          <p:cNvPr id="2"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4" name="Rectangle 15"/>
          <p:cNvSpPr/>
          <p:nvPr/>
        </p:nvSpPr>
        <p:spPr bwMode="auto">
          <a:xfrm>
            <a:off x="6932930" y="1641475"/>
            <a:ext cx="1308100" cy="879475"/>
          </a:xfrm>
          <a:prstGeom prst="rect">
            <a:avLst/>
          </a:prstGeom>
          <a:solidFill>
            <a:srgbClr val="F6F5BD"/>
          </a:solidFill>
          <a:ln w="19050" cap="flat">
            <a:solidFill>
              <a:schemeClr val="tx1"/>
            </a:solidFill>
            <a:prstDash val="solid"/>
            <a:miter lim="800000"/>
            <a:headEnd type="none" w="med" len="med"/>
            <a:tailEnd type="none" w="med" len="med"/>
          </a:ln>
        </p:spPr>
        <p:txBody>
          <a:bodyPr lIns="38100" tIns="38100" rIns="38100" bIns="38100"/>
          <a:lstStyle/>
          <a:p>
            <a:pPr algn="l"/>
            <a:endParaRPr lang="en-US" sz="1800">
              <a:solidFill>
                <a:schemeClr val="tx1"/>
              </a:solidFill>
              <a:latin typeface="Courier New Bold" charset="0"/>
              <a:ea typeface="Monaco" charset="0"/>
              <a:cs typeface="Monaco" charset="0"/>
              <a:sym typeface="Courier New Bold" charset="0"/>
            </a:endParaRPr>
          </a:p>
          <a:p>
            <a:r>
              <a:rPr lang="en-US" sz="1800">
                <a:solidFill>
                  <a:schemeClr val="tx1"/>
                </a:solidFill>
                <a:latin typeface="Courier New Bold" charset="0"/>
                <a:cs typeface="Courier New Bold" charset="0"/>
                <a:sym typeface="Courier New Bold" charset="0"/>
              </a:rPr>
              <a:t>   yoo</a:t>
            </a:r>
          </a:p>
        </p:txBody>
      </p:sp>
      <p:grpSp>
        <p:nvGrpSpPr>
          <p:cNvPr id="5" name="Group 16"/>
          <p:cNvGrpSpPr/>
          <p:nvPr/>
        </p:nvGrpSpPr>
        <p:grpSpPr bwMode="auto">
          <a:xfrm>
            <a:off x="5397500" y="1592263"/>
            <a:ext cx="1493838" cy="928687"/>
            <a:chOff x="0" y="0"/>
            <a:chExt cx="941" cy="585"/>
          </a:xfrm>
        </p:grpSpPr>
        <p:sp>
          <p:nvSpPr>
            <p:cNvPr id="6" name="Line 17"/>
            <p:cNvSpPr>
              <a:spLocks noChangeShapeType="1"/>
            </p:cNvSpPr>
            <p:nvPr/>
          </p:nvSpPr>
          <p:spPr bwMode="auto">
            <a:xfrm>
              <a:off x="489" y="110"/>
              <a:ext cx="452"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8" name="Rectangle 18"/>
            <p:cNvSpPr/>
            <p:nvPr/>
          </p:nvSpPr>
          <p:spPr bwMode="auto">
            <a:xfrm>
              <a:off x="1" y="0"/>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9" name="Line 19"/>
            <p:cNvSpPr>
              <a:spLocks noChangeShapeType="1"/>
            </p:cNvSpPr>
            <p:nvPr/>
          </p:nvSpPr>
          <p:spPr bwMode="auto">
            <a:xfrm>
              <a:off x="488" y="499"/>
              <a:ext cx="452"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0" name="Rectangle 20"/>
            <p:cNvSpPr/>
            <p:nvPr/>
          </p:nvSpPr>
          <p:spPr bwMode="auto">
            <a:xfrm>
              <a:off x="0" y="377"/>
              <a:ext cx="496" cy="208"/>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grpSp>
      <p:sp>
        <p:nvSpPr>
          <p:cNvPr id="11" name="Rectangle 21"/>
          <p:cNvSpPr/>
          <p:nvPr/>
        </p:nvSpPr>
        <p:spPr bwMode="auto">
          <a:xfrm>
            <a:off x="6932930" y="1022350"/>
            <a:ext cx="1308100" cy="618490"/>
          </a:xfrm>
          <a:prstGeom prst="rect">
            <a:avLst/>
          </a:prstGeom>
          <a:solidFill>
            <a:srgbClr val="ED7D31"/>
          </a:solidFill>
          <a:ln w="12700" cap="flat" cmpd="sng">
            <a:solidFill>
              <a:schemeClr val="accent1">
                <a:shade val="50000"/>
              </a:schemeClr>
            </a:solidFill>
            <a:prstDash val="solid"/>
            <a:miter lim="800000"/>
            <a:headEnd type="none" w="med" len="med"/>
            <a:tailEnd type="none" w="med" len="med"/>
          </a:ln>
        </p:spPr>
        <p:txBody>
          <a:bodyPr lIns="0" tIns="0" rIns="0" bIns="0"/>
          <a:lstStyle/>
          <a:p>
            <a:endParaRPr lang="en-US"/>
          </a:p>
        </p:txBody>
      </p:sp>
      <p:sp>
        <p:nvSpPr>
          <p:cNvPr id="12" name="Rectangle 22"/>
          <p:cNvSpPr/>
          <p:nvPr/>
        </p:nvSpPr>
        <p:spPr bwMode="auto">
          <a:xfrm>
            <a:off x="7334250" y="444500"/>
            <a:ext cx="381000" cy="445135"/>
          </a:xfrm>
          <a:prstGeom prst="rect">
            <a:avLst/>
          </a:prstGeom>
          <a:noFill/>
          <a:ln w="12700" cap="rnd">
            <a:noFill/>
            <a:round/>
            <a:headEnd type="none" w="med" len="med"/>
            <a:tailEnd type="none" w="med" len="med"/>
          </a:ln>
        </p:spPr>
        <p:txBody>
          <a:bodyPr wrap="none" lIns="38100" tIns="38100" rIns="38100" bIns="38100">
            <a:spAutoFit/>
          </a:bodyPr>
          <a:lstStyle/>
          <a:p>
            <a:r>
              <a:rPr lang="zh-CN" sz="2400">
                <a:solidFill>
                  <a:schemeClr val="tx1"/>
                </a:solidFill>
                <a:latin typeface="Calibri Bold" charset="0"/>
                <a:ea typeface="宋体" panose="02010600030101010101" pitchFamily="2" charset="-122"/>
                <a:cs typeface="Calibri Bold" charset="0"/>
                <a:sym typeface="Calibri Bold" charset="0"/>
              </a:rPr>
              <a:t>栈</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0" y="514350"/>
            <a:ext cx="4335780" cy="717550"/>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62467" name="Rectangle 3"/>
          <p:cNvSpPr>
            <a:spLocks noGrp="1" noChangeArrowheads="1"/>
          </p:cNvSpPr>
          <p:nvPr/>
        </p:nvSpPr>
        <p:spPr>
          <a:xfrm>
            <a:off x="381000" y="254000"/>
            <a:ext cx="8382000" cy="1143000"/>
          </a:xfrm>
          <a:prstGeom prst="rect">
            <a:avLst/>
          </a:prstGeom>
          <a:noFill/>
          <a:ln w="9525">
            <a:noFill/>
            <a:miter lim="800000"/>
          </a:ln>
          <a:effectLst/>
        </p:spPr>
        <p:txBody>
          <a:bodyPr vert="horz" wrap="square" lIns="38100" tIns="38100" rIns="38100" bIns="38100" numCol="1" anchor="ctr" anchorCtr="0" compatLnSpc="1"/>
          <a:lstStyle>
            <a:lvl1pPr algn="l" rtl="0" fontAlgn="base">
              <a:spcBef>
                <a:spcPct val="0"/>
              </a:spcBef>
              <a:spcAft>
                <a:spcPct val="0"/>
              </a:spcAft>
              <a:defRPr sz="3600" b="1">
                <a:solidFill>
                  <a:schemeClr val="tx1"/>
                </a:solidFill>
                <a:latin typeface="+mj-lt"/>
                <a:ea typeface="+mj-ea"/>
                <a:cs typeface="+mj-cs"/>
                <a:sym typeface="Calibri Bold" charset="0"/>
              </a:defRPr>
            </a:lvl1pPr>
            <a:lvl2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2pPr>
            <a:lvl3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3pPr>
            <a:lvl4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4pPr>
            <a:lvl5pPr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5pPr>
            <a:lvl6pPr marL="4572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6pPr>
            <a:lvl7pPr marL="9144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7pPr>
            <a:lvl8pPr marL="13716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8pPr>
            <a:lvl9pPr marL="1828800" algn="l" rtl="0" fontAlgn="base">
              <a:spcBef>
                <a:spcPct val="0"/>
              </a:spcBef>
              <a:spcAft>
                <a:spcPct val="0"/>
              </a:spcAft>
              <a:defRPr sz="3600">
                <a:solidFill>
                  <a:schemeClr val="tx1"/>
                </a:solidFill>
                <a:latin typeface="Calibri Bold" charset="0"/>
                <a:ea typeface="ヒラギノ角ゴ ProN W6" charset="0"/>
                <a:cs typeface="ヒラギノ角ゴ ProN W6" charset="0"/>
                <a:sym typeface="Calibri Bold" charset="0"/>
              </a:defRPr>
            </a:lvl9pPr>
          </a:lstStyle>
          <a:p>
            <a:pPr marL="119380" indent="-119380"/>
            <a:r>
              <a:rPr lang="en-US" sz="3200" dirty="0">
                <a:solidFill>
                  <a:schemeClr val="bg1"/>
                </a:solidFill>
              </a:rPr>
              <a:t>x86-64/Linux </a:t>
            </a:r>
            <a:r>
              <a:rPr lang="zh-CN" altLang="en-US" sz="3200" dirty="0">
                <a:solidFill>
                  <a:schemeClr val="bg1"/>
                </a:solidFill>
              </a:rPr>
              <a:t>栈帧</a:t>
            </a:r>
          </a:p>
        </p:txBody>
      </p:sp>
      <p:sp>
        <p:nvSpPr>
          <p:cNvPr id="62469" name="Rectangle 5"/>
          <p:cNvSpPr/>
          <p:nvPr/>
        </p:nvSpPr>
        <p:spPr bwMode="auto">
          <a:xfrm>
            <a:off x="7366000" y="3276600"/>
            <a:ext cx="1270000" cy="304800"/>
          </a:xfrm>
          <a:prstGeom prst="rect">
            <a:avLst/>
          </a:prstGeom>
          <a:solidFill>
            <a:srgbClr val="F2F2F2"/>
          </a:solidFill>
          <a:ln w="25400" cap="flat">
            <a:solidFill>
              <a:schemeClr val="tx1"/>
            </a:solidFill>
            <a:prstDash val="solid"/>
            <a:miter lim="800000"/>
            <a:headEnd type="none" w="med" len="med"/>
            <a:tailEnd type="none" w="med" len="med"/>
          </a:ln>
        </p:spPr>
        <p:txBody>
          <a:bodyPr lIns="0" tIns="0" rIns="0" bIns="0" anchor="ctr"/>
          <a:lstStyle/>
          <a:p>
            <a:r>
              <a:rPr lang="zh-CN" altLang="en-US" sz="1800">
                <a:solidFill>
                  <a:schemeClr val="tx1"/>
                </a:solidFill>
                <a:latin typeface="Calibri Bold" charset="0"/>
                <a:ea typeface="宋体" panose="02010600030101010101" pitchFamily="2" charset="-122"/>
                <a:cs typeface="Calibri Bold" charset="0"/>
                <a:sym typeface="Calibri Bold" charset="0"/>
              </a:rPr>
              <a:t>返回</a:t>
            </a:r>
            <a:r>
              <a:rPr lang="en-US" sz="1800">
                <a:solidFill>
                  <a:schemeClr val="tx1"/>
                </a:solidFill>
                <a:latin typeface="Calibri Bold" charset="0"/>
                <a:ea typeface="Calibri Bold" charset="0"/>
                <a:cs typeface="Calibri Bold" charset="0"/>
                <a:sym typeface="Calibri Bold" charset="0"/>
              </a:rPr>
              <a:t> Addr</a:t>
            </a:r>
          </a:p>
        </p:txBody>
      </p:sp>
      <p:sp>
        <p:nvSpPr>
          <p:cNvPr id="62470" name="Rectangle 6"/>
          <p:cNvSpPr/>
          <p:nvPr/>
        </p:nvSpPr>
        <p:spPr bwMode="auto">
          <a:xfrm>
            <a:off x="7366000" y="3886200"/>
            <a:ext cx="1270000" cy="18161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zh-CN" altLang="en-US" sz="1800">
                <a:solidFill>
                  <a:schemeClr val="tx1"/>
                </a:solidFill>
                <a:latin typeface="Calibri Bold" charset="0"/>
                <a:ea typeface="宋体" panose="02010600030101010101" pitchFamily="2" charset="-122"/>
                <a:cs typeface="Calibri Bold" charset="0"/>
                <a:sym typeface="Calibri Bold" charset="0"/>
              </a:rPr>
              <a:t>保存的寄存器</a:t>
            </a:r>
          </a:p>
          <a:p>
            <a:r>
              <a:rPr lang="en-US" sz="1800">
                <a:solidFill>
                  <a:schemeClr val="tx1"/>
                </a:solidFill>
                <a:latin typeface="Calibri Bold" charset="0"/>
                <a:ea typeface="Calibri Bold" charset="0"/>
                <a:cs typeface="Calibri Bold" charset="0"/>
                <a:sym typeface="Calibri Bold" charset="0"/>
              </a:rPr>
              <a:t>+</a:t>
            </a:r>
          </a:p>
          <a:p>
            <a:r>
              <a:rPr lang="zh-CN" altLang="en-US" sz="1800">
                <a:solidFill>
                  <a:schemeClr val="tx1"/>
                </a:solidFill>
                <a:latin typeface="Calibri Bold" charset="0"/>
                <a:ea typeface="宋体" panose="02010600030101010101" pitchFamily="2" charset="-122"/>
                <a:cs typeface="Calibri Bold" charset="0"/>
                <a:sym typeface="Calibri Bold" charset="0"/>
              </a:rPr>
              <a:t>局部变量</a:t>
            </a:r>
          </a:p>
        </p:txBody>
      </p:sp>
      <p:sp>
        <p:nvSpPr>
          <p:cNvPr id="62471" name="Rectangle 7"/>
          <p:cNvSpPr/>
          <p:nvPr/>
        </p:nvSpPr>
        <p:spPr bwMode="auto">
          <a:xfrm>
            <a:off x="7366000" y="5699124"/>
            <a:ext cx="1270000" cy="854075"/>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zh-CN" altLang="en-US" sz="1800" dirty="0">
                <a:solidFill>
                  <a:schemeClr val="tx1"/>
                </a:solidFill>
                <a:latin typeface="Calibri Bold" charset="0"/>
                <a:ea typeface="宋体" panose="02010600030101010101" pitchFamily="2" charset="-122"/>
                <a:cs typeface="Calibri Bold" charset="0"/>
                <a:sym typeface="Calibri Bold" charset="0"/>
              </a:rPr>
              <a:t>参数构造</a:t>
            </a:r>
          </a:p>
          <a:p>
            <a:r>
              <a:rPr lang="en-US" sz="1800" dirty="0">
                <a:solidFill>
                  <a:schemeClr val="tx1"/>
                </a:solidFill>
                <a:latin typeface="Calibri Bold" charset="0"/>
                <a:ea typeface="Calibri Bold" charset="0"/>
                <a:cs typeface="Calibri Bold" charset="0"/>
                <a:sym typeface="Calibri Bold" charset="0"/>
              </a:rPr>
              <a:t>(Optional)</a:t>
            </a:r>
          </a:p>
        </p:txBody>
      </p:sp>
      <p:sp>
        <p:nvSpPr>
          <p:cNvPr id="62472" name="Rectangle 8"/>
          <p:cNvSpPr/>
          <p:nvPr/>
        </p:nvSpPr>
        <p:spPr bwMode="auto">
          <a:xfrm>
            <a:off x="7366000" y="1295400"/>
            <a:ext cx="1270000" cy="1371600"/>
          </a:xfrm>
          <a:prstGeom prst="rect">
            <a:avLst/>
          </a:prstGeom>
          <a:solidFill>
            <a:srgbClr val="F2F2F2"/>
          </a:solidFill>
          <a:ln w="25400" cap="flat">
            <a:solidFill>
              <a:schemeClr val="tx1"/>
            </a:solidFill>
            <a:prstDash val="solid"/>
            <a:miter lim="800000"/>
            <a:headEnd type="none" w="med" len="med"/>
            <a:tailEnd type="none" w="med" len="med"/>
          </a:ln>
        </p:spPr>
        <p:txBody>
          <a:bodyPr lIns="0" tIns="0" rIns="0" bIns="0"/>
          <a:lstStyle/>
          <a:p>
            <a:endParaRPr lang="en-US"/>
          </a:p>
        </p:txBody>
      </p:sp>
      <p:sp>
        <p:nvSpPr>
          <p:cNvPr id="62473" name="Rectangle 9"/>
          <p:cNvSpPr/>
          <p:nvPr/>
        </p:nvSpPr>
        <p:spPr bwMode="auto">
          <a:xfrm>
            <a:off x="7366000" y="3581400"/>
            <a:ext cx="1270000" cy="304800"/>
          </a:xfrm>
          <a:prstGeom prst="rect">
            <a:avLst/>
          </a:prstGeom>
          <a:solidFill>
            <a:schemeClr val="bg1">
              <a:lumMod val="85000"/>
            </a:schemeClr>
          </a:solidFill>
          <a:ln w="25400" cap="flat">
            <a:solidFill>
              <a:schemeClr val="tx1"/>
            </a:solidFill>
            <a:prstDash val="solid"/>
            <a:miter lim="800000"/>
            <a:headEnd type="none" w="med" len="med"/>
            <a:tailEnd type="none" w="med" len="med"/>
          </a:ln>
        </p:spPr>
        <p:txBody>
          <a:bodyPr lIns="0" tIns="0" rIns="0" bIns="0" anchor="ctr"/>
          <a:lstStyle/>
          <a:p>
            <a:r>
              <a:rPr lang="zh-CN" altLang="en-US" sz="1800" b="1" dirty="0">
                <a:solidFill>
                  <a:srgbClr val="7F7F7F"/>
                </a:solidFill>
                <a:latin typeface="Courier New" panose="02070309020205020404"/>
                <a:ea typeface="宋体" panose="02010600030101010101" pitchFamily="2" charset="-122"/>
                <a:cs typeface="Courier New" panose="02070309020205020404"/>
                <a:sym typeface="Calibri Bold" charset="0"/>
              </a:rPr>
              <a:t>旧</a:t>
            </a:r>
            <a:r>
              <a:rPr lang="en-US" sz="1800" b="1" dirty="0">
                <a:solidFill>
                  <a:srgbClr val="7F7F7F"/>
                </a:solidFill>
                <a:latin typeface="Courier New" panose="02070309020205020404"/>
                <a:ea typeface="Calibri Bold" charset="0"/>
                <a:cs typeface="Courier New" panose="02070309020205020404"/>
                <a:sym typeface="Calibri Bold" charset="0"/>
              </a:rPr>
              <a:t>%</a:t>
            </a:r>
            <a:r>
              <a:rPr lang="en-US" sz="1800" b="1" dirty="0" err="1">
                <a:solidFill>
                  <a:srgbClr val="7F7F7F"/>
                </a:solidFill>
                <a:latin typeface="Courier New" panose="02070309020205020404"/>
                <a:ea typeface="Calibri Bold" charset="0"/>
                <a:cs typeface="Courier New" panose="02070309020205020404"/>
                <a:sym typeface="Calibri Bold" charset="0"/>
              </a:rPr>
              <a:t>rbp</a:t>
            </a:r>
            <a:endParaRPr lang="en-US" sz="1800" b="1" dirty="0">
              <a:solidFill>
                <a:srgbClr val="7F7F7F"/>
              </a:solidFill>
              <a:latin typeface="Courier New" panose="02070309020205020404"/>
              <a:ea typeface="Calibri Bold" charset="0"/>
              <a:cs typeface="Courier New" panose="02070309020205020404"/>
              <a:sym typeface="Calibri Bold" charset="0"/>
            </a:endParaRPr>
          </a:p>
        </p:txBody>
      </p:sp>
      <p:sp>
        <p:nvSpPr>
          <p:cNvPr id="62474" name="Rectangle 10"/>
          <p:cNvSpPr/>
          <p:nvPr/>
        </p:nvSpPr>
        <p:spPr bwMode="auto">
          <a:xfrm>
            <a:off x="7366000" y="2667000"/>
            <a:ext cx="1270000" cy="609600"/>
          </a:xfrm>
          <a:prstGeom prst="rect">
            <a:avLst/>
          </a:prstGeom>
          <a:solidFill>
            <a:srgbClr val="F2F2F2"/>
          </a:solidFill>
          <a:ln w="25400" cap="flat">
            <a:solidFill>
              <a:schemeClr val="tx1"/>
            </a:solidFill>
            <a:prstDash val="solid"/>
            <a:miter lim="800000"/>
            <a:headEnd type="none" w="med" len="med"/>
            <a:tailEnd type="none" w="med" len="med"/>
          </a:ln>
        </p:spPr>
        <p:txBody>
          <a:bodyPr lIns="0" tIns="0" rIns="0" bIns="0" anchor="ctr"/>
          <a:lstStyle/>
          <a:p>
            <a:r>
              <a:rPr lang="zh-CN" altLang="en-US" sz="1800" dirty="0">
                <a:solidFill>
                  <a:schemeClr val="tx1"/>
                </a:solidFill>
                <a:latin typeface="Calibri Bold" charset="0"/>
                <a:ea typeface="宋体" panose="02010600030101010101" pitchFamily="2" charset="-122"/>
                <a:cs typeface="Calibri Bold" charset="0"/>
                <a:sym typeface="Calibri Bold" charset="0"/>
              </a:rPr>
              <a:t>参数</a:t>
            </a:r>
          </a:p>
        </p:txBody>
      </p:sp>
      <p:sp>
        <p:nvSpPr>
          <p:cNvPr id="62475" name="Rectangle 11"/>
          <p:cNvSpPr/>
          <p:nvPr/>
        </p:nvSpPr>
        <p:spPr bwMode="auto">
          <a:xfrm>
            <a:off x="5472113" y="2125663"/>
            <a:ext cx="1447800" cy="35306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zh-CN" altLang="en-US" sz="1800">
                <a:solidFill>
                  <a:schemeClr val="tx1"/>
                </a:solidFill>
                <a:latin typeface="Calibri Bold" charset="0"/>
                <a:ea typeface="宋体" panose="02010600030101010101" pitchFamily="2" charset="-122"/>
                <a:cs typeface="Calibri Bold" charset="0"/>
                <a:sym typeface="Calibri Bold" charset="0"/>
              </a:rPr>
              <a:t>调用函数的帧</a:t>
            </a:r>
          </a:p>
        </p:txBody>
      </p:sp>
      <p:sp>
        <p:nvSpPr>
          <p:cNvPr id="62476" name="AutoShape 12"/>
          <p:cNvSpPr/>
          <p:nvPr/>
        </p:nvSpPr>
        <p:spPr bwMode="auto">
          <a:xfrm>
            <a:off x="6981825" y="1295400"/>
            <a:ext cx="228600" cy="2260600"/>
          </a:xfrm>
          <a:custGeom>
            <a:avLst/>
            <a:gdLst>
              <a:gd name="T0" fmla="*/ 10800 w 21600"/>
              <a:gd name="T1" fmla="*/ 10800 h 21600"/>
            </a:gdLst>
            <a:ahLst/>
            <a:cxnLst>
              <a:cxn ang="0">
                <a:pos x="T0" y="T1"/>
              </a:cxn>
            </a:cxnLst>
            <a:rect l="0" t="0" r="r" b="b"/>
            <a:pathLst>
              <a:path w="21600" h="21600">
                <a:moveTo>
                  <a:pt x="21600" y="21600"/>
                </a:moveTo>
                <a:cubicBezTo>
                  <a:pt x="15635" y="21600"/>
                  <a:pt x="10800" y="20875"/>
                  <a:pt x="10800" y="19980"/>
                </a:cubicBezTo>
                <a:lnTo>
                  <a:pt x="10800" y="12420"/>
                </a:lnTo>
                <a:cubicBezTo>
                  <a:pt x="10800" y="11525"/>
                  <a:pt x="5965" y="10800"/>
                  <a:pt x="0" y="10800"/>
                </a:cubicBezTo>
                <a:cubicBezTo>
                  <a:pt x="5965" y="10800"/>
                  <a:pt x="10800" y="10075"/>
                  <a:pt x="10800" y="9180"/>
                </a:cubicBezTo>
                <a:lnTo>
                  <a:pt x="10800" y="1620"/>
                </a:lnTo>
                <a:cubicBezTo>
                  <a:pt x="10800" y="725"/>
                  <a:pt x="15635" y="0"/>
                  <a:pt x="21600" y="0"/>
                </a:cubicBezTo>
              </a:path>
            </a:pathLst>
          </a:custGeom>
          <a:noFill/>
          <a:ln w="25400" cap="flat">
            <a:solidFill>
              <a:schemeClr val="tx1"/>
            </a:solidFill>
            <a:prstDash val="solid"/>
            <a:round/>
            <a:headEnd type="none" w="med" len="med"/>
            <a:tailEnd type="none" w="med" len="med"/>
          </a:ln>
        </p:spPr>
        <p:txBody>
          <a:bodyPr lIns="0" tIns="0" rIns="0" bIns="0"/>
          <a:lstStyle/>
          <a:p>
            <a:endParaRPr lang="en-US"/>
          </a:p>
        </p:txBody>
      </p:sp>
      <p:sp>
        <p:nvSpPr>
          <p:cNvPr id="62477" name="Line 13"/>
          <p:cNvSpPr>
            <a:spLocks noChangeShapeType="1"/>
          </p:cNvSpPr>
          <p:nvPr/>
        </p:nvSpPr>
        <p:spPr bwMode="auto">
          <a:xfrm>
            <a:off x="6469063" y="3732213"/>
            <a:ext cx="717550" cy="0"/>
          </a:xfrm>
          <a:prstGeom prst="line">
            <a:avLst/>
          </a:prstGeom>
          <a:noFill/>
          <a:ln w="25400" cap="flat">
            <a:solidFill>
              <a:srgbClr val="7F7F7F"/>
            </a:solidFill>
            <a:prstDash val="solid"/>
            <a:round/>
            <a:headEnd type="none" w="med" len="med"/>
            <a:tailEnd type="triangle" w="med" len="med"/>
          </a:ln>
        </p:spPr>
        <p:txBody>
          <a:bodyPr lIns="0" tIns="0" rIns="0" bIns="0"/>
          <a:lstStyle/>
          <a:p>
            <a:endParaRPr lang="en-US"/>
          </a:p>
        </p:txBody>
      </p:sp>
      <p:sp>
        <p:nvSpPr>
          <p:cNvPr id="62478" name="Rectangle 14"/>
          <p:cNvSpPr/>
          <p:nvPr/>
        </p:nvSpPr>
        <p:spPr bwMode="auto">
          <a:xfrm>
            <a:off x="4927600" y="3268663"/>
            <a:ext cx="1562100" cy="609600"/>
          </a:xfrm>
          <a:prstGeom prst="rect">
            <a:avLst/>
          </a:prstGeom>
          <a:noFill/>
          <a:ln w="25400" cap="flat">
            <a:noFill/>
            <a:miter lim="800000"/>
            <a:headEnd type="none" w="med" len="med"/>
            <a:tailEnd type="none" w="med" len="med"/>
          </a:ln>
        </p:spPr>
        <p:txBody>
          <a:bodyPr lIns="38100" tIns="38100" rIns="38100" bIns="38100"/>
          <a:lstStyle/>
          <a:p>
            <a:pPr algn="r"/>
            <a:r>
              <a:rPr lang="zh-CN" altLang="en-US" sz="1800" dirty="0">
                <a:solidFill>
                  <a:schemeClr val="tx1"/>
                </a:solidFill>
                <a:latin typeface="Calibri Bold" charset="0"/>
                <a:ea typeface="宋体" panose="02010600030101010101" pitchFamily="2" charset="-122"/>
                <a:cs typeface="Calibri Bold" charset="0"/>
                <a:sym typeface="Calibri Bold" charset="0"/>
              </a:rPr>
              <a:t>帧指针</a:t>
            </a:r>
            <a:br>
              <a:rPr lang="en-US" sz="1800" dirty="0">
                <a:solidFill>
                  <a:schemeClr val="tx1"/>
                </a:solidFill>
                <a:latin typeface="Calibri Bold" charset="0"/>
                <a:ea typeface="Calibri Bold" charset="0"/>
                <a:cs typeface="Calibri Bold" charset="0"/>
                <a:sym typeface="Calibri Bold" charset="0"/>
              </a:rPr>
            </a:b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p:txBody>
      </p:sp>
      <p:sp>
        <p:nvSpPr>
          <p:cNvPr id="62479" name="Line 15"/>
          <p:cNvSpPr>
            <a:spLocks noChangeShapeType="1"/>
          </p:cNvSpPr>
          <p:nvPr/>
        </p:nvSpPr>
        <p:spPr bwMode="auto">
          <a:xfrm>
            <a:off x="6478588" y="6488112"/>
            <a:ext cx="719137"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2480" name="Rectangle 16"/>
          <p:cNvSpPr/>
          <p:nvPr/>
        </p:nvSpPr>
        <p:spPr bwMode="auto">
          <a:xfrm>
            <a:off x="5005388" y="6019800"/>
            <a:ext cx="1485900" cy="609600"/>
          </a:xfrm>
          <a:prstGeom prst="rect">
            <a:avLst/>
          </a:prstGeom>
          <a:noFill/>
          <a:ln w="25400" cap="flat">
            <a:noFill/>
            <a:miter lim="800000"/>
            <a:headEnd type="none" w="med" len="med"/>
            <a:tailEnd type="none" w="med" len="med"/>
          </a:ln>
        </p:spPr>
        <p:txBody>
          <a:bodyPr lIns="38100" tIns="38100" rIns="38100" bIns="38100"/>
          <a:lstStyle/>
          <a:p>
            <a:pPr algn="r"/>
            <a:r>
              <a:rPr lang="zh-CN" altLang="en-US" dirty="0">
                <a:solidFill>
                  <a:schemeClr val="tx1"/>
                </a:solidFill>
                <a:latin typeface="Arial Narrow Bold" charset="0"/>
                <a:ea typeface="Lucida Grande" charset="0"/>
                <a:cs typeface="Lucida Grande" charset="0"/>
                <a:sym typeface="Arial Narrow Bold" charset="0"/>
              </a:rPr>
              <a:t>栈指针</a:t>
            </a:r>
          </a:p>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18" name="Rectangle 14"/>
          <p:cNvSpPr/>
          <p:nvPr/>
        </p:nvSpPr>
        <p:spPr bwMode="auto">
          <a:xfrm>
            <a:off x="4953000" y="3810000"/>
            <a:ext cx="1562100" cy="609600"/>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alibri Bold" charset="0"/>
                <a:ea typeface="Calibri Bold" charset="0"/>
                <a:cs typeface="Calibri Bold" charset="0"/>
                <a:sym typeface="Calibri Bold" charset="0"/>
              </a:rPr>
              <a:t>(</a:t>
            </a:r>
            <a:r>
              <a:rPr lang="zh-CN" altLang="en-US" sz="1800" dirty="0">
                <a:solidFill>
                  <a:schemeClr val="tx1"/>
                </a:solidFill>
                <a:latin typeface="Calibri Bold" charset="0"/>
                <a:ea typeface="宋体" panose="02010600030101010101" pitchFamily="2" charset="-122"/>
                <a:cs typeface="Calibri Bold" charset="0"/>
                <a:sym typeface="Calibri Bold" charset="0"/>
              </a:rPr>
              <a:t>可选的</a:t>
            </a:r>
            <a:r>
              <a:rPr lang="en-US" sz="1800" dirty="0">
                <a:solidFill>
                  <a:schemeClr val="tx1"/>
                </a:solidFill>
                <a:latin typeface="Calibri Bold" charset="0"/>
                <a:ea typeface="Calibri Bold" charset="0"/>
                <a:cs typeface="Calibri Bold" charset="0"/>
                <a:sym typeface="Calibri Bold" charset="0"/>
              </a:rPr>
              <a:t>)</a:t>
            </a:r>
            <a:endParaRPr lang="en-US" sz="1800" dirty="0">
              <a:solidFill>
                <a:schemeClr val="tx1"/>
              </a:solidFill>
              <a:latin typeface="Courier New Bold" charset="0"/>
              <a:cs typeface="Courier New Bold" charset="0"/>
              <a:sym typeface="Courier New Bold" charset="0"/>
            </a:endParaRPr>
          </a:p>
        </p:txBody>
      </p:sp>
      <p:sp>
        <p:nvSpPr>
          <p:cNvPr id="62468" name="Rectangle 4"/>
          <p:cNvSpPr>
            <a:spLocks noGrp="1" noChangeArrowheads="1"/>
          </p:cNvSpPr>
          <p:nvPr/>
        </p:nvSpPr>
        <p:spPr>
          <a:xfrm>
            <a:off x="381000" y="1397000"/>
            <a:ext cx="53721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r>
              <a:rPr lang="en-US" dirty="0"/>
              <a:t>当前栈帧（“顶部”到“底部”）</a:t>
            </a:r>
          </a:p>
          <a:p>
            <a:pPr marL="552450" lvl="1"/>
            <a:r>
              <a:rPr lang="en-US" dirty="0"/>
              <a:t>“参数构</a:t>
            </a:r>
            <a:r>
              <a:rPr lang="zh-CN" altLang="en-US" dirty="0">
                <a:ea typeface="宋体" panose="02010600030101010101" pitchFamily="2" charset="-122"/>
              </a:rPr>
              <a:t>造</a:t>
            </a:r>
            <a:r>
              <a:rPr lang="en-US" dirty="0"/>
              <a:t>”：要调用的函数的参数</a:t>
            </a:r>
          </a:p>
          <a:p>
            <a:pPr marL="552450" lvl="1"/>
            <a:r>
              <a:rPr lang="zh-CN" altLang="en-US" dirty="0">
                <a:ea typeface="宋体" panose="02010600030101010101" pitchFamily="2" charset="-122"/>
              </a:rPr>
              <a:t>局部变量</a:t>
            </a:r>
            <a:br>
              <a:rPr lang="en-US" dirty="0"/>
            </a:br>
            <a:r>
              <a:rPr lang="zh-CN" altLang="en-US" dirty="0">
                <a:ea typeface="宋体" panose="02010600030101010101" pitchFamily="2" charset="-122"/>
              </a:rPr>
              <a:t>如果不能保存于寄存器中</a:t>
            </a:r>
          </a:p>
          <a:p>
            <a:pPr marL="552450" lvl="1"/>
            <a:r>
              <a:rPr lang="zh-CN" altLang="en-US" dirty="0">
                <a:ea typeface="宋体" panose="02010600030101010101" pitchFamily="2" charset="-122"/>
              </a:rPr>
              <a:t>被保存的寄存器内容</a:t>
            </a:r>
          </a:p>
          <a:p>
            <a:pPr marL="552450" lvl="1"/>
            <a:r>
              <a:rPr lang="en-US" dirty="0"/>
              <a:t>旧帧指针（可选）</a:t>
            </a:r>
          </a:p>
          <a:p>
            <a:endParaRPr lang="en-US" dirty="0"/>
          </a:p>
          <a:p>
            <a:r>
              <a:rPr lang="en-US" dirty="0"/>
              <a:t>调用栈帧</a:t>
            </a:r>
          </a:p>
          <a:p>
            <a:pPr marL="552450" lvl="1"/>
            <a:r>
              <a:rPr lang="zh-CN" altLang="en-US" dirty="0">
                <a:ea typeface="宋体" panose="02010600030101010101" pitchFamily="2" charset="-122"/>
              </a:rPr>
              <a:t>返回地址</a:t>
            </a:r>
          </a:p>
          <a:p>
            <a:pPr marL="838200" lvl="2"/>
            <a:r>
              <a:rPr lang="zh-CN" altLang="en-US" dirty="0">
                <a:ea typeface="宋体" panose="02010600030101010101" pitchFamily="2" charset="-122"/>
              </a:rPr>
              <a:t>由调用指令压入</a:t>
            </a:r>
          </a:p>
          <a:p>
            <a:pPr marL="552450" lvl="1"/>
            <a:r>
              <a:rPr lang="zh-CN" altLang="en-US" dirty="0">
                <a:ea typeface="宋体" panose="02010600030101010101" pitchFamily="2" charset="-122"/>
              </a:rPr>
              <a:t>此次调用的参数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2468">
                                            <p:txEl>
                                              <p:pRg st="1" end="1"/>
                                            </p:txEl>
                                          </p:spTgt>
                                        </p:tgtEl>
                                        <p:attrNameLst>
                                          <p:attrName>style.visibility</p:attrName>
                                        </p:attrNameLst>
                                      </p:cBhvr>
                                      <p:to>
                                        <p:strVal val="visible"/>
                                      </p:to>
                                    </p:set>
                                    <p:animEffect transition="in" filter="wipe(down)">
                                      <p:cBhvr>
                                        <p:cTn id="7" dur="500"/>
                                        <p:tgtEl>
                                          <p:spTgt spid="62468">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62468">
                                            <p:txEl>
                                              <p:pRg st="2" end="2"/>
                                            </p:txEl>
                                          </p:spTgt>
                                        </p:tgtEl>
                                        <p:attrNameLst>
                                          <p:attrName>style.visibility</p:attrName>
                                        </p:attrNameLst>
                                      </p:cBhvr>
                                      <p:to>
                                        <p:strVal val="visible"/>
                                      </p:to>
                                    </p:set>
                                    <p:animEffect transition="in" filter="wipe(down)">
                                      <p:cBhvr>
                                        <p:cTn id="10" dur="500"/>
                                        <p:tgtEl>
                                          <p:spTgt spid="62468">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62468">
                                            <p:txEl>
                                              <p:pRg st="2" end="2"/>
                                            </p:txEl>
                                          </p:spTgt>
                                        </p:tgtEl>
                                        <p:attrNameLst>
                                          <p:attrName>style.visibility</p:attrName>
                                        </p:attrNameLst>
                                      </p:cBhvr>
                                      <p:to>
                                        <p:strVal val="visible"/>
                                      </p:to>
                                    </p:set>
                                    <p:animEffect transition="in" filter="wipe(down)">
                                      <p:cBhvr>
                                        <p:cTn id="13" dur="500"/>
                                        <p:tgtEl>
                                          <p:spTgt spid="62468">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62468">
                                            <p:txEl>
                                              <p:pRg st="3" end="3"/>
                                            </p:txEl>
                                          </p:spTgt>
                                        </p:tgtEl>
                                        <p:attrNameLst>
                                          <p:attrName>style.visibility</p:attrName>
                                        </p:attrNameLst>
                                      </p:cBhvr>
                                      <p:to>
                                        <p:strVal val="visible"/>
                                      </p:to>
                                    </p:set>
                                    <p:animEffect transition="in" filter="wipe(down)">
                                      <p:cBhvr>
                                        <p:cTn id="16" dur="500"/>
                                        <p:tgtEl>
                                          <p:spTgt spid="62468">
                                            <p:txEl>
                                              <p:pRg st="3" end="3"/>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62468">
                                            <p:txEl>
                                              <p:pRg st="4" end="4"/>
                                            </p:txEl>
                                          </p:spTgt>
                                        </p:tgtEl>
                                        <p:attrNameLst>
                                          <p:attrName>style.visibility</p:attrName>
                                        </p:attrNameLst>
                                      </p:cBhvr>
                                      <p:to>
                                        <p:strVal val="visible"/>
                                      </p:to>
                                    </p:set>
                                    <p:animEffect transition="in" filter="wipe(down)">
                                      <p:cBhvr>
                                        <p:cTn id="19" dur="500"/>
                                        <p:tgtEl>
                                          <p:spTgt spid="62468">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62468">
                                            <p:txEl>
                                              <p:pRg st="7" end="7"/>
                                            </p:txEl>
                                          </p:spTgt>
                                        </p:tgtEl>
                                        <p:attrNameLst>
                                          <p:attrName>style.visibility</p:attrName>
                                        </p:attrNameLst>
                                      </p:cBhvr>
                                      <p:to>
                                        <p:strVal val="visible"/>
                                      </p:to>
                                    </p:set>
                                    <p:animEffect transition="in" filter="wipe(down)">
                                      <p:cBhvr>
                                        <p:cTn id="24" dur="500"/>
                                        <p:tgtEl>
                                          <p:spTgt spid="62468">
                                            <p:txEl>
                                              <p:pRg st="7" end="7"/>
                                            </p:txEl>
                                          </p:spTgt>
                                        </p:tgtEl>
                                      </p:cBhvr>
                                    </p:animEffect>
                                  </p:childTnLst>
                                </p:cTn>
                              </p:par>
                              <p:par>
                                <p:cTn id="25" presetID="22" presetClass="entr" presetSubtype="4" fill="hold" nodeType="withEffect">
                                  <p:stCondLst>
                                    <p:cond delay="0"/>
                                  </p:stCondLst>
                                  <p:childTnLst>
                                    <p:set>
                                      <p:cBhvr>
                                        <p:cTn id="26" dur="1" fill="hold">
                                          <p:stCondLst>
                                            <p:cond delay="0"/>
                                          </p:stCondLst>
                                        </p:cTn>
                                        <p:tgtEl>
                                          <p:spTgt spid="62468">
                                            <p:txEl>
                                              <p:pRg st="8" end="8"/>
                                            </p:txEl>
                                          </p:spTgt>
                                        </p:tgtEl>
                                        <p:attrNameLst>
                                          <p:attrName>style.visibility</p:attrName>
                                        </p:attrNameLst>
                                      </p:cBhvr>
                                      <p:to>
                                        <p:strVal val="visible"/>
                                      </p:to>
                                    </p:set>
                                    <p:animEffect transition="in" filter="wipe(down)">
                                      <p:cBhvr>
                                        <p:cTn id="27" dur="500"/>
                                        <p:tgtEl>
                                          <p:spTgt spid="62468">
                                            <p:txEl>
                                              <p:pRg st="8" end="8"/>
                                            </p:txEl>
                                          </p:spTgt>
                                        </p:tgtEl>
                                      </p:cBhvr>
                                    </p:animEffect>
                                  </p:childTnLst>
                                </p:cTn>
                              </p:par>
                              <p:par>
                                <p:cTn id="28" presetID="22" presetClass="entr" presetSubtype="4" fill="hold" nodeType="withEffect">
                                  <p:stCondLst>
                                    <p:cond delay="0"/>
                                  </p:stCondLst>
                                  <p:childTnLst>
                                    <p:set>
                                      <p:cBhvr>
                                        <p:cTn id="29" dur="1" fill="hold">
                                          <p:stCondLst>
                                            <p:cond delay="0"/>
                                          </p:stCondLst>
                                        </p:cTn>
                                        <p:tgtEl>
                                          <p:spTgt spid="62468">
                                            <p:txEl>
                                              <p:pRg st="9" end="9"/>
                                            </p:txEl>
                                          </p:spTgt>
                                        </p:tgtEl>
                                        <p:attrNameLst>
                                          <p:attrName>style.visibility</p:attrName>
                                        </p:attrNameLst>
                                      </p:cBhvr>
                                      <p:to>
                                        <p:strVal val="visible"/>
                                      </p:to>
                                    </p:set>
                                    <p:animEffect transition="in" filter="wipe(down)">
                                      <p:cBhvr>
                                        <p:cTn id="30" dur="500"/>
                                        <p:tgtEl>
                                          <p:spTgt spid="62468">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197485" y="413385"/>
            <a:ext cx="280225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1" name="Rectangle 3"/>
          <p:cNvSpPr>
            <a:spLocks noGrp="1" noChangeArrowheads="1"/>
          </p:cNvSpPr>
          <p:nvPr>
            <p:ph type="title" idx="4294967295"/>
          </p:nvPr>
        </p:nvSpPr>
        <p:spPr>
          <a:xfrm>
            <a:off x="381000" y="413385"/>
            <a:ext cx="8229600" cy="561975"/>
          </a:xfrm>
        </p:spPr>
        <p:txBody>
          <a:bodyPr/>
          <a:lstStyle/>
          <a:p>
            <a:pPr marL="119380" indent="-119380"/>
            <a:r>
              <a:rPr lang="zh-CN" altLang="en-US" sz="3200" dirty="0">
                <a:solidFill>
                  <a:schemeClr val="bg1"/>
                </a:solidFill>
              </a:rPr>
              <a:t>例子</a:t>
            </a:r>
            <a:r>
              <a:rPr lang="en-US" sz="3200" dirty="0">
                <a:solidFill>
                  <a:schemeClr val="bg1"/>
                </a:solidFill>
              </a:rPr>
              <a:t>: </a:t>
            </a:r>
            <a:r>
              <a:rPr lang="en-US" sz="3200" dirty="0" err="1">
                <a:solidFill>
                  <a:schemeClr val="bg1"/>
                </a:solidFill>
                <a:latin typeface="Courier New Bold" charset="0"/>
                <a:cs typeface="Courier New Bold" charset="0"/>
                <a:sym typeface="Courier New Bold" charset="0"/>
              </a:rPr>
              <a:t>incr</a:t>
            </a:r>
          </a:p>
        </p:txBody>
      </p:sp>
      <p:sp>
        <p:nvSpPr>
          <p:cNvPr id="63492" name="Rectangle 4"/>
          <p:cNvSpPr/>
          <p:nvPr/>
        </p:nvSpPr>
        <p:spPr bwMode="auto">
          <a:xfrm>
            <a:off x="381000" y="1371600"/>
            <a:ext cx="4876800" cy="1828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(long *p, long </a:t>
            </a:r>
            <a:r>
              <a:rPr lang="en-US" sz="1800" b="1" dirty="0" err="1">
                <a:solidFill>
                  <a:schemeClr val="tx1"/>
                </a:solidFill>
                <a:latin typeface="Courier New" panose="02070309020205020404" charset="0"/>
                <a:cs typeface="Courier New" panose="02070309020205020404" charset="0"/>
                <a:sym typeface="Courier New Bold" charset="0"/>
              </a:rPr>
              <a:t>val</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x = *p;</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y = x + </a:t>
            </a:r>
            <a:r>
              <a:rPr lang="en-US" sz="1800" b="1" dirty="0" err="1">
                <a:solidFill>
                  <a:schemeClr val="tx1"/>
                </a:solidFill>
                <a:latin typeface="Courier New" panose="02070309020205020404" charset="0"/>
                <a:cs typeface="Courier New" panose="02070309020205020404" charset="0"/>
                <a:sym typeface="Courier New Bold" charset="0"/>
              </a:rPr>
              <a:t>val</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*p = y;</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x;</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63494" name="Rectangle 6"/>
          <p:cNvSpPr/>
          <p:nvPr/>
        </p:nvSpPr>
        <p:spPr bwMode="auto">
          <a:xfrm>
            <a:off x="381000" y="3630930"/>
            <a:ext cx="4279900" cy="1524000"/>
          </a:xfrm>
          <a:prstGeom prst="rect">
            <a:avLst/>
          </a:prstGeom>
          <a:solidFill>
            <a:srgbClr val="CDF1C5"/>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Lst>
            </a:pP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a:t>
            </a:r>
            <a:r>
              <a:rPr lang="en-US" sz="1800" b="1" dirty="0" err="1">
                <a:solidFill>
                  <a:srgbClr val="FF0000"/>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008000"/>
                </a:solidFill>
                <a:latin typeface="Courier New" panose="02070309020205020404" charset="0"/>
                <a:cs typeface="Courier New" panose="02070309020205020404" charset="0"/>
                <a:sym typeface="Courier New Bold" charset="0"/>
              </a:rPr>
              <a:t>%</a:t>
            </a:r>
            <a:r>
              <a:rPr lang="en-US" sz="1800" b="1" dirty="0" err="1">
                <a:solidFill>
                  <a:srgbClr val="008000"/>
                </a:solidFill>
                <a:latin typeface="Courier New" panose="02070309020205020404" charset="0"/>
                <a:cs typeface="Courier New" panose="02070309020205020404" charset="0"/>
                <a:sym typeface="Courier New Bold" charset="0"/>
              </a:rPr>
              <a:t>rax</a:t>
            </a:r>
            <a:endParaRPr lang="en-US" sz="1800" b="1" dirty="0">
              <a:solidFill>
                <a:srgbClr val="008000"/>
              </a:solidFill>
              <a:latin typeface="Courier New" panose="02070309020205020404" charset="0"/>
              <a:cs typeface="Courier New" panose="02070309020205020404" charset="0"/>
              <a:sym typeface="Courier New Bold" charset="0"/>
            </a:endParaRPr>
          </a:p>
          <a:p>
            <a:pPr algn="l">
              <a:tabLst>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a:t>
            </a:r>
            <a:r>
              <a:rPr lang="en-US" sz="1800" b="1" dirty="0" err="1">
                <a:solidFill>
                  <a:srgbClr val="FF0000"/>
                </a:solidFill>
                <a:latin typeface="Courier New" panose="02070309020205020404" charset="0"/>
                <a:cs typeface="Courier New" panose="02070309020205020404" charset="0"/>
                <a:sym typeface="Courier New Bold" charset="0"/>
              </a:rPr>
              <a:t>rsi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 pos="457200" algn="l"/>
                <a:tab pos="1485900" algn="l"/>
                <a:tab pos="23495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graphicFrame>
        <p:nvGraphicFramePr>
          <p:cNvPr id="16" name="Table 15"/>
          <p:cNvGraphicFramePr>
            <a:graphicFrameLocks noGrp="1"/>
          </p:cNvGraphicFramePr>
          <p:nvPr/>
        </p:nvGraphicFramePr>
        <p:xfrm>
          <a:off x="5257800" y="3509645"/>
          <a:ext cx="3352800" cy="1508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6576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dirty="0">
                          <a:latin typeface="Calibri" panose="020F0502020204030204"/>
                          <a:cs typeface="Calibri" panose="020F0502020204030204"/>
                        </a:rPr>
                        <a:t> </a:t>
                      </a:r>
                      <a:r>
                        <a:rPr lang="en-US" b="1" i="0" dirty="0">
                          <a:latin typeface="Courier New" panose="02070309020205020404"/>
                          <a:cs typeface="Courier New" panose="02070309020205020404"/>
                        </a:rPr>
                        <a:t>p</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r>
                        <a:rPr lang="en-US" dirty="0">
                          <a:latin typeface="Calibri" panose="020F0502020204030204"/>
                          <a:cs typeface="Calibri" panose="020F0502020204030204"/>
                        </a:rPr>
                        <a:t> </a:t>
                      </a:r>
                      <a:r>
                        <a:rPr lang="en-US" b="1" i="0" dirty="0" err="1">
                          <a:latin typeface="Courier New" panose="02070309020205020404"/>
                          <a:cs typeface="Courier New" panose="02070309020205020404"/>
                        </a:rPr>
                        <a:t>val</a:t>
                      </a:r>
                      <a:r>
                        <a:rPr lang="en-US" dirty="0">
                          <a:latin typeface="Calibri" panose="020F0502020204030204"/>
                          <a:cs typeface="Calibri" panose="020F0502020204030204"/>
                        </a:rPr>
                        <a:t>, </a:t>
                      </a:r>
                      <a:r>
                        <a:rPr lang="en-US" b="1" i="0" dirty="0">
                          <a:latin typeface="Courier New" panose="02070309020205020404"/>
                          <a:cs typeface="Courier New" panose="02070309020205020404"/>
                        </a:rPr>
                        <a:t>y</a:t>
                      </a:r>
                    </a:p>
                  </a:txBody>
                  <a:tcPr/>
                </a:tc>
                <a:extLst>
                  <a:ext uri="{0D108BD9-81ED-4DB2-BD59-A6C34878D82A}">
                    <a16:rowId xmlns:a16="http://schemas.microsoft.com/office/drawing/2014/main" val="10002"/>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r>
                        <a:rPr lang="en-US" dirty="0">
                          <a:latin typeface="Calibri" panose="020F0502020204030204"/>
                          <a:cs typeface="Calibri" panose="020F0502020204030204"/>
                        </a:rPr>
                        <a:t>,</a:t>
                      </a:r>
                      <a:r>
                        <a:rPr lang="zh-CN" altLang="en-US" dirty="0">
                          <a:latin typeface="Calibri" panose="020F0502020204030204"/>
                          <a:cs typeface="Calibri" panose="020F0502020204030204"/>
                        </a:rPr>
                        <a:t>返回值</a:t>
                      </a:r>
                      <a:endParaRPr lang="zh-CN" altLang="en-US" b="1" i="0" dirty="0">
                        <a:latin typeface="Calibri" panose="020F0502020204030204"/>
                        <a:cs typeface="Calibri" panose="020F0502020204030204"/>
                      </a:endParaRPr>
                    </a:p>
                  </a:txBody>
                  <a:tcPr/>
                </a:tc>
                <a:extLst>
                  <a:ext uri="{0D108BD9-81ED-4DB2-BD59-A6C34878D82A}">
                    <a16:rowId xmlns:a16="http://schemas.microsoft.com/office/drawing/2014/main" val="10003"/>
                  </a:ext>
                </a:extLst>
              </a:tr>
            </a:tbl>
          </a:graphicData>
        </a:graphic>
      </p:graphicFrame>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0" y="385445"/>
            <a:ext cx="439356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1" name="Rectangle 3"/>
          <p:cNvSpPr>
            <a:spLocks noGrp="1" noChangeArrowheads="1"/>
          </p:cNvSpPr>
          <p:nvPr>
            <p:ph type="title"/>
          </p:nvPr>
        </p:nvSpPr>
        <p:spPr>
          <a:xfrm>
            <a:off x="246380" y="385445"/>
            <a:ext cx="4147820" cy="561975"/>
          </a:xfrm>
        </p:spPr>
        <p:txBody>
          <a:bodyPr/>
          <a:lstStyle/>
          <a:p>
            <a:pPr marL="119380" indent="-119380"/>
            <a:r>
              <a:rPr lang="zh-CN" altLang="en-US" sz="3200" dirty="0">
                <a:solidFill>
                  <a:schemeClr val="bg1"/>
                </a:solidFill>
              </a:rPr>
              <a:t>例子</a:t>
            </a:r>
            <a:r>
              <a:rPr lang="en-US" sz="3200" dirty="0">
                <a:solidFill>
                  <a:schemeClr val="bg1"/>
                </a:solidFill>
              </a:rPr>
              <a:t>: </a:t>
            </a:r>
            <a:r>
              <a:rPr lang="zh-CN" altLang="en-US" sz="3200" dirty="0">
                <a:solidFill>
                  <a:schemeClr val="bg1"/>
                </a:solidFill>
              </a:rPr>
              <a:t>调用</a:t>
            </a:r>
            <a:r>
              <a:rPr lang="en-US" sz="3200" dirty="0" err="1">
                <a:solidFill>
                  <a:schemeClr val="bg1"/>
                </a:solidFill>
                <a:latin typeface="Courier New Bold" charset="0"/>
                <a:cs typeface="Courier New Bold" charset="0"/>
                <a:sym typeface="Courier New Bold" charset="0"/>
              </a:rPr>
              <a:t>incr</a:t>
            </a:r>
            <a:r>
              <a:rPr lang="en-US" sz="3200" dirty="0">
                <a:solidFill>
                  <a:schemeClr val="bg1"/>
                </a:solidFill>
              </a:rPr>
              <a:t> #1</a:t>
            </a:r>
            <a:endParaRPr lang="en-US" sz="3200" dirty="0">
              <a:solidFill>
                <a:schemeClr val="bg1"/>
              </a:solidFill>
              <a:latin typeface="Courier New Bold" charset="0"/>
              <a:sym typeface="Courier New Bold" charset="0"/>
            </a:endParaRPr>
          </a:p>
        </p:txBody>
      </p:sp>
      <p:sp>
        <p:nvSpPr>
          <p:cNvPr id="63492" name="Rectangle 4"/>
          <p:cNvSpPr/>
          <p:nvPr/>
        </p:nvSpPr>
        <p:spPr bwMode="auto">
          <a:xfrm>
            <a:off x="381000" y="3581400"/>
            <a:ext cx="4419600" cy="2971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subq</a:t>
            </a:r>
            <a:r>
              <a:rPr lang="en-US" sz="1800" b="1" dirty="0">
                <a:solidFill>
                  <a:srgbClr val="FF0000"/>
                </a:solidFill>
                <a:latin typeface="Courier New" panose="02070309020205020404" charset="0"/>
                <a:cs typeface="Courier New" panose="02070309020205020404" charset="0"/>
                <a:sym typeface="Courier New Bold" charset="0"/>
              </a:rPr>
              <a:t>    $16, %</a:t>
            </a:r>
            <a:r>
              <a:rPr lang="en-US" sz="1800" b="1" dirty="0" err="1">
                <a:solidFill>
                  <a:srgbClr val="FF0000"/>
                </a:solidFill>
                <a:latin typeface="Courier New" panose="02070309020205020404" charset="0"/>
                <a:cs typeface="Courier New" panose="02070309020205020404" charset="0"/>
                <a:sym typeface="Courier New Bold" charset="0"/>
              </a:rPr>
              <a:t>rsp</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movq</a:t>
            </a:r>
            <a:r>
              <a:rPr lang="en-US" sz="1800" b="1" dirty="0">
                <a:solidFill>
                  <a:srgbClr val="FF0000"/>
                </a:solidFill>
                <a:latin typeface="Courier New" panose="02070309020205020404" charset="0"/>
                <a:cs typeface="Courier New" panose="02070309020205020404" charset="0"/>
                <a:sym typeface="Courier New Bold" charset="0"/>
              </a:rPr>
              <a:t>    $15213, 8(%</a:t>
            </a:r>
            <a:r>
              <a:rPr lang="en-US" sz="1800" b="1" dirty="0" err="1">
                <a:solidFill>
                  <a:srgbClr val="FF0000"/>
                </a:solidFill>
                <a:latin typeface="Courier New" panose="02070309020205020404" charset="0"/>
                <a:cs typeface="Courier New" panose="02070309020205020404" charset="0"/>
                <a:sym typeface="Courier New Bold" charset="0"/>
              </a:rPr>
              <a:t>rsp</a:t>
            </a:r>
            <a:r>
              <a:rPr lang="en-US" sz="1800" b="1" dirty="0">
                <a:solidFill>
                  <a:srgbClr val="FF0000"/>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$3000, %</a:t>
            </a:r>
            <a:r>
              <a:rPr lang="en-US" sz="1800" b="1" dirty="0" err="1">
                <a:solidFill>
                  <a:schemeClr val="tx1"/>
                </a:solidFill>
                <a:latin typeface="Courier New" panose="02070309020205020404" charset="0"/>
                <a:cs typeface="Courier New" panose="02070309020205020404" charset="0"/>
                <a:sym typeface="Courier New Bold" charset="0"/>
              </a:rPr>
              <a:t>esi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leaq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incr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v1+v2;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63498" name="Line 10"/>
          <p:cNvSpPr>
            <a:spLocks noChangeShapeType="1"/>
          </p:cNvSpPr>
          <p:nvPr/>
        </p:nvSpPr>
        <p:spPr bwMode="auto">
          <a:xfrm flipH="1">
            <a:off x="6477000" y="27432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3499" name="Rectangle 11"/>
          <p:cNvSpPr/>
          <p:nvPr/>
        </p:nvSpPr>
        <p:spPr bwMode="auto">
          <a:xfrm>
            <a:off x="6983413" y="25844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63500" name="Rectangle 12"/>
          <p:cNvSpPr/>
          <p:nvPr/>
        </p:nvSpPr>
        <p:spPr bwMode="auto">
          <a:xfrm>
            <a:off x="5943600" y="1066800"/>
            <a:ext cx="1600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初始化栈结构</a:t>
            </a:r>
          </a:p>
        </p:txBody>
      </p:sp>
      <p:sp>
        <p:nvSpPr>
          <p:cNvPr id="63501" name="Rectangle 13"/>
          <p:cNvSpPr/>
          <p:nvPr/>
        </p:nvSpPr>
        <p:spPr bwMode="auto">
          <a:xfrm>
            <a:off x="5181600" y="16002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16" name="Rectangle 9"/>
          <p:cNvSpPr/>
          <p:nvPr/>
        </p:nvSpPr>
        <p:spPr bwMode="auto">
          <a:xfrm>
            <a:off x="5181600" y="25146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17" name="Rectangle 7"/>
          <p:cNvSpPr/>
          <p:nvPr/>
        </p:nvSpPr>
        <p:spPr bwMode="auto">
          <a:xfrm>
            <a:off x="5181600" y="57150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15213</a:t>
            </a:r>
          </a:p>
        </p:txBody>
      </p:sp>
      <p:sp>
        <p:nvSpPr>
          <p:cNvPr id="18" name="Rectangle 9"/>
          <p:cNvSpPr/>
          <p:nvPr/>
        </p:nvSpPr>
        <p:spPr bwMode="auto">
          <a:xfrm>
            <a:off x="5181600" y="60960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Unused</a:t>
            </a:r>
          </a:p>
        </p:txBody>
      </p:sp>
      <p:sp>
        <p:nvSpPr>
          <p:cNvPr id="19" name="Line 10"/>
          <p:cNvSpPr>
            <a:spLocks noChangeShapeType="1"/>
          </p:cNvSpPr>
          <p:nvPr/>
        </p:nvSpPr>
        <p:spPr bwMode="auto">
          <a:xfrm flipH="1">
            <a:off x="6503987" y="63309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0" name="Rectangle 11"/>
          <p:cNvSpPr/>
          <p:nvPr/>
        </p:nvSpPr>
        <p:spPr bwMode="auto">
          <a:xfrm>
            <a:off x="7010400" y="61023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1" name="Rectangle 12"/>
          <p:cNvSpPr/>
          <p:nvPr/>
        </p:nvSpPr>
        <p:spPr bwMode="auto">
          <a:xfrm>
            <a:off x="5943600" y="3886200"/>
            <a:ext cx="1346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栈结构结果</a:t>
            </a:r>
          </a:p>
        </p:txBody>
      </p:sp>
      <p:sp>
        <p:nvSpPr>
          <p:cNvPr id="22" name="Rectangle 13"/>
          <p:cNvSpPr/>
          <p:nvPr/>
        </p:nvSpPr>
        <p:spPr bwMode="auto">
          <a:xfrm>
            <a:off x="5181600" y="44196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81600" y="53340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6" name="Line 10"/>
          <p:cNvSpPr>
            <a:spLocks noChangeShapeType="1"/>
          </p:cNvSpPr>
          <p:nvPr/>
        </p:nvSpPr>
        <p:spPr bwMode="auto">
          <a:xfrm flipH="1">
            <a:off x="6477000" y="59436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6983413" y="57150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2" name="Rectangle 4"/>
          <p:cNvSpPr/>
          <p:nvPr/>
        </p:nvSpPr>
        <p:spPr bwMode="auto">
          <a:xfrm>
            <a:off x="381000" y="3581400"/>
            <a:ext cx="4419600" cy="2971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movl</a:t>
            </a:r>
            <a:r>
              <a:rPr lang="en-US" sz="1800" b="1" dirty="0">
                <a:solidFill>
                  <a:srgbClr val="FF0000"/>
                </a:solidFill>
                <a:latin typeface="Courier New" panose="02070309020205020404" charset="0"/>
                <a:cs typeface="Courier New" panose="02070309020205020404" charset="0"/>
                <a:sym typeface="Courier New Bold" charset="0"/>
              </a:rPr>
              <a:t>    $3000, %</a:t>
            </a:r>
            <a:r>
              <a:rPr lang="en-US" sz="1800" b="1" dirty="0" err="1">
                <a:solidFill>
                  <a:srgbClr val="FF0000"/>
                </a:solidFill>
                <a:latin typeface="Courier New" panose="02070309020205020404" charset="0"/>
                <a:cs typeface="Courier New" panose="02070309020205020404" charset="0"/>
                <a:sym typeface="Courier New Bold" charset="0"/>
              </a:rPr>
              <a:t>esi</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leaq</a:t>
            </a:r>
            <a:r>
              <a:rPr lang="en-US" sz="1800" b="1" dirty="0">
                <a:solidFill>
                  <a:srgbClr val="FF0000"/>
                </a:solidFill>
                <a:latin typeface="Courier New" panose="02070309020205020404" charset="0"/>
                <a:cs typeface="Courier New" panose="02070309020205020404" charset="0"/>
                <a:sym typeface="Courier New Bold" charset="0"/>
              </a:rPr>
              <a:t>    8(%</a:t>
            </a:r>
            <a:r>
              <a:rPr lang="en-US" sz="1800" b="1" dirty="0" err="1">
                <a:solidFill>
                  <a:srgbClr val="FF0000"/>
                </a:solidFill>
                <a:latin typeface="Courier New" panose="02070309020205020404" charset="0"/>
                <a:cs typeface="Courier New" panose="02070309020205020404" charset="0"/>
                <a:sym typeface="Courier New Bold" charset="0"/>
              </a:rPr>
              <a:t>rsp</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rdi</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call    </a:t>
            </a:r>
            <a:r>
              <a:rPr lang="en-US" sz="1800" b="1" dirty="0" err="1">
                <a:latin typeface="Courier New" panose="02070309020205020404" charset="0"/>
                <a:cs typeface="Courier New" panose="02070309020205020404" charset="0"/>
                <a:sym typeface="Courier New Bold" charset="0"/>
              </a:rPr>
              <a:t>incr</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rgbClr val="FF0000"/>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v1+v2;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17" name="Rectangle 7"/>
          <p:cNvSpPr/>
          <p:nvPr/>
        </p:nvSpPr>
        <p:spPr bwMode="auto">
          <a:xfrm>
            <a:off x="5181600" y="2971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15213</a:t>
            </a:r>
          </a:p>
        </p:txBody>
      </p:sp>
      <p:sp>
        <p:nvSpPr>
          <p:cNvPr id="18" name="Rectangle 9"/>
          <p:cNvSpPr/>
          <p:nvPr/>
        </p:nvSpPr>
        <p:spPr bwMode="auto">
          <a:xfrm>
            <a:off x="5181600" y="3352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Unused</a:t>
            </a:r>
          </a:p>
        </p:txBody>
      </p:sp>
      <p:sp>
        <p:nvSpPr>
          <p:cNvPr id="19" name="Line 10"/>
          <p:cNvSpPr>
            <a:spLocks noChangeShapeType="1"/>
          </p:cNvSpPr>
          <p:nvPr/>
        </p:nvSpPr>
        <p:spPr bwMode="auto">
          <a:xfrm flipH="1">
            <a:off x="6503987" y="35877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0" name="Rectangle 11"/>
          <p:cNvSpPr/>
          <p:nvPr/>
        </p:nvSpPr>
        <p:spPr bwMode="auto">
          <a:xfrm>
            <a:off x="7010400" y="33591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1" name="Rectangle 12"/>
          <p:cNvSpPr/>
          <p:nvPr/>
        </p:nvSpPr>
        <p:spPr bwMode="auto">
          <a:xfrm>
            <a:off x="5943600" y="1143000"/>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栈结构</a:t>
            </a:r>
          </a:p>
        </p:txBody>
      </p:sp>
      <p:sp>
        <p:nvSpPr>
          <p:cNvPr id="22" name="Rectangle 13"/>
          <p:cNvSpPr/>
          <p:nvPr/>
        </p:nvSpPr>
        <p:spPr bwMode="auto">
          <a:xfrm>
            <a:off x="5181600" y="16764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81600" y="2590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6" name="Line 10"/>
          <p:cNvSpPr>
            <a:spLocks noChangeShapeType="1"/>
          </p:cNvSpPr>
          <p:nvPr/>
        </p:nvSpPr>
        <p:spPr bwMode="auto">
          <a:xfrm flipH="1">
            <a:off x="6477000" y="32004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6983413" y="29718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graphicFrame>
        <p:nvGraphicFramePr>
          <p:cNvPr id="24" name="Table 23"/>
          <p:cNvGraphicFramePr>
            <a:graphicFrameLocks noGrp="1"/>
          </p:cNvGraphicFramePr>
          <p:nvPr/>
        </p:nvGraphicFramePr>
        <p:xfrm>
          <a:off x="5257800" y="4114800"/>
          <a:ext cx="3352800" cy="1127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04800">
                <a:tc>
                  <a:txBody>
                    <a:bodyPr/>
                    <a:lstStyle/>
                    <a:p>
                      <a:r>
                        <a:rPr lang="zh-CN" altLang="en-US" sz="1800" dirty="0">
                          <a:latin typeface="Calibri" panose="020F0502020204030204"/>
                          <a:cs typeface="Calibri" panose="020F0502020204030204"/>
                          <a:sym typeface="+mn-ea"/>
                        </a:rPr>
                        <a:t>寄存器</a:t>
                      </a:r>
                      <a:endParaRPr lang="en-US" dirty="0">
                        <a:latin typeface="Calibri" panose="020F0502020204030204"/>
                        <a:cs typeface="Calibri" panose="020F0502020204030204"/>
                      </a:endParaRPr>
                    </a:p>
                  </a:txBody>
                  <a:tcPr/>
                </a:tc>
                <a:tc>
                  <a:txBody>
                    <a:bodyPr/>
                    <a:lstStyle/>
                    <a:p>
                      <a:r>
                        <a:rPr lang="zh-CN" altLang="en-US" sz="1800" dirty="0">
                          <a:latin typeface="Calibri" panose="020F0502020204030204"/>
                          <a:cs typeface="Calibri" panose="020F0502020204030204"/>
                          <a:sym typeface="+mn-ea"/>
                        </a:rPr>
                        <a:t>用于</a:t>
                      </a:r>
                      <a:endParaRPr lang="en-US" dirty="0">
                        <a:latin typeface="Calibri" panose="020F0502020204030204"/>
                        <a:cs typeface="Calibri" panose="020F0502020204030204"/>
                      </a:endParaRP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&amp;v1</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3000</a:t>
                      </a:r>
                    </a:p>
                  </a:txBody>
                  <a:tcPr/>
                </a:tc>
                <a:extLst>
                  <a:ext uri="{0D108BD9-81ED-4DB2-BD59-A6C34878D82A}">
                    <a16:rowId xmlns:a16="http://schemas.microsoft.com/office/drawing/2014/main" val="10002"/>
                  </a:ext>
                </a:extLst>
              </a:tr>
            </a:tbl>
          </a:graphicData>
        </a:graphic>
      </p:graphicFrame>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85445"/>
            <a:ext cx="439356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a:spLocks noGrp="1" noChangeArrowheads="1"/>
          </p:cNvSpPr>
          <p:nvPr/>
        </p:nvSpPr>
        <p:spPr>
          <a:xfrm>
            <a:off x="246380" y="385445"/>
            <a:ext cx="4147820" cy="56197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9380" indent="-119380"/>
            <a:r>
              <a:rPr lang="zh-CN" altLang="en-US" sz="3200" dirty="0">
                <a:solidFill>
                  <a:schemeClr val="bg1"/>
                </a:solidFill>
              </a:rPr>
              <a:t>例子</a:t>
            </a:r>
            <a:r>
              <a:rPr lang="en-US" sz="3200" dirty="0">
                <a:solidFill>
                  <a:schemeClr val="bg1"/>
                </a:solidFill>
              </a:rPr>
              <a:t>: </a:t>
            </a:r>
            <a:r>
              <a:rPr lang="zh-CN" altLang="en-US" sz="3200" dirty="0">
                <a:solidFill>
                  <a:schemeClr val="bg1"/>
                </a:solidFill>
              </a:rPr>
              <a:t>调用</a:t>
            </a:r>
            <a:r>
              <a:rPr lang="en-US" sz="3200" dirty="0" err="1">
                <a:solidFill>
                  <a:schemeClr val="bg1"/>
                </a:solidFill>
                <a:latin typeface="Courier New Bold" charset="0"/>
                <a:cs typeface="Courier New Bold" charset="0"/>
                <a:sym typeface="Courier New Bold" charset="0"/>
              </a:rPr>
              <a:t>incr</a:t>
            </a:r>
            <a:r>
              <a:rPr lang="en-US" sz="3200" dirty="0">
                <a:solidFill>
                  <a:schemeClr val="bg1"/>
                </a:solidFill>
              </a:rPr>
              <a:t> #2</a:t>
            </a:r>
            <a:endParaRPr lang="en-US" sz="3200" dirty="0">
              <a:solidFill>
                <a:schemeClr val="bg1"/>
              </a:solidFill>
              <a:latin typeface="Courier New Bold" charset="0"/>
              <a:sym typeface="Courier New Bold" charset="0"/>
            </a:endParaRP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2" name="Rectangle 4"/>
          <p:cNvSpPr/>
          <p:nvPr/>
        </p:nvSpPr>
        <p:spPr bwMode="auto">
          <a:xfrm>
            <a:off x="381000" y="3581400"/>
            <a:ext cx="4419600" cy="2971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movl</a:t>
            </a:r>
            <a:r>
              <a:rPr lang="en-US" sz="1800" b="1" dirty="0">
                <a:solidFill>
                  <a:srgbClr val="FF0000"/>
                </a:solidFill>
                <a:latin typeface="Courier New" panose="02070309020205020404" charset="0"/>
                <a:cs typeface="Courier New" panose="02070309020205020404" charset="0"/>
                <a:sym typeface="Courier New Bold" charset="0"/>
              </a:rPr>
              <a:t>    $3000, %</a:t>
            </a:r>
            <a:r>
              <a:rPr lang="en-US" sz="1800" b="1" dirty="0" err="1">
                <a:solidFill>
                  <a:srgbClr val="FF0000"/>
                </a:solidFill>
                <a:latin typeface="Courier New" panose="02070309020205020404" charset="0"/>
                <a:cs typeface="Courier New" panose="02070309020205020404" charset="0"/>
                <a:sym typeface="Courier New Bold" charset="0"/>
              </a:rPr>
              <a:t>esi</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leaq</a:t>
            </a:r>
            <a:r>
              <a:rPr lang="en-US" sz="1800" b="1" dirty="0">
                <a:solidFill>
                  <a:srgbClr val="FF0000"/>
                </a:solidFill>
                <a:latin typeface="Courier New" panose="02070309020205020404" charset="0"/>
                <a:cs typeface="Courier New" panose="02070309020205020404" charset="0"/>
                <a:sym typeface="Courier New Bold" charset="0"/>
              </a:rPr>
              <a:t>    8(%</a:t>
            </a:r>
            <a:r>
              <a:rPr lang="en-US" sz="1800" b="1" dirty="0" err="1">
                <a:solidFill>
                  <a:srgbClr val="FF0000"/>
                </a:solidFill>
                <a:latin typeface="Courier New" panose="02070309020205020404" charset="0"/>
                <a:cs typeface="Courier New" panose="02070309020205020404" charset="0"/>
                <a:sym typeface="Courier New Bold" charset="0"/>
              </a:rPr>
              <a:t>rsp</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rdi</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call    </a:t>
            </a:r>
            <a:r>
              <a:rPr lang="en-US" sz="1800" b="1" dirty="0" err="1">
                <a:latin typeface="Courier New" panose="02070309020205020404" charset="0"/>
                <a:cs typeface="Courier New" panose="02070309020205020404" charset="0"/>
                <a:sym typeface="Courier New Bold" charset="0"/>
              </a:rPr>
              <a:t>incr</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rgbClr val="FF0000"/>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v1+v2;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17" name="Rectangle 7"/>
          <p:cNvSpPr/>
          <p:nvPr/>
        </p:nvSpPr>
        <p:spPr bwMode="auto">
          <a:xfrm>
            <a:off x="5181600" y="2971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15213</a:t>
            </a:r>
          </a:p>
        </p:txBody>
      </p:sp>
      <p:sp>
        <p:nvSpPr>
          <p:cNvPr id="18" name="Rectangle 9"/>
          <p:cNvSpPr/>
          <p:nvPr/>
        </p:nvSpPr>
        <p:spPr bwMode="auto">
          <a:xfrm>
            <a:off x="5181600" y="3352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Unused</a:t>
            </a:r>
          </a:p>
        </p:txBody>
      </p:sp>
      <p:sp>
        <p:nvSpPr>
          <p:cNvPr id="19" name="Line 10"/>
          <p:cNvSpPr>
            <a:spLocks noChangeShapeType="1"/>
          </p:cNvSpPr>
          <p:nvPr/>
        </p:nvSpPr>
        <p:spPr bwMode="auto">
          <a:xfrm flipH="1">
            <a:off x="6503987" y="35877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0" name="Rectangle 11"/>
          <p:cNvSpPr/>
          <p:nvPr/>
        </p:nvSpPr>
        <p:spPr bwMode="auto">
          <a:xfrm>
            <a:off x="7010400" y="33591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1" name="Rectangle 12"/>
          <p:cNvSpPr/>
          <p:nvPr/>
        </p:nvSpPr>
        <p:spPr bwMode="auto">
          <a:xfrm>
            <a:off x="5943600" y="1143000"/>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栈结构</a:t>
            </a:r>
          </a:p>
        </p:txBody>
      </p:sp>
      <p:sp>
        <p:nvSpPr>
          <p:cNvPr id="22" name="Rectangle 13"/>
          <p:cNvSpPr/>
          <p:nvPr/>
        </p:nvSpPr>
        <p:spPr bwMode="auto">
          <a:xfrm>
            <a:off x="5181600" y="16764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81600" y="2590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6" name="Line 10"/>
          <p:cNvSpPr>
            <a:spLocks noChangeShapeType="1"/>
          </p:cNvSpPr>
          <p:nvPr/>
        </p:nvSpPr>
        <p:spPr bwMode="auto">
          <a:xfrm flipH="1">
            <a:off x="6477000" y="32004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6983413" y="29718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graphicFrame>
        <p:nvGraphicFramePr>
          <p:cNvPr id="24" name="Table 23"/>
          <p:cNvGraphicFramePr>
            <a:graphicFrameLocks noGrp="1"/>
          </p:cNvGraphicFramePr>
          <p:nvPr/>
        </p:nvGraphicFramePr>
        <p:xfrm>
          <a:off x="5257800" y="4114800"/>
          <a:ext cx="3352800" cy="1127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04800">
                <a:tc>
                  <a:txBody>
                    <a:bodyPr/>
                    <a:lstStyle/>
                    <a:p>
                      <a:r>
                        <a:rPr lang="zh-CN" altLang="en-US" sz="1800" dirty="0">
                          <a:latin typeface="Calibri" panose="020F0502020204030204"/>
                          <a:cs typeface="Calibri" panose="020F0502020204030204"/>
                          <a:sym typeface="+mn-ea"/>
                        </a:rPr>
                        <a:t>寄存器</a:t>
                      </a:r>
                      <a:endParaRPr lang="en-US" dirty="0">
                        <a:latin typeface="Calibri" panose="020F0502020204030204"/>
                        <a:cs typeface="Calibri" panose="020F0502020204030204"/>
                      </a:endParaRPr>
                    </a:p>
                  </a:txBody>
                  <a:tcPr/>
                </a:tc>
                <a:tc>
                  <a:txBody>
                    <a:bodyPr/>
                    <a:lstStyle/>
                    <a:p>
                      <a:r>
                        <a:rPr lang="zh-CN" altLang="en-US" sz="1800" dirty="0">
                          <a:latin typeface="Calibri" panose="020F0502020204030204"/>
                          <a:cs typeface="Calibri" panose="020F0502020204030204"/>
                          <a:sym typeface="+mn-ea"/>
                        </a:rPr>
                        <a:t>用于</a:t>
                      </a:r>
                      <a:endParaRPr lang="en-US" dirty="0">
                        <a:latin typeface="Calibri" panose="020F0502020204030204"/>
                        <a:cs typeface="Calibri" panose="020F0502020204030204"/>
                      </a:endParaRP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&amp;v1</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3000</a:t>
                      </a:r>
                    </a:p>
                  </a:txBody>
                  <a:tcPr/>
                </a:tc>
                <a:extLst>
                  <a:ext uri="{0D108BD9-81ED-4DB2-BD59-A6C34878D82A}">
                    <a16:rowId xmlns:a16="http://schemas.microsoft.com/office/drawing/2014/main" val="10002"/>
                  </a:ext>
                </a:extLst>
              </a:tr>
            </a:tbl>
          </a:graphicData>
        </a:graphic>
      </p:graphicFrame>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85445"/>
            <a:ext cx="439356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a:spLocks noGrp="1" noChangeArrowheads="1"/>
          </p:cNvSpPr>
          <p:nvPr/>
        </p:nvSpPr>
        <p:spPr>
          <a:xfrm>
            <a:off x="246380" y="385445"/>
            <a:ext cx="4147820" cy="56197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9380" indent="-119380"/>
            <a:r>
              <a:rPr lang="zh-CN" altLang="en-US" sz="3200" dirty="0">
                <a:solidFill>
                  <a:schemeClr val="bg1"/>
                </a:solidFill>
              </a:rPr>
              <a:t>例子</a:t>
            </a:r>
            <a:r>
              <a:rPr lang="en-US" sz="3200" dirty="0">
                <a:solidFill>
                  <a:schemeClr val="bg1"/>
                </a:solidFill>
              </a:rPr>
              <a:t>: </a:t>
            </a:r>
            <a:r>
              <a:rPr lang="zh-CN" altLang="en-US" sz="3200" dirty="0">
                <a:solidFill>
                  <a:schemeClr val="bg1"/>
                </a:solidFill>
              </a:rPr>
              <a:t>调用</a:t>
            </a:r>
            <a:r>
              <a:rPr lang="en-US" sz="3200" dirty="0" err="1">
                <a:solidFill>
                  <a:schemeClr val="bg1"/>
                </a:solidFill>
                <a:latin typeface="Courier New Bold" charset="0"/>
                <a:cs typeface="Courier New Bold" charset="0"/>
                <a:sym typeface="Courier New Bold" charset="0"/>
              </a:rPr>
              <a:t>incr</a:t>
            </a:r>
            <a:r>
              <a:rPr lang="en-US" sz="3200" dirty="0">
                <a:solidFill>
                  <a:schemeClr val="bg1"/>
                </a:solidFill>
              </a:rPr>
              <a:t> #2</a:t>
            </a:r>
            <a:endParaRPr lang="en-US" sz="3200" dirty="0">
              <a:solidFill>
                <a:schemeClr val="bg1"/>
              </a:solidFill>
              <a:latin typeface="Courier New Bold" charset="0"/>
              <a:sym typeface="Courier New Bold" charset="0"/>
            </a:endParaRPr>
          </a:p>
        </p:txBody>
      </p:sp>
      <p:sp>
        <p:nvSpPr>
          <p:cNvPr id="2" name="TextBox 1"/>
          <p:cNvSpPr txBox="1"/>
          <p:nvPr/>
        </p:nvSpPr>
        <p:spPr>
          <a:xfrm>
            <a:off x="656921" y="3200400"/>
            <a:ext cx="5292725" cy="1198880"/>
          </a:xfrm>
          <a:prstGeom prst="rect">
            <a:avLst/>
          </a:prstGeom>
          <a:solidFill>
            <a:srgbClr val="FFC000"/>
          </a:solidFill>
        </p:spPr>
        <p:txBody>
          <a:bodyPr wrap="none" rtlCol="0">
            <a:spAutoFit/>
          </a:bodyPr>
          <a:lstStyle/>
          <a:p>
            <a:r>
              <a:rPr lang="en-US" sz="2400" dirty="0">
                <a:latin typeface="Calibri" panose="020F0502020204030204" charset="0"/>
                <a:cs typeface="Calibri" panose="020F0502020204030204" charset="0"/>
              </a:rPr>
              <a:t> </a:t>
            </a:r>
            <a:r>
              <a:rPr lang="en-US" sz="2400" b="1" dirty="0" err="1">
                <a:latin typeface="Courier New" panose="02070309020205020404" charset="0"/>
                <a:cs typeface="Courier New" panose="02070309020205020404" charset="0"/>
              </a:rPr>
              <a:t>movl</a:t>
            </a:r>
            <a:r>
              <a:rPr lang="en-US" sz="2400" b="1" dirty="0">
                <a:latin typeface="Courier New" panose="02070309020205020404" charset="0"/>
                <a:cs typeface="Courier New" panose="02070309020205020404" charset="0"/>
              </a:rPr>
              <a:t>  $3000, %</a:t>
            </a:r>
            <a:r>
              <a:rPr lang="en-US" sz="2400" b="1" dirty="0" err="1">
                <a:latin typeface="Courier New" panose="02070309020205020404" charset="0"/>
                <a:cs typeface="Courier New" panose="02070309020205020404" charset="0"/>
              </a:rPr>
              <a:t>esi</a:t>
            </a:r>
            <a:endParaRPr lang="en-US" sz="2400" b="1" dirty="0">
              <a:latin typeface="Courier New" panose="02070309020205020404" charset="0"/>
              <a:cs typeface="Courier New" panose="02070309020205020404" charset="0"/>
            </a:endParaRPr>
          </a:p>
          <a:p>
            <a:pPr marL="173355" indent="-173355" algn="l">
              <a:buFont typeface="Arial" panose="020B0604020202020204" pitchFamily="34" charset="0"/>
              <a:buChar char="•"/>
            </a:pPr>
            <a:r>
              <a:rPr lang="en-US" sz="2400" dirty="0">
                <a:latin typeface="Calibri" panose="020F0502020204030204" charset="0"/>
                <a:cs typeface="Calibri" panose="020F0502020204030204" charset="0"/>
              </a:rPr>
              <a:t>Remember, </a:t>
            </a:r>
            <a:r>
              <a:rPr lang="en-US" sz="2400" dirty="0" err="1">
                <a:latin typeface="Calibri" panose="020F0502020204030204" charset="0"/>
                <a:cs typeface="Calibri" panose="020F0502020204030204" charset="0"/>
              </a:rPr>
              <a:t>movl</a:t>
            </a:r>
            <a:r>
              <a:rPr lang="en-US" sz="2400" dirty="0">
                <a:latin typeface="Calibri" panose="020F0502020204030204" charset="0"/>
                <a:cs typeface="Calibri" panose="020F0502020204030204" charset="0"/>
              </a:rPr>
              <a:t> -&gt; %</a:t>
            </a:r>
            <a:r>
              <a:rPr lang="en-US" sz="2400" dirty="0" err="1">
                <a:latin typeface="Calibri" panose="020F0502020204030204" charset="0"/>
                <a:cs typeface="Calibri" panose="020F0502020204030204" charset="0"/>
              </a:rPr>
              <a:t>exx</a:t>
            </a:r>
            <a:r>
              <a:rPr lang="en-US"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高阶</a:t>
            </a:r>
            <a:r>
              <a:rPr lang="en-US" altLang="zh-CN" sz="2400" dirty="0">
                <a:latin typeface="Calibri" panose="020F0502020204030204" charset="0"/>
                <a:cs typeface="Calibri" panose="020F0502020204030204" charset="0"/>
              </a:rPr>
              <a:t>32</a:t>
            </a:r>
            <a:r>
              <a:rPr lang="zh-CN" altLang="en-US" sz="2400" dirty="0">
                <a:latin typeface="Calibri" panose="020F0502020204030204" charset="0"/>
                <a:cs typeface="Calibri" panose="020F0502020204030204" charset="0"/>
              </a:rPr>
              <a:t>位为</a:t>
            </a:r>
            <a:r>
              <a:rPr lang="en-US" altLang="zh-CN" sz="2400" dirty="0">
                <a:latin typeface="Calibri" panose="020F0502020204030204" charset="0"/>
                <a:cs typeface="Calibri" panose="020F0502020204030204" charset="0"/>
              </a:rPr>
              <a:t>0</a:t>
            </a:r>
            <a:r>
              <a:rPr lang="en-US" sz="2400" dirty="0">
                <a:latin typeface="Calibri" panose="020F0502020204030204" charset="0"/>
                <a:cs typeface="Calibri" panose="020F0502020204030204" charset="0"/>
              </a:rPr>
              <a:t>.</a:t>
            </a:r>
          </a:p>
          <a:p>
            <a:pPr marL="173355" indent="-173355" algn="l">
              <a:buFont typeface="Arial" panose="020B0604020202020204" pitchFamily="34" charset="0"/>
              <a:buChar char="•"/>
            </a:pPr>
            <a:r>
              <a:rPr lang="zh-CN" altLang="en-US" sz="2400" dirty="0">
                <a:latin typeface="Calibri" panose="020F0502020204030204" charset="0"/>
                <a:cs typeface="Calibri" panose="020F0502020204030204" charset="0"/>
              </a:rPr>
              <a:t>为什么使用</a:t>
            </a:r>
            <a:r>
              <a:rPr lang="en-US" sz="2400" dirty="0">
                <a:latin typeface="Calibri" panose="020F0502020204030204" charset="0"/>
                <a:cs typeface="Calibri" panose="020F0502020204030204" charset="0"/>
              </a:rPr>
              <a:t> </a:t>
            </a:r>
            <a:r>
              <a:rPr lang="en-US" sz="2400" dirty="0" err="1">
                <a:latin typeface="Calibri" panose="020F0502020204030204" charset="0"/>
                <a:cs typeface="Calibri" panose="020F0502020204030204" charset="0"/>
              </a:rPr>
              <a:t>movl</a:t>
            </a:r>
            <a:r>
              <a:rPr lang="en-US"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代替</a:t>
            </a:r>
            <a:r>
              <a:rPr lang="en-US" sz="2400" dirty="0">
                <a:latin typeface="Calibri" panose="020F0502020204030204" charset="0"/>
                <a:cs typeface="Calibri" panose="020F0502020204030204" charset="0"/>
              </a:rPr>
              <a:t> </a:t>
            </a:r>
            <a:r>
              <a:rPr lang="en-US" sz="2400" dirty="0" err="1">
                <a:latin typeface="Calibri" panose="020F0502020204030204" charset="0"/>
                <a:cs typeface="Calibri" panose="020F0502020204030204" charset="0"/>
              </a:rPr>
              <a:t>movq</a:t>
            </a:r>
            <a:r>
              <a:rPr lang="en-US" sz="2400" dirty="0">
                <a:latin typeface="Calibri" panose="020F0502020204030204" charset="0"/>
                <a:cs typeface="Calibri" panose="020F0502020204030204" charset="0"/>
              </a:rPr>
              <a:t>? </a:t>
            </a: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2" name="Rectangle 4"/>
          <p:cNvSpPr/>
          <p:nvPr/>
        </p:nvSpPr>
        <p:spPr bwMode="auto">
          <a:xfrm>
            <a:off x="381000" y="3581400"/>
            <a:ext cx="4419600" cy="2971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movl</a:t>
            </a:r>
            <a:r>
              <a:rPr lang="en-US" sz="1800" b="1" dirty="0">
                <a:solidFill>
                  <a:srgbClr val="FF0000"/>
                </a:solidFill>
                <a:latin typeface="Courier New" panose="02070309020205020404" charset="0"/>
                <a:cs typeface="Courier New" panose="02070309020205020404" charset="0"/>
                <a:sym typeface="Courier New Bold" charset="0"/>
              </a:rPr>
              <a:t>    $3000, %</a:t>
            </a:r>
            <a:r>
              <a:rPr lang="en-US" sz="1800" b="1" dirty="0" err="1">
                <a:solidFill>
                  <a:srgbClr val="FF0000"/>
                </a:solidFill>
                <a:latin typeface="Courier New" panose="02070309020205020404" charset="0"/>
                <a:cs typeface="Courier New" panose="02070309020205020404" charset="0"/>
                <a:sym typeface="Courier New Bold" charset="0"/>
              </a:rPr>
              <a:t>esi</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leaq</a:t>
            </a:r>
            <a:r>
              <a:rPr lang="en-US" sz="1800" b="1" dirty="0">
                <a:solidFill>
                  <a:srgbClr val="FF0000"/>
                </a:solidFill>
                <a:latin typeface="Courier New" panose="02070309020205020404" charset="0"/>
                <a:cs typeface="Courier New" panose="02070309020205020404" charset="0"/>
                <a:sym typeface="Courier New Bold" charset="0"/>
              </a:rPr>
              <a:t>    8(%</a:t>
            </a:r>
            <a:r>
              <a:rPr lang="en-US" sz="1800" b="1" dirty="0" err="1">
                <a:solidFill>
                  <a:srgbClr val="FF0000"/>
                </a:solidFill>
                <a:latin typeface="Courier New" panose="02070309020205020404" charset="0"/>
                <a:cs typeface="Courier New" panose="02070309020205020404" charset="0"/>
                <a:sym typeface="Courier New Bold" charset="0"/>
              </a:rPr>
              <a:t>rsp</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rdi</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call    </a:t>
            </a:r>
            <a:r>
              <a:rPr lang="en-US" sz="1800" b="1" dirty="0" err="1">
                <a:latin typeface="Courier New" panose="02070309020205020404" charset="0"/>
                <a:cs typeface="Courier New" panose="02070309020205020404" charset="0"/>
                <a:sym typeface="Courier New Bold" charset="0"/>
              </a:rPr>
              <a:t>incr</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rgbClr val="FF0000"/>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v1+v2;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17" name="Rectangle 7"/>
          <p:cNvSpPr/>
          <p:nvPr/>
        </p:nvSpPr>
        <p:spPr bwMode="auto">
          <a:xfrm>
            <a:off x="5181600" y="2971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15213</a:t>
            </a:r>
          </a:p>
        </p:txBody>
      </p:sp>
      <p:sp>
        <p:nvSpPr>
          <p:cNvPr id="18" name="Rectangle 9"/>
          <p:cNvSpPr/>
          <p:nvPr/>
        </p:nvSpPr>
        <p:spPr bwMode="auto">
          <a:xfrm>
            <a:off x="5181600" y="3352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Unused</a:t>
            </a:r>
          </a:p>
        </p:txBody>
      </p:sp>
      <p:sp>
        <p:nvSpPr>
          <p:cNvPr id="19" name="Line 10"/>
          <p:cNvSpPr>
            <a:spLocks noChangeShapeType="1"/>
          </p:cNvSpPr>
          <p:nvPr/>
        </p:nvSpPr>
        <p:spPr bwMode="auto">
          <a:xfrm flipH="1">
            <a:off x="6503987" y="35877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0" name="Rectangle 11"/>
          <p:cNvSpPr/>
          <p:nvPr/>
        </p:nvSpPr>
        <p:spPr bwMode="auto">
          <a:xfrm>
            <a:off x="7010400" y="33591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1" name="Rectangle 12"/>
          <p:cNvSpPr/>
          <p:nvPr/>
        </p:nvSpPr>
        <p:spPr bwMode="auto">
          <a:xfrm>
            <a:off x="5943600" y="1143000"/>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栈结构</a:t>
            </a:r>
          </a:p>
        </p:txBody>
      </p:sp>
      <p:sp>
        <p:nvSpPr>
          <p:cNvPr id="22" name="Rectangle 13"/>
          <p:cNvSpPr/>
          <p:nvPr/>
        </p:nvSpPr>
        <p:spPr bwMode="auto">
          <a:xfrm>
            <a:off x="5181600" y="16764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81600" y="2590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6" name="Line 10"/>
          <p:cNvSpPr>
            <a:spLocks noChangeShapeType="1"/>
          </p:cNvSpPr>
          <p:nvPr/>
        </p:nvSpPr>
        <p:spPr bwMode="auto">
          <a:xfrm flipH="1">
            <a:off x="6477000" y="32004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6983413" y="29718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graphicFrame>
        <p:nvGraphicFramePr>
          <p:cNvPr id="24" name="Table 23"/>
          <p:cNvGraphicFramePr>
            <a:graphicFrameLocks noGrp="1"/>
          </p:cNvGraphicFramePr>
          <p:nvPr/>
        </p:nvGraphicFramePr>
        <p:xfrm>
          <a:off x="5257800" y="4114800"/>
          <a:ext cx="3352800" cy="1127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04800">
                <a:tc>
                  <a:txBody>
                    <a:bodyPr/>
                    <a:lstStyle/>
                    <a:p>
                      <a:r>
                        <a:rPr lang="zh-CN" altLang="en-US" sz="1800" dirty="0">
                          <a:latin typeface="Calibri" panose="020F0502020204030204"/>
                          <a:cs typeface="Calibri" panose="020F0502020204030204"/>
                          <a:sym typeface="+mn-ea"/>
                        </a:rPr>
                        <a:t>寄存器</a:t>
                      </a:r>
                      <a:endParaRPr lang="en-US" dirty="0">
                        <a:latin typeface="Calibri" panose="020F0502020204030204"/>
                        <a:cs typeface="Calibri" panose="020F0502020204030204"/>
                      </a:endParaRPr>
                    </a:p>
                  </a:txBody>
                  <a:tcPr/>
                </a:tc>
                <a:tc>
                  <a:txBody>
                    <a:bodyPr/>
                    <a:lstStyle/>
                    <a:p>
                      <a:r>
                        <a:rPr lang="zh-CN" altLang="en-US" sz="1800" dirty="0">
                          <a:latin typeface="Calibri" panose="020F0502020204030204"/>
                          <a:cs typeface="Calibri" panose="020F0502020204030204"/>
                          <a:sym typeface="+mn-ea"/>
                        </a:rPr>
                        <a:t>用于</a:t>
                      </a:r>
                      <a:endParaRPr lang="en-US" dirty="0">
                        <a:latin typeface="Calibri" panose="020F0502020204030204"/>
                        <a:cs typeface="Calibri" panose="020F0502020204030204"/>
                      </a:endParaRP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&amp;v1</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3000</a:t>
                      </a:r>
                    </a:p>
                  </a:txBody>
                  <a:tcPr/>
                </a:tc>
                <a:extLst>
                  <a:ext uri="{0D108BD9-81ED-4DB2-BD59-A6C34878D82A}">
                    <a16:rowId xmlns:a16="http://schemas.microsoft.com/office/drawing/2014/main" val="10002"/>
                  </a:ext>
                </a:extLst>
              </a:tr>
            </a:tbl>
          </a:graphicData>
        </a:graphic>
      </p:graphicFrame>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85445"/>
            <a:ext cx="439356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a:spLocks noGrp="1" noChangeArrowheads="1"/>
          </p:cNvSpPr>
          <p:nvPr/>
        </p:nvSpPr>
        <p:spPr>
          <a:xfrm>
            <a:off x="246380" y="385445"/>
            <a:ext cx="4147820" cy="56197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9380" indent="-119380"/>
            <a:r>
              <a:rPr lang="zh-CN" altLang="en-US" sz="3200" dirty="0">
                <a:solidFill>
                  <a:schemeClr val="bg1"/>
                </a:solidFill>
              </a:rPr>
              <a:t>例子</a:t>
            </a:r>
            <a:r>
              <a:rPr lang="en-US" sz="3200" dirty="0">
                <a:solidFill>
                  <a:schemeClr val="bg1"/>
                </a:solidFill>
              </a:rPr>
              <a:t>: </a:t>
            </a:r>
            <a:r>
              <a:rPr lang="zh-CN" altLang="en-US" sz="3200" dirty="0">
                <a:solidFill>
                  <a:schemeClr val="bg1"/>
                </a:solidFill>
              </a:rPr>
              <a:t>调用</a:t>
            </a:r>
            <a:r>
              <a:rPr lang="en-US" sz="3200" dirty="0" err="1">
                <a:solidFill>
                  <a:schemeClr val="bg1"/>
                </a:solidFill>
                <a:latin typeface="Courier New Bold" charset="0"/>
                <a:cs typeface="Courier New Bold" charset="0"/>
                <a:sym typeface="Courier New Bold" charset="0"/>
              </a:rPr>
              <a:t>incr</a:t>
            </a:r>
            <a:r>
              <a:rPr lang="en-US" sz="3200" dirty="0">
                <a:solidFill>
                  <a:schemeClr val="bg1"/>
                </a:solidFill>
              </a:rPr>
              <a:t> #2</a:t>
            </a:r>
            <a:endParaRPr lang="en-US" sz="3200" dirty="0">
              <a:solidFill>
                <a:schemeClr val="bg1"/>
              </a:solidFill>
              <a:latin typeface="Courier New Bold" charset="0"/>
              <a:sym typeface="Courier New Bold" charset="0"/>
            </a:endParaRP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2" name="Rectangle 4"/>
          <p:cNvSpPr/>
          <p:nvPr/>
        </p:nvSpPr>
        <p:spPr bwMode="auto">
          <a:xfrm>
            <a:off x="381000" y="3581400"/>
            <a:ext cx="4419600" cy="2971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movl</a:t>
            </a:r>
            <a:r>
              <a:rPr lang="en-US" sz="1800" b="1" dirty="0">
                <a:latin typeface="Courier New" panose="02070309020205020404" charset="0"/>
                <a:cs typeface="Courier New" panose="02070309020205020404" charset="0"/>
                <a:sym typeface="Courier New Bold" charset="0"/>
              </a:rPr>
              <a:t>    $3000, %</a:t>
            </a:r>
            <a:r>
              <a:rPr lang="en-US" sz="1800" b="1" dirty="0" err="1">
                <a:latin typeface="Courier New" panose="02070309020205020404" charset="0"/>
                <a:cs typeface="Courier New" panose="02070309020205020404" charset="0"/>
                <a:sym typeface="Courier New Bold" charset="0"/>
              </a:rPr>
              <a:t>esi</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leaq</a:t>
            </a:r>
            <a:r>
              <a:rPr lang="en-US" sz="1800" b="1" dirty="0">
                <a:latin typeface="Courier New" panose="02070309020205020404" charset="0"/>
                <a:cs typeface="Courier New" panose="02070309020205020404" charset="0"/>
                <a:sym typeface="Courier New Bold" charset="0"/>
              </a:rPr>
              <a:t>    8(%</a:t>
            </a:r>
            <a:r>
              <a:rPr lang="en-US" sz="1800" b="1" dirty="0" err="1">
                <a:latin typeface="Courier New" panose="02070309020205020404" charset="0"/>
                <a:cs typeface="Courier New" panose="02070309020205020404" charset="0"/>
                <a:sym typeface="Courier New Bold" charset="0"/>
              </a:rPr>
              <a:t>rsp</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call    </a:t>
            </a:r>
            <a:r>
              <a:rPr lang="en-US" sz="1800" b="1" dirty="0" err="1">
                <a:solidFill>
                  <a:srgbClr val="FF0000"/>
                </a:solidFill>
                <a:latin typeface="Courier New" panose="02070309020205020404" charset="0"/>
                <a:cs typeface="Courier New" panose="02070309020205020404" charset="0"/>
                <a:sym typeface="Courier New Bold" charset="0"/>
              </a:rPr>
              <a:t>incr</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long v2 = </a:t>
            </a:r>
            <a:r>
              <a:rPr lang="en-US" sz="1800" b="1" dirty="0" err="1">
                <a:solidFill>
                  <a:srgbClr val="FF0000"/>
                </a:solidFill>
                <a:latin typeface="Courier New" panose="02070309020205020404" charset="0"/>
                <a:cs typeface="Courier New" panose="02070309020205020404" charset="0"/>
                <a:sym typeface="Courier New Bold" charset="0"/>
              </a:rPr>
              <a:t>incr</a:t>
            </a:r>
            <a:r>
              <a:rPr lang="en-US" sz="1800" b="1" dirty="0">
                <a:solidFill>
                  <a:srgbClr val="FF0000"/>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v1+v2;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17" name="Rectangle 7"/>
          <p:cNvSpPr/>
          <p:nvPr/>
        </p:nvSpPr>
        <p:spPr bwMode="auto">
          <a:xfrm>
            <a:off x="5181600" y="2971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b="1" dirty="0">
                <a:solidFill>
                  <a:srgbClr val="FF0000"/>
                </a:solidFill>
                <a:latin typeface="Courier New Bold" charset="0"/>
                <a:cs typeface="Courier New Bold" charset="0"/>
                <a:sym typeface="Courier New Bold" charset="0"/>
              </a:rPr>
              <a:t>18213</a:t>
            </a:r>
          </a:p>
        </p:txBody>
      </p:sp>
      <p:sp>
        <p:nvSpPr>
          <p:cNvPr id="18" name="Rectangle 9"/>
          <p:cNvSpPr/>
          <p:nvPr/>
        </p:nvSpPr>
        <p:spPr bwMode="auto">
          <a:xfrm>
            <a:off x="5181600" y="3352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Unused</a:t>
            </a:r>
          </a:p>
        </p:txBody>
      </p:sp>
      <p:sp>
        <p:nvSpPr>
          <p:cNvPr id="19" name="Line 10"/>
          <p:cNvSpPr>
            <a:spLocks noChangeShapeType="1"/>
          </p:cNvSpPr>
          <p:nvPr/>
        </p:nvSpPr>
        <p:spPr bwMode="auto">
          <a:xfrm flipH="1">
            <a:off x="6503987" y="35877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0" name="Rectangle 11"/>
          <p:cNvSpPr/>
          <p:nvPr/>
        </p:nvSpPr>
        <p:spPr bwMode="auto">
          <a:xfrm>
            <a:off x="7010400" y="33591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1" name="Rectangle 12"/>
          <p:cNvSpPr/>
          <p:nvPr/>
        </p:nvSpPr>
        <p:spPr bwMode="auto">
          <a:xfrm>
            <a:off x="5943600" y="1143000"/>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栈结构</a:t>
            </a:r>
          </a:p>
        </p:txBody>
      </p:sp>
      <p:sp>
        <p:nvSpPr>
          <p:cNvPr id="22" name="Rectangle 13"/>
          <p:cNvSpPr/>
          <p:nvPr/>
        </p:nvSpPr>
        <p:spPr bwMode="auto">
          <a:xfrm>
            <a:off x="5181600" y="16764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81600" y="2590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6" name="Line 10"/>
          <p:cNvSpPr>
            <a:spLocks noChangeShapeType="1"/>
          </p:cNvSpPr>
          <p:nvPr/>
        </p:nvSpPr>
        <p:spPr bwMode="auto">
          <a:xfrm flipH="1">
            <a:off x="6477000" y="32004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6983413" y="29718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graphicFrame>
        <p:nvGraphicFramePr>
          <p:cNvPr id="24" name="Table 23"/>
          <p:cNvGraphicFramePr>
            <a:graphicFrameLocks noGrp="1"/>
          </p:cNvGraphicFramePr>
          <p:nvPr/>
        </p:nvGraphicFramePr>
        <p:xfrm>
          <a:off x="5257800" y="4114800"/>
          <a:ext cx="3352800" cy="1127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048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&amp;v1</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rsi</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3000</a:t>
                      </a:r>
                    </a:p>
                  </a:txBody>
                  <a:tcPr/>
                </a:tc>
                <a:extLst>
                  <a:ext uri="{0D108BD9-81ED-4DB2-BD59-A6C34878D82A}">
                    <a16:rowId xmlns:a16="http://schemas.microsoft.com/office/drawing/2014/main" val="10002"/>
                  </a:ext>
                </a:extLst>
              </a:tr>
            </a:tbl>
          </a:graphicData>
        </a:graphic>
      </p:graphicFrame>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85445"/>
            <a:ext cx="439356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a:spLocks noGrp="1" noChangeArrowheads="1"/>
          </p:cNvSpPr>
          <p:nvPr/>
        </p:nvSpPr>
        <p:spPr>
          <a:xfrm>
            <a:off x="246380" y="385445"/>
            <a:ext cx="4147820" cy="56197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9380" indent="-119380"/>
            <a:r>
              <a:rPr lang="zh-CN" altLang="en-US" sz="3200" dirty="0">
                <a:solidFill>
                  <a:schemeClr val="bg1"/>
                </a:solidFill>
              </a:rPr>
              <a:t>例子</a:t>
            </a:r>
            <a:r>
              <a:rPr lang="en-US" sz="3200" dirty="0">
                <a:solidFill>
                  <a:schemeClr val="bg1"/>
                </a:solidFill>
              </a:rPr>
              <a:t>: </a:t>
            </a:r>
            <a:r>
              <a:rPr lang="zh-CN" altLang="en-US" sz="3200" dirty="0">
                <a:solidFill>
                  <a:schemeClr val="bg1"/>
                </a:solidFill>
              </a:rPr>
              <a:t>调用</a:t>
            </a:r>
            <a:r>
              <a:rPr lang="en-US" sz="3200" dirty="0" err="1">
                <a:solidFill>
                  <a:schemeClr val="bg1"/>
                </a:solidFill>
                <a:latin typeface="Courier New Bold" charset="0"/>
                <a:cs typeface="Courier New Bold" charset="0"/>
                <a:sym typeface="Courier New Bold" charset="0"/>
              </a:rPr>
              <a:t>incr</a:t>
            </a:r>
            <a:r>
              <a:rPr lang="en-US" sz="3200" dirty="0">
                <a:solidFill>
                  <a:schemeClr val="bg1"/>
                </a:solidFill>
              </a:rPr>
              <a:t> #3</a:t>
            </a:r>
            <a:endParaRPr lang="en-US" sz="3200" dirty="0">
              <a:solidFill>
                <a:schemeClr val="bg1"/>
              </a:solidFill>
              <a:latin typeface="Courier New Bold" charset="0"/>
              <a:sym typeface="Courier New Bold" charset="0"/>
            </a:endParaRP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2" name="Rectangle 4"/>
          <p:cNvSpPr/>
          <p:nvPr/>
        </p:nvSpPr>
        <p:spPr bwMode="auto">
          <a:xfrm>
            <a:off x="381000" y="3581400"/>
            <a:ext cx="4419600" cy="2971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movl</a:t>
            </a:r>
            <a:r>
              <a:rPr lang="en-US" sz="1800" b="1" dirty="0">
                <a:latin typeface="Courier New" panose="02070309020205020404" charset="0"/>
                <a:cs typeface="Courier New" panose="02070309020205020404" charset="0"/>
                <a:sym typeface="Courier New Bold" charset="0"/>
              </a:rPr>
              <a:t>    $3000, %</a:t>
            </a:r>
            <a:r>
              <a:rPr lang="en-US" sz="1800" b="1" dirty="0" err="1">
                <a:latin typeface="Courier New" panose="02070309020205020404" charset="0"/>
                <a:cs typeface="Courier New" panose="02070309020205020404" charset="0"/>
                <a:sym typeface="Courier New Bold" charset="0"/>
              </a:rPr>
              <a:t>esi</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leaq</a:t>
            </a:r>
            <a:r>
              <a:rPr lang="en-US" sz="1800" b="1" dirty="0">
                <a:latin typeface="Courier New" panose="02070309020205020404" charset="0"/>
                <a:cs typeface="Courier New" panose="02070309020205020404" charset="0"/>
                <a:sym typeface="Courier New Bold" charset="0"/>
              </a:rPr>
              <a:t>    8(%</a:t>
            </a:r>
            <a:r>
              <a:rPr lang="en-US" sz="1800" b="1" dirty="0" err="1">
                <a:latin typeface="Courier New" panose="02070309020205020404" charset="0"/>
                <a:cs typeface="Courier New" panose="02070309020205020404" charset="0"/>
                <a:sym typeface="Courier New Bold" charset="0"/>
              </a:rPr>
              <a:t>rsp</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call    </a:t>
            </a:r>
            <a:r>
              <a:rPr lang="en-US" sz="1800" b="1" dirty="0" err="1">
                <a:latin typeface="Courier New" panose="02070309020205020404" charset="0"/>
                <a:cs typeface="Courier New" panose="02070309020205020404" charset="0"/>
                <a:sym typeface="Courier New Bold" charset="0"/>
              </a:rPr>
              <a:t>incr</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addq</a:t>
            </a:r>
            <a:r>
              <a:rPr lang="en-US" sz="1800" b="1" dirty="0">
                <a:solidFill>
                  <a:srgbClr val="FF0000"/>
                </a:solidFill>
                <a:latin typeface="Courier New" panose="02070309020205020404" charset="0"/>
                <a:cs typeface="Courier New" panose="02070309020205020404" charset="0"/>
                <a:sym typeface="Courier New Bold" charset="0"/>
              </a:rPr>
              <a:t>    8(%</a:t>
            </a:r>
            <a:r>
              <a:rPr lang="en-US" sz="1800" b="1" dirty="0" err="1">
                <a:solidFill>
                  <a:srgbClr val="FF0000"/>
                </a:solidFill>
                <a:latin typeface="Courier New" panose="02070309020205020404" charset="0"/>
                <a:cs typeface="Courier New" panose="02070309020205020404" charset="0"/>
                <a:sym typeface="Courier New Bold" charset="0"/>
              </a:rPr>
              <a:t>rsp</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rax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ret</a:t>
            </a: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a:t>
            </a:r>
            <a:r>
              <a:rPr lang="en-US" sz="1800" b="1" dirty="0">
                <a:solidFill>
                  <a:srgbClr val="FF0000"/>
                </a:solidFill>
                <a:latin typeface="Courier New" panose="02070309020205020404" charset="0"/>
                <a:cs typeface="Courier New" panose="02070309020205020404" charset="0"/>
                <a:sym typeface="Courier New Bold" charset="0"/>
              </a:rPr>
              <a:t>v1+v2;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17" name="Rectangle 7"/>
          <p:cNvSpPr/>
          <p:nvPr/>
        </p:nvSpPr>
        <p:spPr bwMode="auto">
          <a:xfrm>
            <a:off x="5181600" y="2590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b="1" dirty="0">
                <a:solidFill>
                  <a:schemeClr val="tx1"/>
                </a:solidFill>
                <a:latin typeface="Courier New Bold" charset="0"/>
                <a:cs typeface="Courier New Bold" charset="0"/>
                <a:sym typeface="Courier New Bold" charset="0"/>
              </a:rPr>
              <a:t>18213</a:t>
            </a:r>
          </a:p>
        </p:txBody>
      </p:sp>
      <p:sp>
        <p:nvSpPr>
          <p:cNvPr id="18" name="Rectangle 9"/>
          <p:cNvSpPr/>
          <p:nvPr/>
        </p:nvSpPr>
        <p:spPr bwMode="auto">
          <a:xfrm>
            <a:off x="5181600" y="2971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Unused</a:t>
            </a:r>
          </a:p>
        </p:txBody>
      </p:sp>
      <p:sp>
        <p:nvSpPr>
          <p:cNvPr id="19" name="Line 10"/>
          <p:cNvSpPr>
            <a:spLocks noChangeShapeType="1"/>
          </p:cNvSpPr>
          <p:nvPr/>
        </p:nvSpPr>
        <p:spPr bwMode="auto">
          <a:xfrm flipH="1">
            <a:off x="6503987" y="32067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0" name="Rectangle 11"/>
          <p:cNvSpPr/>
          <p:nvPr/>
        </p:nvSpPr>
        <p:spPr bwMode="auto">
          <a:xfrm>
            <a:off x="7010400" y="29781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1" name="Rectangle 12"/>
          <p:cNvSpPr/>
          <p:nvPr/>
        </p:nvSpPr>
        <p:spPr bwMode="auto">
          <a:xfrm>
            <a:off x="5943600" y="762000"/>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栈结构</a:t>
            </a:r>
          </a:p>
        </p:txBody>
      </p:sp>
      <p:sp>
        <p:nvSpPr>
          <p:cNvPr id="22" name="Rectangle 13"/>
          <p:cNvSpPr/>
          <p:nvPr/>
        </p:nvSpPr>
        <p:spPr bwMode="auto">
          <a:xfrm>
            <a:off x="5181600" y="12954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81600" y="2209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6" name="Line 10"/>
          <p:cNvSpPr>
            <a:spLocks noChangeShapeType="1"/>
          </p:cNvSpPr>
          <p:nvPr/>
        </p:nvSpPr>
        <p:spPr bwMode="auto">
          <a:xfrm flipH="1">
            <a:off x="6477000" y="28194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6983413" y="25908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graphicFrame>
        <p:nvGraphicFramePr>
          <p:cNvPr id="24" name="Table 23"/>
          <p:cNvGraphicFramePr>
            <a:graphicFrameLocks noGrp="1"/>
          </p:cNvGraphicFramePr>
          <p:nvPr/>
        </p:nvGraphicFramePr>
        <p:xfrm>
          <a:off x="5257800" y="3733800"/>
          <a:ext cx="3352800" cy="746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048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altLang="en-US" b="1" i="0" dirty="0">
                          <a:latin typeface="Courier New" panose="02070309020205020404"/>
                          <a:cs typeface="Courier New" panose="02070309020205020404"/>
                        </a:rPr>
                        <a:t>返回结果值</a:t>
                      </a:r>
                    </a:p>
                  </a:txBody>
                  <a:tcPr/>
                </a:tc>
                <a:extLst>
                  <a:ext uri="{0D108BD9-81ED-4DB2-BD59-A6C34878D82A}">
                    <a16:rowId xmlns:a16="http://schemas.microsoft.com/office/drawing/2014/main" val="10001"/>
                  </a:ext>
                </a:extLst>
              </a:tr>
            </a:tbl>
          </a:graphicData>
        </a:graphic>
      </p:graphicFrame>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85445"/>
            <a:ext cx="439356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a:spLocks noGrp="1" noChangeArrowheads="1"/>
          </p:cNvSpPr>
          <p:nvPr/>
        </p:nvSpPr>
        <p:spPr>
          <a:xfrm>
            <a:off x="246380" y="385445"/>
            <a:ext cx="4147820" cy="56197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9380" indent="-119380"/>
            <a:r>
              <a:rPr lang="zh-CN" altLang="en-US" sz="3200" dirty="0">
                <a:solidFill>
                  <a:schemeClr val="bg1"/>
                </a:solidFill>
              </a:rPr>
              <a:t>例子</a:t>
            </a:r>
            <a:r>
              <a:rPr lang="en-US" sz="3200" dirty="0">
                <a:solidFill>
                  <a:schemeClr val="bg1"/>
                </a:solidFill>
              </a:rPr>
              <a:t>: </a:t>
            </a:r>
            <a:r>
              <a:rPr lang="zh-CN" altLang="en-US" sz="3200" dirty="0">
                <a:solidFill>
                  <a:schemeClr val="bg1"/>
                </a:solidFill>
              </a:rPr>
              <a:t>调用</a:t>
            </a:r>
            <a:r>
              <a:rPr lang="en-US" sz="3200" dirty="0" err="1">
                <a:solidFill>
                  <a:schemeClr val="bg1"/>
                </a:solidFill>
                <a:latin typeface="Courier New Bold" charset="0"/>
                <a:cs typeface="Courier New Bold" charset="0"/>
                <a:sym typeface="Courier New Bold" charset="0"/>
              </a:rPr>
              <a:t>incr</a:t>
            </a:r>
            <a:r>
              <a:rPr lang="en-US" sz="3200" dirty="0">
                <a:solidFill>
                  <a:schemeClr val="bg1"/>
                </a:solidFill>
              </a:rPr>
              <a:t> #4</a:t>
            </a:r>
            <a:endParaRPr lang="en-US" sz="3200" dirty="0">
              <a:solidFill>
                <a:schemeClr val="bg1"/>
              </a:solidFill>
              <a:latin typeface="Courier New Bold" charset="0"/>
              <a:sym typeface="Courier New Bold" charset="0"/>
            </a:endParaRP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2" name="Rectangle 4"/>
          <p:cNvSpPr/>
          <p:nvPr/>
        </p:nvSpPr>
        <p:spPr bwMode="auto">
          <a:xfrm>
            <a:off x="381000" y="3581400"/>
            <a:ext cx="4419600" cy="2971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movl</a:t>
            </a:r>
            <a:r>
              <a:rPr lang="en-US" sz="1800" b="1" dirty="0">
                <a:latin typeface="Courier New" panose="02070309020205020404" charset="0"/>
                <a:cs typeface="Courier New" panose="02070309020205020404" charset="0"/>
                <a:sym typeface="Courier New Bold" charset="0"/>
              </a:rPr>
              <a:t>    $3000, %</a:t>
            </a:r>
            <a:r>
              <a:rPr lang="en-US" sz="1800" b="1" dirty="0" err="1">
                <a:latin typeface="Courier New" panose="02070309020205020404" charset="0"/>
                <a:cs typeface="Courier New" panose="02070309020205020404" charset="0"/>
                <a:sym typeface="Courier New Bold" charset="0"/>
              </a:rPr>
              <a:t>esi</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leaq</a:t>
            </a:r>
            <a:r>
              <a:rPr lang="en-US" sz="1800" b="1" dirty="0">
                <a:latin typeface="Courier New" panose="02070309020205020404" charset="0"/>
                <a:cs typeface="Courier New" panose="02070309020205020404" charset="0"/>
                <a:sym typeface="Courier New Bold" charset="0"/>
              </a:rPr>
              <a:t>    8(%</a:t>
            </a:r>
            <a:r>
              <a:rPr lang="en-US" sz="1800" b="1" dirty="0" err="1">
                <a:latin typeface="Courier New" panose="02070309020205020404" charset="0"/>
                <a:cs typeface="Courier New" panose="02070309020205020404" charset="0"/>
                <a:sym typeface="Courier New Bold" charset="0"/>
              </a:rPr>
              <a:t>rsp</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call    </a:t>
            </a:r>
            <a:r>
              <a:rPr lang="en-US" sz="1800" b="1" dirty="0" err="1">
                <a:latin typeface="Courier New" panose="02070309020205020404" charset="0"/>
                <a:cs typeface="Courier New" panose="02070309020205020404" charset="0"/>
                <a:sym typeface="Courier New Bold" charset="0"/>
              </a:rPr>
              <a:t>incr</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addq</a:t>
            </a:r>
            <a:r>
              <a:rPr lang="en-US" sz="1800" b="1" dirty="0">
                <a:solidFill>
                  <a:srgbClr val="FF0000"/>
                </a:solidFill>
                <a:latin typeface="Courier New" panose="02070309020205020404" charset="0"/>
                <a:cs typeface="Courier New" panose="02070309020205020404" charset="0"/>
                <a:sym typeface="Courier New Bold" charset="0"/>
              </a:rPr>
              <a:t>    $16, %</a:t>
            </a:r>
            <a:r>
              <a:rPr lang="en-US" sz="1800" b="1" dirty="0" err="1">
                <a:solidFill>
                  <a:srgbClr val="FF0000"/>
                </a:solidFill>
                <a:latin typeface="Courier New" panose="02070309020205020404" charset="0"/>
                <a:cs typeface="Courier New" panose="02070309020205020404" charset="0"/>
                <a:sym typeface="Courier New Bold" charset="0"/>
              </a:rPr>
              <a:t>rsp</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ret</a:t>
            </a: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chemeClr val="accent1">
                    <a:lumMod val="40000"/>
                    <a:lumOff val="60000"/>
                  </a:schemeClr>
                </a:solidFill>
                <a:latin typeface="Courier New" panose="02070309020205020404" charset="0"/>
                <a:cs typeface="Courier New" panose="02070309020205020404" charset="0"/>
                <a:sym typeface="Courier New Bold" charset="0"/>
              </a:rPr>
              <a:t>return</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dirty="0">
                <a:solidFill>
                  <a:schemeClr val="tx1"/>
                </a:solidFill>
                <a:latin typeface="Courier New" panose="02070309020205020404" charset="0"/>
                <a:cs typeface="Courier New" panose="02070309020205020404" charset="0"/>
                <a:sym typeface="Courier New Bold" charset="0"/>
              </a:rPr>
              <a:t>v1+v2;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endParaRPr lang="en-US" sz="1800" b="1" dirty="0">
              <a:solidFill>
                <a:schemeClr val="tx1"/>
              </a:solidFill>
              <a:latin typeface="Courier New" panose="02070309020205020404" charset="0"/>
              <a:cs typeface="Courier New" panose="02070309020205020404" charset="0"/>
              <a:sym typeface="Courier New Bold" charset="0"/>
            </a:endParaRPr>
          </a:p>
        </p:txBody>
      </p:sp>
      <p:sp>
        <p:nvSpPr>
          <p:cNvPr id="17" name="Rectangle 7"/>
          <p:cNvSpPr/>
          <p:nvPr/>
        </p:nvSpPr>
        <p:spPr bwMode="auto">
          <a:xfrm>
            <a:off x="5181600" y="2590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b="1" dirty="0">
                <a:solidFill>
                  <a:schemeClr val="tx1"/>
                </a:solidFill>
                <a:latin typeface="Courier New Bold" charset="0"/>
                <a:cs typeface="Courier New Bold" charset="0"/>
                <a:sym typeface="Courier New Bold" charset="0"/>
              </a:rPr>
              <a:t>18213</a:t>
            </a:r>
          </a:p>
        </p:txBody>
      </p:sp>
      <p:sp>
        <p:nvSpPr>
          <p:cNvPr id="18" name="Rectangle 9"/>
          <p:cNvSpPr/>
          <p:nvPr/>
        </p:nvSpPr>
        <p:spPr bwMode="auto">
          <a:xfrm>
            <a:off x="5181600" y="2971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Unused</a:t>
            </a:r>
          </a:p>
        </p:txBody>
      </p:sp>
      <p:sp>
        <p:nvSpPr>
          <p:cNvPr id="19" name="Line 10"/>
          <p:cNvSpPr>
            <a:spLocks noChangeShapeType="1"/>
          </p:cNvSpPr>
          <p:nvPr/>
        </p:nvSpPr>
        <p:spPr bwMode="auto">
          <a:xfrm flipH="1">
            <a:off x="6503987" y="32067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0" name="Rectangle 11"/>
          <p:cNvSpPr/>
          <p:nvPr/>
        </p:nvSpPr>
        <p:spPr bwMode="auto">
          <a:xfrm>
            <a:off x="7010400" y="29781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1" name="Rectangle 12"/>
          <p:cNvSpPr/>
          <p:nvPr/>
        </p:nvSpPr>
        <p:spPr bwMode="auto">
          <a:xfrm>
            <a:off x="5943600" y="762000"/>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栈结构</a:t>
            </a:r>
          </a:p>
        </p:txBody>
      </p:sp>
      <p:sp>
        <p:nvSpPr>
          <p:cNvPr id="22" name="Rectangle 13"/>
          <p:cNvSpPr/>
          <p:nvPr/>
        </p:nvSpPr>
        <p:spPr bwMode="auto">
          <a:xfrm>
            <a:off x="5181600" y="12954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81600" y="22098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6" name="Line 10"/>
          <p:cNvSpPr>
            <a:spLocks noChangeShapeType="1"/>
          </p:cNvSpPr>
          <p:nvPr/>
        </p:nvSpPr>
        <p:spPr bwMode="auto">
          <a:xfrm flipH="1">
            <a:off x="6477000" y="28194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6983413" y="25908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graphicFrame>
        <p:nvGraphicFramePr>
          <p:cNvPr id="24" name="Table 23"/>
          <p:cNvGraphicFramePr>
            <a:graphicFrameLocks noGrp="1"/>
          </p:cNvGraphicFramePr>
          <p:nvPr/>
        </p:nvGraphicFramePr>
        <p:xfrm>
          <a:off x="5257800" y="3733800"/>
          <a:ext cx="3352800" cy="746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048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altLang="en-US" b="1" i="0" dirty="0">
                          <a:latin typeface="Courier New" panose="02070309020205020404"/>
                          <a:cs typeface="Courier New" panose="02070309020205020404"/>
                        </a:rPr>
                        <a:t>返回结果值</a:t>
                      </a:r>
                    </a:p>
                  </a:txBody>
                  <a:tcPr/>
                </a:tc>
                <a:extLst>
                  <a:ext uri="{0D108BD9-81ED-4DB2-BD59-A6C34878D82A}">
                    <a16:rowId xmlns:a16="http://schemas.microsoft.com/office/drawing/2014/main" val="10001"/>
                  </a:ext>
                </a:extLst>
              </a:tr>
            </a:tbl>
          </a:graphicData>
        </a:graphic>
      </p:graphicFrame>
      <p:sp>
        <p:nvSpPr>
          <p:cNvPr id="29" name="Line 10"/>
          <p:cNvSpPr>
            <a:spLocks noChangeShapeType="1"/>
          </p:cNvSpPr>
          <p:nvPr/>
        </p:nvSpPr>
        <p:spPr bwMode="auto">
          <a:xfrm flipH="1">
            <a:off x="6477000" y="63246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30" name="Rectangle 11"/>
          <p:cNvSpPr/>
          <p:nvPr/>
        </p:nvSpPr>
        <p:spPr bwMode="auto">
          <a:xfrm>
            <a:off x="6983413" y="609600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31" name="Rectangle 12"/>
          <p:cNvSpPr/>
          <p:nvPr/>
        </p:nvSpPr>
        <p:spPr bwMode="auto">
          <a:xfrm>
            <a:off x="5943600" y="4648200"/>
            <a:ext cx="1346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更新栈结构</a:t>
            </a:r>
          </a:p>
        </p:txBody>
      </p:sp>
      <p:sp>
        <p:nvSpPr>
          <p:cNvPr id="32" name="Rectangle 13"/>
          <p:cNvSpPr/>
          <p:nvPr/>
        </p:nvSpPr>
        <p:spPr bwMode="auto">
          <a:xfrm>
            <a:off x="5181600" y="51816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36" name="Rectangle 9"/>
          <p:cNvSpPr/>
          <p:nvPr/>
        </p:nvSpPr>
        <p:spPr bwMode="auto">
          <a:xfrm>
            <a:off x="5181600" y="60960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85445"/>
            <a:ext cx="439356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a:spLocks noGrp="1" noChangeArrowheads="1"/>
          </p:cNvSpPr>
          <p:nvPr/>
        </p:nvSpPr>
        <p:spPr>
          <a:xfrm>
            <a:off x="246380" y="385445"/>
            <a:ext cx="4147820" cy="56197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9380" indent="-119380"/>
            <a:r>
              <a:rPr lang="zh-CN" altLang="en-US" sz="3200" dirty="0">
                <a:solidFill>
                  <a:schemeClr val="bg1"/>
                </a:solidFill>
              </a:rPr>
              <a:t>例子</a:t>
            </a:r>
            <a:r>
              <a:rPr lang="en-US" sz="3200" dirty="0">
                <a:solidFill>
                  <a:schemeClr val="bg1"/>
                </a:solidFill>
              </a:rPr>
              <a:t>: </a:t>
            </a:r>
            <a:r>
              <a:rPr lang="zh-CN" altLang="en-US" sz="3200" dirty="0">
                <a:solidFill>
                  <a:schemeClr val="bg1"/>
                </a:solidFill>
              </a:rPr>
              <a:t>调用</a:t>
            </a:r>
            <a:r>
              <a:rPr lang="en-US" sz="3200" dirty="0" err="1">
                <a:solidFill>
                  <a:schemeClr val="bg1"/>
                </a:solidFill>
                <a:latin typeface="Courier New Bold" charset="0"/>
                <a:cs typeface="Courier New Bold" charset="0"/>
                <a:sym typeface="Courier New Bold" charset="0"/>
              </a:rPr>
              <a:t>incr</a:t>
            </a:r>
            <a:r>
              <a:rPr lang="en-US" sz="3200" dirty="0">
                <a:solidFill>
                  <a:schemeClr val="bg1"/>
                </a:solidFill>
              </a:rPr>
              <a:t> #5a</a:t>
            </a:r>
            <a:endParaRPr lang="en-US" sz="3200" dirty="0">
              <a:solidFill>
                <a:schemeClr val="bg1"/>
              </a:solidFill>
              <a:latin typeface="Courier New Bold" charset="0"/>
              <a:sym typeface="Courier New Bold" charset="0"/>
            </a:endParaRP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63492" name="Rectangle 4"/>
          <p:cNvSpPr/>
          <p:nvPr/>
        </p:nvSpPr>
        <p:spPr bwMode="auto">
          <a:xfrm>
            <a:off x="381000" y="3581400"/>
            <a:ext cx="4419600" cy="29718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movl</a:t>
            </a:r>
            <a:r>
              <a:rPr lang="en-US" sz="1800" b="1" dirty="0">
                <a:latin typeface="Courier New" panose="02070309020205020404" charset="0"/>
                <a:cs typeface="Courier New" panose="02070309020205020404" charset="0"/>
                <a:sym typeface="Courier New Bold" charset="0"/>
              </a:rPr>
              <a:t>    $3000, %</a:t>
            </a:r>
            <a:r>
              <a:rPr lang="en-US" sz="1800" b="1" dirty="0" err="1">
                <a:latin typeface="Courier New" panose="02070309020205020404" charset="0"/>
                <a:cs typeface="Courier New" panose="02070309020205020404" charset="0"/>
                <a:sym typeface="Courier New Bold" charset="0"/>
              </a:rPr>
              <a:t>esi</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leaq</a:t>
            </a:r>
            <a:r>
              <a:rPr lang="en-US" sz="1800" b="1" dirty="0">
                <a:latin typeface="Courier New" panose="02070309020205020404" charset="0"/>
                <a:cs typeface="Courier New" panose="02070309020205020404" charset="0"/>
                <a:sym typeface="Courier New Bold" charset="0"/>
              </a:rPr>
              <a:t>    8(%</a:t>
            </a:r>
            <a:r>
              <a:rPr lang="en-US" sz="1800" b="1" dirty="0" err="1">
                <a:latin typeface="Courier New" panose="02070309020205020404" charset="0"/>
                <a:cs typeface="Courier New" panose="02070309020205020404" charset="0"/>
                <a:sym typeface="Courier New Bold" charset="0"/>
              </a:rPr>
              <a:t>rsp</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call    </a:t>
            </a:r>
            <a:r>
              <a:rPr lang="en-US" sz="1800" b="1" dirty="0" err="1">
                <a:latin typeface="Courier New" panose="02070309020205020404" charset="0"/>
                <a:cs typeface="Courier New" panose="02070309020205020404" charset="0"/>
                <a:sym typeface="Courier New Bold" charset="0"/>
              </a:rPr>
              <a:t>incr</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addq</a:t>
            </a:r>
            <a:r>
              <a:rPr lang="en-US" sz="1800" b="1" dirty="0">
                <a:latin typeface="Courier New" panose="02070309020205020404" charset="0"/>
                <a:cs typeface="Courier New" panose="02070309020205020404" charset="0"/>
                <a:sym typeface="Courier New Bold" charset="0"/>
              </a:rPr>
              <a:t>    8(%</a:t>
            </a:r>
            <a:r>
              <a:rPr lang="en-US" sz="1800" b="1" dirty="0" err="1">
                <a:latin typeface="Courier New" panose="02070309020205020404" charset="0"/>
                <a:cs typeface="Courier New" panose="02070309020205020404" charset="0"/>
                <a:sym typeface="Courier New Bold" charset="0"/>
              </a:rPr>
              <a:t>rsp</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rax</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addq</a:t>
            </a:r>
            <a:r>
              <a:rPr lang="en-US" sz="1800" b="1" dirty="0">
                <a:latin typeface="Courier New" panose="02070309020205020404" charset="0"/>
                <a:cs typeface="Courier New" panose="02070309020205020404" charset="0"/>
                <a:sym typeface="Courier New Bold" charset="0"/>
              </a:rPr>
              <a:t>    $16, %</a:t>
            </a:r>
            <a:r>
              <a:rPr lang="en-US" sz="1800" b="1" dirty="0" err="1">
                <a:latin typeface="Courier New" panose="02070309020205020404" charset="0"/>
                <a:cs typeface="Courier New" panose="02070309020205020404" charset="0"/>
                <a:sym typeface="Courier New Bold" charset="0"/>
              </a:rPr>
              <a:t>rsp</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ret</a:t>
            </a: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call_incr</a:t>
            </a:r>
            <a:r>
              <a:rPr lang="en-US" sz="1800" b="1" dirty="0">
                <a:solidFill>
                  <a:schemeClr val="tx1"/>
                </a:solidFill>
                <a:latin typeface="Courier New" panose="02070309020205020404" charset="0"/>
                <a:cs typeface="Courier New" panose="02070309020205020404" charset="0"/>
                <a:sym typeface="Courier New Bold" charset="0"/>
              </a:rPr>
              <a:t>()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return</a:t>
            </a:r>
            <a:r>
              <a:rPr lang="en-US" sz="1800" b="1" dirty="0">
                <a:solidFill>
                  <a:schemeClr val="tx1"/>
                </a:solidFill>
                <a:latin typeface="Courier New" panose="02070309020205020404" charset="0"/>
                <a:cs typeface="Courier New" panose="02070309020205020404" charset="0"/>
                <a:sym typeface="Courier New Bold" charset="0"/>
              </a:rPr>
              <a:t> v1+v2;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endParaRPr lang="en-US" sz="1800" b="1" dirty="0">
              <a:solidFill>
                <a:schemeClr val="tx1"/>
              </a:solidFill>
              <a:latin typeface="Courier New" panose="02070309020205020404" charset="0"/>
              <a:cs typeface="Courier New" panose="02070309020205020404" charset="0"/>
              <a:sym typeface="Courier New Bold" charset="0"/>
            </a:endParaRPr>
          </a:p>
        </p:txBody>
      </p:sp>
      <p:graphicFrame>
        <p:nvGraphicFramePr>
          <p:cNvPr id="24" name="Table 23"/>
          <p:cNvGraphicFramePr>
            <a:graphicFrameLocks noGrp="1"/>
          </p:cNvGraphicFramePr>
          <p:nvPr/>
        </p:nvGraphicFramePr>
        <p:xfrm>
          <a:off x="5257800" y="3733800"/>
          <a:ext cx="3352800" cy="74676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2133600">
                  <a:extLst>
                    <a:ext uri="{9D8B030D-6E8A-4147-A177-3AD203B41FA5}">
                      <a16:colId xmlns:a16="http://schemas.microsoft.com/office/drawing/2014/main" val="20001"/>
                    </a:ext>
                  </a:extLst>
                </a:gridCol>
              </a:tblGrid>
              <a:tr h="3048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r>
                        <a:rPr lang="zh-CN" altLang="en-US" b="1" i="0" dirty="0">
                          <a:latin typeface="Courier New" panose="02070309020205020404"/>
                          <a:cs typeface="Courier New" panose="02070309020205020404"/>
                        </a:rPr>
                        <a:t>返回值</a:t>
                      </a:r>
                    </a:p>
                  </a:txBody>
                  <a:tcPr/>
                </a:tc>
                <a:extLst>
                  <a:ext uri="{0D108BD9-81ED-4DB2-BD59-A6C34878D82A}">
                    <a16:rowId xmlns:a16="http://schemas.microsoft.com/office/drawing/2014/main" val="10001"/>
                  </a:ext>
                </a:extLst>
              </a:tr>
            </a:tbl>
          </a:graphicData>
        </a:graphic>
      </p:graphicFrame>
      <p:sp>
        <p:nvSpPr>
          <p:cNvPr id="29" name="Line 10"/>
          <p:cNvSpPr>
            <a:spLocks noChangeShapeType="1"/>
          </p:cNvSpPr>
          <p:nvPr/>
        </p:nvSpPr>
        <p:spPr bwMode="auto">
          <a:xfrm flipH="1">
            <a:off x="6553200" y="28956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30" name="Rectangle 11"/>
          <p:cNvSpPr/>
          <p:nvPr/>
        </p:nvSpPr>
        <p:spPr bwMode="auto">
          <a:xfrm>
            <a:off x="7059613" y="266700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31" name="Rectangle 12"/>
          <p:cNvSpPr/>
          <p:nvPr/>
        </p:nvSpPr>
        <p:spPr bwMode="auto">
          <a:xfrm>
            <a:off x="6019800" y="1219200"/>
            <a:ext cx="1346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latin typeface="Calibri Bold" charset="0"/>
                <a:ea typeface="宋体" panose="02010600030101010101" pitchFamily="2" charset="-122"/>
                <a:cs typeface="Calibri Bold" charset="0"/>
                <a:sym typeface="Calibri Bold" charset="0"/>
              </a:rPr>
              <a:t>更新栈结构</a:t>
            </a:r>
            <a:endParaRPr lang="en-US" sz="2000" dirty="0">
              <a:solidFill>
                <a:schemeClr val="tx1"/>
              </a:solidFill>
              <a:latin typeface="Calibri Bold" charset="0"/>
              <a:ea typeface="Calibri Bold" charset="0"/>
              <a:cs typeface="Calibri Bold" charset="0"/>
              <a:sym typeface="Calibri Bold" charset="0"/>
            </a:endParaRPr>
          </a:p>
        </p:txBody>
      </p:sp>
      <p:sp>
        <p:nvSpPr>
          <p:cNvPr id="32" name="Rectangle 13"/>
          <p:cNvSpPr/>
          <p:nvPr/>
        </p:nvSpPr>
        <p:spPr bwMode="auto">
          <a:xfrm>
            <a:off x="5257800" y="17526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36" name="Rectangle 9"/>
          <p:cNvSpPr/>
          <p:nvPr/>
        </p:nvSpPr>
        <p:spPr bwMode="auto">
          <a:xfrm>
            <a:off x="5257800" y="26670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5" name="Line 10"/>
          <p:cNvSpPr>
            <a:spLocks noChangeShapeType="1"/>
          </p:cNvSpPr>
          <p:nvPr/>
        </p:nvSpPr>
        <p:spPr bwMode="auto">
          <a:xfrm flipH="1">
            <a:off x="6553200" y="59436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8" name="Rectangle 11"/>
          <p:cNvSpPr/>
          <p:nvPr/>
        </p:nvSpPr>
        <p:spPr bwMode="auto">
          <a:xfrm>
            <a:off x="7059613" y="571500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33" name="Rectangle 12"/>
          <p:cNvSpPr/>
          <p:nvPr/>
        </p:nvSpPr>
        <p:spPr bwMode="auto">
          <a:xfrm>
            <a:off x="6019800" y="4648200"/>
            <a:ext cx="1600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最终的栈结构</a:t>
            </a:r>
          </a:p>
        </p:txBody>
      </p:sp>
      <p:sp>
        <p:nvSpPr>
          <p:cNvPr id="34" name="Rectangle 13"/>
          <p:cNvSpPr/>
          <p:nvPr/>
        </p:nvSpPr>
        <p:spPr bwMode="auto">
          <a:xfrm>
            <a:off x="5257800" y="51816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85445"/>
            <a:ext cx="4393565"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Rectangle 3"/>
          <p:cNvSpPr>
            <a:spLocks noGrp="1" noChangeArrowheads="1"/>
          </p:cNvSpPr>
          <p:nvPr/>
        </p:nvSpPr>
        <p:spPr>
          <a:xfrm>
            <a:off x="246380" y="385445"/>
            <a:ext cx="4147820" cy="561975"/>
          </a:xfr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19380" indent="-119380"/>
            <a:r>
              <a:rPr lang="zh-CN" altLang="en-US" sz="3200" dirty="0">
                <a:solidFill>
                  <a:schemeClr val="bg1"/>
                </a:solidFill>
              </a:rPr>
              <a:t>例子</a:t>
            </a:r>
            <a:r>
              <a:rPr lang="en-US" sz="3200" dirty="0">
                <a:solidFill>
                  <a:schemeClr val="bg1"/>
                </a:solidFill>
              </a:rPr>
              <a:t>: </a:t>
            </a:r>
            <a:r>
              <a:rPr lang="zh-CN" altLang="en-US" sz="3200" dirty="0">
                <a:solidFill>
                  <a:schemeClr val="bg1"/>
                </a:solidFill>
              </a:rPr>
              <a:t>调用</a:t>
            </a:r>
            <a:r>
              <a:rPr lang="en-US" sz="3200" dirty="0" err="1">
                <a:solidFill>
                  <a:schemeClr val="bg1"/>
                </a:solidFill>
                <a:latin typeface="Courier New Bold" charset="0"/>
                <a:cs typeface="Courier New Bold" charset="0"/>
                <a:sym typeface="Courier New Bold" charset="0"/>
              </a:rPr>
              <a:t>incr</a:t>
            </a:r>
            <a:r>
              <a:rPr lang="en-US" sz="3200" dirty="0">
                <a:solidFill>
                  <a:schemeClr val="bg1"/>
                </a:solidFill>
              </a:rPr>
              <a:t> #5b</a:t>
            </a:r>
            <a:endParaRPr lang="en-US" sz="3200" dirty="0">
              <a:solidFill>
                <a:schemeClr val="bg1"/>
              </a:solidFill>
              <a:latin typeface="Courier New Bold" charset="0"/>
              <a:sym typeface="Courier New Bold" charset="0"/>
            </a:endParaRP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244475" y="313055"/>
            <a:ext cx="3702050"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754"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74755" name="Rectangle 3"/>
          <p:cNvSpPr>
            <a:spLocks noGrp="1" noChangeArrowheads="1"/>
          </p:cNvSpPr>
          <p:nvPr>
            <p:ph type="title" idx="4294967295"/>
          </p:nvPr>
        </p:nvSpPr>
        <p:spPr>
          <a:xfrm>
            <a:off x="575945" y="351155"/>
            <a:ext cx="3477895" cy="561975"/>
          </a:xfrm>
        </p:spPr>
        <p:txBody>
          <a:bodyPr/>
          <a:lstStyle/>
          <a:p>
            <a:pPr marL="119380" indent="-119380"/>
            <a:r>
              <a:rPr lang="zh-CN" altLang="en-US" sz="3200" dirty="0">
                <a:solidFill>
                  <a:schemeClr val="bg1"/>
                </a:solidFill>
              </a:rPr>
              <a:t>寄存器保存习惯</a:t>
            </a:r>
          </a:p>
        </p:txBody>
      </p:sp>
      <p:sp>
        <p:nvSpPr>
          <p:cNvPr id="74756" name="Rectangle 4"/>
          <p:cNvSpPr>
            <a:spLocks noGrp="1" noChangeArrowheads="1"/>
          </p:cNvSpPr>
          <p:nvPr>
            <p:ph type="body" idx="4294967295"/>
          </p:nvPr>
        </p:nvSpPr>
        <p:spPr>
          <a:xfrm>
            <a:off x="190500" y="1073785"/>
            <a:ext cx="8229600" cy="5217795"/>
          </a:xfrm>
        </p:spPr>
        <p:txBody>
          <a:bodyPr/>
          <a:lstStyle/>
          <a:p>
            <a:r>
              <a:rPr lang="zh-CN" altLang="en-US" sz="2400" dirty="0"/>
              <a:t>当过程</a:t>
            </a:r>
            <a:r>
              <a:rPr lang="en-US" sz="2400" dirty="0"/>
              <a:t> </a:t>
            </a:r>
            <a:r>
              <a:rPr lang="en-US" sz="2400" dirty="0" err="1">
                <a:latin typeface="Courier New Bold" charset="0"/>
                <a:cs typeface="Courier New Bold" charset="0"/>
                <a:sym typeface="Courier New Bold" charset="0"/>
              </a:rPr>
              <a:t>yoo</a:t>
            </a:r>
            <a:r>
              <a:rPr lang="en-US" sz="2400" dirty="0"/>
              <a:t> </a:t>
            </a:r>
            <a:r>
              <a:rPr lang="zh-CN" altLang="en-US" sz="2400" dirty="0"/>
              <a:t>调用</a:t>
            </a:r>
            <a:r>
              <a:rPr lang="en-US" sz="2400" dirty="0"/>
              <a:t> </a:t>
            </a:r>
            <a:r>
              <a:rPr lang="en-US" sz="2400" dirty="0">
                <a:latin typeface="Courier New Bold" charset="0"/>
                <a:cs typeface="Courier New Bold" charset="0"/>
                <a:sym typeface="Courier New Bold" charset="0"/>
              </a:rPr>
              <a:t>who</a:t>
            </a:r>
            <a:r>
              <a:rPr lang="en-US" sz="2400" dirty="0"/>
              <a:t>:</a:t>
            </a:r>
          </a:p>
          <a:p>
            <a:pPr marL="552450" lvl="1"/>
            <a:r>
              <a:rPr lang="en-US" sz="2000" dirty="0" err="1">
                <a:latin typeface="Courier New Bold" charset="0"/>
                <a:cs typeface="Courier New Bold" charset="0"/>
                <a:sym typeface="Courier New Bold" charset="0"/>
              </a:rPr>
              <a:t>yoo</a:t>
            </a:r>
            <a:r>
              <a:rPr lang="en-US" sz="2000" dirty="0"/>
              <a:t> </a:t>
            </a:r>
            <a:r>
              <a:rPr lang="zh-CN" altLang="en-US" sz="2000" dirty="0"/>
              <a:t>是调用者</a:t>
            </a:r>
          </a:p>
          <a:p>
            <a:pPr marL="552450" lvl="1"/>
            <a:r>
              <a:rPr lang="en-US" sz="2000" dirty="0">
                <a:latin typeface="Courier New Bold" charset="0"/>
                <a:cs typeface="Courier New Bold" charset="0"/>
                <a:sym typeface="Courier New Bold" charset="0"/>
              </a:rPr>
              <a:t>who</a:t>
            </a:r>
            <a:r>
              <a:rPr lang="en-US" sz="2000" dirty="0"/>
              <a:t> </a:t>
            </a:r>
            <a:r>
              <a:rPr lang="zh-CN" altLang="en-US" sz="2000" dirty="0"/>
              <a:t>是被调用者</a:t>
            </a:r>
          </a:p>
          <a:p>
            <a:pPr>
              <a:spcBef>
                <a:spcPts val="1200"/>
              </a:spcBef>
            </a:pPr>
            <a:r>
              <a:rPr lang="zh-CN" altLang="en-US" sz="2400" dirty="0"/>
              <a:t>寄存器可以用来作为临时存储吗</a:t>
            </a:r>
            <a:r>
              <a:rPr lang="en-US" sz="2400" dirty="0"/>
              <a:t>?</a:t>
            </a:r>
          </a:p>
          <a:p>
            <a:endParaRPr lang="en-US" sz="2000" dirty="0"/>
          </a:p>
          <a:p>
            <a:endParaRPr lang="en-US" sz="1800" dirty="0"/>
          </a:p>
          <a:p>
            <a:endParaRPr lang="en-US" sz="1600" dirty="0"/>
          </a:p>
          <a:p>
            <a:endParaRPr lang="en-US" sz="1400" dirty="0"/>
          </a:p>
          <a:p>
            <a:endParaRPr lang="en-US" sz="1400" dirty="0"/>
          </a:p>
          <a:p>
            <a:endParaRPr lang="en-US" sz="1200" dirty="0"/>
          </a:p>
          <a:p>
            <a:pPr marL="552450" lvl="1"/>
            <a:r>
              <a:rPr lang="zh-CN" altLang="en-US" sz="2000" dirty="0">
                <a:latin typeface="Courier New Bold" charset="0"/>
                <a:cs typeface="Courier New Bold" charset="0"/>
                <a:sym typeface="Courier New Bold" charset="0"/>
              </a:rPr>
              <a:t>寄存器</a:t>
            </a:r>
            <a:r>
              <a:rPr lang="en-US" sz="2000" dirty="0">
                <a:latin typeface="Courier New Bold" charset="0"/>
                <a:cs typeface="Courier New Bold" charset="0"/>
                <a:sym typeface="Courier New Bold" charset="0"/>
              </a:rPr>
              <a:t>%</a:t>
            </a:r>
            <a:r>
              <a:rPr lang="en-US" sz="2000" dirty="0" err="1">
                <a:latin typeface="Courier New Bold" charset="0"/>
                <a:cs typeface="Courier New Bold" charset="0"/>
                <a:sym typeface="Courier New Bold" charset="0"/>
              </a:rPr>
              <a:t>rdx</a:t>
            </a:r>
            <a:r>
              <a:rPr lang="en-US" sz="2000" dirty="0"/>
              <a:t> </a:t>
            </a:r>
            <a:r>
              <a:rPr lang="zh-CN" altLang="en-US" sz="2000" dirty="0"/>
              <a:t>的内容被</a:t>
            </a:r>
            <a:r>
              <a:rPr lang="en-US" sz="2000" dirty="0">
                <a:latin typeface="Courier New Bold" charset="0"/>
                <a:cs typeface="Courier New Bold" charset="0"/>
                <a:sym typeface="Courier New Bold" charset="0"/>
              </a:rPr>
              <a:t>who</a:t>
            </a:r>
            <a:r>
              <a:rPr lang="zh-CN" altLang="en-US" sz="2000" dirty="0">
                <a:latin typeface="Courier New Bold" charset="0"/>
                <a:cs typeface="Courier New Bold" charset="0"/>
                <a:sym typeface="Courier New Bold" charset="0"/>
              </a:rPr>
              <a:t>覆盖</a:t>
            </a:r>
            <a:endParaRPr lang="zh-CN" altLang="en-US" sz="1800" dirty="0">
              <a:latin typeface="Courier New Bold" charset="0"/>
              <a:ea typeface="ヒラギノ角ゴ ProN W6" charset="0"/>
              <a:cs typeface="Courier New Bold" charset="0"/>
              <a:sym typeface="Courier New Bold" charset="0"/>
            </a:endParaRPr>
          </a:p>
          <a:p>
            <a:pPr marL="552450" lvl="1"/>
            <a:r>
              <a:rPr lang="zh-CN" altLang="en-US" sz="1800" dirty="0">
                <a:ea typeface="宋体" panose="02010600030101010101" pitchFamily="2" charset="-122"/>
                <a:cs typeface="Zapf Dingbats" charset="0"/>
              </a:rPr>
              <a:t>这种调用显得比较麻烦</a:t>
            </a:r>
            <a:r>
              <a:rPr lang="en-US" sz="1800" dirty="0">
                <a:ea typeface="Zapf Dingbats" charset="0"/>
                <a:cs typeface="Zapf Dingbats" charset="0"/>
              </a:rPr>
              <a:t> ➙ </a:t>
            </a:r>
            <a:r>
              <a:rPr lang="zh-CN" altLang="en-US" sz="1800" dirty="0">
                <a:ea typeface="宋体" panose="02010600030101010101" pitchFamily="2" charset="-122"/>
                <a:cs typeface="Zapf Dingbats" charset="0"/>
              </a:rPr>
              <a:t>可以做点什么改变呢？</a:t>
            </a:r>
          </a:p>
          <a:p>
            <a:pPr marL="838200" lvl="2"/>
            <a:r>
              <a:rPr lang="zh-CN" altLang="en-US" sz="1800" dirty="0"/>
              <a:t>需要做一些协调</a:t>
            </a:r>
          </a:p>
        </p:txBody>
      </p:sp>
      <p:sp>
        <p:nvSpPr>
          <p:cNvPr id="74757" name="Rectangle 5"/>
          <p:cNvSpPr/>
          <p:nvPr/>
        </p:nvSpPr>
        <p:spPr bwMode="auto">
          <a:xfrm>
            <a:off x="391478" y="2694305"/>
            <a:ext cx="3797300" cy="1976438"/>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457200" algn="l"/>
                <a:tab pos="457200" algn="l"/>
                <a:tab pos="457200" algn="l"/>
                <a:tab pos="457200" algn="l"/>
                <a:tab pos="457200" algn="l"/>
                <a:tab pos="457200" algn="l"/>
              </a:tabLst>
            </a:pPr>
            <a:r>
              <a:rPr lang="en-US" sz="1800" b="1" dirty="0" err="1">
                <a:solidFill>
                  <a:schemeClr val="tx1"/>
                </a:solidFill>
                <a:latin typeface="Courier New" panose="02070309020205020404" charset="0"/>
                <a:cs typeface="Courier New" panose="02070309020205020404" charset="0"/>
                <a:sym typeface="Courier New Bold" charset="0"/>
              </a:rPr>
              <a:t>yoo</a:t>
            </a:r>
            <a:r>
              <a:rPr lang="en-US" sz="1800" b="1"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 pos="457200" algn="l"/>
              </a:tabLst>
            </a:pPr>
            <a:r>
              <a:rPr lang="en-US" sz="1800" b="1" dirty="0">
                <a:solidFill>
                  <a:schemeClr val="tx1"/>
                </a:solidFill>
                <a:latin typeface="Courier New" panose="02070309020205020404" charset="0"/>
                <a:ea typeface="Monaco"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 pos="4572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a:t>
            </a:r>
            <a:r>
              <a:rPr lang="en-US" sz="1800" b="1" dirty="0">
                <a:solidFill>
                  <a:srgbClr val="C00000"/>
                </a:solidFill>
                <a:latin typeface="Courier New" panose="02070309020205020404" charset="0"/>
                <a:cs typeface="Courier New" panose="02070309020205020404" charset="0"/>
                <a:sym typeface="Courier New Bold" charset="0"/>
              </a:rPr>
              <a:t>%</a:t>
            </a:r>
            <a:r>
              <a:rPr lang="en-US" sz="1800" b="1" dirty="0" err="1">
                <a:solidFill>
                  <a:srgbClr val="C00000"/>
                </a:solidFill>
                <a:latin typeface="Courier New" panose="02070309020205020404" charset="0"/>
                <a:cs typeface="Courier New" panose="02070309020205020404" charset="0"/>
                <a:sym typeface="Courier New Bold" charset="0"/>
              </a:rPr>
              <a:t>rdx</a:t>
            </a:r>
            <a:endParaRPr lang="en-US" sz="2400" b="1" dirty="0">
              <a:solidFill>
                <a:srgbClr val="C00000"/>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 pos="457200" algn="l"/>
              </a:tabLst>
            </a:pPr>
            <a:r>
              <a:rPr lang="en-US" sz="1800" b="1" dirty="0">
                <a:solidFill>
                  <a:schemeClr val="tx1"/>
                </a:solidFill>
                <a:latin typeface="Courier New" panose="02070309020205020404" charset="0"/>
                <a:cs typeface="Courier New" panose="02070309020205020404" charset="0"/>
                <a:sym typeface="Courier New Bold" charset="0"/>
              </a:rPr>
              <a:t>    call who</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 pos="4572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C00000"/>
                </a:solidFill>
                <a:latin typeface="Courier New" panose="02070309020205020404" charset="0"/>
                <a:cs typeface="Courier New" panose="02070309020205020404" charset="0"/>
                <a:sym typeface="Courier New Bold" charset="0"/>
              </a:rPr>
              <a:t>%</a:t>
            </a:r>
            <a:r>
              <a:rPr lang="en-US" sz="1800" b="1" dirty="0" err="1">
                <a:solidFill>
                  <a:srgbClr val="C00000"/>
                </a:solidFill>
                <a:latin typeface="Courier New" panose="02070309020205020404" charset="0"/>
                <a:cs typeface="Courier New" panose="02070309020205020404" charset="0"/>
                <a:sym typeface="Courier New Bold" charset="0"/>
              </a:rPr>
              <a:t>rdx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 pos="457200" algn="l"/>
              </a:tabLst>
            </a:pPr>
            <a:r>
              <a:rPr lang="en-US" sz="1800" b="1" dirty="0">
                <a:solidFill>
                  <a:schemeClr val="tx1"/>
                </a:solidFill>
                <a:latin typeface="Courier New" panose="02070309020205020404" charset="0"/>
                <a:ea typeface="Monaco"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 pos="4572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74758" name="Rectangle 6"/>
          <p:cNvSpPr/>
          <p:nvPr/>
        </p:nvSpPr>
        <p:spPr bwMode="auto">
          <a:xfrm>
            <a:off x="4672648" y="2694305"/>
            <a:ext cx="3797300" cy="1981200"/>
          </a:xfrm>
          <a:prstGeom prst="rect">
            <a:avLst/>
          </a:prstGeom>
          <a:solidFill>
            <a:srgbClr val="D5F1C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457200" algn="l"/>
                <a:tab pos="457200" algn="l"/>
                <a:tab pos="457200" algn="l"/>
                <a:tab pos="457200" algn="l"/>
                <a:tab pos="457200" algn="l"/>
              </a:tabLst>
            </a:pPr>
            <a:r>
              <a:rPr lang="en-US" sz="1800" b="1" dirty="0">
                <a:solidFill>
                  <a:schemeClr val="tx1"/>
                </a:solidFill>
                <a:latin typeface="Courier New" panose="02070309020205020404" charset="0"/>
                <a:cs typeface="Courier New" panose="02070309020205020404" charset="0"/>
                <a:sym typeface="Courier New Bold" charset="0"/>
              </a:rPr>
              <a:t>who:</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Lst>
            </a:pPr>
            <a:r>
              <a:rPr lang="en-US" sz="1800" b="1" dirty="0">
                <a:solidFill>
                  <a:schemeClr val="tx1"/>
                </a:solidFill>
                <a:latin typeface="Courier New" panose="02070309020205020404" charset="0"/>
                <a:ea typeface="Monaco"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$18213, </a:t>
            </a:r>
            <a:r>
              <a:rPr lang="en-US" sz="1800" b="1" dirty="0">
                <a:solidFill>
                  <a:srgbClr val="C00000"/>
                </a:solidFill>
                <a:latin typeface="Courier New" panose="02070309020205020404" charset="0"/>
                <a:cs typeface="Courier New" panose="02070309020205020404" charset="0"/>
                <a:sym typeface="Courier New Bold" charset="0"/>
              </a:rPr>
              <a:t>%</a:t>
            </a:r>
            <a:r>
              <a:rPr lang="en-US" sz="1800" b="1" dirty="0" err="1">
                <a:solidFill>
                  <a:srgbClr val="C00000"/>
                </a:solidFill>
                <a:latin typeface="Courier New" panose="02070309020205020404" charset="0"/>
                <a:cs typeface="Courier New" panose="02070309020205020404" charset="0"/>
                <a:sym typeface="Courier New Bold" charset="0"/>
              </a:rPr>
              <a:t>rdx</a:t>
            </a:r>
            <a:endParaRPr lang="en-US" sz="2400" b="1" dirty="0">
              <a:solidFill>
                <a:srgbClr val="C00000"/>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Lst>
            </a:pPr>
            <a:r>
              <a:rPr lang="en-US" sz="1800" b="1" dirty="0">
                <a:solidFill>
                  <a:schemeClr val="tx1"/>
                </a:solidFill>
                <a:latin typeface="Courier New" panose="02070309020205020404" charset="0"/>
                <a:ea typeface="Monaco" charset="0"/>
                <a:cs typeface="Courier New" panose="02070309020205020404" charset="0"/>
                <a:sym typeface="Courier New Bold" charset="0"/>
              </a:rPr>
              <a:t>	• • •</a:t>
            </a:r>
            <a:endParaRPr lang="en-US" sz="2400" b="1" dirty="0">
              <a:solidFill>
                <a:schemeClr val="tx1"/>
              </a:solidFill>
              <a:latin typeface="Courier New" panose="02070309020205020404" charset="0"/>
              <a:ea typeface="Lucida Grande" charset="0"/>
              <a:cs typeface="Courier New" panose="02070309020205020404" charset="0"/>
              <a:sym typeface="Arial Narrow Bold" charset="0"/>
            </a:endParaRPr>
          </a:p>
          <a:p>
            <a:pPr algn="l">
              <a:tabLst>
                <a:tab pos="457200" algn="l"/>
                <a:tab pos="457200" algn="l"/>
                <a:tab pos="457200" algn="l"/>
                <a:tab pos="457200" algn="l"/>
                <a:tab pos="457200" algn="l"/>
                <a:tab pos="4572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4756">
                                            <p:txEl>
                                              <p:pRg st="1" end="1"/>
                                            </p:txEl>
                                          </p:spTgt>
                                        </p:tgtEl>
                                        <p:attrNameLst>
                                          <p:attrName>style.visibility</p:attrName>
                                        </p:attrNameLst>
                                      </p:cBhvr>
                                      <p:to>
                                        <p:strVal val="visible"/>
                                      </p:to>
                                    </p:set>
                                    <p:animEffect transition="in" filter="wipe(down)">
                                      <p:cBhvr>
                                        <p:cTn id="7" dur="500"/>
                                        <p:tgtEl>
                                          <p:spTgt spid="74756">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4756">
                                            <p:txEl>
                                              <p:pRg st="2" end="2"/>
                                            </p:txEl>
                                          </p:spTgt>
                                        </p:tgtEl>
                                        <p:attrNameLst>
                                          <p:attrName>style.visibility</p:attrName>
                                        </p:attrNameLst>
                                      </p:cBhvr>
                                      <p:to>
                                        <p:strVal val="visible"/>
                                      </p:to>
                                    </p:set>
                                    <p:animEffect transition="in" filter="wipe(down)">
                                      <p:cBhvr>
                                        <p:cTn id="10" dur="500"/>
                                        <p:tgtEl>
                                          <p:spTgt spid="7475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4756">
                                            <p:txEl>
                                              <p:pRg st="3" end="3"/>
                                            </p:txEl>
                                          </p:spTgt>
                                        </p:tgtEl>
                                        <p:attrNameLst>
                                          <p:attrName>style.visibility</p:attrName>
                                        </p:attrNameLst>
                                      </p:cBhvr>
                                      <p:to>
                                        <p:strVal val="visible"/>
                                      </p:to>
                                    </p:set>
                                    <p:animEffect transition="in" filter="wipe(down)">
                                      <p:cBhvr>
                                        <p:cTn id="15" dur="500"/>
                                        <p:tgtEl>
                                          <p:spTgt spid="74756">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74756">
                                            <p:txEl>
                                              <p:pRg st="10" end="10"/>
                                            </p:txEl>
                                          </p:spTgt>
                                        </p:tgtEl>
                                        <p:attrNameLst>
                                          <p:attrName>style.visibility</p:attrName>
                                        </p:attrNameLst>
                                      </p:cBhvr>
                                      <p:to>
                                        <p:strVal val="visible"/>
                                      </p:to>
                                    </p:set>
                                    <p:animEffect transition="in" filter="wipe(down)">
                                      <p:cBhvr>
                                        <p:cTn id="20" dur="500"/>
                                        <p:tgtEl>
                                          <p:spTgt spid="74756">
                                            <p:txEl>
                                              <p:pRg st="10" end="10"/>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74756">
                                            <p:txEl>
                                              <p:pRg st="11" end="11"/>
                                            </p:txEl>
                                          </p:spTgt>
                                        </p:tgtEl>
                                        <p:attrNameLst>
                                          <p:attrName>style.visibility</p:attrName>
                                        </p:attrNameLst>
                                      </p:cBhvr>
                                      <p:to>
                                        <p:strVal val="visible"/>
                                      </p:to>
                                    </p:set>
                                    <p:animEffect transition="in" filter="wipe(down)">
                                      <p:cBhvr>
                                        <p:cTn id="25" dur="500"/>
                                        <p:tgtEl>
                                          <p:spTgt spid="74756">
                                            <p:txEl>
                                              <p:pRg st="11" end="11"/>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74756">
                                            <p:txEl>
                                              <p:pRg st="12" end="12"/>
                                            </p:txEl>
                                          </p:spTgt>
                                        </p:tgtEl>
                                        <p:attrNameLst>
                                          <p:attrName>style.visibility</p:attrName>
                                        </p:attrNameLst>
                                      </p:cBhvr>
                                      <p:to>
                                        <p:strVal val="visible"/>
                                      </p:to>
                                    </p:set>
                                    <p:animEffect transition="in" filter="wipe(down)">
                                      <p:cBhvr>
                                        <p:cTn id="28" dur="500"/>
                                        <p:tgtEl>
                                          <p:spTgt spid="7475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燕尾形 1"/>
          <p:cNvSpPr/>
          <p:nvPr/>
        </p:nvSpPr>
        <p:spPr>
          <a:xfrm>
            <a:off x="244475" y="313055"/>
            <a:ext cx="3702050" cy="561975"/>
          </a:xfrm>
          <a:prstGeom prst="chevr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754" name="Rectangle 2"/>
          <p:cNvSpPr/>
          <p:nvPr/>
        </p:nvSpPr>
        <p:spPr bwMode="auto">
          <a:xfrm>
            <a:off x="8062913" y="22225"/>
            <a:ext cx="1320800" cy="177800"/>
          </a:xfrm>
          <a:prstGeom prst="rect">
            <a:avLst/>
          </a:prstGeom>
          <a:noFill/>
          <a:ln w="25400" cap="flat">
            <a:noFill/>
            <a:miter lim="800000"/>
            <a:headEnd type="none" w="med" len="med"/>
            <a:tailEnd type="none" w="med" len="med"/>
          </a:ln>
        </p:spPr>
        <p:txBody>
          <a:bodyPr lIns="0" tIns="0" rIns="0" bIns="0"/>
          <a:lstStyle/>
          <a:p>
            <a:pPr algn="l"/>
            <a:r>
              <a:rPr lang="en-US" sz="1200">
                <a:solidFill>
                  <a:srgbClr val="FFFFFF"/>
                </a:solidFill>
                <a:ea typeface="Gill Sans" charset="0"/>
                <a:cs typeface="Gill Sans" charset="0"/>
              </a:rPr>
              <a:t>Carnegie Mellon</a:t>
            </a:r>
          </a:p>
        </p:txBody>
      </p:sp>
      <p:sp>
        <p:nvSpPr>
          <p:cNvPr id="74755" name="Rectangle 3"/>
          <p:cNvSpPr>
            <a:spLocks noGrp="1" noChangeArrowheads="1"/>
          </p:cNvSpPr>
          <p:nvPr>
            <p:ph type="title" idx="4294967295"/>
          </p:nvPr>
        </p:nvSpPr>
        <p:spPr>
          <a:xfrm>
            <a:off x="575945" y="351155"/>
            <a:ext cx="3477895" cy="561975"/>
          </a:xfrm>
        </p:spPr>
        <p:txBody>
          <a:bodyPr/>
          <a:lstStyle/>
          <a:p>
            <a:pPr marL="119380" indent="-119380"/>
            <a:r>
              <a:rPr lang="zh-CN" altLang="en-US" sz="3200" dirty="0">
                <a:solidFill>
                  <a:schemeClr val="bg1"/>
                </a:solidFill>
              </a:rPr>
              <a:t>寄存器保存习惯</a:t>
            </a:r>
          </a:p>
        </p:txBody>
      </p:sp>
      <p:sp>
        <p:nvSpPr>
          <p:cNvPr id="74756" name="Rectangle 4"/>
          <p:cNvSpPr>
            <a:spLocks noGrp="1" noChangeArrowheads="1"/>
          </p:cNvSpPr>
          <p:nvPr>
            <p:ph type="body" idx="4294967295"/>
          </p:nvPr>
        </p:nvSpPr>
        <p:spPr>
          <a:xfrm>
            <a:off x="190500" y="1073785"/>
            <a:ext cx="8229600" cy="5217795"/>
          </a:xfrm>
        </p:spPr>
        <p:txBody>
          <a:bodyPr/>
          <a:lstStyle/>
          <a:p>
            <a:r>
              <a:rPr lang="zh-CN" altLang="en-US" sz="2400" dirty="0"/>
              <a:t>当过程</a:t>
            </a:r>
            <a:r>
              <a:rPr lang="en-US" sz="2400" dirty="0"/>
              <a:t> </a:t>
            </a:r>
            <a:r>
              <a:rPr lang="en-US" sz="2400" dirty="0" err="1">
                <a:latin typeface="Courier New Bold" charset="0"/>
                <a:cs typeface="Courier New Bold" charset="0"/>
                <a:sym typeface="Courier New Bold" charset="0"/>
              </a:rPr>
              <a:t>yoo</a:t>
            </a:r>
            <a:r>
              <a:rPr lang="en-US" sz="2400" dirty="0"/>
              <a:t> </a:t>
            </a:r>
            <a:r>
              <a:rPr lang="zh-CN" altLang="en-US" sz="2400" dirty="0"/>
              <a:t>调用</a:t>
            </a:r>
            <a:r>
              <a:rPr lang="en-US" sz="2400" dirty="0"/>
              <a:t> </a:t>
            </a:r>
            <a:r>
              <a:rPr lang="en-US" sz="2400" dirty="0">
                <a:latin typeface="Courier New Bold" charset="0"/>
                <a:cs typeface="Courier New Bold" charset="0"/>
                <a:sym typeface="Courier New Bold" charset="0"/>
              </a:rPr>
              <a:t>who</a:t>
            </a:r>
            <a:r>
              <a:rPr lang="en-US" sz="2400" dirty="0"/>
              <a:t>:</a:t>
            </a:r>
          </a:p>
          <a:p>
            <a:pPr marL="552450" lvl="1"/>
            <a:r>
              <a:rPr lang="en-US" sz="2000" dirty="0">
                <a:sym typeface="Courier New Bold" charset="0"/>
              </a:rPr>
              <a:t>yoo</a:t>
            </a:r>
            <a:r>
              <a:rPr lang="en-US" sz="2000" dirty="0"/>
              <a:t> 是调用者</a:t>
            </a:r>
          </a:p>
          <a:p>
            <a:pPr marL="552450" lvl="1"/>
            <a:r>
              <a:rPr lang="en-US" sz="2000" dirty="0">
                <a:sym typeface="Courier New Bold" charset="0"/>
              </a:rPr>
              <a:t>who</a:t>
            </a:r>
            <a:r>
              <a:rPr lang="en-US" sz="2000" dirty="0"/>
              <a:t> 是被调用者</a:t>
            </a:r>
            <a:endParaRPr lang="zh-CN" altLang="en-US" sz="2000" dirty="0"/>
          </a:p>
          <a:p>
            <a:pPr>
              <a:spcBef>
                <a:spcPts val="1200"/>
              </a:spcBef>
            </a:pPr>
            <a:r>
              <a:rPr lang="zh-CN" altLang="en-US" sz="2400" dirty="0"/>
              <a:t>寄存器可以用来作为临时存储吗</a:t>
            </a:r>
            <a:r>
              <a:rPr lang="en-US" sz="2400" dirty="0"/>
              <a:t>?</a:t>
            </a:r>
          </a:p>
          <a:p>
            <a:pPr>
              <a:spcBef>
                <a:spcPts val="1200"/>
              </a:spcBef>
            </a:pPr>
            <a:r>
              <a:rPr lang="zh-CN" altLang="en-US" sz="2400" dirty="0"/>
              <a:t>规定</a:t>
            </a:r>
          </a:p>
          <a:p>
            <a:pPr marL="552450" lvl="1"/>
            <a:r>
              <a:rPr lang="en-US" sz="2400" dirty="0">
                <a:solidFill>
                  <a:srgbClr val="980002"/>
                </a:solidFill>
                <a:highlight>
                  <a:srgbClr val="FFFF00"/>
                </a:highlight>
                <a:latin typeface="Calibri Bold Italic" charset="0"/>
                <a:ea typeface="Calibri Bold Italic" charset="0"/>
                <a:cs typeface="Calibri Bold Italic" charset="0"/>
                <a:sym typeface="Calibri Bold Italic" charset="0"/>
              </a:rPr>
              <a:t>“调用者保存”</a:t>
            </a:r>
            <a:endParaRPr lang="en-US" sz="2400" dirty="0">
              <a:solidFill>
                <a:srgbClr val="980002"/>
              </a:solidFill>
              <a:highlight>
                <a:srgbClr val="FFFF00"/>
              </a:highlight>
              <a:latin typeface="Calibri Bold Italic" charset="0"/>
              <a:ea typeface="ヒラギノ角ゴ ProN W6" charset="0"/>
              <a:cs typeface="ヒラギノ角ゴ ProN W6" charset="0"/>
              <a:sym typeface="Calibri Bold Italic" charset="0"/>
            </a:endParaRPr>
          </a:p>
          <a:p>
            <a:pPr marL="838200" lvl="2"/>
            <a:r>
              <a:rPr lang="en-US" dirty="0">
                <a:highlight>
                  <a:srgbClr val="FFFF00"/>
                </a:highlight>
                <a:sym typeface="+mn-ea"/>
              </a:rPr>
              <a:t>调用者在调用之前在帧中保存临时值。</a:t>
            </a:r>
          </a:p>
          <a:p>
            <a:pPr marL="552450" lvl="1"/>
            <a:r>
              <a:rPr lang="en-US" sz="2400" dirty="0">
                <a:solidFill>
                  <a:srgbClr val="980002"/>
                </a:solidFill>
                <a:highlight>
                  <a:srgbClr val="FFFF00"/>
                </a:highlight>
                <a:latin typeface="Calibri Bold Italic" charset="0"/>
                <a:ea typeface="Calibri Bold Italic" charset="0"/>
                <a:cs typeface="Calibri Bold Italic" charset="0"/>
                <a:sym typeface="Calibri Bold Italic" charset="0"/>
              </a:rPr>
              <a:t>“</a:t>
            </a:r>
            <a:r>
              <a:rPr lang="zh-CN" altLang="en-US" sz="2400" dirty="0">
                <a:solidFill>
                  <a:srgbClr val="980002"/>
                </a:solidFill>
                <a:highlight>
                  <a:srgbClr val="FFFF00"/>
                </a:highlight>
                <a:latin typeface="Calibri Bold Italic" charset="0"/>
                <a:ea typeface="宋体" panose="02010600030101010101" pitchFamily="2" charset="-122"/>
                <a:cs typeface="Calibri Bold Italic" charset="0"/>
                <a:sym typeface="Calibri Bold Italic" charset="0"/>
              </a:rPr>
              <a:t>被</a:t>
            </a:r>
            <a:r>
              <a:rPr lang="en-US" sz="2400" dirty="0" err="1">
                <a:solidFill>
                  <a:srgbClr val="980002"/>
                </a:solidFill>
                <a:highlight>
                  <a:srgbClr val="FFFF00"/>
                </a:highlight>
                <a:latin typeface="Calibri Bold Italic" charset="0"/>
                <a:ea typeface="Calibri Bold Italic" charset="0"/>
                <a:cs typeface="Calibri Bold Italic" charset="0"/>
                <a:sym typeface="Calibri Bold Italic" charset="0"/>
              </a:rPr>
              <a:t>调用者保存</a:t>
            </a:r>
            <a:r>
              <a:rPr lang="en-US" sz="2400" dirty="0">
                <a:solidFill>
                  <a:srgbClr val="980002"/>
                </a:solidFill>
                <a:highlight>
                  <a:srgbClr val="FFFF00"/>
                </a:highlight>
                <a:latin typeface="Calibri Bold Italic" charset="0"/>
                <a:ea typeface="Calibri Bold Italic" charset="0"/>
                <a:cs typeface="Calibri Bold Italic" charset="0"/>
                <a:sym typeface="Calibri Bold Italic" charset="0"/>
              </a:rPr>
              <a:t>”</a:t>
            </a:r>
            <a:endParaRPr lang="en-US" sz="2400" dirty="0">
              <a:solidFill>
                <a:srgbClr val="980002"/>
              </a:solidFill>
              <a:highlight>
                <a:srgbClr val="FFFF00"/>
              </a:highlight>
              <a:latin typeface="Calibri Bold Italic" charset="0"/>
              <a:ea typeface="ヒラギノ角ゴ ProN W6" charset="0"/>
              <a:cs typeface="ヒラギノ角ゴ ProN W6" charset="0"/>
              <a:sym typeface="Calibri Bold Italic" charset="0"/>
            </a:endParaRPr>
          </a:p>
          <a:p>
            <a:pPr marL="838200" lvl="2"/>
            <a:r>
              <a:rPr lang="en-US" dirty="0" err="1">
                <a:highlight>
                  <a:srgbClr val="FFFF00"/>
                </a:highlight>
                <a:sym typeface="+mn-ea"/>
              </a:rPr>
              <a:t>被调用者</a:t>
            </a:r>
            <a:r>
              <a:rPr lang="zh-CN" altLang="en-US" dirty="0">
                <a:highlight>
                  <a:srgbClr val="FFFF00"/>
                </a:highlight>
                <a:sym typeface="+mn-ea"/>
              </a:rPr>
              <a:t>在</a:t>
            </a:r>
            <a:r>
              <a:rPr lang="en-US" dirty="0" err="1">
                <a:highlight>
                  <a:srgbClr val="FFFF00"/>
                </a:highlight>
                <a:sym typeface="+mn-ea"/>
              </a:rPr>
              <a:t>使用前保存临时值在</a:t>
            </a:r>
            <a:r>
              <a:rPr lang="zh-CN" altLang="en-US" dirty="0">
                <a:highlight>
                  <a:srgbClr val="FFFF00"/>
                </a:highlight>
                <a:sym typeface="+mn-ea"/>
              </a:rPr>
              <a:t>帧中。</a:t>
            </a:r>
          </a:p>
          <a:p>
            <a:pPr marL="838200" lvl="2"/>
            <a:r>
              <a:rPr lang="zh-CN" altLang="en-US" dirty="0">
                <a:highlight>
                  <a:srgbClr val="FFFF00"/>
                </a:highlight>
              </a:rPr>
              <a:t>在返回调用者前保存值。</a:t>
            </a:r>
          </a:p>
          <a:p>
            <a:pPr marL="0" indent="0">
              <a:spcBef>
                <a:spcPts val="1200"/>
              </a:spcBef>
              <a:buNone/>
            </a:pPr>
            <a:endParaRPr lang="zh-CN" altLang="en-US" sz="2400" dirty="0"/>
          </a:p>
          <a:p>
            <a:pPr>
              <a:spcBef>
                <a:spcPts val="1200"/>
              </a:spcBef>
            </a:pPr>
            <a:endParaRPr lang="en-US" sz="2400" dirty="0"/>
          </a:p>
          <a:p>
            <a:endParaRPr lang="en-US" sz="2000" dirty="0"/>
          </a:p>
          <a:p>
            <a:endParaRPr lang="en-US" sz="1800" dirty="0"/>
          </a:p>
          <a:p>
            <a:endParaRPr lang="en-US" sz="1600" dirty="0"/>
          </a:p>
          <a:p>
            <a:endParaRPr lang="en-US" sz="1400" dirty="0"/>
          </a:p>
          <a:p>
            <a:endParaRPr lang="en-US" sz="1400" dirty="0"/>
          </a:p>
          <a:p>
            <a:endParaRPr lang="en-US" sz="1200" dirty="0"/>
          </a:p>
          <a:p>
            <a:pPr marL="323850" lvl="1" indent="0">
              <a:buNone/>
            </a:pPr>
            <a:endParaRPr lang="zh-CN" altLang="en-US" sz="1800" dirty="0"/>
          </a:p>
        </p:txBody>
      </p:sp>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4756">
                                            <p:txEl>
                                              <p:pRg st="6" end="6"/>
                                            </p:txEl>
                                          </p:spTgt>
                                        </p:tgtEl>
                                        <p:attrNameLst>
                                          <p:attrName>style.visibility</p:attrName>
                                        </p:attrNameLst>
                                      </p:cBhvr>
                                      <p:to>
                                        <p:strVal val="visible"/>
                                      </p:to>
                                    </p:set>
                                    <p:animEffect transition="in" filter="wipe(down)">
                                      <p:cBhvr>
                                        <p:cTn id="7" dur="500"/>
                                        <p:tgtEl>
                                          <p:spTgt spid="74756">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4756">
                                            <p:txEl>
                                              <p:pRg st="8" end="8"/>
                                            </p:txEl>
                                          </p:spTgt>
                                        </p:tgtEl>
                                        <p:attrNameLst>
                                          <p:attrName>style.visibility</p:attrName>
                                        </p:attrNameLst>
                                      </p:cBhvr>
                                      <p:to>
                                        <p:strVal val="visible"/>
                                      </p:to>
                                    </p:set>
                                    <p:animEffect transition="in" filter="wipe(down)">
                                      <p:cBhvr>
                                        <p:cTn id="12" dur="500"/>
                                        <p:tgtEl>
                                          <p:spTgt spid="74756">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4756">
                                            <p:txEl>
                                              <p:pRg st="9" end="9"/>
                                            </p:txEl>
                                          </p:spTgt>
                                        </p:tgtEl>
                                        <p:attrNameLst>
                                          <p:attrName>style.visibility</p:attrName>
                                        </p:attrNameLst>
                                      </p:cBhvr>
                                      <p:to>
                                        <p:strVal val="visible"/>
                                      </p:to>
                                    </p:set>
                                    <p:animEffect transition="in" filter="wipe(down)">
                                      <p:cBhvr>
                                        <p:cTn id="17" dur="500"/>
                                        <p:tgtEl>
                                          <p:spTgt spid="7475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箭头 1"/>
          <p:cNvSpPr/>
          <p:nvPr/>
        </p:nvSpPr>
        <p:spPr>
          <a:xfrm>
            <a:off x="0" y="266065"/>
            <a:ext cx="4775200" cy="1106170"/>
          </a:xfrm>
          <a:prstGeom prst="notched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ym typeface="+mn-ea"/>
              </a:rPr>
              <a:t>x86-64 Linux </a:t>
            </a:r>
            <a:r>
              <a:rPr lang="zh-CN" altLang="en-US" sz="2400" dirty="0">
                <a:sym typeface="+mn-ea"/>
              </a:rPr>
              <a:t>寄存器用法</a:t>
            </a:r>
            <a:r>
              <a:rPr lang="en-US" sz="2400" dirty="0">
                <a:sym typeface="+mn-ea"/>
              </a:rPr>
              <a:t> #1</a:t>
            </a:r>
            <a:endParaRPr lang="en-US" altLang="en-US" sz="2400" dirty="0">
              <a:sym typeface="+mn-ea"/>
            </a:endParaRPr>
          </a:p>
        </p:txBody>
      </p:sp>
      <p:sp>
        <p:nvSpPr>
          <p:cNvPr id="76804" name="Rectangle 4"/>
          <p:cNvSpPr>
            <a:spLocks noGrp="1" noChangeArrowheads="1"/>
          </p:cNvSpPr>
          <p:nvPr/>
        </p:nvSpPr>
        <p:spPr>
          <a:xfrm>
            <a:off x="381000" y="1397000"/>
            <a:ext cx="4064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A9D18E"/>
              </a:buClr>
            </a:pPr>
            <a:r>
              <a:rPr lang="en-US" dirty="0">
                <a:latin typeface="Courier New Bold" charset="0"/>
                <a:cs typeface="Courier New Bold" charset="0"/>
                <a:sym typeface="Courier New Bold" charset="0"/>
              </a:rPr>
              <a:t>%</a:t>
            </a:r>
            <a:r>
              <a:rPr lang="en-US" dirty="0" err="1">
                <a:latin typeface="Courier New Bold" charset="0"/>
                <a:cs typeface="Courier New Bold" charset="0"/>
                <a:sym typeface="Courier New Bold" charset="0"/>
              </a:rPr>
              <a:t>rax</a:t>
            </a:r>
            <a:endParaRPr lang="en-US" dirty="0">
              <a:latin typeface="Courier New Bold" charset="0"/>
              <a:sym typeface="Courier New Bold" charset="0"/>
            </a:endParaRPr>
          </a:p>
          <a:p>
            <a:pPr marL="552450" lvl="1">
              <a:buClr>
                <a:srgbClr val="A9D18E"/>
              </a:buClr>
            </a:pPr>
            <a:r>
              <a:rPr lang="zh-CN" altLang="en-US" dirty="0">
                <a:ea typeface="宋体" panose="02010600030101010101" pitchFamily="2" charset="-122"/>
              </a:rPr>
              <a:t>返回值</a:t>
            </a:r>
          </a:p>
          <a:p>
            <a:pPr marL="552450" lvl="1">
              <a:buClr>
                <a:srgbClr val="A9D18E"/>
              </a:buClr>
            </a:pPr>
            <a:r>
              <a:rPr lang="zh-CN" altLang="en-US" dirty="0">
                <a:ea typeface="宋体" panose="02010600030101010101" pitchFamily="2" charset="-122"/>
              </a:rPr>
              <a:t>用于调用者存储</a:t>
            </a:r>
          </a:p>
          <a:p>
            <a:pPr marL="552450" lvl="1">
              <a:buClr>
                <a:srgbClr val="A9D18E"/>
              </a:buClr>
            </a:pPr>
            <a:r>
              <a:rPr lang="zh-CN" altLang="en-US" dirty="0">
                <a:ea typeface="宋体" panose="02010600030101010101" pitchFamily="2" charset="-122"/>
              </a:rPr>
              <a:t>可以被过程修改</a:t>
            </a:r>
          </a:p>
          <a:p>
            <a:pPr marL="292100">
              <a:buClr>
                <a:srgbClr val="A9D18E"/>
              </a:buClr>
            </a:pPr>
            <a:r>
              <a:rPr lang="en-US" dirty="0">
                <a:latin typeface="Courier New Bold" charset="0"/>
                <a:cs typeface="Courier New Bold" charset="0"/>
                <a:sym typeface="Courier New Bold" charset="0"/>
              </a:rPr>
              <a:t>%</a:t>
            </a:r>
            <a:r>
              <a:rPr lang="en-US" dirty="0" err="1">
                <a:latin typeface="Courier New Bold" charset="0"/>
                <a:cs typeface="Courier New Bold" charset="0"/>
                <a:sym typeface="Courier New Bold" charset="0"/>
              </a:rPr>
              <a:t>rdi</a:t>
            </a:r>
            <a:r>
              <a:rPr lang="en-US" b="0" dirty="0">
                <a:cs typeface="Courier New Bold" charset="0"/>
                <a:sym typeface="Courier New Bold" charset="0"/>
              </a:rPr>
              <a:t>, ..., </a:t>
            </a:r>
            <a:r>
              <a:rPr lang="en-US" dirty="0">
                <a:latin typeface="Courier New Bold" charset="0"/>
                <a:cs typeface="Courier New Bold" charset="0"/>
                <a:sym typeface="Courier New Bold" charset="0"/>
              </a:rPr>
              <a:t>%r9</a:t>
            </a:r>
            <a:endParaRPr lang="en-US" dirty="0">
              <a:latin typeface="Courier New Bold" charset="0"/>
              <a:sym typeface="Courier New Bold" charset="0"/>
            </a:endParaRPr>
          </a:p>
          <a:p>
            <a:pPr marL="552450" lvl="1">
              <a:buClr>
                <a:srgbClr val="A9D18E"/>
              </a:buClr>
            </a:pPr>
            <a:r>
              <a:rPr lang="zh-CN" altLang="en-US" dirty="0">
                <a:ea typeface="宋体" panose="02010600030101010101" pitchFamily="2" charset="-122"/>
              </a:rPr>
              <a:t>参数</a:t>
            </a:r>
          </a:p>
          <a:p>
            <a:pPr marL="552450" lvl="1">
              <a:buClr>
                <a:srgbClr val="A9D18E"/>
              </a:buClr>
            </a:pPr>
            <a:r>
              <a:rPr lang="zh-CN" altLang="en-US" dirty="0">
                <a:ea typeface="宋体" panose="02010600030101010101" pitchFamily="2" charset="-122"/>
                <a:sym typeface="+mn-ea"/>
              </a:rPr>
              <a:t>用于调用者保存</a:t>
            </a:r>
            <a:endParaRPr lang="en-US" dirty="0"/>
          </a:p>
          <a:p>
            <a:pPr marL="552450" lvl="1">
              <a:buClr>
                <a:srgbClr val="A9D18E"/>
              </a:buClr>
            </a:pPr>
            <a:r>
              <a:rPr lang="zh-CN" altLang="en-US" dirty="0">
                <a:ea typeface="宋体" panose="02010600030101010101" pitchFamily="2" charset="-122"/>
                <a:sym typeface="+mn-ea"/>
              </a:rPr>
              <a:t>可以被过程修改</a:t>
            </a:r>
            <a:endParaRPr lang="en-US" dirty="0"/>
          </a:p>
          <a:p>
            <a:pPr marL="292100">
              <a:buClr>
                <a:srgbClr val="A9D18E"/>
              </a:buClr>
            </a:pPr>
            <a:r>
              <a:rPr lang="en-US" dirty="0">
                <a:latin typeface="Courier New Bold" charset="0"/>
                <a:cs typeface="Courier New Bold" charset="0"/>
                <a:sym typeface="Courier New Bold" charset="0"/>
              </a:rPr>
              <a:t>%r10</a:t>
            </a:r>
            <a:r>
              <a:rPr lang="en-US" b="0" dirty="0">
                <a:cs typeface="Courier New Bold" charset="0"/>
                <a:sym typeface="Courier New Bold" charset="0"/>
              </a:rPr>
              <a:t>, </a:t>
            </a:r>
            <a:r>
              <a:rPr lang="en-US" dirty="0">
                <a:latin typeface="Courier New Bold" charset="0"/>
                <a:cs typeface="Courier New Bold" charset="0"/>
                <a:sym typeface="Courier New Bold" charset="0"/>
              </a:rPr>
              <a:t>%r11</a:t>
            </a:r>
            <a:endParaRPr lang="en-US" dirty="0">
              <a:latin typeface="Courier New Bold" charset="0"/>
              <a:sym typeface="Courier New Bold" charset="0"/>
            </a:endParaRPr>
          </a:p>
          <a:p>
            <a:pPr marL="552450" lvl="1">
              <a:buClr>
                <a:srgbClr val="A9D18E"/>
              </a:buClr>
            </a:pPr>
            <a:r>
              <a:rPr lang="zh-CN" altLang="en-US" dirty="0">
                <a:ea typeface="宋体" panose="02010600030101010101" pitchFamily="2" charset="-122"/>
                <a:sym typeface="+mn-ea"/>
              </a:rPr>
              <a:t>用于调用者保存</a:t>
            </a:r>
            <a:endParaRPr lang="en-US" dirty="0"/>
          </a:p>
          <a:p>
            <a:pPr marL="552450" lvl="1">
              <a:buClr>
                <a:srgbClr val="A9D18E"/>
              </a:buClr>
            </a:pPr>
            <a:r>
              <a:rPr lang="zh-CN" altLang="en-US" dirty="0">
                <a:ea typeface="宋体" panose="02010600030101010101" pitchFamily="2" charset="-122"/>
                <a:sym typeface="+mn-ea"/>
              </a:rPr>
              <a:t>可以被过程修改</a:t>
            </a:r>
            <a:endParaRPr lang="en-US" dirty="0"/>
          </a:p>
          <a:p>
            <a:pPr marL="552450" lvl="1"/>
            <a:endParaRPr lang="en-US" dirty="0"/>
          </a:p>
          <a:p>
            <a:pPr marL="552450" lvl="1"/>
            <a:endParaRPr lang="en-US" dirty="0"/>
          </a:p>
          <a:p>
            <a:pPr marL="552450" lvl="1"/>
            <a:endParaRPr lang="en-US" dirty="0"/>
          </a:p>
        </p:txBody>
      </p:sp>
      <p:sp>
        <p:nvSpPr>
          <p:cNvPr id="76805" name="Rectangle 5"/>
          <p:cNvSpPr/>
          <p:nvPr/>
        </p:nvSpPr>
        <p:spPr bwMode="auto">
          <a:xfrm>
            <a:off x="6324600" y="1600200"/>
            <a:ext cx="2540000" cy="381000"/>
          </a:xfrm>
          <a:prstGeom prst="rect">
            <a:avLst/>
          </a:prstGeom>
          <a:solidFill>
            <a:schemeClr val="accent1">
              <a:lumMod val="20000"/>
              <a:lumOff val="80000"/>
            </a:schemeClr>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rax</a:t>
            </a:r>
            <a:endParaRPr lang="en-US" sz="2400" dirty="0">
              <a:solidFill>
                <a:schemeClr val="tx1"/>
              </a:solidFill>
              <a:latin typeface="Courier New Bold" charset="0"/>
              <a:cs typeface="Courier New Bold" charset="0"/>
              <a:sym typeface="Courier New Bold" charset="0"/>
            </a:endParaRPr>
          </a:p>
        </p:txBody>
      </p:sp>
      <p:sp>
        <p:nvSpPr>
          <p:cNvPr id="76806" name="Rectangle 6"/>
          <p:cNvSpPr/>
          <p:nvPr/>
        </p:nvSpPr>
        <p:spPr bwMode="auto">
          <a:xfrm>
            <a:off x="6324600" y="2971800"/>
            <a:ext cx="2540000" cy="381000"/>
          </a:xfrm>
          <a:prstGeom prst="rect">
            <a:avLst/>
          </a:prstGeom>
          <a:solidFill>
            <a:schemeClr val="accent2">
              <a:lumMod val="20000"/>
              <a:lumOff val="80000"/>
            </a:schemeClr>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rdx</a:t>
            </a:r>
            <a:endParaRPr lang="en-US" sz="2400" dirty="0">
              <a:solidFill>
                <a:schemeClr val="tx1"/>
              </a:solidFill>
              <a:latin typeface="Courier New Bold" charset="0"/>
              <a:cs typeface="Courier New Bold" charset="0"/>
              <a:sym typeface="Courier New Bold" charset="0"/>
            </a:endParaRPr>
          </a:p>
        </p:txBody>
      </p:sp>
      <p:sp>
        <p:nvSpPr>
          <p:cNvPr id="76807" name="Rectangle 7"/>
          <p:cNvSpPr/>
          <p:nvPr/>
        </p:nvSpPr>
        <p:spPr bwMode="auto">
          <a:xfrm>
            <a:off x="6324600" y="3429000"/>
            <a:ext cx="2540000" cy="381000"/>
          </a:xfrm>
          <a:prstGeom prst="rect">
            <a:avLst/>
          </a:prstGeom>
          <a:solidFill>
            <a:schemeClr val="accent2">
              <a:lumMod val="20000"/>
              <a:lumOff val="80000"/>
            </a:schemeClr>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rcx</a:t>
            </a:r>
            <a:endParaRPr lang="en-US" sz="2400" dirty="0">
              <a:solidFill>
                <a:schemeClr val="tx1"/>
              </a:solidFill>
              <a:latin typeface="Courier New Bold" charset="0"/>
              <a:cs typeface="Courier New Bold" charset="0"/>
              <a:sym typeface="Courier New Bold" charset="0"/>
            </a:endParaRPr>
          </a:p>
        </p:txBody>
      </p:sp>
      <p:sp>
        <p:nvSpPr>
          <p:cNvPr id="76813" name="AutoShape 13"/>
          <p:cNvSpPr/>
          <p:nvPr/>
        </p:nvSpPr>
        <p:spPr bwMode="auto">
          <a:xfrm>
            <a:off x="5867400" y="2057400"/>
            <a:ext cx="304800" cy="2667000"/>
          </a:xfrm>
          <a:custGeom>
            <a:avLst/>
            <a:gdLst>
              <a:gd name="T0" fmla="*/ 10800 w 21600"/>
              <a:gd name="T1" fmla="*/ 10800 h 21600"/>
            </a:gdLst>
            <a:ahLst/>
            <a:cxnLst>
              <a:cxn ang="0">
                <a:pos x="T0" y="T1"/>
              </a:cxn>
            </a:cxnLst>
            <a:rect l="0" t="0" r="r" b="b"/>
            <a:pathLst>
              <a:path w="21600" h="21600">
                <a:moveTo>
                  <a:pt x="21600" y="21600"/>
                </a:moveTo>
                <a:cubicBezTo>
                  <a:pt x="15635" y="21600"/>
                  <a:pt x="10800" y="21140"/>
                  <a:pt x="10800" y="20571"/>
                </a:cubicBezTo>
                <a:lnTo>
                  <a:pt x="10800" y="11829"/>
                </a:lnTo>
                <a:cubicBezTo>
                  <a:pt x="10800" y="11261"/>
                  <a:pt x="5965" y="10800"/>
                  <a:pt x="0" y="10800"/>
                </a:cubicBezTo>
                <a:cubicBezTo>
                  <a:pt x="5965" y="10800"/>
                  <a:pt x="10800" y="10339"/>
                  <a:pt x="10800" y="9771"/>
                </a:cubicBezTo>
                <a:lnTo>
                  <a:pt x="10800" y="1029"/>
                </a:lnTo>
                <a:cubicBezTo>
                  <a:pt x="10800" y="461"/>
                  <a:pt x="15635" y="0"/>
                  <a:pt x="21600" y="0"/>
                </a:cubicBezTo>
              </a:path>
            </a:pathLst>
          </a:custGeom>
          <a:noFill/>
          <a:ln w="25400" cap="flat">
            <a:solidFill>
              <a:schemeClr val="tx1"/>
            </a:solidFill>
            <a:prstDash val="solid"/>
            <a:round/>
            <a:headEnd type="none" w="med" len="med"/>
            <a:tailEnd type="none" w="med" len="med"/>
          </a:ln>
        </p:spPr>
        <p:txBody>
          <a:bodyPr lIns="0" tIns="0" rIns="0" bIns="0"/>
          <a:lstStyle/>
          <a:p>
            <a:endParaRPr lang="en-US"/>
          </a:p>
        </p:txBody>
      </p:sp>
      <p:sp>
        <p:nvSpPr>
          <p:cNvPr id="76816" name="Rectangle 16"/>
          <p:cNvSpPr/>
          <p:nvPr/>
        </p:nvSpPr>
        <p:spPr bwMode="auto">
          <a:xfrm>
            <a:off x="5034111" y="1600200"/>
            <a:ext cx="762000" cy="35306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zh-CN" altLang="en-US" sz="1800" dirty="0">
                <a:solidFill>
                  <a:schemeClr val="tx1"/>
                </a:solidFill>
                <a:latin typeface="Calibri Bold" charset="0"/>
                <a:ea typeface="宋体" panose="02010600030101010101" pitchFamily="2" charset="-122"/>
                <a:cs typeface="Calibri Bold" charset="0"/>
                <a:sym typeface="Calibri Bold" charset="0"/>
              </a:rPr>
              <a:t>返回值</a:t>
            </a:r>
          </a:p>
        </p:txBody>
      </p:sp>
      <p:sp>
        <p:nvSpPr>
          <p:cNvPr id="20" name="Rectangle 7"/>
          <p:cNvSpPr/>
          <p:nvPr/>
        </p:nvSpPr>
        <p:spPr bwMode="auto">
          <a:xfrm>
            <a:off x="6324600" y="3886200"/>
            <a:ext cx="2540000" cy="381000"/>
          </a:xfrm>
          <a:prstGeom prst="rect">
            <a:avLst/>
          </a:prstGeom>
          <a:solidFill>
            <a:schemeClr val="accent2">
              <a:lumMod val="20000"/>
              <a:lumOff val="80000"/>
            </a:schemeClr>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%r8</a:t>
            </a:r>
          </a:p>
        </p:txBody>
      </p:sp>
      <p:sp>
        <p:nvSpPr>
          <p:cNvPr id="21" name="Rectangle 7"/>
          <p:cNvSpPr/>
          <p:nvPr/>
        </p:nvSpPr>
        <p:spPr bwMode="auto">
          <a:xfrm>
            <a:off x="6324600" y="4343400"/>
            <a:ext cx="2540000" cy="381000"/>
          </a:xfrm>
          <a:prstGeom prst="rect">
            <a:avLst/>
          </a:prstGeom>
          <a:solidFill>
            <a:schemeClr val="accent2">
              <a:lumMod val="20000"/>
              <a:lumOff val="80000"/>
            </a:schemeClr>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%r9</a:t>
            </a:r>
          </a:p>
        </p:txBody>
      </p:sp>
      <p:sp>
        <p:nvSpPr>
          <p:cNvPr id="22" name="Rectangle 7"/>
          <p:cNvSpPr/>
          <p:nvPr/>
        </p:nvSpPr>
        <p:spPr bwMode="auto">
          <a:xfrm>
            <a:off x="6324600" y="4800600"/>
            <a:ext cx="2540000" cy="381000"/>
          </a:xfrm>
          <a:prstGeom prst="rect">
            <a:avLst/>
          </a:prstGeom>
          <a:solidFill>
            <a:srgbClr val="F6F5BD"/>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%r10</a:t>
            </a:r>
          </a:p>
        </p:txBody>
      </p:sp>
      <p:sp>
        <p:nvSpPr>
          <p:cNvPr id="23" name="Rectangle 7"/>
          <p:cNvSpPr/>
          <p:nvPr/>
        </p:nvSpPr>
        <p:spPr bwMode="auto">
          <a:xfrm>
            <a:off x="6324600" y="5257800"/>
            <a:ext cx="2540000" cy="381000"/>
          </a:xfrm>
          <a:prstGeom prst="rect">
            <a:avLst/>
          </a:prstGeom>
          <a:solidFill>
            <a:srgbClr val="F6F5BD"/>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%r11</a:t>
            </a:r>
          </a:p>
        </p:txBody>
      </p:sp>
      <p:sp>
        <p:nvSpPr>
          <p:cNvPr id="24" name="Rectangle 5"/>
          <p:cNvSpPr/>
          <p:nvPr/>
        </p:nvSpPr>
        <p:spPr bwMode="auto">
          <a:xfrm>
            <a:off x="6324600" y="2057400"/>
            <a:ext cx="2540000" cy="381000"/>
          </a:xfrm>
          <a:prstGeom prst="rect">
            <a:avLst/>
          </a:prstGeom>
          <a:solidFill>
            <a:schemeClr val="accent2">
              <a:lumMod val="20000"/>
              <a:lumOff val="80000"/>
            </a:schemeClr>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rdi</a:t>
            </a:r>
            <a:endParaRPr lang="en-US" sz="2400" dirty="0">
              <a:solidFill>
                <a:schemeClr val="tx1"/>
              </a:solidFill>
              <a:latin typeface="Courier New Bold" charset="0"/>
              <a:cs typeface="Courier New Bold" charset="0"/>
              <a:sym typeface="Courier New Bold" charset="0"/>
            </a:endParaRPr>
          </a:p>
        </p:txBody>
      </p:sp>
      <p:sp>
        <p:nvSpPr>
          <p:cNvPr id="25" name="Rectangle 5"/>
          <p:cNvSpPr/>
          <p:nvPr/>
        </p:nvSpPr>
        <p:spPr bwMode="auto">
          <a:xfrm>
            <a:off x="6324600" y="2514600"/>
            <a:ext cx="2540000" cy="381000"/>
          </a:xfrm>
          <a:prstGeom prst="rect">
            <a:avLst/>
          </a:prstGeom>
          <a:solidFill>
            <a:schemeClr val="accent2">
              <a:lumMod val="20000"/>
              <a:lumOff val="80000"/>
            </a:schemeClr>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rsi</a:t>
            </a:r>
            <a:endParaRPr lang="en-US" sz="2400" dirty="0">
              <a:solidFill>
                <a:schemeClr val="tx1"/>
              </a:solidFill>
              <a:latin typeface="Courier New Bold" charset="0"/>
              <a:cs typeface="Courier New Bold" charset="0"/>
              <a:sym typeface="Courier New Bold" charset="0"/>
            </a:endParaRPr>
          </a:p>
        </p:txBody>
      </p:sp>
      <p:sp>
        <p:nvSpPr>
          <p:cNvPr id="26" name="Rectangle 16"/>
          <p:cNvSpPr/>
          <p:nvPr/>
        </p:nvSpPr>
        <p:spPr bwMode="auto">
          <a:xfrm>
            <a:off x="5262711" y="3200400"/>
            <a:ext cx="533400" cy="35306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zh-CN" altLang="en-US" sz="1800" dirty="0">
                <a:solidFill>
                  <a:schemeClr val="tx1"/>
                </a:solidFill>
                <a:latin typeface="Calibri Bold" charset="0"/>
                <a:ea typeface="宋体" panose="02010600030101010101" pitchFamily="2" charset="-122"/>
                <a:cs typeface="Calibri Bold" charset="0"/>
                <a:sym typeface="Calibri Bold" charset="0"/>
              </a:rPr>
              <a:t>参数</a:t>
            </a:r>
          </a:p>
        </p:txBody>
      </p:sp>
      <p:sp>
        <p:nvSpPr>
          <p:cNvPr id="27" name="Rectangle 16"/>
          <p:cNvSpPr/>
          <p:nvPr/>
        </p:nvSpPr>
        <p:spPr bwMode="auto">
          <a:xfrm>
            <a:off x="4538040" y="5029200"/>
            <a:ext cx="1219200" cy="62992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800" dirty="0">
                <a:solidFill>
                  <a:schemeClr val="tx1"/>
                </a:solidFill>
                <a:latin typeface="Calibri Bold" charset="0"/>
                <a:ea typeface="Calibri Bold" charset="0"/>
                <a:cs typeface="Calibri Bold" charset="0"/>
                <a:sym typeface="Calibri Bold" charset="0"/>
              </a:rPr>
              <a:t>调用者保存</a:t>
            </a:r>
          </a:p>
          <a:p>
            <a:pPr algn="r"/>
            <a:r>
              <a:rPr lang="en-US" sz="1800" dirty="0">
                <a:solidFill>
                  <a:schemeClr val="tx1"/>
                </a:solidFill>
                <a:latin typeface="Calibri Bold" charset="0"/>
                <a:ea typeface="Calibri Bold" charset="0"/>
                <a:cs typeface="Calibri Bold" charset="0"/>
                <a:sym typeface="Calibri Bold" charset="0"/>
              </a:rPr>
              <a:t>临时变量</a:t>
            </a:r>
          </a:p>
        </p:txBody>
      </p:sp>
      <p:sp>
        <p:nvSpPr>
          <p:cNvPr id="28" name="AutoShape 13"/>
          <p:cNvSpPr/>
          <p:nvPr/>
        </p:nvSpPr>
        <p:spPr bwMode="auto">
          <a:xfrm>
            <a:off x="5867400" y="4800600"/>
            <a:ext cx="304800" cy="838200"/>
          </a:xfrm>
          <a:custGeom>
            <a:avLst/>
            <a:gdLst>
              <a:gd name="T0" fmla="*/ 10800 w 21600"/>
              <a:gd name="T1" fmla="*/ 10800 h 21600"/>
            </a:gdLst>
            <a:ahLst/>
            <a:cxnLst>
              <a:cxn ang="0">
                <a:pos x="T0" y="T1"/>
              </a:cxn>
            </a:cxnLst>
            <a:rect l="0" t="0" r="r" b="b"/>
            <a:pathLst>
              <a:path w="21600" h="21600">
                <a:moveTo>
                  <a:pt x="21600" y="21600"/>
                </a:moveTo>
                <a:cubicBezTo>
                  <a:pt x="15635" y="21600"/>
                  <a:pt x="10800" y="21140"/>
                  <a:pt x="10800" y="20571"/>
                </a:cubicBezTo>
                <a:lnTo>
                  <a:pt x="10800" y="11829"/>
                </a:lnTo>
                <a:cubicBezTo>
                  <a:pt x="10800" y="11261"/>
                  <a:pt x="5965" y="10800"/>
                  <a:pt x="0" y="10800"/>
                </a:cubicBezTo>
                <a:cubicBezTo>
                  <a:pt x="5965" y="10800"/>
                  <a:pt x="10800" y="10339"/>
                  <a:pt x="10800" y="9771"/>
                </a:cubicBezTo>
                <a:lnTo>
                  <a:pt x="10800" y="1029"/>
                </a:lnTo>
                <a:cubicBezTo>
                  <a:pt x="10800" y="461"/>
                  <a:pt x="15635" y="0"/>
                  <a:pt x="21600" y="0"/>
                </a:cubicBezTo>
              </a:path>
            </a:pathLst>
          </a:custGeom>
          <a:noFill/>
          <a:ln w="25400" cap="flat">
            <a:solidFill>
              <a:schemeClr val="tx1"/>
            </a:solidFill>
            <a:prstDash val="solid"/>
            <a:round/>
            <a:headEnd type="none" w="med" len="med"/>
            <a:tailEnd type="none" w="med" len="med"/>
          </a:ln>
        </p:spPr>
        <p:txBody>
          <a:bodyPr lIns="0" tIns="0" rIns="0" bIns="0"/>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6804">
                                            <p:txEl>
                                              <p:pRg st="1" end="1"/>
                                            </p:txEl>
                                          </p:spTgt>
                                        </p:tgtEl>
                                        <p:attrNameLst>
                                          <p:attrName>style.visibility</p:attrName>
                                        </p:attrNameLst>
                                      </p:cBhvr>
                                      <p:to>
                                        <p:strVal val="visible"/>
                                      </p:to>
                                    </p:set>
                                    <p:animEffect transition="in" filter="wipe(down)">
                                      <p:cBhvr>
                                        <p:cTn id="7" dur="500"/>
                                        <p:tgtEl>
                                          <p:spTgt spid="76804">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6804">
                                            <p:txEl>
                                              <p:pRg st="2" end="2"/>
                                            </p:txEl>
                                          </p:spTgt>
                                        </p:tgtEl>
                                        <p:attrNameLst>
                                          <p:attrName>style.visibility</p:attrName>
                                        </p:attrNameLst>
                                      </p:cBhvr>
                                      <p:to>
                                        <p:strVal val="visible"/>
                                      </p:to>
                                    </p:set>
                                    <p:animEffect transition="in" filter="wipe(down)">
                                      <p:cBhvr>
                                        <p:cTn id="10" dur="500"/>
                                        <p:tgtEl>
                                          <p:spTgt spid="76804">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76804">
                                            <p:txEl>
                                              <p:pRg st="3" end="3"/>
                                            </p:txEl>
                                          </p:spTgt>
                                        </p:tgtEl>
                                        <p:attrNameLst>
                                          <p:attrName>style.visibility</p:attrName>
                                        </p:attrNameLst>
                                      </p:cBhvr>
                                      <p:to>
                                        <p:strVal val="visible"/>
                                      </p:to>
                                    </p:set>
                                    <p:animEffect transition="in" filter="wipe(down)">
                                      <p:cBhvr>
                                        <p:cTn id="13" dur="500"/>
                                        <p:tgtEl>
                                          <p:spTgt spid="76804">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76804">
                                            <p:txEl>
                                              <p:pRg st="5" end="5"/>
                                            </p:txEl>
                                          </p:spTgt>
                                        </p:tgtEl>
                                        <p:attrNameLst>
                                          <p:attrName>style.visibility</p:attrName>
                                        </p:attrNameLst>
                                      </p:cBhvr>
                                      <p:to>
                                        <p:strVal val="visible"/>
                                      </p:to>
                                    </p:set>
                                    <p:animEffect transition="in" filter="wipe(down)">
                                      <p:cBhvr>
                                        <p:cTn id="18" dur="500"/>
                                        <p:tgtEl>
                                          <p:spTgt spid="76804">
                                            <p:txEl>
                                              <p:pRg st="5" end="5"/>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76804">
                                            <p:txEl>
                                              <p:pRg st="6" end="6"/>
                                            </p:txEl>
                                          </p:spTgt>
                                        </p:tgtEl>
                                        <p:attrNameLst>
                                          <p:attrName>style.visibility</p:attrName>
                                        </p:attrNameLst>
                                      </p:cBhvr>
                                      <p:to>
                                        <p:strVal val="visible"/>
                                      </p:to>
                                    </p:set>
                                    <p:animEffect transition="in" filter="wipe(down)">
                                      <p:cBhvr>
                                        <p:cTn id="21" dur="500"/>
                                        <p:tgtEl>
                                          <p:spTgt spid="76804">
                                            <p:txEl>
                                              <p:pRg st="6" end="6"/>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76804">
                                            <p:txEl>
                                              <p:pRg st="7" end="7"/>
                                            </p:txEl>
                                          </p:spTgt>
                                        </p:tgtEl>
                                        <p:attrNameLst>
                                          <p:attrName>style.visibility</p:attrName>
                                        </p:attrNameLst>
                                      </p:cBhvr>
                                      <p:to>
                                        <p:strVal val="visible"/>
                                      </p:to>
                                    </p:set>
                                    <p:animEffect transition="in" filter="wipe(down)">
                                      <p:cBhvr>
                                        <p:cTn id="24" dur="500"/>
                                        <p:tgtEl>
                                          <p:spTgt spid="76804">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76804">
                                            <p:txEl>
                                              <p:pRg st="9" end="9"/>
                                            </p:txEl>
                                          </p:spTgt>
                                        </p:tgtEl>
                                        <p:attrNameLst>
                                          <p:attrName>style.visibility</p:attrName>
                                        </p:attrNameLst>
                                      </p:cBhvr>
                                      <p:to>
                                        <p:strVal val="visible"/>
                                      </p:to>
                                    </p:set>
                                    <p:animEffect transition="in" filter="wipe(down)">
                                      <p:cBhvr>
                                        <p:cTn id="29" dur="500"/>
                                        <p:tgtEl>
                                          <p:spTgt spid="76804">
                                            <p:txEl>
                                              <p:pRg st="9" end="9"/>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76804">
                                            <p:txEl>
                                              <p:pRg st="10" end="10"/>
                                            </p:txEl>
                                          </p:spTgt>
                                        </p:tgtEl>
                                        <p:attrNameLst>
                                          <p:attrName>style.visibility</p:attrName>
                                        </p:attrNameLst>
                                      </p:cBhvr>
                                      <p:to>
                                        <p:strVal val="visible"/>
                                      </p:to>
                                    </p:set>
                                    <p:animEffect transition="in" filter="wipe(down)">
                                      <p:cBhvr>
                                        <p:cTn id="32" dur="500"/>
                                        <p:tgtEl>
                                          <p:spTgt spid="7680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箭头 1"/>
          <p:cNvSpPr/>
          <p:nvPr/>
        </p:nvSpPr>
        <p:spPr>
          <a:xfrm>
            <a:off x="0" y="266065"/>
            <a:ext cx="4775200" cy="1106170"/>
          </a:xfrm>
          <a:prstGeom prst="notched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ym typeface="+mn-ea"/>
              </a:rPr>
              <a:t>x86-64 Linux </a:t>
            </a:r>
            <a:r>
              <a:rPr lang="zh-CN" altLang="en-US" sz="2400" dirty="0">
                <a:sym typeface="+mn-ea"/>
              </a:rPr>
              <a:t>寄存器用法</a:t>
            </a:r>
            <a:r>
              <a:rPr lang="en-US" sz="2400" dirty="0">
                <a:sym typeface="+mn-ea"/>
              </a:rPr>
              <a:t> #2</a:t>
            </a:r>
            <a:endParaRPr lang="en-US" altLang="en-US" sz="2400" dirty="0">
              <a:sym typeface="+mn-ea"/>
            </a:endParaRPr>
          </a:p>
        </p:txBody>
      </p:sp>
      <p:sp>
        <p:nvSpPr>
          <p:cNvPr id="76804" name="Rectangle 4"/>
          <p:cNvSpPr>
            <a:spLocks noGrp="1" noChangeArrowheads="1"/>
          </p:cNvSpPr>
          <p:nvPr/>
        </p:nvSpPr>
        <p:spPr>
          <a:xfrm>
            <a:off x="381000" y="1397000"/>
            <a:ext cx="4064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A9D18E"/>
              </a:buClr>
            </a:pPr>
            <a:r>
              <a:rPr lang="en-US" dirty="0">
                <a:latin typeface="Courier New Bold" charset="0"/>
                <a:cs typeface="Courier New Bold" charset="0"/>
                <a:sym typeface="Courier New Bold" charset="0"/>
              </a:rPr>
              <a:t>%</a:t>
            </a:r>
            <a:r>
              <a:rPr lang="en-US" dirty="0" err="1">
                <a:latin typeface="Courier New Bold" charset="0"/>
                <a:cs typeface="Courier New Bold" charset="0"/>
                <a:sym typeface="Courier New Bold" charset="0"/>
              </a:rPr>
              <a:t>rbx</a:t>
            </a:r>
            <a:r>
              <a:rPr lang="en-US" dirty="0">
                <a:sym typeface="+mn-ea"/>
              </a:rPr>
              <a:t>, </a:t>
            </a:r>
            <a:r>
              <a:rPr lang="en-US" dirty="0">
                <a:latin typeface="Courier New Bold" charset="0"/>
                <a:cs typeface="Courier New Bold" charset="0"/>
                <a:sym typeface="Courier New Bold" charset="0"/>
              </a:rPr>
              <a:t>%r12</a:t>
            </a:r>
            <a:r>
              <a:rPr lang="en-US" dirty="0">
                <a:sym typeface="+mn-ea"/>
              </a:rPr>
              <a:t>, </a:t>
            </a:r>
            <a:r>
              <a:rPr lang="en-US" dirty="0">
                <a:latin typeface="Courier New Bold" charset="0"/>
                <a:cs typeface="Courier New Bold" charset="0"/>
                <a:sym typeface="Courier New Bold" charset="0"/>
              </a:rPr>
              <a:t>%r13</a:t>
            </a:r>
            <a:r>
              <a:rPr lang="en-US" dirty="0">
                <a:sym typeface="+mn-ea"/>
              </a:rPr>
              <a:t>, </a:t>
            </a:r>
            <a:r>
              <a:rPr lang="en-US" dirty="0">
                <a:latin typeface="Courier New Bold" charset="0"/>
                <a:cs typeface="Courier New Bold" charset="0"/>
                <a:sym typeface="Courier New Bold" charset="0"/>
              </a:rPr>
              <a:t>%r14</a:t>
            </a:r>
            <a:endParaRPr lang="zh-CN" altLang="en-US" dirty="0">
              <a:ea typeface="宋体" panose="02010600030101010101" pitchFamily="2" charset="-122"/>
            </a:endParaRPr>
          </a:p>
          <a:p>
            <a:pPr marL="552450" lvl="1">
              <a:buClr>
                <a:srgbClr val="A9D18E"/>
              </a:buClr>
            </a:pPr>
            <a:r>
              <a:rPr lang="zh-CN" altLang="en-US" dirty="0">
                <a:ea typeface="宋体" panose="02010600030101010101" pitchFamily="2" charset="-122"/>
              </a:rPr>
              <a:t>用于被调用者存储</a:t>
            </a:r>
          </a:p>
          <a:p>
            <a:pPr marL="552450" lvl="1">
              <a:buClr>
                <a:srgbClr val="A9D18E"/>
              </a:buClr>
            </a:pPr>
            <a:r>
              <a:rPr lang="zh-CN" altLang="en-US" dirty="0">
                <a:ea typeface="宋体" panose="02010600030101010101" pitchFamily="2" charset="-122"/>
              </a:rPr>
              <a:t>被调用者必须保存和恢复</a:t>
            </a:r>
          </a:p>
          <a:p>
            <a:pPr marL="292100">
              <a:buClr>
                <a:srgbClr val="A9D18E"/>
              </a:buClr>
            </a:pPr>
            <a:r>
              <a:rPr lang="en-US" dirty="0">
                <a:latin typeface="Courier New Bold" charset="0"/>
                <a:cs typeface="Courier New Bold" charset="0"/>
                <a:sym typeface="Courier New Bold" charset="0"/>
              </a:rPr>
              <a:t>%</a:t>
            </a:r>
            <a:r>
              <a:rPr lang="en-US" dirty="0" err="1">
                <a:latin typeface="Courier New Bold" charset="0"/>
                <a:cs typeface="Courier New Bold" charset="0"/>
                <a:sym typeface="Courier New Bold" charset="0"/>
              </a:rPr>
              <a:t>rbp</a:t>
            </a:r>
            <a:endParaRPr lang="en-US" dirty="0">
              <a:latin typeface="Courier New Bold" charset="0"/>
              <a:sym typeface="Courier New Bold" charset="0"/>
            </a:endParaRPr>
          </a:p>
          <a:p>
            <a:pPr marL="552450" lvl="1">
              <a:buClr>
                <a:srgbClr val="A9D18E"/>
              </a:buClr>
            </a:pPr>
            <a:r>
              <a:rPr lang="zh-CN" altLang="en-US" dirty="0">
                <a:ea typeface="宋体" panose="02010600030101010101" pitchFamily="2" charset="-122"/>
                <a:sym typeface="+mn-ea"/>
              </a:rPr>
              <a:t>用于被调用者存储</a:t>
            </a:r>
            <a:endParaRPr lang="zh-CN" altLang="en-US" dirty="0">
              <a:ea typeface="宋体" panose="02010600030101010101" pitchFamily="2" charset="-122"/>
            </a:endParaRPr>
          </a:p>
          <a:p>
            <a:pPr marL="552450" lvl="1">
              <a:buClr>
                <a:srgbClr val="A9D18E"/>
              </a:buClr>
            </a:pPr>
            <a:r>
              <a:rPr lang="zh-CN" altLang="en-US" dirty="0">
                <a:ea typeface="宋体" panose="02010600030101010101" pitchFamily="2" charset="-122"/>
                <a:sym typeface="+mn-ea"/>
              </a:rPr>
              <a:t>被调用者必须保存和恢复</a:t>
            </a:r>
            <a:endParaRPr lang="en-US" dirty="0"/>
          </a:p>
          <a:p>
            <a:pPr marL="552450" lvl="1">
              <a:buClr>
                <a:srgbClr val="A9D18E"/>
              </a:buClr>
            </a:pPr>
            <a:r>
              <a:rPr lang="zh-CN" altLang="en-US" dirty="0">
                <a:ea typeface="宋体" panose="02010600030101010101" pitchFamily="2" charset="-122"/>
                <a:sym typeface="+mn-ea"/>
              </a:rPr>
              <a:t>可能被作为帧指针使用</a:t>
            </a:r>
            <a:endParaRPr lang="en-US" dirty="0"/>
          </a:p>
          <a:p>
            <a:pPr marL="292100">
              <a:buClr>
                <a:srgbClr val="A9D18E"/>
              </a:buClr>
            </a:pPr>
            <a:r>
              <a:rPr lang="en-US" dirty="0">
                <a:latin typeface="Courier New Bold" charset="0"/>
                <a:cs typeface="Courier New Bold" charset="0"/>
                <a:sym typeface="Courier New Bold" charset="0"/>
              </a:rPr>
              <a:t>%</a:t>
            </a:r>
            <a:r>
              <a:rPr lang="en-US" dirty="0" err="1">
                <a:latin typeface="Courier New Bold" charset="0"/>
                <a:cs typeface="Courier New Bold" charset="0"/>
                <a:sym typeface="Courier New Bold" charset="0"/>
              </a:rPr>
              <a:t>rsp</a:t>
            </a:r>
            <a:endParaRPr lang="en-US" dirty="0">
              <a:latin typeface="Courier New Bold" charset="0"/>
              <a:sym typeface="Courier New Bold" charset="0"/>
            </a:endParaRPr>
          </a:p>
          <a:p>
            <a:pPr marL="552450" lvl="1">
              <a:buClr>
                <a:srgbClr val="A9D18E"/>
              </a:buClr>
            </a:pPr>
            <a:r>
              <a:rPr lang="zh-CN" altLang="en-US" dirty="0">
                <a:ea typeface="宋体" panose="02010600030101010101" pitchFamily="2" charset="-122"/>
                <a:sym typeface="+mn-ea"/>
              </a:rPr>
              <a:t>用于被调用者存储</a:t>
            </a:r>
            <a:endParaRPr lang="en-US" dirty="0"/>
          </a:p>
          <a:p>
            <a:pPr marL="552450" lvl="1">
              <a:buClr>
                <a:srgbClr val="A9D18E"/>
              </a:buClr>
            </a:pPr>
            <a:r>
              <a:rPr lang="zh-CN" altLang="en-US" dirty="0">
                <a:ea typeface="宋体" panose="02010600030101010101" pitchFamily="2" charset="-122"/>
                <a:sym typeface="+mn-ea"/>
              </a:rPr>
              <a:t>从过程调用退出后恢复到原来的值</a:t>
            </a:r>
          </a:p>
          <a:p>
            <a:pPr marL="552450" lvl="1"/>
            <a:endParaRPr lang="en-US" dirty="0"/>
          </a:p>
          <a:p>
            <a:pPr marL="552450" lvl="1"/>
            <a:endParaRPr lang="en-US" dirty="0"/>
          </a:p>
          <a:p>
            <a:pPr marL="552450" lvl="1"/>
            <a:endParaRPr lang="en-US" dirty="0"/>
          </a:p>
        </p:txBody>
      </p:sp>
      <p:sp>
        <p:nvSpPr>
          <p:cNvPr id="76808" name="Rectangle 8"/>
          <p:cNvSpPr/>
          <p:nvPr/>
        </p:nvSpPr>
        <p:spPr bwMode="auto">
          <a:xfrm>
            <a:off x="6400800" y="1371600"/>
            <a:ext cx="254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rbx</a:t>
            </a:r>
            <a:endParaRPr lang="en-US" sz="2400" dirty="0">
              <a:solidFill>
                <a:schemeClr val="tx1"/>
              </a:solidFill>
              <a:latin typeface="Courier New Bold" charset="0"/>
              <a:cs typeface="Courier New Bold" charset="0"/>
              <a:sym typeface="Courier New Bold" charset="0"/>
            </a:endParaRPr>
          </a:p>
        </p:txBody>
      </p:sp>
      <p:sp>
        <p:nvSpPr>
          <p:cNvPr id="76811" name="Rectangle 11"/>
          <p:cNvSpPr/>
          <p:nvPr/>
        </p:nvSpPr>
        <p:spPr bwMode="auto">
          <a:xfrm>
            <a:off x="6400800" y="3657600"/>
            <a:ext cx="2540000" cy="381000"/>
          </a:xfrm>
          <a:prstGeom prst="rect">
            <a:avLst/>
          </a:prstGeom>
          <a:solidFill>
            <a:srgbClr val="F1C7C7"/>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rsp</a:t>
            </a:r>
            <a:endParaRPr lang="en-US" sz="2400" dirty="0">
              <a:solidFill>
                <a:schemeClr val="tx1"/>
              </a:solidFill>
              <a:latin typeface="Courier New Bold" charset="0"/>
              <a:cs typeface="Courier New Bold" charset="0"/>
              <a:sym typeface="Courier New Bold" charset="0"/>
            </a:endParaRPr>
          </a:p>
        </p:txBody>
      </p:sp>
      <p:sp>
        <p:nvSpPr>
          <p:cNvPr id="76814" name="AutoShape 14"/>
          <p:cNvSpPr/>
          <p:nvPr/>
        </p:nvSpPr>
        <p:spPr bwMode="auto">
          <a:xfrm>
            <a:off x="5943600" y="1371600"/>
            <a:ext cx="304800" cy="2209800"/>
          </a:xfrm>
          <a:custGeom>
            <a:avLst/>
            <a:gdLst>
              <a:gd name="T0" fmla="*/ 10800 w 21600"/>
              <a:gd name="T1" fmla="*/ 10800 h 21600"/>
            </a:gdLst>
            <a:ahLst/>
            <a:cxnLst>
              <a:cxn ang="0">
                <a:pos x="T0" y="T1"/>
              </a:cxn>
            </a:cxnLst>
            <a:rect l="0" t="0" r="r" b="b"/>
            <a:pathLst>
              <a:path w="21600" h="21600">
                <a:moveTo>
                  <a:pt x="21600" y="21600"/>
                </a:moveTo>
                <a:cubicBezTo>
                  <a:pt x="15635" y="21600"/>
                  <a:pt x="10800" y="21140"/>
                  <a:pt x="10800" y="20571"/>
                </a:cubicBezTo>
                <a:lnTo>
                  <a:pt x="10800" y="11829"/>
                </a:lnTo>
                <a:cubicBezTo>
                  <a:pt x="10800" y="11261"/>
                  <a:pt x="5965" y="10800"/>
                  <a:pt x="0" y="10800"/>
                </a:cubicBezTo>
                <a:cubicBezTo>
                  <a:pt x="5965" y="10800"/>
                  <a:pt x="10800" y="10339"/>
                  <a:pt x="10800" y="9771"/>
                </a:cubicBezTo>
                <a:lnTo>
                  <a:pt x="10800" y="1029"/>
                </a:lnTo>
                <a:cubicBezTo>
                  <a:pt x="10800" y="461"/>
                  <a:pt x="15635" y="0"/>
                  <a:pt x="21600" y="0"/>
                </a:cubicBezTo>
              </a:path>
            </a:pathLst>
          </a:custGeom>
          <a:noFill/>
          <a:ln w="25400" cap="flat">
            <a:solidFill>
              <a:schemeClr val="tx1"/>
            </a:solidFill>
            <a:prstDash val="solid"/>
            <a:round/>
            <a:headEnd type="none" w="med" len="med"/>
            <a:tailEnd type="none" w="med" len="med"/>
          </a:ln>
        </p:spPr>
        <p:txBody>
          <a:bodyPr lIns="0" tIns="0" rIns="0" bIns="0"/>
          <a:lstStyle/>
          <a:p>
            <a:endParaRPr lang="en-US"/>
          </a:p>
        </p:txBody>
      </p:sp>
      <p:sp>
        <p:nvSpPr>
          <p:cNvPr id="76815" name="AutoShape 15"/>
          <p:cNvSpPr/>
          <p:nvPr/>
        </p:nvSpPr>
        <p:spPr bwMode="auto">
          <a:xfrm>
            <a:off x="5715000" y="3200400"/>
            <a:ext cx="304800" cy="838200"/>
          </a:xfrm>
          <a:custGeom>
            <a:avLst/>
            <a:gdLst>
              <a:gd name="T0" fmla="*/ 10800 w 21600"/>
              <a:gd name="T1" fmla="*/ 10800 h 21600"/>
            </a:gdLst>
            <a:ahLst/>
            <a:cxnLst>
              <a:cxn ang="0">
                <a:pos x="T0" y="T1"/>
              </a:cxn>
            </a:cxnLst>
            <a:rect l="0" t="0" r="r" b="b"/>
            <a:pathLst>
              <a:path w="21600" h="21600">
                <a:moveTo>
                  <a:pt x="21600" y="21600"/>
                </a:moveTo>
                <a:cubicBezTo>
                  <a:pt x="15635" y="21600"/>
                  <a:pt x="10800" y="21139"/>
                  <a:pt x="10800" y="20571"/>
                </a:cubicBezTo>
                <a:lnTo>
                  <a:pt x="10800" y="11829"/>
                </a:lnTo>
                <a:cubicBezTo>
                  <a:pt x="10800" y="11261"/>
                  <a:pt x="5965" y="10800"/>
                  <a:pt x="0" y="10800"/>
                </a:cubicBezTo>
                <a:cubicBezTo>
                  <a:pt x="5965" y="10800"/>
                  <a:pt x="10800" y="10339"/>
                  <a:pt x="10800" y="9771"/>
                </a:cubicBezTo>
                <a:lnTo>
                  <a:pt x="10800" y="1029"/>
                </a:lnTo>
                <a:cubicBezTo>
                  <a:pt x="10800" y="461"/>
                  <a:pt x="15635" y="0"/>
                  <a:pt x="21600" y="0"/>
                </a:cubicBezTo>
              </a:path>
            </a:pathLst>
          </a:custGeom>
          <a:noFill/>
          <a:ln w="25400" cap="flat">
            <a:solidFill>
              <a:schemeClr val="tx1"/>
            </a:solidFill>
            <a:prstDash val="solid"/>
            <a:round/>
            <a:headEnd type="none" w="med" len="med"/>
            <a:tailEnd type="none" w="med" len="med"/>
          </a:ln>
        </p:spPr>
        <p:txBody>
          <a:bodyPr lIns="0" tIns="0" rIns="0" bIns="0"/>
          <a:lstStyle/>
          <a:p>
            <a:endParaRPr lang="en-US"/>
          </a:p>
        </p:txBody>
      </p:sp>
      <p:sp>
        <p:nvSpPr>
          <p:cNvPr id="76817" name="Rectangle 17"/>
          <p:cNvSpPr/>
          <p:nvPr/>
        </p:nvSpPr>
        <p:spPr bwMode="auto">
          <a:xfrm>
            <a:off x="4386262" y="1981200"/>
            <a:ext cx="1447800" cy="62992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zh-CN" altLang="en-US" dirty="0">
                <a:latin typeface="Calibri Bold" charset="0"/>
                <a:ea typeface="宋体" panose="02010600030101010101" pitchFamily="2" charset="-122"/>
                <a:cs typeface="Calibri Bold" charset="0"/>
                <a:sym typeface="Calibri Bold" charset="0"/>
              </a:rPr>
              <a:t>被</a:t>
            </a:r>
            <a:r>
              <a:rPr lang="en-US" dirty="0">
                <a:latin typeface="Calibri Bold" charset="0"/>
                <a:ea typeface="Calibri Bold" charset="0"/>
                <a:cs typeface="Calibri Bold" charset="0"/>
                <a:sym typeface="Calibri Bold" charset="0"/>
              </a:rPr>
              <a:t>调用者保存</a:t>
            </a:r>
            <a:endParaRPr lang="en-US" dirty="0">
              <a:solidFill>
                <a:schemeClr val="tx1"/>
              </a:solidFill>
              <a:latin typeface="Calibri Bold" charset="0"/>
              <a:ea typeface="Calibri Bold" charset="0"/>
              <a:cs typeface="Calibri Bold" charset="0"/>
              <a:sym typeface="Calibri Bold" charset="0"/>
            </a:endParaRPr>
          </a:p>
          <a:p>
            <a:pPr algn="r"/>
            <a:r>
              <a:rPr lang="en-US" dirty="0">
                <a:latin typeface="Calibri Bold" charset="0"/>
                <a:ea typeface="Calibri Bold" charset="0"/>
                <a:cs typeface="Calibri Bold" charset="0"/>
                <a:sym typeface="Calibri Bold" charset="0"/>
              </a:rPr>
              <a:t>临时变量</a:t>
            </a:r>
            <a:endParaRPr lang="en-US" sz="1800" dirty="0">
              <a:solidFill>
                <a:schemeClr val="tx1"/>
              </a:solidFill>
              <a:latin typeface="Calibri Bold" charset="0"/>
              <a:ea typeface="Calibri Bold" charset="0"/>
              <a:cs typeface="Calibri Bold" charset="0"/>
              <a:sym typeface="Calibri Bold" charset="0"/>
            </a:endParaRPr>
          </a:p>
        </p:txBody>
      </p:sp>
      <p:sp>
        <p:nvSpPr>
          <p:cNvPr id="76818" name="Rectangle 18"/>
          <p:cNvSpPr/>
          <p:nvPr/>
        </p:nvSpPr>
        <p:spPr bwMode="auto">
          <a:xfrm>
            <a:off x="4927600" y="3429000"/>
            <a:ext cx="762000" cy="35306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zh-CN" altLang="en-US" sz="1800">
                <a:solidFill>
                  <a:schemeClr val="tx1"/>
                </a:solidFill>
                <a:latin typeface="Calibri Bold" charset="0"/>
                <a:ea typeface="宋体" panose="02010600030101010101" pitchFamily="2" charset="-122"/>
                <a:cs typeface="Calibri Bold" charset="0"/>
                <a:sym typeface="Calibri Bold" charset="0"/>
              </a:rPr>
              <a:t>特殊的</a:t>
            </a:r>
          </a:p>
        </p:txBody>
      </p:sp>
      <p:sp>
        <p:nvSpPr>
          <p:cNvPr id="4" name="Rectangle 8"/>
          <p:cNvSpPr/>
          <p:nvPr/>
        </p:nvSpPr>
        <p:spPr bwMode="auto">
          <a:xfrm>
            <a:off x="6400800" y="3200400"/>
            <a:ext cx="2540000" cy="381000"/>
          </a:xfrm>
          <a:prstGeom prst="rect">
            <a:avLst/>
          </a:prstGeom>
          <a:solidFill>
            <a:schemeClr val="accent2">
              <a:lumMod val="20000"/>
              <a:lumOff val="80000"/>
            </a:schemeClr>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a:t>
            </a:r>
            <a:r>
              <a:rPr lang="en-US" sz="2400" dirty="0" err="1">
                <a:solidFill>
                  <a:schemeClr val="tx1"/>
                </a:solidFill>
                <a:latin typeface="Courier New Bold" charset="0"/>
                <a:cs typeface="Courier New Bold" charset="0"/>
                <a:sym typeface="Courier New Bold" charset="0"/>
              </a:rPr>
              <a:t>rbp</a:t>
            </a:r>
            <a:endParaRPr lang="en-US" sz="2400" dirty="0">
              <a:solidFill>
                <a:schemeClr val="tx1"/>
              </a:solidFill>
              <a:latin typeface="Courier New Bold" charset="0"/>
              <a:cs typeface="Courier New Bold" charset="0"/>
              <a:sym typeface="Courier New Bold" charset="0"/>
            </a:endParaRPr>
          </a:p>
        </p:txBody>
      </p:sp>
      <p:sp>
        <p:nvSpPr>
          <p:cNvPr id="5" name="Rectangle 8"/>
          <p:cNvSpPr/>
          <p:nvPr/>
        </p:nvSpPr>
        <p:spPr bwMode="auto">
          <a:xfrm>
            <a:off x="6400800" y="1828800"/>
            <a:ext cx="254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%r12</a:t>
            </a:r>
          </a:p>
        </p:txBody>
      </p:sp>
      <p:sp>
        <p:nvSpPr>
          <p:cNvPr id="6" name="Rectangle 8"/>
          <p:cNvSpPr/>
          <p:nvPr/>
        </p:nvSpPr>
        <p:spPr bwMode="auto">
          <a:xfrm>
            <a:off x="6400800" y="2286000"/>
            <a:ext cx="254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%r13</a:t>
            </a:r>
          </a:p>
        </p:txBody>
      </p:sp>
      <p:sp>
        <p:nvSpPr>
          <p:cNvPr id="8" name="Rectangle 8"/>
          <p:cNvSpPr/>
          <p:nvPr/>
        </p:nvSpPr>
        <p:spPr bwMode="auto">
          <a:xfrm>
            <a:off x="6400800" y="2743200"/>
            <a:ext cx="254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0" tIns="0" rIns="0" bIns="0" anchor="ctr"/>
          <a:lstStyle/>
          <a:p>
            <a:r>
              <a:rPr lang="en-US" sz="2400" dirty="0">
                <a:solidFill>
                  <a:schemeClr val="tx1"/>
                </a:solidFill>
                <a:latin typeface="Courier New Bold" charset="0"/>
                <a:cs typeface="Courier New Bold" charset="0"/>
                <a:sym typeface="Courier New Bold" charset="0"/>
              </a:rPr>
              <a:t>%r14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6804">
                                            <p:txEl>
                                              <p:pRg st="1" end="1"/>
                                            </p:txEl>
                                          </p:spTgt>
                                        </p:tgtEl>
                                        <p:attrNameLst>
                                          <p:attrName>style.visibility</p:attrName>
                                        </p:attrNameLst>
                                      </p:cBhvr>
                                      <p:to>
                                        <p:strVal val="visible"/>
                                      </p:to>
                                    </p:set>
                                    <p:animEffect transition="in" filter="wipe(down)">
                                      <p:cBhvr>
                                        <p:cTn id="7" dur="500"/>
                                        <p:tgtEl>
                                          <p:spTgt spid="76804">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76804">
                                            <p:txEl>
                                              <p:pRg st="2" end="2"/>
                                            </p:txEl>
                                          </p:spTgt>
                                        </p:tgtEl>
                                        <p:attrNameLst>
                                          <p:attrName>style.visibility</p:attrName>
                                        </p:attrNameLst>
                                      </p:cBhvr>
                                      <p:to>
                                        <p:strVal val="visible"/>
                                      </p:to>
                                    </p:set>
                                    <p:animEffect transition="in" filter="wipe(down)">
                                      <p:cBhvr>
                                        <p:cTn id="10" dur="500"/>
                                        <p:tgtEl>
                                          <p:spTgt spid="76804">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76804">
                                            <p:txEl>
                                              <p:pRg st="4" end="4"/>
                                            </p:txEl>
                                          </p:spTgt>
                                        </p:tgtEl>
                                        <p:attrNameLst>
                                          <p:attrName>style.visibility</p:attrName>
                                        </p:attrNameLst>
                                      </p:cBhvr>
                                      <p:to>
                                        <p:strVal val="visible"/>
                                      </p:to>
                                    </p:set>
                                    <p:animEffect transition="in" filter="wipe(down)">
                                      <p:cBhvr>
                                        <p:cTn id="15" dur="500"/>
                                        <p:tgtEl>
                                          <p:spTgt spid="76804">
                                            <p:txEl>
                                              <p:pRg st="4" end="4"/>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76804">
                                            <p:txEl>
                                              <p:pRg st="5" end="5"/>
                                            </p:txEl>
                                          </p:spTgt>
                                        </p:tgtEl>
                                        <p:attrNameLst>
                                          <p:attrName>style.visibility</p:attrName>
                                        </p:attrNameLst>
                                      </p:cBhvr>
                                      <p:to>
                                        <p:strVal val="visible"/>
                                      </p:to>
                                    </p:set>
                                    <p:animEffect transition="in" filter="wipe(down)">
                                      <p:cBhvr>
                                        <p:cTn id="18" dur="500"/>
                                        <p:tgtEl>
                                          <p:spTgt spid="76804">
                                            <p:txEl>
                                              <p:pRg st="5" end="5"/>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76804">
                                            <p:txEl>
                                              <p:pRg st="6" end="6"/>
                                            </p:txEl>
                                          </p:spTgt>
                                        </p:tgtEl>
                                        <p:attrNameLst>
                                          <p:attrName>style.visibility</p:attrName>
                                        </p:attrNameLst>
                                      </p:cBhvr>
                                      <p:to>
                                        <p:strVal val="visible"/>
                                      </p:to>
                                    </p:set>
                                    <p:animEffect transition="in" filter="wipe(down)">
                                      <p:cBhvr>
                                        <p:cTn id="21" dur="500"/>
                                        <p:tgtEl>
                                          <p:spTgt spid="76804">
                                            <p:txEl>
                                              <p:pRg st="6" end="6"/>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76804">
                                            <p:txEl>
                                              <p:pRg st="8" end="8"/>
                                            </p:txEl>
                                          </p:spTgt>
                                        </p:tgtEl>
                                        <p:attrNameLst>
                                          <p:attrName>style.visibility</p:attrName>
                                        </p:attrNameLst>
                                      </p:cBhvr>
                                      <p:to>
                                        <p:strVal val="visible"/>
                                      </p:to>
                                    </p:set>
                                    <p:animEffect transition="in" filter="wipe(down)">
                                      <p:cBhvr>
                                        <p:cTn id="26" dur="500"/>
                                        <p:tgtEl>
                                          <p:spTgt spid="76804">
                                            <p:txEl>
                                              <p:pRg st="8" end="8"/>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76804">
                                            <p:txEl>
                                              <p:pRg st="9" end="9"/>
                                            </p:txEl>
                                          </p:spTgt>
                                        </p:tgtEl>
                                        <p:attrNameLst>
                                          <p:attrName>style.visibility</p:attrName>
                                        </p:attrNameLst>
                                      </p:cBhvr>
                                      <p:to>
                                        <p:strVal val="visible"/>
                                      </p:to>
                                    </p:set>
                                    <p:animEffect transition="in" filter="wipe(down)">
                                      <p:cBhvr>
                                        <p:cTn id="29" dur="500"/>
                                        <p:tgtEl>
                                          <p:spTgt spid="76804">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85775"/>
            <a:ext cx="3945890" cy="60579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被调用者存储例子</a:t>
            </a:r>
            <a:r>
              <a:rPr lang="en-US" sz="2800" dirty="0">
                <a:sym typeface="+mn-ea"/>
              </a:rPr>
              <a:t>#1</a:t>
            </a:r>
            <a:endParaRPr lang="en-US" altLang="en-US" sz="2800" dirty="0">
              <a:sym typeface="+mn-ea"/>
            </a:endParaRP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call_incr2(long x)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x+v2;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grpSp>
        <p:nvGrpSpPr>
          <p:cNvPr id="4" name="Group 3"/>
          <p:cNvGrpSpPr/>
          <p:nvPr/>
        </p:nvGrpSpPr>
        <p:grpSpPr>
          <a:xfrm>
            <a:off x="1784430" y="1285203"/>
            <a:ext cx="1792147" cy="1353343"/>
            <a:chOff x="1784430" y="1285203"/>
            <a:chExt cx="1792147" cy="1353343"/>
          </a:xfrm>
        </p:grpSpPr>
        <p:sp>
          <p:nvSpPr>
            <p:cNvPr id="5" name="Oval 2"/>
            <p:cNvSpPr/>
            <p:nvPr/>
          </p:nvSpPr>
          <p:spPr bwMode="auto">
            <a:xfrm>
              <a:off x="3125165" y="1285203"/>
              <a:ext cx="451412" cy="500192"/>
            </a:xfrm>
            <a:prstGeom prst="ellipse">
              <a:avLst/>
            </a:prstGeom>
            <a:solidFill>
              <a:schemeClr val="accent1">
                <a:lumMod val="60000"/>
                <a:lumOff val="40000"/>
                <a:alpha val="48000"/>
              </a:schemeClr>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sp>
          <p:nvSpPr>
            <p:cNvPr id="25" name="Oval 24"/>
            <p:cNvSpPr/>
            <p:nvPr/>
          </p:nvSpPr>
          <p:spPr bwMode="auto">
            <a:xfrm>
              <a:off x="1784430" y="2138354"/>
              <a:ext cx="451412" cy="500192"/>
            </a:xfrm>
            <a:prstGeom prst="ellipse">
              <a:avLst/>
            </a:prstGeom>
            <a:solidFill>
              <a:schemeClr val="accent1">
                <a:lumMod val="60000"/>
                <a:lumOff val="40000"/>
                <a:alpha val="48000"/>
              </a:schemeClr>
            </a:solidFill>
            <a:ln w="25400" cap="flat" cmpd="sng" algn="ctr">
              <a:solidFill>
                <a:srgbClr val="000000"/>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endParaRPr>
            </a:p>
          </p:txBody>
        </p:sp>
      </p:grpSp>
      <p:sp>
        <p:nvSpPr>
          <p:cNvPr id="63498" name="Line 10"/>
          <p:cNvSpPr>
            <a:spLocks noChangeShapeType="1"/>
          </p:cNvSpPr>
          <p:nvPr/>
        </p:nvSpPr>
        <p:spPr bwMode="auto">
          <a:xfrm flipH="1">
            <a:off x="6477000" y="27432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3499" name="Rectangle 11"/>
          <p:cNvSpPr/>
          <p:nvPr/>
        </p:nvSpPr>
        <p:spPr bwMode="auto">
          <a:xfrm>
            <a:off x="6983413" y="25844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63500" name="Rectangle 12"/>
          <p:cNvSpPr/>
          <p:nvPr/>
        </p:nvSpPr>
        <p:spPr bwMode="auto">
          <a:xfrm>
            <a:off x="5181600" y="1091565"/>
            <a:ext cx="1600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初始化栈结构</a:t>
            </a:r>
          </a:p>
        </p:txBody>
      </p:sp>
      <p:sp>
        <p:nvSpPr>
          <p:cNvPr id="63501" name="Rectangle 13"/>
          <p:cNvSpPr/>
          <p:nvPr/>
        </p:nvSpPr>
        <p:spPr bwMode="auto">
          <a:xfrm>
            <a:off x="5181600" y="16002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16" name="Rectangle 9"/>
          <p:cNvSpPr/>
          <p:nvPr/>
        </p:nvSpPr>
        <p:spPr bwMode="auto">
          <a:xfrm>
            <a:off x="5181600" y="25146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6" name="TextBox 1"/>
          <p:cNvSpPr txBox="1"/>
          <p:nvPr/>
        </p:nvSpPr>
        <p:spPr>
          <a:xfrm>
            <a:off x="467360" y="3749040"/>
            <a:ext cx="7354570" cy="1198880"/>
          </a:xfrm>
          <a:prstGeom prst="rect">
            <a:avLst/>
          </a:prstGeom>
          <a:solidFill>
            <a:schemeClr val="bg1"/>
          </a:solidFill>
        </p:spPr>
        <p:txBody>
          <a:bodyPr wrap="square" rtlCol="0">
            <a:spAutoFit/>
          </a:bodyPr>
          <a:lstStyle/>
          <a:p>
            <a:pPr marL="457200" indent="-457200" algn="l">
              <a:buClr>
                <a:srgbClr val="A9D18E"/>
              </a:buClr>
              <a:buFont typeface="Arial" panose="020B0604020202020204" pitchFamily="34" charset="0"/>
              <a:buChar char="•"/>
            </a:pPr>
            <a:r>
              <a:rPr lang="en-US" sz="2400" dirty="0">
                <a:latin typeface="Calibri" panose="020F0502020204030204" charset="0"/>
                <a:cs typeface="Calibri" panose="020F0502020204030204" charset="0"/>
              </a:rPr>
              <a:t>X </a:t>
            </a:r>
            <a:r>
              <a:rPr lang="zh-CN" altLang="en-US" sz="2400" dirty="0">
                <a:latin typeface="Calibri" panose="020F0502020204030204" charset="0"/>
                <a:cs typeface="Calibri" panose="020F0502020204030204" charset="0"/>
              </a:rPr>
              <a:t>在寄存器</a:t>
            </a:r>
            <a:r>
              <a:rPr lang="en-US" sz="2400" dirty="0">
                <a:latin typeface="Calibri" panose="020F0502020204030204" charset="0"/>
                <a:cs typeface="Calibri" panose="020F0502020204030204" charset="0"/>
              </a:rPr>
              <a:t> </a:t>
            </a:r>
            <a:r>
              <a:rPr lang="en-US" sz="2400" b="1" dirty="0">
                <a:latin typeface="Courier New" panose="02070309020205020404" charset="0"/>
                <a:cs typeface="Courier New" panose="02070309020205020404" charset="0"/>
              </a:rPr>
              <a:t>%</a:t>
            </a:r>
            <a:r>
              <a:rPr lang="en-US" sz="2400" b="1" dirty="0" err="1">
                <a:latin typeface="Courier New" panose="02070309020205020404" charset="0"/>
                <a:cs typeface="Courier New" panose="02070309020205020404" charset="0"/>
              </a:rPr>
              <a:t>rdi</a:t>
            </a:r>
            <a:r>
              <a:rPr lang="zh-CN" altLang="en-US" sz="2400" dirty="0">
                <a:latin typeface="Calibri" panose="020F0502020204030204" charset="0"/>
                <a:cs typeface="Calibri" panose="020F0502020204030204" charset="0"/>
              </a:rPr>
              <a:t>中</a:t>
            </a:r>
            <a:r>
              <a:rPr lang="en-US" sz="2400" dirty="0">
                <a:latin typeface="Calibri" panose="020F0502020204030204" charset="0"/>
                <a:cs typeface="Calibri" panose="020F0502020204030204" charset="0"/>
              </a:rPr>
              <a:t>.</a:t>
            </a:r>
          </a:p>
          <a:p>
            <a:pPr marL="457200" indent="-457200" algn="l">
              <a:buClr>
                <a:srgbClr val="A9D18E"/>
              </a:buClr>
              <a:buFont typeface="Arial" panose="020B0604020202020204" pitchFamily="34" charset="0"/>
              <a:buChar char="•"/>
            </a:pPr>
            <a:r>
              <a:rPr lang="zh-CN" altLang="en-US" sz="2400" dirty="0">
                <a:latin typeface="Calibri" panose="020F0502020204030204" charset="0"/>
                <a:cs typeface="Calibri" panose="020F0502020204030204" charset="0"/>
              </a:rPr>
              <a:t>需要寄存器</a:t>
            </a:r>
            <a:r>
              <a:rPr lang="en-US" sz="2400" dirty="0">
                <a:latin typeface="Calibri" panose="020F0502020204030204" charset="0"/>
                <a:cs typeface="Calibri" panose="020F0502020204030204" charset="0"/>
              </a:rPr>
              <a:t> </a:t>
            </a:r>
            <a:r>
              <a:rPr lang="en-US" sz="2400" b="1" dirty="0">
                <a:latin typeface="Courier New" panose="02070309020205020404" charset="0"/>
                <a:cs typeface="Courier New" panose="02070309020205020404" charset="0"/>
              </a:rPr>
              <a:t>%</a:t>
            </a:r>
            <a:r>
              <a:rPr lang="en-US" sz="2400" b="1" dirty="0" err="1">
                <a:latin typeface="Courier New" panose="02070309020205020404" charset="0"/>
                <a:cs typeface="Courier New" panose="02070309020205020404" charset="0"/>
              </a:rPr>
              <a:t>rdi</a:t>
            </a:r>
            <a:r>
              <a:rPr lang="en-US" sz="2400" b="1" dirty="0">
                <a:latin typeface="Courier New" panose="02070309020205020404" charset="0"/>
                <a:cs typeface="Courier New" panose="02070309020205020404" charset="0"/>
              </a:rPr>
              <a:t> </a:t>
            </a:r>
            <a:r>
              <a:rPr lang="zh-CN" altLang="en-US" sz="2400" dirty="0">
                <a:latin typeface="Calibri" panose="020F0502020204030204" charset="0"/>
                <a:cs typeface="Calibri" panose="020F0502020204030204" charset="0"/>
              </a:rPr>
              <a:t>来调用</a:t>
            </a:r>
            <a:r>
              <a:rPr lang="en-US" sz="2400" dirty="0">
                <a:latin typeface="Calibri" panose="020F0502020204030204" charset="0"/>
                <a:cs typeface="Calibri" panose="020F0502020204030204" charset="0"/>
              </a:rPr>
              <a:t> incr.</a:t>
            </a:r>
          </a:p>
          <a:p>
            <a:pPr marL="457200" indent="-457200" algn="l">
              <a:buClr>
                <a:srgbClr val="A9D18E"/>
              </a:buClr>
              <a:buFont typeface="Arial" panose="020B0604020202020204" pitchFamily="34" charset="0"/>
              <a:buChar char="•"/>
            </a:pPr>
            <a:r>
              <a:rPr lang="en-US" sz="2400" dirty="0">
                <a:latin typeface="Calibri" panose="020F0502020204030204" charset="0"/>
                <a:cs typeface="Calibri" panose="020F0502020204030204" charset="0"/>
              </a:rPr>
              <a:t>x</a:t>
            </a:r>
            <a:r>
              <a:rPr lang="zh-CN" altLang="en-US" sz="2400" dirty="0">
                <a:latin typeface="Calibri" panose="020F0502020204030204" charset="0"/>
                <a:cs typeface="Calibri" panose="020F0502020204030204" charset="0"/>
              </a:rPr>
              <a:t>应该存放在哪</a:t>
            </a:r>
            <a:r>
              <a:rPr lang="en-US" sz="2400" dirty="0">
                <a:latin typeface="Calibri" panose="020F0502020204030204" charset="0"/>
                <a:cs typeface="Calibri" panose="020F0502020204030204" charset="0"/>
              </a:rPr>
              <a:t>,</a:t>
            </a:r>
            <a:r>
              <a:rPr lang="zh-CN" altLang="en-US" sz="2400" dirty="0">
                <a:latin typeface="Calibri" panose="020F0502020204030204" charset="0"/>
                <a:cs typeface="Calibri" panose="020F0502020204030204" charset="0"/>
              </a:rPr>
              <a:t>让</a:t>
            </a:r>
            <a:r>
              <a:rPr lang="en-US" sz="2400" dirty="0">
                <a:latin typeface="Calibri" panose="020F0502020204030204" charset="0"/>
                <a:cs typeface="Calibri" panose="020F0502020204030204" charset="0"/>
              </a:rPr>
              <a:t>我们</a:t>
            </a:r>
            <a:r>
              <a:rPr lang="zh-CN" altLang="en-US" sz="2400" dirty="0">
                <a:latin typeface="Calibri" panose="020F0502020204030204" charset="0"/>
                <a:cs typeface="Calibri" panose="020F0502020204030204" charset="0"/>
              </a:rPr>
              <a:t>在调用完</a:t>
            </a:r>
            <a:r>
              <a:rPr lang="en-US" sz="2400" dirty="0">
                <a:latin typeface="Calibri" panose="020F0502020204030204" charset="0"/>
                <a:cs typeface="Calibri" panose="020F0502020204030204" charset="0"/>
                <a:sym typeface="+mn-ea"/>
              </a:rPr>
              <a:t> </a:t>
            </a:r>
            <a:r>
              <a:rPr lang="en-US" sz="2400" dirty="0" err="1">
                <a:latin typeface="Calibri" panose="020F0502020204030204" charset="0"/>
                <a:cs typeface="Calibri" panose="020F0502020204030204" charset="0"/>
                <a:sym typeface="+mn-ea"/>
              </a:rPr>
              <a:t>incr</a:t>
            </a:r>
            <a:r>
              <a:rPr lang="en-US" sz="2400" dirty="0">
                <a:latin typeface="Calibri" panose="020F0502020204030204" charset="0"/>
                <a:cs typeface="Calibri" panose="020F0502020204030204" charset="0"/>
              </a:rPr>
              <a:t> </a:t>
            </a:r>
            <a:r>
              <a:rPr lang="zh-CN" altLang="en-US" sz="2400" dirty="0">
                <a:latin typeface="Calibri" panose="020F0502020204030204" charset="0"/>
                <a:cs typeface="Calibri" panose="020F0502020204030204" charset="0"/>
              </a:rPr>
              <a:t>后还能使用它</a:t>
            </a:r>
            <a:r>
              <a:rPr lang="en-US" sz="2400" dirty="0">
                <a:latin typeface="Calibri" panose="020F0502020204030204" charset="0"/>
                <a:cs typeface="Calibri" panose="020F050202020403020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animEffect transition="in" filter="wipe(down)">
                                      <p:cBhvr>
                                        <p:cTn id="11"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85775"/>
            <a:ext cx="3945890" cy="60579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被调用者存储例子</a:t>
            </a:r>
            <a:r>
              <a:rPr lang="en-US" sz="2800" dirty="0">
                <a:sym typeface="+mn-ea"/>
              </a:rPr>
              <a:t>#2</a:t>
            </a:r>
            <a:endParaRPr lang="en-US" altLang="en-US" sz="2800" dirty="0">
              <a:sym typeface="+mn-ea"/>
            </a:endParaRP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call_incr2(long x)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x+v2;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63498" name="Line 10"/>
          <p:cNvSpPr>
            <a:spLocks noChangeShapeType="1"/>
          </p:cNvSpPr>
          <p:nvPr/>
        </p:nvSpPr>
        <p:spPr bwMode="auto">
          <a:xfrm flipH="1">
            <a:off x="6477000" y="27432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3499" name="Rectangle 11"/>
          <p:cNvSpPr/>
          <p:nvPr/>
        </p:nvSpPr>
        <p:spPr bwMode="auto">
          <a:xfrm>
            <a:off x="6983413" y="25844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63500" name="Rectangle 12"/>
          <p:cNvSpPr/>
          <p:nvPr/>
        </p:nvSpPr>
        <p:spPr bwMode="auto">
          <a:xfrm>
            <a:off x="5181600" y="1091565"/>
            <a:ext cx="1600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初始化栈结构</a:t>
            </a:r>
          </a:p>
        </p:txBody>
      </p:sp>
      <p:sp>
        <p:nvSpPr>
          <p:cNvPr id="63501" name="Rectangle 13"/>
          <p:cNvSpPr/>
          <p:nvPr/>
        </p:nvSpPr>
        <p:spPr bwMode="auto">
          <a:xfrm>
            <a:off x="5181600" y="16002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16" name="Rectangle 9"/>
          <p:cNvSpPr/>
          <p:nvPr/>
        </p:nvSpPr>
        <p:spPr bwMode="auto">
          <a:xfrm>
            <a:off x="5181600" y="25146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63492" name="Rectangle 4"/>
          <p:cNvSpPr/>
          <p:nvPr/>
        </p:nvSpPr>
        <p:spPr bwMode="auto">
          <a:xfrm>
            <a:off x="381000" y="3200400"/>
            <a:ext cx="44196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call_incr2: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pushq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rbx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rbx</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movq</a:t>
            </a:r>
            <a:r>
              <a:rPr lang="en-US" sz="1800" b="1" dirty="0">
                <a:latin typeface="Courier New" panose="02070309020205020404" charset="0"/>
                <a:cs typeface="Courier New" panose="02070309020205020404" charset="0"/>
                <a:sym typeface="Courier New Bold" charset="0"/>
              </a:rPr>
              <a:t>    $15213, 8(%</a:t>
            </a:r>
            <a:r>
              <a:rPr lang="en-US" sz="1800" b="1" dirty="0" err="1">
                <a:latin typeface="Courier New" panose="02070309020205020404" charset="0"/>
                <a:cs typeface="Courier New" panose="02070309020205020404" charset="0"/>
                <a:sym typeface="Courier New Bold" charset="0"/>
              </a:rPr>
              <a:t>rsp</a:t>
            </a:r>
            <a:r>
              <a:rPr lang="en-US" sz="1800" b="1" dirty="0">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$3000, %</a:t>
            </a:r>
            <a:r>
              <a:rPr lang="en-US" sz="1800" b="1" dirty="0" err="1">
                <a:solidFill>
                  <a:schemeClr val="tx1"/>
                </a:solidFill>
                <a:latin typeface="Courier New" panose="02070309020205020404" charset="0"/>
                <a:cs typeface="Courier New" panose="02070309020205020404" charset="0"/>
                <a:sym typeface="Courier New Bold" charset="0"/>
              </a:rPr>
              <a:t>esi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leaq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incr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19" name="Line 10"/>
          <p:cNvSpPr>
            <a:spLocks noChangeShapeType="1"/>
          </p:cNvSpPr>
          <p:nvPr/>
        </p:nvSpPr>
        <p:spPr bwMode="auto">
          <a:xfrm flipH="1">
            <a:off x="6437947" y="5756065"/>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0" name="Rectangle 11"/>
          <p:cNvSpPr/>
          <p:nvPr/>
        </p:nvSpPr>
        <p:spPr bwMode="auto">
          <a:xfrm>
            <a:off x="6944360" y="5527465"/>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1" name="Rectangle 12"/>
          <p:cNvSpPr/>
          <p:nvPr/>
        </p:nvSpPr>
        <p:spPr bwMode="auto">
          <a:xfrm>
            <a:off x="5181600" y="3515995"/>
            <a:ext cx="1346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latin typeface="Calibri Bold" charset="0"/>
                <a:ea typeface="宋体" panose="02010600030101010101" pitchFamily="2" charset="-122"/>
                <a:cs typeface="Calibri Bold" charset="0"/>
                <a:sym typeface="Calibri Bold" charset="0"/>
              </a:rPr>
              <a:t>栈结构结果</a:t>
            </a:r>
            <a:endParaRPr lang="en-US" sz="2000" dirty="0">
              <a:solidFill>
                <a:schemeClr val="tx1"/>
              </a:solidFill>
              <a:latin typeface="Calibri Bold" charset="0"/>
              <a:ea typeface="Calibri Bold" charset="0"/>
              <a:cs typeface="Calibri Bold" charset="0"/>
              <a:sym typeface="Calibri Bold" charset="0"/>
            </a:endParaRPr>
          </a:p>
        </p:txBody>
      </p:sp>
      <p:sp>
        <p:nvSpPr>
          <p:cNvPr id="22" name="Rectangle 13"/>
          <p:cNvSpPr/>
          <p:nvPr/>
        </p:nvSpPr>
        <p:spPr bwMode="auto">
          <a:xfrm>
            <a:off x="5115560" y="4088765"/>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15560" y="50031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4" name="Rectangle 9"/>
          <p:cNvSpPr/>
          <p:nvPr/>
        </p:nvSpPr>
        <p:spPr bwMode="auto">
          <a:xfrm>
            <a:off x="5115560" y="53841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85775"/>
            <a:ext cx="3945890" cy="60579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被调用者存储例子</a:t>
            </a:r>
            <a:r>
              <a:rPr lang="en-US" sz="2800" dirty="0">
                <a:sym typeface="+mn-ea"/>
              </a:rPr>
              <a:t>#3</a:t>
            </a:r>
            <a:endParaRPr lang="en-US" altLang="en-US" sz="2800" dirty="0">
              <a:sym typeface="+mn-ea"/>
            </a:endParaRP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call_incr2(long x)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x+v2;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63498" name="Line 10"/>
          <p:cNvSpPr>
            <a:spLocks noChangeShapeType="1"/>
          </p:cNvSpPr>
          <p:nvPr/>
        </p:nvSpPr>
        <p:spPr bwMode="auto">
          <a:xfrm flipH="1">
            <a:off x="6477000" y="31877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3499" name="Rectangle 11"/>
          <p:cNvSpPr/>
          <p:nvPr/>
        </p:nvSpPr>
        <p:spPr bwMode="auto">
          <a:xfrm>
            <a:off x="6983413" y="30289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63500" name="Rectangle 12"/>
          <p:cNvSpPr/>
          <p:nvPr/>
        </p:nvSpPr>
        <p:spPr bwMode="auto">
          <a:xfrm>
            <a:off x="5181600" y="1091565"/>
            <a:ext cx="1600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solidFill>
                  <a:schemeClr val="tx1"/>
                </a:solidFill>
                <a:latin typeface="Calibri Bold" charset="0"/>
                <a:ea typeface="宋体" panose="02010600030101010101" pitchFamily="2" charset="-122"/>
                <a:cs typeface="Calibri Bold" charset="0"/>
                <a:sym typeface="Calibri Bold" charset="0"/>
              </a:rPr>
              <a:t>初始化栈结构</a:t>
            </a:r>
          </a:p>
        </p:txBody>
      </p:sp>
      <p:sp>
        <p:nvSpPr>
          <p:cNvPr id="63501" name="Rectangle 13"/>
          <p:cNvSpPr/>
          <p:nvPr/>
        </p:nvSpPr>
        <p:spPr bwMode="auto">
          <a:xfrm>
            <a:off x="5181600" y="15875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16" name="Rectangle 9"/>
          <p:cNvSpPr/>
          <p:nvPr/>
        </p:nvSpPr>
        <p:spPr bwMode="auto">
          <a:xfrm>
            <a:off x="5181600" y="24765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1" name="Rectangle 12"/>
          <p:cNvSpPr/>
          <p:nvPr/>
        </p:nvSpPr>
        <p:spPr bwMode="auto">
          <a:xfrm>
            <a:off x="5181600" y="3515995"/>
            <a:ext cx="1346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latin typeface="Calibri Bold" charset="0"/>
                <a:ea typeface="宋体" panose="02010600030101010101" pitchFamily="2" charset="-122"/>
                <a:cs typeface="Calibri Bold" charset="0"/>
                <a:sym typeface="Calibri Bold" charset="0"/>
              </a:rPr>
              <a:t>栈结构结果</a:t>
            </a:r>
            <a:endParaRPr lang="en-US" sz="2000" dirty="0">
              <a:solidFill>
                <a:schemeClr val="tx1"/>
              </a:solidFill>
              <a:latin typeface="Calibri Bold" charset="0"/>
              <a:ea typeface="Calibri Bold" charset="0"/>
              <a:cs typeface="Calibri Bold" charset="0"/>
              <a:sym typeface="Calibri Bold" charset="0"/>
            </a:endParaRPr>
          </a:p>
        </p:txBody>
      </p:sp>
      <p:sp>
        <p:nvSpPr>
          <p:cNvPr id="22" name="Rectangle 13"/>
          <p:cNvSpPr/>
          <p:nvPr/>
        </p:nvSpPr>
        <p:spPr bwMode="auto">
          <a:xfrm>
            <a:off x="5115560" y="4088765"/>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115560" y="50031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4" name="Rectangle 9"/>
          <p:cNvSpPr/>
          <p:nvPr/>
        </p:nvSpPr>
        <p:spPr bwMode="auto">
          <a:xfrm>
            <a:off x="5115560" y="53841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
        <p:nvSpPr>
          <p:cNvPr id="4" name="Rectangle 4"/>
          <p:cNvSpPr/>
          <p:nvPr/>
        </p:nvSpPr>
        <p:spPr bwMode="auto">
          <a:xfrm>
            <a:off x="381000" y="3200400"/>
            <a:ext cx="44196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call_incr2: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pushq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subq</a:t>
            </a:r>
            <a:r>
              <a:rPr lang="en-US" sz="1800" b="1" dirty="0">
                <a:solidFill>
                  <a:srgbClr val="FF0000"/>
                </a:solidFill>
                <a:latin typeface="Courier New" panose="02070309020205020404" charset="0"/>
                <a:cs typeface="Courier New" panose="02070309020205020404" charset="0"/>
                <a:sym typeface="Courier New Bold" charset="0"/>
              </a:rPr>
              <a:t>    $16, %</a:t>
            </a:r>
            <a:r>
              <a:rPr lang="en-US" sz="1800" b="1" dirty="0" err="1">
                <a:solidFill>
                  <a:srgbClr val="FF0000"/>
                </a:solidFill>
                <a:latin typeface="Courier New" panose="02070309020205020404" charset="0"/>
                <a:cs typeface="Courier New" panose="02070309020205020404" charset="0"/>
                <a:sym typeface="Courier New Bold" charset="0"/>
              </a:rPr>
              <a:t>rsp</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rbx</a:t>
            </a:r>
            <a:endParaRPr lang="en-US" sz="1800" b="1" dirty="0">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movq</a:t>
            </a:r>
            <a:r>
              <a:rPr lang="en-US" sz="1800" b="1" dirty="0">
                <a:latin typeface="Courier New" panose="02070309020205020404" charset="0"/>
                <a:cs typeface="Courier New" panose="02070309020205020404" charset="0"/>
                <a:sym typeface="Courier New Bold" charset="0"/>
              </a:rPr>
              <a:t>    $15213, 8(%</a:t>
            </a:r>
            <a:r>
              <a:rPr lang="en-US" sz="1800" b="1" dirty="0" err="1">
                <a:latin typeface="Courier New" panose="02070309020205020404" charset="0"/>
                <a:cs typeface="Courier New" panose="02070309020205020404" charset="0"/>
                <a:sym typeface="Courier New Bold" charset="0"/>
              </a:rPr>
              <a:t>rsp</a:t>
            </a:r>
            <a:r>
              <a:rPr lang="en-US" sz="1800" b="1" dirty="0">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$3000, %</a:t>
            </a:r>
            <a:r>
              <a:rPr lang="en-US" sz="1800" b="1" dirty="0" err="1">
                <a:solidFill>
                  <a:schemeClr val="tx1"/>
                </a:solidFill>
                <a:latin typeface="Courier New" panose="02070309020205020404" charset="0"/>
                <a:cs typeface="Courier New" panose="02070309020205020404" charset="0"/>
                <a:sym typeface="Courier New Bold" charset="0"/>
              </a:rPr>
              <a:t>esi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leaq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incr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31" name="Rectangle 9"/>
          <p:cNvSpPr/>
          <p:nvPr/>
        </p:nvSpPr>
        <p:spPr bwMode="auto">
          <a:xfrm>
            <a:off x="5181600" y="2800454"/>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
        <p:nvSpPr>
          <p:cNvPr id="17" name="Rectangle 7"/>
          <p:cNvSpPr/>
          <p:nvPr/>
        </p:nvSpPr>
        <p:spPr bwMode="auto">
          <a:xfrm>
            <a:off x="5130800" y="57912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 </a:t>
            </a:r>
          </a:p>
        </p:txBody>
      </p:sp>
      <p:sp>
        <p:nvSpPr>
          <p:cNvPr id="18" name="Rectangle 9"/>
          <p:cNvSpPr/>
          <p:nvPr/>
        </p:nvSpPr>
        <p:spPr bwMode="auto">
          <a:xfrm>
            <a:off x="5130800" y="61722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endParaRPr lang="en-US" sz="1800" dirty="0">
              <a:solidFill>
                <a:schemeClr val="tx1"/>
              </a:solidFill>
              <a:latin typeface="Calibri Bold" charset="0"/>
              <a:ea typeface="Calibri Bold" charset="0"/>
              <a:cs typeface="Calibri Bold" charset="0"/>
              <a:sym typeface="Calibri Bold" charset="0"/>
            </a:endParaRPr>
          </a:p>
        </p:txBody>
      </p:sp>
      <p:sp>
        <p:nvSpPr>
          <p:cNvPr id="5" name="Line 10"/>
          <p:cNvSpPr>
            <a:spLocks noChangeShapeType="1"/>
          </p:cNvSpPr>
          <p:nvPr/>
        </p:nvSpPr>
        <p:spPr bwMode="auto">
          <a:xfrm flipH="1">
            <a:off x="6453187" y="64071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 name="Rectangle 11"/>
          <p:cNvSpPr/>
          <p:nvPr/>
        </p:nvSpPr>
        <p:spPr bwMode="auto">
          <a:xfrm>
            <a:off x="6959600" y="61785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6" name="Line 10"/>
          <p:cNvSpPr>
            <a:spLocks noChangeShapeType="1"/>
          </p:cNvSpPr>
          <p:nvPr/>
        </p:nvSpPr>
        <p:spPr bwMode="auto">
          <a:xfrm flipH="1">
            <a:off x="6426200" y="60198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6932613" y="57912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85775"/>
            <a:ext cx="3945890" cy="60579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被调用者存储例子</a:t>
            </a:r>
            <a:r>
              <a:rPr lang="en-US" sz="2800" dirty="0">
                <a:sym typeface="+mn-ea"/>
              </a:rPr>
              <a:t>#4</a:t>
            </a:r>
            <a:endParaRPr lang="en-US" altLang="en-US" sz="2800" dirty="0">
              <a:sym typeface="+mn-ea"/>
            </a:endParaRP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call_incr2(long x)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x+v2;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1" name="Rectangle 12"/>
          <p:cNvSpPr/>
          <p:nvPr/>
        </p:nvSpPr>
        <p:spPr bwMode="auto">
          <a:xfrm>
            <a:off x="5308600" y="302895"/>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latin typeface="Calibri Bold" charset="0"/>
                <a:ea typeface="宋体" panose="02010600030101010101" pitchFamily="2" charset="-122"/>
                <a:cs typeface="Calibri Bold" charset="0"/>
                <a:sym typeface="Calibri Bold" charset="0"/>
              </a:rPr>
              <a:t>栈结构</a:t>
            </a:r>
            <a:endParaRPr lang="en-US" sz="2000" dirty="0">
              <a:solidFill>
                <a:schemeClr val="tx1"/>
              </a:solidFill>
              <a:latin typeface="Calibri Bold" charset="0"/>
              <a:ea typeface="Calibri Bold" charset="0"/>
              <a:cs typeface="Calibri Bold" charset="0"/>
              <a:sym typeface="Calibri Bold" charset="0"/>
            </a:endParaRPr>
          </a:p>
        </p:txBody>
      </p:sp>
      <p:sp>
        <p:nvSpPr>
          <p:cNvPr id="22" name="Rectangle 13"/>
          <p:cNvSpPr/>
          <p:nvPr/>
        </p:nvSpPr>
        <p:spPr bwMode="auto">
          <a:xfrm>
            <a:off x="5242560" y="875665"/>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242560" y="1790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4" name="Rectangle 9"/>
          <p:cNvSpPr/>
          <p:nvPr/>
        </p:nvSpPr>
        <p:spPr bwMode="auto">
          <a:xfrm>
            <a:off x="5242560" y="2171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
        <p:nvSpPr>
          <p:cNvPr id="17" name="Rectangle 7"/>
          <p:cNvSpPr/>
          <p:nvPr/>
        </p:nvSpPr>
        <p:spPr bwMode="auto">
          <a:xfrm>
            <a:off x="5245100" y="2552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 </a:t>
            </a:r>
          </a:p>
        </p:txBody>
      </p:sp>
      <p:sp>
        <p:nvSpPr>
          <p:cNvPr id="18" name="Rectangle 9"/>
          <p:cNvSpPr/>
          <p:nvPr/>
        </p:nvSpPr>
        <p:spPr bwMode="auto">
          <a:xfrm>
            <a:off x="5245100" y="2933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endParaRPr lang="en-US" sz="1800" dirty="0">
              <a:solidFill>
                <a:schemeClr val="tx1"/>
              </a:solidFill>
              <a:latin typeface="Calibri Bold" charset="0"/>
              <a:ea typeface="Calibri Bold" charset="0"/>
              <a:cs typeface="Calibri Bold" charset="0"/>
              <a:sym typeface="Calibri Bold" charset="0"/>
            </a:endParaRPr>
          </a:p>
        </p:txBody>
      </p:sp>
      <p:sp>
        <p:nvSpPr>
          <p:cNvPr id="5" name="Line 10"/>
          <p:cNvSpPr>
            <a:spLocks noChangeShapeType="1"/>
          </p:cNvSpPr>
          <p:nvPr/>
        </p:nvSpPr>
        <p:spPr bwMode="auto">
          <a:xfrm flipH="1">
            <a:off x="6567487" y="31686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 name="Rectangle 11"/>
          <p:cNvSpPr/>
          <p:nvPr/>
        </p:nvSpPr>
        <p:spPr bwMode="auto">
          <a:xfrm>
            <a:off x="7073900" y="29400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6" name="Line 10"/>
          <p:cNvSpPr>
            <a:spLocks noChangeShapeType="1"/>
          </p:cNvSpPr>
          <p:nvPr/>
        </p:nvSpPr>
        <p:spPr bwMode="auto">
          <a:xfrm flipH="1">
            <a:off x="6540500" y="27813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7046913" y="25527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sp>
        <p:nvSpPr>
          <p:cNvPr id="63492" name="Rectangle 4"/>
          <p:cNvSpPr/>
          <p:nvPr/>
        </p:nvSpPr>
        <p:spPr bwMode="auto">
          <a:xfrm>
            <a:off x="381000" y="3200400"/>
            <a:ext cx="44196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call_incr2: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pushq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movq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rdi</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rbx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movq</a:t>
            </a:r>
            <a:r>
              <a:rPr lang="en-US" sz="1800" b="1" dirty="0">
                <a:latin typeface="Courier New" panose="02070309020205020404" charset="0"/>
                <a:cs typeface="Courier New" panose="02070309020205020404" charset="0"/>
                <a:sym typeface="Courier New Bold" charset="0"/>
              </a:rPr>
              <a:t>    $15213, 8(%</a:t>
            </a:r>
            <a:r>
              <a:rPr lang="en-US" sz="1800" b="1" dirty="0" err="1">
                <a:latin typeface="Courier New" panose="02070309020205020404" charset="0"/>
                <a:cs typeface="Courier New" panose="02070309020205020404" charset="0"/>
                <a:sym typeface="Courier New Bold" charset="0"/>
              </a:rPr>
              <a:t>rsp</a:t>
            </a:r>
            <a:r>
              <a:rPr lang="en-US" sz="1800" b="1" dirty="0">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$3000, %</a:t>
            </a:r>
            <a:r>
              <a:rPr lang="en-US" sz="1800" b="1" dirty="0" err="1">
                <a:solidFill>
                  <a:schemeClr val="tx1"/>
                </a:solidFill>
                <a:latin typeface="Courier New" panose="02070309020205020404" charset="0"/>
                <a:cs typeface="Courier New" panose="02070309020205020404" charset="0"/>
                <a:sym typeface="Courier New Bold" charset="0"/>
              </a:rPr>
              <a:t>esi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leaq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incr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8" name="TextBox 1"/>
          <p:cNvSpPr txBox="1"/>
          <p:nvPr/>
        </p:nvSpPr>
        <p:spPr>
          <a:xfrm>
            <a:off x="5036820" y="4747903"/>
            <a:ext cx="3975100" cy="829945"/>
          </a:xfrm>
          <a:prstGeom prst="rect">
            <a:avLst/>
          </a:prstGeom>
          <a:noFill/>
        </p:spPr>
        <p:txBody>
          <a:bodyPr wrap="square" rtlCol="0">
            <a:spAutoFit/>
          </a:bodyPr>
          <a:lstStyle/>
          <a:p>
            <a:pPr marL="457200" indent="-457200" algn="l">
              <a:buFont typeface="Arial" panose="020B0604020202020204" pitchFamily="34" charset="0"/>
              <a:buChar char="•"/>
            </a:pPr>
            <a:r>
              <a:rPr lang="en-US" sz="2400" dirty="0">
                <a:latin typeface="Calibri" panose="020F0502020204030204" charset="0"/>
                <a:cs typeface="Calibri" panose="020F0502020204030204" charset="0"/>
              </a:rPr>
              <a:t>X </a:t>
            </a:r>
            <a:r>
              <a:rPr lang="zh-CN" altLang="en-US" sz="2400" dirty="0">
                <a:latin typeface="Calibri" panose="020F0502020204030204" charset="0"/>
                <a:cs typeface="Calibri" panose="020F0502020204030204" charset="0"/>
              </a:rPr>
              <a:t>存放于</a:t>
            </a:r>
            <a:r>
              <a:rPr lang="en-US" sz="2400" dirty="0">
                <a:latin typeface="Calibri" panose="020F0502020204030204" charset="0"/>
                <a:cs typeface="Calibri" panose="020F0502020204030204" charset="0"/>
              </a:rPr>
              <a:t> </a:t>
            </a:r>
            <a:r>
              <a:rPr lang="en-US" sz="2400" b="1" dirty="0">
                <a:latin typeface="Courier New" panose="02070309020205020404" charset="0"/>
                <a:cs typeface="Courier New" panose="02070309020205020404" charset="0"/>
              </a:rPr>
              <a:t>%</a:t>
            </a:r>
            <a:r>
              <a:rPr lang="en-US" sz="2400" b="1" dirty="0" err="1">
                <a:latin typeface="Courier New" panose="02070309020205020404" charset="0"/>
                <a:cs typeface="Courier New" panose="02070309020205020404" charset="0"/>
              </a:rPr>
              <a:t>rbx</a:t>
            </a:r>
            <a:r>
              <a:rPr lang="en-US" sz="2400" dirty="0">
                <a:latin typeface="Calibri" panose="020F0502020204030204" charset="0"/>
                <a:cs typeface="Calibri" panose="020F0502020204030204" charset="0"/>
              </a:rPr>
              <a:t>.  </a:t>
            </a:r>
          </a:p>
          <a:p>
            <a:pPr indent="0" algn="l">
              <a:buFont typeface="Arial" panose="020B0604020202020204" pitchFamily="34" charset="0"/>
              <a:buNone/>
            </a:pPr>
            <a:endParaRPr lang="en-US" sz="2400" dirty="0">
              <a:latin typeface="Calibri" panose="020F0502020204030204" charset="0"/>
              <a:cs typeface="Calibri" panose="020F0502020204030204"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85775"/>
            <a:ext cx="3945890" cy="60579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被调用者存储例子</a:t>
            </a:r>
            <a:r>
              <a:rPr lang="en-US" sz="2800" dirty="0">
                <a:sym typeface="+mn-ea"/>
              </a:rPr>
              <a:t>#5</a:t>
            </a:r>
            <a:endParaRPr lang="en-US" altLang="en-US" sz="2800" dirty="0">
              <a:sym typeface="+mn-ea"/>
            </a:endParaRP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call_incr2(long x)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x+v2;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21" name="Rectangle 12"/>
          <p:cNvSpPr/>
          <p:nvPr/>
        </p:nvSpPr>
        <p:spPr bwMode="auto">
          <a:xfrm>
            <a:off x="5308600" y="302895"/>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latin typeface="Calibri Bold" charset="0"/>
                <a:ea typeface="宋体" panose="02010600030101010101" pitchFamily="2" charset="-122"/>
                <a:cs typeface="Calibri Bold" charset="0"/>
                <a:sym typeface="Calibri Bold" charset="0"/>
              </a:rPr>
              <a:t>栈结构</a:t>
            </a:r>
            <a:endParaRPr lang="en-US" sz="2000" dirty="0">
              <a:solidFill>
                <a:schemeClr val="tx1"/>
              </a:solidFill>
              <a:latin typeface="Calibri Bold" charset="0"/>
              <a:ea typeface="Calibri Bold" charset="0"/>
              <a:cs typeface="Calibri Bold" charset="0"/>
              <a:sym typeface="Calibri Bold" charset="0"/>
            </a:endParaRPr>
          </a:p>
        </p:txBody>
      </p:sp>
      <p:sp>
        <p:nvSpPr>
          <p:cNvPr id="22" name="Rectangle 13"/>
          <p:cNvSpPr/>
          <p:nvPr/>
        </p:nvSpPr>
        <p:spPr bwMode="auto">
          <a:xfrm>
            <a:off x="5242560" y="875665"/>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242560" y="1790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4" name="Rectangle 9"/>
          <p:cNvSpPr/>
          <p:nvPr/>
        </p:nvSpPr>
        <p:spPr bwMode="auto">
          <a:xfrm>
            <a:off x="5242560" y="2171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
        <p:nvSpPr>
          <p:cNvPr id="17" name="Rectangle 7"/>
          <p:cNvSpPr/>
          <p:nvPr/>
        </p:nvSpPr>
        <p:spPr bwMode="auto">
          <a:xfrm>
            <a:off x="5245100" y="2552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15213 </a:t>
            </a:r>
          </a:p>
        </p:txBody>
      </p:sp>
      <p:sp>
        <p:nvSpPr>
          <p:cNvPr id="18" name="Rectangle 9"/>
          <p:cNvSpPr/>
          <p:nvPr/>
        </p:nvSpPr>
        <p:spPr bwMode="auto">
          <a:xfrm>
            <a:off x="5245100" y="2933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zh-CN" altLang="en-US" sz="1800" dirty="0">
                <a:solidFill>
                  <a:schemeClr val="tx1"/>
                </a:solidFill>
                <a:latin typeface="Calibri Bold" charset="0"/>
                <a:ea typeface="宋体" panose="02010600030101010101" pitchFamily="2" charset="-122"/>
                <a:cs typeface="Calibri Bold" charset="0"/>
                <a:sym typeface="Calibri Bold" charset="0"/>
              </a:rPr>
              <a:t>未使用</a:t>
            </a:r>
          </a:p>
        </p:txBody>
      </p:sp>
      <p:sp>
        <p:nvSpPr>
          <p:cNvPr id="5" name="Line 10"/>
          <p:cNvSpPr>
            <a:spLocks noChangeShapeType="1"/>
          </p:cNvSpPr>
          <p:nvPr/>
        </p:nvSpPr>
        <p:spPr bwMode="auto">
          <a:xfrm flipH="1">
            <a:off x="6567487" y="31686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 name="Rectangle 11"/>
          <p:cNvSpPr/>
          <p:nvPr/>
        </p:nvSpPr>
        <p:spPr bwMode="auto">
          <a:xfrm>
            <a:off x="7073900" y="29400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6" name="Line 10"/>
          <p:cNvSpPr>
            <a:spLocks noChangeShapeType="1"/>
          </p:cNvSpPr>
          <p:nvPr/>
        </p:nvSpPr>
        <p:spPr bwMode="auto">
          <a:xfrm flipH="1">
            <a:off x="6540500" y="27813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7046913" y="25527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sp>
        <p:nvSpPr>
          <p:cNvPr id="8" name="TextBox 1"/>
          <p:cNvSpPr txBox="1"/>
          <p:nvPr/>
        </p:nvSpPr>
        <p:spPr>
          <a:xfrm>
            <a:off x="5036820" y="4747903"/>
            <a:ext cx="3975100" cy="829945"/>
          </a:xfrm>
          <a:prstGeom prst="rect">
            <a:avLst/>
          </a:prstGeom>
          <a:noFill/>
        </p:spPr>
        <p:txBody>
          <a:bodyPr wrap="square" rtlCol="0">
            <a:spAutoFit/>
          </a:bodyPr>
          <a:lstStyle/>
          <a:p>
            <a:pPr marL="457200" indent="-457200" algn="l">
              <a:buFont typeface="Arial" panose="020B0604020202020204" pitchFamily="34" charset="0"/>
              <a:buChar char="•"/>
            </a:pPr>
            <a:r>
              <a:rPr lang="en-US" sz="2400" dirty="0">
                <a:latin typeface="Calibri" panose="020F0502020204030204" charset="0"/>
                <a:cs typeface="Calibri" panose="020F0502020204030204" charset="0"/>
              </a:rPr>
              <a:t>X </a:t>
            </a:r>
            <a:r>
              <a:rPr lang="zh-CN" altLang="en-US" sz="2400" dirty="0">
                <a:latin typeface="Calibri" panose="020F0502020204030204" charset="0"/>
                <a:cs typeface="Calibri" panose="020F0502020204030204" charset="0"/>
              </a:rPr>
              <a:t>存放于</a:t>
            </a:r>
            <a:r>
              <a:rPr lang="en-US" sz="2400" dirty="0">
                <a:latin typeface="Calibri" panose="020F0502020204030204" charset="0"/>
                <a:cs typeface="Calibri" panose="020F0502020204030204" charset="0"/>
              </a:rPr>
              <a:t> </a:t>
            </a:r>
            <a:r>
              <a:rPr lang="en-US" sz="2400" b="1" dirty="0">
                <a:latin typeface="Courier New" panose="02070309020205020404" charset="0"/>
                <a:cs typeface="Courier New" panose="02070309020205020404" charset="0"/>
              </a:rPr>
              <a:t>%</a:t>
            </a:r>
            <a:r>
              <a:rPr lang="en-US" sz="2400" b="1" dirty="0" err="1">
                <a:latin typeface="Courier New" panose="02070309020205020404" charset="0"/>
                <a:cs typeface="Courier New" panose="02070309020205020404" charset="0"/>
              </a:rPr>
              <a:t>rbx</a:t>
            </a:r>
            <a:r>
              <a:rPr lang="en-US" sz="2400" dirty="0">
                <a:latin typeface="Calibri" panose="020F0502020204030204" charset="0"/>
                <a:cs typeface="Calibri" panose="020F0502020204030204" charset="0"/>
              </a:rPr>
              <a:t>.  </a:t>
            </a:r>
          </a:p>
          <a:p>
            <a:pPr indent="0" algn="l">
              <a:buFont typeface="Arial" panose="020B0604020202020204" pitchFamily="34" charset="0"/>
              <a:buNone/>
            </a:pPr>
            <a:endParaRPr lang="en-US" sz="2400" dirty="0">
              <a:latin typeface="Calibri" panose="020F0502020204030204" charset="0"/>
              <a:cs typeface="Calibri" panose="020F0502020204030204" charset="0"/>
            </a:endParaRPr>
          </a:p>
        </p:txBody>
      </p:sp>
      <p:sp>
        <p:nvSpPr>
          <p:cNvPr id="4" name="Rectangle 4"/>
          <p:cNvSpPr/>
          <p:nvPr/>
        </p:nvSpPr>
        <p:spPr bwMode="auto">
          <a:xfrm>
            <a:off x="381000" y="3200400"/>
            <a:ext cx="44196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call_incr2: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pushq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movq</a:t>
            </a:r>
            <a:r>
              <a:rPr lang="en-US" sz="1800" b="1" dirty="0">
                <a:solidFill>
                  <a:srgbClr val="FF0000"/>
                </a:solidFill>
                <a:latin typeface="Courier New" panose="02070309020205020404" charset="0"/>
                <a:cs typeface="Courier New" panose="02070309020205020404" charset="0"/>
                <a:sym typeface="Courier New Bold" charset="0"/>
              </a:rPr>
              <a:t>    $15213, 8(%</a:t>
            </a:r>
            <a:r>
              <a:rPr lang="en-US" sz="1800" b="1" dirty="0" err="1">
                <a:solidFill>
                  <a:srgbClr val="FF0000"/>
                </a:solidFill>
                <a:latin typeface="Courier New" panose="02070309020205020404" charset="0"/>
                <a:cs typeface="Courier New" panose="02070309020205020404" charset="0"/>
                <a:sym typeface="Courier New Bold" charset="0"/>
              </a:rPr>
              <a:t>rsp</a:t>
            </a:r>
            <a:r>
              <a:rPr lang="en-US" sz="1800" b="1" dirty="0">
                <a:solidFill>
                  <a:srgbClr val="FF0000"/>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$3000, %</a:t>
            </a:r>
            <a:r>
              <a:rPr lang="en-US" sz="1800" b="1" dirty="0" err="1">
                <a:solidFill>
                  <a:schemeClr val="tx1"/>
                </a:solidFill>
                <a:latin typeface="Courier New" panose="02070309020205020404" charset="0"/>
                <a:cs typeface="Courier New" panose="02070309020205020404" charset="0"/>
                <a:sym typeface="Courier New Bold" charset="0"/>
              </a:rPr>
              <a:t>esi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leaq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incr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85775"/>
            <a:ext cx="3945890" cy="60579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被调用者存储例子</a:t>
            </a:r>
            <a:r>
              <a:rPr lang="en-US" sz="2800" dirty="0">
                <a:sym typeface="+mn-ea"/>
              </a:rPr>
              <a:t>#6</a:t>
            </a:r>
            <a:endParaRPr lang="en-US" altLang="en-US" sz="2800" dirty="0">
              <a:sym typeface="+mn-ea"/>
            </a:endParaRPr>
          </a:p>
        </p:txBody>
      </p:sp>
      <p:sp>
        <p:nvSpPr>
          <p:cNvPr id="21" name="Rectangle 12"/>
          <p:cNvSpPr/>
          <p:nvPr/>
        </p:nvSpPr>
        <p:spPr bwMode="auto">
          <a:xfrm>
            <a:off x="5308600" y="302895"/>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latin typeface="Calibri Bold" charset="0"/>
                <a:ea typeface="宋体" panose="02010600030101010101" pitchFamily="2" charset="-122"/>
                <a:cs typeface="Calibri Bold" charset="0"/>
                <a:sym typeface="Calibri Bold" charset="0"/>
              </a:rPr>
              <a:t>栈结构</a:t>
            </a:r>
            <a:endParaRPr lang="en-US" sz="2000" dirty="0">
              <a:solidFill>
                <a:schemeClr val="tx1"/>
              </a:solidFill>
              <a:latin typeface="Calibri Bold" charset="0"/>
              <a:ea typeface="Calibri Bold" charset="0"/>
              <a:cs typeface="Calibri Bold" charset="0"/>
              <a:sym typeface="Calibri Bold" charset="0"/>
            </a:endParaRPr>
          </a:p>
        </p:txBody>
      </p:sp>
      <p:sp>
        <p:nvSpPr>
          <p:cNvPr id="22" name="Rectangle 13"/>
          <p:cNvSpPr/>
          <p:nvPr/>
        </p:nvSpPr>
        <p:spPr bwMode="auto">
          <a:xfrm>
            <a:off x="5242560" y="875665"/>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242560" y="1790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4" name="Rectangle 9"/>
          <p:cNvSpPr/>
          <p:nvPr/>
        </p:nvSpPr>
        <p:spPr bwMode="auto">
          <a:xfrm>
            <a:off x="5242560" y="2171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
        <p:nvSpPr>
          <p:cNvPr id="17" name="Rectangle 7"/>
          <p:cNvSpPr/>
          <p:nvPr/>
        </p:nvSpPr>
        <p:spPr bwMode="auto">
          <a:xfrm>
            <a:off x="5245100" y="2552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18213 </a:t>
            </a:r>
          </a:p>
        </p:txBody>
      </p:sp>
      <p:sp>
        <p:nvSpPr>
          <p:cNvPr id="18" name="Rectangle 9"/>
          <p:cNvSpPr/>
          <p:nvPr/>
        </p:nvSpPr>
        <p:spPr bwMode="auto">
          <a:xfrm>
            <a:off x="5245100" y="2933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zh-CN" altLang="en-US" sz="1800" dirty="0">
                <a:solidFill>
                  <a:schemeClr val="tx1"/>
                </a:solidFill>
                <a:latin typeface="Calibri Bold" charset="0"/>
                <a:ea typeface="宋体" panose="02010600030101010101" pitchFamily="2" charset="-122"/>
                <a:cs typeface="Calibri Bold" charset="0"/>
                <a:sym typeface="Calibri Bold" charset="0"/>
              </a:rPr>
              <a:t>未使用</a:t>
            </a:r>
          </a:p>
        </p:txBody>
      </p:sp>
      <p:sp>
        <p:nvSpPr>
          <p:cNvPr id="5" name="Line 10"/>
          <p:cNvSpPr>
            <a:spLocks noChangeShapeType="1"/>
          </p:cNvSpPr>
          <p:nvPr/>
        </p:nvSpPr>
        <p:spPr bwMode="auto">
          <a:xfrm flipH="1">
            <a:off x="6567487" y="31686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 name="Rectangle 11"/>
          <p:cNvSpPr/>
          <p:nvPr/>
        </p:nvSpPr>
        <p:spPr bwMode="auto">
          <a:xfrm>
            <a:off x="7073900" y="29400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6" name="Line 10"/>
          <p:cNvSpPr>
            <a:spLocks noChangeShapeType="1"/>
          </p:cNvSpPr>
          <p:nvPr/>
        </p:nvSpPr>
        <p:spPr bwMode="auto">
          <a:xfrm flipH="1">
            <a:off x="6540500" y="27813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7046913" y="2552700"/>
            <a:ext cx="908076"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%rsp+8</a:t>
            </a:r>
          </a:p>
        </p:txBody>
      </p:sp>
      <p:sp>
        <p:nvSpPr>
          <p:cNvPr id="8" name="TextBox 1"/>
          <p:cNvSpPr txBox="1"/>
          <p:nvPr/>
        </p:nvSpPr>
        <p:spPr>
          <a:xfrm>
            <a:off x="5036820" y="4747903"/>
            <a:ext cx="3975100" cy="1198880"/>
          </a:xfrm>
          <a:prstGeom prst="rect">
            <a:avLst/>
          </a:prstGeom>
          <a:noFill/>
        </p:spPr>
        <p:txBody>
          <a:bodyPr wrap="square" rtlCol="0">
            <a:spAutoFit/>
          </a:bodyPr>
          <a:lstStyle/>
          <a:p>
            <a:pPr marL="457200" indent="-457200" algn="l">
              <a:buFont typeface="Arial" panose="020B0604020202020204" pitchFamily="34" charset="0"/>
              <a:buChar char="•"/>
            </a:pPr>
            <a:r>
              <a:rPr lang="en-US" sz="2400" dirty="0">
                <a:latin typeface="Calibri" panose="020F0502020204030204" charset="0"/>
                <a:cs typeface="Calibri" panose="020F0502020204030204" charset="0"/>
              </a:rPr>
              <a:t>X </a:t>
            </a:r>
            <a:r>
              <a:rPr lang="zh-CN" altLang="en-US" sz="2400" dirty="0">
                <a:latin typeface="Calibri" panose="020F0502020204030204" charset="0"/>
                <a:cs typeface="Calibri" panose="020F0502020204030204" charset="0"/>
              </a:rPr>
              <a:t>存放于</a:t>
            </a:r>
            <a:r>
              <a:rPr lang="en-US" sz="2400" dirty="0">
                <a:latin typeface="Calibri" panose="020F0502020204030204" charset="0"/>
                <a:cs typeface="Calibri" panose="020F0502020204030204" charset="0"/>
              </a:rPr>
              <a:t> </a:t>
            </a:r>
            <a:r>
              <a:rPr lang="en-US" sz="2400" b="1" dirty="0">
                <a:latin typeface="Courier New" panose="02070309020205020404" charset="0"/>
                <a:cs typeface="Courier New" panose="02070309020205020404" charset="0"/>
              </a:rPr>
              <a:t>%</a:t>
            </a:r>
            <a:r>
              <a:rPr lang="en-US" sz="2400" b="1" dirty="0" err="1">
                <a:latin typeface="Courier New" panose="02070309020205020404" charset="0"/>
                <a:cs typeface="Courier New" panose="02070309020205020404" charset="0"/>
              </a:rPr>
              <a:t>rbx</a:t>
            </a:r>
            <a:r>
              <a:rPr lang="en-US" sz="2400" dirty="0">
                <a:latin typeface="Calibri" panose="020F0502020204030204" charset="0"/>
                <a:cs typeface="Calibri" panose="020F0502020204030204" charset="0"/>
              </a:rPr>
              <a:t>.  </a:t>
            </a:r>
          </a:p>
          <a:p>
            <a:pPr marL="457200" indent="-457200" algn="l">
              <a:buFont typeface="Arial" panose="020B0604020202020204" pitchFamily="34" charset="0"/>
              <a:buChar char="•"/>
            </a:pPr>
            <a:r>
              <a:rPr lang="zh-CN" sz="2400" dirty="0">
                <a:latin typeface="Calibri" panose="020F0502020204030204" charset="0"/>
                <a:cs typeface="Calibri" panose="020F0502020204030204" charset="0"/>
              </a:rPr>
              <a:t>返回结果值在</a:t>
            </a:r>
            <a:r>
              <a:rPr lang="en-US" sz="2400" b="1" dirty="0">
                <a:latin typeface="Courier New" panose="02070309020205020404" charset="0"/>
                <a:cs typeface="Courier New" panose="02070309020205020404" charset="0"/>
              </a:rPr>
              <a:t>%rax</a:t>
            </a:r>
            <a:r>
              <a:rPr lang="zh-CN" altLang="en-US" sz="2400" dirty="0">
                <a:latin typeface="Calibri" panose="020F0502020204030204" charset="0"/>
                <a:cs typeface="Calibri" panose="020F0502020204030204" charset="0"/>
              </a:rPr>
              <a:t>中</a:t>
            </a:r>
            <a:r>
              <a:rPr lang="en-US" altLang="zh-CN" sz="2400" dirty="0">
                <a:latin typeface="Calibri" panose="020F0502020204030204" charset="0"/>
                <a:cs typeface="Calibri" panose="020F0502020204030204" charset="0"/>
              </a:rPr>
              <a:t>.</a:t>
            </a:r>
          </a:p>
          <a:p>
            <a:pPr indent="0" algn="l">
              <a:buFont typeface="Arial" panose="020B0604020202020204" pitchFamily="34" charset="0"/>
              <a:buNone/>
            </a:pPr>
            <a:endParaRPr lang="en-US" sz="2400" dirty="0">
              <a:latin typeface="Calibri" panose="020F0502020204030204" charset="0"/>
              <a:cs typeface="Calibri" panose="020F0502020204030204" charset="0"/>
            </a:endParaRPr>
          </a:p>
        </p:txBody>
      </p:sp>
      <p:sp>
        <p:nvSpPr>
          <p:cNvPr id="9"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call_incr2(long x)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return </a:t>
            </a:r>
            <a:r>
              <a:rPr lang="en-US" sz="1800" b="1" dirty="0">
                <a:solidFill>
                  <a:srgbClr val="FF0000"/>
                </a:solidFill>
                <a:latin typeface="Courier New" panose="02070309020205020404" charset="0"/>
                <a:cs typeface="Courier New" panose="02070309020205020404" charset="0"/>
                <a:sym typeface="Courier New Bold" charset="0"/>
              </a:rPr>
              <a:t>x+v2</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63492" name="Rectangle 4"/>
          <p:cNvSpPr/>
          <p:nvPr/>
        </p:nvSpPr>
        <p:spPr bwMode="auto">
          <a:xfrm>
            <a:off x="381000" y="3200400"/>
            <a:ext cx="44196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call_incr2: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pushq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$3000, %</a:t>
            </a:r>
            <a:r>
              <a:rPr lang="en-US" sz="1800" b="1" dirty="0" err="1">
                <a:solidFill>
                  <a:schemeClr val="tx1"/>
                </a:solidFill>
                <a:latin typeface="Courier New" panose="02070309020205020404" charset="0"/>
                <a:cs typeface="Courier New" panose="02070309020205020404" charset="0"/>
                <a:sym typeface="Courier New Bold" charset="0"/>
              </a:rPr>
              <a:t>esi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leaq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incr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addq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rbx</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rax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85775"/>
            <a:ext cx="3945890" cy="60579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被调用者存储例子</a:t>
            </a:r>
            <a:r>
              <a:rPr lang="en-US" sz="2800" dirty="0">
                <a:sym typeface="+mn-ea"/>
              </a:rPr>
              <a:t>#7</a:t>
            </a:r>
            <a:endParaRPr lang="en-US" altLang="en-US" sz="2800" dirty="0">
              <a:sym typeface="+mn-ea"/>
            </a:endParaRPr>
          </a:p>
        </p:txBody>
      </p:sp>
      <p:sp>
        <p:nvSpPr>
          <p:cNvPr id="21" name="Rectangle 12"/>
          <p:cNvSpPr/>
          <p:nvPr/>
        </p:nvSpPr>
        <p:spPr bwMode="auto">
          <a:xfrm>
            <a:off x="5308600" y="302895"/>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latin typeface="Calibri Bold" charset="0"/>
                <a:ea typeface="宋体" panose="02010600030101010101" pitchFamily="2" charset="-122"/>
                <a:cs typeface="Calibri Bold" charset="0"/>
                <a:sym typeface="Calibri Bold" charset="0"/>
              </a:rPr>
              <a:t>栈结构</a:t>
            </a:r>
            <a:endParaRPr lang="en-US" sz="2000" dirty="0">
              <a:solidFill>
                <a:schemeClr val="tx1"/>
              </a:solidFill>
              <a:latin typeface="Calibri Bold" charset="0"/>
              <a:ea typeface="Calibri Bold" charset="0"/>
              <a:cs typeface="Calibri Bold" charset="0"/>
              <a:sym typeface="Calibri Bold" charset="0"/>
            </a:endParaRPr>
          </a:p>
        </p:txBody>
      </p:sp>
      <p:sp>
        <p:nvSpPr>
          <p:cNvPr id="22" name="Rectangle 13"/>
          <p:cNvSpPr/>
          <p:nvPr/>
        </p:nvSpPr>
        <p:spPr bwMode="auto">
          <a:xfrm>
            <a:off x="5242560" y="875665"/>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242560" y="1790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4" name="Rectangle 9"/>
          <p:cNvSpPr/>
          <p:nvPr/>
        </p:nvSpPr>
        <p:spPr bwMode="auto">
          <a:xfrm>
            <a:off x="5242560" y="2171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
        <p:nvSpPr>
          <p:cNvPr id="17" name="Rectangle 7"/>
          <p:cNvSpPr/>
          <p:nvPr/>
        </p:nvSpPr>
        <p:spPr bwMode="auto">
          <a:xfrm>
            <a:off x="5245100" y="2552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18213 </a:t>
            </a:r>
          </a:p>
        </p:txBody>
      </p:sp>
      <p:sp>
        <p:nvSpPr>
          <p:cNvPr id="18" name="Rectangle 9"/>
          <p:cNvSpPr/>
          <p:nvPr/>
        </p:nvSpPr>
        <p:spPr bwMode="auto">
          <a:xfrm>
            <a:off x="5245100" y="2933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zh-CN" altLang="en-US" sz="1800" dirty="0">
                <a:solidFill>
                  <a:schemeClr val="tx1"/>
                </a:solidFill>
                <a:latin typeface="Calibri Bold" charset="0"/>
                <a:ea typeface="宋体" panose="02010600030101010101" pitchFamily="2" charset="-122"/>
                <a:cs typeface="Calibri Bold" charset="0"/>
                <a:sym typeface="Calibri Bold" charset="0"/>
              </a:rPr>
              <a:t>未使用</a:t>
            </a:r>
          </a:p>
        </p:txBody>
      </p:sp>
      <p:sp>
        <p:nvSpPr>
          <p:cNvPr id="5" name="Line 10"/>
          <p:cNvSpPr>
            <a:spLocks noChangeShapeType="1"/>
          </p:cNvSpPr>
          <p:nvPr/>
        </p:nvSpPr>
        <p:spPr bwMode="auto">
          <a:xfrm flipH="1">
            <a:off x="6567487" y="25209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 name="Rectangle 11"/>
          <p:cNvSpPr/>
          <p:nvPr/>
        </p:nvSpPr>
        <p:spPr bwMode="auto">
          <a:xfrm>
            <a:off x="7073900" y="22923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8" name="TextBox 1"/>
          <p:cNvSpPr txBox="1"/>
          <p:nvPr/>
        </p:nvSpPr>
        <p:spPr>
          <a:xfrm>
            <a:off x="5036820" y="4747903"/>
            <a:ext cx="3975100" cy="829945"/>
          </a:xfrm>
          <a:prstGeom prst="rect">
            <a:avLst/>
          </a:prstGeom>
          <a:noFill/>
        </p:spPr>
        <p:txBody>
          <a:bodyPr wrap="square" rtlCol="0">
            <a:spAutoFit/>
          </a:bodyPr>
          <a:lstStyle/>
          <a:p>
            <a:pPr marL="457200" indent="-457200" algn="l">
              <a:buFont typeface="Arial" panose="020B0604020202020204" pitchFamily="34" charset="0"/>
              <a:buChar char="•"/>
            </a:pPr>
            <a:r>
              <a:rPr lang="zh-CN" sz="2400" dirty="0">
                <a:latin typeface="Calibri" panose="020F0502020204030204" charset="0"/>
                <a:cs typeface="Calibri" panose="020F0502020204030204" charset="0"/>
              </a:rPr>
              <a:t>返回结果值在</a:t>
            </a:r>
            <a:r>
              <a:rPr lang="en-US" sz="2400" b="1" dirty="0">
                <a:latin typeface="Courier New" panose="02070309020205020404" charset="0"/>
                <a:cs typeface="Courier New" panose="02070309020205020404" charset="0"/>
              </a:rPr>
              <a:t>%rax</a:t>
            </a:r>
            <a:r>
              <a:rPr lang="zh-CN" altLang="en-US" sz="2400" dirty="0">
                <a:latin typeface="Calibri" panose="020F0502020204030204" charset="0"/>
                <a:cs typeface="Calibri" panose="020F0502020204030204" charset="0"/>
              </a:rPr>
              <a:t>中</a:t>
            </a:r>
            <a:r>
              <a:rPr lang="en-US" altLang="zh-CN" sz="2400" dirty="0">
                <a:latin typeface="Calibri" panose="020F0502020204030204" charset="0"/>
                <a:cs typeface="Calibri" panose="020F0502020204030204" charset="0"/>
              </a:rPr>
              <a:t>.</a:t>
            </a:r>
          </a:p>
          <a:p>
            <a:pPr indent="0" algn="l">
              <a:buFont typeface="Arial" panose="020B0604020202020204" pitchFamily="34" charset="0"/>
              <a:buNone/>
            </a:pPr>
            <a:endParaRPr lang="en-US" sz="2400" dirty="0">
              <a:latin typeface="Calibri" panose="020F0502020204030204" charset="0"/>
              <a:cs typeface="Calibri" panose="020F0502020204030204" charset="0"/>
            </a:endParaRP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call_incr2(long x)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chemeClr val="accent1">
                    <a:lumMod val="40000"/>
                    <a:lumOff val="60000"/>
                  </a:schemeClr>
                </a:solidFill>
                <a:latin typeface="Courier New" panose="02070309020205020404" charset="0"/>
                <a:cs typeface="Courier New" panose="02070309020205020404" charset="0"/>
                <a:sym typeface="Courier New Bold" charset="0"/>
              </a:rPr>
              <a:t>return</a:t>
            </a:r>
            <a:r>
              <a:rPr lang="en-US" sz="1800" b="1" dirty="0">
                <a:solidFill>
                  <a:schemeClr val="tx1"/>
                </a:solidFill>
                <a:latin typeface="Courier New" panose="02070309020205020404" charset="0"/>
                <a:cs typeface="Courier New" panose="02070309020205020404" charset="0"/>
                <a:sym typeface="Courier New Bold" charset="0"/>
              </a:rPr>
              <a:t> x+v2;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4" name="Rectangle 4"/>
          <p:cNvSpPr/>
          <p:nvPr/>
        </p:nvSpPr>
        <p:spPr bwMode="auto">
          <a:xfrm>
            <a:off x="381000" y="3200400"/>
            <a:ext cx="44196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call_incr2: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pushq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$3000, %</a:t>
            </a:r>
            <a:r>
              <a:rPr lang="en-US" sz="1800" b="1" dirty="0" err="1">
                <a:solidFill>
                  <a:schemeClr val="tx1"/>
                </a:solidFill>
                <a:latin typeface="Courier New" panose="02070309020205020404" charset="0"/>
                <a:cs typeface="Courier New" panose="02070309020205020404" charset="0"/>
                <a:sym typeface="Courier New Bold" charset="0"/>
              </a:rPr>
              <a:t>esi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leaq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incr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addq</a:t>
            </a:r>
            <a:r>
              <a:rPr lang="en-US" sz="1800" b="1" dirty="0">
                <a:solidFill>
                  <a:srgbClr val="FF0000"/>
                </a:solidFill>
                <a:latin typeface="Courier New" panose="02070309020205020404" charset="0"/>
                <a:cs typeface="Courier New" panose="02070309020205020404" charset="0"/>
                <a:sym typeface="Courier New Bold" charset="0"/>
              </a:rPr>
              <a:t>    $16, %</a:t>
            </a:r>
            <a:r>
              <a:rPr lang="en-US" sz="1800" b="1" dirty="0" err="1">
                <a:solidFill>
                  <a:srgbClr val="FF0000"/>
                </a:solidFill>
                <a:latin typeface="Courier New" panose="02070309020205020404" charset="0"/>
                <a:cs typeface="Courier New" panose="02070309020205020404" charset="0"/>
                <a:sym typeface="Courier New Bold" charset="0"/>
              </a:rPr>
              <a:t>rsp</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五边形 1"/>
          <p:cNvSpPr/>
          <p:nvPr/>
        </p:nvSpPr>
        <p:spPr>
          <a:xfrm>
            <a:off x="0" y="485775"/>
            <a:ext cx="3945890" cy="605790"/>
          </a:xfrm>
          <a:prstGeom prst="homePlat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被调用者存储例子</a:t>
            </a:r>
            <a:r>
              <a:rPr lang="en-US" sz="2800" dirty="0">
                <a:sym typeface="+mn-ea"/>
              </a:rPr>
              <a:t>#8</a:t>
            </a:r>
            <a:endParaRPr lang="en-US" altLang="en-US" sz="2800" dirty="0">
              <a:sym typeface="+mn-ea"/>
            </a:endParaRPr>
          </a:p>
        </p:txBody>
      </p:sp>
      <p:sp>
        <p:nvSpPr>
          <p:cNvPr id="21" name="Rectangle 12"/>
          <p:cNvSpPr/>
          <p:nvPr/>
        </p:nvSpPr>
        <p:spPr bwMode="auto">
          <a:xfrm>
            <a:off x="5308600" y="302895"/>
            <a:ext cx="838200" cy="38354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zh-CN" altLang="en-US" sz="2000" dirty="0">
                <a:latin typeface="Calibri Bold" charset="0"/>
                <a:ea typeface="宋体" panose="02010600030101010101" pitchFamily="2" charset="-122"/>
                <a:cs typeface="Calibri Bold" charset="0"/>
                <a:sym typeface="Calibri Bold" charset="0"/>
              </a:rPr>
              <a:t>栈结构</a:t>
            </a:r>
            <a:endParaRPr lang="en-US" sz="2000" dirty="0">
              <a:solidFill>
                <a:schemeClr val="tx1"/>
              </a:solidFill>
              <a:latin typeface="Calibri Bold" charset="0"/>
              <a:ea typeface="Calibri Bold" charset="0"/>
              <a:cs typeface="Calibri Bold" charset="0"/>
              <a:sym typeface="Calibri Bold" charset="0"/>
            </a:endParaRPr>
          </a:p>
        </p:txBody>
      </p:sp>
      <p:sp>
        <p:nvSpPr>
          <p:cNvPr id="22" name="Rectangle 13"/>
          <p:cNvSpPr/>
          <p:nvPr/>
        </p:nvSpPr>
        <p:spPr bwMode="auto">
          <a:xfrm>
            <a:off x="5242560" y="875665"/>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3" name="Rectangle 9"/>
          <p:cNvSpPr/>
          <p:nvPr/>
        </p:nvSpPr>
        <p:spPr bwMode="auto">
          <a:xfrm>
            <a:off x="5242560" y="1790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24" name="Rectangle 9"/>
          <p:cNvSpPr/>
          <p:nvPr/>
        </p:nvSpPr>
        <p:spPr bwMode="auto">
          <a:xfrm>
            <a:off x="5242560" y="2171065"/>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
        <p:nvSpPr>
          <p:cNvPr id="17" name="Rectangle 7"/>
          <p:cNvSpPr/>
          <p:nvPr/>
        </p:nvSpPr>
        <p:spPr bwMode="auto">
          <a:xfrm>
            <a:off x="5245100" y="2552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18213 </a:t>
            </a:r>
          </a:p>
        </p:txBody>
      </p:sp>
      <p:sp>
        <p:nvSpPr>
          <p:cNvPr id="18" name="Rectangle 9"/>
          <p:cNvSpPr/>
          <p:nvPr/>
        </p:nvSpPr>
        <p:spPr bwMode="auto">
          <a:xfrm>
            <a:off x="5245100" y="29337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zh-CN" altLang="en-US" sz="1800" dirty="0">
                <a:solidFill>
                  <a:schemeClr val="tx1"/>
                </a:solidFill>
                <a:latin typeface="Calibri Bold" charset="0"/>
                <a:ea typeface="宋体" panose="02010600030101010101" pitchFamily="2" charset="-122"/>
                <a:cs typeface="Calibri Bold" charset="0"/>
                <a:sym typeface="Calibri Bold" charset="0"/>
              </a:rPr>
              <a:t>未使用</a:t>
            </a:r>
          </a:p>
        </p:txBody>
      </p:sp>
      <p:sp>
        <p:nvSpPr>
          <p:cNvPr id="5" name="Line 10"/>
          <p:cNvSpPr>
            <a:spLocks noChangeShapeType="1"/>
          </p:cNvSpPr>
          <p:nvPr/>
        </p:nvSpPr>
        <p:spPr bwMode="auto">
          <a:xfrm flipH="1">
            <a:off x="6567487" y="252095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6" name="Rectangle 11"/>
          <p:cNvSpPr/>
          <p:nvPr/>
        </p:nvSpPr>
        <p:spPr bwMode="auto">
          <a:xfrm>
            <a:off x="7073900" y="229235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63493" name="Rectangle 5"/>
          <p:cNvSpPr/>
          <p:nvPr/>
        </p:nvSpPr>
        <p:spPr bwMode="auto">
          <a:xfrm>
            <a:off x="381000" y="1371600"/>
            <a:ext cx="4343400" cy="1600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long call_incr2(long x) {</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v1 = 15213;</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long v2 = </a:t>
            </a:r>
            <a:r>
              <a:rPr lang="en-US" sz="1800" b="1" dirty="0" err="1">
                <a:solidFill>
                  <a:schemeClr val="tx1"/>
                </a:solidFill>
                <a:latin typeface="Courier New" panose="02070309020205020404" charset="0"/>
                <a:cs typeface="Courier New" panose="02070309020205020404" charset="0"/>
                <a:sym typeface="Courier New Bold" charset="0"/>
              </a:rPr>
              <a:t>incr</a:t>
            </a:r>
            <a:r>
              <a:rPr lang="en-US" sz="1800" b="1" dirty="0">
                <a:solidFill>
                  <a:schemeClr val="tx1"/>
                </a:solidFill>
                <a:latin typeface="Courier New" panose="02070309020205020404" charset="0"/>
                <a:cs typeface="Courier New" panose="02070309020205020404" charset="0"/>
                <a:sym typeface="Courier New Bold" charset="0"/>
              </a:rPr>
              <a:t>(&amp;v1, 3000);</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chemeClr val="accent1">
                    <a:lumMod val="40000"/>
                    <a:lumOff val="60000"/>
                  </a:schemeClr>
                </a:solidFill>
                <a:latin typeface="Courier New" panose="02070309020205020404" charset="0"/>
                <a:cs typeface="Courier New" panose="02070309020205020404" charset="0"/>
                <a:sym typeface="Courier New Bold" charset="0"/>
              </a:rPr>
              <a:t>return</a:t>
            </a:r>
            <a:r>
              <a:rPr lang="en-US" sz="1800" b="1" dirty="0">
                <a:solidFill>
                  <a:schemeClr val="tx1"/>
                </a:solidFill>
                <a:latin typeface="Courier New" panose="02070309020205020404" charset="0"/>
                <a:cs typeface="Courier New" panose="02070309020205020404" charset="0"/>
                <a:sym typeface="Courier New Bold" charset="0"/>
              </a:rPr>
              <a:t> x+v2;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63492" name="Rectangle 4"/>
          <p:cNvSpPr/>
          <p:nvPr/>
        </p:nvSpPr>
        <p:spPr bwMode="auto">
          <a:xfrm>
            <a:off x="381000" y="3200400"/>
            <a:ext cx="4419600" cy="3505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call_incr2:</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pushq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subq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$15213,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$3000, %</a:t>
            </a:r>
            <a:r>
              <a:rPr lang="en-US" sz="1800" b="1" dirty="0" err="1">
                <a:solidFill>
                  <a:schemeClr val="tx1"/>
                </a:solidFill>
                <a:latin typeface="Courier New" panose="02070309020205020404" charset="0"/>
                <a:cs typeface="Courier New" panose="02070309020205020404" charset="0"/>
                <a:sym typeface="Courier New Bold" charset="0"/>
              </a:rPr>
              <a:t>esi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leaq</a:t>
            </a:r>
            <a:r>
              <a:rPr lang="en-US" sz="1800" b="1" dirty="0">
                <a:solidFill>
                  <a:schemeClr val="tx1"/>
                </a:solidFill>
                <a:latin typeface="Courier New" panose="02070309020205020404" charset="0"/>
                <a:cs typeface="Courier New" panose="02070309020205020404" charset="0"/>
                <a:sym typeface="Courier New Bold" charset="0"/>
              </a:rPr>
              <a:t>    8(%</a:t>
            </a:r>
            <a:r>
              <a:rPr lang="en-US" sz="1800" b="1" dirty="0" err="1">
                <a:solidFill>
                  <a:schemeClr val="tx1"/>
                </a:solidFill>
                <a:latin typeface="Courier New" panose="02070309020205020404" charset="0"/>
                <a:cs typeface="Courier New" panose="02070309020205020404" charset="0"/>
                <a:sym typeface="Courier New Bold" charset="0"/>
              </a:rPr>
              <a:t>rsp</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incr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$16, %</a:t>
            </a:r>
            <a:r>
              <a:rPr lang="en-US" sz="1800" b="1" dirty="0" err="1">
                <a:solidFill>
                  <a:schemeClr val="tx1"/>
                </a:solidFill>
                <a:latin typeface="Courier New" panose="02070309020205020404" charset="0"/>
                <a:cs typeface="Courier New" panose="02070309020205020404" charset="0"/>
                <a:sym typeface="Courier New Bold" charset="0"/>
              </a:rPr>
              <a:t>rsp</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popq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rbx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457200" algn="l"/>
                <a:tab pos="1485900" algn="l"/>
                <a:tab pos="457200" algn="l"/>
                <a:tab pos="1485900" algn="l"/>
                <a:tab pos="457200" algn="l"/>
                <a:tab pos="1485900" algn="l"/>
                <a:tab pos="457200" algn="l"/>
                <a:tab pos="1485900" algn="l"/>
                <a:tab pos="457200" algn="l"/>
                <a:tab pos="1485900" algn="l"/>
                <a:tab pos="457200" algn="l"/>
                <a:tab pos="1485900" algn="l"/>
                <a:tab pos="457200" algn="l"/>
                <a:tab pos="1485900" algn="l"/>
              </a:tabLst>
            </a:pPr>
            <a:r>
              <a:rPr lang="en-US" sz="1800" b="1" dirty="0">
                <a:solidFill>
                  <a:schemeClr val="tx1"/>
                </a:solidFill>
                <a:latin typeface="Courier New" panose="02070309020205020404" charset="0"/>
                <a:cs typeface="Courier New" panose="02070309020205020404" charset="0"/>
                <a:sym typeface="Courier New Bold" charset="0"/>
              </a:rPr>
              <a:t>  ret</a:t>
            </a:r>
          </a:p>
        </p:txBody>
      </p:sp>
      <p:sp>
        <p:nvSpPr>
          <p:cNvPr id="16" name="Rectangle 7"/>
          <p:cNvSpPr/>
          <p:nvPr/>
        </p:nvSpPr>
        <p:spPr bwMode="auto">
          <a:xfrm>
            <a:off x="5181600" y="59055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ourier New Bold" charset="0"/>
                <a:cs typeface="Courier New Bold" charset="0"/>
                <a:sym typeface="Courier New Bold" charset="0"/>
              </a:rPr>
              <a:t>18213</a:t>
            </a:r>
          </a:p>
        </p:txBody>
      </p:sp>
      <p:sp>
        <p:nvSpPr>
          <p:cNvPr id="25" name="Rectangle 9"/>
          <p:cNvSpPr/>
          <p:nvPr/>
        </p:nvSpPr>
        <p:spPr bwMode="auto">
          <a:xfrm>
            <a:off x="5181600" y="62865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zh-CN" altLang="en-US" dirty="0">
                <a:latin typeface="Calibri Bold" charset="0"/>
                <a:ea typeface="宋体" panose="02010600030101010101" pitchFamily="2" charset="-122"/>
                <a:cs typeface="Calibri Bold" charset="0"/>
                <a:sym typeface="Calibri Bold" charset="0"/>
              </a:rPr>
              <a:t>未使用</a:t>
            </a:r>
            <a:endParaRPr lang="en-US" sz="1800" dirty="0">
              <a:solidFill>
                <a:schemeClr val="tx1"/>
              </a:solidFill>
              <a:latin typeface="Calibri Bold" charset="0"/>
              <a:ea typeface="Calibri Bold" charset="0"/>
              <a:cs typeface="Calibri Bold" charset="0"/>
              <a:sym typeface="Calibri Bold" charset="0"/>
            </a:endParaRPr>
          </a:p>
        </p:txBody>
      </p:sp>
      <p:sp>
        <p:nvSpPr>
          <p:cNvPr id="26" name="Line 10"/>
          <p:cNvSpPr>
            <a:spLocks noChangeShapeType="1"/>
          </p:cNvSpPr>
          <p:nvPr/>
        </p:nvSpPr>
        <p:spPr bwMode="auto">
          <a:xfrm flipH="1">
            <a:off x="6503987" y="55260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7" name="Rectangle 11"/>
          <p:cNvSpPr/>
          <p:nvPr/>
        </p:nvSpPr>
        <p:spPr bwMode="auto">
          <a:xfrm>
            <a:off x="7010400" y="529740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28" name="Rectangle 13"/>
          <p:cNvSpPr/>
          <p:nvPr/>
        </p:nvSpPr>
        <p:spPr bwMode="auto">
          <a:xfrm>
            <a:off x="5181600" y="42291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29" name="Rectangle 9"/>
          <p:cNvSpPr/>
          <p:nvPr/>
        </p:nvSpPr>
        <p:spPr bwMode="auto">
          <a:xfrm>
            <a:off x="5181600" y="51435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30" name="Rectangle 9"/>
          <p:cNvSpPr/>
          <p:nvPr/>
        </p:nvSpPr>
        <p:spPr bwMode="auto">
          <a:xfrm>
            <a:off x="5181600" y="55245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
        <p:nvSpPr>
          <p:cNvPr id="9" name="下箭头 8"/>
          <p:cNvSpPr/>
          <p:nvPr/>
        </p:nvSpPr>
        <p:spPr>
          <a:xfrm>
            <a:off x="5558155" y="3401060"/>
            <a:ext cx="542290" cy="742315"/>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 1"/>
          <p:cNvSpPr/>
          <p:nvPr/>
        </p:nvSpPr>
        <p:spPr>
          <a:xfrm>
            <a:off x="0" y="490220"/>
            <a:ext cx="2907030" cy="6102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递归函数</a:t>
            </a:r>
          </a:p>
        </p:txBody>
      </p:sp>
      <p:sp>
        <p:nvSpPr>
          <p:cNvPr id="77835" name="Rectangle 11"/>
          <p:cNvSpPr/>
          <p:nvPr/>
        </p:nvSpPr>
        <p:spPr bwMode="auto">
          <a:xfrm>
            <a:off x="228600" y="1295400"/>
            <a:ext cx="49530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Recursive </a:t>
            </a:r>
            <a:r>
              <a:rPr lang="en-US" sz="1800" b="1" dirty="0" err="1">
                <a:solidFill>
                  <a:schemeClr val="tx1"/>
                </a:solidFill>
                <a:latin typeface="Courier New" panose="02070309020205020404" charset="0"/>
                <a:cs typeface="Courier New" panose="02070309020205020404" charset="0"/>
                <a:sym typeface="Courier New Bold" charset="0"/>
              </a:rPr>
              <a:t>popcount</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if (x == 0)</a:t>
            </a:r>
          </a:p>
          <a:p>
            <a:pPr algn="l"/>
            <a:r>
              <a:rPr lang="en-US" sz="1800" b="1" dirty="0">
                <a:solidFill>
                  <a:schemeClr val="tx1"/>
                </a:solidFill>
                <a:latin typeface="Courier New" panose="02070309020205020404" charset="0"/>
                <a:cs typeface="Courier New" panose="02070309020205020404" charset="0"/>
                <a:sym typeface="Courier New Bold" charset="0"/>
              </a:rPr>
              <a:t>    return 0;</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return (x &amp; 1) </a:t>
            </a:r>
          </a:p>
          <a:p>
            <a:pPr algn="l"/>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(x &gt;&gt; 1);</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77838" name="Rectangle 14"/>
          <p:cNvSpPr/>
          <p:nvPr/>
        </p:nvSpPr>
        <p:spPr bwMode="auto">
          <a:xfrm>
            <a:off x="5486400" y="762000"/>
            <a:ext cx="3447406" cy="4038600"/>
          </a:xfrm>
          <a:prstGeom prst="rect">
            <a:avLst/>
          </a:prstGeom>
          <a:noFill/>
          <a:ln w="12700" cap="flat">
            <a:noFill/>
            <a:miter lim="800000"/>
            <a:headEnd type="none" w="med" len="med"/>
            <a:tailEnd type="none" w="med" len="med"/>
          </a:ln>
        </p:spPr>
        <p:txBody>
          <a:bodyPr lIns="38100" tIns="38100" rIns="38100" bIns="38100"/>
          <a:lstStyle/>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$0, %</a:t>
            </a:r>
            <a:r>
              <a:rPr lang="en-US" sz="1800" b="1" dirty="0" err="1">
                <a:solidFill>
                  <a:schemeClr val="tx1"/>
                </a:solidFill>
                <a:latin typeface="Courier New" panose="02070309020205020404" charset="0"/>
                <a:cs typeface="Courier New" panose="02070309020205020404" charset="0"/>
                <a:sym typeface="Courier New Bold" charset="0"/>
              </a:rPr>
              <a:t>eax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testq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je      .L6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highlight>
                  <a:srgbClr val="FFFF00"/>
                </a:highlight>
                <a:latin typeface="Courier New" panose="02070309020205020404" charset="0"/>
                <a:cs typeface="Courier New" panose="02070309020205020404" charset="0"/>
                <a:sym typeface="Courier New Bold" charset="0"/>
              </a:rPr>
              <a:t>pushq</a:t>
            </a:r>
            <a:r>
              <a:rPr lang="en-US" sz="1800" b="1" dirty="0">
                <a:solidFill>
                  <a:schemeClr val="tx1"/>
                </a:solidFill>
                <a:highlight>
                  <a:srgbClr val="FFFF00"/>
                </a:highlight>
                <a:latin typeface="Courier New" panose="02070309020205020404" charset="0"/>
                <a:cs typeface="Courier New" panose="02070309020205020404" charset="0"/>
                <a:sym typeface="Courier New Bold" charset="0"/>
              </a:rPr>
              <a:t>   %</a:t>
            </a:r>
            <a:r>
              <a:rPr lang="en-US" sz="1800" b="1" dirty="0" err="1">
                <a:solidFill>
                  <a:schemeClr val="tx1"/>
                </a:solidFill>
                <a:highlight>
                  <a:srgbClr val="FFFF00"/>
                </a:highlight>
                <a:latin typeface="Courier New" panose="02070309020205020404" charset="0"/>
                <a:cs typeface="Courier New" panose="02070309020205020404" charset="0"/>
                <a:sym typeface="Courier New Bold" charset="0"/>
              </a:rPr>
              <a:t>rbx</a:t>
            </a:r>
            <a:endParaRPr lang="en-US" sz="1800" b="1" dirty="0">
              <a:solidFill>
                <a:schemeClr val="tx1"/>
              </a:solidFill>
              <a:highlight>
                <a:srgbClr val="FFFF00"/>
              </a:highlight>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andl</a:t>
            </a:r>
            <a:r>
              <a:rPr lang="en-US" sz="1800" b="1" dirty="0">
                <a:solidFill>
                  <a:schemeClr val="tx1"/>
                </a:solidFill>
                <a:latin typeface="Courier New" panose="02070309020205020404" charset="0"/>
                <a:cs typeface="Courier New" panose="02070309020205020404" charset="0"/>
                <a:sym typeface="Courier New Bold" charset="0"/>
              </a:rPr>
              <a:t>    $1, %</a:t>
            </a:r>
            <a:r>
              <a:rPr lang="en-US" sz="1800" b="1" dirty="0" err="1">
                <a:solidFill>
                  <a:schemeClr val="tx1"/>
                </a:solidFill>
                <a:latin typeface="Courier New" panose="02070309020205020404" charset="0"/>
                <a:cs typeface="Courier New" panose="02070309020205020404" charset="0"/>
                <a:sym typeface="Courier New Bold" charset="0"/>
              </a:rPr>
              <a:t>ebx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shrq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pcount_r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rep; ret</a:t>
            </a:r>
          </a:p>
        </p:txBody>
      </p:sp>
      <p:graphicFrame>
        <p:nvGraphicFramePr>
          <p:cNvPr id="20" name="Table 19"/>
          <p:cNvGraphicFramePr>
            <a:graphicFrameLocks noGrp="1"/>
          </p:cNvGraphicFramePr>
          <p:nvPr/>
        </p:nvGraphicFramePr>
        <p:xfrm>
          <a:off x="228600" y="4495800"/>
          <a:ext cx="5181601" cy="112776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2015067">
                  <a:extLst>
                    <a:ext uri="{9D8B030D-6E8A-4147-A177-3AD203B41FA5}">
                      <a16:colId xmlns:a16="http://schemas.microsoft.com/office/drawing/2014/main" val="20001"/>
                    </a:ext>
                  </a:extLst>
                </a:gridCol>
                <a:gridCol w="2015067">
                  <a:extLst>
                    <a:ext uri="{9D8B030D-6E8A-4147-A177-3AD203B41FA5}">
                      <a16:colId xmlns:a16="http://schemas.microsoft.com/office/drawing/2014/main" val="20002"/>
                    </a:ext>
                  </a:extLst>
                </a:gridCol>
              </a:tblGrid>
              <a:tr h="36576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tc>
                  <a:txBody>
                    <a:bodyPr/>
                    <a:lstStyle/>
                    <a:p>
                      <a:r>
                        <a:rPr lang="zh-CN" altLang="en-US" dirty="0">
                          <a:latin typeface="Calibri" panose="020F0502020204030204"/>
                          <a:cs typeface="Calibri" panose="020F0502020204030204"/>
                        </a:rPr>
                        <a:t>类型</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p>
                  </a:txBody>
                  <a:tcPr/>
                </a:tc>
                <a:tc>
                  <a:txBody>
                    <a:bodyPr/>
                    <a:lstStyle/>
                    <a:p>
                      <a:r>
                        <a:rPr lang="zh-CN" altLang="en-US" b="0" i="0" dirty="0">
                          <a:latin typeface="+mn-lt"/>
                          <a:cs typeface="Courier New" panose="02070309020205020404"/>
                        </a:rPr>
                        <a:t>参数</a:t>
                      </a:r>
                    </a:p>
                  </a:txBody>
                  <a:tcPr/>
                </a:tc>
                <a:extLst>
                  <a:ext uri="{0D108BD9-81ED-4DB2-BD59-A6C34878D82A}">
                    <a16:rowId xmlns:a16="http://schemas.microsoft.com/office/drawing/2014/main" val="10001"/>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dirty="0">
                          <a:latin typeface="+mn-lt"/>
                          <a:cs typeface="Courier New" panose="02070309020205020404"/>
                        </a:rPr>
                        <a:t>返回值</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dirty="0">
                          <a:latin typeface="+mn-lt"/>
                          <a:cs typeface="Courier New" panose="02070309020205020404"/>
                        </a:rPr>
                        <a:t>返回值</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 1"/>
          <p:cNvSpPr/>
          <p:nvPr/>
        </p:nvSpPr>
        <p:spPr>
          <a:xfrm>
            <a:off x="0" y="490220"/>
            <a:ext cx="2907030" cy="6102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递归函数</a:t>
            </a:r>
          </a:p>
        </p:txBody>
      </p:sp>
      <p:graphicFrame>
        <p:nvGraphicFramePr>
          <p:cNvPr id="20" name="Table 19"/>
          <p:cNvGraphicFramePr>
            <a:graphicFrameLocks noGrp="1"/>
          </p:cNvGraphicFramePr>
          <p:nvPr/>
        </p:nvGraphicFramePr>
        <p:xfrm>
          <a:off x="228600" y="4495800"/>
          <a:ext cx="5181601" cy="112776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2015067">
                  <a:extLst>
                    <a:ext uri="{9D8B030D-6E8A-4147-A177-3AD203B41FA5}">
                      <a16:colId xmlns:a16="http://schemas.microsoft.com/office/drawing/2014/main" val="20001"/>
                    </a:ext>
                  </a:extLst>
                </a:gridCol>
                <a:gridCol w="2015067">
                  <a:extLst>
                    <a:ext uri="{9D8B030D-6E8A-4147-A177-3AD203B41FA5}">
                      <a16:colId xmlns:a16="http://schemas.microsoft.com/office/drawing/2014/main" val="20002"/>
                    </a:ext>
                  </a:extLst>
                </a:gridCol>
              </a:tblGrid>
              <a:tr h="36576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tc>
                  <a:txBody>
                    <a:bodyPr/>
                    <a:lstStyle/>
                    <a:p>
                      <a:r>
                        <a:rPr lang="zh-CN" altLang="en-US" dirty="0">
                          <a:latin typeface="Calibri" panose="020F0502020204030204"/>
                          <a:cs typeface="Calibri" panose="020F0502020204030204"/>
                        </a:rPr>
                        <a:t>类型</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p>
                  </a:txBody>
                  <a:tcPr/>
                </a:tc>
                <a:tc>
                  <a:txBody>
                    <a:bodyPr/>
                    <a:lstStyle/>
                    <a:p>
                      <a:r>
                        <a:rPr lang="zh-CN" altLang="en-US" b="0" i="0" dirty="0">
                          <a:latin typeface="+mn-lt"/>
                          <a:cs typeface="Courier New" panose="02070309020205020404"/>
                        </a:rPr>
                        <a:t>参数</a:t>
                      </a:r>
                    </a:p>
                  </a:txBody>
                  <a:tcPr/>
                </a:tc>
                <a:extLst>
                  <a:ext uri="{0D108BD9-81ED-4DB2-BD59-A6C34878D82A}">
                    <a16:rowId xmlns:a16="http://schemas.microsoft.com/office/drawing/2014/main" val="10001"/>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dirty="0">
                          <a:latin typeface="+mn-lt"/>
                          <a:cs typeface="Courier New" panose="02070309020205020404"/>
                        </a:rPr>
                        <a:t>返回值</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dirty="0">
                          <a:latin typeface="+mn-lt"/>
                          <a:cs typeface="Courier New" panose="02070309020205020404"/>
                        </a:rPr>
                        <a:t>返回值</a:t>
                      </a:r>
                    </a:p>
                  </a:txBody>
                  <a:tcPr/>
                </a:tc>
                <a:extLst>
                  <a:ext uri="{0D108BD9-81ED-4DB2-BD59-A6C34878D82A}">
                    <a16:rowId xmlns:a16="http://schemas.microsoft.com/office/drawing/2014/main" val="10002"/>
                  </a:ext>
                </a:extLst>
              </a:tr>
            </a:tbl>
          </a:graphicData>
        </a:graphic>
      </p:graphicFrame>
      <p:sp>
        <p:nvSpPr>
          <p:cNvPr id="4" name="Rectangle 11"/>
          <p:cNvSpPr/>
          <p:nvPr/>
        </p:nvSpPr>
        <p:spPr bwMode="auto">
          <a:xfrm>
            <a:off x="228600" y="1295400"/>
            <a:ext cx="49530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Recursive </a:t>
            </a:r>
            <a:r>
              <a:rPr lang="en-US" sz="1800" b="1" dirty="0" err="1">
                <a:solidFill>
                  <a:schemeClr val="tx1"/>
                </a:solidFill>
                <a:latin typeface="Courier New" panose="02070309020205020404" charset="0"/>
                <a:cs typeface="Courier New" panose="02070309020205020404" charset="0"/>
                <a:sym typeface="Courier New Bold" charset="0"/>
              </a:rPr>
              <a:t>popcount</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if (x == 0)</a:t>
            </a:r>
          </a:p>
          <a:p>
            <a:pPr algn="l"/>
            <a:r>
              <a:rPr lang="en-US" sz="1800" b="1" dirty="0">
                <a:solidFill>
                  <a:srgbClr val="FF0000"/>
                </a:solidFill>
                <a:latin typeface="Courier New" panose="02070309020205020404" charset="0"/>
                <a:cs typeface="Courier New" panose="02070309020205020404" charset="0"/>
                <a:sym typeface="Courier New Bold" charset="0"/>
              </a:rPr>
              <a:t>    return 0;</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return (x &amp; 1) </a:t>
            </a:r>
          </a:p>
          <a:p>
            <a:pPr algn="l"/>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(x &gt;&gt; 1);</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5" name="Rectangle 14"/>
          <p:cNvSpPr/>
          <p:nvPr/>
        </p:nvSpPr>
        <p:spPr bwMode="auto">
          <a:xfrm>
            <a:off x="5486400" y="1295400"/>
            <a:ext cx="3447406" cy="4038600"/>
          </a:xfrm>
          <a:prstGeom prst="rect">
            <a:avLst/>
          </a:prstGeom>
          <a:noFill/>
          <a:ln w="12700" cap="flat">
            <a:noFill/>
            <a:miter lim="800000"/>
            <a:headEnd type="none" w="med" len="med"/>
            <a:tailEnd type="none" w="med" len="med"/>
          </a:ln>
        </p:spPr>
        <p:txBody>
          <a:bodyPr lIns="38100" tIns="38100" rIns="38100" bIns="38100"/>
          <a:lstStyle/>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movl</a:t>
            </a:r>
            <a:r>
              <a:rPr lang="en-US" sz="1800" b="1" dirty="0">
                <a:solidFill>
                  <a:srgbClr val="FF0000"/>
                </a:solidFill>
                <a:latin typeface="Courier New" panose="02070309020205020404" charset="0"/>
                <a:cs typeface="Courier New" panose="02070309020205020404" charset="0"/>
                <a:sym typeface="Courier New Bold" charset="0"/>
              </a:rPr>
              <a:t>    $0, %</a:t>
            </a:r>
            <a:r>
              <a:rPr lang="en-US" sz="1800" b="1" dirty="0" err="1">
                <a:solidFill>
                  <a:srgbClr val="FF0000"/>
                </a:solidFill>
                <a:latin typeface="Courier New" panose="02070309020205020404" charset="0"/>
                <a:cs typeface="Courier New" panose="02070309020205020404" charset="0"/>
                <a:sym typeface="Courier New Bold" charset="0"/>
              </a:rPr>
              <a:t>eax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testq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rdi</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rdi</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je      .L6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pushq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andl</a:t>
            </a:r>
            <a:r>
              <a:rPr lang="en-US" sz="1800" b="1" dirty="0">
                <a:solidFill>
                  <a:schemeClr val="tx1"/>
                </a:solidFill>
                <a:latin typeface="Courier New" panose="02070309020205020404" charset="0"/>
                <a:cs typeface="Courier New" panose="02070309020205020404" charset="0"/>
                <a:sym typeface="Courier New Bold" charset="0"/>
              </a:rPr>
              <a:t>    $1, %</a:t>
            </a:r>
            <a:r>
              <a:rPr lang="en-US" sz="1800" b="1" dirty="0" err="1">
                <a:solidFill>
                  <a:schemeClr val="tx1"/>
                </a:solidFill>
                <a:latin typeface="Courier New" panose="02070309020205020404" charset="0"/>
                <a:cs typeface="Courier New" panose="02070309020205020404" charset="0"/>
                <a:sym typeface="Courier New Bold" charset="0"/>
              </a:rPr>
              <a:t>ebx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shrq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pcount_r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rep; ret</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 1"/>
          <p:cNvSpPr/>
          <p:nvPr/>
        </p:nvSpPr>
        <p:spPr>
          <a:xfrm>
            <a:off x="0" y="490220"/>
            <a:ext cx="2907030" cy="6102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递归函数</a:t>
            </a:r>
          </a:p>
        </p:txBody>
      </p:sp>
      <p:sp>
        <p:nvSpPr>
          <p:cNvPr id="77835" name="Rectangle 11"/>
          <p:cNvSpPr/>
          <p:nvPr/>
        </p:nvSpPr>
        <p:spPr bwMode="auto">
          <a:xfrm>
            <a:off x="228600" y="1295400"/>
            <a:ext cx="49530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Recursive </a:t>
            </a:r>
            <a:r>
              <a:rPr lang="en-US" sz="1800" b="1" dirty="0" err="1">
                <a:solidFill>
                  <a:schemeClr val="tx1"/>
                </a:solidFill>
                <a:latin typeface="Courier New" panose="02070309020205020404" charset="0"/>
                <a:cs typeface="Courier New" panose="02070309020205020404" charset="0"/>
                <a:sym typeface="Courier New Bold" charset="0"/>
              </a:rPr>
              <a:t>popcount</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if (x == 0)</a:t>
            </a:r>
          </a:p>
          <a:p>
            <a:pPr algn="l"/>
            <a:r>
              <a:rPr lang="en-US" sz="1800" b="1" dirty="0">
                <a:solidFill>
                  <a:schemeClr val="tx1"/>
                </a:solidFill>
                <a:latin typeface="Courier New" panose="02070309020205020404" charset="0"/>
                <a:cs typeface="Courier New" panose="02070309020205020404" charset="0"/>
                <a:sym typeface="Courier New Bold" charset="0"/>
              </a:rPr>
              <a:t>    return 0;</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return (x &amp; 1) </a:t>
            </a:r>
          </a:p>
          <a:p>
            <a:pPr algn="l"/>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(x &gt;&gt; 1);</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77838" name="Rectangle 14"/>
          <p:cNvSpPr/>
          <p:nvPr/>
        </p:nvSpPr>
        <p:spPr bwMode="auto">
          <a:xfrm>
            <a:off x="5486400" y="990600"/>
            <a:ext cx="3447406" cy="4038600"/>
          </a:xfrm>
          <a:prstGeom prst="rect">
            <a:avLst/>
          </a:prstGeom>
          <a:noFill/>
          <a:ln w="12700" cap="flat">
            <a:noFill/>
            <a:miter lim="800000"/>
            <a:headEnd type="none" w="med" len="med"/>
            <a:tailEnd type="none" w="med" len="med"/>
          </a:ln>
        </p:spPr>
        <p:txBody>
          <a:bodyPr lIns="38100" tIns="38100" rIns="38100" bIns="38100"/>
          <a:lstStyle/>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$0, %</a:t>
            </a:r>
            <a:r>
              <a:rPr lang="en-US" sz="1800" b="1" dirty="0" err="1">
                <a:solidFill>
                  <a:schemeClr val="tx1"/>
                </a:solidFill>
                <a:latin typeface="Courier New" panose="02070309020205020404" charset="0"/>
                <a:cs typeface="Courier New" panose="02070309020205020404" charset="0"/>
                <a:sym typeface="Courier New Bold" charset="0"/>
              </a:rPr>
              <a:t>eax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testq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je      .L6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pushq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rbx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andl</a:t>
            </a:r>
            <a:r>
              <a:rPr lang="en-US" sz="1800" b="1" dirty="0">
                <a:solidFill>
                  <a:schemeClr val="tx1"/>
                </a:solidFill>
                <a:latin typeface="Courier New" panose="02070309020205020404" charset="0"/>
                <a:cs typeface="Courier New" panose="02070309020205020404" charset="0"/>
                <a:sym typeface="Courier New Bold" charset="0"/>
              </a:rPr>
              <a:t>    $1, %</a:t>
            </a:r>
            <a:r>
              <a:rPr lang="en-US" sz="1800" b="1" dirty="0" err="1">
                <a:solidFill>
                  <a:schemeClr val="tx1"/>
                </a:solidFill>
                <a:latin typeface="Courier New" panose="02070309020205020404" charset="0"/>
                <a:cs typeface="Courier New" panose="02070309020205020404" charset="0"/>
                <a:sym typeface="Courier New Bold" charset="0"/>
              </a:rPr>
              <a:t>ebx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shrq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pcount_r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rep; ret</a:t>
            </a:r>
          </a:p>
        </p:txBody>
      </p:sp>
      <p:graphicFrame>
        <p:nvGraphicFramePr>
          <p:cNvPr id="6" name="Table 19"/>
          <p:cNvGraphicFramePr>
            <a:graphicFrameLocks noGrp="1"/>
          </p:cNvGraphicFramePr>
          <p:nvPr/>
        </p:nvGraphicFramePr>
        <p:xfrm>
          <a:off x="228600" y="4724400"/>
          <a:ext cx="5181601" cy="74676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2015067">
                  <a:extLst>
                    <a:ext uri="{9D8B030D-6E8A-4147-A177-3AD203B41FA5}">
                      <a16:colId xmlns:a16="http://schemas.microsoft.com/office/drawing/2014/main" val="20001"/>
                    </a:ext>
                  </a:extLst>
                </a:gridCol>
                <a:gridCol w="2015067">
                  <a:extLst>
                    <a:ext uri="{9D8B030D-6E8A-4147-A177-3AD203B41FA5}">
                      <a16:colId xmlns:a16="http://schemas.microsoft.com/office/drawing/2014/main" val="20002"/>
                    </a:ext>
                  </a:extLst>
                </a:gridCol>
              </a:tblGrid>
              <a:tr h="3048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tc>
                  <a:txBody>
                    <a:bodyPr/>
                    <a:lstStyle/>
                    <a:p>
                      <a:r>
                        <a:rPr lang="zh-CN" altLang="en-US" dirty="0">
                          <a:latin typeface="Calibri" panose="020F0502020204030204"/>
                          <a:cs typeface="Calibri" panose="020F0502020204030204"/>
                        </a:rPr>
                        <a:t>类型</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a:t>
                      </a:r>
                    </a:p>
                  </a:txBody>
                  <a:tcPr/>
                </a:tc>
                <a:tc>
                  <a:txBody>
                    <a:bodyPr/>
                    <a:lstStyle/>
                    <a:p>
                      <a:r>
                        <a:rPr lang="zh-CN" altLang="en-US" b="0" i="0" dirty="0">
                          <a:latin typeface="+mn-lt"/>
                          <a:cs typeface="Courier New" panose="02070309020205020404"/>
                        </a:rPr>
                        <a:t>参数</a:t>
                      </a:r>
                    </a:p>
                  </a:txBody>
                  <a:tcPr/>
                </a:tc>
                <a:extLst>
                  <a:ext uri="{0D108BD9-81ED-4DB2-BD59-A6C34878D82A}">
                    <a16:rowId xmlns:a16="http://schemas.microsoft.com/office/drawing/2014/main" val="10001"/>
                  </a:ext>
                </a:extLst>
              </a:tr>
            </a:tbl>
          </a:graphicData>
        </a:graphic>
      </p:graphicFrame>
      <p:sp>
        <p:nvSpPr>
          <p:cNvPr id="10" name="Line 10"/>
          <p:cNvSpPr>
            <a:spLocks noChangeShapeType="1"/>
          </p:cNvSpPr>
          <p:nvPr/>
        </p:nvSpPr>
        <p:spPr bwMode="auto">
          <a:xfrm flipH="1">
            <a:off x="7086600" y="65532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1" name="Rectangle 11"/>
          <p:cNvSpPr/>
          <p:nvPr/>
        </p:nvSpPr>
        <p:spPr bwMode="auto">
          <a:xfrm>
            <a:off x="7593013" y="632460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12" name="Rectangle 13"/>
          <p:cNvSpPr/>
          <p:nvPr/>
        </p:nvSpPr>
        <p:spPr bwMode="auto">
          <a:xfrm>
            <a:off x="5791200" y="50292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
        <p:nvSpPr>
          <p:cNvPr id="13" name="Rectangle 9"/>
          <p:cNvSpPr/>
          <p:nvPr/>
        </p:nvSpPr>
        <p:spPr bwMode="auto">
          <a:xfrm>
            <a:off x="5791200" y="59436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err="1">
                <a:solidFill>
                  <a:schemeClr val="tx1"/>
                </a:solidFill>
                <a:latin typeface="Calibri Bold" charset="0"/>
                <a:ea typeface="Calibri Bold" charset="0"/>
                <a:cs typeface="Calibri Bold" charset="0"/>
                <a:sym typeface="Calibri Bold" charset="0"/>
              </a:rPr>
              <a:t>Rtn</a:t>
            </a:r>
            <a:r>
              <a:rPr lang="en-US" sz="1800" dirty="0">
                <a:solidFill>
                  <a:schemeClr val="tx1"/>
                </a:solidFill>
                <a:latin typeface="Calibri Bold" charset="0"/>
                <a:ea typeface="Calibri Bold" charset="0"/>
                <a:cs typeface="Calibri Bold" charset="0"/>
                <a:sym typeface="Calibri Bold" charset="0"/>
              </a:rPr>
              <a:t> address</a:t>
            </a:r>
          </a:p>
        </p:txBody>
      </p:sp>
      <p:sp>
        <p:nvSpPr>
          <p:cNvPr id="16" name="Rectangle 9"/>
          <p:cNvSpPr/>
          <p:nvPr/>
        </p:nvSpPr>
        <p:spPr bwMode="auto">
          <a:xfrm>
            <a:off x="5791200" y="6324600"/>
            <a:ext cx="12954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Saved </a:t>
            </a:r>
            <a:r>
              <a:rPr lang="en-US" sz="1800" b="1" dirty="0">
                <a:solidFill>
                  <a:schemeClr val="tx1"/>
                </a:solidFill>
                <a:latin typeface="Courier New" panose="02070309020205020404"/>
                <a:ea typeface="Calibri Bold" charset="0"/>
                <a:cs typeface="Courier New" panose="02070309020205020404"/>
                <a:sym typeface="Calibri Bold" charset="0"/>
              </a:rPr>
              <a:t>%</a:t>
            </a:r>
            <a:r>
              <a:rPr lang="en-US" sz="1800" b="1" dirty="0" err="1">
                <a:solidFill>
                  <a:schemeClr val="tx1"/>
                </a:solidFill>
                <a:latin typeface="Courier New" panose="02070309020205020404"/>
                <a:ea typeface="Calibri Bold" charset="0"/>
                <a:cs typeface="Courier New" panose="02070309020205020404"/>
                <a:sym typeface="Calibri Bold" charset="0"/>
              </a:rPr>
              <a:t>rbx</a:t>
            </a:r>
            <a:endParaRPr lang="en-US" sz="1800" b="1" dirty="0">
              <a:solidFill>
                <a:schemeClr val="tx1"/>
              </a:solidFill>
              <a:latin typeface="Courier New" panose="02070309020205020404"/>
              <a:ea typeface="Calibri Bold" charset="0"/>
              <a:cs typeface="Courier New" panose="02070309020205020404"/>
              <a:sym typeface="Calibri Bold"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 1"/>
          <p:cNvSpPr/>
          <p:nvPr/>
        </p:nvSpPr>
        <p:spPr>
          <a:xfrm>
            <a:off x="0" y="490220"/>
            <a:ext cx="2907030" cy="6102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递归函数</a:t>
            </a:r>
          </a:p>
        </p:txBody>
      </p:sp>
      <p:sp>
        <p:nvSpPr>
          <p:cNvPr id="4" name="Rectangle 11"/>
          <p:cNvSpPr/>
          <p:nvPr/>
        </p:nvSpPr>
        <p:spPr bwMode="auto">
          <a:xfrm>
            <a:off x="228600" y="1295400"/>
            <a:ext cx="49530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Recursive </a:t>
            </a:r>
            <a:r>
              <a:rPr lang="en-US" sz="1800" b="1" dirty="0" err="1">
                <a:solidFill>
                  <a:schemeClr val="tx1"/>
                </a:solidFill>
                <a:latin typeface="Courier New" panose="02070309020205020404" charset="0"/>
                <a:cs typeface="Courier New" panose="02070309020205020404" charset="0"/>
                <a:sym typeface="Courier New Bold" charset="0"/>
              </a:rPr>
              <a:t>popcount</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if (x == 0)</a:t>
            </a:r>
          </a:p>
          <a:p>
            <a:pPr algn="l"/>
            <a:r>
              <a:rPr lang="en-US" sz="1800" b="1" dirty="0">
                <a:solidFill>
                  <a:schemeClr val="tx1"/>
                </a:solidFill>
                <a:latin typeface="Courier New" panose="02070309020205020404" charset="0"/>
                <a:cs typeface="Courier New" panose="02070309020205020404" charset="0"/>
                <a:sym typeface="Courier New Bold" charset="0"/>
              </a:rPr>
              <a:t>    return 0;</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return (</a:t>
            </a:r>
            <a:r>
              <a:rPr lang="en-US" sz="1800" b="1" dirty="0">
                <a:solidFill>
                  <a:srgbClr val="FF0000"/>
                </a:solidFill>
                <a:latin typeface="Courier New" panose="02070309020205020404" charset="0"/>
                <a:cs typeface="Courier New" panose="02070309020205020404" charset="0"/>
                <a:sym typeface="Courier New Bold" charset="0"/>
              </a:rPr>
              <a:t>x &amp; 1</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a:t>
            </a:r>
            <a:r>
              <a:rPr lang="en-US" sz="1800" b="1" dirty="0">
                <a:solidFill>
                  <a:srgbClr val="FF0000"/>
                </a:solidFill>
                <a:latin typeface="Courier New" panose="02070309020205020404" charset="0"/>
                <a:cs typeface="Courier New" panose="02070309020205020404" charset="0"/>
                <a:sym typeface="Courier New Bold" charset="0"/>
              </a:rPr>
              <a:t>x &gt;&gt; 1</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5" name="Rectangle 14"/>
          <p:cNvSpPr/>
          <p:nvPr/>
        </p:nvSpPr>
        <p:spPr bwMode="auto">
          <a:xfrm>
            <a:off x="5486400" y="1295400"/>
            <a:ext cx="3447406" cy="4038600"/>
          </a:xfrm>
          <a:prstGeom prst="rect">
            <a:avLst/>
          </a:prstGeom>
          <a:noFill/>
          <a:ln w="12700" cap="flat">
            <a:noFill/>
            <a:miter lim="800000"/>
            <a:headEnd type="none" w="med" len="med"/>
            <a:tailEnd type="none" w="med" len="med"/>
          </a:ln>
        </p:spPr>
        <p:txBody>
          <a:bodyPr lIns="38100" tIns="38100" rIns="38100" bIns="38100"/>
          <a:lstStyle/>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$0, %</a:t>
            </a:r>
            <a:r>
              <a:rPr lang="en-US" sz="1800" b="1" dirty="0" err="1">
                <a:solidFill>
                  <a:schemeClr val="tx1"/>
                </a:solidFill>
                <a:latin typeface="Courier New" panose="02070309020205020404" charset="0"/>
                <a:cs typeface="Courier New" panose="02070309020205020404" charset="0"/>
                <a:sym typeface="Courier New Bold" charset="0"/>
              </a:rPr>
              <a:t>eax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testq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je      .L6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pushq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rbx</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movq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rdi</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rbx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andl</a:t>
            </a:r>
            <a:r>
              <a:rPr lang="en-US" sz="1800" b="1" dirty="0">
                <a:solidFill>
                  <a:srgbClr val="FF0000"/>
                </a:solidFill>
                <a:latin typeface="Courier New" panose="02070309020205020404" charset="0"/>
                <a:cs typeface="Courier New" panose="02070309020205020404" charset="0"/>
                <a:sym typeface="Courier New Bold" charset="0"/>
              </a:rPr>
              <a:t>    $1, %</a:t>
            </a:r>
            <a:r>
              <a:rPr lang="en-US" sz="1800" b="1" dirty="0" err="1">
                <a:solidFill>
                  <a:srgbClr val="FF0000"/>
                </a:solidFill>
                <a:latin typeface="Courier New" panose="02070309020205020404" charset="0"/>
                <a:cs typeface="Courier New" panose="02070309020205020404" charset="0"/>
                <a:sym typeface="Courier New Bold" charset="0"/>
              </a:rPr>
              <a:t>ebx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shrq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rdi</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pcount_r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rep; ret</a:t>
            </a:r>
          </a:p>
        </p:txBody>
      </p:sp>
      <p:graphicFrame>
        <p:nvGraphicFramePr>
          <p:cNvPr id="20" name="Table 19"/>
          <p:cNvGraphicFramePr>
            <a:graphicFrameLocks noGrp="1"/>
          </p:cNvGraphicFramePr>
          <p:nvPr/>
        </p:nvGraphicFramePr>
        <p:xfrm>
          <a:off x="228600" y="4724400"/>
          <a:ext cx="5181601" cy="112776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2015067">
                  <a:extLst>
                    <a:ext uri="{9D8B030D-6E8A-4147-A177-3AD203B41FA5}">
                      <a16:colId xmlns:a16="http://schemas.microsoft.com/office/drawing/2014/main" val="20001"/>
                    </a:ext>
                  </a:extLst>
                </a:gridCol>
                <a:gridCol w="2015067">
                  <a:extLst>
                    <a:ext uri="{9D8B030D-6E8A-4147-A177-3AD203B41FA5}">
                      <a16:colId xmlns:a16="http://schemas.microsoft.com/office/drawing/2014/main" val="20002"/>
                    </a:ext>
                  </a:extLst>
                </a:gridCol>
              </a:tblGrid>
              <a:tr h="3048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tc>
                  <a:txBody>
                    <a:bodyPr/>
                    <a:lstStyle/>
                    <a:p>
                      <a:r>
                        <a:rPr lang="zh-CN" altLang="en-US" dirty="0">
                          <a:latin typeface="Calibri" panose="020F0502020204030204"/>
                          <a:cs typeface="Calibri" panose="020F0502020204030204"/>
                        </a:rPr>
                        <a:t>类型</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rdi</a:t>
                      </a:r>
                      <a:endParaRPr lang="en-US" b="1" i="0" dirty="0">
                        <a:latin typeface="Courier New" panose="02070309020205020404"/>
                        <a:cs typeface="Courier New" panose="02070309020205020404"/>
                      </a:endParaRPr>
                    </a:p>
                  </a:txBody>
                  <a:tcPr/>
                </a:tc>
                <a:tc>
                  <a:txBody>
                    <a:bodyPr/>
                    <a:lstStyle/>
                    <a:p>
                      <a:r>
                        <a:rPr lang="en-US" b="1" i="0" dirty="0">
                          <a:latin typeface="Courier New" panose="02070309020205020404"/>
                          <a:cs typeface="Courier New" panose="02070309020205020404"/>
                        </a:rPr>
                        <a:t>x &gt;&gt; 1</a:t>
                      </a:r>
                    </a:p>
                  </a:txBody>
                  <a:tcPr/>
                </a:tc>
                <a:tc>
                  <a:txBody>
                    <a:bodyPr/>
                    <a:lstStyle/>
                    <a:p>
                      <a:r>
                        <a:rPr lang="en-US" b="0" i="0" dirty="0">
                          <a:latin typeface="+mn-lt"/>
                          <a:cs typeface="Courier New" panose="02070309020205020404"/>
                        </a:rPr>
                        <a:t>Rec. </a:t>
                      </a:r>
                      <a:r>
                        <a:rPr lang="zh-CN" altLang="en-US" b="0" i="0" dirty="0">
                          <a:latin typeface="+mn-lt"/>
                          <a:cs typeface="Courier New" panose="02070309020205020404"/>
                        </a:rPr>
                        <a:t>参数</a:t>
                      </a:r>
                    </a:p>
                  </a:txBody>
                  <a:tcPr/>
                </a:tc>
                <a:extLst>
                  <a:ext uri="{0D108BD9-81ED-4DB2-BD59-A6C34878D82A}">
                    <a16:rowId xmlns:a16="http://schemas.microsoft.com/office/drawing/2014/main" val="10001"/>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rbx</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x &amp; 1</a:t>
                      </a:r>
                      <a:endParaRPr lang="en-US" b="0" i="0" dirty="0">
                        <a:latin typeface="+mn-lt"/>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dirty="0">
                          <a:latin typeface="+mn-lt"/>
                          <a:cs typeface="Courier New" panose="02070309020205020404"/>
                        </a:rPr>
                        <a:t>被调用者保存</a:t>
                      </a: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 1"/>
          <p:cNvSpPr/>
          <p:nvPr/>
        </p:nvSpPr>
        <p:spPr>
          <a:xfrm>
            <a:off x="0" y="490220"/>
            <a:ext cx="3288030" cy="6102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递归函数调用</a:t>
            </a:r>
          </a:p>
        </p:txBody>
      </p:sp>
      <p:sp>
        <p:nvSpPr>
          <p:cNvPr id="77835" name="Rectangle 11"/>
          <p:cNvSpPr/>
          <p:nvPr/>
        </p:nvSpPr>
        <p:spPr bwMode="auto">
          <a:xfrm>
            <a:off x="228600" y="1295400"/>
            <a:ext cx="49530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Recursive </a:t>
            </a:r>
            <a:r>
              <a:rPr lang="en-US" sz="1800" b="1" dirty="0" err="1">
                <a:solidFill>
                  <a:schemeClr val="tx1"/>
                </a:solidFill>
                <a:latin typeface="Courier New" panose="02070309020205020404" charset="0"/>
                <a:cs typeface="Courier New" panose="02070309020205020404" charset="0"/>
                <a:sym typeface="Courier New Bold" charset="0"/>
              </a:rPr>
              <a:t>popcount</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if (x == 0)</a:t>
            </a:r>
          </a:p>
          <a:p>
            <a:pPr algn="l"/>
            <a:r>
              <a:rPr lang="en-US" sz="1800" b="1" dirty="0">
                <a:solidFill>
                  <a:schemeClr val="tx1"/>
                </a:solidFill>
                <a:latin typeface="Courier New" panose="02070309020205020404" charset="0"/>
                <a:cs typeface="Courier New" panose="02070309020205020404" charset="0"/>
                <a:sym typeface="Courier New Bold" charset="0"/>
              </a:rPr>
              <a:t>    return 0;</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return (x &amp; 1) </a:t>
            </a:r>
          </a:p>
          <a:p>
            <a:pPr algn="l"/>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err="1">
                <a:solidFill>
                  <a:srgbClr val="FF0000"/>
                </a:solidFill>
                <a:latin typeface="Courier New" panose="02070309020205020404" charset="0"/>
                <a:cs typeface="Courier New" panose="02070309020205020404" charset="0"/>
                <a:sym typeface="Courier New Bold" charset="0"/>
              </a:rPr>
              <a:t>pcount_r</a:t>
            </a:r>
            <a:r>
              <a:rPr lang="en-US" sz="1800" b="1" dirty="0">
                <a:solidFill>
                  <a:srgbClr val="FF0000"/>
                </a:solidFill>
                <a:latin typeface="Courier New" panose="02070309020205020404" charset="0"/>
                <a:cs typeface="Courier New" panose="02070309020205020404" charset="0"/>
                <a:sym typeface="Courier New Bold" charset="0"/>
              </a:rPr>
              <a:t>(</a:t>
            </a:r>
            <a:r>
              <a:rPr lang="en-US" sz="1800" b="1" dirty="0">
                <a:solidFill>
                  <a:schemeClr val="tx1"/>
                </a:solidFill>
                <a:latin typeface="Courier New" panose="02070309020205020404" charset="0"/>
                <a:cs typeface="Courier New" panose="02070309020205020404" charset="0"/>
                <a:sym typeface="Courier New Bold" charset="0"/>
              </a:rPr>
              <a:t>x &gt;&gt; 1</a:t>
            </a:r>
            <a:r>
              <a:rPr lang="en-US" sz="1800" b="1" dirty="0">
                <a:solidFill>
                  <a:srgbClr val="FF0000"/>
                </a:solidFill>
                <a:latin typeface="Courier New" panose="02070309020205020404" charset="0"/>
                <a:cs typeface="Courier New" panose="02070309020205020404" charset="0"/>
                <a:sym typeface="Courier New Bold" charset="0"/>
              </a:rPr>
              <a:t>)</a:t>
            </a:r>
            <a:r>
              <a:rPr lang="en-US" sz="1800" b="1" dirty="0">
                <a:solidFill>
                  <a:schemeClr val="tx1"/>
                </a:solidFill>
                <a:latin typeface="Courier New" panose="02070309020205020404" charset="0"/>
                <a:cs typeface="Courier New" panose="02070309020205020404" charset="0"/>
                <a:sym typeface="Courier New Bold" charset="0"/>
              </a:rPr>
              <a:t>;</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77838" name="Rectangle 14"/>
          <p:cNvSpPr/>
          <p:nvPr/>
        </p:nvSpPr>
        <p:spPr bwMode="auto">
          <a:xfrm>
            <a:off x="5486400" y="1295400"/>
            <a:ext cx="3447406" cy="4038600"/>
          </a:xfrm>
          <a:prstGeom prst="rect">
            <a:avLst/>
          </a:prstGeom>
          <a:noFill/>
          <a:ln w="12700" cap="flat">
            <a:noFill/>
            <a:miter lim="800000"/>
            <a:headEnd type="none" w="med" len="med"/>
            <a:tailEnd type="none" w="med" len="med"/>
          </a:ln>
        </p:spPr>
        <p:txBody>
          <a:bodyPr lIns="38100" tIns="38100" rIns="38100" bIns="38100"/>
          <a:lstStyle/>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$0, %</a:t>
            </a:r>
            <a:r>
              <a:rPr lang="en-US" sz="1800" b="1" dirty="0" err="1">
                <a:solidFill>
                  <a:schemeClr val="tx1"/>
                </a:solidFill>
                <a:latin typeface="Courier New" panose="02070309020205020404" charset="0"/>
                <a:cs typeface="Courier New" panose="02070309020205020404" charset="0"/>
                <a:sym typeface="Courier New Bold" charset="0"/>
              </a:rPr>
              <a:t>eax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testq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je      .L6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pushq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rbx</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rbx</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andl</a:t>
            </a:r>
            <a:r>
              <a:rPr lang="en-US" sz="1800" b="1" dirty="0">
                <a:latin typeface="Courier New" panose="02070309020205020404" charset="0"/>
                <a:cs typeface="Courier New" panose="02070309020205020404" charset="0"/>
                <a:sym typeface="Courier New Bold" charset="0"/>
              </a:rPr>
              <a:t>    $1, %</a:t>
            </a:r>
            <a:r>
              <a:rPr lang="en-US" sz="1800" b="1" dirty="0" err="1">
                <a:latin typeface="Courier New" panose="02070309020205020404" charset="0"/>
                <a:cs typeface="Courier New" panose="02070309020205020404" charset="0"/>
                <a:sym typeface="Courier New Bold" charset="0"/>
              </a:rPr>
              <a:t>ebx</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shrq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call    </a:t>
            </a:r>
            <a:r>
              <a:rPr lang="en-US" sz="1800" b="1" dirty="0" err="1">
                <a:solidFill>
                  <a:srgbClr val="FF0000"/>
                </a:solidFill>
                <a:latin typeface="Courier New" panose="02070309020205020404" charset="0"/>
                <a:cs typeface="Courier New" panose="02070309020205020404" charset="0"/>
                <a:sym typeface="Courier New Bold" charset="0"/>
              </a:rPr>
              <a:t>pcount_r</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rep; ret</a:t>
            </a:r>
          </a:p>
        </p:txBody>
      </p:sp>
      <p:graphicFrame>
        <p:nvGraphicFramePr>
          <p:cNvPr id="6" name="Table 19"/>
          <p:cNvGraphicFramePr>
            <a:graphicFrameLocks noGrp="1"/>
          </p:cNvGraphicFramePr>
          <p:nvPr/>
        </p:nvGraphicFramePr>
        <p:xfrm>
          <a:off x="228600" y="4724400"/>
          <a:ext cx="5181601" cy="138684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2015067">
                  <a:extLst>
                    <a:ext uri="{9D8B030D-6E8A-4147-A177-3AD203B41FA5}">
                      <a16:colId xmlns:a16="http://schemas.microsoft.com/office/drawing/2014/main" val="20001"/>
                    </a:ext>
                  </a:extLst>
                </a:gridCol>
                <a:gridCol w="2015067">
                  <a:extLst>
                    <a:ext uri="{9D8B030D-6E8A-4147-A177-3AD203B41FA5}">
                      <a16:colId xmlns:a16="http://schemas.microsoft.com/office/drawing/2014/main" val="20002"/>
                    </a:ext>
                  </a:extLst>
                </a:gridCol>
              </a:tblGrid>
              <a:tr h="304800">
                <a:tc>
                  <a:txBody>
                    <a:bodyPr/>
                    <a:lstStyle/>
                    <a:p>
                      <a:r>
                        <a:rPr lang="en-US" dirty="0">
                          <a:latin typeface="Calibri" panose="020F0502020204030204"/>
                          <a:cs typeface="Calibri" panose="020F0502020204030204"/>
                        </a:rPr>
                        <a:t>Register</a:t>
                      </a:r>
                    </a:p>
                  </a:txBody>
                  <a:tcPr/>
                </a:tc>
                <a:tc>
                  <a:txBody>
                    <a:bodyPr/>
                    <a:lstStyle/>
                    <a:p>
                      <a:r>
                        <a:rPr lang="en-US" dirty="0">
                          <a:latin typeface="Calibri" panose="020F0502020204030204"/>
                          <a:cs typeface="Calibri" panose="020F0502020204030204"/>
                        </a:rPr>
                        <a:t>Use(s)</a:t>
                      </a:r>
                    </a:p>
                  </a:txBody>
                  <a:tcPr/>
                </a:tc>
                <a:tc>
                  <a:txBody>
                    <a:bodyPr/>
                    <a:lstStyle/>
                    <a:p>
                      <a:r>
                        <a:rPr lang="en-US" dirty="0">
                          <a:latin typeface="Calibri" panose="020F0502020204030204"/>
                          <a:cs typeface="Calibri" panose="020F0502020204030204"/>
                        </a:rPr>
                        <a:t>Type</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rbx</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x &amp; 1</a:t>
                      </a:r>
                      <a:endParaRPr lang="en-US" b="0" i="0" dirty="0">
                        <a:latin typeface="+mn-lt"/>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800" dirty="0">
                          <a:cs typeface="Courier New" panose="02070309020205020404"/>
                          <a:sym typeface="+mn-ea"/>
                        </a:rPr>
                        <a:t>被调用者保存</a:t>
                      </a:r>
                      <a:endParaRPr lang="en-US" b="0" i="0" dirty="0">
                        <a:latin typeface="+mn-lt"/>
                        <a:cs typeface="Courier New" panose="02070309020205020404"/>
                      </a:endParaRPr>
                    </a:p>
                  </a:txBody>
                  <a:tcPr/>
                </a:tc>
                <a:extLst>
                  <a:ext uri="{0D108BD9-81ED-4DB2-BD59-A6C34878D82A}">
                    <a16:rowId xmlns:a16="http://schemas.microsoft.com/office/drawing/2014/main" val="10001"/>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baseline="0" dirty="0">
                          <a:latin typeface="+mn-lt"/>
                          <a:cs typeface="Courier New" panose="02070309020205020404"/>
                        </a:rPr>
                        <a:t>递归调用</a:t>
                      </a:r>
                    </a:p>
                    <a:p>
                      <a:pPr marL="0" marR="0" indent="0" algn="l" defTabSz="914400" rtl="0" eaLnBrk="1" fontAlgn="auto" latinLnBrk="0" hangingPunct="1">
                        <a:lnSpc>
                          <a:spcPct val="100000"/>
                        </a:lnSpc>
                        <a:spcBef>
                          <a:spcPts val="0"/>
                        </a:spcBef>
                        <a:spcAft>
                          <a:spcPts val="0"/>
                        </a:spcAft>
                        <a:buClrTx/>
                        <a:buSzTx/>
                        <a:buFontTx/>
                        <a:buNone/>
                        <a:defRPr/>
                      </a:pPr>
                      <a:r>
                        <a:rPr lang="en-US" b="0" i="0" baseline="0" dirty="0">
                          <a:latin typeface="+mn-lt"/>
                          <a:cs typeface="Courier New" panose="02070309020205020404"/>
                        </a:rPr>
                        <a:t> </a:t>
                      </a:r>
                      <a:r>
                        <a:rPr lang="zh-CN" altLang="en-US" b="0" i="0" baseline="0" dirty="0">
                          <a:latin typeface="+mn-lt"/>
                          <a:cs typeface="Courier New" panose="02070309020205020404"/>
                        </a:rPr>
                        <a:t>返回值</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b="0" i="0" dirty="0">
                        <a:latin typeface="+mn-lt"/>
                        <a:cs typeface="Courier New" panose="02070309020205020404"/>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 1"/>
          <p:cNvSpPr/>
          <p:nvPr/>
        </p:nvSpPr>
        <p:spPr>
          <a:xfrm>
            <a:off x="0" y="490220"/>
            <a:ext cx="3288030" cy="6102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递归函数结果</a:t>
            </a:r>
          </a:p>
        </p:txBody>
      </p:sp>
      <p:sp>
        <p:nvSpPr>
          <p:cNvPr id="4" name="Rectangle 11"/>
          <p:cNvSpPr/>
          <p:nvPr/>
        </p:nvSpPr>
        <p:spPr bwMode="auto">
          <a:xfrm>
            <a:off x="228600" y="1295400"/>
            <a:ext cx="49530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Recursive </a:t>
            </a:r>
            <a:r>
              <a:rPr lang="en-US" sz="1800" b="1" dirty="0" err="1">
                <a:solidFill>
                  <a:schemeClr val="tx1"/>
                </a:solidFill>
                <a:latin typeface="Courier New" panose="02070309020205020404" charset="0"/>
                <a:cs typeface="Courier New" panose="02070309020205020404" charset="0"/>
                <a:sym typeface="Courier New Bold" charset="0"/>
              </a:rPr>
              <a:t>popcount</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if (x == 0)</a:t>
            </a:r>
          </a:p>
          <a:p>
            <a:pPr algn="l"/>
            <a:r>
              <a:rPr lang="en-US" sz="1800" b="1" dirty="0">
                <a:solidFill>
                  <a:schemeClr val="tx1"/>
                </a:solidFill>
                <a:latin typeface="Courier New" panose="02070309020205020404" charset="0"/>
                <a:cs typeface="Courier New" panose="02070309020205020404" charset="0"/>
                <a:sym typeface="Courier New Bold" charset="0"/>
              </a:rPr>
              <a:t>    return 0;</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return (x &amp; 1) </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(x &gt;&gt; 1);</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5" name="Rectangle 14"/>
          <p:cNvSpPr/>
          <p:nvPr/>
        </p:nvSpPr>
        <p:spPr bwMode="auto">
          <a:xfrm>
            <a:off x="5486400" y="1295400"/>
            <a:ext cx="3447406" cy="4038600"/>
          </a:xfrm>
          <a:prstGeom prst="rect">
            <a:avLst/>
          </a:prstGeom>
          <a:noFill/>
          <a:ln w="12700" cap="flat">
            <a:noFill/>
            <a:miter lim="800000"/>
            <a:headEnd type="none" w="med" len="med"/>
            <a:tailEnd type="none" w="med" len="med"/>
          </a:ln>
        </p:spPr>
        <p:txBody>
          <a:bodyPr lIns="38100" tIns="38100" rIns="38100" bIns="38100"/>
          <a:lstStyle/>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$0, %</a:t>
            </a:r>
            <a:r>
              <a:rPr lang="en-US" sz="1800" b="1" dirty="0" err="1">
                <a:solidFill>
                  <a:schemeClr val="tx1"/>
                </a:solidFill>
                <a:latin typeface="Courier New" panose="02070309020205020404" charset="0"/>
                <a:cs typeface="Courier New" panose="02070309020205020404" charset="0"/>
                <a:sym typeface="Courier New Bold" charset="0"/>
              </a:rPr>
              <a:t>eax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testq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je      .L6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pushq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rbx</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movq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rbx</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andl</a:t>
            </a:r>
            <a:r>
              <a:rPr lang="en-US" sz="1800" b="1" dirty="0">
                <a:latin typeface="Courier New" panose="02070309020205020404" charset="0"/>
                <a:cs typeface="Courier New" panose="02070309020205020404" charset="0"/>
                <a:sym typeface="Courier New Bold" charset="0"/>
              </a:rPr>
              <a:t>    $1, %</a:t>
            </a:r>
            <a:r>
              <a:rPr lang="en-US" sz="1800" b="1" dirty="0" err="1">
                <a:latin typeface="Courier New" panose="02070309020205020404" charset="0"/>
                <a:cs typeface="Courier New" panose="02070309020205020404" charset="0"/>
                <a:sym typeface="Courier New Bold" charset="0"/>
              </a:rPr>
              <a:t>ebx</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shrq</a:t>
            </a:r>
            <a:r>
              <a:rPr lang="en-US" sz="1800" b="1" dirty="0">
                <a:latin typeface="Courier New" panose="02070309020205020404" charset="0"/>
                <a:cs typeface="Courier New" panose="02070309020205020404" charset="0"/>
                <a:sym typeface="Courier New Bold" charset="0"/>
              </a:rPr>
              <a:t>    %</a:t>
            </a:r>
            <a:r>
              <a:rPr lang="en-US" sz="1800" b="1" dirty="0" err="1">
                <a:latin typeface="Courier New" panose="02070309020205020404" charset="0"/>
                <a:cs typeface="Courier New" panose="02070309020205020404" charset="0"/>
                <a:sym typeface="Courier New Bold" charset="0"/>
              </a:rPr>
              <a:t>rdi</a:t>
            </a:r>
            <a:endParaRPr lang="en-US" sz="1800" b="1" dirty="0">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pcount_r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addq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rbx</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rax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popq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rep; ret</a:t>
            </a:r>
          </a:p>
        </p:txBody>
      </p:sp>
      <p:graphicFrame>
        <p:nvGraphicFramePr>
          <p:cNvPr id="20" name="Table 19"/>
          <p:cNvGraphicFramePr>
            <a:graphicFrameLocks noGrp="1"/>
          </p:cNvGraphicFramePr>
          <p:nvPr/>
        </p:nvGraphicFramePr>
        <p:xfrm>
          <a:off x="228600" y="4724400"/>
          <a:ext cx="5181601" cy="112776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2015490">
                  <a:extLst>
                    <a:ext uri="{9D8B030D-6E8A-4147-A177-3AD203B41FA5}">
                      <a16:colId xmlns:a16="http://schemas.microsoft.com/office/drawing/2014/main" val="20001"/>
                    </a:ext>
                  </a:extLst>
                </a:gridCol>
                <a:gridCol w="2014644">
                  <a:extLst>
                    <a:ext uri="{9D8B030D-6E8A-4147-A177-3AD203B41FA5}">
                      <a16:colId xmlns:a16="http://schemas.microsoft.com/office/drawing/2014/main" val="20002"/>
                    </a:ext>
                  </a:extLst>
                </a:gridCol>
              </a:tblGrid>
              <a:tr h="3048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tc>
                  <a:txBody>
                    <a:bodyPr/>
                    <a:lstStyle/>
                    <a:p>
                      <a:r>
                        <a:rPr lang="zh-CN" altLang="en-US" dirty="0">
                          <a:latin typeface="Calibri" panose="020F0502020204030204"/>
                          <a:cs typeface="Calibri" panose="020F0502020204030204"/>
                        </a:rPr>
                        <a:t>类型</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rbx</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x &amp; 1</a:t>
                      </a:r>
                      <a:endParaRPr lang="en-US" b="0" i="0" dirty="0">
                        <a:latin typeface="+mn-lt"/>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dirty="0">
                          <a:latin typeface="+mn-lt"/>
                          <a:cs typeface="Courier New" panose="02070309020205020404"/>
                        </a:rPr>
                        <a:t>被调用者保存</a:t>
                      </a:r>
                    </a:p>
                  </a:txBody>
                  <a:tcPr/>
                </a:tc>
                <a:extLst>
                  <a:ext uri="{0D108BD9-81ED-4DB2-BD59-A6C34878D82A}">
                    <a16:rowId xmlns:a16="http://schemas.microsoft.com/office/drawing/2014/main" val="10001"/>
                  </a:ext>
                </a:extLst>
              </a:tr>
              <a:tr h="38100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dirty="0">
                          <a:latin typeface="+mn-lt"/>
                          <a:cs typeface="Courier New" panose="02070309020205020404"/>
                        </a:rPr>
                        <a:t>返回值</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b="0" i="0" dirty="0">
                        <a:latin typeface="+mn-lt"/>
                        <a:cs typeface="Courier New" panose="02070309020205020404"/>
                      </a:endParaRPr>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 name="燕尾形 1"/>
          <p:cNvSpPr/>
          <p:nvPr/>
        </p:nvSpPr>
        <p:spPr>
          <a:xfrm>
            <a:off x="0" y="490220"/>
            <a:ext cx="3288030" cy="610235"/>
          </a:xfrm>
          <a:prstGeom prst="chevron">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递归函数完成</a:t>
            </a:r>
          </a:p>
        </p:txBody>
      </p:sp>
      <p:graphicFrame>
        <p:nvGraphicFramePr>
          <p:cNvPr id="20" name="Table 19"/>
          <p:cNvGraphicFramePr>
            <a:graphicFrameLocks noGrp="1"/>
          </p:cNvGraphicFramePr>
          <p:nvPr/>
        </p:nvGraphicFramePr>
        <p:xfrm>
          <a:off x="228600" y="4724400"/>
          <a:ext cx="5260552" cy="746760"/>
        </p:xfrm>
        <a:graphic>
          <a:graphicData uri="http://schemas.openxmlformats.org/drawingml/2006/table">
            <a:tbl>
              <a:tblPr firstRow="1" bandRow="1">
                <a:tableStyleId>{5C22544A-7EE6-4342-B048-85BDC9FD1C3A}</a:tableStyleId>
              </a:tblPr>
              <a:tblGrid>
                <a:gridCol w="1151467">
                  <a:extLst>
                    <a:ext uri="{9D8B030D-6E8A-4147-A177-3AD203B41FA5}">
                      <a16:colId xmlns:a16="http://schemas.microsoft.com/office/drawing/2014/main" val="20000"/>
                    </a:ext>
                  </a:extLst>
                </a:gridCol>
                <a:gridCol w="2015490">
                  <a:extLst>
                    <a:ext uri="{9D8B030D-6E8A-4147-A177-3AD203B41FA5}">
                      <a16:colId xmlns:a16="http://schemas.microsoft.com/office/drawing/2014/main" val="20001"/>
                    </a:ext>
                  </a:extLst>
                </a:gridCol>
                <a:gridCol w="2093595">
                  <a:extLst>
                    <a:ext uri="{9D8B030D-6E8A-4147-A177-3AD203B41FA5}">
                      <a16:colId xmlns:a16="http://schemas.microsoft.com/office/drawing/2014/main" val="20002"/>
                    </a:ext>
                  </a:extLst>
                </a:gridCol>
              </a:tblGrid>
              <a:tr h="304800">
                <a:tc>
                  <a:txBody>
                    <a:bodyPr/>
                    <a:lstStyle/>
                    <a:p>
                      <a:r>
                        <a:rPr lang="zh-CN" altLang="en-US" dirty="0">
                          <a:latin typeface="Calibri" panose="020F0502020204030204"/>
                          <a:cs typeface="Calibri" panose="020F0502020204030204"/>
                        </a:rPr>
                        <a:t>寄存器</a:t>
                      </a:r>
                    </a:p>
                  </a:txBody>
                  <a:tcPr/>
                </a:tc>
                <a:tc>
                  <a:txBody>
                    <a:bodyPr/>
                    <a:lstStyle/>
                    <a:p>
                      <a:r>
                        <a:rPr lang="zh-CN" altLang="en-US" dirty="0">
                          <a:latin typeface="Calibri" panose="020F0502020204030204"/>
                          <a:cs typeface="Calibri" panose="020F0502020204030204"/>
                        </a:rPr>
                        <a:t>用于</a:t>
                      </a:r>
                    </a:p>
                  </a:txBody>
                  <a:tcPr/>
                </a:tc>
                <a:tc>
                  <a:txBody>
                    <a:bodyPr/>
                    <a:lstStyle/>
                    <a:p>
                      <a:r>
                        <a:rPr lang="zh-CN" altLang="en-US" dirty="0">
                          <a:latin typeface="Calibri" panose="020F0502020204030204"/>
                          <a:cs typeface="Calibri" panose="020F0502020204030204"/>
                        </a:rPr>
                        <a:t>类型</a:t>
                      </a:r>
                    </a:p>
                  </a:txBody>
                  <a:tcPr/>
                </a:tc>
                <a:extLst>
                  <a:ext uri="{0D108BD9-81ED-4DB2-BD59-A6C34878D82A}">
                    <a16:rowId xmlns:a16="http://schemas.microsoft.com/office/drawing/2014/main" val="10000"/>
                  </a:ext>
                </a:extLst>
              </a:tr>
              <a:tr h="381000">
                <a:tc>
                  <a:txBody>
                    <a:bodyPr/>
                    <a:lstStyle/>
                    <a:p>
                      <a:r>
                        <a:rPr lang="en-US" b="1" i="0" dirty="0">
                          <a:latin typeface="Courier New" panose="02070309020205020404"/>
                          <a:cs typeface="Courier New" panose="02070309020205020404"/>
                        </a:rPr>
                        <a:t>%</a:t>
                      </a:r>
                      <a:r>
                        <a:rPr lang="en-US" b="1" i="0" dirty="0" err="1">
                          <a:latin typeface="Courier New" panose="02070309020205020404"/>
                          <a:cs typeface="Courier New" panose="02070309020205020404"/>
                        </a:rPr>
                        <a:t>rax</a:t>
                      </a:r>
                      <a:endParaRPr lang="en-US" b="1" i="0" dirty="0">
                        <a:latin typeface="Courier New" panose="02070309020205020404"/>
                        <a:cs typeface="Courier New" panose="02070309020205020404"/>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b="0" i="0" dirty="0">
                          <a:latin typeface="+mn-lt"/>
                          <a:cs typeface="Courier New" panose="02070309020205020404"/>
                        </a:rPr>
                        <a:t>返回值</a:t>
                      </a:r>
                    </a:p>
                  </a:txBody>
                  <a:tcPr/>
                </a:tc>
                <a:tc>
                  <a:txBody>
                    <a:bodyPr/>
                    <a:lstStyle/>
                    <a:p>
                      <a:r>
                        <a:rPr lang="zh-CN" altLang="en-US" b="0" i="0" dirty="0">
                          <a:latin typeface="+mn-lt"/>
                          <a:cs typeface="Courier New" panose="02070309020205020404"/>
                        </a:rPr>
                        <a:t>返回值</a:t>
                      </a:r>
                    </a:p>
                  </a:txBody>
                  <a:tcPr/>
                </a:tc>
                <a:extLst>
                  <a:ext uri="{0D108BD9-81ED-4DB2-BD59-A6C34878D82A}">
                    <a16:rowId xmlns:a16="http://schemas.microsoft.com/office/drawing/2014/main" val="10001"/>
                  </a:ext>
                </a:extLst>
              </a:tr>
            </a:tbl>
          </a:graphicData>
        </a:graphic>
      </p:graphicFrame>
      <p:sp>
        <p:nvSpPr>
          <p:cNvPr id="77835" name="Rectangle 11"/>
          <p:cNvSpPr/>
          <p:nvPr/>
        </p:nvSpPr>
        <p:spPr bwMode="auto">
          <a:xfrm>
            <a:off x="228600" y="1295400"/>
            <a:ext cx="4953000" cy="2362200"/>
          </a:xfrm>
          <a:prstGeom prst="rect">
            <a:avLst/>
          </a:prstGeom>
          <a:solidFill>
            <a:srgbClr val="F6F5BD"/>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b="1" dirty="0">
                <a:solidFill>
                  <a:schemeClr val="tx1"/>
                </a:solidFill>
                <a:latin typeface="Courier New" panose="02070309020205020404" charset="0"/>
                <a:cs typeface="Courier New" panose="02070309020205020404" charset="0"/>
                <a:sym typeface="Courier New Bold" charset="0"/>
              </a:rPr>
              <a:t>/* Recursive </a:t>
            </a:r>
            <a:r>
              <a:rPr lang="en-US" sz="1800" b="1" dirty="0" err="1">
                <a:solidFill>
                  <a:schemeClr val="tx1"/>
                </a:solidFill>
                <a:latin typeface="Courier New" panose="02070309020205020404" charset="0"/>
                <a:cs typeface="Courier New" panose="02070309020205020404" charset="0"/>
                <a:sym typeface="Courier New Bold" charset="0"/>
              </a:rPr>
              <a:t>popcount</a:t>
            </a:r>
            <a:r>
              <a:rPr lang="en-US" sz="1800" b="1" dirty="0">
                <a:solidFill>
                  <a:schemeClr val="tx1"/>
                </a:solidFill>
                <a:latin typeface="Courier New" panose="02070309020205020404" charset="0"/>
                <a:cs typeface="Courier New" panose="02070309020205020404" charset="0"/>
                <a:sym typeface="Courier New Bold" charset="0"/>
              </a:rPr>
              <a:t> */</a:t>
            </a:r>
          </a:p>
          <a:p>
            <a:pPr algn="l"/>
            <a:r>
              <a:rPr lang="en-US" sz="1800" b="1" dirty="0">
                <a:solidFill>
                  <a:schemeClr val="tx1"/>
                </a:solidFill>
                <a:latin typeface="Courier New" panose="02070309020205020404" charset="0"/>
                <a:cs typeface="Courier New" panose="02070309020205020404" charset="0"/>
                <a:sym typeface="Courier New Bold" charset="0"/>
              </a:rPr>
              <a:t>long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(unsigned long x) {</a:t>
            </a:r>
          </a:p>
          <a:p>
            <a:pPr algn="l"/>
            <a:r>
              <a:rPr lang="en-US" sz="1800" b="1" dirty="0">
                <a:solidFill>
                  <a:schemeClr val="tx1"/>
                </a:solidFill>
                <a:latin typeface="Courier New" panose="02070309020205020404" charset="0"/>
                <a:cs typeface="Courier New" panose="02070309020205020404" charset="0"/>
                <a:sym typeface="Courier New Bold" charset="0"/>
              </a:rPr>
              <a:t>  if (x == 0)</a:t>
            </a:r>
          </a:p>
          <a:p>
            <a:pPr algn="l"/>
            <a:r>
              <a:rPr lang="en-US" sz="1800" b="1" dirty="0">
                <a:solidFill>
                  <a:schemeClr val="tx1"/>
                </a:solidFill>
                <a:latin typeface="Courier New" panose="02070309020205020404" charset="0"/>
                <a:cs typeface="Courier New" panose="02070309020205020404" charset="0"/>
                <a:sym typeface="Courier New Bold" charset="0"/>
              </a:rPr>
              <a:t>    return 0;</a:t>
            </a:r>
          </a:p>
          <a:p>
            <a:pPr algn="l"/>
            <a:r>
              <a:rPr lang="en-US" sz="1800" b="1" dirty="0">
                <a:solidFill>
                  <a:schemeClr val="tx1"/>
                </a:solidFill>
                <a:latin typeface="Courier New" panose="02070309020205020404" charset="0"/>
                <a:cs typeface="Courier New" panose="02070309020205020404" charset="0"/>
                <a:sym typeface="Courier New Bold" charset="0"/>
              </a:rPr>
              <a:t>  else</a:t>
            </a:r>
          </a:p>
          <a:p>
            <a:pPr algn="l"/>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return</a:t>
            </a:r>
            <a:r>
              <a:rPr lang="en-US" sz="1800" b="1" dirty="0">
                <a:solidFill>
                  <a:schemeClr val="tx1"/>
                </a:solidFill>
                <a:latin typeface="Courier New" panose="02070309020205020404" charset="0"/>
                <a:cs typeface="Courier New" panose="02070309020205020404" charset="0"/>
                <a:sym typeface="Courier New Bold" charset="0"/>
              </a:rPr>
              <a:t> (x &amp; 1) </a:t>
            </a:r>
          </a:p>
          <a:p>
            <a:pPr algn="l"/>
            <a:r>
              <a:rPr lang="en-US" sz="1800" b="1" dirty="0">
                <a:solidFill>
                  <a:schemeClr val="tx1"/>
                </a:solidFill>
                <a:latin typeface="Courier New" panose="02070309020205020404" charset="0"/>
                <a:cs typeface="Courier New" panose="02070309020205020404" charset="0"/>
                <a:sym typeface="Courier New Bold" charset="0"/>
              </a:rPr>
              <a:t>           + </a:t>
            </a: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(x &gt;&gt; 1);</a:t>
            </a:r>
          </a:p>
          <a:p>
            <a:pPr algn="l"/>
            <a:r>
              <a:rPr lang="en-US" sz="1800" b="1" dirty="0">
                <a:solidFill>
                  <a:schemeClr val="tx1"/>
                </a:solidFill>
                <a:latin typeface="Courier New" panose="02070309020205020404" charset="0"/>
                <a:cs typeface="Courier New" panose="02070309020205020404" charset="0"/>
                <a:sym typeface="Courier New Bold" charset="0"/>
              </a:rPr>
              <a:t>}</a:t>
            </a:r>
          </a:p>
        </p:txBody>
      </p:sp>
      <p:sp>
        <p:nvSpPr>
          <p:cNvPr id="77838" name="Rectangle 14"/>
          <p:cNvSpPr/>
          <p:nvPr/>
        </p:nvSpPr>
        <p:spPr bwMode="auto">
          <a:xfrm>
            <a:off x="5486400" y="990600"/>
            <a:ext cx="3447406" cy="4038600"/>
          </a:xfrm>
          <a:prstGeom prst="rect">
            <a:avLst/>
          </a:prstGeom>
          <a:noFill/>
          <a:ln w="12700" cap="flat">
            <a:noFill/>
            <a:miter lim="800000"/>
            <a:headEnd type="none" w="med" len="med"/>
            <a:tailEnd type="none" w="med" len="med"/>
          </a:ln>
        </p:spPr>
        <p:txBody>
          <a:bodyPr lIns="38100" tIns="38100" rIns="38100" bIns="38100"/>
          <a:lstStyle/>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err="1">
                <a:solidFill>
                  <a:schemeClr val="tx1"/>
                </a:solidFill>
                <a:latin typeface="Courier New" panose="02070309020205020404" charset="0"/>
                <a:cs typeface="Courier New" panose="02070309020205020404" charset="0"/>
                <a:sym typeface="Courier New Bold" charset="0"/>
              </a:rPr>
              <a:t>pcount_r</a:t>
            </a:r>
            <a:r>
              <a:rPr lang="en-US" sz="1800" b="1" dirty="0">
                <a:solidFill>
                  <a:schemeClr val="tx1"/>
                </a:solidFill>
                <a:latin typeface="Courier New" panose="02070309020205020404" charset="0"/>
                <a:cs typeface="Courier New" panose="02070309020205020404" charset="0"/>
                <a:sym typeface="Courier New Bold" charset="0"/>
              </a:rPr>
              <a:t>:</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movl</a:t>
            </a:r>
            <a:r>
              <a:rPr lang="en-US" sz="1800" b="1" dirty="0">
                <a:solidFill>
                  <a:schemeClr val="tx1"/>
                </a:solidFill>
                <a:latin typeface="Courier New" panose="02070309020205020404" charset="0"/>
                <a:cs typeface="Courier New" panose="02070309020205020404" charset="0"/>
                <a:sym typeface="Courier New Bold" charset="0"/>
              </a:rPr>
              <a:t>    $0, %</a:t>
            </a:r>
            <a:r>
              <a:rPr lang="en-US" sz="1800" b="1" dirty="0" err="1">
                <a:solidFill>
                  <a:schemeClr val="tx1"/>
                </a:solidFill>
                <a:latin typeface="Courier New" panose="02070309020205020404" charset="0"/>
                <a:cs typeface="Courier New" panose="02070309020205020404" charset="0"/>
                <a:sym typeface="Courier New Bold" charset="0"/>
              </a:rPr>
              <a:t>eax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testq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latin typeface="Courier New" panose="02070309020205020404" charset="0"/>
                <a:cs typeface="Courier New" panose="02070309020205020404" charset="0"/>
                <a:sym typeface="Courier New Bold" charset="0"/>
              </a:rPr>
              <a:t>je      .L6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pushq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movq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andl</a:t>
            </a:r>
            <a:r>
              <a:rPr lang="en-US" sz="1800" b="1" dirty="0">
                <a:solidFill>
                  <a:schemeClr val="tx1"/>
                </a:solidFill>
                <a:latin typeface="Courier New" panose="02070309020205020404" charset="0"/>
                <a:cs typeface="Courier New" panose="02070309020205020404" charset="0"/>
                <a:sym typeface="Courier New Bold" charset="0"/>
              </a:rPr>
              <a:t>    $1, %</a:t>
            </a:r>
            <a:r>
              <a:rPr lang="en-US" sz="1800" b="1" dirty="0" err="1">
                <a:solidFill>
                  <a:schemeClr val="tx1"/>
                </a:solidFill>
                <a:latin typeface="Courier New" panose="02070309020205020404" charset="0"/>
                <a:cs typeface="Courier New" panose="02070309020205020404" charset="0"/>
                <a:sym typeface="Courier New Bold" charset="0"/>
              </a:rPr>
              <a:t>ebx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shrq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rdi</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call    </a:t>
            </a:r>
            <a:r>
              <a:rPr lang="en-US" sz="1800" b="1" dirty="0" err="1">
                <a:solidFill>
                  <a:schemeClr val="tx1"/>
                </a:solidFill>
                <a:latin typeface="Courier New" panose="02070309020205020404" charset="0"/>
                <a:cs typeface="Courier New" panose="02070309020205020404" charset="0"/>
                <a:sym typeface="Courier New Bold" charset="0"/>
              </a:rPr>
              <a:t>pcount_r</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addq</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rbx</a:t>
            </a: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chemeClr val="tx1"/>
                </a:solidFill>
                <a:latin typeface="Courier New" panose="02070309020205020404" charset="0"/>
                <a:cs typeface="Courier New" panose="02070309020205020404" charset="0"/>
                <a:sym typeface="Courier New Bold" charset="0"/>
              </a:rPr>
              <a:t>rax</a:t>
            </a:r>
            <a:endParaRPr lang="en-US" sz="1800" b="1" dirty="0">
              <a:solidFill>
                <a:schemeClr val="tx1"/>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popq</a:t>
            </a:r>
            <a:r>
              <a:rPr lang="en-US" sz="1800" b="1" dirty="0">
                <a:solidFill>
                  <a:srgbClr val="FF0000"/>
                </a:solidFill>
                <a:latin typeface="Courier New" panose="02070309020205020404" charset="0"/>
                <a:cs typeface="Courier New" panose="02070309020205020404" charset="0"/>
                <a:sym typeface="Courier New Bold" charset="0"/>
              </a:rPr>
              <a:t>    %</a:t>
            </a:r>
            <a:r>
              <a:rPr lang="en-US" sz="1800" b="1" dirty="0" err="1">
                <a:solidFill>
                  <a:srgbClr val="FF0000"/>
                </a:solidFill>
                <a:latin typeface="Courier New" panose="02070309020205020404" charset="0"/>
                <a:cs typeface="Courier New" panose="02070309020205020404" charset="0"/>
                <a:sym typeface="Courier New Bold" charset="0"/>
              </a:rPr>
              <a:t>rbx</a:t>
            </a:r>
            <a:endParaRPr lang="en-US" sz="1800" b="1" dirty="0">
              <a:solidFill>
                <a:srgbClr val="FF0000"/>
              </a:solidFill>
              <a:latin typeface="Courier New" panose="02070309020205020404" charset="0"/>
              <a:cs typeface="Courier New" panose="02070309020205020404" charset="0"/>
              <a:sym typeface="Courier New Bold" charset="0"/>
            </a:endParaRP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.L6:</a:t>
            </a:r>
          </a:p>
          <a:p>
            <a:pPr algn="l">
              <a:tabLst>
                <a:tab pos="520700" algn="l"/>
                <a:tab pos="5207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520700" algn="l"/>
                <a:tab pos="1079500" algn="l"/>
                <a:tab pos="1371600" algn="l"/>
              </a:tabLst>
            </a:pPr>
            <a:r>
              <a:rPr lang="en-US" sz="1800" b="1" dirty="0">
                <a:solidFill>
                  <a:schemeClr val="tx1"/>
                </a:solidFill>
                <a:latin typeface="Courier New" panose="02070309020205020404" charset="0"/>
                <a:cs typeface="Courier New" panose="02070309020205020404" charset="0"/>
                <a:sym typeface="Courier New Bold" charset="0"/>
              </a:rPr>
              <a:t>  </a:t>
            </a:r>
            <a:r>
              <a:rPr lang="en-US" sz="1800" b="1" dirty="0">
                <a:solidFill>
                  <a:srgbClr val="FF0000"/>
                </a:solidFill>
                <a:latin typeface="Courier New" panose="02070309020205020404" charset="0"/>
                <a:cs typeface="Courier New" panose="02070309020205020404" charset="0"/>
                <a:sym typeface="Courier New Bold" charset="0"/>
              </a:rPr>
              <a:t>rep; ret</a:t>
            </a:r>
          </a:p>
        </p:txBody>
      </p:sp>
      <p:sp>
        <p:nvSpPr>
          <p:cNvPr id="10" name="Line 10"/>
          <p:cNvSpPr>
            <a:spLocks noChangeShapeType="1"/>
          </p:cNvSpPr>
          <p:nvPr/>
        </p:nvSpPr>
        <p:spPr bwMode="auto">
          <a:xfrm flipH="1">
            <a:off x="7086600" y="5791200"/>
            <a:ext cx="457200"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1" name="Rectangle 11"/>
          <p:cNvSpPr/>
          <p:nvPr/>
        </p:nvSpPr>
        <p:spPr bwMode="auto">
          <a:xfrm>
            <a:off x="7593013" y="5562600"/>
            <a:ext cx="654025" cy="353943"/>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
        <p:nvSpPr>
          <p:cNvPr id="12" name="Rectangle 13"/>
          <p:cNvSpPr/>
          <p:nvPr/>
        </p:nvSpPr>
        <p:spPr bwMode="auto">
          <a:xfrm>
            <a:off x="5791200" y="5029200"/>
            <a:ext cx="1295400" cy="9144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r>
              <a:rPr lang="en-US" sz="1800" dirty="0">
                <a:solidFill>
                  <a:schemeClr val="tx1"/>
                </a:solidFill>
                <a:latin typeface="Calibri Bold" charset="0"/>
                <a:ea typeface="Calibri Bold" charset="0"/>
                <a:cs typeface="Calibri Bold" charset="0"/>
                <a:sym typeface="Calibri Bold" charset="0"/>
              </a:rPr>
              <a:t>. . .</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2884805" cy="1000760"/>
          </a:xfrm>
          <a:prstGeom prst="rightArrow">
            <a:avLst/>
          </a:prstGeom>
          <a:solidFill>
            <a:srgbClr val="7030A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关于递归</a:t>
            </a:r>
          </a:p>
        </p:txBody>
      </p:sp>
      <p:sp>
        <p:nvSpPr>
          <p:cNvPr id="5" name="Rectangle 4"/>
          <p:cNvSpPr>
            <a:spLocks noGrp="1" noChangeArrowheads="1"/>
          </p:cNvSpPr>
          <p:nvPr/>
        </p:nvSpPr>
        <p:spPr>
          <a:xfrm>
            <a:off x="262255" y="1266825"/>
            <a:ext cx="8382000" cy="54356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7030A0"/>
              </a:buClr>
            </a:pPr>
            <a:r>
              <a:rPr lang="zh-CN" altLang="en-US" dirty="0"/>
              <a:t>不考虑特殊情况的处理</a:t>
            </a:r>
          </a:p>
          <a:p>
            <a:pPr lvl="1">
              <a:buClr>
                <a:srgbClr val="FF99CC"/>
              </a:buClr>
            </a:pPr>
            <a:r>
              <a:rPr lang="en-US" dirty="0"/>
              <a:t>栈帧意味着每个函数调用都有私有</a:t>
            </a:r>
            <a:r>
              <a:rPr lang="zh-CN" altLang="en-US" dirty="0">
                <a:ea typeface="宋体" panose="02010600030101010101" pitchFamily="2" charset="-122"/>
              </a:rPr>
              <a:t>空间</a:t>
            </a:r>
            <a:r>
              <a:rPr lang="en-US" dirty="0"/>
              <a:t>。</a:t>
            </a:r>
          </a:p>
          <a:p>
            <a:pPr lvl="2"/>
            <a:r>
              <a:rPr lang="en-US" dirty="0"/>
              <a:t>保存的寄存器和</a:t>
            </a:r>
            <a:r>
              <a:rPr lang="zh-CN" altLang="en-US" dirty="0">
                <a:ea typeface="宋体" panose="02010600030101010101" pitchFamily="2" charset="-122"/>
              </a:rPr>
              <a:t>局部变量</a:t>
            </a:r>
          </a:p>
          <a:p>
            <a:pPr lvl="2"/>
            <a:r>
              <a:rPr lang="en-US" dirty="0"/>
              <a:t>保存返回的指针</a:t>
            </a:r>
          </a:p>
          <a:p>
            <a:pPr lvl="1">
              <a:buClr>
                <a:srgbClr val="FF99CC"/>
              </a:buClr>
            </a:pPr>
            <a:r>
              <a:rPr lang="en-US" dirty="0"/>
              <a:t>寄存器保存约定防止一个函数调用破坏另一个数据</a:t>
            </a:r>
          </a:p>
          <a:p>
            <a:pPr lvl="2"/>
            <a:r>
              <a:rPr lang="en-US" dirty="0"/>
              <a:t>除非C代码明确地这样做（如缓冲区溢出）</a:t>
            </a:r>
          </a:p>
          <a:p>
            <a:pPr lvl="1">
              <a:buClr>
                <a:srgbClr val="FF99CC"/>
              </a:buClr>
            </a:pPr>
            <a:r>
              <a:rPr lang="en-US" dirty="0"/>
              <a:t>栈规则遵循调用/返回模式</a:t>
            </a:r>
          </a:p>
          <a:p>
            <a:pPr lvl="2"/>
            <a:r>
              <a:rPr lang="en-US" dirty="0"/>
              <a:t>如果p调用q，则q在p之前返回。</a:t>
            </a:r>
          </a:p>
          <a:p>
            <a:pPr lvl="2"/>
            <a:r>
              <a:rPr lang="en-US" dirty="0"/>
              <a:t>后进先出</a:t>
            </a:r>
          </a:p>
          <a:p>
            <a:pPr>
              <a:buClr>
                <a:srgbClr val="7030A0"/>
              </a:buClr>
            </a:pPr>
            <a:r>
              <a:rPr lang="en-US" dirty="0"/>
              <a:t>适用于相互递归</a:t>
            </a:r>
          </a:p>
          <a:p>
            <a:pPr lvl="1">
              <a:buClr>
                <a:srgbClr val="FF99CC"/>
              </a:buClr>
            </a:pPr>
            <a:r>
              <a:rPr lang="en-US" dirty="0"/>
              <a:t>P </a:t>
            </a:r>
            <a:r>
              <a:rPr lang="zh-CN" altLang="en-US" dirty="0">
                <a:ea typeface="宋体" panose="02010600030101010101" pitchFamily="2" charset="-122"/>
              </a:rPr>
              <a:t>调用</a:t>
            </a:r>
            <a:r>
              <a:rPr lang="en-US" dirty="0"/>
              <a:t> Q; Q </a:t>
            </a:r>
            <a:r>
              <a:rPr lang="zh-CN" altLang="en-US" dirty="0">
                <a:ea typeface="宋体" panose="02010600030101010101" pitchFamily="2" charset="-122"/>
              </a:rPr>
              <a:t>调用</a:t>
            </a:r>
            <a:r>
              <a:rPr lang="en-US" dirty="0"/>
              <a:t> 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wipe(down)">
                                      <p:cBhvr>
                                        <p:cTn id="7" dur="500"/>
                                        <p:tgtEl>
                                          <p:spTgt spid="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wipe(down)">
                                      <p:cBhvr>
                                        <p:cTn id="12" dur="500"/>
                                        <p:tgtEl>
                                          <p:spTgt spid="5">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animEffect transition="in" filter="wipe(down)">
                                      <p:cBhvr>
                                        <p:cTn id="15" dur="500"/>
                                        <p:tgtEl>
                                          <p:spTgt spid="5">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5">
                                            <p:txEl>
                                              <p:pRg st="4" end="4"/>
                                            </p:txEl>
                                          </p:spTgt>
                                        </p:tgtEl>
                                        <p:attrNameLst>
                                          <p:attrName>style.visibility</p:attrName>
                                        </p:attrNameLst>
                                      </p:cBhvr>
                                      <p:to>
                                        <p:strVal val="visible"/>
                                      </p:to>
                                    </p:set>
                                    <p:animEffect transition="in" filter="wipe(down)">
                                      <p:cBhvr>
                                        <p:cTn id="20" dur="500"/>
                                        <p:tgtEl>
                                          <p:spTgt spid="5">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5">
                                            <p:txEl>
                                              <p:pRg st="5" end="5"/>
                                            </p:txEl>
                                          </p:spTgt>
                                        </p:tgtEl>
                                        <p:attrNameLst>
                                          <p:attrName>style.visibility</p:attrName>
                                        </p:attrNameLst>
                                      </p:cBhvr>
                                      <p:to>
                                        <p:strVal val="visible"/>
                                      </p:to>
                                    </p:set>
                                    <p:animEffect transition="in" filter="wipe(down)">
                                      <p:cBhvr>
                                        <p:cTn id="25" dur="500"/>
                                        <p:tgtEl>
                                          <p:spTgt spid="5">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wipe(down)">
                                      <p:cBhvr>
                                        <p:cTn id="30" dur="500"/>
                                        <p:tgtEl>
                                          <p:spTgt spid="5">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Effect transition="in" filter="wipe(down)">
                                      <p:cBhvr>
                                        <p:cTn id="35" dur="500"/>
                                        <p:tgtEl>
                                          <p:spTgt spid="5">
                                            <p:txEl>
                                              <p:pRg st="7" end="7"/>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5">
                                            <p:txEl>
                                              <p:pRg st="8" end="8"/>
                                            </p:txEl>
                                          </p:spTgt>
                                        </p:tgtEl>
                                        <p:attrNameLst>
                                          <p:attrName>style.visibility</p:attrName>
                                        </p:attrNameLst>
                                      </p:cBhvr>
                                      <p:to>
                                        <p:strVal val="visible"/>
                                      </p:to>
                                    </p:set>
                                    <p:animEffect transition="in" filter="wipe(down)">
                                      <p:cBhvr>
                                        <p:cTn id="38" dur="500"/>
                                        <p:tgtEl>
                                          <p:spTgt spid="5">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5">
                                            <p:txEl>
                                              <p:pRg st="9" end="9"/>
                                            </p:txEl>
                                          </p:spTgt>
                                        </p:tgtEl>
                                        <p:attrNameLst>
                                          <p:attrName>style.visibility</p:attrName>
                                        </p:attrNameLst>
                                      </p:cBhvr>
                                      <p:to>
                                        <p:strVal val="visible"/>
                                      </p:to>
                                    </p:set>
                                    <p:animEffect transition="in" filter="wipe(down)">
                                      <p:cBhvr>
                                        <p:cTn id="43" dur="500"/>
                                        <p:tgtEl>
                                          <p:spTgt spid="5">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5">
                                            <p:txEl>
                                              <p:pRg st="10" end="10"/>
                                            </p:txEl>
                                          </p:spTgt>
                                        </p:tgtEl>
                                        <p:attrNameLst>
                                          <p:attrName>style.visibility</p:attrName>
                                        </p:attrNameLst>
                                      </p:cBhvr>
                                      <p:to>
                                        <p:strVal val="visible"/>
                                      </p:to>
                                    </p:set>
                                    <p:animEffect transition="in" filter="wipe(down)">
                                      <p:cBhvr>
                                        <p:cTn id="48"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2884805" cy="1000760"/>
          </a:xfrm>
          <a:prstGeom prst="rightArrow">
            <a:avLst/>
          </a:prstGeom>
          <a:solidFill>
            <a:srgbClr val="7030A0">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总结</a:t>
            </a:r>
          </a:p>
        </p:txBody>
      </p:sp>
      <p:sp>
        <p:nvSpPr>
          <p:cNvPr id="2" name="Content Placeholder 16"/>
          <p:cNvSpPr>
            <a:spLocks noGrp="1"/>
          </p:cNvSpPr>
          <p:nvPr/>
        </p:nvSpPr>
        <p:spPr>
          <a:xfrm>
            <a:off x="185195" y="1315975"/>
            <a:ext cx="6516547" cy="5232400"/>
          </a:xfrm>
          <a:prstGeom prst="rect">
            <a:avLst/>
          </a:prstGeom>
          <a:noFill/>
          <a:ln w="9525">
            <a:noFill/>
            <a:miter lim="800000"/>
          </a:ln>
          <a:effectLst/>
        </p:spPr>
        <p:txBody>
          <a:bodyPr vert="horz" wrap="square" lIns="38100" tIns="38100" rIns="38100" bIns="38100" numCol="1" anchor="t" anchorCtr="0" compatLnSpc="1"/>
          <a:lstStyle>
            <a:lvl1pPr marL="254000" indent="-254000" algn="l" rtl="0" fontAlgn="base">
              <a:spcBef>
                <a:spcPts val="600"/>
              </a:spcBef>
              <a:spcAft>
                <a:spcPct val="0"/>
              </a:spcAft>
              <a:buClr>
                <a:srgbClr val="990000"/>
              </a:buClr>
              <a:buSzPct val="60000"/>
              <a:buFont typeface="Wingdings 2" panose="05020102010507070707" pitchFamily="18" charset="2"/>
              <a:buChar char="¢"/>
              <a:defRPr sz="2400" b="1">
                <a:solidFill>
                  <a:schemeClr val="tx1"/>
                </a:solidFill>
                <a:latin typeface="+mn-lt"/>
                <a:ea typeface="+mn-ea"/>
                <a:cs typeface="+mn-cs"/>
                <a:sym typeface="Calibri Bold" charset="0"/>
              </a:defRPr>
            </a:lvl1pPr>
            <a:lvl2pPr marL="514350" indent="-234950" algn="l" rtl="0" fontAlgn="base">
              <a:spcBef>
                <a:spcPts val="5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2pPr>
            <a:lvl3pPr marL="800100" indent="-203200" algn="l" rtl="0" fontAlgn="base">
              <a:spcBef>
                <a:spcPts val="500"/>
              </a:spcBef>
              <a:spcAft>
                <a:spcPct val="0"/>
              </a:spcAft>
              <a:buClr>
                <a:srgbClr val="000000"/>
              </a:buClr>
              <a:buSzPct val="80000"/>
              <a:buFont typeface="Wingdings" panose="05000000000000000000" pitchFamily="2" charset="2"/>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3pPr>
            <a:lvl4pPr marL="11430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4pPr>
            <a:lvl5pPr marL="14605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5pPr>
            <a:lvl6pPr marL="19177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6pPr>
            <a:lvl7pPr marL="23749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7pPr>
            <a:lvl8pPr marL="28321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8pPr>
            <a:lvl9pPr marL="3289300" indent="-228600" algn="l" rtl="0" fontAlgn="base">
              <a:spcBef>
                <a:spcPts val="500"/>
              </a:spcBef>
              <a:spcAft>
                <a:spcPct val="0"/>
              </a:spcAft>
              <a:buClr>
                <a:srgbClr val="000000"/>
              </a:buClr>
              <a:buSzPct val="100000"/>
              <a:buFont typeface="Calibri" panose="020F0502020204030204" charset="0"/>
              <a:buChar char="»"/>
              <a:defRPr sz="2000">
                <a:solidFill>
                  <a:schemeClr val="tx1"/>
                </a:solidFill>
                <a:latin typeface="Calibri" panose="020F0502020204030204" charset="0"/>
                <a:ea typeface="ヒラギノ角ゴ ProN W3" charset="0"/>
                <a:cs typeface="ヒラギノ角ゴ ProN W3" charset="0"/>
                <a:sym typeface="Calibri" panose="020F0502020204030204" charset="0"/>
              </a:defRPr>
            </a:lvl9pPr>
          </a:lstStyle>
          <a:p>
            <a:pPr>
              <a:buClr>
                <a:srgbClr val="7030A0"/>
              </a:buClr>
            </a:pPr>
            <a:r>
              <a:rPr lang="en-US" dirty="0"/>
              <a:t>重要的一点</a:t>
            </a:r>
          </a:p>
          <a:p>
            <a:pPr marL="405130" lvl="1" indent="-173355">
              <a:buClr>
                <a:srgbClr val="FF99CC"/>
              </a:buClr>
            </a:pPr>
            <a:r>
              <a:rPr lang="en-US" dirty="0"/>
              <a:t>栈是过程调用/返回的正确数据结构。</a:t>
            </a:r>
          </a:p>
          <a:p>
            <a:pPr marL="625475" lvl="2" indent="-220980"/>
            <a:r>
              <a:rPr lang="en-US" dirty="0"/>
              <a:t>如果p调用q，则q在p之前返回。</a:t>
            </a:r>
          </a:p>
          <a:p>
            <a:pPr>
              <a:buClr>
                <a:srgbClr val="7030A0"/>
              </a:buClr>
            </a:pPr>
            <a:r>
              <a:rPr lang="en-US" dirty="0"/>
              <a:t>常规调用</a:t>
            </a:r>
            <a:r>
              <a:rPr lang="zh-CN" altLang="en-US" dirty="0"/>
              <a:t>规定来</a:t>
            </a:r>
            <a:r>
              <a:rPr lang="en-US" dirty="0"/>
              <a:t>处理递归（</a:t>
            </a:r>
            <a:r>
              <a:rPr lang="zh-CN" altLang="en-US" dirty="0"/>
              <a:t>相互</a:t>
            </a:r>
            <a:r>
              <a:rPr lang="en-US" dirty="0"/>
              <a:t>递归</a:t>
            </a:r>
            <a:r>
              <a:rPr lang="zh-CN" altLang="en-US" dirty="0"/>
              <a:t>调用</a:t>
            </a:r>
            <a:r>
              <a:rPr lang="en-US" dirty="0"/>
              <a:t>）</a:t>
            </a:r>
          </a:p>
          <a:p>
            <a:pPr marL="405130" lvl="1" indent="-173355">
              <a:buClr>
                <a:srgbClr val="FF99CC"/>
              </a:buClr>
            </a:pPr>
            <a:r>
              <a:rPr lang="en-US"/>
              <a:t>可以将值存储在本地堆栈帧和被调用者保存寄存器</a:t>
            </a:r>
            <a:r>
              <a:rPr lang="zh-CN" altLang="en-US">
                <a:ea typeface="宋体" panose="02010600030101010101" pitchFamily="2" charset="-122"/>
              </a:rPr>
              <a:t>中</a:t>
            </a:r>
          </a:p>
          <a:p>
            <a:pPr marL="405130" lvl="1" indent="-173355">
              <a:buClr>
                <a:srgbClr val="FF99CC"/>
              </a:buClr>
            </a:pPr>
            <a:r>
              <a:rPr lang="en-US" dirty="0"/>
              <a:t>将函数参数放在堆栈的顶部</a:t>
            </a:r>
          </a:p>
          <a:p>
            <a:pPr marL="405130" lvl="1" indent="-173355">
              <a:buClr>
                <a:srgbClr val="FF99CC"/>
              </a:buClr>
            </a:pPr>
            <a:r>
              <a:rPr lang="en-US" dirty="0"/>
              <a:t>返回结果</a:t>
            </a:r>
            <a:r>
              <a:rPr lang="zh-CN" altLang="en-US" dirty="0">
                <a:ea typeface="宋体" panose="02010600030101010101" pitchFamily="2" charset="-122"/>
              </a:rPr>
              <a:t>在</a:t>
            </a:r>
            <a:r>
              <a:rPr lang="en-US" dirty="0"/>
              <a:t> </a:t>
            </a:r>
            <a:r>
              <a:rPr lang="en-US" dirty="0">
                <a:latin typeface="Courier New Bold"/>
              </a:rPr>
              <a:t>%</a:t>
            </a:r>
            <a:r>
              <a:rPr lang="en-US" dirty="0" err="1">
                <a:latin typeface="Courier New Bold"/>
              </a:rPr>
              <a:t>rax</a:t>
            </a:r>
            <a:endParaRPr lang="en-US" dirty="0">
              <a:latin typeface="Courier New Bold"/>
            </a:endParaRPr>
          </a:p>
          <a:p>
            <a:pPr>
              <a:buClr>
                <a:srgbClr val="7030A0"/>
              </a:buClr>
            </a:pPr>
            <a:r>
              <a:rPr lang="en-US" b="0" dirty="0"/>
              <a:t>指针是值的地址</a:t>
            </a:r>
          </a:p>
          <a:p>
            <a:pPr marL="405130" lvl="1" indent="-173355">
              <a:buClr>
                <a:srgbClr val="FF99CC"/>
              </a:buClr>
            </a:pPr>
            <a:r>
              <a:rPr lang="zh-CN" altLang="en-US" dirty="0">
                <a:latin typeface="+mn-lt"/>
                <a:ea typeface="宋体" panose="02010600030101010101" pitchFamily="2" charset="-122"/>
              </a:rPr>
              <a:t>在</a:t>
            </a:r>
            <a:r>
              <a:rPr lang="en-US" dirty="0">
                <a:latin typeface="+mn-lt"/>
              </a:rPr>
              <a:t>栈</a:t>
            </a:r>
            <a:r>
              <a:rPr lang="zh-CN" altLang="en-US" dirty="0">
                <a:latin typeface="+mn-lt"/>
                <a:ea typeface="宋体" panose="02010600030101010101" pitchFamily="2" charset="-122"/>
              </a:rPr>
              <a:t>中</a:t>
            </a:r>
            <a:r>
              <a:rPr lang="en-US" dirty="0">
                <a:latin typeface="+mn-lt"/>
              </a:rPr>
              <a:t>或全局</a:t>
            </a:r>
          </a:p>
        </p:txBody>
      </p:sp>
      <p:sp>
        <p:nvSpPr>
          <p:cNvPr id="6" name="Rectangle 4"/>
          <p:cNvSpPr/>
          <p:nvPr/>
        </p:nvSpPr>
        <p:spPr bwMode="auto">
          <a:xfrm>
            <a:off x="7689450" y="3276600"/>
            <a:ext cx="1270000" cy="304800"/>
          </a:xfrm>
          <a:prstGeom prst="rect">
            <a:avLst/>
          </a:prstGeom>
          <a:solidFill>
            <a:srgbClr val="F2F2F2"/>
          </a:solidFill>
          <a:ln w="25400" cap="flat">
            <a:solidFill>
              <a:schemeClr val="tx1"/>
            </a:solidFill>
            <a:prstDash val="solid"/>
            <a:miter lim="800000"/>
            <a:headEnd type="none" w="med" len="med"/>
            <a:tailEnd type="none" w="med" len="med"/>
          </a:ln>
        </p:spPr>
        <p:txBody>
          <a:bodyPr lIns="0" tIns="0" rIns="0" bIns="0" anchor="ctr"/>
          <a:lstStyle/>
          <a:p>
            <a:r>
              <a:rPr lang="zh-CN" altLang="en-US" sz="1800">
                <a:solidFill>
                  <a:schemeClr val="tx1"/>
                </a:solidFill>
                <a:latin typeface="Calibri Bold" charset="0"/>
                <a:ea typeface="宋体" panose="02010600030101010101" pitchFamily="2" charset="-122"/>
                <a:cs typeface="Calibri Bold" charset="0"/>
                <a:sym typeface="Calibri Bold" charset="0"/>
              </a:rPr>
              <a:t>返回</a:t>
            </a:r>
            <a:r>
              <a:rPr lang="en-US" sz="1800">
                <a:solidFill>
                  <a:schemeClr val="tx1"/>
                </a:solidFill>
                <a:latin typeface="Calibri Bold" charset="0"/>
                <a:ea typeface="Calibri Bold" charset="0"/>
                <a:cs typeface="Calibri Bold" charset="0"/>
                <a:sym typeface="Calibri Bold" charset="0"/>
              </a:rPr>
              <a:t> Addr</a:t>
            </a:r>
          </a:p>
        </p:txBody>
      </p:sp>
      <p:sp>
        <p:nvSpPr>
          <p:cNvPr id="8" name="Rectangle 5"/>
          <p:cNvSpPr/>
          <p:nvPr/>
        </p:nvSpPr>
        <p:spPr bwMode="auto">
          <a:xfrm>
            <a:off x="7689450" y="3886200"/>
            <a:ext cx="1270000" cy="18161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zh-CN" altLang="en-US" sz="1800">
                <a:solidFill>
                  <a:schemeClr val="tx1"/>
                </a:solidFill>
                <a:latin typeface="Calibri Bold" charset="0"/>
                <a:ea typeface="宋体" panose="02010600030101010101" pitchFamily="2" charset="-122"/>
                <a:cs typeface="Calibri Bold" charset="0"/>
                <a:sym typeface="Arial Narrow Bold" charset="0"/>
              </a:rPr>
              <a:t>保存寄存器</a:t>
            </a:r>
            <a:endParaRPr lang="zh-CN" altLang="en-US" sz="2400">
              <a:solidFill>
                <a:schemeClr val="tx1"/>
              </a:solidFill>
              <a:latin typeface="Arial Narrow Bold" charset="0"/>
              <a:ea typeface="Lucida Grande" charset="0"/>
              <a:cs typeface="Lucida Grande" charset="0"/>
              <a:sym typeface="Arial Narrow Bold" charset="0"/>
            </a:endParaRPr>
          </a:p>
          <a:p>
            <a:r>
              <a:rPr lang="en-US" sz="1800">
                <a:solidFill>
                  <a:schemeClr val="tx1"/>
                </a:solidFill>
                <a:latin typeface="Calibri Bold" charset="0"/>
                <a:ea typeface="Calibri Bold" charset="0"/>
                <a:cs typeface="Calibri Bold" charset="0"/>
                <a:sym typeface="Calibri Bold" charset="0"/>
              </a:rPr>
              <a:t>+</a:t>
            </a:r>
            <a:endParaRPr lang="en-US" sz="2400">
              <a:solidFill>
                <a:schemeClr val="tx1"/>
              </a:solidFill>
              <a:latin typeface="Arial Narrow Bold" charset="0"/>
              <a:ea typeface="Lucida Grande" charset="0"/>
              <a:cs typeface="Lucida Grande" charset="0"/>
              <a:sym typeface="Arial Narrow Bold" charset="0"/>
            </a:endParaRPr>
          </a:p>
          <a:p>
            <a:r>
              <a:rPr lang="zh-CN" altLang="en-US" sz="1800">
                <a:solidFill>
                  <a:schemeClr val="tx1"/>
                </a:solidFill>
                <a:latin typeface="Calibri Bold" charset="0"/>
                <a:ea typeface="宋体" panose="02010600030101010101" pitchFamily="2" charset="-122"/>
                <a:cs typeface="Calibri Bold" charset="0"/>
                <a:sym typeface="Calibri Bold" charset="0"/>
              </a:rPr>
              <a:t>局部变量</a:t>
            </a:r>
          </a:p>
        </p:txBody>
      </p:sp>
      <p:sp>
        <p:nvSpPr>
          <p:cNvPr id="9" name="Rectangle 6"/>
          <p:cNvSpPr/>
          <p:nvPr/>
        </p:nvSpPr>
        <p:spPr bwMode="auto">
          <a:xfrm>
            <a:off x="7689450" y="5699125"/>
            <a:ext cx="1270000" cy="736600"/>
          </a:xfrm>
          <a:prstGeom prst="rect">
            <a:avLst/>
          </a:prstGeom>
          <a:solidFill>
            <a:srgbClr val="D6D6F4"/>
          </a:solidFill>
          <a:ln w="25400" cap="flat">
            <a:solidFill>
              <a:schemeClr val="tx1"/>
            </a:solidFill>
            <a:prstDash val="solid"/>
            <a:miter lim="800000"/>
            <a:headEnd type="none" w="med" len="med"/>
            <a:tailEnd type="none" w="med" len="med"/>
          </a:ln>
        </p:spPr>
        <p:txBody>
          <a:bodyPr lIns="0" tIns="0" rIns="0" bIns="0" anchor="ctr"/>
          <a:lstStyle/>
          <a:p>
            <a:r>
              <a:rPr lang="zh-CN" altLang="en-US" sz="1800">
                <a:solidFill>
                  <a:schemeClr val="tx1"/>
                </a:solidFill>
                <a:latin typeface="Calibri Bold" charset="0"/>
                <a:ea typeface="宋体" panose="02010600030101010101" pitchFamily="2" charset="-122"/>
                <a:cs typeface="Calibri Bold" charset="0"/>
                <a:sym typeface="Calibri Bold" charset="0"/>
              </a:rPr>
              <a:t>参数构造</a:t>
            </a:r>
          </a:p>
        </p:txBody>
      </p:sp>
      <p:sp>
        <p:nvSpPr>
          <p:cNvPr id="10" name="Rectangle 7"/>
          <p:cNvSpPr/>
          <p:nvPr/>
        </p:nvSpPr>
        <p:spPr bwMode="auto">
          <a:xfrm>
            <a:off x="7689450" y="1295400"/>
            <a:ext cx="1270000" cy="1371600"/>
          </a:xfrm>
          <a:prstGeom prst="rect">
            <a:avLst/>
          </a:prstGeom>
          <a:solidFill>
            <a:srgbClr val="F2F2F2"/>
          </a:solidFill>
          <a:ln w="25400" cap="flat">
            <a:solidFill>
              <a:schemeClr val="tx1"/>
            </a:solidFill>
            <a:prstDash val="solid"/>
            <a:miter lim="800000"/>
            <a:headEnd type="none" w="med" len="med"/>
            <a:tailEnd type="none" w="med" len="med"/>
          </a:ln>
        </p:spPr>
        <p:txBody>
          <a:bodyPr lIns="0" tIns="0" rIns="0" bIns="0"/>
          <a:lstStyle/>
          <a:p>
            <a:endParaRPr lang="en-US"/>
          </a:p>
        </p:txBody>
      </p:sp>
      <p:sp>
        <p:nvSpPr>
          <p:cNvPr id="11" name="Rectangle 8"/>
          <p:cNvSpPr/>
          <p:nvPr/>
        </p:nvSpPr>
        <p:spPr bwMode="auto">
          <a:xfrm>
            <a:off x="7689450" y="3581400"/>
            <a:ext cx="1270000" cy="304800"/>
          </a:xfrm>
          <a:prstGeom prst="rect">
            <a:avLst/>
          </a:prstGeom>
          <a:solidFill>
            <a:srgbClr val="D9D9D9"/>
          </a:solidFill>
          <a:ln w="25400" cap="flat">
            <a:solidFill>
              <a:schemeClr val="tx1"/>
            </a:solidFill>
            <a:prstDash val="solid"/>
            <a:miter lim="800000"/>
            <a:headEnd type="none" w="med" len="med"/>
            <a:tailEnd type="none" w="med" len="med"/>
          </a:ln>
        </p:spPr>
        <p:txBody>
          <a:bodyPr lIns="0" tIns="0" rIns="0" bIns="0" anchor="ctr"/>
          <a:lstStyle/>
          <a:p>
            <a:r>
              <a:rPr lang="zh-CN" altLang="en-US" sz="1800" dirty="0">
                <a:solidFill>
                  <a:srgbClr val="7F7F7F"/>
                </a:solidFill>
                <a:latin typeface="Calibri Bold" charset="0"/>
                <a:ea typeface="宋体" panose="02010600030101010101" pitchFamily="2" charset="-122"/>
                <a:cs typeface="Calibri Bold" charset="0"/>
                <a:sym typeface="Calibri Bold" charset="0"/>
              </a:rPr>
              <a:t>旧</a:t>
            </a:r>
            <a:r>
              <a:rPr lang="en-US" sz="1800" dirty="0">
                <a:solidFill>
                  <a:srgbClr val="7F7F7F"/>
                </a:solidFill>
                <a:latin typeface="Calibri Bold" charset="0"/>
                <a:ea typeface="Calibri Bold" charset="0"/>
                <a:cs typeface="Calibri Bold" charset="0"/>
                <a:sym typeface="Calibri Bold" charset="0"/>
              </a:rPr>
              <a:t> %</a:t>
            </a:r>
            <a:r>
              <a:rPr lang="en-US" sz="1800" dirty="0" err="1">
                <a:solidFill>
                  <a:srgbClr val="7F7F7F"/>
                </a:solidFill>
                <a:latin typeface="Calibri Bold" charset="0"/>
                <a:ea typeface="Calibri Bold" charset="0"/>
                <a:cs typeface="Calibri Bold" charset="0"/>
                <a:sym typeface="Calibri Bold" charset="0"/>
              </a:rPr>
              <a:t>rbp</a:t>
            </a:r>
            <a:endParaRPr lang="en-US" sz="1800" dirty="0">
              <a:solidFill>
                <a:srgbClr val="7F7F7F"/>
              </a:solidFill>
              <a:latin typeface="Calibri Bold" charset="0"/>
              <a:ea typeface="Calibri Bold" charset="0"/>
              <a:cs typeface="Calibri Bold" charset="0"/>
              <a:sym typeface="Calibri Bold" charset="0"/>
            </a:endParaRPr>
          </a:p>
        </p:txBody>
      </p:sp>
      <p:sp>
        <p:nvSpPr>
          <p:cNvPr id="12" name="Rectangle 9"/>
          <p:cNvSpPr/>
          <p:nvPr/>
        </p:nvSpPr>
        <p:spPr bwMode="auto">
          <a:xfrm>
            <a:off x="7689450" y="2667000"/>
            <a:ext cx="1270000" cy="609600"/>
          </a:xfrm>
          <a:prstGeom prst="rect">
            <a:avLst/>
          </a:prstGeom>
          <a:solidFill>
            <a:srgbClr val="F2F2F2"/>
          </a:solidFill>
          <a:ln w="25400" cap="flat">
            <a:solidFill>
              <a:schemeClr val="tx1"/>
            </a:solidFill>
            <a:prstDash val="solid"/>
            <a:miter lim="800000"/>
            <a:headEnd type="none" w="med" len="med"/>
            <a:tailEnd type="none" w="med" len="med"/>
          </a:ln>
        </p:spPr>
        <p:txBody>
          <a:bodyPr lIns="0" tIns="0" rIns="0" bIns="0" anchor="ctr"/>
          <a:lstStyle/>
          <a:p>
            <a:r>
              <a:rPr lang="zh-CN" altLang="en-US" sz="1800" dirty="0">
                <a:solidFill>
                  <a:schemeClr val="tx1"/>
                </a:solidFill>
                <a:latin typeface="Calibri Bold" charset="0"/>
                <a:ea typeface="宋体" panose="02010600030101010101" pitchFamily="2" charset="-122"/>
                <a:cs typeface="Calibri Bold" charset="0"/>
                <a:sym typeface="Calibri Bold" charset="0"/>
              </a:rPr>
              <a:t>参数</a:t>
            </a:r>
          </a:p>
          <a:p>
            <a:r>
              <a:rPr lang="en-US" sz="1800" dirty="0">
                <a:solidFill>
                  <a:schemeClr val="tx1"/>
                </a:solidFill>
                <a:latin typeface="Calibri Bold" charset="0"/>
                <a:ea typeface="Calibri Bold" charset="0"/>
                <a:cs typeface="Calibri Bold" charset="0"/>
                <a:sym typeface="Calibri Bold" charset="0"/>
              </a:rPr>
              <a:t>7+</a:t>
            </a:r>
          </a:p>
        </p:txBody>
      </p:sp>
      <p:sp>
        <p:nvSpPr>
          <p:cNvPr id="13" name="Rectangle 10"/>
          <p:cNvSpPr/>
          <p:nvPr/>
        </p:nvSpPr>
        <p:spPr bwMode="auto">
          <a:xfrm>
            <a:off x="6298800" y="2125663"/>
            <a:ext cx="990600" cy="353060"/>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zh-CN" altLang="en-US" sz="1800">
                <a:solidFill>
                  <a:schemeClr val="tx1"/>
                </a:solidFill>
                <a:latin typeface="Calibri Bold" charset="0"/>
                <a:ea typeface="宋体" panose="02010600030101010101" pitchFamily="2" charset="-122"/>
                <a:cs typeface="Calibri Bold" charset="0"/>
                <a:sym typeface="Calibri Bold" charset="0"/>
              </a:rPr>
              <a:t>调用者帧</a:t>
            </a:r>
          </a:p>
        </p:txBody>
      </p:sp>
      <p:sp>
        <p:nvSpPr>
          <p:cNvPr id="14" name="AutoShape 11"/>
          <p:cNvSpPr/>
          <p:nvPr/>
        </p:nvSpPr>
        <p:spPr bwMode="auto">
          <a:xfrm>
            <a:off x="7352900" y="1295400"/>
            <a:ext cx="228600" cy="2286000"/>
          </a:xfrm>
          <a:custGeom>
            <a:avLst/>
            <a:gdLst>
              <a:gd name="T0" fmla="*/ 10800 w 21600"/>
              <a:gd name="T1" fmla="*/ 10800 h 21600"/>
            </a:gdLst>
            <a:ahLst/>
            <a:cxnLst>
              <a:cxn ang="0">
                <a:pos x="T0" y="T1"/>
              </a:cxn>
            </a:cxnLst>
            <a:rect l="0" t="0" r="r" b="b"/>
            <a:pathLst>
              <a:path w="21600" h="21600">
                <a:moveTo>
                  <a:pt x="21600" y="21600"/>
                </a:moveTo>
                <a:cubicBezTo>
                  <a:pt x="15635" y="21600"/>
                  <a:pt x="10800" y="20875"/>
                  <a:pt x="10800" y="19980"/>
                </a:cubicBezTo>
                <a:lnTo>
                  <a:pt x="10800" y="12420"/>
                </a:lnTo>
                <a:cubicBezTo>
                  <a:pt x="10800" y="11525"/>
                  <a:pt x="5965" y="10800"/>
                  <a:pt x="0" y="10800"/>
                </a:cubicBezTo>
                <a:cubicBezTo>
                  <a:pt x="5965" y="10800"/>
                  <a:pt x="10800" y="10075"/>
                  <a:pt x="10800" y="9180"/>
                </a:cubicBezTo>
                <a:lnTo>
                  <a:pt x="10800" y="1620"/>
                </a:lnTo>
                <a:cubicBezTo>
                  <a:pt x="10800" y="725"/>
                  <a:pt x="15635" y="0"/>
                  <a:pt x="21600" y="0"/>
                </a:cubicBezTo>
              </a:path>
            </a:pathLst>
          </a:custGeom>
          <a:noFill/>
          <a:ln w="25400" cap="flat">
            <a:solidFill>
              <a:schemeClr val="tx1"/>
            </a:solidFill>
            <a:prstDash val="solid"/>
            <a:round/>
            <a:headEnd type="none" w="med" len="med"/>
            <a:tailEnd type="none" w="med" len="med"/>
          </a:ln>
        </p:spPr>
        <p:txBody>
          <a:bodyPr lIns="0" tIns="0" rIns="0" bIns="0"/>
          <a:lstStyle/>
          <a:p>
            <a:endParaRPr lang="en-US"/>
          </a:p>
        </p:txBody>
      </p:sp>
      <p:sp>
        <p:nvSpPr>
          <p:cNvPr id="15" name="Line 12"/>
          <p:cNvSpPr>
            <a:spLocks noChangeShapeType="1"/>
          </p:cNvSpPr>
          <p:nvPr/>
        </p:nvSpPr>
        <p:spPr bwMode="auto">
          <a:xfrm>
            <a:off x="7276700" y="3732213"/>
            <a:ext cx="280988" cy="0"/>
          </a:xfrm>
          <a:prstGeom prst="line">
            <a:avLst/>
          </a:prstGeom>
          <a:noFill/>
          <a:ln w="25400" cap="flat">
            <a:solidFill>
              <a:schemeClr val="bg1">
                <a:lumMod val="50000"/>
              </a:schemeClr>
            </a:solidFill>
            <a:prstDash val="solid"/>
            <a:round/>
            <a:headEnd type="none" w="med" len="med"/>
            <a:tailEnd type="triangle" w="med" len="med"/>
          </a:ln>
        </p:spPr>
        <p:txBody>
          <a:bodyPr lIns="0" tIns="0" rIns="0" bIns="0"/>
          <a:lstStyle/>
          <a:p>
            <a:endParaRPr lang="en-US"/>
          </a:p>
        </p:txBody>
      </p:sp>
      <p:sp>
        <p:nvSpPr>
          <p:cNvPr id="81933" name="Rectangle 13"/>
          <p:cNvSpPr/>
          <p:nvPr/>
        </p:nvSpPr>
        <p:spPr bwMode="auto">
          <a:xfrm>
            <a:off x="5716188" y="3552825"/>
            <a:ext cx="1562100" cy="330200"/>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rbp</a:t>
            </a:r>
            <a:endParaRPr lang="en-US" sz="1800" dirty="0">
              <a:solidFill>
                <a:schemeClr val="tx1"/>
              </a:solidFill>
              <a:latin typeface="Courier New Bold" charset="0"/>
              <a:cs typeface="Courier New Bold" charset="0"/>
              <a:sym typeface="Courier New Bold" charset="0"/>
            </a:endParaRPr>
          </a:p>
          <a:p>
            <a:pPr algn="r"/>
            <a:r>
              <a:rPr lang="en-US" sz="1800" dirty="0">
                <a:solidFill>
                  <a:schemeClr val="tx1"/>
                </a:solidFill>
                <a:latin typeface="+mn-lt"/>
                <a:cs typeface="Courier New Bold" charset="0"/>
                <a:sym typeface="Courier New Bold" charset="0"/>
              </a:rPr>
              <a:t>(</a:t>
            </a:r>
            <a:r>
              <a:rPr lang="zh-CN" altLang="en-US" sz="1800" dirty="0">
                <a:solidFill>
                  <a:schemeClr val="tx1"/>
                </a:solidFill>
                <a:latin typeface="+mn-lt"/>
                <a:cs typeface="Courier New Bold" charset="0"/>
                <a:sym typeface="Courier New Bold" charset="0"/>
              </a:rPr>
              <a:t>可选的</a:t>
            </a:r>
            <a:r>
              <a:rPr lang="en-US" sz="1800" dirty="0">
                <a:solidFill>
                  <a:schemeClr val="tx1"/>
                </a:solidFill>
                <a:latin typeface="+mn-lt"/>
                <a:cs typeface="Courier New Bold" charset="0"/>
                <a:sym typeface="Courier New Bold" charset="0"/>
              </a:rPr>
              <a:t>)</a:t>
            </a:r>
          </a:p>
        </p:txBody>
      </p:sp>
      <p:sp>
        <p:nvSpPr>
          <p:cNvPr id="16" name="Line 14"/>
          <p:cNvSpPr>
            <a:spLocks noChangeShapeType="1"/>
          </p:cNvSpPr>
          <p:nvPr/>
        </p:nvSpPr>
        <p:spPr bwMode="auto">
          <a:xfrm>
            <a:off x="7276700" y="6365875"/>
            <a:ext cx="290513" cy="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81935" name="Rectangle 15"/>
          <p:cNvSpPr/>
          <p:nvPr/>
        </p:nvSpPr>
        <p:spPr bwMode="auto">
          <a:xfrm>
            <a:off x="5835250" y="6184900"/>
            <a:ext cx="1485900" cy="330200"/>
          </a:xfrm>
          <a:prstGeom prst="rect">
            <a:avLst/>
          </a:prstGeom>
          <a:noFill/>
          <a:ln w="25400" cap="flat">
            <a:noFill/>
            <a:miter lim="800000"/>
            <a:headEnd type="none" w="med" len="med"/>
            <a:tailEnd type="none" w="med" len="med"/>
          </a:ln>
        </p:spPr>
        <p:txBody>
          <a:bodyPr lIns="38100" tIns="38100" rIns="38100" bIns="38100"/>
          <a:lstStyle/>
          <a:p>
            <a:pPr algn="r"/>
            <a:r>
              <a:rPr lang="en-US" sz="1800" dirty="0">
                <a:solidFill>
                  <a:schemeClr val="tx1"/>
                </a:solidFill>
                <a:latin typeface="Courier New Bold" charset="0"/>
                <a:cs typeface="Courier New Bold" charset="0"/>
                <a:sym typeface="Courier New Bold" charset="0"/>
              </a:rPr>
              <a:t>%</a:t>
            </a:r>
            <a:r>
              <a:rPr lang="en-US" sz="1800" dirty="0" err="1">
                <a:solidFill>
                  <a:schemeClr val="tx1"/>
                </a:solidFill>
                <a:latin typeface="Courier New Bold" charset="0"/>
                <a:cs typeface="Courier New Bold" charset="0"/>
                <a:sym typeface="Courier New Bold" charset="0"/>
              </a:rPr>
              <a:t>rsp</a:t>
            </a:r>
            <a:endParaRPr lang="en-US" sz="1800" dirty="0">
              <a:solidFill>
                <a:schemeClr val="tx1"/>
              </a:solidFill>
              <a:latin typeface="Courier New Bold" charset="0"/>
              <a:cs typeface="Courier New Bold" charset="0"/>
              <a:sym typeface="Courier New Bold"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wipe(down)">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down)">
                                      <p:cBhvr>
                                        <p:cTn id="22" dur="500"/>
                                        <p:tgtEl>
                                          <p:spTgt spid="2">
                                            <p:txEl>
                                              <p:pRg st="4" end="4"/>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down)">
                                      <p:cBhvr>
                                        <p:cTn id="25" dur="500"/>
                                        <p:tgtEl>
                                          <p:spTgt spid="2">
                                            <p:txEl>
                                              <p:pRg st="5" end="5"/>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2">
                                            <p:txEl>
                                              <p:pRg st="6" end="6"/>
                                            </p:txEl>
                                          </p:spTgt>
                                        </p:tgtEl>
                                        <p:attrNameLst>
                                          <p:attrName>style.visibility</p:attrName>
                                        </p:attrNameLst>
                                      </p:cBhvr>
                                      <p:to>
                                        <p:strVal val="visible"/>
                                      </p:to>
                                    </p:set>
                                    <p:animEffect transition="in" filter="wipe(down)">
                                      <p:cBhvr>
                                        <p:cTn id="28" dur="500"/>
                                        <p:tgtEl>
                                          <p:spTgt spid="2">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2">
                                            <p:txEl>
                                              <p:pRg st="7" end="7"/>
                                            </p:txEl>
                                          </p:spTgt>
                                        </p:tgtEl>
                                        <p:attrNameLst>
                                          <p:attrName>style.visibility</p:attrName>
                                        </p:attrNameLst>
                                      </p:cBhvr>
                                      <p:to>
                                        <p:strVal val="visible"/>
                                      </p:to>
                                    </p:set>
                                    <p:animEffect transition="in" filter="wipe(down)">
                                      <p:cBhvr>
                                        <p:cTn id="33" dur="500"/>
                                        <p:tgtEl>
                                          <p:spTgt spid="2">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2">
                                            <p:txEl>
                                              <p:pRg st="8" end="8"/>
                                            </p:txEl>
                                          </p:spTgt>
                                        </p:tgtEl>
                                        <p:attrNameLst>
                                          <p:attrName>style.visibility</p:attrName>
                                        </p:attrNameLst>
                                      </p:cBhvr>
                                      <p:to>
                                        <p:strVal val="visible"/>
                                      </p:to>
                                    </p:set>
                                    <p:animEffect transition="in" filter="wipe(down)">
                                      <p:cBhvr>
                                        <p:cTn id="38"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16510" y="494030"/>
            <a:ext cx="5449570"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49" name="Rectangle 2"/>
          <p:cNvSpPr>
            <a:spLocks noChangeArrowheads="1"/>
          </p:cNvSpPr>
          <p:nvPr/>
        </p:nvSpPr>
        <p:spPr bwMode="auto">
          <a:xfrm>
            <a:off x="762000" y="14478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%rax</a:t>
            </a:r>
          </a:p>
        </p:txBody>
      </p:sp>
      <p:sp>
        <p:nvSpPr>
          <p:cNvPr id="27650" name="Rectangle 3"/>
          <p:cNvSpPr>
            <a:spLocks noChangeArrowheads="1"/>
          </p:cNvSpPr>
          <p:nvPr/>
        </p:nvSpPr>
        <p:spPr bwMode="auto">
          <a:xfrm>
            <a:off x="762000" y="2057400"/>
            <a:ext cx="3505200" cy="533400"/>
          </a:xfrm>
          <a:prstGeom prst="rect">
            <a:avLst/>
          </a:prstGeom>
          <a:solidFill>
            <a:srgbClr val="CDF1C5"/>
          </a:solidFill>
          <a:ln w="25400">
            <a:solidFill>
              <a:schemeClr val="tx1"/>
            </a:solidFill>
            <a:miter lim="800000"/>
          </a:ln>
        </p:spPr>
        <p:txBody>
          <a:bodyPr wrap="none" anchor="ctr"/>
          <a:lstStyle/>
          <a:p>
            <a:pPr eaLnBrk="0" hangingPunct="0"/>
            <a:r>
              <a:rPr lang="en-US">
                <a:latin typeface="Courier New" panose="02070309020205020404" charset="0"/>
              </a:rPr>
              <a:t>%rbx</a:t>
            </a:r>
          </a:p>
        </p:txBody>
      </p:sp>
      <p:sp>
        <p:nvSpPr>
          <p:cNvPr id="27651" name="Rectangle 4"/>
          <p:cNvSpPr>
            <a:spLocks noChangeArrowheads="1"/>
          </p:cNvSpPr>
          <p:nvPr/>
        </p:nvSpPr>
        <p:spPr bwMode="auto">
          <a:xfrm>
            <a:off x="762000" y="26670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%rcx</a:t>
            </a:r>
          </a:p>
        </p:txBody>
      </p:sp>
      <p:sp>
        <p:nvSpPr>
          <p:cNvPr id="27652" name="Rectangle 5"/>
          <p:cNvSpPr>
            <a:spLocks noChangeArrowheads="1"/>
          </p:cNvSpPr>
          <p:nvPr/>
        </p:nvSpPr>
        <p:spPr bwMode="auto">
          <a:xfrm>
            <a:off x="762000" y="32766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%rdx</a:t>
            </a:r>
          </a:p>
        </p:txBody>
      </p:sp>
      <p:sp>
        <p:nvSpPr>
          <p:cNvPr id="27653" name="Rectangle 6"/>
          <p:cNvSpPr>
            <a:spLocks noChangeArrowheads="1"/>
          </p:cNvSpPr>
          <p:nvPr/>
        </p:nvSpPr>
        <p:spPr bwMode="auto">
          <a:xfrm>
            <a:off x="762000" y="38862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%rsi</a:t>
            </a:r>
          </a:p>
        </p:txBody>
      </p:sp>
      <p:sp>
        <p:nvSpPr>
          <p:cNvPr id="27654" name="Rectangle 7"/>
          <p:cNvSpPr>
            <a:spLocks noChangeArrowheads="1"/>
          </p:cNvSpPr>
          <p:nvPr/>
        </p:nvSpPr>
        <p:spPr bwMode="auto">
          <a:xfrm>
            <a:off x="762000" y="44958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%rdi</a:t>
            </a:r>
          </a:p>
        </p:txBody>
      </p:sp>
      <p:sp>
        <p:nvSpPr>
          <p:cNvPr id="27655" name="Rectangle 8"/>
          <p:cNvSpPr>
            <a:spLocks noChangeArrowheads="1"/>
          </p:cNvSpPr>
          <p:nvPr/>
        </p:nvSpPr>
        <p:spPr bwMode="auto">
          <a:xfrm>
            <a:off x="762000" y="5105400"/>
            <a:ext cx="3505200" cy="533400"/>
          </a:xfrm>
          <a:prstGeom prst="rect">
            <a:avLst/>
          </a:prstGeom>
          <a:solidFill>
            <a:srgbClr val="EFBFBF"/>
          </a:solidFill>
          <a:ln w="25400">
            <a:solidFill>
              <a:schemeClr val="tx1"/>
            </a:solidFill>
            <a:miter lim="800000"/>
          </a:ln>
        </p:spPr>
        <p:txBody>
          <a:bodyPr wrap="none" anchor="ctr"/>
          <a:lstStyle/>
          <a:p>
            <a:pPr eaLnBrk="0" hangingPunct="0"/>
            <a:r>
              <a:rPr lang="en-US">
                <a:latin typeface="Courier New" panose="02070309020205020404" charset="0"/>
              </a:rPr>
              <a:t>%rsp</a:t>
            </a:r>
          </a:p>
        </p:txBody>
      </p:sp>
      <p:sp>
        <p:nvSpPr>
          <p:cNvPr id="27656" name="Rectangle 9"/>
          <p:cNvSpPr>
            <a:spLocks noChangeArrowheads="1"/>
          </p:cNvSpPr>
          <p:nvPr/>
        </p:nvSpPr>
        <p:spPr bwMode="auto">
          <a:xfrm>
            <a:off x="762000" y="5715000"/>
            <a:ext cx="3505200" cy="533400"/>
          </a:xfrm>
          <a:prstGeom prst="rect">
            <a:avLst/>
          </a:prstGeom>
          <a:solidFill>
            <a:srgbClr val="CDF1C5"/>
          </a:solidFill>
          <a:ln w="25400">
            <a:solidFill>
              <a:schemeClr val="tx1"/>
            </a:solidFill>
            <a:miter lim="800000"/>
          </a:ln>
        </p:spPr>
        <p:txBody>
          <a:bodyPr wrap="none" anchor="ctr"/>
          <a:lstStyle/>
          <a:p>
            <a:pPr eaLnBrk="0" hangingPunct="0"/>
            <a:r>
              <a:rPr lang="en-US">
                <a:latin typeface="Courier New" panose="02070309020205020404" charset="0"/>
              </a:rPr>
              <a:t>%rbp</a:t>
            </a:r>
          </a:p>
        </p:txBody>
      </p:sp>
      <p:sp>
        <p:nvSpPr>
          <p:cNvPr id="27657" name="Rectangle 10"/>
          <p:cNvSpPr>
            <a:spLocks noGrp="1" noChangeArrowheads="1"/>
          </p:cNvSpPr>
          <p:nvPr/>
        </p:nvSpPr>
        <p:spPr>
          <a:xfrm>
            <a:off x="279400" y="493713"/>
            <a:ext cx="8001000" cy="573087"/>
          </a:xfrm>
          <a:prstGeom prst="rect">
            <a:avLst/>
          </a:prstGeom>
          <a:noFill/>
          <a:ln w="9525">
            <a:noFill/>
            <a:miter lim="800000"/>
          </a:ln>
        </p:spPr>
        <p:txBody>
          <a:bodyPr vert="horz" wrap="square" lIns="91440" tIns="45720" rIns="91440" bIns="45720" numCol="1" anchor="ctr" anchorCtr="0" compatLnSpc="1"/>
          <a:lstStyle>
            <a:lvl1pPr marL="119380" indent="-119380" algn="l" rtl="0" fontAlgn="base">
              <a:spcBef>
                <a:spcPct val="0"/>
              </a:spcBef>
              <a:spcAft>
                <a:spcPct val="0"/>
              </a:spcAft>
              <a:defRPr sz="36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119380" indent="-119380" algn="l" rtl="0" fontAlgn="base">
              <a:spcBef>
                <a:spcPct val="0"/>
              </a:spcBef>
              <a:spcAft>
                <a:spcPct val="0"/>
              </a:spcAft>
              <a:defRPr sz="3600" b="1">
                <a:solidFill>
                  <a:schemeClr val="tx1"/>
                </a:solidFill>
                <a:latin typeface="Calibri" panose="020F0502020204030204" charset="0"/>
                <a:ea typeface="MS PGothic" panose="020B0600070205080204" pitchFamily="-96" charset="-128"/>
                <a:cs typeface="MS PGothic" panose="020B0600070205080204" pitchFamily="-96" charset="-128"/>
              </a:defRPr>
            </a:lvl2pPr>
            <a:lvl3pPr marL="119380" indent="-119380" algn="l" rtl="0" fontAlgn="base">
              <a:spcBef>
                <a:spcPct val="0"/>
              </a:spcBef>
              <a:spcAft>
                <a:spcPct val="0"/>
              </a:spcAft>
              <a:defRPr sz="3600" b="1">
                <a:solidFill>
                  <a:schemeClr val="tx1"/>
                </a:solidFill>
                <a:latin typeface="Calibri" panose="020F0502020204030204" charset="0"/>
                <a:ea typeface="MS PGothic" panose="020B0600070205080204" pitchFamily="-96" charset="-128"/>
                <a:cs typeface="MS PGothic" panose="020B0600070205080204" pitchFamily="-96" charset="-128"/>
              </a:defRPr>
            </a:lvl3pPr>
            <a:lvl4pPr marL="119380" indent="-119380" algn="l" rtl="0" fontAlgn="base">
              <a:spcBef>
                <a:spcPct val="0"/>
              </a:spcBef>
              <a:spcAft>
                <a:spcPct val="0"/>
              </a:spcAft>
              <a:defRPr sz="3600" b="1">
                <a:solidFill>
                  <a:schemeClr val="tx1"/>
                </a:solidFill>
                <a:latin typeface="Calibri" panose="020F0502020204030204" charset="0"/>
                <a:ea typeface="MS PGothic" panose="020B0600070205080204" pitchFamily="-96" charset="-128"/>
                <a:cs typeface="MS PGothic" panose="020B0600070205080204" pitchFamily="-96" charset="-128"/>
              </a:defRPr>
            </a:lvl4pPr>
            <a:lvl5pPr marL="119380" indent="-119380" algn="l" rtl="0" fontAlgn="base">
              <a:spcBef>
                <a:spcPct val="0"/>
              </a:spcBef>
              <a:spcAft>
                <a:spcPct val="0"/>
              </a:spcAft>
              <a:defRPr sz="3600" b="1">
                <a:solidFill>
                  <a:schemeClr val="tx1"/>
                </a:solidFill>
                <a:latin typeface="Calibri" panose="020F0502020204030204" charset="0"/>
                <a:ea typeface="MS PGothic" panose="020B0600070205080204" pitchFamily="-96" charset="-128"/>
                <a:cs typeface="MS PGothic" panose="020B0600070205080204" pitchFamily="-96" charset="-128"/>
              </a:defRPr>
            </a:lvl5pPr>
            <a:lvl6pPr marL="576580" algn="l" rtl="0" eaLnBrk="1" fontAlgn="base" hangingPunct="1">
              <a:spcBef>
                <a:spcPct val="0"/>
              </a:spcBef>
              <a:spcAft>
                <a:spcPct val="0"/>
              </a:spcAft>
              <a:defRPr sz="3600" b="1">
                <a:solidFill>
                  <a:schemeClr val="tx1"/>
                </a:solidFill>
                <a:latin typeface="Arial Narrow" panose="020B0606020202030204" pitchFamily="34" charset="0"/>
              </a:defRPr>
            </a:lvl6pPr>
            <a:lvl7pPr marL="1033780" algn="l" rtl="0" eaLnBrk="1" fontAlgn="base" hangingPunct="1">
              <a:spcBef>
                <a:spcPct val="0"/>
              </a:spcBef>
              <a:spcAft>
                <a:spcPct val="0"/>
              </a:spcAft>
              <a:defRPr sz="3600" b="1">
                <a:solidFill>
                  <a:schemeClr val="tx1"/>
                </a:solidFill>
                <a:latin typeface="Arial Narrow" panose="020B0606020202030204" pitchFamily="34" charset="0"/>
              </a:defRPr>
            </a:lvl7pPr>
            <a:lvl8pPr marL="1490980" algn="l" rtl="0" eaLnBrk="1" fontAlgn="base" hangingPunct="1">
              <a:spcBef>
                <a:spcPct val="0"/>
              </a:spcBef>
              <a:spcAft>
                <a:spcPct val="0"/>
              </a:spcAft>
              <a:defRPr sz="3600" b="1">
                <a:solidFill>
                  <a:schemeClr val="tx1"/>
                </a:solidFill>
                <a:latin typeface="Arial Narrow" panose="020B0606020202030204" pitchFamily="34" charset="0"/>
              </a:defRPr>
            </a:lvl8pPr>
            <a:lvl9pPr marL="1948180" algn="l" rtl="0" eaLnBrk="1" fontAlgn="base" hangingPunct="1">
              <a:spcBef>
                <a:spcPct val="0"/>
              </a:spcBef>
              <a:spcAft>
                <a:spcPct val="0"/>
              </a:spcAft>
              <a:defRPr sz="3600" b="1">
                <a:solidFill>
                  <a:schemeClr val="tx1"/>
                </a:solidFill>
                <a:latin typeface="Arial Narrow" panose="020B0606020202030204" pitchFamily="34" charset="0"/>
              </a:defRPr>
            </a:lvl9pPr>
          </a:lstStyle>
          <a:p>
            <a:r>
              <a:rPr lang="en-US" sz="3200" dirty="0">
                <a:solidFill>
                  <a:schemeClr val="bg1"/>
                </a:solidFill>
                <a:latin typeface="Calibri" panose="020F0502020204030204" charset="0"/>
              </a:rPr>
              <a:t>x86-64 </a:t>
            </a:r>
            <a:r>
              <a:rPr lang="zh-CN" altLang="en-US" sz="3200" dirty="0">
                <a:solidFill>
                  <a:schemeClr val="bg1"/>
                </a:solidFill>
                <a:latin typeface="Calibri" panose="020F0502020204030204" charset="0"/>
                <a:ea typeface="宋体" panose="02010600030101010101" pitchFamily="2" charset="-122"/>
              </a:rPr>
              <a:t>整数寄存器</a:t>
            </a:r>
            <a:r>
              <a:rPr lang="en-US" sz="3200" dirty="0">
                <a:solidFill>
                  <a:schemeClr val="bg1"/>
                </a:solidFill>
                <a:latin typeface="Calibri" panose="020F0502020204030204" charset="0"/>
              </a:rPr>
              <a:t>: </a:t>
            </a:r>
            <a:r>
              <a:rPr lang="zh-CN" altLang="en-US" sz="3200" dirty="0">
                <a:solidFill>
                  <a:schemeClr val="bg1"/>
                </a:solidFill>
                <a:latin typeface="Calibri" panose="020F0502020204030204" charset="0"/>
                <a:ea typeface="宋体" panose="02010600030101010101" pitchFamily="2" charset="-122"/>
              </a:rPr>
              <a:t>用法</a:t>
            </a:r>
          </a:p>
        </p:txBody>
      </p:sp>
      <p:sp>
        <p:nvSpPr>
          <p:cNvPr id="27658" name="Rectangle 20"/>
          <p:cNvSpPr>
            <a:spLocks noChangeArrowheads="1"/>
          </p:cNvSpPr>
          <p:nvPr/>
        </p:nvSpPr>
        <p:spPr bwMode="auto">
          <a:xfrm>
            <a:off x="4724400" y="14478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%r8</a:t>
            </a:r>
          </a:p>
        </p:txBody>
      </p:sp>
      <p:sp>
        <p:nvSpPr>
          <p:cNvPr id="27659" name="Rectangle 21"/>
          <p:cNvSpPr>
            <a:spLocks noChangeArrowheads="1"/>
          </p:cNvSpPr>
          <p:nvPr/>
        </p:nvSpPr>
        <p:spPr bwMode="auto">
          <a:xfrm>
            <a:off x="4724400" y="20574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%r9</a:t>
            </a:r>
          </a:p>
        </p:txBody>
      </p:sp>
      <p:sp>
        <p:nvSpPr>
          <p:cNvPr id="27660" name="Rectangle 22"/>
          <p:cNvSpPr>
            <a:spLocks noChangeArrowheads="1"/>
          </p:cNvSpPr>
          <p:nvPr/>
        </p:nvSpPr>
        <p:spPr bwMode="auto">
          <a:xfrm>
            <a:off x="4724400" y="26670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%r10</a:t>
            </a:r>
          </a:p>
        </p:txBody>
      </p:sp>
      <p:sp>
        <p:nvSpPr>
          <p:cNvPr id="27661" name="Rectangle 23"/>
          <p:cNvSpPr>
            <a:spLocks noChangeArrowheads="1"/>
          </p:cNvSpPr>
          <p:nvPr/>
        </p:nvSpPr>
        <p:spPr bwMode="auto">
          <a:xfrm>
            <a:off x="4724400" y="3276600"/>
            <a:ext cx="3505200" cy="533400"/>
          </a:xfrm>
          <a:prstGeom prst="rect">
            <a:avLst/>
          </a:prstGeom>
          <a:solidFill>
            <a:srgbClr val="F6F5BD"/>
          </a:solidFill>
          <a:ln w="25400">
            <a:solidFill>
              <a:schemeClr val="tx1"/>
            </a:solidFill>
            <a:miter lim="800000"/>
          </a:ln>
        </p:spPr>
        <p:txBody>
          <a:bodyPr wrap="none" anchor="ctr"/>
          <a:lstStyle/>
          <a:p>
            <a:pPr eaLnBrk="0" hangingPunct="0"/>
            <a:r>
              <a:rPr lang="en-US">
                <a:latin typeface="Courier New" panose="02070309020205020404" charset="0"/>
              </a:rPr>
              <a:t>%r11</a:t>
            </a:r>
          </a:p>
        </p:txBody>
      </p:sp>
      <p:sp>
        <p:nvSpPr>
          <p:cNvPr id="27662" name="Rectangle 24"/>
          <p:cNvSpPr>
            <a:spLocks noChangeArrowheads="1"/>
          </p:cNvSpPr>
          <p:nvPr/>
        </p:nvSpPr>
        <p:spPr bwMode="auto">
          <a:xfrm>
            <a:off x="4724400" y="3886200"/>
            <a:ext cx="3505200" cy="533400"/>
          </a:xfrm>
          <a:prstGeom prst="rect">
            <a:avLst/>
          </a:prstGeom>
          <a:solidFill>
            <a:srgbClr val="CDF1C5"/>
          </a:solidFill>
          <a:ln w="25400">
            <a:solidFill>
              <a:schemeClr val="tx1"/>
            </a:solidFill>
            <a:miter lim="800000"/>
          </a:ln>
        </p:spPr>
        <p:txBody>
          <a:bodyPr wrap="none" anchor="ctr"/>
          <a:lstStyle/>
          <a:p>
            <a:pPr eaLnBrk="0" hangingPunct="0"/>
            <a:r>
              <a:rPr lang="en-US">
                <a:latin typeface="Courier New" panose="02070309020205020404" charset="0"/>
              </a:rPr>
              <a:t>%r12</a:t>
            </a:r>
          </a:p>
        </p:txBody>
      </p:sp>
      <p:sp>
        <p:nvSpPr>
          <p:cNvPr id="27663" name="Rectangle 25"/>
          <p:cNvSpPr>
            <a:spLocks noChangeArrowheads="1"/>
          </p:cNvSpPr>
          <p:nvPr/>
        </p:nvSpPr>
        <p:spPr bwMode="auto">
          <a:xfrm>
            <a:off x="4724400" y="4495800"/>
            <a:ext cx="3505200" cy="533400"/>
          </a:xfrm>
          <a:prstGeom prst="rect">
            <a:avLst/>
          </a:prstGeom>
          <a:solidFill>
            <a:srgbClr val="CDF1C5"/>
          </a:solidFill>
          <a:ln w="25400">
            <a:solidFill>
              <a:schemeClr val="tx1"/>
            </a:solidFill>
            <a:miter lim="800000"/>
          </a:ln>
        </p:spPr>
        <p:txBody>
          <a:bodyPr wrap="none" anchor="ctr"/>
          <a:lstStyle/>
          <a:p>
            <a:pPr eaLnBrk="0" hangingPunct="0"/>
            <a:r>
              <a:rPr lang="en-US">
                <a:latin typeface="Courier New" panose="02070309020205020404" charset="0"/>
              </a:rPr>
              <a:t>%r13</a:t>
            </a:r>
          </a:p>
        </p:txBody>
      </p:sp>
      <p:sp>
        <p:nvSpPr>
          <p:cNvPr id="27664" name="Rectangle 26"/>
          <p:cNvSpPr>
            <a:spLocks noChangeArrowheads="1"/>
          </p:cNvSpPr>
          <p:nvPr/>
        </p:nvSpPr>
        <p:spPr bwMode="auto">
          <a:xfrm>
            <a:off x="4724400" y="5105400"/>
            <a:ext cx="3505200" cy="533400"/>
          </a:xfrm>
          <a:prstGeom prst="rect">
            <a:avLst/>
          </a:prstGeom>
          <a:solidFill>
            <a:srgbClr val="CDF1C5"/>
          </a:solidFill>
          <a:ln w="25400">
            <a:solidFill>
              <a:schemeClr val="tx1"/>
            </a:solidFill>
            <a:miter lim="800000"/>
          </a:ln>
        </p:spPr>
        <p:txBody>
          <a:bodyPr wrap="none" anchor="ctr"/>
          <a:lstStyle/>
          <a:p>
            <a:pPr eaLnBrk="0" hangingPunct="0"/>
            <a:r>
              <a:rPr lang="en-US">
                <a:latin typeface="Courier New" panose="02070309020205020404" charset="0"/>
              </a:rPr>
              <a:t>%r14</a:t>
            </a:r>
          </a:p>
        </p:txBody>
      </p:sp>
      <p:sp>
        <p:nvSpPr>
          <p:cNvPr id="27665" name="Rectangle 27"/>
          <p:cNvSpPr>
            <a:spLocks noChangeArrowheads="1"/>
          </p:cNvSpPr>
          <p:nvPr/>
        </p:nvSpPr>
        <p:spPr bwMode="auto">
          <a:xfrm>
            <a:off x="4724400" y="5715000"/>
            <a:ext cx="3505200" cy="533400"/>
          </a:xfrm>
          <a:prstGeom prst="rect">
            <a:avLst/>
          </a:prstGeom>
          <a:solidFill>
            <a:srgbClr val="CDF1C5"/>
          </a:solidFill>
          <a:ln w="25400">
            <a:solidFill>
              <a:schemeClr val="tx1"/>
            </a:solidFill>
            <a:miter lim="800000"/>
          </a:ln>
        </p:spPr>
        <p:txBody>
          <a:bodyPr wrap="none" anchor="ctr"/>
          <a:lstStyle/>
          <a:p>
            <a:pPr eaLnBrk="0" hangingPunct="0"/>
            <a:r>
              <a:rPr lang="en-US">
                <a:latin typeface="Courier New" panose="02070309020205020404" charset="0"/>
              </a:rPr>
              <a:t>%r15</a:t>
            </a:r>
          </a:p>
        </p:txBody>
      </p:sp>
      <p:sp>
        <p:nvSpPr>
          <p:cNvPr id="27666" name="TextBox 36"/>
          <p:cNvSpPr txBox="1">
            <a:spLocks noChangeArrowheads="1"/>
          </p:cNvSpPr>
          <p:nvPr/>
        </p:nvSpPr>
        <p:spPr bwMode="auto">
          <a:xfrm>
            <a:off x="2738438" y="5802313"/>
            <a:ext cx="1554480" cy="368300"/>
          </a:xfrm>
          <a:prstGeom prst="rect">
            <a:avLst/>
          </a:prstGeom>
          <a:noFill/>
          <a:ln w="9525">
            <a:noFill/>
            <a:miter lim="800000"/>
          </a:ln>
        </p:spPr>
        <p:txBody>
          <a:bodyPr wrap="none">
            <a:spAutoFit/>
          </a:bodyPr>
          <a:lstStyle/>
          <a:p>
            <a:pPr algn="l" eaLnBrk="0" hangingPunct="0"/>
            <a:r>
              <a:rPr lang="zh-CN" altLang="en-US">
                <a:latin typeface="Calibri" panose="020F0502020204030204" charset="0"/>
                <a:sym typeface="+mn-ea"/>
              </a:rPr>
              <a:t>被调用者保存</a:t>
            </a:r>
            <a:endParaRPr lang="en-US" sz="1800">
              <a:latin typeface="Calibri" panose="020F0502020204030204" charset="0"/>
            </a:endParaRPr>
          </a:p>
        </p:txBody>
      </p:sp>
      <p:sp>
        <p:nvSpPr>
          <p:cNvPr id="27667" name="TextBox 37"/>
          <p:cNvSpPr txBox="1">
            <a:spLocks noChangeArrowheads="1"/>
          </p:cNvSpPr>
          <p:nvPr/>
        </p:nvSpPr>
        <p:spPr bwMode="auto">
          <a:xfrm>
            <a:off x="6673533" y="5791200"/>
            <a:ext cx="1554480" cy="368300"/>
          </a:xfrm>
          <a:prstGeom prst="rect">
            <a:avLst/>
          </a:prstGeom>
          <a:noFill/>
          <a:ln w="9525">
            <a:noFill/>
            <a:miter lim="800000"/>
          </a:ln>
        </p:spPr>
        <p:txBody>
          <a:bodyPr wrap="none">
            <a:spAutoFit/>
          </a:bodyPr>
          <a:lstStyle/>
          <a:p>
            <a:pPr algn="r" eaLnBrk="0" hangingPunct="0"/>
            <a:r>
              <a:rPr lang="zh-CN" altLang="en-US">
                <a:latin typeface="Calibri" panose="020F0502020204030204" charset="0"/>
                <a:sym typeface="+mn-ea"/>
              </a:rPr>
              <a:t>被调用者保存</a:t>
            </a:r>
            <a:endParaRPr lang="en-US" sz="1800">
              <a:latin typeface="Calibri" panose="020F0502020204030204" charset="0"/>
            </a:endParaRPr>
          </a:p>
        </p:txBody>
      </p:sp>
      <p:sp>
        <p:nvSpPr>
          <p:cNvPr id="27668" name="TextBox 38"/>
          <p:cNvSpPr txBox="1">
            <a:spLocks noChangeArrowheads="1"/>
          </p:cNvSpPr>
          <p:nvPr/>
        </p:nvSpPr>
        <p:spPr bwMode="auto">
          <a:xfrm>
            <a:off x="6665595" y="5181600"/>
            <a:ext cx="1554480" cy="368300"/>
          </a:xfrm>
          <a:prstGeom prst="rect">
            <a:avLst/>
          </a:prstGeom>
          <a:noFill/>
          <a:ln w="9525">
            <a:noFill/>
            <a:miter lim="800000"/>
          </a:ln>
        </p:spPr>
        <p:txBody>
          <a:bodyPr wrap="none">
            <a:spAutoFit/>
          </a:bodyPr>
          <a:lstStyle/>
          <a:p>
            <a:pPr algn="r" eaLnBrk="0" hangingPunct="0"/>
            <a:r>
              <a:rPr lang="zh-CN" altLang="en-US">
                <a:latin typeface="Calibri" panose="020F0502020204030204" charset="0"/>
                <a:sym typeface="+mn-ea"/>
              </a:rPr>
              <a:t>被调用者保存</a:t>
            </a:r>
            <a:endParaRPr lang="en-US" sz="1800">
              <a:latin typeface="Calibri" panose="020F0502020204030204" charset="0"/>
            </a:endParaRPr>
          </a:p>
        </p:txBody>
      </p:sp>
      <p:sp>
        <p:nvSpPr>
          <p:cNvPr id="27669" name="TextBox 39"/>
          <p:cNvSpPr txBox="1">
            <a:spLocks noChangeArrowheads="1"/>
          </p:cNvSpPr>
          <p:nvPr/>
        </p:nvSpPr>
        <p:spPr bwMode="auto">
          <a:xfrm>
            <a:off x="6665595" y="4572000"/>
            <a:ext cx="1554480" cy="368300"/>
          </a:xfrm>
          <a:prstGeom prst="rect">
            <a:avLst/>
          </a:prstGeom>
          <a:noFill/>
          <a:ln w="9525">
            <a:noFill/>
            <a:miter lim="800000"/>
          </a:ln>
        </p:spPr>
        <p:txBody>
          <a:bodyPr wrap="none">
            <a:spAutoFit/>
          </a:bodyPr>
          <a:lstStyle/>
          <a:p>
            <a:pPr algn="r" eaLnBrk="0" hangingPunct="0"/>
            <a:r>
              <a:rPr lang="zh-CN" altLang="en-US">
                <a:latin typeface="Calibri" panose="020F0502020204030204" charset="0"/>
                <a:sym typeface="+mn-ea"/>
              </a:rPr>
              <a:t>被调用者保存</a:t>
            </a:r>
            <a:endParaRPr lang="en-US" sz="1800">
              <a:latin typeface="Calibri" panose="020F0502020204030204" charset="0"/>
            </a:endParaRPr>
          </a:p>
        </p:txBody>
      </p:sp>
      <p:sp>
        <p:nvSpPr>
          <p:cNvPr id="27670" name="TextBox 40"/>
          <p:cNvSpPr txBox="1">
            <a:spLocks noChangeArrowheads="1"/>
          </p:cNvSpPr>
          <p:nvPr/>
        </p:nvSpPr>
        <p:spPr bwMode="auto">
          <a:xfrm>
            <a:off x="6660858" y="3962400"/>
            <a:ext cx="1554480" cy="368300"/>
          </a:xfrm>
          <a:prstGeom prst="rect">
            <a:avLst/>
          </a:prstGeom>
          <a:noFill/>
          <a:ln w="9525">
            <a:noFill/>
            <a:miter lim="800000"/>
          </a:ln>
        </p:spPr>
        <p:txBody>
          <a:bodyPr wrap="none">
            <a:spAutoFit/>
          </a:bodyPr>
          <a:lstStyle/>
          <a:p>
            <a:pPr algn="r" eaLnBrk="0" hangingPunct="0"/>
            <a:r>
              <a:rPr lang="zh-CN" altLang="en-US">
                <a:latin typeface="Calibri" panose="020F0502020204030204" charset="0"/>
                <a:sym typeface="+mn-ea"/>
              </a:rPr>
              <a:t>被调用者保存</a:t>
            </a:r>
            <a:endParaRPr lang="en-US" sz="1800" dirty="0">
              <a:latin typeface="Calibri" panose="020F0502020204030204" charset="0"/>
            </a:endParaRPr>
          </a:p>
        </p:txBody>
      </p:sp>
      <p:sp>
        <p:nvSpPr>
          <p:cNvPr id="27671" name="TextBox 41"/>
          <p:cNvSpPr txBox="1">
            <a:spLocks noChangeArrowheads="1"/>
          </p:cNvSpPr>
          <p:nvPr/>
        </p:nvSpPr>
        <p:spPr bwMode="auto">
          <a:xfrm>
            <a:off x="6894195" y="2743200"/>
            <a:ext cx="1325880" cy="368300"/>
          </a:xfrm>
          <a:prstGeom prst="rect">
            <a:avLst/>
          </a:prstGeom>
          <a:noFill/>
          <a:ln w="9525">
            <a:noFill/>
            <a:miter lim="800000"/>
          </a:ln>
        </p:spPr>
        <p:txBody>
          <a:bodyPr wrap="none">
            <a:spAutoFit/>
          </a:bodyPr>
          <a:lstStyle/>
          <a:p>
            <a:pPr algn="r" eaLnBrk="0" hangingPunct="0"/>
            <a:r>
              <a:rPr lang="zh-CN" altLang="en-US">
                <a:latin typeface="Calibri" panose="020F0502020204030204" charset="0"/>
                <a:sym typeface="+mn-ea"/>
              </a:rPr>
              <a:t>调用者保存</a:t>
            </a:r>
            <a:endParaRPr lang="en-US" sz="1800" dirty="0">
              <a:latin typeface="Calibri" panose="020F0502020204030204" charset="0"/>
            </a:endParaRPr>
          </a:p>
        </p:txBody>
      </p:sp>
      <p:sp>
        <p:nvSpPr>
          <p:cNvPr id="27672" name="TextBox 42"/>
          <p:cNvSpPr txBox="1">
            <a:spLocks noChangeArrowheads="1"/>
          </p:cNvSpPr>
          <p:nvPr/>
        </p:nvSpPr>
        <p:spPr bwMode="auto">
          <a:xfrm>
            <a:off x="2794000" y="2133600"/>
            <a:ext cx="155448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被调用者保存</a:t>
            </a:r>
          </a:p>
        </p:txBody>
      </p:sp>
      <p:sp>
        <p:nvSpPr>
          <p:cNvPr id="27673" name="TextBox 43"/>
          <p:cNvSpPr txBox="1">
            <a:spLocks noChangeArrowheads="1"/>
          </p:cNvSpPr>
          <p:nvPr/>
        </p:nvSpPr>
        <p:spPr bwMode="auto">
          <a:xfrm>
            <a:off x="2822575" y="5181600"/>
            <a:ext cx="86868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栈指针</a:t>
            </a:r>
          </a:p>
        </p:txBody>
      </p:sp>
      <p:sp>
        <p:nvSpPr>
          <p:cNvPr id="27674" name="TextBox 44"/>
          <p:cNvSpPr txBox="1">
            <a:spLocks noChangeArrowheads="1"/>
          </p:cNvSpPr>
          <p:nvPr/>
        </p:nvSpPr>
        <p:spPr bwMode="auto">
          <a:xfrm>
            <a:off x="6902138" y="3352800"/>
            <a:ext cx="1325880" cy="368300"/>
          </a:xfrm>
          <a:prstGeom prst="rect">
            <a:avLst/>
          </a:prstGeom>
          <a:noFill/>
          <a:ln w="9525">
            <a:noFill/>
            <a:miter lim="800000"/>
          </a:ln>
        </p:spPr>
        <p:txBody>
          <a:bodyPr wrap="none">
            <a:spAutoFit/>
          </a:bodyPr>
          <a:lstStyle/>
          <a:p>
            <a:pPr algn="r" eaLnBrk="0" hangingPunct="0"/>
            <a:r>
              <a:rPr lang="zh-CN" altLang="en-US">
                <a:latin typeface="Calibri" panose="020F0502020204030204" charset="0"/>
                <a:sym typeface="+mn-ea"/>
              </a:rPr>
              <a:t>调用者保存</a:t>
            </a:r>
            <a:endParaRPr lang="en-US" sz="1800" dirty="0">
              <a:latin typeface="Calibri" panose="020F0502020204030204" charset="0"/>
            </a:endParaRPr>
          </a:p>
        </p:txBody>
      </p:sp>
      <p:sp>
        <p:nvSpPr>
          <p:cNvPr id="27675" name="TextBox 45"/>
          <p:cNvSpPr txBox="1">
            <a:spLocks noChangeArrowheads="1"/>
          </p:cNvSpPr>
          <p:nvPr/>
        </p:nvSpPr>
        <p:spPr bwMode="auto">
          <a:xfrm>
            <a:off x="2867025" y="1524000"/>
            <a:ext cx="86868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返回值</a:t>
            </a:r>
          </a:p>
        </p:txBody>
      </p:sp>
      <p:sp>
        <p:nvSpPr>
          <p:cNvPr id="27676" name="TextBox 46"/>
          <p:cNvSpPr txBox="1">
            <a:spLocks noChangeArrowheads="1"/>
          </p:cNvSpPr>
          <p:nvPr/>
        </p:nvSpPr>
        <p:spPr bwMode="auto">
          <a:xfrm>
            <a:off x="2841625" y="2754313"/>
            <a:ext cx="92075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参数</a:t>
            </a:r>
            <a:r>
              <a:rPr lang="en-US" sz="1800">
                <a:latin typeface="Calibri" panose="020F0502020204030204" charset="0"/>
              </a:rPr>
              <a:t> #4</a:t>
            </a:r>
          </a:p>
        </p:txBody>
      </p:sp>
      <p:sp>
        <p:nvSpPr>
          <p:cNvPr id="27677" name="TextBox 47"/>
          <p:cNvSpPr txBox="1">
            <a:spLocks noChangeArrowheads="1"/>
          </p:cNvSpPr>
          <p:nvPr/>
        </p:nvSpPr>
        <p:spPr bwMode="auto">
          <a:xfrm>
            <a:off x="2841625" y="4572000"/>
            <a:ext cx="92075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参数</a:t>
            </a:r>
            <a:r>
              <a:rPr lang="en-US" sz="1800">
                <a:latin typeface="Calibri" panose="020F0502020204030204" charset="0"/>
              </a:rPr>
              <a:t> #1</a:t>
            </a:r>
          </a:p>
        </p:txBody>
      </p:sp>
      <p:sp>
        <p:nvSpPr>
          <p:cNvPr id="27678" name="TextBox 48"/>
          <p:cNvSpPr txBox="1">
            <a:spLocks noChangeArrowheads="1"/>
          </p:cNvSpPr>
          <p:nvPr/>
        </p:nvSpPr>
        <p:spPr bwMode="auto">
          <a:xfrm>
            <a:off x="2841625" y="3363913"/>
            <a:ext cx="92075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参数</a:t>
            </a:r>
            <a:r>
              <a:rPr lang="en-US" sz="1800">
                <a:latin typeface="Calibri" panose="020F0502020204030204" charset="0"/>
              </a:rPr>
              <a:t> #3</a:t>
            </a:r>
          </a:p>
        </p:txBody>
      </p:sp>
      <p:sp>
        <p:nvSpPr>
          <p:cNvPr id="27679" name="TextBox 49"/>
          <p:cNvSpPr txBox="1">
            <a:spLocks noChangeArrowheads="1"/>
          </p:cNvSpPr>
          <p:nvPr/>
        </p:nvSpPr>
        <p:spPr bwMode="auto">
          <a:xfrm>
            <a:off x="2841625" y="3973513"/>
            <a:ext cx="92075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参数</a:t>
            </a:r>
            <a:r>
              <a:rPr lang="en-US" sz="1800">
                <a:latin typeface="Calibri" panose="020F0502020204030204" charset="0"/>
              </a:rPr>
              <a:t> #2</a:t>
            </a:r>
          </a:p>
        </p:txBody>
      </p:sp>
      <p:sp>
        <p:nvSpPr>
          <p:cNvPr id="27680" name="TextBox 50"/>
          <p:cNvSpPr txBox="1">
            <a:spLocks noChangeArrowheads="1"/>
          </p:cNvSpPr>
          <p:nvPr/>
        </p:nvSpPr>
        <p:spPr bwMode="auto">
          <a:xfrm>
            <a:off x="7302500" y="2133600"/>
            <a:ext cx="920750" cy="368300"/>
          </a:xfrm>
          <a:prstGeom prst="rect">
            <a:avLst/>
          </a:prstGeom>
          <a:noFill/>
          <a:ln w="9525">
            <a:noFill/>
            <a:miter lim="800000"/>
          </a:ln>
        </p:spPr>
        <p:txBody>
          <a:bodyPr wrap="none">
            <a:spAutoFit/>
          </a:bodyPr>
          <a:lstStyle/>
          <a:p>
            <a:pPr algn="r" eaLnBrk="0" hangingPunct="0"/>
            <a:r>
              <a:rPr lang="zh-CN" altLang="en-US" sz="1800">
                <a:latin typeface="Calibri" panose="020F0502020204030204" charset="0"/>
              </a:rPr>
              <a:t>参数</a:t>
            </a:r>
            <a:r>
              <a:rPr lang="en-US" sz="1800">
                <a:latin typeface="Calibri" panose="020F0502020204030204" charset="0"/>
              </a:rPr>
              <a:t> #6</a:t>
            </a:r>
          </a:p>
        </p:txBody>
      </p:sp>
      <p:sp>
        <p:nvSpPr>
          <p:cNvPr id="27681" name="TextBox 51"/>
          <p:cNvSpPr txBox="1">
            <a:spLocks noChangeArrowheads="1"/>
          </p:cNvSpPr>
          <p:nvPr/>
        </p:nvSpPr>
        <p:spPr bwMode="auto">
          <a:xfrm>
            <a:off x="7302500" y="1524000"/>
            <a:ext cx="920750" cy="368300"/>
          </a:xfrm>
          <a:prstGeom prst="rect">
            <a:avLst/>
          </a:prstGeom>
          <a:noFill/>
          <a:ln w="9525">
            <a:noFill/>
            <a:miter lim="800000"/>
          </a:ln>
        </p:spPr>
        <p:txBody>
          <a:bodyPr wrap="none">
            <a:spAutoFit/>
          </a:bodyPr>
          <a:lstStyle/>
          <a:p>
            <a:pPr algn="r" eaLnBrk="0" hangingPunct="0"/>
            <a:r>
              <a:rPr lang="zh-CN" altLang="en-US" sz="1800">
                <a:latin typeface="Calibri" panose="020F0502020204030204" charset="0"/>
              </a:rPr>
              <a:t>参数</a:t>
            </a:r>
            <a:r>
              <a:rPr lang="en-US" sz="1800">
                <a:latin typeface="Calibri" panose="020F0502020204030204" charset="0"/>
              </a:rPr>
              <a:t> #5</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29698" name="Rectangle 3"/>
          <p:cNvSpPr>
            <a:spLocks noGrp="1" noChangeArrowheads="1"/>
          </p:cNvSpPr>
          <p:nvPr/>
        </p:nvSpPr>
        <p:spPr>
          <a:xfrm>
            <a:off x="186055" y="119062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dirty="0">
                <a:latin typeface="微软雅黑" panose="020B0503020204020204" charset="-122"/>
                <a:ea typeface="微软雅黑" panose="020B0503020204020204" charset="-122"/>
              </a:rPr>
              <a:t>通过寄存器传递给函数的参数</a:t>
            </a:r>
          </a:p>
          <a:p>
            <a:pPr lvl="1">
              <a:buClr>
                <a:srgbClr val="FF99CC"/>
              </a:buClr>
            </a:pPr>
            <a:r>
              <a:rPr lang="en-US" dirty="0">
                <a:latin typeface="微软雅黑" panose="020B0503020204020204" charset="-122"/>
                <a:ea typeface="微软雅黑" panose="020B0503020204020204" charset="-122"/>
              </a:rPr>
              <a:t>如果超过6个</a:t>
            </a:r>
            <a:r>
              <a:rPr lang="zh-CN" altLang="en-US" dirty="0">
                <a:latin typeface="微软雅黑" panose="020B0503020204020204" charset="-122"/>
                <a:ea typeface="微软雅黑" panose="020B0503020204020204" charset="-122"/>
              </a:rPr>
              <a:t>整数</a:t>
            </a:r>
            <a:r>
              <a:rPr lang="en-US" dirty="0">
                <a:latin typeface="微软雅黑" panose="020B0503020204020204" charset="-122"/>
                <a:ea typeface="微软雅黑" panose="020B0503020204020204" charset="-122"/>
              </a:rPr>
              <a:t>参数，则在栈上传递剩余部分</a:t>
            </a:r>
          </a:p>
          <a:p>
            <a:pPr lvl="1">
              <a:buClr>
                <a:srgbClr val="FF99CC"/>
              </a:buClr>
            </a:pPr>
            <a:r>
              <a:rPr lang="en-US" dirty="0">
                <a:latin typeface="微软雅黑" panose="020B0503020204020204" charset="-122"/>
                <a:ea typeface="微软雅黑" panose="020B0503020204020204" charset="-122"/>
              </a:rPr>
              <a:t>这些寄存器也可以作为调用者保存</a:t>
            </a:r>
          </a:p>
          <a:p>
            <a:pPr lvl="1"/>
            <a:endParaRPr lang="en-US" dirty="0">
              <a:latin typeface="微软雅黑" panose="020B0503020204020204" charset="-122"/>
              <a:ea typeface="微软雅黑" panose="020B0503020204020204" charset="-122"/>
            </a:endParaRPr>
          </a:p>
          <a:p>
            <a:pPr>
              <a:buClr>
                <a:srgbClr val="0D0D0D"/>
              </a:buClr>
            </a:pPr>
            <a:r>
              <a:rPr lang="en-US" dirty="0">
                <a:latin typeface="微软雅黑" panose="020B0503020204020204" charset="-122"/>
                <a:ea typeface="微软雅黑" panose="020B0503020204020204" charset="-122"/>
              </a:rPr>
              <a:t>通过栈指针引用栈帧</a:t>
            </a:r>
          </a:p>
          <a:p>
            <a:pPr lvl="1">
              <a:buClr>
                <a:srgbClr val="FF99CC"/>
              </a:buClr>
            </a:pPr>
            <a:r>
              <a:rPr lang="zh-CN" altLang="en-US" dirty="0">
                <a:latin typeface="微软雅黑" panose="020B0503020204020204" charset="-122"/>
                <a:ea typeface="微软雅黑" panose="020B0503020204020204" charset="-122"/>
              </a:rPr>
              <a:t>更新</a:t>
            </a:r>
            <a:r>
              <a:rPr lang="en-US" dirty="0">
                <a:latin typeface="微软雅黑" panose="020B0503020204020204" charset="-122"/>
                <a:ea typeface="微软雅黑" panose="020B0503020204020204" charset="-122"/>
              </a:rPr>
              <a:t> </a:t>
            </a:r>
            <a:r>
              <a:rPr lang="en-US" b="1" dirty="0">
                <a:latin typeface="微软雅黑" panose="020B0503020204020204" charset="-122"/>
                <a:ea typeface="微软雅黑" panose="020B0503020204020204" charset="-122"/>
              </a:rPr>
              <a:t>%</a:t>
            </a:r>
            <a:r>
              <a:rPr lang="en-US" b="1" dirty="0" err="1">
                <a:latin typeface="微软雅黑" panose="020B0503020204020204" charset="-122"/>
                <a:ea typeface="微软雅黑" panose="020B0503020204020204" charset="-122"/>
              </a:rPr>
              <a:t>ebp</a:t>
            </a:r>
            <a:r>
              <a:rPr lang="en-US" b="1" dirty="0">
                <a:latin typeface="微软雅黑" panose="020B0503020204020204" charset="-122"/>
                <a:ea typeface="微软雅黑" panose="020B0503020204020204" charset="-122"/>
              </a:rPr>
              <a:t>/%</a:t>
            </a:r>
            <a:r>
              <a:rPr lang="en-US" b="1" dirty="0" err="1">
                <a:latin typeface="微软雅黑" panose="020B0503020204020204" charset="-122"/>
                <a:ea typeface="微软雅黑" panose="020B0503020204020204" charset="-122"/>
              </a:rPr>
              <a:t>rbp</a:t>
            </a:r>
            <a:endParaRPr lang="en-US" b="1" dirty="0">
              <a:latin typeface="微软雅黑" panose="020B0503020204020204" charset="-122"/>
              <a:ea typeface="微软雅黑" panose="020B0503020204020204" charset="-122"/>
            </a:endParaRPr>
          </a:p>
          <a:p>
            <a:pPr lvl="1"/>
            <a:endParaRPr lang="en-US" dirty="0">
              <a:latin typeface="微软雅黑" panose="020B0503020204020204" charset="-122"/>
              <a:ea typeface="微软雅黑" panose="020B0503020204020204" charset="-122"/>
            </a:endParaRPr>
          </a:p>
          <a:p>
            <a:pPr>
              <a:buClr>
                <a:srgbClr val="0D0D0D"/>
              </a:buClr>
            </a:pPr>
            <a:r>
              <a:rPr lang="zh-CN" altLang="en-US" dirty="0">
                <a:latin typeface="微软雅黑" panose="020B0503020204020204" charset="-122"/>
                <a:ea typeface="微软雅黑" panose="020B0503020204020204" charset="-122"/>
              </a:rPr>
              <a:t>其他寄存器</a:t>
            </a:r>
          </a:p>
          <a:p>
            <a:pPr lvl="1">
              <a:buClr>
                <a:srgbClr val="FF99CC"/>
              </a:buClr>
            </a:pPr>
            <a:r>
              <a:rPr lang="en-US" dirty="0">
                <a:latin typeface="微软雅黑" panose="020B0503020204020204" charset="-122"/>
                <a:ea typeface="微软雅黑" panose="020B0503020204020204" charset="-122"/>
              </a:rPr>
              <a:t>6 </a:t>
            </a:r>
            <a:r>
              <a:rPr lang="zh-CN" altLang="en-US" dirty="0">
                <a:latin typeface="微软雅黑" panose="020B0503020204020204" charset="-122"/>
                <a:ea typeface="微软雅黑" panose="020B0503020204020204" charset="-122"/>
              </a:rPr>
              <a:t>被调用者保存</a:t>
            </a:r>
          </a:p>
          <a:p>
            <a:pPr lvl="1">
              <a:buClr>
                <a:srgbClr val="FF99CC"/>
              </a:buClr>
            </a:pPr>
            <a:r>
              <a:rPr lang="en-US" dirty="0">
                <a:latin typeface="微软雅黑" panose="020B0503020204020204" charset="-122"/>
                <a:ea typeface="微软雅黑" panose="020B0503020204020204" charset="-122"/>
              </a:rPr>
              <a:t>2 </a:t>
            </a:r>
            <a:r>
              <a:rPr lang="zh-CN" altLang="en-US" dirty="0">
                <a:latin typeface="微软雅黑" panose="020B0503020204020204" charset="-122"/>
                <a:ea typeface="微软雅黑" panose="020B0503020204020204" charset="-122"/>
                <a:sym typeface="+mn-ea"/>
              </a:rPr>
              <a:t>调用者保存</a:t>
            </a:r>
            <a:endParaRPr lang="en-US" dirty="0">
              <a:latin typeface="微软雅黑" panose="020B0503020204020204" charset="-122"/>
              <a:ea typeface="微软雅黑" panose="020B0503020204020204" charset="-122"/>
            </a:endParaRPr>
          </a:p>
          <a:p>
            <a:pPr lvl="1">
              <a:buClr>
                <a:srgbClr val="FF99CC"/>
              </a:buClr>
            </a:pPr>
            <a:r>
              <a:rPr lang="en-US" dirty="0">
                <a:latin typeface="微软雅黑" panose="020B0503020204020204" charset="-122"/>
                <a:ea typeface="微软雅黑" panose="020B0503020204020204" charset="-122"/>
              </a:rPr>
              <a:t>1 </a:t>
            </a:r>
            <a:r>
              <a:rPr lang="zh-CN" altLang="en-US" dirty="0">
                <a:latin typeface="微软雅黑" panose="020B0503020204020204" charset="-122"/>
                <a:ea typeface="微软雅黑" panose="020B0503020204020204" charset="-122"/>
              </a:rPr>
              <a:t>返回值</a:t>
            </a:r>
            <a:r>
              <a:rPr lang="en-US" dirty="0">
                <a:latin typeface="微软雅黑" panose="020B0503020204020204" charset="-122"/>
                <a:ea typeface="微软雅黑" panose="020B0503020204020204" charset="-122"/>
              </a:rPr>
              <a:t> (也可作为调用者保存)</a:t>
            </a:r>
          </a:p>
          <a:p>
            <a:pPr lvl="1">
              <a:buClr>
                <a:srgbClr val="FF99CC"/>
              </a:buClr>
            </a:pPr>
            <a:r>
              <a:rPr lang="en-US" dirty="0">
                <a:latin typeface="微软雅黑" panose="020B0503020204020204" charset="-122"/>
                <a:ea typeface="微软雅黑" panose="020B0503020204020204" charset="-122"/>
              </a:rPr>
              <a:t>1 特殊（栈指针）</a:t>
            </a:r>
          </a:p>
          <a:p>
            <a:pPr lvl="1"/>
            <a:endParaRPr lang="en-US" dirty="0">
              <a:latin typeface="微软雅黑" panose="020B0503020204020204" charset="-122"/>
              <a:ea typeface="微软雅黑" panose="020B0503020204020204" charset="-122"/>
            </a:endParaRPr>
          </a:p>
        </p:txBody>
      </p:sp>
      <p:sp>
        <p:nvSpPr>
          <p:cNvPr id="4" name="燕尾形 3"/>
          <p:cNvSpPr/>
          <p:nvPr/>
        </p:nvSpPr>
        <p:spPr>
          <a:xfrm>
            <a:off x="0" y="494030"/>
            <a:ext cx="3766185"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latin typeface="Calibri" panose="020F0502020204030204" charset="0"/>
                <a:sym typeface="+mn-ea"/>
              </a:rPr>
              <a:t>x86-64 </a:t>
            </a:r>
            <a:r>
              <a:rPr lang="zh-CN" altLang="en-US" sz="3200">
                <a:latin typeface="Calibri" panose="020F0502020204030204" charset="0"/>
                <a:sym typeface="+mn-ea"/>
              </a:rPr>
              <a:t>寄存器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698">
                                            <p:txEl>
                                              <p:pRg st="1" end="1"/>
                                            </p:txEl>
                                          </p:spTgt>
                                        </p:tgtEl>
                                        <p:attrNameLst>
                                          <p:attrName>style.visibility</p:attrName>
                                        </p:attrNameLst>
                                      </p:cBhvr>
                                      <p:to>
                                        <p:strVal val="visible"/>
                                      </p:to>
                                    </p:set>
                                    <p:animEffect transition="in" filter="wipe(down)">
                                      <p:cBhvr>
                                        <p:cTn id="7" dur="500"/>
                                        <p:tgtEl>
                                          <p:spTgt spid="29698">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9698">
                                            <p:txEl>
                                              <p:pRg st="2" end="2"/>
                                            </p:txEl>
                                          </p:spTgt>
                                        </p:tgtEl>
                                        <p:attrNameLst>
                                          <p:attrName>style.visibility</p:attrName>
                                        </p:attrNameLst>
                                      </p:cBhvr>
                                      <p:to>
                                        <p:strVal val="visible"/>
                                      </p:to>
                                    </p:set>
                                    <p:animEffect transition="in" filter="wipe(down)">
                                      <p:cBhvr>
                                        <p:cTn id="10" dur="500"/>
                                        <p:tgtEl>
                                          <p:spTgt spid="2969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29698">
                                            <p:txEl>
                                              <p:pRg st="5" end="5"/>
                                            </p:txEl>
                                          </p:spTgt>
                                        </p:tgtEl>
                                        <p:attrNameLst>
                                          <p:attrName>style.visibility</p:attrName>
                                        </p:attrNameLst>
                                      </p:cBhvr>
                                      <p:to>
                                        <p:strVal val="visible"/>
                                      </p:to>
                                    </p:set>
                                    <p:animEffect transition="in" filter="wipe(down)">
                                      <p:cBhvr>
                                        <p:cTn id="15" dur="500"/>
                                        <p:tgtEl>
                                          <p:spTgt spid="29698">
                                            <p:txEl>
                                              <p:pRg st="5" end="5"/>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29698">
                                            <p:txEl>
                                              <p:pRg st="8" end="8"/>
                                            </p:txEl>
                                          </p:spTgt>
                                        </p:tgtEl>
                                        <p:attrNameLst>
                                          <p:attrName>style.visibility</p:attrName>
                                        </p:attrNameLst>
                                      </p:cBhvr>
                                      <p:to>
                                        <p:strVal val="visible"/>
                                      </p:to>
                                    </p:set>
                                    <p:animEffect transition="in" filter="wipe(down)">
                                      <p:cBhvr>
                                        <p:cTn id="20" dur="500"/>
                                        <p:tgtEl>
                                          <p:spTgt spid="29698">
                                            <p:txEl>
                                              <p:pRg st="8" end="8"/>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29698">
                                            <p:txEl>
                                              <p:pRg st="9" end="9"/>
                                            </p:txEl>
                                          </p:spTgt>
                                        </p:tgtEl>
                                        <p:attrNameLst>
                                          <p:attrName>style.visibility</p:attrName>
                                        </p:attrNameLst>
                                      </p:cBhvr>
                                      <p:to>
                                        <p:strVal val="visible"/>
                                      </p:to>
                                    </p:set>
                                    <p:animEffect transition="in" filter="wipe(down)">
                                      <p:cBhvr>
                                        <p:cTn id="23" dur="500"/>
                                        <p:tgtEl>
                                          <p:spTgt spid="29698">
                                            <p:txEl>
                                              <p:pRg st="9" end="9"/>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29698">
                                            <p:txEl>
                                              <p:pRg st="10" end="10"/>
                                            </p:txEl>
                                          </p:spTgt>
                                        </p:tgtEl>
                                        <p:attrNameLst>
                                          <p:attrName>style.visibility</p:attrName>
                                        </p:attrNameLst>
                                      </p:cBhvr>
                                      <p:to>
                                        <p:strVal val="visible"/>
                                      </p:to>
                                    </p:set>
                                    <p:animEffect transition="in" filter="wipe(down)">
                                      <p:cBhvr>
                                        <p:cTn id="26" dur="500"/>
                                        <p:tgtEl>
                                          <p:spTgt spid="29698">
                                            <p:txEl>
                                              <p:pRg st="10" end="10"/>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29698">
                                            <p:txEl>
                                              <p:pRg st="11" end="11"/>
                                            </p:txEl>
                                          </p:spTgt>
                                        </p:tgtEl>
                                        <p:attrNameLst>
                                          <p:attrName>style.visibility</p:attrName>
                                        </p:attrNameLst>
                                      </p:cBhvr>
                                      <p:to>
                                        <p:strVal val="visible"/>
                                      </p:to>
                                    </p:set>
                                    <p:animEffect transition="in" filter="wipe(down)">
                                      <p:cBhvr>
                                        <p:cTn id="29" dur="500"/>
                                        <p:tgtEl>
                                          <p:spTgt spid="2969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31747" name="Rectangle 4"/>
          <p:cNvSpPr>
            <a:spLocks noChangeArrowheads="1"/>
          </p:cNvSpPr>
          <p:nvPr/>
        </p:nvSpPr>
        <p:spPr bwMode="auto">
          <a:xfrm>
            <a:off x="393700" y="1252538"/>
            <a:ext cx="4711700" cy="2027555"/>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latin typeface="Courier New" panose="02070309020205020404" charset="0"/>
              </a:rPr>
              <a:t>void </a:t>
            </a:r>
            <a:r>
              <a:rPr lang="en-US" sz="1800" dirty="0" err="1">
                <a:latin typeface="Courier New" panose="02070309020205020404" charset="0"/>
              </a:rPr>
              <a:t>swap_l</a:t>
            </a:r>
            <a:r>
              <a:rPr lang="en-US" sz="1800" dirty="0">
                <a:latin typeface="Courier New" panose="02070309020205020404" charset="0"/>
              </a:rPr>
              <a:t>(long *</a:t>
            </a:r>
            <a:r>
              <a:rPr lang="en-US" sz="1800" dirty="0" err="1">
                <a:latin typeface="Courier New" panose="02070309020205020404" charset="0"/>
              </a:rPr>
              <a:t>xp</a:t>
            </a:r>
            <a:r>
              <a:rPr lang="en-US" sz="1800" dirty="0">
                <a:latin typeface="Courier New" panose="02070309020205020404" charset="0"/>
              </a:rPr>
              <a:t>, long *</a:t>
            </a:r>
            <a:r>
              <a:rPr lang="en-US" sz="1800" dirty="0" err="1">
                <a:latin typeface="Courier New" panose="02070309020205020404" charset="0"/>
              </a:rPr>
              <a:t>yp</a:t>
            </a:r>
            <a:r>
              <a:rPr lang="en-US" sz="1800" dirty="0">
                <a:latin typeface="Courier New" panose="02070309020205020404" charset="0"/>
              </a:rPr>
              <a:t>) </a:t>
            </a:r>
          </a:p>
          <a:p>
            <a:pPr eaLnBrk="0" hangingPunct="0">
              <a:tabLst>
                <a:tab pos="457200" algn="l"/>
                <a:tab pos="1485900" algn="l"/>
              </a:tabLst>
            </a:pP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  long t0 = *</a:t>
            </a:r>
            <a:r>
              <a:rPr lang="en-US" sz="1800" dirty="0" err="1">
                <a:latin typeface="Courier New" panose="02070309020205020404" charset="0"/>
              </a:rPr>
              <a:t>xp</a:t>
            </a: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  long t1 = *</a:t>
            </a:r>
            <a:r>
              <a:rPr lang="en-US" sz="1800" dirty="0" err="1">
                <a:latin typeface="Courier New" panose="02070309020205020404" charset="0"/>
              </a:rPr>
              <a:t>yp</a:t>
            </a: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xp</a:t>
            </a:r>
            <a:r>
              <a:rPr lang="en-US" sz="1800" dirty="0">
                <a:latin typeface="Courier New" panose="02070309020205020404" charset="0"/>
              </a:rPr>
              <a:t> = t1;</a:t>
            </a: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yp</a:t>
            </a:r>
            <a:r>
              <a:rPr lang="en-US" sz="1800" dirty="0">
                <a:latin typeface="Courier New" panose="02070309020205020404" charset="0"/>
              </a:rPr>
              <a:t> = t0;</a:t>
            </a:r>
          </a:p>
          <a:p>
            <a:pPr eaLnBrk="0" hangingPunct="0">
              <a:tabLst>
                <a:tab pos="457200" algn="l"/>
                <a:tab pos="1485900" algn="l"/>
              </a:tabLst>
            </a:pPr>
            <a:r>
              <a:rPr lang="en-US" sz="1800" dirty="0">
                <a:latin typeface="Courier New" panose="02070309020205020404" charset="0"/>
              </a:rPr>
              <a:t>}</a:t>
            </a:r>
          </a:p>
        </p:txBody>
      </p:sp>
      <p:sp>
        <p:nvSpPr>
          <p:cNvPr id="31748" name="Rectangle 5"/>
          <p:cNvSpPr>
            <a:spLocks noChangeArrowheads="1"/>
          </p:cNvSpPr>
          <p:nvPr/>
        </p:nvSpPr>
        <p:spPr bwMode="auto">
          <a:xfrm>
            <a:off x="5105400" y="1130300"/>
            <a:ext cx="3657600" cy="2242820"/>
          </a:xfrm>
          <a:prstGeom prst="rect">
            <a:avLst/>
          </a:prstGeom>
          <a:noFill/>
          <a:ln w="12700">
            <a:noFill/>
            <a:miter lim="800000"/>
          </a:ln>
        </p:spPr>
        <p:txBody>
          <a:bodyPr lIns="90487" tIns="44450" rIns="90487" bIns="44450">
            <a:spAutoFit/>
          </a:bodyPr>
          <a:lstStyle/>
          <a:p>
            <a:pPr eaLnBrk="0" hangingPunct="0">
              <a:tabLst>
                <a:tab pos="457200" algn="l"/>
                <a:tab pos="1485900" algn="l"/>
              </a:tabLst>
            </a:pPr>
            <a:r>
              <a:rPr lang="en-US" sz="2000">
                <a:latin typeface="Courier New" panose="02070309020205020404" charset="0"/>
              </a:rPr>
              <a:t>swap:</a:t>
            </a:r>
          </a:p>
          <a:p>
            <a:pPr eaLnBrk="0" hangingPunct="0">
              <a:tabLst>
                <a:tab pos="457200" algn="l"/>
                <a:tab pos="1485900" algn="l"/>
              </a:tabLst>
            </a:pPr>
            <a:r>
              <a:rPr lang="en-US" sz="2000">
                <a:latin typeface="Courier New" panose="02070309020205020404" charset="0"/>
              </a:rPr>
              <a:t>	movq	(%rdi), %rdx</a:t>
            </a:r>
          </a:p>
          <a:p>
            <a:pPr eaLnBrk="0" hangingPunct="0">
              <a:tabLst>
                <a:tab pos="457200" algn="l"/>
                <a:tab pos="1485900" algn="l"/>
              </a:tabLst>
            </a:pPr>
            <a:r>
              <a:rPr lang="en-US" sz="2000">
                <a:latin typeface="Courier New" panose="02070309020205020404" charset="0"/>
              </a:rPr>
              <a:t>	movq	(%rsi), %rax</a:t>
            </a:r>
          </a:p>
          <a:p>
            <a:pPr eaLnBrk="0" hangingPunct="0">
              <a:tabLst>
                <a:tab pos="457200" algn="l"/>
                <a:tab pos="1485900" algn="l"/>
              </a:tabLst>
            </a:pPr>
            <a:r>
              <a:rPr lang="en-US" sz="2000">
                <a:latin typeface="Courier New" panose="02070309020205020404" charset="0"/>
              </a:rPr>
              <a:t>	movq	%rax, (%rdi)</a:t>
            </a:r>
          </a:p>
          <a:p>
            <a:pPr eaLnBrk="0" hangingPunct="0">
              <a:tabLst>
                <a:tab pos="457200" algn="l"/>
                <a:tab pos="1485900" algn="l"/>
              </a:tabLst>
            </a:pPr>
            <a:r>
              <a:rPr lang="en-US" sz="2000">
                <a:latin typeface="Courier New" panose="02070309020205020404" charset="0"/>
              </a:rPr>
              <a:t>	movq	%rdx, (%rsi)</a:t>
            </a:r>
          </a:p>
          <a:p>
            <a:pPr eaLnBrk="0" hangingPunct="0">
              <a:tabLst>
                <a:tab pos="457200" algn="l"/>
                <a:tab pos="1485900" algn="l"/>
              </a:tabLst>
            </a:pPr>
            <a:r>
              <a:rPr lang="en-US" sz="2000">
                <a:latin typeface="Courier New" panose="02070309020205020404" charset="0"/>
              </a:rPr>
              <a:t>	ret</a:t>
            </a:r>
          </a:p>
          <a:p>
            <a:pPr eaLnBrk="0" hangingPunct="0">
              <a:tabLst>
                <a:tab pos="457200" algn="l"/>
                <a:tab pos="1485900" algn="l"/>
              </a:tabLst>
            </a:pPr>
            <a:endParaRPr lang="en-US" sz="2000">
              <a:latin typeface="Courier New" panose="02070309020205020404" charset="0"/>
            </a:endParaRPr>
          </a:p>
        </p:txBody>
      </p:sp>
      <p:sp>
        <p:nvSpPr>
          <p:cNvPr id="2" name="Rectangle 6"/>
          <p:cNvSpPr>
            <a:spLocks noChangeArrowheads="1"/>
          </p:cNvSpPr>
          <p:nvPr/>
        </p:nvSpPr>
        <p:spPr bwMode="auto">
          <a:xfrm>
            <a:off x="6096000" y="4005064"/>
            <a:ext cx="1066800" cy="381000"/>
          </a:xfrm>
          <a:prstGeom prst="rect">
            <a:avLst/>
          </a:prstGeom>
          <a:solidFill>
            <a:srgbClr val="FFCCCC"/>
          </a:solidFill>
          <a:ln w="25400">
            <a:solidFill>
              <a:schemeClr val="tx1"/>
            </a:solidFill>
            <a:miter lim="800000"/>
          </a:ln>
        </p:spPr>
        <p:txBody>
          <a:bodyPr wrap="none" anchor="ctr"/>
          <a:lstStyle/>
          <a:p>
            <a:pPr algn="ctr" eaLnBrk="0" hangingPunct="0"/>
            <a:r>
              <a:rPr lang="en-US" sz="1800">
                <a:latin typeface="Calibri" panose="020F0502020204030204" charset="0"/>
              </a:rPr>
              <a:t>rtn Ptr</a:t>
            </a:r>
          </a:p>
        </p:txBody>
      </p:sp>
      <p:sp>
        <p:nvSpPr>
          <p:cNvPr id="8" name="Line 8"/>
          <p:cNvSpPr>
            <a:spLocks noChangeShapeType="1"/>
          </p:cNvSpPr>
          <p:nvPr/>
        </p:nvSpPr>
        <p:spPr bwMode="auto">
          <a:xfrm flipH="1">
            <a:off x="7162800" y="4171752"/>
            <a:ext cx="457200" cy="0"/>
          </a:xfrm>
          <a:prstGeom prst="line">
            <a:avLst/>
          </a:prstGeom>
          <a:noFill/>
          <a:ln w="25400">
            <a:solidFill>
              <a:schemeClr val="tx1"/>
            </a:solidFill>
            <a:round/>
            <a:tailEnd type="triangle" w="med" len="med"/>
          </a:ln>
        </p:spPr>
        <p:txBody>
          <a:bodyPr wrap="none" anchor="ctr"/>
          <a:lstStyle/>
          <a:p>
            <a:endParaRPr lang="en-US"/>
          </a:p>
        </p:txBody>
      </p:sp>
      <p:sp>
        <p:nvSpPr>
          <p:cNvPr id="9" name="Text Box 9"/>
          <p:cNvSpPr txBox="1">
            <a:spLocks noChangeArrowheads="1"/>
          </p:cNvSpPr>
          <p:nvPr/>
        </p:nvSpPr>
        <p:spPr bwMode="auto">
          <a:xfrm>
            <a:off x="7772400" y="4019352"/>
            <a:ext cx="731520" cy="368300"/>
          </a:xfrm>
          <a:prstGeom prst="rect">
            <a:avLst/>
          </a:prstGeom>
          <a:noFill/>
          <a:ln w="25400">
            <a:noFill/>
            <a:miter lim="800000"/>
          </a:ln>
        </p:spPr>
        <p:txBody>
          <a:bodyPr wrap="none">
            <a:spAutoFit/>
          </a:bodyPr>
          <a:lstStyle/>
          <a:p>
            <a:pPr eaLnBrk="0" hangingPunct="0"/>
            <a:r>
              <a:rPr lang="en-US" sz="1800">
                <a:latin typeface="Courier New" panose="02070309020205020404" charset="0"/>
              </a:rPr>
              <a:t>%rsp</a:t>
            </a:r>
          </a:p>
        </p:txBody>
      </p:sp>
      <p:sp>
        <p:nvSpPr>
          <p:cNvPr id="10" name="Right Brace 9"/>
          <p:cNvSpPr/>
          <p:nvPr/>
        </p:nvSpPr>
        <p:spPr bwMode="auto">
          <a:xfrm>
            <a:off x="7234247" y="4386064"/>
            <a:ext cx="457200" cy="843136"/>
          </a:xfrm>
          <a:prstGeom prst="rightBrace">
            <a:avLst/>
          </a:prstGeom>
          <a:noFill/>
          <a:ln w="25400" cap="flat" cmpd="sng" algn="ctr">
            <a:solidFill>
              <a:schemeClr val="tx1"/>
            </a:solidFill>
            <a:prstDash val="solid"/>
            <a:round/>
            <a:headEnd type="none" w="med" len="med"/>
            <a:tailEnd type="none" w="med" len="med"/>
          </a:ln>
          <a:effectLst/>
        </p:spPr>
        <p:txBody>
          <a:bodyPr rtlCol="0" anchor="ctr"/>
          <a:lstStyle/>
          <a:p>
            <a:pPr algn="ctr"/>
            <a:endParaRPr lang="en-US"/>
          </a:p>
        </p:txBody>
      </p:sp>
      <p:sp>
        <p:nvSpPr>
          <p:cNvPr id="11" name="TextBox 10"/>
          <p:cNvSpPr txBox="1"/>
          <p:nvPr/>
        </p:nvSpPr>
        <p:spPr>
          <a:xfrm>
            <a:off x="7691447" y="4453661"/>
            <a:ext cx="1097280" cy="368300"/>
          </a:xfrm>
          <a:prstGeom prst="rect">
            <a:avLst/>
          </a:prstGeom>
          <a:noFill/>
        </p:spPr>
        <p:txBody>
          <a:bodyPr wrap="none" rtlCol="0">
            <a:spAutoFit/>
          </a:bodyPr>
          <a:lstStyle/>
          <a:p>
            <a:r>
              <a:rPr lang="zh-CN" altLang="en-US" dirty="0">
                <a:latin typeface="Calibri" panose="020F0502020204030204" charset="0"/>
              </a:rPr>
              <a:t>没有栈帧</a:t>
            </a:r>
          </a:p>
        </p:txBody>
      </p:sp>
      <p:sp>
        <p:nvSpPr>
          <p:cNvPr id="352259" name="Rectangle 3"/>
          <p:cNvSpPr>
            <a:spLocks noGrp="1" noChangeArrowheads="1"/>
          </p:cNvSpPr>
          <p:nvPr/>
        </p:nvSpPr>
        <p:spPr>
          <a:xfrm>
            <a:off x="303213" y="3581400"/>
            <a:ext cx="8307387" cy="28638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FF99CC"/>
              </a:buClr>
            </a:pPr>
            <a:r>
              <a:rPr lang="en-US" dirty="0">
                <a:latin typeface="微软雅黑" panose="020B0503020204020204" charset="-122"/>
                <a:ea typeface="微软雅黑" panose="020B0503020204020204" charset="-122"/>
              </a:rPr>
              <a:t>寄存器中传递的操作数</a:t>
            </a:r>
          </a:p>
          <a:p>
            <a:pPr lvl="1">
              <a:buClr>
                <a:srgbClr val="0D0D0D"/>
              </a:buClr>
            </a:pPr>
            <a:r>
              <a:rPr lang="zh-CN" altLang="en-US" dirty="0">
                <a:latin typeface="微软雅黑" panose="020B0503020204020204" charset="-122"/>
                <a:ea typeface="微软雅黑" panose="020B0503020204020204" charset="-122"/>
              </a:rPr>
              <a:t>第一</a:t>
            </a:r>
            <a:r>
              <a:rPr lang="en-US" dirty="0">
                <a:latin typeface="微软雅黑" panose="020B0503020204020204" charset="-122"/>
                <a:ea typeface="微软雅黑" panose="020B0503020204020204" charset="-122"/>
              </a:rPr>
              <a:t>(</a:t>
            </a:r>
            <a:r>
              <a:rPr lang="en-US" b="1" dirty="0" err="1">
                <a:latin typeface="微软雅黑" panose="020B0503020204020204" charset="-122"/>
                <a:ea typeface="微软雅黑" panose="020B0503020204020204" charset="-122"/>
              </a:rPr>
              <a:t>xp</a:t>
            </a:r>
            <a:r>
              <a:rPr lang="en-US"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在</a:t>
            </a:r>
            <a:r>
              <a:rPr lang="en-US" b="1" dirty="0">
                <a:latin typeface="微软雅黑" panose="020B0503020204020204" charset="-122"/>
                <a:ea typeface="微软雅黑" panose="020B0503020204020204" charset="-122"/>
              </a:rPr>
              <a:t>%</a:t>
            </a:r>
            <a:r>
              <a:rPr lang="en-US" b="1" dirty="0" err="1">
                <a:latin typeface="微软雅黑" panose="020B0503020204020204" charset="-122"/>
                <a:ea typeface="微软雅黑" panose="020B0503020204020204" charset="-122"/>
              </a:rPr>
              <a:t>rdi</a:t>
            </a:r>
            <a:r>
              <a:rPr lang="en-US"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第二</a:t>
            </a:r>
            <a:r>
              <a:rPr lang="en-US" dirty="0">
                <a:latin typeface="微软雅黑" panose="020B0503020204020204" charset="-122"/>
                <a:ea typeface="微软雅黑" panose="020B0503020204020204" charset="-122"/>
              </a:rPr>
              <a:t> (</a:t>
            </a:r>
            <a:r>
              <a:rPr lang="en-US" b="1" dirty="0" err="1">
                <a:latin typeface="微软雅黑" panose="020B0503020204020204" charset="-122"/>
                <a:ea typeface="微软雅黑" panose="020B0503020204020204" charset="-122"/>
              </a:rPr>
              <a:t>yp</a:t>
            </a:r>
            <a:r>
              <a:rPr lang="en-US" dirty="0">
                <a:latin typeface="微软雅黑" panose="020B0503020204020204" charset="-122"/>
                <a:ea typeface="微软雅黑" panose="020B0503020204020204" charset="-122"/>
              </a:rPr>
              <a:t>)</a:t>
            </a:r>
            <a:r>
              <a:rPr lang="zh-CN" altLang="en-US" dirty="0">
                <a:latin typeface="微软雅黑" panose="020B0503020204020204" charset="-122"/>
                <a:ea typeface="微软雅黑" panose="020B0503020204020204" charset="-122"/>
              </a:rPr>
              <a:t>在</a:t>
            </a:r>
            <a:r>
              <a:rPr lang="en-US" dirty="0">
                <a:latin typeface="微软雅黑" panose="020B0503020204020204" charset="-122"/>
                <a:ea typeface="微软雅黑" panose="020B0503020204020204" charset="-122"/>
              </a:rPr>
              <a:t> </a:t>
            </a:r>
            <a:r>
              <a:rPr lang="en-US" b="1" dirty="0">
                <a:latin typeface="微软雅黑" panose="020B0503020204020204" charset="-122"/>
                <a:ea typeface="微软雅黑" panose="020B0503020204020204" charset="-122"/>
              </a:rPr>
              <a:t>%</a:t>
            </a:r>
            <a:r>
              <a:rPr lang="en-US" b="1" dirty="0" err="1">
                <a:latin typeface="微软雅黑" panose="020B0503020204020204" charset="-122"/>
                <a:ea typeface="微软雅黑" panose="020B0503020204020204" charset="-122"/>
              </a:rPr>
              <a:t>rsi</a:t>
            </a:r>
            <a:endParaRPr lang="en-US" b="1" dirty="0">
              <a:latin typeface="微软雅黑" panose="020B0503020204020204" charset="-122"/>
              <a:ea typeface="微软雅黑" panose="020B0503020204020204" charset="-122"/>
            </a:endParaRPr>
          </a:p>
          <a:p>
            <a:pPr lvl="1">
              <a:buClr>
                <a:srgbClr val="0D0D0D"/>
              </a:buClr>
            </a:pPr>
            <a:r>
              <a:rPr lang="en-US" dirty="0">
                <a:latin typeface="微软雅黑" panose="020B0503020204020204" charset="-122"/>
                <a:ea typeface="微软雅黑" panose="020B0503020204020204" charset="-122"/>
              </a:rPr>
              <a:t>64-bit </a:t>
            </a:r>
            <a:r>
              <a:rPr lang="zh-CN" altLang="en-US" dirty="0">
                <a:latin typeface="微软雅黑" panose="020B0503020204020204" charset="-122"/>
                <a:ea typeface="微软雅黑" panose="020B0503020204020204" charset="-122"/>
              </a:rPr>
              <a:t>指针</a:t>
            </a:r>
          </a:p>
          <a:p>
            <a:pPr>
              <a:buClr>
                <a:srgbClr val="FF99CC"/>
              </a:buClr>
            </a:pPr>
            <a:r>
              <a:rPr lang="en-US" dirty="0">
                <a:latin typeface="微软雅黑" panose="020B0503020204020204" charset="-122"/>
                <a:ea typeface="微软雅黑" panose="020B0503020204020204" charset="-122"/>
              </a:rPr>
              <a:t>不需要栈操作 (</a:t>
            </a:r>
            <a:r>
              <a:rPr lang="zh-CN" altLang="en-US" dirty="0">
                <a:latin typeface="微软雅黑" panose="020B0503020204020204" charset="-122"/>
                <a:ea typeface="微软雅黑" panose="020B0503020204020204" charset="-122"/>
              </a:rPr>
              <a:t>除了</a:t>
            </a:r>
            <a:r>
              <a:rPr lang="en-US" dirty="0">
                <a:latin typeface="微软雅黑" panose="020B0503020204020204" charset="-122"/>
                <a:ea typeface="微软雅黑" panose="020B0503020204020204" charset="-122"/>
              </a:rPr>
              <a:t> </a:t>
            </a:r>
            <a:r>
              <a:rPr lang="en-US" dirty="0">
                <a:latin typeface="微软雅黑" panose="020B0503020204020204" charset="-122"/>
                <a:ea typeface="微软雅黑" panose="020B0503020204020204" charset="-122"/>
                <a:cs typeface="Courier New" panose="02070309020205020404" charset="0"/>
              </a:rPr>
              <a:t>ret</a:t>
            </a:r>
            <a:r>
              <a:rPr lang="en-US" dirty="0">
                <a:latin typeface="微软雅黑" panose="020B0503020204020204" charset="-122"/>
                <a:ea typeface="微软雅黑" panose="020B0503020204020204" charset="-122"/>
              </a:rPr>
              <a:t>)</a:t>
            </a:r>
          </a:p>
          <a:p>
            <a:pPr>
              <a:buClr>
                <a:srgbClr val="FF99CC"/>
              </a:buClr>
            </a:pPr>
            <a:r>
              <a:rPr lang="en-US" dirty="0">
                <a:latin typeface="微软雅黑" panose="020B0503020204020204" charset="-122"/>
                <a:ea typeface="微软雅黑" panose="020B0503020204020204" charset="-122"/>
              </a:rPr>
              <a:t>避免栈</a:t>
            </a:r>
          </a:p>
          <a:p>
            <a:pPr lvl="1">
              <a:buClr>
                <a:srgbClr val="0D0D0D"/>
              </a:buClr>
            </a:pPr>
            <a:r>
              <a:rPr lang="en-US" dirty="0">
                <a:latin typeface="微软雅黑" panose="020B0503020204020204" charset="-122"/>
                <a:ea typeface="微软雅黑" panose="020B0503020204020204" charset="-122"/>
              </a:rPr>
              <a:t>可以在寄存器中保存所有</a:t>
            </a:r>
            <a:r>
              <a:rPr lang="zh-CN" altLang="en-US" dirty="0">
                <a:latin typeface="微软雅黑" panose="020B0503020204020204" charset="-122"/>
                <a:ea typeface="微软雅黑" panose="020B0503020204020204" charset="-122"/>
              </a:rPr>
              <a:t>局部</a:t>
            </a:r>
            <a:r>
              <a:rPr lang="en-US" dirty="0">
                <a:latin typeface="微软雅黑" panose="020B0503020204020204" charset="-122"/>
                <a:ea typeface="微软雅黑" panose="020B0503020204020204" charset="-122"/>
              </a:rPr>
              <a:t>信息</a:t>
            </a:r>
          </a:p>
        </p:txBody>
      </p:sp>
      <p:sp>
        <p:nvSpPr>
          <p:cNvPr id="5" name="燕尾形 4"/>
          <p:cNvSpPr/>
          <p:nvPr/>
        </p:nvSpPr>
        <p:spPr>
          <a:xfrm>
            <a:off x="0" y="494030"/>
            <a:ext cx="3766185"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latin typeface="Calibri" panose="020F0502020204030204" charset="0"/>
                <a:sym typeface="+mn-ea"/>
              </a:rPr>
              <a:t>x86-64 Long Swap</a:t>
            </a:r>
            <a:endParaRPr lang="zh-CN" altLang="en-US" sz="3200">
              <a:latin typeface="Calibri" panose="020F0502020204030204" charset="0"/>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2259">
                                            <p:txEl>
                                              <p:pRg st="1" end="1"/>
                                            </p:txEl>
                                          </p:spTgt>
                                        </p:tgtEl>
                                        <p:attrNameLst>
                                          <p:attrName>style.visibility</p:attrName>
                                        </p:attrNameLst>
                                      </p:cBhvr>
                                      <p:to>
                                        <p:strVal val="visible"/>
                                      </p:to>
                                    </p:set>
                                    <p:animEffect transition="in" filter="wipe(down)">
                                      <p:cBhvr>
                                        <p:cTn id="7" dur="500"/>
                                        <p:tgtEl>
                                          <p:spTgt spid="35225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52259">
                                            <p:txEl>
                                              <p:pRg st="2" end="2"/>
                                            </p:txEl>
                                          </p:spTgt>
                                        </p:tgtEl>
                                        <p:attrNameLst>
                                          <p:attrName>style.visibility</p:attrName>
                                        </p:attrNameLst>
                                      </p:cBhvr>
                                      <p:to>
                                        <p:strVal val="visible"/>
                                      </p:to>
                                    </p:set>
                                    <p:animEffect transition="in" filter="wipe(down)">
                                      <p:cBhvr>
                                        <p:cTn id="12" dur="500"/>
                                        <p:tgtEl>
                                          <p:spTgt spid="35225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52259">
                                            <p:txEl>
                                              <p:pRg st="3" end="3"/>
                                            </p:txEl>
                                          </p:spTgt>
                                        </p:tgtEl>
                                        <p:attrNameLst>
                                          <p:attrName>style.visibility</p:attrName>
                                        </p:attrNameLst>
                                      </p:cBhvr>
                                      <p:to>
                                        <p:strVal val="visible"/>
                                      </p:to>
                                    </p:set>
                                    <p:animEffect transition="in" filter="wipe(down)">
                                      <p:cBhvr>
                                        <p:cTn id="17" dur="500"/>
                                        <p:tgtEl>
                                          <p:spTgt spid="35225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52259">
                                            <p:txEl>
                                              <p:pRg st="4" end="4"/>
                                            </p:txEl>
                                          </p:spTgt>
                                        </p:tgtEl>
                                        <p:attrNameLst>
                                          <p:attrName>style.visibility</p:attrName>
                                        </p:attrNameLst>
                                      </p:cBhvr>
                                      <p:to>
                                        <p:strVal val="visible"/>
                                      </p:to>
                                    </p:set>
                                    <p:animEffect transition="in" filter="wipe(down)">
                                      <p:cBhvr>
                                        <p:cTn id="22" dur="500"/>
                                        <p:tgtEl>
                                          <p:spTgt spid="352259">
                                            <p:txEl>
                                              <p:pRg st="4" end="4"/>
                                            </p:txEl>
                                          </p:spTgt>
                                        </p:tgtEl>
                                      </p:cBhvr>
                                    </p:animEffect>
                                  </p:childTnLst>
                                </p:cTn>
                              </p:par>
                              <p:par>
                                <p:cTn id="23" presetID="22" presetClass="entr" presetSubtype="4" fill="hold" nodeType="withEffect">
                                  <p:stCondLst>
                                    <p:cond delay="0"/>
                                  </p:stCondLst>
                                  <p:childTnLst>
                                    <p:set>
                                      <p:cBhvr>
                                        <p:cTn id="24" dur="1" fill="hold">
                                          <p:stCondLst>
                                            <p:cond delay="0"/>
                                          </p:stCondLst>
                                        </p:cTn>
                                        <p:tgtEl>
                                          <p:spTgt spid="352259">
                                            <p:txEl>
                                              <p:pRg st="5" end="5"/>
                                            </p:txEl>
                                          </p:spTgt>
                                        </p:tgtEl>
                                        <p:attrNameLst>
                                          <p:attrName>style.visibility</p:attrName>
                                        </p:attrNameLst>
                                      </p:cBhvr>
                                      <p:to>
                                        <p:strVal val="visible"/>
                                      </p:to>
                                    </p:set>
                                    <p:animEffect transition="in" filter="wipe(down)">
                                      <p:cBhvr>
                                        <p:cTn id="25" dur="500"/>
                                        <p:tgtEl>
                                          <p:spTgt spid="3522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94030"/>
            <a:ext cx="3766185"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latin typeface="Calibri" panose="020F0502020204030204" charset="0"/>
                <a:sym typeface="+mn-ea"/>
              </a:rPr>
              <a:t>x86-64 Long Swap</a:t>
            </a:r>
            <a:endParaRPr lang="zh-CN" altLang="en-US" sz="3200">
              <a:latin typeface="Calibri" panose="020F0502020204030204" charset="0"/>
              <a:sym typeface="+mn-ea"/>
            </a:endParaRPr>
          </a:p>
        </p:txBody>
      </p:sp>
      <p:sp>
        <p:nvSpPr>
          <p:cNvPr id="33795" name="Rectangle 4"/>
          <p:cNvSpPr>
            <a:spLocks noChangeArrowheads="1"/>
          </p:cNvSpPr>
          <p:nvPr/>
        </p:nvSpPr>
        <p:spPr bwMode="auto">
          <a:xfrm>
            <a:off x="381000" y="1168400"/>
            <a:ext cx="4648200" cy="2581910"/>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800">
                <a:latin typeface="Courier New" panose="02070309020205020404" charset="0"/>
              </a:rPr>
              <a:t>/* Swap, using local array */</a:t>
            </a:r>
          </a:p>
          <a:p>
            <a:pPr eaLnBrk="0" hangingPunct="0">
              <a:tabLst>
                <a:tab pos="457200" algn="l"/>
                <a:tab pos="1485900" algn="l"/>
              </a:tabLst>
            </a:pPr>
            <a:r>
              <a:rPr lang="en-US" sz="1800">
                <a:latin typeface="Courier New" panose="02070309020205020404" charset="0"/>
              </a:rPr>
              <a:t>void swap_a(long *xp, long *yp) {</a:t>
            </a:r>
          </a:p>
          <a:p>
            <a:pPr eaLnBrk="0" hangingPunct="0">
              <a:tabLst>
                <a:tab pos="457200" algn="l"/>
                <a:tab pos="1485900" algn="l"/>
              </a:tabLst>
            </a:pPr>
            <a:r>
              <a:rPr lang="en-US" sz="1800">
                <a:latin typeface="Courier New" panose="02070309020205020404" charset="0"/>
              </a:rPr>
              <a:t>    volatile long loc[2];</a:t>
            </a:r>
          </a:p>
          <a:p>
            <a:pPr eaLnBrk="0" hangingPunct="0">
              <a:tabLst>
                <a:tab pos="457200" algn="l"/>
                <a:tab pos="1485900" algn="l"/>
              </a:tabLst>
            </a:pPr>
            <a:r>
              <a:rPr lang="en-US" sz="1800">
                <a:latin typeface="Courier New" panose="02070309020205020404" charset="0"/>
              </a:rPr>
              <a:t>    loc[0] = *xp;</a:t>
            </a:r>
          </a:p>
          <a:p>
            <a:pPr eaLnBrk="0" hangingPunct="0">
              <a:tabLst>
                <a:tab pos="457200" algn="l"/>
                <a:tab pos="1485900" algn="l"/>
              </a:tabLst>
            </a:pPr>
            <a:r>
              <a:rPr lang="en-US" sz="1800">
                <a:latin typeface="Courier New" panose="02070309020205020404" charset="0"/>
              </a:rPr>
              <a:t>    loc[1] = *yp;</a:t>
            </a:r>
          </a:p>
          <a:p>
            <a:pPr eaLnBrk="0" hangingPunct="0">
              <a:tabLst>
                <a:tab pos="457200" algn="l"/>
                <a:tab pos="1485900" algn="l"/>
              </a:tabLst>
            </a:pPr>
            <a:r>
              <a:rPr lang="en-US" sz="1800">
                <a:latin typeface="Courier New" panose="02070309020205020404" charset="0"/>
              </a:rPr>
              <a:t>    *xp = loc[1];</a:t>
            </a:r>
          </a:p>
          <a:p>
            <a:pPr eaLnBrk="0" hangingPunct="0">
              <a:tabLst>
                <a:tab pos="457200" algn="l"/>
                <a:tab pos="1485900" algn="l"/>
              </a:tabLst>
            </a:pPr>
            <a:r>
              <a:rPr lang="en-US" sz="1800">
                <a:latin typeface="Courier New" panose="02070309020205020404" charset="0"/>
              </a:rPr>
              <a:t>    *yp = loc[0];</a:t>
            </a:r>
          </a:p>
          <a:p>
            <a:pPr eaLnBrk="0" hangingPunct="0">
              <a:tabLst>
                <a:tab pos="457200" algn="l"/>
                <a:tab pos="1485900" algn="l"/>
              </a:tabLst>
            </a:pPr>
            <a:r>
              <a:rPr lang="en-US" sz="1800">
                <a:latin typeface="Courier New" panose="02070309020205020404" charset="0"/>
              </a:rPr>
              <a:t>}</a:t>
            </a:r>
          </a:p>
        </p:txBody>
      </p:sp>
      <p:sp>
        <p:nvSpPr>
          <p:cNvPr id="33796" name="Rectangle 5"/>
          <p:cNvSpPr>
            <a:spLocks noChangeArrowheads="1"/>
          </p:cNvSpPr>
          <p:nvPr/>
        </p:nvSpPr>
        <p:spPr bwMode="auto">
          <a:xfrm>
            <a:off x="5334000" y="1103313"/>
            <a:ext cx="3581400" cy="2858770"/>
          </a:xfrm>
          <a:prstGeom prst="rect">
            <a:avLst/>
          </a:prstGeom>
          <a:noFill/>
          <a:ln w="12700">
            <a:noFill/>
            <a:miter lim="800000"/>
          </a:ln>
        </p:spPr>
        <p:txBody>
          <a:bodyPr lIns="90487" tIns="44450" rIns="90487" bIns="44450">
            <a:spAutoFit/>
          </a:bodyPr>
          <a:lstStyle/>
          <a:p>
            <a:pPr eaLnBrk="0" hangingPunct="0">
              <a:tabLst>
                <a:tab pos="457200" algn="l"/>
                <a:tab pos="1485900" algn="l"/>
              </a:tabLst>
            </a:pPr>
            <a:r>
              <a:rPr lang="en-US" sz="1800">
                <a:latin typeface="Courier New" panose="02070309020205020404" charset="0"/>
              </a:rPr>
              <a:t>swap_a:</a:t>
            </a:r>
          </a:p>
          <a:p>
            <a:pPr eaLnBrk="0" hangingPunct="0">
              <a:tabLst>
                <a:tab pos="457200" algn="l"/>
                <a:tab pos="1485900" algn="l"/>
              </a:tabLst>
            </a:pPr>
            <a:r>
              <a:rPr lang="en-US" sz="1800">
                <a:latin typeface="Courier New" panose="02070309020205020404" charset="0"/>
              </a:rPr>
              <a:t>  movq  (%rdi), %rax</a:t>
            </a:r>
          </a:p>
          <a:p>
            <a:pPr eaLnBrk="0" hangingPunct="0">
              <a:tabLst>
                <a:tab pos="457200" algn="l"/>
                <a:tab pos="1485900" algn="l"/>
              </a:tabLst>
            </a:pPr>
            <a:r>
              <a:rPr lang="en-US" sz="1800">
                <a:latin typeface="Courier New" panose="02070309020205020404" charset="0"/>
              </a:rPr>
              <a:t>  movq  %rax, -24(%rsp)</a:t>
            </a:r>
          </a:p>
          <a:p>
            <a:pPr eaLnBrk="0" hangingPunct="0">
              <a:tabLst>
                <a:tab pos="457200" algn="l"/>
                <a:tab pos="1485900" algn="l"/>
              </a:tabLst>
            </a:pPr>
            <a:r>
              <a:rPr lang="en-US" sz="1800">
                <a:latin typeface="Courier New" panose="02070309020205020404" charset="0"/>
              </a:rPr>
              <a:t>  movq  (%rsi), %rax</a:t>
            </a:r>
          </a:p>
          <a:p>
            <a:pPr eaLnBrk="0" hangingPunct="0">
              <a:tabLst>
                <a:tab pos="457200" algn="l"/>
                <a:tab pos="1485900" algn="l"/>
              </a:tabLst>
            </a:pPr>
            <a:r>
              <a:rPr lang="en-US" sz="1800">
                <a:latin typeface="Courier New" panose="02070309020205020404" charset="0"/>
              </a:rPr>
              <a:t>  movq  %rax, -16(%rsp)</a:t>
            </a:r>
          </a:p>
          <a:p>
            <a:pPr eaLnBrk="0" hangingPunct="0">
              <a:tabLst>
                <a:tab pos="457200" algn="l"/>
                <a:tab pos="1485900" algn="l"/>
              </a:tabLst>
            </a:pPr>
            <a:r>
              <a:rPr lang="en-US" sz="1800">
                <a:latin typeface="Courier New" panose="02070309020205020404" charset="0"/>
              </a:rPr>
              <a:t>  movq  -16(%rsp), %rax</a:t>
            </a:r>
          </a:p>
          <a:p>
            <a:pPr eaLnBrk="0" hangingPunct="0">
              <a:tabLst>
                <a:tab pos="457200" algn="l"/>
                <a:tab pos="1485900" algn="l"/>
              </a:tabLst>
            </a:pPr>
            <a:r>
              <a:rPr lang="en-US" sz="1800">
                <a:latin typeface="Courier New" panose="02070309020205020404" charset="0"/>
              </a:rPr>
              <a:t>  movq  %rax, (%rdi)</a:t>
            </a:r>
          </a:p>
          <a:p>
            <a:pPr eaLnBrk="0" hangingPunct="0">
              <a:tabLst>
                <a:tab pos="457200" algn="l"/>
                <a:tab pos="1485900" algn="l"/>
              </a:tabLst>
            </a:pPr>
            <a:r>
              <a:rPr lang="en-US" sz="1800">
                <a:latin typeface="Courier New" panose="02070309020205020404" charset="0"/>
              </a:rPr>
              <a:t>  movq  -24(%rsp), %rax</a:t>
            </a:r>
          </a:p>
          <a:p>
            <a:pPr eaLnBrk="0" hangingPunct="0">
              <a:tabLst>
                <a:tab pos="457200" algn="l"/>
                <a:tab pos="1485900" algn="l"/>
              </a:tabLst>
            </a:pPr>
            <a:r>
              <a:rPr lang="en-US" sz="1800">
                <a:latin typeface="Courier New" panose="02070309020205020404" charset="0"/>
              </a:rPr>
              <a:t>  movq  %rax, (%rsi)</a:t>
            </a:r>
          </a:p>
          <a:p>
            <a:pPr eaLnBrk="0" hangingPunct="0">
              <a:tabLst>
                <a:tab pos="457200" algn="l"/>
                <a:tab pos="1485900" algn="l"/>
              </a:tabLst>
            </a:pPr>
            <a:r>
              <a:rPr lang="en-US" sz="1800">
                <a:latin typeface="Courier New" panose="02070309020205020404" charset="0"/>
              </a:rPr>
              <a:t>  ret</a:t>
            </a:r>
          </a:p>
        </p:txBody>
      </p:sp>
      <p:sp>
        <p:nvSpPr>
          <p:cNvPr id="354307" name="Rectangle 3"/>
          <p:cNvSpPr>
            <a:spLocks noGrp="1" noChangeArrowheads="1"/>
          </p:cNvSpPr>
          <p:nvPr/>
        </p:nvSpPr>
        <p:spPr>
          <a:xfrm>
            <a:off x="290513" y="4572000"/>
            <a:ext cx="4814887" cy="15240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FF99CC"/>
              </a:buClr>
            </a:pPr>
            <a:r>
              <a:rPr lang="en-US" dirty="0">
                <a:latin typeface="微软雅黑" panose="020B0503020204020204" charset="-122"/>
                <a:ea typeface="微软雅黑" panose="020B0503020204020204" charset="-122"/>
              </a:rPr>
              <a:t>避免栈指针更改</a:t>
            </a:r>
          </a:p>
          <a:p>
            <a:pPr lvl="1">
              <a:buClr>
                <a:srgbClr val="0D0D0D"/>
              </a:buClr>
            </a:pPr>
            <a:r>
              <a:rPr lang="en-US" dirty="0">
                <a:latin typeface="微软雅黑" panose="020B0503020204020204" charset="-122"/>
                <a:ea typeface="微软雅黑" panose="020B0503020204020204" charset="-122"/>
              </a:rPr>
              <a:t>可以在栈指针之外的小窗口中保存所有信息</a:t>
            </a:r>
          </a:p>
        </p:txBody>
      </p:sp>
      <p:sp>
        <p:nvSpPr>
          <p:cNvPr id="354310" name="Rectangle 6"/>
          <p:cNvSpPr>
            <a:spLocks noChangeArrowheads="1"/>
          </p:cNvSpPr>
          <p:nvPr/>
        </p:nvSpPr>
        <p:spPr bwMode="auto">
          <a:xfrm>
            <a:off x="6096000" y="4648200"/>
            <a:ext cx="1066800" cy="381000"/>
          </a:xfrm>
          <a:prstGeom prst="rect">
            <a:avLst/>
          </a:prstGeom>
          <a:solidFill>
            <a:srgbClr val="FFCCCC"/>
          </a:solidFill>
          <a:ln w="25400">
            <a:solidFill>
              <a:schemeClr val="tx1"/>
            </a:solidFill>
            <a:miter lim="800000"/>
          </a:ln>
        </p:spPr>
        <p:txBody>
          <a:bodyPr wrap="none" anchor="ctr"/>
          <a:lstStyle/>
          <a:p>
            <a:pPr algn="ctr" eaLnBrk="0" hangingPunct="0"/>
            <a:r>
              <a:rPr lang="en-US" sz="1800">
                <a:latin typeface="Calibri" panose="020F0502020204030204" charset="0"/>
              </a:rPr>
              <a:t>rtn Ptr</a:t>
            </a:r>
          </a:p>
        </p:txBody>
      </p:sp>
      <p:sp>
        <p:nvSpPr>
          <p:cNvPr id="354311" name="Rectangle 7"/>
          <p:cNvSpPr>
            <a:spLocks noChangeArrowheads="1"/>
          </p:cNvSpPr>
          <p:nvPr/>
        </p:nvSpPr>
        <p:spPr bwMode="auto">
          <a:xfrm>
            <a:off x="6096000" y="5029200"/>
            <a:ext cx="1066800" cy="381000"/>
          </a:xfrm>
          <a:prstGeom prst="rect">
            <a:avLst/>
          </a:prstGeom>
          <a:solidFill>
            <a:srgbClr val="FFCCCC"/>
          </a:solidFill>
          <a:ln w="25400">
            <a:solidFill>
              <a:schemeClr val="tx1"/>
            </a:solidFill>
            <a:miter lim="800000"/>
          </a:ln>
        </p:spPr>
        <p:txBody>
          <a:bodyPr wrap="none" anchor="ctr"/>
          <a:lstStyle/>
          <a:p>
            <a:pPr algn="ctr" eaLnBrk="0" hangingPunct="0"/>
            <a:r>
              <a:rPr lang="en-US" sz="1800">
                <a:latin typeface="Calibri" panose="020F0502020204030204" charset="0"/>
              </a:rPr>
              <a:t>unused</a:t>
            </a:r>
          </a:p>
        </p:txBody>
      </p:sp>
      <p:sp>
        <p:nvSpPr>
          <p:cNvPr id="354312" name="Line 8"/>
          <p:cNvSpPr>
            <a:spLocks noChangeShapeType="1"/>
          </p:cNvSpPr>
          <p:nvPr/>
        </p:nvSpPr>
        <p:spPr bwMode="auto">
          <a:xfrm flipH="1">
            <a:off x="7162800" y="4814888"/>
            <a:ext cx="457200" cy="0"/>
          </a:xfrm>
          <a:prstGeom prst="line">
            <a:avLst/>
          </a:prstGeom>
          <a:noFill/>
          <a:ln w="25400">
            <a:solidFill>
              <a:schemeClr val="tx1"/>
            </a:solidFill>
            <a:round/>
            <a:tailEnd type="triangle" w="med" len="med"/>
          </a:ln>
        </p:spPr>
        <p:txBody>
          <a:bodyPr wrap="none" anchor="ctr"/>
          <a:lstStyle/>
          <a:p>
            <a:endParaRPr lang="en-US"/>
          </a:p>
        </p:txBody>
      </p:sp>
      <p:sp>
        <p:nvSpPr>
          <p:cNvPr id="354313" name="Text Box 9"/>
          <p:cNvSpPr txBox="1">
            <a:spLocks noChangeArrowheads="1"/>
          </p:cNvSpPr>
          <p:nvPr/>
        </p:nvSpPr>
        <p:spPr bwMode="auto">
          <a:xfrm>
            <a:off x="7772400" y="4662488"/>
            <a:ext cx="731520" cy="368300"/>
          </a:xfrm>
          <a:prstGeom prst="rect">
            <a:avLst/>
          </a:prstGeom>
          <a:noFill/>
          <a:ln w="25400">
            <a:noFill/>
            <a:miter lim="800000"/>
          </a:ln>
        </p:spPr>
        <p:txBody>
          <a:bodyPr wrap="none">
            <a:spAutoFit/>
          </a:bodyPr>
          <a:lstStyle/>
          <a:p>
            <a:pPr eaLnBrk="0" hangingPunct="0"/>
            <a:r>
              <a:rPr lang="en-US" sz="1800">
                <a:latin typeface="Courier New" panose="02070309020205020404" charset="0"/>
              </a:rPr>
              <a:t>%rsp</a:t>
            </a:r>
          </a:p>
        </p:txBody>
      </p:sp>
      <p:sp>
        <p:nvSpPr>
          <p:cNvPr id="354314" name="Text Box 10"/>
          <p:cNvSpPr txBox="1">
            <a:spLocks noChangeArrowheads="1"/>
          </p:cNvSpPr>
          <p:nvPr/>
        </p:nvSpPr>
        <p:spPr bwMode="auto">
          <a:xfrm>
            <a:off x="5334000" y="5070475"/>
            <a:ext cx="731838" cy="368300"/>
          </a:xfrm>
          <a:prstGeom prst="rect">
            <a:avLst/>
          </a:prstGeom>
          <a:noFill/>
          <a:ln w="19050">
            <a:noFill/>
            <a:miter lim="800000"/>
            <a:tailEnd type="none" w="sm" len="sm"/>
          </a:ln>
        </p:spPr>
        <p:txBody>
          <a:bodyPr lIns="45720" rIns="45720">
            <a:spAutoFit/>
          </a:bodyPr>
          <a:lstStyle/>
          <a:p>
            <a:pPr algn="r" eaLnBrk="0" hangingPunct="0"/>
            <a:r>
              <a:rPr lang="en-US" sz="1800">
                <a:latin typeface="Arial" panose="020B0604020202020204" pitchFamily="34" charset="0"/>
                <a:ea typeface="Arial" panose="020B0604020202020204" pitchFamily="34" charset="0"/>
                <a:cs typeface="Arial" panose="020B0604020202020204" pitchFamily="34" charset="0"/>
              </a:rPr>
              <a:t>−</a:t>
            </a:r>
            <a:r>
              <a:rPr lang="en-US" sz="1800">
                <a:latin typeface="Calibri" panose="020F0502020204030204" charset="0"/>
              </a:rPr>
              <a:t>8</a:t>
            </a:r>
          </a:p>
        </p:txBody>
      </p:sp>
      <p:sp>
        <p:nvSpPr>
          <p:cNvPr id="354315" name="Rectangle 11"/>
          <p:cNvSpPr>
            <a:spLocks noChangeArrowheads="1"/>
          </p:cNvSpPr>
          <p:nvPr/>
        </p:nvSpPr>
        <p:spPr bwMode="auto">
          <a:xfrm>
            <a:off x="6096000" y="5410200"/>
            <a:ext cx="1066800" cy="381000"/>
          </a:xfrm>
          <a:prstGeom prst="rect">
            <a:avLst/>
          </a:prstGeom>
          <a:solidFill>
            <a:srgbClr val="FFCCCC"/>
          </a:solidFill>
          <a:ln w="25400">
            <a:solidFill>
              <a:schemeClr val="tx1"/>
            </a:solidFill>
            <a:miter lim="800000"/>
          </a:ln>
        </p:spPr>
        <p:txBody>
          <a:bodyPr wrap="none" anchor="ctr"/>
          <a:lstStyle/>
          <a:p>
            <a:pPr algn="ctr" eaLnBrk="0" hangingPunct="0"/>
            <a:r>
              <a:rPr lang="en-US" sz="1800">
                <a:latin typeface="Courier New" panose="02070309020205020404" charset="0"/>
              </a:rPr>
              <a:t>loc[1]</a:t>
            </a:r>
          </a:p>
        </p:txBody>
      </p:sp>
      <p:sp>
        <p:nvSpPr>
          <p:cNvPr id="354316" name="Rectangle 12"/>
          <p:cNvSpPr>
            <a:spLocks noChangeArrowheads="1"/>
          </p:cNvSpPr>
          <p:nvPr/>
        </p:nvSpPr>
        <p:spPr bwMode="auto">
          <a:xfrm>
            <a:off x="6096000" y="5791200"/>
            <a:ext cx="1066800" cy="381000"/>
          </a:xfrm>
          <a:prstGeom prst="rect">
            <a:avLst/>
          </a:prstGeom>
          <a:solidFill>
            <a:srgbClr val="FFCCCC"/>
          </a:solidFill>
          <a:ln w="25400">
            <a:solidFill>
              <a:schemeClr val="tx1"/>
            </a:solidFill>
            <a:miter lim="800000"/>
          </a:ln>
        </p:spPr>
        <p:txBody>
          <a:bodyPr wrap="none" anchor="ctr"/>
          <a:lstStyle/>
          <a:p>
            <a:pPr algn="ctr" eaLnBrk="0" hangingPunct="0"/>
            <a:r>
              <a:rPr lang="en-US" sz="1800">
                <a:latin typeface="Courier New" panose="02070309020205020404" charset="0"/>
              </a:rPr>
              <a:t>loc[0]</a:t>
            </a:r>
          </a:p>
        </p:txBody>
      </p:sp>
      <p:sp>
        <p:nvSpPr>
          <p:cNvPr id="354317" name="Text Box 13"/>
          <p:cNvSpPr txBox="1">
            <a:spLocks noChangeArrowheads="1"/>
          </p:cNvSpPr>
          <p:nvPr/>
        </p:nvSpPr>
        <p:spPr bwMode="auto">
          <a:xfrm>
            <a:off x="5334000" y="5451475"/>
            <a:ext cx="731838" cy="368300"/>
          </a:xfrm>
          <a:prstGeom prst="rect">
            <a:avLst/>
          </a:prstGeom>
          <a:noFill/>
          <a:ln w="19050">
            <a:noFill/>
            <a:miter lim="800000"/>
            <a:tailEnd type="none" w="sm" len="sm"/>
          </a:ln>
        </p:spPr>
        <p:txBody>
          <a:bodyPr lIns="45720" rIns="45720">
            <a:spAutoFit/>
          </a:bodyPr>
          <a:lstStyle/>
          <a:p>
            <a:pPr algn="r" eaLnBrk="0" hangingPunct="0"/>
            <a:r>
              <a:rPr lang="en-US" sz="1800">
                <a:latin typeface="Arial" panose="020B0604020202020204" pitchFamily="34" charset="0"/>
                <a:ea typeface="Arial" panose="020B0604020202020204" pitchFamily="34" charset="0"/>
                <a:cs typeface="Arial" panose="020B0604020202020204" pitchFamily="34" charset="0"/>
              </a:rPr>
              <a:t>−</a:t>
            </a:r>
            <a:r>
              <a:rPr lang="en-US" sz="1800">
                <a:latin typeface="Calibri" panose="020F0502020204030204" charset="0"/>
              </a:rPr>
              <a:t>16</a:t>
            </a:r>
          </a:p>
        </p:txBody>
      </p:sp>
      <p:sp>
        <p:nvSpPr>
          <p:cNvPr id="354318" name="Text Box 14"/>
          <p:cNvSpPr txBox="1">
            <a:spLocks noChangeArrowheads="1"/>
          </p:cNvSpPr>
          <p:nvPr/>
        </p:nvSpPr>
        <p:spPr bwMode="auto">
          <a:xfrm>
            <a:off x="5334000" y="5832475"/>
            <a:ext cx="731838" cy="368300"/>
          </a:xfrm>
          <a:prstGeom prst="rect">
            <a:avLst/>
          </a:prstGeom>
          <a:noFill/>
          <a:ln w="19050">
            <a:noFill/>
            <a:miter lim="800000"/>
            <a:tailEnd type="none" w="sm" len="sm"/>
          </a:ln>
        </p:spPr>
        <p:txBody>
          <a:bodyPr lIns="45720" rIns="45720">
            <a:spAutoFit/>
          </a:bodyPr>
          <a:lstStyle/>
          <a:p>
            <a:pPr algn="r" eaLnBrk="0" hangingPunct="0"/>
            <a:r>
              <a:rPr lang="en-US" sz="1800">
                <a:latin typeface="Arial" panose="020B0604020202020204" pitchFamily="34" charset="0"/>
                <a:ea typeface="Arial" panose="020B0604020202020204" pitchFamily="34" charset="0"/>
                <a:cs typeface="Arial" panose="020B0604020202020204" pitchFamily="34" charset="0"/>
              </a:rPr>
              <a:t>−</a:t>
            </a:r>
            <a:r>
              <a:rPr lang="en-US" sz="1800">
                <a:latin typeface="Calibri" panose="020F0502020204030204" charset="0"/>
              </a:rPr>
              <a:t>24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4307">
                                            <p:txEl>
                                              <p:pRg st="0" end="0"/>
                                            </p:txEl>
                                          </p:spTgt>
                                        </p:tgtEl>
                                        <p:attrNameLst>
                                          <p:attrName>style.visibility</p:attrName>
                                        </p:attrNameLst>
                                      </p:cBhvr>
                                      <p:to>
                                        <p:strVal val="visible"/>
                                      </p:to>
                                    </p:set>
                                    <p:animEffect transition="in" filter="wipe(down)">
                                      <p:cBhvr>
                                        <p:cTn id="7" dur="500"/>
                                        <p:tgtEl>
                                          <p:spTgt spid="354307">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54307">
                                            <p:txEl>
                                              <p:pRg st="1" end="1"/>
                                            </p:txEl>
                                          </p:spTgt>
                                        </p:tgtEl>
                                        <p:attrNameLst>
                                          <p:attrName>style.visibility</p:attrName>
                                        </p:attrNameLst>
                                      </p:cBhvr>
                                      <p:to>
                                        <p:strVal val="visible"/>
                                      </p:to>
                                    </p:set>
                                    <p:animEffect transition="in" filter="wipe(down)">
                                      <p:cBhvr>
                                        <p:cTn id="10" dur="500"/>
                                        <p:tgtEl>
                                          <p:spTgt spid="3543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35843" name="Rectangle 4"/>
          <p:cNvSpPr>
            <a:spLocks noChangeArrowheads="1"/>
          </p:cNvSpPr>
          <p:nvPr/>
        </p:nvSpPr>
        <p:spPr bwMode="auto">
          <a:xfrm>
            <a:off x="238760" y="1435100"/>
            <a:ext cx="4329114" cy="1473835"/>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latin typeface="Courier New" panose="02070309020205020404" charset="0"/>
              </a:rPr>
              <a:t>/* Swap a[</a:t>
            </a:r>
            <a:r>
              <a:rPr lang="en-US" sz="1800" dirty="0" err="1">
                <a:latin typeface="Courier New" panose="02070309020205020404" charset="0"/>
              </a:rPr>
              <a:t>i</a:t>
            </a:r>
            <a:r>
              <a:rPr lang="en-US" sz="1800" dirty="0">
                <a:latin typeface="Courier New" panose="02070309020205020404" charset="0"/>
              </a:rPr>
              <a:t>] &amp; a[i+1] */</a:t>
            </a:r>
          </a:p>
          <a:p>
            <a:pPr eaLnBrk="0" hangingPunct="0">
              <a:tabLst>
                <a:tab pos="457200" algn="l"/>
                <a:tab pos="1485900" algn="l"/>
              </a:tabLst>
            </a:pPr>
            <a:r>
              <a:rPr lang="en-US" sz="1800" dirty="0">
                <a:latin typeface="Courier New" panose="02070309020205020404" charset="0"/>
              </a:rPr>
              <a:t>void </a:t>
            </a:r>
            <a:r>
              <a:rPr lang="en-US" sz="1800" dirty="0" err="1">
                <a:latin typeface="Courier New" panose="02070309020205020404" charset="0"/>
              </a:rPr>
              <a:t>swap_ele</a:t>
            </a:r>
            <a:r>
              <a:rPr lang="en-US" sz="1800" dirty="0">
                <a:latin typeface="Courier New" panose="02070309020205020404" charset="0"/>
              </a:rPr>
              <a:t>(long a[],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i</a:t>
            </a: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    swap(&amp;a[</a:t>
            </a:r>
            <a:r>
              <a:rPr lang="en-US" sz="1800" dirty="0" err="1">
                <a:latin typeface="Courier New" panose="02070309020205020404" charset="0"/>
              </a:rPr>
              <a:t>i</a:t>
            </a:r>
            <a:r>
              <a:rPr lang="en-US" sz="1800" dirty="0">
                <a:latin typeface="Courier New" panose="02070309020205020404" charset="0"/>
              </a:rPr>
              <a:t>], &amp;a[i+1]);</a:t>
            </a:r>
          </a:p>
          <a:p>
            <a:pPr eaLnBrk="0" hangingPunct="0">
              <a:tabLst>
                <a:tab pos="457200" algn="l"/>
                <a:tab pos="1485900" algn="l"/>
              </a:tabLst>
            </a:pPr>
            <a:r>
              <a:rPr lang="en-US" sz="1800" dirty="0">
                <a:latin typeface="Courier New" panose="02070309020205020404" charset="0"/>
              </a:rPr>
              <a:t>}</a:t>
            </a:r>
          </a:p>
        </p:txBody>
      </p:sp>
      <p:sp>
        <p:nvSpPr>
          <p:cNvPr id="35842" name="Rectangle 3"/>
          <p:cNvSpPr>
            <a:spLocks noGrp="1" noChangeArrowheads="1"/>
          </p:cNvSpPr>
          <p:nvPr/>
        </p:nvSpPr>
        <p:spPr>
          <a:xfrm>
            <a:off x="4909185" y="1233170"/>
            <a:ext cx="4129086" cy="16764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FF99CC"/>
              </a:buClr>
            </a:pPr>
            <a:r>
              <a:rPr lang="en-US" sz="2000" dirty="0">
                <a:sym typeface="+mn-ea"/>
              </a:rPr>
              <a:t>调用swap</a:t>
            </a:r>
            <a:r>
              <a:rPr lang="zh-CN" altLang="en-US" sz="2000" dirty="0">
                <a:ea typeface="宋体" panose="02010600030101010101" pitchFamily="2" charset="-122"/>
                <a:sym typeface="+mn-ea"/>
              </a:rPr>
              <a:t>时</a:t>
            </a:r>
            <a:r>
              <a:rPr lang="en-US" sz="2000" dirty="0">
                <a:latin typeface="Calibri" panose="020F0502020204030204" charset="0"/>
              </a:rPr>
              <a:t>没有交换持有的值。</a:t>
            </a:r>
          </a:p>
          <a:p>
            <a:pPr>
              <a:buClr>
                <a:srgbClr val="FF99CC"/>
              </a:buClr>
            </a:pPr>
            <a:r>
              <a:rPr lang="en-US" sz="2000">
                <a:latin typeface="Calibri" panose="020F0502020204030204" charset="0"/>
              </a:rPr>
              <a:t>不需要被调用者保存寄存器</a:t>
            </a:r>
            <a:r>
              <a:rPr lang="zh-CN" altLang="en-US" sz="2000">
                <a:latin typeface="Calibri" panose="020F0502020204030204" charset="0"/>
                <a:ea typeface="宋体" panose="02010600030101010101" pitchFamily="2" charset="-122"/>
              </a:rPr>
              <a:t>。</a:t>
            </a:r>
          </a:p>
          <a:p>
            <a:pPr>
              <a:buClr>
                <a:srgbClr val="FF99CC"/>
              </a:buClr>
            </a:pPr>
            <a:r>
              <a:rPr lang="en-US" sz="2000" dirty="0">
                <a:latin typeface="Courier New" panose="02070309020205020404" charset="0"/>
                <a:cs typeface="Courier New" panose="02070309020205020404" charset="0"/>
              </a:rPr>
              <a:t>rep</a:t>
            </a:r>
            <a:r>
              <a:rPr lang="en-US" sz="2000" dirty="0">
                <a:latin typeface="Calibri" panose="020F0502020204030204" charset="0"/>
              </a:rPr>
              <a:t> </a:t>
            </a:r>
            <a:r>
              <a:rPr lang="zh-CN" altLang="en-US" sz="2000" dirty="0">
                <a:latin typeface="Calibri" panose="020F0502020204030204" charset="0"/>
                <a:ea typeface="宋体" panose="02010600030101010101" pitchFamily="2" charset="-122"/>
              </a:rPr>
              <a:t>作为</a:t>
            </a:r>
            <a:r>
              <a:rPr lang="en-US" sz="2000" dirty="0">
                <a:latin typeface="Calibri" panose="020F0502020204030204" charset="0"/>
              </a:rPr>
              <a:t> no-op</a:t>
            </a:r>
            <a:r>
              <a:rPr lang="zh-CN" altLang="en-US" sz="2000" dirty="0">
                <a:latin typeface="Calibri" panose="020F0502020204030204" charset="0"/>
                <a:ea typeface="宋体" panose="02010600030101010101" pitchFamily="2" charset="-122"/>
              </a:rPr>
              <a:t>（非运算）指令插入。</a:t>
            </a:r>
          </a:p>
          <a:p>
            <a:pPr marL="457200" lvl="1" indent="0">
              <a:buNone/>
            </a:pPr>
            <a:endParaRPr lang="en-US" sz="1600" dirty="0">
              <a:latin typeface="Calibri" panose="020F0502020204030204" charset="0"/>
            </a:endParaRPr>
          </a:p>
        </p:txBody>
      </p:sp>
      <p:sp>
        <p:nvSpPr>
          <p:cNvPr id="35844" name="Rectangle 5"/>
          <p:cNvSpPr>
            <a:spLocks noChangeArrowheads="1"/>
          </p:cNvSpPr>
          <p:nvPr/>
        </p:nvSpPr>
        <p:spPr bwMode="auto">
          <a:xfrm>
            <a:off x="547689" y="3396618"/>
            <a:ext cx="8048652" cy="2550795"/>
          </a:xfrm>
          <a:prstGeom prst="rect">
            <a:avLst/>
          </a:prstGeom>
          <a:noFill/>
          <a:ln w="12700">
            <a:noFill/>
            <a:miter lim="800000"/>
          </a:ln>
        </p:spPr>
        <p:txBody>
          <a:bodyPr wrap="square" lIns="90487" tIns="44450" rIns="90487" bIns="44450">
            <a:spAutoFit/>
          </a:bodyPr>
          <a:lstStyle/>
          <a:p>
            <a:pPr eaLnBrk="0" hangingPunct="0">
              <a:tabLst>
                <a:tab pos="464820" algn="l"/>
                <a:tab pos="1485900" algn="l"/>
                <a:tab pos="4692650" algn="l"/>
              </a:tabLst>
            </a:pPr>
            <a:r>
              <a:rPr lang="en-US" sz="2000" dirty="0" err="1">
                <a:latin typeface="Courier New" panose="02070309020205020404" charset="0"/>
              </a:rPr>
              <a:t>swap_ele</a:t>
            </a:r>
            <a:r>
              <a:rPr lang="en-US" sz="2000" dirty="0">
                <a:latin typeface="Courier New" panose="02070309020205020404" charset="0"/>
              </a:rPr>
              <a:t>:</a:t>
            </a:r>
          </a:p>
          <a:p>
            <a:pPr eaLnBrk="0" hangingPunct="0">
              <a:tabLst>
                <a:tab pos="464820" algn="l"/>
                <a:tab pos="1485900" algn="l"/>
                <a:tab pos="4692650" algn="l"/>
              </a:tabLst>
            </a:pPr>
            <a:r>
              <a:rPr lang="en-US" sz="2000" dirty="0">
                <a:latin typeface="Courier New" panose="02070309020205020404" charset="0"/>
              </a:rPr>
              <a:t> 	</a:t>
            </a:r>
            <a:r>
              <a:rPr lang="en-US" sz="2000" dirty="0" err="1">
                <a:latin typeface="Courier New" panose="02070309020205020404" charset="0"/>
              </a:rPr>
              <a:t>movslq</a:t>
            </a:r>
            <a:r>
              <a:rPr lang="en-US" sz="2000" dirty="0">
                <a:latin typeface="Courier New" panose="02070309020205020404" charset="0"/>
              </a:rPr>
              <a:t> %</a:t>
            </a:r>
            <a:r>
              <a:rPr lang="en-US" sz="2000" dirty="0" err="1">
                <a:latin typeface="Courier New" panose="02070309020205020404" charset="0"/>
              </a:rPr>
              <a:t>esi,%rsi</a:t>
            </a:r>
            <a:r>
              <a:rPr lang="en-US" sz="2000" dirty="0">
                <a:latin typeface="Courier New" panose="02070309020205020404" charset="0"/>
              </a:rPr>
              <a:t>           	# </a:t>
            </a:r>
            <a:r>
              <a:rPr lang="zh-CN" altLang="en-US" sz="2000" dirty="0">
                <a:latin typeface="Courier New" panose="02070309020205020404" charset="0"/>
              </a:rPr>
              <a:t>符号扩展</a:t>
            </a:r>
            <a:r>
              <a:rPr lang="en-US" sz="2000" dirty="0">
                <a:latin typeface="Courier New" panose="02070309020205020404" charset="0"/>
              </a:rPr>
              <a:t> </a:t>
            </a:r>
            <a:r>
              <a:rPr lang="en-US" sz="2000" dirty="0" err="1">
                <a:latin typeface="Courier New" panose="02070309020205020404" charset="0"/>
              </a:rPr>
              <a:t>i</a:t>
            </a:r>
            <a:endParaRPr lang="en-US" sz="2000" dirty="0">
              <a:latin typeface="Courier New" panose="02070309020205020404" charset="0"/>
            </a:endParaRPr>
          </a:p>
          <a:p>
            <a:pPr eaLnBrk="0" hangingPunct="0">
              <a:tabLst>
                <a:tab pos="464820" algn="l"/>
                <a:tab pos="1485900" algn="l"/>
                <a:tab pos="4692650" algn="l"/>
              </a:tabLst>
            </a:pPr>
            <a:r>
              <a:rPr lang="en-US" sz="2000" dirty="0">
                <a:latin typeface="Courier New" panose="02070309020205020404" charset="0"/>
              </a:rPr>
              <a:t>	</a:t>
            </a:r>
            <a:r>
              <a:rPr lang="en-US" sz="2000" dirty="0" err="1">
                <a:latin typeface="Courier New" panose="02070309020205020404" charset="0"/>
              </a:rPr>
              <a:t>leaq</a:t>
            </a:r>
            <a:r>
              <a:rPr lang="en-US" sz="2000" dirty="0">
                <a:latin typeface="Courier New" panose="02070309020205020404" charset="0"/>
              </a:rPr>
              <a:t>	8(%rdi,%rsi,8), %</a:t>
            </a:r>
            <a:r>
              <a:rPr lang="en-US" sz="2000" dirty="0" err="1">
                <a:latin typeface="Courier New" panose="02070309020205020404" charset="0"/>
              </a:rPr>
              <a:t>rax</a:t>
            </a:r>
            <a:r>
              <a:rPr lang="en-US" sz="2000" dirty="0">
                <a:latin typeface="Courier New" panose="02070309020205020404" charset="0"/>
              </a:rPr>
              <a:t>	# &amp;a[i+1]</a:t>
            </a:r>
          </a:p>
          <a:p>
            <a:pPr eaLnBrk="0" hangingPunct="0">
              <a:tabLst>
                <a:tab pos="464820" algn="l"/>
                <a:tab pos="1485900" algn="l"/>
                <a:tab pos="4692650" algn="l"/>
              </a:tabLst>
            </a:pPr>
            <a:r>
              <a:rPr lang="en-US" sz="2000" dirty="0">
                <a:latin typeface="Courier New" panose="02070309020205020404" charset="0"/>
              </a:rPr>
              <a:t>	</a:t>
            </a:r>
            <a:r>
              <a:rPr lang="en-US" sz="2000" dirty="0" err="1">
                <a:latin typeface="Courier New" panose="02070309020205020404" charset="0"/>
              </a:rPr>
              <a:t>leaq</a:t>
            </a:r>
            <a:r>
              <a:rPr lang="en-US" sz="2000" dirty="0">
                <a:latin typeface="Courier New" panose="02070309020205020404" charset="0"/>
              </a:rPr>
              <a:t>	(%rdi,%rsi,8), %</a:t>
            </a:r>
            <a:r>
              <a:rPr lang="en-US" sz="2000" dirty="0" err="1">
                <a:latin typeface="Courier New" panose="02070309020205020404" charset="0"/>
              </a:rPr>
              <a:t>rdi</a:t>
            </a:r>
            <a:r>
              <a:rPr lang="en-US" sz="2000" dirty="0">
                <a:latin typeface="Courier New" panose="02070309020205020404" charset="0"/>
              </a:rPr>
              <a:t>	# &amp;a[</a:t>
            </a:r>
            <a:r>
              <a:rPr lang="en-US" sz="2000" dirty="0" err="1">
                <a:latin typeface="Courier New" panose="02070309020205020404" charset="0"/>
              </a:rPr>
              <a:t>i</a:t>
            </a:r>
            <a:r>
              <a:rPr lang="en-US" sz="2000" dirty="0">
                <a:latin typeface="Courier New" panose="02070309020205020404" charset="0"/>
              </a:rPr>
              <a:t>] (1</a:t>
            </a:r>
            <a:r>
              <a:rPr lang="en-US" sz="2000" baseline="30000" dirty="0">
                <a:latin typeface="Courier New" panose="02070309020205020404" charset="0"/>
              </a:rPr>
              <a:t>st</a:t>
            </a:r>
            <a:r>
              <a:rPr lang="en-US" sz="2000" dirty="0">
                <a:latin typeface="Courier New" panose="02070309020205020404" charset="0"/>
              </a:rPr>
              <a:t> </a:t>
            </a:r>
            <a:r>
              <a:rPr lang="en-US" sz="2000" dirty="0" err="1">
                <a:latin typeface="Courier New" panose="02070309020205020404" charset="0"/>
              </a:rPr>
              <a:t>arg</a:t>
            </a:r>
            <a:r>
              <a:rPr lang="en-US" sz="2000" dirty="0">
                <a:latin typeface="Courier New" panose="02070309020205020404" charset="0"/>
              </a:rPr>
              <a:t>)	</a:t>
            </a:r>
            <a:r>
              <a:rPr lang="en-US" sz="2000" dirty="0" err="1">
                <a:latin typeface="Courier New" panose="02070309020205020404" charset="0"/>
              </a:rPr>
              <a:t>movq</a:t>
            </a:r>
            <a:r>
              <a:rPr lang="en-US" sz="2000" dirty="0">
                <a:latin typeface="Courier New" panose="02070309020205020404" charset="0"/>
              </a:rPr>
              <a:t>	%</a:t>
            </a:r>
            <a:r>
              <a:rPr lang="en-US" sz="2000" dirty="0" err="1">
                <a:latin typeface="Courier New" panose="02070309020205020404" charset="0"/>
              </a:rPr>
              <a:t>rax</a:t>
            </a:r>
            <a:r>
              <a:rPr lang="en-US" sz="2000" dirty="0">
                <a:latin typeface="Courier New" panose="02070309020205020404" charset="0"/>
              </a:rPr>
              <a:t>, %</a:t>
            </a:r>
            <a:r>
              <a:rPr lang="en-US" sz="2000" dirty="0" err="1">
                <a:latin typeface="Courier New" panose="02070309020205020404" charset="0"/>
              </a:rPr>
              <a:t>rsi</a:t>
            </a:r>
            <a:r>
              <a:rPr lang="en-US" sz="2000" dirty="0">
                <a:latin typeface="Courier New" panose="02070309020205020404" charset="0"/>
              </a:rPr>
              <a:t>	# (2</a:t>
            </a:r>
            <a:r>
              <a:rPr lang="en-US" sz="2000" baseline="30000" dirty="0">
                <a:latin typeface="Courier New" panose="02070309020205020404" charset="0"/>
              </a:rPr>
              <a:t>nd</a:t>
            </a:r>
            <a:r>
              <a:rPr lang="en-US" sz="2000" dirty="0">
                <a:latin typeface="Courier New" panose="02070309020205020404" charset="0"/>
              </a:rPr>
              <a:t> </a:t>
            </a:r>
            <a:r>
              <a:rPr lang="en-US" sz="2000" dirty="0" err="1">
                <a:latin typeface="Courier New" panose="02070309020205020404" charset="0"/>
              </a:rPr>
              <a:t>arg</a:t>
            </a:r>
            <a:r>
              <a:rPr lang="en-US" sz="2000" dirty="0">
                <a:latin typeface="Courier New" panose="02070309020205020404" charset="0"/>
              </a:rPr>
              <a:t>)	</a:t>
            </a:r>
          </a:p>
          <a:p>
            <a:pPr eaLnBrk="0" hangingPunct="0">
              <a:tabLst>
                <a:tab pos="464820" algn="l"/>
                <a:tab pos="1485900" algn="l"/>
                <a:tab pos="4692650" algn="l"/>
              </a:tabLst>
            </a:pPr>
            <a:r>
              <a:rPr lang="en-US" sz="2000" dirty="0">
                <a:latin typeface="Courier New" panose="02070309020205020404" charset="0"/>
              </a:rPr>
              <a:t>	call	swap</a:t>
            </a:r>
          </a:p>
          <a:p>
            <a:pPr eaLnBrk="0" hangingPunct="0">
              <a:tabLst>
                <a:tab pos="464820" algn="l"/>
                <a:tab pos="1485900" algn="l"/>
                <a:tab pos="4692650" algn="l"/>
              </a:tabLst>
            </a:pPr>
            <a:r>
              <a:rPr lang="en-US" sz="2000" dirty="0">
                <a:latin typeface="Courier New" panose="02070309020205020404" charset="0"/>
              </a:rPr>
              <a:t>	rep		# No-op</a:t>
            </a:r>
          </a:p>
          <a:p>
            <a:pPr eaLnBrk="0" hangingPunct="0">
              <a:tabLst>
                <a:tab pos="464820" algn="l"/>
                <a:tab pos="1485900" algn="l"/>
                <a:tab pos="4692650" algn="l"/>
              </a:tabLst>
            </a:pPr>
            <a:r>
              <a:rPr lang="en-US" sz="2000" dirty="0">
                <a:latin typeface="Courier New" panose="02070309020205020404" charset="0"/>
              </a:rPr>
              <a:t>	ret</a:t>
            </a:r>
          </a:p>
        </p:txBody>
      </p:sp>
      <p:sp>
        <p:nvSpPr>
          <p:cNvPr id="2" name="燕尾形 1"/>
          <p:cNvSpPr/>
          <p:nvPr/>
        </p:nvSpPr>
        <p:spPr>
          <a:xfrm>
            <a:off x="0" y="446405"/>
            <a:ext cx="4909185" cy="553085"/>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a:latin typeface="Calibri" panose="020F0502020204030204" charset="0"/>
                <a:sym typeface="+mn-ea"/>
              </a:rPr>
              <a:t>x86-64 </a:t>
            </a:r>
            <a:r>
              <a:rPr lang="zh-CN" altLang="en-US" sz="2400">
                <a:latin typeface="Calibri" panose="020F0502020204030204" charset="0"/>
                <a:sym typeface="+mn-ea"/>
              </a:rPr>
              <a:t>没有运用到栈帧的例子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transition="in" filter="wipe(down)">
                                      <p:cBhvr>
                                        <p:cTn id="7" dur="500"/>
                                        <p:tgtEl>
                                          <p:spTgt spid="35842">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5842">
                                            <p:txEl>
                                              <p:pRg st="1" end="1"/>
                                            </p:txEl>
                                          </p:spTgt>
                                        </p:tgtEl>
                                        <p:attrNameLst>
                                          <p:attrName>style.visibility</p:attrName>
                                        </p:attrNameLst>
                                      </p:cBhvr>
                                      <p:to>
                                        <p:strVal val="visible"/>
                                      </p:to>
                                    </p:set>
                                    <p:animEffect transition="in" filter="wipe(down)">
                                      <p:cBhvr>
                                        <p:cTn id="10" dur="500"/>
                                        <p:tgtEl>
                                          <p:spTgt spid="35842">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5842">
                                            <p:txEl>
                                              <p:pRg st="2" end="2"/>
                                            </p:txEl>
                                          </p:spTgt>
                                        </p:tgtEl>
                                        <p:attrNameLst>
                                          <p:attrName>style.visibility</p:attrName>
                                        </p:attrNameLst>
                                      </p:cBhvr>
                                      <p:to>
                                        <p:strVal val="visible"/>
                                      </p:to>
                                    </p:set>
                                    <p:animEffect transition="in" filter="wipe(down)">
                                      <p:cBhvr>
                                        <p:cTn id="13" dur="500"/>
                                        <p:tgtEl>
                                          <p:spTgt spid="3584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94030"/>
            <a:ext cx="3766185"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latin typeface="Calibri" panose="020F0502020204030204" charset="0"/>
                <a:sym typeface="+mn-ea"/>
              </a:rPr>
              <a:t>x86-64 </a:t>
            </a:r>
            <a:r>
              <a:rPr lang="zh-CN" altLang="en-US" sz="3200">
                <a:latin typeface="Calibri" panose="020F0502020204030204" charset="0"/>
                <a:sym typeface="+mn-ea"/>
              </a:rPr>
              <a:t>栈帧例子</a:t>
            </a:r>
          </a:p>
        </p:txBody>
      </p:sp>
      <p:sp>
        <p:nvSpPr>
          <p:cNvPr id="41987" name="Rectangle 4"/>
          <p:cNvSpPr>
            <a:spLocks noChangeArrowheads="1"/>
          </p:cNvSpPr>
          <p:nvPr/>
        </p:nvSpPr>
        <p:spPr bwMode="auto">
          <a:xfrm>
            <a:off x="457200" y="1447800"/>
            <a:ext cx="3810000" cy="230441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800" dirty="0">
                <a:latin typeface="Courier New" panose="02070309020205020404" charset="0"/>
              </a:rPr>
              <a:t>long sum = 0;</a:t>
            </a:r>
          </a:p>
          <a:p>
            <a:pPr eaLnBrk="0" hangingPunct="0">
              <a:tabLst>
                <a:tab pos="457200" algn="l"/>
                <a:tab pos="1485900" algn="l"/>
              </a:tabLst>
            </a:pPr>
            <a:r>
              <a:rPr lang="en-US" sz="1800" dirty="0">
                <a:latin typeface="Courier New" panose="02070309020205020404" charset="0"/>
              </a:rPr>
              <a:t>/* Swap a[</a:t>
            </a:r>
            <a:r>
              <a:rPr lang="en-US" sz="1800" dirty="0" err="1">
                <a:latin typeface="Courier New" panose="02070309020205020404" charset="0"/>
              </a:rPr>
              <a:t>i</a:t>
            </a:r>
            <a:r>
              <a:rPr lang="en-US" sz="1800" dirty="0">
                <a:latin typeface="Courier New" panose="02070309020205020404" charset="0"/>
              </a:rPr>
              <a:t>] &amp; a[i+1] */</a:t>
            </a:r>
          </a:p>
          <a:p>
            <a:pPr eaLnBrk="0" hangingPunct="0">
              <a:tabLst>
                <a:tab pos="457200" algn="l"/>
                <a:tab pos="1485900" algn="l"/>
              </a:tabLst>
            </a:pPr>
            <a:r>
              <a:rPr lang="en-US" sz="1800" dirty="0">
                <a:latin typeface="Courier New" panose="02070309020205020404" charset="0"/>
              </a:rPr>
              <a:t>void </a:t>
            </a:r>
            <a:r>
              <a:rPr lang="en-US" sz="1800" dirty="0" err="1">
                <a:latin typeface="Courier New" panose="02070309020205020404" charset="0"/>
              </a:rPr>
              <a:t>swap_ele_su</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(long a[],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i</a:t>
            </a: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    swap(&amp;a[</a:t>
            </a:r>
            <a:r>
              <a:rPr lang="en-US" sz="1800" dirty="0" err="1">
                <a:latin typeface="Courier New" panose="02070309020205020404" charset="0"/>
              </a:rPr>
              <a:t>i</a:t>
            </a:r>
            <a:r>
              <a:rPr lang="en-US" sz="1800" dirty="0">
                <a:latin typeface="Courier New" panose="02070309020205020404" charset="0"/>
              </a:rPr>
              <a:t>], &amp;a[i+1]);</a:t>
            </a:r>
          </a:p>
          <a:p>
            <a:pPr eaLnBrk="0" hangingPunct="0">
              <a:tabLst>
                <a:tab pos="457200" algn="l"/>
                <a:tab pos="1485900" algn="l"/>
              </a:tabLst>
            </a:pPr>
            <a:r>
              <a:rPr lang="en-US" sz="1800" dirty="0">
                <a:latin typeface="Courier New" panose="02070309020205020404" charset="0"/>
              </a:rPr>
              <a:t>    sum += (a[</a:t>
            </a:r>
            <a:r>
              <a:rPr lang="en-US" sz="1800" dirty="0" err="1">
                <a:latin typeface="Courier New" panose="02070309020205020404" charset="0"/>
              </a:rPr>
              <a:t>i</a:t>
            </a:r>
            <a:r>
              <a:rPr lang="en-US" sz="1800" dirty="0">
                <a:latin typeface="Courier New" panose="02070309020205020404" charset="0"/>
              </a:rPr>
              <a:t>]*a[i+1]);</a:t>
            </a:r>
          </a:p>
          <a:p>
            <a:pPr eaLnBrk="0" hangingPunct="0">
              <a:tabLst>
                <a:tab pos="457200" algn="l"/>
                <a:tab pos="1485900" algn="l"/>
              </a:tabLst>
            </a:pPr>
            <a:r>
              <a:rPr lang="en-US" sz="1800" dirty="0">
                <a:latin typeface="Courier New" panose="02070309020205020404" charset="0"/>
              </a:rPr>
              <a:t>}</a:t>
            </a:r>
          </a:p>
        </p:txBody>
      </p:sp>
      <p:sp>
        <p:nvSpPr>
          <p:cNvPr id="41988" name="Rectangle 5"/>
          <p:cNvSpPr>
            <a:spLocks noChangeArrowheads="1"/>
          </p:cNvSpPr>
          <p:nvPr/>
        </p:nvSpPr>
        <p:spPr bwMode="auto">
          <a:xfrm>
            <a:off x="4495800" y="1317625"/>
            <a:ext cx="4648200" cy="4797425"/>
          </a:xfrm>
          <a:prstGeom prst="rect">
            <a:avLst/>
          </a:prstGeom>
          <a:noFill/>
          <a:ln w="12700">
            <a:noFill/>
            <a:miter lim="800000"/>
          </a:ln>
        </p:spPr>
        <p:txBody>
          <a:bodyPr lIns="90487" tIns="44450" rIns="90487" bIns="44450">
            <a:spAutoFit/>
          </a:bodyPr>
          <a:lstStyle/>
          <a:p>
            <a:pPr eaLnBrk="0" hangingPunct="0">
              <a:tabLst>
                <a:tab pos="457200" algn="l"/>
                <a:tab pos="1485900" algn="l"/>
              </a:tabLst>
            </a:pPr>
            <a:r>
              <a:rPr lang="en-US" sz="1800" dirty="0" err="1">
                <a:latin typeface="Courier New" panose="02070309020205020404" charset="0"/>
              </a:rPr>
              <a:t>swap_ele_su</a:t>
            </a: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rbx</a:t>
            </a:r>
            <a:r>
              <a:rPr lang="en-US" sz="1800" dirty="0">
                <a:latin typeface="Courier New" panose="02070309020205020404" charset="0"/>
              </a:rPr>
              <a:t>, -16(%</a:t>
            </a:r>
            <a:r>
              <a:rPr lang="en-US" sz="1800" dirty="0" err="1">
                <a:latin typeface="Courier New" panose="02070309020205020404" charset="0"/>
              </a:rPr>
              <a:t>rsp</a:t>
            </a: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rbp</a:t>
            </a:r>
            <a:r>
              <a:rPr lang="en-US" sz="1800" dirty="0">
                <a:latin typeface="Courier New" panose="02070309020205020404" charset="0"/>
              </a:rPr>
              <a:t>, -8(%</a:t>
            </a:r>
            <a:r>
              <a:rPr lang="en-US" sz="1800" dirty="0" err="1">
                <a:latin typeface="Courier New" panose="02070309020205020404" charset="0"/>
              </a:rPr>
              <a:t>rsp</a:t>
            </a:r>
            <a:r>
              <a:rPr lang="en-US" sz="1800" dirty="0">
                <a:latin typeface="Courier New" panose="02070309020205020404" charset="0"/>
              </a:rPr>
              <a:t>)</a:t>
            </a: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subq</a:t>
            </a:r>
            <a:r>
              <a:rPr lang="en-US" sz="1800" dirty="0">
                <a:latin typeface="Courier New" panose="02070309020205020404" charset="0"/>
              </a:rPr>
              <a:t>	$16, %</a:t>
            </a:r>
            <a:r>
              <a:rPr lang="en-US" sz="1800" dirty="0" err="1">
                <a:latin typeface="Courier New" panose="02070309020205020404" charset="0"/>
              </a:rPr>
              <a:t>rsp</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movslq</a:t>
            </a:r>
            <a:r>
              <a:rPr lang="en-US" sz="1800" dirty="0">
                <a:latin typeface="Courier New" panose="02070309020205020404" charset="0"/>
              </a:rPr>
              <a:t>	%</a:t>
            </a:r>
            <a:r>
              <a:rPr lang="en-US" sz="1800" dirty="0" err="1">
                <a:latin typeface="Courier New" panose="02070309020205020404" charset="0"/>
              </a:rPr>
              <a:t>esi,%rax</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leaq</a:t>
            </a:r>
            <a:r>
              <a:rPr lang="en-US" sz="1800" dirty="0">
                <a:latin typeface="Courier New" panose="02070309020205020404" charset="0"/>
              </a:rPr>
              <a:t>	8(%rdi,%rax,8), %</a:t>
            </a:r>
            <a:r>
              <a:rPr lang="en-US" sz="1800" dirty="0" err="1">
                <a:latin typeface="Courier New" panose="02070309020205020404" charset="0"/>
              </a:rPr>
              <a:t>rbx</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leaq</a:t>
            </a:r>
            <a:r>
              <a:rPr lang="en-US" sz="1800" dirty="0">
                <a:latin typeface="Courier New" panose="02070309020205020404" charset="0"/>
              </a:rPr>
              <a:t>	(%rdi,%rax,8), %</a:t>
            </a:r>
            <a:r>
              <a:rPr lang="en-US" sz="1800" dirty="0" err="1">
                <a:latin typeface="Courier New" panose="02070309020205020404" charset="0"/>
              </a:rPr>
              <a:t>rbp</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rbx</a:t>
            </a:r>
            <a:r>
              <a:rPr lang="en-US" sz="1800" dirty="0">
                <a:latin typeface="Courier New" panose="02070309020205020404" charset="0"/>
              </a:rPr>
              <a:t>, %</a:t>
            </a:r>
            <a:r>
              <a:rPr lang="en-US" sz="1800" dirty="0" err="1">
                <a:latin typeface="Courier New" panose="02070309020205020404" charset="0"/>
              </a:rPr>
              <a:t>rsi</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rbp</a:t>
            </a:r>
            <a:r>
              <a:rPr lang="en-US" sz="1800" dirty="0">
                <a:latin typeface="Courier New" panose="02070309020205020404" charset="0"/>
              </a:rPr>
              <a:t>, %</a:t>
            </a:r>
            <a:r>
              <a:rPr lang="en-US" sz="1800" dirty="0" err="1">
                <a:latin typeface="Courier New" panose="02070309020205020404" charset="0"/>
              </a:rPr>
              <a:t>rdi</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call	swap</a:t>
            </a: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rbx</a:t>
            </a:r>
            <a:r>
              <a:rPr lang="en-US" sz="1800" dirty="0">
                <a:latin typeface="Courier New" panose="02070309020205020404" charset="0"/>
              </a:rPr>
              <a:t>), %</a:t>
            </a:r>
            <a:r>
              <a:rPr lang="en-US" sz="1800" dirty="0" err="1">
                <a:latin typeface="Courier New" panose="02070309020205020404" charset="0"/>
              </a:rPr>
              <a:t>rax</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imulq</a:t>
            </a:r>
            <a:r>
              <a:rPr lang="en-US" sz="1800" dirty="0">
                <a:latin typeface="Courier New" panose="02070309020205020404" charset="0"/>
              </a:rPr>
              <a:t>	(%</a:t>
            </a:r>
            <a:r>
              <a:rPr lang="en-US" sz="1800" dirty="0" err="1">
                <a:latin typeface="Courier New" panose="02070309020205020404" charset="0"/>
              </a:rPr>
              <a:t>rbp</a:t>
            </a:r>
            <a:r>
              <a:rPr lang="en-US" sz="1800" dirty="0">
                <a:latin typeface="Courier New" panose="02070309020205020404" charset="0"/>
              </a:rPr>
              <a:t>), %</a:t>
            </a:r>
            <a:r>
              <a:rPr lang="en-US" sz="1800" dirty="0" err="1">
                <a:latin typeface="Courier New" panose="02070309020205020404" charset="0"/>
              </a:rPr>
              <a:t>rax</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addq</a:t>
            </a:r>
            <a:r>
              <a:rPr lang="en-US" sz="1800" dirty="0">
                <a:latin typeface="Courier New" panose="02070309020205020404" charset="0"/>
              </a:rPr>
              <a:t>	%</a:t>
            </a:r>
            <a:r>
              <a:rPr lang="en-US" sz="1800" dirty="0" err="1">
                <a:latin typeface="Courier New" panose="02070309020205020404" charset="0"/>
              </a:rPr>
              <a:t>rax</a:t>
            </a:r>
            <a:r>
              <a:rPr lang="en-US" sz="1800" dirty="0">
                <a:latin typeface="Courier New" panose="02070309020205020404" charset="0"/>
              </a:rPr>
              <a:t>, sum(%rip)</a:t>
            </a: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rsp</a:t>
            </a:r>
            <a:r>
              <a:rPr lang="en-US" sz="1800" dirty="0">
                <a:latin typeface="Courier New" panose="02070309020205020404" charset="0"/>
              </a:rPr>
              <a:t>), %</a:t>
            </a:r>
            <a:r>
              <a:rPr lang="en-US" sz="1800" dirty="0" err="1">
                <a:latin typeface="Courier New" panose="02070309020205020404" charset="0"/>
              </a:rPr>
              <a:t>rbx</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8(%</a:t>
            </a:r>
            <a:r>
              <a:rPr lang="en-US" sz="1800" dirty="0" err="1">
                <a:latin typeface="Courier New" panose="02070309020205020404" charset="0"/>
              </a:rPr>
              <a:t>rsp</a:t>
            </a:r>
            <a:r>
              <a:rPr lang="en-US" sz="1800" dirty="0">
                <a:latin typeface="Courier New" panose="02070309020205020404" charset="0"/>
              </a:rPr>
              <a:t>), %</a:t>
            </a:r>
            <a:r>
              <a:rPr lang="en-US" sz="1800" dirty="0" err="1">
                <a:latin typeface="Courier New" panose="02070309020205020404" charset="0"/>
              </a:rPr>
              <a:t>rbp</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a:t>
            </a:r>
            <a:r>
              <a:rPr lang="en-US" sz="1800" dirty="0" err="1">
                <a:latin typeface="Courier New" panose="02070309020205020404" charset="0"/>
              </a:rPr>
              <a:t>addq</a:t>
            </a:r>
            <a:r>
              <a:rPr lang="en-US" sz="1800" dirty="0">
                <a:latin typeface="Courier New" panose="02070309020205020404" charset="0"/>
              </a:rPr>
              <a:t>	$16, %</a:t>
            </a:r>
            <a:r>
              <a:rPr lang="en-US" sz="1800" dirty="0" err="1">
                <a:latin typeface="Courier New" panose="02070309020205020404" charset="0"/>
              </a:rPr>
              <a:t>rsp</a:t>
            </a:r>
            <a:endParaRPr lang="en-US" sz="1800" dirty="0">
              <a:latin typeface="Courier New" panose="02070309020205020404" charset="0"/>
            </a:endParaRPr>
          </a:p>
          <a:p>
            <a:pPr eaLnBrk="0" hangingPunct="0">
              <a:tabLst>
                <a:tab pos="457200" algn="l"/>
                <a:tab pos="1485900" algn="l"/>
              </a:tabLst>
            </a:pPr>
            <a:r>
              <a:rPr lang="en-US" sz="1800" dirty="0">
                <a:latin typeface="Courier New" panose="02070309020205020404" charset="0"/>
              </a:rPr>
              <a:t>	ret</a:t>
            </a:r>
          </a:p>
        </p:txBody>
      </p:sp>
      <p:sp>
        <p:nvSpPr>
          <p:cNvPr id="361475" name="Rectangle 3"/>
          <p:cNvSpPr>
            <a:spLocks noGrp="1" noChangeArrowheads="1"/>
          </p:cNvSpPr>
          <p:nvPr/>
        </p:nvSpPr>
        <p:spPr>
          <a:xfrm>
            <a:off x="365125" y="4114800"/>
            <a:ext cx="3581400" cy="16002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FF99CC"/>
              </a:buClr>
            </a:pPr>
            <a:r>
              <a:rPr lang="zh-CN" altLang="en-US" sz="2000" dirty="0">
                <a:latin typeface="微软雅黑" panose="020B0503020204020204" charset="-122"/>
                <a:ea typeface="微软雅黑" panose="020B0503020204020204" charset="-122"/>
              </a:rPr>
              <a:t>保留</a:t>
            </a:r>
            <a:r>
              <a:rPr lang="en-US" sz="2000" dirty="0">
                <a:latin typeface="微软雅黑" panose="020B0503020204020204" charset="-122"/>
                <a:ea typeface="微软雅黑" panose="020B0503020204020204" charset="-122"/>
              </a:rPr>
              <a:t>&amp;a[</a:t>
            </a:r>
            <a:r>
              <a:rPr lang="en-US" sz="2000" dirty="0" err="1">
                <a:latin typeface="微软雅黑" panose="020B0503020204020204" charset="-122"/>
                <a:ea typeface="微软雅黑" panose="020B0503020204020204" charset="-122"/>
              </a:rPr>
              <a:t>i</a:t>
            </a:r>
            <a:r>
              <a:rPr lang="en-US" sz="2000" dirty="0">
                <a:latin typeface="微软雅黑" panose="020B0503020204020204" charset="-122"/>
                <a:ea typeface="微软雅黑" panose="020B0503020204020204" charset="-122"/>
              </a:rPr>
              <a:t>] </a:t>
            </a:r>
            <a:r>
              <a:rPr lang="zh-CN" altLang="en-US" sz="2000" dirty="0">
                <a:latin typeface="微软雅黑" panose="020B0503020204020204" charset="-122"/>
                <a:ea typeface="微软雅黑" panose="020B0503020204020204" charset="-122"/>
              </a:rPr>
              <a:t>和</a:t>
            </a:r>
            <a:r>
              <a:rPr lang="en-US" sz="2000" dirty="0">
                <a:latin typeface="微软雅黑" panose="020B0503020204020204" charset="-122"/>
                <a:ea typeface="微软雅黑" panose="020B0503020204020204" charset="-122"/>
              </a:rPr>
              <a:t> &amp;a[i+1]</a:t>
            </a:r>
            <a:r>
              <a:rPr lang="zh-CN" altLang="en-US" sz="2000" dirty="0">
                <a:latin typeface="微软雅黑" panose="020B0503020204020204" charset="-122"/>
                <a:ea typeface="微软雅黑" panose="020B0503020204020204" charset="-122"/>
              </a:rPr>
              <a:t>的值在被调用者保存的寄存器中。</a:t>
            </a:r>
            <a:endParaRPr lang="en-US" sz="2000" dirty="0">
              <a:latin typeface="微软雅黑" panose="020B0503020204020204" charset="-122"/>
              <a:ea typeface="微软雅黑" panose="020B0503020204020204" charset="-122"/>
            </a:endParaRPr>
          </a:p>
          <a:p>
            <a:pPr>
              <a:buClr>
                <a:srgbClr val="FF99CC"/>
              </a:buClr>
            </a:pPr>
            <a:r>
              <a:rPr lang="en-US" sz="2000" dirty="0">
                <a:latin typeface="微软雅黑" panose="020B0503020204020204" charset="-122"/>
                <a:ea typeface="微软雅黑" panose="020B0503020204020204" charset="-122"/>
              </a:rPr>
              <a:t>必</a:t>
            </a:r>
            <a:r>
              <a:rPr lang="zh-CN" altLang="en-US" sz="2000" dirty="0">
                <a:latin typeface="微软雅黑" panose="020B0503020204020204" charset="-122"/>
                <a:ea typeface="微软雅黑" panose="020B0503020204020204" charset="-122"/>
              </a:rPr>
              <a:t>须设置栈帧以保存这些寄存器。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61475">
                                            <p:txEl>
                                              <p:pRg st="0" end="0"/>
                                            </p:txEl>
                                          </p:spTgt>
                                        </p:tgtEl>
                                        <p:attrNameLst>
                                          <p:attrName>style.visibility</p:attrName>
                                        </p:attrNameLst>
                                      </p:cBhvr>
                                      <p:to>
                                        <p:strVal val="visible"/>
                                      </p:to>
                                    </p:set>
                                    <p:animEffect transition="in" filter="wipe(down)">
                                      <p:cBhvr>
                                        <p:cTn id="7" dur="500"/>
                                        <p:tgtEl>
                                          <p:spTgt spid="3614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61475">
                                            <p:txEl>
                                              <p:pRg st="1" end="1"/>
                                            </p:txEl>
                                          </p:spTgt>
                                        </p:tgtEl>
                                        <p:attrNameLst>
                                          <p:attrName>style.visibility</p:attrName>
                                        </p:attrNameLst>
                                      </p:cBhvr>
                                      <p:to>
                                        <p:strVal val="visible"/>
                                      </p:to>
                                    </p:set>
                                    <p:animEffect transition="in" filter="wipe(down)">
                                      <p:cBhvr>
                                        <p:cTn id="12" dur="500"/>
                                        <p:tgtEl>
                                          <p:spTgt spid="3614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94030"/>
            <a:ext cx="3766185"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Calibri" panose="020F0502020204030204" charset="0"/>
                <a:sym typeface="+mn-ea"/>
              </a:rPr>
              <a:t>理解</a:t>
            </a:r>
            <a:r>
              <a:rPr lang="en-US" sz="3200">
                <a:latin typeface="Calibri" panose="020F0502020204030204" charset="0"/>
                <a:sym typeface="+mn-ea"/>
              </a:rPr>
              <a:t>x86-64 </a:t>
            </a:r>
            <a:r>
              <a:rPr lang="zh-CN" altLang="en-US" sz="3200">
                <a:latin typeface="Calibri" panose="020F0502020204030204" charset="0"/>
                <a:sym typeface="+mn-ea"/>
              </a:rPr>
              <a:t>栈帧</a:t>
            </a:r>
          </a:p>
        </p:txBody>
      </p:sp>
      <p:sp>
        <p:nvSpPr>
          <p:cNvPr id="44034" name="Rectangle 3"/>
          <p:cNvSpPr>
            <a:spLocks noChangeArrowheads="1"/>
          </p:cNvSpPr>
          <p:nvPr/>
        </p:nvSpPr>
        <p:spPr bwMode="auto">
          <a:xfrm>
            <a:off x="381000" y="1295400"/>
            <a:ext cx="8610600" cy="4797425"/>
          </a:xfrm>
          <a:prstGeom prst="rect">
            <a:avLst/>
          </a:prstGeom>
          <a:noFill/>
          <a:ln w="12700">
            <a:noFill/>
            <a:miter lim="800000"/>
          </a:ln>
        </p:spPr>
        <p:txBody>
          <a:bodyPr wrap="square" lIns="90487" tIns="44450" rIns="90487" bIns="44450">
            <a:spAutoFit/>
          </a:bodyPr>
          <a:lstStyle/>
          <a:p>
            <a:pPr eaLnBrk="0" hangingPunct="0">
              <a:tabLst>
                <a:tab pos="457200" algn="l"/>
                <a:tab pos="1485900" algn="l"/>
                <a:tab pos="4572000" algn="l"/>
              </a:tabLst>
            </a:pPr>
            <a:r>
              <a:rPr lang="en-US" sz="1800" dirty="0" err="1">
                <a:latin typeface="Courier New" panose="02070309020205020404" charset="0"/>
              </a:rPr>
              <a:t>swap_ele_su</a:t>
            </a:r>
            <a:r>
              <a:rPr lang="en-US" sz="1800" dirty="0">
                <a:latin typeface="Courier New" panose="02070309020205020404" charset="0"/>
              </a:rPr>
              <a:t>:</a:t>
            </a: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movq</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rbx</a:t>
            </a:r>
            <a:r>
              <a:rPr lang="en-US" sz="1800" dirty="0">
                <a:solidFill>
                  <a:srgbClr val="C00000"/>
                </a:solidFill>
                <a:latin typeface="Courier New" panose="02070309020205020404" charset="0"/>
              </a:rPr>
              <a:t>, -16(%</a:t>
            </a:r>
            <a:r>
              <a:rPr lang="en-US" sz="1800" dirty="0" err="1">
                <a:solidFill>
                  <a:srgbClr val="C00000"/>
                </a:solidFill>
                <a:latin typeface="Courier New" panose="02070309020205020404" charset="0"/>
              </a:rPr>
              <a:t>rsp</a:t>
            </a:r>
            <a:r>
              <a:rPr lang="en-US" sz="1800" dirty="0">
                <a:solidFill>
                  <a:srgbClr val="C00000"/>
                </a:solidFill>
                <a:latin typeface="Courier New" panose="02070309020205020404" charset="0"/>
              </a:rPr>
              <a:t>)</a:t>
            </a:r>
            <a:r>
              <a:rPr lang="en-US" sz="1800" dirty="0">
                <a:latin typeface="Courier New" panose="02070309020205020404" charset="0"/>
              </a:rPr>
              <a:t>	# </a:t>
            </a:r>
            <a:r>
              <a:rPr lang="zh-CN" altLang="en-US" sz="1800" dirty="0">
                <a:latin typeface="Courier New" panose="02070309020205020404" charset="0"/>
              </a:rPr>
              <a:t>保存</a:t>
            </a:r>
            <a:r>
              <a:rPr lang="en-US" sz="1800" dirty="0">
                <a:latin typeface="Courier New" panose="02070309020205020404" charset="0"/>
              </a:rPr>
              <a:t> %</a:t>
            </a:r>
            <a:r>
              <a:rPr lang="en-US" sz="1800" dirty="0" err="1">
                <a:latin typeface="Courier New" panose="02070309020205020404" charset="0"/>
              </a:rPr>
              <a:t>rbx</a:t>
            </a: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movq</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rbp</a:t>
            </a:r>
            <a:r>
              <a:rPr lang="en-US" sz="1800" dirty="0">
                <a:solidFill>
                  <a:srgbClr val="C00000"/>
                </a:solidFill>
                <a:latin typeface="Courier New" panose="02070309020205020404" charset="0"/>
              </a:rPr>
              <a:t>, -8(%</a:t>
            </a:r>
            <a:r>
              <a:rPr lang="en-US" sz="1800" dirty="0" err="1">
                <a:solidFill>
                  <a:srgbClr val="C00000"/>
                </a:solidFill>
                <a:latin typeface="Courier New" panose="02070309020205020404" charset="0"/>
              </a:rPr>
              <a:t>rsp</a:t>
            </a:r>
            <a:r>
              <a:rPr lang="en-US" sz="1800" dirty="0">
                <a:solidFill>
                  <a:srgbClr val="C00000"/>
                </a:solidFill>
                <a:latin typeface="Courier New" panose="02070309020205020404" charset="0"/>
              </a:rPr>
              <a:t>)</a:t>
            </a:r>
            <a:r>
              <a:rPr lang="en-US" sz="1800" dirty="0">
                <a:latin typeface="Courier New" panose="02070309020205020404" charset="0"/>
              </a:rPr>
              <a:t>	# </a:t>
            </a:r>
            <a:r>
              <a:rPr lang="zh-CN" altLang="en-US" sz="1800" dirty="0">
                <a:latin typeface="Courier New" panose="02070309020205020404" charset="0"/>
              </a:rPr>
              <a:t>保存</a:t>
            </a:r>
            <a:r>
              <a:rPr lang="en-US" sz="1800" dirty="0">
                <a:latin typeface="Courier New" panose="02070309020205020404" charset="0"/>
              </a:rPr>
              <a:t> %</a:t>
            </a:r>
            <a:r>
              <a:rPr lang="en-US" sz="1800" dirty="0" err="1">
                <a:latin typeface="Courier New" panose="02070309020205020404" charset="0"/>
              </a:rPr>
              <a:t>rbp</a:t>
            </a: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subq</a:t>
            </a:r>
            <a:r>
              <a:rPr lang="en-US" sz="1800" dirty="0">
                <a:solidFill>
                  <a:srgbClr val="C00000"/>
                </a:solidFill>
                <a:latin typeface="Courier New" panose="02070309020205020404" charset="0"/>
              </a:rPr>
              <a:t>	$16, %</a:t>
            </a:r>
            <a:r>
              <a:rPr lang="en-US" sz="1800" dirty="0" err="1">
                <a:solidFill>
                  <a:srgbClr val="C00000"/>
                </a:solidFill>
                <a:latin typeface="Courier New" panose="02070309020205020404" charset="0"/>
              </a:rPr>
              <a:t>rsp</a:t>
            </a:r>
            <a:r>
              <a:rPr lang="en-US" sz="1800" dirty="0">
                <a:latin typeface="Courier New" panose="02070309020205020404" charset="0"/>
              </a:rPr>
              <a:t>	# 分配栈帧</a:t>
            </a:r>
          </a:p>
          <a:p>
            <a:pPr eaLnBrk="0" hangingPunct="0">
              <a:tabLst>
                <a:tab pos="457200" algn="l"/>
                <a:tab pos="1485900" algn="l"/>
                <a:tab pos="4572000" algn="l"/>
              </a:tabLst>
            </a:pPr>
            <a:r>
              <a:rPr lang="en-US" sz="1800" dirty="0">
                <a:latin typeface="Courier New" panose="02070309020205020404" charset="0"/>
              </a:rPr>
              <a:t>	</a:t>
            </a:r>
            <a:r>
              <a:rPr lang="en-US" sz="1800" dirty="0" err="1">
                <a:latin typeface="Courier New" panose="02070309020205020404" charset="0"/>
              </a:rPr>
              <a:t>movslq</a:t>
            </a:r>
            <a:r>
              <a:rPr lang="en-US" sz="1800" dirty="0">
                <a:latin typeface="Courier New" panose="02070309020205020404" charset="0"/>
              </a:rPr>
              <a:t>	%</a:t>
            </a:r>
            <a:r>
              <a:rPr lang="en-US" sz="1800" dirty="0" err="1">
                <a:latin typeface="Courier New" panose="02070309020205020404" charset="0"/>
              </a:rPr>
              <a:t>esi,%rax</a:t>
            </a:r>
            <a:r>
              <a:rPr lang="en-US" sz="1800" dirty="0">
                <a:latin typeface="Courier New" panose="02070309020205020404" charset="0"/>
              </a:rPr>
              <a:t>	# </a:t>
            </a:r>
            <a:r>
              <a:rPr lang="zh-CN" altLang="en-US" sz="1800" dirty="0">
                <a:latin typeface="Courier New" panose="02070309020205020404" charset="0"/>
              </a:rPr>
              <a:t>扩展</a:t>
            </a:r>
            <a:r>
              <a:rPr lang="en-US" sz="1800" dirty="0">
                <a:latin typeface="Courier New" panose="02070309020205020404" charset="0"/>
              </a:rPr>
              <a:t> </a:t>
            </a:r>
            <a:r>
              <a:rPr lang="en-US" sz="1800" dirty="0" err="1">
                <a:latin typeface="Courier New" panose="02070309020205020404" charset="0"/>
              </a:rPr>
              <a:t>i</a:t>
            </a: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r>
              <a:rPr lang="en-US" sz="1800" dirty="0" err="1">
                <a:latin typeface="Courier New" panose="02070309020205020404" charset="0"/>
              </a:rPr>
              <a:t>leaq</a:t>
            </a:r>
            <a:r>
              <a:rPr lang="en-US" sz="1800" dirty="0">
                <a:latin typeface="Courier New" panose="02070309020205020404" charset="0"/>
              </a:rPr>
              <a:t>	8(%rdi,%rax,8), %</a:t>
            </a:r>
            <a:r>
              <a:rPr lang="en-US" sz="1800" dirty="0" err="1">
                <a:latin typeface="Courier New" panose="02070309020205020404" charset="0"/>
              </a:rPr>
              <a:t>rbx</a:t>
            </a:r>
            <a:r>
              <a:rPr lang="en-US" sz="1800" dirty="0">
                <a:latin typeface="Courier New" panose="02070309020205020404" charset="0"/>
              </a:rPr>
              <a:t>	# &amp;a[i+1] (</a:t>
            </a:r>
            <a:r>
              <a:rPr lang="zh-CN" altLang="en-US" sz="1800" dirty="0">
                <a:latin typeface="Courier New" panose="02070309020205020404" charset="0"/>
              </a:rPr>
              <a:t>被调用者保存</a:t>
            </a:r>
            <a:r>
              <a:rPr lang="en-US" sz="1800" dirty="0">
                <a:latin typeface="Courier New" panose="02070309020205020404" charset="0"/>
              </a:rPr>
              <a:t>)</a:t>
            </a:r>
          </a:p>
          <a:p>
            <a:pPr eaLnBrk="0" hangingPunct="0">
              <a:tabLst>
                <a:tab pos="457200" algn="l"/>
                <a:tab pos="1485900" algn="l"/>
                <a:tab pos="4572000" algn="l"/>
              </a:tabLst>
            </a:pPr>
            <a:r>
              <a:rPr lang="en-US" sz="1800" dirty="0">
                <a:latin typeface="Courier New" panose="02070309020205020404" charset="0"/>
              </a:rPr>
              <a:t>	</a:t>
            </a:r>
            <a:r>
              <a:rPr lang="en-US" sz="1800" dirty="0" err="1">
                <a:latin typeface="Courier New" panose="02070309020205020404" charset="0"/>
              </a:rPr>
              <a:t>leaq</a:t>
            </a:r>
            <a:r>
              <a:rPr lang="en-US" sz="1800" dirty="0">
                <a:latin typeface="Courier New" panose="02070309020205020404" charset="0"/>
              </a:rPr>
              <a:t>	(%rdi,%rax,8), %</a:t>
            </a:r>
            <a:r>
              <a:rPr lang="en-US" sz="1800" dirty="0" err="1">
                <a:latin typeface="Courier New" panose="02070309020205020404" charset="0"/>
              </a:rPr>
              <a:t>rbp</a:t>
            </a:r>
            <a:r>
              <a:rPr lang="en-US" sz="1800" dirty="0">
                <a:latin typeface="Courier New" panose="02070309020205020404" charset="0"/>
              </a:rPr>
              <a:t>	# &amp;a[</a:t>
            </a:r>
            <a:r>
              <a:rPr lang="en-US" sz="1800" dirty="0" err="1">
                <a:latin typeface="Courier New" panose="02070309020205020404" charset="0"/>
              </a:rPr>
              <a:t>i</a:t>
            </a:r>
            <a:r>
              <a:rPr lang="en-US" sz="1800" dirty="0">
                <a:latin typeface="Courier New" panose="02070309020205020404" charset="0"/>
              </a:rPr>
              <a:t>]   (</a:t>
            </a:r>
            <a:r>
              <a:rPr lang="zh-CN" altLang="en-US" dirty="0">
                <a:latin typeface="Courier New" panose="02070309020205020404" charset="0"/>
                <a:sym typeface="+mn-ea"/>
              </a:rPr>
              <a:t>被调用者保存</a:t>
            </a:r>
            <a:r>
              <a:rPr lang="en-US" sz="1800" dirty="0">
                <a:latin typeface="Courier New" panose="02070309020205020404" charset="0"/>
              </a:rPr>
              <a:t>)</a:t>
            </a:r>
          </a:p>
          <a:p>
            <a:pPr eaLnBrk="0" hangingPunct="0">
              <a:tabLst>
                <a:tab pos="457200" algn="l"/>
                <a:tab pos="1485900" algn="l"/>
                <a:tab pos="45720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rbx</a:t>
            </a:r>
            <a:r>
              <a:rPr lang="en-US" sz="1800" dirty="0">
                <a:latin typeface="Courier New" panose="02070309020205020404" charset="0"/>
              </a:rPr>
              <a:t>, %</a:t>
            </a:r>
            <a:r>
              <a:rPr lang="en-US" sz="1800" dirty="0" err="1">
                <a:latin typeface="Courier New" panose="02070309020205020404" charset="0"/>
              </a:rPr>
              <a:t>rsi</a:t>
            </a:r>
            <a:r>
              <a:rPr lang="en-US" sz="1800" dirty="0">
                <a:latin typeface="Courier New" panose="02070309020205020404" charset="0"/>
              </a:rPr>
              <a:t>	# 2</a:t>
            </a:r>
            <a:r>
              <a:rPr lang="en-US" sz="1800" baseline="30000" dirty="0">
                <a:latin typeface="Courier New" panose="02070309020205020404" charset="0"/>
              </a:rPr>
              <a:t>nd</a:t>
            </a:r>
            <a:r>
              <a:rPr lang="en-US" sz="1800" dirty="0">
                <a:latin typeface="Courier New" panose="02070309020205020404" charset="0"/>
              </a:rPr>
              <a:t> </a:t>
            </a:r>
            <a:r>
              <a:rPr lang="zh-CN" altLang="en-US" sz="1800" dirty="0">
                <a:latin typeface="Courier New" panose="02070309020205020404" charset="0"/>
              </a:rPr>
              <a:t>参数</a:t>
            </a:r>
          </a:p>
          <a:p>
            <a:pPr eaLnBrk="0" hangingPunct="0">
              <a:tabLst>
                <a:tab pos="457200" algn="l"/>
                <a:tab pos="1485900" algn="l"/>
                <a:tab pos="45720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rbp</a:t>
            </a:r>
            <a:r>
              <a:rPr lang="en-US" sz="1800" dirty="0">
                <a:latin typeface="Courier New" panose="02070309020205020404" charset="0"/>
              </a:rPr>
              <a:t>, %</a:t>
            </a:r>
            <a:r>
              <a:rPr lang="en-US" sz="1800" dirty="0" err="1">
                <a:latin typeface="Courier New" panose="02070309020205020404" charset="0"/>
              </a:rPr>
              <a:t>rdi</a:t>
            </a:r>
            <a:r>
              <a:rPr lang="en-US" sz="1800" dirty="0">
                <a:latin typeface="Courier New" panose="02070309020205020404" charset="0"/>
              </a:rPr>
              <a:t>	# 1</a:t>
            </a:r>
            <a:r>
              <a:rPr lang="en-US" sz="1800" baseline="30000" dirty="0">
                <a:latin typeface="Courier New" panose="02070309020205020404" charset="0"/>
              </a:rPr>
              <a:t>st</a:t>
            </a:r>
            <a:r>
              <a:rPr lang="en-US" sz="1800" dirty="0">
                <a:latin typeface="Courier New" panose="02070309020205020404" charset="0"/>
              </a:rPr>
              <a:t> </a:t>
            </a:r>
            <a:r>
              <a:rPr lang="zh-CN" altLang="en-US" sz="1800" dirty="0">
                <a:latin typeface="Courier New" panose="02070309020205020404" charset="0"/>
              </a:rPr>
              <a:t>参数</a:t>
            </a:r>
          </a:p>
          <a:p>
            <a:pPr eaLnBrk="0" hangingPunct="0">
              <a:tabLst>
                <a:tab pos="457200" algn="l"/>
                <a:tab pos="1485900" algn="l"/>
                <a:tab pos="4572000" algn="l"/>
              </a:tabLst>
            </a:pPr>
            <a:r>
              <a:rPr lang="en-US" sz="1800" dirty="0">
                <a:latin typeface="Courier New" panose="02070309020205020404" charset="0"/>
              </a:rPr>
              <a:t>	call	swap	</a:t>
            </a:r>
          </a:p>
          <a:p>
            <a:pPr eaLnBrk="0" hangingPunct="0">
              <a:tabLst>
                <a:tab pos="457200" algn="l"/>
                <a:tab pos="1485900" algn="l"/>
                <a:tab pos="4572000" algn="l"/>
              </a:tabLst>
            </a:pPr>
            <a:r>
              <a:rPr lang="en-US" sz="1800" dirty="0">
                <a:latin typeface="Courier New" panose="02070309020205020404" charset="0"/>
              </a:rPr>
              <a:t>	</a:t>
            </a:r>
            <a:r>
              <a:rPr lang="en-US" sz="1800" dirty="0" err="1">
                <a:latin typeface="Courier New" panose="02070309020205020404" charset="0"/>
              </a:rPr>
              <a:t>movq</a:t>
            </a:r>
            <a:r>
              <a:rPr lang="en-US" sz="1800" dirty="0">
                <a:latin typeface="Courier New" panose="02070309020205020404" charset="0"/>
              </a:rPr>
              <a:t>	(%</a:t>
            </a:r>
            <a:r>
              <a:rPr lang="en-US" sz="1800" dirty="0" err="1">
                <a:latin typeface="Courier New" panose="02070309020205020404" charset="0"/>
              </a:rPr>
              <a:t>rbx</a:t>
            </a:r>
            <a:r>
              <a:rPr lang="en-US" sz="1800" dirty="0">
                <a:latin typeface="Courier New" panose="02070309020205020404" charset="0"/>
              </a:rPr>
              <a:t>), %</a:t>
            </a:r>
            <a:r>
              <a:rPr lang="en-US" sz="1800" dirty="0" err="1">
                <a:latin typeface="Courier New" panose="02070309020205020404" charset="0"/>
              </a:rPr>
              <a:t>rax</a:t>
            </a:r>
            <a:r>
              <a:rPr lang="en-US" sz="1800" dirty="0">
                <a:latin typeface="Courier New" panose="02070309020205020404" charset="0"/>
              </a:rPr>
              <a:t>	# Get a[i+1]</a:t>
            </a:r>
          </a:p>
          <a:p>
            <a:pPr eaLnBrk="0" hangingPunct="0">
              <a:tabLst>
                <a:tab pos="457200" algn="l"/>
                <a:tab pos="1485900" algn="l"/>
                <a:tab pos="4572000" algn="l"/>
              </a:tabLst>
            </a:pPr>
            <a:r>
              <a:rPr lang="en-US" sz="1800" dirty="0">
                <a:latin typeface="Courier New" panose="02070309020205020404" charset="0"/>
              </a:rPr>
              <a:t>	</a:t>
            </a:r>
            <a:r>
              <a:rPr lang="en-US" sz="1800" dirty="0" err="1">
                <a:latin typeface="Courier New" panose="02070309020205020404" charset="0"/>
              </a:rPr>
              <a:t>imulq</a:t>
            </a:r>
            <a:r>
              <a:rPr lang="en-US" sz="1800" dirty="0">
                <a:latin typeface="Courier New" panose="02070309020205020404" charset="0"/>
              </a:rPr>
              <a:t>	(%</a:t>
            </a:r>
            <a:r>
              <a:rPr lang="en-US" sz="1800" dirty="0" err="1">
                <a:latin typeface="Courier New" panose="02070309020205020404" charset="0"/>
              </a:rPr>
              <a:t>rbp</a:t>
            </a:r>
            <a:r>
              <a:rPr lang="en-US" sz="1800" dirty="0">
                <a:latin typeface="Courier New" panose="02070309020205020404" charset="0"/>
              </a:rPr>
              <a:t>), %</a:t>
            </a:r>
            <a:r>
              <a:rPr lang="en-US" sz="1800" dirty="0" err="1">
                <a:latin typeface="Courier New" panose="02070309020205020404" charset="0"/>
              </a:rPr>
              <a:t>rax</a:t>
            </a:r>
            <a:r>
              <a:rPr lang="en-US" sz="1800" dirty="0">
                <a:latin typeface="Courier New" panose="02070309020205020404" charset="0"/>
              </a:rPr>
              <a:t>	# </a:t>
            </a:r>
            <a:r>
              <a:rPr lang="zh-CN" altLang="en-US" sz="1800" dirty="0">
                <a:latin typeface="Courier New" panose="02070309020205020404" charset="0"/>
              </a:rPr>
              <a:t>乘</a:t>
            </a:r>
            <a:r>
              <a:rPr lang="en-US" sz="1800" dirty="0">
                <a:latin typeface="Courier New" panose="02070309020205020404" charset="0"/>
              </a:rPr>
              <a:t> a[</a:t>
            </a:r>
            <a:r>
              <a:rPr lang="en-US" sz="1800" dirty="0" err="1">
                <a:latin typeface="Courier New" panose="02070309020205020404" charset="0"/>
              </a:rPr>
              <a:t>i</a:t>
            </a:r>
            <a:r>
              <a:rPr lang="en-US" sz="1800" dirty="0">
                <a:latin typeface="Courier New" panose="02070309020205020404" charset="0"/>
              </a:rPr>
              <a:t>]</a:t>
            </a:r>
          </a:p>
          <a:p>
            <a:pPr eaLnBrk="0" hangingPunct="0">
              <a:tabLst>
                <a:tab pos="457200" algn="l"/>
                <a:tab pos="1485900" algn="l"/>
                <a:tab pos="4572000" algn="l"/>
              </a:tabLst>
            </a:pPr>
            <a:r>
              <a:rPr lang="en-US" sz="1800" dirty="0">
                <a:latin typeface="Courier New" panose="02070309020205020404" charset="0"/>
              </a:rPr>
              <a:t>	</a:t>
            </a:r>
            <a:r>
              <a:rPr lang="en-US" sz="1800" dirty="0" err="1">
                <a:latin typeface="Courier New" panose="02070309020205020404" charset="0"/>
              </a:rPr>
              <a:t>addq</a:t>
            </a:r>
            <a:r>
              <a:rPr lang="en-US" sz="1800" dirty="0">
                <a:latin typeface="Courier New" panose="02070309020205020404" charset="0"/>
              </a:rPr>
              <a:t>	%</a:t>
            </a:r>
            <a:r>
              <a:rPr lang="en-US" sz="1800" dirty="0" err="1">
                <a:latin typeface="Courier New" panose="02070309020205020404" charset="0"/>
              </a:rPr>
              <a:t>rax</a:t>
            </a:r>
            <a:r>
              <a:rPr lang="en-US" sz="1800" dirty="0">
                <a:latin typeface="Courier New" panose="02070309020205020404" charset="0"/>
              </a:rPr>
              <a:t>, sum(%rip)	# </a:t>
            </a:r>
            <a:r>
              <a:rPr lang="zh-CN" altLang="en-US" sz="1800" dirty="0">
                <a:latin typeface="Courier New" panose="02070309020205020404" charset="0"/>
              </a:rPr>
              <a:t>加到</a:t>
            </a:r>
            <a:r>
              <a:rPr lang="en-US" sz="1800" dirty="0">
                <a:latin typeface="Courier New" panose="02070309020205020404" charset="0"/>
              </a:rPr>
              <a:t> sum</a:t>
            </a: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movq</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rsp</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rbx</a:t>
            </a:r>
            <a:r>
              <a:rPr lang="en-US" sz="1800" dirty="0">
                <a:latin typeface="Courier New" panose="02070309020205020404" charset="0"/>
              </a:rPr>
              <a:t>	# </a:t>
            </a:r>
            <a:r>
              <a:rPr lang="zh-CN" altLang="en-US" sz="1800" dirty="0">
                <a:latin typeface="Courier New" panose="02070309020205020404" charset="0"/>
              </a:rPr>
              <a:t>恢复</a:t>
            </a:r>
            <a:r>
              <a:rPr lang="en-US" sz="1800" dirty="0">
                <a:latin typeface="Courier New" panose="02070309020205020404" charset="0"/>
              </a:rPr>
              <a:t> %</a:t>
            </a:r>
            <a:r>
              <a:rPr lang="en-US" sz="1800" dirty="0" err="1">
                <a:latin typeface="Courier New" panose="02070309020205020404" charset="0"/>
              </a:rPr>
              <a:t>rbx</a:t>
            </a: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movq</a:t>
            </a:r>
            <a:r>
              <a:rPr lang="en-US" sz="1800" dirty="0">
                <a:solidFill>
                  <a:srgbClr val="C00000"/>
                </a:solidFill>
                <a:latin typeface="Courier New" panose="02070309020205020404" charset="0"/>
              </a:rPr>
              <a:t>	8(%</a:t>
            </a:r>
            <a:r>
              <a:rPr lang="en-US" sz="1800" dirty="0" err="1">
                <a:solidFill>
                  <a:srgbClr val="C00000"/>
                </a:solidFill>
                <a:latin typeface="Courier New" panose="02070309020205020404" charset="0"/>
              </a:rPr>
              <a:t>rsp</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rbp</a:t>
            </a:r>
            <a:r>
              <a:rPr lang="en-US" sz="1800" dirty="0">
                <a:latin typeface="Courier New" panose="02070309020205020404" charset="0"/>
              </a:rPr>
              <a:t>	# </a:t>
            </a:r>
            <a:r>
              <a:rPr lang="zh-CN" altLang="en-US" sz="1800" dirty="0">
                <a:latin typeface="Courier New" panose="02070309020205020404" charset="0"/>
              </a:rPr>
              <a:t>恢复</a:t>
            </a:r>
            <a:r>
              <a:rPr lang="en-US" sz="1800" dirty="0">
                <a:latin typeface="Courier New" panose="02070309020205020404" charset="0"/>
              </a:rPr>
              <a:t> %</a:t>
            </a:r>
            <a:r>
              <a:rPr lang="en-US" sz="1800" dirty="0" err="1">
                <a:latin typeface="Courier New" panose="02070309020205020404" charset="0"/>
              </a:rPr>
              <a:t>rbp</a:t>
            </a: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addq</a:t>
            </a:r>
            <a:r>
              <a:rPr lang="en-US" sz="1800" dirty="0">
                <a:solidFill>
                  <a:srgbClr val="C00000"/>
                </a:solidFill>
                <a:latin typeface="Courier New" panose="02070309020205020404" charset="0"/>
              </a:rPr>
              <a:t>	$16, %</a:t>
            </a:r>
            <a:r>
              <a:rPr lang="en-US" sz="1800" dirty="0" err="1">
                <a:solidFill>
                  <a:srgbClr val="C00000"/>
                </a:solidFill>
                <a:latin typeface="Courier New" panose="02070309020205020404" charset="0"/>
              </a:rPr>
              <a:t>rsp</a:t>
            </a:r>
            <a:r>
              <a:rPr lang="en-US" sz="1800" dirty="0">
                <a:latin typeface="Courier New" panose="02070309020205020404" charset="0"/>
              </a:rPr>
              <a:t>	# </a:t>
            </a:r>
            <a:r>
              <a:rPr lang="zh-CN" altLang="en-US" sz="1800" dirty="0">
                <a:latin typeface="Courier New" panose="02070309020205020404" charset="0"/>
              </a:rPr>
              <a:t>释放帧</a:t>
            </a:r>
          </a:p>
          <a:p>
            <a:pPr eaLnBrk="0" hangingPunct="0">
              <a:tabLst>
                <a:tab pos="457200" algn="l"/>
                <a:tab pos="1485900" algn="l"/>
                <a:tab pos="4572000" algn="l"/>
              </a:tabLst>
            </a:pPr>
            <a:r>
              <a:rPr lang="en-US" sz="1800" dirty="0">
                <a:latin typeface="Courier New" panose="02070309020205020404" charset="0"/>
              </a:rPr>
              <a:t>	ret</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94030"/>
            <a:ext cx="3766185"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Calibri" panose="020F0502020204030204" charset="0"/>
                <a:sym typeface="+mn-ea"/>
              </a:rPr>
              <a:t>理解</a:t>
            </a:r>
            <a:r>
              <a:rPr lang="en-US" sz="3200">
                <a:latin typeface="Calibri" panose="020F0502020204030204" charset="0"/>
                <a:sym typeface="+mn-ea"/>
              </a:rPr>
              <a:t>x86-64 </a:t>
            </a:r>
            <a:r>
              <a:rPr lang="zh-CN" altLang="en-US" sz="3200">
                <a:latin typeface="Calibri" panose="020F0502020204030204" charset="0"/>
                <a:sym typeface="+mn-ea"/>
              </a:rPr>
              <a:t>栈帧</a:t>
            </a:r>
          </a:p>
        </p:txBody>
      </p:sp>
      <p:sp>
        <p:nvSpPr>
          <p:cNvPr id="23" name="Rectangle 3"/>
          <p:cNvSpPr>
            <a:spLocks noChangeArrowheads="1"/>
          </p:cNvSpPr>
          <p:nvPr/>
        </p:nvSpPr>
        <p:spPr bwMode="auto">
          <a:xfrm>
            <a:off x="266700" y="1295400"/>
            <a:ext cx="8610600" cy="1750695"/>
          </a:xfrm>
          <a:prstGeom prst="rect">
            <a:avLst/>
          </a:prstGeom>
          <a:noFill/>
          <a:ln w="12700">
            <a:noFill/>
            <a:miter lim="800000"/>
          </a:ln>
        </p:spPr>
        <p:txBody>
          <a:bodyPr wrap="square" lIns="90487" tIns="44450" rIns="90487" bIns="44450">
            <a:spAutoFit/>
          </a:bodyPr>
          <a:lstStyle/>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movq</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rbx</a:t>
            </a:r>
            <a:r>
              <a:rPr lang="en-US" sz="1800" dirty="0">
                <a:solidFill>
                  <a:srgbClr val="C00000"/>
                </a:solidFill>
                <a:latin typeface="Courier New" panose="02070309020205020404" charset="0"/>
              </a:rPr>
              <a:t>, -16(%</a:t>
            </a:r>
            <a:r>
              <a:rPr lang="en-US" sz="1800" dirty="0" err="1">
                <a:solidFill>
                  <a:srgbClr val="C00000"/>
                </a:solidFill>
                <a:latin typeface="Courier New" panose="02070309020205020404" charset="0"/>
              </a:rPr>
              <a:t>rsp</a:t>
            </a:r>
            <a:r>
              <a:rPr lang="en-US" sz="1800" dirty="0">
                <a:solidFill>
                  <a:srgbClr val="C00000"/>
                </a:solidFill>
                <a:latin typeface="Courier New" panose="02070309020205020404" charset="0"/>
              </a:rPr>
              <a:t>)</a:t>
            </a:r>
            <a:r>
              <a:rPr lang="en-US" sz="1800" dirty="0">
                <a:latin typeface="Courier New" panose="02070309020205020404" charset="0"/>
              </a:rPr>
              <a:t>	# </a:t>
            </a:r>
            <a:r>
              <a:rPr lang="zh-CN" altLang="en-US" sz="1800" dirty="0">
                <a:latin typeface="Courier New" panose="02070309020205020404" charset="0"/>
              </a:rPr>
              <a:t>保存</a:t>
            </a:r>
            <a:r>
              <a:rPr lang="en-US" sz="1800" dirty="0">
                <a:latin typeface="Courier New" panose="02070309020205020404" charset="0"/>
              </a:rPr>
              <a:t> %</a:t>
            </a:r>
            <a:r>
              <a:rPr lang="en-US" sz="1800" dirty="0" err="1">
                <a:latin typeface="Courier New" panose="02070309020205020404" charset="0"/>
              </a:rPr>
              <a:t>rbx</a:t>
            </a: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movq</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rbp</a:t>
            </a:r>
            <a:r>
              <a:rPr lang="en-US" sz="1800" dirty="0">
                <a:solidFill>
                  <a:srgbClr val="C00000"/>
                </a:solidFill>
                <a:latin typeface="Courier New" panose="02070309020205020404" charset="0"/>
              </a:rPr>
              <a:t>, -8(%</a:t>
            </a:r>
            <a:r>
              <a:rPr lang="en-US" sz="1800" dirty="0" err="1">
                <a:solidFill>
                  <a:srgbClr val="C00000"/>
                </a:solidFill>
                <a:latin typeface="Courier New" panose="02070309020205020404" charset="0"/>
              </a:rPr>
              <a:t>rsp</a:t>
            </a:r>
            <a:r>
              <a:rPr lang="en-US" sz="1800" dirty="0">
                <a:solidFill>
                  <a:srgbClr val="C00000"/>
                </a:solidFill>
                <a:latin typeface="Courier New" panose="02070309020205020404" charset="0"/>
              </a:rPr>
              <a:t>)</a:t>
            </a:r>
            <a:r>
              <a:rPr lang="en-US" sz="1800" dirty="0">
                <a:latin typeface="Courier New" panose="02070309020205020404" charset="0"/>
              </a:rPr>
              <a:t>	# </a:t>
            </a:r>
            <a:r>
              <a:rPr lang="zh-CN" altLang="en-US" dirty="0">
                <a:latin typeface="Courier New" panose="02070309020205020404" charset="0"/>
                <a:sym typeface="+mn-ea"/>
              </a:rPr>
              <a:t>保存</a:t>
            </a:r>
            <a:r>
              <a:rPr lang="en-US" sz="1800" dirty="0">
                <a:latin typeface="Courier New" panose="02070309020205020404" charset="0"/>
              </a:rPr>
              <a:t> %</a:t>
            </a:r>
            <a:r>
              <a:rPr lang="en-US" sz="1800" dirty="0" err="1">
                <a:latin typeface="Courier New" panose="02070309020205020404" charset="0"/>
              </a:rPr>
              <a:t>rbp</a:t>
            </a: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p>
          <a:p>
            <a:pPr eaLnBrk="0" hangingPunct="0">
              <a:tabLst>
                <a:tab pos="457200" algn="l"/>
                <a:tab pos="1485900" algn="l"/>
                <a:tab pos="4572000" algn="l"/>
              </a:tabLst>
            </a:pPr>
            <a:r>
              <a:rPr lang="en-US" sz="1800" dirty="0">
                <a:solidFill>
                  <a:srgbClr val="C00000"/>
                </a:solidFill>
                <a:latin typeface="Courier New" panose="02070309020205020404" charset="0"/>
              </a:rPr>
              <a:t>	</a:t>
            </a:r>
            <a:endParaRPr lang="en-US" sz="1800" dirty="0">
              <a:latin typeface="Courier New" panose="02070309020205020404" charset="0"/>
            </a:endParaRPr>
          </a:p>
          <a:p>
            <a:pPr eaLnBrk="0" hangingPunct="0">
              <a:tabLst>
                <a:tab pos="457200" algn="l"/>
                <a:tab pos="1485900" algn="l"/>
                <a:tab pos="4572000" algn="l"/>
              </a:tabLst>
            </a:pPr>
            <a:endParaRPr lang="en-US" sz="1800" dirty="0">
              <a:solidFill>
                <a:srgbClr val="C00000"/>
              </a:solidFill>
              <a:latin typeface="Courier New" panose="02070309020205020404" charset="0"/>
            </a:endParaRPr>
          </a:p>
          <a:p>
            <a:pPr eaLnBrk="0" hangingPunct="0">
              <a:tabLst>
                <a:tab pos="457200" algn="l"/>
                <a:tab pos="1485900" algn="l"/>
                <a:tab pos="4572000" algn="l"/>
              </a:tabLst>
            </a:pP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subq</a:t>
            </a:r>
            <a:r>
              <a:rPr lang="en-US" sz="1800" dirty="0">
                <a:solidFill>
                  <a:srgbClr val="C00000"/>
                </a:solidFill>
                <a:latin typeface="Courier New" panose="02070309020205020404" charset="0"/>
              </a:rPr>
              <a:t>	$16, %</a:t>
            </a:r>
            <a:r>
              <a:rPr lang="en-US" sz="1800" dirty="0" err="1">
                <a:solidFill>
                  <a:srgbClr val="C00000"/>
                </a:solidFill>
                <a:latin typeface="Courier New" panose="02070309020205020404" charset="0"/>
              </a:rPr>
              <a:t>rsp</a:t>
            </a:r>
            <a:r>
              <a:rPr lang="en-US" sz="1800" dirty="0">
                <a:latin typeface="Courier New" panose="02070309020205020404" charset="0"/>
              </a:rPr>
              <a:t>	# 分配栈帧</a:t>
            </a:r>
          </a:p>
        </p:txBody>
      </p:sp>
      <p:sp>
        <p:nvSpPr>
          <p:cNvPr id="26" name="Rectangle 25"/>
          <p:cNvSpPr/>
          <p:nvPr/>
        </p:nvSpPr>
        <p:spPr>
          <a:xfrm>
            <a:off x="928662" y="3500735"/>
            <a:ext cx="1241045" cy="461665"/>
          </a:xfrm>
          <a:prstGeom prst="rect">
            <a:avLst/>
          </a:prstGeom>
        </p:spPr>
        <p:txBody>
          <a:bodyPr wrap="none">
            <a:spAutoFit/>
          </a:bodyPr>
          <a:lstStyle/>
          <a:p>
            <a:r>
              <a:rPr lang="en-US" dirty="0">
                <a:latin typeface="Courier New" panose="02070309020205020404" charset="0"/>
                <a:sym typeface="Wingdings" panose="05000000000000000000"/>
              </a:rPr>
              <a:t>  </a:t>
            </a:r>
            <a:endParaRPr lang="en-US" dirty="0"/>
          </a:p>
        </p:txBody>
      </p:sp>
      <p:sp>
        <p:nvSpPr>
          <p:cNvPr id="24" name="Rectangle 3"/>
          <p:cNvSpPr>
            <a:spLocks noChangeArrowheads="1"/>
          </p:cNvSpPr>
          <p:nvPr/>
        </p:nvSpPr>
        <p:spPr bwMode="auto">
          <a:xfrm>
            <a:off x="357188" y="4714884"/>
            <a:ext cx="8610600" cy="1196340"/>
          </a:xfrm>
          <a:prstGeom prst="rect">
            <a:avLst/>
          </a:prstGeom>
          <a:noFill/>
          <a:ln w="12700">
            <a:noFill/>
            <a:miter lim="800000"/>
          </a:ln>
        </p:spPr>
        <p:txBody>
          <a:bodyPr wrap="square" lIns="90487" tIns="44450" rIns="90487" bIns="44450">
            <a:spAutoFit/>
          </a:bodyPr>
          <a:lstStyle/>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movq</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rsp</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rbx</a:t>
            </a:r>
            <a:r>
              <a:rPr lang="en-US" sz="1800" dirty="0">
                <a:latin typeface="Courier New" panose="02070309020205020404" charset="0"/>
              </a:rPr>
              <a:t>	# </a:t>
            </a:r>
            <a:r>
              <a:rPr lang="zh-CN" altLang="en-US" sz="1800" dirty="0">
                <a:latin typeface="Courier New" panose="02070309020205020404" charset="0"/>
              </a:rPr>
              <a:t>恢复</a:t>
            </a:r>
            <a:r>
              <a:rPr lang="en-US" sz="1800" dirty="0">
                <a:latin typeface="Courier New" panose="02070309020205020404" charset="0"/>
              </a:rPr>
              <a:t> %</a:t>
            </a:r>
            <a:r>
              <a:rPr lang="en-US" sz="1800" dirty="0" err="1">
                <a:latin typeface="Courier New" panose="02070309020205020404" charset="0"/>
              </a:rPr>
              <a:t>rbx</a:t>
            </a: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movq</a:t>
            </a:r>
            <a:r>
              <a:rPr lang="en-US" sz="1800" dirty="0">
                <a:solidFill>
                  <a:srgbClr val="C00000"/>
                </a:solidFill>
                <a:latin typeface="Courier New" panose="02070309020205020404" charset="0"/>
              </a:rPr>
              <a:t>	8(%</a:t>
            </a:r>
            <a:r>
              <a:rPr lang="en-US" sz="1800" dirty="0" err="1">
                <a:solidFill>
                  <a:srgbClr val="C00000"/>
                </a:solidFill>
                <a:latin typeface="Courier New" panose="02070309020205020404" charset="0"/>
              </a:rPr>
              <a:t>rsp</a:t>
            </a:r>
            <a:r>
              <a:rPr lang="en-US" sz="1800" dirty="0">
                <a:solidFill>
                  <a:srgbClr val="C00000"/>
                </a:solidFill>
                <a:latin typeface="Courier New" panose="02070309020205020404" charset="0"/>
              </a:rPr>
              <a:t>), %</a:t>
            </a:r>
            <a:r>
              <a:rPr lang="en-US" sz="1800" dirty="0" err="1">
                <a:solidFill>
                  <a:srgbClr val="C00000"/>
                </a:solidFill>
                <a:latin typeface="Courier New" panose="02070309020205020404" charset="0"/>
              </a:rPr>
              <a:t>rbp</a:t>
            </a:r>
            <a:r>
              <a:rPr lang="en-US" sz="1800" dirty="0">
                <a:latin typeface="Courier New" panose="02070309020205020404" charset="0"/>
              </a:rPr>
              <a:t>	# </a:t>
            </a:r>
            <a:r>
              <a:rPr lang="zh-CN" altLang="en-US" dirty="0">
                <a:latin typeface="Courier New" panose="02070309020205020404" charset="0"/>
                <a:sym typeface="+mn-ea"/>
              </a:rPr>
              <a:t>恢复</a:t>
            </a:r>
            <a:r>
              <a:rPr lang="en-US" sz="1800" dirty="0">
                <a:latin typeface="Courier New" panose="02070309020205020404" charset="0"/>
              </a:rPr>
              <a:t> %</a:t>
            </a:r>
            <a:r>
              <a:rPr lang="en-US" sz="1800" dirty="0" err="1">
                <a:latin typeface="Courier New" panose="02070309020205020404" charset="0"/>
              </a:rPr>
              <a:t>rbp</a:t>
            </a:r>
            <a:endParaRPr lang="en-US" sz="1800" dirty="0">
              <a:latin typeface="Courier New" panose="02070309020205020404" charset="0"/>
            </a:endParaRPr>
          </a:p>
          <a:p>
            <a:pPr eaLnBrk="0" hangingPunct="0">
              <a:tabLst>
                <a:tab pos="457200" algn="l"/>
                <a:tab pos="1485900" algn="l"/>
                <a:tab pos="4572000" algn="l"/>
              </a:tabLst>
            </a:pPr>
            <a:endParaRPr lang="en-US" sz="1800" dirty="0">
              <a:latin typeface="Courier New" panose="02070309020205020404" charset="0"/>
            </a:endParaRPr>
          </a:p>
          <a:p>
            <a:pPr eaLnBrk="0" hangingPunct="0">
              <a:tabLst>
                <a:tab pos="457200" algn="l"/>
                <a:tab pos="1485900" algn="l"/>
                <a:tab pos="4572000" algn="l"/>
              </a:tabLst>
            </a:pPr>
            <a:r>
              <a:rPr lang="en-US" sz="1800" dirty="0">
                <a:latin typeface="Courier New" panose="02070309020205020404" charset="0"/>
              </a:rPr>
              <a:t>	</a:t>
            </a:r>
            <a:r>
              <a:rPr lang="en-US" sz="1800" dirty="0" err="1">
                <a:solidFill>
                  <a:srgbClr val="C00000"/>
                </a:solidFill>
                <a:latin typeface="Courier New" panose="02070309020205020404" charset="0"/>
              </a:rPr>
              <a:t>addq</a:t>
            </a:r>
            <a:r>
              <a:rPr lang="en-US" sz="1800" dirty="0">
                <a:solidFill>
                  <a:srgbClr val="C00000"/>
                </a:solidFill>
                <a:latin typeface="Courier New" panose="02070309020205020404" charset="0"/>
              </a:rPr>
              <a:t>	$16, %</a:t>
            </a:r>
            <a:r>
              <a:rPr lang="en-US" sz="1800" dirty="0" err="1">
                <a:solidFill>
                  <a:srgbClr val="C00000"/>
                </a:solidFill>
                <a:latin typeface="Courier New" panose="02070309020205020404" charset="0"/>
              </a:rPr>
              <a:t>rsp</a:t>
            </a:r>
            <a:r>
              <a:rPr lang="en-US" sz="1800" dirty="0">
                <a:latin typeface="Courier New" panose="02070309020205020404" charset="0"/>
              </a:rPr>
              <a:t>	# </a:t>
            </a:r>
            <a:r>
              <a:rPr lang="en-US" sz="1800">
                <a:latin typeface="Courier New" panose="02070309020205020404" charset="0"/>
              </a:rPr>
              <a:t>释放</a:t>
            </a:r>
            <a:r>
              <a:rPr lang="en-US" dirty="0">
                <a:latin typeface="Courier New" panose="02070309020205020404" charset="0"/>
                <a:sym typeface="+mn-ea"/>
              </a:rPr>
              <a:t>帧</a:t>
            </a:r>
            <a:endParaRPr lang="en-US" sz="1800">
              <a:latin typeface="Courier New" panose="02070309020205020404" charset="0"/>
            </a:endParaRPr>
          </a:p>
        </p:txBody>
      </p:sp>
      <p:sp>
        <p:nvSpPr>
          <p:cNvPr id="2" name="Rectangle 11"/>
          <p:cNvSpPr/>
          <p:nvPr/>
        </p:nvSpPr>
        <p:spPr bwMode="auto">
          <a:xfrm>
            <a:off x="6651656" y="1295400"/>
            <a:ext cx="2278062" cy="12192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anchor="ctr" anchorCtr="1"/>
          <a:lstStyle/>
          <a:p>
            <a:pPr algn="ctr" eaLnBrk="0" hangingPunct="0">
              <a:defRPr/>
            </a:pPr>
            <a:endParaRPr lang="en-US" sz="1600" dirty="0">
              <a:latin typeface="Calibri" panose="020F0502020204030204" charset="0"/>
              <a:ea typeface="+mn-ea"/>
              <a:cs typeface="+mn-cs"/>
            </a:endParaRPr>
          </a:p>
        </p:txBody>
      </p:sp>
      <p:grpSp>
        <p:nvGrpSpPr>
          <p:cNvPr id="46084" name="Group 4"/>
          <p:cNvGrpSpPr/>
          <p:nvPr/>
        </p:nvGrpSpPr>
        <p:grpSpPr bwMode="auto">
          <a:xfrm>
            <a:off x="6655625" y="1436688"/>
            <a:ext cx="2049462" cy="979487"/>
            <a:chOff x="917" y="3344"/>
            <a:chExt cx="1291" cy="617"/>
          </a:xfrm>
        </p:grpSpPr>
        <p:sp>
          <p:nvSpPr>
            <p:cNvPr id="46093" name="Rectangle 5"/>
            <p:cNvSpPr>
              <a:spLocks noChangeArrowheads="1"/>
            </p:cNvSpPr>
            <p:nvPr/>
          </p:nvSpPr>
          <p:spPr bwMode="auto">
            <a:xfrm>
              <a:off x="1632" y="3351"/>
              <a:ext cx="576" cy="206"/>
            </a:xfrm>
            <a:prstGeom prst="rect">
              <a:avLst/>
            </a:prstGeom>
            <a:solidFill>
              <a:schemeClr val="bg1"/>
            </a:solidFill>
            <a:ln w="25400">
              <a:solidFill>
                <a:schemeClr val="tx1"/>
              </a:solidFill>
              <a:miter lim="800000"/>
            </a:ln>
          </p:spPr>
          <p:txBody>
            <a:bodyPr wrap="none" anchor="ctr"/>
            <a:lstStyle/>
            <a:p>
              <a:pPr algn="ctr" eaLnBrk="0" hangingPunct="0"/>
              <a:r>
                <a:rPr lang="en-US" sz="1600">
                  <a:latin typeface="Calibri" panose="020F0502020204030204" charset="0"/>
                </a:rPr>
                <a:t>rtn addr</a:t>
              </a:r>
            </a:p>
          </p:txBody>
        </p:sp>
        <p:sp>
          <p:nvSpPr>
            <p:cNvPr id="6" name="Rectangle 6"/>
            <p:cNvSpPr>
              <a:spLocks noChangeArrowheads="1"/>
            </p:cNvSpPr>
            <p:nvPr/>
          </p:nvSpPr>
          <p:spPr bwMode="auto">
            <a:xfrm>
              <a:off x="1632" y="3543"/>
              <a:ext cx="576" cy="206"/>
            </a:xfrm>
            <a:prstGeom prst="rect">
              <a:avLst/>
            </a:prstGeom>
            <a:solidFill>
              <a:schemeClr val="accent2">
                <a:lumMod val="20000"/>
                <a:lumOff val="80000"/>
              </a:schemeClr>
            </a:solidFill>
            <a:ln w="25400">
              <a:solidFill>
                <a:schemeClr val="tx1"/>
              </a:solidFill>
              <a:miter lim="800000"/>
            </a:ln>
            <a:effectLst/>
          </p:spPr>
          <p:txBody>
            <a:bodyPr wrap="none" anchor="ctr"/>
            <a:lstStyle/>
            <a:p>
              <a:pPr algn="ctr" eaLnBrk="0" hangingPunct="0">
                <a:defRPr/>
              </a:pPr>
              <a:r>
                <a:rPr lang="en-US" sz="1600" dirty="0">
                  <a:latin typeface="Courier New" panose="02070309020205020404" charset="0"/>
                  <a:ea typeface="+mn-ea"/>
                  <a:cs typeface="+mn-cs"/>
                </a:rPr>
                <a:t>%</a:t>
              </a:r>
              <a:r>
                <a:rPr lang="en-US" sz="1600" dirty="0" err="1">
                  <a:latin typeface="Courier New" panose="02070309020205020404" charset="0"/>
                  <a:ea typeface="+mn-ea"/>
                  <a:cs typeface="+mn-cs"/>
                </a:rPr>
                <a:t>rbp</a:t>
              </a:r>
              <a:endParaRPr lang="en-US" sz="1600" dirty="0">
                <a:latin typeface="Courier New" panose="02070309020205020404" charset="0"/>
                <a:ea typeface="+mn-ea"/>
                <a:cs typeface="+mn-cs"/>
              </a:endParaRPr>
            </a:p>
          </p:txBody>
        </p:sp>
        <p:sp>
          <p:nvSpPr>
            <p:cNvPr id="46095" name="Line 7"/>
            <p:cNvSpPr>
              <a:spLocks noChangeShapeType="1"/>
            </p:cNvSpPr>
            <p:nvPr/>
          </p:nvSpPr>
          <p:spPr bwMode="auto">
            <a:xfrm>
              <a:off x="1344" y="3450"/>
              <a:ext cx="288" cy="0"/>
            </a:xfrm>
            <a:prstGeom prst="line">
              <a:avLst/>
            </a:prstGeom>
            <a:noFill/>
            <a:ln w="25400">
              <a:solidFill>
                <a:schemeClr val="tx1"/>
              </a:solidFill>
              <a:round/>
              <a:tailEnd type="triangle" w="med" len="med"/>
            </a:ln>
          </p:spPr>
          <p:txBody>
            <a:bodyPr wrap="none" anchor="ctr"/>
            <a:lstStyle/>
            <a:p>
              <a:endParaRPr lang="en-US"/>
            </a:p>
          </p:txBody>
        </p:sp>
        <p:sp>
          <p:nvSpPr>
            <p:cNvPr id="46096" name="Text Box 8"/>
            <p:cNvSpPr txBox="1">
              <a:spLocks noChangeArrowheads="1"/>
            </p:cNvSpPr>
            <p:nvPr/>
          </p:nvSpPr>
          <p:spPr bwMode="auto">
            <a:xfrm>
              <a:off x="917" y="3344"/>
              <a:ext cx="423" cy="212"/>
            </a:xfrm>
            <a:prstGeom prst="rect">
              <a:avLst/>
            </a:prstGeom>
            <a:noFill/>
            <a:ln w="25400">
              <a:noFill/>
              <a:miter lim="800000"/>
            </a:ln>
          </p:spPr>
          <p:txBody>
            <a:bodyPr wrap="none">
              <a:spAutoFit/>
            </a:bodyPr>
            <a:lstStyle/>
            <a:p>
              <a:pPr eaLnBrk="0" hangingPunct="0"/>
              <a:r>
                <a:rPr lang="en-US" sz="1600">
                  <a:latin typeface="Courier New" panose="02070309020205020404" charset="0"/>
                </a:rPr>
                <a:t>%rsp</a:t>
              </a:r>
            </a:p>
          </p:txBody>
        </p:sp>
        <p:sp>
          <p:nvSpPr>
            <p:cNvPr id="46097" name="Text Box 9"/>
            <p:cNvSpPr txBox="1">
              <a:spLocks noChangeArrowheads="1"/>
            </p:cNvSpPr>
            <p:nvPr/>
          </p:nvSpPr>
          <p:spPr bwMode="auto">
            <a:xfrm>
              <a:off x="1152" y="3547"/>
              <a:ext cx="461" cy="212"/>
            </a:xfrm>
            <a:prstGeom prst="rect">
              <a:avLst/>
            </a:prstGeom>
            <a:noFill/>
            <a:ln w="19050">
              <a:noFill/>
              <a:miter lim="800000"/>
              <a:tailEnd type="none" w="sm" len="sm"/>
            </a:ln>
          </p:spPr>
          <p:txBody>
            <a:bodyPr lIns="45720" rIns="45720">
              <a:spAutoFit/>
            </a:bodyPr>
            <a:lstStyle/>
            <a:p>
              <a:pPr algn="r" eaLnBrk="0" hangingPunct="0"/>
              <a:r>
                <a:rPr lang="en-US" sz="1600">
                  <a:latin typeface="Arial" panose="020B0604020202020204" pitchFamily="34" charset="0"/>
                  <a:ea typeface="Arial" panose="020B0604020202020204" pitchFamily="34" charset="0"/>
                  <a:cs typeface="Arial" panose="020B0604020202020204" pitchFamily="34" charset="0"/>
                </a:rPr>
                <a:t>−</a:t>
              </a:r>
              <a:r>
                <a:rPr lang="en-US" sz="1600">
                  <a:latin typeface="Calibri" panose="020F0502020204030204" charset="0"/>
                </a:rPr>
                <a:t>8</a:t>
              </a:r>
            </a:p>
          </p:txBody>
        </p:sp>
        <p:sp>
          <p:nvSpPr>
            <p:cNvPr id="10" name="Rectangle 10"/>
            <p:cNvSpPr>
              <a:spLocks noChangeArrowheads="1"/>
            </p:cNvSpPr>
            <p:nvPr/>
          </p:nvSpPr>
          <p:spPr bwMode="auto">
            <a:xfrm>
              <a:off x="1632" y="3730"/>
              <a:ext cx="576" cy="206"/>
            </a:xfrm>
            <a:prstGeom prst="rect">
              <a:avLst/>
            </a:prstGeom>
            <a:solidFill>
              <a:schemeClr val="accent2">
                <a:lumMod val="20000"/>
                <a:lumOff val="80000"/>
              </a:schemeClr>
            </a:solidFill>
            <a:ln w="25400">
              <a:solidFill>
                <a:schemeClr val="tx1"/>
              </a:solidFill>
              <a:miter lim="800000"/>
            </a:ln>
            <a:effectLst/>
          </p:spPr>
          <p:txBody>
            <a:bodyPr wrap="none" anchor="ctr"/>
            <a:lstStyle/>
            <a:p>
              <a:pPr algn="ctr" eaLnBrk="0" hangingPunct="0">
                <a:defRPr/>
              </a:pPr>
              <a:r>
                <a:rPr lang="en-US" sz="1600">
                  <a:latin typeface="Courier New" panose="02070309020205020404" charset="0"/>
                  <a:ea typeface="+mn-ea"/>
                  <a:cs typeface="+mn-cs"/>
                </a:rPr>
                <a:t>%rbx</a:t>
              </a:r>
            </a:p>
          </p:txBody>
        </p:sp>
        <p:sp>
          <p:nvSpPr>
            <p:cNvPr id="46099" name="Text Box 11"/>
            <p:cNvSpPr txBox="1">
              <a:spLocks noChangeArrowheads="1"/>
            </p:cNvSpPr>
            <p:nvPr/>
          </p:nvSpPr>
          <p:spPr bwMode="auto">
            <a:xfrm>
              <a:off x="1152" y="3749"/>
              <a:ext cx="461" cy="212"/>
            </a:xfrm>
            <a:prstGeom prst="rect">
              <a:avLst/>
            </a:prstGeom>
            <a:noFill/>
            <a:ln w="19050">
              <a:noFill/>
              <a:miter lim="800000"/>
              <a:tailEnd type="none" w="sm" len="sm"/>
            </a:ln>
          </p:spPr>
          <p:txBody>
            <a:bodyPr lIns="45720" rIns="45720">
              <a:spAutoFit/>
            </a:bodyPr>
            <a:lstStyle/>
            <a:p>
              <a:pPr algn="r" eaLnBrk="0" hangingPunct="0"/>
              <a:r>
                <a:rPr lang="en-US" sz="1600">
                  <a:latin typeface="Arial" panose="020B0604020202020204" pitchFamily="34" charset="0"/>
                  <a:ea typeface="Arial" panose="020B0604020202020204" pitchFamily="34" charset="0"/>
                  <a:cs typeface="Arial" panose="020B0604020202020204" pitchFamily="34" charset="0"/>
                </a:rPr>
                <a:t>−</a:t>
              </a:r>
              <a:r>
                <a:rPr lang="en-US" sz="1600">
                  <a:latin typeface="Calibri" panose="020F0502020204030204" charset="0"/>
                </a:rPr>
                <a:t>16</a:t>
              </a:r>
            </a:p>
          </p:txBody>
        </p:sp>
      </p:grpSp>
      <p:sp>
        <p:nvSpPr>
          <p:cNvPr id="22" name="Rectangle 21"/>
          <p:cNvSpPr/>
          <p:nvPr/>
        </p:nvSpPr>
        <p:spPr bwMode="auto">
          <a:xfrm>
            <a:off x="6705600" y="3429000"/>
            <a:ext cx="2278063" cy="121920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anchor="ctr" anchorCtr="1"/>
          <a:lstStyle/>
          <a:p>
            <a:pPr algn="ctr" eaLnBrk="0" hangingPunct="0">
              <a:defRPr/>
            </a:pPr>
            <a:endParaRPr lang="en-US" sz="1600" dirty="0">
              <a:latin typeface="Calibri" panose="020F0502020204030204" charset="0"/>
              <a:ea typeface="+mn-ea"/>
              <a:cs typeface="+mn-cs"/>
            </a:endParaRPr>
          </a:p>
        </p:txBody>
      </p:sp>
      <p:grpSp>
        <p:nvGrpSpPr>
          <p:cNvPr id="46086" name="Group 4"/>
          <p:cNvGrpSpPr/>
          <p:nvPr/>
        </p:nvGrpSpPr>
        <p:grpSpPr bwMode="auto">
          <a:xfrm>
            <a:off x="6705600" y="3635375"/>
            <a:ext cx="2049463" cy="935038"/>
            <a:chOff x="917" y="3351"/>
            <a:chExt cx="1291" cy="589"/>
          </a:xfrm>
        </p:grpSpPr>
        <p:sp>
          <p:nvSpPr>
            <p:cNvPr id="46087" name="Rectangle 5"/>
            <p:cNvSpPr>
              <a:spLocks noChangeArrowheads="1"/>
            </p:cNvSpPr>
            <p:nvPr/>
          </p:nvSpPr>
          <p:spPr bwMode="auto">
            <a:xfrm>
              <a:off x="1632" y="3351"/>
              <a:ext cx="576" cy="206"/>
            </a:xfrm>
            <a:prstGeom prst="rect">
              <a:avLst/>
            </a:prstGeom>
            <a:solidFill>
              <a:schemeClr val="bg1"/>
            </a:solidFill>
            <a:ln w="25400">
              <a:solidFill>
                <a:schemeClr val="tx1"/>
              </a:solidFill>
              <a:miter lim="800000"/>
            </a:ln>
          </p:spPr>
          <p:txBody>
            <a:bodyPr wrap="none" anchor="ctr"/>
            <a:lstStyle/>
            <a:p>
              <a:pPr algn="ctr" eaLnBrk="0" hangingPunct="0"/>
              <a:r>
                <a:rPr lang="en-US" sz="1600">
                  <a:latin typeface="Calibri" panose="020F0502020204030204" charset="0"/>
                </a:rPr>
                <a:t>rtn addr</a:t>
              </a:r>
            </a:p>
          </p:txBody>
        </p:sp>
        <p:sp>
          <p:nvSpPr>
            <p:cNvPr id="25" name="Rectangle 6"/>
            <p:cNvSpPr>
              <a:spLocks noChangeArrowheads="1"/>
            </p:cNvSpPr>
            <p:nvPr/>
          </p:nvSpPr>
          <p:spPr bwMode="auto">
            <a:xfrm>
              <a:off x="1632" y="3543"/>
              <a:ext cx="576" cy="206"/>
            </a:xfrm>
            <a:prstGeom prst="rect">
              <a:avLst/>
            </a:prstGeom>
            <a:solidFill>
              <a:schemeClr val="accent2">
                <a:lumMod val="20000"/>
                <a:lumOff val="80000"/>
              </a:schemeClr>
            </a:solidFill>
            <a:ln w="25400">
              <a:solidFill>
                <a:schemeClr val="tx1"/>
              </a:solidFill>
              <a:miter lim="800000"/>
            </a:ln>
            <a:effectLst/>
          </p:spPr>
          <p:txBody>
            <a:bodyPr wrap="none" anchor="ctr"/>
            <a:lstStyle/>
            <a:p>
              <a:pPr algn="ctr" eaLnBrk="0" hangingPunct="0">
                <a:defRPr/>
              </a:pPr>
              <a:r>
                <a:rPr lang="en-US" sz="1600" dirty="0">
                  <a:latin typeface="Courier New" panose="02070309020205020404" charset="0"/>
                  <a:ea typeface="+mn-ea"/>
                  <a:cs typeface="+mn-cs"/>
                </a:rPr>
                <a:t>%</a:t>
              </a:r>
              <a:r>
                <a:rPr lang="en-US" sz="1600" dirty="0" err="1">
                  <a:latin typeface="Courier New" panose="02070309020205020404" charset="0"/>
                  <a:ea typeface="+mn-ea"/>
                  <a:cs typeface="+mn-cs"/>
                </a:rPr>
                <a:t>rbp</a:t>
              </a:r>
              <a:endParaRPr lang="en-US" sz="1600" dirty="0">
                <a:latin typeface="Courier New" panose="02070309020205020404" charset="0"/>
                <a:ea typeface="+mn-ea"/>
                <a:cs typeface="+mn-cs"/>
              </a:endParaRPr>
            </a:p>
          </p:txBody>
        </p:sp>
        <p:sp>
          <p:nvSpPr>
            <p:cNvPr id="46089" name="Line 7"/>
            <p:cNvSpPr>
              <a:spLocks noChangeShapeType="1"/>
            </p:cNvSpPr>
            <p:nvPr/>
          </p:nvSpPr>
          <p:spPr bwMode="auto">
            <a:xfrm>
              <a:off x="1344" y="3834"/>
              <a:ext cx="288" cy="0"/>
            </a:xfrm>
            <a:prstGeom prst="line">
              <a:avLst/>
            </a:prstGeom>
            <a:noFill/>
            <a:ln w="25400">
              <a:solidFill>
                <a:schemeClr val="tx1"/>
              </a:solidFill>
              <a:round/>
              <a:tailEnd type="triangle" w="med" len="med"/>
            </a:ln>
          </p:spPr>
          <p:txBody>
            <a:bodyPr wrap="none" anchor="ctr"/>
            <a:lstStyle/>
            <a:p>
              <a:endParaRPr lang="en-US"/>
            </a:p>
          </p:txBody>
        </p:sp>
        <p:sp>
          <p:nvSpPr>
            <p:cNvPr id="46090" name="Text Box 8"/>
            <p:cNvSpPr txBox="1">
              <a:spLocks noChangeArrowheads="1"/>
            </p:cNvSpPr>
            <p:nvPr/>
          </p:nvSpPr>
          <p:spPr bwMode="auto">
            <a:xfrm>
              <a:off x="917" y="3728"/>
              <a:ext cx="423" cy="212"/>
            </a:xfrm>
            <a:prstGeom prst="rect">
              <a:avLst/>
            </a:prstGeom>
            <a:noFill/>
            <a:ln w="25400">
              <a:noFill/>
              <a:miter lim="800000"/>
            </a:ln>
          </p:spPr>
          <p:txBody>
            <a:bodyPr wrap="none">
              <a:spAutoFit/>
            </a:bodyPr>
            <a:lstStyle/>
            <a:p>
              <a:pPr eaLnBrk="0" hangingPunct="0"/>
              <a:r>
                <a:rPr lang="en-US" sz="1600">
                  <a:latin typeface="Courier New" panose="02070309020205020404" charset="0"/>
                </a:rPr>
                <a:t>%rsp</a:t>
              </a:r>
            </a:p>
          </p:txBody>
        </p:sp>
        <p:sp>
          <p:nvSpPr>
            <p:cNvPr id="46091" name="Text Box 9"/>
            <p:cNvSpPr txBox="1">
              <a:spLocks noChangeArrowheads="1"/>
            </p:cNvSpPr>
            <p:nvPr/>
          </p:nvSpPr>
          <p:spPr bwMode="auto">
            <a:xfrm>
              <a:off x="1152" y="3536"/>
              <a:ext cx="461" cy="212"/>
            </a:xfrm>
            <a:prstGeom prst="rect">
              <a:avLst/>
            </a:prstGeom>
            <a:noFill/>
            <a:ln w="19050">
              <a:noFill/>
              <a:miter lim="800000"/>
              <a:tailEnd type="none" w="sm" len="sm"/>
            </a:ln>
          </p:spPr>
          <p:txBody>
            <a:bodyPr lIns="45720" rIns="45720">
              <a:spAutoFit/>
            </a:bodyPr>
            <a:lstStyle/>
            <a:p>
              <a:pPr algn="r" eaLnBrk="0" hangingPunct="0"/>
              <a:r>
                <a:rPr lang="en-US" sz="1600">
                  <a:latin typeface="Arial" panose="020B0604020202020204" pitchFamily="34" charset="0"/>
                  <a:ea typeface="Arial" panose="020B0604020202020204" pitchFamily="34" charset="0"/>
                  <a:cs typeface="Arial" panose="020B0604020202020204" pitchFamily="34" charset="0"/>
                </a:rPr>
                <a:t>+</a:t>
              </a:r>
              <a:r>
                <a:rPr lang="en-US" sz="1600">
                  <a:latin typeface="Calibri" panose="020F0502020204030204" charset="0"/>
                </a:rPr>
                <a:t>8</a:t>
              </a:r>
            </a:p>
          </p:txBody>
        </p:sp>
        <p:sp>
          <p:nvSpPr>
            <p:cNvPr id="29" name="Rectangle 10"/>
            <p:cNvSpPr>
              <a:spLocks noChangeArrowheads="1"/>
            </p:cNvSpPr>
            <p:nvPr/>
          </p:nvSpPr>
          <p:spPr bwMode="auto">
            <a:xfrm>
              <a:off x="1632" y="3730"/>
              <a:ext cx="576" cy="206"/>
            </a:xfrm>
            <a:prstGeom prst="rect">
              <a:avLst/>
            </a:prstGeom>
            <a:solidFill>
              <a:schemeClr val="accent2">
                <a:lumMod val="20000"/>
                <a:lumOff val="80000"/>
              </a:schemeClr>
            </a:solidFill>
            <a:ln w="25400">
              <a:solidFill>
                <a:schemeClr val="tx1"/>
              </a:solidFill>
              <a:miter lim="800000"/>
            </a:ln>
            <a:effectLst/>
          </p:spPr>
          <p:txBody>
            <a:bodyPr wrap="none" anchor="ctr"/>
            <a:lstStyle/>
            <a:p>
              <a:pPr algn="ctr" eaLnBrk="0" hangingPunct="0">
                <a:defRPr/>
              </a:pPr>
              <a:r>
                <a:rPr lang="en-US" sz="1600">
                  <a:latin typeface="Courier New" panose="02070309020205020404" charset="0"/>
                  <a:ea typeface="+mn-ea"/>
                  <a:cs typeface="+mn-cs"/>
                </a:rPr>
                <a:t>%rbx</a:t>
              </a:r>
            </a:p>
          </p:txBody>
        </p:sp>
      </p:gr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94030"/>
            <a:ext cx="4068445"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latin typeface="Calibri" panose="020F0502020204030204" charset="0"/>
                <a:sym typeface="+mn-ea"/>
              </a:rPr>
              <a:t> </a:t>
            </a:r>
            <a:r>
              <a:rPr lang="zh-CN" altLang="en-US" sz="3200">
                <a:latin typeface="Calibri" panose="020F0502020204030204" charset="0"/>
                <a:sym typeface="+mn-ea"/>
              </a:rPr>
              <a:t>栈帧</a:t>
            </a:r>
            <a:r>
              <a:rPr lang="en-US" altLang="zh-CN" sz="3200">
                <a:latin typeface="Calibri" panose="020F0502020204030204" charset="0"/>
                <a:sym typeface="+mn-ea"/>
              </a:rPr>
              <a:t>“</a:t>
            </a:r>
            <a:r>
              <a:rPr lang="zh-CN" altLang="en-US" sz="3200">
                <a:latin typeface="Calibri" panose="020F0502020204030204" charset="0"/>
                <a:sym typeface="+mn-ea"/>
              </a:rPr>
              <a:t>有趣</a:t>
            </a:r>
            <a:r>
              <a:rPr lang="en-US" altLang="zh-CN" sz="3200">
                <a:latin typeface="Calibri" panose="020F0502020204030204" charset="0"/>
                <a:sym typeface="+mn-ea"/>
              </a:rPr>
              <a:t>”</a:t>
            </a:r>
            <a:r>
              <a:rPr lang="zh-CN" altLang="en-US" sz="3200">
                <a:latin typeface="Calibri" panose="020F0502020204030204" charset="0"/>
                <a:sym typeface="+mn-ea"/>
              </a:rPr>
              <a:t>的特点</a:t>
            </a:r>
          </a:p>
        </p:txBody>
      </p:sp>
      <p:sp>
        <p:nvSpPr>
          <p:cNvPr id="48130" name="Rectangle 3"/>
          <p:cNvSpPr>
            <a:spLocks noGrp="1" noChangeArrowheads="1"/>
          </p:cNvSpPr>
          <p:nvPr/>
        </p:nvSpPr>
        <p:spPr>
          <a:xfrm>
            <a:off x="396875" y="13620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FF99CC"/>
              </a:buClr>
            </a:pPr>
            <a:r>
              <a:rPr lang="zh-CN" altLang="en-US">
                <a:latin typeface="微软雅黑" panose="020B0503020204020204" charset="-122"/>
                <a:ea typeface="微软雅黑" panose="020B0503020204020204" charset="-122"/>
              </a:rPr>
              <a:t>一起分配整个栈帧</a:t>
            </a:r>
          </a:p>
          <a:p>
            <a:pPr lvl="1">
              <a:buClr>
                <a:srgbClr val="0D0D0D"/>
              </a:buClr>
            </a:pPr>
            <a:r>
              <a:rPr lang="en-US">
                <a:latin typeface="微软雅黑" panose="020B0503020204020204" charset="-122"/>
                <a:ea typeface="微软雅黑" panose="020B0503020204020204" charset="-122"/>
              </a:rPr>
              <a:t>所有堆栈访问都可以相对于 </a:t>
            </a:r>
            <a:r>
              <a:rPr lang="en-US" b="1">
                <a:latin typeface="微软雅黑" panose="020B0503020204020204" charset="-122"/>
                <a:ea typeface="微软雅黑" panose="020B0503020204020204" charset="-122"/>
              </a:rPr>
              <a:t>%rsp</a:t>
            </a:r>
          </a:p>
          <a:p>
            <a:pPr lvl="1">
              <a:buClr>
                <a:srgbClr val="0D0D0D"/>
              </a:buClr>
            </a:pPr>
            <a:r>
              <a:rPr lang="zh-CN" altLang="en-US">
                <a:latin typeface="微软雅黑" panose="020B0503020204020204" charset="-122"/>
                <a:ea typeface="微软雅黑" panose="020B0503020204020204" charset="-122"/>
              </a:rPr>
              <a:t>通过</a:t>
            </a:r>
            <a:r>
              <a:rPr lang="en-US">
                <a:latin typeface="微软雅黑" panose="020B0503020204020204" charset="-122"/>
                <a:ea typeface="微软雅黑" panose="020B0503020204020204" charset="-122"/>
              </a:rPr>
              <a:t>栈指针</a:t>
            </a:r>
            <a:r>
              <a:rPr lang="zh-CN" altLang="en-US">
                <a:latin typeface="微软雅黑" panose="020B0503020204020204" charset="-122"/>
                <a:ea typeface="微软雅黑" panose="020B0503020204020204" charset="-122"/>
              </a:rPr>
              <a:t>递减实现</a:t>
            </a:r>
          </a:p>
          <a:p>
            <a:pPr lvl="1">
              <a:buClr>
                <a:srgbClr val="0D0D0D"/>
              </a:buClr>
            </a:pPr>
            <a:r>
              <a:rPr lang="en-US">
                <a:latin typeface="微软雅黑" panose="020B0503020204020204" charset="-122"/>
                <a:ea typeface="微软雅黑" panose="020B0503020204020204" charset="-122"/>
              </a:rPr>
              <a:t>可以延迟分配</a:t>
            </a:r>
          </a:p>
          <a:p>
            <a:pPr>
              <a:buClr>
                <a:srgbClr val="FF99CC"/>
              </a:buClr>
            </a:pPr>
            <a:r>
              <a:rPr lang="zh-CN" altLang="en-US">
                <a:latin typeface="微软雅黑" panose="020B0503020204020204" charset="-122"/>
                <a:ea typeface="微软雅黑" panose="020B0503020204020204" charset="-122"/>
              </a:rPr>
              <a:t>简单实现</a:t>
            </a:r>
            <a:r>
              <a:rPr lang="en-US">
                <a:latin typeface="微软雅黑" panose="020B0503020204020204" charset="-122"/>
                <a:ea typeface="微软雅黑" panose="020B0503020204020204" charset="-122"/>
                <a:sym typeface="+mn-ea"/>
              </a:rPr>
              <a:t>释放</a:t>
            </a:r>
            <a:endParaRPr lang="zh-CN" altLang="en-US">
              <a:latin typeface="微软雅黑" panose="020B0503020204020204" charset="-122"/>
              <a:ea typeface="微软雅黑" panose="020B0503020204020204" charset="-122"/>
            </a:endParaRPr>
          </a:p>
          <a:p>
            <a:pPr lvl="1">
              <a:buClr>
                <a:srgbClr val="0D0D0D"/>
              </a:buClr>
            </a:pPr>
            <a:r>
              <a:rPr lang="en-US">
                <a:latin typeface="微软雅黑" panose="020B0503020204020204" charset="-122"/>
                <a:ea typeface="微软雅黑" panose="020B0503020204020204" charset="-122"/>
              </a:rPr>
              <a:t>增量栈指针</a:t>
            </a:r>
          </a:p>
          <a:p>
            <a:pPr lvl="1">
              <a:buClr>
                <a:srgbClr val="0D0D0D"/>
              </a:buClr>
            </a:pPr>
            <a:r>
              <a:rPr lang="en-US">
                <a:latin typeface="微软雅黑" panose="020B0503020204020204" charset="-122"/>
                <a:ea typeface="微软雅黑" panose="020B0503020204020204" charset="-122"/>
              </a:rPr>
              <a:t>不需要基/帧指针</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8130">
                                            <p:txEl>
                                              <p:pRg st="1" end="1"/>
                                            </p:txEl>
                                          </p:spTgt>
                                        </p:tgtEl>
                                        <p:attrNameLst>
                                          <p:attrName>style.visibility</p:attrName>
                                        </p:attrNameLst>
                                      </p:cBhvr>
                                      <p:to>
                                        <p:strVal val="visible"/>
                                      </p:to>
                                    </p:set>
                                    <p:animEffect transition="in" filter="wipe(down)">
                                      <p:cBhvr>
                                        <p:cTn id="7" dur="500"/>
                                        <p:tgtEl>
                                          <p:spTgt spid="48130">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8130">
                                            <p:txEl>
                                              <p:pRg st="2" end="2"/>
                                            </p:txEl>
                                          </p:spTgt>
                                        </p:tgtEl>
                                        <p:attrNameLst>
                                          <p:attrName>style.visibility</p:attrName>
                                        </p:attrNameLst>
                                      </p:cBhvr>
                                      <p:to>
                                        <p:strVal val="visible"/>
                                      </p:to>
                                    </p:set>
                                    <p:animEffect transition="in" filter="wipe(down)">
                                      <p:cBhvr>
                                        <p:cTn id="10" dur="500"/>
                                        <p:tgtEl>
                                          <p:spTgt spid="48130">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8130">
                                            <p:txEl>
                                              <p:pRg st="3" end="3"/>
                                            </p:txEl>
                                          </p:spTgt>
                                        </p:tgtEl>
                                        <p:attrNameLst>
                                          <p:attrName>style.visibility</p:attrName>
                                        </p:attrNameLst>
                                      </p:cBhvr>
                                      <p:to>
                                        <p:strVal val="visible"/>
                                      </p:to>
                                    </p:set>
                                    <p:animEffect transition="in" filter="wipe(down)">
                                      <p:cBhvr>
                                        <p:cTn id="13" dur="500"/>
                                        <p:tgtEl>
                                          <p:spTgt spid="48130">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8130">
                                            <p:txEl>
                                              <p:pRg st="4" end="4"/>
                                            </p:txEl>
                                          </p:spTgt>
                                        </p:tgtEl>
                                        <p:attrNameLst>
                                          <p:attrName>style.visibility</p:attrName>
                                        </p:attrNameLst>
                                      </p:cBhvr>
                                      <p:to>
                                        <p:strVal val="visible"/>
                                      </p:to>
                                    </p:set>
                                    <p:animEffect transition="in" filter="wipe(down)">
                                      <p:cBhvr>
                                        <p:cTn id="18" dur="500"/>
                                        <p:tgtEl>
                                          <p:spTgt spid="48130">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48130">
                                            <p:txEl>
                                              <p:pRg st="5" end="5"/>
                                            </p:txEl>
                                          </p:spTgt>
                                        </p:tgtEl>
                                        <p:attrNameLst>
                                          <p:attrName>style.visibility</p:attrName>
                                        </p:attrNameLst>
                                      </p:cBhvr>
                                      <p:to>
                                        <p:strVal val="visible"/>
                                      </p:to>
                                    </p:set>
                                    <p:animEffect transition="in" filter="wipe(down)">
                                      <p:cBhvr>
                                        <p:cTn id="23" dur="500"/>
                                        <p:tgtEl>
                                          <p:spTgt spid="48130">
                                            <p:txEl>
                                              <p:pRg st="5" end="5"/>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48130">
                                            <p:txEl>
                                              <p:pRg st="6" end="6"/>
                                            </p:txEl>
                                          </p:spTgt>
                                        </p:tgtEl>
                                        <p:attrNameLst>
                                          <p:attrName>style.visibility</p:attrName>
                                        </p:attrNameLst>
                                      </p:cBhvr>
                                      <p:to>
                                        <p:strVal val="visible"/>
                                      </p:to>
                                    </p:set>
                                    <p:animEffect transition="in" filter="wipe(down)">
                                      <p:cBhvr>
                                        <p:cTn id="26" dur="500"/>
                                        <p:tgtEl>
                                          <p:spTgt spid="4813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13642"/>
            <a:ext cx="2460625" cy="252730"/>
          </a:xfrm>
          <a:prstGeom prst="rect">
            <a:avLst/>
          </a:prstGeom>
        </p:spPr>
        <p:txBody>
          <a:bodyPr wrap="none">
            <a:spAutoFit/>
          </a:bodyPr>
          <a:lstStyle/>
          <a:p>
            <a:r>
              <a:rPr lang="en-US" altLang="zh-CN" sz="1050" b="1" dirty="0"/>
              <a:t>PART THREE C</a:t>
            </a:r>
            <a:r>
              <a:rPr lang="zh-CN" altLang="en-US" sz="1050" b="1" dirty="0"/>
              <a:t>语言程序的机器级表示</a:t>
            </a:r>
            <a:r>
              <a:rPr lang="en-US" altLang="zh-CN" sz="1050" b="1" dirty="0"/>
              <a:t> </a:t>
            </a:r>
            <a:endParaRPr lang="zh-CN" altLang="en-US" sz="1050" b="1" dirty="0"/>
          </a:p>
        </p:txBody>
      </p:sp>
      <p:sp>
        <p:nvSpPr>
          <p:cNvPr id="7" name="椭圆 6"/>
          <p:cNvSpPr/>
          <p:nvPr/>
        </p:nvSpPr>
        <p:spPr>
          <a:xfrm>
            <a:off x="2354764" y="86555"/>
            <a:ext cx="98188" cy="8500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94030"/>
            <a:ext cx="4068445" cy="572770"/>
          </a:xfrm>
          <a:prstGeom prst="chevron">
            <a:avLst/>
          </a:prstGeom>
          <a:solidFill>
            <a:srgbClr val="FF99CC">
              <a:alpha val="7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latin typeface="Calibri" panose="020F0502020204030204" charset="0"/>
                <a:sym typeface="+mn-ea"/>
              </a:rPr>
              <a:t>x86-64</a:t>
            </a:r>
            <a:r>
              <a:rPr lang="zh-CN" altLang="en-US" sz="3200">
                <a:latin typeface="Calibri" panose="020F0502020204030204" charset="0"/>
                <a:sym typeface="+mn-ea"/>
              </a:rPr>
              <a:t>过程总结</a:t>
            </a:r>
          </a:p>
        </p:txBody>
      </p:sp>
      <p:sp>
        <p:nvSpPr>
          <p:cNvPr id="50178" name="Rectangle 3"/>
          <p:cNvSpPr>
            <a:spLocks noGrp="1" noChangeArrowheads="1"/>
          </p:cNvSpPr>
          <p:nvPr/>
        </p:nvSpPr>
        <p:spPr>
          <a:xfrm>
            <a:off x="264795" y="1270000"/>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FF99CC"/>
              </a:buClr>
            </a:pPr>
            <a:r>
              <a:rPr lang="en-US" dirty="0">
                <a:latin typeface="微软雅黑" panose="020B0503020204020204" charset="-122"/>
                <a:ea typeface="微软雅黑" panose="020B0503020204020204" charset="-122"/>
              </a:rPr>
              <a:t>寄存器的大量使用</a:t>
            </a:r>
          </a:p>
          <a:p>
            <a:pPr lvl="1">
              <a:buClr>
                <a:srgbClr val="0D0D0D"/>
              </a:buClr>
            </a:pPr>
            <a:r>
              <a:rPr lang="en-US" dirty="0">
                <a:latin typeface="微软雅黑" panose="020B0503020204020204" charset="-122"/>
                <a:ea typeface="微软雅黑" panose="020B0503020204020204" charset="-122"/>
              </a:rPr>
              <a:t>参数传递</a:t>
            </a:r>
          </a:p>
          <a:p>
            <a:pPr lvl="1">
              <a:buClr>
                <a:srgbClr val="0D0D0D"/>
              </a:buClr>
            </a:pPr>
            <a:r>
              <a:rPr lang="en-US" dirty="0">
                <a:latin typeface="微软雅黑" panose="020B0503020204020204" charset="-122"/>
                <a:ea typeface="微软雅黑" panose="020B0503020204020204" charset="-122"/>
              </a:rPr>
              <a:t>更多的临时</a:t>
            </a:r>
            <a:r>
              <a:rPr lang="zh-CN" altLang="en-US" dirty="0">
                <a:latin typeface="微软雅黑" panose="020B0503020204020204" charset="-122"/>
                <a:ea typeface="微软雅黑" panose="020B0503020204020204" charset="-122"/>
              </a:rPr>
              <a:t>变量（</a:t>
            </a:r>
            <a:r>
              <a:rPr lang="en-US" dirty="0">
                <a:latin typeface="微软雅黑" panose="020B0503020204020204" charset="-122"/>
                <a:ea typeface="微软雅黑" panose="020B0503020204020204" charset="-122"/>
              </a:rPr>
              <a:t>更多的寄存器</a:t>
            </a:r>
            <a:r>
              <a:rPr lang="zh-CN" altLang="en-US" dirty="0">
                <a:latin typeface="微软雅黑" panose="020B0503020204020204" charset="-122"/>
                <a:ea typeface="微软雅黑" panose="020B0503020204020204" charset="-122"/>
              </a:rPr>
              <a:t>）</a:t>
            </a:r>
          </a:p>
          <a:p>
            <a:endParaRPr lang="en-US" dirty="0">
              <a:latin typeface="微软雅黑" panose="020B0503020204020204" charset="-122"/>
              <a:ea typeface="微软雅黑" panose="020B0503020204020204" charset="-122"/>
            </a:endParaRPr>
          </a:p>
          <a:p>
            <a:pPr>
              <a:buClr>
                <a:srgbClr val="FF99CC"/>
              </a:buClr>
            </a:pPr>
            <a:r>
              <a:rPr lang="en-US" dirty="0">
                <a:latin typeface="微软雅黑" panose="020B0503020204020204" charset="-122"/>
                <a:ea typeface="微软雅黑" panose="020B0503020204020204" charset="-122"/>
              </a:rPr>
              <a:t>栈的最小使用</a:t>
            </a:r>
          </a:p>
          <a:p>
            <a:pPr lvl="1">
              <a:buClr>
                <a:srgbClr val="0D0D0D"/>
              </a:buClr>
            </a:pPr>
            <a:r>
              <a:rPr lang="en-US" dirty="0">
                <a:latin typeface="微软雅黑" panose="020B0503020204020204" charset="-122"/>
                <a:ea typeface="微软雅黑" panose="020B0503020204020204" charset="-122"/>
              </a:rPr>
              <a:t>有时没有</a:t>
            </a:r>
          </a:p>
          <a:p>
            <a:pPr lvl="1">
              <a:buClr>
                <a:srgbClr val="0D0D0D"/>
              </a:buClr>
            </a:pPr>
            <a:r>
              <a:rPr lang="en-US">
                <a:latin typeface="微软雅黑" panose="020B0503020204020204" charset="-122"/>
                <a:ea typeface="微软雅黑" panose="020B0503020204020204" charset="-122"/>
              </a:rPr>
              <a:t>分配/释放整个</a:t>
            </a:r>
            <a:r>
              <a:rPr lang="zh-CN" altLang="en-US">
                <a:latin typeface="微软雅黑" panose="020B0503020204020204" charset="-122"/>
                <a:ea typeface="微软雅黑" panose="020B0503020204020204" charset="-122"/>
              </a:rPr>
              <a:t>块</a:t>
            </a:r>
          </a:p>
          <a:p>
            <a:endParaRPr lang="en-US" dirty="0">
              <a:latin typeface="微软雅黑" panose="020B0503020204020204" charset="-122"/>
              <a:ea typeface="微软雅黑" panose="020B0503020204020204" charset="-122"/>
            </a:endParaRPr>
          </a:p>
          <a:p>
            <a:pPr>
              <a:buClr>
                <a:srgbClr val="FF99CC"/>
              </a:buClr>
            </a:pPr>
            <a:r>
              <a:rPr lang="en-US" dirty="0">
                <a:latin typeface="微软雅黑" panose="020B0503020204020204" charset="-122"/>
                <a:ea typeface="微软雅黑" panose="020B0503020204020204" charset="-122"/>
              </a:rPr>
              <a:t>许多棘手的问题</a:t>
            </a:r>
          </a:p>
          <a:p>
            <a:pPr lvl="1">
              <a:buClr>
                <a:srgbClr val="0D0D0D"/>
              </a:buClr>
            </a:pPr>
            <a:r>
              <a:rPr lang="en-US" dirty="0">
                <a:latin typeface="微软雅黑" panose="020B0503020204020204" charset="-122"/>
                <a:ea typeface="微软雅黑" panose="020B0503020204020204" charset="-122"/>
              </a:rPr>
              <a:t>要使用哪种栈</a:t>
            </a:r>
            <a:r>
              <a:rPr lang="zh-CN" altLang="en-US" dirty="0">
                <a:latin typeface="微软雅黑" panose="020B0503020204020204" charset="-122"/>
                <a:ea typeface="微软雅黑" panose="020B0503020204020204" charset="-122"/>
              </a:rPr>
              <a:t>帧</a:t>
            </a:r>
            <a:r>
              <a:rPr lang="en-US" dirty="0">
                <a:latin typeface="微软雅黑" panose="020B0503020204020204" charset="-122"/>
                <a:ea typeface="微软雅黑" panose="020B0503020204020204" charset="-122"/>
              </a:rPr>
              <a:t>？</a:t>
            </a:r>
          </a:p>
          <a:p>
            <a:pPr lvl="1">
              <a:buClr>
                <a:srgbClr val="0D0D0D"/>
              </a:buClr>
            </a:pPr>
            <a:r>
              <a:rPr lang="en-US" dirty="0">
                <a:latin typeface="微软雅黑" panose="020B0503020204020204" charset="-122"/>
                <a:ea typeface="微软雅黑" panose="020B0503020204020204" charset="-122"/>
              </a:rPr>
              <a:t>各种分配技</a:t>
            </a:r>
            <a:r>
              <a:rPr lang="zh-CN" altLang="en-US" dirty="0">
                <a:latin typeface="微软雅黑" panose="020B0503020204020204" charset="-122"/>
                <a:ea typeface="微软雅黑" panose="020B0503020204020204" charset="-122"/>
              </a:rPr>
              <a:t>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0178">
                                            <p:txEl>
                                              <p:pRg st="1" end="1"/>
                                            </p:txEl>
                                          </p:spTgt>
                                        </p:tgtEl>
                                        <p:attrNameLst>
                                          <p:attrName>style.visibility</p:attrName>
                                        </p:attrNameLst>
                                      </p:cBhvr>
                                      <p:to>
                                        <p:strVal val="visible"/>
                                      </p:to>
                                    </p:set>
                                    <p:animEffect transition="in" filter="wipe(down)">
                                      <p:cBhvr>
                                        <p:cTn id="7" dur="500"/>
                                        <p:tgtEl>
                                          <p:spTgt spid="50178">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0178">
                                            <p:txEl>
                                              <p:pRg st="2" end="2"/>
                                            </p:txEl>
                                          </p:spTgt>
                                        </p:tgtEl>
                                        <p:attrNameLst>
                                          <p:attrName>style.visibility</p:attrName>
                                        </p:attrNameLst>
                                      </p:cBhvr>
                                      <p:to>
                                        <p:strVal val="visible"/>
                                      </p:to>
                                    </p:set>
                                    <p:animEffect transition="in" filter="wipe(down)">
                                      <p:cBhvr>
                                        <p:cTn id="10" dur="500"/>
                                        <p:tgtEl>
                                          <p:spTgt spid="50178">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0178">
                                            <p:txEl>
                                              <p:pRg st="5" end="5"/>
                                            </p:txEl>
                                          </p:spTgt>
                                        </p:tgtEl>
                                        <p:attrNameLst>
                                          <p:attrName>style.visibility</p:attrName>
                                        </p:attrNameLst>
                                      </p:cBhvr>
                                      <p:to>
                                        <p:strVal val="visible"/>
                                      </p:to>
                                    </p:set>
                                    <p:animEffect transition="in" filter="wipe(down)">
                                      <p:cBhvr>
                                        <p:cTn id="15" dur="500"/>
                                        <p:tgtEl>
                                          <p:spTgt spid="50178">
                                            <p:txEl>
                                              <p:pRg st="5" end="5"/>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50178">
                                            <p:txEl>
                                              <p:pRg st="6" end="6"/>
                                            </p:txEl>
                                          </p:spTgt>
                                        </p:tgtEl>
                                        <p:attrNameLst>
                                          <p:attrName>style.visibility</p:attrName>
                                        </p:attrNameLst>
                                      </p:cBhvr>
                                      <p:to>
                                        <p:strVal val="visible"/>
                                      </p:to>
                                    </p:set>
                                    <p:animEffect transition="in" filter="wipe(down)">
                                      <p:cBhvr>
                                        <p:cTn id="18" dur="500"/>
                                        <p:tgtEl>
                                          <p:spTgt spid="50178">
                                            <p:txEl>
                                              <p:pRg st="6" end="6"/>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50178">
                                            <p:txEl>
                                              <p:pRg st="9" end="9"/>
                                            </p:txEl>
                                          </p:spTgt>
                                        </p:tgtEl>
                                        <p:attrNameLst>
                                          <p:attrName>style.visibility</p:attrName>
                                        </p:attrNameLst>
                                      </p:cBhvr>
                                      <p:to>
                                        <p:strVal val="visible"/>
                                      </p:to>
                                    </p:set>
                                    <p:animEffect transition="in" filter="wipe(down)">
                                      <p:cBhvr>
                                        <p:cTn id="23" dur="500"/>
                                        <p:tgtEl>
                                          <p:spTgt spid="50178">
                                            <p:txEl>
                                              <p:pRg st="9" end="9"/>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50178">
                                            <p:txEl>
                                              <p:pRg st="10" end="10"/>
                                            </p:txEl>
                                          </p:spTgt>
                                        </p:tgtEl>
                                        <p:attrNameLst>
                                          <p:attrName>style.visibility</p:attrName>
                                        </p:attrNameLst>
                                      </p:cBhvr>
                                      <p:to>
                                        <p:strVal val="visible"/>
                                      </p:to>
                                    </p:set>
                                    <p:animEffect transition="in" filter="wipe(down)">
                                      <p:cBhvr>
                                        <p:cTn id="26" dur="500"/>
                                        <p:tgtEl>
                                          <p:spTgt spid="5017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21195" y="3317593"/>
            <a:ext cx="2701610" cy="751205"/>
          </a:xfrm>
          <a:prstGeom prst="rect">
            <a:avLst/>
          </a:prstGeom>
          <a:noFill/>
        </p:spPr>
        <p:txBody>
          <a:bodyPr wrap="square" rtlCol="0">
            <a:spAutoFit/>
          </a:bodyPr>
          <a:lstStyle/>
          <a:p>
            <a:pPr algn="ctr" defTabSz="608965">
              <a:lnSpc>
                <a:spcPct val="130000"/>
              </a:lnSpc>
            </a:pPr>
            <a:r>
              <a:rPr lang="en-US" altLang="zh-CN" sz="3300" b="1" dirty="0">
                <a:latin typeface="+mj-lt"/>
                <a:ea typeface="微软雅黑" panose="020B0503020204020204" charset="-122"/>
              </a:rPr>
              <a:t>PART FOUR</a:t>
            </a:r>
          </a:p>
        </p:txBody>
      </p:sp>
      <p:sp>
        <p:nvSpPr>
          <p:cNvPr id="3" name="文本框 2"/>
          <p:cNvSpPr txBox="1"/>
          <p:nvPr/>
        </p:nvSpPr>
        <p:spPr>
          <a:xfrm>
            <a:off x="-87630" y="2670175"/>
            <a:ext cx="9504045" cy="783590"/>
          </a:xfrm>
          <a:prstGeom prst="rect">
            <a:avLst/>
          </a:prstGeom>
          <a:noFill/>
        </p:spPr>
        <p:txBody>
          <a:bodyPr wrap="square" rtlCol="0">
            <a:spAutoFit/>
          </a:bodyPr>
          <a:lstStyle/>
          <a:p>
            <a:pPr algn="l"/>
            <a:r>
              <a:rPr lang="zh-CN" altLang="en-US" sz="4500" dirty="0">
                <a:latin typeface="+mn-ea"/>
                <a:cs typeface="+mn-ea"/>
                <a:sym typeface="+mn-ea"/>
              </a:rPr>
              <a:t>第四讲：复杂数据类型的分配和访问</a:t>
            </a:r>
            <a:endParaRPr lang="zh-CN" altLang="en-US" sz="4500" dirty="0">
              <a:latin typeface="+mj-lt"/>
              <a:ea typeface="微软雅黑" panose="020B0503020204020204" charset="-122"/>
            </a:endParaRPr>
          </a:p>
        </p:txBody>
      </p:sp>
      <p:sp>
        <p:nvSpPr>
          <p:cNvPr id="4" name="矩形 3"/>
          <p:cNvSpPr/>
          <p:nvPr/>
        </p:nvSpPr>
        <p:spPr>
          <a:xfrm>
            <a:off x="3667363" y="3962018"/>
            <a:ext cx="1809275" cy="8500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spd="slow">
    <p:push dir="u"/>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99110"/>
            <a:ext cx="2934970" cy="605155"/>
          </a:xfrm>
          <a:prstGeom prst="chevron">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基本数据类型</a:t>
            </a:r>
          </a:p>
        </p:txBody>
      </p:sp>
      <p:sp>
        <p:nvSpPr>
          <p:cNvPr id="300035" name="Rectangle 3"/>
          <p:cNvSpPr>
            <a:spLocks noGrp="1" noChangeArrowheads="1"/>
          </p:cNvSpPr>
          <p:nvPr/>
        </p:nvSpPr>
        <p:spPr>
          <a:xfrm>
            <a:off x="266700" y="1104265"/>
            <a:ext cx="8610600" cy="5241925"/>
          </a:xfrm>
          <a:prstGeom prst="rect">
            <a:avLst/>
          </a:prstGeom>
          <a:noFill/>
          <a:ln w="9525">
            <a:noFill/>
            <a:miter lim="800000"/>
          </a:ln>
        </p:spPr>
        <p:txBody>
          <a:bodyPr vert="horz" wrap="square" lIns="90487" tIns="44450" rIns="90487" bIns="4445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24155" indent="-224155" defTabSz="895350">
              <a:buClr>
                <a:srgbClr val="0D0D0D"/>
              </a:buClr>
              <a:tabLst>
                <a:tab pos="2400300" algn="l"/>
                <a:tab pos="3429000" algn="l"/>
                <a:tab pos="4521200" algn="l"/>
                <a:tab pos="6578600" algn="l"/>
              </a:tabLst>
            </a:pPr>
            <a:r>
              <a:rPr lang="zh-CN" altLang="en-US" dirty="0">
                <a:latin typeface="微软雅黑" panose="020B0503020204020204" charset="-122"/>
                <a:ea typeface="微软雅黑" panose="020B0503020204020204" charset="-122"/>
              </a:rPr>
              <a:t>整型</a:t>
            </a:r>
          </a:p>
          <a:p>
            <a:pPr marL="560705" lvl="1" indent="-222250" defTabSz="895350">
              <a:buClr>
                <a:srgbClr val="0D0D0D"/>
              </a:buClr>
              <a:tabLst>
                <a:tab pos="2400300" algn="l"/>
                <a:tab pos="3429000" algn="l"/>
                <a:tab pos="4521200" algn="l"/>
                <a:tab pos="6578600" algn="l"/>
              </a:tabLst>
            </a:pPr>
            <a:r>
              <a:rPr lang="en-US" dirty="0">
                <a:latin typeface="微软雅黑" panose="020B0503020204020204" charset="-122"/>
                <a:ea typeface="微软雅黑" panose="020B0503020204020204" charset="-122"/>
              </a:rPr>
              <a:t>一般的（整数）寄存器存储和操作</a:t>
            </a:r>
          </a:p>
          <a:p>
            <a:pPr marL="560705" lvl="1" indent="-222250" defTabSz="895350">
              <a:buClr>
                <a:srgbClr val="0D0D0D"/>
              </a:buClr>
              <a:tabLst>
                <a:tab pos="2400300" algn="l"/>
                <a:tab pos="3429000" algn="l"/>
                <a:tab pos="4521200" algn="l"/>
                <a:tab pos="6578600" algn="l"/>
              </a:tabLst>
            </a:pPr>
            <a:r>
              <a:rPr lang="en-US" dirty="0">
                <a:latin typeface="微软雅黑" panose="020B0503020204020204" charset="-122"/>
                <a:ea typeface="微软雅黑" panose="020B0503020204020204" charset="-122"/>
              </a:rPr>
              <a:t>Signed </a:t>
            </a:r>
            <a:r>
              <a:rPr lang="zh-CN" altLang="en-US" dirty="0">
                <a:latin typeface="微软雅黑" panose="020B0503020204020204" charset="-122"/>
                <a:ea typeface="微软雅黑" panose="020B0503020204020204" charset="-122"/>
              </a:rPr>
              <a:t>还是</a:t>
            </a:r>
            <a:r>
              <a:rPr lang="en-US" dirty="0">
                <a:latin typeface="微软雅黑" panose="020B0503020204020204" charset="-122"/>
                <a:ea typeface="微软雅黑" panose="020B0503020204020204" charset="-122"/>
              </a:rPr>
              <a:t> unsigned 取决于所使用的指令</a:t>
            </a:r>
          </a:p>
          <a:p>
            <a:pPr marL="840105" lvl="2" indent="-165100" defTabSz="895350">
              <a:buFont typeface="Wingdings" panose="05000000000000000000" pitchFamily="2" charset="2"/>
              <a:buNone/>
              <a:tabLst>
                <a:tab pos="2400300" algn="l"/>
                <a:tab pos="3429000" algn="l"/>
                <a:tab pos="4521200" algn="l"/>
                <a:tab pos="6578600" algn="l"/>
              </a:tabLst>
            </a:pPr>
            <a:r>
              <a:rPr lang="en-US" sz="1800" b="1" dirty="0">
                <a:latin typeface="微软雅黑" panose="020B0503020204020204" charset="-122"/>
                <a:ea typeface="微软雅黑" panose="020B0503020204020204" charset="-122"/>
              </a:rPr>
              <a:t>Intel	ASM	Bytes	C</a:t>
            </a:r>
          </a:p>
          <a:p>
            <a:pPr marL="840105" lvl="2" indent="-165100" defTabSz="895350">
              <a:buFont typeface="Wingdings" panose="05000000000000000000" pitchFamily="2" charset="2"/>
              <a:buNone/>
              <a:tabLst>
                <a:tab pos="2400300" algn="l"/>
                <a:tab pos="3429000" algn="l"/>
                <a:tab pos="4521200" algn="l"/>
                <a:tab pos="6578600" algn="l"/>
              </a:tabLst>
            </a:pPr>
            <a:r>
              <a:rPr lang="en-US" sz="1800" dirty="0">
                <a:latin typeface="微软雅黑" panose="020B0503020204020204" charset="-122"/>
                <a:ea typeface="微软雅黑" panose="020B0503020204020204" charset="-122"/>
              </a:rPr>
              <a:t>byte	</a:t>
            </a:r>
            <a:r>
              <a:rPr lang="en-US" sz="1800" b="1" dirty="0">
                <a:latin typeface="微软雅黑" panose="020B0503020204020204" charset="-122"/>
                <a:ea typeface="微软雅黑" panose="020B0503020204020204" charset="-122"/>
              </a:rPr>
              <a:t>b</a:t>
            </a:r>
            <a:r>
              <a:rPr lang="en-US" sz="1800" dirty="0">
                <a:latin typeface="微软雅黑" panose="020B0503020204020204" charset="-122"/>
                <a:ea typeface="微软雅黑" panose="020B0503020204020204" charset="-122"/>
              </a:rPr>
              <a:t>	1	</a:t>
            </a:r>
            <a:r>
              <a:rPr lang="en-US" sz="1800" b="1" dirty="0">
                <a:latin typeface="微软雅黑" panose="020B0503020204020204" charset="-122"/>
                <a:ea typeface="微软雅黑" panose="020B0503020204020204" charset="-122"/>
              </a:rPr>
              <a:t>[unsigned] char</a:t>
            </a:r>
          </a:p>
          <a:p>
            <a:pPr marL="840105" lvl="2" indent="-165100" defTabSz="895350">
              <a:buFont typeface="Wingdings" panose="05000000000000000000" pitchFamily="2" charset="2"/>
              <a:buNone/>
              <a:tabLst>
                <a:tab pos="2400300" algn="l"/>
                <a:tab pos="3429000" algn="l"/>
                <a:tab pos="4521200" algn="l"/>
                <a:tab pos="6578600" algn="l"/>
              </a:tabLst>
            </a:pPr>
            <a:r>
              <a:rPr lang="en-US" sz="1800" dirty="0">
                <a:latin typeface="微软雅黑" panose="020B0503020204020204" charset="-122"/>
                <a:ea typeface="微软雅黑" panose="020B0503020204020204" charset="-122"/>
              </a:rPr>
              <a:t>word	</a:t>
            </a:r>
            <a:r>
              <a:rPr lang="en-US" sz="1800" b="1" dirty="0">
                <a:latin typeface="微软雅黑" panose="020B0503020204020204" charset="-122"/>
                <a:ea typeface="微软雅黑" panose="020B0503020204020204" charset="-122"/>
              </a:rPr>
              <a:t>w</a:t>
            </a:r>
            <a:r>
              <a:rPr lang="en-US" sz="1800" dirty="0">
                <a:latin typeface="微软雅黑" panose="020B0503020204020204" charset="-122"/>
                <a:ea typeface="微软雅黑" panose="020B0503020204020204" charset="-122"/>
              </a:rPr>
              <a:t>	2	</a:t>
            </a:r>
            <a:r>
              <a:rPr lang="en-US" sz="1800" b="1" dirty="0">
                <a:latin typeface="微软雅黑" panose="020B0503020204020204" charset="-122"/>
                <a:ea typeface="微软雅黑" panose="020B0503020204020204" charset="-122"/>
              </a:rPr>
              <a:t>[unsigned] short</a:t>
            </a:r>
          </a:p>
          <a:p>
            <a:pPr marL="840105" lvl="2" indent="-165100" defTabSz="895350">
              <a:buFont typeface="Wingdings" panose="05000000000000000000" pitchFamily="2" charset="2"/>
              <a:buNone/>
              <a:tabLst>
                <a:tab pos="2400300" algn="l"/>
                <a:tab pos="3429000" algn="l"/>
                <a:tab pos="4521200" algn="l"/>
                <a:tab pos="6578600" algn="l"/>
              </a:tabLst>
            </a:pPr>
            <a:r>
              <a:rPr lang="en-US" sz="1800" dirty="0">
                <a:latin typeface="微软雅黑" panose="020B0503020204020204" charset="-122"/>
                <a:ea typeface="微软雅黑" panose="020B0503020204020204" charset="-122"/>
              </a:rPr>
              <a:t>double word	</a:t>
            </a:r>
            <a:r>
              <a:rPr lang="en-US" sz="1800" b="1" dirty="0">
                <a:latin typeface="微软雅黑" panose="020B0503020204020204" charset="-122"/>
                <a:ea typeface="微软雅黑" panose="020B0503020204020204" charset="-122"/>
              </a:rPr>
              <a:t>l</a:t>
            </a:r>
            <a:r>
              <a:rPr lang="en-US" sz="1800" dirty="0">
                <a:latin typeface="微软雅黑" panose="020B0503020204020204" charset="-122"/>
                <a:ea typeface="微软雅黑" panose="020B0503020204020204" charset="-122"/>
              </a:rPr>
              <a:t>	4	</a:t>
            </a:r>
            <a:r>
              <a:rPr lang="en-US" sz="1800" b="1" dirty="0">
                <a:latin typeface="微软雅黑" panose="020B0503020204020204" charset="-122"/>
                <a:ea typeface="微软雅黑" panose="020B0503020204020204" charset="-122"/>
              </a:rPr>
              <a:t>[unsigned] </a:t>
            </a:r>
            <a:r>
              <a:rPr lang="en-US" sz="1800" b="1" dirty="0" err="1">
                <a:latin typeface="微软雅黑" panose="020B0503020204020204" charset="-122"/>
                <a:ea typeface="微软雅黑" panose="020B0503020204020204" charset="-122"/>
              </a:rPr>
              <a:t>int</a:t>
            </a:r>
            <a:endParaRPr lang="en-US" sz="1800" b="1" dirty="0">
              <a:latin typeface="微软雅黑" panose="020B0503020204020204" charset="-122"/>
              <a:ea typeface="微软雅黑" panose="020B0503020204020204" charset="-122"/>
            </a:endParaRPr>
          </a:p>
          <a:p>
            <a:pPr marL="840105" lvl="2" indent="-165100" defTabSz="895350">
              <a:buFont typeface="Wingdings" panose="05000000000000000000" pitchFamily="2" charset="2"/>
              <a:buNone/>
              <a:tabLst>
                <a:tab pos="2400300" algn="l"/>
                <a:tab pos="3429000" algn="l"/>
                <a:tab pos="4521200" algn="l"/>
                <a:tab pos="6578600" algn="l"/>
              </a:tabLst>
            </a:pPr>
            <a:r>
              <a:rPr lang="en-US" sz="1800" dirty="0">
                <a:latin typeface="微软雅黑" panose="020B0503020204020204" charset="-122"/>
                <a:ea typeface="微软雅黑" panose="020B0503020204020204" charset="-122"/>
              </a:rPr>
              <a:t>quad word	</a:t>
            </a:r>
            <a:r>
              <a:rPr lang="en-US" sz="1800" b="1" dirty="0">
                <a:latin typeface="微软雅黑" panose="020B0503020204020204" charset="-122"/>
                <a:ea typeface="微软雅黑" panose="020B0503020204020204" charset="-122"/>
              </a:rPr>
              <a:t>q</a:t>
            </a:r>
            <a:r>
              <a:rPr lang="en-US" sz="1800" dirty="0">
                <a:latin typeface="微软雅黑" panose="020B0503020204020204" charset="-122"/>
                <a:ea typeface="微软雅黑" panose="020B0503020204020204" charset="-122"/>
              </a:rPr>
              <a:t>	8	</a:t>
            </a:r>
            <a:r>
              <a:rPr lang="en-US" sz="1800" b="1" dirty="0">
                <a:latin typeface="微软雅黑" panose="020B0503020204020204" charset="-122"/>
                <a:ea typeface="微软雅黑" panose="020B0503020204020204" charset="-122"/>
              </a:rPr>
              <a:t>[unsigned] long </a:t>
            </a:r>
            <a:r>
              <a:rPr lang="en-US" sz="1800" b="1" dirty="0" err="1">
                <a:latin typeface="微软雅黑" panose="020B0503020204020204" charset="-122"/>
                <a:ea typeface="微软雅黑" panose="020B0503020204020204" charset="-122"/>
              </a:rPr>
              <a:t>int</a:t>
            </a:r>
            <a:r>
              <a:rPr lang="en-US" sz="1800" b="1" dirty="0">
                <a:latin typeface="微软雅黑" panose="020B0503020204020204" charset="-122"/>
                <a:ea typeface="微软雅黑" panose="020B0503020204020204" charset="-122"/>
              </a:rPr>
              <a:t> </a:t>
            </a:r>
            <a:r>
              <a:rPr lang="en-US" sz="1800" dirty="0">
                <a:latin typeface="微软雅黑" panose="020B0503020204020204" charset="-122"/>
                <a:ea typeface="微软雅黑" panose="020B0503020204020204" charset="-122"/>
              </a:rPr>
              <a:t>(x86-64)</a:t>
            </a:r>
          </a:p>
          <a:p>
            <a:pPr marL="224155" indent="-224155" defTabSz="895350">
              <a:tabLst>
                <a:tab pos="2400300" algn="l"/>
                <a:tab pos="3429000" algn="l"/>
                <a:tab pos="4521200" algn="l"/>
                <a:tab pos="6578600" algn="l"/>
              </a:tabLst>
            </a:pPr>
            <a:endParaRPr lang="en-US" dirty="0">
              <a:latin typeface="微软雅黑" panose="020B0503020204020204" charset="-122"/>
              <a:ea typeface="微软雅黑" panose="020B0503020204020204" charset="-122"/>
            </a:endParaRPr>
          </a:p>
          <a:p>
            <a:pPr marL="224155" indent="-224155" defTabSz="895350">
              <a:buClr>
                <a:srgbClr val="000000"/>
              </a:buClr>
              <a:tabLst>
                <a:tab pos="2400300" algn="l"/>
                <a:tab pos="3429000" algn="l"/>
                <a:tab pos="4521200" algn="l"/>
                <a:tab pos="6578600" algn="l"/>
              </a:tabLst>
            </a:pPr>
            <a:r>
              <a:rPr lang="zh-CN" altLang="en-US" dirty="0">
                <a:latin typeface="微软雅黑" panose="020B0503020204020204" charset="-122"/>
                <a:ea typeface="微软雅黑" panose="020B0503020204020204" charset="-122"/>
              </a:rPr>
              <a:t>浮点型</a:t>
            </a:r>
          </a:p>
          <a:p>
            <a:pPr marL="560705" lvl="1" indent="-222250" defTabSz="895350">
              <a:buClr>
                <a:srgbClr val="0D0D0D"/>
              </a:buClr>
              <a:tabLst>
                <a:tab pos="2400300" algn="l"/>
                <a:tab pos="3429000" algn="l"/>
                <a:tab pos="4521200" algn="l"/>
                <a:tab pos="6578600" algn="l"/>
              </a:tabLst>
            </a:pPr>
            <a:r>
              <a:rPr lang="en-US" dirty="0">
                <a:latin typeface="微软雅黑" panose="020B0503020204020204" charset="-122"/>
                <a:ea typeface="微软雅黑" panose="020B0503020204020204" charset="-122"/>
              </a:rPr>
              <a:t>在浮点寄存器中存储和操作</a:t>
            </a:r>
          </a:p>
          <a:p>
            <a:pPr marL="840105" lvl="2" indent="-165100" defTabSz="895350">
              <a:buFont typeface="Wingdings" panose="05000000000000000000" pitchFamily="2" charset="2"/>
              <a:buNone/>
              <a:tabLst>
                <a:tab pos="2400300" algn="l"/>
                <a:tab pos="3429000" algn="l"/>
                <a:tab pos="4521200" algn="l"/>
                <a:tab pos="6578600" algn="l"/>
              </a:tabLst>
            </a:pPr>
            <a:r>
              <a:rPr lang="en-US" sz="1800" b="1" dirty="0">
                <a:latin typeface="微软雅黑" panose="020B0503020204020204" charset="-122"/>
                <a:ea typeface="微软雅黑" panose="020B0503020204020204" charset="-122"/>
              </a:rPr>
              <a:t>Intel	ASM	Bytes	C</a:t>
            </a:r>
          </a:p>
          <a:p>
            <a:pPr marL="840105" lvl="2" indent="-165100" defTabSz="895350">
              <a:buFont typeface="Wingdings" panose="05000000000000000000" pitchFamily="2" charset="2"/>
              <a:buNone/>
              <a:tabLst>
                <a:tab pos="2400300" algn="l"/>
                <a:tab pos="3429000" algn="l"/>
                <a:tab pos="4521200" algn="l"/>
                <a:tab pos="6578600" algn="l"/>
              </a:tabLst>
            </a:pPr>
            <a:r>
              <a:rPr lang="en-US" sz="1800" dirty="0">
                <a:latin typeface="微软雅黑" panose="020B0503020204020204" charset="-122"/>
                <a:ea typeface="微软雅黑" panose="020B0503020204020204" charset="-122"/>
              </a:rPr>
              <a:t>Single	</a:t>
            </a:r>
            <a:r>
              <a:rPr lang="en-US" sz="1800" b="1" dirty="0">
                <a:latin typeface="微软雅黑" panose="020B0503020204020204" charset="-122"/>
                <a:ea typeface="微软雅黑" panose="020B0503020204020204" charset="-122"/>
              </a:rPr>
              <a:t>s</a:t>
            </a:r>
            <a:r>
              <a:rPr lang="en-US" sz="1800" dirty="0">
                <a:latin typeface="微软雅黑" panose="020B0503020204020204" charset="-122"/>
                <a:ea typeface="微软雅黑" panose="020B0503020204020204" charset="-122"/>
              </a:rPr>
              <a:t>	4	</a:t>
            </a:r>
            <a:r>
              <a:rPr lang="en-US" sz="1800" b="1" dirty="0">
                <a:latin typeface="微软雅黑" panose="020B0503020204020204" charset="-122"/>
                <a:ea typeface="微软雅黑" panose="020B0503020204020204" charset="-122"/>
              </a:rPr>
              <a:t>float</a:t>
            </a:r>
          </a:p>
          <a:p>
            <a:pPr marL="840105" lvl="2" indent="-165100" defTabSz="895350">
              <a:buFont typeface="Wingdings" panose="05000000000000000000" pitchFamily="2" charset="2"/>
              <a:buNone/>
              <a:tabLst>
                <a:tab pos="2400300" algn="l"/>
                <a:tab pos="3429000" algn="l"/>
                <a:tab pos="4521200" algn="l"/>
                <a:tab pos="6578600" algn="l"/>
              </a:tabLst>
            </a:pPr>
            <a:r>
              <a:rPr lang="en-US" sz="1800" dirty="0">
                <a:latin typeface="微软雅黑" panose="020B0503020204020204" charset="-122"/>
                <a:ea typeface="微软雅黑" panose="020B0503020204020204" charset="-122"/>
              </a:rPr>
              <a:t>Double	</a:t>
            </a:r>
            <a:r>
              <a:rPr lang="en-US" sz="1800" b="1" dirty="0">
                <a:latin typeface="微软雅黑" panose="020B0503020204020204" charset="-122"/>
                <a:ea typeface="微软雅黑" panose="020B0503020204020204" charset="-122"/>
              </a:rPr>
              <a:t>l</a:t>
            </a:r>
            <a:r>
              <a:rPr lang="en-US" sz="1800" dirty="0">
                <a:latin typeface="微软雅黑" panose="020B0503020204020204" charset="-122"/>
                <a:ea typeface="微软雅黑" panose="020B0503020204020204" charset="-122"/>
              </a:rPr>
              <a:t>	8	</a:t>
            </a:r>
            <a:r>
              <a:rPr lang="en-US" sz="1800" b="1" dirty="0">
                <a:latin typeface="微软雅黑" panose="020B0503020204020204" charset="-122"/>
                <a:ea typeface="微软雅黑" panose="020B0503020204020204" charset="-122"/>
              </a:rPr>
              <a:t>double</a:t>
            </a:r>
          </a:p>
          <a:p>
            <a:pPr marL="840105" lvl="2" indent="-165100" defTabSz="895350">
              <a:buFont typeface="Wingdings" panose="05000000000000000000" pitchFamily="2" charset="2"/>
              <a:buNone/>
              <a:tabLst>
                <a:tab pos="2400300" algn="l"/>
                <a:tab pos="3429000" algn="l"/>
                <a:tab pos="4521200" algn="l"/>
                <a:tab pos="6578600" algn="l"/>
              </a:tabLst>
            </a:pPr>
            <a:r>
              <a:rPr lang="en-US" sz="1800" dirty="0">
                <a:latin typeface="微软雅黑" panose="020B0503020204020204" charset="-122"/>
                <a:ea typeface="微软雅黑" panose="020B0503020204020204" charset="-122"/>
              </a:rPr>
              <a:t>Extended	</a:t>
            </a:r>
            <a:r>
              <a:rPr lang="en-US" sz="1800" b="1" dirty="0">
                <a:latin typeface="微软雅黑" panose="020B0503020204020204" charset="-122"/>
                <a:ea typeface="微软雅黑" panose="020B0503020204020204" charset="-122"/>
              </a:rPr>
              <a:t>t</a:t>
            </a:r>
            <a:r>
              <a:rPr lang="en-US" sz="1800" dirty="0">
                <a:latin typeface="微软雅黑" panose="020B0503020204020204" charset="-122"/>
                <a:ea typeface="微软雅黑" panose="020B0503020204020204" charset="-122"/>
              </a:rPr>
              <a:t>	10/12/16	</a:t>
            </a:r>
            <a:r>
              <a:rPr lang="en-US" sz="1800" b="1" dirty="0">
                <a:latin typeface="微软雅黑" panose="020B0503020204020204" charset="-122"/>
                <a:ea typeface="微软雅黑" panose="020B0503020204020204" charset="-122"/>
              </a:rPr>
              <a:t>long double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0035">
                                            <p:txEl>
                                              <p:pRg st="1" end="1"/>
                                            </p:txEl>
                                          </p:spTgt>
                                        </p:tgtEl>
                                        <p:attrNameLst>
                                          <p:attrName>style.visibility</p:attrName>
                                        </p:attrNameLst>
                                      </p:cBhvr>
                                      <p:to>
                                        <p:strVal val="visible"/>
                                      </p:to>
                                    </p:set>
                                    <p:animEffect transition="in" filter="wipe(down)">
                                      <p:cBhvr>
                                        <p:cTn id="7" dur="500"/>
                                        <p:tgtEl>
                                          <p:spTgt spid="30003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0035">
                                            <p:txEl>
                                              <p:pRg st="2" end="2"/>
                                            </p:txEl>
                                          </p:spTgt>
                                        </p:tgtEl>
                                        <p:attrNameLst>
                                          <p:attrName>style.visibility</p:attrName>
                                        </p:attrNameLst>
                                      </p:cBhvr>
                                      <p:to>
                                        <p:strVal val="visible"/>
                                      </p:to>
                                    </p:set>
                                    <p:animEffect transition="in" filter="wipe(down)">
                                      <p:cBhvr>
                                        <p:cTn id="12" dur="500"/>
                                        <p:tgtEl>
                                          <p:spTgt spid="30003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0035">
                                            <p:txEl>
                                              <p:pRg st="3" end="3"/>
                                            </p:txEl>
                                          </p:spTgt>
                                        </p:tgtEl>
                                        <p:attrNameLst>
                                          <p:attrName>style.visibility</p:attrName>
                                        </p:attrNameLst>
                                      </p:cBhvr>
                                      <p:to>
                                        <p:strVal val="visible"/>
                                      </p:to>
                                    </p:set>
                                    <p:animEffect transition="in" filter="wipe(down)">
                                      <p:cBhvr>
                                        <p:cTn id="17" dur="500"/>
                                        <p:tgtEl>
                                          <p:spTgt spid="300035">
                                            <p:txEl>
                                              <p:pRg st="3" end="3"/>
                                            </p:txEl>
                                          </p:spTgt>
                                        </p:tgtEl>
                                      </p:cBhvr>
                                    </p:animEffect>
                                  </p:childTnLst>
                                </p:cTn>
                              </p:par>
                              <p:par>
                                <p:cTn id="18" presetID="22" presetClass="entr" presetSubtype="4" fill="hold" nodeType="withEffect">
                                  <p:stCondLst>
                                    <p:cond delay="0"/>
                                  </p:stCondLst>
                                  <p:childTnLst>
                                    <p:set>
                                      <p:cBhvr>
                                        <p:cTn id="19" dur="1" fill="hold">
                                          <p:stCondLst>
                                            <p:cond delay="0"/>
                                          </p:stCondLst>
                                        </p:cTn>
                                        <p:tgtEl>
                                          <p:spTgt spid="300035">
                                            <p:txEl>
                                              <p:pRg st="4" end="4"/>
                                            </p:txEl>
                                          </p:spTgt>
                                        </p:tgtEl>
                                        <p:attrNameLst>
                                          <p:attrName>style.visibility</p:attrName>
                                        </p:attrNameLst>
                                      </p:cBhvr>
                                      <p:to>
                                        <p:strVal val="visible"/>
                                      </p:to>
                                    </p:set>
                                    <p:animEffect transition="in" filter="wipe(down)">
                                      <p:cBhvr>
                                        <p:cTn id="20" dur="500"/>
                                        <p:tgtEl>
                                          <p:spTgt spid="300035">
                                            <p:txEl>
                                              <p:pRg st="4" end="4"/>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300035">
                                            <p:txEl>
                                              <p:pRg st="5" end="5"/>
                                            </p:txEl>
                                          </p:spTgt>
                                        </p:tgtEl>
                                        <p:attrNameLst>
                                          <p:attrName>style.visibility</p:attrName>
                                        </p:attrNameLst>
                                      </p:cBhvr>
                                      <p:to>
                                        <p:strVal val="visible"/>
                                      </p:to>
                                    </p:set>
                                    <p:animEffect transition="in" filter="wipe(down)">
                                      <p:cBhvr>
                                        <p:cTn id="23" dur="500"/>
                                        <p:tgtEl>
                                          <p:spTgt spid="300035">
                                            <p:txEl>
                                              <p:pRg st="5" end="5"/>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300035">
                                            <p:txEl>
                                              <p:pRg st="6" end="6"/>
                                            </p:txEl>
                                          </p:spTgt>
                                        </p:tgtEl>
                                        <p:attrNameLst>
                                          <p:attrName>style.visibility</p:attrName>
                                        </p:attrNameLst>
                                      </p:cBhvr>
                                      <p:to>
                                        <p:strVal val="visible"/>
                                      </p:to>
                                    </p:set>
                                    <p:animEffect transition="in" filter="wipe(down)">
                                      <p:cBhvr>
                                        <p:cTn id="26" dur="500"/>
                                        <p:tgtEl>
                                          <p:spTgt spid="300035">
                                            <p:txEl>
                                              <p:pRg st="6" end="6"/>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300035">
                                            <p:txEl>
                                              <p:pRg st="7" end="7"/>
                                            </p:txEl>
                                          </p:spTgt>
                                        </p:tgtEl>
                                        <p:attrNameLst>
                                          <p:attrName>style.visibility</p:attrName>
                                        </p:attrNameLst>
                                      </p:cBhvr>
                                      <p:to>
                                        <p:strVal val="visible"/>
                                      </p:to>
                                    </p:set>
                                    <p:animEffect transition="in" filter="wipe(down)">
                                      <p:cBhvr>
                                        <p:cTn id="29" dur="500"/>
                                        <p:tgtEl>
                                          <p:spTgt spid="300035">
                                            <p:txEl>
                                              <p:pRg st="7" end="7"/>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00035">
                                            <p:txEl>
                                              <p:pRg st="10" end="10"/>
                                            </p:txEl>
                                          </p:spTgt>
                                        </p:tgtEl>
                                        <p:attrNameLst>
                                          <p:attrName>style.visibility</p:attrName>
                                        </p:attrNameLst>
                                      </p:cBhvr>
                                      <p:to>
                                        <p:strVal val="visible"/>
                                      </p:to>
                                    </p:set>
                                    <p:animEffect transition="in" filter="wipe(down)">
                                      <p:cBhvr>
                                        <p:cTn id="34" dur="500"/>
                                        <p:tgtEl>
                                          <p:spTgt spid="300035">
                                            <p:txEl>
                                              <p:pRg st="10" end="1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nodeType="clickEffect">
                                  <p:stCondLst>
                                    <p:cond delay="0"/>
                                  </p:stCondLst>
                                  <p:childTnLst>
                                    <p:set>
                                      <p:cBhvr>
                                        <p:cTn id="38" dur="1" fill="hold">
                                          <p:stCondLst>
                                            <p:cond delay="0"/>
                                          </p:stCondLst>
                                        </p:cTn>
                                        <p:tgtEl>
                                          <p:spTgt spid="300035">
                                            <p:txEl>
                                              <p:pRg st="11" end="11"/>
                                            </p:txEl>
                                          </p:spTgt>
                                        </p:tgtEl>
                                        <p:attrNameLst>
                                          <p:attrName>style.visibility</p:attrName>
                                        </p:attrNameLst>
                                      </p:cBhvr>
                                      <p:to>
                                        <p:strVal val="visible"/>
                                      </p:to>
                                    </p:set>
                                    <p:animEffect transition="in" filter="wipe(down)">
                                      <p:cBhvr>
                                        <p:cTn id="39" dur="500"/>
                                        <p:tgtEl>
                                          <p:spTgt spid="300035">
                                            <p:txEl>
                                              <p:pRg st="11" end="11"/>
                                            </p:txEl>
                                          </p:spTgt>
                                        </p:tgtEl>
                                      </p:cBhvr>
                                    </p:animEffect>
                                  </p:childTnLst>
                                </p:cTn>
                              </p:par>
                              <p:par>
                                <p:cTn id="40" presetID="22" presetClass="entr" presetSubtype="4" fill="hold" nodeType="withEffect">
                                  <p:stCondLst>
                                    <p:cond delay="0"/>
                                  </p:stCondLst>
                                  <p:childTnLst>
                                    <p:set>
                                      <p:cBhvr>
                                        <p:cTn id="41" dur="1" fill="hold">
                                          <p:stCondLst>
                                            <p:cond delay="0"/>
                                          </p:stCondLst>
                                        </p:cTn>
                                        <p:tgtEl>
                                          <p:spTgt spid="300035">
                                            <p:txEl>
                                              <p:pRg st="12" end="12"/>
                                            </p:txEl>
                                          </p:spTgt>
                                        </p:tgtEl>
                                        <p:attrNameLst>
                                          <p:attrName>style.visibility</p:attrName>
                                        </p:attrNameLst>
                                      </p:cBhvr>
                                      <p:to>
                                        <p:strVal val="visible"/>
                                      </p:to>
                                    </p:set>
                                    <p:animEffect transition="in" filter="wipe(down)">
                                      <p:cBhvr>
                                        <p:cTn id="42" dur="500"/>
                                        <p:tgtEl>
                                          <p:spTgt spid="300035">
                                            <p:txEl>
                                              <p:pRg st="12" end="12"/>
                                            </p:txEl>
                                          </p:spTgt>
                                        </p:tgtEl>
                                      </p:cBhvr>
                                    </p:animEffect>
                                  </p:childTnLst>
                                </p:cTn>
                              </p:par>
                              <p:par>
                                <p:cTn id="43" presetID="22" presetClass="entr" presetSubtype="4" fill="hold" nodeType="withEffect">
                                  <p:stCondLst>
                                    <p:cond delay="0"/>
                                  </p:stCondLst>
                                  <p:childTnLst>
                                    <p:set>
                                      <p:cBhvr>
                                        <p:cTn id="44" dur="1" fill="hold">
                                          <p:stCondLst>
                                            <p:cond delay="0"/>
                                          </p:stCondLst>
                                        </p:cTn>
                                        <p:tgtEl>
                                          <p:spTgt spid="300035">
                                            <p:txEl>
                                              <p:pRg st="13" end="13"/>
                                            </p:txEl>
                                          </p:spTgt>
                                        </p:tgtEl>
                                        <p:attrNameLst>
                                          <p:attrName>style.visibility</p:attrName>
                                        </p:attrNameLst>
                                      </p:cBhvr>
                                      <p:to>
                                        <p:strVal val="visible"/>
                                      </p:to>
                                    </p:set>
                                    <p:animEffect transition="in" filter="wipe(down)">
                                      <p:cBhvr>
                                        <p:cTn id="45" dur="500"/>
                                        <p:tgtEl>
                                          <p:spTgt spid="300035">
                                            <p:txEl>
                                              <p:pRg st="13" end="13"/>
                                            </p:txEl>
                                          </p:spTgt>
                                        </p:tgtEl>
                                      </p:cBhvr>
                                    </p:animEffect>
                                  </p:childTnLst>
                                </p:cTn>
                              </p:par>
                              <p:par>
                                <p:cTn id="46" presetID="22" presetClass="entr" presetSubtype="4" fill="hold" nodeType="withEffect">
                                  <p:stCondLst>
                                    <p:cond delay="0"/>
                                  </p:stCondLst>
                                  <p:childTnLst>
                                    <p:set>
                                      <p:cBhvr>
                                        <p:cTn id="47" dur="1" fill="hold">
                                          <p:stCondLst>
                                            <p:cond delay="0"/>
                                          </p:stCondLst>
                                        </p:cTn>
                                        <p:tgtEl>
                                          <p:spTgt spid="300035">
                                            <p:txEl>
                                              <p:pRg st="14" end="14"/>
                                            </p:txEl>
                                          </p:spTgt>
                                        </p:tgtEl>
                                        <p:attrNameLst>
                                          <p:attrName>style.visibility</p:attrName>
                                        </p:attrNameLst>
                                      </p:cBhvr>
                                      <p:to>
                                        <p:strVal val="visible"/>
                                      </p:to>
                                    </p:set>
                                    <p:animEffect transition="in" filter="wipe(down)">
                                      <p:cBhvr>
                                        <p:cTn id="48" dur="500"/>
                                        <p:tgtEl>
                                          <p:spTgt spid="300035">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35610"/>
            <a:ext cx="2934970" cy="605155"/>
          </a:xfrm>
          <a:prstGeom prst="chevron">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数组分配</a:t>
            </a:r>
          </a:p>
        </p:txBody>
      </p:sp>
      <p:sp>
        <p:nvSpPr>
          <p:cNvPr id="301059" name="Rectangle 3"/>
          <p:cNvSpPr>
            <a:spLocks noGrp="1" noChangeArrowheads="1"/>
          </p:cNvSpPr>
          <p:nvPr/>
        </p:nvSpPr>
        <p:spPr>
          <a:xfrm>
            <a:off x="88583" y="1123950"/>
            <a:ext cx="8307387" cy="161607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zh-CN" altLang="en-US">
                <a:latin typeface="Calibri" panose="020F0502020204030204" charset="0"/>
                <a:ea typeface="宋体" panose="02010600030101010101" pitchFamily="2" charset="-122"/>
              </a:rPr>
              <a:t>基本原理</a:t>
            </a:r>
          </a:p>
          <a:p>
            <a:pPr lvl="1">
              <a:buFont typeface="Wingdings" panose="05000000000000000000" pitchFamily="2" charset="2"/>
              <a:buNone/>
            </a:pPr>
            <a:r>
              <a:rPr lang="en-US" i="1">
                <a:latin typeface="Calibri" panose="020F0502020204030204" charset="0"/>
              </a:rPr>
              <a:t>T</a:t>
            </a:r>
            <a:r>
              <a:rPr lang="en-US" b="1">
                <a:latin typeface="Calibri" panose="020F0502020204030204" charset="0"/>
              </a:rPr>
              <a:t>  </a:t>
            </a:r>
            <a:r>
              <a:rPr lang="en-US" b="1">
                <a:latin typeface="Courier New" panose="02070309020205020404" charset="0"/>
              </a:rPr>
              <a:t>A[</a:t>
            </a:r>
            <a:r>
              <a:rPr lang="en-US" i="1">
                <a:latin typeface="Calibri" panose="020F0502020204030204" charset="0"/>
              </a:rPr>
              <a:t>L</a:t>
            </a:r>
            <a:r>
              <a:rPr lang="en-US" b="1">
                <a:latin typeface="Courier New" panose="02070309020205020404" charset="0"/>
              </a:rPr>
              <a:t>];</a:t>
            </a:r>
            <a:endParaRPr lang="en-US" b="1">
              <a:latin typeface="Calibri" panose="020F0502020204030204" charset="0"/>
            </a:endParaRPr>
          </a:p>
          <a:p>
            <a:pPr lvl="1">
              <a:buClr>
                <a:srgbClr val="0D0D0D"/>
              </a:buClr>
            </a:pPr>
            <a:r>
              <a:rPr lang="en-US">
                <a:latin typeface="Calibri" panose="020F0502020204030204" charset="0"/>
              </a:rPr>
              <a:t>数据</a:t>
            </a:r>
            <a:r>
              <a:rPr lang="zh-CN" altLang="en-US">
                <a:latin typeface="Calibri" panose="020F0502020204030204" charset="0"/>
                <a:ea typeface="宋体" panose="02010600030101010101" pitchFamily="2" charset="-122"/>
              </a:rPr>
              <a:t>为</a:t>
            </a:r>
            <a:r>
              <a:rPr lang="en-US">
                <a:latin typeface="Calibri" panose="020F0502020204030204" charset="0"/>
              </a:rPr>
              <a:t>类型T</a:t>
            </a:r>
            <a:r>
              <a:rPr lang="zh-CN" altLang="en-US">
                <a:latin typeface="Calibri" panose="020F0502020204030204" charset="0"/>
                <a:ea typeface="宋体" panose="02010600030101010101" pitchFamily="2" charset="-122"/>
              </a:rPr>
              <a:t>，</a:t>
            </a:r>
            <a:r>
              <a:rPr lang="en-US">
                <a:latin typeface="Calibri" panose="020F0502020204030204" charset="0"/>
              </a:rPr>
              <a:t>长度</a:t>
            </a:r>
            <a:r>
              <a:rPr lang="zh-CN" altLang="en-US">
                <a:latin typeface="Calibri" panose="020F0502020204030204" charset="0"/>
                <a:ea typeface="宋体" panose="02010600030101010101" pitchFamily="2" charset="-122"/>
              </a:rPr>
              <a:t>为</a:t>
            </a:r>
            <a:r>
              <a:rPr lang="en-US">
                <a:latin typeface="Calibri" panose="020F0502020204030204" charset="0"/>
              </a:rPr>
              <a:t>l</a:t>
            </a:r>
            <a:r>
              <a:rPr lang="zh-CN" altLang="en-US">
                <a:latin typeface="Calibri" panose="020F0502020204030204" charset="0"/>
                <a:ea typeface="宋体" panose="02010600030101010101" pitchFamily="2" charset="-122"/>
              </a:rPr>
              <a:t>的</a:t>
            </a:r>
            <a:r>
              <a:rPr lang="en-US">
                <a:latin typeface="Calibri" panose="020F0502020204030204" charset="0"/>
              </a:rPr>
              <a:t>数组</a:t>
            </a:r>
          </a:p>
          <a:p>
            <a:pPr lvl="1">
              <a:buClr>
                <a:srgbClr val="0D0D0D"/>
              </a:buClr>
            </a:pPr>
            <a:r>
              <a:rPr>
                <a:sym typeface="+mn-ea"/>
              </a:rPr>
              <a:t>标识符</a:t>
            </a:r>
            <a:r>
              <a:rPr lang="en-US">
                <a:sym typeface="+mn-ea"/>
              </a:rPr>
              <a:t>A</a:t>
            </a:r>
            <a:r>
              <a:rPr>
                <a:sym typeface="+mn-ea"/>
              </a:rPr>
              <a:t>可以用作数组元素0的指针：类型T *</a:t>
            </a:r>
          </a:p>
        </p:txBody>
      </p:sp>
      <p:sp>
        <p:nvSpPr>
          <p:cNvPr id="301061" name="Text Box 5"/>
          <p:cNvSpPr txBox="1">
            <a:spLocks noChangeArrowheads="1"/>
          </p:cNvSpPr>
          <p:nvPr/>
        </p:nvSpPr>
        <p:spPr bwMode="auto">
          <a:xfrm>
            <a:off x="28575" y="2732088"/>
            <a:ext cx="2135188" cy="336550"/>
          </a:xfrm>
          <a:prstGeom prst="rect">
            <a:avLst/>
          </a:prstGeom>
          <a:noFill/>
          <a:ln w="25400">
            <a:noFill/>
            <a:miter lim="800000"/>
          </a:ln>
        </p:spPr>
        <p:txBody>
          <a:bodyPr wrap="none">
            <a:spAutoFit/>
          </a:bodyPr>
          <a:lstStyle/>
          <a:p>
            <a:pPr algn="r" eaLnBrk="0" hangingPunct="0"/>
            <a:r>
              <a:rPr lang="en-US" sz="1600">
                <a:latin typeface="Courier New" panose="02070309020205020404" charset="0"/>
              </a:rPr>
              <a:t>char string[12];</a:t>
            </a:r>
          </a:p>
        </p:txBody>
      </p:sp>
      <p:grpSp>
        <p:nvGrpSpPr>
          <p:cNvPr id="99" name="Group 98"/>
          <p:cNvGrpSpPr/>
          <p:nvPr/>
        </p:nvGrpSpPr>
        <p:grpSpPr bwMode="auto">
          <a:xfrm>
            <a:off x="2057400" y="2781300"/>
            <a:ext cx="3505200" cy="731838"/>
            <a:chOff x="2514600" y="2667000"/>
            <a:chExt cx="3505200" cy="732254"/>
          </a:xfrm>
        </p:grpSpPr>
        <p:grpSp>
          <p:nvGrpSpPr>
            <p:cNvPr id="56388" name="Group 7"/>
            <p:cNvGrpSpPr/>
            <p:nvPr/>
          </p:nvGrpSpPr>
          <p:grpSpPr bwMode="auto">
            <a:xfrm>
              <a:off x="2743200" y="2667000"/>
              <a:ext cx="2743200" cy="228600"/>
              <a:chOff x="1008" y="1776"/>
              <a:chExt cx="1728" cy="144"/>
            </a:xfrm>
          </p:grpSpPr>
          <p:sp>
            <p:nvSpPr>
              <p:cNvPr id="301064" name="Rectangle 8"/>
              <p:cNvSpPr>
                <a:spLocks noChangeArrowheads="1"/>
              </p:cNvSpPr>
              <p:nvPr/>
            </p:nvSpPr>
            <p:spPr bwMode="auto">
              <a:xfrm>
                <a:off x="1008"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65" name="Rectangle 9"/>
              <p:cNvSpPr>
                <a:spLocks noChangeArrowheads="1"/>
              </p:cNvSpPr>
              <p:nvPr/>
            </p:nvSpPr>
            <p:spPr bwMode="auto">
              <a:xfrm>
                <a:off x="1152"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66" name="Rectangle 10"/>
              <p:cNvSpPr>
                <a:spLocks noChangeArrowheads="1"/>
              </p:cNvSpPr>
              <p:nvPr/>
            </p:nvSpPr>
            <p:spPr bwMode="auto">
              <a:xfrm>
                <a:off x="1296"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67" name="Rectangle 11"/>
              <p:cNvSpPr>
                <a:spLocks noChangeArrowheads="1"/>
              </p:cNvSpPr>
              <p:nvPr/>
            </p:nvSpPr>
            <p:spPr bwMode="auto">
              <a:xfrm>
                <a:off x="1440"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68" name="Rectangle 12"/>
              <p:cNvSpPr>
                <a:spLocks noChangeArrowheads="1"/>
              </p:cNvSpPr>
              <p:nvPr/>
            </p:nvSpPr>
            <p:spPr bwMode="auto">
              <a:xfrm>
                <a:off x="1584"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69" name="Rectangle 13"/>
              <p:cNvSpPr>
                <a:spLocks noChangeArrowheads="1"/>
              </p:cNvSpPr>
              <p:nvPr/>
            </p:nvSpPr>
            <p:spPr bwMode="auto">
              <a:xfrm>
                <a:off x="1728"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70" name="Rectangle 14"/>
              <p:cNvSpPr>
                <a:spLocks noChangeArrowheads="1"/>
              </p:cNvSpPr>
              <p:nvPr/>
            </p:nvSpPr>
            <p:spPr bwMode="auto">
              <a:xfrm>
                <a:off x="1872"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71" name="Rectangle 15"/>
              <p:cNvSpPr>
                <a:spLocks noChangeArrowheads="1"/>
              </p:cNvSpPr>
              <p:nvPr/>
            </p:nvSpPr>
            <p:spPr bwMode="auto">
              <a:xfrm>
                <a:off x="2016"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72" name="Rectangle 16"/>
              <p:cNvSpPr>
                <a:spLocks noChangeArrowheads="1"/>
              </p:cNvSpPr>
              <p:nvPr/>
            </p:nvSpPr>
            <p:spPr bwMode="auto">
              <a:xfrm>
                <a:off x="2160"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73" name="Rectangle 17"/>
              <p:cNvSpPr>
                <a:spLocks noChangeArrowheads="1"/>
              </p:cNvSpPr>
              <p:nvPr/>
            </p:nvSpPr>
            <p:spPr bwMode="auto">
              <a:xfrm>
                <a:off x="2304"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74" name="Rectangle 18"/>
              <p:cNvSpPr>
                <a:spLocks noChangeArrowheads="1"/>
              </p:cNvSpPr>
              <p:nvPr/>
            </p:nvSpPr>
            <p:spPr bwMode="auto">
              <a:xfrm>
                <a:off x="2448"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sp>
            <p:nvSpPr>
              <p:cNvPr id="301075" name="Rectangle 19"/>
              <p:cNvSpPr>
                <a:spLocks noChangeArrowheads="1"/>
              </p:cNvSpPr>
              <p:nvPr/>
            </p:nvSpPr>
            <p:spPr bwMode="auto">
              <a:xfrm>
                <a:off x="2592" y="1776"/>
                <a:ext cx="144" cy="144"/>
              </a:xfrm>
              <a:prstGeom prst="rect">
                <a:avLst/>
              </a:prstGeom>
              <a:solidFill>
                <a:schemeClr val="bg1">
                  <a:lumMod val="85000"/>
                </a:schemeClr>
              </a:solidFill>
              <a:ln w="25400">
                <a:solidFill>
                  <a:schemeClr val="tx1"/>
                </a:solidFill>
                <a:miter lim="800000"/>
              </a:ln>
              <a:effectLst/>
            </p:spPr>
            <p:txBody>
              <a:bodyPr wrap="none" anchor="ctr"/>
              <a:lstStyle/>
              <a:p>
                <a:pPr eaLnBrk="0" hangingPunct="0">
                  <a:defRPr/>
                </a:pPr>
                <a:endParaRPr lang="en-US" sz="1600" dirty="0">
                  <a:latin typeface="Calibri" panose="020F0502020204030204" charset="0"/>
                  <a:ea typeface="+mn-ea"/>
                  <a:cs typeface="+mn-cs"/>
                </a:endParaRPr>
              </a:p>
            </p:txBody>
          </p:sp>
        </p:grpSp>
        <p:sp>
          <p:nvSpPr>
            <p:cNvPr id="56389" name="Text Box 20"/>
            <p:cNvSpPr txBox="1">
              <a:spLocks noChangeArrowheads="1"/>
            </p:cNvSpPr>
            <p:nvPr/>
          </p:nvSpPr>
          <p:spPr bwMode="auto">
            <a:xfrm>
              <a:off x="2514600" y="3062512"/>
              <a:ext cx="396875" cy="336742"/>
            </a:xfrm>
            <a:prstGeom prst="rect">
              <a:avLst/>
            </a:prstGeom>
            <a:noFill/>
            <a:ln w="25400">
              <a:noFill/>
              <a:miter lim="800000"/>
            </a:ln>
          </p:spPr>
          <p:txBody>
            <a:bodyPr>
              <a:spAutoFit/>
            </a:bodyPr>
            <a:lstStyle/>
            <a:p>
              <a:pPr algn="ctr" eaLnBrk="0" hangingPunct="0"/>
              <a:r>
                <a:rPr lang="en-US" sz="1600" b="0" i="1">
                  <a:latin typeface="Calibri" panose="020F0502020204030204" charset="0"/>
                </a:rPr>
                <a:t>x</a:t>
              </a:r>
            </a:p>
          </p:txBody>
        </p:sp>
        <p:sp>
          <p:nvSpPr>
            <p:cNvPr id="56390" name="Text Box 21"/>
            <p:cNvSpPr txBox="1">
              <a:spLocks noChangeArrowheads="1"/>
            </p:cNvSpPr>
            <p:nvPr/>
          </p:nvSpPr>
          <p:spPr bwMode="auto">
            <a:xfrm>
              <a:off x="5029200" y="3062512"/>
              <a:ext cx="990600" cy="336742"/>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+ 12</a:t>
              </a:r>
              <a:endParaRPr lang="en-US" sz="1600" b="0" i="1">
                <a:latin typeface="Calibri" panose="020F0502020204030204" charset="0"/>
              </a:endParaRPr>
            </a:p>
          </p:txBody>
        </p:sp>
        <p:sp>
          <p:nvSpPr>
            <p:cNvPr id="56391" name="Line 22"/>
            <p:cNvSpPr>
              <a:spLocks noChangeShapeType="1"/>
            </p:cNvSpPr>
            <p:nvPr/>
          </p:nvSpPr>
          <p:spPr bwMode="auto">
            <a:xfrm flipV="1">
              <a:off x="2743200" y="2895600"/>
              <a:ext cx="0" cy="228600"/>
            </a:xfrm>
            <a:prstGeom prst="line">
              <a:avLst/>
            </a:prstGeom>
            <a:noFill/>
            <a:ln w="25400">
              <a:solidFill>
                <a:schemeClr val="tx1"/>
              </a:solidFill>
              <a:round/>
              <a:tailEnd type="triangle" w="med" len="sm"/>
            </a:ln>
          </p:spPr>
          <p:txBody>
            <a:bodyPr wrap="none" anchor="ctr"/>
            <a:lstStyle/>
            <a:p>
              <a:endParaRPr lang="en-US"/>
            </a:p>
          </p:txBody>
        </p:sp>
        <p:sp>
          <p:nvSpPr>
            <p:cNvPr id="56392" name="Line 23"/>
            <p:cNvSpPr>
              <a:spLocks noChangeShapeType="1"/>
            </p:cNvSpPr>
            <p:nvPr/>
          </p:nvSpPr>
          <p:spPr bwMode="auto">
            <a:xfrm flipV="1">
              <a:off x="5486400" y="28956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301087" name="Text Box 31"/>
          <p:cNvSpPr txBox="1">
            <a:spLocks noChangeArrowheads="1"/>
          </p:cNvSpPr>
          <p:nvPr/>
        </p:nvSpPr>
        <p:spPr bwMode="auto">
          <a:xfrm>
            <a:off x="638175" y="3567113"/>
            <a:ext cx="1525588" cy="336550"/>
          </a:xfrm>
          <a:prstGeom prst="rect">
            <a:avLst/>
          </a:prstGeom>
          <a:noFill/>
          <a:ln w="25400">
            <a:noFill/>
            <a:miter lim="800000"/>
          </a:ln>
        </p:spPr>
        <p:txBody>
          <a:bodyPr wrap="none">
            <a:spAutoFit/>
          </a:bodyPr>
          <a:lstStyle/>
          <a:p>
            <a:pPr algn="r" eaLnBrk="0" hangingPunct="0"/>
            <a:r>
              <a:rPr lang="en-US" sz="1600">
                <a:latin typeface="Courier New" panose="02070309020205020404" charset="0"/>
              </a:rPr>
              <a:t>int val[5];</a:t>
            </a:r>
          </a:p>
        </p:txBody>
      </p:sp>
      <p:grpSp>
        <p:nvGrpSpPr>
          <p:cNvPr id="98" name="Group 97"/>
          <p:cNvGrpSpPr/>
          <p:nvPr/>
        </p:nvGrpSpPr>
        <p:grpSpPr bwMode="auto">
          <a:xfrm>
            <a:off x="2057400" y="3614738"/>
            <a:ext cx="5334000" cy="731837"/>
            <a:chOff x="2514600" y="3429000"/>
            <a:chExt cx="5334000" cy="730672"/>
          </a:xfrm>
        </p:grpSpPr>
        <p:grpSp>
          <p:nvGrpSpPr>
            <p:cNvPr id="56370" name="Group 25"/>
            <p:cNvGrpSpPr/>
            <p:nvPr/>
          </p:nvGrpSpPr>
          <p:grpSpPr bwMode="auto">
            <a:xfrm>
              <a:off x="2743200" y="3429000"/>
              <a:ext cx="4572000" cy="228600"/>
              <a:chOff x="1008" y="1968"/>
              <a:chExt cx="2880" cy="144"/>
            </a:xfrm>
          </p:grpSpPr>
          <p:sp>
            <p:nvSpPr>
              <p:cNvPr id="301082"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083"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084"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085"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086"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sp>
          <p:nvSpPr>
            <p:cNvPr id="56371" name="Text Box 32"/>
            <p:cNvSpPr txBox="1">
              <a:spLocks noChangeArrowheads="1"/>
            </p:cNvSpPr>
            <p:nvPr/>
          </p:nvSpPr>
          <p:spPr bwMode="auto">
            <a:xfrm>
              <a:off x="2514600" y="3809393"/>
              <a:ext cx="396875" cy="336014"/>
            </a:xfrm>
            <a:prstGeom prst="rect">
              <a:avLst/>
            </a:prstGeom>
            <a:noFill/>
            <a:ln w="25400">
              <a:noFill/>
              <a:miter lim="800000"/>
            </a:ln>
          </p:spPr>
          <p:txBody>
            <a:bodyPr>
              <a:spAutoFit/>
            </a:bodyPr>
            <a:lstStyle/>
            <a:p>
              <a:pPr algn="ctr" eaLnBrk="0" hangingPunct="0"/>
              <a:r>
                <a:rPr lang="en-US" sz="1600" b="0" i="1">
                  <a:latin typeface="Calibri" panose="020F0502020204030204" charset="0"/>
                </a:rPr>
                <a:t>x</a:t>
              </a:r>
            </a:p>
          </p:txBody>
        </p:sp>
        <p:sp>
          <p:nvSpPr>
            <p:cNvPr id="56372" name="Text Box 33"/>
            <p:cNvSpPr txBox="1">
              <a:spLocks noChangeArrowheads="1"/>
            </p:cNvSpPr>
            <p:nvPr/>
          </p:nvSpPr>
          <p:spPr bwMode="auto">
            <a:xfrm>
              <a:off x="3182938" y="3823658"/>
              <a:ext cx="990600" cy="336014"/>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+ 4</a:t>
              </a:r>
              <a:endParaRPr lang="en-US" sz="1600" b="0" i="1">
                <a:latin typeface="Calibri" panose="020F0502020204030204" charset="0"/>
              </a:endParaRPr>
            </a:p>
          </p:txBody>
        </p:sp>
        <p:sp>
          <p:nvSpPr>
            <p:cNvPr id="56373"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56374"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56375" name="Text Box 36"/>
            <p:cNvSpPr txBox="1">
              <a:spLocks noChangeArrowheads="1"/>
            </p:cNvSpPr>
            <p:nvPr/>
          </p:nvSpPr>
          <p:spPr bwMode="auto">
            <a:xfrm>
              <a:off x="4097338" y="3823658"/>
              <a:ext cx="990600" cy="336014"/>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+ 8</a:t>
              </a:r>
              <a:endParaRPr lang="en-US" sz="1600" b="0" i="1">
                <a:latin typeface="Calibri" panose="020F0502020204030204" charset="0"/>
              </a:endParaRPr>
            </a:p>
          </p:txBody>
        </p:sp>
        <p:sp>
          <p:nvSpPr>
            <p:cNvPr id="56376"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56377" name="Text Box 38"/>
            <p:cNvSpPr txBox="1">
              <a:spLocks noChangeArrowheads="1"/>
            </p:cNvSpPr>
            <p:nvPr/>
          </p:nvSpPr>
          <p:spPr bwMode="auto">
            <a:xfrm>
              <a:off x="5029200" y="3823658"/>
              <a:ext cx="990600" cy="336014"/>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+ 12</a:t>
              </a:r>
              <a:endParaRPr lang="en-US" sz="1600" b="0" i="1">
                <a:latin typeface="Calibri" panose="020F0502020204030204" charset="0"/>
              </a:endParaRPr>
            </a:p>
          </p:txBody>
        </p:sp>
        <p:sp>
          <p:nvSpPr>
            <p:cNvPr id="56378"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56379" name="Text Box 40"/>
            <p:cNvSpPr txBox="1">
              <a:spLocks noChangeArrowheads="1"/>
            </p:cNvSpPr>
            <p:nvPr/>
          </p:nvSpPr>
          <p:spPr bwMode="auto">
            <a:xfrm>
              <a:off x="5943600" y="3823658"/>
              <a:ext cx="990600" cy="336014"/>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+ 16</a:t>
              </a:r>
              <a:endParaRPr lang="en-US" sz="1600" b="0" i="1">
                <a:latin typeface="Calibri" panose="020F0502020204030204" charset="0"/>
              </a:endParaRPr>
            </a:p>
          </p:txBody>
        </p:sp>
        <p:sp>
          <p:nvSpPr>
            <p:cNvPr id="56380"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56381" name="Text Box 42"/>
            <p:cNvSpPr txBox="1">
              <a:spLocks noChangeArrowheads="1"/>
            </p:cNvSpPr>
            <p:nvPr/>
          </p:nvSpPr>
          <p:spPr bwMode="auto">
            <a:xfrm>
              <a:off x="6858000" y="3823658"/>
              <a:ext cx="990600" cy="336014"/>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+ 20</a:t>
              </a:r>
              <a:endParaRPr lang="en-US" sz="1600" b="0" i="1">
                <a:latin typeface="Calibri" panose="020F0502020204030204" charset="0"/>
              </a:endParaRPr>
            </a:p>
          </p:txBody>
        </p:sp>
        <p:sp>
          <p:nvSpPr>
            <p:cNvPr id="56382"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301101" name="Text Box 45"/>
          <p:cNvSpPr txBox="1">
            <a:spLocks noChangeArrowheads="1"/>
          </p:cNvSpPr>
          <p:nvPr/>
        </p:nvSpPr>
        <p:spPr bwMode="auto">
          <a:xfrm>
            <a:off x="515938" y="4381500"/>
            <a:ext cx="1647825" cy="336550"/>
          </a:xfrm>
          <a:prstGeom prst="rect">
            <a:avLst/>
          </a:prstGeom>
          <a:noFill/>
          <a:ln w="25400">
            <a:noFill/>
            <a:miter lim="800000"/>
          </a:ln>
        </p:spPr>
        <p:txBody>
          <a:bodyPr wrap="none">
            <a:spAutoFit/>
          </a:bodyPr>
          <a:lstStyle/>
          <a:p>
            <a:pPr algn="r" eaLnBrk="0" hangingPunct="0"/>
            <a:r>
              <a:rPr lang="en-US" sz="1600">
                <a:latin typeface="Courier New" panose="02070309020205020404" charset="0"/>
              </a:rPr>
              <a:t>double a[3];</a:t>
            </a:r>
          </a:p>
        </p:txBody>
      </p:sp>
      <p:grpSp>
        <p:nvGrpSpPr>
          <p:cNvPr id="97" name="Group 96"/>
          <p:cNvGrpSpPr/>
          <p:nvPr/>
        </p:nvGrpSpPr>
        <p:grpSpPr bwMode="auto">
          <a:xfrm>
            <a:off x="2057400" y="4449763"/>
            <a:ext cx="6399213" cy="747712"/>
            <a:chOff x="2515700" y="4343402"/>
            <a:chExt cx="6399700" cy="747713"/>
          </a:xfrm>
        </p:grpSpPr>
        <p:grpSp>
          <p:nvGrpSpPr>
            <p:cNvPr id="56358" name="Group 47"/>
            <p:cNvGrpSpPr/>
            <p:nvPr/>
          </p:nvGrpSpPr>
          <p:grpSpPr bwMode="auto">
            <a:xfrm>
              <a:off x="2748919" y="4343402"/>
              <a:ext cx="5613070" cy="228600"/>
              <a:chOff x="1008" y="2208"/>
              <a:chExt cx="3456" cy="144"/>
            </a:xfrm>
          </p:grpSpPr>
          <p:sp>
            <p:nvSpPr>
              <p:cNvPr id="301104" name="Rectangle 48"/>
              <p:cNvSpPr>
                <a:spLocks noChangeArrowheads="1"/>
              </p:cNvSpPr>
              <p:nvPr/>
            </p:nvSpPr>
            <p:spPr bwMode="auto">
              <a:xfrm>
                <a:off x="1008" y="2208"/>
                <a:ext cx="1152"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105" name="Rectangle 49"/>
              <p:cNvSpPr>
                <a:spLocks noChangeArrowheads="1"/>
              </p:cNvSpPr>
              <p:nvPr/>
            </p:nvSpPr>
            <p:spPr bwMode="auto">
              <a:xfrm>
                <a:off x="2160" y="2208"/>
                <a:ext cx="1152"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106" name="Rectangle 50"/>
              <p:cNvSpPr>
                <a:spLocks noChangeArrowheads="1"/>
              </p:cNvSpPr>
              <p:nvPr/>
            </p:nvSpPr>
            <p:spPr bwMode="auto">
              <a:xfrm>
                <a:off x="3312" y="2208"/>
                <a:ext cx="1152"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sp>
          <p:nvSpPr>
            <p:cNvPr id="56359" name="Line 52"/>
            <p:cNvSpPr>
              <a:spLocks noChangeShapeType="1"/>
            </p:cNvSpPr>
            <p:nvPr/>
          </p:nvSpPr>
          <p:spPr bwMode="auto">
            <a:xfrm flipV="1">
              <a:off x="8383100" y="4584610"/>
              <a:ext cx="0" cy="228600"/>
            </a:xfrm>
            <a:prstGeom prst="line">
              <a:avLst/>
            </a:prstGeom>
            <a:noFill/>
            <a:ln w="25400">
              <a:solidFill>
                <a:schemeClr val="tx1"/>
              </a:solidFill>
              <a:round/>
              <a:tailEnd type="triangle" w="med" len="sm"/>
            </a:ln>
          </p:spPr>
          <p:txBody>
            <a:bodyPr wrap="none" anchor="ctr"/>
            <a:lstStyle/>
            <a:p>
              <a:endParaRPr lang="en-US"/>
            </a:p>
          </p:txBody>
        </p:sp>
        <p:sp>
          <p:nvSpPr>
            <p:cNvPr id="56360" name="Text Box 55"/>
            <p:cNvSpPr txBox="1">
              <a:spLocks noChangeArrowheads="1"/>
            </p:cNvSpPr>
            <p:nvPr/>
          </p:nvSpPr>
          <p:spPr bwMode="auto">
            <a:xfrm>
              <a:off x="7902498" y="4724402"/>
              <a:ext cx="1012902" cy="366713"/>
            </a:xfrm>
            <a:prstGeom prst="rect">
              <a:avLst/>
            </a:prstGeom>
            <a:noFill/>
            <a:ln w="25400">
              <a:noFill/>
              <a:miter lim="800000"/>
            </a:ln>
          </p:spPr>
          <p:txBody>
            <a:bodyPr>
              <a:spAutoFit/>
            </a:bodyPr>
            <a:lstStyle/>
            <a:p>
              <a:pPr algn="ctr" eaLnBrk="0" hangingPunct="0"/>
              <a:r>
                <a:rPr lang="en-US" sz="1800" b="0" i="1">
                  <a:latin typeface="Calibri" panose="020F0502020204030204" charset="0"/>
                </a:rPr>
                <a:t>x </a:t>
              </a:r>
              <a:r>
                <a:rPr lang="en-US" sz="1800" b="0">
                  <a:latin typeface="Calibri" panose="020F0502020204030204" charset="0"/>
                </a:rPr>
                <a:t>+ 24</a:t>
              </a:r>
              <a:endParaRPr lang="en-US" sz="1800" b="0" i="1">
                <a:latin typeface="Calibri" panose="020F0502020204030204" charset="0"/>
              </a:endParaRPr>
            </a:p>
          </p:txBody>
        </p:sp>
        <p:sp>
          <p:nvSpPr>
            <p:cNvPr id="56361" name="Text Box 56"/>
            <p:cNvSpPr txBox="1">
              <a:spLocks noChangeArrowheads="1"/>
            </p:cNvSpPr>
            <p:nvPr/>
          </p:nvSpPr>
          <p:spPr bwMode="auto">
            <a:xfrm>
              <a:off x="2515700" y="4710115"/>
              <a:ext cx="406431" cy="336550"/>
            </a:xfrm>
            <a:prstGeom prst="rect">
              <a:avLst/>
            </a:prstGeom>
            <a:noFill/>
            <a:ln w="25400">
              <a:noFill/>
              <a:miter lim="800000"/>
            </a:ln>
          </p:spPr>
          <p:txBody>
            <a:bodyPr>
              <a:spAutoFit/>
            </a:bodyPr>
            <a:lstStyle/>
            <a:p>
              <a:pPr algn="ctr" eaLnBrk="0" hangingPunct="0"/>
              <a:r>
                <a:rPr lang="en-US" sz="1600" b="0" i="1">
                  <a:latin typeface="Calibri" panose="020F0502020204030204" charset="0"/>
                </a:rPr>
                <a:t>x</a:t>
              </a:r>
            </a:p>
          </p:txBody>
        </p:sp>
        <p:sp>
          <p:nvSpPr>
            <p:cNvPr id="56362" name="Line 57"/>
            <p:cNvSpPr>
              <a:spLocks noChangeShapeType="1"/>
            </p:cNvSpPr>
            <p:nvPr/>
          </p:nvSpPr>
          <p:spPr bwMode="auto">
            <a:xfrm flipV="1">
              <a:off x="2749578" y="4570322"/>
              <a:ext cx="0" cy="228600"/>
            </a:xfrm>
            <a:prstGeom prst="line">
              <a:avLst/>
            </a:prstGeom>
            <a:noFill/>
            <a:ln w="25400">
              <a:solidFill>
                <a:schemeClr val="tx1"/>
              </a:solidFill>
              <a:round/>
              <a:tailEnd type="triangle" w="med" len="sm"/>
            </a:ln>
          </p:spPr>
          <p:txBody>
            <a:bodyPr wrap="none" anchor="ctr"/>
            <a:lstStyle/>
            <a:p>
              <a:endParaRPr lang="en-US"/>
            </a:p>
          </p:txBody>
        </p:sp>
        <p:sp>
          <p:nvSpPr>
            <p:cNvPr id="56363" name="Text Box 58"/>
            <p:cNvSpPr txBox="1">
              <a:spLocks noChangeArrowheads="1"/>
            </p:cNvSpPr>
            <p:nvPr/>
          </p:nvSpPr>
          <p:spPr bwMode="auto">
            <a:xfrm>
              <a:off x="4114434" y="4724402"/>
              <a:ext cx="1014490" cy="336550"/>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+ 8</a:t>
              </a:r>
              <a:endParaRPr lang="en-US" sz="1600" b="0" i="1">
                <a:latin typeface="Calibri" panose="020F0502020204030204" charset="0"/>
              </a:endParaRPr>
            </a:p>
          </p:txBody>
        </p:sp>
        <p:sp>
          <p:nvSpPr>
            <p:cNvPr id="56364" name="Line 59"/>
            <p:cNvSpPr>
              <a:spLocks noChangeShapeType="1"/>
            </p:cNvSpPr>
            <p:nvPr/>
          </p:nvSpPr>
          <p:spPr bwMode="auto">
            <a:xfrm flipV="1">
              <a:off x="4620601" y="4584610"/>
              <a:ext cx="0" cy="228600"/>
            </a:xfrm>
            <a:prstGeom prst="line">
              <a:avLst/>
            </a:prstGeom>
            <a:noFill/>
            <a:ln w="25400">
              <a:solidFill>
                <a:schemeClr val="tx1"/>
              </a:solidFill>
              <a:round/>
              <a:tailEnd type="triangle" w="med" len="sm"/>
            </a:ln>
          </p:spPr>
          <p:txBody>
            <a:bodyPr wrap="none" anchor="ctr"/>
            <a:lstStyle/>
            <a:p>
              <a:endParaRPr lang="en-US"/>
            </a:p>
          </p:txBody>
        </p:sp>
        <p:sp>
          <p:nvSpPr>
            <p:cNvPr id="56365" name="Text Box 60"/>
            <p:cNvSpPr txBox="1">
              <a:spLocks noChangeArrowheads="1"/>
            </p:cNvSpPr>
            <p:nvPr/>
          </p:nvSpPr>
          <p:spPr bwMode="auto">
            <a:xfrm>
              <a:off x="5997353" y="4724402"/>
              <a:ext cx="1012902" cy="336550"/>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+ 16</a:t>
              </a:r>
              <a:endParaRPr lang="en-US" sz="1600" b="0" i="1">
                <a:latin typeface="Calibri" panose="020F0502020204030204" charset="0"/>
              </a:endParaRPr>
            </a:p>
          </p:txBody>
        </p:sp>
        <p:sp>
          <p:nvSpPr>
            <p:cNvPr id="56366" name="Line 61"/>
            <p:cNvSpPr>
              <a:spLocks noChangeShapeType="1"/>
            </p:cNvSpPr>
            <p:nvPr/>
          </p:nvSpPr>
          <p:spPr bwMode="auto">
            <a:xfrm flipV="1">
              <a:off x="6491624" y="458461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301118" name="Text Box 62"/>
          <p:cNvSpPr txBox="1">
            <a:spLocks noChangeArrowheads="1"/>
          </p:cNvSpPr>
          <p:nvPr/>
        </p:nvSpPr>
        <p:spPr bwMode="auto">
          <a:xfrm>
            <a:off x="638175" y="5262563"/>
            <a:ext cx="1525588" cy="336550"/>
          </a:xfrm>
          <a:prstGeom prst="rect">
            <a:avLst/>
          </a:prstGeom>
          <a:noFill/>
          <a:ln w="25400">
            <a:noFill/>
            <a:miter lim="800000"/>
          </a:ln>
        </p:spPr>
        <p:txBody>
          <a:bodyPr wrap="none">
            <a:spAutoFit/>
          </a:bodyPr>
          <a:lstStyle/>
          <a:p>
            <a:pPr algn="r" eaLnBrk="0" hangingPunct="0"/>
            <a:r>
              <a:rPr lang="en-US" sz="1600">
                <a:latin typeface="Courier New" panose="02070309020205020404" charset="0"/>
              </a:rPr>
              <a:t>char *p[3];</a:t>
            </a:r>
          </a:p>
        </p:txBody>
      </p:sp>
      <p:grpSp>
        <p:nvGrpSpPr>
          <p:cNvPr id="95" name="Group 94"/>
          <p:cNvGrpSpPr/>
          <p:nvPr/>
        </p:nvGrpSpPr>
        <p:grpSpPr bwMode="auto">
          <a:xfrm>
            <a:off x="2057400" y="6134100"/>
            <a:ext cx="6248400" cy="731838"/>
            <a:chOff x="2438400" y="6019800"/>
            <a:chExt cx="6248400" cy="732254"/>
          </a:xfrm>
        </p:grpSpPr>
        <p:grpSp>
          <p:nvGrpSpPr>
            <p:cNvPr id="56346" name="Group 92"/>
            <p:cNvGrpSpPr/>
            <p:nvPr/>
          </p:nvGrpSpPr>
          <p:grpSpPr bwMode="auto">
            <a:xfrm>
              <a:off x="2667000" y="6019800"/>
              <a:ext cx="5486400" cy="228600"/>
              <a:chOff x="1652" y="4608"/>
              <a:chExt cx="3456" cy="144"/>
            </a:xfrm>
          </p:grpSpPr>
          <p:sp>
            <p:nvSpPr>
              <p:cNvPr id="301134" name="Rectangle 78"/>
              <p:cNvSpPr>
                <a:spLocks noChangeArrowheads="1"/>
              </p:cNvSpPr>
              <p:nvPr/>
            </p:nvSpPr>
            <p:spPr bwMode="auto">
              <a:xfrm>
                <a:off x="1652" y="4608"/>
                <a:ext cx="1152"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135" name="Rectangle 79"/>
              <p:cNvSpPr>
                <a:spLocks noChangeArrowheads="1"/>
              </p:cNvSpPr>
              <p:nvPr/>
            </p:nvSpPr>
            <p:spPr bwMode="auto">
              <a:xfrm>
                <a:off x="2804" y="4608"/>
                <a:ext cx="1152"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136" name="Rectangle 80"/>
              <p:cNvSpPr>
                <a:spLocks noChangeArrowheads="1"/>
              </p:cNvSpPr>
              <p:nvPr/>
            </p:nvSpPr>
            <p:spPr bwMode="auto">
              <a:xfrm>
                <a:off x="3956" y="4608"/>
                <a:ext cx="1152"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sp>
          <p:nvSpPr>
            <p:cNvPr id="56347" name="Text Box 86"/>
            <p:cNvSpPr txBox="1">
              <a:spLocks noChangeArrowheads="1"/>
            </p:cNvSpPr>
            <p:nvPr/>
          </p:nvSpPr>
          <p:spPr bwMode="auto">
            <a:xfrm>
              <a:off x="2438400" y="6386721"/>
              <a:ext cx="396875" cy="336741"/>
            </a:xfrm>
            <a:prstGeom prst="rect">
              <a:avLst/>
            </a:prstGeom>
            <a:noFill/>
            <a:ln w="25400">
              <a:noFill/>
              <a:miter lim="800000"/>
            </a:ln>
          </p:spPr>
          <p:txBody>
            <a:bodyPr>
              <a:spAutoFit/>
            </a:bodyPr>
            <a:lstStyle/>
            <a:p>
              <a:pPr algn="ctr" eaLnBrk="0" hangingPunct="0"/>
              <a:r>
                <a:rPr lang="en-US" sz="1600" b="0" i="1">
                  <a:latin typeface="Calibri" panose="020F0502020204030204" charset="0"/>
                </a:rPr>
                <a:t>x</a:t>
              </a:r>
            </a:p>
          </p:txBody>
        </p:sp>
        <p:sp>
          <p:nvSpPr>
            <p:cNvPr id="56348" name="Line 87"/>
            <p:cNvSpPr>
              <a:spLocks noChangeShapeType="1"/>
            </p:cNvSpPr>
            <p:nvPr/>
          </p:nvSpPr>
          <p:spPr bwMode="auto">
            <a:xfrm flipV="1">
              <a:off x="2667000" y="6219825"/>
              <a:ext cx="0" cy="228600"/>
            </a:xfrm>
            <a:prstGeom prst="line">
              <a:avLst/>
            </a:prstGeom>
            <a:noFill/>
            <a:ln w="25400">
              <a:solidFill>
                <a:schemeClr val="tx1"/>
              </a:solidFill>
              <a:round/>
              <a:tailEnd type="triangle" w="med" len="sm"/>
            </a:ln>
          </p:spPr>
          <p:txBody>
            <a:bodyPr wrap="none" anchor="ctr"/>
            <a:lstStyle/>
            <a:p>
              <a:endParaRPr lang="en-US"/>
            </a:p>
          </p:txBody>
        </p:sp>
        <p:sp>
          <p:nvSpPr>
            <p:cNvPr id="56349" name="Text Box 88"/>
            <p:cNvSpPr txBox="1">
              <a:spLocks noChangeArrowheads="1"/>
            </p:cNvSpPr>
            <p:nvPr/>
          </p:nvSpPr>
          <p:spPr bwMode="auto">
            <a:xfrm>
              <a:off x="4038600" y="6401017"/>
              <a:ext cx="990600" cy="336741"/>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+ 8</a:t>
              </a:r>
              <a:endParaRPr lang="en-US" sz="1600" b="0" i="1">
                <a:latin typeface="Calibri" panose="020F0502020204030204" charset="0"/>
              </a:endParaRPr>
            </a:p>
          </p:txBody>
        </p:sp>
        <p:sp>
          <p:nvSpPr>
            <p:cNvPr id="56350" name="Line 89"/>
            <p:cNvSpPr>
              <a:spLocks noChangeShapeType="1"/>
            </p:cNvSpPr>
            <p:nvPr/>
          </p:nvSpPr>
          <p:spPr bwMode="auto">
            <a:xfrm flipV="1">
              <a:off x="4495800" y="6234113"/>
              <a:ext cx="0" cy="228600"/>
            </a:xfrm>
            <a:prstGeom prst="line">
              <a:avLst/>
            </a:prstGeom>
            <a:noFill/>
            <a:ln w="25400">
              <a:solidFill>
                <a:schemeClr val="tx1"/>
              </a:solidFill>
              <a:round/>
              <a:tailEnd type="triangle" w="med" len="sm"/>
            </a:ln>
          </p:spPr>
          <p:txBody>
            <a:bodyPr wrap="none" anchor="ctr"/>
            <a:lstStyle/>
            <a:p>
              <a:endParaRPr lang="en-US"/>
            </a:p>
          </p:txBody>
        </p:sp>
        <p:sp>
          <p:nvSpPr>
            <p:cNvPr id="56351" name="Text Box 90"/>
            <p:cNvSpPr txBox="1">
              <a:spLocks noChangeArrowheads="1"/>
            </p:cNvSpPr>
            <p:nvPr/>
          </p:nvSpPr>
          <p:spPr bwMode="auto">
            <a:xfrm>
              <a:off x="5867400" y="6401017"/>
              <a:ext cx="990600" cy="336741"/>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+ 16</a:t>
              </a:r>
              <a:endParaRPr lang="en-US" sz="1600" b="0" i="1">
                <a:latin typeface="Calibri" panose="020F0502020204030204" charset="0"/>
              </a:endParaRPr>
            </a:p>
          </p:txBody>
        </p:sp>
        <p:sp>
          <p:nvSpPr>
            <p:cNvPr id="56352" name="Line 91"/>
            <p:cNvSpPr>
              <a:spLocks noChangeShapeType="1"/>
            </p:cNvSpPr>
            <p:nvPr/>
          </p:nvSpPr>
          <p:spPr bwMode="auto">
            <a:xfrm flipV="1">
              <a:off x="6324600" y="6234113"/>
              <a:ext cx="0" cy="228600"/>
            </a:xfrm>
            <a:prstGeom prst="line">
              <a:avLst/>
            </a:prstGeom>
            <a:noFill/>
            <a:ln w="25400">
              <a:solidFill>
                <a:schemeClr val="tx1"/>
              </a:solidFill>
              <a:round/>
              <a:tailEnd type="triangle" w="med" len="sm"/>
            </a:ln>
          </p:spPr>
          <p:txBody>
            <a:bodyPr wrap="none" anchor="ctr"/>
            <a:lstStyle/>
            <a:p>
              <a:endParaRPr lang="en-US"/>
            </a:p>
          </p:txBody>
        </p:sp>
        <p:sp>
          <p:nvSpPr>
            <p:cNvPr id="56353" name="Line 102"/>
            <p:cNvSpPr>
              <a:spLocks noChangeShapeType="1"/>
            </p:cNvSpPr>
            <p:nvPr/>
          </p:nvSpPr>
          <p:spPr bwMode="auto">
            <a:xfrm flipV="1">
              <a:off x="8153400" y="6248400"/>
              <a:ext cx="0" cy="228600"/>
            </a:xfrm>
            <a:prstGeom prst="line">
              <a:avLst/>
            </a:prstGeom>
            <a:noFill/>
            <a:ln w="25400">
              <a:solidFill>
                <a:schemeClr val="tx1"/>
              </a:solidFill>
              <a:round/>
              <a:tailEnd type="triangle" w="med" len="sm"/>
            </a:ln>
          </p:spPr>
          <p:txBody>
            <a:bodyPr wrap="none" anchor="ctr"/>
            <a:lstStyle/>
            <a:p>
              <a:endParaRPr lang="en-US"/>
            </a:p>
          </p:txBody>
        </p:sp>
        <p:sp>
          <p:nvSpPr>
            <p:cNvPr id="56354" name="Text Box 105"/>
            <p:cNvSpPr txBox="1">
              <a:spLocks noChangeArrowheads="1"/>
            </p:cNvSpPr>
            <p:nvPr/>
          </p:nvSpPr>
          <p:spPr bwMode="auto">
            <a:xfrm>
              <a:off x="7696200" y="6415312"/>
              <a:ext cx="990600" cy="336742"/>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+ 24</a:t>
              </a:r>
              <a:endParaRPr lang="en-US" sz="1600" b="0" i="1">
                <a:latin typeface="Calibri" panose="020F0502020204030204" charset="0"/>
              </a:endParaRPr>
            </a:p>
          </p:txBody>
        </p:sp>
      </p:grpSp>
      <p:grpSp>
        <p:nvGrpSpPr>
          <p:cNvPr id="96" name="Group 95"/>
          <p:cNvGrpSpPr/>
          <p:nvPr/>
        </p:nvGrpSpPr>
        <p:grpSpPr bwMode="auto">
          <a:xfrm>
            <a:off x="2057400" y="5300663"/>
            <a:ext cx="3505200" cy="731837"/>
            <a:chOff x="2514600" y="5257800"/>
            <a:chExt cx="3505200" cy="732254"/>
          </a:xfrm>
        </p:grpSpPr>
        <p:grpSp>
          <p:nvGrpSpPr>
            <p:cNvPr id="56334" name="Group 64"/>
            <p:cNvGrpSpPr/>
            <p:nvPr/>
          </p:nvGrpSpPr>
          <p:grpSpPr bwMode="auto">
            <a:xfrm>
              <a:off x="2743200" y="5257800"/>
              <a:ext cx="2743200" cy="228600"/>
              <a:chOff x="2016" y="3744"/>
              <a:chExt cx="1728" cy="144"/>
            </a:xfrm>
          </p:grpSpPr>
          <p:sp>
            <p:nvSpPr>
              <p:cNvPr id="301121" name="Rectangle 65"/>
              <p:cNvSpPr>
                <a:spLocks noChangeArrowheads="1"/>
              </p:cNvSpPr>
              <p:nvPr/>
            </p:nvSpPr>
            <p:spPr bwMode="auto">
              <a:xfrm>
                <a:off x="2016" y="3744"/>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122" name="Rectangle 66"/>
              <p:cNvSpPr>
                <a:spLocks noChangeArrowheads="1"/>
              </p:cNvSpPr>
              <p:nvPr/>
            </p:nvSpPr>
            <p:spPr bwMode="auto">
              <a:xfrm>
                <a:off x="2592" y="3744"/>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1123" name="Rectangle 67"/>
              <p:cNvSpPr>
                <a:spLocks noChangeArrowheads="1"/>
              </p:cNvSpPr>
              <p:nvPr/>
            </p:nvSpPr>
            <p:spPr bwMode="auto">
              <a:xfrm>
                <a:off x="3168" y="3744"/>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sp>
          <p:nvSpPr>
            <p:cNvPr id="56335" name="Text Box 68"/>
            <p:cNvSpPr txBox="1">
              <a:spLocks noChangeArrowheads="1"/>
            </p:cNvSpPr>
            <p:nvPr/>
          </p:nvSpPr>
          <p:spPr bwMode="auto">
            <a:xfrm>
              <a:off x="2514600" y="5639017"/>
              <a:ext cx="396875" cy="336741"/>
            </a:xfrm>
            <a:prstGeom prst="rect">
              <a:avLst/>
            </a:prstGeom>
            <a:noFill/>
            <a:ln w="25400">
              <a:noFill/>
              <a:miter lim="800000"/>
            </a:ln>
          </p:spPr>
          <p:txBody>
            <a:bodyPr>
              <a:spAutoFit/>
            </a:bodyPr>
            <a:lstStyle/>
            <a:p>
              <a:pPr algn="ctr" eaLnBrk="0" hangingPunct="0"/>
              <a:r>
                <a:rPr lang="en-US" sz="1600" b="0" i="1">
                  <a:latin typeface="Calibri" panose="020F0502020204030204" charset="0"/>
                </a:rPr>
                <a:t>x</a:t>
              </a:r>
            </a:p>
          </p:txBody>
        </p:sp>
        <p:sp>
          <p:nvSpPr>
            <p:cNvPr id="56336" name="Text Box 69"/>
            <p:cNvSpPr txBox="1">
              <a:spLocks noChangeArrowheads="1"/>
            </p:cNvSpPr>
            <p:nvPr/>
          </p:nvSpPr>
          <p:spPr bwMode="auto">
            <a:xfrm>
              <a:off x="3200400" y="5653312"/>
              <a:ext cx="990600" cy="336742"/>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+ 4</a:t>
              </a:r>
              <a:endParaRPr lang="en-US" sz="1600" b="0" i="1">
                <a:latin typeface="Calibri" panose="020F0502020204030204" charset="0"/>
              </a:endParaRPr>
            </a:p>
          </p:txBody>
        </p:sp>
        <p:sp>
          <p:nvSpPr>
            <p:cNvPr id="56337" name="Line 70"/>
            <p:cNvSpPr>
              <a:spLocks noChangeShapeType="1"/>
            </p:cNvSpPr>
            <p:nvPr/>
          </p:nvSpPr>
          <p:spPr bwMode="auto">
            <a:xfrm flipV="1">
              <a:off x="2743200" y="5472113"/>
              <a:ext cx="0" cy="228600"/>
            </a:xfrm>
            <a:prstGeom prst="line">
              <a:avLst/>
            </a:prstGeom>
            <a:noFill/>
            <a:ln w="25400">
              <a:solidFill>
                <a:schemeClr val="tx1"/>
              </a:solidFill>
              <a:round/>
              <a:tailEnd type="triangle" w="med" len="sm"/>
            </a:ln>
          </p:spPr>
          <p:txBody>
            <a:bodyPr wrap="none" anchor="ctr"/>
            <a:lstStyle/>
            <a:p>
              <a:endParaRPr lang="en-US"/>
            </a:p>
          </p:txBody>
        </p:sp>
        <p:sp>
          <p:nvSpPr>
            <p:cNvPr id="56338" name="Line 71"/>
            <p:cNvSpPr>
              <a:spLocks noChangeShapeType="1"/>
            </p:cNvSpPr>
            <p:nvPr/>
          </p:nvSpPr>
          <p:spPr bwMode="auto">
            <a:xfrm flipV="1">
              <a:off x="3657600" y="5486400"/>
              <a:ext cx="0" cy="228600"/>
            </a:xfrm>
            <a:prstGeom prst="line">
              <a:avLst/>
            </a:prstGeom>
            <a:noFill/>
            <a:ln w="25400">
              <a:solidFill>
                <a:schemeClr val="tx1"/>
              </a:solidFill>
              <a:round/>
              <a:tailEnd type="triangle" w="med" len="sm"/>
            </a:ln>
          </p:spPr>
          <p:txBody>
            <a:bodyPr wrap="none" anchor="ctr"/>
            <a:lstStyle/>
            <a:p>
              <a:endParaRPr lang="en-US"/>
            </a:p>
          </p:txBody>
        </p:sp>
        <p:sp>
          <p:nvSpPr>
            <p:cNvPr id="56339" name="Text Box 72"/>
            <p:cNvSpPr txBox="1">
              <a:spLocks noChangeArrowheads="1"/>
            </p:cNvSpPr>
            <p:nvPr/>
          </p:nvSpPr>
          <p:spPr bwMode="auto">
            <a:xfrm>
              <a:off x="4114800" y="5653312"/>
              <a:ext cx="990600" cy="336742"/>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+ 8</a:t>
              </a:r>
              <a:endParaRPr lang="en-US" sz="1600" b="0" i="1">
                <a:latin typeface="Calibri" panose="020F0502020204030204" charset="0"/>
              </a:endParaRPr>
            </a:p>
          </p:txBody>
        </p:sp>
        <p:sp>
          <p:nvSpPr>
            <p:cNvPr id="56340" name="Line 73"/>
            <p:cNvSpPr>
              <a:spLocks noChangeShapeType="1"/>
            </p:cNvSpPr>
            <p:nvPr/>
          </p:nvSpPr>
          <p:spPr bwMode="auto">
            <a:xfrm flipV="1">
              <a:off x="4572000" y="5486400"/>
              <a:ext cx="0" cy="228600"/>
            </a:xfrm>
            <a:prstGeom prst="line">
              <a:avLst/>
            </a:prstGeom>
            <a:noFill/>
            <a:ln w="25400">
              <a:solidFill>
                <a:schemeClr val="tx1"/>
              </a:solidFill>
              <a:round/>
              <a:tailEnd type="triangle" w="med" len="sm"/>
            </a:ln>
          </p:spPr>
          <p:txBody>
            <a:bodyPr wrap="none" anchor="ctr"/>
            <a:lstStyle/>
            <a:p>
              <a:endParaRPr lang="en-US"/>
            </a:p>
          </p:txBody>
        </p:sp>
        <p:sp>
          <p:nvSpPr>
            <p:cNvPr id="56341" name="Text Box 114"/>
            <p:cNvSpPr txBox="1">
              <a:spLocks noChangeArrowheads="1"/>
            </p:cNvSpPr>
            <p:nvPr/>
          </p:nvSpPr>
          <p:spPr bwMode="auto">
            <a:xfrm>
              <a:off x="5029200" y="5653312"/>
              <a:ext cx="990600" cy="336742"/>
            </a:xfrm>
            <a:prstGeom prst="rect">
              <a:avLst/>
            </a:prstGeom>
            <a:noFill/>
            <a:ln w="25400">
              <a:noFill/>
              <a:miter lim="800000"/>
            </a:ln>
          </p:spPr>
          <p:txBody>
            <a:bodyPr>
              <a:spAutoFit/>
            </a:bodyPr>
            <a:lstStyle/>
            <a:p>
              <a:pPr algn="ctr" eaLnBrk="0" hangingPunct="0"/>
              <a:r>
                <a:rPr lang="en-US" sz="1600" b="0" i="1">
                  <a:latin typeface="Calibri" panose="020F0502020204030204" charset="0"/>
                </a:rPr>
                <a:t>x </a:t>
              </a:r>
              <a:r>
                <a:rPr lang="en-US" sz="1600" b="0">
                  <a:latin typeface="Calibri" panose="020F0502020204030204" charset="0"/>
                </a:rPr>
                <a:t>+ 12</a:t>
              </a:r>
              <a:endParaRPr lang="en-US" sz="1600" b="0" i="1">
                <a:latin typeface="Calibri" panose="020F0502020204030204" charset="0"/>
              </a:endParaRPr>
            </a:p>
          </p:txBody>
        </p:sp>
        <p:sp>
          <p:nvSpPr>
            <p:cNvPr id="56342" name="Line 115"/>
            <p:cNvSpPr>
              <a:spLocks noChangeShapeType="1"/>
            </p:cNvSpPr>
            <p:nvPr/>
          </p:nvSpPr>
          <p:spPr bwMode="auto">
            <a:xfrm flipV="1">
              <a:off x="5486400" y="54864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301175" name="Text Box 119"/>
          <p:cNvSpPr txBox="1">
            <a:spLocks noChangeArrowheads="1"/>
          </p:cNvSpPr>
          <p:nvPr/>
        </p:nvSpPr>
        <p:spPr bwMode="auto">
          <a:xfrm>
            <a:off x="5259388" y="5262563"/>
            <a:ext cx="523875" cy="366712"/>
          </a:xfrm>
          <a:prstGeom prst="rect">
            <a:avLst/>
          </a:prstGeom>
          <a:solidFill>
            <a:srgbClr val="990000"/>
          </a:solidFill>
          <a:ln w="19050">
            <a:noFill/>
            <a:miter lim="800000"/>
            <a:tailEnd type="none" w="sm" len="sm"/>
          </a:ln>
        </p:spPr>
        <p:txBody>
          <a:bodyPr wrap="none" lIns="45720" rIns="45720">
            <a:spAutoFit/>
          </a:bodyPr>
          <a:lstStyle/>
          <a:p>
            <a:pPr algn="ctr" eaLnBrk="0" hangingPunct="0"/>
            <a:r>
              <a:rPr lang="en-US" sz="1800">
                <a:solidFill>
                  <a:schemeClr val="bg1"/>
                </a:solidFill>
                <a:latin typeface="Calibri" panose="020F0502020204030204" charset="0"/>
              </a:rPr>
              <a:t>IA32</a:t>
            </a:r>
          </a:p>
        </p:txBody>
      </p:sp>
      <p:sp>
        <p:nvSpPr>
          <p:cNvPr id="301176" name="Text Box 120"/>
          <p:cNvSpPr txBox="1">
            <a:spLocks noChangeArrowheads="1"/>
          </p:cNvSpPr>
          <p:nvPr/>
        </p:nvSpPr>
        <p:spPr bwMode="auto">
          <a:xfrm>
            <a:off x="8023225" y="6094413"/>
            <a:ext cx="730250" cy="366712"/>
          </a:xfrm>
          <a:prstGeom prst="rect">
            <a:avLst/>
          </a:prstGeom>
          <a:solidFill>
            <a:srgbClr val="990000"/>
          </a:solidFill>
          <a:ln w="19050">
            <a:noFill/>
            <a:miter lim="800000"/>
            <a:tailEnd type="none" w="sm" len="sm"/>
          </a:ln>
        </p:spPr>
        <p:txBody>
          <a:bodyPr wrap="none" lIns="45720" rIns="45720">
            <a:spAutoFit/>
          </a:bodyPr>
          <a:lstStyle/>
          <a:p>
            <a:pPr algn="ctr" eaLnBrk="0" hangingPunct="0"/>
            <a:r>
              <a:rPr lang="en-US" sz="1800">
                <a:solidFill>
                  <a:schemeClr val="bg1"/>
                </a:solidFill>
                <a:latin typeface="Calibri" panose="020F0502020204030204" charset="0"/>
              </a:rPr>
              <a:t>x86-64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1059">
                                            <p:txEl>
                                              <p:pRg st="1" end="1"/>
                                            </p:txEl>
                                          </p:spTgt>
                                        </p:tgtEl>
                                        <p:attrNameLst>
                                          <p:attrName>style.visibility</p:attrName>
                                        </p:attrNameLst>
                                      </p:cBhvr>
                                      <p:to>
                                        <p:strVal val="visible"/>
                                      </p:to>
                                    </p:set>
                                    <p:animEffect transition="in" filter="wipe(down)">
                                      <p:cBhvr>
                                        <p:cTn id="7" dur="500"/>
                                        <p:tgtEl>
                                          <p:spTgt spid="30105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01059">
                                            <p:txEl>
                                              <p:pRg st="2" end="2"/>
                                            </p:txEl>
                                          </p:spTgt>
                                        </p:tgtEl>
                                        <p:attrNameLst>
                                          <p:attrName>style.visibility</p:attrName>
                                        </p:attrNameLst>
                                      </p:cBhvr>
                                      <p:to>
                                        <p:strVal val="visible"/>
                                      </p:to>
                                    </p:set>
                                    <p:animEffect transition="in" filter="wipe(down)">
                                      <p:cBhvr>
                                        <p:cTn id="10" dur="500"/>
                                        <p:tgtEl>
                                          <p:spTgt spid="301059">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01059">
                                            <p:txEl>
                                              <p:pRg st="3" end="3"/>
                                            </p:txEl>
                                          </p:spTgt>
                                        </p:tgtEl>
                                        <p:attrNameLst>
                                          <p:attrName>style.visibility</p:attrName>
                                        </p:attrNameLst>
                                      </p:cBhvr>
                                      <p:to>
                                        <p:strVal val="visible"/>
                                      </p:to>
                                    </p:set>
                                    <p:animEffect transition="in" filter="wipe(down)">
                                      <p:cBhvr>
                                        <p:cTn id="13" dur="500"/>
                                        <p:tgtEl>
                                          <p:spTgt spid="301059">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01061"/>
                                        </p:tgtEl>
                                        <p:attrNameLst>
                                          <p:attrName>style.visibility</p:attrName>
                                        </p:attrNameLst>
                                      </p:cBhvr>
                                      <p:to>
                                        <p:strVal val="visible"/>
                                      </p:to>
                                    </p:set>
                                    <p:anim calcmode="lin" valueType="num">
                                      <p:cBhvr additive="base">
                                        <p:cTn id="18" dur="500" fill="hold"/>
                                        <p:tgtEl>
                                          <p:spTgt spid="301061"/>
                                        </p:tgtEl>
                                        <p:attrNameLst>
                                          <p:attrName>ppt_x</p:attrName>
                                        </p:attrNameLst>
                                      </p:cBhvr>
                                      <p:tavLst>
                                        <p:tav tm="0">
                                          <p:val>
                                            <p:strVal val="#ppt_x"/>
                                          </p:val>
                                        </p:tav>
                                        <p:tav tm="100000">
                                          <p:val>
                                            <p:strVal val="#ppt_x"/>
                                          </p:val>
                                        </p:tav>
                                      </p:tavLst>
                                    </p:anim>
                                    <p:anim calcmode="lin" valueType="num">
                                      <p:cBhvr additive="base">
                                        <p:cTn id="19" dur="500" fill="hold"/>
                                        <p:tgtEl>
                                          <p:spTgt spid="301061"/>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99"/>
                                        </p:tgtEl>
                                        <p:attrNameLst>
                                          <p:attrName>style.visibility</p:attrName>
                                        </p:attrNameLst>
                                      </p:cBhvr>
                                      <p:to>
                                        <p:strVal val="visible"/>
                                      </p:to>
                                    </p:set>
                                    <p:anim calcmode="lin" valueType="num">
                                      <p:cBhvr additive="base">
                                        <p:cTn id="22" dur="500" fill="hold"/>
                                        <p:tgtEl>
                                          <p:spTgt spid="99"/>
                                        </p:tgtEl>
                                        <p:attrNameLst>
                                          <p:attrName>ppt_x</p:attrName>
                                        </p:attrNameLst>
                                      </p:cBhvr>
                                      <p:tavLst>
                                        <p:tav tm="0">
                                          <p:val>
                                            <p:strVal val="#ppt_x"/>
                                          </p:val>
                                        </p:tav>
                                        <p:tav tm="100000">
                                          <p:val>
                                            <p:strVal val="#ppt_x"/>
                                          </p:val>
                                        </p:tav>
                                      </p:tavLst>
                                    </p:anim>
                                    <p:anim calcmode="lin" valueType="num">
                                      <p:cBhvr additive="base">
                                        <p:cTn id="23" dur="500" fill="hold"/>
                                        <p:tgtEl>
                                          <p:spTgt spid="99"/>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01087"/>
                                        </p:tgtEl>
                                        <p:attrNameLst>
                                          <p:attrName>style.visibility</p:attrName>
                                        </p:attrNameLst>
                                      </p:cBhvr>
                                      <p:to>
                                        <p:strVal val="visible"/>
                                      </p:to>
                                    </p:set>
                                    <p:animEffect transition="in" filter="wipe(down)">
                                      <p:cBhvr>
                                        <p:cTn id="28" dur="500"/>
                                        <p:tgtEl>
                                          <p:spTgt spid="301087"/>
                                        </p:tgtEl>
                                      </p:cBhvr>
                                    </p:animEffect>
                                  </p:childTnLst>
                                </p:cTn>
                              </p:par>
                              <p:par>
                                <p:cTn id="29" presetID="22" presetClass="entr" presetSubtype="4" fill="hold" nodeType="withEffect">
                                  <p:stCondLst>
                                    <p:cond delay="0"/>
                                  </p:stCondLst>
                                  <p:childTnLst>
                                    <p:set>
                                      <p:cBhvr>
                                        <p:cTn id="30" dur="1" fill="hold">
                                          <p:stCondLst>
                                            <p:cond delay="0"/>
                                          </p:stCondLst>
                                        </p:cTn>
                                        <p:tgtEl>
                                          <p:spTgt spid="98"/>
                                        </p:tgtEl>
                                        <p:attrNameLst>
                                          <p:attrName>style.visibility</p:attrName>
                                        </p:attrNameLst>
                                      </p:cBhvr>
                                      <p:to>
                                        <p:strVal val="visible"/>
                                      </p:to>
                                    </p:set>
                                    <p:animEffect transition="in" filter="wipe(down)">
                                      <p:cBhvr>
                                        <p:cTn id="31" dur="500"/>
                                        <p:tgtEl>
                                          <p:spTgt spid="9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01101"/>
                                        </p:tgtEl>
                                        <p:attrNameLst>
                                          <p:attrName>style.visibility</p:attrName>
                                        </p:attrNameLst>
                                      </p:cBhvr>
                                      <p:to>
                                        <p:strVal val="visible"/>
                                      </p:to>
                                    </p:set>
                                    <p:animEffect transition="in" filter="wipe(down)">
                                      <p:cBhvr>
                                        <p:cTn id="36" dur="500"/>
                                        <p:tgtEl>
                                          <p:spTgt spid="301101"/>
                                        </p:tgtEl>
                                      </p:cBhvr>
                                    </p:animEffect>
                                  </p:childTnLst>
                                </p:cTn>
                              </p:par>
                              <p:par>
                                <p:cTn id="37" presetID="22" presetClass="entr" presetSubtype="4" fill="hold" nodeType="withEffect">
                                  <p:stCondLst>
                                    <p:cond delay="0"/>
                                  </p:stCondLst>
                                  <p:childTnLst>
                                    <p:set>
                                      <p:cBhvr>
                                        <p:cTn id="38" dur="1" fill="hold">
                                          <p:stCondLst>
                                            <p:cond delay="0"/>
                                          </p:stCondLst>
                                        </p:cTn>
                                        <p:tgtEl>
                                          <p:spTgt spid="97"/>
                                        </p:tgtEl>
                                        <p:attrNameLst>
                                          <p:attrName>style.visibility</p:attrName>
                                        </p:attrNameLst>
                                      </p:cBhvr>
                                      <p:to>
                                        <p:strVal val="visible"/>
                                      </p:to>
                                    </p:set>
                                    <p:animEffect transition="in" filter="wipe(down)">
                                      <p:cBhvr>
                                        <p:cTn id="39" dur="500"/>
                                        <p:tgtEl>
                                          <p:spTgt spid="97"/>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01118"/>
                                        </p:tgtEl>
                                        <p:attrNameLst>
                                          <p:attrName>style.visibility</p:attrName>
                                        </p:attrNameLst>
                                      </p:cBhvr>
                                      <p:to>
                                        <p:strVal val="visible"/>
                                      </p:to>
                                    </p:set>
                                    <p:anim calcmode="lin" valueType="num">
                                      <p:cBhvr additive="base">
                                        <p:cTn id="44" dur="500" fill="hold"/>
                                        <p:tgtEl>
                                          <p:spTgt spid="301118"/>
                                        </p:tgtEl>
                                        <p:attrNameLst>
                                          <p:attrName>ppt_x</p:attrName>
                                        </p:attrNameLst>
                                      </p:cBhvr>
                                      <p:tavLst>
                                        <p:tav tm="0">
                                          <p:val>
                                            <p:strVal val="#ppt_x"/>
                                          </p:val>
                                        </p:tav>
                                        <p:tav tm="100000">
                                          <p:val>
                                            <p:strVal val="#ppt_x"/>
                                          </p:val>
                                        </p:tav>
                                      </p:tavLst>
                                    </p:anim>
                                    <p:anim calcmode="lin" valueType="num">
                                      <p:cBhvr additive="base">
                                        <p:cTn id="45" dur="500" fill="hold"/>
                                        <p:tgtEl>
                                          <p:spTgt spid="301118"/>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96"/>
                                        </p:tgtEl>
                                        <p:attrNameLst>
                                          <p:attrName>style.visibility</p:attrName>
                                        </p:attrNameLst>
                                      </p:cBhvr>
                                      <p:to>
                                        <p:strVal val="visible"/>
                                      </p:to>
                                    </p:set>
                                    <p:anim calcmode="lin" valueType="num">
                                      <p:cBhvr additive="base">
                                        <p:cTn id="48" dur="500" fill="hold"/>
                                        <p:tgtEl>
                                          <p:spTgt spid="96"/>
                                        </p:tgtEl>
                                        <p:attrNameLst>
                                          <p:attrName>ppt_x</p:attrName>
                                        </p:attrNameLst>
                                      </p:cBhvr>
                                      <p:tavLst>
                                        <p:tav tm="0">
                                          <p:val>
                                            <p:strVal val="#ppt_x"/>
                                          </p:val>
                                        </p:tav>
                                        <p:tav tm="100000">
                                          <p:val>
                                            <p:strVal val="#ppt_x"/>
                                          </p:val>
                                        </p:tav>
                                      </p:tavLst>
                                    </p:anim>
                                    <p:anim calcmode="lin" valueType="num">
                                      <p:cBhvr additive="base">
                                        <p:cTn id="49" dur="500" fill="hold"/>
                                        <p:tgtEl>
                                          <p:spTgt spid="96"/>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301175"/>
                                        </p:tgtEl>
                                        <p:attrNameLst>
                                          <p:attrName>style.visibility</p:attrName>
                                        </p:attrNameLst>
                                      </p:cBhvr>
                                      <p:to>
                                        <p:strVal val="visible"/>
                                      </p:to>
                                    </p:set>
                                    <p:anim calcmode="lin" valueType="num">
                                      <p:cBhvr additive="base">
                                        <p:cTn id="52" dur="500" fill="hold"/>
                                        <p:tgtEl>
                                          <p:spTgt spid="301175"/>
                                        </p:tgtEl>
                                        <p:attrNameLst>
                                          <p:attrName>ppt_x</p:attrName>
                                        </p:attrNameLst>
                                      </p:cBhvr>
                                      <p:tavLst>
                                        <p:tav tm="0">
                                          <p:val>
                                            <p:strVal val="#ppt_x"/>
                                          </p:val>
                                        </p:tav>
                                        <p:tav tm="100000">
                                          <p:val>
                                            <p:strVal val="#ppt_x"/>
                                          </p:val>
                                        </p:tav>
                                      </p:tavLst>
                                    </p:anim>
                                    <p:anim calcmode="lin" valueType="num">
                                      <p:cBhvr additive="base">
                                        <p:cTn id="53" dur="500" fill="hold"/>
                                        <p:tgtEl>
                                          <p:spTgt spid="301175"/>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95"/>
                                        </p:tgtEl>
                                        <p:attrNameLst>
                                          <p:attrName>style.visibility</p:attrName>
                                        </p:attrNameLst>
                                      </p:cBhvr>
                                      <p:to>
                                        <p:strVal val="visible"/>
                                      </p:to>
                                    </p:set>
                                    <p:anim calcmode="lin" valueType="num">
                                      <p:cBhvr additive="base">
                                        <p:cTn id="58" dur="500" fill="hold"/>
                                        <p:tgtEl>
                                          <p:spTgt spid="95"/>
                                        </p:tgtEl>
                                        <p:attrNameLst>
                                          <p:attrName>ppt_x</p:attrName>
                                        </p:attrNameLst>
                                      </p:cBhvr>
                                      <p:tavLst>
                                        <p:tav tm="0">
                                          <p:val>
                                            <p:strVal val="#ppt_x"/>
                                          </p:val>
                                        </p:tav>
                                        <p:tav tm="100000">
                                          <p:val>
                                            <p:strVal val="#ppt_x"/>
                                          </p:val>
                                        </p:tav>
                                      </p:tavLst>
                                    </p:anim>
                                    <p:anim calcmode="lin" valueType="num">
                                      <p:cBhvr additive="base">
                                        <p:cTn id="59" dur="500" fill="hold"/>
                                        <p:tgtEl>
                                          <p:spTgt spid="95"/>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301176"/>
                                        </p:tgtEl>
                                        <p:attrNameLst>
                                          <p:attrName>style.visibility</p:attrName>
                                        </p:attrNameLst>
                                      </p:cBhvr>
                                      <p:to>
                                        <p:strVal val="visible"/>
                                      </p:to>
                                    </p:set>
                                    <p:anim calcmode="lin" valueType="num">
                                      <p:cBhvr additive="base">
                                        <p:cTn id="62" dur="500" fill="hold"/>
                                        <p:tgtEl>
                                          <p:spTgt spid="301176"/>
                                        </p:tgtEl>
                                        <p:attrNameLst>
                                          <p:attrName>ppt_x</p:attrName>
                                        </p:attrNameLst>
                                      </p:cBhvr>
                                      <p:tavLst>
                                        <p:tav tm="0">
                                          <p:val>
                                            <p:strVal val="#ppt_x"/>
                                          </p:val>
                                        </p:tav>
                                        <p:tav tm="100000">
                                          <p:val>
                                            <p:strVal val="#ppt_x"/>
                                          </p:val>
                                        </p:tav>
                                      </p:tavLst>
                                    </p:anim>
                                    <p:anim calcmode="lin" valueType="num">
                                      <p:cBhvr additive="base">
                                        <p:cTn id="63" dur="500" fill="hold"/>
                                        <p:tgtEl>
                                          <p:spTgt spid="3011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61" grpId="0"/>
      <p:bldP spid="301087" grpId="0"/>
      <p:bldP spid="301101" grpId="0"/>
      <p:bldP spid="301118" grpId="0"/>
      <p:bldP spid="301175" grpId="0" animBg="1"/>
      <p:bldP spid="301176"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35610"/>
            <a:ext cx="2934970" cy="605155"/>
          </a:xfrm>
          <a:prstGeom prst="chevron">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数组访问</a:t>
            </a:r>
            <a:endParaRPr lang="en-US" altLang="zh-CN" sz="2800"/>
          </a:p>
        </p:txBody>
      </p:sp>
      <p:sp>
        <p:nvSpPr>
          <p:cNvPr id="301059" name="Rectangle 3"/>
          <p:cNvSpPr>
            <a:spLocks noGrp="1" noChangeArrowheads="1"/>
          </p:cNvSpPr>
          <p:nvPr/>
        </p:nvSpPr>
        <p:spPr>
          <a:xfrm>
            <a:off x="88583" y="1123950"/>
            <a:ext cx="8307387" cy="161607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zh-CN" altLang="en-US">
                <a:latin typeface="Calibri" panose="020F0502020204030204" charset="0"/>
                <a:ea typeface="宋体" panose="02010600030101010101" pitchFamily="2" charset="-122"/>
              </a:rPr>
              <a:t>基本原则</a:t>
            </a:r>
          </a:p>
          <a:p>
            <a:pPr lvl="1">
              <a:buFont typeface="Wingdings" panose="05000000000000000000" pitchFamily="2" charset="2"/>
              <a:buNone/>
            </a:pPr>
            <a:r>
              <a:rPr lang="en-US" i="1">
                <a:latin typeface="Calibri" panose="020F0502020204030204" charset="0"/>
              </a:rPr>
              <a:t>T</a:t>
            </a:r>
            <a:r>
              <a:rPr lang="en-US" b="1">
                <a:latin typeface="Calibri" panose="020F0502020204030204" charset="0"/>
              </a:rPr>
              <a:t>  </a:t>
            </a:r>
            <a:r>
              <a:rPr lang="en-US" b="1">
                <a:latin typeface="Courier New" panose="02070309020205020404" charset="0"/>
              </a:rPr>
              <a:t>A[</a:t>
            </a:r>
            <a:r>
              <a:rPr lang="en-US" i="1">
                <a:latin typeface="Calibri" panose="020F0502020204030204" charset="0"/>
              </a:rPr>
              <a:t>L</a:t>
            </a:r>
            <a:r>
              <a:rPr lang="en-US" b="1">
                <a:latin typeface="Courier New" panose="02070309020205020404" charset="0"/>
              </a:rPr>
              <a:t>];</a:t>
            </a:r>
            <a:endParaRPr lang="en-US" b="1">
              <a:latin typeface="Calibri" panose="020F0502020204030204" charset="0"/>
            </a:endParaRPr>
          </a:p>
          <a:p>
            <a:pPr lvl="1">
              <a:buClr>
                <a:srgbClr val="0D0D0D"/>
              </a:buClr>
            </a:pPr>
            <a:r>
              <a:rPr lang="en-US">
                <a:latin typeface="Calibri" panose="020F0502020204030204" charset="0"/>
              </a:rPr>
              <a:t>数据</a:t>
            </a:r>
            <a:r>
              <a:rPr lang="zh-CN" altLang="en-US">
                <a:latin typeface="Calibri" panose="020F0502020204030204" charset="0"/>
                <a:ea typeface="宋体" panose="02010600030101010101" pitchFamily="2" charset="-122"/>
              </a:rPr>
              <a:t>为</a:t>
            </a:r>
            <a:r>
              <a:rPr lang="en-US">
                <a:latin typeface="Calibri" panose="020F0502020204030204" charset="0"/>
              </a:rPr>
              <a:t>类型T</a:t>
            </a:r>
            <a:r>
              <a:rPr lang="zh-CN" altLang="en-US">
                <a:latin typeface="Calibri" panose="020F0502020204030204" charset="0"/>
                <a:ea typeface="宋体" panose="02010600030101010101" pitchFamily="2" charset="-122"/>
              </a:rPr>
              <a:t>，</a:t>
            </a:r>
            <a:r>
              <a:rPr lang="en-US">
                <a:latin typeface="Calibri" panose="020F0502020204030204" charset="0"/>
              </a:rPr>
              <a:t>长度</a:t>
            </a:r>
            <a:r>
              <a:rPr lang="zh-CN" altLang="en-US">
                <a:latin typeface="Calibri" panose="020F0502020204030204" charset="0"/>
                <a:ea typeface="宋体" panose="02010600030101010101" pitchFamily="2" charset="-122"/>
              </a:rPr>
              <a:t>为</a:t>
            </a:r>
            <a:r>
              <a:rPr lang="en-US">
                <a:latin typeface="Calibri" panose="020F0502020204030204" charset="0"/>
              </a:rPr>
              <a:t>l</a:t>
            </a:r>
            <a:r>
              <a:rPr lang="zh-CN" altLang="en-US">
                <a:latin typeface="Calibri" panose="020F0502020204030204" charset="0"/>
                <a:ea typeface="宋体" panose="02010600030101010101" pitchFamily="2" charset="-122"/>
              </a:rPr>
              <a:t>的</a:t>
            </a:r>
            <a:r>
              <a:rPr lang="en-US">
                <a:latin typeface="Calibri" panose="020F0502020204030204" charset="0"/>
              </a:rPr>
              <a:t>数组</a:t>
            </a:r>
          </a:p>
          <a:p>
            <a:pPr lvl="1">
              <a:buClr>
                <a:srgbClr val="0D0D0D"/>
              </a:buClr>
            </a:pPr>
            <a:r>
              <a:rPr lang="zh-CN" altLang="en-US" dirty="0">
                <a:sym typeface="+mn-ea"/>
              </a:rPr>
              <a:t>占用</a:t>
            </a:r>
            <a:r>
              <a:rPr lang="en-US">
                <a:sym typeface="+mn-ea"/>
              </a:rPr>
              <a:t> </a:t>
            </a:r>
            <a:r>
              <a:rPr lang="en-US" i="1">
                <a:sym typeface="+mn-ea"/>
              </a:rPr>
              <a:t>L</a:t>
            </a:r>
            <a:r>
              <a:rPr lang="en-US">
                <a:sym typeface="+mn-ea"/>
              </a:rPr>
              <a:t> * </a:t>
            </a:r>
            <a:r>
              <a:rPr lang="en-US" b="1">
                <a:latin typeface="Courier New" panose="02070309020205020404" charset="0"/>
                <a:sym typeface="+mn-ea"/>
              </a:rPr>
              <a:t>sizeof</a:t>
            </a:r>
            <a:r>
              <a:rPr lang="en-US">
                <a:latin typeface="Courier New" panose="02070309020205020404" charset="0"/>
                <a:sym typeface="+mn-ea"/>
              </a:rPr>
              <a:t>(</a:t>
            </a:r>
            <a:r>
              <a:rPr lang="en-US" i="1">
                <a:sym typeface="+mn-ea"/>
              </a:rPr>
              <a:t>T</a:t>
            </a:r>
            <a:r>
              <a:rPr lang="en-US">
                <a:latin typeface="Courier New" panose="02070309020205020404" charset="0"/>
                <a:sym typeface="+mn-ea"/>
              </a:rPr>
              <a:t>)</a:t>
            </a:r>
            <a:r>
              <a:rPr lang="zh-CN" altLang="en-US" dirty="0">
                <a:sym typeface="+mn-ea"/>
              </a:rPr>
              <a:t>个字节的连续内存空间（虚存）</a:t>
            </a:r>
            <a:endParaRPr lang="en-US">
              <a:latin typeface="Calibri" panose="020F0502020204030204" charset="0"/>
            </a:endParaRPr>
          </a:p>
        </p:txBody>
      </p:sp>
      <p:sp>
        <p:nvSpPr>
          <p:cNvPr id="60419" name="Text Box 31"/>
          <p:cNvSpPr txBox="1">
            <a:spLocks noChangeArrowheads="1"/>
          </p:cNvSpPr>
          <p:nvPr/>
        </p:nvSpPr>
        <p:spPr bwMode="auto">
          <a:xfrm>
            <a:off x="1017588" y="2819400"/>
            <a:ext cx="1701800" cy="366713"/>
          </a:xfrm>
          <a:prstGeom prst="rect">
            <a:avLst/>
          </a:prstGeom>
          <a:noFill/>
          <a:ln w="25400">
            <a:noFill/>
            <a:miter lim="800000"/>
          </a:ln>
        </p:spPr>
        <p:txBody>
          <a:bodyPr>
            <a:spAutoFit/>
          </a:bodyPr>
          <a:lstStyle/>
          <a:p>
            <a:pPr algn="r" eaLnBrk="0" hangingPunct="0"/>
            <a:r>
              <a:rPr lang="en-US" sz="1800">
                <a:latin typeface="Courier New" panose="02070309020205020404" charset="0"/>
              </a:rPr>
              <a:t>int val[5];</a:t>
            </a:r>
          </a:p>
        </p:txBody>
      </p:sp>
      <p:grpSp>
        <p:nvGrpSpPr>
          <p:cNvPr id="60420" name="Group 24"/>
          <p:cNvGrpSpPr/>
          <p:nvPr/>
        </p:nvGrpSpPr>
        <p:grpSpPr bwMode="auto">
          <a:xfrm>
            <a:off x="2616200" y="2867025"/>
            <a:ext cx="5334000" cy="750888"/>
            <a:chOff x="2514600" y="3429000"/>
            <a:chExt cx="5334000" cy="771141"/>
          </a:xfrm>
        </p:grpSpPr>
        <p:grpSp>
          <p:nvGrpSpPr>
            <p:cNvPr id="60421" name="Group 25"/>
            <p:cNvGrpSpPr/>
            <p:nvPr/>
          </p:nvGrpSpPr>
          <p:grpSpPr bwMode="auto">
            <a:xfrm>
              <a:off x="2743200" y="3429000"/>
              <a:ext cx="4572000" cy="228600"/>
              <a:chOff x="1008" y="1968"/>
              <a:chExt cx="2880" cy="144"/>
            </a:xfrm>
          </p:grpSpPr>
          <p:sp>
            <p:nvSpPr>
              <p:cNvPr id="39"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40"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5</a:t>
                </a:r>
              </a:p>
            </p:txBody>
          </p:sp>
          <p:sp>
            <p:nvSpPr>
              <p:cNvPr id="41"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2</a:t>
                </a:r>
              </a:p>
            </p:txBody>
          </p:sp>
          <p:sp>
            <p:nvSpPr>
              <p:cNvPr id="42"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43"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3</a:t>
                </a:r>
              </a:p>
            </p:txBody>
          </p:sp>
        </p:grpSp>
        <p:sp>
          <p:nvSpPr>
            <p:cNvPr id="60422" name="Text Box 32"/>
            <p:cNvSpPr txBox="1">
              <a:spLocks noChangeArrowheads="1"/>
            </p:cNvSpPr>
            <p:nvPr/>
          </p:nvSpPr>
          <p:spPr bwMode="auto">
            <a:xfrm>
              <a:off x="2514600" y="3810495"/>
              <a:ext cx="396875" cy="376604"/>
            </a:xfrm>
            <a:prstGeom prst="rect">
              <a:avLst/>
            </a:prstGeom>
            <a:noFill/>
            <a:ln w="25400">
              <a:noFill/>
              <a:miter lim="800000"/>
            </a:ln>
          </p:spPr>
          <p:txBody>
            <a:bodyPr>
              <a:spAutoFit/>
            </a:bodyPr>
            <a:lstStyle/>
            <a:p>
              <a:pPr algn="ctr" eaLnBrk="0" hangingPunct="0"/>
              <a:r>
                <a:rPr lang="en-US" sz="1800" b="0" i="1">
                  <a:latin typeface="Calibri" panose="020F0502020204030204" charset="0"/>
                </a:rPr>
                <a:t>x</a:t>
              </a:r>
            </a:p>
          </p:txBody>
        </p:sp>
        <p:sp>
          <p:nvSpPr>
            <p:cNvPr id="60423" name="Text Box 33"/>
            <p:cNvSpPr txBox="1">
              <a:spLocks noChangeArrowheads="1"/>
            </p:cNvSpPr>
            <p:nvPr/>
          </p:nvSpPr>
          <p:spPr bwMode="auto">
            <a:xfrm>
              <a:off x="3182938" y="3823537"/>
              <a:ext cx="990600" cy="376604"/>
            </a:xfrm>
            <a:prstGeom prst="rect">
              <a:avLst/>
            </a:prstGeom>
            <a:noFill/>
            <a:ln w="25400">
              <a:noFill/>
              <a:miter lim="800000"/>
            </a:ln>
          </p:spPr>
          <p:txBody>
            <a:bodyPr>
              <a:spAutoFit/>
            </a:bodyPr>
            <a:lstStyle/>
            <a:p>
              <a:pPr algn="ctr" eaLnBrk="0" hangingPunct="0"/>
              <a:r>
                <a:rPr lang="en-US" sz="1800" b="0" i="1">
                  <a:latin typeface="Calibri" panose="020F0502020204030204" charset="0"/>
                </a:rPr>
                <a:t>x </a:t>
              </a:r>
              <a:r>
                <a:rPr lang="en-US" sz="1800" b="0">
                  <a:latin typeface="Calibri" panose="020F0502020204030204" charset="0"/>
                </a:rPr>
                <a:t>+ 4</a:t>
              </a:r>
              <a:endParaRPr lang="en-US" sz="1800" b="0" i="1">
                <a:latin typeface="Calibri" panose="020F0502020204030204" charset="0"/>
              </a:endParaRPr>
            </a:p>
          </p:txBody>
        </p:sp>
        <p:sp>
          <p:nvSpPr>
            <p:cNvPr id="60424"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60425"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0426" name="Text Box 36"/>
            <p:cNvSpPr txBox="1">
              <a:spLocks noChangeArrowheads="1"/>
            </p:cNvSpPr>
            <p:nvPr/>
          </p:nvSpPr>
          <p:spPr bwMode="auto">
            <a:xfrm>
              <a:off x="4097338" y="3823537"/>
              <a:ext cx="990600" cy="376604"/>
            </a:xfrm>
            <a:prstGeom prst="rect">
              <a:avLst/>
            </a:prstGeom>
            <a:noFill/>
            <a:ln w="25400">
              <a:noFill/>
              <a:miter lim="800000"/>
            </a:ln>
          </p:spPr>
          <p:txBody>
            <a:bodyPr>
              <a:spAutoFit/>
            </a:bodyPr>
            <a:lstStyle/>
            <a:p>
              <a:pPr algn="ctr" eaLnBrk="0" hangingPunct="0"/>
              <a:r>
                <a:rPr lang="en-US" sz="1800" b="0" i="1">
                  <a:latin typeface="Calibri" panose="020F0502020204030204" charset="0"/>
                </a:rPr>
                <a:t>x </a:t>
              </a:r>
              <a:r>
                <a:rPr lang="en-US" sz="1800" b="0">
                  <a:latin typeface="Calibri" panose="020F0502020204030204" charset="0"/>
                </a:rPr>
                <a:t>+ 8</a:t>
              </a:r>
              <a:endParaRPr lang="en-US" sz="1800" b="0" i="1">
                <a:latin typeface="Calibri" panose="020F0502020204030204" charset="0"/>
              </a:endParaRPr>
            </a:p>
          </p:txBody>
        </p:sp>
        <p:sp>
          <p:nvSpPr>
            <p:cNvPr id="60427"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0428" name="Text Box 38"/>
            <p:cNvSpPr txBox="1">
              <a:spLocks noChangeArrowheads="1"/>
            </p:cNvSpPr>
            <p:nvPr/>
          </p:nvSpPr>
          <p:spPr bwMode="auto">
            <a:xfrm>
              <a:off x="5029200" y="3823537"/>
              <a:ext cx="990600" cy="376604"/>
            </a:xfrm>
            <a:prstGeom prst="rect">
              <a:avLst/>
            </a:prstGeom>
            <a:noFill/>
            <a:ln w="25400">
              <a:noFill/>
              <a:miter lim="800000"/>
            </a:ln>
          </p:spPr>
          <p:txBody>
            <a:bodyPr>
              <a:spAutoFit/>
            </a:bodyPr>
            <a:lstStyle/>
            <a:p>
              <a:pPr algn="ctr" eaLnBrk="0" hangingPunct="0"/>
              <a:r>
                <a:rPr lang="en-US" sz="1800" b="0" i="1">
                  <a:latin typeface="Calibri" panose="020F0502020204030204" charset="0"/>
                </a:rPr>
                <a:t>x </a:t>
              </a:r>
              <a:r>
                <a:rPr lang="en-US" sz="1800" b="0">
                  <a:latin typeface="Calibri" panose="020F0502020204030204" charset="0"/>
                </a:rPr>
                <a:t>+ 12</a:t>
              </a:r>
              <a:endParaRPr lang="en-US" sz="1800" b="0" i="1">
                <a:latin typeface="Calibri" panose="020F0502020204030204" charset="0"/>
              </a:endParaRPr>
            </a:p>
          </p:txBody>
        </p:sp>
        <p:sp>
          <p:nvSpPr>
            <p:cNvPr id="60429"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0430" name="Text Box 40"/>
            <p:cNvSpPr txBox="1">
              <a:spLocks noChangeArrowheads="1"/>
            </p:cNvSpPr>
            <p:nvPr/>
          </p:nvSpPr>
          <p:spPr bwMode="auto">
            <a:xfrm>
              <a:off x="5943600" y="3823537"/>
              <a:ext cx="990600" cy="376604"/>
            </a:xfrm>
            <a:prstGeom prst="rect">
              <a:avLst/>
            </a:prstGeom>
            <a:noFill/>
            <a:ln w="25400">
              <a:noFill/>
              <a:miter lim="800000"/>
            </a:ln>
          </p:spPr>
          <p:txBody>
            <a:bodyPr>
              <a:spAutoFit/>
            </a:bodyPr>
            <a:lstStyle/>
            <a:p>
              <a:pPr algn="ctr" eaLnBrk="0" hangingPunct="0"/>
              <a:r>
                <a:rPr lang="en-US" sz="1800" b="0" i="1">
                  <a:latin typeface="Calibri" panose="020F0502020204030204" charset="0"/>
                </a:rPr>
                <a:t>x </a:t>
              </a:r>
              <a:r>
                <a:rPr lang="en-US" sz="1800" b="0">
                  <a:latin typeface="Calibri" panose="020F0502020204030204" charset="0"/>
                </a:rPr>
                <a:t>+ 16</a:t>
              </a:r>
              <a:endParaRPr lang="en-US" sz="1800" b="0" i="1">
                <a:latin typeface="Calibri" panose="020F0502020204030204" charset="0"/>
              </a:endParaRPr>
            </a:p>
          </p:txBody>
        </p:sp>
        <p:sp>
          <p:nvSpPr>
            <p:cNvPr id="60431"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0432" name="Text Box 42"/>
            <p:cNvSpPr txBox="1">
              <a:spLocks noChangeArrowheads="1"/>
            </p:cNvSpPr>
            <p:nvPr/>
          </p:nvSpPr>
          <p:spPr bwMode="auto">
            <a:xfrm>
              <a:off x="6858000" y="3823537"/>
              <a:ext cx="990600" cy="376604"/>
            </a:xfrm>
            <a:prstGeom prst="rect">
              <a:avLst/>
            </a:prstGeom>
            <a:noFill/>
            <a:ln w="25400">
              <a:noFill/>
              <a:miter lim="800000"/>
            </a:ln>
          </p:spPr>
          <p:txBody>
            <a:bodyPr>
              <a:spAutoFit/>
            </a:bodyPr>
            <a:lstStyle/>
            <a:p>
              <a:pPr algn="ctr" eaLnBrk="0" hangingPunct="0"/>
              <a:r>
                <a:rPr lang="en-US" sz="1800" b="0" i="1">
                  <a:latin typeface="Calibri" panose="020F0502020204030204" charset="0"/>
                </a:rPr>
                <a:t>x </a:t>
              </a:r>
              <a:r>
                <a:rPr lang="en-US" sz="1800" b="0">
                  <a:latin typeface="Calibri" panose="020F0502020204030204" charset="0"/>
                </a:rPr>
                <a:t>+ 20</a:t>
              </a:r>
              <a:endParaRPr lang="en-US" sz="1800" b="0" i="1">
                <a:latin typeface="Calibri" panose="020F0502020204030204" charset="0"/>
              </a:endParaRPr>
            </a:p>
          </p:txBody>
        </p:sp>
        <p:sp>
          <p:nvSpPr>
            <p:cNvPr id="60433"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60418" name="Rectangle 3"/>
          <p:cNvSpPr>
            <a:spLocks noGrp="1" noChangeArrowheads="1"/>
          </p:cNvSpPr>
          <p:nvPr/>
        </p:nvSpPr>
        <p:spPr>
          <a:xfrm>
            <a:off x="165100" y="3345815"/>
            <a:ext cx="4958080" cy="322770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0" indent="0" defTabSz="895350">
              <a:buNone/>
              <a:tabLst>
                <a:tab pos="1943100" algn="l"/>
                <a:tab pos="3660775" algn="l"/>
              </a:tabLst>
            </a:pPr>
            <a:endParaRPr lang="en-US" dirty="0">
              <a:latin typeface="Calibri" panose="020F0502020204030204" charset="0"/>
            </a:endParaRPr>
          </a:p>
          <a:p>
            <a:pPr marL="224155" indent="-224155" defTabSz="895350">
              <a:buClr>
                <a:srgbClr val="0D0D0D"/>
              </a:buClr>
              <a:tabLst>
                <a:tab pos="1943100" algn="l"/>
                <a:tab pos="3660775" algn="l"/>
              </a:tabLst>
            </a:pPr>
            <a:r>
              <a:rPr lang="zh-CN" altLang="en-US" dirty="0">
                <a:latin typeface="Calibri" panose="020F0502020204030204" charset="0"/>
                <a:ea typeface="宋体" panose="02010600030101010101" pitchFamily="2" charset="-122"/>
              </a:rPr>
              <a:t>引用</a:t>
            </a:r>
            <a:r>
              <a:rPr lang="en-US" dirty="0">
                <a:latin typeface="Calibri" panose="020F0502020204030204" charset="0"/>
              </a:rPr>
              <a:t>	</a:t>
            </a:r>
            <a:r>
              <a:rPr lang="zh-CN" altLang="en-US" dirty="0">
                <a:latin typeface="Calibri" panose="020F0502020204030204" charset="0"/>
                <a:ea typeface="宋体" panose="02010600030101010101" pitchFamily="2" charset="-122"/>
              </a:rPr>
              <a:t>类型</a:t>
            </a:r>
            <a:r>
              <a:rPr lang="en-US" dirty="0">
                <a:latin typeface="Calibri" panose="020F0502020204030204" charset="0"/>
              </a:rPr>
              <a:t>	</a:t>
            </a:r>
            <a:r>
              <a:rPr lang="zh-CN" altLang="en-US" dirty="0">
                <a:latin typeface="Calibri" panose="020F0502020204030204" charset="0"/>
                <a:ea typeface="宋体" panose="02010600030101010101" pitchFamily="2" charset="-122"/>
              </a:rPr>
              <a:t>值</a:t>
            </a:r>
          </a:p>
          <a:p>
            <a:pPr marL="560705" lvl="1" indent="-222250" defTabSz="895350">
              <a:buFont typeface="Wingdings" panose="05000000000000000000" pitchFamily="2" charset="2"/>
              <a:buNone/>
              <a:tabLst>
                <a:tab pos="1943100" algn="l"/>
                <a:tab pos="3660775" algn="l"/>
              </a:tabLst>
            </a:pPr>
            <a:r>
              <a:rPr lang="en-US" sz="1800" b="1" dirty="0" err="1">
                <a:latin typeface="Courier New" panose="02070309020205020404" charset="0"/>
              </a:rPr>
              <a:t>val</a:t>
            </a:r>
            <a:r>
              <a:rPr lang="en-US" sz="1800" b="1" dirty="0">
                <a:latin typeface="Courier New" panose="02070309020205020404" charset="0"/>
              </a:rPr>
              <a:t>[4]	</a:t>
            </a:r>
            <a:r>
              <a:rPr lang="en-US" sz="1800" b="1" dirty="0" err="1">
                <a:latin typeface="Courier New" panose="02070309020205020404" charset="0"/>
              </a:rPr>
              <a:t>int</a:t>
            </a:r>
            <a:r>
              <a:rPr lang="en-US" sz="1800" b="1" dirty="0">
                <a:latin typeface="Courier New" panose="02070309020205020404" charset="0"/>
              </a:rPr>
              <a:t>	</a:t>
            </a:r>
            <a:r>
              <a:rPr lang="en-US" sz="1800" dirty="0">
                <a:latin typeface="Calibri" panose="020F0502020204030204" charset="0"/>
              </a:rPr>
              <a:t>3</a:t>
            </a:r>
          </a:p>
          <a:p>
            <a:pPr marL="560705" lvl="1" indent="-222250" defTabSz="895350">
              <a:buFont typeface="Wingdings" panose="05000000000000000000" pitchFamily="2" charset="2"/>
              <a:buNone/>
              <a:tabLst>
                <a:tab pos="1943100" algn="l"/>
                <a:tab pos="3660775" algn="l"/>
              </a:tabLst>
            </a:pPr>
            <a:r>
              <a:rPr lang="en-US" sz="1800" b="1" dirty="0" err="1">
                <a:latin typeface="Courier New" panose="02070309020205020404" charset="0"/>
              </a:rPr>
              <a:t>val</a:t>
            </a:r>
            <a:r>
              <a:rPr lang="en-US" sz="1800" b="1" dirty="0">
                <a:latin typeface="Courier New" panose="02070309020205020404" charset="0"/>
              </a:rPr>
              <a:t>	</a:t>
            </a:r>
            <a:r>
              <a:rPr lang="en-US" sz="1800" b="1" dirty="0" err="1">
                <a:latin typeface="Courier New" panose="02070309020205020404" charset="0"/>
              </a:rPr>
              <a:t>int</a:t>
            </a:r>
            <a:r>
              <a:rPr lang="en-US" sz="1800" b="1" dirty="0">
                <a:latin typeface="Courier New" panose="02070309020205020404" charset="0"/>
              </a:rPr>
              <a:t> *	</a:t>
            </a:r>
            <a:r>
              <a:rPr lang="en-US" sz="1800" i="1" dirty="0">
                <a:latin typeface="Calibri" panose="020F0502020204030204" charset="0"/>
              </a:rPr>
              <a:t>x</a:t>
            </a:r>
            <a:endParaRPr lang="en-US" sz="1800" dirty="0">
              <a:latin typeface="Calibri" panose="020F0502020204030204" charset="0"/>
            </a:endParaRPr>
          </a:p>
          <a:p>
            <a:pPr marL="560705" lvl="1" indent="-222250" defTabSz="895350">
              <a:buFont typeface="Wingdings" panose="05000000000000000000" pitchFamily="2" charset="2"/>
              <a:buNone/>
              <a:tabLst>
                <a:tab pos="1943100" algn="l"/>
                <a:tab pos="3660775" algn="l"/>
              </a:tabLst>
            </a:pPr>
            <a:r>
              <a:rPr lang="en-US" sz="1800" b="1" dirty="0">
                <a:latin typeface="Courier New" panose="02070309020205020404" charset="0"/>
              </a:rPr>
              <a:t>val+1</a:t>
            </a:r>
            <a:r>
              <a:rPr lang="en-US" sz="1800" b="1" dirty="0">
                <a:latin typeface="Calibri" panose="020F0502020204030204" charset="0"/>
              </a:rPr>
              <a:t>	</a:t>
            </a:r>
            <a:r>
              <a:rPr lang="en-US" sz="1800" b="1" dirty="0" err="1">
                <a:latin typeface="Courier New" panose="02070309020205020404" charset="0"/>
              </a:rPr>
              <a:t>int</a:t>
            </a:r>
            <a:r>
              <a:rPr lang="en-US" sz="1800" b="1" dirty="0">
                <a:latin typeface="Courier New" panose="02070309020205020404" charset="0"/>
              </a:rPr>
              <a:t> *	</a:t>
            </a:r>
            <a:r>
              <a:rPr lang="en-US" sz="1800" i="1" dirty="0">
                <a:latin typeface="Calibri" panose="020F0502020204030204" charset="0"/>
              </a:rPr>
              <a:t>x</a:t>
            </a:r>
            <a:r>
              <a:rPr lang="en-US" sz="1800" dirty="0">
                <a:latin typeface="Calibri" panose="020F0502020204030204" charset="0"/>
              </a:rPr>
              <a:t> + 4</a:t>
            </a:r>
          </a:p>
          <a:p>
            <a:pPr marL="560705" lvl="1" indent="-222250" defTabSz="895350">
              <a:buFont typeface="Wingdings" panose="05000000000000000000" pitchFamily="2" charset="2"/>
              <a:buNone/>
              <a:tabLst>
                <a:tab pos="1943100" algn="l"/>
                <a:tab pos="3660775" algn="l"/>
              </a:tabLst>
            </a:pPr>
            <a:r>
              <a:rPr lang="en-US" sz="1800" b="1" dirty="0">
                <a:latin typeface="Courier New" panose="02070309020205020404" charset="0"/>
              </a:rPr>
              <a:t>&amp;</a:t>
            </a:r>
            <a:r>
              <a:rPr lang="en-US" sz="1800" b="1" dirty="0" err="1">
                <a:latin typeface="Courier New" panose="02070309020205020404" charset="0"/>
              </a:rPr>
              <a:t>val</a:t>
            </a:r>
            <a:r>
              <a:rPr lang="en-US" sz="1800" b="1" dirty="0">
                <a:latin typeface="Courier New" panose="02070309020205020404" charset="0"/>
              </a:rPr>
              <a:t>[2]</a:t>
            </a:r>
            <a:r>
              <a:rPr lang="en-US" sz="1800" b="1" dirty="0">
                <a:latin typeface="Calibri" panose="020F0502020204030204" charset="0"/>
              </a:rPr>
              <a:t>	</a:t>
            </a:r>
            <a:r>
              <a:rPr lang="en-US" sz="1800" b="1" dirty="0" err="1">
                <a:latin typeface="Courier New" panose="02070309020205020404" charset="0"/>
              </a:rPr>
              <a:t>int</a:t>
            </a:r>
            <a:r>
              <a:rPr lang="en-US" sz="1800" b="1" dirty="0">
                <a:latin typeface="Courier New" panose="02070309020205020404" charset="0"/>
              </a:rPr>
              <a:t> *	</a:t>
            </a:r>
            <a:r>
              <a:rPr lang="en-US" sz="1800" i="1" dirty="0">
                <a:latin typeface="Calibri" panose="020F0502020204030204" charset="0"/>
              </a:rPr>
              <a:t>x</a:t>
            </a:r>
            <a:r>
              <a:rPr lang="en-US" sz="1800" dirty="0">
                <a:latin typeface="Calibri" panose="020F0502020204030204" charset="0"/>
              </a:rPr>
              <a:t> + 8</a:t>
            </a:r>
          </a:p>
          <a:p>
            <a:pPr marL="560705" lvl="1" indent="-222250" defTabSz="895350">
              <a:buFont typeface="Wingdings" panose="05000000000000000000" pitchFamily="2" charset="2"/>
              <a:buNone/>
              <a:tabLst>
                <a:tab pos="1943100" algn="l"/>
                <a:tab pos="3660775" algn="l"/>
              </a:tabLst>
            </a:pPr>
            <a:r>
              <a:rPr lang="en-US" sz="1800" b="1" dirty="0" err="1">
                <a:latin typeface="Courier New" panose="02070309020205020404" charset="0"/>
              </a:rPr>
              <a:t>val</a:t>
            </a:r>
            <a:r>
              <a:rPr lang="en-US" sz="1800" b="1" dirty="0">
                <a:latin typeface="Courier New" panose="02070309020205020404" charset="0"/>
              </a:rPr>
              <a:t>[5]</a:t>
            </a:r>
            <a:r>
              <a:rPr lang="en-US" sz="1800" b="1" dirty="0">
                <a:latin typeface="Calibri" panose="020F0502020204030204" charset="0"/>
              </a:rPr>
              <a:t>	</a:t>
            </a:r>
            <a:r>
              <a:rPr lang="en-US" sz="1800" b="1" dirty="0" err="1">
                <a:latin typeface="Courier New" panose="02070309020205020404" charset="0"/>
              </a:rPr>
              <a:t>int</a:t>
            </a:r>
            <a:r>
              <a:rPr lang="en-US" sz="1800" b="1" dirty="0">
                <a:latin typeface="Courier New" panose="02070309020205020404" charset="0"/>
              </a:rPr>
              <a:t>	</a:t>
            </a:r>
            <a:r>
              <a:rPr lang="en-US" sz="1800" dirty="0">
                <a:latin typeface="Calibri" panose="020F0502020204030204" charset="0"/>
              </a:rPr>
              <a:t>??</a:t>
            </a:r>
          </a:p>
          <a:p>
            <a:pPr marL="560705" lvl="1" indent="-222250" defTabSz="895350">
              <a:buFont typeface="Wingdings" panose="05000000000000000000" pitchFamily="2" charset="2"/>
              <a:buNone/>
              <a:tabLst>
                <a:tab pos="1943100" algn="l"/>
                <a:tab pos="3660775" algn="l"/>
              </a:tabLst>
            </a:pPr>
            <a:r>
              <a:rPr lang="en-US" sz="1800" b="1" dirty="0">
                <a:latin typeface="Courier New" panose="02070309020205020404" charset="0"/>
              </a:rPr>
              <a:t>*(val+1)</a:t>
            </a:r>
            <a:r>
              <a:rPr lang="en-US" sz="1800" b="1" dirty="0">
                <a:latin typeface="Calibri" panose="020F0502020204030204" charset="0"/>
              </a:rPr>
              <a:t>	</a:t>
            </a:r>
            <a:r>
              <a:rPr lang="en-US" sz="1800" b="1" dirty="0" err="1">
                <a:latin typeface="Courier New" panose="02070309020205020404" charset="0"/>
              </a:rPr>
              <a:t>int</a:t>
            </a:r>
            <a:r>
              <a:rPr lang="en-US" sz="1800" b="1" dirty="0">
                <a:latin typeface="Courier New" panose="02070309020205020404" charset="0"/>
              </a:rPr>
              <a:t>	</a:t>
            </a:r>
            <a:r>
              <a:rPr lang="en-US" sz="1800" dirty="0">
                <a:latin typeface="Calibri" panose="020F0502020204030204" charset="0"/>
              </a:rPr>
              <a:t>5</a:t>
            </a:r>
          </a:p>
          <a:p>
            <a:pPr marL="560705" lvl="1" indent="-222250" defTabSz="895350">
              <a:buFont typeface="Wingdings" panose="05000000000000000000" pitchFamily="2" charset="2"/>
              <a:buNone/>
              <a:tabLst>
                <a:tab pos="1943100" algn="l"/>
                <a:tab pos="3660775" algn="l"/>
              </a:tabLst>
            </a:pPr>
            <a:r>
              <a:rPr lang="en-US" sz="1800" b="1" dirty="0" err="1">
                <a:latin typeface="Courier New" panose="02070309020205020404" charset="0"/>
              </a:rPr>
              <a:t>val</a:t>
            </a:r>
            <a:r>
              <a:rPr lang="en-US" sz="1800" b="1" dirty="0">
                <a:latin typeface="Courier New" panose="02070309020205020404" charset="0"/>
              </a:rPr>
              <a:t> + </a:t>
            </a:r>
            <a:r>
              <a:rPr lang="en-US" sz="1800" b="1" i="1" dirty="0" err="1">
                <a:latin typeface="Calibri" panose="020F0502020204030204" charset="0"/>
              </a:rPr>
              <a:t>i</a:t>
            </a:r>
            <a:r>
              <a:rPr lang="en-US" sz="1800" b="1" dirty="0">
                <a:latin typeface="Calibri" panose="020F0502020204030204" charset="0"/>
              </a:rPr>
              <a:t>	</a:t>
            </a:r>
            <a:r>
              <a:rPr lang="en-US" sz="1800" b="1" dirty="0" err="1">
                <a:latin typeface="Courier New" panose="02070309020205020404" charset="0"/>
              </a:rPr>
              <a:t>int</a:t>
            </a:r>
            <a:r>
              <a:rPr lang="en-US" sz="1800" b="1" dirty="0">
                <a:latin typeface="Courier New" panose="02070309020205020404" charset="0"/>
              </a:rPr>
              <a:t> *	</a:t>
            </a:r>
            <a:r>
              <a:rPr lang="en-US" sz="1800" i="1" dirty="0">
                <a:latin typeface="Calibri" panose="020F0502020204030204" charset="0"/>
              </a:rPr>
              <a:t>x </a:t>
            </a:r>
            <a:r>
              <a:rPr lang="en-US" sz="1800" dirty="0">
                <a:latin typeface="Calibri" panose="020F0502020204030204" charset="0"/>
              </a:rPr>
              <a:t>+ 4</a:t>
            </a:r>
            <a:r>
              <a:rPr lang="en-US" sz="1800" i="1" dirty="0">
                <a:latin typeface="Calibri" panose="020F0502020204030204" charset="0"/>
              </a:rPr>
              <a:t> </a:t>
            </a:r>
            <a:r>
              <a:rPr lang="en-US" sz="1800" i="1" dirty="0" err="1">
                <a:latin typeface="Calibri" panose="020F0502020204030204" charset="0"/>
              </a:rPr>
              <a:t>i</a:t>
            </a:r>
            <a:endParaRPr lang="en-US" sz="1800" i="1"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1059">
                                            <p:txEl>
                                              <p:pRg st="1" end="1"/>
                                            </p:txEl>
                                          </p:spTgt>
                                        </p:tgtEl>
                                        <p:attrNameLst>
                                          <p:attrName>style.visibility</p:attrName>
                                        </p:attrNameLst>
                                      </p:cBhvr>
                                      <p:to>
                                        <p:strVal val="visible"/>
                                      </p:to>
                                    </p:set>
                                    <p:animEffect transition="in" filter="wipe(down)">
                                      <p:cBhvr>
                                        <p:cTn id="7" dur="500"/>
                                        <p:tgtEl>
                                          <p:spTgt spid="30105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01059">
                                            <p:txEl>
                                              <p:pRg st="2" end="2"/>
                                            </p:txEl>
                                          </p:spTgt>
                                        </p:tgtEl>
                                        <p:attrNameLst>
                                          <p:attrName>style.visibility</p:attrName>
                                        </p:attrNameLst>
                                      </p:cBhvr>
                                      <p:to>
                                        <p:strVal val="visible"/>
                                      </p:to>
                                    </p:set>
                                    <p:animEffect transition="in" filter="wipe(down)">
                                      <p:cBhvr>
                                        <p:cTn id="10" dur="500"/>
                                        <p:tgtEl>
                                          <p:spTgt spid="301059">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01059">
                                            <p:txEl>
                                              <p:pRg st="3" end="3"/>
                                            </p:txEl>
                                          </p:spTgt>
                                        </p:tgtEl>
                                        <p:attrNameLst>
                                          <p:attrName>style.visibility</p:attrName>
                                        </p:attrNameLst>
                                      </p:cBhvr>
                                      <p:to>
                                        <p:strVal val="visible"/>
                                      </p:to>
                                    </p:set>
                                    <p:animEffect transition="in" filter="wipe(down)">
                                      <p:cBhvr>
                                        <p:cTn id="13" dur="500"/>
                                        <p:tgtEl>
                                          <p:spTgt spid="301059">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0419"/>
                                        </p:tgtEl>
                                        <p:attrNameLst>
                                          <p:attrName>style.visibility</p:attrName>
                                        </p:attrNameLst>
                                      </p:cBhvr>
                                      <p:to>
                                        <p:strVal val="visible"/>
                                      </p:to>
                                    </p:set>
                                    <p:animEffect transition="in" filter="wipe(down)">
                                      <p:cBhvr>
                                        <p:cTn id="18" dur="500"/>
                                        <p:tgtEl>
                                          <p:spTgt spid="60419"/>
                                        </p:tgtEl>
                                      </p:cBhvr>
                                    </p:animEffect>
                                  </p:childTnLst>
                                </p:cTn>
                              </p:par>
                              <p:par>
                                <p:cTn id="19" presetID="22" presetClass="entr" presetSubtype="4" fill="hold" nodeType="withEffect">
                                  <p:stCondLst>
                                    <p:cond delay="0"/>
                                  </p:stCondLst>
                                  <p:childTnLst>
                                    <p:set>
                                      <p:cBhvr>
                                        <p:cTn id="20" dur="1" fill="hold">
                                          <p:stCondLst>
                                            <p:cond delay="0"/>
                                          </p:stCondLst>
                                        </p:cTn>
                                        <p:tgtEl>
                                          <p:spTgt spid="60420"/>
                                        </p:tgtEl>
                                        <p:attrNameLst>
                                          <p:attrName>style.visibility</p:attrName>
                                        </p:attrNameLst>
                                      </p:cBhvr>
                                      <p:to>
                                        <p:strVal val="visible"/>
                                      </p:to>
                                    </p:set>
                                    <p:animEffect transition="in" filter="wipe(down)">
                                      <p:cBhvr>
                                        <p:cTn id="21" dur="500"/>
                                        <p:tgtEl>
                                          <p:spTgt spid="6042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60418">
                                            <p:txEl>
                                              <p:pRg st="1" end="1"/>
                                            </p:txEl>
                                          </p:spTgt>
                                        </p:tgtEl>
                                        <p:attrNameLst>
                                          <p:attrName>style.visibility</p:attrName>
                                        </p:attrNameLst>
                                      </p:cBhvr>
                                      <p:to>
                                        <p:strVal val="visible"/>
                                      </p:to>
                                    </p:set>
                                    <p:animEffect transition="in" filter="wipe(down)">
                                      <p:cBhvr>
                                        <p:cTn id="26" dur="500"/>
                                        <p:tgtEl>
                                          <p:spTgt spid="60418">
                                            <p:txEl>
                                              <p:pRg st="1" end="1"/>
                                            </p:txEl>
                                          </p:spTgt>
                                        </p:tgtEl>
                                      </p:cBhvr>
                                    </p:animEffect>
                                  </p:childTnLst>
                                </p:cTn>
                              </p:par>
                              <p:par>
                                <p:cTn id="27" presetID="22" presetClass="entr" presetSubtype="4" fill="hold" nodeType="withEffect">
                                  <p:stCondLst>
                                    <p:cond delay="0"/>
                                  </p:stCondLst>
                                  <p:childTnLst>
                                    <p:set>
                                      <p:cBhvr>
                                        <p:cTn id="28" dur="1" fill="hold">
                                          <p:stCondLst>
                                            <p:cond delay="0"/>
                                          </p:stCondLst>
                                        </p:cTn>
                                        <p:tgtEl>
                                          <p:spTgt spid="60418">
                                            <p:txEl>
                                              <p:pRg st="2" end="2"/>
                                            </p:txEl>
                                          </p:spTgt>
                                        </p:tgtEl>
                                        <p:attrNameLst>
                                          <p:attrName>style.visibility</p:attrName>
                                        </p:attrNameLst>
                                      </p:cBhvr>
                                      <p:to>
                                        <p:strVal val="visible"/>
                                      </p:to>
                                    </p:set>
                                    <p:animEffect transition="in" filter="wipe(down)">
                                      <p:cBhvr>
                                        <p:cTn id="29" dur="500"/>
                                        <p:tgtEl>
                                          <p:spTgt spid="60418">
                                            <p:txEl>
                                              <p:pRg st="2" end="2"/>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60418">
                                            <p:txEl>
                                              <p:pRg st="3" end="3"/>
                                            </p:txEl>
                                          </p:spTgt>
                                        </p:tgtEl>
                                        <p:attrNameLst>
                                          <p:attrName>style.visibility</p:attrName>
                                        </p:attrNameLst>
                                      </p:cBhvr>
                                      <p:to>
                                        <p:strVal val="visible"/>
                                      </p:to>
                                    </p:set>
                                    <p:animEffect transition="in" filter="wipe(down)">
                                      <p:cBhvr>
                                        <p:cTn id="32" dur="500"/>
                                        <p:tgtEl>
                                          <p:spTgt spid="60418">
                                            <p:txEl>
                                              <p:pRg st="3" end="3"/>
                                            </p:txEl>
                                          </p:spTgt>
                                        </p:tgtEl>
                                      </p:cBhvr>
                                    </p:animEffect>
                                  </p:childTnLst>
                                </p:cTn>
                              </p:par>
                              <p:par>
                                <p:cTn id="33" presetID="22" presetClass="entr" presetSubtype="4" fill="hold" nodeType="withEffect">
                                  <p:stCondLst>
                                    <p:cond delay="0"/>
                                  </p:stCondLst>
                                  <p:childTnLst>
                                    <p:set>
                                      <p:cBhvr>
                                        <p:cTn id="34" dur="1" fill="hold">
                                          <p:stCondLst>
                                            <p:cond delay="0"/>
                                          </p:stCondLst>
                                        </p:cTn>
                                        <p:tgtEl>
                                          <p:spTgt spid="60418">
                                            <p:txEl>
                                              <p:pRg st="4" end="4"/>
                                            </p:txEl>
                                          </p:spTgt>
                                        </p:tgtEl>
                                        <p:attrNameLst>
                                          <p:attrName>style.visibility</p:attrName>
                                        </p:attrNameLst>
                                      </p:cBhvr>
                                      <p:to>
                                        <p:strVal val="visible"/>
                                      </p:to>
                                    </p:set>
                                    <p:animEffect transition="in" filter="wipe(down)">
                                      <p:cBhvr>
                                        <p:cTn id="35" dur="500"/>
                                        <p:tgtEl>
                                          <p:spTgt spid="60418">
                                            <p:txEl>
                                              <p:pRg st="4" end="4"/>
                                            </p:txEl>
                                          </p:spTgt>
                                        </p:tgtEl>
                                      </p:cBhvr>
                                    </p:animEffect>
                                  </p:childTnLst>
                                </p:cTn>
                              </p:par>
                              <p:par>
                                <p:cTn id="36" presetID="22" presetClass="entr" presetSubtype="4" fill="hold" nodeType="withEffect">
                                  <p:stCondLst>
                                    <p:cond delay="0"/>
                                  </p:stCondLst>
                                  <p:childTnLst>
                                    <p:set>
                                      <p:cBhvr>
                                        <p:cTn id="37" dur="1" fill="hold">
                                          <p:stCondLst>
                                            <p:cond delay="0"/>
                                          </p:stCondLst>
                                        </p:cTn>
                                        <p:tgtEl>
                                          <p:spTgt spid="60418">
                                            <p:txEl>
                                              <p:pRg st="5" end="5"/>
                                            </p:txEl>
                                          </p:spTgt>
                                        </p:tgtEl>
                                        <p:attrNameLst>
                                          <p:attrName>style.visibility</p:attrName>
                                        </p:attrNameLst>
                                      </p:cBhvr>
                                      <p:to>
                                        <p:strVal val="visible"/>
                                      </p:to>
                                    </p:set>
                                    <p:animEffect transition="in" filter="wipe(down)">
                                      <p:cBhvr>
                                        <p:cTn id="38" dur="500"/>
                                        <p:tgtEl>
                                          <p:spTgt spid="60418">
                                            <p:txEl>
                                              <p:pRg st="5" end="5"/>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60418">
                                            <p:txEl>
                                              <p:pRg st="6" end="6"/>
                                            </p:txEl>
                                          </p:spTgt>
                                        </p:tgtEl>
                                        <p:attrNameLst>
                                          <p:attrName>style.visibility</p:attrName>
                                        </p:attrNameLst>
                                      </p:cBhvr>
                                      <p:to>
                                        <p:strVal val="visible"/>
                                      </p:to>
                                    </p:set>
                                    <p:animEffect transition="in" filter="wipe(down)">
                                      <p:cBhvr>
                                        <p:cTn id="41" dur="500"/>
                                        <p:tgtEl>
                                          <p:spTgt spid="60418">
                                            <p:txEl>
                                              <p:pRg st="6" end="6"/>
                                            </p:txEl>
                                          </p:spTgt>
                                        </p:tgtEl>
                                      </p:cBhvr>
                                    </p:animEffect>
                                  </p:childTnLst>
                                </p:cTn>
                              </p:par>
                              <p:par>
                                <p:cTn id="42" presetID="22" presetClass="entr" presetSubtype="4" fill="hold" nodeType="withEffect">
                                  <p:stCondLst>
                                    <p:cond delay="0"/>
                                  </p:stCondLst>
                                  <p:childTnLst>
                                    <p:set>
                                      <p:cBhvr>
                                        <p:cTn id="43" dur="1" fill="hold">
                                          <p:stCondLst>
                                            <p:cond delay="0"/>
                                          </p:stCondLst>
                                        </p:cTn>
                                        <p:tgtEl>
                                          <p:spTgt spid="60418">
                                            <p:txEl>
                                              <p:pRg st="7" end="7"/>
                                            </p:txEl>
                                          </p:spTgt>
                                        </p:tgtEl>
                                        <p:attrNameLst>
                                          <p:attrName>style.visibility</p:attrName>
                                        </p:attrNameLst>
                                      </p:cBhvr>
                                      <p:to>
                                        <p:strVal val="visible"/>
                                      </p:to>
                                    </p:set>
                                    <p:animEffect transition="in" filter="wipe(down)">
                                      <p:cBhvr>
                                        <p:cTn id="44" dur="500"/>
                                        <p:tgtEl>
                                          <p:spTgt spid="60418">
                                            <p:txEl>
                                              <p:pRg st="7" end="7"/>
                                            </p:txEl>
                                          </p:spTgt>
                                        </p:tgtEl>
                                      </p:cBhvr>
                                    </p:animEffect>
                                  </p:childTnLst>
                                </p:cTn>
                              </p:par>
                              <p:par>
                                <p:cTn id="45" presetID="22" presetClass="entr" presetSubtype="4" fill="hold" nodeType="withEffect">
                                  <p:stCondLst>
                                    <p:cond delay="0"/>
                                  </p:stCondLst>
                                  <p:childTnLst>
                                    <p:set>
                                      <p:cBhvr>
                                        <p:cTn id="46" dur="1" fill="hold">
                                          <p:stCondLst>
                                            <p:cond delay="0"/>
                                          </p:stCondLst>
                                        </p:cTn>
                                        <p:tgtEl>
                                          <p:spTgt spid="60418">
                                            <p:txEl>
                                              <p:pRg st="8" end="8"/>
                                            </p:txEl>
                                          </p:spTgt>
                                        </p:tgtEl>
                                        <p:attrNameLst>
                                          <p:attrName>style.visibility</p:attrName>
                                        </p:attrNameLst>
                                      </p:cBhvr>
                                      <p:to>
                                        <p:strVal val="visible"/>
                                      </p:to>
                                    </p:set>
                                    <p:animEffect transition="in" filter="wipe(down)">
                                      <p:cBhvr>
                                        <p:cTn id="47" dur="500"/>
                                        <p:tgtEl>
                                          <p:spTgt spid="6041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p:bld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35610"/>
            <a:ext cx="4275455" cy="605155"/>
          </a:xfrm>
          <a:prstGeom prst="chevron">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ym typeface="+mn-ea"/>
              </a:rPr>
              <a:t>ASM</a:t>
            </a:r>
            <a:r>
              <a:rPr lang="zh-CN" altLang="en-US" sz="2800"/>
              <a:t>数组访问的例子</a:t>
            </a:r>
            <a:endParaRPr lang="en-US" altLang="zh-CN" sz="2800"/>
          </a:p>
        </p:txBody>
      </p:sp>
      <p:graphicFrame>
        <p:nvGraphicFramePr>
          <p:cNvPr id="4" name="Table 4"/>
          <p:cNvGraphicFramePr>
            <a:graphicFrameLocks noGrp="1"/>
          </p:cNvGraphicFramePr>
          <p:nvPr/>
        </p:nvGraphicFramePr>
        <p:xfrm>
          <a:off x="340508" y="1454294"/>
          <a:ext cx="8463456" cy="2966720"/>
        </p:xfrm>
        <a:graphic>
          <a:graphicData uri="http://schemas.openxmlformats.org/drawingml/2006/table">
            <a:tbl>
              <a:tblPr firstRow="1" bandRow="1">
                <a:tableStyleId>{1FECB4D8-DB02-4DC6-A0A2-4F2EBAE1DC90}</a:tableStyleId>
              </a:tblPr>
              <a:tblGrid>
                <a:gridCol w="1622694">
                  <a:extLst>
                    <a:ext uri="{9D8B030D-6E8A-4147-A177-3AD203B41FA5}">
                      <a16:colId xmlns:a16="http://schemas.microsoft.com/office/drawing/2014/main" val="20000"/>
                    </a:ext>
                  </a:extLst>
                </a:gridCol>
                <a:gridCol w="1152128">
                  <a:extLst>
                    <a:ext uri="{9D8B030D-6E8A-4147-A177-3AD203B41FA5}">
                      <a16:colId xmlns:a16="http://schemas.microsoft.com/office/drawing/2014/main" val="20001"/>
                    </a:ext>
                  </a:extLst>
                </a:gridCol>
                <a:gridCol w="1944216">
                  <a:extLst>
                    <a:ext uri="{9D8B030D-6E8A-4147-A177-3AD203B41FA5}">
                      <a16:colId xmlns:a16="http://schemas.microsoft.com/office/drawing/2014/main" val="20002"/>
                    </a:ext>
                  </a:extLst>
                </a:gridCol>
                <a:gridCol w="3744418">
                  <a:extLst>
                    <a:ext uri="{9D8B030D-6E8A-4147-A177-3AD203B41FA5}">
                      <a16:colId xmlns:a16="http://schemas.microsoft.com/office/drawing/2014/main" val="20003"/>
                    </a:ext>
                  </a:extLst>
                </a:gridCol>
              </a:tblGrid>
              <a:tr h="370840">
                <a:tc>
                  <a:txBody>
                    <a:bodyPr/>
                    <a:lstStyle/>
                    <a:p>
                      <a:r>
                        <a:rPr lang="zh-CN" altLang="en-US" dirty="0">
                          <a:solidFill>
                            <a:schemeClr val="tx1"/>
                          </a:solidFill>
                        </a:rPr>
                        <a:t>表达式</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99CC">
                        <a:alpha val="41000"/>
                      </a:srgbClr>
                    </a:solidFill>
                  </a:tcPr>
                </a:tc>
                <a:tc>
                  <a:txBody>
                    <a:bodyPr/>
                    <a:lstStyle/>
                    <a:p>
                      <a:r>
                        <a:rPr lang="zh-CN" altLang="en-US" dirty="0">
                          <a:solidFill>
                            <a:schemeClr val="tx1"/>
                          </a:solidFill>
                        </a:rPr>
                        <a:t>类型</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99CC">
                        <a:alpha val="41000"/>
                      </a:srgbClr>
                    </a:solidFill>
                  </a:tcPr>
                </a:tc>
                <a:tc>
                  <a:txBody>
                    <a:bodyPr/>
                    <a:lstStyle/>
                    <a:p>
                      <a:r>
                        <a:rPr lang="zh-CN" altLang="en-US" dirty="0">
                          <a:solidFill>
                            <a:schemeClr val="tx1"/>
                          </a:solidFill>
                        </a:rPr>
                        <a:t>值</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99CC">
                        <a:alpha val="50000"/>
                      </a:srgbClr>
                    </a:solidFill>
                  </a:tcPr>
                </a:tc>
                <a:tc>
                  <a:txBody>
                    <a:bodyPr/>
                    <a:lstStyle/>
                    <a:p>
                      <a:r>
                        <a:rPr lang="zh-CN" altLang="en-US" dirty="0">
                          <a:solidFill>
                            <a:schemeClr val="tx1"/>
                          </a:solidFill>
                        </a:rPr>
                        <a:t>汇编代码</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FF99CC">
                        <a:alpha val="38000"/>
                      </a:srgbClr>
                    </a:solidFill>
                  </a:tcPr>
                </a:tc>
                <a:extLst>
                  <a:ext uri="{0D108BD9-81ED-4DB2-BD59-A6C34878D82A}">
                    <a16:rowId xmlns:a16="http://schemas.microsoft.com/office/drawing/2014/main" val="10000"/>
                  </a:ext>
                </a:extLst>
              </a:tr>
              <a:tr h="370840">
                <a:tc>
                  <a:txBody>
                    <a:bodyPr/>
                    <a:lstStyle/>
                    <a:p>
                      <a:r>
                        <a:rPr lang="en-US" dirty="0">
                          <a:latin typeface="Courier"/>
                          <a:cs typeface="Courier"/>
                        </a:rPr>
                        <a:t>E</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int</a:t>
                      </a:r>
                      <a:r>
                        <a:rPr lang="en-US" dirty="0">
                          <a:latin typeface="Courier"/>
                          <a:cs typeface="Courier"/>
                        </a:rPr>
                        <a:t> *</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a:cs typeface="Times"/>
                        </a:rPr>
                        <a:t>X</a:t>
                      </a:r>
                      <a:r>
                        <a:rPr lang="en-US" baseline="-25000" dirty="0">
                          <a:latin typeface="Times"/>
                          <a:cs typeface="Times"/>
                        </a:rPr>
                        <a:t>E</a:t>
                      </a:r>
                      <a:endParaRPr lang="en-US" dirty="0">
                        <a:latin typeface="Times"/>
                        <a:cs typeface="Times"/>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movl</a:t>
                      </a:r>
                      <a:r>
                        <a:rPr lang="en-US" dirty="0">
                          <a:latin typeface="Courier"/>
                          <a:cs typeface="Courier"/>
                        </a:rPr>
                        <a:t> %</a:t>
                      </a:r>
                      <a:r>
                        <a:rPr lang="en-US" dirty="0" err="1">
                          <a:latin typeface="Courier"/>
                          <a:cs typeface="Courier"/>
                        </a:rPr>
                        <a:t>edx</a:t>
                      </a:r>
                      <a:r>
                        <a:rPr lang="en-US" dirty="0">
                          <a:latin typeface="Courier"/>
                          <a:cs typeface="Courier"/>
                        </a:rPr>
                        <a:t>,%</a:t>
                      </a:r>
                      <a:r>
                        <a:rPr lang="en-US" dirty="0" err="1">
                          <a:latin typeface="Courier"/>
                          <a:cs typeface="Courier"/>
                        </a:rPr>
                        <a:t>eax</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r>
                        <a:rPr lang="en-US" dirty="0">
                          <a:latin typeface="Courier"/>
                          <a:cs typeface="Courier"/>
                        </a:rPr>
                        <a:t>E[0]</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int</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a:cs typeface="Times"/>
                        </a:rPr>
                        <a:t>M[ X</a:t>
                      </a:r>
                      <a:r>
                        <a:rPr lang="en-US" baseline="-25000" dirty="0">
                          <a:latin typeface="Times"/>
                          <a:cs typeface="Times"/>
                        </a:rPr>
                        <a:t>E </a:t>
                      </a:r>
                      <a:r>
                        <a:rPr lang="en-US" baseline="0" dirty="0">
                          <a:latin typeface="Times"/>
                          <a:cs typeface="Times"/>
                        </a:rPr>
                        <a:t>]</a:t>
                      </a:r>
                      <a:endParaRPr lang="en-US" dirty="0">
                        <a:latin typeface="Times"/>
                        <a:cs typeface="Times"/>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movl</a:t>
                      </a:r>
                      <a:r>
                        <a:rPr lang="en-US" dirty="0">
                          <a:latin typeface="Courier"/>
                          <a:cs typeface="Courier"/>
                        </a:rPr>
                        <a:t> (%</a:t>
                      </a:r>
                      <a:r>
                        <a:rPr lang="en-US" dirty="0" err="1">
                          <a:latin typeface="Courier"/>
                          <a:cs typeface="Courier"/>
                        </a:rPr>
                        <a:t>edx</a:t>
                      </a:r>
                      <a:r>
                        <a:rPr lang="en-US" dirty="0">
                          <a:latin typeface="Courier"/>
                          <a:cs typeface="Courier"/>
                        </a:rPr>
                        <a:t>),%</a:t>
                      </a:r>
                      <a:r>
                        <a:rPr lang="en-US" dirty="0" err="1">
                          <a:latin typeface="Courier"/>
                          <a:cs typeface="Courier"/>
                        </a:rPr>
                        <a:t>eax</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r>
                        <a:rPr lang="en-US" dirty="0">
                          <a:latin typeface="Courier"/>
                          <a:cs typeface="Courier"/>
                        </a:rPr>
                        <a:t>E[</a:t>
                      </a:r>
                      <a:r>
                        <a:rPr lang="en-US" dirty="0" err="1">
                          <a:latin typeface="Courier"/>
                          <a:cs typeface="Courier"/>
                        </a:rPr>
                        <a:t>i</a:t>
                      </a:r>
                      <a:r>
                        <a:rPr lang="en-US" dirty="0">
                          <a:latin typeface="Courier"/>
                          <a:cs typeface="Courier"/>
                        </a:rPr>
                        <a:t>]</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int</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a:cs typeface="Times"/>
                        </a:rPr>
                        <a:t>M[ X</a:t>
                      </a:r>
                      <a:r>
                        <a:rPr lang="en-US" baseline="-25000" dirty="0">
                          <a:latin typeface="Times"/>
                          <a:cs typeface="Times"/>
                        </a:rPr>
                        <a:t>E</a:t>
                      </a:r>
                      <a:r>
                        <a:rPr lang="en-US" baseline="0" dirty="0">
                          <a:latin typeface="Times"/>
                          <a:cs typeface="Times"/>
                        </a:rPr>
                        <a:t>+4 </a:t>
                      </a:r>
                      <a:r>
                        <a:rPr lang="en-US" baseline="0" dirty="0" err="1">
                          <a:latin typeface="Times"/>
                          <a:cs typeface="Times"/>
                        </a:rPr>
                        <a:t>i</a:t>
                      </a:r>
                      <a:r>
                        <a:rPr lang="en-US" baseline="0" dirty="0">
                          <a:latin typeface="Times"/>
                          <a:cs typeface="Times"/>
                        </a:rPr>
                        <a:t> ]</a:t>
                      </a:r>
                      <a:endParaRPr lang="en-US" dirty="0">
                        <a:latin typeface="Times"/>
                        <a:cs typeface="Times"/>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movl</a:t>
                      </a:r>
                      <a:r>
                        <a:rPr lang="en-US" dirty="0">
                          <a:latin typeface="Courier"/>
                          <a:cs typeface="Courier"/>
                        </a:rPr>
                        <a:t> (%edx,%ecx,4),%</a:t>
                      </a:r>
                      <a:r>
                        <a:rPr lang="en-US" dirty="0" err="1">
                          <a:latin typeface="Courier"/>
                          <a:cs typeface="Courier"/>
                        </a:rPr>
                        <a:t>eax</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840">
                <a:tc>
                  <a:txBody>
                    <a:bodyPr/>
                    <a:lstStyle/>
                    <a:p>
                      <a:r>
                        <a:rPr lang="en-US" dirty="0">
                          <a:latin typeface="Courier"/>
                          <a:cs typeface="Courier"/>
                        </a:rPr>
                        <a:t>&amp;E[2]</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int</a:t>
                      </a:r>
                      <a:r>
                        <a:rPr lang="en-US" dirty="0">
                          <a:latin typeface="Courier"/>
                          <a:cs typeface="Courier"/>
                        </a:rPr>
                        <a:t> *</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a:cs typeface="Times"/>
                        </a:rPr>
                        <a:t>X</a:t>
                      </a:r>
                      <a:r>
                        <a:rPr lang="en-US" baseline="-25000" dirty="0">
                          <a:latin typeface="Times"/>
                          <a:cs typeface="Times"/>
                        </a:rPr>
                        <a:t>E</a:t>
                      </a:r>
                      <a:r>
                        <a:rPr lang="en-US" baseline="0" dirty="0">
                          <a:latin typeface="Times"/>
                          <a:cs typeface="Times"/>
                        </a:rPr>
                        <a:t> + 8</a:t>
                      </a:r>
                      <a:endParaRPr lang="en-US" dirty="0">
                        <a:latin typeface="Times"/>
                        <a:cs typeface="Times"/>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leal</a:t>
                      </a:r>
                      <a:r>
                        <a:rPr lang="en-US" dirty="0">
                          <a:latin typeface="Courier"/>
                          <a:cs typeface="Courier"/>
                        </a:rPr>
                        <a:t> 8(%</a:t>
                      </a:r>
                      <a:r>
                        <a:rPr lang="en-US" dirty="0" err="1">
                          <a:latin typeface="Courier"/>
                          <a:cs typeface="Courier"/>
                        </a:rPr>
                        <a:t>edx</a:t>
                      </a:r>
                      <a:r>
                        <a:rPr lang="en-US" dirty="0">
                          <a:latin typeface="Courier"/>
                          <a:cs typeface="Courier"/>
                        </a:rPr>
                        <a:t>),%</a:t>
                      </a:r>
                      <a:r>
                        <a:rPr lang="en-US" dirty="0" err="1">
                          <a:latin typeface="Courier"/>
                          <a:cs typeface="Courier"/>
                        </a:rPr>
                        <a:t>eax</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70840">
                <a:tc>
                  <a:txBody>
                    <a:bodyPr/>
                    <a:lstStyle/>
                    <a:p>
                      <a:r>
                        <a:rPr lang="en-US" dirty="0">
                          <a:latin typeface="Courier"/>
                          <a:cs typeface="Courier"/>
                        </a:rPr>
                        <a:t>E+i-1</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int</a:t>
                      </a:r>
                      <a:r>
                        <a:rPr lang="en-US" dirty="0">
                          <a:latin typeface="Courier"/>
                          <a:cs typeface="Courier"/>
                        </a:rPr>
                        <a:t> *</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a:cs typeface="Times"/>
                        </a:rPr>
                        <a:t>X</a:t>
                      </a:r>
                      <a:r>
                        <a:rPr lang="en-US" baseline="-25000" dirty="0">
                          <a:latin typeface="Times"/>
                          <a:cs typeface="Times"/>
                        </a:rPr>
                        <a:t>E</a:t>
                      </a:r>
                      <a:r>
                        <a:rPr lang="en-US" baseline="0" dirty="0">
                          <a:latin typeface="Times"/>
                          <a:cs typeface="Times"/>
                        </a:rPr>
                        <a:t> + 4 </a:t>
                      </a:r>
                      <a:r>
                        <a:rPr lang="en-US" baseline="0" dirty="0" err="1">
                          <a:latin typeface="Times"/>
                          <a:cs typeface="Times"/>
                        </a:rPr>
                        <a:t>i</a:t>
                      </a:r>
                      <a:r>
                        <a:rPr lang="en-US" baseline="0" dirty="0">
                          <a:latin typeface="Times"/>
                          <a:cs typeface="Times"/>
                        </a:rPr>
                        <a:t> – 4</a:t>
                      </a:r>
                      <a:endParaRPr lang="en-US" dirty="0">
                        <a:latin typeface="Times"/>
                        <a:cs typeface="Times"/>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leal</a:t>
                      </a:r>
                      <a:r>
                        <a:rPr lang="en-US" dirty="0">
                          <a:latin typeface="Courier"/>
                          <a:cs typeface="Courier"/>
                        </a:rPr>
                        <a:t> -4(%edx,%ecx,4),%</a:t>
                      </a:r>
                      <a:r>
                        <a:rPr lang="en-US" dirty="0" err="1">
                          <a:latin typeface="Courier"/>
                          <a:cs typeface="Courier"/>
                        </a:rPr>
                        <a:t>eax</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70840">
                <a:tc>
                  <a:txBody>
                    <a:bodyPr/>
                    <a:lstStyle/>
                    <a:p>
                      <a:r>
                        <a:rPr lang="en-US" dirty="0">
                          <a:latin typeface="Courier"/>
                          <a:cs typeface="Courier"/>
                        </a:rPr>
                        <a:t>*(E+i-3)</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int</a:t>
                      </a:r>
                      <a:r>
                        <a:rPr lang="en-US" dirty="0">
                          <a:latin typeface="Courier"/>
                          <a:cs typeface="Courier"/>
                        </a:rPr>
                        <a:t> </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atin typeface="Times"/>
                          <a:cs typeface="Times"/>
                        </a:rPr>
                        <a:t>M[ X</a:t>
                      </a:r>
                      <a:r>
                        <a:rPr lang="en-US" baseline="-25000" dirty="0">
                          <a:latin typeface="Times"/>
                          <a:cs typeface="Times"/>
                        </a:rPr>
                        <a:t>E</a:t>
                      </a:r>
                      <a:r>
                        <a:rPr lang="en-US" baseline="0" dirty="0">
                          <a:latin typeface="Times"/>
                          <a:cs typeface="Times"/>
                        </a:rPr>
                        <a:t>+ 4 </a:t>
                      </a:r>
                      <a:r>
                        <a:rPr lang="en-US" baseline="0" dirty="0" err="1">
                          <a:latin typeface="Times"/>
                          <a:cs typeface="Times"/>
                        </a:rPr>
                        <a:t>i</a:t>
                      </a:r>
                      <a:r>
                        <a:rPr lang="en-US" baseline="0" dirty="0">
                          <a:latin typeface="Times"/>
                          <a:cs typeface="Times"/>
                        </a:rPr>
                        <a:t> – 12 ]</a:t>
                      </a:r>
                      <a:endParaRPr lang="en-US" dirty="0">
                        <a:latin typeface="Times"/>
                        <a:cs typeface="Times"/>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movl</a:t>
                      </a:r>
                      <a:r>
                        <a:rPr lang="en-US" dirty="0">
                          <a:latin typeface="Courier"/>
                          <a:cs typeface="Courier"/>
                        </a:rPr>
                        <a:t> -12(%edx,%ecx,4),%</a:t>
                      </a:r>
                      <a:r>
                        <a:rPr lang="en-US" dirty="0" err="1">
                          <a:latin typeface="Courier"/>
                          <a:cs typeface="Courier"/>
                        </a:rPr>
                        <a:t>eax</a:t>
                      </a:r>
                      <a:r>
                        <a:rPr lang="en-US" baseline="0" dirty="0">
                          <a:latin typeface="Courier"/>
                          <a:cs typeface="Courier"/>
                        </a:rPr>
                        <a:t> </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70840">
                <a:tc>
                  <a:txBody>
                    <a:bodyPr/>
                    <a:lstStyle/>
                    <a:p>
                      <a:r>
                        <a:rPr lang="en-US" dirty="0">
                          <a:latin typeface="Courier"/>
                          <a:cs typeface="Courier"/>
                        </a:rPr>
                        <a:t>&amp;E[</a:t>
                      </a:r>
                      <a:r>
                        <a:rPr lang="en-US" dirty="0" err="1">
                          <a:latin typeface="Courier"/>
                          <a:cs typeface="Courier"/>
                        </a:rPr>
                        <a:t>i</a:t>
                      </a:r>
                      <a:r>
                        <a:rPr lang="en-US" dirty="0">
                          <a:latin typeface="Courier"/>
                          <a:cs typeface="Courier"/>
                        </a:rPr>
                        <a:t>]-E</a:t>
                      </a: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int</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Times"/>
                          <a:cs typeface="Times"/>
                        </a:rPr>
                        <a:t>i</a:t>
                      </a:r>
                      <a:endParaRPr lang="en-US" dirty="0">
                        <a:latin typeface="Times"/>
                        <a:cs typeface="Times"/>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latin typeface="Courier"/>
                          <a:cs typeface="Courier"/>
                        </a:rPr>
                        <a:t>movl</a:t>
                      </a:r>
                      <a:r>
                        <a:rPr lang="en-US" dirty="0">
                          <a:latin typeface="Courier"/>
                          <a:cs typeface="Courier"/>
                        </a:rPr>
                        <a:t> %</a:t>
                      </a:r>
                      <a:r>
                        <a:rPr lang="en-US" dirty="0" err="1">
                          <a:latin typeface="Courier"/>
                          <a:cs typeface="Courier"/>
                        </a:rPr>
                        <a:t>ecx</a:t>
                      </a:r>
                      <a:r>
                        <a:rPr lang="en-US" dirty="0">
                          <a:latin typeface="Courier"/>
                          <a:cs typeface="Courier"/>
                        </a:rPr>
                        <a:t>,%</a:t>
                      </a:r>
                      <a:r>
                        <a:rPr lang="en-US" dirty="0" err="1">
                          <a:latin typeface="Courier"/>
                          <a:cs typeface="Courier"/>
                        </a:rPr>
                        <a:t>eax</a:t>
                      </a:r>
                      <a:endParaRPr lang="en-US" dirty="0">
                        <a:latin typeface="Courier"/>
                        <a:cs typeface="Courier"/>
                      </a:endParaRPr>
                    </a:p>
                  </a:txBody>
                  <a:tcP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
        <p:nvSpPr>
          <p:cNvPr id="6" name="TextBox 2"/>
          <p:cNvSpPr txBox="1"/>
          <p:nvPr/>
        </p:nvSpPr>
        <p:spPr>
          <a:xfrm>
            <a:off x="970072" y="4964782"/>
            <a:ext cx="6689479" cy="1291590"/>
          </a:xfrm>
          <a:prstGeom prst="rect">
            <a:avLst/>
          </a:prstGeom>
          <a:noFill/>
        </p:spPr>
        <p:txBody>
          <a:bodyPr wrap="square" rtlCol="0">
            <a:spAutoFit/>
          </a:bodyPr>
          <a:lstStyle/>
          <a:p>
            <a:r>
              <a:rPr lang="en-US" sz="1800" b="0" dirty="0">
                <a:latin typeface="Times"/>
                <a:cs typeface="Times"/>
              </a:rPr>
              <a:t>X</a:t>
            </a:r>
            <a:r>
              <a:rPr lang="en-US" sz="1800" b="0" baseline="-25000" dirty="0">
                <a:latin typeface="Times"/>
                <a:cs typeface="Times"/>
              </a:rPr>
              <a:t>E</a:t>
            </a:r>
            <a:r>
              <a:rPr lang="en-US" sz="1800" b="0" dirty="0">
                <a:latin typeface="Times"/>
                <a:cs typeface="Times"/>
              </a:rPr>
              <a:t> 	 </a:t>
            </a:r>
            <a:r>
              <a:rPr lang="zh-CN" altLang="en-US" sz="1800" b="0" dirty="0">
                <a:latin typeface="Times"/>
                <a:cs typeface="Times"/>
              </a:rPr>
              <a:t>地址</a:t>
            </a:r>
            <a:r>
              <a:rPr lang="en-US" sz="1800" b="0" dirty="0">
                <a:latin typeface="Times"/>
                <a:cs typeface="Times"/>
              </a:rPr>
              <a:t> </a:t>
            </a:r>
          </a:p>
          <a:p>
            <a:r>
              <a:rPr lang="en-US" sz="1800" b="0" dirty="0">
                <a:latin typeface="Times"/>
                <a:cs typeface="Times"/>
              </a:rPr>
              <a:t>M [ ]	 </a:t>
            </a:r>
            <a:r>
              <a:rPr lang="zh-CN" altLang="en-US" sz="1800" b="0" dirty="0">
                <a:latin typeface="Times"/>
                <a:cs typeface="Times"/>
              </a:rPr>
              <a:t>地址中存的值</a:t>
            </a:r>
          </a:p>
          <a:p>
            <a:endParaRPr lang="en-US" sz="1800" b="0" dirty="0">
              <a:latin typeface="Times"/>
              <a:cs typeface="Times"/>
            </a:endParaRPr>
          </a:p>
          <a:p>
            <a:r>
              <a:rPr lang="en-US" sz="2400" b="0" dirty="0">
                <a:solidFill>
                  <a:srgbClr val="FF0000"/>
                </a:solidFill>
                <a:latin typeface="Times"/>
                <a:cs typeface="Times"/>
              </a:rPr>
              <a:t>A[</a:t>
            </a:r>
            <a:r>
              <a:rPr lang="en-US" sz="2400" b="0" dirty="0" err="1">
                <a:solidFill>
                  <a:srgbClr val="FF0000"/>
                </a:solidFill>
                <a:latin typeface="Times"/>
                <a:cs typeface="Times"/>
              </a:rPr>
              <a:t>i</a:t>
            </a:r>
            <a:r>
              <a:rPr lang="en-US" sz="2400" b="0" dirty="0">
                <a:solidFill>
                  <a:srgbClr val="FF0000"/>
                </a:solidFill>
                <a:latin typeface="Times"/>
                <a:cs typeface="Times"/>
              </a:rPr>
              <a:t>] =&gt; *(</a:t>
            </a:r>
            <a:r>
              <a:rPr lang="en-US" sz="2400" b="0" dirty="0" err="1">
                <a:solidFill>
                  <a:srgbClr val="FF0000"/>
                </a:solidFill>
                <a:latin typeface="Times"/>
                <a:cs typeface="Times"/>
              </a:rPr>
              <a:t>A+i</a:t>
            </a:r>
            <a:r>
              <a:rPr lang="en-US" sz="2400" b="0" dirty="0">
                <a:solidFill>
                  <a:srgbClr val="FF0000"/>
                </a:solidFill>
                <a:latin typeface="Times"/>
                <a:cs typeface="Times"/>
              </a:rPr>
              <a:t>)</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35610"/>
            <a:ext cx="2468880" cy="605155"/>
          </a:xfrm>
          <a:prstGeom prst="chevron">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填写例子</a:t>
            </a:r>
            <a:endParaRPr lang="en-US" altLang="zh-CN" sz="2800"/>
          </a:p>
        </p:txBody>
      </p:sp>
      <p:pic>
        <p:nvPicPr>
          <p:cNvPr id="756739" name="Picture 3"/>
          <p:cNvPicPr>
            <a:picLocks noChangeAspect="1" noChangeArrowheads="1"/>
          </p:cNvPicPr>
          <p:nvPr/>
        </p:nvPicPr>
        <p:blipFill>
          <a:blip r:embed="rId2"/>
          <a:srcRect/>
          <a:stretch>
            <a:fillRect/>
          </a:stretch>
        </p:blipFill>
        <p:spPr bwMode="auto">
          <a:xfrm>
            <a:off x="592455" y="1656080"/>
            <a:ext cx="8196580" cy="3710940"/>
          </a:xfrm>
          <a:prstGeom prst="rect">
            <a:avLst/>
          </a:prstGeom>
          <a:noFill/>
        </p:spPr>
      </p:pic>
      <p:sp>
        <p:nvSpPr>
          <p:cNvPr id="6" name="矩形 5"/>
          <p:cNvSpPr/>
          <p:nvPr/>
        </p:nvSpPr>
        <p:spPr>
          <a:xfrm>
            <a:off x="4097020" y="2762885"/>
            <a:ext cx="4704715" cy="26168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756739"/>
                                        </p:tgtEl>
                                        <p:attrNameLst>
                                          <p:attrName>style.visibility</p:attrName>
                                        </p:attrNameLst>
                                      </p:cBhvr>
                                      <p:to>
                                        <p:strVal val="visible"/>
                                      </p:to>
                                    </p:set>
                                    <p:animEffect transition="in" filter="blinds(horizontal)">
                                      <p:cBhvr>
                                        <p:cTn id="7" dur="500"/>
                                        <p:tgtEl>
                                          <p:spTgt spid="756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35610"/>
            <a:ext cx="2468880" cy="605155"/>
          </a:xfrm>
          <a:prstGeom prst="chevron">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填写例子</a:t>
            </a:r>
            <a:endParaRPr lang="en-US" altLang="zh-CN" sz="2800"/>
          </a:p>
        </p:txBody>
      </p:sp>
      <p:pic>
        <p:nvPicPr>
          <p:cNvPr id="756739" name="Picture 3"/>
          <p:cNvPicPr>
            <a:picLocks noChangeAspect="1" noChangeArrowheads="1"/>
          </p:cNvPicPr>
          <p:nvPr/>
        </p:nvPicPr>
        <p:blipFill>
          <a:blip r:embed="rId2"/>
          <a:srcRect/>
          <a:stretch>
            <a:fillRect/>
          </a:stretch>
        </p:blipFill>
        <p:spPr bwMode="auto">
          <a:xfrm>
            <a:off x="592455" y="1656080"/>
            <a:ext cx="8196580" cy="3710940"/>
          </a:xfrm>
          <a:prstGeom prst="rect">
            <a:avLst/>
          </a:prstGeom>
          <a:noFill/>
        </p:spPr>
      </p:pic>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35610"/>
            <a:ext cx="2827020" cy="605155"/>
          </a:xfrm>
          <a:prstGeom prst="chevron">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数组例子</a:t>
            </a:r>
            <a:endParaRPr lang="en-US" altLang="zh-CN" sz="2800"/>
          </a:p>
        </p:txBody>
      </p:sp>
      <p:sp>
        <p:nvSpPr>
          <p:cNvPr id="62467" name="Rectangle 4"/>
          <p:cNvSpPr>
            <a:spLocks noChangeArrowheads="1"/>
          </p:cNvSpPr>
          <p:nvPr/>
        </p:nvSpPr>
        <p:spPr bwMode="auto">
          <a:xfrm>
            <a:off x="359410" y="1170923"/>
            <a:ext cx="4924425" cy="1751762"/>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dirty="0">
                <a:latin typeface="Courier New" panose="02070309020205020404" charset="0"/>
              </a:rPr>
              <a:t>#define ZLEN 5</a:t>
            </a:r>
          </a:p>
          <a:p>
            <a:pPr eaLnBrk="0" hangingPunct="0"/>
            <a:r>
              <a:rPr lang="en-US" sz="1800" dirty="0" err="1">
                <a:latin typeface="Courier New" panose="02070309020205020404" charset="0"/>
              </a:rPr>
              <a:t>typedef</a:t>
            </a:r>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zip_dig</a:t>
            </a:r>
            <a:r>
              <a:rPr lang="en-US" sz="1800" dirty="0">
                <a:latin typeface="Courier New" panose="02070309020205020404" charset="0"/>
              </a:rPr>
              <a:t>[ZLEN];</a:t>
            </a:r>
          </a:p>
          <a:p>
            <a:pPr eaLnBrk="0" hangingPunct="0"/>
            <a:endParaRPr lang="en-US" sz="1800" dirty="0">
              <a:latin typeface="Courier New" panose="02070309020205020404" charset="0"/>
            </a:endParaRPr>
          </a:p>
          <a:p>
            <a:pPr eaLnBrk="0" hangingPunct="0"/>
            <a:r>
              <a:rPr lang="en-US" sz="1800" dirty="0" err="1">
                <a:latin typeface="Courier New" panose="02070309020205020404" charset="0"/>
              </a:rPr>
              <a:t>zip_dig</a:t>
            </a:r>
            <a:r>
              <a:rPr lang="en-US" sz="1800" dirty="0">
                <a:latin typeface="Courier New" panose="02070309020205020404" charset="0"/>
              </a:rPr>
              <a:t> </a:t>
            </a:r>
            <a:r>
              <a:rPr lang="en-US" sz="1800" dirty="0" err="1">
                <a:latin typeface="Courier New" panose="02070309020205020404" charset="0"/>
              </a:rPr>
              <a:t>cmu</a:t>
            </a:r>
            <a:r>
              <a:rPr lang="en-US" sz="1800" dirty="0">
                <a:latin typeface="Courier New" panose="02070309020205020404" charset="0"/>
              </a:rPr>
              <a:t> = { 1, 5, 2, 1, 3 };</a:t>
            </a:r>
          </a:p>
          <a:p>
            <a:pPr eaLnBrk="0" hangingPunct="0"/>
            <a:r>
              <a:rPr lang="en-US" sz="1800" dirty="0" err="1">
                <a:latin typeface="Courier New" panose="02070309020205020404" charset="0"/>
              </a:rPr>
              <a:t>zip_dig</a:t>
            </a:r>
            <a:r>
              <a:rPr lang="en-US" sz="1800" dirty="0">
                <a:latin typeface="Courier New" panose="02070309020205020404" charset="0"/>
              </a:rPr>
              <a:t> </a:t>
            </a:r>
            <a:r>
              <a:rPr lang="en-US" sz="1800" dirty="0" err="1">
                <a:latin typeface="Courier New" panose="02070309020205020404" charset="0"/>
              </a:rPr>
              <a:t>mit</a:t>
            </a:r>
            <a:r>
              <a:rPr lang="en-US" sz="1800" dirty="0">
                <a:latin typeface="Courier New" panose="02070309020205020404" charset="0"/>
              </a:rPr>
              <a:t> = { 0, 2, 1, 3, 9 };</a:t>
            </a:r>
          </a:p>
          <a:p>
            <a:pPr eaLnBrk="0" hangingPunct="0"/>
            <a:r>
              <a:rPr lang="en-US" sz="1800" dirty="0" err="1">
                <a:latin typeface="Courier New" panose="02070309020205020404" charset="0"/>
              </a:rPr>
              <a:t>zip_dig</a:t>
            </a:r>
            <a:r>
              <a:rPr lang="en-US" sz="1800" dirty="0">
                <a:latin typeface="Courier New" panose="02070309020205020404" charset="0"/>
              </a:rPr>
              <a:t> </a:t>
            </a:r>
            <a:r>
              <a:rPr lang="en-US" sz="1800" dirty="0" err="1">
                <a:latin typeface="Courier New" panose="02070309020205020404" charset="0"/>
              </a:rPr>
              <a:t>ucb</a:t>
            </a:r>
            <a:r>
              <a:rPr lang="en-US" sz="1800" dirty="0">
                <a:latin typeface="Courier New" panose="02070309020205020404" charset="0"/>
              </a:rPr>
              <a:t> = { 9, 4, 7, 2, 0 };</a:t>
            </a:r>
          </a:p>
        </p:txBody>
      </p:sp>
      <p:sp>
        <p:nvSpPr>
          <p:cNvPr id="69" name="Text Box 31"/>
          <p:cNvSpPr txBox="1">
            <a:spLocks noChangeArrowheads="1"/>
          </p:cNvSpPr>
          <p:nvPr/>
        </p:nvSpPr>
        <p:spPr bwMode="auto">
          <a:xfrm>
            <a:off x="76200" y="3097213"/>
            <a:ext cx="2235200" cy="366712"/>
          </a:xfrm>
          <a:prstGeom prst="rect">
            <a:avLst/>
          </a:prstGeom>
          <a:noFill/>
          <a:ln w="25400">
            <a:noFill/>
            <a:miter lim="800000"/>
          </a:ln>
        </p:spPr>
        <p:txBody>
          <a:bodyPr>
            <a:spAutoFit/>
          </a:bodyPr>
          <a:lstStyle/>
          <a:p>
            <a:pPr algn="r" eaLnBrk="0" hangingPunct="0"/>
            <a:r>
              <a:rPr lang="en-US" sz="1800">
                <a:latin typeface="Courier New" panose="02070309020205020404" charset="0"/>
              </a:rPr>
              <a:t>zip_dig cmu;</a:t>
            </a:r>
          </a:p>
        </p:txBody>
      </p:sp>
      <p:grpSp>
        <p:nvGrpSpPr>
          <p:cNvPr id="70" name="Group 24"/>
          <p:cNvGrpSpPr/>
          <p:nvPr/>
        </p:nvGrpSpPr>
        <p:grpSpPr bwMode="auto">
          <a:xfrm>
            <a:off x="2259013" y="3144838"/>
            <a:ext cx="5435600" cy="750887"/>
            <a:chOff x="2412765" y="3429000"/>
            <a:chExt cx="5435835" cy="771209"/>
          </a:xfrm>
        </p:grpSpPr>
        <p:grpSp>
          <p:nvGrpSpPr>
            <p:cNvPr id="62510" name="Group 25"/>
            <p:cNvGrpSpPr/>
            <p:nvPr/>
          </p:nvGrpSpPr>
          <p:grpSpPr bwMode="auto">
            <a:xfrm>
              <a:off x="2743200" y="3429000"/>
              <a:ext cx="4572000" cy="228600"/>
              <a:chOff x="1008" y="1968"/>
              <a:chExt cx="2880" cy="144"/>
            </a:xfrm>
          </p:grpSpPr>
          <p:sp>
            <p:nvSpPr>
              <p:cNvPr id="84"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85"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5</a:t>
                </a:r>
              </a:p>
            </p:txBody>
          </p:sp>
          <p:sp>
            <p:nvSpPr>
              <p:cNvPr id="86"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2</a:t>
                </a:r>
              </a:p>
            </p:txBody>
          </p:sp>
          <p:sp>
            <p:nvSpPr>
              <p:cNvPr id="87"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88"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3</a:t>
                </a:r>
              </a:p>
            </p:txBody>
          </p:sp>
        </p:grpSp>
        <p:sp>
          <p:nvSpPr>
            <p:cNvPr id="62511" name="Text Box 32"/>
            <p:cNvSpPr txBox="1">
              <a:spLocks noChangeArrowheads="1"/>
            </p:cNvSpPr>
            <p:nvPr/>
          </p:nvSpPr>
          <p:spPr bwMode="auto">
            <a:xfrm>
              <a:off x="2412765" y="3810528"/>
              <a:ext cx="668366"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16</a:t>
              </a:r>
            </a:p>
          </p:txBody>
        </p:sp>
        <p:sp>
          <p:nvSpPr>
            <p:cNvPr id="62512" name="Text Box 33"/>
            <p:cNvSpPr txBox="1">
              <a:spLocks noChangeArrowheads="1"/>
            </p:cNvSpPr>
            <p:nvPr/>
          </p:nvSpPr>
          <p:spPr bwMode="auto">
            <a:xfrm>
              <a:off x="3182736"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20</a:t>
              </a:r>
            </a:p>
          </p:txBody>
        </p:sp>
        <p:sp>
          <p:nvSpPr>
            <p:cNvPr id="62513"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62514"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515" name="Text Box 36"/>
            <p:cNvSpPr txBox="1">
              <a:spLocks noChangeArrowheads="1"/>
            </p:cNvSpPr>
            <p:nvPr/>
          </p:nvSpPr>
          <p:spPr bwMode="auto">
            <a:xfrm>
              <a:off x="4097175"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24</a:t>
              </a:r>
            </a:p>
          </p:txBody>
        </p:sp>
        <p:sp>
          <p:nvSpPr>
            <p:cNvPr id="62516"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517" name="Text Box 38"/>
            <p:cNvSpPr txBox="1">
              <a:spLocks noChangeArrowheads="1"/>
            </p:cNvSpPr>
            <p:nvPr/>
          </p:nvSpPr>
          <p:spPr bwMode="auto">
            <a:xfrm>
              <a:off x="5029078"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28</a:t>
              </a:r>
            </a:p>
          </p:txBody>
        </p:sp>
        <p:sp>
          <p:nvSpPr>
            <p:cNvPr id="62518"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519" name="Text Box 40"/>
            <p:cNvSpPr txBox="1">
              <a:spLocks noChangeArrowheads="1"/>
            </p:cNvSpPr>
            <p:nvPr/>
          </p:nvSpPr>
          <p:spPr bwMode="auto">
            <a:xfrm>
              <a:off x="5943518" y="3823572"/>
              <a:ext cx="990642"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32</a:t>
              </a:r>
            </a:p>
          </p:txBody>
        </p:sp>
        <p:sp>
          <p:nvSpPr>
            <p:cNvPr id="62520"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521" name="Text Box 42"/>
            <p:cNvSpPr txBox="1">
              <a:spLocks noChangeArrowheads="1"/>
            </p:cNvSpPr>
            <p:nvPr/>
          </p:nvSpPr>
          <p:spPr bwMode="auto">
            <a:xfrm>
              <a:off x="6857957"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36</a:t>
              </a:r>
            </a:p>
          </p:txBody>
        </p:sp>
        <p:sp>
          <p:nvSpPr>
            <p:cNvPr id="62522"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89" name="Text Box 31"/>
          <p:cNvSpPr txBox="1">
            <a:spLocks noChangeArrowheads="1"/>
          </p:cNvSpPr>
          <p:nvPr/>
        </p:nvSpPr>
        <p:spPr bwMode="auto">
          <a:xfrm>
            <a:off x="77788" y="3898900"/>
            <a:ext cx="2233612" cy="366713"/>
          </a:xfrm>
          <a:prstGeom prst="rect">
            <a:avLst/>
          </a:prstGeom>
          <a:noFill/>
          <a:ln w="25400">
            <a:noFill/>
            <a:miter lim="800000"/>
          </a:ln>
        </p:spPr>
        <p:txBody>
          <a:bodyPr>
            <a:spAutoFit/>
          </a:bodyPr>
          <a:lstStyle/>
          <a:p>
            <a:pPr algn="r" eaLnBrk="0" hangingPunct="0"/>
            <a:r>
              <a:rPr lang="en-US" sz="1800">
                <a:latin typeface="Courier New" panose="02070309020205020404" charset="0"/>
              </a:rPr>
              <a:t>zip_dig mit;</a:t>
            </a:r>
          </a:p>
        </p:txBody>
      </p:sp>
      <p:grpSp>
        <p:nvGrpSpPr>
          <p:cNvPr id="90" name="Group 24"/>
          <p:cNvGrpSpPr/>
          <p:nvPr/>
        </p:nvGrpSpPr>
        <p:grpSpPr bwMode="auto">
          <a:xfrm>
            <a:off x="2260600" y="3946525"/>
            <a:ext cx="5435600" cy="750888"/>
            <a:chOff x="2412765" y="3429000"/>
            <a:chExt cx="5435835" cy="771209"/>
          </a:xfrm>
        </p:grpSpPr>
        <p:grpSp>
          <p:nvGrpSpPr>
            <p:cNvPr id="62492" name="Group 25"/>
            <p:cNvGrpSpPr/>
            <p:nvPr/>
          </p:nvGrpSpPr>
          <p:grpSpPr bwMode="auto">
            <a:xfrm>
              <a:off x="2743200" y="3429000"/>
              <a:ext cx="4572000" cy="228600"/>
              <a:chOff x="1008" y="1968"/>
              <a:chExt cx="2880" cy="144"/>
            </a:xfrm>
          </p:grpSpPr>
          <p:sp>
            <p:nvSpPr>
              <p:cNvPr id="104"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0</a:t>
                </a:r>
              </a:p>
            </p:txBody>
          </p:sp>
          <p:sp>
            <p:nvSpPr>
              <p:cNvPr id="105"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2</a:t>
                </a:r>
              </a:p>
            </p:txBody>
          </p:sp>
          <p:sp>
            <p:nvSpPr>
              <p:cNvPr id="106"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107"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3</a:t>
                </a:r>
              </a:p>
            </p:txBody>
          </p:sp>
          <p:sp>
            <p:nvSpPr>
              <p:cNvPr id="108"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9</a:t>
                </a:r>
              </a:p>
            </p:txBody>
          </p:sp>
        </p:grpSp>
        <p:sp>
          <p:nvSpPr>
            <p:cNvPr id="62493" name="Text Box 32"/>
            <p:cNvSpPr txBox="1">
              <a:spLocks noChangeArrowheads="1"/>
            </p:cNvSpPr>
            <p:nvPr/>
          </p:nvSpPr>
          <p:spPr bwMode="auto">
            <a:xfrm>
              <a:off x="2412765" y="3810528"/>
              <a:ext cx="668366"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36</a:t>
              </a:r>
            </a:p>
          </p:txBody>
        </p:sp>
        <p:sp>
          <p:nvSpPr>
            <p:cNvPr id="62494" name="Text Box 33"/>
            <p:cNvSpPr txBox="1">
              <a:spLocks noChangeArrowheads="1"/>
            </p:cNvSpPr>
            <p:nvPr/>
          </p:nvSpPr>
          <p:spPr bwMode="auto">
            <a:xfrm>
              <a:off x="3182736"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40</a:t>
              </a:r>
            </a:p>
          </p:txBody>
        </p:sp>
        <p:sp>
          <p:nvSpPr>
            <p:cNvPr id="62495"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62496"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497" name="Text Box 36"/>
            <p:cNvSpPr txBox="1">
              <a:spLocks noChangeArrowheads="1"/>
            </p:cNvSpPr>
            <p:nvPr/>
          </p:nvSpPr>
          <p:spPr bwMode="auto">
            <a:xfrm>
              <a:off x="4097175"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44</a:t>
              </a:r>
            </a:p>
          </p:txBody>
        </p:sp>
        <p:sp>
          <p:nvSpPr>
            <p:cNvPr id="62498"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499" name="Text Box 38"/>
            <p:cNvSpPr txBox="1">
              <a:spLocks noChangeArrowheads="1"/>
            </p:cNvSpPr>
            <p:nvPr/>
          </p:nvSpPr>
          <p:spPr bwMode="auto">
            <a:xfrm>
              <a:off x="5029078"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48</a:t>
              </a:r>
            </a:p>
          </p:txBody>
        </p:sp>
        <p:sp>
          <p:nvSpPr>
            <p:cNvPr id="62500"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501" name="Text Box 40"/>
            <p:cNvSpPr txBox="1">
              <a:spLocks noChangeArrowheads="1"/>
            </p:cNvSpPr>
            <p:nvPr/>
          </p:nvSpPr>
          <p:spPr bwMode="auto">
            <a:xfrm>
              <a:off x="5943518" y="3823572"/>
              <a:ext cx="990642"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52</a:t>
              </a:r>
            </a:p>
          </p:txBody>
        </p:sp>
        <p:sp>
          <p:nvSpPr>
            <p:cNvPr id="62502"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503" name="Text Box 42"/>
            <p:cNvSpPr txBox="1">
              <a:spLocks noChangeArrowheads="1"/>
            </p:cNvSpPr>
            <p:nvPr/>
          </p:nvSpPr>
          <p:spPr bwMode="auto">
            <a:xfrm>
              <a:off x="6857957"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56</a:t>
              </a:r>
            </a:p>
          </p:txBody>
        </p:sp>
        <p:sp>
          <p:nvSpPr>
            <p:cNvPr id="62504"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109" name="Text Box 31"/>
          <p:cNvSpPr txBox="1">
            <a:spLocks noChangeArrowheads="1"/>
          </p:cNvSpPr>
          <p:nvPr/>
        </p:nvSpPr>
        <p:spPr bwMode="auto">
          <a:xfrm>
            <a:off x="76200" y="4737100"/>
            <a:ext cx="2235200" cy="366713"/>
          </a:xfrm>
          <a:prstGeom prst="rect">
            <a:avLst/>
          </a:prstGeom>
          <a:noFill/>
          <a:ln w="25400">
            <a:noFill/>
            <a:miter lim="800000"/>
          </a:ln>
        </p:spPr>
        <p:txBody>
          <a:bodyPr>
            <a:spAutoFit/>
          </a:bodyPr>
          <a:lstStyle/>
          <a:p>
            <a:pPr algn="r" eaLnBrk="0" hangingPunct="0"/>
            <a:r>
              <a:rPr lang="en-US" sz="1800" dirty="0" err="1">
                <a:latin typeface="Courier New" panose="02070309020205020404" charset="0"/>
              </a:rPr>
              <a:t>zip_dig</a:t>
            </a:r>
            <a:r>
              <a:rPr lang="en-US" sz="1800" dirty="0">
                <a:latin typeface="Courier New" panose="02070309020205020404" charset="0"/>
              </a:rPr>
              <a:t> </a:t>
            </a:r>
            <a:r>
              <a:rPr lang="en-US" sz="1800" dirty="0" err="1">
                <a:latin typeface="Courier New" panose="02070309020205020404" charset="0"/>
              </a:rPr>
              <a:t>ucb</a:t>
            </a:r>
            <a:r>
              <a:rPr lang="en-US" sz="1800" dirty="0">
                <a:latin typeface="Courier New" panose="02070309020205020404" charset="0"/>
              </a:rPr>
              <a:t>;</a:t>
            </a:r>
          </a:p>
        </p:txBody>
      </p:sp>
      <p:grpSp>
        <p:nvGrpSpPr>
          <p:cNvPr id="110" name="Group 24"/>
          <p:cNvGrpSpPr/>
          <p:nvPr/>
        </p:nvGrpSpPr>
        <p:grpSpPr bwMode="auto">
          <a:xfrm>
            <a:off x="2259013" y="4848225"/>
            <a:ext cx="5435600" cy="750888"/>
            <a:chOff x="2412765" y="3429000"/>
            <a:chExt cx="5435835" cy="771209"/>
          </a:xfrm>
        </p:grpSpPr>
        <p:grpSp>
          <p:nvGrpSpPr>
            <p:cNvPr id="62474" name="Group 25"/>
            <p:cNvGrpSpPr/>
            <p:nvPr/>
          </p:nvGrpSpPr>
          <p:grpSpPr bwMode="auto">
            <a:xfrm>
              <a:off x="2743200" y="3429000"/>
              <a:ext cx="4572000" cy="228600"/>
              <a:chOff x="1008" y="1968"/>
              <a:chExt cx="2880" cy="144"/>
            </a:xfrm>
          </p:grpSpPr>
          <p:sp>
            <p:nvSpPr>
              <p:cNvPr id="124"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9</a:t>
                </a:r>
              </a:p>
            </p:txBody>
          </p:sp>
          <p:sp>
            <p:nvSpPr>
              <p:cNvPr id="125"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4</a:t>
                </a:r>
              </a:p>
            </p:txBody>
          </p:sp>
          <p:sp>
            <p:nvSpPr>
              <p:cNvPr id="126"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7</a:t>
                </a:r>
              </a:p>
            </p:txBody>
          </p:sp>
          <p:sp>
            <p:nvSpPr>
              <p:cNvPr id="127"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2</a:t>
                </a:r>
              </a:p>
            </p:txBody>
          </p:sp>
          <p:sp>
            <p:nvSpPr>
              <p:cNvPr id="128"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0</a:t>
                </a:r>
              </a:p>
            </p:txBody>
          </p:sp>
        </p:grpSp>
        <p:sp>
          <p:nvSpPr>
            <p:cNvPr id="62475" name="Text Box 32"/>
            <p:cNvSpPr txBox="1">
              <a:spLocks noChangeArrowheads="1"/>
            </p:cNvSpPr>
            <p:nvPr/>
          </p:nvSpPr>
          <p:spPr bwMode="auto">
            <a:xfrm>
              <a:off x="2412765" y="3810528"/>
              <a:ext cx="668366"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56</a:t>
              </a:r>
            </a:p>
          </p:txBody>
        </p:sp>
        <p:sp>
          <p:nvSpPr>
            <p:cNvPr id="62476" name="Text Box 33"/>
            <p:cNvSpPr txBox="1">
              <a:spLocks noChangeArrowheads="1"/>
            </p:cNvSpPr>
            <p:nvPr/>
          </p:nvSpPr>
          <p:spPr bwMode="auto">
            <a:xfrm>
              <a:off x="3182736"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60</a:t>
              </a:r>
            </a:p>
          </p:txBody>
        </p:sp>
        <p:sp>
          <p:nvSpPr>
            <p:cNvPr id="62477"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62478"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479" name="Text Box 36"/>
            <p:cNvSpPr txBox="1">
              <a:spLocks noChangeArrowheads="1"/>
            </p:cNvSpPr>
            <p:nvPr/>
          </p:nvSpPr>
          <p:spPr bwMode="auto">
            <a:xfrm>
              <a:off x="4097175"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64</a:t>
              </a:r>
            </a:p>
          </p:txBody>
        </p:sp>
        <p:sp>
          <p:nvSpPr>
            <p:cNvPr id="62480"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481" name="Text Box 38"/>
            <p:cNvSpPr txBox="1">
              <a:spLocks noChangeArrowheads="1"/>
            </p:cNvSpPr>
            <p:nvPr/>
          </p:nvSpPr>
          <p:spPr bwMode="auto">
            <a:xfrm>
              <a:off x="5029078"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68</a:t>
              </a:r>
            </a:p>
          </p:txBody>
        </p:sp>
        <p:sp>
          <p:nvSpPr>
            <p:cNvPr id="62482"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483" name="Text Box 40"/>
            <p:cNvSpPr txBox="1">
              <a:spLocks noChangeArrowheads="1"/>
            </p:cNvSpPr>
            <p:nvPr/>
          </p:nvSpPr>
          <p:spPr bwMode="auto">
            <a:xfrm>
              <a:off x="5943518" y="3823572"/>
              <a:ext cx="990642"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72</a:t>
              </a:r>
            </a:p>
          </p:txBody>
        </p:sp>
        <p:sp>
          <p:nvSpPr>
            <p:cNvPr id="62484"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2485" name="Text Box 42"/>
            <p:cNvSpPr txBox="1">
              <a:spLocks noChangeArrowheads="1"/>
            </p:cNvSpPr>
            <p:nvPr/>
          </p:nvSpPr>
          <p:spPr bwMode="auto">
            <a:xfrm>
              <a:off x="6857957"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76</a:t>
              </a:r>
            </a:p>
          </p:txBody>
        </p:sp>
        <p:sp>
          <p:nvSpPr>
            <p:cNvPr id="62486"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303107" name="Rectangle 3"/>
          <p:cNvSpPr>
            <a:spLocks noGrp="1" noChangeArrowheads="1"/>
          </p:cNvSpPr>
          <p:nvPr/>
        </p:nvSpPr>
        <p:spPr>
          <a:xfrm>
            <a:off x="359410" y="5675630"/>
            <a:ext cx="8382000" cy="96964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zh-CN" altLang="en-US" sz="2000">
                <a:latin typeface="Calibri" panose="020F0502020204030204" charset="0"/>
                <a:ea typeface="宋体" panose="02010600030101010101" pitchFamily="2" charset="-122"/>
              </a:rPr>
              <a:t>表述</a:t>
            </a:r>
            <a:r>
              <a:rPr lang="en-US" sz="2000">
                <a:latin typeface="Calibri" panose="020F0502020204030204" charset="0"/>
              </a:rPr>
              <a:t> “</a:t>
            </a:r>
            <a:r>
              <a:rPr lang="en-US" sz="2000">
                <a:latin typeface="Courier New" panose="02070309020205020404" charset="0"/>
              </a:rPr>
              <a:t>zip_dig cmu</a:t>
            </a:r>
            <a:r>
              <a:rPr lang="en-US" sz="2000">
                <a:latin typeface="Calibri" panose="020F0502020204030204" charset="0"/>
              </a:rPr>
              <a:t>” 等同于 “</a:t>
            </a:r>
            <a:r>
              <a:rPr lang="en-US" sz="2000">
                <a:latin typeface="Courier New" panose="02070309020205020404" charset="0"/>
              </a:rPr>
              <a:t>int cmu[5]</a:t>
            </a:r>
            <a:r>
              <a:rPr lang="en-US" sz="2000">
                <a:latin typeface="Calibri" panose="020F0502020204030204" charset="0"/>
              </a:rPr>
              <a:t>”</a:t>
            </a:r>
          </a:p>
          <a:p>
            <a:pPr>
              <a:buClr>
                <a:srgbClr val="0D0D0D"/>
              </a:buClr>
            </a:pPr>
            <a:r>
              <a:rPr lang="en-US" sz="2000">
                <a:latin typeface="Calibri" panose="020F0502020204030204" charset="0"/>
              </a:rPr>
              <a:t>示例数组在连续的20字节块中分配</a:t>
            </a:r>
            <a:endParaRPr lang="en-US">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3107">
                                            <p:txEl>
                                              <p:pRg st="0" end="0"/>
                                            </p:txEl>
                                          </p:spTgt>
                                        </p:tgtEl>
                                        <p:attrNameLst>
                                          <p:attrName>style.visibility</p:attrName>
                                        </p:attrNameLst>
                                      </p:cBhvr>
                                      <p:to>
                                        <p:strVal val="visible"/>
                                      </p:to>
                                    </p:set>
                                    <p:animEffect transition="in" filter="wipe(down)">
                                      <p:cBhvr>
                                        <p:cTn id="7" dur="500"/>
                                        <p:tgtEl>
                                          <p:spTgt spid="30310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3107">
                                            <p:txEl>
                                              <p:pRg st="1" end="1"/>
                                            </p:txEl>
                                          </p:spTgt>
                                        </p:tgtEl>
                                        <p:attrNameLst>
                                          <p:attrName>style.visibility</p:attrName>
                                        </p:attrNameLst>
                                      </p:cBhvr>
                                      <p:to>
                                        <p:strVal val="visible"/>
                                      </p:to>
                                    </p:set>
                                    <p:animEffect transition="in" filter="wipe(down)">
                                      <p:cBhvr>
                                        <p:cTn id="12" dur="500"/>
                                        <p:tgtEl>
                                          <p:spTgt spid="30310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35610"/>
            <a:ext cx="3589655" cy="605155"/>
          </a:xfrm>
          <a:prstGeom prst="chevron">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数组访问的例子</a:t>
            </a:r>
          </a:p>
        </p:txBody>
      </p:sp>
      <p:sp>
        <p:nvSpPr>
          <p:cNvPr id="64518" name="Text Box 31"/>
          <p:cNvSpPr txBox="1">
            <a:spLocks noChangeArrowheads="1"/>
          </p:cNvSpPr>
          <p:nvPr/>
        </p:nvSpPr>
        <p:spPr bwMode="auto">
          <a:xfrm>
            <a:off x="304800" y="1408113"/>
            <a:ext cx="1930400" cy="366712"/>
          </a:xfrm>
          <a:prstGeom prst="rect">
            <a:avLst/>
          </a:prstGeom>
          <a:noFill/>
          <a:ln w="25400">
            <a:noFill/>
            <a:miter lim="800000"/>
          </a:ln>
        </p:spPr>
        <p:txBody>
          <a:bodyPr>
            <a:spAutoFit/>
          </a:bodyPr>
          <a:lstStyle/>
          <a:p>
            <a:pPr algn="r" eaLnBrk="0" hangingPunct="0"/>
            <a:r>
              <a:rPr lang="en-US" sz="1800">
                <a:latin typeface="Courier New" panose="02070309020205020404" charset="0"/>
              </a:rPr>
              <a:t>zip_dig cmu;</a:t>
            </a:r>
          </a:p>
        </p:txBody>
      </p:sp>
      <p:grpSp>
        <p:nvGrpSpPr>
          <p:cNvPr id="64519" name="Group 24"/>
          <p:cNvGrpSpPr/>
          <p:nvPr/>
        </p:nvGrpSpPr>
        <p:grpSpPr bwMode="auto">
          <a:xfrm>
            <a:off x="2184400" y="1455738"/>
            <a:ext cx="5435600" cy="750887"/>
            <a:chOff x="2412765" y="3429000"/>
            <a:chExt cx="5435835" cy="771209"/>
          </a:xfrm>
        </p:grpSpPr>
        <p:grpSp>
          <p:nvGrpSpPr>
            <p:cNvPr id="64520" name="Group 25"/>
            <p:cNvGrpSpPr/>
            <p:nvPr/>
          </p:nvGrpSpPr>
          <p:grpSpPr bwMode="auto">
            <a:xfrm>
              <a:off x="2743200" y="3429000"/>
              <a:ext cx="4572000" cy="228600"/>
              <a:chOff x="1008" y="1968"/>
              <a:chExt cx="2880" cy="144"/>
            </a:xfrm>
          </p:grpSpPr>
          <p:sp>
            <p:nvSpPr>
              <p:cNvPr id="23"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24"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5</a:t>
                </a:r>
              </a:p>
            </p:txBody>
          </p:sp>
          <p:sp>
            <p:nvSpPr>
              <p:cNvPr id="25"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2</a:t>
                </a:r>
              </a:p>
            </p:txBody>
          </p:sp>
          <p:sp>
            <p:nvSpPr>
              <p:cNvPr id="26"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27"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3</a:t>
                </a:r>
              </a:p>
            </p:txBody>
          </p:sp>
        </p:grpSp>
        <p:sp>
          <p:nvSpPr>
            <p:cNvPr id="64521" name="Text Box 32"/>
            <p:cNvSpPr txBox="1">
              <a:spLocks noChangeArrowheads="1"/>
            </p:cNvSpPr>
            <p:nvPr/>
          </p:nvSpPr>
          <p:spPr bwMode="auto">
            <a:xfrm>
              <a:off x="2412765" y="3810528"/>
              <a:ext cx="668366"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16</a:t>
              </a:r>
            </a:p>
          </p:txBody>
        </p:sp>
        <p:sp>
          <p:nvSpPr>
            <p:cNvPr id="64522" name="Text Box 33"/>
            <p:cNvSpPr txBox="1">
              <a:spLocks noChangeArrowheads="1"/>
            </p:cNvSpPr>
            <p:nvPr/>
          </p:nvSpPr>
          <p:spPr bwMode="auto">
            <a:xfrm>
              <a:off x="3182736"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20</a:t>
              </a:r>
            </a:p>
          </p:txBody>
        </p:sp>
        <p:sp>
          <p:nvSpPr>
            <p:cNvPr id="64523"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64524"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4525" name="Text Box 36"/>
            <p:cNvSpPr txBox="1">
              <a:spLocks noChangeArrowheads="1"/>
            </p:cNvSpPr>
            <p:nvPr/>
          </p:nvSpPr>
          <p:spPr bwMode="auto">
            <a:xfrm>
              <a:off x="4097175"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24</a:t>
              </a:r>
            </a:p>
          </p:txBody>
        </p:sp>
        <p:sp>
          <p:nvSpPr>
            <p:cNvPr id="64526"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4527" name="Text Box 38"/>
            <p:cNvSpPr txBox="1">
              <a:spLocks noChangeArrowheads="1"/>
            </p:cNvSpPr>
            <p:nvPr/>
          </p:nvSpPr>
          <p:spPr bwMode="auto">
            <a:xfrm>
              <a:off x="5029078"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28</a:t>
              </a:r>
            </a:p>
          </p:txBody>
        </p:sp>
        <p:sp>
          <p:nvSpPr>
            <p:cNvPr id="64528"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4529" name="Text Box 40"/>
            <p:cNvSpPr txBox="1">
              <a:spLocks noChangeArrowheads="1"/>
            </p:cNvSpPr>
            <p:nvPr/>
          </p:nvSpPr>
          <p:spPr bwMode="auto">
            <a:xfrm>
              <a:off x="5943518" y="3823572"/>
              <a:ext cx="990642"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32</a:t>
              </a:r>
            </a:p>
          </p:txBody>
        </p:sp>
        <p:sp>
          <p:nvSpPr>
            <p:cNvPr id="64530"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64531" name="Text Box 42"/>
            <p:cNvSpPr txBox="1">
              <a:spLocks noChangeArrowheads="1"/>
            </p:cNvSpPr>
            <p:nvPr/>
          </p:nvSpPr>
          <p:spPr bwMode="auto">
            <a:xfrm>
              <a:off x="6857957"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36</a:t>
              </a:r>
            </a:p>
          </p:txBody>
        </p:sp>
        <p:sp>
          <p:nvSpPr>
            <p:cNvPr id="64532"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64515" name="Rectangle 4"/>
          <p:cNvSpPr>
            <a:spLocks noChangeArrowheads="1"/>
          </p:cNvSpPr>
          <p:nvPr/>
        </p:nvSpPr>
        <p:spPr bwMode="auto">
          <a:xfrm>
            <a:off x="516255" y="2457133"/>
            <a:ext cx="3429000" cy="1474787"/>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int get_digit</a:t>
            </a:r>
          </a:p>
          <a:p>
            <a:pPr eaLnBrk="0" hangingPunct="0"/>
            <a:r>
              <a:rPr lang="en-US" sz="1800">
                <a:latin typeface="Courier New" panose="02070309020205020404" charset="0"/>
              </a:rPr>
              <a:t>  (zip_dig z, int dig)</a:t>
            </a:r>
          </a:p>
          <a:p>
            <a:pPr eaLnBrk="0" hangingPunct="0"/>
            <a:r>
              <a:rPr lang="en-US" sz="1800">
                <a:latin typeface="Courier New" panose="02070309020205020404" charset="0"/>
              </a:rPr>
              <a:t>{</a:t>
            </a:r>
          </a:p>
          <a:p>
            <a:pPr eaLnBrk="0" hangingPunct="0"/>
            <a:r>
              <a:rPr lang="en-US" sz="1800">
                <a:latin typeface="Courier New" panose="02070309020205020404" charset="0"/>
              </a:rPr>
              <a:t>  return z[dig];</a:t>
            </a:r>
          </a:p>
          <a:p>
            <a:pPr eaLnBrk="0" hangingPunct="0"/>
            <a:r>
              <a:rPr lang="en-US" sz="1800">
                <a:latin typeface="Courier New" panose="02070309020205020404" charset="0"/>
              </a:rPr>
              <a:t>}</a:t>
            </a:r>
          </a:p>
        </p:txBody>
      </p:sp>
      <p:sp>
        <p:nvSpPr>
          <p:cNvPr id="64517" name="TextBox 6"/>
          <p:cNvSpPr txBox="1">
            <a:spLocks noChangeArrowheads="1"/>
          </p:cNvSpPr>
          <p:nvPr/>
        </p:nvSpPr>
        <p:spPr bwMode="auto">
          <a:xfrm>
            <a:off x="515938" y="4077653"/>
            <a:ext cx="758825" cy="457200"/>
          </a:xfrm>
          <a:prstGeom prst="rect">
            <a:avLst/>
          </a:prstGeom>
          <a:noFill/>
          <a:ln w="9525">
            <a:noFill/>
            <a:miter lim="800000"/>
          </a:ln>
        </p:spPr>
        <p:txBody>
          <a:bodyPr wrap="none">
            <a:spAutoFit/>
          </a:bodyPr>
          <a:lstStyle/>
          <a:p>
            <a:pPr eaLnBrk="0" hangingPunct="0"/>
            <a:r>
              <a:rPr lang="en-US">
                <a:latin typeface="Calibri" panose="020F0502020204030204" charset="0"/>
              </a:rPr>
              <a:t>IA32</a:t>
            </a:r>
          </a:p>
        </p:txBody>
      </p:sp>
      <p:sp>
        <p:nvSpPr>
          <p:cNvPr id="64516" name="Rectangle 5"/>
          <p:cNvSpPr>
            <a:spLocks noChangeArrowheads="1"/>
          </p:cNvSpPr>
          <p:nvPr/>
        </p:nvSpPr>
        <p:spPr bwMode="auto">
          <a:xfrm>
            <a:off x="516255" y="4535170"/>
            <a:ext cx="5111750" cy="920765"/>
          </a:xfrm>
          <a:prstGeom prst="rect">
            <a:avLst/>
          </a:prstGeom>
          <a:noFill/>
          <a:ln w="12700">
            <a:solidFill>
              <a:schemeClr val="tx1"/>
            </a:solidFill>
            <a:miter lim="800000"/>
          </a:ln>
        </p:spPr>
        <p:txBody>
          <a:bodyPr wrap="square" lIns="90487" tIns="44450" rIns="90487" bIns="44450">
            <a:spAutoFit/>
          </a:bodyPr>
          <a:lstStyle/>
          <a:p>
            <a:pPr eaLnBrk="0" hangingPunct="0">
              <a:tabLst>
                <a:tab pos="342900" algn="l"/>
                <a:tab pos="2628900" algn="l"/>
              </a:tabLst>
            </a:pPr>
            <a:r>
              <a:rPr lang="en-US" sz="1800">
                <a:latin typeface="Courier New" panose="02070309020205020404" charset="0"/>
              </a:rPr>
              <a:t>  # %edx = z</a:t>
            </a:r>
          </a:p>
          <a:p>
            <a:pPr eaLnBrk="0" hangingPunct="0">
              <a:tabLst>
                <a:tab pos="342900" algn="l"/>
                <a:tab pos="2628900" algn="l"/>
              </a:tabLst>
            </a:pPr>
            <a:r>
              <a:rPr lang="en-US" sz="1800">
                <a:latin typeface="Courier New" panose="02070309020205020404" charset="0"/>
              </a:rPr>
              <a:t>  # %eax = dig</a:t>
            </a:r>
          </a:p>
          <a:p>
            <a:pPr eaLnBrk="0" hangingPunct="0">
              <a:tabLst>
                <a:tab pos="342900" algn="l"/>
                <a:tab pos="2628900" algn="l"/>
              </a:tabLst>
            </a:pPr>
            <a:r>
              <a:rPr lang="en-US" sz="1800">
                <a:latin typeface="Courier New" panose="02070309020205020404" charset="0"/>
              </a:rPr>
              <a:t>	movl (%edx,%eax,4),%eax  # z[dig]</a:t>
            </a:r>
          </a:p>
        </p:txBody>
      </p:sp>
      <p:sp>
        <p:nvSpPr>
          <p:cNvPr id="4" name="Content Placeholder 3"/>
          <p:cNvSpPr>
            <a:spLocks noGrp="1"/>
          </p:cNvSpPr>
          <p:nvPr/>
        </p:nvSpPr>
        <p:spPr>
          <a:xfrm>
            <a:off x="5628005" y="2796540"/>
            <a:ext cx="3429000" cy="298132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8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4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18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18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18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18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18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1800">
                <a:solidFill>
                  <a:schemeClr val="tx1"/>
                </a:solidFill>
                <a:latin typeface="Arial" panose="020B0604020202020204" pitchFamily="34" charset="0"/>
              </a:defRPr>
            </a:lvl9pPr>
          </a:lstStyle>
          <a:p>
            <a:pPr marL="401955" indent="-246380">
              <a:spcBef>
                <a:spcPct val="25000"/>
              </a:spcBef>
              <a:buClr>
                <a:srgbClr val="FF99CC"/>
              </a:buClr>
              <a:buSzPct val="75000"/>
              <a:buFont typeface="Wingdings" panose="05000000000000000000" pitchFamily="2" charset="2"/>
              <a:buChar char="n"/>
            </a:pPr>
            <a:r>
              <a:rPr lang="zh-CN" altLang="en-US" sz="2000">
                <a:latin typeface="微软雅黑" panose="020B0503020204020204" charset="-122"/>
                <a:ea typeface="微软雅黑" panose="020B0503020204020204" charset="-122"/>
              </a:rPr>
              <a:t>寄存器</a:t>
            </a:r>
            <a:r>
              <a:rPr lang="en-US" sz="2000">
                <a:latin typeface="微软雅黑" panose="020B0503020204020204" charset="-122"/>
                <a:ea typeface="微软雅黑" panose="020B0503020204020204" charset="-122"/>
              </a:rPr>
              <a:t>%edx 包含数组的起始地址</a:t>
            </a:r>
          </a:p>
          <a:p>
            <a:pPr marL="401955" indent="-246380">
              <a:spcBef>
                <a:spcPct val="25000"/>
              </a:spcBef>
              <a:buClr>
                <a:srgbClr val="FF99CC"/>
              </a:buClr>
              <a:buSzPct val="75000"/>
              <a:buFont typeface="Wingdings" panose="05000000000000000000" pitchFamily="2" charset="2"/>
              <a:buChar char="n"/>
            </a:pPr>
            <a:r>
              <a:rPr lang="zh-CN" altLang="en-US" sz="2000">
                <a:latin typeface="微软雅黑" panose="020B0503020204020204" charset="-122"/>
                <a:ea typeface="微软雅黑" panose="020B0503020204020204" charset="-122"/>
              </a:rPr>
              <a:t>寄存器</a:t>
            </a:r>
            <a:r>
              <a:rPr lang="en-US" sz="2000">
                <a:latin typeface="微软雅黑" panose="020B0503020204020204" charset="-122"/>
                <a:ea typeface="微软雅黑" panose="020B0503020204020204" charset="-122"/>
              </a:rPr>
              <a:t> %eax 包含数组索引</a:t>
            </a:r>
          </a:p>
          <a:p>
            <a:pPr marL="401955" indent="-246380">
              <a:spcBef>
                <a:spcPct val="25000"/>
              </a:spcBef>
              <a:buClr>
                <a:srgbClr val="FF99CC"/>
              </a:buClr>
              <a:buSzPct val="75000"/>
              <a:buFont typeface="Wingdings" panose="05000000000000000000" pitchFamily="2" charset="2"/>
              <a:buChar char="n"/>
            </a:pPr>
            <a:r>
              <a:rPr lang="en-US" sz="2000">
                <a:latin typeface="微软雅黑" panose="020B0503020204020204" charset="-122"/>
                <a:ea typeface="微软雅黑" panose="020B0503020204020204" charset="-122"/>
              </a:rPr>
              <a:t>所需的数字在 </a:t>
            </a:r>
            <a:br>
              <a:rPr lang="en-US" sz="2000">
                <a:latin typeface="微软雅黑" panose="020B0503020204020204" charset="-122"/>
                <a:ea typeface="微软雅黑" panose="020B0503020204020204" charset="-122"/>
              </a:rPr>
            </a:br>
            <a:r>
              <a:rPr lang="en-US" sz="2000">
                <a:latin typeface="微软雅黑" panose="020B0503020204020204" charset="-122"/>
                <a:ea typeface="微软雅黑" panose="020B0503020204020204" charset="-122"/>
              </a:rPr>
              <a:t>4*%eax + %edx</a:t>
            </a:r>
          </a:p>
          <a:p>
            <a:pPr marL="401955" indent="-246380">
              <a:spcBef>
                <a:spcPct val="25000"/>
              </a:spcBef>
              <a:buClr>
                <a:srgbClr val="FF99CC"/>
              </a:buClr>
              <a:buSzPct val="75000"/>
              <a:buFont typeface="Wingdings" panose="05000000000000000000" pitchFamily="2" charset="2"/>
              <a:buChar char="n"/>
            </a:pPr>
            <a:r>
              <a:rPr lang="en-US" sz="2000">
                <a:latin typeface="微软雅黑" panose="020B0503020204020204" charset="-122"/>
                <a:ea typeface="微软雅黑" panose="020B0503020204020204" charset="-122"/>
              </a:rPr>
              <a:t>使用内存 (%edx,%eax,4)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down)">
                                      <p:cBhvr>
                                        <p:cTn id="10" dur="500"/>
                                        <p:tgtEl>
                                          <p:spTgt spid="4">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Effect transition="in" filter="wipe(down)">
                                      <p:cBhvr>
                                        <p:cTn id="13" dur="500"/>
                                        <p:tgtEl>
                                          <p:spTgt spid="4">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
                                            <p:txEl>
                                              <p:pRg st="3" end="3"/>
                                            </p:txEl>
                                          </p:spTgt>
                                        </p:tgtEl>
                                        <p:attrNameLst>
                                          <p:attrName>style.visibility</p:attrName>
                                        </p:attrNameLst>
                                      </p:cBhvr>
                                      <p:to>
                                        <p:strVal val="visible"/>
                                      </p:to>
                                    </p:set>
                                    <p:animEffect transition="in" filter="wipe(down)">
                                      <p:cBhvr>
                                        <p:cTn id="16"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2722245"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嵌套的数组</a:t>
            </a:r>
          </a:p>
        </p:txBody>
      </p:sp>
      <p:sp>
        <p:nvSpPr>
          <p:cNvPr id="76803" name="Rectangle 4"/>
          <p:cNvSpPr>
            <a:spLocks noChangeArrowheads="1"/>
          </p:cNvSpPr>
          <p:nvPr/>
        </p:nvSpPr>
        <p:spPr bwMode="auto">
          <a:xfrm>
            <a:off x="279400" y="1607185"/>
            <a:ext cx="4924425" cy="175069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dirty="0">
                <a:latin typeface="Courier New" panose="02070309020205020404" charset="0"/>
              </a:rPr>
              <a:t>#define PCOUNT 4</a:t>
            </a:r>
          </a:p>
          <a:p>
            <a:pPr eaLnBrk="0" hangingPunct="0"/>
            <a:r>
              <a:rPr lang="en-US" sz="1800" dirty="0" err="1">
                <a:latin typeface="Courier New" panose="02070309020205020404" charset="0"/>
              </a:rPr>
              <a:t>zip_dig</a:t>
            </a:r>
            <a:r>
              <a:rPr lang="en-US" sz="1800" dirty="0">
                <a:latin typeface="Courier New" panose="02070309020205020404" charset="0"/>
              </a:rPr>
              <a:t> </a:t>
            </a:r>
            <a:r>
              <a:rPr lang="en-US" sz="1800" dirty="0" err="1">
                <a:latin typeface="Courier New" panose="02070309020205020404" charset="0"/>
              </a:rPr>
              <a:t>pgh</a:t>
            </a:r>
            <a:r>
              <a:rPr lang="en-US" sz="1800" dirty="0">
                <a:latin typeface="Courier New" panose="02070309020205020404" charset="0"/>
              </a:rPr>
              <a:t>[PCOUNT] = </a:t>
            </a:r>
          </a:p>
          <a:p>
            <a:pPr eaLnBrk="0" hangingPunct="0"/>
            <a:r>
              <a:rPr lang="en-US" sz="1800" dirty="0">
                <a:latin typeface="Courier New" panose="02070309020205020404" charset="0"/>
              </a:rPr>
              <a:t>  {{1, 5, 2, 0, 6},</a:t>
            </a:r>
          </a:p>
          <a:p>
            <a:pPr eaLnBrk="0" hangingPunct="0"/>
            <a:r>
              <a:rPr lang="en-US" sz="1800" dirty="0">
                <a:latin typeface="Courier New" panose="02070309020205020404" charset="0"/>
              </a:rPr>
              <a:t>   {1, 5, 2, 1, 3 },</a:t>
            </a:r>
          </a:p>
          <a:p>
            <a:pPr eaLnBrk="0" hangingPunct="0"/>
            <a:r>
              <a:rPr lang="en-US" sz="1800" dirty="0">
                <a:latin typeface="Courier New" panose="02070309020205020404" charset="0"/>
              </a:rPr>
              <a:t>   {1, 5, 2, 1, 7 },</a:t>
            </a:r>
          </a:p>
          <a:p>
            <a:pPr eaLnBrk="0" hangingPunct="0"/>
            <a:r>
              <a:rPr lang="en-US" sz="1800" dirty="0">
                <a:latin typeface="Courier New" panose="02070309020205020404" charset="0"/>
              </a:rPr>
              <a:t>   {1, 5, 2, 2, 1 }};</a:t>
            </a:r>
          </a:p>
        </p:txBody>
      </p:sp>
      <p:sp>
        <p:nvSpPr>
          <p:cNvPr id="5" name="文本框 4"/>
          <p:cNvSpPr txBox="1"/>
          <p:nvPr/>
        </p:nvSpPr>
        <p:spPr>
          <a:xfrm>
            <a:off x="-812800" y="1170305"/>
            <a:ext cx="4177030" cy="398780"/>
          </a:xfrm>
          <a:prstGeom prst="rect">
            <a:avLst/>
          </a:prstGeom>
          <a:noFill/>
        </p:spPr>
        <p:txBody>
          <a:bodyPr wrap="none" rtlCol="0" anchor="t">
            <a:spAutoFit/>
          </a:bodyPr>
          <a:lstStyle/>
          <a:p>
            <a:pPr marL="1200150" lvl="2" indent="-285750">
              <a:buFont typeface="Wingdings" panose="05000000000000000000" charset="0"/>
              <a:buChar char=""/>
            </a:pPr>
            <a:r>
              <a:rPr lang="zh-CN" altLang="en-US" sz="2000" dirty="0">
                <a:sym typeface="+mn-ea"/>
              </a:rPr>
              <a:t>以数组为元素再构成数组</a:t>
            </a:r>
          </a:p>
        </p:txBody>
      </p:sp>
      <p:sp>
        <p:nvSpPr>
          <p:cNvPr id="308227" name="Rectangle 3"/>
          <p:cNvSpPr>
            <a:spLocks noGrp="1" noChangeArrowheads="1"/>
          </p:cNvSpPr>
          <p:nvPr/>
        </p:nvSpPr>
        <p:spPr>
          <a:xfrm>
            <a:off x="457200" y="5270500"/>
            <a:ext cx="8001000" cy="19050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a:latin typeface="微软雅黑" panose="020B0503020204020204" charset="-122"/>
                <a:ea typeface="微软雅黑" panose="020B0503020204020204" charset="-122"/>
              </a:rPr>
              <a:t>“zip_dig pgh[4]” </a:t>
            </a:r>
            <a:r>
              <a:rPr lang="zh-CN" altLang="en-US">
                <a:latin typeface="微软雅黑" panose="020B0503020204020204" charset="-122"/>
                <a:ea typeface="微软雅黑" panose="020B0503020204020204" charset="-122"/>
              </a:rPr>
              <a:t>等同于</a:t>
            </a:r>
            <a:r>
              <a:rPr lang="en-US">
                <a:latin typeface="微软雅黑" panose="020B0503020204020204" charset="-122"/>
                <a:ea typeface="微软雅黑" panose="020B0503020204020204" charset="-122"/>
              </a:rPr>
              <a:t> “int pgh[4][5]”</a:t>
            </a:r>
          </a:p>
          <a:p>
            <a:pPr lvl="1">
              <a:buClr>
                <a:srgbClr val="0D0D0D"/>
              </a:buClr>
            </a:pPr>
            <a:r>
              <a:rPr lang="zh-CN" altLang="en-US">
                <a:latin typeface="微软雅黑" panose="020B0503020204020204" charset="-122"/>
                <a:ea typeface="微软雅黑" panose="020B0503020204020204" charset="-122"/>
              </a:rPr>
              <a:t>变量</a:t>
            </a:r>
            <a:r>
              <a:rPr lang="en-US">
                <a:latin typeface="微软雅黑" panose="020B0503020204020204" charset="-122"/>
                <a:ea typeface="微软雅黑" panose="020B0503020204020204" charset="-122"/>
              </a:rPr>
              <a:t> </a:t>
            </a:r>
            <a:r>
              <a:rPr lang="en-US" b="1">
                <a:latin typeface="微软雅黑" panose="020B0503020204020204" charset="-122"/>
                <a:ea typeface="微软雅黑" panose="020B0503020204020204" charset="-122"/>
              </a:rPr>
              <a:t>pgh</a:t>
            </a:r>
            <a:r>
              <a:rPr lang="en-US">
                <a:latin typeface="微软雅黑" panose="020B0503020204020204" charset="-122"/>
                <a:ea typeface="微软雅黑" panose="020B0503020204020204" charset="-122"/>
              </a:rPr>
              <a:t>: 4</a:t>
            </a:r>
            <a:r>
              <a:rPr lang="zh-CN" altLang="en-US">
                <a:latin typeface="微软雅黑" panose="020B0503020204020204" charset="-122"/>
                <a:ea typeface="微软雅黑" panose="020B0503020204020204" charset="-122"/>
              </a:rPr>
              <a:t>个元素的数组，</a:t>
            </a:r>
            <a:r>
              <a:rPr lang="en-US">
                <a:latin typeface="微软雅黑" panose="020B0503020204020204" charset="-122"/>
                <a:ea typeface="微软雅黑" panose="020B0503020204020204" charset="-122"/>
              </a:rPr>
              <a:t> </a:t>
            </a:r>
            <a:r>
              <a:rPr lang="zh-CN" altLang="en-US">
                <a:latin typeface="微软雅黑" panose="020B0503020204020204" charset="-122"/>
                <a:ea typeface="微软雅黑" panose="020B0503020204020204" charset="-122"/>
              </a:rPr>
              <a:t>连续分配</a:t>
            </a:r>
          </a:p>
          <a:p>
            <a:pPr lvl="1">
              <a:buClr>
                <a:srgbClr val="0D0D0D"/>
              </a:buClr>
            </a:pPr>
            <a:r>
              <a:rPr lang="en-US">
                <a:latin typeface="微软雅黑" panose="020B0503020204020204" charset="-122"/>
                <a:ea typeface="微软雅黑" panose="020B0503020204020204" charset="-122"/>
              </a:rPr>
              <a:t>每个元素是5个int</a:t>
            </a:r>
            <a:r>
              <a:rPr lang="zh-CN" altLang="en-US">
                <a:latin typeface="微软雅黑" panose="020B0503020204020204" charset="-122"/>
                <a:ea typeface="微软雅黑" panose="020B0503020204020204" charset="-122"/>
              </a:rPr>
              <a:t>型数据</a:t>
            </a:r>
            <a:r>
              <a:rPr lang="en-US">
                <a:latin typeface="微软雅黑" panose="020B0503020204020204" charset="-122"/>
                <a:ea typeface="微软雅黑" panose="020B0503020204020204" charset="-122"/>
              </a:rPr>
              <a:t>的</a:t>
            </a:r>
            <a:r>
              <a:rPr lang="zh-CN" altLang="en-US">
                <a:latin typeface="微软雅黑" panose="020B0503020204020204" charset="-122"/>
                <a:ea typeface="微软雅黑" panose="020B0503020204020204" charset="-122"/>
              </a:rPr>
              <a:t>一维</a:t>
            </a:r>
            <a:r>
              <a:rPr lang="en-US">
                <a:latin typeface="微软雅黑" panose="020B0503020204020204" charset="-122"/>
                <a:ea typeface="微软雅黑" panose="020B0503020204020204" charset="-122"/>
              </a:rPr>
              <a:t>数组</a:t>
            </a:r>
            <a:r>
              <a:rPr lang="zh-CN" altLang="en-US">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sym typeface="+mn-ea"/>
              </a:rPr>
              <a:t>连续分配</a:t>
            </a:r>
            <a:endParaRPr lang="zh-CN" altLang="en-US">
              <a:latin typeface="微软雅黑" panose="020B0503020204020204" charset="-122"/>
              <a:ea typeface="微软雅黑" panose="020B0503020204020204" charset="-122"/>
            </a:endParaRPr>
          </a:p>
          <a:p>
            <a:pPr>
              <a:buClr>
                <a:srgbClr val="0D0D0D"/>
              </a:buClr>
            </a:pPr>
            <a:r>
              <a:rPr lang="en-US">
                <a:latin typeface="微软雅黑" panose="020B0503020204020204" charset="-122"/>
                <a:ea typeface="微软雅黑" panose="020B0503020204020204" charset="-122"/>
              </a:rPr>
              <a:t>“</a:t>
            </a:r>
            <a:r>
              <a:rPr lang="zh-CN" altLang="en-US">
                <a:latin typeface="微软雅黑" panose="020B0503020204020204" charset="-122"/>
                <a:ea typeface="微软雅黑" panose="020B0503020204020204" charset="-122"/>
              </a:rPr>
              <a:t>行优先</a:t>
            </a:r>
            <a:r>
              <a:rPr lang="en-US">
                <a:latin typeface="微软雅黑" panose="020B0503020204020204" charset="-122"/>
                <a:ea typeface="微软雅黑" panose="020B0503020204020204" charset="-122"/>
              </a:rPr>
              <a:t>” 保证所有元素的排序</a:t>
            </a:r>
          </a:p>
        </p:txBody>
      </p:sp>
      <p:sp>
        <p:nvSpPr>
          <p:cNvPr id="76804" name="Text Box 6"/>
          <p:cNvSpPr txBox="1">
            <a:spLocks noChangeArrowheads="1"/>
          </p:cNvSpPr>
          <p:nvPr/>
        </p:nvSpPr>
        <p:spPr bwMode="auto">
          <a:xfrm>
            <a:off x="457200" y="3836988"/>
            <a:ext cx="1143000" cy="645160"/>
          </a:xfrm>
          <a:prstGeom prst="rect">
            <a:avLst/>
          </a:prstGeom>
          <a:noFill/>
          <a:ln w="25400">
            <a:noFill/>
            <a:miter lim="800000"/>
          </a:ln>
        </p:spPr>
        <p:txBody>
          <a:bodyPr wrap="none">
            <a:spAutoFit/>
          </a:bodyPr>
          <a:lstStyle/>
          <a:p>
            <a:pPr algn="r" eaLnBrk="0" hangingPunct="0"/>
            <a:r>
              <a:rPr lang="en-US" sz="1800">
                <a:latin typeface="Courier New" panose="02070309020205020404" charset="0"/>
              </a:rPr>
              <a:t>zip_dig</a:t>
            </a:r>
          </a:p>
          <a:p>
            <a:pPr algn="r" eaLnBrk="0" hangingPunct="0"/>
            <a:r>
              <a:rPr lang="en-US" sz="1800">
                <a:latin typeface="Courier New" panose="02070309020205020404" charset="0"/>
              </a:rPr>
              <a:t>pgh[4];</a:t>
            </a:r>
          </a:p>
        </p:txBody>
      </p:sp>
      <p:sp>
        <p:nvSpPr>
          <p:cNvPr id="308232" name="Line 8"/>
          <p:cNvSpPr>
            <a:spLocks noChangeShapeType="1"/>
          </p:cNvSpPr>
          <p:nvPr/>
        </p:nvSpPr>
        <p:spPr bwMode="auto">
          <a:xfrm flipV="1">
            <a:off x="1905000" y="4471988"/>
            <a:ext cx="0" cy="228600"/>
          </a:xfrm>
          <a:prstGeom prst="line">
            <a:avLst/>
          </a:prstGeom>
          <a:noFill/>
          <a:ln w="25400">
            <a:solidFill>
              <a:schemeClr val="tx1"/>
            </a:solidFill>
            <a:round/>
            <a:tailEnd type="triangle" w="med" len="sm"/>
          </a:ln>
        </p:spPr>
        <p:txBody>
          <a:bodyPr wrap="none" anchor="ctr"/>
          <a:lstStyle/>
          <a:p>
            <a:endParaRPr lang="en-US"/>
          </a:p>
        </p:txBody>
      </p:sp>
      <p:sp>
        <p:nvSpPr>
          <p:cNvPr id="308233" name="Text Box 9"/>
          <p:cNvSpPr txBox="1">
            <a:spLocks noChangeArrowheads="1"/>
          </p:cNvSpPr>
          <p:nvPr/>
        </p:nvSpPr>
        <p:spPr bwMode="auto">
          <a:xfrm>
            <a:off x="1676400" y="4675188"/>
            <a:ext cx="457200" cy="368300"/>
          </a:xfrm>
          <a:prstGeom prst="rect">
            <a:avLst/>
          </a:prstGeom>
          <a:noFill/>
          <a:ln w="25400">
            <a:noFill/>
            <a:miter lim="800000"/>
          </a:ln>
        </p:spPr>
        <p:txBody>
          <a:bodyPr wrap="none">
            <a:spAutoFit/>
          </a:bodyPr>
          <a:lstStyle/>
          <a:p>
            <a:pPr eaLnBrk="0" hangingPunct="0"/>
            <a:r>
              <a:rPr lang="en-US" sz="1800">
                <a:latin typeface="Courier New" panose="02070309020205020404" charset="0"/>
              </a:rPr>
              <a:t>76</a:t>
            </a:r>
          </a:p>
        </p:txBody>
      </p:sp>
      <p:sp>
        <p:nvSpPr>
          <p:cNvPr id="308234" name="Line 10"/>
          <p:cNvSpPr>
            <a:spLocks noChangeShapeType="1"/>
          </p:cNvSpPr>
          <p:nvPr/>
        </p:nvSpPr>
        <p:spPr bwMode="auto">
          <a:xfrm flipV="1">
            <a:off x="3429000" y="4471988"/>
            <a:ext cx="0" cy="228600"/>
          </a:xfrm>
          <a:prstGeom prst="line">
            <a:avLst/>
          </a:prstGeom>
          <a:noFill/>
          <a:ln w="25400">
            <a:solidFill>
              <a:schemeClr val="tx1"/>
            </a:solidFill>
            <a:round/>
            <a:tailEnd type="triangle" w="med" len="sm"/>
          </a:ln>
        </p:spPr>
        <p:txBody>
          <a:bodyPr wrap="none" anchor="ctr"/>
          <a:lstStyle/>
          <a:p>
            <a:endParaRPr lang="en-US"/>
          </a:p>
        </p:txBody>
      </p:sp>
      <p:sp>
        <p:nvSpPr>
          <p:cNvPr id="308235" name="Text Box 11"/>
          <p:cNvSpPr txBox="1">
            <a:spLocks noChangeArrowheads="1"/>
          </p:cNvSpPr>
          <p:nvPr/>
        </p:nvSpPr>
        <p:spPr bwMode="auto">
          <a:xfrm>
            <a:off x="3200400" y="4675188"/>
            <a:ext cx="457200" cy="368300"/>
          </a:xfrm>
          <a:prstGeom prst="rect">
            <a:avLst/>
          </a:prstGeom>
          <a:noFill/>
          <a:ln w="25400">
            <a:noFill/>
            <a:miter lim="800000"/>
          </a:ln>
        </p:spPr>
        <p:txBody>
          <a:bodyPr wrap="none">
            <a:spAutoFit/>
          </a:bodyPr>
          <a:lstStyle/>
          <a:p>
            <a:pPr eaLnBrk="0" hangingPunct="0"/>
            <a:r>
              <a:rPr lang="en-US" sz="1800">
                <a:latin typeface="Courier New" panose="02070309020205020404" charset="0"/>
              </a:rPr>
              <a:t>96</a:t>
            </a:r>
          </a:p>
        </p:txBody>
      </p:sp>
      <p:sp>
        <p:nvSpPr>
          <p:cNvPr id="308236" name="Line 12"/>
          <p:cNvSpPr>
            <a:spLocks noChangeShapeType="1"/>
          </p:cNvSpPr>
          <p:nvPr/>
        </p:nvSpPr>
        <p:spPr bwMode="auto">
          <a:xfrm flipV="1">
            <a:off x="4953000" y="4471988"/>
            <a:ext cx="0" cy="228600"/>
          </a:xfrm>
          <a:prstGeom prst="line">
            <a:avLst/>
          </a:prstGeom>
          <a:noFill/>
          <a:ln w="25400">
            <a:solidFill>
              <a:schemeClr val="tx1"/>
            </a:solidFill>
            <a:round/>
            <a:tailEnd type="triangle" w="med" len="sm"/>
          </a:ln>
        </p:spPr>
        <p:txBody>
          <a:bodyPr wrap="none" anchor="ctr"/>
          <a:lstStyle/>
          <a:p>
            <a:endParaRPr lang="en-US"/>
          </a:p>
        </p:txBody>
      </p:sp>
      <p:sp>
        <p:nvSpPr>
          <p:cNvPr id="308237" name="Text Box 13"/>
          <p:cNvSpPr txBox="1">
            <a:spLocks noChangeArrowheads="1"/>
          </p:cNvSpPr>
          <p:nvPr/>
        </p:nvSpPr>
        <p:spPr bwMode="auto">
          <a:xfrm>
            <a:off x="4656138" y="4675188"/>
            <a:ext cx="594360" cy="368300"/>
          </a:xfrm>
          <a:prstGeom prst="rect">
            <a:avLst/>
          </a:prstGeom>
          <a:noFill/>
          <a:ln w="25400">
            <a:noFill/>
            <a:miter lim="800000"/>
          </a:ln>
        </p:spPr>
        <p:txBody>
          <a:bodyPr wrap="none">
            <a:spAutoFit/>
          </a:bodyPr>
          <a:lstStyle/>
          <a:p>
            <a:pPr eaLnBrk="0" hangingPunct="0"/>
            <a:r>
              <a:rPr lang="en-US" sz="1800">
                <a:latin typeface="Courier New" panose="02070309020205020404" charset="0"/>
              </a:rPr>
              <a:t>116</a:t>
            </a:r>
          </a:p>
        </p:txBody>
      </p:sp>
      <p:sp>
        <p:nvSpPr>
          <p:cNvPr id="308238" name="Line 14"/>
          <p:cNvSpPr>
            <a:spLocks noChangeShapeType="1"/>
          </p:cNvSpPr>
          <p:nvPr/>
        </p:nvSpPr>
        <p:spPr bwMode="auto">
          <a:xfrm flipV="1">
            <a:off x="6477000" y="4471988"/>
            <a:ext cx="0" cy="228600"/>
          </a:xfrm>
          <a:prstGeom prst="line">
            <a:avLst/>
          </a:prstGeom>
          <a:noFill/>
          <a:ln w="25400">
            <a:solidFill>
              <a:schemeClr val="tx1"/>
            </a:solidFill>
            <a:round/>
            <a:tailEnd type="triangle" w="med" len="sm"/>
          </a:ln>
        </p:spPr>
        <p:txBody>
          <a:bodyPr wrap="none" anchor="ctr"/>
          <a:lstStyle/>
          <a:p>
            <a:endParaRPr lang="en-US"/>
          </a:p>
        </p:txBody>
      </p:sp>
      <p:sp>
        <p:nvSpPr>
          <p:cNvPr id="308239" name="Text Box 15"/>
          <p:cNvSpPr txBox="1">
            <a:spLocks noChangeArrowheads="1"/>
          </p:cNvSpPr>
          <p:nvPr/>
        </p:nvSpPr>
        <p:spPr bwMode="auto">
          <a:xfrm>
            <a:off x="6180138" y="4675188"/>
            <a:ext cx="594360" cy="368300"/>
          </a:xfrm>
          <a:prstGeom prst="rect">
            <a:avLst/>
          </a:prstGeom>
          <a:noFill/>
          <a:ln w="25400">
            <a:noFill/>
            <a:miter lim="800000"/>
          </a:ln>
        </p:spPr>
        <p:txBody>
          <a:bodyPr wrap="none">
            <a:spAutoFit/>
          </a:bodyPr>
          <a:lstStyle/>
          <a:p>
            <a:pPr eaLnBrk="0" hangingPunct="0"/>
            <a:r>
              <a:rPr lang="en-US" sz="1800">
                <a:latin typeface="Courier New" panose="02070309020205020404" charset="0"/>
              </a:rPr>
              <a:t>136</a:t>
            </a:r>
          </a:p>
        </p:txBody>
      </p:sp>
      <p:sp>
        <p:nvSpPr>
          <p:cNvPr id="308240" name="Line 16"/>
          <p:cNvSpPr>
            <a:spLocks noChangeShapeType="1"/>
          </p:cNvSpPr>
          <p:nvPr/>
        </p:nvSpPr>
        <p:spPr bwMode="auto">
          <a:xfrm flipV="1">
            <a:off x="8001000" y="4471988"/>
            <a:ext cx="0" cy="228600"/>
          </a:xfrm>
          <a:prstGeom prst="line">
            <a:avLst/>
          </a:prstGeom>
          <a:noFill/>
          <a:ln w="25400">
            <a:solidFill>
              <a:schemeClr val="tx1"/>
            </a:solidFill>
            <a:round/>
            <a:tailEnd type="triangle" w="med" len="sm"/>
          </a:ln>
        </p:spPr>
        <p:txBody>
          <a:bodyPr wrap="none" anchor="ctr"/>
          <a:lstStyle/>
          <a:p>
            <a:endParaRPr lang="en-US"/>
          </a:p>
        </p:txBody>
      </p:sp>
      <p:sp>
        <p:nvSpPr>
          <p:cNvPr id="308241" name="Text Box 17"/>
          <p:cNvSpPr txBox="1">
            <a:spLocks noChangeArrowheads="1"/>
          </p:cNvSpPr>
          <p:nvPr/>
        </p:nvSpPr>
        <p:spPr bwMode="auto">
          <a:xfrm>
            <a:off x="7704138" y="4675188"/>
            <a:ext cx="594360" cy="368300"/>
          </a:xfrm>
          <a:prstGeom prst="rect">
            <a:avLst/>
          </a:prstGeom>
          <a:noFill/>
          <a:ln w="25400">
            <a:noFill/>
            <a:miter lim="800000"/>
          </a:ln>
        </p:spPr>
        <p:txBody>
          <a:bodyPr wrap="none">
            <a:spAutoFit/>
          </a:bodyPr>
          <a:lstStyle/>
          <a:p>
            <a:pPr eaLnBrk="0" hangingPunct="0"/>
            <a:r>
              <a:rPr lang="en-US" sz="1800">
                <a:latin typeface="Courier New" panose="02070309020205020404" charset="0"/>
              </a:rPr>
              <a:t>156</a:t>
            </a:r>
          </a:p>
        </p:txBody>
      </p:sp>
      <p:grpSp>
        <p:nvGrpSpPr>
          <p:cNvPr id="6" name="Group 19"/>
          <p:cNvGrpSpPr/>
          <p:nvPr/>
        </p:nvGrpSpPr>
        <p:grpSpPr bwMode="auto">
          <a:xfrm>
            <a:off x="1905000" y="3709988"/>
            <a:ext cx="1524000" cy="762000"/>
            <a:chOff x="816" y="2640"/>
            <a:chExt cx="960" cy="480"/>
          </a:xfrm>
        </p:grpSpPr>
        <p:sp>
          <p:nvSpPr>
            <p:cNvPr id="76838" name="Rectangle 20"/>
            <p:cNvSpPr>
              <a:spLocks noChangeArrowheads="1"/>
            </p:cNvSpPr>
            <p:nvPr/>
          </p:nvSpPr>
          <p:spPr bwMode="auto">
            <a:xfrm>
              <a:off x="816" y="2640"/>
              <a:ext cx="192" cy="480"/>
            </a:xfrm>
            <a:prstGeom prst="rect">
              <a:avLst/>
            </a:prstGeom>
            <a:solidFill>
              <a:srgbClr val="F1C7C7"/>
            </a:solidFill>
            <a:ln w="12700">
              <a:solidFill>
                <a:schemeClr val="tx1"/>
              </a:solidFill>
              <a:miter lim="800000"/>
            </a:ln>
          </p:spPr>
          <p:txBody>
            <a:bodyPr wrap="none" anchor="ctr"/>
            <a:lstStyle/>
            <a:p>
              <a:pPr eaLnBrk="0" hangingPunct="0"/>
              <a:r>
                <a:rPr lang="en-US" sz="1800">
                  <a:latin typeface="Courier New" panose="02070309020205020404" charset="0"/>
                </a:rPr>
                <a:t>1</a:t>
              </a:r>
            </a:p>
          </p:txBody>
        </p:sp>
        <p:sp>
          <p:nvSpPr>
            <p:cNvPr id="76839" name="Rectangle 21"/>
            <p:cNvSpPr>
              <a:spLocks noChangeArrowheads="1"/>
            </p:cNvSpPr>
            <p:nvPr/>
          </p:nvSpPr>
          <p:spPr bwMode="auto">
            <a:xfrm>
              <a:off x="1008" y="2640"/>
              <a:ext cx="192" cy="480"/>
            </a:xfrm>
            <a:prstGeom prst="rect">
              <a:avLst/>
            </a:prstGeom>
            <a:solidFill>
              <a:srgbClr val="F1C7C7"/>
            </a:solidFill>
            <a:ln w="12700">
              <a:solidFill>
                <a:schemeClr val="tx1"/>
              </a:solidFill>
              <a:miter lim="800000"/>
            </a:ln>
          </p:spPr>
          <p:txBody>
            <a:bodyPr wrap="none" anchor="ctr"/>
            <a:lstStyle/>
            <a:p>
              <a:pPr eaLnBrk="0" hangingPunct="0"/>
              <a:r>
                <a:rPr lang="en-US" sz="1800">
                  <a:latin typeface="Courier New" panose="02070309020205020404" charset="0"/>
                </a:rPr>
                <a:t>5</a:t>
              </a:r>
            </a:p>
          </p:txBody>
        </p:sp>
        <p:sp>
          <p:nvSpPr>
            <p:cNvPr id="76840" name="Rectangle 22"/>
            <p:cNvSpPr>
              <a:spLocks noChangeArrowheads="1"/>
            </p:cNvSpPr>
            <p:nvPr/>
          </p:nvSpPr>
          <p:spPr bwMode="auto">
            <a:xfrm>
              <a:off x="1200" y="2640"/>
              <a:ext cx="192" cy="480"/>
            </a:xfrm>
            <a:prstGeom prst="rect">
              <a:avLst/>
            </a:prstGeom>
            <a:solidFill>
              <a:srgbClr val="F1C7C7"/>
            </a:solidFill>
            <a:ln w="12700">
              <a:solidFill>
                <a:schemeClr val="tx1"/>
              </a:solidFill>
              <a:miter lim="800000"/>
            </a:ln>
          </p:spPr>
          <p:txBody>
            <a:bodyPr wrap="none" anchor="ctr"/>
            <a:lstStyle/>
            <a:p>
              <a:pPr eaLnBrk="0" hangingPunct="0"/>
              <a:r>
                <a:rPr lang="en-US" sz="1800">
                  <a:latin typeface="Courier New" panose="02070309020205020404" charset="0"/>
                </a:rPr>
                <a:t>2</a:t>
              </a:r>
            </a:p>
          </p:txBody>
        </p:sp>
        <p:sp>
          <p:nvSpPr>
            <p:cNvPr id="76841" name="Rectangle 23"/>
            <p:cNvSpPr>
              <a:spLocks noChangeArrowheads="1"/>
            </p:cNvSpPr>
            <p:nvPr/>
          </p:nvSpPr>
          <p:spPr bwMode="auto">
            <a:xfrm>
              <a:off x="1392" y="2640"/>
              <a:ext cx="192" cy="480"/>
            </a:xfrm>
            <a:prstGeom prst="rect">
              <a:avLst/>
            </a:prstGeom>
            <a:solidFill>
              <a:srgbClr val="F1C7C7"/>
            </a:solidFill>
            <a:ln w="12700">
              <a:solidFill>
                <a:schemeClr val="tx1"/>
              </a:solidFill>
              <a:miter lim="800000"/>
            </a:ln>
          </p:spPr>
          <p:txBody>
            <a:bodyPr wrap="none" anchor="ctr"/>
            <a:lstStyle/>
            <a:p>
              <a:pPr eaLnBrk="0" hangingPunct="0"/>
              <a:r>
                <a:rPr lang="en-US" sz="1800">
                  <a:latin typeface="Courier New" panose="02070309020205020404" charset="0"/>
                </a:rPr>
                <a:t>0</a:t>
              </a:r>
            </a:p>
          </p:txBody>
        </p:sp>
        <p:sp>
          <p:nvSpPr>
            <p:cNvPr id="76842" name="Rectangle 24"/>
            <p:cNvSpPr>
              <a:spLocks noChangeArrowheads="1"/>
            </p:cNvSpPr>
            <p:nvPr/>
          </p:nvSpPr>
          <p:spPr bwMode="auto">
            <a:xfrm>
              <a:off x="1584" y="2640"/>
              <a:ext cx="192" cy="480"/>
            </a:xfrm>
            <a:prstGeom prst="rect">
              <a:avLst/>
            </a:prstGeom>
            <a:solidFill>
              <a:srgbClr val="F1C7C7"/>
            </a:solidFill>
            <a:ln w="12700">
              <a:solidFill>
                <a:schemeClr val="tx1"/>
              </a:solidFill>
              <a:miter lim="800000"/>
            </a:ln>
          </p:spPr>
          <p:txBody>
            <a:bodyPr wrap="none" anchor="ctr"/>
            <a:lstStyle/>
            <a:p>
              <a:pPr eaLnBrk="0" hangingPunct="0"/>
              <a:r>
                <a:rPr lang="en-US" sz="1800">
                  <a:latin typeface="Courier New" panose="02070309020205020404" charset="0"/>
                </a:rPr>
                <a:t>6</a:t>
              </a:r>
            </a:p>
          </p:txBody>
        </p:sp>
      </p:grpSp>
      <p:grpSp>
        <p:nvGrpSpPr>
          <p:cNvPr id="7" name="Group 25"/>
          <p:cNvGrpSpPr/>
          <p:nvPr/>
        </p:nvGrpSpPr>
        <p:grpSpPr bwMode="auto">
          <a:xfrm>
            <a:off x="3429000" y="3709988"/>
            <a:ext cx="1524000" cy="762000"/>
            <a:chOff x="816" y="2640"/>
            <a:chExt cx="960" cy="480"/>
          </a:xfrm>
        </p:grpSpPr>
        <p:sp>
          <p:nvSpPr>
            <p:cNvPr id="76833" name="Rectangle 26"/>
            <p:cNvSpPr>
              <a:spLocks noChangeArrowheads="1"/>
            </p:cNvSpPr>
            <p:nvPr/>
          </p:nvSpPr>
          <p:spPr bwMode="auto">
            <a:xfrm>
              <a:off x="816" y="2640"/>
              <a:ext cx="192" cy="480"/>
            </a:xfrm>
            <a:prstGeom prst="rect">
              <a:avLst/>
            </a:prstGeom>
            <a:solidFill>
              <a:srgbClr val="F6F5BD"/>
            </a:solidFill>
            <a:ln w="12700">
              <a:solidFill>
                <a:schemeClr val="tx1"/>
              </a:solidFill>
              <a:miter lim="800000"/>
            </a:ln>
          </p:spPr>
          <p:txBody>
            <a:bodyPr wrap="none" anchor="ctr"/>
            <a:lstStyle/>
            <a:p>
              <a:pPr eaLnBrk="0" hangingPunct="0"/>
              <a:r>
                <a:rPr lang="en-US" sz="1800">
                  <a:latin typeface="Courier New" panose="02070309020205020404" charset="0"/>
                </a:rPr>
                <a:t>1</a:t>
              </a:r>
            </a:p>
          </p:txBody>
        </p:sp>
        <p:sp>
          <p:nvSpPr>
            <p:cNvPr id="76834" name="Rectangle 27"/>
            <p:cNvSpPr>
              <a:spLocks noChangeArrowheads="1"/>
            </p:cNvSpPr>
            <p:nvPr/>
          </p:nvSpPr>
          <p:spPr bwMode="auto">
            <a:xfrm>
              <a:off x="1008" y="2640"/>
              <a:ext cx="192" cy="480"/>
            </a:xfrm>
            <a:prstGeom prst="rect">
              <a:avLst/>
            </a:prstGeom>
            <a:solidFill>
              <a:srgbClr val="F6F5BD"/>
            </a:solidFill>
            <a:ln w="12700">
              <a:solidFill>
                <a:schemeClr val="tx1"/>
              </a:solidFill>
              <a:miter lim="800000"/>
            </a:ln>
          </p:spPr>
          <p:txBody>
            <a:bodyPr wrap="none" anchor="ctr"/>
            <a:lstStyle/>
            <a:p>
              <a:pPr eaLnBrk="0" hangingPunct="0"/>
              <a:r>
                <a:rPr lang="en-US" sz="1800">
                  <a:latin typeface="Courier New" panose="02070309020205020404" charset="0"/>
                </a:rPr>
                <a:t>5</a:t>
              </a:r>
            </a:p>
          </p:txBody>
        </p:sp>
        <p:sp>
          <p:nvSpPr>
            <p:cNvPr id="76835" name="Rectangle 28"/>
            <p:cNvSpPr>
              <a:spLocks noChangeArrowheads="1"/>
            </p:cNvSpPr>
            <p:nvPr/>
          </p:nvSpPr>
          <p:spPr bwMode="auto">
            <a:xfrm>
              <a:off x="1200" y="2640"/>
              <a:ext cx="192" cy="480"/>
            </a:xfrm>
            <a:prstGeom prst="rect">
              <a:avLst/>
            </a:prstGeom>
            <a:solidFill>
              <a:srgbClr val="F6F5BD"/>
            </a:solidFill>
            <a:ln w="12700">
              <a:solidFill>
                <a:schemeClr val="tx1"/>
              </a:solidFill>
              <a:miter lim="800000"/>
            </a:ln>
          </p:spPr>
          <p:txBody>
            <a:bodyPr wrap="none" anchor="ctr"/>
            <a:lstStyle/>
            <a:p>
              <a:pPr eaLnBrk="0" hangingPunct="0"/>
              <a:r>
                <a:rPr lang="en-US" sz="1800">
                  <a:latin typeface="Courier New" panose="02070309020205020404" charset="0"/>
                </a:rPr>
                <a:t>2</a:t>
              </a:r>
            </a:p>
          </p:txBody>
        </p:sp>
        <p:sp>
          <p:nvSpPr>
            <p:cNvPr id="76836" name="Rectangle 29"/>
            <p:cNvSpPr>
              <a:spLocks noChangeArrowheads="1"/>
            </p:cNvSpPr>
            <p:nvPr/>
          </p:nvSpPr>
          <p:spPr bwMode="auto">
            <a:xfrm>
              <a:off x="1392" y="2640"/>
              <a:ext cx="192" cy="480"/>
            </a:xfrm>
            <a:prstGeom prst="rect">
              <a:avLst/>
            </a:prstGeom>
            <a:solidFill>
              <a:srgbClr val="F6F5BD"/>
            </a:solidFill>
            <a:ln w="12700">
              <a:solidFill>
                <a:schemeClr val="tx1"/>
              </a:solidFill>
              <a:miter lim="800000"/>
            </a:ln>
          </p:spPr>
          <p:txBody>
            <a:bodyPr wrap="none" anchor="ctr"/>
            <a:lstStyle/>
            <a:p>
              <a:pPr eaLnBrk="0" hangingPunct="0"/>
              <a:r>
                <a:rPr lang="en-US" sz="1800">
                  <a:latin typeface="Courier New" panose="02070309020205020404" charset="0"/>
                </a:rPr>
                <a:t>1</a:t>
              </a:r>
            </a:p>
          </p:txBody>
        </p:sp>
        <p:sp>
          <p:nvSpPr>
            <p:cNvPr id="76837" name="Rectangle 30"/>
            <p:cNvSpPr>
              <a:spLocks noChangeArrowheads="1"/>
            </p:cNvSpPr>
            <p:nvPr/>
          </p:nvSpPr>
          <p:spPr bwMode="auto">
            <a:xfrm>
              <a:off x="1584" y="2640"/>
              <a:ext cx="192" cy="480"/>
            </a:xfrm>
            <a:prstGeom prst="rect">
              <a:avLst/>
            </a:prstGeom>
            <a:solidFill>
              <a:srgbClr val="F6F5BD"/>
            </a:solidFill>
            <a:ln w="12700">
              <a:solidFill>
                <a:schemeClr val="tx1"/>
              </a:solidFill>
              <a:miter lim="800000"/>
            </a:ln>
          </p:spPr>
          <p:txBody>
            <a:bodyPr wrap="none" anchor="ctr"/>
            <a:lstStyle/>
            <a:p>
              <a:pPr eaLnBrk="0" hangingPunct="0"/>
              <a:r>
                <a:rPr lang="en-US" sz="1800">
                  <a:latin typeface="Courier New" panose="02070309020205020404" charset="0"/>
                </a:rPr>
                <a:t>3</a:t>
              </a:r>
            </a:p>
          </p:txBody>
        </p:sp>
      </p:grpSp>
      <p:grpSp>
        <p:nvGrpSpPr>
          <p:cNvPr id="8" name="Group 31"/>
          <p:cNvGrpSpPr/>
          <p:nvPr/>
        </p:nvGrpSpPr>
        <p:grpSpPr bwMode="auto">
          <a:xfrm>
            <a:off x="4953000" y="3709988"/>
            <a:ext cx="1524000" cy="762000"/>
            <a:chOff x="816" y="2640"/>
            <a:chExt cx="960" cy="480"/>
          </a:xfrm>
        </p:grpSpPr>
        <p:sp>
          <p:nvSpPr>
            <p:cNvPr id="308256" name="Rectangle 32"/>
            <p:cNvSpPr>
              <a:spLocks noChangeArrowheads="1"/>
            </p:cNvSpPr>
            <p:nvPr/>
          </p:nvSpPr>
          <p:spPr bwMode="auto">
            <a:xfrm>
              <a:off x="816" y="2640"/>
              <a:ext cx="192" cy="480"/>
            </a:xfrm>
            <a:prstGeom prst="rect">
              <a:avLst/>
            </a:prstGeom>
            <a:solidFill>
              <a:schemeClr val="accent2">
                <a:lumMod val="20000"/>
                <a:lumOff val="80000"/>
              </a:schemeClr>
            </a:solidFill>
            <a:ln w="12700">
              <a:solidFill>
                <a:schemeClr val="tx1"/>
              </a:solidFill>
              <a:miter lim="800000"/>
            </a:ln>
            <a:effectLst/>
          </p:spPr>
          <p:txBody>
            <a:bodyPr wrap="none" anchor="ctr"/>
            <a:lstStyle/>
            <a:p>
              <a:pPr eaLnBrk="0" hangingPunct="0">
                <a:defRPr/>
              </a:pPr>
              <a:r>
                <a:rPr lang="en-US" sz="1800">
                  <a:latin typeface="Courier New" panose="02070309020205020404" charset="0"/>
                  <a:ea typeface="+mn-ea"/>
                  <a:cs typeface="+mn-cs"/>
                </a:rPr>
                <a:t>1</a:t>
              </a:r>
            </a:p>
          </p:txBody>
        </p:sp>
        <p:sp>
          <p:nvSpPr>
            <p:cNvPr id="308257" name="Rectangle 33"/>
            <p:cNvSpPr>
              <a:spLocks noChangeArrowheads="1"/>
            </p:cNvSpPr>
            <p:nvPr/>
          </p:nvSpPr>
          <p:spPr bwMode="auto">
            <a:xfrm>
              <a:off x="1008" y="2640"/>
              <a:ext cx="192" cy="480"/>
            </a:xfrm>
            <a:prstGeom prst="rect">
              <a:avLst/>
            </a:prstGeom>
            <a:solidFill>
              <a:schemeClr val="accent2">
                <a:lumMod val="20000"/>
                <a:lumOff val="80000"/>
              </a:schemeClr>
            </a:solidFill>
            <a:ln w="12700">
              <a:solidFill>
                <a:schemeClr val="tx1"/>
              </a:solidFill>
              <a:miter lim="800000"/>
            </a:ln>
            <a:effectLst/>
          </p:spPr>
          <p:txBody>
            <a:bodyPr wrap="none" anchor="ctr"/>
            <a:lstStyle/>
            <a:p>
              <a:pPr eaLnBrk="0" hangingPunct="0">
                <a:defRPr/>
              </a:pPr>
              <a:r>
                <a:rPr lang="en-US" sz="1800">
                  <a:latin typeface="Courier New" panose="02070309020205020404" charset="0"/>
                  <a:ea typeface="+mn-ea"/>
                  <a:cs typeface="+mn-cs"/>
                </a:rPr>
                <a:t>5</a:t>
              </a:r>
            </a:p>
          </p:txBody>
        </p:sp>
        <p:sp>
          <p:nvSpPr>
            <p:cNvPr id="308258" name="Rectangle 34"/>
            <p:cNvSpPr>
              <a:spLocks noChangeArrowheads="1"/>
            </p:cNvSpPr>
            <p:nvPr/>
          </p:nvSpPr>
          <p:spPr bwMode="auto">
            <a:xfrm>
              <a:off x="1200" y="2640"/>
              <a:ext cx="192" cy="480"/>
            </a:xfrm>
            <a:prstGeom prst="rect">
              <a:avLst/>
            </a:prstGeom>
            <a:solidFill>
              <a:schemeClr val="accent2">
                <a:lumMod val="20000"/>
                <a:lumOff val="80000"/>
              </a:schemeClr>
            </a:solidFill>
            <a:ln w="12700">
              <a:solidFill>
                <a:schemeClr val="tx1"/>
              </a:solidFill>
              <a:miter lim="800000"/>
            </a:ln>
            <a:effectLst/>
          </p:spPr>
          <p:txBody>
            <a:bodyPr wrap="none" anchor="ctr"/>
            <a:lstStyle/>
            <a:p>
              <a:pPr eaLnBrk="0" hangingPunct="0">
                <a:defRPr/>
              </a:pPr>
              <a:r>
                <a:rPr lang="en-US" sz="1800">
                  <a:latin typeface="Courier New" panose="02070309020205020404" charset="0"/>
                  <a:ea typeface="+mn-ea"/>
                  <a:cs typeface="+mn-cs"/>
                </a:rPr>
                <a:t>2</a:t>
              </a:r>
            </a:p>
          </p:txBody>
        </p:sp>
        <p:sp>
          <p:nvSpPr>
            <p:cNvPr id="308259" name="Rectangle 35"/>
            <p:cNvSpPr>
              <a:spLocks noChangeArrowheads="1"/>
            </p:cNvSpPr>
            <p:nvPr/>
          </p:nvSpPr>
          <p:spPr bwMode="auto">
            <a:xfrm>
              <a:off x="1392" y="2640"/>
              <a:ext cx="192" cy="480"/>
            </a:xfrm>
            <a:prstGeom prst="rect">
              <a:avLst/>
            </a:prstGeom>
            <a:solidFill>
              <a:schemeClr val="accent2">
                <a:lumMod val="20000"/>
                <a:lumOff val="80000"/>
              </a:schemeClr>
            </a:solidFill>
            <a:ln w="12700">
              <a:solidFill>
                <a:schemeClr val="tx1"/>
              </a:solidFill>
              <a:miter lim="800000"/>
            </a:ln>
            <a:effectLst/>
          </p:spPr>
          <p:txBody>
            <a:bodyPr wrap="none" anchor="ctr"/>
            <a:lstStyle/>
            <a:p>
              <a:pPr eaLnBrk="0" hangingPunct="0">
                <a:defRPr/>
              </a:pPr>
              <a:r>
                <a:rPr lang="en-US" sz="1800">
                  <a:latin typeface="Courier New" panose="02070309020205020404" charset="0"/>
                  <a:ea typeface="+mn-ea"/>
                  <a:cs typeface="+mn-cs"/>
                </a:rPr>
                <a:t>1</a:t>
              </a:r>
            </a:p>
          </p:txBody>
        </p:sp>
        <p:sp>
          <p:nvSpPr>
            <p:cNvPr id="308260" name="Rectangle 36"/>
            <p:cNvSpPr>
              <a:spLocks noChangeArrowheads="1"/>
            </p:cNvSpPr>
            <p:nvPr/>
          </p:nvSpPr>
          <p:spPr bwMode="auto">
            <a:xfrm>
              <a:off x="1584" y="2640"/>
              <a:ext cx="192" cy="480"/>
            </a:xfrm>
            <a:prstGeom prst="rect">
              <a:avLst/>
            </a:prstGeom>
            <a:solidFill>
              <a:schemeClr val="accent2">
                <a:lumMod val="20000"/>
                <a:lumOff val="80000"/>
              </a:schemeClr>
            </a:solidFill>
            <a:ln w="12700">
              <a:solidFill>
                <a:schemeClr val="tx1"/>
              </a:solidFill>
              <a:miter lim="800000"/>
            </a:ln>
            <a:effectLst/>
          </p:spPr>
          <p:txBody>
            <a:bodyPr wrap="none" anchor="ctr"/>
            <a:lstStyle/>
            <a:p>
              <a:pPr eaLnBrk="0" hangingPunct="0">
                <a:defRPr/>
              </a:pPr>
              <a:r>
                <a:rPr lang="en-US" sz="1800">
                  <a:latin typeface="Courier New" panose="02070309020205020404" charset="0"/>
                  <a:ea typeface="+mn-ea"/>
                  <a:cs typeface="+mn-cs"/>
                </a:rPr>
                <a:t>7</a:t>
              </a:r>
            </a:p>
          </p:txBody>
        </p:sp>
      </p:grpSp>
      <p:grpSp>
        <p:nvGrpSpPr>
          <p:cNvPr id="9" name="Group 37"/>
          <p:cNvGrpSpPr/>
          <p:nvPr/>
        </p:nvGrpSpPr>
        <p:grpSpPr bwMode="auto">
          <a:xfrm>
            <a:off x="6477000" y="3705225"/>
            <a:ext cx="1524000" cy="766763"/>
            <a:chOff x="816" y="2637"/>
            <a:chExt cx="960" cy="483"/>
          </a:xfrm>
        </p:grpSpPr>
        <p:sp>
          <p:nvSpPr>
            <p:cNvPr id="76823" name="Rectangle 38"/>
            <p:cNvSpPr>
              <a:spLocks noChangeArrowheads="1"/>
            </p:cNvSpPr>
            <p:nvPr/>
          </p:nvSpPr>
          <p:spPr bwMode="auto">
            <a:xfrm>
              <a:off x="816" y="2640"/>
              <a:ext cx="192" cy="480"/>
            </a:xfrm>
            <a:prstGeom prst="rect">
              <a:avLst/>
            </a:prstGeom>
            <a:solidFill>
              <a:srgbClr val="D5F1CF"/>
            </a:solidFill>
            <a:ln w="12700">
              <a:solidFill>
                <a:schemeClr val="tx1"/>
              </a:solidFill>
              <a:miter lim="800000"/>
            </a:ln>
          </p:spPr>
          <p:txBody>
            <a:bodyPr wrap="none" anchor="ctr"/>
            <a:lstStyle/>
            <a:p>
              <a:pPr eaLnBrk="0" hangingPunct="0"/>
              <a:r>
                <a:rPr lang="en-US" sz="1800">
                  <a:latin typeface="Courier New" panose="02070309020205020404" charset="0"/>
                </a:rPr>
                <a:t>1</a:t>
              </a:r>
            </a:p>
          </p:txBody>
        </p:sp>
        <p:sp>
          <p:nvSpPr>
            <p:cNvPr id="76824" name="Rectangle 39"/>
            <p:cNvSpPr>
              <a:spLocks noChangeArrowheads="1"/>
            </p:cNvSpPr>
            <p:nvPr/>
          </p:nvSpPr>
          <p:spPr bwMode="auto">
            <a:xfrm>
              <a:off x="1008" y="2640"/>
              <a:ext cx="192" cy="480"/>
            </a:xfrm>
            <a:prstGeom prst="rect">
              <a:avLst/>
            </a:prstGeom>
            <a:solidFill>
              <a:srgbClr val="D5F1CF"/>
            </a:solidFill>
            <a:ln w="12700">
              <a:solidFill>
                <a:schemeClr val="tx1"/>
              </a:solidFill>
              <a:miter lim="800000"/>
            </a:ln>
          </p:spPr>
          <p:txBody>
            <a:bodyPr wrap="none" anchor="ctr"/>
            <a:lstStyle/>
            <a:p>
              <a:pPr eaLnBrk="0" hangingPunct="0"/>
              <a:r>
                <a:rPr lang="en-US" sz="1800">
                  <a:latin typeface="Courier New" panose="02070309020205020404" charset="0"/>
                </a:rPr>
                <a:t>5</a:t>
              </a:r>
            </a:p>
          </p:txBody>
        </p:sp>
        <p:sp>
          <p:nvSpPr>
            <p:cNvPr id="76825" name="Rectangle 40"/>
            <p:cNvSpPr>
              <a:spLocks noChangeArrowheads="1"/>
            </p:cNvSpPr>
            <p:nvPr/>
          </p:nvSpPr>
          <p:spPr bwMode="auto">
            <a:xfrm>
              <a:off x="1200" y="2640"/>
              <a:ext cx="192" cy="480"/>
            </a:xfrm>
            <a:prstGeom prst="rect">
              <a:avLst/>
            </a:prstGeom>
            <a:solidFill>
              <a:srgbClr val="D5F1CF"/>
            </a:solidFill>
            <a:ln w="12700">
              <a:solidFill>
                <a:schemeClr val="tx1"/>
              </a:solidFill>
              <a:miter lim="800000"/>
            </a:ln>
          </p:spPr>
          <p:txBody>
            <a:bodyPr wrap="none" anchor="ctr"/>
            <a:lstStyle/>
            <a:p>
              <a:pPr eaLnBrk="0" hangingPunct="0"/>
              <a:r>
                <a:rPr lang="en-US" sz="1800">
                  <a:latin typeface="Courier New" panose="02070309020205020404" charset="0"/>
                </a:rPr>
                <a:t>2</a:t>
              </a:r>
            </a:p>
          </p:txBody>
        </p:sp>
        <p:sp>
          <p:nvSpPr>
            <p:cNvPr id="76826" name="Rectangle 41"/>
            <p:cNvSpPr>
              <a:spLocks noChangeArrowheads="1"/>
            </p:cNvSpPr>
            <p:nvPr/>
          </p:nvSpPr>
          <p:spPr bwMode="auto">
            <a:xfrm>
              <a:off x="1392" y="2637"/>
              <a:ext cx="192" cy="480"/>
            </a:xfrm>
            <a:prstGeom prst="rect">
              <a:avLst/>
            </a:prstGeom>
            <a:solidFill>
              <a:srgbClr val="D5F1CF"/>
            </a:solidFill>
            <a:ln w="12700">
              <a:solidFill>
                <a:schemeClr val="tx1"/>
              </a:solidFill>
              <a:miter lim="800000"/>
            </a:ln>
          </p:spPr>
          <p:txBody>
            <a:bodyPr wrap="none" anchor="ctr"/>
            <a:lstStyle/>
            <a:p>
              <a:pPr eaLnBrk="0" hangingPunct="0"/>
              <a:r>
                <a:rPr lang="en-US" sz="1800">
                  <a:latin typeface="Courier New" panose="02070309020205020404" charset="0"/>
                </a:rPr>
                <a:t>2</a:t>
              </a:r>
            </a:p>
          </p:txBody>
        </p:sp>
        <p:sp>
          <p:nvSpPr>
            <p:cNvPr id="76827" name="Rectangle 42"/>
            <p:cNvSpPr>
              <a:spLocks noChangeArrowheads="1"/>
            </p:cNvSpPr>
            <p:nvPr/>
          </p:nvSpPr>
          <p:spPr bwMode="auto">
            <a:xfrm>
              <a:off x="1584" y="2640"/>
              <a:ext cx="192" cy="480"/>
            </a:xfrm>
            <a:prstGeom prst="rect">
              <a:avLst/>
            </a:prstGeom>
            <a:solidFill>
              <a:srgbClr val="D5F1CF"/>
            </a:solidFill>
            <a:ln w="12700">
              <a:solidFill>
                <a:schemeClr val="tx1"/>
              </a:solidFill>
              <a:miter lim="800000"/>
            </a:ln>
          </p:spPr>
          <p:txBody>
            <a:bodyPr wrap="none" anchor="ctr"/>
            <a:lstStyle/>
            <a:p>
              <a:pPr eaLnBrk="0" hangingPunct="0"/>
              <a:r>
                <a:rPr lang="en-US" sz="1800">
                  <a:latin typeface="Courier New" panose="02070309020205020404" charset="0"/>
                </a:rPr>
                <a:t>1</a:t>
              </a:r>
            </a:p>
          </p:txBody>
        </p:sp>
      </p:grpSp>
      <p:sp>
        <p:nvSpPr>
          <p:cNvPr id="308267" name="Rectangle 43"/>
          <p:cNvSpPr>
            <a:spLocks noChangeArrowheads="1"/>
          </p:cNvSpPr>
          <p:nvPr/>
        </p:nvSpPr>
        <p:spPr bwMode="auto">
          <a:xfrm>
            <a:off x="1905000" y="3704908"/>
            <a:ext cx="1524000" cy="762000"/>
          </a:xfrm>
          <a:prstGeom prst="rect">
            <a:avLst/>
          </a:prstGeom>
          <a:noFill/>
          <a:ln w="28575">
            <a:solidFill>
              <a:schemeClr val="tx1"/>
            </a:solidFill>
            <a:miter lim="800000"/>
          </a:ln>
        </p:spPr>
        <p:txBody>
          <a:bodyPr wrap="none" anchor="ctr"/>
          <a:lstStyle/>
          <a:p>
            <a:pPr eaLnBrk="0" hangingPunct="0"/>
            <a:endParaRPr lang="en-US" sz="1800">
              <a:latin typeface="Calibri" panose="020F0502020204030204" charset="0"/>
            </a:endParaRPr>
          </a:p>
        </p:txBody>
      </p:sp>
      <p:sp>
        <p:nvSpPr>
          <p:cNvPr id="308268" name="Rectangle 44"/>
          <p:cNvSpPr>
            <a:spLocks noChangeArrowheads="1"/>
          </p:cNvSpPr>
          <p:nvPr/>
        </p:nvSpPr>
        <p:spPr bwMode="auto">
          <a:xfrm>
            <a:off x="3429000" y="3704908"/>
            <a:ext cx="1524000" cy="762000"/>
          </a:xfrm>
          <a:prstGeom prst="rect">
            <a:avLst/>
          </a:prstGeom>
          <a:noFill/>
          <a:ln w="28575">
            <a:solidFill>
              <a:schemeClr val="tx1"/>
            </a:solidFill>
            <a:miter lim="800000"/>
          </a:ln>
        </p:spPr>
        <p:txBody>
          <a:bodyPr wrap="none" anchor="ctr"/>
          <a:lstStyle/>
          <a:p>
            <a:pPr eaLnBrk="0" hangingPunct="0"/>
            <a:endParaRPr lang="en-US" sz="1800">
              <a:latin typeface="Calibri" panose="020F0502020204030204" charset="0"/>
            </a:endParaRPr>
          </a:p>
        </p:txBody>
      </p:sp>
      <p:sp>
        <p:nvSpPr>
          <p:cNvPr id="308269" name="Rectangle 45"/>
          <p:cNvSpPr>
            <a:spLocks noChangeArrowheads="1"/>
          </p:cNvSpPr>
          <p:nvPr/>
        </p:nvSpPr>
        <p:spPr bwMode="auto">
          <a:xfrm>
            <a:off x="4953000" y="3707448"/>
            <a:ext cx="1524000" cy="762000"/>
          </a:xfrm>
          <a:prstGeom prst="rect">
            <a:avLst/>
          </a:prstGeom>
          <a:noFill/>
          <a:ln w="28575">
            <a:solidFill>
              <a:schemeClr val="tx1"/>
            </a:solidFill>
            <a:miter lim="800000"/>
          </a:ln>
        </p:spPr>
        <p:txBody>
          <a:bodyPr wrap="none" anchor="ctr"/>
          <a:lstStyle/>
          <a:p>
            <a:pPr eaLnBrk="0" hangingPunct="0"/>
            <a:endParaRPr lang="en-US" sz="1800">
              <a:latin typeface="Calibri" panose="020F0502020204030204" charset="0"/>
            </a:endParaRPr>
          </a:p>
        </p:txBody>
      </p:sp>
      <p:sp>
        <p:nvSpPr>
          <p:cNvPr id="308270" name="Rectangle 46"/>
          <p:cNvSpPr>
            <a:spLocks noChangeArrowheads="1"/>
          </p:cNvSpPr>
          <p:nvPr/>
        </p:nvSpPr>
        <p:spPr bwMode="auto">
          <a:xfrm>
            <a:off x="6477000" y="3709988"/>
            <a:ext cx="1524000" cy="762000"/>
          </a:xfrm>
          <a:prstGeom prst="rect">
            <a:avLst/>
          </a:prstGeom>
          <a:noFill/>
          <a:ln w="28575">
            <a:solidFill>
              <a:schemeClr val="tx1"/>
            </a:solidFill>
            <a:miter lim="800000"/>
          </a:ln>
        </p:spPr>
        <p:txBody>
          <a:bodyPr wrap="none" anchor="ctr"/>
          <a:lstStyle/>
          <a:p>
            <a:pPr eaLnBrk="0" hangingPunct="0"/>
            <a:endParaRPr lang="en-US" sz="180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down)">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6803"/>
                                        </p:tgtEl>
                                        <p:attrNameLst>
                                          <p:attrName>style.visibility</p:attrName>
                                        </p:attrNameLst>
                                      </p:cBhvr>
                                      <p:to>
                                        <p:strVal val="visible"/>
                                      </p:to>
                                    </p:set>
                                    <p:animEffect transition="in" filter="wipe(down)">
                                      <p:cBhvr>
                                        <p:cTn id="12" dur="500"/>
                                        <p:tgtEl>
                                          <p:spTgt spid="76803"/>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6804"/>
                                        </p:tgtEl>
                                        <p:attrNameLst>
                                          <p:attrName>style.visibility</p:attrName>
                                        </p:attrNameLst>
                                      </p:cBhvr>
                                      <p:to>
                                        <p:strVal val="visible"/>
                                      </p:to>
                                    </p:set>
                                    <p:anim calcmode="lin" valueType="num">
                                      <p:cBhvr additive="base">
                                        <p:cTn id="17" dur="500" fill="hold"/>
                                        <p:tgtEl>
                                          <p:spTgt spid="76804"/>
                                        </p:tgtEl>
                                        <p:attrNameLst>
                                          <p:attrName>ppt_x</p:attrName>
                                        </p:attrNameLst>
                                      </p:cBhvr>
                                      <p:tavLst>
                                        <p:tav tm="0">
                                          <p:val>
                                            <p:strVal val="#ppt_x"/>
                                          </p:val>
                                        </p:tav>
                                        <p:tav tm="100000">
                                          <p:val>
                                            <p:strVal val="#ppt_x"/>
                                          </p:val>
                                        </p:tav>
                                      </p:tavLst>
                                    </p:anim>
                                    <p:anim calcmode="lin" valueType="num">
                                      <p:cBhvr additive="base">
                                        <p:cTn id="18" dur="500" fill="hold"/>
                                        <p:tgtEl>
                                          <p:spTgt spid="76804"/>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08232"/>
                                        </p:tgtEl>
                                        <p:attrNameLst>
                                          <p:attrName>style.visibility</p:attrName>
                                        </p:attrNameLst>
                                      </p:cBhvr>
                                      <p:to>
                                        <p:strVal val="visible"/>
                                      </p:to>
                                    </p:set>
                                    <p:anim calcmode="lin" valueType="num">
                                      <p:cBhvr additive="base">
                                        <p:cTn id="21" dur="500" fill="hold"/>
                                        <p:tgtEl>
                                          <p:spTgt spid="308232"/>
                                        </p:tgtEl>
                                        <p:attrNameLst>
                                          <p:attrName>ppt_x</p:attrName>
                                        </p:attrNameLst>
                                      </p:cBhvr>
                                      <p:tavLst>
                                        <p:tav tm="0">
                                          <p:val>
                                            <p:strVal val="#ppt_x"/>
                                          </p:val>
                                        </p:tav>
                                        <p:tav tm="100000">
                                          <p:val>
                                            <p:strVal val="#ppt_x"/>
                                          </p:val>
                                        </p:tav>
                                      </p:tavLst>
                                    </p:anim>
                                    <p:anim calcmode="lin" valueType="num">
                                      <p:cBhvr additive="base">
                                        <p:cTn id="22" dur="500" fill="hold"/>
                                        <p:tgtEl>
                                          <p:spTgt spid="308232"/>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08233"/>
                                        </p:tgtEl>
                                        <p:attrNameLst>
                                          <p:attrName>style.visibility</p:attrName>
                                        </p:attrNameLst>
                                      </p:cBhvr>
                                      <p:to>
                                        <p:strVal val="visible"/>
                                      </p:to>
                                    </p:set>
                                    <p:anim calcmode="lin" valueType="num">
                                      <p:cBhvr additive="base">
                                        <p:cTn id="25" dur="500" fill="hold"/>
                                        <p:tgtEl>
                                          <p:spTgt spid="308233"/>
                                        </p:tgtEl>
                                        <p:attrNameLst>
                                          <p:attrName>ppt_x</p:attrName>
                                        </p:attrNameLst>
                                      </p:cBhvr>
                                      <p:tavLst>
                                        <p:tav tm="0">
                                          <p:val>
                                            <p:strVal val="#ppt_x"/>
                                          </p:val>
                                        </p:tav>
                                        <p:tav tm="100000">
                                          <p:val>
                                            <p:strVal val="#ppt_x"/>
                                          </p:val>
                                        </p:tav>
                                      </p:tavLst>
                                    </p:anim>
                                    <p:anim calcmode="lin" valueType="num">
                                      <p:cBhvr additive="base">
                                        <p:cTn id="26" dur="500" fill="hold"/>
                                        <p:tgtEl>
                                          <p:spTgt spid="308233"/>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08234"/>
                                        </p:tgtEl>
                                        <p:attrNameLst>
                                          <p:attrName>style.visibility</p:attrName>
                                        </p:attrNameLst>
                                      </p:cBhvr>
                                      <p:to>
                                        <p:strVal val="visible"/>
                                      </p:to>
                                    </p:set>
                                    <p:anim calcmode="lin" valueType="num">
                                      <p:cBhvr additive="base">
                                        <p:cTn id="29" dur="500" fill="hold"/>
                                        <p:tgtEl>
                                          <p:spTgt spid="308234"/>
                                        </p:tgtEl>
                                        <p:attrNameLst>
                                          <p:attrName>ppt_x</p:attrName>
                                        </p:attrNameLst>
                                      </p:cBhvr>
                                      <p:tavLst>
                                        <p:tav tm="0">
                                          <p:val>
                                            <p:strVal val="#ppt_x"/>
                                          </p:val>
                                        </p:tav>
                                        <p:tav tm="100000">
                                          <p:val>
                                            <p:strVal val="#ppt_x"/>
                                          </p:val>
                                        </p:tav>
                                      </p:tavLst>
                                    </p:anim>
                                    <p:anim calcmode="lin" valueType="num">
                                      <p:cBhvr additive="base">
                                        <p:cTn id="30" dur="500" fill="hold"/>
                                        <p:tgtEl>
                                          <p:spTgt spid="308234"/>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08235"/>
                                        </p:tgtEl>
                                        <p:attrNameLst>
                                          <p:attrName>style.visibility</p:attrName>
                                        </p:attrNameLst>
                                      </p:cBhvr>
                                      <p:to>
                                        <p:strVal val="visible"/>
                                      </p:to>
                                    </p:set>
                                    <p:anim calcmode="lin" valueType="num">
                                      <p:cBhvr additive="base">
                                        <p:cTn id="33" dur="500" fill="hold"/>
                                        <p:tgtEl>
                                          <p:spTgt spid="308235"/>
                                        </p:tgtEl>
                                        <p:attrNameLst>
                                          <p:attrName>ppt_x</p:attrName>
                                        </p:attrNameLst>
                                      </p:cBhvr>
                                      <p:tavLst>
                                        <p:tav tm="0">
                                          <p:val>
                                            <p:strVal val="#ppt_x"/>
                                          </p:val>
                                        </p:tav>
                                        <p:tav tm="100000">
                                          <p:val>
                                            <p:strVal val="#ppt_x"/>
                                          </p:val>
                                        </p:tav>
                                      </p:tavLst>
                                    </p:anim>
                                    <p:anim calcmode="lin" valueType="num">
                                      <p:cBhvr additive="base">
                                        <p:cTn id="34" dur="500" fill="hold"/>
                                        <p:tgtEl>
                                          <p:spTgt spid="308235"/>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08236"/>
                                        </p:tgtEl>
                                        <p:attrNameLst>
                                          <p:attrName>style.visibility</p:attrName>
                                        </p:attrNameLst>
                                      </p:cBhvr>
                                      <p:to>
                                        <p:strVal val="visible"/>
                                      </p:to>
                                    </p:set>
                                    <p:anim calcmode="lin" valueType="num">
                                      <p:cBhvr additive="base">
                                        <p:cTn id="37" dur="500" fill="hold"/>
                                        <p:tgtEl>
                                          <p:spTgt spid="308236"/>
                                        </p:tgtEl>
                                        <p:attrNameLst>
                                          <p:attrName>ppt_x</p:attrName>
                                        </p:attrNameLst>
                                      </p:cBhvr>
                                      <p:tavLst>
                                        <p:tav tm="0">
                                          <p:val>
                                            <p:strVal val="#ppt_x"/>
                                          </p:val>
                                        </p:tav>
                                        <p:tav tm="100000">
                                          <p:val>
                                            <p:strVal val="#ppt_x"/>
                                          </p:val>
                                        </p:tav>
                                      </p:tavLst>
                                    </p:anim>
                                    <p:anim calcmode="lin" valueType="num">
                                      <p:cBhvr additive="base">
                                        <p:cTn id="38" dur="500" fill="hold"/>
                                        <p:tgtEl>
                                          <p:spTgt spid="308236"/>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08237"/>
                                        </p:tgtEl>
                                        <p:attrNameLst>
                                          <p:attrName>style.visibility</p:attrName>
                                        </p:attrNameLst>
                                      </p:cBhvr>
                                      <p:to>
                                        <p:strVal val="visible"/>
                                      </p:to>
                                    </p:set>
                                    <p:anim calcmode="lin" valueType="num">
                                      <p:cBhvr additive="base">
                                        <p:cTn id="41" dur="500" fill="hold"/>
                                        <p:tgtEl>
                                          <p:spTgt spid="308237"/>
                                        </p:tgtEl>
                                        <p:attrNameLst>
                                          <p:attrName>ppt_x</p:attrName>
                                        </p:attrNameLst>
                                      </p:cBhvr>
                                      <p:tavLst>
                                        <p:tav tm="0">
                                          <p:val>
                                            <p:strVal val="#ppt_x"/>
                                          </p:val>
                                        </p:tav>
                                        <p:tav tm="100000">
                                          <p:val>
                                            <p:strVal val="#ppt_x"/>
                                          </p:val>
                                        </p:tav>
                                      </p:tavLst>
                                    </p:anim>
                                    <p:anim calcmode="lin" valueType="num">
                                      <p:cBhvr additive="base">
                                        <p:cTn id="42" dur="500" fill="hold"/>
                                        <p:tgtEl>
                                          <p:spTgt spid="308237"/>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08238"/>
                                        </p:tgtEl>
                                        <p:attrNameLst>
                                          <p:attrName>style.visibility</p:attrName>
                                        </p:attrNameLst>
                                      </p:cBhvr>
                                      <p:to>
                                        <p:strVal val="visible"/>
                                      </p:to>
                                    </p:set>
                                    <p:anim calcmode="lin" valueType="num">
                                      <p:cBhvr additive="base">
                                        <p:cTn id="45" dur="500" fill="hold"/>
                                        <p:tgtEl>
                                          <p:spTgt spid="308238"/>
                                        </p:tgtEl>
                                        <p:attrNameLst>
                                          <p:attrName>ppt_x</p:attrName>
                                        </p:attrNameLst>
                                      </p:cBhvr>
                                      <p:tavLst>
                                        <p:tav tm="0">
                                          <p:val>
                                            <p:strVal val="#ppt_x"/>
                                          </p:val>
                                        </p:tav>
                                        <p:tav tm="100000">
                                          <p:val>
                                            <p:strVal val="#ppt_x"/>
                                          </p:val>
                                        </p:tav>
                                      </p:tavLst>
                                    </p:anim>
                                    <p:anim calcmode="lin" valueType="num">
                                      <p:cBhvr additive="base">
                                        <p:cTn id="46" dur="500" fill="hold"/>
                                        <p:tgtEl>
                                          <p:spTgt spid="308238"/>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08239"/>
                                        </p:tgtEl>
                                        <p:attrNameLst>
                                          <p:attrName>style.visibility</p:attrName>
                                        </p:attrNameLst>
                                      </p:cBhvr>
                                      <p:to>
                                        <p:strVal val="visible"/>
                                      </p:to>
                                    </p:set>
                                    <p:anim calcmode="lin" valueType="num">
                                      <p:cBhvr additive="base">
                                        <p:cTn id="49" dur="500" fill="hold"/>
                                        <p:tgtEl>
                                          <p:spTgt spid="308239"/>
                                        </p:tgtEl>
                                        <p:attrNameLst>
                                          <p:attrName>ppt_x</p:attrName>
                                        </p:attrNameLst>
                                      </p:cBhvr>
                                      <p:tavLst>
                                        <p:tav tm="0">
                                          <p:val>
                                            <p:strVal val="#ppt_x"/>
                                          </p:val>
                                        </p:tav>
                                        <p:tav tm="100000">
                                          <p:val>
                                            <p:strVal val="#ppt_x"/>
                                          </p:val>
                                        </p:tav>
                                      </p:tavLst>
                                    </p:anim>
                                    <p:anim calcmode="lin" valueType="num">
                                      <p:cBhvr additive="base">
                                        <p:cTn id="50" dur="500" fill="hold"/>
                                        <p:tgtEl>
                                          <p:spTgt spid="308239"/>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308240"/>
                                        </p:tgtEl>
                                        <p:attrNameLst>
                                          <p:attrName>style.visibility</p:attrName>
                                        </p:attrNameLst>
                                      </p:cBhvr>
                                      <p:to>
                                        <p:strVal val="visible"/>
                                      </p:to>
                                    </p:set>
                                    <p:anim calcmode="lin" valueType="num">
                                      <p:cBhvr additive="base">
                                        <p:cTn id="53" dur="500" fill="hold"/>
                                        <p:tgtEl>
                                          <p:spTgt spid="308240"/>
                                        </p:tgtEl>
                                        <p:attrNameLst>
                                          <p:attrName>ppt_x</p:attrName>
                                        </p:attrNameLst>
                                      </p:cBhvr>
                                      <p:tavLst>
                                        <p:tav tm="0">
                                          <p:val>
                                            <p:strVal val="#ppt_x"/>
                                          </p:val>
                                        </p:tav>
                                        <p:tav tm="100000">
                                          <p:val>
                                            <p:strVal val="#ppt_x"/>
                                          </p:val>
                                        </p:tav>
                                      </p:tavLst>
                                    </p:anim>
                                    <p:anim calcmode="lin" valueType="num">
                                      <p:cBhvr additive="base">
                                        <p:cTn id="54" dur="500" fill="hold"/>
                                        <p:tgtEl>
                                          <p:spTgt spid="308240"/>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08241"/>
                                        </p:tgtEl>
                                        <p:attrNameLst>
                                          <p:attrName>style.visibility</p:attrName>
                                        </p:attrNameLst>
                                      </p:cBhvr>
                                      <p:to>
                                        <p:strVal val="visible"/>
                                      </p:to>
                                    </p:set>
                                    <p:anim calcmode="lin" valueType="num">
                                      <p:cBhvr additive="base">
                                        <p:cTn id="57" dur="500" fill="hold"/>
                                        <p:tgtEl>
                                          <p:spTgt spid="308241"/>
                                        </p:tgtEl>
                                        <p:attrNameLst>
                                          <p:attrName>ppt_x</p:attrName>
                                        </p:attrNameLst>
                                      </p:cBhvr>
                                      <p:tavLst>
                                        <p:tav tm="0">
                                          <p:val>
                                            <p:strVal val="#ppt_x"/>
                                          </p:val>
                                        </p:tav>
                                        <p:tav tm="100000">
                                          <p:val>
                                            <p:strVal val="#ppt_x"/>
                                          </p:val>
                                        </p:tav>
                                      </p:tavLst>
                                    </p:anim>
                                    <p:anim calcmode="lin" valueType="num">
                                      <p:cBhvr additive="base">
                                        <p:cTn id="58" dur="500" fill="hold"/>
                                        <p:tgtEl>
                                          <p:spTgt spid="308241"/>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6"/>
                                        </p:tgtEl>
                                        <p:attrNameLst>
                                          <p:attrName>style.visibility</p:attrName>
                                        </p:attrNameLst>
                                      </p:cBhvr>
                                      <p:to>
                                        <p:strVal val="visible"/>
                                      </p:to>
                                    </p:set>
                                    <p:anim calcmode="lin" valueType="num">
                                      <p:cBhvr additive="base">
                                        <p:cTn id="61" dur="500" fill="hold"/>
                                        <p:tgtEl>
                                          <p:spTgt spid="6"/>
                                        </p:tgtEl>
                                        <p:attrNameLst>
                                          <p:attrName>ppt_x</p:attrName>
                                        </p:attrNameLst>
                                      </p:cBhvr>
                                      <p:tavLst>
                                        <p:tav tm="0">
                                          <p:val>
                                            <p:strVal val="#ppt_x"/>
                                          </p:val>
                                        </p:tav>
                                        <p:tav tm="100000">
                                          <p:val>
                                            <p:strVal val="#ppt_x"/>
                                          </p:val>
                                        </p:tav>
                                      </p:tavLst>
                                    </p:anim>
                                    <p:anim calcmode="lin" valueType="num">
                                      <p:cBhvr additive="base">
                                        <p:cTn id="62" dur="500" fill="hold"/>
                                        <p:tgtEl>
                                          <p:spTgt spid="6"/>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7"/>
                                        </p:tgtEl>
                                        <p:attrNameLst>
                                          <p:attrName>style.visibility</p:attrName>
                                        </p:attrNameLst>
                                      </p:cBhvr>
                                      <p:to>
                                        <p:strVal val="visible"/>
                                      </p:to>
                                    </p:set>
                                    <p:anim calcmode="lin" valueType="num">
                                      <p:cBhvr additive="base">
                                        <p:cTn id="65" dur="500" fill="hold"/>
                                        <p:tgtEl>
                                          <p:spTgt spid="7"/>
                                        </p:tgtEl>
                                        <p:attrNameLst>
                                          <p:attrName>ppt_x</p:attrName>
                                        </p:attrNameLst>
                                      </p:cBhvr>
                                      <p:tavLst>
                                        <p:tav tm="0">
                                          <p:val>
                                            <p:strVal val="#ppt_x"/>
                                          </p:val>
                                        </p:tav>
                                        <p:tav tm="100000">
                                          <p:val>
                                            <p:strVal val="#ppt_x"/>
                                          </p:val>
                                        </p:tav>
                                      </p:tavLst>
                                    </p:anim>
                                    <p:anim calcmode="lin" valueType="num">
                                      <p:cBhvr additive="base">
                                        <p:cTn id="66" dur="500" fill="hold"/>
                                        <p:tgtEl>
                                          <p:spTgt spid="7"/>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8"/>
                                        </p:tgtEl>
                                        <p:attrNameLst>
                                          <p:attrName>style.visibility</p:attrName>
                                        </p:attrNameLst>
                                      </p:cBhvr>
                                      <p:to>
                                        <p:strVal val="visible"/>
                                      </p:to>
                                    </p:set>
                                    <p:anim calcmode="lin" valueType="num">
                                      <p:cBhvr additive="base">
                                        <p:cTn id="69" dur="500" fill="hold"/>
                                        <p:tgtEl>
                                          <p:spTgt spid="8"/>
                                        </p:tgtEl>
                                        <p:attrNameLst>
                                          <p:attrName>ppt_x</p:attrName>
                                        </p:attrNameLst>
                                      </p:cBhvr>
                                      <p:tavLst>
                                        <p:tav tm="0">
                                          <p:val>
                                            <p:strVal val="#ppt_x"/>
                                          </p:val>
                                        </p:tav>
                                        <p:tav tm="100000">
                                          <p:val>
                                            <p:strVal val="#ppt_x"/>
                                          </p:val>
                                        </p:tav>
                                      </p:tavLst>
                                    </p:anim>
                                    <p:anim calcmode="lin" valueType="num">
                                      <p:cBhvr additive="base">
                                        <p:cTn id="70" dur="500" fill="hold"/>
                                        <p:tgtEl>
                                          <p:spTgt spid="8"/>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additive="base">
                                        <p:cTn id="73" dur="500" fill="hold"/>
                                        <p:tgtEl>
                                          <p:spTgt spid="9"/>
                                        </p:tgtEl>
                                        <p:attrNameLst>
                                          <p:attrName>ppt_x</p:attrName>
                                        </p:attrNameLst>
                                      </p:cBhvr>
                                      <p:tavLst>
                                        <p:tav tm="0">
                                          <p:val>
                                            <p:strVal val="#ppt_x"/>
                                          </p:val>
                                        </p:tav>
                                        <p:tav tm="100000">
                                          <p:val>
                                            <p:strVal val="#ppt_x"/>
                                          </p:val>
                                        </p:tav>
                                      </p:tavLst>
                                    </p:anim>
                                    <p:anim calcmode="lin" valueType="num">
                                      <p:cBhvr additive="base">
                                        <p:cTn id="74" dur="500" fill="hold"/>
                                        <p:tgtEl>
                                          <p:spTgt spid="9"/>
                                        </p:tgtEl>
                                        <p:attrNameLst>
                                          <p:attrName>ppt_y</p:attrName>
                                        </p:attrNameLst>
                                      </p:cBhvr>
                                      <p:tavLst>
                                        <p:tav tm="0">
                                          <p:val>
                                            <p:strVal val="1+#ppt_h/2"/>
                                          </p:val>
                                        </p:tav>
                                        <p:tav tm="100000">
                                          <p:val>
                                            <p:strVal val="#ppt_y"/>
                                          </p:val>
                                        </p:tav>
                                      </p:tavLst>
                                    </p:anim>
                                  </p:childTnLst>
                                </p:cTn>
                              </p:par>
                              <p:par>
                                <p:cTn id="75" presetID="2" presetClass="entr" presetSubtype="4" fill="hold" grpId="0" nodeType="withEffect">
                                  <p:stCondLst>
                                    <p:cond delay="0"/>
                                  </p:stCondLst>
                                  <p:childTnLst>
                                    <p:set>
                                      <p:cBhvr>
                                        <p:cTn id="76" dur="1" fill="hold">
                                          <p:stCondLst>
                                            <p:cond delay="0"/>
                                          </p:stCondLst>
                                        </p:cTn>
                                        <p:tgtEl>
                                          <p:spTgt spid="308267"/>
                                        </p:tgtEl>
                                        <p:attrNameLst>
                                          <p:attrName>style.visibility</p:attrName>
                                        </p:attrNameLst>
                                      </p:cBhvr>
                                      <p:to>
                                        <p:strVal val="visible"/>
                                      </p:to>
                                    </p:set>
                                    <p:anim calcmode="lin" valueType="num">
                                      <p:cBhvr additive="base">
                                        <p:cTn id="77" dur="500" fill="hold"/>
                                        <p:tgtEl>
                                          <p:spTgt spid="308267"/>
                                        </p:tgtEl>
                                        <p:attrNameLst>
                                          <p:attrName>ppt_x</p:attrName>
                                        </p:attrNameLst>
                                      </p:cBhvr>
                                      <p:tavLst>
                                        <p:tav tm="0">
                                          <p:val>
                                            <p:strVal val="#ppt_x"/>
                                          </p:val>
                                        </p:tav>
                                        <p:tav tm="100000">
                                          <p:val>
                                            <p:strVal val="#ppt_x"/>
                                          </p:val>
                                        </p:tav>
                                      </p:tavLst>
                                    </p:anim>
                                    <p:anim calcmode="lin" valueType="num">
                                      <p:cBhvr additive="base">
                                        <p:cTn id="78" dur="500" fill="hold"/>
                                        <p:tgtEl>
                                          <p:spTgt spid="308267"/>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08268"/>
                                        </p:tgtEl>
                                        <p:attrNameLst>
                                          <p:attrName>style.visibility</p:attrName>
                                        </p:attrNameLst>
                                      </p:cBhvr>
                                      <p:to>
                                        <p:strVal val="visible"/>
                                      </p:to>
                                    </p:set>
                                    <p:anim calcmode="lin" valueType="num">
                                      <p:cBhvr additive="base">
                                        <p:cTn id="81" dur="500" fill="hold"/>
                                        <p:tgtEl>
                                          <p:spTgt spid="308268"/>
                                        </p:tgtEl>
                                        <p:attrNameLst>
                                          <p:attrName>ppt_x</p:attrName>
                                        </p:attrNameLst>
                                      </p:cBhvr>
                                      <p:tavLst>
                                        <p:tav tm="0">
                                          <p:val>
                                            <p:strVal val="#ppt_x"/>
                                          </p:val>
                                        </p:tav>
                                        <p:tav tm="100000">
                                          <p:val>
                                            <p:strVal val="#ppt_x"/>
                                          </p:val>
                                        </p:tav>
                                      </p:tavLst>
                                    </p:anim>
                                    <p:anim calcmode="lin" valueType="num">
                                      <p:cBhvr additive="base">
                                        <p:cTn id="82" dur="500" fill="hold"/>
                                        <p:tgtEl>
                                          <p:spTgt spid="308268"/>
                                        </p:tgtEl>
                                        <p:attrNameLst>
                                          <p:attrName>ppt_y</p:attrName>
                                        </p:attrNameLst>
                                      </p:cBhvr>
                                      <p:tavLst>
                                        <p:tav tm="0">
                                          <p:val>
                                            <p:strVal val="1+#ppt_h/2"/>
                                          </p:val>
                                        </p:tav>
                                        <p:tav tm="100000">
                                          <p:val>
                                            <p:strVal val="#ppt_y"/>
                                          </p:val>
                                        </p:tav>
                                      </p:tavLst>
                                    </p:anim>
                                  </p:childTnLst>
                                </p:cTn>
                              </p:par>
                              <p:par>
                                <p:cTn id="83" presetID="2" presetClass="entr" presetSubtype="4" fill="hold" grpId="0" nodeType="withEffect">
                                  <p:stCondLst>
                                    <p:cond delay="0"/>
                                  </p:stCondLst>
                                  <p:childTnLst>
                                    <p:set>
                                      <p:cBhvr>
                                        <p:cTn id="84" dur="1" fill="hold">
                                          <p:stCondLst>
                                            <p:cond delay="0"/>
                                          </p:stCondLst>
                                        </p:cTn>
                                        <p:tgtEl>
                                          <p:spTgt spid="308269"/>
                                        </p:tgtEl>
                                        <p:attrNameLst>
                                          <p:attrName>style.visibility</p:attrName>
                                        </p:attrNameLst>
                                      </p:cBhvr>
                                      <p:to>
                                        <p:strVal val="visible"/>
                                      </p:to>
                                    </p:set>
                                    <p:anim calcmode="lin" valueType="num">
                                      <p:cBhvr additive="base">
                                        <p:cTn id="85" dur="500" fill="hold"/>
                                        <p:tgtEl>
                                          <p:spTgt spid="308269"/>
                                        </p:tgtEl>
                                        <p:attrNameLst>
                                          <p:attrName>ppt_x</p:attrName>
                                        </p:attrNameLst>
                                      </p:cBhvr>
                                      <p:tavLst>
                                        <p:tav tm="0">
                                          <p:val>
                                            <p:strVal val="#ppt_x"/>
                                          </p:val>
                                        </p:tav>
                                        <p:tav tm="100000">
                                          <p:val>
                                            <p:strVal val="#ppt_x"/>
                                          </p:val>
                                        </p:tav>
                                      </p:tavLst>
                                    </p:anim>
                                    <p:anim calcmode="lin" valueType="num">
                                      <p:cBhvr additive="base">
                                        <p:cTn id="86" dur="500" fill="hold"/>
                                        <p:tgtEl>
                                          <p:spTgt spid="308269"/>
                                        </p:tgtEl>
                                        <p:attrNameLst>
                                          <p:attrName>ppt_y</p:attrName>
                                        </p:attrNameLst>
                                      </p:cBhvr>
                                      <p:tavLst>
                                        <p:tav tm="0">
                                          <p:val>
                                            <p:strVal val="1+#ppt_h/2"/>
                                          </p:val>
                                        </p:tav>
                                        <p:tav tm="100000">
                                          <p:val>
                                            <p:strVal val="#ppt_y"/>
                                          </p:val>
                                        </p:tav>
                                      </p:tavLst>
                                    </p:anim>
                                  </p:childTnLst>
                                </p:cTn>
                              </p:par>
                              <p:par>
                                <p:cTn id="87" presetID="2" presetClass="entr" presetSubtype="4" fill="hold" grpId="0" nodeType="withEffect">
                                  <p:stCondLst>
                                    <p:cond delay="0"/>
                                  </p:stCondLst>
                                  <p:childTnLst>
                                    <p:set>
                                      <p:cBhvr>
                                        <p:cTn id="88" dur="1" fill="hold">
                                          <p:stCondLst>
                                            <p:cond delay="0"/>
                                          </p:stCondLst>
                                        </p:cTn>
                                        <p:tgtEl>
                                          <p:spTgt spid="308270"/>
                                        </p:tgtEl>
                                        <p:attrNameLst>
                                          <p:attrName>style.visibility</p:attrName>
                                        </p:attrNameLst>
                                      </p:cBhvr>
                                      <p:to>
                                        <p:strVal val="visible"/>
                                      </p:to>
                                    </p:set>
                                    <p:anim calcmode="lin" valueType="num">
                                      <p:cBhvr additive="base">
                                        <p:cTn id="89" dur="500" fill="hold"/>
                                        <p:tgtEl>
                                          <p:spTgt spid="308270"/>
                                        </p:tgtEl>
                                        <p:attrNameLst>
                                          <p:attrName>ppt_x</p:attrName>
                                        </p:attrNameLst>
                                      </p:cBhvr>
                                      <p:tavLst>
                                        <p:tav tm="0">
                                          <p:val>
                                            <p:strVal val="#ppt_x"/>
                                          </p:val>
                                        </p:tav>
                                        <p:tav tm="100000">
                                          <p:val>
                                            <p:strVal val="#ppt_x"/>
                                          </p:val>
                                        </p:tav>
                                      </p:tavLst>
                                    </p:anim>
                                    <p:anim calcmode="lin" valueType="num">
                                      <p:cBhvr additive="base">
                                        <p:cTn id="90" dur="500" fill="hold"/>
                                        <p:tgtEl>
                                          <p:spTgt spid="308270"/>
                                        </p:tgtEl>
                                        <p:attrNameLst>
                                          <p:attrName>ppt_y</p:attrName>
                                        </p:attrNameLst>
                                      </p:cBhvr>
                                      <p:tavLst>
                                        <p:tav tm="0">
                                          <p:val>
                                            <p:strVal val="1+#ppt_h/2"/>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nodeType="clickEffect">
                                  <p:stCondLst>
                                    <p:cond delay="0"/>
                                  </p:stCondLst>
                                  <p:childTnLst>
                                    <p:set>
                                      <p:cBhvr>
                                        <p:cTn id="94" dur="1" fill="hold">
                                          <p:stCondLst>
                                            <p:cond delay="0"/>
                                          </p:stCondLst>
                                        </p:cTn>
                                        <p:tgtEl>
                                          <p:spTgt spid="308227">
                                            <p:txEl>
                                              <p:pRg st="0" end="0"/>
                                            </p:txEl>
                                          </p:spTgt>
                                        </p:tgtEl>
                                        <p:attrNameLst>
                                          <p:attrName>style.visibility</p:attrName>
                                        </p:attrNameLst>
                                      </p:cBhvr>
                                      <p:to>
                                        <p:strVal val="visible"/>
                                      </p:to>
                                    </p:set>
                                    <p:animEffect transition="in" filter="wipe(down)">
                                      <p:cBhvr>
                                        <p:cTn id="95" dur="500"/>
                                        <p:tgtEl>
                                          <p:spTgt spid="308227">
                                            <p:txEl>
                                              <p:pRg st="0" end="0"/>
                                            </p:txEl>
                                          </p:spTgt>
                                        </p:tgtEl>
                                      </p:cBhvr>
                                    </p:animEffect>
                                  </p:childTnLst>
                                </p:cTn>
                              </p:par>
                            </p:childTnLst>
                          </p:cTn>
                        </p:par>
                      </p:childTnLst>
                    </p:cTn>
                  </p:par>
                  <p:par>
                    <p:cTn id="96" fill="hold">
                      <p:stCondLst>
                        <p:cond delay="indefinite"/>
                      </p:stCondLst>
                      <p:childTnLst>
                        <p:par>
                          <p:cTn id="97" fill="hold">
                            <p:stCondLst>
                              <p:cond delay="0"/>
                            </p:stCondLst>
                            <p:childTnLst>
                              <p:par>
                                <p:cTn id="98" presetID="22" presetClass="entr" presetSubtype="4" fill="hold" nodeType="clickEffect">
                                  <p:stCondLst>
                                    <p:cond delay="0"/>
                                  </p:stCondLst>
                                  <p:childTnLst>
                                    <p:set>
                                      <p:cBhvr>
                                        <p:cTn id="99" dur="1" fill="hold">
                                          <p:stCondLst>
                                            <p:cond delay="0"/>
                                          </p:stCondLst>
                                        </p:cTn>
                                        <p:tgtEl>
                                          <p:spTgt spid="308227">
                                            <p:txEl>
                                              <p:pRg st="1" end="1"/>
                                            </p:txEl>
                                          </p:spTgt>
                                        </p:tgtEl>
                                        <p:attrNameLst>
                                          <p:attrName>style.visibility</p:attrName>
                                        </p:attrNameLst>
                                      </p:cBhvr>
                                      <p:to>
                                        <p:strVal val="visible"/>
                                      </p:to>
                                    </p:set>
                                    <p:animEffect transition="in" filter="wipe(down)">
                                      <p:cBhvr>
                                        <p:cTn id="100" dur="500"/>
                                        <p:tgtEl>
                                          <p:spTgt spid="308227">
                                            <p:txEl>
                                              <p:pRg st="1" end="1"/>
                                            </p:txEl>
                                          </p:spTgt>
                                        </p:tgtEl>
                                      </p:cBhvr>
                                    </p:animEffect>
                                  </p:childTnLst>
                                </p:cTn>
                              </p:par>
                              <p:par>
                                <p:cTn id="101" presetID="22" presetClass="entr" presetSubtype="4" fill="hold" nodeType="withEffect">
                                  <p:stCondLst>
                                    <p:cond delay="0"/>
                                  </p:stCondLst>
                                  <p:childTnLst>
                                    <p:set>
                                      <p:cBhvr>
                                        <p:cTn id="102" dur="1" fill="hold">
                                          <p:stCondLst>
                                            <p:cond delay="0"/>
                                          </p:stCondLst>
                                        </p:cTn>
                                        <p:tgtEl>
                                          <p:spTgt spid="308227">
                                            <p:txEl>
                                              <p:pRg st="2" end="2"/>
                                            </p:txEl>
                                          </p:spTgt>
                                        </p:tgtEl>
                                        <p:attrNameLst>
                                          <p:attrName>style.visibility</p:attrName>
                                        </p:attrNameLst>
                                      </p:cBhvr>
                                      <p:to>
                                        <p:strVal val="visible"/>
                                      </p:to>
                                    </p:set>
                                    <p:animEffect transition="in" filter="wipe(down)">
                                      <p:cBhvr>
                                        <p:cTn id="103" dur="500"/>
                                        <p:tgtEl>
                                          <p:spTgt spid="308227">
                                            <p:txEl>
                                              <p:pRg st="2" end="2"/>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4" fill="hold" nodeType="clickEffect">
                                  <p:stCondLst>
                                    <p:cond delay="0"/>
                                  </p:stCondLst>
                                  <p:childTnLst>
                                    <p:set>
                                      <p:cBhvr>
                                        <p:cTn id="107" dur="1" fill="hold">
                                          <p:stCondLst>
                                            <p:cond delay="0"/>
                                          </p:stCondLst>
                                        </p:cTn>
                                        <p:tgtEl>
                                          <p:spTgt spid="308227">
                                            <p:txEl>
                                              <p:pRg st="3" end="3"/>
                                            </p:txEl>
                                          </p:spTgt>
                                        </p:tgtEl>
                                        <p:attrNameLst>
                                          <p:attrName>style.visibility</p:attrName>
                                        </p:attrNameLst>
                                      </p:cBhvr>
                                      <p:to>
                                        <p:strVal val="visible"/>
                                      </p:to>
                                    </p:set>
                                    <p:animEffect transition="in" filter="wipe(down)">
                                      <p:cBhvr>
                                        <p:cTn id="108" dur="500"/>
                                        <p:tgtEl>
                                          <p:spTgt spid="30822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animBg="1"/>
      <p:bldP spid="76804" grpId="0"/>
      <p:bldP spid="308233" grpId="0"/>
      <p:bldP spid="308235" grpId="0"/>
      <p:bldP spid="308237" grpId="0"/>
      <p:bldP spid="308239" grpId="0"/>
      <p:bldP spid="308241" grpId="0"/>
      <p:bldP spid="308267" grpId="0" animBg="1"/>
      <p:bldP spid="308268" grpId="0" animBg="1"/>
      <p:bldP spid="308269" grpId="0" animBg="1"/>
      <p:bldP spid="308270" grpId="0" animBg="1"/>
    </p:bld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3854450"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多维数组</a:t>
            </a:r>
            <a:r>
              <a:rPr lang="en-US" altLang="zh-CN" sz="2800"/>
              <a:t>(</a:t>
            </a:r>
            <a:r>
              <a:rPr lang="zh-CN" altLang="en-US" sz="2800">
                <a:sym typeface="+mn-ea"/>
              </a:rPr>
              <a:t>嵌套的</a:t>
            </a:r>
            <a:r>
              <a:rPr lang="en-US" altLang="zh-CN" sz="2800">
                <a:sym typeface="+mn-ea"/>
              </a:rPr>
              <a:t>)</a:t>
            </a:r>
          </a:p>
        </p:txBody>
      </p:sp>
      <p:sp>
        <p:nvSpPr>
          <p:cNvPr id="309251" name="Rectangle 3"/>
          <p:cNvSpPr>
            <a:spLocks noGrp="1" noChangeArrowheads="1"/>
          </p:cNvSpPr>
          <p:nvPr/>
        </p:nvSpPr>
        <p:spPr>
          <a:xfrm>
            <a:off x="381000" y="1135063"/>
            <a:ext cx="4433888" cy="3360737"/>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1F4E79"/>
              </a:buClr>
            </a:pPr>
            <a:r>
              <a:rPr lang="zh-CN" altLang="en-US">
                <a:latin typeface="Calibri" panose="020F0502020204030204" charset="0"/>
                <a:ea typeface="宋体" panose="02010600030101010101" pitchFamily="2" charset="-122"/>
              </a:rPr>
              <a:t>声明</a:t>
            </a:r>
          </a:p>
          <a:p>
            <a:pPr lvl="1">
              <a:buFont typeface="Wingdings" panose="05000000000000000000" pitchFamily="2" charset="2"/>
              <a:buNone/>
            </a:pPr>
            <a:r>
              <a:rPr lang="en-US" i="1">
                <a:latin typeface="Calibri" panose="020F0502020204030204" charset="0"/>
              </a:rPr>
              <a:t>T</a:t>
            </a:r>
            <a:r>
              <a:rPr lang="en-US">
                <a:latin typeface="Calibri" panose="020F0502020204030204" charset="0"/>
              </a:rPr>
              <a:t>   </a:t>
            </a:r>
            <a:r>
              <a:rPr lang="en-US" b="1">
                <a:latin typeface="Courier New" panose="02070309020205020404" charset="0"/>
              </a:rPr>
              <a:t>A</a:t>
            </a:r>
            <a:r>
              <a:rPr lang="en-US">
                <a:latin typeface="Courier New" panose="02070309020205020404" charset="0"/>
              </a:rPr>
              <a:t>[</a:t>
            </a:r>
            <a:r>
              <a:rPr lang="en-US" i="1">
                <a:latin typeface="Calibri" panose="020F0502020204030204" charset="0"/>
              </a:rPr>
              <a:t>R</a:t>
            </a:r>
            <a:r>
              <a:rPr lang="en-US">
                <a:latin typeface="Courier New" panose="02070309020205020404" charset="0"/>
              </a:rPr>
              <a:t>][</a:t>
            </a:r>
            <a:r>
              <a:rPr lang="en-US" i="1">
                <a:latin typeface="Calibri" panose="020F0502020204030204" charset="0"/>
              </a:rPr>
              <a:t>C</a:t>
            </a:r>
            <a:r>
              <a:rPr lang="en-US">
                <a:latin typeface="Courier New" panose="02070309020205020404" charset="0"/>
              </a:rPr>
              <a:t>];</a:t>
            </a:r>
            <a:endParaRPr lang="en-US">
              <a:latin typeface="Calibri" panose="020F0502020204030204" charset="0"/>
            </a:endParaRPr>
          </a:p>
          <a:p>
            <a:pPr lvl="1"/>
            <a:r>
              <a:rPr lang="zh-CN" altLang="en-US">
                <a:latin typeface="Calibri" panose="020F0502020204030204" charset="0"/>
                <a:ea typeface="宋体" panose="02010600030101010101" pitchFamily="2" charset="-122"/>
              </a:rPr>
              <a:t>数据类型为</a:t>
            </a:r>
            <a:r>
              <a:rPr lang="en-US">
                <a:latin typeface="Calibri" panose="020F0502020204030204" charset="0"/>
              </a:rPr>
              <a:t> </a:t>
            </a:r>
            <a:r>
              <a:rPr lang="en-US" i="1">
                <a:latin typeface="Calibri" panose="020F0502020204030204" charset="0"/>
              </a:rPr>
              <a:t>T</a:t>
            </a:r>
            <a:r>
              <a:rPr lang="zh-CN" altLang="en-US" i="1">
                <a:latin typeface="Calibri" panose="020F0502020204030204" charset="0"/>
                <a:ea typeface="宋体" panose="02010600030101010101" pitchFamily="2" charset="-122"/>
              </a:rPr>
              <a:t>的二维数组</a:t>
            </a:r>
          </a:p>
          <a:p>
            <a:pPr lvl="1"/>
            <a:r>
              <a:rPr lang="en-US" i="1">
                <a:latin typeface="Calibri" panose="020F0502020204030204" charset="0"/>
              </a:rPr>
              <a:t>R</a:t>
            </a:r>
            <a:r>
              <a:rPr lang="en-US">
                <a:latin typeface="Calibri" panose="020F0502020204030204" charset="0"/>
              </a:rPr>
              <a:t> </a:t>
            </a:r>
            <a:r>
              <a:rPr lang="zh-CN" altLang="en-US">
                <a:latin typeface="Calibri" panose="020F0502020204030204" charset="0"/>
                <a:ea typeface="宋体" panose="02010600030101010101" pitchFamily="2" charset="-122"/>
              </a:rPr>
              <a:t>行</a:t>
            </a:r>
            <a:r>
              <a:rPr lang="en-US">
                <a:latin typeface="Calibri" panose="020F0502020204030204" charset="0"/>
              </a:rPr>
              <a:t>, </a:t>
            </a:r>
            <a:r>
              <a:rPr lang="en-US" i="1">
                <a:latin typeface="Calibri" panose="020F0502020204030204" charset="0"/>
              </a:rPr>
              <a:t>C</a:t>
            </a:r>
            <a:r>
              <a:rPr lang="en-US">
                <a:latin typeface="Calibri" panose="020F0502020204030204" charset="0"/>
              </a:rPr>
              <a:t> </a:t>
            </a:r>
            <a:r>
              <a:rPr lang="zh-CN" altLang="en-US">
                <a:latin typeface="Calibri" panose="020F0502020204030204" charset="0"/>
                <a:ea typeface="宋体" panose="02010600030101010101" pitchFamily="2" charset="-122"/>
              </a:rPr>
              <a:t>列</a:t>
            </a:r>
          </a:p>
          <a:p>
            <a:pPr lvl="1"/>
            <a:r>
              <a:rPr lang="en-US">
                <a:latin typeface="Calibri" panose="020F0502020204030204" charset="0"/>
              </a:rPr>
              <a:t>类型T元素需要k字节</a:t>
            </a:r>
          </a:p>
          <a:p>
            <a:pPr>
              <a:buClr>
                <a:srgbClr val="1F4E79"/>
              </a:buClr>
            </a:pPr>
            <a:r>
              <a:rPr lang="zh-CN" altLang="en-US">
                <a:latin typeface="Calibri" panose="020F0502020204030204" charset="0"/>
                <a:ea typeface="宋体" panose="02010600030101010101" pitchFamily="2" charset="-122"/>
              </a:rPr>
              <a:t>数组大小</a:t>
            </a:r>
          </a:p>
          <a:p>
            <a:pPr lvl="1"/>
            <a:r>
              <a:rPr lang="en-US" i="1">
                <a:latin typeface="Calibri" panose="020F0502020204030204" charset="0"/>
              </a:rPr>
              <a:t>R</a:t>
            </a:r>
            <a:r>
              <a:rPr lang="en-US">
                <a:latin typeface="Calibri" panose="020F0502020204030204" charset="0"/>
              </a:rPr>
              <a:t> * </a:t>
            </a:r>
            <a:r>
              <a:rPr lang="en-US" i="1">
                <a:latin typeface="Calibri" panose="020F0502020204030204" charset="0"/>
              </a:rPr>
              <a:t>C </a:t>
            </a:r>
            <a:r>
              <a:rPr lang="en-US">
                <a:latin typeface="Calibri" panose="020F0502020204030204" charset="0"/>
              </a:rPr>
              <a:t>* </a:t>
            </a:r>
            <a:r>
              <a:rPr lang="en-US" i="1">
                <a:latin typeface="Calibri" panose="020F0502020204030204" charset="0"/>
              </a:rPr>
              <a:t>K </a:t>
            </a:r>
            <a:r>
              <a:rPr lang="zh-CN" altLang="en-US" i="1">
                <a:latin typeface="Calibri" panose="020F0502020204030204" charset="0"/>
                <a:ea typeface="宋体" panose="02010600030101010101" pitchFamily="2" charset="-122"/>
              </a:rPr>
              <a:t>字节</a:t>
            </a:r>
          </a:p>
          <a:p>
            <a:pPr>
              <a:buClr>
                <a:srgbClr val="1F4E79"/>
              </a:buClr>
            </a:pPr>
            <a:r>
              <a:rPr lang="zh-CN" altLang="en-US">
                <a:latin typeface="Calibri" panose="020F0502020204030204" charset="0"/>
                <a:ea typeface="宋体" panose="02010600030101010101" pitchFamily="2" charset="-122"/>
              </a:rPr>
              <a:t>规则</a:t>
            </a:r>
          </a:p>
          <a:p>
            <a:pPr lvl="1"/>
            <a:r>
              <a:rPr lang="en-US">
                <a:latin typeface="Calibri" panose="020F0502020204030204" charset="0"/>
              </a:rPr>
              <a:t>“</a:t>
            </a:r>
            <a:r>
              <a:rPr lang="zh-CN" altLang="en-US">
                <a:latin typeface="Calibri" panose="020F0502020204030204" charset="0"/>
                <a:ea typeface="宋体" panose="02010600030101010101" pitchFamily="2" charset="-122"/>
              </a:rPr>
              <a:t>行优先</a:t>
            </a:r>
            <a:r>
              <a:rPr lang="en-US">
                <a:latin typeface="Calibri" panose="020F0502020204030204" charset="0"/>
              </a:rPr>
              <a:t>”</a:t>
            </a:r>
          </a:p>
        </p:txBody>
      </p:sp>
      <p:grpSp>
        <p:nvGrpSpPr>
          <p:cNvPr id="78851" name="Group 4"/>
          <p:cNvGrpSpPr/>
          <p:nvPr/>
        </p:nvGrpSpPr>
        <p:grpSpPr bwMode="auto">
          <a:xfrm>
            <a:off x="4876800" y="1143000"/>
            <a:ext cx="4038600" cy="2209800"/>
            <a:chOff x="2208" y="2688"/>
            <a:chExt cx="2544" cy="1392"/>
          </a:xfrm>
        </p:grpSpPr>
        <p:sp>
          <p:nvSpPr>
            <p:cNvPr id="78871" name="Rectangle 5"/>
            <p:cNvSpPr>
              <a:spLocks noChangeArrowheads="1"/>
            </p:cNvSpPr>
            <p:nvPr/>
          </p:nvSpPr>
          <p:spPr bwMode="auto">
            <a:xfrm>
              <a:off x="2304" y="2784"/>
              <a:ext cx="768" cy="288"/>
            </a:xfrm>
            <a:prstGeom prst="rect">
              <a:avLst/>
            </a:prstGeom>
            <a:solidFill>
              <a:schemeClr val="bg1"/>
            </a:solidFill>
            <a:ln w="25400">
              <a:noFill/>
              <a:miter lim="800000"/>
            </a:ln>
          </p:spPr>
          <p:txBody>
            <a:bodyPr wrap="none" anchor="ctr"/>
            <a:lstStyle/>
            <a:p>
              <a:pPr eaLnBrk="0" hangingPunct="0"/>
              <a:r>
                <a:rPr lang="en-US" sz="1800">
                  <a:latin typeface="Courier New" panose="02070309020205020404" charset="0"/>
                </a:rPr>
                <a:t>A[0][0]</a:t>
              </a:r>
            </a:p>
          </p:txBody>
        </p:sp>
        <p:sp>
          <p:nvSpPr>
            <p:cNvPr id="78872" name="Rectangle 6"/>
            <p:cNvSpPr>
              <a:spLocks noChangeArrowheads="1"/>
            </p:cNvSpPr>
            <p:nvPr/>
          </p:nvSpPr>
          <p:spPr bwMode="auto">
            <a:xfrm>
              <a:off x="3936" y="2784"/>
              <a:ext cx="768" cy="288"/>
            </a:xfrm>
            <a:prstGeom prst="rect">
              <a:avLst/>
            </a:prstGeom>
            <a:solidFill>
              <a:schemeClr val="bg1"/>
            </a:solidFill>
            <a:ln w="25400">
              <a:noFill/>
              <a:miter lim="800000"/>
            </a:ln>
          </p:spPr>
          <p:txBody>
            <a:bodyPr wrap="none" anchor="ctr"/>
            <a:lstStyle/>
            <a:p>
              <a:pPr algn="r" eaLnBrk="0" hangingPunct="0"/>
              <a:r>
                <a:rPr lang="en-US" sz="1800">
                  <a:latin typeface="Courier New" panose="02070309020205020404" charset="0"/>
                </a:rPr>
                <a:t>A[0][C-1]</a:t>
              </a:r>
            </a:p>
          </p:txBody>
        </p:sp>
        <p:sp>
          <p:nvSpPr>
            <p:cNvPr id="78873" name="Rectangle 7"/>
            <p:cNvSpPr>
              <a:spLocks noChangeArrowheads="1"/>
            </p:cNvSpPr>
            <p:nvPr/>
          </p:nvSpPr>
          <p:spPr bwMode="auto">
            <a:xfrm>
              <a:off x="2304" y="3744"/>
              <a:ext cx="768" cy="288"/>
            </a:xfrm>
            <a:prstGeom prst="rect">
              <a:avLst/>
            </a:prstGeom>
            <a:solidFill>
              <a:schemeClr val="bg1"/>
            </a:solidFill>
            <a:ln w="25400">
              <a:noFill/>
              <a:miter lim="800000"/>
            </a:ln>
          </p:spPr>
          <p:txBody>
            <a:bodyPr wrap="none" anchor="ctr"/>
            <a:lstStyle/>
            <a:p>
              <a:pPr eaLnBrk="0" hangingPunct="0"/>
              <a:r>
                <a:rPr lang="en-US" sz="1800">
                  <a:latin typeface="Courier New" panose="02070309020205020404" charset="0"/>
                </a:rPr>
                <a:t>A[R-1][0]</a:t>
              </a:r>
            </a:p>
          </p:txBody>
        </p:sp>
        <p:sp>
          <p:nvSpPr>
            <p:cNvPr id="78874" name="Rectangle 8"/>
            <p:cNvSpPr>
              <a:spLocks noChangeArrowheads="1"/>
            </p:cNvSpPr>
            <p:nvPr/>
          </p:nvSpPr>
          <p:spPr bwMode="auto">
            <a:xfrm>
              <a:off x="3120" y="2784"/>
              <a:ext cx="576" cy="288"/>
            </a:xfrm>
            <a:prstGeom prst="rect">
              <a:avLst/>
            </a:prstGeom>
            <a:solidFill>
              <a:schemeClr val="bg1"/>
            </a:solidFill>
            <a:ln w="25400">
              <a:noFill/>
              <a:miter lim="800000"/>
            </a:ln>
          </p:spPr>
          <p:txBody>
            <a:bodyPr wrap="none" anchor="ctr"/>
            <a:lstStyle/>
            <a:p>
              <a:pPr eaLnBrk="0" hangingPunct="0"/>
              <a:r>
                <a:rPr lang="en-US" sz="1800">
                  <a:latin typeface="Courier New" panose="02070309020205020404" charset="0"/>
                </a:rPr>
                <a:t>• • •</a:t>
              </a:r>
            </a:p>
          </p:txBody>
        </p:sp>
        <p:sp>
          <p:nvSpPr>
            <p:cNvPr id="78875" name="Rectangle 9"/>
            <p:cNvSpPr>
              <a:spLocks noChangeArrowheads="1"/>
            </p:cNvSpPr>
            <p:nvPr/>
          </p:nvSpPr>
          <p:spPr bwMode="auto">
            <a:xfrm>
              <a:off x="3168" y="3744"/>
              <a:ext cx="576" cy="288"/>
            </a:xfrm>
            <a:prstGeom prst="rect">
              <a:avLst/>
            </a:prstGeom>
            <a:solidFill>
              <a:schemeClr val="bg1"/>
            </a:solidFill>
            <a:ln w="25400">
              <a:noFill/>
              <a:miter lim="800000"/>
            </a:ln>
          </p:spPr>
          <p:txBody>
            <a:bodyPr wrap="none" anchor="ctr"/>
            <a:lstStyle/>
            <a:p>
              <a:pPr eaLnBrk="0" hangingPunct="0"/>
              <a:r>
                <a:rPr lang="en-US" sz="1800">
                  <a:latin typeface="Courier New" panose="02070309020205020404" charset="0"/>
                </a:rPr>
                <a:t>• • •</a:t>
              </a:r>
            </a:p>
          </p:txBody>
        </p:sp>
        <p:sp>
          <p:nvSpPr>
            <p:cNvPr id="78876" name="Rectangle 10"/>
            <p:cNvSpPr>
              <a:spLocks noChangeArrowheads="1"/>
            </p:cNvSpPr>
            <p:nvPr/>
          </p:nvSpPr>
          <p:spPr bwMode="auto">
            <a:xfrm>
              <a:off x="3936" y="3744"/>
              <a:ext cx="768" cy="288"/>
            </a:xfrm>
            <a:prstGeom prst="rect">
              <a:avLst/>
            </a:prstGeom>
            <a:solidFill>
              <a:schemeClr val="bg1"/>
            </a:solidFill>
            <a:ln w="25400">
              <a:noFill/>
              <a:miter lim="800000"/>
            </a:ln>
          </p:spPr>
          <p:txBody>
            <a:bodyPr wrap="none" anchor="ctr"/>
            <a:lstStyle/>
            <a:p>
              <a:pPr algn="r" eaLnBrk="0" hangingPunct="0"/>
              <a:r>
                <a:rPr lang="en-US" sz="1800">
                  <a:latin typeface="Courier New" panose="02070309020205020404" charset="0"/>
                </a:rPr>
                <a:t>A[R-1][C-1]</a:t>
              </a:r>
            </a:p>
          </p:txBody>
        </p:sp>
        <p:sp>
          <p:nvSpPr>
            <p:cNvPr id="78877" name="Rectangle 11"/>
            <p:cNvSpPr>
              <a:spLocks noChangeArrowheads="1"/>
            </p:cNvSpPr>
            <p:nvPr/>
          </p:nvSpPr>
          <p:spPr bwMode="auto">
            <a:xfrm>
              <a:off x="2592" y="3168"/>
              <a:ext cx="288" cy="480"/>
            </a:xfrm>
            <a:prstGeom prst="rect">
              <a:avLst/>
            </a:prstGeom>
            <a:solidFill>
              <a:schemeClr val="bg1"/>
            </a:solidFill>
            <a:ln w="25400">
              <a:noFill/>
              <a:miter lim="800000"/>
            </a:ln>
          </p:spPr>
          <p:txBody>
            <a:bodyPr wrap="none" anchor="ctr"/>
            <a:lstStyle/>
            <a:p>
              <a:pPr eaLnBrk="0" hangingPunct="0"/>
              <a:r>
                <a:rPr lang="en-US" sz="1800">
                  <a:latin typeface="Courier New" panose="02070309020205020404" charset="0"/>
                </a:rPr>
                <a:t>•</a:t>
              </a:r>
            </a:p>
            <a:p>
              <a:pPr eaLnBrk="0" hangingPunct="0"/>
              <a:r>
                <a:rPr lang="en-US" sz="1800">
                  <a:latin typeface="Courier New" panose="02070309020205020404" charset="0"/>
                </a:rPr>
                <a:t>•</a:t>
              </a:r>
            </a:p>
            <a:p>
              <a:pPr eaLnBrk="0" hangingPunct="0"/>
              <a:r>
                <a:rPr lang="en-US" sz="1800">
                  <a:latin typeface="Courier New" panose="02070309020205020404" charset="0"/>
                </a:rPr>
                <a:t>•</a:t>
              </a:r>
            </a:p>
          </p:txBody>
        </p:sp>
        <p:sp>
          <p:nvSpPr>
            <p:cNvPr id="78878" name="Rectangle 12"/>
            <p:cNvSpPr>
              <a:spLocks noChangeArrowheads="1"/>
            </p:cNvSpPr>
            <p:nvPr/>
          </p:nvSpPr>
          <p:spPr bwMode="auto">
            <a:xfrm>
              <a:off x="4080" y="3168"/>
              <a:ext cx="288" cy="480"/>
            </a:xfrm>
            <a:prstGeom prst="rect">
              <a:avLst/>
            </a:prstGeom>
            <a:solidFill>
              <a:schemeClr val="bg1"/>
            </a:solidFill>
            <a:ln w="25400">
              <a:noFill/>
              <a:miter lim="800000"/>
            </a:ln>
          </p:spPr>
          <p:txBody>
            <a:bodyPr wrap="none" anchor="ctr"/>
            <a:lstStyle/>
            <a:p>
              <a:pPr eaLnBrk="0" hangingPunct="0"/>
              <a:r>
                <a:rPr lang="en-US" sz="1800">
                  <a:latin typeface="Courier New" panose="02070309020205020404" charset="0"/>
                </a:rPr>
                <a:t>•</a:t>
              </a:r>
            </a:p>
            <a:p>
              <a:pPr eaLnBrk="0" hangingPunct="0"/>
              <a:r>
                <a:rPr lang="en-US" sz="1800">
                  <a:latin typeface="Courier New" panose="02070309020205020404" charset="0"/>
                </a:rPr>
                <a:t>•</a:t>
              </a:r>
            </a:p>
            <a:p>
              <a:pPr eaLnBrk="0" hangingPunct="0"/>
              <a:r>
                <a:rPr lang="en-US" sz="1800">
                  <a:latin typeface="Courier New" panose="02070309020205020404" charset="0"/>
                </a:rPr>
                <a:t>•</a:t>
              </a:r>
            </a:p>
          </p:txBody>
        </p:sp>
        <p:sp>
          <p:nvSpPr>
            <p:cNvPr id="78879" name="Freeform 13"/>
            <p:cNvSpPr/>
            <p:nvPr/>
          </p:nvSpPr>
          <p:spPr bwMode="auto">
            <a:xfrm>
              <a:off x="2208" y="2688"/>
              <a:ext cx="96" cy="1392"/>
            </a:xfrm>
            <a:custGeom>
              <a:avLst/>
              <a:gdLst>
                <a:gd name="T0" fmla="*/ 96 w 96"/>
                <a:gd name="T1" fmla="*/ 0 h 1392"/>
                <a:gd name="T2" fmla="*/ 0 w 96"/>
                <a:gd name="T3" fmla="*/ 0 h 1392"/>
                <a:gd name="T4" fmla="*/ 0 w 96"/>
                <a:gd name="T5" fmla="*/ 1392 h 1392"/>
                <a:gd name="T6" fmla="*/ 96 w 96"/>
                <a:gd name="T7" fmla="*/ 1392 h 1392"/>
                <a:gd name="T8" fmla="*/ 0 60000 65536"/>
                <a:gd name="T9" fmla="*/ 0 60000 65536"/>
                <a:gd name="T10" fmla="*/ 0 60000 65536"/>
                <a:gd name="T11" fmla="*/ 0 60000 65536"/>
                <a:gd name="T12" fmla="*/ 0 w 96"/>
                <a:gd name="T13" fmla="*/ 0 h 1392"/>
                <a:gd name="T14" fmla="*/ 96 w 96"/>
                <a:gd name="T15" fmla="*/ 1392 h 1392"/>
              </a:gdLst>
              <a:ahLst/>
              <a:cxnLst>
                <a:cxn ang="T8">
                  <a:pos x="T0" y="T1"/>
                </a:cxn>
                <a:cxn ang="T9">
                  <a:pos x="T2" y="T3"/>
                </a:cxn>
                <a:cxn ang="T10">
                  <a:pos x="T4" y="T5"/>
                </a:cxn>
                <a:cxn ang="T11">
                  <a:pos x="T6" y="T7"/>
                </a:cxn>
              </a:cxnLst>
              <a:rect l="T12" t="T13" r="T14" b="T15"/>
              <a:pathLst>
                <a:path w="96" h="1392">
                  <a:moveTo>
                    <a:pt x="96" y="0"/>
                  </a:moveTo>
                  <a:lnTo>
                    <a:pt x="0" y="0"/>
                  </a:lnTo>
                  <a:lnTo>
                    <a:pt x="0" y="1392"/>
                  </a:lnTo>
                  <a:lnTo>
                    <a:pt x="96" y="1392"/>
                  </a:lnTo>
                </a:path>
              </a:pathLst>
            </a:custGeom>
            <a:no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78880" name="Freeform 14"/>
            <p:cNvSpPr/>
            <p:nvPr/>
          </p:nvSpPr>
          <p:spPr bwMode="auto">
            <a:xfrm flipH="1">
              <a:off x="4656" y="2688"/>
              <a:ext cx="96" cy="1392"/>
            </a:xfrm>
            <a:custGeom>
              <a:avLst/>
              <a:gdLst>
                <a:gd name="T0" fmla="*/ 96 w 96"/>
                <a:gd name="T1" fmla="*/ 0 h 1392"/>
                <a:gd name="T2" fmla="*/ 0 w 96"/>
                <a:gd name="T3" fmla="*/ 0 h 1392"/>
                <a:gd name="T4" fmla="*/ 0 w 96"/>
                <a:gd name="T5" fmla="*/ 1392 h 1392"/>
                <a:gd name="T6" fmla="*/ 96 w 96"/>
                <a:gd name="T7" fmla="*/ 1392 h 1392"/>
                <a:gd name="T8" fmla="*/ 0 60000 65536"/>
                <a:gd name="T9" fmla="*/ 0 60000 65536"/>
                <a:gd name="T10" fmla="*/ 0 60000 65536"/>
                <a:gd name="T11" fmla="*/ 0 60000 65536"/>
                <a:gd name="T12" fmla="*/ 0 w 96"/>
                <a:gd name="T13" fmla="*/ 0 h 1392"/>
                <a:gd name="T14" fmla="*/ 96 w 96"/>
                <a:gd name="T15" fmla="*/ 1392 h 1392"/>
              </a:gdLst>
              <a:ahLst/>
              <a:cxnLst>
                <a:cxn ang="T8">
                  <a:pos x="T0" y="T1"/>
                </a:cxn>
                <a:cxn ang="T9">
                  <a:pos x="T2" y="T3"/>
                </a:cxn>
                <a:cxn ang="T10">
                  <a:pos x="T4" y="T5"/>
                </a:cxn>
                <a:cxn ang="T11">
                  <a:pos x="T6" y="T7"/>
                </a:cxn>
              </a:cxnLst>
              <a:rect l="T12" t="T13" r="T14" b="T15"/>
              <a:pathLst>
                <a:path w="96" h="1392">
                  <a:moveTo>
                    <a:pt x="96" y="0"/>
                  </a:moveTo>
                  <a:lnTo>
                    <a:pt x="0" y="0"/>
                  </a:lnTo>
                  <a:lnTo>
                    <a:pt x="0" y="1392"/>
                  </a:lnTo>
                  <a:lnTo>
                    <a:pt x="96" y="1392"/>
                  </a:lnTo>
                </a:path>
              </a:pathLst>
            </a:custGeom>
            <a:noFill/>
            <a:ln w="25400">
              <a:solidFill>
                <a:schemeClr val="tx1"/>
              </a:solidFill>
              <a:round/>
            </a:ln>
          </p:spPr>
          <p:txBody>
            <a:bodyPr wrap="none" anchor="ctr"/>
            <a:lstStyle/>
            <a:p>
              <a:pPr eaLnBrk="0" hangingPunct="0"/>
              <a:endParaRPr lang="en-US" sz="1800">
                <a:latin typeface="Calibri" panose="020F0502020204030204" charset="0"/>
              </a:endParaRPr>
            </a:p>
          </p:txBody>
        </p:sp>
      </p:grpSp>
      <p:sp>
        <p:nvSpPr>
          <p:cNvPr id="309263" name="Text Box 15"/>
          <p:cNvSpPr txBox="1">
            <a:spLocks noChangeArrowheads="1"/>
          </p:cNvSpPr>
          <p:nvPr/>
        </p:nvSpPr>
        <p:spPr bwMode="auto">
          <a:xfrm>
            <a:off x="323850" y="4857750"/>
            <a:ext cx="2012950" cy="396875"/>
          </a:xfrm>
          <a:prstGeom prst="rect">
            <a:avLst/>
          </a:prstGeom>
          <a:noFill/>
          <a:ln w="25400">
            <a:noFill/>
            <a:miter lim="800000"/>
          </a:ln>
        </p:spPr>
        <p:txBody>
          <a:bodyPr wrap="none">
            <a:spAutoFit/>
          </a:bodyPr>
          <a:lstStyle/>
          <a:p>
            <a:pPr algn="r" eaLnBrk="0" hangingPunct="0"/>
            <a:r>
              <a:rPr lang="en-US" sz="2000">
                <a:latin typeface="Courier New" panose="02070309020205020404" charset="0"/>
              </a:rPr>
              <a:t>int A[R][C];</a:t>
            </a:r>
          </a:p>
        </p:txBody>
      </p:sp>
      <p:grpSp>
        <p:nvGrpSpPr>
          <p:cNvPr id="10" name="Group 16"/>
          <p:cNvGrpSpPr/>
          <p:nvPr/>
        </p:nvGrpSpPr>
        <p:grpSpPr bwMode="auto">
          <a:xfrm>
            <a:off x="457200" y="5257800"/>
            <a:ext cx="8229600" cy="990600"/>
            <a:chOff x="336" y="3408"/>
            <a:chExt cx="5184" cy="624"/>
          </a:xfrm>
        </p:grpSpPr>
        <p:grpSp>
          <p:nvGrpSpPr>
            <p:cNvPr id="78858" name="Group 17"/>
            <p:cNvGrpSpPr/>
            <p:nvPr/>
          </p:nvGrpSpPr>
          <p:grpSpPr bwMode="auto">
            <a:xfrm>
              <a:off x="336" y="3408"/>
              <a:ext cx="1344" cy="624"/>
              <a:chOff x="1488" y="3504"/>
              <a:chExt cx="1344" cy="624"/>
            </a:xfrm>
          </p:grpSpPr>
          <p:sp>
            <p:nvSpPr>
              <p:cNvPr id="78868" name="Rectangle 20"/>
              <p:cNvSpPr>
                <a:spLocks noChangeArrowheads="1"/>
              </p:cNvSpPr>
              <p:nvPr/>
            </p:nvSpPr>
            <p:spPr bwMode="auto">
              <a:xfrm>
                <a:off x="1488" y="3504"/>
                <a:ext cx="1344" cy="624"/>
              </a:xfrm>
              <a:prstGeom prst="rect">
                <a:avLst/>
              </a:prstGeom>
              <a:solidFill>
                <a:srgbClr val="F1C7C7"/>
              </a:solidFill>
              <a:ln w="28575">
                <a:solidFill>
                  <a:schemeClr val="tx1"/>
                </a:solidFill>
                <a:miter lim="800000"/>
              </a:ln>
            </p:spPr>
            <p:txBody>
              <a:bodyPr wrap="none" anchor="ctr"/>
              <a:lstStyle/>
              <a:p>
                <a:pPr algn="ctr" eaLnBrk="0" hangingPunct="0"/>
                <a:r>
                  <a:rPr lang="en-US" sz="1600" b="0">
                    <a:latin typeface="Courier New" panose="02070309020205020404" charset="0"/>
                  </a:rPr>
                  <a:t>• • •</a:t>
                </a:r>
              </a:p>
            </p:txBody>
          </p:sp>
          <p:sp>
            <p:nvSpPr>
              <p:cNvPr id="78869" name="Rectangle 18"/>
              <p:cNvSpPr>
                <a:spLocks noChangeArrowheads="1"/>
              </p:cNvSpPr>
              <p:nvPr/>
            </p:nvSpPr>
            <p:spPr bwMode="auto">
              <a:xfrm>
                <a:off x="1488" y="3504"/>
                <a:ext cx="384" cy="624"/>
              </a:xfrm>
              <a:prstGeom prst="rect">
                <a:avLst/>
              </a:prstGeom>
              <a:solidFill>
                <a:srgbClr val="F1C7C7"/>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[0]</a:t>
                </a:r>
              </a:p>
              <a:p>
                <a:pPr algn="ctr" eaLnBrk="0" hangingPunct="0"/>
                <a:r>
                  <a:rPr lang="en-US" sz="1600">
                    <a:latin typeface="Courier New" panose="02070309020205020404" charset="0"/>
                  </a:rPr>
                  <a:t>[0]</a:t>
                </a:r>
              </a:p>
            </p:txBody>
          </p:sp>
          <p:sp>
            <p:nvSpPr>
              <p:cNvPr id="78870" name="Rectangle 19"/>
              <p:cNvSpPr>
                <a:spLocks noChangeArrowheads="1"/>
              </p:cNvSpPr>
              <p:nvPr/>
            </p:nvSpPr>
            <p:spPr bwMode="auto">
              <a:xfrm>
                <a:off x="2448" y="3504"/>
                <a:ext cx="384" cy="624"/>
              </a:xfrm>
              <a:prstGeom prst="rect">
                <a:avLst/>
              </a:prstGeom>
              <a:solidFill>
                <a:srgbClr val="F1C7C7"/>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[0]</a:t>
                </a:r>
              </a:p>
              <a:p>
                <a:pPr algn="ctr" eaLnBrk="0" hangingPunct="0"/>
                <a:r>
                  <a:rPr lang="en-US" sz="1600">
                    <a:latin typeface="Courier New" panose="02070309020205020404" charset="0"/>
                  </a:rPr>
                  <a:t>[C-1]</a:t>
                </a:r>
              </a:p>
            </p:txBody>
          </p:sp>
        </p:grpSp>
        <p:grpSp>
          <p:nvGrpSpPr>
            <p:cNvPr id="78859" name="Group 21"/>
            <p:cNvGrpSpPr/>
            <p:nvPr/>
          </p:nvGrpSpPr>
          <p:grpSpPr bwMode="auto">
            <a:xfrm>
              <a:off x="1680" y="3408"/>
              <a:ext cx="1344" cy="624"/>
              <a:chOff x="1488" y="3504"/>
              <a:chExt cx="1344" cy="624"/>
            </a:xfrm>
          </p:grpSpPr>
          <p:sp>
            <p:nvSpPr>
              <p:cNvPr id="78865" name="Rectangle 24"/>
              <p:cNvSpPr>
                <a:spLocks noChangeArrowheads="1"/>
              </p:cNvSpPr>
              <p:nvPr/>
            </p:nvSpPr>
            <p:spPr bwMode="auto">
              <a:xfrm>
                <a:off x="1488" y="3504"/>
                <a:ext cx="1344" cy="624"/>
              </a:xfrm>
              <a:prstGeom prst="rect">
                <a:avLst/>
              </a:prstGeom>
              <a:solidFill>
                <a:srgbClr val="F6F5BD"/>
              </a:solidFill>
              <a:ln w="28575">
                <a:solidFill>
                  <a:schemeClr val="tx1"/>
                </a:solidFill>
                <a:miter lim="800000"/>
              </a:ln>
            </p:spPr>
            <p:txBody>
              <a:bodyPr wrap="none" anchor="ctr"/>
              <a:lstStyle/>
              <a:p>
                <a:pPr algn="ctr" eaLnBrk="0" hangingPunct="0"/>
                <a:r>
                  <a:rPr lang="en-US" sz="1600" b="0">
                    <a:latin typeface="Courier New" panose="02070309020205020404" charset="0"/>
                  </a:rPr>
                  <a:t>• • •</a:t>
                </a:r>
              </a:p>
            </p:txBody>
          </p:sp>
          <p:sp>
            <p:nvSpPr>
              <p:cNvPr id="78866" name="Rectangle 22"/>
              <p:cNvSpPr>
                <a:spLocks noChangeArrowheads="1"/>
              </p:cNvSpPr>
              <p:nvPr/>
            </p:nvSpPr>
            <p:spPr bwMode="auto">
              <a:xfrm>
                <a:off x="1488" y="3504"/>
                <a:ext cx="384" cy="624"/>
              </a:xfrm>
              <a:prstGeom prst="rect">
                <a:avLst/>
              </a:prstGeom>
              <a:solidFill>
                <a:srgbClr val="F6F5BD"/>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[1]</a:t>
                </a:r>
              </a:p>
              <a:p>
                <a:pPr algn="ctr" eaLnBrk="0" hangingPunct="0"/>
                <a:r>
                  <a:rPr lang="en-US" sz="1600">
                    <a:latin typeface="Courier New" panose="02070309020205020404" charset="0"/>
                  </a:rPr>
                  <a:t>[0]</a:t>
                </a:r>
              </a:p>
            </p:txBody>
          </p:sp>
          <p:sp>
            <p:nvSpPr>
              <p:cNvPr id="78867" name="Rectangle 23"/>
              <p:cNvSpPr>
                <a:spLocks noChangeArrowheads="1"/>
              </p:cNvSpPr>
              <p:nvPr/>
            </p:nvSpPr>
            <p:spPr bwMode="auto">
              <a:xfrm>
                <a:off x="2448" y="3504"/>
                <a:ext cx="384" cy="624"/>
              </a:xfrm>
              <a:prstGeom prst="rect">
                <a:avLst/>
              </a:prstGeom>
              <a:solidFill>
                <a:srgbClr val="F6F5BD"/>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[1]</a:t>
                </a:r>
              </a:p>
              <a:p>
                <a:pPr algn="ctr" eaLnBrk="0" hangingPunct="0"/>
                <a:r>
                  <a:rPr lang="en-US" sz="1600">
                    <a:latin typeface="Courier New" panose="02070309020205020404" charset="0"/>
                  </a:rPr>
                  <a:t>[C-1]</a:t>
                </a:r>
              </a:p>
            </p:txBody>
          </p:sp>
        </p:grpSp>
        <p:grpSp>
          <p:nvGrpSpPr>
            <p:cNvPr id="78860" name="Group 25"/>
            <p:cNvGrpSpPr/>
            <p:nvPr/>
          </p:nvGrpSpPr>
          <p:grpSpPr bwMode="auto">
            <a:xfrm>
              <a:off x="4176" y="3408"/>
              <a:ext cx="1344" cy="624"/>
              <a:chOff x="1488" y="3504"/>
              <a:chExt cx="1344" cy="624"/>
            </a:xfrm>
          </p:grpSpPr>
          <p:sp>
            <p:nvSpPr>
              <p:cNvPr id="78862" name="Rectangle 28"/>
              <p:cNvSpPr>
                <a:spLocks noChangeArrowheads="1"/>
              </p:cNvSpPr>
              <p:nvPr/>
            </p:nvSpPr>
            <p:spPr bwMode="auto">
              <a:xfrm>
                <a:off x="1488" y="3504"/>
                <a:ext cx="1344" cy="624"/>
              </a:xfrm>
              <a:prstGeom prst="rect">
                <a:avLst/>
              </a:prstGeom>
              <a:solidFill>
                <a:srgbClr val="D5F1CF"/>
              </a:solidFill>
              <a:ln w="28575">
                <a:solidFill>
                  <a:schemeClr val="tx1"/>
                </a:solidFill>
                <a:miter lim="800000"/>
              </a:ln>
            </p:spPr>
            <p:txBody>
              <a:bodyPr wrap="none" anchor="ctr"/>
              <a:lstStyle/>
              <a:p>
                <a:pPr algn="ctr" eaLnBrk="0" hangingPunct="0"/>
                <a:r>
                  <a:rPr lang="en-US" sz="1600" b="0">
                    <a:latin typeface="Courier New" panose="02070309020205020404" charset="0"/>
                  </a:rPr>
                  <a:t>• • •</a:t>
                </a:r>
              </a:p>
            </p:txBody>
          </p:sp>
          <p:sp>
            <p:nvSpPr>
              <p:cNvPr id="78863" name="Rectangle 26"/>
              <p:cNvSpPr>
                <a:spLocks noChangeArrowheads="1"/>
              </p:cNvSpPr>
              <p:nvPr/>
            </p:nvSpPr>
            <p:spPr bwMode="auto">
              <a:xfrm>
                <a:off x="1488" y="3504"/>
                <a:ext cx="384" cy="624"/>
              </a:xfrm>
              <a:prstGeom prst="rect">
                <a:avLst/>
              </a:prstGeom>
              <a:solidFill>
                <a:srgbClr val="D5F1CF"/>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[R-1]</a:t>
                </a:r>
              </a:p>
              <a:p>
                <a:pPr algn="ctr" eaLnBrk="0" hangingPunct="0"/>
                <a:r>
                  <a:rPr lang="en-US" sz="1600">
                    <a:latin typeface="Courier New" panose="02070309020205020404" charset="0"/>
                  </a:rPr>
                  <a:t>[0]</a:t>
                </a:r>
              </a:p>
            </p:txBody>
          </p:sp>
          <p:sp>
            <p:nvSpPr>
              <p:cNvPr id="78864" name="Rectangle 27"/>
              <p:cNvSpPr>
                <a:spLocks noChangeArrowheads="1"/>
              </p:cNvSpPr>
              <p:nvPr/>
            </p:nvSpPr>
            <p:spPr bwMode="auto">
              <a:xfrm>
                <a:off x="2448" y="3504"/>
                <a:ext cx="384" cy="624"/>
              </a:xfrm>
              <a:prstGeom prst="rect">
                <a:avLst/>
              </a:prstGeom>
              <a:solidFill>
                <a:srgbClr val="D5F1CF"/>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[R-1]</a:t>
                </a:r>
              </a:p>
              <a:p>
                <a:pPr algn="ctr" eaLnBrk="0" hangingPunct="0"/>
                <a:r>
                  <a:rPr lang="en-US" sz="1600">
                    <a:latin typeface="Courier New" panose="02070309020205020404" charset="0"/>
                  </a:rPr>
                  <a:t>[C-1]</a:t>
                </a:r>
              </a:p>
            </p:txBody>
          </p:sp>
        </p:grpSp>
        <p:sp>
          <p:nvSpPr>
            <p:cNvPr id="78861" name="Rectangle 29"/>
            <p:cNvSpPr>
              <a:spLocks noChangeArrowheads="1"/>
            </p:cNvSpPr>
            <p:nvPr/>
          </p:nvSpPr>
          <p:spPr bwMode="auto">
            <a:xfrm>
              <a:off x="3024" y="3408"/>
              <a:ext cx="1152" cy="624"/>
            </a:xfrm>
            <a:prstGeom prst="rect">
              <a:avLst/>
            </a:prstGeom>
            <a:solidFill>
              <a:schemeClr val="bg1"/>
            </a:solidFill>
            <a:ln w="25400">
              <a:solidFill>
                <a:schemeClr val="tx1"/>
              </a:solidFill>
              <a:miter lim="800000"/>
            </a:ln>
          </p:spPr>
          <p:txBody>
            <a:bodyPr wrap="none" anchor="ctr"/>
            <a:lstStyle/>
            <a:p>
              <a:pPr algn="ctr" eaLnBrk="0" hangingPunct="0"/>
              <a:r>
                <a:rPr lang="en-US" sz="1600" b="0">
                  <a:latin typeface="Courier New" panose="02070309020205020404" charset="0"/>
                </a:rPr>
                <a:t>•  •  •</a:t>
              </a:r>
            </a:p>
          </p:txBody>
        </p:sp>
      </p:grpSp>
      <p:sp>
        <p:nvSpPr>
          <p:cNvPr id="309278" name="Line 30"/>
          <p:cNvSpPr>
            <a:spLocks noChangeShapeType="1"/>
          </p:cNvSpPr>
          <p:nvPr/>
        </p:nvSpPr>
        <p:spPr bwMode="auto">
          <a:xfrm>
            <a:off x="457200" y="6324600"/>
            <a:ext cx="0" cy="228600"/>
          </a:xfrm>
          <a:prstGeom prst="line">
            <a:avLst/>
          </a:prstGeom>
          <a:noFill/>
          <a:ln w="25400">
            <a:solidFill>
              <a:schemeClr val="tx1"/>
            </a:solidFill>
            <a:round/>
          </a:ln>
        </p:spPr>
        <p:txBody>
          <a:bodyPr wrap="none" anchor="ctr"/>
          <a:lstStyle/>
          <a:p>
            <a:endParaRPr lang="en-US"/>
          </a:p>
        </p:txBody>
      </p:sp>
      <p:sp>
        <p:nvSpPr>
          <p:cNvPr id="309279" name="Line 31"/>
          <p:cNvSpPr>
            <a:spLocks noChangeShapeType="1"/>
          </p:cNvSpPr>
          <p:nvPr/>
        </p:nvSpPr>
        <p:spPr bwMode="auto">
          <a:xfrm>
            <a:off x="8686800" y="6324600"/>
            <a:ext cx="0" cy="228600"/>
          </a:xfrm>
          <a:prstGeom prst="line">
            <a:avLst/>
          </a:prstGeom>
          <a:noFill/>
          <a:ln w="25400">
            <a:solidFill>
              <a:schemeClr val="tx1"/>
            </a:solidFill>
            <a:round/>
          </a:ln>
        </p:spPr>
        <p:txBody>
          <a:bodyPr wrap="none" anchor="ctr"/>
          <a:lstStyle/>
          <a:p>
            <a:endParaRPr lang="en-US"/>
          </a:p>
        </p:txBody>
      </p:sp>
      <p:sp>
        <p:nvSpPr>
          <p:cNvPr id="309280" name="Line 32"/>
          <p:cNvSpPr>
            <a:spLocks noChangeShapeType="1"/>
          </p:cNvSpPr>
          <p:nvPr/>
        </p:nvSpPr>
        <p:spPr bwMode="auto">
          <a:xfrm>
            <a:off x="457200" y="6477000"/>
            <a:ext cx="8229600" cy="0"/>
          </a:xfrm>
          <a:prstGeom prst="line">
            <a:avLst/>
          </a:prstGeom>
          <a:noFill/>
          <a:ln w="25400">
            <a:solidFill>
              <a:schemeClr val="tx1"/>
            </a:solidFill>
            <a:round/>
            <a:headEnd type="triangle" w="med" len="med"/>
            <a:tailEnd type="triangle" w="med" len="med"/>
          </a:ln>
        </p:spPr>
        <p:txBody>
          <a:bodyPr wrap="none" anchor="ctr"/>
          <a:lstStyle/>
          <a:p>
            <a:endParaRPr lang="en-US"/>
          </a:p>
        </p:txBody>
      </p:sp>
      <p:sp>
        <p:nvSpPr>
          <p:cNvPr id="309281" name="Rectangle 33"/>
          <p:cNvSpPr>
            <a:spLocks noChangeArrowheads="1"/>
          </p:cNvSpPr>
          <p:nvPr/>
        </p:nvSpPr>
        <p:spPr bwMode="auto">
          <a:xfrm>
            <a:off x="3505200" y="6324600"/>
            <a:ext cx="1447800" cy="381000"/>
          </a:xfrm>
          <a:prstGeom prst="rect">
            <a:avLst/>
          </a:prstGeom>
          <a:solidFill>
            <a:schemeClr val="bg1"/>
          </a:solidFill>
          <a:ln w="25400">
            <a:noFill/>
            <a:miter lim="800000"/>
          </a:ln>
        </p:spPr>
        <p:txBody>
          <a:bodyPr wrap="none" anchor="ctr"/>
          <a:lstStyle/>
          <a:p>
            <a:pPr eaLnBrk="0" hangingPunct="0"/>
            <a:r>
              <a:rPr lang="en-US" sz="1800">
                <a:latin typeface="Courier New" panose="02070309020205020404" charset="0"/>
              </a:rPr>
              <a:t>4*R*C</a:t>
            </a:r>
            <a:r>
              <a:rPr lang="en-US" sz="1800" b="0">
                <a:latin typeface="Calibri" panose="020F0502020204030204" charset="0"/>
              </a:rPr>
              <a:t>  </a:t>
            </a:r>
            <a:r>
              <a:rPr lang="zh-CN" altLang="en-US" sz="1800" b="0">
                <a:latin typeface="Calibri" panose="020F0502020204030204" charset="0"/>
              </a:rPr>
              <a:t>字节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9251">
                                            <p:txEl>
                                              <p:pRg st="0" end="0"/>
                                            </p:txEl>
                                          </p:spTgt>
                                        </p:tgtEl>
                                        <p:attrNameLst>
                                          <p:attrName>style.visibility</p:attrName>
                                        </p:attrNameLst>
                                      </p:cBhvr>
                                      <p:to>
                                        <p:strVal val="visible"/>
                                      </p:to>
                                    </p:set>
                                    <p:animEffect transition="in" filter="wipe(down)">
                                      <p:cBhvr>
                                        <p:cTn id="7" dur="500"/>
                                        <p:tgtEl>
                                          <p:spTgt spid="3092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9251">
                                            <p:txEl>
                                              <p:pRg st="1" end="1"/>
                                            </p:txEl>
                                          </p:spTgt>
                                        </p:tgtEl>
                                        <p:attrNameLst>
                                          <p:attrName>style.visibility</p:attrName>
                                        </p:attrNameLst>
                                      </p:cBhvr>
                                      <p:to>
                                        <p:strVal val="visible"/>
                                      </p:to>
                                    </p:set>
                                    <p:animEffect transition="in" filter="wipe(down)">
                                      <p:cBhvr>
                                        <p:cTn id="12" dur="500"/>
                                        <p:tgtEl>
                                          <p:spTgt spid="309251">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09251">
                                            <p:txEl>
                                              <p:pRg st="2" end="2"/>
                                            </p:txEl>
                                          </p:spTgt>
                                        </p:tgtEl>
                                        <p:attrNameLst>
                                          <p:attrName>style.visibility</p:attrName>
                                        </p:attrNameLst>
                                      </p:cBhvr>
                                      <p:to>
                                        <p:strVal val="visible"/>
                                      </p:to>
                                    </p:set>
                                    <p:animEffect transition="in" filter="wipe(down)">
                                      <p:cBhvr>
                                        <p:cTn id="15" dur="500"/>
                                        <p:tgtEl>
                                          <p:spTgt spid="309251">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09251">
                                            <p:txEl>
                                              <p:pRg st="3" end="3"/>
                                            </p:txEl>
                                          </p:spTgt>
                                        </p:tgtEl>
                                        <p:attrNameLst>
                                          <p:attrName>style.visibility</p:attrName>
                                        </p:attrNameLst>
                                      </p:cBhvr>
                                      <p:to>
                                        <p:strVal val="visible"/>
                                      </p:to>
                                    </p:set>
                                    <p:animEffect transition="in" filter="wipe(down)">
                                      <p:cBhvr>
                                        <p:cTn id="18" dur="500"/>
                                        <p:tgtEl>
                                          <p:spTgt spid="309251">
                                            <p:txEl>
                                              <p:pRg st="3" end="3"/>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09251">
                                            <p:txEl>
                                              <p:pRg st="4" end="4"/>
                                            </p:txEl>
                                          </p:spTgt>
                                        </p:tgtEl>
                                        <p:attrNameLst>
                                          <p:attrName>style.visibility</p:attrName>
                                        </p:attrNameLst>
                                      </p:cBhvr>
                                      <p:to>
                                        <p:strVal val="visible"/>
                                      </p:to>
                                    </p:set>
                                    <p:animEffect transition="in" filter="wipe(down)">
                                      <p:cBhvr>
                                        <p:cTn id="21" dur="500"/>
                                        <p:tgtEl>
                                          <p:spTgt spid="309251">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309251">
                                            <p:txEl>
                                              <p:pRg st="5" end="5"/>
                                            </p:txEl>
                                          </p:spTgt>
                                        </p:tgtEl>
                                        <p:attrNameLst>
                                          <p:attrName>style.visibility</p:attrName>
                                        </p:attrNameLst>
                                      </p:cBhvr>
                                      <p:to>
                                        <p:strVal val="visible"/>
                                      </p:to>
                                    </p:set>
                                    <p:animEffect transition="in" filter="wipe(down)">
                                      <p:cBhvr>
                                        <p:cTn id="26" dur="500"/>
                                        <p:tgtEl>
                                          <p:spTgt spid="309251">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309251">
                                            <p:txEl>
                                              <p:pRg st="6" end="6"/>
                                            </p:txEl>
                                          </p:spTgt>
                                        </p:tgtEl>
                                        <p:attrNameLst>
                                          <p:attrName>style.visibility</p:attrName>
                                        </p:attrNameLst>
                                      </p:cBhvr>
                                      <p:to>
                                        <p:strVal val="visible"/>
                                      </p:to>
                                    </p:set>
                                    <p:animEffect transition="in" filter="wipe(down)">
                                      <p:cBhvr>
                                        <p:cTn id="31" dur="500"/>
                                        <p:tgtEl>
                                          <p:spTgt spid="309251">
                                            <p:txEl>
                                              <p:pRg st="6" end="6"/>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309251">
                                            <p:txEl>
                                              <p:pRg st="7" end="7"/>
                                            </p:txEl>
                                          </p:spTgt>
                                        </p:tgtEl>
                                        <p:attrNameLst>
                                          <p:attrName>style.visibility</p:attrName>
                                        </p:attrNameLst>
                                      </p:cBhvr>
                                      <p:to>
                                        <p:strVal val="visible"/>
                                      </p:to>
                                    </p:set>
                                    <p:animEffect transition="in" filter="wipe(down)">
                                      <p:cBhvr>
                                        <p:cTn id="36" dur="500"/>
                                        <p:tgtEl>
                                          <p:spTgt spid="309251">
                                            <p:txEl>
                                              <p:pRg st="7" end="7"/>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09251">
                                            <p:txEl>
                                              <p:pRg st="8" end="8"/>
                                            </p:txEl>
                                          </p:spTgt>
                                        </p:tgtEl>
                                        <p:attrNameLst>
                                          <p:attrName>style.visibility</p:attrName>
                                        </p:attrNameLst>
                                      </p:cBhvr>
                                      <p:to>
                                        <p:strVal val="visible"/>
                                      </p:to>
                                    </p:set>
                                    <p:animEffect transition="in" filter="wipe(down)">
                                      <p:cBhvr>
                                        <p:cTn id="41" dur="500"/>
                                        <p:tgtEl>
                                          <p:spTgt spid="309251">
                                            <p:txEl>
                                              <p:pRg st="8" end="8"/>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nodeType="clickEffect">
                                  <p:stCondLst>
                                    <p:cond delay="0"/>
                                  </p:stCondLst>
                                  <p:childTnLst>
                                    <p:set>
                                      <p:cBhvr>
                                        <p:cTn id="45" dur="1" fill="hold">
                                          <p:stCondLst>
                                            <p:cond delay="0"/>
                                          </p:stCondLst>
                                        </p:cTn>
                                        <p:tgtEl>
                                          <p:spTgt spid="78851"/>
                                        </p:tgtEl>
                                        <p:attrNameLst>
                                          <p:attrName>style.visibility</p:attrName>
                                        </p:attrNameLst>
                                      </p:cBhvr>
                                      <p:to>
                                        <p:strVal val="visible"/>
                                      </p:to>
                                    </p:set>
                                    <p:anim calcmode="lin" valueType="num">
                                      <p:cBhvr additive="base">
                                        <p:cTn id="46" dur="500" fill="hold"/>
                                        <p:tgtEl>
                                          <p:spTgt spid="78851"/>
                                        </p:tgtEl>
                                        <p:attrNameLst>
                                          <p:attrName>ppt_x</p:attrName>
                                        </p:attrNameLst>
                                      </p:cBhvr>
                                      <p:tavLst>
                                        <p:tav tm="0">
                                          <p:val>
                                            <p:strVal val="#ppt_x"/>
                                          </p:val>
                                        </p:tav>
                                        <p:tav tm="100000">
                                          <p:val>
                                            <p:strVal val="#ppt_x"/>
                                          </p:val>
                                        </p:tav>
                                      </p:tavLst>
                                    </p:anim>
                                    <p:anim calcmode="lin" valueType="num">
                                      <p:cBhvr additive="base">
                                        <p:cTn id="47" dur="500" fill="hold"/>
                                        <p:tgtEl>
                                          <p:spTgt spid="78851"/>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309263"/>
                                        </p:tgtEl>
                                        <p:attrNameLst>
                                          <p:attrName>style.visibility</p:attrName>
                                        </p:attrNameLst>
                                      </p:cBhvr>
                                      <p:to>
                                        <p:strVal val="visible"/>
                                      </p:to>
                                    </p:set>
                                    <p:anim calcmode="lin" valueType="num">
                                      <p:cBhvr additive="base">
                                        <p:cTn id="52" dur="500" fill="hold"/>
                                        <p:tgtEl>
                                          <p:spTgt spid="309263"/>
                                        </p:tgtEl>
                                        <p:attrNameLst>
                                          <p:attrName>ppt_x</p:attrName>
                                        </p:attrNameLst>
                                      </p:cBhvr>
                                      <p:tavLst>
                                        <p:tav tm="0">
                                          <p:val>
                                            <p:strVal val="#ppt_x"/>
                                          </p:val>
                                        </p:tav>
                                        <p:tav tm="100000">
                                          <p:val>
                                            <p:strVal val="#ppt_x"/>
                                          </p:val>
                                        </p:tav>
                                      </p:tavLst>
                                    </p:anim>
                                    <p:anim calcmode="lin" valueType="num">
                                      <p:cBhvr additive="base">
                                        <p:cTn id="53" dur="500" fill="hold"/>
                                        <p:tgtEl>
                                          <p:spTgt spid="309263"/>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10"/>
                                        </p:tgtEl>
                                        <p:attrNameLst>
                                          <p:attrName>style.visibility</p:attrName>
                                        </p:attrNameLst>
                                      </p:cBhvr>
                                      <p:to>
                                        <p:strVal val="visible"/>
                                      </p:to>
                                    </p:set>
                                    <p:anim calcmode="lin" valueType="num">
                                      <p:cBhvr additive="base">
                                        <p:cTn id="56" dur="500" fill="hold"/>
                                        <p:tgtEl>
                                          <p:spTgt spid="10"/>
                                        </p:tgtEl>
                                        <p:attrNameLst>
                                          <p:attrName>ppt_x</p:attrName>
                                        </p:attrNameLst>
                                      </p:cBhvr>
                                      <p:tavLst>
                                        <p:tav tm="0">
                                          <p:val>
                                            <p:strVal val="#ppt_x"/>
                                          </p:val>
                                        </p:tav>
                                        <p:tav tm="100000">
                                          <p:val>
                                            <p:strVal val="#ppt_x"/>
                                          </p:val>
                                        </p:tav>
                                      </p:tavLst>
                                    </p:anim>
                                    <p:anim calcmode="lin" valueType="num">
                                      <p:cBhvr additive="base">
                                        <p:cTn id="57" dur="500" fill="hold"/>
                                        <p:tgtEl>
                                          <p:spTgt spid="10"/>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309278"/>
                                        </p:tgtEl>
                                        <p:attrNameLst>
                                          <p:attrName>style.visibility</p:attrName>
                                        </p:attrNameLst>
                                      </p:cBhvr>
                                      <p:to>
                                        <p:strVal val="visible"/>
                                      </p:to>
                                    </p:set>
                                    <p:anim calcmode="lin" valueType="num">
                                      <p:cBhvr additive="base">
                                        <p:cTn id="60" dur="500" fill="hold"/>
                                        <p:tgtEl>
                                          <p:spTgt spid="309278"/>
                                        </p:tgtEl>
                                        <p:attrNameLst>
                                          <p:attrName>ppt_x</p:attrName>
                                        </p:attrNameLst>
                                      </p:cBhvr>
                                      <p:tavLst>
                                        <p:tav tm="0">
                                          <p:val>
                                            <p:strVal val="#ppt_x"/>
                                          </p:val>
                                        </p:tav>
                                        <p:tav tm="100000">
                                          <p:val>
                                            <p:strVal val="#ppt_x"/>
                                          </p:val>
                                        </p:tav>
                                      </p:tavLst>
                                    </p:anim>
                                    <p:anim calcmode="lin" valueType="num">
                                      <p:cBhvr additive="base">
                                        <p:cTn id="61" dur="500" fill="hold"/>
                                        <p:tgtEl>
                                          <p:spTgt spid="309278"/>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309279"/>
                                        </p:tgtEl>
                                        <p:attrNameLst>
                                          <p:attrName>style.visibility</p:attrName>
                                        </p:attrNameLst>
                                      </p:cBhvr>
                                      <p:to>
                                        <p:strVal val="visible"/>
                                      </p:to>
                                    </p:set>
                                    <p:anim calcmode="lin" valueType="num">
                                      <p:cBhvr additive="base">
                                        <p:cTn id="64" dur="500" fill="hold"/>
                                        <p:tgtEl>
                                          <p:spTgt spid="309279"/>
                                        </p:tgtEl>
                                        <p:attrNameLst>
                                          <p:attrName>ppt_x</p:attrName>
                                        </p:attrNameLst>
                                      </p:cBhvr>
                                      <p:tavLst>
                                        <p:tav tm="0">
                                          <p:val>
                                            <p:strVal val="#ppt_x"/>
                                          </p:val>
                                        </p:tav>
                                        <p:tav tm="100000">
                                          <p:val>
                                            <p:strVal val="#ppt_x"/>
                                          </p:val>
                                        </p:tav>
                                      </p:tavLst>
                                    </p:anim>
                                    <p:anim calcmode="lin" valueType="num">
                                      <p:cBhvr additive="base">
                                        <p:cTn id="65" dur="500" fill="hold"/>
                                        <p:tgtEl>
                                          <p:spTgt spid="309279"/>
                                        </p:tgtEl>
                                        <p:attrNameLst>
                                          <p:attrName>ppt_y</p:attrName>
                                        </p:attrNameLst>
                                      </p:cBhvr>
                                      <p:tavLst>
                                        <p:tav tm="0">
                                          <p:val>
                                            <p:strVal val="1+#ppt_h/2"/>
                                          </p:val>
                                        </p:tav>
                                        <p:tav tm="100000">
                                          <p:val>
                                            <p:strVal val="#ppt_y"/>
                                          </p:val>
                                        </p:tav>
                                      </p:tavLst>
                                    </p:anim>
                                  </p:childTnLst>
                                </p:cTn>
                              </p:par>
                              <p:par>
                                <p:cTn id="66" presetID="2" presetClass="entr" presetSubtype="4" fill="hold" nodeType="withEffect">
                                  <p:stCondLst>
                                    <p:cond delay="0"/>
                                  </p:stCondLst>
                                  <p:childTnLst>
                                    <p:set>
                                      <p:cBhvr>
                                        <p:cTn id="67" dur="1" fill="hold">
                                          <p:stCondLst>
                                            <p:cond delay="0"/>
                                          </p:stCondLst>
                                        </p:cTn>
                                        <p:tgtEl>
                                          <p:spTgt spid="309280"/>
                                        </p:tgtEl>
                                        <p:attrNameLst>
                                          <p:attrName>style.visibility</p:attrName>
                                        </p:attrNameLst>
                                      </p:cBhvr>
                                      <p:to>
                                        <p:strVal val="visible"/>
                                      </p:to>
                                    </p:set>
                                    <p:anim calcmode="lin" valueType="num">
                                      <p:cBhvr additive="base">
                                        <p:cTn id="68" dur="500" fill="hold"/>
                                        <p:tgtEl>
                                          <p:spTgt spid="309280"/>
                                        </p:tgtEl>
                                        <p:attrNameLst>
                                          <p:attrName>ppt_x</p:attrName>
                                        </p:attrNameLst>
                                      </p:cBhvr>
                                      <p:tavLst>
                                        <p:tav tm="0">
                                          <p:val>
                                            <p:strVal val="#ppt_x"/>
                                          </p:val>
                                        </p:tav>
                                        <p:tav tm="100000">
                                          <p:val>
                                            <p:strVal val="#ppt_x"/>
                                          </p:val>
                                        </p:tav>
                                      </p:tavLst>
                                    </p:anim>
                                    <p:anim calcmode="lin" valueType="num">
                                      <p:cBhvr additive="base">
                                        <p:cTn id="69" dur="500" fill="hold"/>
                                        <p:tgtEl>
                                          <p:spTgt spid="309280"/>
                                        </p:tgtEl>
                                        <p:attrNameLst>
                                          <p:attrName>ppt_y</p:attrName>
                                        </p:attrNameLst>
                                      </p:cBhvr>
                                      <p:tavLst>
                                        <p:tav tm="0">
                                          <p:val>
                                            <p:strVal val="1+#ppt_h/2"/>
                                          </p:val>
                                        </p:tav>
                                        <p:tav tm="100000">
                                          <p:val>
                                            <p:strVal val="#ppt_y"/>
                                          </p:val>
                                        </p:tav>
                                      </p:tavLst>
                                    </p:anim>
                                  </p:childTnLst>
                                </p:cTn>
                              </p:par>
                              <p:par>
                                <p:cTn id="70" presetID="2" presetClass="entr" presetSubtype="4" fill="hold" grpId="0" nodeType="withEffect">
                                  <p:stCondLst>
                                    <p:cond delay="0"/>
                                  </p:stCondLst>
                                  <p:childTnLst>
                                    <p:set>
                                      <p:cBhvr>
                                        <p:cTn id="71" dur="1" fill="hold">
                                          <p:stCondLst>
                                            <p:cond delay="0"/>
                                          </p:stCondLst>
                                        </p:cTn>
                                        <p:tgtEl>
                                          <p:spTgt spid="309281"/>
                                        </p:tgtEl>
                                        <p:attrNameLst>
                                          <p:attrName>style.visibility</p:attrName>
                                        </p:attrNameLst>
                                      </p:cBhvr>
                                      <p:to>
                                        <p:strVal val="visible"/>
                                      </p:to>
                                    </p:set>
                                    <p:anim calcmode="lin" valueType="num">
                                      <p:cBhvr additive="base">
                                        <p:cTn id="72" dur="500" fill="hold"/>
                                        <p:tgtEl>
                                          <p:spTgt spid="309281"/>
                                        </p:tgtEl>
                                        <p:attrNameLst>
                                          <p:attrName>ppt_x</p:attrName>
                                        </p:attrNameLst>
                                      </p:cBhvr>
                                      <p:tavLst>
                                        <p:tav tm="0">
                                          <p:val>
                                            <p:strVal val="#ppt_x"/>
                                          </p:val>
                                        </p:tav>
                                        <p:tav tm="100000">
                                          <p:val>
                                            <p:strVal val="#ppt_x"/>
                                          </p:val>
                                        </p:tav>
                                      </p:tavLst>
                                    </p:anim>
                                    <p:anim calcmode="lin" valueType="num">
                                      <p:cBhvr additive="base">
                                        <p:cTn id="73" dur="500" fill="hold"/>
                                        <p:tgtEl>
                                          <p:spTgt spid="3092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263" grpId="0"/>
      <p:bldP spid="309281" grpId="0" animBg="1"/>
    </p:bld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3854450"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嵌套数组行访问</a:t>
            </a:r>
          </a:p>
        </p:txBody>
      </p:sp>
      <p:sp>
        <p:nvSpPr>
          <p:cNvPr id="310276" name="Rectangle 4"/>
          <p:cNvSpPr>
            <a:spLocks noGrp="1" noChangeArrowheads="1"/>
          </p:cNvSpPr>
          <p:nvPr/>
        </p:nvSpPr>
        <p:spPr>
          <a:xfrm>
            <a:off x="442913" y="1292225"/>
            <a:ext cx="5957887" cy="145097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1F4E79"/>
              </a:buClr>
            </a:pPr>
            <a:r>
              <a:rPr lang="en-US">
                <a:latin typeface="微软雅黑" panose="020B0503020204020204" charset="-122"/>
                <a:ea typeface="微软雅黑" panose="020B0503020204020204" charset="-122"/>
              </a:rPr>
              <a:t>行向量</a:t>
            </a:r>
          </a:p>
          <a:p>
            <a:pPr lvl="1"/>
            <a:r>
              <a:rPr lang="en-US">
                <a:latin typeface="微软雅黑" panose="020B0503020204020204" charset="-122"/>
                <a:ea typeface="微软雅黑" panose="020B0503020204020204" charset="-122"/>
              </a:rPr>
              <a:t> </a:t>
            </a:r>
            <a:r>
              <a:rPr lang="en-US" b="1">
                <a:latin typeface="微软雅黑" panose="020B0503020204020204" charset="-122"/>
                <a:ea typeface="微软雅黑" panose="020B0503020204020204" charset="-122"/>
              </a:rPr>
              <a:t>A[i]</a:t>
            </a:r>
            <a:r>
              <a:rPr lang="zh-CN" altLang="en-US">
                <a:latin typeface="微软雅黑" panose="020B0503020204020204" charset="-122"/>
                <a:ea typeface="微软雅黑" panose="020B0503020204020204" charset="-122"/>
              </a:rPr>
              <a:t>是</a:t>
            </a:r>
            <a:r>
              <a:rPr lang="en-US">
                <a:latin typeface="微软雅黑" panose="020B0503020204020204" charset="-122"/>
                <a:ea typeface="微软雅黑" panose="020B0503020204020204" charset="-122"/>
              </a:rPr>
              <a:t> </a:t>
            </a:r>
            <a:r>
              <a:rPr lang="en-US" i="1">
                <a:latin typeface="微软雅黑" panose="020B0503020204020204" charset="-122"/>
                <a:ea typeface="微软雅黑" panose="020B0503020204020204" charset="-122"/>
              </a:rPr>
              <a:t>C</a:t>
            </a:r>
            <a:r>
              <a:rPr lang="en-US">
                <a:latin typeface="微软雅黑" panose="020B0503020204020204" charset="-122"/>
                <a:ea typeface="微软雅黑" panose="020B0503020204020204" charset="-122"/>
              </a:rPr>
              <a:t> </a:t>
            </a:r>
            <a:r>
              <a:rPr lang="zh-CN" altLang="en-US">
                <a:latin typeface="微软雅黑" panose="020B0503020204020204" charset="-122"/>
                <a:ea typeface="微软雅黑" panose="020B0503020204020204" charset="-122"/>
              </a:rPr>
              <a:t>个元素的数组</a:t>
            </a:r>
          </a:p>
          <a:p>
            <a:pPr lvl="1"/>
            <a:r>
              <a:rPr lang="en-US">
                <a:latin typeface="微软雅黑" panose="020B0503020204020204" charset="-122"/>
                <a:ea typeface="微软雅黑" panose="020B0503020204020204" charset="-122"/>
              </a:rPr>
              <a:t>类型T的每个元素都需要k字节</a:t>
            </a:r>
          </a:p>
          <a:p>
            <a:pPr lvl="1"/>
            <a:r>
              <a:rPr lang="en-US">
                <a:latin typeface="微软雅黑" panose="020B0503020204020204" charset="-122"/>
                <a:ea typeface="微软雅黑" panose="020B0503020204020204" charset="-122"/>
              </a:rPr>
              <a:t>开始地址 </a:t>
            </a:r>
            <a:r>
              <a:rPr lang="en-US" b="1">
                <a:latin typeface="微软雅黑" panose="020B0503020204020204" charset="-122"/>
                <a:ea typeface="微软雅黑" panose="020B0503020204020204" charset="-122"/>
              </a:rPr>
              <a:t>A +</a:t>
            </a:r>
            <a:r>
              <a:rPr lang="en-US">
                <a:latin typeface="微软雅黑" panose="020B0503020204020204" charset="-122"/>
                <a:ea typeface="微软雅黑" panose="020B0503020204020204" charset="-122"/>
              </a:rPr>
              <a:t>  </a:t>
            </a:r>
            <a:r>
              <a:rPr lang="en-US" i="1">
                <a:latin typeface="微软雅黑" panose="020B0503020204020204" charset="-122"/>
                <a:ea typeface="微软雅黑" panose="020B0503020204020204" charset="-122"/>
              </a:rPr>
              <a:t>i</a:t>
            </a:r>
            <a:r>
              <a:rPr lang="en-US">
                <a:latin typeface="微软雅黑" panose="020B0503020204020204" charset="-122"/>
                <a:ea typeface="微软雅黑" panose="020B0503020204020204" charset="-122"/>
              </a:rPr>
              <a:t> * (</a:t>
            </a:r>
            <a:r>
              <a:rPr lang="en-US" i="1">
                <a:latin typeface="微软雅黑" panose="020B0503020204020204" charset="-122"/>
                <a:ea typeface="微软雅黑" panose="020B0503020204020204" charset="-122"/>
              </a:rPr>
              <a:t>C </a:t>
            </a:r>
            <a:r>
              <a:rPr lang="en-US">
                <a:latin typeface="微软雅黑" panose="020B0503020204020204" charset="-122"/>
                <a:ea typeface="微软雅黑" panose="020B0503020204020204" charset="-122"/>
              </a:rPr>
              <a:t>* </a:t>
            </a:r>
            <a:r>
              <a:rPr lang="en-US" i="1">
                <a:latin typeface="微软雅黑" panose="020B0503020204020204" charset="-122"/>
                <a:ea typeface="微软雅黑" panose="020B0503020204020204" charset="-122"/>
              </a:rPr>
              <a:t>K</a:t>
            </a:r>
            <a:r>
              <a:rPr lang="en-US">
                <a:latin typeface="微软雅黑" panose="020B0503020204020204" charset="-122"/>
                <a:ea typeface="微软雅黑" panose="020B0503020204020204" charset="-122"/>
              </a:rPr>
              <a:t>)</a:t>
            </a:r>
          </a:p>
        </p:txBody>
      </p:sp>
      <p:sp>
        <p:nvSpPr>
          <p:cNvPr id="80897" name="Rectangle 2"/>
          <p:cNvSpPr>
            <a:spLocks noChangeArrowheads="1"/>
          </p:cNvSpPr>
          <p:nvPr/>
        </p:nvSpPr>
        <p:spPr bwMode="auto">
          <a:xfrm>
            <a:off x="5791200" y="4506913"/>
            <a:ext cx="990600" cy="990600"/>
          </a:xfrm>
          <a:prstGeom prst="rect">
            <a:avLst/>
          </a:prstGeom>
          <a:solidFill>
            <a:schemeClr val="bg1"/>
          </a:solidFill>
          <a:ln w="25400">
            <a:noFill/>
            <a:miter lim="800000"/>
          </a:ln>
        </p:spPr>
        <p:txBody>
          <a:bodyPr wrap="none" anchor="ctr"/>
          <a:lstStyle/>
          <a:p>
            <a:pPr eaLnBrk="0" hangingPunct="0"/>
            <a:r>
              <a:rPr lang="en-US" b="0">
                <a:latin typeface="Calibri" panose="020F0502020204030204" charset="0"/>
              </a:rPr>
              <a:t>•  •  •</a:t>
            </a:r>
          </a:p>
        </p:txBody>
      </p:sp>
      <p:grpSp>
        <p:nvGrpSpPr>
          <p:cNvPr id="80900" name="Group 5"/>
          <p:cNvGrpSpPr/>
          <p:nvPr/>
        </p:nvGrpSpPr>
        <p:grpSpPr bwMode="auto">
          <a:xfrm>
            <a:off x="3657600" y="3973513"/>
            <a:ext cx="2133600" cy="1524000"/>
            <a:chOff x="1680" y="2064"/>
            <a:chExt cx="1344" cy="960"/>
          </a:xfrm>
        </p:grpSpPr>
        <p:grpSp>
          <p:nvGrpSpPr>
            <p:cNvPr id="80927" name="Group 6"/>
            <p:cNvGrpSpPr/>
            <p:nvPr/>
          </p:nvGrpSpPr>
          <p:grpSpPr bwMode="auto">
            <a:xfrm>
              <a:off x="1680" y="2400"/>
              <a:ext cx="1344" cy="624"/>
              <a:chOff x="1488" y="3504"/>
              <a:chExt cx="1344" cy="624"/>
            </a:xfrm>
          </p:grpSpPr>
          <p:sp>
            <p:nvSpPr>
              <p:cNvPr id="310281" name="Rectangle 9"/>
              <p:cNvSpPr>
                <a:spLocks noChangeArrowheads="1"/>
              </p:cNvSpPr>
              <p:nvPr/>
            </p:nvSpPr>
            <p:spPr bwMode="auto">
              <a:xfrm>
                <a:off x="1488" y="3504"/>
                <a:ext cx="1344" cy="624"/>
              </a:xfrm>
              <a:prstGeom prst="rect">
                <a:avLst/>
              </a:prstGeom>
              <a:solidFill>
                <a:schemeClr val="accent2">
                  <a:lumMod val="20000"/>
                  <a:lumOff val="80000"/>
                </a:schemeClr>
              </a:solidFill>
              <a:ln w="28575">
                <a:solidFill>
                  <a:schemeClr val="tx1"/>
                </a:solidFill>
                <a:miter lim="800000"/>
              </a:ln>
              <a:effectLst/>
            </p:spPr>
            <p:txBody>
              <a:bodyPr wrap="none" anchor="ctr"/>
              <a:lstStyle/>
              <a:p>
                <a:pPr algn="ctr" eaLnBrk="0" hangingPunct="0">
                  <a:defRPr/>
                </a:pPr>
                <a:r>
                  <a:rPr lang="en-US" sz="1600" b="0" dirty="0">
                    <a:latin typeface="Calibri" panose="020F0502020204030204" charset="0"/>
                    <a:ea typeface="+mn-ea"/>
                    <a:cs typeface="+mn-cs"/>
                  </a:rPr>
                  <a:t>• • •</a:t>
                </a:r>
              </a:p>
            </p:txBody>
          </p:sp>
          <p:sp>
            <p:nvSpPr>
              <p:cNvPr id="310279" name="Rectangle 7"/>
              <p:cNvSpPr>
                <a:spLocks noChangeArrowheads="1"/>
              </p:cNvSpPr>
              <p:nvPr/>
            </p:nvSpPr>
            <p:spPr bwMode="auto">
              <a:xfrm>
                <a:off x="1497" y="3504"/>
                <a:ext cx="384" cy="624"/>
              </a:xfrm>
              <a:prstGeom prst="rect">
                <a:avLst/>
              </a:prstGeom>
              <a:solidFill>
                <a:schemeClr val="accent2">
                  <a:lumMod val="20000"/>
                  <a:lumOff val="80000"/>
                </a:schemeClr>
              </a:solidFill>
              <a:ln w="12700">
                <a:solidFill>
                  <a:schemeClr val="tx1"/>
                </a:solidFill>
                <a:miter lim="800000"/>
              </a:ln>
              <a:effectLst/>
            </p:spPr>
            <p:txBody>
              <a:bodyPr wrap="none" anchor="ctr"/>
              <a:lstStyle/>
              <a:p>
                <a:pPr algn="ctr" eaLnBrk="0" hangingPunct="0">
                  <a:defRPr/>
                </a:pPr>
                <a:r>
                  <a:rPr lang="en-US" sz="1600" dirty="0">
                    <a:latin typeface="Courier New" panose="02070309020205020404" charset="0"/>
                    <a:ea typeface="+mn-ea"/>
                    <a:cs typeface="+mn-cs"/>
                  </a:rPr>
                  <a:t>A</a:t>
                </a:r>
              </a:p>
              <a:p>
                <a:pPr algn="ctr" eaLnBrk="0" hangingPunct="0">
                  <a:defRPr/>
                </a:pPr>
                <a:r>
                  <a:rPr lang="en-US" sz="1600" dirty="0">
                    <a:latin typeface="Courier New" panose="02070309020205020404" charset="0"/>
                    <a:ea typeface="+mn-ea"/>
                    <a:cs typeface="+mn-cs"/>
                  </a:rPr>
                  <a:t>[</a:t>
                </a:r>
                <a:r>
                  <a:rPr lang="en-US" sz="1600" dirty="0" err="1">
                    <a:latin typeface="Courier New" panose="02070309020205020404" charset="0"/>
                    <a:ea typeface="+mn-ea"/>
                    <a:cs typeface="+mn-cs"/>
                  </a:rPr>
                  <a:t>i</a:t>
                </a:r>
                <a:r>
                  <a:rPr lang="en-US" sz="1600" dirty="0">
                    <a:latin typeface="Courier New" panose="02070309020205020404" charset="0"/>
                    <a:ea typeface="+mn-ea"/>
                    <a:cs typeface="+mn-cs"/>
                  </a:rPr>
                  <a:t>]</a:t>
                </a:r>
              </a:p>
              <a:p>
                <a:pPr algn="ctr" eaLnBrk="0" hangingPunct="0">
                  <a:defRPr/>
                </a:pPr>
                <a:r>
                  <a:rPr lang="en-US" sz="1600" dirty="0">
                    <a:latin typeface="Courier New" panose="02070309020205020404" charset="0"/>
                    <a:ea typeface="+mn-ea"/>
                    <a:cs typeface="+mn-cs"/>
                  </a:rPr>
                  <a:t>[0]</a:t>
                </a:r>
              </a:p>
            </p:txBody>
          </p:sp>
          <p:sp>
            <p:nvSpPr>
              <p:cNvPr id="310280" name="Rectangle 8"/>
              <p:cNvSpPr>
                <a:spLocks noChangeArrowheads="1"/>
              </p:cNvSpPr>
              <p:nvPr/>
            </p:nvSpPr>
            <p:spPr bwMode="auto">
              <a:xfrm>
                <a:off x="2448" y="3504"/>
                <a:ext cx="384" cy="624"/>
              </a:xfrm>
              <a:prstGeom prst="rect">
                <a:avLst/>
              </a:prstGeom>
              <a:solidFill>
                <a:schemeClr val="accent2">
                  <a:lumMod val="20000"/>
                  <a:lumOff val="80000"/>
                </a:schemeClr>
              </a:solidFill>
              <a:ln w="12700">
                <a:solidFill>
                  <a:schemeClr val="tx1"/>
                </a:solidFill>
                <a:miter lim="800000"/>
              </a:ln>
              <a:effectLst/>
            </p:spPr>
            <p:txBody>
              <a:bodyPr wrap="none" anchor="ctr"/>
              <a:lstStyle/>
              <a:p>
                <a:pPr algn="ctr" eaLnBrk="0" hangingPunct="0">
                  <a:defRPr/>
                </a:pPr>
                <a:r>
                  <a:rPr lang="en-US" sz="1600" dirty="0">
                    <a:latin typeface="Courier New" panose="02070309020205020404" charset="0"/>
                    <a:ea typeface="+mn-ea"/>
                    <a:cs typeface="+mn-cs"/>
                  </a:rPr>
                  <a:t>A</a:t>
                </a:r>
              </a:p>
              <a:p>
                <a:pPr algn="ctr" eaLnBrk="0" hangingPunct="0">
                  <a:defRPr/>
                </a:pPr>
                <a:r>
                  <a:rPr lang="en-US" sz="1600" dirty="0">
                    <a:latin typeface="Courier New" panose="02070309020205020404" charset="0"/>
                    <a:ea typeface="+mn-ea"/>
                    <a:cs typeface="+mn-cs"/>
                  </a:rPr>
                  <a:t>[</a:t>
                </a:r>
                <a:r>
                  <a:rPr lang="en-US" sz="1600" dirty="0" err="1">
                    <a:latin typeface="Courier New" panose="02070309020205020404" charset="0"/>
                    <a:ea typeface="+mn-ea"/>
                    <a:cs typeface="+mn-cs"/>
                  </a:rPr>
                  <a:t>i</a:t>
                </a:r>
                <a:r>
                  <a:rPr lang="en-US" sz="1600" dirty="0">
                    <a:latin typeface="Courier New" panose="02070309020205020404" charset="0"/>
                    <a:ea typeface="+mn-ea"/>
                    <a:cs typeface="+mn-cs"/>
                  </a:rPr>
                  <a:t>]</a:t>
                </a:r>
              </a:p>
              <a:p>
                <a:pPr algn="ctr" eaLnBrk="0" hangingPunct="0">
                  <a:defRPr/>
                </a:pPr>
                <a:r>
                  <a:rPr lang="en-US" sz="1600" dirty="0">
                    <a:latin typeface="Courier New" panose="02070309020205020404" charset="0"/>
                    <a:ea typeface="+mn-ea"/>
                    <a:cs typeface="+mn-cs"/>
                  </a:rPr>
                  <a:t>[C-1]</a:t>
                </a:r>
              </a:p>
            </p:txBody>
          </p:sp>
        </p:grpSp>
        <p:sp>
          <p:nvSpPr>
            <p:cNvPr id="80928" name="Line 10"/>
            <p:cNvSpPr>
              <a:spLocks noChangeShapeType="1"/>
            </p:cNvSpPr>
            <p:nvPr/>
          </p:nvSpPr>
          <p:spPr bwMode="auto">
            <a:xfrm>
              <a:off x="1680" y="2160"/>
              <a:ext cx="0" cy="144"/>
            </a:xfrm>
            <a:prstGeom prst="line">
              <a:avLst/>
            </a:prstGeom>
            <a:noFill/>
            <a:ln w="25400">
              <a:solidFill>
                <a:schemeClr val="tx1"/>
              </a:solidFill>
              <a:round/>
            </a:ln>
          </p:spPr>
          <p:txBody>
            <a:bodyPr wrap="none" anchor="ctr"/>
            <a:lstStyle/>
            <a:p>
              <a:endParaRPr lang="en-US"/>
            </a:p>
          </p:txBody>
        </p:sp>
        <p:sp>
          <p:nvSpPr>
            <p:cNvPr id="80929" name="Line 11"/>
            <p:cNvSpPr>
              <a:spLocks noChangeShapeType="1"/>
            </p:cNvSpPr>
            <p:nvPr/>
          </p:nvSpPr>
          <p:spPr bwMode="auto">
            <a:xfrm>
              <a:off x="1680" y="2160"/>
              <a:ext cx="0" cy="144"/>
            </a:xfrm>
            <a:prstGeom prst="line">
              <a:avLst/>
            </a:prstGeom>
            <a:noFill/>
            <a:ln w="25400">
              <a:solidFill>
                <a:schemeClr val="tx1"/>
              </a:solidFill>
              <a:round/>
            </a:ln>
          </p:spPr>
          <p:txBody>
            <a:bodyPr wrap="none" anchor="ctr"/>
            <a:lstStyle/>
            <a:p>
              <a:endParaRPr lang="en-US"/>
            </a:p>
          </p:txBody>
        </p:sp>
        <p:sp>
          <p:nvSpPr>
            <p:cNvPr id="80930" name="Line 12"/>
            <p:cNvSpPr>
              <a:spLocks noChangeShapeType="1"/>
            </p:cNvSpPr>
            <p:nvPr/>
          </p:nvSpPr>
          <p:spPr bwMode="auto">
            <a:xfrm>
              <a:off x="3024" y="2160"/>
              <a:ext cx="0" cy="144"/>
            </a:xfrm>
            <a:prstGeom prst="line">
              <a:avLst/>
            </a:prstGeom>
            <a:noFill/>
            <a:ln w="25400">
              <a:solidFill>
                <a:schemeClr val="tx1"/>
              </a:solidFill>
              <a:round/>
            </a:ln>
          </p:spPr>
          <p:txBody>
            <a:bodyPr wrap="none" anchor="ctr"/>
            <a:lstStyle/>
            <a:p>
              <a:endParaRPr lang="en-US"/>
            </a:p>
          </p:txBody>
        </p:sp>
        <p:sp>
          <p:nvSpPr>
            <p:cNvPr id="80931" name="Line 13"/>
            <p:cNvSpPr>
              <a:spLocks noChangeShapeType="1"/>
            </p:cNvSpPr>
            <p:nvPr/>
          </p:nvSpPr>
          <p:spPr bwMode="auto">
            <a:xfrm>
              <a:off x="1680" y="2208"/>
              <a:ext cx="1344" cy="0"/>
            </a:xfrm>
            <a:prstGeom prst="line">
              <a:avLst/>
            </a:prstGeom>
            <a:noFill/>
            <a:ln w="25400">
              <a:solidFill>
                <a:schemeClr val="tx1"/>
              </a:solidFill>
              <a:round/>
              <a:headEnd type="triangle" w="med" len="med"/>
              <a:tailEnd type="triangle" w="med" len="med"/>
            </a:ln>
          </p:spPr>
          <p:txBody>
            <a:bodyPr wrap="none" anchor="ctr"/>
            <a:lstStyle/>
            <a:p>
              <a:endParaRPr lang="en-US"/>
            </a:p>
          </p:txBody>
        </p:sp>
        <p:sp>
          <p:nvSpPr>
            <p:cNvPr id="80932" name="Rectangle 14"/>
            <p:cNvSpPr>
              <a:spLocks noChangeArrowheads="1"/>
            </p:cNvSpPr>
            <p:nvPr/>
          </p:nvSpPr>
          <p:spPr bwMode="auto">
            <a:xfrm>
              <a:off x="2112" y="2064"/>
              <a:ext cx="528" cy="240"/>
            </a:xfrm>
            <a:prstGeom prst="rect">
              <a:avLst/>
            </a:prstGeom>
            <a:solidFill>
              <a:schemeClr val="bg1"/>
            </a:solidFill>
            <a:ln w="25400">
              <a:noFill/>
              <a:miter lim="800000"/>
            </a:ln>
          </p:spPr>
          <p:txBody>
            <a:bodyPr wrap="none" anchor="ctr"/>
            <a:lstStyle/>
            <a:p>
              <a:pPr eaLnBrk="0" hangingPunct="0"/>
              <a:r>
                <a:rPr lang="en-US" sz="1600">
                  <a:latin typeface="Courier New" panose="02070309020205020404" charset="0"/>
                </a:rPr>
                <a:t>A[i]</a:t>
              </a:r>
              <a:endParaRPr lang="en-US" sz="1600" b="0">
                <a:latin typeface="Calibri" panose="020F0502020204030204" charset="0"/>
              </a:endParaRPr>
            </a:p>
          </p:txBody>
        </p:sp>
      </p:grpSp>
      <p:grpSp>
        <p:nvGrpSpPr>
          <p:cNvPr id="80901" name="Group 15"/>
          <p:cNvGrpSpPr/>
          <p:nvPr/>
        </p:nvGrpSpPr>
        <p:grpSpPr bwMode="auto">
          <a:xfrm>
            <a:off x="6705600" y="3973513"/>
            <a:ext cx="2133600" cy="1524000"/>
            <a:chOff x="4176" y="2064"/>
            <a:chExt cx="1344" cy="960"/>
          </a:xfrm>
        </p:grpSpPr>
        <p:grpSp>
          <p:nvGrpSpPr>
            <p:cNvPr id="80919" name="Group 16"/>
            <p:cNvGrpSpPr/>
            <p:nvPr/>
          </p:nvGrpSpPr>
          <p:grpSpPr bwMode="auto">
            <a:xfrm>
              <a:off x="4176" y="2400"/>
              <a:ext cx="1344" cy="624"/>
              <a:chOff x="1488" y="3504"/>
              <a:chExt cx="1344" cy="624"/>
            </a:xfrm>
          </p:grpSpPr>
          <p:sp>
            <p:nvSpPr>
              <p:cNvPr id="80924" name="Rectangle 19"/>
              <p:cNvSpPr>
                <a:spLocks noChangeArrowheads="1"/>
              </p:cNvSpPr>
              <p:nvPr/>
            </p:nvSpPr>
            <p:spPr bwMode="auto">
              <a:xfrm>
                <a:off x="1488" y="3504"/>
                <a:ext cx="1344" cy="624"/>
              </a:xfrm>
              <a:prstGeom prst="rect">
                <a:avLst/>
              </a:prstGeom>
              <a:solidFill>
                <a:srgbClr val="D5F1CF"/>
              </a:solidFill>
              <a:ln w="28575">
                <a:solidFill>
                  <a:schemeClr val="tx1"/>
                </a:solidFill>
                <a:miter lim="800000"/>
              </a:ln>
            </p:spPr>
            <p:txBody>
              <a:bodyPr wrap="none" anchor="ctr"/>
              <a:lstStyle/>
              <a:p>
                <a:pPr algn="ctr" eaLnBrk="0" hangingPunct="0"/>
                <a:r>
                  <a:rPr lang="en-US" sz="1600" b="0">
                    <a:latin typeface="Calibri" panose="020F0502020204030204" charset="0"/>
                  </a:rPr>
                  <a:t>• • •</a:t>
                </a:r>
              </a:p>
            </p:txBody>
          </p:sp>
          <p:sp>
            <p:nvSpPr>
              <p:cNvPr id="80925" name="Rectangle 17"/>
              <p:cNvSpPr>
                <a:spLocks noChangeArrowheads="1"/>
              </p:cNvSpPr>
              <p:nvPr/>
            </p:nvSpPr>
            <p:spPr bwMode="auto">
              <a:xfrm>
                <a:off x="1488" y="3504"/>
                <a:ext cx="384" cy="624"/>
              </a:xfrm>
              <a:prstGeom prst="rect">
                <a:avLst/>
              </a:prstGeom>
              <a:solidFill>
                <a:srgbClr val="D5F1CF"/>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[R-1]</a:t>
                </a:r>
              </a:p>
              <a:p>
                <a:pPr algn="ctr" eaLnBrk="0" hangingPunct="0"/>
                <a:r>
                  <a:rPr lang="en-US" sz="1600">
                    <a:latin typeface="Courier New" panose="02070309020205020404" charset="0"/>
                  </a:rPr>
                  <a:t>[0]</a:t>
                </a:r>
              </a:p>
            </p:txBody>
          </p:sp>
          <p:sp>
            <p:nvSpPr>
              <p:cNvPr id="80926" name="Rectangle 18"/>
              <p:cNvSpPr>
                <a:spLocks noChangeArrowheads="1"/>
              </p:cNvSpPr>
              <p:nvPr/>
            </p:nvSpPr>
            <p:spPr bwMode="auto">
              <a:xfrm>
                <a:off x="2448" y="3504"/>
                <a:ext cx="384" cy="624"/>
              </a:xfrm>
              <a:prstGeom prst="rect">
                <a:avLst/>
              </a:prstGeom>
              <a:solidFill>
                <a:srgbClr val="D5F1CF"/>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[R-1]</a:t>
                </a:r>
              </a:p>
              <a:p>
                <a:pPr algn="ctr" eaLnBrk="0" hangingPunct="0"/>
                <a:r>
                  <a:rPr lang="en-US" sz="1600">
                    <a:latin typeface="Courier New" panose="02070309020205020404" charset="0"/>
                  </a:rPr>
                  <a:t>[C-1]</a:t>
                </a:r>
              </a:p>
            </p:txBody>
          </p:sp>
        </p:grpSp>
        <p:sp>
          <p:nvSpPr>
            <p:cNvPr id="80920" name="Line 20"/>
            <p:cNvSpPr>
              <a:spLocks noChangeShapeType="1"/>
            </p:cNvSpPr>
            <p:nvPr/>
          </p:nvSpPr>
          <p:spPr bwMode="auto">
            <a:xfrm>
              <a:off x="4176" y="2160"/>
              <a:ext cx="0" cy="144"/>
            </a:xfrm>
            <a:prstGeom prst="line">
              <a:avLst/>
            </a:prstGeom>
            <a:noFill/>
            <a:ln w="25400">
              <a:solidFill>
                <a:schemeClr val="tx1"/>
              </a:solidFill>
              <a:round/>
            </a:ln>
          </p:spPr>
          <p:txBody>
            <a:bodyPr wrap="none" anchor="ctr"/>
            <a:lstStyle/>
            <a:p>
              <a:endParaRPr lang="en-US"/>
            </a:p>
          </p:txBody>
        </p:sp>
        <p:sp>
          <p:nvSpPr>
            <p:cNvPr id="80921" name="Line 21"/>
            <p:cNvSpPr>
              <a:spLocks noChangeShapeType="1"/>
            </p:cNvSpPr>
            <p:nvPr/>
          </p:nvSpPr>
          <p:spPr bwMode="auto">
            <a:xfrm>
              <a:off x="5520" y="2160"/>
              <a:ext cx="0" cy="144"/>
            </a:xfrm>
            <a:prstGeom prst="line">
              <a:avLst/>
            </a:prstGeom>
            <a:noFill/>
            <a:ln w="25400">
              <a:solidFill>
                <a:schemeClr val="tx1"/>
              </a:solidFill>
              <a:round/>
            </a:ln>
          </p:spPr>
          <p:txBody>
            <a:bodyPr wrap="none" anchor="ctr"/>
            <a:lstStyle/>
            <a:p>
              <a:endParaRPr lang="en-US"/>
            </a:p>
          </p:txBody>
        </p:sp>
        <p:sp>
          <p:nvSpPr>
            <p:cNvPr id="80922" name="Line 22"/>
            <p:cNvSpPr>
              <a:spLocks noChangeShapeType="1"/>
            </p:cNvSpPr>
            <p:nvPr/>
          </p:nvSpPr>
          <p:spPr bwMode="auto">
            <a:xfrm>
              <a:off x="4176" y="2208"/>
              <a:ext cx="1344" cy="0"/>
            </a:xfrm>
            <a:prstGeom prst="line">
              <a:avLst/>
            </a:prstGeom>
            <a:noFill/>
            <a:ln w="25400">
              <a:solidFill>
                <a:schemeClr val="tx1"/>
              </a:solidFill>
              <a:round/>
              <a:headEnd type="triangle" w="med" len="med"/>
              <a:tailEnd type="triangle" w="med" len="med"/>
            </a:ln>
          </p:spPr>
          <p:txBody>
            <a:bodyPr wrap="none" anchor="ctr"/>
            <a:lstStyle/>
            <a:p>
              <a:endParaRPr lang="en-US"/>
            </a:p>
          </p:txBody>
        </p:sp>
        <p:sp>
          <p:nvSpPr>
            <p:cNvPr id="80923" name="Rectangle 23"/>
            <p:cNvSpPr>
              <a:spLocks noChangeArrowheads="1"/>
            </p:cNvSpPr>
            <p:nvPr/>
          </p:nvSpPr>
          <p:spPr bwMode="auto">
            <a:xfrm>
              <a:off x="4608" y="2064"/>
              <a:ext cx="528" cy="240"/>
            </a:xfrm>
            <a:prstGeom prst="rect">
              <a:avLst/>
            </a:prstGeom>
            <a:solidFill>
              <a:schemeClr val="bg1"/>
            </a:solidFill>
            <a:ln w="25400">
              <a:noFill/>
              <a:miter lim="800000"/>
            </a:ln>
          </p:spPr>
          <p:txBody>
            <a:bodyPr wrap="none" anchor="ctr"/>
            <a:lstStyle/>
            <a:p>
              <a:pPr eaLnBrk="0" hangingPunct="0"/>
              <a:r>
                <a:rPr lang="en-US" sz="1600">
                  <a:latin typeface="Courier New" panose="02070309020205020404" charset="0"/>
                </a:rPr>
                <a:t>A[R-1]</a:t>
              </a:r>
              <a:endParaRPr lang="en-US" sz="1600" b="0">
                <a:latin typeface="Calibri" panose="020F0502020204030204" charset="0"/>
              </a:endParaRPr>
            </a:p>
          </p:txBody>
        </p:sp>
      </p:grpSp>
      <p:sp>
        <p:nvSpPr>
          <p:cNvPr id="80902" name="Rectangle 24"/>
          <p:cNvSpPr>
            <a:spLocks noChangeArrowheads="1"/>
          </p:cNvSpPr>
          <p:nvPr/>
        </p:nvSpPr>
        <p:spPr bwMode="auto">
          <a:xfrm>
            <a:off x="2667000" y="4506913"/>
            <a:ext cx="990600" cy="990600"/>
          </a:xfrm>
          <a:prstGeom prst="rect">
            <a:avLst/>
          </a:prstGeom>
          <a:solidFill>
            <a:schemeClr val="bg1"/>
          </a:solidFill>
          <a:ln w="25400">
            <a:noFill/>
            <a:miter lim="800000"/>
          </a:ln>
        </p:spPr>
        <p:txBody>
          <a:bodyPr wrap="none" anchor="ctr"/>
          <a:lstStyle/>
          <a:p>
            <a:pPr eaLnBrk="0" hangingPunct="0"/>
            <a:r>
              <a:rPr lang="en-US" b="0">
                <a:latin typeface="Calibri" panose="020F0502020204030204" charset="0"/>
              </a:rPr>
              <a:t>•  •  •</a:t>
            </a:r>
          </a:p>
        </p:txBody>
      </p:sp>
      <p:sp>
        <p:nvSpPr>
          <p:cNvPr id="80903" name="Text Box 25"/>
          <p:cNvSpPr txBox="1">
            <a:spLocks noChangeArrowheads="1"/>
          </p:cNvSpPr>
          <p:nvPr/>
        </p:nvSpPr>
        <p:spPr bwMode="auto">
          <a:xfrm>
            <a:off x="338138" y="5718175"/>
            <a:ext cx="396875" cy="366713"/>
          </a:xfrm>
          <a:prstGeom prst="rect">
            <a:avLst/>
          </a:prstGeom>
          <a:noFill/>
          <a:ln w="25400">
            <a:noFill/>
            <a:miter lim="800000"/>
          </a:ln>
        </p:spPr>
        <p:txBody>
          <a:bodyPr>
            <a:spAutoFit/>
          </a:bodyPr>
          <a:lstStyle/>
          <a:p>
            <a:pPr algn="ctr" eaLnBrk="0" hangingPunct="0"/>
            <a:r>
              <a:rPr lang="en-US" sz="1800">
                <a:latin typeface="Courier New" panose="02070309020205020404" charset="0"/>
              </a:rPr>
              <a:t>A</a:t>
            </a:r>
          </a:p>
        </p:txBody>
      </p:sp>
      <p:sp>
        <p:nvSpPr>
          <p:cNvPr id="80904" name="Line 26"/>
          <p:cNvSpPr>
            <a:spLocks noChangeShapeType="1"/>
          </p:cNvSpPr>
          <p:nvPr/>
        </p:nvSpPr>
        <p:spPr bwMode="auto">
          <a:xfrm flipV="1">
            <a:off x="533400" y="5497513"/>
            <a:ext cx="0" cy="228600"/>
          </a:xfrm>
          <a:prstGeom prst="line">
            <a:avLst/>
          </a:prstGeom>
          <a:noFill/>
          <a:ln w="25400">
            <a:solidFill>
              <a:schemeClr val="tx1"/>
            </a:solidFill>
            <a:round/>
            <a:tailEnd type="triangle" w="med" len="sm"/>
          </a:ln>
        </p:spPr>
        <p:txBody>
          <a:bodyPr wrap="none" anchor="ctr"/>
          <a:lstStyle/>
          <a:p>
            <a:endParaRPr lang="en-US"/>
          </a:p>
        </p:txBody>
      </p:sp>
      <p:sp>
        <p:nvSpPr>
          <p:cNvPr id="80905" name="Line 27"/>
          <p:cNvSpPr>
            <a:spLocks noChangeShapeType="1"/>
          </p:cNvSpPr>
          <p:nvPr/>
        </p:nvSpPr>
        <p:spPr bwMode="auto">
          <a:xfrm flipV="1">
            <a:off x="3657600" y="5497513"/>
            <a:ext cx="0" cy="228600"/>
          </a:xfrm>
          <a:prstGeom prst="line">
            <a:avLst/>
          </a:prstGeom>
          <a:noFill/>
          <a:ln w="25400">
            <a:solidFill>
              <a:schemeClr val="tx1"/>
            </a:solidFill>
            <a:round/>
            <a:tailEnd type="triangle" w="med" len="sm"/>
          </a:ln>
        </p:spPr>
        <p:txBody>
          <a:bodyPr wrap="none" anchor="ctr"/>
          <a:lstStyle/>
          <a:p>
            <a:endParaRPr lang="en-US"/>
          </a:p>
        </p:txBody>
      </p:sp>
      <p:grpSp>
        <p:nvGrpSpPr>
          <p:cNvPr id="80906" name="Group 28"/>
          <p:cNvGrpSpPr/>
          <p:nvPr/>
        </p:nvGrpSpPr>
        <p:grpSpPr bwMode="auto">
          <a:xfrm>
            <a:off x="533400" y="3973513"/>
            <a:ext cx="2133600" cy="1524000"/>
            <a:chOff x="336" y="2064"/>
            <a:chExt cx="1344" cy="960"/>
          </a:xfrm>
        </p:grpSpPr>
        <p:grpSp>
          <p:nvGrpSpPr>
            <p:cNvPr id="80911" name="Group 29"/>
            <p:cNvGrpSpPr/>
            <p:nvPr/>
          </p:nvGrpSpPr>
          <p:grpSpPr bwMode="auto">
            <a:xfrm>
              <a:off x="336" y="2400"/>
              <a:ext cx="1344" cy="624"/>
              <a:chOff x="1488" y="3504"/>
              <a:chExt cx="1344" cy="624"/>
            </a:xfrm>
          </p:grpSpPr>
          <p:sp>
            <p:nvSpPr>
              <p:cNvPr id="80916" name="Rectangle 32"/>
              <p:cNvSpPr>
                <a:spLocks noChangeArrowheads="1"/>
              </p:cNvSpPr>
              <p:nvPr/>
            </p:nvSpPr>
            <p:spPr bwMode="auto">
              <a:xfrm>
                <a:off x="1488" y="3504"/>
                <a:ext cx="1344" cy="624"/>
              </a:xfrm>
              <a:prstGeom prst="rect">
                <a:avLst/>
              </a:prstGeom>
              <a:solidFill>
                <a:srgbClr val="F1C7C7"/>
              </a:solidFill>
              <a:ln w="28575">
                <a:solidFill>
                  <a:schemeClr val="tx1"/>
                </a:solidFill>
                <a:miter lim="800000"/>
              </a:ln>
            </p:spPr>
            <p:txBody>
              <a:bodyPr wrap="none" anchor="ctr"/>
              <a:lstStyle/>
              <a:p>
                <a:pPr algn="ctr" eaLnBrk="0" hangingPunct="0"/>
                <a:r>
                  <a:rPr lang="en-US" sz="1600" b="0">
                    <a:latin typeface="Calibri" panose="020F0502020204030204" charset="0"/>
                  </a:rPr>
                  <a:t>• • •</a:t>
                </a:r>
              </a:p>
            </p:txBody>
          </p:sp>
          <p:sp>
            <p:nvSpPr>
              <p:cNvPr id="80917" name="Rectangle 30"/>
              <p:cNvSpPr>
                <a:spLocks noChangeArrowheads="1"/>
              </p:cNvSpPr>
              <p:nvPr/>
            </p:nvSpPr>
            <p:spPr bwMode="auto">
              <a:xfrm>
                <a:off x="1488" y="3504"/>
                <a:ext cx="384" cy="624"/>
              </a:xfrm>
              <a:prstGeom prst="rect">
                <a:avLst/>
              </a:prstGeom>
              <a:solidFill>
                <a:srgbClr val="F1C7C7"/>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[0]</a:t>
                </a:r>
              </a:p>
              <a:p>
                <a:pPr algn="ctr" eaLnBrk="0" hangingPunct="0"/>
                <a:r>
                  <a:rPr lang="en-US" sz="1600">
                    <a:latin typeface="Courier New" panose="02070309020205020404" charset="0"/>
                  </a:rPr>
                  <a:t>[0]</a:t>
                </a:r>
              </a:p>
            </p:txBody>
          </p:sp>
          <p:sp>
            <p:nvSpPr>
              <p:cNvPr id="80918" name="Rectangle 31"/>
              <p:cNvSpPr>
                <a:spLocks noChangeArrowheads="1"/>
              </p:cNvSpPr>
              <p:nvPr/>
            </p:nvSpPr>
            <p:spPr bwMode="auto">
              <a:xfrm>
                <a:off x="2448" y="3504"/>
                <a:ext cx="384" cy="624"/>
              </a:xfrm>
              <a:prstGeom prst="rect">
                <a:avLst/>
              </a:prstGeom>
              <a:solidFill>
                <a:srgbClr val="F1C7C7"/>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[0]</a:t>
                </a:r>
              </a:p>
              <a:p>
                <a:pPr algn="ctr" eaLnBrk="0" hangingPunct="0"/>
                <a:r>
                  <a:rPr lang="en-US" sz="1600">
                    <a:latin typeface="Courier New" panose="02070309020205020404" charset="0"/>
                  </a:rPr>
                  <a:t>[C-1]</a:t>
                </a:r>
              </a:p>
            </p:txBody>
          </p:sp>
        </p:grpSp>
        <p:sp>
          <p:nvSpPr>
            <p:cNvPr id="80912" name="Line 33"/>
            <p:cNvSpPr>
              <a:spLocks noChangeShapeType="1"/>
            </p:cNvSpPr>
            <p:nvPr/>
          </p:nvSpPr>
          <p:spPr bwMode="auto">
            <a:xfrm>
              <a:off x="336" y="2160"/>
              <a:ext cx="0" cy="144"/>
            </a:xfrm>
            <a:prstGeom prst="line">
              <a:avLst/>
            </a:prstGeom>
            <a:noFill/>
            <a:ln w="25400">
              <a:solidFill>
                <a:schemeClr val="tx1"/>
              </a:solidFill>
              <a:round/>
            </a:ln>
          </p:spPr>
          <p:txBody>
            <a:bodyPr wrap="none" anchor="ctr"/>
            <a:lstStyle/>
            <a:p>
              <a:endParaRPr lang="en-US"/>
            </a:p>
          </p:txBody>
        </p:sp>
        <p:sp>
          <p:nvSpPr>
            <p:cNvPr id="80913" name="Line 34"/>
            <p:cNvSpPr>
              <a:spLocks noChangeShapeType="1"/>
            </p:cNvSpPr>
            <p:nvPr/>
          </p:nvSpPr>
          <p:spPr bwMode="auto">
            <a:xfrm>
              <a:off x="336" y="2208"/>
              <a:ext cx="1344" cy="0"/>
            </a:xfrm>
            <a:prstGeom prst="line">
              <a:avLst/>
            </a:prstGeom>
            <a:noFill/>
            <a:ln w="25400">
              <a:solidFill>
                <a:schemeClr val="tx1"/>
              </a:solidFill>
              <a:round/>
              <a:headEnd type="triangle" w="med" len="med"/>
              <a:tailEnd type="triangle" w="med" len="med"/>
            </a:ln>
          </p:spPr>
          <p:txBody>
            <a:bodyPr wrap="none" anchor="ctr"/>
            <a:lstStyle/>
            <a:p>
              <a:endParaRPr lang="en-US"/>
            </a:p>
          </p:txBody>
        </p:sp>
        <p:sp>
          <p:nvSpPr>
            <p:cNvPr id="80914" name="Rectangle 35"/>
            <p:cNvSpPr>
              <a:spLocks noChangeArrowheads="1"/>
            </p:cNvSpPr>
            <p:nvPr/>
          </p:nvSpPr>
          <p:spPr bwMode="auto">
            <a:xfrm>
              <a:off x="768" y="2064"/>
              <a:ext cx="528" cy="240"/>
            </a:xfrm>
            <a:prstGeom prst="rect">
              <a:avLst/>
            </a:prstGeom>
            <a:solidFill>
              <a:schemeClr val="bg1"/>
            </a:solidFill>
            <a:ln w="25400">
              <a:noFill/>
              <a:miter lim="800000"/>
            </a:ln>
          </p:spPr>
          <p:txBody>
            <a:bodyPr wrap="none" anchor="ctr"/>
            <a:lstStyle/>
            <a:p>
              <a:pPr eaLnBrk="0" hangingPunct="0"/>
              <a:r>
                <a:rPr lang="en-US" sz="1600">
                  <a:latin typeface="Courier New" panose="02070309020205020404" charset="0"/>
                </a:rPr>
                <a:t>A[0]</a:t>
              </a:r>
              <a:endParaRPr lang="en-US" sz="1600" b="0">
                <a:latin typeface="Calibri" panose="020F0502020204030204" charset="0"/>
              </a:endParaRPr>
            </a:p>
          </p:txBody>
        </p:sp>
        <p:sp>
          <p:nvSpPr>
            <p:cNvPr id="80915" name="Line 36"/>
            <p:cNvSpPr>
              <a:spLocks noChangeShapeType="1"/>
            </p:cNvSpPr>
            <p:nvPr/>
          </p:nvSpPr>
          <p:spPr bwMode="auto">
            <a:xfrm>
              <a:off x="1680" y="2160"/>
              <a:ext cx="0" cy="144"/>
            </a:xfrm>
            <a:prstGeom prst="line">
              <a:avLst/>
            </a:prstGeom>
            <a:noFill/>
            <a:ln w="25400">
              <a:solidFill>
                <a:schemeClr val="tx1"/>
              </a:solidFill>
              <a:round/>
            </a:ln>
          </p:spPr>
          <p:txBody>
            <a:bodyPr wrap="none" anchor="ctr"/>
            <a:lstStyle/>
            <a:p>
              <a:endParaRPr lang="en-US"/>
            </a:p>
          </p:txBody>
        </p:sp>
      </p:grpSp>
      <p:sp>
        <p:nvSpPr>
          <p:cNvPr id="310310" name="Text Box 38"/>
          <p:cNvSpPr txBox="1">
            <a:spLocks noChangeArrowheads="1"/>
          </p:cNvSpPr>
          <p:nvPr/>
        </p:nvSpPr>
        <p:spPr bwMode="auto">
          <a:xfrm>
            <a:off x="3367088" y="5715000"/>
            <a:ext cx="1447800" cy="366713"/>
          </a:xfrm>
          <a:prstGeom prst="rect">
            <a:avLst/>
          </a:prstGeom>
          <a:noFill/>
          <a:ln w="25400">
            <a:noFill/>
            <a:miter lim="800000"/>
          </a:ln>
        </p:spPr>
        <p:txBody>
          <a:bodyPr>
            <a:spAutoFit/>
          </a:bodyPr>
          <a:lstStyle/>
          <a:p>
            <a:pPr algn="ctr" eaLnBrk="0" hangingPunct="0"/>
            <a:r>
              <a:rPr lang="en-US" sz="1800">
                <a:latin typeface="Courier New" panose="02070309020205020404" charset="0"/>
              </a:rPr>
              <a:t>A+i*C*4</a:t>
            </a:r>
          </a:p>
        </p:txBody>
      </p:sp>
      <p:sp>
        <p:nvSpPr>
          <p:cNvPr id="310311" name="Text Box 39"/>
          <p:cNvSpPr txBox="1">
            <a:spLocks noChangeArrowheads="1"/>
          </p:cNvSpPr>
          <p:nvPr/>
        </p:nvSpPr>
        <p:spPr bwMode="auto">
          <a:xfrm>
            <a:off x="6553200" y="5715000"/>
            <a:ext cx="1752600" cy="366713"/>
          </a:xfrm>
          <a:prstGeom prst="rect">
            <a:avLst/>
          </a:prstGeom>
          <a:noFill/>
          <a:ln w="25400">
            <a:noFill/>
            <a:miter lim="800000"/>
          </a:ln>
        </p:spPr>
        <p:txBody>
          <a:bodyPr>
            <a:spAutoFit/>
          </a:bodyPr>
          <a:lstStyle/>
          <a:p>
            <a:pPr algn="ctr" eaLnBrk="0" hangingPunct="0"/>
            <a:r>
              <a:rPr lang="en-US" sz="1800">
                <a:latin typeface="Courier New" panose="02070309020205020404" charset="0"/>
              </a:rPr>
              <a:t>A+(R-1)*C*4</a:t>
            </a:r>
          </a:p>
        </p:txBody>
      </p:sp>
      <p:sp>
        <p:nvSpPr>
          <p:cNvPr id="80909" name="Line 40"/>
          <p:cNvSpPr>
            <a:spLocks noChangeShapeType="1"/>
          </p:cNvSpPr>
          <p:nvPr/>
        </p:nvSpPr>
        <p:spPr bwMode="auto">
          <a:xfrm flipV="1">
            <a:off x="6705600" y="5497513"/>
            <a:ext cx="0" cy="228600"/>
          </a:xfrm>
          <a:prstGeom prst="line">
            <a:avLst/>
          </a:prstGeom>
          <a:noFill/>
          <a:ln w="25400">
            <a:solidFill>
              <a:schemeClr val="tx1"/>
            </a:solidFill>
            <a:round/>
            <a:tailEnd type="triangle" w="med" len="sm"/>
          </a:ln>
        </p:spPr>
        <p:txBody>
          <a:bodyPr wrap="none" anchor="ctr"/>
          <a:lstStyle/>
          <a:p>
            <a:endParaRPr lang="en-US"/>
          </a:p>
        </p:txBody>
      </p:sp>
      <p:sp>
        <p:nvSpPr>
          <p:cNvPr id="80910" name="Text Box 15"/>
          <p:cNvSpPr txBox="1">
            <a:spLocks noChangeArrowheads="1"/>
          </p:cNvSpPr>
          <p:nvPr/>
        </p:nvSpPr>
        <p:spPr bwMode="auto">
          <a:xfrm>
            <a:off x="425450" y="3429000"/>
            <a:ext cx="2012950" cy="396875"/>
          </a:xfrm>
          <a:prstGeom prst="rect">
            <a:avLst/>
          </a:prstGeom>
          <a:noFill/>
          <a:ln w="25400">
            <a:noFill/>
            <a:miter lim="800000"/>
          </a:ln>
        </p:spPr>
        <p:txBody>
          <a:bodyPr wrap="none">
            <a:spAutoFit/>
          </a:bodyPr>
          <a:lstStyle/>
          <a:p>
            <a:pPr algn="r" eaLnBrk="0" hangingPunct="0"/>
            <a:r>
              <a:rPr lang="en-US" sz="2000">
                <a:latin typeface="Courier New" panose="02070309020205020404" charset="0"/>
              </a:rPr>
              <a:t>int A[R][C];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0276">
                                            <p:txEl>
                                              <p:pRg st="1" end="1"/>
                                            </p:txEl>
                                          </p:spTgt>
                                        </p:tgtEl>
                                        <p:attrNameLst>
                                          <p:attrName>style.visibility</p:attrName>
                                        </p:attrNameLst>
                                      </p:cBhvr>
                                      <p:to>
                                        <p:strVal val="visible"/>
                                      </p:to>
                                    </p:set>
                                    <p:animEffect transition="in" filter="wipe(down)">
                                      <p:cBhvr>
                                        <p:cTn id="7" dur="500"/>
                                        <p:tgtEl>
                                          <p:spTgt spid="310276">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10276">
                                            <p:txEl>
                                              <p:pRg st="2" end="2"/>
                                            </p:txEl>
                                          </p:spTgt>
                                        </p:tgtEl>
                                        <p:attrNameLst>
                                          <p:attrName>style.visibility</p:attrName>
                                        </p:attrNameLst>
                                      </p:cBhvr>
                                      <p:to>
                                        <p:strVal val="visible"/>
                                      </p:to>
                                    </p:set>
                                    <p:animEffect transition="in" filter="wipe(down)">
                                      <p:cBhvr>
                                        <p:cTn id="10" dur="500"/>
                                        <p:tgtEl>
                                          <p:spTgt spid="310276">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10276">
                                            <p:txEl>
                                              <p:pRg st="3" end="3"/>
                                            </p:txEl>
                                          </p:spTgt>
                                        </p:tgtEl>
                                        <p:attrNameLst>
                                          <p:attrName>style.visibility</p:attrName>
                                        </p:attrNameLst>
                                      </p:cBhvr>
                                      <p:to>
                                        <p:strVal val="visible"/>
                                      </p:to>
                                    </p:set>
                                    <p:animEffect transition="in" filter="wipe(down)">
                                      <p:cBhvr>
                                        <p:cTn id="13" dur="500"/>
                                        <p:tgtEl>
                                          <p:spTgt spid="31027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80910"/>
                                        </p:tgtEl>
                                        <p:attrNameLst>
                                          <p:attrName>style.visibility</p:attrName>
                                        </p:attrNameLst>
                                      </p:cBhvr>
                                      <p:to>
                                        <p:strVal val="visible"/>
                                      </p:to>
                                    </p:set>
                                    <p:anim calcmode="lin" valueType="num">
                                      <p:cBhvr additive="base">
                                        <p:cTn id="18" dur="500" fill="hold"/>
                                        <p:tgtEl>
                                          <p:spTgt spid="80910"/>
                                        </p:tgtEl>
                                        <p:attrNameLst>
                                          <p:attrName>ppt_x</p:attrName>
                                        </p:attrNameLst>
                                      </p:cBhvr>
                                      <p:tavLst>
                                        <p:tav tm="0">
                                          <p:val>
                                            <p:strVal val="#ppt_x"/>
                                          </p:val>
                                        </p:tav>
                                        <p:tav tm="100000">
                                          <p:val>
                                            <p:strVal val="#ppt_x"/>
                                          </p:val>
                                        </p:tav>
                                      </p:tavLst>
                                    </p:anim>
                                    <p:anim calcmode="lin" valueType="num">
                                      <p:cBhvr additive="base">
                                        <p:cTn id="19" dur="500" fill="hold"/>
                                        <p:tgtEl>
                                          <p:spTgt spid="80910"/>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0897"/>
                                        </p:tgtEl>
                                        <p:attrNameLst>
                                          <p:attrName>style.visibility</p:attrName>
                                        </p:attrNameLst>
                                      </p:cBhvr>
                                      <p:to>
                                        <p:strVal val="visible"/>
                                      </p:to>
                                    </p:set>
                                    <p:anim calcmode="lin" valueType="num">
                                      <p:cBhvr additive="base">
                                        <p:cTn id="24" dur="500" fill="hold"/>
                                        <p:tgtEl>
                                          <p:spTgt spid="80897"/>
                                        </p:tgtEl>
                                        <p:attrNameLst>
                                          <p:attrName>ppt_x</p:attrName>
                                        </p:attrNameLst>
                                      </p:cBhvr>
                                      <p:tavLst>
                                        <p:tav tm="0">
                                          <p:val>
                                            <p:strVal val="#ppt_x"/>
                                          </p:val>
                                        </p:tav>
                                        <p:tav tm="100000">
                                          <p:val>
                                            <p:strVal val="#ppt_x"/>
                                          </p:val>
                                        </p:tav>
                                      </p:tavLst>
                                    </p:anim>
                                    <p:anim calcmode="lin" valueType="num">
                                      <p:cBhvr additive="base">
                                        <p:cTn id="25" dur="500" fill="hold"/>
                                        <p:tgtEl>
                                          <p:spTgt spid="80897"/>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80900"/>
                                        </p:tgtEl>
                                        <p:attrNameLst>
                                          <p:attrName>style.visibility</p:attrName>
                                        </p:attrNameLst>
                                      </p:cBhvr>
                                      <p:to>
                                        <p:strVal val="visible"/>
                                      </p:to>
                                    </p:set>
                                    <p:anim calcmode="lin" valueType="num">
                                      <p:cBhvr additive="base">
                                        <p:cTn id="28" dur="500" fill="hold"/>
                                        <p:tgtEl>
                                          <p:spTgt spid="80900"/>
                                        </p:tgtEl>
                                        <p:attrNameLst>
                                          <p:attrName>ppt_x</p:attrName>
                                        </p:attrNameLst>
                                      </p:cBhvr>
                                      <p:tavLst>
                                        <p:tav tm="0">
                                          <p:val>
                                            <p:strVal val="#ppt_x"/>
                                          </p:val>
                                        </p:tav>
                                        <p:tav tm="100000">
                                          <p:val>
                                            <p:strVal val="#ppt_x"/>
                                          </p:val>
                                        </p:tav>
                                      </p:tavLst>
                                    </p:anim>
                                    <p:anim calcmode="lin" valueType="num">
                                      <p:cBhvr additive="base">
                                        <p:cTn id="29" dur="500" fill="hold"/>
                                        <p:tgtEl>
                                          <p:spTgt spid="80900"/>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80901"/>
                                        </p:tgtEl>
                                        <p:attrNameLst>
                                          <p:attrName>style.visibility</p:attrName>
                                        </p:attrNameLst>
                                      </p:cBhvr>
                                      <p:to>
                                        <p:strVal val="visible"/>
                                      </p:to>
                                    </p:set>
                                    <p:anim calcmode="lin" valueType="num">
                                      <p:cBhvr additive="base">
                                        <p:cTn id="32" dur="500" fill="hold"/>
                                        <p:tgtEl>
                                          <p:spTgt spid="80901"/>
                                        </p:tgtEl>
                                        <p:attrNameLst>
                                          <p:attrName>ppt_x</p:attrName>
                                        </p:attrNameLst>
                                      </p:cBhvr>
                                      <p:tavLst>
                                        <p:tav tm="0">
                                          <p:val>
                                            <p:strVal val="#ppt_x"/>
                                          </p:val>
                                        </p:tav>
                                        <p:tav tm="100000">
                                          <p:val>
                                            <p:strVal val="#ppt_x"/>
                                          </p:val>
                                        </p:tav>
                                      </p:tavLst>
                                    </p:anim>
                                    <p:anim calcmode="lin" valueType="num">
                                      <p:cBhvr additive="base">
                                        <p:cTn id="33" dur="500" fill="hold"/>
                                        <p:tgtEl>
                                          <p:spTgt spid="80901"/>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80902"/>
                                        </p:tgtEl>
                                        <p:attrNameLst>
                                          <p:attrName>style.visibility</p:attrName>
                                        </p:attrNameLst>
                                      </p:cBhvr>
                                      <p:to>
                                        <p:strVal val="visible"/>
                                      </p:to>
                                    </p:set>
                                    <p:anim calcmode="lin" valueType="num">
                                      <p:cBhvr additive="base">
                                        <p:cTn id="36" dur="500" fill="hold"/>
                                        <p:tgtEl>
                                          <p:spTgt spid="80902"/>
                                        </p:tgtEl>
                                        <p:attrNameLst>
                                          <p:attrName>ppt_x</p:attrName>
                                        </p:attrNameLst>
                                      </p:cBhvr>
                                      <p:tavLst>
                                        <p:tav tm="0">
                                          <p:val>
                                            <p:strVal val="#ppt_x"/>
                                          </p:val>
                                        </p:tav>
                                        <p:tav tm="100000">
                                          <p:val>
                                            <p:strVal val="#ppt_x"/>
                                          </p:val>
                                        </p:tav>
                                      </p:tavLst>
                                    </p:anim>
                                    <p:anim calcmode="lin" valueType="num">
                                      <p:cBhvr additive="base">
                                        <p:cTn id="37" dur="500" fill="hold"/>
                                        <p:tgtEl>
                                          <p:spTgt spid="80902"/>
                                        </p:tgtEl>
                                        <p:attrNameLst>
                                          <p:attrName>ppt_y</p:attrName>
                                        </p:attrNameLst>
                                      </p:cBhvr>
                                      <p:tavLst>
                                        <p:tav tm="0">
                                          <p:val>
                                            <p:strVal val="1+#ppt_h/2"/>
                                          </p:val>
                                        </p:tav>
                                        <p:tav tm="100000">
                                          <p:val>
                                            <p:strVal val="#ppt_y"/>
                                          </p:val>
                                        </p:tav>
                                      </p:tavLst>
                                    </p:anim>
                                  </p:childTnLst>
                                </p:cTn>
                              </p:par>
                              <p:par>
                                <p:cTn id="38" presetID="2" presetClass="entr" presetSubtype="4" fill="hold" grpId="0" nodeType="withEffect">
                                  <p:stCondLst>
                                    <p:cond delay="0"/>
                                  </p:stCondLst>
                                  <p:childTnLst>
                                    <p:set>
                                      <p:cBhvr>
                                        <p:cTn id="39" dur="1" fill="hold">
                                          <p:stCondLst>
                                            <p:cond delay="0"/>
                                          </p:stCondLst>
                                        </p:cTn>
                                        <p:tgtEl>
                                          <p:spTgt spid="80903"/>
                                        </p:tgtEl>
                                        <p:attrNameLst>
                                          <p:attrName>style.visibility</p:attrName>
                                        </p:attrNameLst>
                                      </p:cBhvr>
                                      <p:to>
                                        <p:strVal val="visible"/>
                                      </p:to>
                                    </p:set>
                                    <p:anim calcmode="lin" valueType="num">
                                      <p:cBhvr additive="base">
                                        <p:cTn id="40" dur="500" fill="hold"/>
                                        <p:tgtEl>
                                          <p:spTgt spid="80903"/>
                                        </p:tgtEl>
                                        <p:attrNameLst>
                                          <p:attrName>ppt_x</p:attrName>
                                        </p:attrNameLst>
                                      </p:cBhvr>
                                      <p:tavLst>
                                        <p:tav tm="0">
                                          <p:val>
                                            <p:strVal val="#ppt_x"/>
                                          </p:val>
                                        </p:tav>
                                        <p:tav tm="100000">
                                          <p:val>
                                            <p:strVal val="#ppt_x"/>
                                          </p:val>
                                        </p:tav>
                                      </p:tavLst>
                                    </p:anim>
                                    <p:anim calcmode="lin" valueType="num">
                                      <p:cBhvr additive="base">
                                        <p:cTn id="41" dur="500" fill="hold"/>
                                        <p:tgtEl>
                                          <p:spTgt spid="80903"/>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80904"/>
                                        </p:tgtEl>
                                        <p:attrNameLst>
                                          <p:attrName>style.visibility</p:attrName>
                                        </p:attrNameLst>
                                      </p:cBhvr>
                                      <p:to>
                                        <p:strVal val="visible"/>
                                      </p:to>
                                    </p:set>
                                    <p:anim calcmode="lin" valueType="num">
                                      <p:cBhvr additive="base">
                                        <p:cTn id="44" dur="500" fill="hold"/>
                                        <p:tgtEl>
                                          <p:spTgt spid="80904"/>
                                        </p:tgtEl>
                                        <p:attrNameLst>
                                          <p:attrName>ppt_x</p:attrName>
                                        </p:attrNameLst>
                                      </p:cBhvr>
                                      <p:tavLst>
                                        <p:tav tm="0">
                                          <p:val>
                                            <p:strVal val="#ppt_x"/>
                                          </p:val>
                                        </p:tav>
                                        <p:tav tm="100000">
                                          <p:val>
                                            <p:strVal val="#ppt_x"/>
                                          </p:val>
                                        </p:tav>
                                      </p:tavLst>
                                    </p:anim>
                                    <p:anim calcmode="lin" valueType="num">
                                      <p:cBhvr additive="base">
                                        <p:cTn id="45" dur="500" fill="hold"/>
                                        <p:tgtEl>
                                          <p:spTgt spid="80904"/>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80905"/>
                                        </p:tgtEl>
                                        <p:attrNameLst>
                                          <p:attrName>style.visibility</p:attrName>
                                        </p:attrNameLst>
                                      </p:cBhvr>
                                      <p:to>
                                        <p:strVal val="visible"/>
                                      </p:to>
                                    </p:set>
                                    <p:anim calcmode="lin" valueType="num">
                                      <p:cBhvr additive="base">
                                        <p:cTn id="48" dur="500" fill="hold"/>
                                        <p:tgtEl>
                                          <p:spTgt spid="80905"/>
                                        </p:tgtEl>
                                        <p:attrNameLst>
                                          <p:attrName>ppt_x</p:attrName>
                                        </p:attrNameLst>
                                      </p:cBhvr>
                                      <p:tavLst>
                                        <p:tav tm="0">
                                          <p:val>
                                            <p:strVal val="#ppt_x"/>
                                          </p:val>
                                        </p:tav>
                                        <p:tav tm="100000">
                                          <p:val>
                                            <p:strVal val="#ppt_x"/>
                                          </p:val>
                                        </p:tav>
                                      </p:tavLst>
                                    </p:anim>
                                    <p:anim calcmode="lin" valueType="num">
                                      <p:cBhvr additive="base">
                                        <p:cTn id="49" dur="500" fill="hold"/>
                                        <p:tgtEl>
                                          <p:spTgt spid="80905"/>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80906"/>
                                        </p:tgtEl>
                                        <p:attrNameLst>
                                          <p:attrName>style.visibility</p:attrName>
                                        </p:attrNameLst>
                                      </p:cBhvr>
                                      <p:to>
                                        <p:strVal val="visible"/>
                                      </p:to>
                                    </p:set>
                                    <p:anim calcmode="lin" valueType="num">
                                      <p:cBhvr additive="base">
                                        <p:cTn id="52" dur="500" fill="hold"/>
                                        <p:tgtEl>
                                          <p:spTgt spid="80906"/>
                                        </p:tgtEl>
                                        <p:attrNameLst>
                                          <p:attrName>ppt_x</p:attrName>
                                        </p:attrNameLst>
                                      </p:cBhvr>
                                      <p:tavLst>
                                        <p:tav tm="0">
                                          <p:val>
                                            <p:strVal val="#ppt_x"/>
                                          </p:val>
                                        </p:tav>
                                        <p:tav tm="100000">
                                          <p:val>
                                            <p:strVal val="#ppt_x"/>
                                          </p:val>
                                        </p:tav>
                                      </p:tavLst>
                                    </p:anim>
                                    <p:anim calcmode="lin" valueType="num">
                                      <p:cBhvr additive="base">
                                        <p:cTn id="53" dur="500" fill="hold"/>
                                        <p:tgtEl>
                                          <p:spTgt spid="80906"/>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310310"/>
                                        </p:tgtEl>
                                        <p:attrNameLst>
                                          <p:attrName>style.visibility</p:attrName>
                                        </p:attrNameLst>
                                      </p:cBhvr>
                                      <p:to>
                                        <p:strVal val="visible"/>
                                      </p:to>
                                    </p:set>
                                    <p:anim calcmode="lin" valueType="num">
                                      <p:cBhvr additive="base">
                                        <p:cTn id="56" dur="500" fill="hold"/>
                                        <p:tgtEl>
                                          <p:spTgt spid="310310"/>
                                        </p:tgtEl>
                                        <p:attrNameLst>
                                          <p:attrName>ppt_x</p:attrName>
                                        </p:attrNameLst>
                                      </p:cBhvr>
                                      <p:tavLst>
                                        <p:tav tm="0">
                                          <p:val>
                                            <p:strVal val="#ppt_x"/>
                                          </p:val>
                                        </p:tav>
                                        <p:tav tm="100000">
                                          <p:val>
                                            <p:strVal val="#ppt_x"/>
                                          </p:val>
                                        </p:tav>
                                      </p:tavLst>
                                    </p:anim>
                                    <p:anim calcmode="lin" valueType="num">
                                      <p:cBhvr additive="base">
                                        <p:cTn id="57" dur="500" fill="hold"/>
                                        <p:tgtEl>
                                          <p:spTgt spid="310310"/>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310311"/>
                                        </p:tgtEl>
                                        <p:attrNameLst>
                                          <p:attrName>style.visibility</p:attrName>
                                        </p:attrNameLst>
                                      </p:cBhvr>
                                      <p:to>
                                        <p:strVal val="visible"/>
                                      </p:to>
                                    </p:set>
                                    <p:anim calcmode="lin" valueType="num">
                                      <p:cBhvr additive="base">
                                        <p:cTn id="60" dur="500" fill="hold"/>
                                        <p:tgtEl>
                                          <p:spTgt spid="310311"/>
                                        </p:tgtEl>
                                        <p:attrNameLst>
                                          <p:attrName>ppt_x</p:attrName>
                                        </p:attrNameLst>
                                      </p:cBhvr>
                                      <p:tavLst>
                                        <p:tav tm="0">
                                          <p:val>
                                            <p:strVal val="#ppt_x"/>
                                          </p:val>
                                        </p:tav>
                                        <p:tav tm="100000">
                                          <p:val>
                                            <p:strVal val="#ppt_x"/>
                                          </p:val>
                                        </p:tav>
                                      </p:tavLst>
                                    </p:anim>
                                    <p:anim calcmode="lin" valueType="num">
                                      <p:cBhvr additive="base">
                                        <p:cTn id="61" dur="500" fill="hold"/>
                                        <p:tgtEl>
                                          <p:spTgt spid="310311"/>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80909"/>
                                        </p:tgtEl>
                                        <p:attrNameLst>
                                          <p:attrName>style.visibility</p:attrName>
                                        </p:attrNameLst>
                                      </p:cBhvr>
                                      <p:to>
                                        <p:strVal val="visible"/>
                                      </p:to>
                                    </p:set>
                                    <p:anim calcmode="lin" valueType="num">
                                      <p:cBhvr additive="base">
                                        <p:cTn id="64" dur="500" fill="hold"/>
                                        <p:tgtEl>
                                          <p:spTgt spid="80909"/>
                                        </p:tgtEl>
                                        <p:attrNameLst>
                                          <p:attrName>ppt_x</p:attrName>
                                        </p:attrNameLst>
                                      </p:cBhvr>
                                      <p:tavLst>
                                        <p:tav tm="0">
                                          <p:val>
                                            <p:strVal val="#ppt_x"/>
                                          </p:val>
                                        </p:tav>
                                        <p:tav tm="100000">
                                          <p:val>
                                            <p:strVal val="#ppt_x"/>
                                          </p:val>
                                        </p:tav>
                                      </p:tavLst>
                                    </p:anim>
                                    <p:anim calcmode="lin" valueType="num">
                                      <p:cBhvr additive="base">
                                        <p:cTn id="65" dur="500" fill="hold"/>
                                        <p:tgtEl>
                                          <p:spTgt spid="809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7" grpId="0" animBg="1"/>
      <p:bldP spid="80902" grpId="0" animBg="1"/>
      <p:bldP spid="80903" grpId="0"/>
      <p:bldP spid="310310" grpId="0"/>
      <p:bldP spid="310311" grpId="0"/>
      <p:bldP spid="80910" grpId="0"/>
    </p:bld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3854450"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嵌套数组行访问</a:t>
            </a:r>
            <a:r>
              <a:rPr lang="zh-CN" sz="2800"/>
              <a:t>代码</a:t>
            </a:r>
          </a:p>
        </p:txBody>
      </p:sp>
      <p:sp>
        <p:nvSpPr>
          <p:cNvPr id="84995" name="Rectangle 4"/>
          <p:cNvSpPr>
            <a:spLocks noChangeArrowheads="1"/>
          </p:cNvSpPr>
          <p:nvPr/>
        </p:nvSpPr>
        <p:spPr bwMode="auto">
          <a:xfrm>
            <a:off x="596900" y="1219200"/>
            <a:ext cx="4114800" cy="174942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int *get_pgh_zip(int index)</a:t>
            </a:r>
          </a:p>
          <a:p>
            <a:pPr eaLnBrk="0" hangingPunct="0"/>
            <a:r>
              <a:rPr lang="en-US" sz="1800">
                <a:latin typeface="Courier New" panose="02070309020205020404" charset="0"/>
              </a:rPr>
              <a:t>{</a:t>
            </a:r>
          </a:p>
          <a:p>
            <a:pPr eaLnBrk="0" hangingPunct="0"/>
            <a:r>
              <a:rPr lang="en-US" sz="1800">
                <a:latin typeface="Courier New" panose="02070309020205020404" charset="0"/>
              </a:rPr>
              <a:t>  return pgh[index];</a:t>
            </a:r>
          </a:p>
          <a:p>
            <a:pPr eaLnBrk="0" hangingPunct="0"/>
            <a:r>
              <a:rPr lang="en-US" sz="1800">
                <a:latin typeface="Courier New" panose="02070309020205020404" charset="0"/>
              </a:rPr>
              <a:t>}</a:t>
            </a:r>
          </a:p>
          <a:p>
            <a:pPr eaLnBrk="0" hangingPunct="0"/>
            <a:endParaRPr lang="en-US" sz="1800">
              <a:latin typeface="Courier New" panose="02070309020205020404" charset="0"/>
            </a:endParaRPr>
          </a:p>
          <a:p>
            <a:pPr eaLnBrk="0" hangingPunct="0"/>
            <a:endParaRPr lang="en-US" sz="1800">
              <a:latin typeface="Courier New" panose="02070309020205020404" charset="0"/>
            </a:endParaRPr>
          </a:p>
        </p:txBody>
      </p:sp>
      <p:sp>
        <p:nvSpPr>
          <p:cNvPr id="84997" name="Rectangle 4"/>
          <p:cNvSpPr>
            <a:spLocks noChangeArrowheads="1"/>
          </p:cNvSpPr>
          <p:nvPr/>
        </p:nvSpPr>
        <p:spPr bwMode="auto">
          <a:xfrm>
            <a:off x="4953000" y="1219200"/>
            <a:ext cx="3352800" cy="174942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#define PCOUNT 4</a:t>
            </a:r>
          </a:p>
          <a:p>
            <a:pPr eaLnBrk="0" hangingPunct="0"/>
            <a:r>
              <a:rPr lang="en-US" sz="1800">
                <a:latin typeface="Courier New" panose="02070309020205020404" charset="0"/>
              </a:rPr>
              <a:t>zip_dig pgh[PCOUNT] = </a:t>
            </a:r>
          </a:p>
          <a:p>
            <a:pPr eaLnBrk="0" hangingPunct="0"/>
            <a:r>
              <a:rPr lang="en-US" sz="1800">
                <a:latin typeface="Courier New" panose="02070309020205020404" charset="0"/>
              </a:rPr>
              <a:t>  {{1, 5, 2, 0, 6},</a:t>
            </a:r>
          </a:p>
          <a:p>
            <a:pPr eaLnBrk="0" hangingPunct="0"/>
            <a:r>
              <a:rPr lang="en-US" sz="1800">
                <a:latin typeface="Courier New" panose="02070309020205020404" charset="0"/>
              </a:rPr>
              <a:t>   {1, 5, 2, 1, 3 },</a:t>
            </a:r>
          </a:p>
          <a:p>
            <a:pPr eaLnBrk="0" hangingPunct="0"/>
            <a:r>
              <a:rPr lang="en-US" sz="1800">
                <a:latin typeface="Courier New" panose="02070309020205020404" charset="0"/>
              </a:rPr>
              <a:t>   {1, 5, 2, 1, 7 },</a:t>
            </a:r>
          </a:p>
          <a:p>
            <a:pPr eaLnBrk="0" hangingPunct="0"/>
            <a:r>
              <a:rPr lang="en-US" sz="1800">
                <a:latin typeface="Courier New" panose="02070309020205020404" charset="0"/>
              </a:rPr>
              <a:t>   {1, 5, 2, 2, 1 }};</a:t>
            </a:r>
          </a:p>
        </p:txBody>
      </p:sp>
      <p:sp>
        <p:nvSpPr>
          <p:cNvPr id="311301" name="Rectangle 5"/>
          <p:cNvSpPr>
            <a:spLocks noChangeArrowheads="1"/>
          </p:cNvSpPr>
          <p:nvPr/>
        </p:nvSpPr>
        <p:spPr bwMode="auto">
          <a:xfrm>
            <a:off x="596900" y="3200400"/>
            <a:ext cx="6781800" cy="925513"/>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342900" algn="l"/>
                <a:tab pos="2628900" algn="l"/>
              </a:tabLst>
              <a:defRPr/>
            </a:pP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index</a:t>
            </a:r>
          </a:p>
          <a:p>
            <a:pPr eaLnBrk="0" hangingPunct="0">
              <a:tabLst>
                <a:tab pos="342900" algn="l"/>
                <a:tab pos="26289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leal</a:t>
            </a:r>
            <a:r>
              <a:rPr lang="en-US" sz="1800" dirty="0">
                <a:latin typeface="Courier New" panose="02070309020205020404" charset="0"/>
                <a:ea typeface="+mn-ea"/>
                <a:cs typeface="+mn-cs"/>
              </a:rPr>
              <a:t> (%eax,%eax,4),%</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5 * index</a:t>
            </a:r>
          </a:p>
          <a:p>
            <a:pPr eaLnBrk="0" hangingPunct="0">
              <a:tabLst>
                <a:tab pos="342900" algn="l"/>
                <a:tab pos="26289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leal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pgh</a:t>
            </a:r>
            <a:r>
              <a:rPr lang="en-US" sz="1800" dirty="0">
                <a:latin typeface="Courier New" panose="02070309020205020404" charset="0"/>
                <a:ea typeface="+mn-ea"/>
                <a:cs typeface="+mn-cs"/>
              </a:rPr>
              <a:t>(,%eax,4),%</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pgh</a:t>
            </a:r>
            <a:r>
              <a:rPr lang="en-US" sz="1800" dirty="0">
                <a:latin typeface="Courier New" panose="02070309020205020404" charset="0"/>
                <a:ea typeface="+mn-ea"/>
                <a:cs typeface="+mn-cs"/>
              </a:rPr>
              <a:t> + (20 * index)</a:t>
            </a:r>
          </a:p>
        </p:txBody>
      </p:sp>
      <p:sp>
        <p:nvSpPr>
          <p:cNvPr id="84994" name="Rectangle 3"/>
          <p:cNvSpPr>
            <a:spLocks noGrp="1" noChangeArrowheads="1"/>
          </p:cNvSpPr>
          <p:nvPr/>
        </p:nvSpPr>
        <p:spPr>
          <a:xfrm>
            <a:off x="520700" y="4267200"/>
            <a:ext cx="7404100" cy="24384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zh-CN" altLang="en-US">
                <a:latin typeface="Calibri" panose="020F0502020204030204" charset="0"/>
                <a:ea typeface="宋体" panose="02010600030101010101" pitchFamily="2" charset="-122"/>
              </a:rPr>
              <a:t>行向量</a:t>
            </a:r>
          </a:p>
          <a:p>
            <a:pPr lvl="1">
              <a:buClr>
                <a:srgbClr val="0D0D0D"/>
              </a:buClr>
            </a:pPr>
            <a:r>
              <a:rPr lang="en-US">
                <a:latin typeface="Calibri" panose="020F0502020204030204" charset="0"/>
              </a:rPr>
              <a:t> </a:t>
            </a:r>
            <a:r>
              <a:rPr lang="en-US" b="1">
                <a:latin typeface="Courier New" panose="02070309020205020404" charset="0"/>
              </a:rPr>
              <a:t>pgh[index]</a:t>
            </a:r>
            <a:r>
              <a:rPr lang="en-US" b="1">
                <a:latin typeface="Calibri" panose="020F0502020204030204" charset="0"/>
              </a:rPr>
              <a:t> </a:t>
            </a:r>
            <a:r>
              <a:rPr lang="zh-CN" altLang="en-US" b="1">
                <a:latin typeface="Calibri" panose="020F0502020204030204" charset="0"/>
                <a:ea typeface="宋体" panose="02010600030101010101" pitchFamily="2" charset="-122"/>
              </a:rPr>
              <a:t>是含</a:t>
            </a:r>
            <a:r>
              <a:rPr lang="en-US" altLang="zh-CN" b="1">
                <a:latin typeface="Calibri" panose="020F0502020204030204" charset="0"/>
                <a:ea typeface="宋体" panose="02010600030101010101" pitchFamily="2" charset="-122"/>
              </a:rPr>
              <a:t>5</a:t>
            </a:r>
            <a:r>
              <a:rPr lang="zh-CN" altLang="en-US" b="1">
                <a:latin typeface="Calibri" panose="020F0502020204030204" charset="0"/>
                <a:ea typeface="宋体" panose="02010600030101010101" pitchFamily="2" charset="-122"/>
              </a:rPr>
              <a:t>个</a:t>
            </a:r>
            <a:r>
              <a:rPr lang="en-US" altLang="zh-CN" b="1">
                <a:latin typeface="Calibri" panose="020F0502020204030204" charset="0"/>
                <a:ea typeface="宋体" panose="02010600030101010101" pitchFamily="2" charset="-122"/>
              </a:rPr>
              <a:t>int</a:t>
            </a:r>
            <a:r>
              <a:rPr lang="zh-CN" altLang="en-US" b="1">
                <a:latin typeface="Calibri" panose="020F0502020204030204" charset="0"/>
                <a:ea typeface="宋体" panose="02010600030101010101" pitchFamily="2" charset="-122"/>
              </a:rPr>
              <a:t>型数据的数组</a:t>
            </a:r>
          </a:p>
          <a:p>
            <a:pPr lvl="1">
              <a:buClr>
                <a:srgbClr val="0D0D0D"/>
              </a:buClr>
            </a:pPr>
            <a:r>
              <a:rPr lang="en-US">
                <a:latin typeface="Calibri" panose="020F0502020204030204" charset="0"/>
              </a:rPr>
              <a:t>起始地址 </a:t>
            </a:r>
            <a:r>
              <a:rPr lang="en-US" b="1">
                <a:latin typeface="Courier New" panose="02070309020205020404" charset="0"/>
              </a:rPr>
              <a:t>pgh+20*index</a:t>
            </a:r>
          </a:p>
          <a:p>
            <a:pPr>
              <a:buClr>
                <a:srgbClr val="0D0D0D"/>
              </a:buClr>
            </a:pPr>
            <a:r>
              <a:rPr lang="en-US">
                <a:latin typeface="Calibri" panose="020F0502020204030204" charset="0"/>
              </a:rPr>
              <a:t>IA32 </a:t>
            </a:r>
            <a:r>
              <a:rPr lang="zh-CN" altLang="en-US">
                <a:latin typeface="Calibri" panose="020F0502020204030204" charset="0"/>
                <a:ea typeface="宋体" panose="02010600030101010101" pitchFamily="2" charset="-122"/>
              </a:rPr>
              <a:t>代码</a:t>
            </a:r>
            <a:endParaRPr lang="en-US">
              <a:latin typeface="Calibri" panose="020F0502020204030204" charset="0"/>
            </a:endParaRPr>
          </a:p>
          <a:p>
            <a:pPr lvl="1">
              <a:buClr>
                <a:srgbClr val="0D0D0D"/>
              </a:buClr>
            </a:pPr>
            <a:r>
              <a:rPr lang="zh-CN" altLang="en-US">
                <a:latin typeface="Calibri" panose="020F0502020204030204" charset="0"/>
                <a:ea typeface="宋体" panose="02010600030101010101" pitchFamily="2" charset="-122"/>
              </a:rPr>
              <a:t>计算并且返回地址</a:t>
            </a:r>
          </a:p>
          <a:p>
            <a:pPr lvl="1">
              <a:buClr>
                <a:srgbClr val="0D0D0D"/>
              </a:buClr>
            </a:pPr>
            <a:r>
              <a:rPr lang="zh-CN" altLang="en-US">
                <a:latin typeface="Calibri" panose="020F0502020204030204" charset="0"/>
                <a:ea typeface="宋体" panose="02010600030101010101" pitchFamily="2" charset="-122"/>
              </a:rPr>
              <a:t>计算</a:t>
            </a:r>
            <a:r>
              <a:rPr lang="en-US">
                <a:latin typeface="Calibri" panose="020F0502020204030204" charset="0"/>
              </a:rPr>
              <a:t> </a:t>
            </a:r>
            <a:r>
              <a:rPr lang="en-US" b="1">
                <a:latin typeface="Courier New" panose="02070309020205020404" charset="0"/>
              </a:rPr>
              <a:t>pgh + 4*(index+4*index)</a:t>
            </a:r>
          </a:p>
          <a:p>
            <a:endParaRPr lang="en-US" b="0" i="1">
              <a:latin typeface="Calibri" panose="020F0502020204030204" charset="0"/>
            </a:endParaRPr>
          </a:p>
          <a:p>
            <a:endParaRPr lang="en-US">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84994">
                                            <p:txEl>
                                              <p:pRg st="0" end="0"/>
                                            </p:txEl>
                                          </p:spTgt>
                                        </p:tgtEl>
                                        <p:attrNameLst>
                                          <p:attrName>style.visibility</p:attrName>
                                        </p:attrNameLst>
                                      </p:cBhvr>
                                      <p:to>
                                        <p:strVal val="visible"/>
                                      </p:to>
                                    </p:set>
                                    <p:animEffect transition="in" filter="wipe(down)">
                                      <p:cBhvr>
                                        <p:cTn id="7" dur="500"/>
                                        <p:tgtEl>
                                          <p:spTgt spid="849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4994">
                                            <p:txEl>
                                              <p:pRg st="1" end="1"/>
                                            </p:txEl>
                                          </p:spTgt>
                                        </p:tgtEl>
                                        <p:attrNameLst>
                                          <p:attrName>style.visibility</p:attrName>
                                        </p:attrNameLst>
                                      </p:cBhvr>
                                      <p:to>
                                        <p:strVal val="visible"/>
                                      </p:to>
                                    </p:set>
                                    <p:animEffect transition="in" filter="wipe(down)">
                                      <p:cBhvr>
                                        <p:cTn id="12" dur="500"/>
                                        <p:tgtEl>
                                          <p:spTgt spid="84994">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84994">
                                            <p:txEl>
                                              <p:pRg st="2" end="2"/>
                                            </p:txEl>
                                          </p:spTgt>
                                        </p:tgtEl>
                                        <p:attrNameLst>
                                          <p:attrName>style.visibility</p:attrName>
                                        </p:attrNameLst>
                                      </p:cBhvr>
                                      <p:to>
                                        <p:strVal val="visible"/>
                                      </p:to>
                                    </p:set>
                                    <p:animEffect transition="in" filter="wipe(down)">
                                      <p:cBhvr>
                                        <p:cTn id="15" dur="500"/>
                                        <p:tgtEl>
                                          <p:spTgt spid="8499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84994">
                                            <p:txEl>
                                              <p:pRg st="3" end="3"/>
                                            </p:txEl>
                                          </p:spTgt>
                                        </p:tgtEl>
                                        <p:attrNameLst>
                                          <p:attrName>style.visibility</p:attrName>
                                        </p:attrNameLst>
                                      </p:cBhvr>
                                      <p:to>
                                        <p:strVal val="visible"/>
                                      </p:to>
                                    </p:set>
                                    <p:animEffect transition="in" filter="wipe(down)">
                                      <p:cBhvr>
                                        <p:cTn id="20" dur="500"/>
                                        <p:tgtEl>
                                          <p:spTgt spid="8499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84994">
                                            <p:txEl>
                                              <p:pRg st="4" end="4"/>
                                            </p:txEl>
                                          </p:spTgt>
                                        </p:tgtEl>
                                        <p:attrNameLst>
                                          <p:attrName>style.visibility</p:attrName>
                                        </p:attrNameLst>
                                      </p:cBhvr>
                                      <p:to>
                                        <p:strVal val="visible"/>
                                      </p:to>
                                    </p:set>
                                    <p:animEffect transition="in" filter="wipe(down)">
                                      <p:cBhvr>
                                        <p:cTn id="25" dur="500"/>
                                        <p:tgtEl>
                                          <p:spTgt spid="84994">
                                            <p:txEl>
                                              <p:pRg st="4" end="4"/>
                                            </p:txEl>
                                          </p:spTgt>
                                        </p:tgtEl>
                                      </p:cBhvr>
                                    </p:animEffect>
                                  </p:childTnLst>
                                </p:cTn>
                              </p:par>
                              <p:par>
                                <p:cTn id="26" presetID="22" presetClass="entr" presetSubtype="4" fill="hold" nodeType="withEffect">
                                  <p:stCondLst>
                                    <p:cond delay="0"/>
                                  </p:stCondLst>
                                  <p:childTnLst>
                                    <p:set>
                                      <p:cBhvr>
                                        <p:cTn id="27" dur="1" fill="hold">
                                          <p:stCondLst>
                                            <p:cond delay="0"/>
                                          </p:stCondLst>
                                        </p:cTn>
                                        <p:tgtEl>
                                          <p:spTgt spid="84994">
                                            <p:txEl>
                                              <p:pRg st="5" end="5"/>
                                            </p:txEl>
                                          </p:spTgt>
                                        </p:tgtEl>
                                        <p:attrNameLst>
                                          <p:attrName>style.visibility</p:attrName>
                                        </p:attrNameLst>
                                      </p:cBhvr>
                                      <p:to>
                                        <p:strVal val="visible"/>
                                      </p:to>
                                    </p:set>
                                    <p:animEffect transition="in" filter="wipe(down)">
                                      <p:cBhvr>
                                        <p:cTn id="28" dur="500"/>
                                        <p:tgtEl>
                                          <p:spTgt spid="8499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3854450"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嵌套数组行访问</a:t>
            </a:r>
            <a:endParaRPr lang="zh-CN" sz="2800"/>
          </a:p>
        </p:txBody>
      </p:sp>
      <p:sp>
        <p:nvSpPr>
          <p:cNvPr id="310276" name="Rectangle 4"/>
          <p:cNvSpPr>
            <a:spLocks noGrp="1" noChangeArrowheads="1"/>
          </p:cNvSpPr>
          <p:nvPr/>
        </p:nvSpPr>
        <p:spPr>
          <a:xfrm>
            <a:off x="442913" y="1214120"/>
            <a:ext cx="7786687" cy="145097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1F4E79"/>
              </a:buClr>
            </a:pPr>
            <a:r>
              <a:rPr lang="zh-CN" dirty="0">
                <a:latin typeface="Calibri" panose="020F0502020204030204" charset="0"/>
                <a:ea typeface="宋体" panose="02010600030101010101" pitchFamily="2" charset="-122"/>
              </a:rPr>
              <a:t>数组元素</a:t>
            </a:r>
            <a:r>
              <a:rPr lang="en-US" dirty="0">
                <a:latin typeface="Calibri" panose="020F0502020204030204" charset="0"/>
              </a:rPr>
              <a:t> </a:t>
            </a:r>
            <a:endParaRPr lang="en-US" dirty="0">
              <a:latin typeface="Courier New" panose="02070309020205020404" charset="0"/>
            </a:endParaRPr>
          </a:p>
          <a:p>
            <a:pPr lvl="1"/>
            <a:r>
              <a:rPr lang="en-US" dirty="0">
                <a:latin typeface="Calibri" panose="020F0502020204030204" charset="0"/>
              </a:rPr>
              <a:t> </a:t>
            </a:r>
            <a:r>
              <a:rPr lang="en-US" b="1" dirty="0">
                <a:latin typeface="Courier New" panose="02070309020205020404" charset="0"/>
              </a:rPr>
              <a:t>A[</a:t>
            </a:r>
            <a:r>
              <a:rPr lang="en-US" b="1" dirty="0" err="1">
                <a:latin typeface="Courier New" panose="02070309020205020404" charset="0"/>
              </a:rPr>
              <a:t>i</a:t>
            </a:r>
            <a:r>
              <a:rPr lang="en-US" b="1" dirty="0">
                <a:latin typeface="Courier New" panose="02070309020205020404" charset="0"/>
              </a:rPr>
              <a:t>][j]</a:t>
            </a:r>
            <a:r>
              <a:rPr lang="en-US" b="1" dirty="0">
                <a:latin typeface="Calibri" panose="020F0502020204030204" charset="0"/>
              </a:rPr>
              <a:t> </a:t>
            </a:r>
            <a:r>
              <a:rPr lang="zh-CN" altLang="en-US" b="1" dirty="0">
                <a:latin typeface="Calibri" panose="020F0502020204030204" charset="0"/>
                <a:ea typeface="宋体" panose="02010600030101010101" pitchFamily="2" charset="-122"/>
              </a:rPr>
              <a:t>是</a:t>
            </a:r>
            <a:r>
              <a:rPr lang="en-US" altLang="zh-CN" b="1" dirty="0">
                <a:latin typeface="Calibri" panose="020F0502020204030204" charset="0"/>
                <a:ea typeface="宋体" panose="02010600030101010101" pitchFamily="2" charset="-122"/>
              </a:rPr>
              <a:t>T</a:t>
            </a:r>
            <a:r>
              <a:rPr lang="zh-CN" altLang="en-US" b="1" dirty="0">
                <a:latin typeface="Calibri" panose="020F0502020204030204" charset="0"/>
                <a:ea typeface="宋体" panose="02010600030101010101" pitchFamily="2" charset="-122"/>
              </a:rPr>
              <a:t>类型的元素</a:t>
            </a:r>
            <a:r>
              <a:rPr lang="en-US" i="1" dirty="0">
                <a:latin typeface="Calibri" panose="020F0502020204030204" charset="0"/>
              </a:rPr>
              <a:t>, </a:t>
            </a:r>
            <a:r>
              <a:rPr lang="zh-CN" altLang="en-US" i="1" dirty="0">
                <a:latin typeface="Calibri" panose="020F0502020204030204" charset="0"/>
                <a:ea typeface="宋体" panose="02010600030101010101" pitchFamily="2" charset="-122"/>
              </a:rPr>
              <a:t>它需要</a:t>
            </a:r>
            <a:r>
              <a:rPr lang="en-US" dirty="0">
                <a:latin typeface="Calibri" panose="020F0502020204030204" charset="0"/>
              </a:rPr>
              <a:t> </a:t>
            </a:r>
            <a:r>
              <a:rPr lang="en-US" i="1" dirty="0">
                <a:latin typeface="Calibri" panose="020F0502020204030204" charset="0"/>
              </a:rPr>
              <a:t>K</a:t>
            </a:r>
            <a:r>
              <a:rPr lang="en-US" dirty="0">
                <a:latin typeface="Calibri" panose="020F0502020204030204" charset="0"/>
              </a:rPr>
              <a:t> </a:t>
            </a:r>
            <a:r>
              <a:rPr lang="zh-CN" altLang="en-US" dirty="0">
                <a:latin typeface="Calibri" panose="020F0502020204030204" charset="0"/>
                <a:ea typeface="宋体" panose="02010600030101010101" pitchFamily="2" charset="-122"/>
              </a:rPr>
              <a:t>字节</a:t>
            </a:r>
            <a:endParaRPr lang="en-US" dirty="0">
              <a:latin typeface="Courier New" panose="02070309020205020404" charset="0"/>
            </a:endParaRPr>
          </a:p>
          <a:p>
            <a:pPr lvl="1"/>
            <a:r>
              <a:rPr lang="zh-CN" altLang="en-US" dirty="0">
                <a:latin typeface="Calibri" panose="020F0502020204030204" charset="0"/>
                <a:ea typeface="宋体" panose="02010600030101010101" pitchFamily="2" charset="-122"/>
              </a:rPr>
              <a:t>地址</a:t>
            </a:r>
            <a:r>
              <a:rPr lang="en-US" dirty="0">
                <a:latin typeface="Calibri" panose="020F0502020204030204" charset="0"/>
              </a:rPr>
              <a:t>  </a:t>
            </a:r>
            <a:r>
              <a:rPr lang="en-US" b="1" dirty="0">
                <a:latin typeface="Courier New" panose="02070309020205020404" charset="0"/>
              </a:rPr>
              <a:t>A +</a:t>
            </a:r>
            <a:r>
              <a:rPr lang="en-US" dirty="0">
                <a:latin typeface="Courier New" panose="02070309020205020404" charset="0"/>
              </a:rPr>
              <a:t> </a:t>
            </a:r>
            <a:r>
              <a:rPr lang="en-US" i="1" dirty="0" err="1">
                <a:latin typeface="Calibri" panose="020F0502020204030204" charset="0"/>
              </a:rPr>
              <a:t>i</a:t>
            </a:r>
            <a:r>
              <a:rPr lang="en-US" i="1" dirty="0">
                <a:latin typeface="Calibri" panose="020F0502020204030204" charset="0"/>
              </a:rPr>
              <a:t> </a:t>
            </a:r>
            <a:r>
              <a:rPr lang="en-US" dirty="0">
                <a:latin typeface="Calibri" panose="020F0502020204030204" charset="0"/>
              </a:rPr>
              <a:t>* (</a:t>
            </a:r>
            <a:r>
              <a:rPr lang="en-US" i="1" dirty="0">
                <a:latin typeface="Calibri" panose="020F0502020204030204" charset="0"/>
              </a:rPr>
              <a:t>C </a:t>
            </a:r>
            <a:r>
              <a:rPr lang="en-US" dirty="0">
                <a:latin typeface="Calibri" panose="020F0502020204030204" charset="0"/>
              </a:rPr>
              <a:t>* </a:t>
            </a:r>
            <a:r>
              <a:rPr lang="en-US" i="1" dirty="0">
                <a:latin typeface="Calibri" panose="020F0502020204030204" charset="0"/>
              </a:rPr>
              <a:t>K</a:t>
            </a:r>
            <a:r>
              <a:rPr lang="en-US" dirty="0">
                <a:latin typeface="Calibri" panose="020F0502020204030204" charset="0"/>
              </a:rPr>
              <a:t>)</a:t>
            </a:r>
            <a:r>
              <a:rPr lang="en-US" i="1" dirty="0">
                <a:latin typeface="Calibri" panose="020F0502020204030204" charset="0"/>
              </a:rPr>
              <a:t> </a:t>
            </a:r>
            <a:r>
              <a:rPr lang="en-US" dirty="0">
                <a:latin typeface="Calibri" panose="020F0502020204030204" charset="0"/>
              </a:rPr>
              <a:t>+  </a:t>
            </a:r>
            <a:r>
              <a:rPr lang="en-US" i="1" dirty="0">
                <a:latin typeface="Calibri" panose="020F0502020204030204" charset="0"/>
              </a:rPr>
              <a:t>j</a:t>
            </a:r>
            <a:r>
              <a:rPr lang="en-US" dirty="0">
                <a:latin typeface="Calibri" panose="020F0502020204030204" charset="0"/>
              </a:rPr>
              <a:t> * </a:t>
            </a:r>
            <a:r>
              <a:rPr lang="en-US" i="1" dirty="0">
                <a:latin typeface="Calibri" panose="020F0502020204030204" charset="0"/>
              </a:rPr>
              <a:t>K = </a:t>
            </a:r>
            <a:r>
              <a:rPr lang="pl-PL" i="1" dirty="0">
                <a:latin typeface="Calibri" panose="020F0502020204030204" charset="0"/>
              </a:rPr>
              <a:t>A + </a:t>
            </a:r>
            <a:r>
              <a:rPr lang="pl-PL" dirty="0">
                <a:latin typeface="Calibri" panose="020F0502020204030204" charset="0"/>
              </a:rPr>
              <a:t>(</a:t>
            </a:r>
            <a:r>
              <a:rPr lang="pl-PL" i="1" dirty="0">
                <a:latin typeface="Calibri" panose="020F0502020204030204" charset="0"/>
              </a:rPr>
              <a:t>i * C +  j</a:t>
            </a:r>
            <a:r>
              <a:rPr lang="en-US" dirty="0">
                <a:latin typeface="Calibri" panose="020F0502020204030204" charset="0"/>
              </a:rPr>
              <a:t>)</a:t>
            </a:r>
            <a:r>
              <a:rPr lang="pl-PL" i="1" dirty="0">
                <a:latin typeface="Calibri" panose="020F0502020204030204" charset="0"/>
              </a:rPr>
              <a:t>* K</a:t>
            </a:r>
            <a:endParaRPr lang="en-US" i="1" dirty="0">
              <a:latin typeface="Calibri" panose="020F0502020204030204" charset="0"/>
            </a:endParaRPr>
          </a:p>
        </p:txBody>
      </p:sp>
      <p:sp>
        <p:nvSpPr>
          <p:cNvPr id="42" name="Rectangle 6"/>
          <p:cNvSpPr>
            <a:spLocks noGrp="1" noChangeArrowheads="1"/>
          </p:cNvSpPr>
          <p:nvPr/>
        </p:nvSpPr>
        <p:spPr>
          <a:xfrm>
            <a:off x="8618538" y="6088063"/>
            <a:ext cx="492125" cy="228600"/>
          </a:xfrm>
          <a:prstGeom prst="rect">
            <a:avLst/>
          </a:prstGeom>
          <a:noFill/>
          <a:ln w="9525">
            <a:noFill/>
            <a:miter lim="800000"/>
          </a:ln>
        </p:spPr>
        <p:txBody>
          <a:bodyPr vert="horz" wrap="square" lIns="91440" tIns="45720" rIns="91440" bIns="45720" numCol="1" anchor="t" anchorCtr="0" compatLnSpc="1"/>
          <a:lstStyle>
            <a:defPPr>
              <a:defRPr lang="en-US"/>
            </a:defPPr>
            <a:lvl1pPr marL="0" algn="r" defTabSz="914400" rtl="0" eaLnBrk="1" latinLnBrk="0" hangingPunct="1">
              <a:defRPr sz="1400" kern="1200">
                <a:solidFill>
                  <a:schemeClr val="bg1"/>
                </a:solidFill>
                <a:latin typeface="Arial Narrow" panose="020B0606020202030204" pitchFamily="34" charset="0"/>
                <a:ea typeface="MS PGothic" panose="020B0600070205080204" pitchFamily="-96" charset="-128"/>
                <a:cs typeface="MS PGothic" panose="020B0600070205080204" pitchFamily="-96" charset="-12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47BEB56-3624-457F-8C66-182F72039BA1}" type="slidenum">
              <a:rPr lang="en-US"/>
              <a:t>182</a:t>
            </a:fld>
            <a:endParaRPr lang="en-US"/>
          </a:p>
        </p:txBody>
      </p:sp>
      <p:sp>
        <p:nvSpPr>
          <p:cNvPr id="87041" name="Rectangle 2"/>
          <p:cNvSpPr>
            <a:spLocks noChangeArrowheads="1"/>
          </p:cNvSpPr>
          <p:nvPr/>
        </p:nvSpPr>
        <p:spPr bwMode="auto">
          <a:xfrm>
            <a:off x="5791200" y="3998913"/>
            <a:ext cx="990600" cy="990600"/>
          </a:xfrm>
          <a:prstGeom prst="rect">
            <a:avLst/>
          </a:prstGeom>
          <a:solidFill>
            <a:schemeClr val="bg1"/>
          </a:solidFill>
          <a:ln w="25400">
            <a:noFill/>
            <a:miter lim="800000"/>
          </a:ln>
        </p:spPr>
        <p:txBody>
          <a:bodyPr wrap="none" anchor="ctr"/>
          <a:lstStyle/>
          <a:p>
            <a:pPr eaLnBrk="0" hangingPunct="0"/>
            <a:r>
              <a:rPr lang="en-US" b="0">
                <a:latin typeface="Calibri" panose="020F0502020204030204" charset="0"/>
              </a:rPr>
              <a:t>•  •  •</a:t>
            </a:r>
          </a:p>
        </p:txBody>
      </p:sp>
      <p:grpSp>
        <p:nvGrpSpPr>
          <p:cNvPr id="87044" name="Group 5"/>
          <p:cNvGrpSpPr/>
          <p:nvPr/>
        </p:nvGrpSpPr>
        <p:grpSpPr bwMode="auto">
          <a:xfrm>
            <a:off x="3657600" y="3465513"/>
            <a:ext cx="2133600" cy="1524000"/>
            <a:chOff x="1680" y="2064"/>
            <a:chExt cx="1344" cy="960"/>
          </a:xfrm>
        </p:grpSpPr>
        <p:grpSp>
          <p:nvGrpSpPr>
            <p:cNvPr id="87073" name="Group 6"/>
            <p:cNvGrpSpPr/>
            <p:nvPr/>
          </p:nvGrpSpPr>
          <p:grpSpPr bwMode="auto">
            <a:xfrm>
              <a:off x="1680" y="2400"/>
              <a:ext cx="1344" cy="624"/>
              <a:chOff x="1488" y="3504"/>
              <a:chExt cx="1344" cy="624"/>
            </a:xfrm>
          </p:grpSpPr>
          <p:sp>
            <p:nvSpPr>
              <p:cNvPr id="310281" name="Rectangle 9"/>
              <p:cNvSpPr>
                <a:spLocks noChangeArrowheads="1"/>
              </p:cNvSpPr>
              <p:nvPr/>
            </p:nvSpPr>
            <p:spPr bwMode="auto">
              <a:xfrm>
                <a:off x="1488" y="3504"/>
                <a:ext cx="1344" cy="624"/>
              </a:xfrm>
              <a:prstGeom prst="rect">
                <a:avLst/>
              </a:prstGeom>
              <a:solidFill>
                <a:schemeClr val="accent2">
                  <a:lumMod val="20000"/>
                  <a:lumOff val="80000"/>
                </a:schemeClr>
              </a:solidFill>
              <a:ln w="28575">
                <a:solidFill>
                  <a:schemeClr val="tx1"/>
                </a:solidFill>
                <a:miter lim="800000"/>
              </a:ln>
              <a:effectLst/>
            </p:spPr>
            <p:txBody>
              <a:bodyPr wrap="none" anchor="ctr"/>
              <a:lstStyle/>
              <a:p>
                <a:pPr eaLnBrk="0" hangingPunct="0">
                  <a:defRPr/>
                </a:pPr>
                <a:r>
                  <a:rPr lang="en-US" sz="1600" b="0" dirty="0">
                    <a:latin typeface="Calibri" panose="020F0502020204030204" charset="0"/>
                    <a:ea typeface="+mn-ea"/>
                    <a:cs typeface="+mn-cs"/>
                  </a:rPr>
                  <a:t> • • •                      • • •</a:t>
                </a:r>
              </a:p>
            </p:txBody>
          </p:sp>
          <p:sp>
            <p:nvSpPr>
              <p:cNvPr id="310279" name="Rectangle 7"/>
              <p:cNvSpPr>
                <a:spLocks noChangeArrowheads="1"/>
              </p:cNvSpPr>
              <p:nvPr/>
            </p:nvSpPr>
            <p:spPr bwMode="auto">
              <a:xfrm>
                <a:off x="1920" y="3504"/>
                <a:ext cx="384" cy="624"/>
              </a:xfrm>
              <a:prstGeom prst="rect">
                <a:avLst/>
              </a:prstGeom>
              <a:solidFill>
                <a:schemeClr val="accent2">
                  <a:lumMod val="20000"/>
                  <a:lumOff val="80000"/>
                </a:schemeClr>
              </a:solidFill>
              <a:ln w="12700">
                <a:solidFill>
                  <a:schemeClr val="tx1"/>
                </a:solidFill>
                <a:miter lim="800000"/>
              </a:ln>
              <a:effectLst/>
            </p:spPr>
            <p:txBody>
              <a:bodyPr wrap="none" anchor="ctr"/>
              <a:lstStyle/>
              <a:p>
                <a:pPr algn="ctr" eaLnBrk="0" hangingPunct="0">
                  <a:defRPr/>
                </a:pPr>
                <a:r>
                  <a:rPr lang="en-US" sz="1600" dirty="0">
                    <a:latin typeface="Courier New" panose="02070309020205020404" charset="0"/>
                    <a:ea typeface="+mn-ea"/>
                    <a:cs typeface="+mn-cs"/>
                  </a:rPr>
                  <a:t>A</a:t>
                </a:r>
              </a:p>
              <a:p>
                <a:pPr algn="ctr" eaLnBrk="0" hangingPunct="0">
                  <a:defRPr/>
                </a:pPr>
                <a:r>
                  <a:rPr lang="en-US" sz="1600" dirty="0">
                    <a:latin typeface="Courier New" panose="02070309020205020404" charset="0"/>
                    <a:ea typeface="+mn-ea"/>
                    <a:cs typeface="+mn-cs"/>
                  </a:rPr>
                  <a:t>[</a:t>
                </a:r>
                <a:r>
                  <a:rPr lang="en-US" sz="1600" dirty="0" err="1">
                    <a:latin typeface="Courier New" panose="02070309020205020404" charset="0"/>
                    <a:ea typeface="+mn-ea"/>
                    <a:cs typeface="+mn-cs"/>
                  </a:rPr>
                  <a:t>i</a:t>
                </a:r>
                <a:r>
                  <a:rPr lang="en-US" sz="1600" dirty="0">
                    <a:latin typeface="Courier New" panose="02070309020205020404" charset="0"/>
                    <a:ea typeface="+mn-ea"/>
                    <a:cs typeface="+mn-cs"/>
                  </a:rPr>
                  <a:t>]</a:t>
                </a:r>
              </a:p>
              <a:p>
                <a:pPr algn="ctr" eaLnBrk="0" hangingPunct="0">
                  <a:defRPr/>
                </a:pPr>
                <a:r>
                  <a:rPr lang="en-US" sz="1600" dirty="0">
                    <a:latin typeface="Courier New" panose="02070309020205020404" charset="0"/>
                    <a:ea typeface="+mn-ea"/>
                    <a:cs typeface="+mn-cs"/>
                  </a:rPr>
                  <a:t>[j]</a:t>
                </a:r>
              </a:p>
            </p:txBody>
          </p:sp>
        </p:grpSp>
        <p:sp>
          <p:nvSpPr>
            <p:cNvPr id="87074" name="Line 10"/>
            <p:cNvSpPr>
              <a:spLocks noChangeShapeType="1"/>
            </p:cNvSpPr>
            <p:nvPr/>
          </p:nvSpPr>
          <p:spPr bwMode="auto">
            <a:xfrm>
              <a:off x="1680" y="2160"/>
              <a:ext cx="0" cy="144"/>
            </a:xfrm>
            <a:prstGeom prst="line">
              <a:avLst/>
            </a:prstGeom>
            <a:noFill/>
            <a:ln w="25400">
              <a:solidFill>
                <a:schemeClr val="tx1"/>
              </a:solidFill>
              <a:round/>
            </a:ln>
          </p:spPr>
          <p:txBody>
            <a:bodyPr wrap="none" anchor="ctr"/>
            <a:lstStyle/>
            <a:p>
              <a:endParaRPr lang="en-US"/>
            </a:p>
          </p:txBody>
        </p:sp>
        <p:sp>
          <p:nvSpPr>
            <p:cNvPr id="87075" name="Line 11"/>
            <p:cNvSpPr>
              <a:spLocks noChangeShapeType="1"/>
            </p:cNvSpPr>
            <p:nvPr/>
          </p:nvSpPr>
          <p:spPr bwMode="auto">
            <a:xfrm>
              <a:off x="1680" y="2160"/>
              <a:ext cx="0" cy="144"/>
            </a:xfrm>
            <a:prstGeom prst="line">
              <a:avLst/>
            </a:prstGeom>
            <a:noFill/>
            <a:ln w="25400">
              <a:solidFill>
                <a:schemeClr val="tx1"/>
              </a:solidFill>
              <a:round/>
            </a:ln>
          </p:spPr>
          <p:txBody>
            <a:bodyPr wrap="none" anchor="ctr"/>
            <a:lstStyle/>
            <a:p>
              <a:endParaRPr lang="en-US"/>
            </a:p>
          </p:txBody>
        </p:sp>
        <p:sp>
          <p:nvSpPr>
            <p:cNvPr id="87076" name="Line 12"/>
            <p:cNvSpPr>
              <a:spLocks noChangeShapeType="1"/>
            </p:cNvSpPr>
            <p:nvPr/>
          </p:nvSpPr>
          <p:spPr bwMode="auto">
            <a:xfrm>
              <a:off x="3024" y="2160"/>
              <a:ext cx="0" cy="144"/>
            </a:xfrm>
            <a:prstGeom prst="line">
              <a:avLst/>
            </a:prstGeom>
            <a:noFill/>
            <a:ln w="25400">
              <a:solidFill>
                <a:schemeClr val="tx1"/>
              </a:solidFill>
              <a:round/>
            </a:ln>
          </p:spPr>
          <p:txBody>
            <a:bodyPr wrap="none" anchor="ctr"/>
            <a:lstStyle/>
            <a:p>
              <a:endParaRPr lang="en-US"/>
            </a:p>
          </p:txBody>
        </p:sp>
        <p:sp>
          <p:nvSpPr>
            <p:cNvPr id="87077" name="Line 13"/>
            <p:cNvSpPr>
              <a:spLocks noChangeShapeType="1"/>
            </p:cNvSpPr>
            <p:nvPr/>
          </p:nvSpPr>
          <p:spPr bwMode="auto">
            <a:xfrm>
              <a:off x="1680" y="2208"/>
              <a:ext cx="1344" cy="0"/>
            </a:xfrm>
            <a:prstGeom prst="line">
              <a:avLst/>
            </a:prstGeom>
            <a:noFill/>
            <a:ln w="25400">
              <a:solidFill>
                <a:schemeClr val="tx1"/>
              </a:solidFill>
              <a:round/>
              <a:headEnd type="triangle" w="med" len="med"/>
              <a:tailEnd type="triangle" w="med" len="med"/>
            </a:ln>
          </p:spPr>
          <p:txBody>
            <a:bodyPr wrap="none" anchor="ctr"/>
            <a:lstStyle/>
            <a:p>
              <a:endParaRPr lang="en-US"/>
            </a:p>
          </p:txBody>
        </p:sp>
        <p:sp>
          <p:nvSpPr>
            <p:cNvPr id="87078" name="Rectangle 14"/>
            <p:cNvSpPr>
              <a:spLocks noChangeArrowheads="1"/>
            </p:cNvSpPr>
            <p:nvPr/>
          </p:nvSpPr>
          <p:spPr bwMode="auto">
            <a:xfrm>
              <a:off x="2112" y="2064"/>
              <a:ext cx="528" cy="240"/>
            </a:xfrm>
            <a:prstGeom prst="rect">
              <a:avLst/>
            </a:prstGeom>
            <a:solidFill>
              <a:schemeClr val="bg1"/>
            </a:solidFill>
            <a:ln w="25400">
              <a:noFill/>
              <a:miter lim="800000"/>
            </a:ln>
          </p:spPr>
          <p:txBody>
            <a:bodyPr wrap="none" anchor="ctr"/>
            <a:lstStyle/>
            <a:p>
              <a:pPr eaLnBrk="0" hangingPunct="0"/>
              <a:r>
                <a:rPr lang="en-US" sz="1600">
                  <a:latin typeface="Courier New" panose="02070309020205020404" charset="0"/>
                </a:rPr>
                <a:t>A[i]</a:t>
              </a:r>
              <a:endParaRPr lang="en-US" sz="1600" b="0">
                <a:latin typeface="Calibri" panose="020F0502020204030204" charset="0"/>
              </a:endParaRPr>
            </a:p>
          </p:txBody>
        </p:sp>
      </p:grpSp>
      <p:grpSp>
        <p:nvGrpSpPr>
          <p:cNvPr id="87045" name="Group 15"/>
          <p:cNvGrpSpPr/>
          <p:nvPr/>
        </p:nvGrpSpPr>
        <p:grpSpPr bwMode="auto">
          <a:xfrm>
            <a:off x="6705600" y="3465513"/>
            <a:ext cx="2133600" cy="1524000"/>
            <a:chOff x="4176" y="2064"/>
            <a:chExt cx="1344" cy="960"/>
          </a:xfrm>
        </p:grpSpPr>
        <p:grpSp>
          <p:nvGrpSpPr>
            <p:cNvPr id="87065" name="Group 16"/>
            <p:cNvGrpSpPr/>
            <p:nvPr/>
          </p:nvGrpSpPr>
          <p:grpSpPr bwMode="auto">
            <a:xfrm>
              <a:off x="4176" y="2400"/>
              <a:ext cx="1344" cy="624"/>
              <a:chOff x="1488" y="3504"/>
              <a:chExt cx="1344" cy="624"/>
            </a:xfrm>
          </p:grpSpPr>
          <p:sp>
            <p:nvSpPr>
              <p:cNvPr id="87070" name="Rectangle 19"/>
              <p:cNvSpPr>
                <a:spLocks noChangeArrowheads="1"/>
              </p:cNvSpPr>
              <p:nvPr/>
            </p:nvSpPr>
            <p:spPr bwMode="auto">
              <a:xfrm>
                <a:off x="1488" y="3504"/>
                <a:ext cx="1344" cy="624"/>
              </a:xfrm>
              <a:prstGeom prst="rect">
                <a:avLst/>
              </a:prstGeom>
              <a:solidFill>
                <a:srgbClr val="D5F1CF"/>
              </a:solidFill>
              <a:ln w="28575">
                <a:solidFill>
                  <a:schemeClr val="tx1"/>
                </a:solidFill>
                <a:miter lim="800000"/>
              </a:ln>
            </p:spPr>
            <p:txBody>
              <a:bodyPr wrap="none" anchor="ctr"/>
              <a:lstStyle/>
              <a:p>
                <a:pPr algn="ctr" eaLnBrk="0" hangingPunct="0"/>
                <a:r>
                  <a:rPr lang="en-US" sz="1600" b="0">
                    <a:latin typeface="Calibri" panose="020F0502020204030204" charset="0"/>
                  </a:rPr>
                  <a:t>• • •</a:t>
                </a:r>
              </a:p>
            </p:txBody>
          </p:sp>
          <p:sp>
            <p:nvSpPr>
              <p:cNvPr id="87071" name="Rectangle 17"/>
              <p:cNvSpPr>
                <a:spLocks noChangeArrowheads="1"/>
              </p:cNvSpPr>
              <p:nvPr/>
            </p:nvSpPr>
            <p:spPr bwMode="auto">
              <a:xfrm>
                <a:off x="1488" y="3504"/>
                <a:ext cx="384" cy="624"/>
              </a:xfrm>
              <a:prstGeom prst="rect">
                <a:avLst/>
              </a:prstGeom>
              <a:solidFill>
                <a:srgbClr val="D5F1CF"/>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[R-1]</a:t>
                </a:r>
              </a:p>
              <a:p>
                <a:pPr algn="ctr" eaLnBrk="0" hangingPunct="0"/>
                <a:r>
                  <a:rPr lang="en-US" sz="1600">
                    <a:latin typeface="Courier New" panose="02070309020205020404" charset="0"/>
                  </a:rPr>
                  <a:t>[0]</a:t>
                </a:r>
              </a:p>
            </p:txBody>
          </p:sp>
          <p:sp>
            <p:nvSpPr>
              <p:cNvPr id="87072" name="Rectangle 18"/>
              <p:cNvSpPr>
                <a:spLocks noChangeArrowheads="1"/>
              </p:cNvSpPr>
              <p:nvPr/>
            </p:nvSpPr>
            <p:spPr bwMode="auto">
              <a:xfrm>
                <a:off x="2448" y="3504"/>
                <a:ext cx="384" cy="624"/>
              </a:xfrm>
              <a:prstGeom prst="rect">
                <a:avLst/>
              </a:prstGeom>
              <a:solidFill>
                <a:srgbClr val="D5F1CF"/>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[R-1]</a:t>
                </a:r>
              </a:p>
              <a:p>
                <a:pPr algn="ctr" eaLnBrk="0" hangingPunct="0"/>
                <a:r>
                  <a:rPr lang="en-US" sz="1600">
                    <a:latin typeface="Courier New" panose="02070309020205020404" charset="0"/>
                  </a:rPr>
                  <a:t>[C-1]</a:t>
                </a:r>
              </a:p>
            </p:txBody>
          </p:sp>
        </p:grpSp>
        <p:sp>
          <p:nvSpPr>
            <p:cNvPr id="87066" name="Line 20"/>
            <p:cNvSpPr>
              <a:spLocks noChangeShapeType="1"/>
            </p:cNvSpPr>
            <p:nvPr/>
          </p:nvSpPr>
          <p:spPr bwMode="auto">
            <a:xfrm>
              <a:off x="4176" y="2160"/>
              <a:ext cx="0" cy="144"/>
            </a:xfrm>
            <a:prstGeom prst="line">
              <a:avLst/>
            </a:prstGeom>
            <a:noFill/>
            <a:ln w="25400">
              <a:solidFill>
                <a:schemeClr val="tx1"/>
              </a:solidFill>
              <a:round/>
            </a:ln>
          </p:spPr>
          <p:txBody>
            <a:bodyPr wrap="none" anchor="ctr"/>
            <a:lstStyle/>
            <a:p>
              <a:endParaRPr lang="en-US"/>
            </a:p>
          </p:txBody>
        </p:sp>
        <p:sp>
          <p:nvSpPr>
            <p:cNvPr id="87067" name="Line 21"/>
            <p:cNvSpPr>
              <a:spLocks noChangeShapeType="1"/>
            </p:cNvSpPr>
            <p:nvPr/>
          </p:nvSpPr>
          <p:spPr bwMode="auto">
            <a:xfrm>
              <a:off x="5520" y="2160"/>
              <a:ext cx="0" cy="144"/>
            </a:xfrm>
            <a:prstGeom prst="line">
              <a:avLst/>
            </a:prstGeom>
            <a:noFill/>
            <a:ln w="25400">
              <a:solidFill>
                <a:schemeClr val="tx1"/>
              </a:solidFill>
              <a:round/>
            </a:ln>
          </p:spPr>
          <p:txBody>
            <a:bodyPr wrap="none" anchor="ctr"/>
            <a:lstStyle/>
            <a:p>
              <a:endParaRPr lang="en-US"/>
            </a:p>
          </p:txBody>
        </p:sp>
        <p:sp>
          <p:nvSpPr>
            <p:cNvPr id="87068" name="Line 22"/>
            <p:cNvSpPr>
              <a:spLocks noChangeShapeType="1"/>
            </p:cNvSpPr>
            <p:nvPr/>
          </p:nvSpPr>
          <p:spPr bwMode="auto">
            <a:xfrm>
              <a:off x="4176" y="2208"/>
              <a:ext cx="1344" cy="0"/>
            </a:xfrm>
            <a:prstGeom prst="line">
              <a:avLst/>
            </a:prstGeom>
            <a:noFill/>
            <a:ln w="25400">
              <a:solidFill>
                <a:schemeClr val="tx1"/>
              </a:solidFill>
              <a:round/>
              <a:headEnd type="triangle" w="med" len="med"/>
              <a:tailEnd type="triangle" w="med" len="med"/>
            </a:ln>
          </p:spPr>
          <p:txBody>
            <a:bodyPr wrap="none" anchor="ctr"/>
            <a:lstStyle/>
            <a:p>
              <a:endParaRPr lang="en-US"/>
            </a:p>
          </p:txBody>
        </p:sp>
        <p:sp>
          <p:nvSpPr>
            <p:cNvPr id="87069" name="Rectangle 23"/>
            <p:cNvSpPr>
              <a:spLocks noChangeArrowheads="1"/>
            </p:cNvSpPr>
            <p:nvPr/>
          </p:nvSpPr>
          <p:spPr bwMode="auto">
            <a:xfrm>
              <a:off x="4608" y="2064"/>
              <a:ext cx="528" cy="240"/>
            </a:xfrm>
            <a:prstGeom prst="rect">
              <a:avLst/>
            </a:prstGeom>
            <a:solidFill>
              <a:schemeClr val="bg1"/>
            </a:solidFill>
            <a:ln w="25400">
              <a:noFill/>
              <a:miter lim="800000"/>
            </a:ln>
          </p:spPr>
          <p:txBody>
            <a:bodyPr wrap="none" anchor="ctr"/>
            <a:lstStyle/>
            <a:p>
              <a:pPr eaLnBrk="0" hangingPunct="0"/>
              <a:r>
                <a:rPr lang="en-US" sz="1600">
                  <a:latin typeface="Courier New" panose="02070309020205020404" charset="0"/>
                </a:rPr>
                <a:t>A[R-1]</a:t>
              </a:r>
              <a:endParaRPr lang="en-US" sz="1600" b="0">
                <a:latin typeface="Calibri" panose="020F0502020204030204" charset="0"/>
              </a:endParaRPr>
            </a:p>
          </p:txBody>
        </p:sp>
      </p:grpSp>
      <p:sp>
        <p:nvSpPr>
          <p:cNvPr id="87046" name="Rectangle 24"/>
          <p:cNvSpPr>
            <a:spLocks noChangeArrowheads="1"/>
          </p:cNvSpPr>
          <p:nvPr/>
        </p:nvSpPr>
        <p:spPr bwMode="auto">
          <a:xfrm>
            <a:off x="2667000" y="3998913"/>
            <a:ext cx="990600" cy="990600"/>
          </a:xfrm>
          <a:prstGeom prst="rect">
            <a:avLst/>
          </a:prstGeom>
          <a:solidFill>
            <a:schemeClr val="bg1"/>
          </a:solidFill>
          <a:ln w="25400">
            <a:noFill/>
            <a:miter lim="800000"/>
          </a:ln>
        </p:spPr>
        <p:txBody>
          <a:bodyPr wrap="none" anchor="ctr"/>
          <a:lstStyle/>
          <a:p>
            <a:pPr eaLnBrk="0" hangingPunct="0"/>
            <a:r>
              <a:rPr lang="en-US" b="0">
                <a:latin typeface="Calibri" panose="020F0502020204030204" charset="0"/>
              </a:rPr>
              <a:t>•  •  •</a:t>
            </a:r>
          </a:p>
        </p:txBody>
      </p:sp>
      <p:sp>
        <p:nvSpPr>
          <p:cNvPr id="87047" name="Text Box 25"/>
          <p:cNvSpPr txBox="1">
            <a:spLocks noChangeArrowheads="1"/>
          </p:cNvSpPr>
          <p:nvPr/>
        </p:nvSpPr>
        <p:spPr bwMode="auto">
          <a:xfrm>
            <a:off x="331788" y="5216525"/>
            <a:ext cx="396875" cy="366713"/>
          </a:xfrm>
          <a:prstGeom prst="rect">
            <a:avLst/>
          </a:prstGeom>
          <a:noFill/>
          <a:ln w="25400">
            <a:noFill/>
            <a:miter lim="800000"/>
          </a:ln>
        </p:spPr>
        <p:txBody>
          <a:bodyPr>
            <a:spAutoFit/>
          </a:bodyPr>
          <a:lstStyle/>
          <a:p>
            <a:pPr algn="ctr" eaLnBrk="0" hangingPunct="0"/>
            <a:r>
              <a:rPr lang="en-US" sz="1800">
                <a:latin typeface="Courier New" panose="02070309020205020404" charset="0"/>
              </a:rPr>
              <a:t>A</a:t>
            </a:r>
          </a:p>
        </p:txBody>
      </p:sp>
      <p:sp>
        <p:nvSpPr>
          <p:cNvPr id="87048" name="Line 26"/>
          <p:cNvSpPr>
            <a:spLocks noChangeShapeType="1"/>
          </p:cNvSpPr>
          <p:nvPr/>
        </p:nvSpPr>
        <p:spPr bwMode="auto">
          <a:xfrm flipV="1">
            <a:off x="533400" y="4989513"/>
            <a:ext cx="0" cy="228600"/>
          </a:xfrm>
          <a:prstGeom prst="line">
            <a:avLst/>
          </a:prstGeom>
          <a:noFill/>
          <a:ln w="25400">
            <a:solidFill>
              <a:schemeClr val="tx1"/>
            </a:solidFill>
            <a:round/>
            <a:tailEnd type="triangle" w="med" len="sm"/>
          </a:ln>
        </p:spPr>
        <p:txBody>
          <a:bodyPr wrap="none" anchor="ctr"/>
          <a:lstStyle/>
          <a:p>
            <a:endParaRPr lang="en-US"/>
          </a:p>
        </p:txBody>
      </p:sp>
      <p:sp>
        <p:nvSpPr>
          <p:cNvPr id="87049" name="Line 27"/>
          <p:cNvSpPr>
            <a:spLocks noChangeShapeType="1"/>
          </p:cNvSpPr>
          <p:nvPr/>
        </p:nvSpPr>
        <p:spPr bwMode="auto">
          <a:xfrm flipV="1">
            <a:off x="3657600" y="4989513"/>
            <a:ext cx="0" cy="228600"/>
          </a:xfrm>
          <a:prstGeom prst="line">
            <a:avLst/>
          </a:prstGeom>
          <a:noFill/>
          <a:ln w="25400">
            <a:solidFill>
              <a:schemeClr val="tx1"/>
            </a:solidFill>
            <a:round/>
            <a:tailEnd type="triangle" w="med" len="sm"/>
          </a:ln>
        </p:spPr>
        <p:txBody>
          <a:bodyPr wrap="none" anchor="ctr"/>
          <a:lstStyle/>
          <a:p>
            <a:endParaRPr lang="en-US"/>
          </a:p>
        </p:txBody>
      </p:sp>
      <p:grpSp>
        <p:nvGrpSpPr>
          <p:cNvPr id="87050" name="Group 28"/>
          <p:cNvGrpSpPr/>
          <p:nvPr/>
        </p:nvGrpSpPr>
        <p:grpSpPr bwMode="auto">
          <a:xfrm>
            <a:off x="533400" y="3465513"/>
            <a:ext cx="2133600" cy="1524000"/>
            <a:chOff x="336" y="2064"/>
            <a:chExt cx="1344" cy="960"/>
          </a:xfrm>
        </p:grpSpPr>
        <p:grpSp>
          <p:nvGrpSpPr>
            <p:cNvPr id="87057" name="Group 29"/>
            <p:cNvGrpSpPr/>
            <p:nvPr/>
          </p:nvGrpSpPr>
          <p:grpSpPr bwMode="auto">
            <a:xfrm>
              <a:off x="336" y="2400"/>
              <a:ext cx="1344" cy="624"/>
              <a:chOff x="1488" y="3504"/>
              <a:chExt cx="1344" cy="624"/>
            </a:xfrm>
          </p:grpSpPr>
          <p:sp>
            <p:nvSpPr>
              <p:cNvPr id="87062" name="Rectangle 32"/>
              <p:cNvSpPr>
                <a:spLocks noChangeArrowheads="1"/>
              </p:cNvSpPr>
              <p:nvPr/>
            </p:nvSpPr>
            <p:spPr bwMode="auto">
              <a:xfrm>
                <a:off x="1488" y="3504"/>
                <a:ext cx="1344" cy="624"/>
              </a:xfrm>
              <a:prstGeom prst="rect">
                <a:avLst/>
              </a:prstGeom>
              <a:solidFill>
                <a:srgbClr val="F1C7C7"/>
              </a:solidFill>
              <a:ln w="28575">
                <a:solidFill>
                  <a:schemeClr val="tx1"/>
                </a:solidFill>
                <a:miter lim="800000"/>
              </a:ln>
            </p:spPr>
            <p:txBody>
              <a:bodyPr wrap="none" anchor="ctr"/>
              <a:lstStyle/>
              <a:p>
                <a:pPr algn="ctr" eaLnBrk="0" hangingPunct="0"/>
                <a:r>
                  <a:rPr lang="en-US" sz="1600" b="0">
                    <a:latin typeface="Calibri" panose="020F0502020204030204" charset="0"/>
                  </a:rPr>
                  <a:t>• • •</a:t>
                </a:r>
              </a:p>
            </p:txBody>
          </p:sp>
          <p:sp>
            <p:nvSpPr>
              <p:cNvPr id="87063" name="Rectangle 30"/>
              <p:cNvSpPr>
                <a:spLocks noChangeArrowheads="1"/>
              </p:cNvSpPr>
              <p:nvPr/>
            </p:nvSpPr>
            <p:spPr bwMode="auto">
              <a:xfrm>
                <a:off x="1488" y="3504"/>
                <a:ext cx="384" cy="624"/>
              </a:xfrm>
              <a:prstGeom prst="rect">
                <a:avLst/>
              </a:prstGeom>
              <a:solidFill>
                <a:srgbClr val="F1C7C7"/>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[0]</a:t>
                </a:r>
              </a:p>
              <a:p>
                <a:pPr algn="ctr" eaLnBrk="0" hangingPunct="0"/>
                <a:r>
                  <a:rPr lang="en-US" sz="1600">
                    <a:latin typeface="Courier New" panose="02070309020205020404" charset="0"/>
                  </a:rPr>
                  <a:t>[0]</a:t>
                </a:r>
              </a:p>
            </p:txBody>
          </p:sp>
          <p:sp>
            <p:nvSpPr>
              <p:cNvPr id="87064" name="Rectangle 31"/>
              <p:cNvSpPr>
                <a:spLocks noChangeArrowheads="1"/>
              </p:cNvSpPr>
              <p:nvPr/>
            </p:nvSpPr>
            <p:spPr bwMode="auto">
              <a:xfrm>
                <a:off x="2448" y="3504"/>
                <a:ext cx="384" cy="624"/>
              </a:xfrm>
              <a:prstGeom prst="rect">
                <a:avLst/>
              </a:prstGeom>
              <a:solidFill>
                <a:srgbClr val="F1C7C7"/>
              </a:solidFill>
              <a:ln w="12700">
                <a:solidFill>
                  <a:schemeClr val="tx1"/>
                </a:solidFill>
                <a:miter lim="800000"/>
              </a:ln>
            </p:spPr>
            <p:txBody>
              <a:bodyPr wrap="none" anchor="ctr"/>
              <a:lstStyle/>
              <a:p>
                <a:pPr algn="ctr" eaLnBrk="0" hangingPunct="0"/>
                <a:r>
                  <a:rPr lang="en-US" sz="1600">
                    <a:latin typeface="Courier New" panose="02070309020205020404" charset="0"/>
                  </a:rPr>
                  <a:t>A</a:t>
                </a:r>
              </a:p>
              <a:p>
                <a:pPr algn="ctr" eaLnBrk="0" hangingPunct="0"/>
                <a:r>
                  <a:rPr lang="en-US" sz="1600">
                    <a:latin typeface="Courier New" panose="02070309020205020404" charset="0"/>
                  </a:rPr>
                  <a:t>[0]</a:t>
                </a:r>
              </a:p>
              <a:p>
                <a:pPr algn="ctr" eaLnBrk="0" hangingPunct="0"/>
                <a:r>
                  <a:rPr lang="en-US" sz="1600">
                    <a:latin typeface="Courier New" panose="02070309020205020404" charset="0"/>
                  </a:rPr>
                  <a:t>[C-1]</a:t>
                </a:r>
              </a:p>
            </p:txBody>
          </p:sp>
        </p:grpSp>
        <p:sp>
          <p:nvSpPr>
            <p:cNvPr id="87058" name="Line 33"/>
            <p:cNvSpPr>
              <a:spLocks noChangeShapeType="1"/>
            </p:cNvSpPr>
            <p:nvPr/>
          </p:nvSpPr>
          <p:spPr bwMode="auto">
            <a:xfrm>
              <a:off x="336" y="2160"/>
              <a:ext cx="0" cy="144"/>
            </a:xfrm>
            <a:prstGeom prst="line">
              <a:avLst/>
            </a:prstGeom>
            <a:noFill/>
            <a:ln w="25400">
              <a:solidFill>
                <a:schemeClr val="tx1"/>
              </a:solidFill>
              <a:round/>
            </a:ln>
          </p:spPr>
          <p:txBody>
            <a:bodyPr wrap="none" anchor="ctr"/>
            <a:lstStyle/>
            <a:p>
              <a:endParaRPr lang="en-US"/>
            </a:p>
          </p:txBody>
        </p:sp>
        <p:sp>
          <p:nvSpPr>
            <p:cNvPr id="87059" name="Line 34"/>
            <p:cNvSpPr>
              <a:spLocks noChangeShapeType="1"/>
            </p:cNvSpPr>
            <p:nvPr/>
          </p:nvSpPr>
          <p:spPr bwMode="auto">
            <a:xfrm>
              <a:off x="336" y="2208"/>
              <a:ext cx="1344" cy="0"/>
            </a:xfrm>
            <a:prstGeom prst="line">
              <a:avLst/>
            </a:prstGeom>
            <a:noFill/>
            <a:ln w="25400">
              <a:solidFill>
                <a:schemeClr val="tx1"/>
              </a:solidFill>
              <a:round/>
              <a:headEnd type="triangle" w="med" len="med"/>
              <a:tailEnd type="triangle" w="med" len="med"/>
            </a:ln>
          </p:spPr>
          <p:txBody>
            <a:bodyPr wrap="none" anchor="ctr"/>
            <a:lstStyle/>
            <a:p>
              <a:endParaRPr lang="en-US"/>
            </a:p>
          </p:txBody>
        </p:sp>
        <p:sp>
          <p:nvSpPr>
            <p:cNvPr id="87060" name="Rectangle 35"/>
            <p:cNvSpPr>
              <a:spLocks noChangeArrowheads="1"/>
            </p:cNvSpPr>
            <p:nvPr/>
          </p:nvSpPr>
          <p:spPr bwMode="auto">
            <a:xfrm>
              <a:off x="768" y="2064"/>
              <a:ext cx="528" cy="240"/>
            </a:xfrm>
            <a:prstGeom prst="rect">
              <a:avLst/>
            </a:prstGeom>
            <a:solidFill>
              <a:schemeClr val="bg1"/>
            </a:solidFill>
            <a:ln w="25400">
              <a:noFill/>
              <a:miter lim="800000"/>
            </a:ln>
          </p:spPr>
          <p:txBody>
            <a:bodyPr wrap="none" anchor="ctr"/>
            <a:lstStyle/>
            <a:p>
              <a:pPr eaLnBrk="0" hangingPunct="0"/>
              <a:r>
                <a:rPr lang="en-US" sz="1600">
                  <a:latin typeface="Courier New" panose="02070309020205020404" charset="0"/>
                </a:rPr>
                <a:t>A[0]</a:t>
              </a:r>
              <a:endParaRPr lang="en-US" sz="1600" b="0">
                <a:latin typeface="Calibri" panose="020F0502020204030204" charset="0"/>
              </a:endParaRPr>
            </a:p>
          </p:txBody>
        </p:sp>
        <p:sp>
          <p:nvSpPr>
            <p:cNvPr id="87061" name="Line 36"/>
            <p:cNvSpPr>
              <a:spLocks noChangeShapeType="1"/>
            </p:cNvSpPr>
            <p:nvPr/>
          </p:nvSpPr>
          <p:spPr bwMode="auto">
            <a:xfrm>
              <a:off x="1680" y="2160"/>
              <a:ext cx="0" cy="144"/>
            </a:xfrm>
            <a:prstGeom prst="line">
              <a:avLst/>
            </a:prstGeom>
            <a:noFill/>
            <a:ln w="25400">
              <a:solidFill>
                <a:schemeClr val="tx1"/>
              </a:solidFill>
              <a:round/>
            </a:ln>
          </p:spPr>
          <p:txBody>
            <a:bodyPr wrap="none" anchor="ctr"/>
            <a:lstStyle/>
            <a:p>
              <a:endParaRPr lang="en-US"/>
            </a:p>
          </p:txBody>
        </p:sp>
      </p:grpSp>
      <p:sp>
        <p:nvSpPr>
          <p:cNvPr id="87051" name="Text Box 38"/>
          <p:cNvSpPr txBox="1">
            <a:spLocks noChangeArrowheads="1"/>
          </p:cNvSpPr>
          <p:nvPr/>
        </p:nvSpPr>
        <p:spPr bwMode="auto">
          <a:xfrm>
            <a:off x="2944813" y="5216525"/>
            <a:ext cx="1447800" cy="366713"/>
          </a:xfrm>
          <a:prstGeom prst="rect">
            <a:avLst/>
          </a:prstGeom>
          <a:noFill/>
          <a:ln w="25400">
            <a:noFill/>
            <a:miter lim="800000"/>
          </a:ln>
        </p:spPr>
        <p:txBody>
          <a:bodyPr>
            <a:spAutoFit/>
          </a:bodyPr>
          <a:lstStyle/>
          <a:p>
            <a:pPr algn="ctr" eaLnBrk="0" hangingPunct="0"/>
            <a:r>
              <a:rPr lang="en-US" sz="1800">
                <a:latin typeface="Courier New" panose="02070309020205020404" charset="0"/>
              </a:rPr>
              <a:t>A+i*C*4</a:t>
            </a:r>
          </a:p>
        </p:txBody>
      </p:sp>
      <p:sp>
        <p:nvSpPr>
          <p:cNvPr id="87052" name="Text Box 39"/>
          <p:cNvSpPr txBox="1">
            <a:spLocks noChangeArrowheads="1"/>
          </p:cNvSpPr>
          <p:nvPr/>
        </p:nvSpPr>
        <p:spPr bwMode="auto">
          <a:xfrm>
            <a:off x="6324600" y="5216525"/>
            <a:ext cx="1752600" cy="366713"/>
          </a:xfrm>
          <a:prstGeom prst="rect">
            <a:avLst/>
          </a:prstGeom>
          <a:noFill/>
          <a:ln w="25400">
            <a:noFill/>
            <a:miter lim="800000"/>
          </a:ln>
        </p:spPr>
        <p:txBody>
          <a:bodyPr>
            <a:spAutoFit/>
          </a:bodyPr>
          <a:lstStyle/>
          <a:p>
            <a:pPr algn="ctr" eaLnBrk="0" hangingPunct="0"/>
            <a:r>
              <a:rPr lang="en-US" sz="1800">
                <a:latin typeface="Courier New" panose="02070309020205020404" charset="0"/>
              </a:rPr>
              <a:t>A+(R-1)*C*4</a:t>
            </a:r>
          </a:p>
        </p:txBody>
      </p:sp>
      <p:sp>
        <p:nvSpPr>
          <p:cNvPr id="87053" name="Line 40"/>
          <p:cNvSpPr>
            <a:spLocks noChangeShapeType="1"/>
          </p:cNvSpPr>
          <p:nvPr/>
        </p:nvSpPr>
        <p:spPr bwMode="auto">
          <a:xfrm flipV="1">
            <a:off x="6705600" y="4989513"/>
            <a:ext cx="0" cy="228600"/>
          </a:xfrm>
          <a:prstGeom prst="line">
            <a:avLst/>
          </a:prstGeom>
          <a:noFill/>
          <a:ln w="25400">
            <a:solidFill>
              <a:schemeClr val="tx1"/>
            </a:solidFill>
            <a:round/>
            <a:tailEnd type="triangle" w="med" len="sm"/>
          </a:ln>
        </p:spPr>
        <p:txBody>
          <a:bodyPr wrap="none" anchor="ctr"/>
          <a:lstStyle/>
          <a:p>
            <a:endParaRPr lang="en-US"/>
          </a:p>
        </p:txBody>
      </p:sp>
      <p:sp>
        <p:nvSpPr>
          <p:cNvPr id="87054" name="Text Box 15"/>
          <p:cNvSpPr txBox="1">
            <a:spLocks noChangeArrowheads="1"/>
          </p:cNvSpPr>
          <p:nvPr/>
        </p:nvSpPr>
        <p:spPr bwMode="auto">
          <a:xfrm>
            <a:off x="425450" y="2921000"/>
            <a:ext cx="2012950" cy="396875"/>
          </a:xfrm>
          <a:prstGeom prst="rect">
            <a:avLst/>
          </a:prstGeom>
          <a:noFill/>
          <a:ln w="25400">
            <a:noFill/>
            <a:miter lim="800000"/>
          </a:ln>
        </p:spPr>
        <p:txBody>
          <a:bodyPr wrap="none">
            <a:spAutoFit/>
          </a:bodyPr>
          <a:lstStyle/>
          <a:p>
            <a:pPr algn="r" eaLnBrk="0" hangingPunct="0"/>
            <a:r>
              <a:rPr lang="en-US" sz="2000">
                <a:latin typeface="Courier New" panose="02070309020205020404" charset="0"/>
              </a:rPr>
              <a:t>int A[R][C];</a:t>
            </a:r>
          </a:p>
        </p:txBody>
      </p:sp>
      <p:sp>
        <p:nvSpPr>
          <p:cNvPr id="87055" name="Line 27"/>
          <p:cNvSpPr>
            <a:spLocks noChangeShapeType="1"/>
          </p:cNvSpPr>
          <p:nvPr/>
        </p:nvSpPr>
        <p:spPr bwMode="auto">
          <a:xfrm flipV="1">
            <a:off x="4648200" y="4989513"/>
            <a:ext cx="0" cy="674687"/>
          </a:xfrm>
          <a:prstGeom prst="line">
            <a:avLst/>
          </a:prstGeom>
          <a:noFill/>
          <a:ln w="57150">
            <a:solidFill>
              <a:srgbClr val="990000"/>
            </a:solidFill>
            <a:round/>
            <a:tailEnd type="triangle" w="med" len="sm"/>
          </a:ln>
        </p:spPr>
        <p:txBody>
          <a:bodyPr wrap="none" anchor="ctr"/>
          <a:lstStyle/>
          <a:p>
            <a:endParaRPr lang="en-US"/>
          </a:p>
        </p:txBody>
      </p:sp>
      <p:sp>
        <p:nvSpPr>
          <p:cNvPr id="43" name="Text Box 38"/>
          <p:cNvSpPr txBox="1">
            <a:spLocks noChangeArrowheads="1"/>
          </p:cNvSpPr>
          <p:nvPr/>
        </p:nvSpPr>
        <p:spPr bwMode="auto">
          <a:xfrm>
            <a:off x="3370263" y="5751513"/>
            <a:ext cx="2573337" cy="457200"/>
          </a:xfrm>
          <a:prstGeom prst="rect">
            <a:avLst/>
          </a:prstGeom>
          <a:noFill/>
          <a:ln w="25400">
            <a:noFill/>
            <a:miter lim="800000"/>
          </a:ln>
        </p:spPr>
        <p:txBody>
          <a:bodyPr>
            <a:spAutoFit/>
          </a:bodyPr>
          <a:lstStyle/>
          <a:p>
            <a:pPr algn="ctr" eaLnBrk="0" hangingPunct="0"/>
            <a:r>
              <a:rPr lang="en-US" dirty="0" err="1">
                <a:solidFill>
                  <a:srgbClr val="990000"/>
                </a:solidFill>
                <a:latin typeface="Courier New" panose="02070309020205020404" charset="0"/>
              </a:rPr>
              <a:t>A+i</a:t>
            </a:r>
            <a:r>
              <a:rPr lang="en-US" dirty="0">
                <a:solidFill>
                  <a:srgbClr val="990000"/>
                </a:solidFill>
                <a:latin typeface="Courier New" panose="02070309020205020404" charset="0"/>
              </a:rPr>
              <a:t>*C*4+j*4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0276">
                                            <p:txEl>
                                              <p:pRg st="1" end="1"/>
                                            </p:txEl>
                                          </p:spTgt>
                                        </p:tgtEl>
                                        <p:attrNameLst>
                                          <p:attrName>style.visibility</p:attrName>
                                        </p:attrNameLst>
                                      </p:cBhvr>
                                      <p:to>
                                        <p:strVal val="visible"/>
                                      </p:to>
                                    </p:set>
                                    <p:animEffect transition="in" filter="wipe(down)">
                                      <p:cBhvr>
                                        <p:cTn id="7" dur="500"/>
                                        <p:tgtEl>
                                          <p:spTgt spid="310276">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10276">
                                            <p:txEl>
                                              <p:pRg st="2" end="2"/>
                                            </p:txEl>
                                          </p:spTgt>
                                        </p:tgtEl>
                                        <p:attrNameLst>
                                          <p:attrName>style.visibility</p:attrName>
                                        </p:attrNameLst>
                                      </p:cBhvr>
                                      <p:to>
                                        <p:strVal val="visible"/>
                                      </p:to>
                                    </p:set>
                                    <p:animEffect transition="in" filter="wipe(down)">
                                      <p:cBhvr>
                                        <p:cTn id="10" dur="500"/>
                                        <p:tgtEl>
                                          <p:spTgt spid="310276">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anim calcmode="lin" valueType="num">
                                      <p:cBhvr additive="base">
                                        <p:cTn id="15" dur="500" fill="hold"/>
                                        <p:tgtEl>
                                          <p:spTgt spid="42"/>
                                        </p:tgtEl>
                                        <p:attrNameLst>
                                          <p:attrName>ppt_x</p:attrName>
                                        </p:attrNameLst>
                                      </p:cBhvr>
                                      <p:tavLst>
                                        <p:tav tm="0">
                                          <p:val>
                                            <p:strVal val="#ppt_x"/>
                                          </p:val>
                                        </p:tav>
                                        <p:tav tm="100000">
                                          <p:val>
                                            <p:strVal val="#ppt_x"/>
                                          </p:val>
                                        </p:tav>
                                      </p:tavLst>
                                    </p:anim>
                                    <p:anim calcmode="lin" valueType="num">
                                      <p:cBhvr additive="base">
                                        <p:cTn id="16" dur="500" fill="hold"/>
                                        <p:tgtEl>
                                          <p:spTgt spid="42"/>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7041"/>
                                        </p:tgtEl>
                                        <p:attrNameLst>
                                          <p:attrName>style.visibility</p:attrName>
                                        </p:attrNameLst>
                                      </p:cBhvr>
                                      <p:to>
                                        <p:strVal val="visible"/>
                                      </p:to>
                                    </p:set>
                                    <p:anim calcmode="lin" valueType="num">
                                      <p:cBhvr additive="base">
                                        <p:cTn id="19" dur="500" fill="hold"/>
                                        <p:tgtEl>
                                          <p:spTgt spid="87041"/>
                                        </p:tgtEl>
                                        <p:attrNameLst>
                                          <p:attrName>ppt_x</p:attrName>
                                        </p:attrNameLst>
                                      </p:cBhvr>
                                      <p:tavLst>
                                        <p:tav tm="0">
                                          <p:val>
                                            <p:strVal val="#ppt_x"/>
                                          </p:val>
                                        </p:tav>
                                        <p:tav tm="100000">
                                          <p:val>
                                            <p:strVal val="#ppt_x"/>
                                          </p:val>
                                        </p:tav>
                                      </p:tavLst>
                                    </p:anim>
                                    <p:anim calcmode="lin" valueType="num">
                                      <p:cBhvr additive="base">
                                        <p:cTn id="20" dur="500" fill="hold"/>
                                        <p:tgtEl>
                                          <p:spTgt spid="87041"/>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7044"/>
                                        </p:tgtEl>
                                        <p:attrNameLst>
                                          <p:attrName>style.visibility</p:attrName>
                                        </p:attrNameLst>
                                      </p:cBhvr>
                                      <p:to>
                                        <p:strVal val="visible"/>
                                      </p:to>
                                    </p:set>
                                    <p:anim calcmode="lin" valueType="num">
                                      <p:cBhvr additive="base">
                                        <p:cTn id="23" dur="500" fill="hold"/>
                                        <p:tgtEl>
                                          <p:spTgt spid="87044"/>
                                        </p:tgtEl>
                                        <p:attrNameLst>
                                          <p:attrName>ppt_x</p:attrName>
                                        </p:attrNameLst>
                                      </p:cBhvr>
                                      <p:tavLst>
                                        <p:tav tm="0">
                                          <p:val>
                                            <p:strVal val="#ppt_x"/>
                                          </p:val>
                                        </p:tav>
                                        <p:tav tm="100000">
                                          <p:val>
                                            <p:strVal val="#ppt_x"/>
                                          </p:val>
                                        </p:tav>
                                      </p:tavLst>
                                    </p:anim>
                                    <p:anim calcmode="lin" valueType="num">
                                      <p:cBhvr additive="base">
                                        <p:cTn id="24" dur="500" fill="hold"/>
                                        <p:tgtEl>
                                          <p:spTgt spid="87044"/>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7045"/>
                                        </p:tgtEl>
                                        <p:attrNameLst>
                                          <p:attrName>style.visibility</p:attrName>
                                        </p:attrNameLst>
                                      </p:cBhvr>
                                      <p:to>
                                        <p:strVal val="visible"/>
                                      </p:to>
                                    </p:set>
                                    <p:anim calcmode="lin" valueType="num">
                                      <p:cBhvr additive="base">
                                        <p:cTn id="27" dur="500" fill="hold"/>
                                        <p:tgtEl>
                                          <p:spTgt spid="87045"/>
                                        </p:tgtEl>
                                        <p:attrNameLst>
                                          <p:attrName>ppt_x</p:attrName>
                                        </p:attrNameLst>
                                      </p:cBhvr>
                                      <p:tavLst>
                                        <p:tav tm="0">
                                          <p:val>
                                            <p:strVal val="#ppt_x"/>
                                          </p:val>
                                        </p:tav>
                                        <p:tav tm="100000">
                                          <p:val>
                                            <p:strVal val="#ppt_x"/>
                                          </p:val>
                                        </p:tav>
                                      </p:tavLst>
                                    </p:anim>
                                    <p:anim calcmode="lin" valueType="num">
                                      <p:cBhvr additive="base">
                                        <p:cTn id="28" dur="500" fill="hold"/>
                                        <p:tgtEl>
                                          <p:spTgt spid="8704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87046"/>
                                        </p:tgtEl>
                                        <p:attrNameLst>
                                          <p:attrName>style.visibility</p:attrName>
                                        </p:attrNameLst>
                                      </p:cBhvr>
                                      <p:to>
                                        <p:strVal val="visible"/>
                                      </p:to>
                                    </p:set>
                                    <p:anim calcmode="lin" valueType="num">
                                      <p:cBhvr additive="base">
                                        <p:cTn id="31" dur="500" fill="hold"/>
                                        <p:tgtEl>
                                          <p:spTgt spid="87046"/>
                                        </p:tgtEl>
                                        <p:attrNameLst>
                                          <p:attrName>ppt_x</p:attrName>
                                        </p:attrNameLst>
                                      </p:cBhvr>
                                      <p:tavLst>
                                        <p:tav tm="0">
                                          <p:val>
                                            <p:strVal val="#ppt_x"/>
                                          </p:val>
                                        </p:tav>
                                        <p:tav tm="100000">
                                          <p:val>
                                            <p:strVal val="#ppt_x"/>
                                          </p:val>
                                        </p:tav>
                                      </p:tavLst>
                                    </p:anim>
                                    <p:anim calcmode="lin" valueType="num">
                                      <p:cBhvr additive="base">
                                        <p:cTn id="32" dur="500" fill="hold"/>
                                        <p:tgtEl>
                                          <p:spTgt spid="87046"/>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87047"/>
                                        </p:tgtEl>
                                        <p:attrNameLst>
                                          <p:attrName>style.visibility</p:attrName>
                                        </p:attrNameLst>
                                      </p:cBhvr>
                                      <p:to>
                                        <p:strVal val="visible"/>
                                      </p:to>
                                    </p:set>
                                    <p:anim calcmode="lin" valueType="num">
                                      <p:cBhvr additive="base">
                                        <p:cTn id="35" dur="500" fill="hold"/>
                                        <p:tgtEl>
                                          <p:spTgt spid="87047"/>
                                        </p:tgtEl>
                                        <p:attrNameLst>
                                          <p:attrName>ppt_x</p:attrName>
                                        </p:attrNameLst>
                                      </p:cBhvr>
                                      <p:tavLst>
                                        <p:tav tm="0">
                                          <p:val>
                                            <p:strVal val="#ppt_x"/>
                                          </p:val>
                                        </p:tav>
                                        <p:tav tm="100000">
                                          <p:val>
                                            <p:strVal val="#ppt_x"/>
                                          </p:val>
                                        </p:tav>
                                      </p:tavLst>
                                    </p:anim>
                                    <p:anim calcmode="lin" valueType="num">
                                      <p:cBhvr additive="base">
                                        <p:cTn id="36" dur="500" fill="hold"/>
                                        <p:tgtEl>
                                          <p:spTgt spid="87047"/>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87048"/>
                                        </p:tgtEl>
                                        <p:attrNameLst>
                                          <p:attrName>style.visibility</p:attrName>
                                        </p:attrNameLst>
                                      </p:cBhvr>
                                      <p:to>
                                        <p:strVal val="visible"/>
                                      </p:to>
                                    </p:set>
                                    <p:anim calcmode="lin" valueType="num">
                                      <p:cBhvr additive="base">
                                        <p:cTn id="39" dur="500" fill="hold"/>
                                        <p:tgtEl>
                                          <p:spTgt spid="87048"/>
                                        </p:tgtEl>
                                        <p:attrNameLst>
                                          <p:attrName>ppt_x</p:attrName>
                                        </p:attrNameLst>
                                      </p:cBhvr>
                                      <p:tavLst>
                                        <p:tav tm="0">
                                          <p:val>
                                            <p:strVal val="#ppt_x"/>
                                          </p:val>
                                        </p:tav>
                                        <p:tav tm="100000">
                                          <p:val>
                                            <p:strVal val="#ppt_x"/>
                                          </p:val>
                                        </p:tav>
                                      </p:tavLst>
                                    </p:anim>
                                    <p:anim calcmode="lin" valueType="num">
                                      <p:cBhvr additive="base">
                                        <p:cTn id="40" dur="500" fill="hold"/>
                                        <p:tgtEl>
                                          <p:spTgt spid="87048"/>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87049"/>
                                        </p:tgtEl>
                                        <p:attrNameLst>
                                          <p:attrName>style.visibility</p:attrName>
                                        </p:attrNameLst>
                                      </p:cBhvr>
                                      <p:to>
                                        <p:strVal val="visible"/>
                                      </p:to>
                                    </p:set>
                                    <p:anim calcmode="lin" valueType="num">
                                      <p:cBhvr additive="base">
                                        <p:cTn id="43" dur="500" fill="hold"/>
                                        <p:tgtEl>
                                          <p:spTgt spid="87049"/>
                                        </p:tgtEl>
                                        <p:attrNameLst>
                                          <p:attrName>ppt_x</p:attrName>
                                        </p:attrNameLst>
                                      </p:cBhvr>
                                      <p:tavLst>
                                        <p:tav tm="0">
                                          <p:val>
                                            <p:strVal val="#ppt_x"/>
                                          </p:val>
                                        </p:tav>
                                        <p:tav tm="100000">
                                          <p:val>
                                            <p:strVal val="#ppt_x"/>
                                          </p:val>
                                        </p:tav>
                                      </p:tavLst>
                                    </p:anim>
                                    <p:anim calcmode="lin" valueType="num">
                                      <p:cBhvr additive="base">
                                        <p:cTn id="44" dur="500" fill="hold"/>
                                        <p:tgtEl>
                                          <p:spTgt spid="87049"/>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87050"/>
                                        </p:tgtEl>
                                        <p:attrNameLst>
                                          <p:attrName>style.visibility</p:attrName>
                                        </p:attrNameLst>
                                      </p:cBhvr>
                                      <p:to>
                                        <p:strVal val="visible"/>
                                      </p:to>
                                    </p:set>
                                    <p:anim calcmode="lin" valueType="num">
                                      <p:cBhvr additive="base">
                                        <p:cTn id="47" dur="500" fill="hold"/>
                                        <p:tgtEl>
                                          <p:spTgt spid="87050"/>
                                        </p:tgtEl>
                                        <p:attrNameLst>
                                          <p:attrName>ppt_x</p:attrName>
                                        </p:attrNameLst>
                                      </p:cBhvr>
                                      <p:tavLst>
                                        <p:tav tm="0">
                                          <p:val>
                                            <p:strVal val="#ppt_x"/>
                                          </p:val>
                                        </p:tav>
                                        <p:tav tm="100000">
                                          <p:val>
                                            <p:strVal val="#ppt_x"/>
                                          </p:val>
                                        </p:tav>
                                      </p:tavLst>
                                    </p:anim>
                                    <p:anim calcmode="lin" valueType="num">
                                      <p:cBhvr additive="base">
                                        <p:cTn id="48" dur="500" fill="hold"/>
                                        <p:tgtEl>
                                          <p:spTgt spid="87050"/>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87051"/>
                                        </p:tgtEl>
                                        <p:attrNameLst>
                                          <p:attrName>style.visibility</p:attrName>
                                        </p:attrNameLst>
                                      </p:cBhvr>
                                      <p:to>
                                        <p:strVal val="visible"/>
                                      </p:to>
                                    </p:set>
                                    <p:anim calcmode="lin" valueType="num">
                                      <p:cBhvr additive="base">
                                        <p:cTn id="51" dur="500" fill="hold"/>
                                        <p:tgtEl>
                                          <p:spTgt spid="87051"/>
                                        </p:tgtEl>
                                        <p:attrNameLst>
                                          <p:attrName>ppt_x</p:attrName>
                                        </p:attrNameLst>
                                      </p:cBhvr>
                                      <p:tavLst>
                                        <p:tav tm="0">
                                          <p:val>
                                            <p:strVal val="#ppt_x"/>
                                          </p:val>
                                        </p:tav>
                                        <p:tav tm="100000">
                                          <p:val>
                                            <p:strVal val="#ppt_x"/>
                                          </p:val>
                                        </p:tav>
                                      </p:tavLst>
                                    </p:anim>
                                    <p:anim calcmode="lin" valueType="num">
                                      <p:cBhvr additive="base">
                                        <p:cTn id="52" dur="500" fill="hold"/>
                                        <p:tgtEl>
                                          <p:spTgt spid="87051"/>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87052"/>
                                        </p:tgtEl>
                                        <p:attrNameLst>
                                          <p:attrName>style.visibility</p:attrName>
                                        </p:attrNameLst>
                                      </p:cBhvr>
                                      <p:to>
                                        <p:strVal val="visible"/>
                                      </p:to>
                                    </p:set>
                                    <p:anim calcmode="lin" valueType="num">
                                      <p:cBhvr additive="base">
                                        <p:cTn id="55" dur="500" fill="hold"/>
                                        <p:tgtEl>
                                          <p:spTgt spid="87052"/>
                                        </p:tgtEl>
                                        <p:attrNameLst>
                                          <p:attrName>ppt_x</p:attrName>
                                        </p:attrNameLst>
                                      </p:cBhvr>
                                      <p:tavLst>
                                        <p:tav tm="0">
                                          <p:val>
                                            <p:strVal val="#ppt_x"/>
                                          </p:val>
                                        </p:tav>
                                        <p:tav tm="100000">
                                          <p:val>
                                            <p:strVal val="#ppt_x"/>
                                          </p:val>
                                        </p:tav>
                                      </p:tavLst>
                                    </p:anim>
                                    <p:anim calcmode="lin" valueType="num">
                                      <p:cBhvr additive="base">
                                        <p:cTn id="56" dur="500" fill="hold"/>
                                        <p:tgtEl>
                                          <p:spTgt spid="87052"/>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87053"/>
                                        </p:tgtEl>
                                        <p:attrNameLst>
                                          <p:attrName>style.visibility</p:attrName>
                                        </p:attrNameLst>
                                      </p:cBhvr>
                                      <p:to>
                                        <p:strVal val="visible"/>
                                      </p:to>
                                    </p:set>
                                    <p:anim calcmode="lin" valueType="num">
                                      <p:cBhvr additive="base">
                                        <p:cTn id="59" dur="500" fill="hold"/>
                                        <p:tgtEl>
                                          <p:spTgt spid="87053"/>
                                        </p:tgtEl>
                                        <p:attrNameLst>
                                          <p:attrName>ppt_x</p:attrName>
                                        </p:attrNameLst>
                                      </p:cBhvr>
                                      <p:tavLst>
                                        <p:tav tm="0">
                                          <p:val>
                                            <p:strVal val="#ppt_x"/>
                                          </p:val>
                                        </p:tav>
                                        <p:tav tm="100000">
                                          <p:val>
                                            <p:strVal val="#ppt_x"/>
                                          </p:val>
                                        </p:tav>
                                      </p:tavLst>
                                    </p:anim>
                                    <p:anim calcmode="lin" valueType="num">
                                      <p:cBhvr additive="base">
                                        <p:cTn id="60" dur="500" fill="hold"/>
                                        <p:tgtEl>
                                          <p:spTgt spid="87053"/>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87054"/>
                                        </p:tgtEl>
                                        <p:attrNameLst>
                                          <p:attrName>style.visibility</p:attrName>
                                        </p:attrNameLst>
                                      </p:cBhvr>
                                      <p:to>
                                        <p:strVal val="visible"/>
                                      </p:to>
                                    </p:set>
                                    <p:anim calcmode="lin" valueType="num">
                                      <p:cBhvr additive="base">
                                        <p:cTn id="63" dur="500" fill="hold"/>
                                        <p:tgtEl>
                                          <p:spTgt spid="87054"/>
                                        </p:tgtEl>
                                        <p:attrNameLst>
                                          <p:attrName>ppt_x</p:attrName>
                                        </p:attrNameLst>
                                      </p:cBhvr>
                                      <p:tavLst>
                                        <p:tav tm="0">
                                          <p:val>
                                            <p:strVal val="#ppt_x"/>
                                          </p:val>
                                        </p:tav>
                                        <p:tav tm="100000">
                                          <p:val>
                                            <p:strVal val="#ppt_x"/>
                                          </p:val>
                                        </p:tav>
                                      </p:tavLst>
                                    </p:anim>
                                    <p:anim calcmode="lin" valueType="num">
                                      <p:cBhvr additive="base">
                                        <p:cTn id="64" dur="500" fill="hold"/>
                                        <p:tgtEl>
                                          <p:spTgt spid="87054"/>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87055"/>
                                        </p:tgtEl>
                                        <p:attrNameLst>
                                          <p:attrName>style.visibility</p:attrName>
                                        </p:attrNameLst>
                                      </p:cBhvr>
                                      <p:to>
                                        <p:strVal val="visible"/>
                                      </p:to>
                                    </p:set>
                                    <p:anim calcmode="lin" valueType="num">
                                      <p:cBhvr additive="base">
                                        <p:cTn id="67" dur="500" fill="hold"/>
                                        <p:tgtEl>
                                          <p:spTgt spid="87055"/>
                                        </p:tgtEl>
                                        <p:attrNameLst>
                                          <p:attrName>ppt_x</p:attrName>
                                        </p:attrNameLst>
                                      </p:cBhvr>
                                      <p:tavLst>
                                        <p:tav tm="0">
                                          <p:val>
                                            <p:strVal val="#ppt_x"/>
                                          </p:val>
                                        </p:tav>
                                        <p:tav tm="100000">
                                          <p:val>
                                            <p:strVal val="#ppt_x"/>
                                          </p:val>
                                        </p:tav>
                                      </p:tavLst>
                                    </p:anim>
                                    <p:anim calcmode="lin" valueType="num">
                                      <p:cBhvr additive="base">
                                        <p:cTn id="68" dur="500" fill="hold"/>
                                        <p:tgtEl>
                                          <p:spTgt spid="87055"/>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anim calcmode="lin" valueType="num">
                                      <p:cBhvr additive="base">
                                        <p:cTn id="71" dur="500" fill="hold"/>
                                        <p:tgtEl>
                                          <p:spTgt spid="43"/>
                                        </p:tgtEl>
                                        <p:attrNameLst>
                                          <p:attrName>ppt_x</p:attrName>
                                        </p:attrNameLst>
                                      </p:cBhvr>
                                      <p:tavLst>
                                        <p:tav tm="0">
                                          <p:val>
                                            <p:strVal val="#ppt_x"/>
                                          </p:val>
                                        </p:tav>
                                        <p:tav tm="100000">
                                          <p:val>
                                            <p:strVal val="#ppt_x"/>
                                          </p:val>
                                        </p:tav>
                                      </p:tavLst>
                                    </p:anim>
                                    <p:anim calcmode="lin" valueType="num">
                                      <p:cBhvr additive="base">
                                        <p:cTn id="72"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87041" grpId="0" animBg="1"/>
      <p:bldP spid="87046" grpId="0" animBg="1"/>
      <p:bldP spid="87047" grpId="0"/>
      <p:bldP spid="87051" grpId="0"/>
      <p:bldP spid="87052" grpId="0"/>
      <p:bldP spid="87054" grpId="0"/>
      <p:bldP spid="43" grpId="0"/>
    </p:bld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4392295"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嵌套数组</a:t>
            </a:r>
            <a:r>
              <a:rPr lang="zh-CN" sz="2800"/>
              <a:t>元素</a:t>
            </a:r>
            <a:r>
              <a:rPr sz="2800"/>
              <a:t>访问</a:t>
            </a:r>
            <a:r>
              <a:rPr lang="zh-CN" sz="2800"/>
              <a:t>代码</a:t>
            </a:r>
          </a:p>
        </p:txBody>
      </p:sp>
      <p:sp>
        <p:nvSpPr>
          <p:cNvPr id="89091" name="Rectangle 4"/>
          <p:cNvSpPr>
            <a:spLocks noChangeArrowheads="1"/>
          </p:cNvSpPr>
          <p:nvPr/>
        </p:nvSpPr>
        <p:spPr bwMode="auto">
          <a:xfrm>
            <a:off x="533400" y="1241425"/>
            <a:ext cx="3733800" cy="1474788"/>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get_pgh_digit</a:t>
            </a:r>
            <a:endParaRPr lang="en-US" sz="1800" dirty="0">
              <a:latin typeface="Courier New" panose="02070309020205020404" charset="0"/>
            </a:endParaRP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index, </a:t>
            </a:r>
            <a:r>
              <a:rPr lang="en-US" sz="1800" dirty="0" err="1">
                <a:latin typeface="Courier New" panose="02070309020205020404" charset="0"/>
              </a:rPr>
              <a:t>int</a:t>
            </a:r>
            <a:r>
              <a:rPr lang="en-US" sz="1800" dirty="0">
                <a:latin typeface="Courier New" panose="02070309020205020404" charset="0"/>
              </a:rPr>
              <a:t> dig)</a:t>
            </a:r>
          </a:p>
          <a:p>
            <a:pPr eaLnBrk="0" hangingPunct="0"/>
            <a:r>
              <a:rPr lang="en-US" sz="1800" dirty="0">
                <a:latin typeface="Courier New" panose="02070309020205020404" charset="0"/>
              </a:rPr>
              <a:t>{</a:t>
            </a:r>
          </a:p>
          <a:p>
            <a:pPr eaLnBrk="0" hangingPunct="0"/>
            <a:r>
              <a:rPr lang="en-US" sz="1800" dirty="0">
                <a:latin typeface="Courier New" panose="02070309020205020404" charset="0"/>
              </a:rPr>
              <a:t>  return </a:t>
            </a:r>
            <a:r>
              <a:rPr lang="en-US" sz="1800" dirty="0" err="1">
                <a:latin typeface="Courier New" panose="02070309020205020404" charset="0"/>
              </a:rPr>
              <a:t>pgh</a:t>
            </a:r>
            <a:r>
              <a:rPr lang="en-US" sz="1800" dirty="0">
                <a:latin typeface="Courier New" panose="02070309020205020404" charset="0"/>
              </a:rPr>
              <a:t>[index][dig];</a:t>
            </a:r>
          </a:p>
          <a:p>
            <a:pPr eaLnBrk="0" hangingPunct="0"/>
            <a:r>
              <a:rPr lang="en-US" sz="1800" dirty="0">
                <a:latin typeface="Courier New" panose="02070309020205020404" charset="0"/>
              </a:rPr>
              <a:t>}</a:t>
            </a:r>
          </a:p>
        </p:txBody>
      </p:sp>
      <p:sp>
        <p:nvSpPr>
          <p:cNvPr id="313349" name="Rectangle 5"/>
          <p:cNvSpPr>
            <a:spLocks noChangeArrowheads="1"/>
          </p:cNvSpPr>
          <p:nvPr/>
        </p:nvSpPr>
        <p:spPr bwMode="auto">
          <a:xfrm>
            <a:off x="533400" y="2792413"/>
            <a:ext cx="8001000" cy="1197764"/>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114300" algn="l"/>
                <a:tab pos="968375" algn="l"/>
                <a:tab pos="40005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8(%</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index</a:t>
            </a:r>
          </a:p>
          <a:p>
            <a:pPr eaLnBrk="0" hangingPunct="0">
              <a:tabLst>
                <a:tab pos="114300" algn="l"/>
                <a:tab pos="968375" algn="l"/>
                <a:tab pos="40005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leal</a:t>
            </a:r>
            <a:r>
              <a:rPr lang="en-US" sz="1800" dirty="0">
                <a:latin typeface="Courier New" panose="02070309020205020404" charset="0"/>
                <a:ea typeface="+mn-ea"/>
                <a:cs typeface="+mn-cs"/>
              </a:rPr>
              <a:t>	(%eax,%eax,4),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5*index</a:t>
            </a:r>
          </a:p>
          <a:p>
            <a:pPr eaLnBrk="0" hangingPunct="0">
              <a:tabLst>
                <a:tab pos="114300" algn="l"/>
                <a:tab pos="968375" algn="l"/>
                <a:tab pos="40005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addl</a:t>
            </a:r>
            <a:r>
              <a:rPr lang="en-US" sz="1800" dirty="0">
                <a:latin typeface="Courier New" panose="02070309020205020404" charset="0"/>
                <a:ea typeface="+mn-ea"/>
                <a:cs typeface="+mn-cs"/>
              </a:rPr>
              <a:t>	12(%</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5*</a:t>
            </a:r>
            <a:r>
              <a:rPr lang="en-US" sz="1800" dirty="0" err="1">
                <a:latin typeface="Courier New" panose="02070309020205020404" charset="0"/>
                <a:ea typeface="+mn-ea"/>
                <a:cs typeface="+mn-cs"/>
              </a:rPr>
              <a:t>index+dig</a:t>
            </a:r>
            <a:endParaRPr lang="en-US" sz="1800" dirty="0">
              <a:latin typeface="Courier New" panose="02070309020205020404" charset="0"/>
              <a:ea typeface="+mn-ea"/>
              <a:cs typeface="+mn-cs"/>
            </a:endParaRPr>
          </a:p>
          <a:p>
            <a:pPr eaLnBrk="0" hangingPunct="0">
              <a:tabLst>
                <a:tab pos="114300" algn="l"/>
                <a:tab pos="968375" algn="l"/>
                <a:tab pos="40005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pgh</a:t>
            </a:r>
            <a:r>
              <a:rPr lang="en-US" sz="1800" dirty="0">
                <a:latin typeface="Courier New" panose="02070309020205020404" charset="0"/>
                <a:ea typeface="+mn-ea"/>
                <a:cs typeface="+mn-cs"/>
              </a:rPr>
              <a:t>(,%eax,4),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offset 4*(5*</a:t>
            </a:r>
            <a:r>
              <a:rPr lang="en-US" sz="1800" dirty="0" err="1">
                <a:latin typeface="Courier New" panose="02070309020205020404" charset="0"/>
                <a:ea typeface="+mn-ea"/>
                <a:cs typeface="+mn-cs"/>
              </a:rPr>
              <a:t>index+dig</a:t>
            </a:r>
            <a:r>
              <a:rPr lang="en-US" sz="1800" dirty="0">
                <a:latin typeface="Courier New" panose="02070309020205020404" charset="0"/>
                <a:ea typeface="+mn-ea"/>
                <a:cs typeface="+mn-cs"/>
              </a:rPr>
              <a:t>)</a:t>
            </a:r>
          </a:p>
        </p:txBody>
      </p:sp>
      <p:sp>
        <p:nvSpPr>
          <p:cNvPr id="313347" name="Rectangle 3"/>
          <p:cNvSpPr>
            <a:spLocks noGrp="1" noChangeArrowheads="1"/>
          </p:cNvSpPr>
          <p:nvPr/>
        </p:nvSpPr>
        <p:spPr>
          <a:xfrm>
            <a:off x="457200" y="4152900"/>
            <a:ext cx="8320088" cy="246697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zh-CN" altLang="en-US" dirty="0">
                <a:latin typeface="Calibri" panose="020F0502020204030204" charset="0"/>
                <a:ea typeface="宋体" panose="02010600030101010101" pitchFamily="2" charset="-122"/>
              </a:rPr>
              <a:t>数组元素</a:t>
            </a:r>
            <a:r>
              <a:rPr lang="en-US" dirty="0">
                <a:latin typeface="Calibri" panose="020F0502020204030204" charset="0"/>
              </a:rPr>
              <a:t> </a:t>
            </a:r>
            <a:endParaRPr lang="en-US" dirty="0">
              <a:latin typeface="Courier New" panose="02070309020205020404" charset="0"/>
            </a:endParaRPr>
          </a:p>
          <a:p>
            <a:pPr lvl="1">
              <a:buClr>
                <a:srgbClr val="0D0D0D"/>
              </a:buClr>
            </a:pPr>
            <a:r>
              <a:rPr lang="en-US" b="1" dirty="0">
                <a:latin typeface="Calibri" panose="020F0502020204030204" charset="0"/>
              </a:rPr>
              <a:t> </a:t>
            </a:r>
            <a:r>
              <a:rPr lang="en-US" b="1" dirty="0" err="1">
                <a:latin typeface="Courier New" panose="02070309020205020404" charset="0"/>
              </a:rPr>
              <a:t>pgh</a:t>
            </a:r>
            <a:r>
              <a:rPr lang="en-US" b="1" dirty="0">
                <a:latin typeface="Courier New" panose="02070309020205020404" charset="0"/>
              </a:rPr>
              <a:t>[index][dig]</a:t>
            </a:r>
            <a:r>
              <a:rPr lang="en-US" b="1" dirty="0">
                <a:latin typeface="Calibri" panose="020F0502020204030204" charset="0"/>
              </a:rPr>
              <a:t> </a:t>
            </a:r>
            <a:r>
              <a:rPr lang="zh-CN" altLang="en-US" b="1" dirty="0">
                <a:latin typeface="Calibri" panose="020F0502020204030204" charset="0"/>
                <a:ea typeface="宋体" panose="02010600030101010101" pitchFamily="2" charset="-122"/>
              </a:rPr>
              <a:t>是</a:t>
            </a:r>
            <a:r>
              <a:rPr lang="en-US" b="1" dirty="0">
                <a:latin typeface="Calibri" panose="020F0502020204030204" charset="0"/>
              </a:rPr>
              <a:t> </a:t>
            </a:r>
            <a:r>
              <a:rPr lang="en-US" b="1" dirty="0" err="1">
                <a:latin typeface="Courier New" panose="02070309020205020404" charset="0"/>
              </a:rPr>
              <a:t>int</a:t>
            </a:r>
            <a:r>
              <a:rPr lang="zh-CN" altLang="en-US" b="1" dirty="0" err="1">
                <a:latin typeface="Courier New" panose="02070309020205020404" charset="0"/>
                <a:ea typeface="宋体" panose="02010600030101010101" pitchFamily="2" charset="-122"/>
              </a:rPr>
              <a:t>型</a:t>
            </a:r>
          </a:p>
          <a:p>
            <a:pPr lvl="1">
              <a:buClr>
                <a:srgbClr val="0D0D0D"/>
              </a:buClr>
            </a:pPr>
            <a:r>
              <a:rPr lang="zh-CN" altLang="en-US" dirty="0">
                <a:latin typeface="Calibri" panose="020F0502020204030204" charset="0"/>
                <a:ea typeface="宋体" panose="02010600030101010101" pitchFamily="2" charset="-122"/>
              </a:rPr>
              <a:t>地址</a:t>
            </a:r>
            <a:r>
              <a:rPr lang="en-US" dirty="0">
                <a:latin typeface="Calibri" panose="020F0502020204030204" charset="0"/>
              </a:rPr>
              <a:t>: </a:t>
            </a:r>
            <a:r>
              <a:rPr lang="en-US" b="1" dirty="0" err="1">
                <a:latin typeface="Courier New" panose="02070309020205020404" charset="0"/>
              </a:rPr>
              <a:t>pgh</a:t>
            </a:r>
            <a:r>
              <a:rPr lang="en-US" b="1" dirty="0">
                <a:latin typeface="Courier New" panose="02070309020205020404" charset="0"/>
              </a:rPr>
              <a:t> + 20*index + 4*dig</a:t>
            </a:r>
          </a:p>
          <a:p>
            <a:pPr lvl="2"/>
            <a:r>
              <a:rPr lang="en-US" dirty="0"/>
              <a:t>=   </a:t>
            </a:r>
            <a:r>
              <a:rPr lang="en-US" b="1" dirty="0" err="1">
                <a:latin typeface="Courier New" panose="02070309020205020404" charset="0"/>
              </a:rPr>
              <a:t>pgh</a:t>
            </a:r>
            <a:r>
              <a:rPr lang="en-US" b="1" dirty="0">
                <a:latin typeface="Courier New" panose="02070309020205020404" charset="0"/>
              </a:rPr>
              <a:t> + 4*(5*index + dig)</a:t>
            </a:r>
          </a:p>
          <a:p>
            <a:pPr>
              <a:buClr>
                <a:srgbClr val="0D0D0D"/>
              </a:buClr>
            </a:pPr>
            <a:r>
              <a:rPr lang="en-US" dirty="0">
                <a:latin typeface="Calibri" panose="020F0502020204030204" charset="0"/>
              </a:rPr>
              <a:t>IA32 </a:t>
            </a:r>
            <a:r>
              <a:rPr lang="zh-CN" altLang="en-US" dirty="0">
                <a:latin typeface="Calibri" panose="020F0502020204030204" charset="0"/>
                <a:ea typeface="宋体" panose="02010600030101010101" pitchFamily="2" charset="-122"/>
              </a:rPr>
              <a:t>代码</a:t>
            </a:r>
          </a:p>
          <a:p>
            <a:pPr lvl="1">
              <a:buClr>
                <a:srgbClr val="0D0D0D"/>
              </a:buClr>
            </a:pPr>
            <a:r>
              <a:rPr lang="zh-CN" altLang="en-US" dirty="0">
                <a:latin typeface="Calibri" panose="020F0502020204030204" charset="0"/>
                <a:ea typeface="宋体" panose="02010600030101010101" pitchFamily="2" charset="-122"/>
              </a:rPr>
              <a:t>计算地址</a:t>
            </a:r>
            <a:r>
              <a:rPr lang="en-US" dirty="0">
                <a:latin typeface="Calibri" panose="020F0502020204030204" charset="0"/>
              </a:rPr>
              <a:t> </a:t>
            </a:r>
            <a:r>
              <a:rPr lang="en-US" b="1" dirty="0" err="1">
                <a:latin typeface="Courier New" panose="02070309020205020404" charset="0"/>
              </a:rPr>
              <a:t>pgh</a:t>
            </a:r>
            <a:r>
              <a:rPr lang="en-US" b="1" dirty="0">
                <a:latin typeface="Courier New" panose="02070309020205020404" charset="0"/>
              </a:rPr>
              <a:t> + 4*((index+4*index)+dig)</a:t>
            </a:r>
            <a:endParaRPr lang="en-US" b="1" dirty="0">
              <a:latin typeface="Calibri" panose="020F0502020204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3347">
                                            <p:txEl>
                                              <p:pRg st="0" end="0"/>
                                            </p:txEl>
                                          </p:spTgt>
                                        </p:tgtEl>
                                        <p:attrNameLst>
                                          <p:attrName>style.visibility</p:attrName>
                                        </p:attrNameLst>
                                      </p:cBhvr>
                                      <p:to>
                                        <p:strVal val="visible"/>
                                      </p:to>
                                    </p:set>
                                    <p:animEffect transition="in" filter="wipe(down)">
                                      <p:cBhvr>
                                        <p:cTn id="7" dur="500"/>
                                        <p:tgtEl>
                                          <p:spTgt spid="31334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3347">
                                            <p:txEl>
                                              <p:pRg st="1" end="1"/>
                                            </p:txEl>
                                          </p:spTgt>
                                        </p:tgtEl>
                                        <p:attrNameLst>
                                          <p:attrName>style.visibility</p:attrName>
                                        </p:attrNameLst>
                                      </p:cBhvr>
                                      <p:to>
                                        <p:strVal val="visible"/>
                                      </p:to>
                                    </p:set>
                                    <p:animEffect transition="in" filter="wipe(down)">
                                      <p:cBhvr>
                                        <p:cTn id="12" dur="500"/>
                                        <p:tgtEl>
                                          <p:spTgt spid="313347">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13347">
                                            <p:txEl>
                                              <p:pRg st="2" end="2"/>
                                            </p:txEl>
                                          </p:spTgt>
                                        </p:tgtEl>
                                        <p:attrNameLst>
                                          <p:attrName>style.visibility</p:attrName>
                                        </p:attrNameLst>
                                      </p:cBhvr>
                                      <p:to>
                                        <p:strVal val="visible"/>
                                      </p:to>
                                    </p:set>
                                    <p:animEffect transition="in" filter="wipe(down)">
                                      <p:cBhvr>
                                        <p:cTn id="15" dur="500"/>
                                        <p:tgtEl>
                                          <p:spTgt spid="313347">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13347">
                                            <p:txEl>
                                              <p:pRg st="3" end="3"/>
                                            </p:txEl>
                                          </p:spTgt>
                                        </p:tgtEl>
                                        <p:attrNameLst>
                                          <p:attrName>style.visibility</p:attrName>
                                        </p:attrNameLst>
                                      </p:cBhvr>
                                      <p:to>
                                        <p:strVal val="visible"/>
                                      </p:to>
                                    </p:set>
                                    <p:animEffect transition="in" filter="wipe(down)">
                                      <p:cBhvr>
                                        <p:cTn id="20" dur="500"/>
                                        <p:tgtEl>
                                          <p:spTgt spid="313347">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13347">
                                            <p:txEl>
                                              <p:pRg st="4" end="4"/>
                                            </p:txEl>
                                          </p:spTgt>
                                        </p:tgtEl>
                                        <p:attrNameLst>
                                          <p:attrName>style.visibility</p:attrName>
                                        </p:attrNameLst>
                                      </p:cBhvr>
                                      <p:to>
                                        <p:strVal val="visible"/>
                                      </p:to>
                                    </p:set>
                                    <p:animEffect transition="in" filter="wipe(down)">
                                      <p:cBhvr>
                                        <p:cTn id="25" dur="500"/>
                                        <p:tgtEl>
                                          <p:spTgt spid="313347">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13347">
                                            <p:txEl>
                                              <p:pRg st="5" end="5"/>
                                            </p:txEl>
                                          </p:spTgt>
                                        </p:tgtEl>
                                        <p:attrNameLst>
                                          <p:attrName>style.visibility</p:attrName>
                                        </p:attrNameLst>
                                      </p:cBhvr>
                                      <p:to>
                                        <p:strVal val="visible"/>
                                      </p:to>
                                    </p:set>
                                    <p:animEffect transition="in" filter="wipe(down)">
                                      <p:cBhvr>
                                        <p:cTn id="30" dur="500"/>
                                        <p:tgtEl>
                                          <p:spTgt spid="3133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3721100"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多级数组示例</a:t>
            </a:r>
          </a:p>
        </p:txBody>
      </p:sp>
      <p:sp>
        <p:nvSpPr>
          <p:cNvPr id="95235" name="Rectangle 4"/>
          <p:cNvSpPr>
            <a:spLocks noChangeArrowheads="1"/>
          </p:cNvSpPr>
          <p:nvPr/>
        </p:nvSpPr>
        <p:spPr bwMode="auto">
          <a:xfrm>
            <a:off x="228600" y="1371600"/>
            <a:ext cx="5257800" cy="925513"/>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zip_dig cmu = { 1, 5, 2, 1, 3 };</a:t>
            </a:r>
          </a:p>
          <a:p>
            <a:pPr eaLnBrk="0" hangingPunct="0"/>
            <a:r>
              <a:rPr lang="en-US" sz="1800">
                <a:latin typeface="Courier New" panose="02070309020205020404" charset="0"/>
              </a:rPr>
              <a:t>zip_dig mit = { 0, 2, 1, 3, 9 };</a:t>
            </a:r>
          </a:p>
          <a:p>
            <a:pPr eaLnBrk="0" hangingPunct="0"/>
            <a:r>
              <a:rPr lang="en-US" sz="1800">
                <a:latin typeface="Courier New" panose="02070309020205020404" charset="0"/>
              </a:rPr>
              <a:t>zip_dig ucb = { 9, 4, 7, 2, 0 };</a:t>
            </a:r>
          </a:p>
        </p:txBody>
      </p:sp>
      <p:sp>
        <p:nvSpPr>
          <p:cNvPr id="95236" name="Rectangle 5"/>
          <p:cNvSpPr>
            <a:spLocks noChangeArrowheads="1"/>
          </p:cNvSpPr>
          <p:nvPr/>
        </p:nvSpPr>
        <p:spPr bwMode="auto">
          <a:xfrm>
            <a:off x="228600" y="2438400"/>
            <a:ext cx="5257800" cy="65087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#define UCOUNT 3</a:t>
            </a:r>
          </a:p>
          <a:p>
            <a:pPr eaLnBrk="0" hangingPunct="0"/>
            <a:r>
              <a:rPr lang="en-US" sz="1800">
                <a:latin typeface="Courier New" panose="02070309020205020404" charset="0"/>
              </a:rPr>
              <a:t>int *univ[UCOUNT] = {mit, cmu, ucb};</a:t>
            </a:r>
          </a:p>
        </p:txBody>
      </p:sp>
      <p:sp>
        <p:nvSpPr>
          <p:cNvPr id="315395" name="Rectangle 3"/>
          <p:cNvSpPr>
            <a:spLocks noGrp="1" noChangeArrowheads="1"/>
          </p:cNvSpPr>
          <p:nvPr/>
        </p:nvSpPr>
        <p:spPr>
          <a:xfrm>
            <a:off x="5638800" y="1265238"/>
            <a:ext cx="3505200" cy="22860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sz="2000">
                <a:latin typeface="微软雅黑" panose="020B0503020204020204" charset="-122"/>
                <a:ea typeface="微软雅黑" panose="020B0503020204020204" charset="-122"/>
              </a:rPr>
              <a:t>表示3个元素数组</a:t>
            </a:r>
          </a:p>
          <a:p>
            <a:pPr>
              <a:buClr>
                <a:srgbClr val="0D0D0D"/>
              </a:buClr>
            </a:pPr>
            <a:r>
              <a:rPr lang="en-US" sz="2000">
                <a:latin typeface="微软雅黑" panose="020B0503020204020204" charset="-122"/>
                <a:ea typeface="微软雅黑" panose="020B0503020204020204" charset="-122"/>
              </a:rPr>
              <a:t>每个元素都是指针</a:t>
            </a:r>
          </a:p>
          <a:p>
            <a:pPr lvl="1">
              <a:buClr>
                <a:srgbClr val="0D0D0D"/>
              </a:buClr>
            </a:pPr>
            <a:r>
              <a:rPr lang="en-US">
                <a:latin typeface="微软雅黑" panose="020B0503020204020204" charset="-122"/>
                <a:ea typeface="微软雅黑" panose="020B0503020204020204" charset="-122"/>
              </a:rPr>
              <a:t>4 </a:t>
            </a:r>
            <a:r>
              <a:rPr lang="zh-CN" altLang="en-US">
                <a:latin typeface="微软雅黑" panose="020B0503020204020204" charset="-122"/>
                <a:ea typeface="微软雅黑" panose="020B0503020204020204" charset="-122"/>
              </a:rPr>
              <a:t>字节</a:t>
            </a:r>
          </a:p>
          <a:p>
            <a:pPr>
              <a:buClr>
                <a:srgbClr val="0D0D0D"/>
              </a:buClr>
            </a:pPr>
            <a:r>
              <a:rPr lang="en-US" sz="2000">
                <a:latin typeface="微软雅黑" panose="020B0503020204020204" charset="-122"/>
                <a:ea typeface="微软雅黑" panose="020B0503020204020204" charset="-122"/>
              </a:rPr>
              <a:t>每个指针指向</a:t>
            </a:r>
            <a:r>
              <a:rPr lang="zh-CN" altLang="en-US" sz="2000">
                <a:latin typeface="微软雅黑" panose="020B0503020204020204" charset="-122"/>
                <a:ea typeface="微软雅黑" panose="020B0503020204020204" charset="-122"/>
              </a:rPr>
              <a:t>一个</a:t>
            </a:r>
            <a:r>
              <a:rPr lang="en-US" sz="2000">
                <a:latin typeface="微软雅黑" panose="020B0503020204020204" charset="-122"/>
                <a:ea typeface="微软雅黑" panose="020B0503020204020204" charset="-122"/>
              </a:rPr>
              <a:t>int数组 </a:t>
            </a:r>
          </a:p>
        </p:txBody>
      </p:sp>
      <p:grpSp>
        <p:nvGrpSpPr>
          <p:cNvPr id="5" name="Group 7"/>
          <p:cNvGrpSpPr/>
          <p:nvPr/>
        </p:nvGrpSpPr>
        <p:grpSpPr bwMode="auto">
          <a:xfrm>
            <a:off x="379413" y="4191000"/>
            <a:ext cx="1982787" cy="1527175"/>
            <a:chOff x="191" y="2112"/>
            <a:chExt cx="1249" cy="962"/>
          </a:xfrm>
        </p:grpSpPr>
        <p:sp>
          <p:nvSpPr>
            <p:cNvPr id="95301" name="Rectangle 8"/>
            <p:cNvSpPr>
              <a:spLocks noChangeArrowheads="1"/>
            </p:cNvSpPr>
            <p:nvPr/>
          </p:nvSpPr>
          <p:spPr bwMode="auto">
            <a:xfrm>
              <a:off x="864" y="2352"/>
              <a:ext cx="576" cy="240"/>
            </a:xfrm>
            <a:prstGeom prst="rect">
              <a:avLst/>
            </a:prstGeom>
            <a:solidFill>
              <a:srgbClr val="F1C7C7"/>
            </a:solidFill>
            <a:ln w="25400">
              <a:solidFill>
                <a:schemeClr val="tx1"/>
              </a:solidFill>
              <a:miter lim="800000"/>
            </a:ln>
          </p:spPr>
          <p:txBody>
            <a:bodyPr wrap="none" anchor="ctr"/>
            <a:lstStyle/>
            <a:p>
              <a:pPr eaLnBrk="0" hangingPunct="0"/>
              <a:r>
                <a:rPr lang="en-US" sz="1800">
                  <a:latin typeface="Courier New" panose="02070309020205020404" charset="0"/>
                </a:rPr>
                <a:t>36</a:t>
              </a:r>
            </a:p>
          </p:txBody>
        </p:sp>
        <p:sp>
          <p:nvSpPr>
            <p:cNvPr id="95302" name="Line 9"/>
            <p:cNvSpPr>
              <a:spLocks noChangeShapeType="1"/>
            </p:cNvSpPr>
            <p:nvPr/>
          </p:nvSpPr>
          <p:spPr bwMode="auto">
            <a:xfrm flipV="1">
              <a:off x="576" y="2485"/>
              <a:ext cx="288" cy="0"/>
            </a:xfrm>
            <a:prstGeom prst="line">
              <a:avLst/>
            </a:prstGeom>
            <a:noFill/>
            <a:ln w="25400">
              <a:solidFill>
                <a:schemeClr val="tx1"/>
              </a:solidFill>
              <a:round/>
              <a:tailEnd type="triangle" w="med" len="sm"/>
            </a:ln>
          </p:spPr>
          <p:txBody>
            <a:bodyPr wrap="none" anchor="ctr"/>
            <a:lstStyle/>
            <a:p>
              <a:endParaRPr lang="en-US"/>
            </a:p>
          </p:txBody>
        </p:sp>
        <p:sp>
          <p:nvSpPr>
            <p:cNvPr id="95303" name="Text Box 10"/>
            <p:cNvSpPr txBox="1">
              <a:spLocks noChangeArrowheads="1"/>
            </p:cNvSpPr>
            <p:nvPr/>
          </p:nvSpPr>
          <p:spPr bwMode="auto">
            <a:xfrm>
              <a:off x="201" y="2363"/>
              <a:ext cx="375" cy="231"/>
            </a:xfrm>
            <a:prstGeom prst="rect">
              <a:avLst/>
            </a:prstGeom>
            <a:noFill/>
            <a:ln w="25400">
              <a:noFill/>
              <a:miter lim="800000"/>
            </a:ln>
          </p:spPr>
          <p:txBody>
            <a:bodyPr wrap="none">
              <a:spAutoFit/>
            </a:bodyPr>
            <a:lstStyle/>
            <a:p>
              <a:pPr algn="r" eaLnBrk="0" hangingPunct="0"/>
              <a:r>
                <a:rPr lang="en-US" sz="1800">
                  <a:latin typeface="Courier New" panose="02070309020205020404" charset="0"/>
                </a:rPr>
                <a:t>160</a:t>
              </a:r>
            </a:p>
          </p:txBody>
        </p:sp>
        <p:sp>
          <p:nvSpPr>
            <p:cNvPr id="95304" name="Rectangle 11"/>
            <p:cNvSpPr>
              <a:spLocks noChangeArrowheads="1"/>
            </p:cNvSpPr>
            <p:nvPr/>
          </p:nvSpPr>
          <p:spPr bwMode="auto">
            <a:xfrm>
              <a:off x="864" y="2592"/>
              <a:ext cx="576" cy="240"/>
            </a:xfrm>
            <a:prstGeom prst="rect">
              <a:avLst/>
            </a:prstGeom>
            <a:solidFill>
              <a:srgbClr val="F1C7C7"/>
            </a:solidFill>
            <a:ln w="25400">
              <a:solidFill>
                <a:schemeClr val="tx1"/>
              </a:solidFill>
              <a:miter lim="800000"/>
            </a:ln>
          </p:spPr>
          <p:txBody>
            <a:bodyPr wrap="none" anchor="ctr"/>
            <a:lstStyle/>
            <a:p>
              <a:pPr eaLnBrk="0" hangingPunct="0"/>
              <a:r>
                <a:rPr lang="en-US" sz="1800">
                  <a:latin typeface="Courier New" panose="02070309020205020404" charset="0"/>
                </a:rPr>
                <a:t>16</a:t>
              </a:r>
            </a:p>
          </p:txBody>
        </p:sp>
        <p:sp>
          <p:nvSpPr>
            <p:cNvPr id="95305" name="Rectangle 12"/>
            <p:cNvSpPr>
              <a:spLocks noChangeArrowheads="1"/>
            </p:cNvSpPr>
            <p:nvPr/>
          </p:nvSpPr>
          <p:spPr bwMode="auto">
            <a:xfrm>
              <a:off x="864" y="2832"/>
              <a:ext cx="576" cy="240"/>
            </a:xfrm>
            <a:prstGeom prst="rect">
              <a:avLst/>
            </a:prstGeom>
            <a:solidFill>
              <a:srgbClr val="F1C7C7"/>
            </a:solidFill>
            <a:ln w="25400">
              <a:solidFill>
                <a:schemeClr val="tx1"/>
              </a:solidFill>
              <a:miter lim="800000"/>
            </a:ln>
          </p:spPr>
          <p:txBody>
            <a:bodyPr wrap="none" anchor="ctr"/>
            <a:lstStyle/>
            <a:p>
              <a:pPr eaLnBrk="0" hangingPunct="0"/>
              <a:r>
                <a:rPr lang="en-US" sz="1800">
                  <a:latin typeface="Courier New" panose="02070309020205020404" charset="0"/>
                </a:rPr>
                <a:t>56</a:t>
              </a:r>
            </a:p>
          </p:txBody>
        </p:sp>
        <p:sp>
          <p:nvSpPr>
            <p:cNvPr id="95306" name="Line 13"/>
            <p:cNvSpPr>
              <a:spLocks noChangeShapeType="1"/>
            </p:cNvSpPr>
            <p:nvPr/>
          </p:nvSpPr>
          <p:spPr bwMode="auto">
            <a:xfrm flipV="1">
              <a:off x="576" y="2725"/>
              <a:ext cx="288" cy="0"/>
            </a:xfrm>
            <a:prstGeom prst="line">
              <a:avLst/>
            </a:prstGeom>
            <a:noFill/>
            <a:ln w="25400">
              <a:solidFill>
                <a:schemeClr val="tx1"/>
              </a:solidFill>
              <a:round/>
              <a:tailEnd type="triangle" w="med" len="sm"/>
            </a:ln>
          </p:spPr>
          <p:txBody>
            <a:bodyPr wrap="none" anchor="ctr"/>
            <a:lstStyle/>
            <a:p>
              <a:endParaRPr lang="en-US"/>
            </a:p>
          </p:txBody>
        </p:sp>
        <p:sp>
          <p:nvSpPr>
            <p:cNvPr id="95307" name="Line 14"/>
            <p:cNvSpPr>
              <a:spLocks noChangeShapeType="1"/>
            </p:cNvSpPr>
            <p:nvPr/>
          </p:nvSpPr>
          <p:spPr bwMode="auto">
            <a:xfrm flipV="1">
              <a:off x="576" y="2965"/>
              <a:ext cx="288" cy="0"/>
            </a:xfrm>
            <a:prstGeom prst="line">
              <a:avLst/>
            </a:prstGeom>
            <a:noFill/>
            <a:ln w="25400">
              <a:solidFill>
                <a:schemeClr val="tx1"/>
              </a:solidFill>
              <a:round/>
              <a:tailEnd type="triangle" w="med" len="sm"/>
            </a:ln>
          </p:spPr>
          <p:txBody>
            <a:bodyPr wrap="none" anchor="ctr"/>
            <a:lstStyle/>
            <a:p>
              <a:endParaRPr lang="en-US"/>
            </a:p>
          </p:txBody>
        </p:sp>
        <p:sp>
          <p:nvSpPr>
            <p:cNvPr id="95308" name="Text Box 15"/>
            <p:cNvSpPr txBox="1">
              <a:spLocks noChangeArrowheads="1"/>
            </p:cNvSpPr>
            <p:nvPr/>
          </p:nvSpPr>
          <p:spPr bwMode="auto">
            <a:xfrm>
              <a:off x="191" y="2612"/>
              <a:ext cx="375" cy="231"/>
            </a:xfrm>
            <a:prstGeom prst="rect">
              <a:avLst/>
            </a:prstGeom>
            <a:noFill/>
            <a:ln w="25400">
              <a:noFill/>
              <a:miter lim="800000"/>
            </a:ln>
          </p:spPr>
          <p:txBody>
            <a:bodyPr wrap="none">
              <a:spAutoFit/>
            </a:bodyPr>
            <a:lstStyle/>
            <a:p>
              <a:pPr algn="r" eaLnBrk="0" hangingPunct="0"/>
              <a:r>
                <a:rPr lang="en-US" sz="1800">
                  <a:latin typeface="Courier New" panose="02070309020205020404" charset="0"/>
                </a:rPr>
                <a:t>164</a:t>
              </a:r>
            </a:p>
          </p:txBody>
        </p:sp>
        <p:sp>
          <p:nvSpPr>
            <p:cNvPr id="95309" name="Text Box 16"/>
            <p:cNvSpPr txBox="1">
              <a:spLocks noChangeArrowheads="1"/>
            </p:cNvSpPr>
            <p:nvPr/>
          </p:nvSpPr>
          <p:spPr bwMode="auto">
            <a:xfrm>
              <a:off x="191" y="2843"/>
              <a:ext cx="375" cy="231"/>
            </a:xfrm>
            <a:prstGeom prst="rect">
              <a:avLst/>
            </a:prstGeom>
            <a:noFill/>
            <a:ln w="25400">
              <a:noFill/>
              <a:miter lim="800000"/>
            </a:ln>
          </p:spPr>
          <p:txBody>
            <a:bodyPr wrap="none">
              <a:spAutoFit/>
            </a:bodyPr>
            <a:lstStyle/>
            <a:p>
              <a:pPr algn="r" eaLnBrk="0" hangingPunct="0"/>
              <a:r>
                <a:rPr lang="en-US" sz="1800">
                  <a:latin typeface="Courier New" panose="02070309020205020404" charset="0"/>
                </a:rPr>
                <a:t>168</a:t>
              </a:r>
            </a:p>
          </p:txBody>
        </p:sp>
        <p:sp>
          <p:nvSpPr>
            <p:cNvPr id="95310" name="Text Box 17"/>
            <p:cNvSpPr txBox="1">
              <a:spLocks noChangeArrowheads="1"/>
            </p:cNvSpPr>
            <p:nvPr/>
          </p:nvSpPr>
          <p:spPr bwMode="auto">
            <a:xfrm>
              <a:off x="864" y="2112"/>
              <a:ext cx="462" cy="231"/>
            </a:xfrm>
            <a:prstGeom prst="rect">
              <a:avLst/>
            </a:prstGeom>
            <a:noFill/>
            <a:ln w="25400">
              <a:noFill/>
              <a:miter lim="800000"/>
            </a:ln>
          </p:spPr>
          <p:txBody>
            <a:bodyPr wrap="none">
              <a:spAutoFit/>
            </a:bodyPr>
            <a:lstStyle/>
            <a:p>
              <a:pPr algn="r" eaLnBrk="0" hangingPunct="0"/>
              <a:r>
                <a:rPr lang="en-US" sz="1800">
                  <a:latin typeface="Courier New" panose="02070309020205020404" charset="0"/>
                </a:rPr>
                <a:t>univ</a:t>
              </a:r>
            </a:p>
          </p:txBody>
        </p:sp>
        <p:sp>
          <p:nvSpPr>
            <p:cNvPr id="95311" name="Oval 18"/>
            <p:cNvSpPr>
              <a:spLocks noChangeArrowheads="1"/>
            </p:cNvSpPr>
            <p:nvPr/>
          </p:nvSpPr>
          <p:spPr bwMode="auto">
            <a:xfrm>
              <a:off x="1200" y="2448"/>
              <a:ext cx="96" cy="96"/>
            </a:xfrm>
            <a:prstGeom prst="ellipse">
              <a:avLst/>
            </a:prstGeom>
            <a:solidFill>
              <a:schemeClr val="tx1"/>
            </a:solid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95312" name="Oval 19"/>
            <p:cNvSpPr>
              <a:spLocks noChangeArrowheads="1"/>
            </p:cNvSpPr>
            <p:nvPr/>
          </p:nvSpPr>
          <p:spPr bwMode="auto">
            <a:xfrm>
              <a:off x="1200" y="2688"/>
              <a:ext cx="96" cy="96"/>
            </a:xfrm>
            <a:prstGeom prst="ellipse">
              <a:avLst/>
            </a:prstGeom>
            <a:solidFill>
              <a:schemeClr val="tx1"/>
            </a:solid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95313" name="Oval 20"/>
            <p:cNvSpPr>
              <a:spLocks noChangeArrowheads="1"/>
            </p:cNvSpPr>
            <p:nvPr/>
          </p:nvSpPr>
          <p:spPr bwMode="auto">
            <a:xfrm>
              <a:off x="1200" y="2928"/>
              <a:ext cx="96" cy="96"/>
            </a:xfrm>
            <a:prstGeom prst="ellipse">
              <a:avLst/>
            </a:prstGeom>
            <a:solidFill>
              <a:schemeClr val="tx1"/>
            </a:solidFill>
            <a:ln w="25400">
              <a:solidFill>
                <a:schemeClr val="tx1"/>
              </a:solidFill>
              <a:round/>
            </a:ln>
          </p:spPr>
          <p:txBody>
            <a:bodyPr wrap="none" anchor="ctr"/>
            <a:lstStyle/>
            <a:p>
              <a:pPr eaLnBrk="0" hangingPunct="0"/>
              <a:endParaRPr lang="en-US" sz="1800">
                <a:latin typeface="Calibri" panose="020F0502020204030204" charset="0"/>
              </a:endParaRPr>
            </a:p>
          </p:txBody>
        </p:sp>
      </p:grpSp>
      <p:sp>
        <p:nvSpPr>
          <p:cNvPr id="315413" name="Text Box 21"/>
          <p:cNvSpPr txBox="1">
            <a:spLocks noChangeArrowheads="1"/>
          </p:cNvSpPr>
          <p:nvPr/>
        </p:nvSpPr>
        <p:spPr bwMode="auto">
          <a:xfrm>
            <a:off x="3122613" y="3733800"/>
            <a:ext cx="595312" cy="366713"/>
          </a:xfrm>
          <a:prstGeom prst="rect">
            <a:avLst/>
          </a:prstGeom>
          <a:noFill/>
          <a:ln w="25400">
            <a:noFill/>
            <a:miter lim="800000"/>
          </a:ln>
        </p:spPr>
        <p:txBody>
          <a:bodyPr wrap="none">
            <a:spAutoFit/>
          </a:bodyPr>
          <a:lstStyle/>
          <a:p>
            <a:pPr algn="r" eaLnBrk="0" hangingPunct="0"/>
            <a:r>
              <a:rPr lang="en-US" sz="1800">
                <a:latin typeface="Courier New" panose="02070309020205020404" charset="0"/>
              </a:rPr>
              <a:t>cmu</a:t>
            </a:r>
          </a:p>
        </p:txBody>
      </p:sp>
      <p:sp>
        <p:nvSpPr>
          <p:cNvPr id="315433" name="Text Box 41"/>
          <p:cNvSpPr txBox="1">
            <a:spLocks noChangeArrowheads="1"/>
          </p:cNvSpPr>
          <p:nvPr/>
        </p:nvSpPr>
        <p:spPr bwMode="auto">
          <a:xfrm>
            <a:off x="3198813" y="4572000"/>
            <a:ext cx="595312" cy="366713"/>
          </a:xfrm>
          <a:prstGeom prst="rect">
            <a:avLst/>
          </a:prstGeom>
          <a:noFill/>
          <a:ln w="25400">
            <a:noFill/>
            <a:miter lim="800000"/>
          </a:ln>
        </p:spPr>
        <p:txBody>
          <a:bodyPr wrap="none">
            <a:spAutoFit/>
          </a:bodyPr>
          <a:lstStyle/>
          <a:p>
            <a:pPr algn="r" eaLnBrk="0" hangingPunct="0"/>
            <a:r>
              <a:rPr lang="en-US" sz="1800">
                <a:latin typeface="Courier New" panose="02070309020205020404" charset="0"/>
              </a:rPr>
              <a:t>mit</a:t>
            </a:r>
          </a:p>
        </p:txBody>
      </p:sp>
      <p:sp>
        <p:nvSpPr>
          <p:cNvPr id="315453" name="Text Box 61"/>
          <p:cNvSpPr txBox="1">
            <a:spLocks noChangeArrowheads="1"/>
          </p:cNvSpPr>
          <p:nvPr/>
        </p:nvSpPr>
        <p:spPr bwMode="auto">
          <a:xfrm>
            <a:off x="3122613" y="5272088"/>
            <a:ext cx="595312" cy="366712"/>
          </a:xfrm>
          <a:prstGeom prst="rect">
            <a:avLst/>
          </a:prstGeom>
          <a:noFill/>
          <a:ln w="25400">
            <a:noFill/>
            <a:miter lim="800000"/>
          </a:ln>
        </p:spPr>
        <p:txBody>
          <a:bodyPr wrap="none">
            <a:spAutoFit/>
          </a:bodyPr>
          <a:lstStyle/>
          <a:p>
            <a:pPr algn="r" eaLnBrk="0" hangingPunct="0"/>
            <a:r>
              <a:rPr lang="en-US" sz="1800">
                <a:latin typeface="Courier New" panose="02070309020205020404" charset="0"/>
              </a:rPr>
              <a:t>ucb</a:t>
            </a:r>
          </a:p>
        </p:txBody>
      </p:sp>
      <p:grpSp>
        <p:nvGrpSpPr>
          <p:cNvPr id="84" name="Group 24"/>
          <p:cNvGrpSpPr/>
          <p:nvPr/>
        </p:nvGrpSpPr>
        <p:grpSpPr bwMode="auto">
          <a:xfrm>
            <a:off x="3554413" y="4006850"/>
            <a:ext cx="5435600" cy="750888"/>
            <a:chOff x="2412765" y="3429000"/>
            <a:chExt cx="5435835" cy="771209"/>
          </a:xfrm>
        </p:grpSpPr>
        <p:grpSp>
          <p:nvGrpSpPr>
            <p:cNvPr id="95283" name="Group 25"/>
            <p:cNvGrpSpPr/>
            <p:nvPr/>
          </p:nvGrpSpPr>
          <p:grpSpPr bwMode="auto">
            <a:xfrm>
              <a:off x="2743200" y="3429000"/>
              <a:ext cx="4572000" cy="228600"/>
              <a:chOff x="1008" y="1968"/>
              <a:chExt cx="2880" cy="144"/>
            </a:xfrm>
          </p:grpSpPr>
          <p:sp>
            <p:nvSpPr>
              <p:cNvPr id="98"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99"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5</a:t>
                </a:r>
              </a:p>
            </p:txBody>
          </p:sp>
          <p:sp>
            <p:nvSpPr>
              <p:cNvPr id="100"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2</a:t>
                </a:r>
              </a:p>
            </p:txBody>
          </p:sp>
          <p:sp>
            <p:nvSpPr>
              <p:cNvPr id="101"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102"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3</a:t>
                </a:r>
              </a:p>
            </p:txBody>
          </p:sp>
        </p:grpSp>
        <p:sp>
          <p:nvSpPr>
            <p:cNvPr id="95284" name="Text Box 32"/>
            <p:cNvSpPr txBox="1">
              <a:spLocks noChangeArrowheads="1"/>
            </p:cNvSpPr>
            <p:nvPr/>
          </p:nvSpPr>
          <p:spPr bwMode="auto">
            <a:xfrm>
              <a:off x="2412765" y="3810528"/>
              <a:ext cx="668366"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16</a:t>
              </a:r>
            </a:p>
          </p:txBody>
        </p:sp>
        <p:sp>
          <p:nvSpPr>
            <p:cNvPr id="95285" name="Text Box 33"/>
            <p:cNvSpPr txBox="1">
              <a:spLocks noChangeArrowheads="1"/>
            </p:cNvSpPr>
            <p:nvPr/>
          </p:nvSpPr>
          <p:spPr bwMode="auto">
            <a:xfrm>
              <a:off x="3182736"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20</a:t>
              </a:r>
            </a:p>
          </p:txBody>
        </p:sp>
        <p:sp>
          <p:nvSpPr>
            <p:cNvPr id="95286"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95287"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88" name="Text Box 36"/>
            <p:cNvSpPr txBox="1">
              <a:spLocks noChangeArrowheads="1"/>
            </p:cNvSpPr>
            <p:nvPr/>
          </p:nvSpPr>
          <p:spPr bwMode="auto">
            <a:xfrm>
              <a:off x="4097175"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24</a:t>
              </a:r>
            </a:p>
          </p:txBody>
        </p:sp>
        <p:sp>
          <p:nvSpPr>
            <p:cNvPr id="95289"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90" name="Text Box 38"/>
            <p:cNvSpPr txBox="1">
              <a:spLocks noChangeArrowheads="1"/>
            </p:cNvSpPr>
            <p:nvPr/>
          </p:nvSpPr>
          <p:spPr bwMode="auto">
            <a:xfrm>
              <a:off x="5029078"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28</a:t>
              </a:r>
            </a:p>
          </p:txBody>
        </p:sp>
        <p:sp>
          <p:nvSpPr>
            <p:cNvPr id="95291"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92" name="Text Box 40"/>
            <p:cNvSpPr txBox="1">
              <a:spLocks noChangeArrowheads="1"/>
            </p:cNvSpPr>
            <p:nvPr/>
          </p:nvSpPr>
          <p:spPr bwMode="auto">
            <a:xfrm>
              <a:off x="5943518" y="3823572"/>
              <a:ext cx="990642"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32</a:t>
              </a:r>
            </a:p>
          </p:txBody>
        </p:sp>
        <p:sp>
          <p:nvSpPr>
            <p:cNvPr id="95293"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94" name="Text Box 42"/>
            <p:cNvSpPr txBox="1">
              <a:spLocks noChangeArrowheads="1"/>
            </p:cNvSpPr>
            <p:nvPr/>
          </p:nvSpPr>
          <p:spPr bwMode="auto">
            <a:xfrm>
              <a:off x="6857957"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36</a:t>
              </a:r>
            </a:p>
          </p:txBody>
        </p:sp>
        <p:sp>
          <p:nvSpPr>
            <p:cNvPr id="95295"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grpSp>
        <p:nvGrpSpPr>
          <p:cNvPr id="103" name="Group 24"/>
          <p:cNvGrpSpPr/>
          <p:nvPr/>
        </p:nvGrpSpPr>
        <p:grpSpPr bwMode="auto">
          <a:xfrm>
            <a:off x="3556000" y="4808538"/>
            <a:ext cx="5435600" cy="750887"/>
            <a:chOff x="2412765" y="3429000"/>
            <a:chExt cx="5435835" cy="771209"/>
          </a:xfrm>
        </p:grpSpPr>
        <p:grpSp>
          <p:nvGrpSpPr>
            <p:cNvPr id="95265" name="Group 25"/>
            <p:cNvGrpSpPr/>
            <p:nvPr/>
          </p:nvGrpSpPr>
          <p:grpSpPr bwMode="auto">
            <a:xfrm>
              <a:off x="2743200" y="3429000"/>
              <a:ext cx="4572000" cy="228600"/>
              <a:chOff x="1008" y="1968"/>
              <a:chExt cx="2880" cy="144"/>
            </a:xfrm>
          </p:grpSpPr>
          <p:sp>
            <p:nvSpPr>
              <p:cNvPr id="117"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0</a:t>
                </a:r>
              </a:p>
            </p:txBody>
          </p:sp>
          <p:sp>
            <p:nvSpPr>
              <p:cNvPr id="118"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2</a:t>
                </a:r>
              </a:p>
            </p:txBody>
          </p:sp>
          <p:sp>
            <p:nvSpPr>
              <p:cNvPr id="119"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1</a:t>
                </a:r>
              </a:p>
            </p:txBody>
          </p:sp>
          <p:sp>
            <p:nvSpPr>
              <p:cNvPr id="120"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3</a:t>
                </a:r>
              </a:p>
            </p:txBody>
          </p:sp>
          <p:sp>
            <p:nvSpPr>
              <p:cNvPr id="121"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9</a:t>
                </a:r>
              </a:p>
            </p:txBody>
          </p:sp>
        </p:grpSp>
        <p:sp>
          <p:nvSpPr>
            <p:cNvPr id="95266" name="Text Box 32"/>
            <p:cNvSpPr txBox="1">
              <a:spLocks noChangeArrowheads="1"/>
            </p:cNvSpPr>
            <p:nvPr/>
          </p:nvSpPr>
          <p:spPr bwMode="auto">
            <a:xfrm>
              <a:off x="2412765" y="3810528"/>
              <a:ext cx="668366"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36</a:t>
              </a:r>
            </a:p>
          </p:txBody>
        </p:sp>
        <p:sp>
          <p:nvSpPr>
            <p:cNvPr id="95267" name="Text Box 33"/>
            <p:cNvSpPr txBox="1">
              <a:spLocks noChangeArrowheads="1"/>
            </p:cNvSpPr>
            <p:nvPr/>
          </p:nvSpPr>
          <p:spPr bwMode="auto">
            <a:xfrm>
              <a:off x="3182736"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40</a:t>
              </a:r>
            </a:p>
          </p:txBody>
        </p:sp>
        <p:sp>
          <p:nvSpPr>
            <p:cNvPr id="95268"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95269"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70" name="Text Box 36"/>
            <p:cNvSpPr txBox="1">
              <a:spLocks noChangeArrowheads="1"/>
            </p:cNvSpPr>
            <p:nvPr/>
          </p:nvSpPr>
          <p:spPr bwMode="auto">
            <a:xfrm>
              <a:off x="4097175"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44</a:t>
              </a:r>
            </a:p>
          </p:txBody>
        </p:sp>
        <p:sp>
          <p:nvSpPr>
            <p:cNvPr id="95271"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72" name="Text Box 38"/>
            <p:cNvSpPr txBox="1">
              <a:spLocks noChangeArrowheads="1"/>
            </p:cNvSpPr>
            <p:nvPr/>
          </p:nvSpPr>
          <p:spPr bwMode="auto">
            <a:xfrm>
              <a:off x="5029078"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48</a:t>
              </a:r>
            </a:p>
          </p:txBody>
        </p:sp>
        <p:sp>
          <p:nvSpPr>
            <p:cNvPr id="95273"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74" name="Text Box 40"/>
            <p:cNvSpPr txBox="1">
              <a:spLocks noChangeArrowheads="1"/>
            </p:cNvSpPr>
            <p:nvPr/>
          </p:nvSpPr>
          <p:spPr bwMode="auto">
            <a:xfrm>
              <a:off x="5943518" y="3823572"/>
              <a:ext cx="990642"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52</a:t>
              </a:r>
            </a:p>
          </p:txBody>
        </p:sp>
        <p:sp>
          <p:nvSpPr>
            <p:cNvPr id="95275"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76" name="Text Box 42"/>
            <p:cNvSpPr txBox="1">
              <a:spLocks noChangeArrowheads="1"/>
            </p:cNvSpPr>
            <p:nvPr/>
          </p:nvSpPr>
          <p:spPr bwMode="auto">
            <a:xfrm>
              <a:off x="6857957"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56</a:t>
              </a:r>
            </a:p>
          </p:txBody>
        </p:sp>
        <p:sp>
          <p:nvSpPr>
            <p:cNvPr id="95277"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grpSp>
        <p:nvGrpSpPr>
          <p:cNvPr id="122" name="Group 24"/>
          <p:cNvGrpSpPr/>
          <p:nvPr/>
        </p:nvGrpSpPr>
        <p:grpSpPr bwMode="auto">
          <a:xfrm>
            <a:off x="3554413" y="5646738"/>
            <a:ext cx="5435600" cy="750887"/>
            <a:chOff x="2412765" y="3429000"/>
            <a:chExt cx="5435835" cy="771209"/>
          </a:xfrm>
        </p:grpSpPr>
        <p:grpSp>
          <p:nvGrpSpPr>
            <p:cNvPr id="95247" name="Group 25"/>
            <p:cNvGrpSpPr/>
            <p:nvPr/>
          </p:nvGrpSpPr>
          <p:grpSpPr bwMode="auto">
            <a:xfrm>
              <a:off x="2743200" y="3429000"/>
              <a:ext cx="4572000" cy="228600"/>
              <a:chOff x="1008" y="1968"/>
              <a:chExt cx="2880" cy="144"/>
            </a:xfrm>
          </p:grpSpPr>
          <p:sp>
            <p:nvSpPr>
              <p:cNvPr id="136" name="Rectangle 26"/>
              <p:cNvSpPr>
                <a:spLocks noChangeArrowheads="1"/>
              </p:cNvSpPr>
              <p:nvPr/>
            </p:nvSpPr>
            <p:spPr bwMode="auto">
              <a:xfrm>
                <a:off x="1008"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9</a:t>
                </a:r>
              </a:p>
            </p:txBody>
          </p:sp>
          <p:sp>
            <p:nvSpPr>
              <p:cNvPr id="137" name="Rectangle 27"/>
              <p:cNvSpPr>
                <a:spLocks noChangeArrowheads="1"/>
              </p:cNvSpPr>
              <p:nvPr/>
            </p:nvSpPr>
            <p:spPr bwMode="auto">
              <a:xfrm>
                <a:off x="1584"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4</a:t>
                </a:r>
              </a:p>
            </p:txBody>
          </p:sp>
          <p:sp>
            <p:nvSpPr>
              <p:cNvPr id="138" name="Rectangle 28"/>
              <p:cNvSpPr>
                <a:spLocks noChangeArrowheads="1"/>
              </p:cNvSpPr>
              <p:nvPr/>
            </p:nvSpPr>
            <p:spPr bwMode="auto">
              <a:xfrm>
                <a:off x="2160"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7</a:t>
                </a:r>
              </a:p>
            </p:txBody>
          </p:sp>
          <p:sp>
            <p:nvSpPr>
              <p:cNvPr id="139" name="Rectangle 29"/>
              <p:cNvSpPr>
                <a:spLocks noChangeArrowheads="1"/>
              </p:cNvSpPr>
              <p:nvPr/>
            </p:nvSpPr>
            <p:spPr bwMode="auto">
              <a:xfrm>
                <a:off x="2736"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2</a:t>
                </a:r>
              </a:p>
            </p:txBody>
          </p:sp>
          <p:sp>
            <p:nvSpPr>
              <p:cNvPr id="140" name="Rectangle 30"/>
              <p:cNvSpPr>
                <a:spLocks noChangeArrowheads="1"/>
              </p:cNvSpPr>
              <p:nvPr/>
            </p:nvSpPr>
            <p:spPr bwMode="auto">
              <a:xfrm>
                <a:off x="3312" y="1968"/>
                <a:ext cx="576" cy="144"/>
              </a:xfrm>
              <a:prstGeom prst="rect">
                <a:avLst/>
              </a:prstGeom>
              <a:solidFill>
                <a:schemeClr val="bg1">
                  <a:lumMod val="85000"/>
                </a:schemeClr>
              </a:solidFill>
              <a:ln w="25400">
                <a:solidFill>
                  <a:schemeClr val="tx1"/>
                </a:solidFill>
                <a:miter lim="800000"/>
              </a:ln>
              <a:effectLst/>
            </p:spPr>
            <p:txBody>
              <a:bodyPr wrap="none" anchor="ctr"/>
              <a:lstStyle/>
              <a:p>
                <a:pPr algn="ctr" eaLnBrk="0" hangingPunct="0">
                  <a:defRPr/>
                </a:pPr>
                <a:r>
                  <a:rPr lang="en-US" sz="1800" dirty="0">
                    <a:latin typeface="Calibri" panose="020F0502020204030204" charset="0"/>
                    <a:ea typeface="+mn-ea"/>
                    <a:cs typeface="+mn-cs"/>
                  </a:rPr>
                  <a:t>0</a:t>
                </a:r>
              </a:p>
            </p:txBody>
          </p:sp>
        </p:grpSp>
        <p:sp>
          <p:nvSpPr>
            <p:cNvPr id="95248" name="Text Box 32"/>
            <p:cNvSpPr txBox="1">
              <a:spLocks noChangeArrowheads="1"/>
            </p:cNvSpPr>
            <p:nvPr/>
          </p:nvSpPr>
          <p:spPr bwMode="auto">
            <a:xfrm>
              <a:off x="2412765" y="3810528"/>
              <a:ext cx="668366"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56</a:t>
              </a:r>
            </a:p>
          </p:txBody>
        </p:sp>
        <p:sp>
          <p:nvSpPr>
            <p:cNvPr id="95249" name="Text Box 33"/>
            <p:cNvSpPr txBox="1">
              <a:spLocks noChangeArrowheads="1"/>
            </p:cNvSpPr>
            <p:nvPr/>
          </p:nvSpPr>
          <p:spPr bwMode="auto">
            <a:xfrm>
              <a:off x="3182736"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60</a:t>
              </a:r>
            </a:p>
          </p:txBody>
        </p:sp>
        <p:sp>
          <p:nvSpPr>
            <p:cNvPr id="95250" name="Line 34"/>
            <p:cNvSpPr>
              <a:spLocks noChangeShapeType="1"/>
            </p:cNvSpPr>
            <p:nvPr/>
          </p:nvSpPr>
          <p:spPr bwMode="auto">
            <a:xfrm flipV="1">
              <a:off x="2743200" y="3643313"/>
              <a:ext cx="0" cy="228600"/>
            </a:xfrm>
            <a:prstGeom prst="line">
              <a:avLst/>
            </a:prstGeom>
            <a:noFill/>
            <a:ln w="25400">
              <a:solidFill>
                <a:schemeClr val="tx1"/>
              </a:solidFill>
              <a:round/>
              <a:tailEnd type="triangle" w="med" len="sm"/>
            </a:ln>
          </p:spPr>
          <p:txBody>
            <a:bodyPr wrap="none" anchor="ctr"/>
            <a:lstStyle/>
            <a:p>
              <a:endParaRPr lang="en-US"/>
            </a:p>
          </p:txBody>
        </p:sp>
        <p:sp>
          <p:nvSpPr>
            <p:cNvPr id="95251" name="Line 35"/>
            <p:cNvSpPr>
              <a:spLocks noChangeShapeType="1"/>
            </p:cNvSpPr>
            <p:nvPr/>
          </p:nvSpPr>
          <p:spPr bwMode="auto">
            <a:xfrm flipV="1">
              <a:off x="36576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52" name="Text Box 36"/>
            <p:cNvSpPr txBox="1">
              <a:spLocks noChangeArrowheads="1"/>
            </p:cNvSpPr>
            <p:nvPr/>
          </p:nvSpPr>
          <p:spPr bwMode="auto">
            <a:xfrm>
              <a:off x="4097175"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64</a:t>
              </a:r>
            </a:p>
          </p:txBody>
        </p:sp>
        <p:sp>
          <p:nvSpPr>
            <p:cNvPr id="95253" name="Line 37"/>
            <p:cNvSpPr>
              <a:spLocks noChangeShapeType="1"/>
            </p:cNvSpPr>
            <p:nvPr/>
          </p:nvSpPr>
          <p:spPr bwMode="auto">
            <a:xfrm flipV="1">
              <a:off x="45720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54" name="Text Box 38"/>
            <p:cNvSpPr txBox="1">
              <a:spLocks noChangeArrowheads="1"/>
            </p:cNvSpPr>
            <p:nvPr/>
          </p:nvSpPr>
          <p:spPr bwMode="auto">
            <a:xfrm>
              <a:off x="5029078"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68</a:t>
              </a:r>
            </a:p>
          </p:txBody>
        </p:sp>
        <p:sp>
          <p:nvSpPr>
            <p:cNvPr id="95255" name="Line 39"/>
            <p:cNvSpPr>
              <a:spLocks noChangeShapeType="1"/>
            </p:cNvSpPr>
            <p:nvPr/>
          </p:nvSpPr>
          <p:spPr bwMode="auto">
            <a:xfrm flipV="1">
              <a:off x="54864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56" name="Text Box 40"/>
            <p:cNvSpPr txBox="1">
              <a:spLocks noChangeArrowheads="1"/>
            </p:cNvSpPr>
            <p:nvPr/>
          </p:nvSpPr>
          <p:spPr bwMode="auto">
            <a:xfrm>
              <a:off x="5943518" y="3823572"/>
              <a:ext cx="990642"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72</a:t>
              </a:r>
            </a:p>
          </p:txBody>
        </p:sp>
        <p:sp>
          <p:nvSpPr>
            <p:cNvPr id="95257" name="Line 41"/>
            <p:cNvSpPr>
              <a:spLocks noChangeShapeType="1"/>
            </p:cNvSpPr>
            <p:nvPr/>
          </p:nvSpPr>
          <p:spPr bwMode="auto">
            <a:xfrm flipV="1">
              <a:off x="6400800" y="3657600"/>
              <a:ext cx="0" cy="228600"/>
            </a:xfrm>
            <a:prstGeom prst="line">
              <a:avLst/>
            </a:prstGeom>
            <a:noFill/>
            <a:ln w="25400">
              <a:solidFill>
                <a:schemeClr val="tx1"/>
              </a:solidFill>
              <a:round/>
              <a:tailEnd type="triangle" w="med" len="sm"/>
            </a:ln>
          </p:spPr>
          <p:txBody>
            <a:bodyPr wrap="none" anchor="ctr"/>
            <a:lstStyle/>
            <a:p>
              <a:endParaRPr lang="en-US"/>
            </a:p>
          </p:txBody>
        </p:sp>
        <p:sp>
          <p:nvSpPr>
            <p:cNvPr id="95258" name="Text Box 42"/>
            <p:cNvSpPr txBox="1">
              <a:spLocks noChangeArrowheads="1"/>
            </p:cNvSpPr>
            <p:nvPr/>
          </p:nvSpPr>
          <p:spPr bwMode="auto">
            <a:xfrm>
              <a:off x="6857957" y="3823572"/>
              <a:ext cx="990643" cy="376637"/>
            </a:xfrm>
            <a:prstGeom prst="rect">
              <a:avLst/>
            </a:prstGeom>
            <a:noFill/>
            <a:ln w="25400">
              <a:noFill/>
              <a:miter lim="800000"/>
            </a:ln>
          </p:spPr>
          <p:txBody>
            <a:bodyPr>
              <a:spAutoFit/>
            </a:bodyPr>
            <a:lstStyle/>
            <a:p>
              <a:pPr algn="ctr" eaLnBrk="0" hangingPunct="0"/>
              <a:r>
                <a:rPr lang="en-US" sz="1800" b="0">
                  <a:latin typeface="Calibri" panose="020F0502020204030204" charset="0"/>
                </a:rPr>
                <a:t>76</a:t>
              </a:r>
            </a:p>
          </p:txBody>
        </p:sp>
        <p:sp>
          <p:nvSpPr>
            <p:cNvPr id="95259" name="Line 43"/>
            <p:cNvSpPr>
              <a:spLocks noChangeShapeType="1"/>
            </p:cNvSpPr>
            <p:nvPr/>
          </p:nvSpPr>
          <p:spPr bwMode="auto">
            <a:xfrm flipV="1">
              <a:off x="7315200" y="3657600"/>
              <a:ext cx="0" cy="228600"/>
            </a:xfrm>
            <a:prstGeom prst="line">
              <a:avLst/>
            </a:prstGeom>
            <a:noFill/>
            <a:ln w="25400">
              <a:solidFill>
                <a:schemeClr val="tx1"/>
              </a:solidFill>
              <a:round/>
              <a:tailEnd type="triangle" w="med" len="sm"/>
            </a:ln>
          </p:spPr>
          <p:txBody>
            <a:bodyPr wrap="none" anchor="ctr"/>
            <a:lstStyle/>
            <a:p>
              <a:endParaRPr lang="en-US"/>
            </a:p>
          </p:txBody>
        </p:sp>
      </p:grpSp>
      <p:sp>
        <p:nvSpPr>
          <p:cNvPr id="142" name="Freeform 141"/>
          <p:cNvSpPr>
            <a:spLocks noChangeArrowheads="1"/>
          </p:cNvSpPr>
          <p:nvPr/>
        </p:nvSpPr>
        <p:spPr bwMode="auto">
          <a:xfrm>
            <a:off x="2052638" y="4159250"/>
            <a:ext cx="1693862" cy="1022350"/>
          </a:xfrm>
          <a:custGeom>
            <a:avLst/>
            <a:gdLst>
              <a:gd name="T0" fmla="*/ 0 w 1694329"/>
              <a:gd name="T1" fmla="*/ 1021976 h 1021976"/>
              <a:gd name="T2" fmla="*/ 654423 w 1694329"/>
              <a:gd name="T3" fmla="*/ 340658 h 1021976"/>
              <a:gd name="T4" fmla="*/ 1694329 w 1694329"/>
              <a:gd name="T5" fmla="*/ 0 h 1021976"/>
              <a:gd name="T6" fmla="*/ 0 60000 65536"/>
              <a:gd name="T7" fmla="*/ 0 60000 65536"/>
              <a:gd name="T8" fmla="*/ 0 60000 65536"/>
              <a:gd name="T9" fmla="*/ 0 w 1694329"/>
              <a:gd name="T10" fmla="*/ 0 h 1021976"/>
              <a:gd name="T11" fmla="*/ 1694329 w 1694329"/>
              <a:gd name="T12" fmla="*/ 1021976 h 1021976"/>
            </a:gdLst>
            <a:ahLst/>
            <a:cxnLst>
              <a:cxn ang="T6">
                <a:pos x="T0" y="T1"/>
              </a:cxn>
              <a:cxn ang="T7">
                <a:pos x="T2" y="T3"/>
              </a:cxn>
              <a:cxn ang="T8">
                <a:pos x="T4" y="T5"/>
              </a:cxn>
            </a:cxnLst>
            <a:rect l="T9" t="T10" r="T11" b="T12"/>
            <a:pathLst>
              <a:path w="1694329" h="1021976">
                <a:moveTo>
                  <a:pt x="0" y="1021976"/>
                </a:moveTo>
                <a:cubicBezTo>
                  <a:pt x="186017" y="766481"/>
                  <a:pt x="372035" y="510987"/>
                  <a:pt x="654423" y="340658"/>
                </a:cubicBezTo>
                <a:cubicBezTo>
                  <a:pt x="936811" y="170329"/>
                  <a:pt x="1315570" y="85164"/>
                  <a:pt x="1694329" y="0"/>
                </a:cubicBezTo>
              </a:path>
            </a:pathLst>
          </a:custGeom>
          <a:noFill/>
          <a:ln w="38100">
            <a:solidFill>
              <a:schemeClr val="tx1"/>
            </a:solidFill>
            <a:round/>
            <a:tailEnd type="triangle" w="med" len="med"/>
          </a:ln>
        </p:spPr>
        <p:txBody>
          <a:bodyPr anchor="ctr"/>
          <a:lstStyle/>
          <a:p>
            <a:pPr algn="ctr" eaLnBrk="0" hangingPunct="0"/>
            <a:endParaRPr lang="en-US"/>
          </a:p>
        </p:txBody>
      </p:sp>
      <p:sp>
        <p:nvSpPr>
          <p:cNvPr id="143" name="Freeform 142"/>
          <p:cNvSpPr>
            <a:spLocks noChangeArrowheads="1"/>
          </p:cNvSpPr>
          <p:nvPr/>
        </p:nvSpPr>
        <p:spPr bwMode="auto">
          <a:xfrm>
            <a:off x="2070100" y="4787900"/>
            <a:ext cx="1703388" cy="330200"/>
          </a:xfrm>
          <a:custGeom>
            <a:avLst/>
            <a:gdLst>
              <a:gd name="T0" fmla="*/ 0 w 1703294"/>
              <a:gd name="T1" fmla="*/ 0 h 331694"/>
              <a:gd name="T2" fmla="*/ 905435 w 1703294"/>
              <a:gd name="T3" fmla="*/ 304800 h 331694"/>
              <a:gd name="T4" fmla="*/ 1703294 w 1703294"/>
              <a:gd name="T5" fmla="*/ 161365 h 331694"/>
              <a:gd name="T6" fmla="*/ 0 60000 65536"/>
              <a:gd name="T7" fmla="*/ 0 60000 65536"/>
              <a:gd name="T8" fmla="*/ 0 60000 65536"/>
              <a:gd name="T9" fmla="*/ 0 w 1703294"/>
              <a:gd name="T10" fmla="*/ 0 h 331694"/>
              <a:gd name="T11" fmla="*/ 1703294 w 1703294"/>
              <a:gd name="T12" fmla="*/ 331694 h 331694"/>
            </a:gdLst>
            <a:ahLst/>
            <a:cxnLst>
              <a:cxn ang="T6">
                <a:pos x="T0" y="T1"/>
              </a:cxn>
              <a:cxn ang="T7">
                <a:pos x="T2" y="T3"/>
              </a:cxn>
              <a:cxn ang="T8">
                <a:pos x="T4" y="T5"/>
              </a:cxn>
            </a:cxnLst>
            <a:rect l="T9" t="T10" r="T11" b="T12"/>
            <a:pathLst>
              <a:path w="1703294" h="331694">
                <a:moveTo>
                  <a:pt x="0" y="0"/>
                </a:moveTo>
                <a:cubicBezTo>
                  <a:pt x="310776" y="138953"/>
                  <a:pt x="621553" y="277906"/>
                  <a:pt x="905435" y="304800"/>
                </a:cubicBezTo>
                <a:cubicBezTo>
                  <a:pt x="1189317" y="331694"/>
                  <a:pt x="1446305" y="246529"/>
                  <a:pt x="1703294" y="161365"/>
                </a:cubicBezTo>
              </a:path>
            </a:pathLst>
          </a:custGeom>
          <a:noFill/>
          <a:ln w="38100">
            <a:solidFill>
              <a:schemeClr val="tx1"/>
            </a:solidFill>
            <a:round/>
            <a:tailEnd type="triangle" w="med" len="med"/>
          </a:ln>
        </p:spPr>
        <p:txBody>
          <a:bodyPr anchor="ctr"/>
          <a:lstStyle/>
          <a:p>
            <a:pPr algn="ctr" eaLnBrk="0" hangingPunct="0"/>
            <a:endParaRPr lang="en-US"/>
          </a:p>
        </p:txBody>
      </p:sp>
      <p:sp>
        <p:nvSpPr>
          <p:cNvPr id="144" name="Freeform 143"/>
          <p:cNvSpPr>
            <a:spLocks noChangeArrowheads="1"/>
          </p:cNvSpPr>
          <p:nvPr/>
        </p:nvSpPr>
        <p:spPr bwMode="auto">
          <a:xfrm>
            <a:off x="2052638" y="5557838"/>
            <a:ext cx="1739900" cy="385762"/>
          </a:xfrm>
          <a:custGeom>
            <a:avLst/>
            <a:gdLst>
              <a:gd name="T0" fmla="*/ 0 w 1739153"/>
              <a:gd name="T1" fmla="*/ 0 h 385482"/>
              <a:gd name="T2" fmla="*/ 699247 w 1739153"/>
              <a:gd name="T3" fmla="*/ 349623 h 385482"/>
              <a:gd name="T4" fmla="*/ 1739153 w 1739153"/>
              <a:gd name="T5" fmla="*/ 215153 h 385482"/>
              <a:gd name="T6" fmla="*/ 0 60000 65536"/>
              <a:gd name="T7" fmla="*/ 0 60000 65536"/>
              <a:gd name="T8" fmla="*/ 0 60000 65536"/>
              <a:gd name="T9" fmla="*/ 0 w 1739153"/>
              <a:gd name="T10" fmla="*/ 0 h 385482"/>
              <a:gd name="T11" fmla="*/ 1739153 w 1739153"/>
              <a:gd name="T12" fmla="*/ 385482 h 385482"/>
            </a:gdLst>
            <a:ahLst/>
            <a:cxnLst>
              <a:cxn ang="T6">
                <a:pos x="T0" y="T1"/>
              </a:cxn>
              <a:cxn ang="T7">
                <a:pos x="T2" y="T3"/>
              </a:cxn>
              <a:cxn ang="T8">
                <a:pos x="T4" y="T5"/>
              </a:cxn>
            </a:cxnLst>
            <a:rect l="T9" t="T10" r="T11" b="T12"/>
            <a:pathLst>
              <a:path w="1739153" h="385482">
                <a:moveTo>
                  <a:pt x="0" y="0"/>
                </a:moveTo>
                <a:cubicBezTo>
                  <a:pt x="204694" y="156882"/>
                  <a:pt x="409388" y="313764"/>
                  <a:pt x="699247" y="349623"/>
                </a:cubicBezTo>
                <a:cubicBezTo>
                  <a:pt x="989106" y="385482"/>
                  <a:pt x="1364129" y="300317"/>
                  <a:pt x="1739153" y="215153"/>
                </a:cubicBezTo>
              </a:path>
            </a:pathLst>
          </a:custGeom>
          <a:noFill/>
          <a:ln w="38100">
            <a:solidFill>
              <a:schemeClr val="tx1"/>
            </a:solidFill>
            <a:round/>
            <a:tailEnd type="triangle" w="med" len="med"/>
          </a:ln>
        </p:spPr>
        <p:txBody>
          <a:bodyPr anchor="ctr"/>
          <a:lstStyle/>
          <a:p>
            <a:pPr algn="ctr" eaLnBrk="0" hangingPunct="0"/>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5395">
                                            <p:txEl>
                                              <p:pRg st="0" end="0"/>
                                            </p:txEl>
                                          </p:spTgt>
                                        </p:tgtEl>
                                        <p:attrNameLst>
                                          <p:attrName>style.visibility</p:attrName>
                                        </p:attrNameLst>
                                      </p:cBhvr>
                                      <p:to>
                                        <p:strVal val="visible"/>
                                      </p:to>
                                    </p:set>
                                    <p:animEffect transition="in" filter="wipe(down)">
                                      <p:cBhvr>
                                        <p:cTn id="7" dur="500"/>
                                        <p:tgtEl>
                                          <p:spTgt spid="315395">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15395">
                                            <p:txEl>
                                              <p:pRg st="1" end="1"/>
                                            </p:txEl>
                                          </p:spTgt>
                                        </p:tgtEl>
                                        <p:attrNameLst>
                                          <p:attrName>style.visibility</p:attrName>
                                        </p:attrNameLst>
                                      </p:cBhvr>
                                      <p:to>
                                        <p:strVal val="visible"/>
                                      </p:to>
                                    </p:set>
                                    <p:animEffect transition="in" filter="wipe(down)">
                                      <p:cBhvr>
                                        <p:cTn id="10" dur="500"/>
                                        <p:tgtEl>
                                          <p:spTgt spid="315395">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15395">
                                            <p:txEl>
                                              <p:pRg st="2" end="2"/>
                                            </p:txEl>
                                          </p:spTgt>
                                        </p:tgtEl>
                                        <p:attrNameLst>
                                          <p:attrName>style.visibility</p:attrName>
                                        </p:attrNameLst>
                                      </p:cBhvr>
                                      <p:to>
                                        <p:strVal val="visible"/>
                                      </p:to>
                                    </p:set>
                                    <p:animEffect transition="in" filter="wipe(down)">
                                      <p:cBhvr>
                                        <p:cTn id="13" dur="500"/>
                                        <p:tgtEl>
                                          <p:spTgt spid="315395">
                                            <p:txEl>
                                              <p:pRg st="2" end="2"/>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15395">
                                            <p:txEl>
                                              <p:pRg st="3" end="3"/>
                                            </p:txEl>
                                          </p:spTgt>
                                        </p:tgtEl>
                                        <p:attrNameLst>
                                          <p:attrName>style.visibility</p:attrName>
                                        </p:attrNameLst>
                                      </p:cBhvr>
                                      <p:to>
                                        <p:strVal val="visible"/>
                                      </p:to>
                                    </p:set>
                                    <p:animEffect transition="in" filter="wipe(down)">
                                      <p:cBhvr>
                                        <p:cTn id="16" dur="500"/>
                                        <p:tgtEl>
                                          <p:spTgt spid="315395">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wipe(down)">
                                      <p:cBhvr>
                                        <p:cTn id="21" dur="500"/>
                                        <p:tgtEl>
                                          <p:spTgt spid="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315413"/>
                                        </p:tgtEl>
                                        <p:attrNameLst>
                                          <p:attrName>style.visibility</p:attrName>
                                        </p:attrNameLst>
                                      </p:cBhvr>
                                      <p:to>
                                        <p:strVal val="visible"/>
                                      </p:to>
                                    </p:set>
                                    <p:animEffect transition="in" filter="wipe(down)">
                                      <p:cBhvr>
                                        <p:cTn id="24" dur="500"/>
                                        <p:tgtEl>
                                          <p:spTgt spid="315413"/>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315433"/>
                                        </p:tgtEl>
                                        <p:attrNameLst>
                                          <p:attrName>style.visibility</p:attrName>
                                        </p:attrNameLst>
                                      </p:cBhvr>
                                      <p:to>
                                        <p:strVal val="visible"/>
                                      </p:to>
                                    </p:set>
                                    <p:animEffect transition="in" filter="wipe(down)">
                                      <p:cBhvr>
                                        <p:cTn id="27" dur="500"/>
                                        <p:tgtEl>
                                          <p:spTgt spid="315433"/>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315453"/>
                                        </p:tgtEl>
                                        <p:attrNameLst>
                                          <p:attrName>style.visibility</p:attrName>
                                        </p:attrNameLst>
                                      </p:cBhvr>
                                      <p:to>
                                        <p:strVal val="visible"/>
                                      </p:to>
                                    </p:set>
                                    <p:animEffect transition="in" filter="wipe(down)">
                                      <p:cBhvr>
                                        <p:cTn id="30" dur="500"/>
                                        <p:tgtEl>
                                          <p:spTgt spid="315453"/>
                                        </p:tgtEl>
                                      </p:cBhvr>
                                    </p:animEffect>
                                  </p:childTnLst>
                                </p:cTn>
                              </p:par>
                              <p:par>
                                <p:cTn id="31" presetID="22" presetClass="entr" presetSubtype="4" fill="hold" nodeType="withEffect">
                                  <p:stCondLst>
                                    <p:cond delay="0"/>
                                  </p:stCondLst>
                                  <p:childTnLst>
                                    <p:set>
                                      <p:cBhvr>
                                        <p:cTn id="32" dur="1" fill="hold">
                                          <p:stCondLst>
                                            <p:cond delay="0"/>
                                          </p:stCondLst>
                                        </p:cTn>
                                        <p:tgtEl>
                                          <p:spTgt spid="84"/>
                                        </p:tgtEl>
                                        <p:attrNameLst>
                                          <p:attrName>style.visibility</p:attrName>
                                        </p:attrNameLst>
                                      </p:cBhvr>
                                      <p:to>
                                        <p:strVal val="visible"/>
                                      </p:to>
                                    </p:set>
                                    <p:animEffect transition="in" filter="wipe(down)">
                                      <p:cBhvr>
                                        <p:cTn id="33" dur="500"/>
                                        <p:tgtEl>
                                          <p:spTgt spid="84"/>
                                        </p:tgtEl>
                                      </p:cBhvr>
                                    </p:animEffect>
                                  </p:childTnLst>
                                </p:cTn>
                              </p:par>
                              <p:par>
                                <p:cTn id="34" presetID="22" presetClass="entr" presetSubtype="4" fill="hold" nodeType="withEffect">
                                  <p:stCondLst>
                                    <p:cond delay="0"/>
                                  </p:stCondLst>
                                  <p:childTnLst>
                                    <p:set>
                                      <p:cBhvr>
                                        <p:cTn id="35" dur="1" fill="hold">
                                          <p:stCondLst>
                                            <p:cond delay="0"/>
                                          </p:stCondLst>
                                        </p:cTn>
                                        <p:tgtEl>
                                          <p:spTgt spid="103"/>
                                        </p:tgtEl>
                                        <p:attrNameLst>
                                          <p:attrName>style.visibility</p:attrName>
                                        </p:attrNameLst>
                                      </p:cBhvr>
                                      <p:to>
                                        <p:strVal val="visible"/>
                                      </p:to>
                                    </p:set>
                                    <p:animEffect transition="in" filter="wipe(down)">
                                      <p:cBhvr>
                                        <p:cTn id="36" dur="500"/>
                                        <p:tgtEl>
                                          <p:spTgt spid="103"/>
                                        </p:tgtEl>
                                      </p:cBhvr>
                                    </p:animEffect>
                                  </p:childTnLst>
                                </p:cTn>
                              </p:par>
                              <p:par>
                                <p:cTn id="37" presetID="22" presetClass="entr" presetSubtype="4" fill="hold" nodeType="withEffect">
                                  <p:stCondLst>
                                    <p:cond delay="0"/>
                                  </p:stCondLst>
                                  <p:childTnLst>
                                    <p:set>
                                      <p:cBhvr>
                                        <p:cTn id="38" dur="1" fill="hold">
                                          <p:stCondLst>
                                            <p:cond delay="0"/>
                                          </p:stCondLst>
                                        </p:cTn>
                                        <p:tgtEl>
                                          <p:spTgt spid="122"/>
                                        </p:tgtEl>
                                        <p:attrNameLst>
                                          <p:attrName>style.visibility</p:attrName>
                                        </p:attrNameLst>
                                      </p:cBhvr>
                                      <p:to>
                                        <p:strVal val="visible"/>
                                      </p:to>
                                    </p:set>
                                    <p:animEffect transition="in" filter="wipe(down)">
                                      <p:cBhvr>
                                        <p:cTn id="39" dur="500"/>
                                        <p:tgtEl>
                                          <p:spTgt spid="122"/>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142"/>
                                        </p:tgtEl>
                                        <p:attrNameLst>
                                          <p:attrName>style.visibility</p:attrName>
                                        </p:attrNameLst>
                                      </p:cBhvr>
                                      <p:to>
                                        <p:strVal val="visible"/>
                                      </p:to>
                                    </p:set>
                                    <p:animEffect transition="in" filter="wipe(down)">
                                      <p:cBhvr>
                                        <p:cTn id="42" dur="500"/>
                                        <p:tgtEl>
                                          <p:spTgt spid="14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43"/>
                                        </p:tgtEl>
                                        <p:attrNameLst>
                                          <p:attrName>style.visibility</p:attrName>
                                        </p:attrNameLst>
                                      </p:cBhvr>
                                      <p:to>
                                        <p:strVal val="visible"/>
                                      </p:to>
                                    </p:set>
                                    <p:animEffect transition="in" filter="wipe(down)">
                                      <p:cBhvr>
                                        <p:cTn id="45" dur="500"/>
                                        <p:tgtEl>
                                          <p:spTgt spid="143"/>
                                        </p:tgtEl>
                                      </p:cBhvr>
                                    </p:animEffect>
                                  </p:childTnLst>
                                </p:cTn>
                              </p:par>
                              <p:par>
                                <p:cTn id="46" presetID="22" presetClass="entr" presetSubtype="4" fill="hold" grpId="0" nodeType="withEffect">
                                  <p:stCondLst>
                                    <p:cond delay="0"/>
                                  </p:stCondLst>
                                  <p:childTnLst>
                                    <p:set>
                                      <p:cBhvr>
                                        <p:cTn id="47" dur="1" fill="hold">
                                          <p:stCondLst>
                                            <p:cond delay="0"/>
                                          </p:stCondLst>
                                        </p:cTn>
                                        <p:tgtEl>
                                          <p:spTgt spid="144"/>
                                        </p:tgtEl>
                                        <p:attrNameLst>
                                          <p:attrName>style.visibility</p:attrName>
                                        </p:attrNameLst>
                                      </p:cBhvr>
                                      <p:to>
                                        <p:strVal val="visible"/>
                                      </p:to>
                                    </p:set>
                                    <p:animEffect transition="in" filter="wipe(down)">
                                      <p:cBhvr>
                                        <p:cTn id="48" dur="500"/>
                                        <p:tgtEl>
                                          <p:spTgt spid="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13" grpId="0"/>
      <p:bldP spid="315433" grpId="0"/>
      <p:bldP spid="315453" grpId="0"/>
      <p:bldP spid="142" grpId="0" animBg="1"/>
      <p:bldP spid="143" grpId="0" animBg="1"/>
      <p:bldP spid="144" grpId="0" animBg="1"/>
    </p:bld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4323715"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多级数组中的元素访问</a:t>
            </a:r>
          </a:p>
        </p:txBody>
      </p:sp>
      <p:sp>
        <p:nvSpPr>
          <p:cNvPr id="99332" name="Rectangle 5"/>
          <p:cNvSpPr>
            <a:spLocks noChangeArrowheads="1"/>
          </p:cNvSpPr>
          <p:nvPr/>
        </p:nvSpPr>
        <p:spPr bwMode="auto">
          <a:xfrm>
            <a:off x="533400" y="1408113"/>
            <a:ext cx="3886200" cy="1474787"/>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int get_univ_digit</a:t>
            </a:r>
          </a:p>
          <a:p>
            <a:pPr eaLnBrk="0" hangingPunct="0"/>
            <a:r>
              <a:rPr lang="en-US" sz="1800">
                <a:latin typeface="Courier New" panose="02070309020205020404" charset="0"/>
              </a:rPr>
              <a:t>  (int index, int dig)</a:t>
            </a:r>
          </a:p>
          <a:p>
            <a:pPr eaLnBrk="0" hangingPunct="0"/>
            <a:r>
              <a:rPr lang="en-US" sz="1800">
                <a:latin typeface="Courier New" panose="02070309020205020404" charset="0"/>
              </a:rPr>
              <a:t>{</a:t>
            </a:r>
          </a:p>
          <a:p>
            <a:pPr eaLnBrk="0" hangingPunct="0"/>
            <a:r>
              <a:rPr lang="en-US" sz="1800">
                <a:latin typeface="Courier New" panose="02070309020205020404" charset="0"/>
              </a:rPr>
              <a:t>  return univ[index][dig];</a:t>
            </a:r>
          </a:p>
          <a:p>
            <a:pPr eaLnBrk="0" hangingPunct="0"/>
            <a:r>
              <a:rPr lang="en-US" sz="1800">
                <a:latin typeface="Courier New" panose="02070309020205020404" charset="0"/>
              </a:rPr>
              <a:t>}</a:t>
            </a:r>
          </a:p>
        </p:txBody>
      </p:sp>
      <p:sp>
        <p:nvSpPr>
          <p:cNvPr id="316420" name="Rectangle 4"/>
          <p:cNvSpPr>
            <a:spLocks noChangeArrowheads="1"/>
          </p:cNvSpPr>
          <p:nvPr/>
        </p:nvSpPr>
        <p:spPr bwMode="auto">
          <a:xfrm>
            <a:off x="533400" y="3021013"/>
            <a:ext cx="7239000" cy="1197764"/>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8(%</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index</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univ</a:t>
            </a:r>
            <a:r>
              <a:rPr lang="en-US" sz="1800" dirty="0">
                <a:latin typeface="Courier New" panose="02070309020205020404" charset="0"/>
                <a:ea typeface="+mn-ea"/>
                <a:cs typeface="+mn-cs"/>
              </a:rPr>
              <a:t>(,%eax,4),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 p = </a:t>
            </a:r>
            <a:r>
              <a:rPr lang="en-US" sz="1800" dirty="0" err="1">
                <a:latin typeface="Courier New" panose="02070309020205020404" charset="0"/>
                <a:ea typeface="+mn-ea"/>
                <a:cs typeface="+mn-cs"/>
              </a:rPr>
              <a:t>univ</a:t>
            </a:r>
            <a:r>
              <a:rPr lang="en-US" sz="1800" dirty="0">
                <a:latin typeface="Courier New" panose="02070309020205020404" charset="0"/>
                <a:ea typeface="+mn-ea"/>
                <a:cs typeface="+mn-cs"/>
              </a:rPr>
              <a:t>[index]</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12(%</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dig</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(%edx,%eax,4),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p[dig]</a:t>
            </a:r>
          </a:p>
        </p:txBody>
      </p:sp>
      <p:sp>
        <p:nvSpPr>
          <p:cNvPr id="99330" name="Rectangle 3"/>
          <p:cNvSpPr>
            <a:spLocks noGrp="1" noChangeArrowheads="1"/>
          </p:cNvSpPr>
          <p:nvPr/>
        </p:nvSpPr>
        <p:spPr>
          <a:xfrm>
            <a:off x="442913" y="4470400"/>
            <a:ext cx="8472487" cy="2122488"/>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zh-CN" altLang="en-US">
                <a:latin typeface="微软雅黑" panose="020B0503020204020204" charset="-122"/>
                <a:ea typeface="微软雅黑" panose="020B0503020204020204" charset="-122"/>
              </a:rPr>
              <a:t>计算</a:t>
            </a:r>
            <a:r>
              <a:rPr lang="en-US">
                <a:latin typeface="微软雅黑" panose="020B0503020204020204" charset="-122"/>
                <a:ea typeface="微软雅黑" panose="020B0503020204020204" charset="-122"/>
              </a:rPr>
              <a:t> (IA32)</a:t>
            </a:r>
          </a:p>
          <a:p>
            <a:pPr lvl="1">
              <a:buClr>
                <a:srgbClr val="0D0D0D"/>
              </a:buClr>
            </a:pPr>
            <a:r>
              <a:rPr lang="zh-CN" altLang="en-US">
                <a:latin typeface="微软雅黑" panose="020B0503020204020204" charset="-122"/>
                <a:ea typeface="微软雅黑" panose="020B0503020204020204" charset="-122"/>
              </a:rPr>
              <a:t>元素访问</a:t>
            </a:r>
            <a:r>
              <a:rPr lang="en-US">
                <a:latin typeface="微软雅黑" panose="020B0503020204020204" charset="-122"/>
                <a:ea typeface="微软雅黑" panose="020B0503020204020204" charset="-122"/>
              </a:rPr>
              <a:t> </a:t>
            </a:r>
            <a:r>
              <a:rPr lang="en-US" b="1">
                <a:latin typeface="微软雅黑" panose="020B0503020204020204" charset="-122"/>
                <a:ea typeface="微软雅黑" panose="020B0503020204020204" charset="-122"/>
              </a:rPr>
              <a:t>Mem[Mem[univ+4*index]+4*dig]</a:t>
            </a:r>
          </a:p>
          <a:p>
            <a:pPr lvl="1">
              <a:buClr>
                <a:srgbClr val="0D0D0D"/>
              </a:buClr>
            </a:pPr>
            <a:r>
              <a:rPr lang="zh-CN" altLang="en-US">
                <a:latin typeface="微软雅黑" panose="020B0503020204020204" charset="-122"/>
                <a:ea typeface="微软雅黑" panose="020B0503020204020204" charset="-122"/>
              </a:rPr>
              <a:t>两次内存读取</a:t>
            </a:r>
          </a:p>
          <a:p>
            <a:pPr lvl="2"/>
            <a:r>
              <a:rPr lang="en-US">
                <a:latin typeface="微软雅黑" panose="020B0503020204020204" charset="-122"/>
                <a:ea typeface="微软雅黑" panose="020B0503020204020204" charset="-122"/>
              </a:rPr>
              <a:t>首先获取指向行数组的指针</a:t>
            </a:r>
          </a:p>
          <a:p>
            <a:pPr lvl="2"/>
            <a:r>
              <a:rPr lang="en-US">
                <a:latin typeface="微软雅黑" panose="020B0503020204020204" charset="-122"/>
                <a:ea typeface="微软雅黑" panose="020B0503020204020204" charset="-122"/>
              </a:rPr>
              <a:t>然后在数组中访问元素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9330">
                                            <p:txEl>
                                              <p:pRg st="0" end="0"/>
                                            </p:txEl>
                                          </p:spTgt>
                                        </p:tgtEl>
                                        <p:attrNameLst>
                                          <p:attrName>style.visibility</p:attrName>
                                        </p:attrNameLst>
                                      </p:cBhvr>
                                      <p:to>
                                        <p:strVal val="visible"/>
                                      </p:to>
                                    </p:set>
                                    <p:animEffect transition="in" filter="wipe(down)">
                                      <p:cBhvr>
                                        <p:cTn id="7" dur="500"/>
                                        <p:tgtEl>
                                          <p:spTgt spid="993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9330">
                                            <p:txEl>
                                              <p:pRg st="1" end="1"/>
                                            </p:txEl>
                                          </p:spTgt>
                                        </p:tgtEl>
                                        <p:attrNameLst>
                                          <p:attrName>style.visibility</p:attrName>
                                        </p:attrNameLst>
                                      </p:cBhvr>
                                      <p:to>
                                        <p:strVal val="visible"/>
                                      </p:to>
                                    </p:set>
                                    <p:animEffect transition="in" filter="wipe(down)">
                                      <p:cBhvr>
                                        <p:cTn id="12" dur="500"/>
                                        <p:tgtEl>
                                          <p:spTgt spid="99330">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99330">
                                            <p:txEl>
                                              <p:pRg st="2" end="2"/>
                                            </p:txEl>
                                          </p:spTgt>
                                        </p:tgtEl>
                                        <p:attrNameLst>
                                          <p:attrName>style.visibility</p:attrName>
                                        </p:attrNameLst>
                                      </p:cBhvr>
                                      <p:to>
                                        <p:strVal val="visible"/>
                                      </p:to>
                                    </p:set>
                                    <p:animEffect transition="in" filter="wipe(down)">
                                      <p:cBhvr>
                                        <p:cTn id="15" dur="500"/>
                                        <p:tgtEl>
                                          <p:spTgt spid="9933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99330">
                                            <p:txEl>
                                              <p:pRg st="3" end="3"/>
                                            </p:txEl>
                                          </p:spTgt>
                                        </p:tgtEl>
                                        <p:attrNameLst>
                                          <p:attrName>style.visibility</p:attrName>
                                        </p:attrNameLst>
                                      </p:cBhvr>
                                      <p:to>
                                        <p:strVal val="visible"/>
                                      </p:to>
                                    </p:set>
                                    <p:animEffect transition="in" filter="wipe(down)">
                                      <p:cBhvr>
                                        <p:cTn id="20" dur="500"/>
                                        <p:tgtEl>
                                          <p:spTgt spid="99330">
                                            <p:txEl>
                                              <p:pRg st="3" end="3"/>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99330">
                                            <p:txEl>
                                              <p:pRg st="4" end="4"/>
                                            </p:txEl>
                                          </p:spTgt>
                                        </p:tgtEl>
                                        <p:attrNameLst>
                                          <p:attrName>style.visibility</p:attrName>
                                        </p:attrNameLst>
                                      </p:cBhvr>
                                      <p:to>
                                        <p:strVal val="visible"/>
                                      </p:to>
                                    </p:set>
                                    <p:animEffect transition="in" filter="wipe(down)">
                                      <p:cBhvr>
                                        <p:cTn id="23" dur="500"/>
                                        <p:tgtEl>
                                          <p:spTgt spid="993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4323715"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数组元素的访问</a:t>
            </a:r>
          </a:p>
        </p:txBody>
      </p:sp>
      <p:sp>
        <p:nvSpPr>
          <p:cNvPr id="101378" name="Rectangle 4"/>
          <p:cNvSpPr>
            <a:spLocks noChangeArrowheads="1"/>
          </p:cNvSpPr>
          <p:nvPr/>
        </p:nvSpPr>
        <p:spPr bwMode="auto">
          <a:xfrm>
            <a:off x="457200" y="1725613"/>
            <a:ext cx="3733800" cy="1474787"/>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int get_pgh_digit</a:t>
            </a:r>
          </a:p>
          <a:p>
            <a:pPr eaLnBrk="0" hangingPunct="0"/>
            <a:r>
              <a:rPr lang="en-US" sz="1800">
                <a:latin typeface="Courier New" panose="02070309020205020404" charset="0"/>
              </a:rPr>
              <a:t>  (int index, int dig)</a:t>
            </a:r>
          </a:p>
          <a:p>
            <a:pPr eaLnBrk="0" hangingPunct="0"/>
            <a:r>
              <a:rPr lang="en-US" sz="1800">
                <a:latin typeface="Courier New" panose="02070309020205020404" charset="0"/>
              </a:rPr>
              <a:t>{</a:t>
            </a:r>
          </a:p>
          <a:p>
            <a:pPr eaLnBrk="0" hangingPunct="0"/>
            <a:r>
              <a:rPr lang="en-US" sz="1800">
                <a:latin typeface="Courier New" panose="02070309020205020404" charset="0"/>
              </a:rPr>
              <a:t>  return pgh[index][dig];</a:t>
            </a:r>
          </a:p>
          <a:p>
            <a:pPr eaLnBrk="0" hangingPunct="0"/>
            <a:r>
              <a:rPr lang="en-US" sz="1800">
                <a:latin typeface="Courier New" panose="02070309020205020404" charset="0"/>
              </a:rPr>
              <a:t>}</a:t>
            </a:r>
          </a:p>
        </p:txBody>
      </p:sp>
      <p:sp>
        <p:nvSpPr>
          <p:cNvPr id="101379" name="Rectangle 8"/>
          <p:cNvSpPr>
            <a:spLocks noChangeArrowheads="1"/>
          </p:cNvSpPr>
          <p:nvPr/>
        </p:nvSpPr>
        <p:spPr bwMode="auto">
          <a:xfrm>
            <a:off x="4648200" y="1725613"/>
            <a:ext cx="3886200" cy="1474787"/>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int get_univ_digit</a:t>
            </a:r>
          </a:p>
          <a:p>
            <a:pPr eaLnBrk="0" hangingPunct="0"/>
            <a:r>
              <a:rPr lang="en-US" sz="1800">
                <a:latin typeface="Courier New" panose="02070309020205020404" charset="0"/>
              </a:rPr>
              <a:t>  (int index, int dig)</a:t>
            </a:r>
          </a:p>
          <a:p>
            <a:pPr eaLnBrk="0" hangingPunct="0"/>
            <a:r>
              <a:rPr lang="en-US" sz="1800">
                <a:latin typeface="Courier New" panose="02070309020205020404" charset="0"/>
              </a:rPr>
              <a:t>{</a:t>
            </a:r>
          </a:p>
          <a:p>
            <a:pPr eaLnBrk="0" hangingPunct="0"/>
            <a:r>
              <a:rPr lang="en-US" sz="1800">
                <a:latin typeface="Courier New" panose="02070309020205020404" charset="0"/>
              </a:rPr>
              <a:t>  return univ[index][dig];</a:t>
            </a:r>
          </a:p>
          <a:p>
            <a:pPr eaLnBrk="0" hangingPunct="0"/>
            <a:r>
              <a:rPr lang="en-US" sz="1800">
                <a:latin typeface="Courier New" panose="02070309020205020404" charset="0"/>
              </a:rPr>
              <a:t>}</a:t>
            </a:r>
          </a:p>
        </p:txBody>
      </p:sp>
      <p:sp>
        <p:nvSpPr>
          <p:cNvPr id="101380" name="TextBox 11"/>
          <p:cNvSpPr txBox="1">
            <a:spLocks noChangeArrowheads="1"/>
          </p:cNvSpPr>
          <p:nvPr/>
        </p:nvSpPr>
        <p:spPr bwMode="auto">
          <a:xfrm>
            <a:off x="368300" y="1382713"/>
            <a:ext cx="109728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嵌套数组</a:t>
            </a:r>
          </a:p>
        </p:txBody>
      </p:sp>
      <p:sp>
        <p:nvSpPr>
          <p:cNvPr id="101381" name="TextBox 12"/>
          <p:cNvSpPr txBox="1">
            <a:spLocks noChangeArrowheads="1"/>
          </p:cNvSpPr>
          <p:nvPr/>
        </p:nvSpPr>
        <p:spPr bwMode="auto">
          <a:xfrm>
            <a:off x="4559300" y="1371600"/>
            <a:ext cx="1097280" cy="368300"/>
          </a:xfrm>
          <a:prstGeom prst="rect">
            <a:avLst/>
          </a:prstGeom>
          <a:noFill/>
          <a:ln w="9525">
            <a:noFill/>
            <a:miter lim="800000"/>
          </a:ln>
        </p:spPr>
        <p:txBody>
          <a:bodyPr wrap="none">
            <a:spAutoFit/>
          </a:bodyPr>
          <a:lstStyle/>
          <a:p>
            <a:pPr eaLnBrk="0" hangingPunct="0"/>
            <a:r>
              <a:rPr lang="zh-CN" altLang="en-US" sz="1800">
                <a:latin typeface="Calibri" panose="020F0502020204030204" charset="0"/>
              </a:rPr>
              <a:t>多级数组</a:t>
            </a:r>
          </a:p>
        </p:txBody>
      </p:sp>
      <p:pic>
        <p:nvPicPr>
          <p:cNvPr id="101382" name="Picture 2" descr="C:\Documents and Settings\pueschel\My Documents\teaching\18-243-CMUspring09\08-05Feb09\multi.png"/>
          <p:cNvPicPr>
            <a:picLocks noChangeAspect="1" noChangeArrowheads="1"/>
          </p:cNvPicPr>
          <p:nvPr/>
        </p:nvPicPr>
        <p:blipFill>
          <a:blip r:embed="rId2"/>
          <a:srcRect/>
          <a:stretch>
            <a:fillRect/>
          </a:stretch>
        </p:blipFill>
        <p:spPr bwMode="auto">
          <a:xfrm>
            <a:off x="381000" y="3657600"/>
            <a:ext cx="3505200" cy="731838"/>
          </a:xfrm>
          <a:prstGeom prst="rect">
            <a:avLst/>
          </a:prstGeom>
          <a:noFill/>
          <a:ln w="9525">
            <a:noFill/>
            <a:miter lim="800000"/>
            <a:headEnd/>
            <a:tailEnd/>
          </a:ln>
        </p:spPr>
      </p:pic>
      <p:pic>
        <p:nvPicPr>
          <p:cNvPr id="101383" name="Picture 3" descr="C:\Documents and Settings\pueschel\My Documents\teaching\18-243-CMUspring09\08-05Feb09\nested.png"/>
          <p:cNvPicPr>
            <a:picLocks noChangeAspect="1" noChangeArrowheads="1"/>
          </p:cNvPicPr>
          <p:nvPr/>
        </p:nvPicPr>
        <p:blipFill>
          <a:blip r:embed="rId3"/>
          <a:srcRect/>
          <a:stretch>
            <a:fillRect/>
          </a:stretch>
        </p:blipFill>
        <p:spPr bwMode="auto">
          <a:xfrm>
            <a:off x="4649788" y="3355975"/>
            <a:ext cx="3656012" cy="1139825"/>
          </a:xfrm>
          <a:prstGeom prst="rect">
            <a:avLst/>
          </a:prstGeom>
          <a:noFill/>
          <a:ln w="9525">
            <a:noFill/>
            <a:miter lim="800000"/>
            <a:headEnd/>
            <a:tailEnd/>
          </a:ln>
        </p:spPr>
      </p:pic>
      <p:sp>
        <p:nvSpPr>
          <p:cNvPr id="101385" name="Rectangle 16"/>
          <p:cNvSpPr>
            <a:spLocks noChangeArrowheads="1"/>
          </p:cNvSpPr>
          <p:nvPr/>
        </p:nvSpPr>
        <p:spPr bwMode="auto">
          <a:xfrm>
            <a:off x="368300" y="4683443"/>
            <a:ext cx="5090160" cy="521970"/>
          </a:xfrm>
          <a:prstGeom prst="rect">
            <a:avLst/>
          </a:prstGeom>
          <a:noFill/>
          <a:ln w="9525">
            <a:noFill/>
            <a:miter lim="800000"/>
          </a:ln>
        </p:spPr>
        <p:txBody>
          <a:bodyPr wrap="none">
            <a:spAutoFit/>
          </a:bodyPr>
          <a:lstStyle/>
          <a:p>
            <a:pPr eaLnBrk="0" hangingPunct="0">
              <a:buFont typeface="Wingdings" panose="05000000000000000000" pitchFamily="2" charset="2"/>
              <a:buNone/>
            </a:pPr>
            <a:r>
              <a:rPr lang="en-US" sz="2800">
                <a:latin typeface="Courier New" panose="02070309020205020404" charset="0"/>
              </a:rPr>
              <a:t>Mem[pgh+20*index+4*dig]</a:t>
            </a:r>
          </a:p>
        </p:txBody>
      </p:sp>
      <p:sp>
        <p:nvSpPr>
          <p:cNvPr id="101386" name="Rectangle 17"/>
          <p:cNvSpPr>
            <a:spLocks noChangeArrowheads="1"/>
          </p:cNvSpPr>
          <p:nvPr/>
        </p:nvSpPr>
        <p:spPr bwMode="auto">
          <a:xfrm>
            <a:off x="3011170" y="5421630"/>
            <a:ext cx="6156960" cy="521970"/>
          </a:xfrm>
          <a:prstGeom prst="rect">
            <a:avLst/>
          </a:prstGeom>
          <a:noFill/>
          <a:ln w="9525">
            <a:noFill/>
            <a:miter lim="800000"/>
          </a:ln>
        </p:spPr>
        <p:txBody>
          <a:bodyPr wrap="none">
            <a:spAutoFit/>
          </a:bodyPr>
          <a:lstStyle/>
          <a:p>
            <a:pPr eaLnBrk="0" hangingPunct="0">
              <a:buFont typeface="Wingdings" panose="05000000000000000000" pitchFamily="2" charset="2"/>
              <a:buNone/>
            </a:pPr>
            <a:r>
              <a:rPr lang="en-US" sz="2800">
                <a:latin typeface="Courier New" panose="02070309020205020404" charset="0"/>
              </a:rPr>
              <a:t>Mem[Mem[univ+4*index]+4*dig]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wipe(down)">
                                      <p:cBhvr>
                                        <p:cTn id="7" dur="500"/>
                                        <p:tgtEl>
                                          <p:spTgt spid="1013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01382"/>
                                        </p:tgtEl>
                                        <p:attrNameLst>
                                          <p:attrName>style.visibility</p:attrName>
                                        </p:attrNameLst>
                                      </p:cBhvr>
                                      <p:to>
                                        <p:strVal val="visible"/>
                                      </p:to>
                                    </p:set>
                                    <p:animEffect transition="in" filter="wipe(down)">
                                      <p:cBhvr>
                                        <p:cTn id="12" dur="500"/>
                                        <p:tgtEl>
                                          <p:spTgt spid="10138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1385"/>
                                        </p:tgtEl>
                                        <p:attrNameLst>
                                          <p:attrName>style.visibility</p:attrName>
                                        </p:attrNameLst>
                                      </p:cBhvr>
                                      <p:to>
                                        <p:strVal val="visible"/>
                                      </p:to>
                                    </p:set>
                                    <p:animEffect transition="in" filter="wipe(down)">
                                      <p:cBhvr>
                                        <p:cTn id="17" dur="500"/>
                                        <p:tgtEl>
                                          <p:spTgt spid="10138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1379"/>
                                        </p:tgtEl>
                                        <p:attrNameLst>
                                          <p:attrName>style.visibility</p:attrName>
                                        </p:attrNameLst>
                                      </p:cBhvr>
                                      <p:to>
                                        <p:strVal val="visible"/>
                                      </p:to>
                                    </p:set>
                                    <p:animEffect transition="in" filter="wipe(down)">
                                      <p:cBhvr>
                                        <p:cTn id="22" dur="500"/>
                                        <p:tgtEl>
                                          <p:spTgt spid="10137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01383"/>
                                        </p:tgtEl>
                                        <p:attrNameLst>
                                          <p:attrName>style.visibility</p:attrName>
                                        </p:attrNameLst>
                                      </p:cBhvr>
                                      <p:to>
                                        <p:strVal val="visible"/>
                                      </p:to>
                                    </p:set>
                                    <p:animEffect transition="in" filter="wipe(down)">
                                      <p:cBhvr>
                                        <p:cTn id="27" dur="500"/>
                                        <p:tgtEl>
                                          <p:spTgt spid="10138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1386"/>
                                        </p:tgtEl>
                                        <p:attrNameLst>
                                          <p:attrName>style.visibility</p:attrName>
                                        </p:attrNameLst>
                                      </p:cBhvr>
                                      <p:to>
                                        <p:strVal val="visible"/>
                                      </p:to>
                                    </p:set>
                                    <p:animEffect transition="in" filter="wipe(down)">
                                      <p:cBhvr>
                                        <p:cTn id="32" dur="500"/>
                                        <p:tgtEl>
                                          <p:spTgt spid="101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animBg="1"/>
      <p:bldP spid="101379" grpId="0" animBg="1"/>
      <p:bldP spid="101385" grpId="0"/>
      <p:bldP spid="101386"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4323715"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16×16矩阵访问</a:t>
            </a:r>
          </a:p>
        </p:txBody>
      </p:sp>
      <p:sp>
        <p:nvSpPr>
          <p:cNvPr id="9" name="Rectangle 4"/>
          <p:cNvSpPr txBox="1">
            <a:spLocks noChangeArrowheads="1"/>
          </p:cNvSpPr>
          <p:nvPr/>
        </p:nvSpPr>
        <p:spPr>
          <a:xfrm>
            <a:off x="403543" y="1094740"/>
            <a:ext cx="7786687" cy="1450975"/>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rgbClr val="000000"/>
              </a:buClr>
              <a:buSzPct val="60000"/>
              <a:buFont typeface="Wingdings 2" panose="05020102010507070707" pitchFamily="18" charset="2"/>
              <a:buChar char="¢"/>
              <a:defRPr/>
            </a:pPr>
            <a:r>
              <a:rPr kumimoji="0" lang="zh-CN" altLang="en-US" sz="2400" b="1" i="0" u="none" strike="noStrike" kern="0" cap="none" spc="0" normalizeH="0" baseline="0" noProof="0" dirty="0">
                <a:ln>
                  <a:noFill/>
                </a:ln>
                <a:solidFill>
                  <a:schemeClr val="tx1"/>
                </a:solidFill>
                <a:effectLst/>
                <a:uLnTx/>
                <a:uFillTx/>
                <a:latin typeface="Calibri" panose="020F0502020204030204" charset="0"/>
                <a:ea typeface="宋体" panose="02010600030101010101" pitchFamily="2" charset="-122"/>
                <a:cs typeface="MS PGothic" panose="020B0600070205080204" pitchFamily="-96" charset="-128"/>
              </a:rPr>
              <a:t>数组元素</a:t>
            </a:r>
            <a:r>
              <a:rPr kumimoji="0" lang="en-US" sz="2400" b="1"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cs typeface="MS PGothic" panose="020B0600070205080204" pitchFamily="-96" charset="-128"/>
              </a:rPr>
              <a:t> </a:t>
            </a:r>
            <a:endParaRPr kumimoji="0" lang="en-US" sz="2000" b="0" i="0" u="none" strike="noStrike" kern="0" cap="none" spc="0" normalizeH="0" baseline="0" noProof="0" dirty="0">
              <a:ln>
                <a:noFill/>
              </a:ln>
              <a:solidFill>
                <a:schemeClr val="tx1"/>
              </a:solidFill>
              <a:effectLst/>
              <a:uLnTx/>
              <a:uFillTx/>
              <a:latin typeface="Courier New" panose="02070309020205020404" charset="0"/>
              <a:ea typeface="MS PGothic" panose="020B0600070205080204" pitchFamily="-96" charset="-128"/>
            </a:endParaRPr>
          </a:p>
          <a:p>
            <a:pPr marL="742950" marR="0" lvl="1" indent="-285750" algn="l" defTabSz="914400" rtl="0" eaLnBrk="1" fontAlgn="base" latinLnBrk="0" hangingPunct="1">
              <a:lnSpc>
                <a:spcPct val="100000"/>
              </a:lnSpc>
              <a:spcBef>
                <a:spcPct val="20000"/>
              </a:spcBef>
              <a:spcAft>
                <a:spcPct val="0"/>
              </a:spcAft>
              <a:buClr>
                <a:srgbClr val="000000"/>
              </a:buClr>
              <a:buSzPct val="110000"/>
              <a:buFont typeface="Wingdings" panose="05000000000000000000" pitchFamily="2" charset="2"/>
              <a:buChar char="§"/>
              <a:defRPr/>
            </a:pPr>
            <a:r>
              <a:rPr kumimoji="0" lang="zh-CN" altLang="en-US" sz="2000" b="0" i="0" u="none" strike="noStrike" kern="0" cap="none" spc="0" normalizeH="0" baseline="0" noProof="0" dirty="0">
                <a:ln>
                  <a:noFill/>
                </a:ln>
                <a:solidFill>
                  <a:schemeClr val="tx1"/>
                </a:solidFill>
                <a:effectLst/>
                <a:uLnTx/>
                <a:uFillTx/>
                <a:latin typeface="Calibri" panose="020F0502020204030204" charset="0"/>
                <a:ea typeface="宋体" panose="02010600030101010101" pitchFamily="2" charset="-122"/>
              </a:rPr>
              <a:t>地址</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1" i="0" u="none" strike="noStrike" kern="0" cap="none" spc="0" normalizeH="0" baseline="0" noProof="0" dirty="0">
                <a:ln>
                  <a:noFill/>
                </a:ln>
                <a:solidFill>
                  <a:schemeClr val="tx1"/>
                </a:solidFill>
                <a:effectLst/>
                <a:uLnTx/>
                <a:uFillTx/>
                <a:latin typeface="Courier New" panose="02070309020205020404" charset="0"/>
                <a:ea typeface="MS PGothic" panose="020B0600070205080204" pitchFamily="-96" charset="-128"/>
              </a:rPr>
              <a:t>A +</a:t>
            </a:r>
            <a:r>
              <a:rPr kumimoji="0" lang="en-US" sz="2000" b="0" i="0" u="none" strike="noStrike" kern="0" cap="none" spc="0" normalizeH="0" baseline="0" noProof="0" dirty="0">
                <a:ln>
                  <a:noFill/>
                </a:ln>
                <a:solidFill>
                  <a:schemeClr val="tx1"/>
                </a:solidFill>
                <a:effectLst/>
                <a:uLnTx/>
                <a:uFillTx/>
                <a:latin typeface="Courier New" panose="02070309020205020404" charset="0"/>
                <a:ea typeface="MS PGothic" panose="020B0600070205080204" pitchFamily="-96" charset="-128"/>
              </a:rPr>
              <a:t> </a:t>
            </a:r>
            <a:r>
              <a:rPr kumimoji="0" lang="en-US" sz="2000" b="0" i="1" u="none" strike="noStrike" kern="0" cap="none" spc="0" normalizeH="0" baseline="0" noProof="0" dirty="0" err="1">
                <a:ln>
                  <a:noFill/>
                </a:ln>
                <a:solidFill>
                  <a:schemeClr val="tx1"/>
                </a:solidFill>
                <a:effectLst/>
                <a:uLnTx/>
                <a:uFillTx/>
                <a:latin typeface="Calibri" panose="020F0502020204030204" charset="0"/>
                <a:ea typeface="MS PGothic" panose="020B0600070205080204" pitchFamily="-96" charset="-128"/>
              </a:rPr>
              <a:t>i</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C </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K</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j</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 </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K</a:t>
            </a:r>
          </a:p>
          <a:p>
            <a:pPr marL="742950" marR="0" lvl="1" indent="-285750" algn="l" defTabSz="914400" rtl="0" eaLnBrk="1" fontAlgn="base" latinLnBrk="0" hangingPunct="1">
              <a:lnSpc>
                <a:spcPct val="100000"/>
              </a:lnSpc>
              <a:spcBef>
                <a:spcPct val="20000"/>
              </a:spcBef>
              <a:spcAft>
                <a:spcPct val="0"/>
              </a:spcAft>
              <a:buClr>
                <a:srgbClr val="000000"/>
              </a:buClr>
              <a:buSzPct val="110000"/>
              <a:buFont typeface="Wingdings" panose="05000000000000000000" pitchFamily="2" charset="2"/>
              <a:buChar char="§"/>
              <a:defRPr/>
            </a:pPr>
            <a:r>
              <a:rPr lang="en-US" sz="2000" b="0" kern="0" dirty="0">
                <a:latin typeface="Calibri" panose="020F0502020204030204" charset="0"/>
              </a:rPr>
              <a:t>C = 16, K = 4</a:t>
            </a:r>
            <a:endParaRPr kumimoji="0" lang="en-US" sz="2000" b="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endParaRPr>
          </a:p>
        </p:txBody>
      </p:sp>
      <p:sp>
        <p:nvSpPr>
          <p:cNvPr id="107523" name="Rectangle 4"/>
          <p:cNvSpPr>
            <a:spLocks noChangeArrowheads="1"/>
          </p:cNvSpPr>
          <p:nvPr/>
        </p:nvSpPr>
        <p:spPr bwMode="auto">
          <a:xfrm>
            <a:off x="903580" y="2545560"/>
            <a:ext cx="6786611" cy="1197764"/>
          </a:xfrm>
          <a:prstGeom prst="rect">
            <a:avLst/>
          </a:prstGeom>
          <a:solidFill>
            <a:srgbClr val="F6F5BD"/>
          </a:solidFill>
          <a:ln w="12700">
            <a:solidFill>
              <a:srgbClr val="000000"/>
            </a:solidFill>
            <a:miter lim="800000"/>
          </a:ln>
        </p:spPr>
        <p:txBody>
          <a:bodyPr wrap="square" lIns="90487" tIns="44450" rIns="90487" bIns="44450">
            <a:spAutoFit/>
          </a:bodyPr>
          <a:lstStyle/>
          <a:p>
            <a:pPr eaLnBrk="0" hangingPunct="0"/>
            <a:r>
              <a:rPr lang="en-US" sz="1800" dirty="0">
                <a:latin typeface="Courier New" panose="02070309020205020404" charset="0"/>
              </a:rPr>
              <a:t>/* Get element a[</a:t>
            </a:r>
            <a:r>
              <a:rPr lang="en-US" sz="1800" dirty="0" err="1">
                <a:latin typeface="Courier New" panose="02070309020205020404" charset="0"/>
              </a:rPr>
              <a:t>i</a:t>
            </a:r>
            <a:r>
              <a:rPr lang="en-US" sz="1800" dirty="0">
                <a:latin typeface="Courier New" panose="02070309020205020404" charset="0"/>
              </a:rPr>
              <a:t>][j] */</a:t>
            </a:r>
          </a:p>
          <a:p>
            <a:pPr eaLnBrk="0" hangingPunct="0"/>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fix_ele</a:t>
            </a:r>
            <a:r>
              <a:rPr lang="en-US" sz="1800" dirty="0">
                <a:latin typeface="Courier New" panose="02070309020205020404" charset="0"/>
              </a:rPr>
              <a:t>(</a:t>
            </a:r>
            <a:r>
              <a:rPr lang="en-US" sz="1800" dirty="0" err="1">
                <a:solidFill>
                  <a:srgbClr val="7030A0"/>
                </a:solidFill>
                <a:latin typeface="Courier New" panose="02070309020205020404" charset="0"/>
              </a:rPr>
              <a:t>fix_matrix</a:t>
            </a:r>
            <a:r>
              <a:rPr lang="en-US" sz="1800" dirty="0">
                <a:solidFill>
                  <a:srgbClr val="7030A0"/>
                </a:solidFill>
                <a:latin typeface="Courier New" panose="02070309020205020404" charset="0"/>
              </a:rPr>
              <a:t> a</a:t>
            </a:r>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i</a:t>
            </a:r>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j) {</a:t>
            </a:r>
          </a:p>
          <a:p>
            <a:pPr eaLnBrk="0" hangingPunct="0"/>
            <a:r>
              <a:rPr lang="en-US" sz="1800" dirty="0">
                <a:latin typeface="Courier New" panose="02070309020205020404" charset="0"/>
              </a:rPr>
              <a:t>  return a[</a:t>
            </a:r>
            <a:r>
              <a:rPr lang="en-US" sz="1800" dirty="0" err="1">
                <a:latin typeface="Courier New" panose="02070309020205020404" charset="0"/>
              </a:rPr>
              <a:t>i</a:t>
            </a:r>
            <a:r>
              <a:rPr lang="en-US" sz="1800" dirty="0">
                <a:latin typeface="Courier New" panose="02070309020205020404" charset="0"/>
              </a:rPr>
              <a:t>][j];</a:t>
            </a:r>
          </a:p>
          <a:p>
            <a:pPr eaLnBrk="0" hangingPunct="0"/>
            <a:r>
              <a:rPr lang="en-US" sz="1800" dirty="0">
                <a:latin typeface="Courier New" panose="02070309020205020404" charset="0"/>
              </a:rPr>
              <a:t>}</a:t>
            </a:r>
          </a:p>
        </p:txBody>
      </p:sp>
      <p:sp>
        <p:nvSpPr>
          <p:cNvPr id="8" name="Rectangle 4"/>
          <p:cNvSpPr>
            <a:spLocks noChangeArrowheads="1"/>
          </p:cNvSpPr>
          <p:nvPr/>
        </p:nvSpPr>
        <p:spPr bwMode="auto">
          <a:xfrm>
            <a:off x="903580" y="4156931"/>
            <a:ext cx="7239000" cy="1751762"/>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12(%</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i</a:t>
            </a:r>
            <a:endParaRPr lang="en-US" sz="1800" dirty="0">
              <a:latin typeface="Courier New" panose="02070309020205020404" charset="0"/>
              <a:ea typeface="+mn-ea"/>
              <a:cs typeface="+mn-cs"/>
            </a:endParaRP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sall</a:t>
            </a:r>
            <a:r>
              <a:rPr lang="en-US" sz="1800" dirty="0">
                <a:latin typeface="Courier New" panose="02070309020205020404" charset="0"/>
                <a:ea typeface="+mn-ea"/>
                <a:cs typeface="+mn-cs"/>
              </a:rPr>
              <a:t>	$6,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i</a:t>
            </a:r>
            <a:r>
              <a:rPr lang="en-US" sz="1800" dirty="0">
                <a:latin typeface="Courier New" panose="02070309020205020404" charset="0"/>
                <a:ea typeface="+mn-ea"/>
                <a:cs typeface="+mn-cs"/>
              </a:rPr>
              <a:t>*64</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16(%</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j</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sall</a:t>
            </a:r>
            <a:r>
              <a:rPr lang="en-US" sz="1800" dirty="0">
                <a:latin typeface="Courier New" panose="02070309020205020404" charset="0"/>
                <a:ea typeface="+mn-ea"/>
                <a:cs typeface="+mn-cs"/>
              </a:rPr>
              <a:t>	$2,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j*4</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addl</a:t>
            </a:r>
            <a:r>
              <a:rPr lang="en-US" sz="1800" dirty="0">
                <a:latin typeface="Courier New" panose="02070309020205020404" charset="0"/>
                <a:ea typeface="+mn-ea"/>
                <a:cs typeface="+mn-cs"/>
              </a:rPr>
              <a:t>	8(%</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a + j*4</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eax,%edx</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*(a + j*4 + </a:t>
            </a:r>
            <a:r>
              <a:rPr lang="en-US" sz="1800" dirty="0" err="1">
                <a:latin typeface="Courier New" panose="02070309020205020404" charset="0"/>
                <a:ea typeface="+mn-ea"/>
                <a:cs typeface="+mn-cs"/>
              </a:rPr>
              <a:t>i</a:t>
            </a:r>
            <a:r>
              <a:rPr lang="en-US" sz="1800" dirty="0">
                <a:latin typeface="Courier New" panose="02070309020205020404" charset="0"/>
                <a:ea typeface="+mn-ea"/>
                <a:cs typeface="+mn-cs"/>
              </a:rPr>
              <a:t>*64)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wipe(down)">
                                      <p:cBhvr>
                                        <p:cTn id="7" dur="500"/>
                                        <p:tgtEl>
                                          <p:spTgt spid="9">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xEl>
                                              <p:pRg st="2" end="2"/>
                                            </p:txEl>
                                          </p:spTgt>
                                        </p:tgtEl>
                                        <p:attrNameLst>
                                          <p:attrName>style.visibility</p:attrName>
                                        </p:attrNameLst>
                                      </p:cBhvr>
                                      <p:to>
                                        <p:strVal val="visible"/>
                                      </p:to>
                                    </p:set>
                                    <p:animEffect transition="in" filter="wipe(down)">
                                      <p:cBhvr>
                                        <p:cTn id="12" dur="500"/>
                                        <p:tgtEl>
                                          <p:spTgt spid="9">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07523"/>
                                        </p:tgtEl>
                                        <p:attrNameLst>
                                          <p:attrName>style.visibility</p:attrName>
                                        </p:attrNameLst>
                                      </p:cBhvr>
                                      <p:to>
                                        <p:strVal val="visible"/>
                                      </p:to>
                                    </p:set>
                                    <p:animEffect transition="in" filter="wipe(down)">
                                      <p:cBhvr>
                                        <p:cTn id="17" dur="500"/>
                                        <p:tgtEl>
                                          <p:spTgt spid="10752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animBg="1"/>
      <p:bldP spid="8"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0" y="266065"/>
            <a:ext cx="4323715" cy="948055"/>
          </a:xfrm>
          <a:prstGeom prst="rightArrow">
            <a:avLst/>
          </a:prstGeom>
          <a:solidFill>
            <a:schemeClr val="accent1">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t>n</a:t>
            </a:r>
            <a:r>
              <a:rPr sz="2800"/>
              <a:t>×</a:t>
            </a:r>
            <a:r>
              <a:rPr lang="en-US" sz="2800"/>
              <a:t>n</a:t>
            </a:r>
            <a:r>
              <a:rPr sz="2800"/>
              <a:t>矩阵访问</a:t>
            </a:r>
          </a:p>
        </p:txBody>
      </p:sp>
      <p:sp>
        <p:nvSpPr>
          <p:cNvPr id="9" name="Rectangle 4"/>
          <p:cNvSpPr txBox="1">
            <a:spLocks noChangeArrowheads="1"/>
          </p:cNvSpPr>
          <p:nvPr/>
        </p:nvSpPr>
        <p:spPr>
          <a:xfrm>
            <a:off x="403543" y="1094740"/>
            <a:ext cx="7786687" cy="1450975"/>
          </a:xfrm>
          <a:prstGeom prst="rect">
            <a:avLst/>
          </a:prstGeom>
        </p:spPr>
        <p:txBody>
          <a:bodyPr/>
          <a:lstStyle/>
          <a:p>
            <a:pPr marL="342900" marR="0" lvl="0" indent="-342900" algn="l" defTabSz="914400" rtl="0" eaLnBrk="1" fontAlgn="base" latinLnBrk="0" hangingPunct="1">
              <a:lnSpc>
                <a:spcPct val="100000"/>
              </a:lnSpc>
              <a:spcBef>
                <a:spcPct val="20000"/>
              </a:spcBef>
              <a:spcAft>
                <a:spcPct val="0"/>
              </a:spcAft>
              <a:buClr>
                <a:srgbClr val="000000"/>
              </a:buClr>
              <a:buSzPct val="60000"/>
              <a:buFont typeface="Wingdings 2" panose="05020102010507070707" pitchFamily="18" charset="2"/>
              <a:buChar char="¢"/>
              <a:defRPr/>
            </a:pPr>
            <a:r>
              <a:rPr kumimoji="0" lang="zh-CN" altLang="en-US" sz="2400" b="1" i="0" u="none" strike="noStrike" kern="0" cap="none" spc="0" normalizeH="0" baseline="0" noProof="0" dirty="0">
                <a:ln>
                  <a:noFill/>
                </a:ln>
                <a:solidFill>
                  <a:schemeClr val="tx1"/>
                </a:solidFill>
                <a:effectLst/>
                <a:uLnTx/>
                <a:uFillTx/>
                <a:latin typeface="Calibri" panose="020F0502020204030204" charset="0"/>
                <a:ea typeface="宋体" panose="02010600030101010101" pitchFamily="2" charset="-122"/>
                <a:cs typeface="MS PGothic" panose="020B0600070205080204" pitchFamily="-96" charset="-128"/>
              </a:rPr>
              <a:t>数组元素</a:t>
            </a:r>
            <a:r>
              <a:rPr kumimoji="0" lang="en-US" sz="2400" b="1"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cs typeface="MS PGothic" panose="020B0600070205080204" pitchFamily="-96" charset="-128"/>
              </a:rPr>
              <a:t> </a:t>
            </a:r>
            <a:endParaRPr kumimoji="0" lang="en-US" sz="2000" b="0" i="0" u="none" strike="noStrike" kern="0" cap="none" spc="0" normalizeH="0" baseline="0" noProof="0" dirty="0">
              <a:ln>
                <a:noFill/>
              </a:ln>
              <a:solidFill>
                <a:schemeClr val="tx1"/>
              </a:solidFill>
              <a:effectLst/>
              <a:uLnTx/>
              <a:uFillTx/>
              <a:latin typeface="Courier New" panose="02070309020205020404" charset="0"/>
              <a:ea typeface="MS PGothic" panose="020B0600070205080204" pitchFamily="-96" charset="-128"/>
            </a:endParaRPr>
          </a:p>
          <a:p>
            <a:pPr marL="742950" marR="0" lvl="1" indent="-285750" algn="l" defTabSz="914400" rtl="0" eaLnBrk="1" fontAlgn="base" latinLnBrk="0" hangingPunct="1">
              <a:lnSpc>
                <a:spcPct val="100000"/>
              </a:lnSpc>
              <a:spcBef>
                <a:spcPct val="20000"/>
              </a:spcBef>
              <a:spcAft>
                <a:spcPct val="0"/>
              </a:spcAft>
              <a:buClr>
                <a:srgbClr val="000000"/>
              </a:buClr>
              <a:buSzPct val="110000"/>
              <a:buFont typeface="Wingdings" panose="05000000000000000000" pitchFamily="2" charset="2"/>
              <a:buChar char="§"/>
              <a:defRPr/>
            </a:pPr>
            <a:r>
              <a:rPr kumimoji="0" lang="zh-CN" altLang="en-US" sz="2000" b="0" i="0" u="none" strike="noStrike" kern="0" cap="none" spc="0" normalizeH="0" baseline="0" noProof="0" dirty="0">
                <a:ln>
                  <a:noFill/>
                </a:ln>
                <a:solidFill>
                  <a:schemeClr val="tx1"/>
                </a:solidFill>
                <a:effectLst/>
                <a:uLnTx/>
                <a:uFillTx/>
                <a:latin typeface="Calibri" panose="020F0502020204030204" charset="0"/>
                <a:ea typeface="宋体" panose="02010600030101010101" pitchFamily="2" charset="-122"/>
              </a:rPr>
              <a:t>地址</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1" i="0" u="none" strike="noStrike" kern="0" cap="none" spc="0" normalizeH="0" baseline="0" noProof="0" dirty="0">
                <a:ln>
                  <a:noFill/>
                </a:ln>
                <a:solidFill>
                  <a:schemeClr val="tx1"/>
                </a:solidFill>
                <a:effectLst/>
                <a:uLnTx/>
                <a:uFillTx/>
                <a:latin typeface="Courier New" panose="02070309020205020404" charset="0"/>
                <a:ea typeface="MS PGothic" panose="020B0600070205080204" pitchFamily="-96" charset="-128"/>
              </a:rPr>
              <a:t>A +</a:t>
            </a:r>
            <a:r>
              <a:rPr kumimoji="0" lang="en-US" sz="2000" b="0" i="0" u="none" strike="noStrike" kern="0" cap="none" spc="0" normalizeH="0" baseline="0" noProof="0" dirty="0">
                <a:ln>
                  <a:noFill/>
                </a:ln>
                <a:solidFill>
                  <a:schemeClr val="tx1"/>
                </a:solidFill>
                <a:effectLst/>
                <a:uLnTx/>
                <a:uFillTx/>
                <a:latin typeface="Courier New" panose="02070309020205020404" charset="0"/>
                <a:ea typeface="MS PGothic" panose="020B0600070205080204" pitchFamily="-96" charset="-128"/>
              </a:rPr>
              <a:t> </a:t>
            </a:r>
            <a:r>
              <a:rPr kumimoji="0" lang="en-US" sz="2000" b="0" i="1" u="none" strike="noStrike" kern="0" cap="none" spc="0" normalizeH="0" baseline="0" noProof="0" dirty="0" err="1">
                <a:ln>
                  <a:noFill/>
                </a:ln>
                <a:solidFill>
                  <a:schemeClr val="tx1"/>
                </a:solidFill>
                <a:effectLst/>
                <a:uLnTx/>
                <a:uFillTx/>
                <a:latin typeface="Calibri" panose="020F0502020204030204" charset="0"/>
                <a:ea typeface="MS PGothic" panose="020B0600070205080204" pitchFamily="-96" charset="-128"/>
              </a:rPr>
              <a:t>i</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C </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K</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j</a:t>
            </a:r>
            <a:r>
              <a:rPr kumimoji="0" lang="en-US" sz="2000" b="0" i="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 * </a:t>
            </a:r>
            <a:r>
              <a:rPr kumimoji="0" lang="en-US" sz="2000" b="0" i="1"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rPr>
              <a:t>K</a:t>
            </a:r>
          </a:p>
          <a:p>
            <a:pPr marL="742950" marR="0" lvl="1" indent="-285750" algn="l" defTabSz="914400" rtl="0" eaLnBrk="1" fontAlgn="base" latinLnBrk="0" hangingPunct="1">
              <a:lnSpc>
                <a:spcPct val="100000"/>
              </a:lnSpc>
              <a:spcBef>
                <a:spcPct val="20000"/>
              </a:spcBef>
              <a:spcAft>
                <a:spcPct val="0"/>
              </a:spcAft>
              <a:buClr>
                <a:srgbClr val="000000"/>
              </a:buClr>
              <a:buSzPct val="110000"/>
              <a:buFont typeface="Wingdings" panose="05000000000000000000" pitchFamily="2" charset="2"/>
              <a:buChar char="§"/>
              <a:defRPr/>
            </a:pPr>
            <a:r>
              <a:rPr lang="en-US" sz="2000" b="0" kern="0" dirty="0">
                <a:latin typeface="Calibri" panose="020F0502020204030204" charset="0"/>
              </a:rPr>
              <a:t>C = n, K = 4</a:t>
            </a:r>
            <a:endParaRPr kumimoji="0" lang="en-US" sz="2000" b="0" u="none" strike="noStrike" kern="0" cap="none" spc="0" normalizeH="0" baseline="0" noProof="0" dirty="0">
              <a:ln>
                <a:noFill/>
              </a:ln>
              <a:solidFill>
                <a:schemeClr val="tx1"/>
              </a:solidFill>
              <a:effectLst/>
              <a:uLnTx/>
              <a:uFillTx/>
              <a:latin typeface="Calibri" panose="020F0502020204030204" charset="0"/>
              <a:ea typeface="MS PGothic" panose="020B0600070205080204" pitchFamily="-96" charset="-128"/>
            </a:endParaRPr>
          </a:p>
        </p:txBody>
      </p:sp>
      <p:sp>
        <p:nvSpPr>
          <p:cNvPr id="15" name="Rectangle 5"/>
          <p:cNvSpPr>
            <a:spLocks noChangeArrowheads="1"/>
          </p:cNvSpPr>
          <p:nvPr/>
        </p:nvSpPr>
        <p:spPr bwMode="auto">
          <a:xfrm>
            <a:off x="857224" y="2616087"/>
            <a:ext cx="6786611" cy="1197764"/>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pt-BR" sz="1800" dirty="0">
                <a:latin typeface="Courier New" panose="02070309020205020404" charset="0"/>
              </a:rPr>
              <a:t>/* Get element a[i][j] */</a:t>
            </a:r>
          </a:p>
          <a:p>
            <a:pPr eaLnBrk="0" hangingPunct="0"/>
            <a:r>
              <a:rPr lang="pt-BR" sz="1800" dirty="0">
                <a:latin typeface="Courier New" panose="02070309020205020404" charset="0"/>
              </a:rPr>
              <a:t>int var_ele(int n, </a:t>
            </a:r>
            <a:r>
              <a:rPr lang="pt-BR" sz="1800" dirty="0">
                <a:solidFill>
                  <a:srgbClr val="7030A0"/>
                </a:solidFill>
                <a:latin typeface="Courier New" panose="02070309020205020404" charset="0"/>
              </a:rPr>
              <a:t>int a[n][n]</a:t>
            </a:r>
            <a:r>
              <a:rPr lang="pt-BR" sz="1800" dirty="0">
                <a:latin typeface="Courier New" panose="02070309020205020404" charset="0"/>
              </a:rPr>
              <a:t>, int i, int j) {</a:t>
            </a:r>
          </a:p>
          <a:p>
            <a:pPr eaLnBrk="0" hangingPunct="0"/>
            <a:r>
              <a:rPr lang="pt-BR" sz="1800" dirty="0">
                <a:latin typeface="Courier New" panose="02070309020205020404" charset="0"/>
              </a:rPr>
              <a:t>  return a[i][j];</a:t>
            </a:r>
          </a:p>
          <a:p>
            <a:pPr eaLnBrk="0" hangingPunct="0"/>
            <a:r>
              <a:rPr lang="pt-BR" sz="1800" dirty="0">
                <a:latin typeface="Courier New" panose="02070309020205020404" charset="0"/>
              </a:rPr>
              <a:t>}</a:t>
            </a:r>
          </a:p>
        </p:txBody>
      </p:sp>
      <p:sp>
        <p:nvSpPr>
          <p:cNvPr id="5" name="Rectangle 4"/>
          <p:cNvSpPr>
            <a:spLocks noChangeArrowheads="1"/>
          </p:cNvSpPr>
          <p:nvPr/>
        </p:nvSpPr>
        <p:spPr bwMode="auto">
          <a:xfrm>
            <a:off x="857224" y="3909323"/>
            <a:ext cx="7239000" cy="2305759"/>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8(%</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n</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sall</a:t>
            </a:r>
            <a:r>
              <a:rPr lang="en-US" sz="1800" dirty="0">
                <a:latin typeface="Courier New" panose="02070309020205020404" charset="0"/>
                <a:ea typeface="+mn-ea"/>
                <a:cs typeface="+mn-cs"/>
              </a:rPr>
              <a:t>	$2,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n*4</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 n*4</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imull</a:t>
            </a:r>
            <a:r>
              <a:rPr lang="en-US" sz="1800" dirty="0">
                <a:latin typeface="Courier New" panose="02070309020205020404" charset="0"/>
                <a:ea typeface="+mn-ea"/>
                <a:cs typeface="+mn-cs"/>
              </a:rPr>
              <a:t>	16(%</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i</a:t>
            </a:r>
            <a:r>
              <a:rPr lang="en-US" sz="1800" dirty="0">
                <a:latin typeface="Courier New" panose="02070309020205020404" charset="0"/>
                <a:ea typeface="+mn-ea"/>
                <a:cs typeface="+mn-cs"/>
              </a:rPr>
              <a:t>*n*4</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20(%</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j</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sall</a:t>
            </a:r>
            <a:r>
              <a:rPr lang="en-US" sz="1800" dirty="0">
                <a:latin typeface="Courier New" panose="02070309020205020404" charset="0"/>
                <a:ea typeface="+mn-ea"/>
                <a:cs typeface="+mn-cs"/>
              </a:rPr>
              <a:t>	$2,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j*4</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addl</a:t>
            </a:r>
            <a:r>
              <a:rPr lang="en-US" sz="1800" dirty="0">
                <a:latin typeface="Courier New" panose="02070309020205020404" charset="0"/>
                <a:ea typeface="+mn-ea"/>
                <a:cs typeface="+mn-cs"/>
              </a:rPr>
              <a:t>	12(%</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a + j*4</a:t>
            </a:r>
          </a:p>
          <a:p>
            <a:pPr eaLnBrk="0" hangingPunct="0">
              <a:tabLst>
                <a:tab pos="342900" algn="l"/>
                <a:tab pos="1201420" algn="l"/>
                <a:tab pos="36576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eax,%edx</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*(a + j*4 + </a:t>
            </a:r>
            <a:r>
              <a:rPr lang="en-US" sz="1800" dirty="0" err="1">
                <a:latin typeface="Courier New" panose="02070309020205020404" charset="0"/>
                <a:ea typeface="+mn-ea"/>
                <a:cs typeface="+mn-cs"/>
              </a:rPr>
              <a:t>i</a:t>
            </a:r>
            <a:r>
              <a:rPr lang="en-US" sz="1800" dirty="0">
                <a:latin typeface="Courier New" panose="02070309020205020404" charset="0"/>
                <a:ea typeface="+mn-ea"/>
                <a:cs typeface="+mn-cs"/>
              </a:rPr>
              <a:t>*n*4)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animEffect transition="in" filter="wipe(down)">
                                      <p:cBhvr>
                                        <p:cTn id="7" dur="500"/>
                                        <p:tgtEl>
                                          <p:spTgt spid="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9">
                                            <p:txEl>
                                              <p:pRg st="2" end="2"/>
                                            </p:txEl>
                                          </p:spTgt>
                                        </p:tgtEl>
                                        <p:attrNameLst>
                                          <p:attrName>style.visibility</p:attrName>
                                        </p:attrNameLst>
                                      </p:cBhvr>
                                      <p:to>
                                        <p:strVal val="visible"/>
                                      </p:to>
                                    </p:set>
                                    <p:animEffect transition="in" filter="wipe(down)">
                                      <p:cBhvr>
                                        <p:cTn id="10" dur="500"/>
                                        <p:tgtEl>
                                          <p:spTgt spid="9">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down)">
                                      <p:cBhvr>
                                        <p:cTn id="15" dur="500"/>
                                        <p:tgtEl>
                                          <p:spTgt spid="1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5" grpId="0" animBg="1"/>
    </p:bld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2341245"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结构</a:t>
            </a:r>
          </a:p>
        </p:txBody>
      </p:sp>
      <p:sp>
        <p:nvSpPr>
          <p:cNvPr id="117761" name="Rectangle 2"/>
          <p:cNvSpPr>
            <a:spLocks noChangeArrowheads="1"/>
          </p:cNvSpPr>
          <p:nvPr/>
        </p:nvSpPr>
        <p:spPr bwMode="auto">
          <a:xfrm>
            <a:off x="568960" y="1333836"/>
            <a:ext cx="2444739" cy="1474763"/>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a:t>
            </a: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a[3];</a:t>
            </a: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i</a:t>
            </a:r>
            <a:r>
              <a:rPr lang="en-US" sz="1800" dirty="0">
                <a:latin typeface="Courier New" panose="02070309020205020404" charset="0"/>
              </a:rPr>
              <a:t>;</a:t>
            </a:r>
          </a:p>
          <a:p>
            <a:pPr eaLnBrk="0" hangingPunct="0"/>
            <a:r>
              <a:rPr lang="en-US" sz="1800" dirty="0">
                <a:latin typeface="Courier New" panose="02070309020205020404" charset="0"/>
              </a:rPr>
              <a:t>  </a:t>
            </a:r>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*n;</a:t>
            </a:r>
          </a:p>
          <a:p>
            <a:pPr eaLnBrk="0" hangingPunct="0"/>
            <a:r>
              <a:rPr lang="en-US" sz="1800" dirty="0">
                <a:latin typeface="Courier New" panose="02070309020205020404" charset="0"/>
              </a:rPr>
              <a:t>};</a:t>
            </a:r>
          </a:p>
        </p:txBody>
      </p:sp>
      <p:sp>
        <p:nvSpPr>
          <p:cNvPr id="322568" name="Rectangle 8"/>
          <p:cNvSpPr>
            <a:spLocks noChangeArrowheads="1"/>
          </p:cNvSpPr>
          <p:nvPr/>
        </p:nvSpPr>
        <p:spPr bwMode="auto">
          <a:xfrm>
            <a:off x="4083056" y="1196752"/>
            <a:ext cx="2191642" cy="412750"/>
          </a:xfrm>
          <a:prstGeom prst="rect">
            <a:avLst/>
          </a:prstGeom>
          <a:noFill/>
          <a:ln w="12700">
            <a:noFill/>
            <a:miter lim="800000"/>
          </a:ln>
        </p:spPr>
        <p:txBody>
          <a:bodyPr lIns="90487" tIns="44450" rIns="90487" bIns="44450"/>
          <a:lstStyle/>
          <a:p>
            <a:pPr marL="224155" indent="-224155" defTabSz="895350" eaLnBrk="0" hangingPunct="0">
              <a:spcBef>
                <a:spcPct val="30000"/>
              </a:spcBef>
            </a:pPr>
            <a:r>
              <a:rPr lang="zh-CN" altLang="en-US" dirty="0">
                <a:solidFill>
                  <a:schemeClr val="tx2"/>
                </a:solidFill>
                <a:latin typeface="Calibri" panose="020F0502020204030204" charset="0"/>
              </a:rPr>
              <a:t>内存布局</a:t>
            </a:r>
          </a:p>
        </p:txBody>
      </p:sp>
      <p:sp>
        <p:nvSpPr>
          <p:cNvPr id="322570" name="Rectangle 10"/>
          <p:cNvSpPr>
            <a:spLocks noChangeArrowheads="1"/>
          </p:cNvSpPr>
          <p:nvPr/>
        </p:nvSpPr>
        <p:spPr bwMode="auto">
          <a:xfrm>
            <a:off x="5422900" y="1690021"/>
            <a:ext cx="431800" cy="431800"/>
          </a:xfrm>
          <a:prstGeom prst="rect">
            <a:avLst/>
          </a:prstGeom>
          <a:solidFill>
            <a:srgbClr val="F1C7C7"/>
          </a:solidFill>
          <a:ln w="25400">
            <a:solidFill>
              <a:schemeClr val="tx1"/>
            </a:solidFill>
            <a:miter lim="800000"/>
          </a:ln>
        </p:spPr>
        <p:txBody>
          <a:bodyPr wrap="none" lIns="90487" tIns="44450" rIns="90487" bIns="44450" anchor="ctr"/>
          <a:lstStyle/>
          <a:p>
            <a:pPr algn="ctr" eaLnBrk="0" hangingPunct="0"/>
            <a:r>
              <a:rPr lang="en-US" sz="2000">
                <a:latin typeface="Courier New" panose="02070309020205020404" charset="0"/>
              </a:rPr>
              <a:t>i</a:t>
            </a:r>
          </a:p>
        </p:txBody>
      </p:sp>
      <p:sp>
        <p:nvSpPr>
          <p:cNvPr id="322571" name="Rectangle 11"/>
          <p:cNvSpPr>
            <a:spLocks noChangeArrowheads="1"/>
          </p:cNvSpPr>
          <p:nvPr/>
        </p:nvSpPr>
        <p:spPr bwMode="auto">
          <a:xfrm>
            <a:off x="4083056" y="1690021"/>
            <a:ext cx="1346200" cy="431800"/>
          </a:xfrm>
          <a:prstGeom prst="rect">
            <a:avLst/>
          </a:prstGeom>
          <a:solidFill>
            <a:schemeClr val="accent2">
              <a:lumMod val="20000"/>
              <a:lumOff val="80000"/>
            </a:schemeClr>
          </a:solidFill>
          <a:ln w="25400">
            <a:solidFill>
              <a:schemeClr val="tx1"/>
            </a:solidFill>
            <a:miter lim="800000"/>
          </a:ln>
          <a:effectLst/>
        </p:spPr>
        <p:txBody>
          <a:bodyPr wrap="none" lIns="90487" tIns="44450" rIns="90487" bIns="44450" anchor="ctr"/>
          <a:lstStyle/>
          <a:p>
            <a:pPr eaLnBrk="0" hangingPunct="0">
              <a:defRPr/>
            </a:pPr>
            <a:r>
              <a:rPr lang="en-US" sz="2000">
                <a:latin typeface="Courier New" panose="02070309020205020404" charset="0"/>
                <a:ea typeface="+mn-ea"/>
                <a:cs typeface="+mn-cs"/>
              </a:rPr>
              <a:t>a</a:t>
            </a:r>
          </a:p>
        </p:txBody>
      </p:sp>
      <p:sp>
        <p:nvSpPr>
          <p:cNvPr id="322572" name="Rectangle 12"/>
          <p:cNvSpPr>
            <a:spLocks noChangeArrowheads="1"/>
          </p:cNvSpPr>
          <p:nvPr/>
        </p:nvSpPr>
        <p:spPr bwMode="auto">
          <a:xfrm>
            <a:off x="5867400" y="1690021"/>
            <a:ext cx="431800" cy="431800"/>
          </a:xfrm>
          <a:prstGeom prst="rect">
            <a:avLst/>
          </a:prstGeom>
          <a:solidFill>
            <a:srgbClr val="D5F1CF"/>
          </a:solidFill>
          <a:ln w="25400">
            <a:solidFill>
              <a:schemeClr val="tx1"/>
            </a:solidFill>
            <a:miter lim="800000"/>
          </a:ln>
        </p:spPr>
        <p:txBody>
          <a:bodyPr wrap="none" lIns="90487" tIns="44450" rIns="90487" bIns="44450" anchor="ctr"/>
          <a:lstStyle/>
          <a:p>
            <a:pPr algn="ctr" eaLnBrk="0" hangingPunct="0"/>
            <a:r>
              <a:rPr lang="en-US" sz="2000" dirty="0">
                <a:latin typeface="Courier New" panose="02070309020205020404" charset="0"/>
              </a:rPr>
              <a:t>n</a:t>
            </a:r>
          </a:p>
        </p:txBody>
      </p:sp>
      <p:sp>
        <p:nvSpPr>
          <p:cNvPr id="322573" name="Rectangle 13"/>
          <p:cNvSpPr>
            <a:spLocks noChangeArrowheads="1"/>
          </p:cNvSpPr>
          <p:nvPr/>
        </p:nvSpPr>
        <p:spPr bwMode="auto">
          <a:xfrm>
            <a:off x="3889375" y="2105946"/>
            <a:ext cx="3333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0</a:t>
            </a:r>
          </a:p>
        </p:txBody>
      </p:sp>
      <p:sp>
        <p:nvSpPr>
          <p:cNvPr id="322574" name="Rectangle 14"/>
          <p:cNvSpPr>
            <a:spLocks noChangeArrowheads="1"/>
          </p:cNvSpPr>
          <p:nvPr/>
        </p:nvSpPr>
        <p:spPr bwMode="auto">
          <a:xfrm>
            <a:off x="5148282" y="2102761"/>
            <a:ext cx="490518" cy="397545"/>
          </a:xfrm>
          <a:prstGeom prst="rect">
            <a:avLst/>
          </a:prstGeom>
          <a:noFill/>
          <a:ln w="25400">
            <a:noFill/>
            <a:miter lim="800000"/>
          </a:ln>
        </p:spPr>
        <p:txBody>
          <a:bodyPr wrap="none" lIns="90487" tIns="44450" rIns="90487" bIns="44450">
            <a:spAutoFit/>
          </a:bodyPr>
          <a:lstStyle/>
          <a:p>
            <a:pPr eaLnBrk="0" hangingPunct="0"/>
            <a:r>
              <a:rPr lang="en-US" sz="2000" dirty="0">
                <a:latin typeface="Courier New" panose="02070309020205020404" charset="0"/>
              </a:rPr>
              <a:t>12</a:t>
            </a:r>
          </a:p>
        </p:txBody>
      </p:sp>
      <p:sp>
        <p:nvSpPr>
          <p:cNvPr id="322575" name="Rectangle 15"/>
          <p:cNvSpPr>
            <a:spLocks noChangeArrowheads="1"/>
          </p:cNvSpPr>
          <p:nvPr/>
        </p:nvSpPr>
        <p:spPr bwMode="auto">
          <a:xfrm>
            <a:off x="5638800" y="2105946"/>
            <a:ext cx="4857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16</a:t>
            </a:r>
          </a:p>
        </p:txBody>
      </p:sp>
      <p:sp>
        <p:nvSpPr>
          <p:cNvPr id="322576" name="Rectangle 16"/>
          <p:cNvSpPr>
            <a:spLocks noChangeArrowheads="1"/>
          </p:cNvSpPr>
          <p:nvPr/>
        </p:nvSpPr>
        <p:spPr bwMode="auto">
          <a:xfrm>
            <a:off x="6062663" y="2088483"/>
            <a:ext cx="4857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20</a:t>
            </a:r>
          </a:p>
        </p:txBody>
      </p:sp>
      <p:sp>
        <p:nvSpPr>
          <p:cNvPr id="322567" name="Rectangle 7"/>
          <p:cNvSpPr>
            <a:spLocks noGrp="1" noChangeArrowheads="1"/>
          </p:cNvSpPr>
          <p:nvPr/>
        </p:nvSpPr>
        <p:spPr>
          <a:xfrm>
            <a:off x="457200" y="2980055"/>
            <a:ext cx="7926388" cy="22098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E86914"/>
              </a:buClr>
            </a:pPr>
            <a:r>
              <a:rPr lang="en-US" dirty="0">
                <a:latin typeface="微软雅黑" panose="020B0503020204020204" charset="-122"/>
                <a:ea typeface="微软雅黑" panose="020B0503020204020204" charset="-122"/>
              </a:rPr>
              <a:t>C</a:t>
            </a:r>
            <a:r>
              <a:rPr lang="zh-CN" altLang="en-US" dirty="0">
                <a:latin typeface="微软雅黑" panose="020B0503020204020204" charset="-122"/>
                <a:ea typeface="微软雅黑" panose="020B0503020204020204" charset="-122"/>
              </a:rPr>
              <a:t>概念</a:t>
            </a:r>
          </a:p>
          <a:p>
            <a:pPr lvl="1"/>
            <a:r>
              <a:rPr lang="en-US" dirty="0">
                <a:latin typeface="微软雅黑" panose="020B0503020204020204" charset="-122"/>
                <a:ea typeface="微软雅黑" panose="020B0503020204020204" charset="-122"/>
              </a:rPr>
              <a:t>连续分配的内存区域</a:t>
            </a:r>
          </a:p>
          <a:p>
            <a:pPr lvl="1"/>
            <a:r>
              <a:rPr lang="en-US" dirty="0">
                <a:latin typeface="微软雅黑" panose="020B0503020204020204" charset="-122"/>
                <a:ea typeface="微软雅黑" panose="020B0503020204020204" charset="-122"/>
              </a:rPr>
              <a:t>在结构中按名称引用成员</a:t>
            </a:r>
          </a:p>
          <a:p>
            <a:pPr lvl="1"/>
            <a:r>
              <a:rPr lang="en-US" dirty="0">
                <a:latin typeface="微软雅黑" panose="020B0503020204020204" charset="-122"/>
                <a:ea typeface="微软雅黑" panose="020B0503020204020204" charset="-122"/>
              </a:rPr>
              <a:t>成员可能有不同的类型</a:t>
            </a:r>
          </a:p>
          <a:p>
            <a:pPr lvl="1"/>
            <a:endParaRPr 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2567">
                                            <p:txEl>
                                              <p:pRg st="0" end="0"/>
                                            </p:txEl>
                                          </p:spTgt>
                                        </p:tgtEl>
                                        <p:attrNameLst>
                                          <p:attrName>style.visibility</p:attrName>
                                        </p:attrNameLst>
                                      </p:cBhvr>
                                      <p:to>
                                        <p:strVal val="visible"/>
                                      </p:to>
                                    </p:set>
                                    <p:animEffect transition="in" filter="wipe(down)">
                                      <p:cBhvr>
                                        <p:cTn id="7" dur="500"/>
                                        <p:tgtEl>
                                          <p:spTgt spid="3225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22567">
                                            <p:txEl>
                                              <p:pRg st="1" end="1"/>
                                            </p:txEl>
                                          </p:spTgt>
                                        </p:tgtEl>
                                        <p:attrNameLst>
                                          <p:attrName>style.visibility</p:attrName>
                                        </p:attrNameLst>
                                      </p:cBhvr>
                                      <p:to>
                                        <p:strVal val="visible"/>
                                      </p:to>
                                    </p:set>
                                    <p:animEffect transition="in" filter="wipe(down)">
                                      <p:cBhvr>
                                        <p:cTn id="12" dur="500"/>
                                        <p:tgtEl>
                                          <p:spTgt spid="322567">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22567">
                                            <p:txEl>
                                              <p:pRg st="2" end="2"/>
                                            </p:txEl>
                                          </p:spTgt>
                                        </p:tgtEl>
                                        <p:attrNameLst>
                                          <p:attrName>style.visibility</p:attrName>
                                        </p:attrNameLst>
                                      </p:cBhvr>
                                      <p:to>
                                        <p:strVal val="visible"/>
                                      </p:to>
                                    </p:set>
                                    <p:animEffect transition="in" filter="wipe(down)">
                                      <p:cBhvr>
                                        <p:cTn id="15" dur="500"/>
                                        <p:tgtEl>
                                          <p:spTgt spid="322567">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322567">
                                            <p:txEl>
                                              <p:pRg st="3" end="3"/>
                                            </p:txEl>
                                          </p:spTgt>
                                        </p:tgtEl>
                                        <p:attrNameLst>
                                          <p:attrName>style.visibility</p:attrName>
                                        </p:attrNameLst>
                                      </p:cBhvr>
                                      <p:to>
                                        <p:strVal val="visible"/>
                                      </p:to>
                                    </p:set>
                                    <p:animEffect transition="in" filter="wipe(down)">
                                      <p:cBhvr>
                                        <p:cTn id="18" dur="500"/>
                                        <p:tgtEl>
                                          <p:spTgt spid="3225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2907665"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结构的访问</a:t>
            </a:r>
          </a:p>
        </p:txBody>
      </p:sp>
      <p:sp>
        <p:nvSpPr>
          <p:cNvPr id="5" name="Rectangle 2"/>
          <p:cNvSpPr>
            <a:spLocks noChangeArrowheads="1"/>
          </p:cNvSpPr>
          <p:nvPr/>
        </p:nvSpPr>
        <p:spPr bwMode="auto">
          <a:xfrm>
            <a:off x="634365" y="1294466"/>
            <a:ext cx="2444739" cy="1474763"/>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a:t>
            </a: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a[3];</a:t>
            </a: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i</a:t>
            </a:r>
            <a:r>
              <a:rPr lang="en-US" sz="1800" dirty="0">
                <a:latin typeface="Courier New" panose="02070309020205020404" charset="0"/>
              </a:rPr>
              <a:t>;</a:t>
            </a:r>
          </a:p>
          <a:p>
            <a:pPr eaLnBrk="0" hangingPunct="0"/>
            <a:r>
              <a:rPr lang="en-US" sz="1800" dirty="0">
                <a:latin typeface="Courier New" panose="02070309020205020404" charset="0"/>
              </a:rPr>
              <a:t>  </a:t>
            </a:r>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*n;</a:t>
            </a:r>
          </a:p>
          <a:p>
            <a:pPr eaLnBrk="0" hangingPunct="0"/>
            <a:r>
              <a:rPr lang="en-US" sz="1800" dirty="0">
                <a:latin typeface="Courier New" panose="02070309020205020404" charset="0"/>
              </a:rPr>
              <a:t>};</a:t>
            </a:r>
          </a:p>
        </p:txBody>
      </p:sp>
      <p:sp>
        <p:nvSpPr>
          <p:cNvPr id="6" name="Rectangle 10"/>
          <p:cNvSpPr>
            <a:spLocks noChangeArrowheads="1"/>
          </p:cNvSpPr>
          <p:nvPr/>
        </p:nvSpPr>
        <p:spPr bwMode="auto">
          <a:xfrm>
            <a:off x="5422900" y="1690021"/>
            <a:ext cx="431800" cy="431800"/>
          </a:xfrm>
          <a:prstGeom prst="rect">
            <a:avLst/>
          </a:prstGeom>
          <a:solidFill>
            <a:srgbClr val="F1C7C7"/>
          </a:solidFill>
          <a:ln w="25400">
            <a:solidFill>
              <a:schemeClr val="tx1"/>
            </a:solidFill>
            <a:miter lim="800000"/>
          </a:ln>
        </p:spPr>
        <p:txBody>
          <a:bodyPr wrap="none" lIns="90487" tIns="44450" rIns="90487" bIns="44450" anchor="ctr"/>
          <a:lstStyle/>
          <a:p>
            <a:pPr algn="ctr" eaLnBrk="0" hangingPunct="0"/>
            <a:r>
              <a:rPr lang="en-US" sz="2000">
                <a:latin typeface="Courier New" panose="02070309020205020404" charset="0"/>
              </a:rPr>
              <a:t>i</a:t>
            </a:r>
          </a:p>
        </p:txBody>
      </p:sp>
      <p:sp>
        <p:nvSpPr>
          <p:cNvPr id="7" name="Rectangle 11"/>
          <p:cNvSpPr>
            <a:spLocks noChangeArrowheads="1"/>
          </p:cNvSpPr>
          <p:nvPr/>
        </p:nvSpPr>
        <p:spPr bwMode="auto">
          <a:xfrm>
            <a:off x="4083056" y="1690021"/>
            <a:ext cx="1346200" cy="431800"/>
          </a:xfrm>
          <a:prstGeom prst="rect">
            <a:avLst/>
          </a:prstGeom>
          <a:solidFill>
            <a:schemeClr val="accent2">
              <a:lumMod val="20000"/>
              <a:lumOff val="80000"/>
            </a:schemeClr>
          </a:solidFill>
          <a:ln w="25400">
            <a:solidFill>
              <a:schemeClr val="tx1"/>
            </a:solidFill>
            <a:miter lim="800000"/>
          </a:ln>
          <a:effectLst/>
        </p:spPr>
        <p:txBody>
          <a:bodyPr wrap="none" lIns="90487" tIns="44450" rIns="90487" bIns="44450" anchor="ctr"/>
          <a:lstStyle/>
          <a:p>
            <a:pPr eaLnBrk="0" hangingPunct="0">
              <a:defRPr/>
            </a:pPr>
            <a:r>
              <a:rPr lang="en-US" sz="2000">
                <a:latin typeface="Courier New" panose="02070309020205020404" charset="0"/>
                <a:ea typeface="+mn-ea"/>
                <a:cs typeface="+mn-cs"/>
              </a:rPr>
              <a:t>a</a:t>
            </a:r>
          </a:p>
        </p:txBody>
      </p:sp>
      <p:sp>
        <p:nvSpPr>
          <p:cNvPr id="8" name="Rectangle 12"/>
          <p:cNvSpPr>
            <a:spLocks noChangeArrowheads="1"/>
          </p:cNvSpPr>
          <p:nvPr/>
        </p:nvSpPr>
        <p:spPr bwMode="auto">
          <a:xfrm>
            <a:off x="5867400" y="1690021"/>
            <a:ext cx="431800" cy="431800"/>
          </a:xfrm>
          <a:prstGeom prst="rect">
            <a:avLst/>
          </a:prstGeom>
          <a:solidFill>
            <a:srgbClr val="D5F1CF"/>
          </a:solidFill>
          <a:ln w="25400">
            <a:solidFill>
              <a:schemeClr val="tx1"/>
            </a:solidFill>
            <a:miter lim="800000"/>
          </a:ln>
        </p:spPr>
        <p:txBody>
          <a:bodyPr wrap="none" lIns="90487" tIns="44450" rIns="90487" bIns="44450" anchor="ctr"/>
          <a:lstStyle/>
          <a:p>
            <a:pPr algn="ctr" eaLnBrk="0" hangingPunct="0"/>
            <a:r>
              <a:rPr lang="en-US" sz="2000" dirty="0">
                <a:latin typeface="Courier New" panose="02070309020205020404" charset="0"/>
              </a:rPr>
              <a:t>n</a:t>
            </a:r>
          </a:p>
        </p:txBody>
      </p:sp>
      <p:sp>
        <p:nvSpPr>
          <p:cNvPr id="9" name="Rectangle 13"/>
          <p:cNvSpPr>
            <a:spLocks noChangeArrowheads="1"/>
          </p:cNvSpPr>
          <p:nvPr/>
        </p:nvSpPr>
        <p:spPr bwMode="auto">
          <a:xfrm>
            <a:off x="3889375" y="2105946"/>
            <a:ext cx="3333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0</a:t>
            </a:r>
          </a:p>
        </p:txBody>
      </p:sp>
      <p:sp>
        <p:nvSpPr>
          <p:cNvPr id="10" name="Rectangle 14"/>
          <p:cNvSpPr>
            <a:spLocks noChangeArrowheads="1"/>
          </p:cNvSpPr>
          <p:nvPr/>
        </p:nvSpPr>
        <p:spPr bwMode="auto">
          <a:xfrm>
            <a:off x="5148282" y="2102761"/>
            <a:ext cx="490518" cy="397545"/>
          </a:xfrm>
          <a:prstGeom prst="rect">
            <a:avLst/>
          </a:prstGeom>
          <a:noFill/>
          <a:ln w="25400">
            <a:noFill/>
            <a:miter lim="800000"/>
          </a:ln>
        </p:spPr>
        <p:txBody>
          <a:bodyPr wrap="none" lIns="90487" tIns="44450" rIns="90487" bIns="44450">
            <a:spAutoFit/>
          </a:bodyPr>
          <a:lstStyle/>
          <a:p>
            <a:pPr eaLnBrk="0" hangingPunct="0"/>
            <a:r>
              <a:rPr lang="en-US" sz="2000" dirty="0">
                <a:latin typeface="Courier New" panose="02070309020205020404" charset="0"/>
              </a:rPr>
              <a:t>12</a:t>
            </a:r>
          </a:p>
        </p:txBody>
      </p:sp>
      <p:sp>
        <p:nvSpPr>
          <p:cNvPr id="11" name="Rectangle 15"/>
          <p:cNvSpPr>
            <a:spLocks noChangeArrowheads="1"/>
          </p:cNvSpPr>
          <p:nvPr/>
        </p:nvSpPr>
        <p:spPr bwMode="auto">
          <a:xfrm>
            <a:off x="5638800" y="2105946"/>
            <a:ext cx="4857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16</a:t>
            </a:r>
          </a:p>
        </p:txBody>
      </p:sp>
      <p:sp>
        <p:nvSpPr>
          <p:cNvPr id="12" name="Rectangle 16"/>
          <p:cNvSpPr>
            <a:spLocks noChangeArrowheads="1"/>
          </p:cNvSpPr>
          <p:nvPr/>
        </p:nvSpPr>
        <p:spPr bwMode="auto">
          <a:xfrm>
            <a:off x="6062663" y="2088483"/>
            <a:ext cx="4857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20</a:t>
            </a:r>
          </a:p>
        </p:txBody>
      </p:sp>
      <p:sp>
        <p:nvSpPr>
          <p:cNvPr id="17" name="Line 14"/>
          <p:cNvSpPr>
            <a:spLocks noChangeShapeType="1"/>
          </p:cNvSpPr>
          <p:nvPr/>
        </p:nvSpPr>
        <p:spPr bwMode="auto">
          <a:xfrm>
            <a:off x="5458537" y="1238232"/>
            <a:ext cx="0" cy="381000"/>
          </a:xfrm>
          <a:prstGeom prst="line">
            <a:avLst/>
          </a:prstGeom>
          <a:noFill/>
          <a:ln w="25400">
            <a:solidFill>
              <a:schemeClr val="tx1"/>
            </a:solidFill>
            <a:round/>
            <a:tailEnd type="triangle" w="med" len="med"/>
          </a:ln>
        </p:spPr>
        <p:txBody>
          <a:bodyPr wrap="none" anchor="ctr"/>
          <a:lstStyle/>
          <a:p>
            <a:endParaRPr lang="en-US"/>
          </a:p>
        </p:txBody>
      </p:sp>
      <p:sp>
        <p:nvSpPr>
          <p:cNvPr id="18" name="Rectangle 15"/>
          <p:cNvSpPr>
            <a:spLocks noChangeArrowheads="1"/>
          </p:cNvSpPr>
          <p:nvPr/>
        </p:nvSpPr>
        <p:spPr bwMode="auto">
          <a:xfrm>
            <a:off x="5306137" y="857232"/>
            <a:ext cx="922047" cy="461665"/>
          </a:xfrm>
          <a:prstGeom prst="rect">
            <a:avLst/>
          </a:prstGeom>
          <a:noFill/>
          <a:ln w="25400">
            <a:noFill/>
            <a:miter lim="800000"/>
          </a:ln>
        </p:spPr>
        <p:txBody>
          <a:bodyPr wrap="none">
            <a:spAutoFit/>
          </a:bodyPr>
          <a:lstStyle/>
          <a:p>
            <a:pPr eaLnBrk="0" hangingPunct="0"/>
            <a:r>
              <a:rPr lang="en-US" dirty="0">
                <a:latin typeface="Courier New" panose="02070309020205020404" charset="0"/>
              </a:rPr>
              <a:t>r+12</a:t>
            </a:r>
          </a:p>
        </p:txBody>
      </p:sp>
      <p:sp>
        <p:nvSpPr>
          <p:cNvPr id="19" name="Line 16"/>
          <p:cNvSpPr>
            <a:spLocks noChangeShapeType="1"/>
          </p:cNvSpPr>
          <p:nvPr/>
        </p:nvSpPr>
        <p:spPr bwMode="auto">
          <a:xfrm>
            <a:off x="4076328" y="1238232"/>
            <a:ext cx="0" cy="381000"/>
          </a:xfrm>
          <a:prstGeom prst="line">
            <a:avLst/>
          </a:prstGeom>
          <a:noFill/>
          <a:ln w="25400">
            <a:solidFill>
              <a:schemeClr val="tx1"/>
            </a:solidFill>
            <a:round/>
            <a:tailEnd type="triangle" w="med" len="med"/>
          </a:ln>
        </p:spPr>
        <p:txBody>
          <a:bodyPr wrap="none" anchor="ctr"/>
          <a:lstStyle/>
          <a:p>
            <a:endParaRPr lang="en-US"/>
          </a:p>
        </p:txBody>
      </p:sp>
      <p:sp>
        <p:nvSpPr>
          <p:cNvPr id="20" name="Rectangle 17"/>
          <p:cNvSpPr>
            <a:spLocks noChangeArrowheads="1"/>
          </p:cNvSpPr>
          <p:nvPr/>
        </p:nvSpPr>
        <p:spPr bwMode="auto">
          <a:xfrm>
            <a:off x="3923928" y="857232"/>
            <a:ext cx="366713" cy="457200"/>
          </a:xfrm>
          <a:prstGeom prst="rect">
            <a:avLst/>
          </a:prstGeom>
          <a:noFill/>
          <a:ln w="25400">
            <a:noFill/>
            <a:miter lim="800000"/>
          </a:ln>
        </p:spPr>
        <p:txBody>
          <a:bodyPr wrap="none">
            <a:spAutoFit/>
          </a:bodyPr>
          <a:lstStyle/>
          <a:p>
            <a:pPr eaLnBrk="0" hangingPunct="0"/>
            <a:r>
              <a:rPr lang="en-US">
                <a:latin typeface="Courier New" panose="02070309020205020404" charset="0"/>
              </a:rPr>
              <a:t>r</a:t>
            </a:r>
          </a:p>
        </p:txBody>
      </p:sp>
      <p:sp>
        <p:nvSpPr>
          <p:cNvPr id="13" name="Rectangle 7"/>
          <p:cNvSpPr>
            <a:spLocks noGrp="1" noChangeArrowheads="1"/>
          </p:cNvSpPr>
          <p:nvPr/>
        </p:nvSpPr>
        <p:spPr>
          <a:xfrm>
            <a:off x="465455" y="2845435"/>
            <a:ext cx="7926388" cy="22098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dirty="0">
                <a:latin typeface="微软雅黑" panose="020B0503020204020204" charset="-122"/>
                <a:ea typeface="微软雅黑" panose="020B0503020204020204" charset="-122"/>
              </a:rPr>
              <a:t>访问结构成员</a:t>
            </a:r>
          </a:p>
          <a:p>
            <a:pPr lvl="1">
              <a:buClr>
                <a:srgbClr val="0D0D0D"/>
              </a:buClr>
            </a:pPr>
            <a:r>
              <a:rPr lang="en-US" dirty="0">
                <a:latin typeface="微软雅黑" panose="020B0503020204020204" charset="-122"/>
                <a:ea typeface="微软雅黑" panose="020B0503020204020204" charset="-122"/>
              </a:rPr>
              <a:t>指针表示结构的第一个字节</a:t>
            </a:r>
          </a:p>
          <a:p>
            <a:pPr lvl="1">
              <a:buClr>
                <a:srgbClr val="0D0D0D"/>
              </a:buClr>
            </a:pPr>
            <a:r>
              <a:rPr lang="en-US" dirty="0">
                <a:latin typeface="微软雅黑" panose="020B0503020204020204" charset="-122"/>
                <a:ea typeface="微软雅黑" panose="020B0503020204020204" charset="-122"/>
              </a:rPr>
              <a:t>访问带偏移的元素</a:t>
            </a:r>
          </a:p>
          <a:p>
            <a:pPr lvl="1"/>
            <a:endParaRPr lang="en-US" dirty="0">
              <a:latin typeface="微软雅黑" panose="020B0503020204020204" charset="-122"/>
              <a:ea typeface="微软雅黑" panose="020B0503020204020204" charset="-122"/>
            </a:endParaRPr>
          </a:p>
        </p:txBody>
      </p:sp>
      <p:sp>
        <p:nvSpPr>
          <p:cNvPr id="322565" name="Rectangle 5"/>
          <p:cNvSpPr>
            <a:spLocks noChangeArrowheads="1"/>
          </p:cNvSpPr>
          <p:nvPr/>
        </p:nvSpPr>
        <p:spPr bwMode="auto">
          <a:xfrm>
            <a:off x="333979" y="4201964"/>
            <a:ext cx="2968625" cy="174942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a:latin typeface="Courier New" panose="02070309020205020404" charset="0"/>
              </a:rPr>
              <a:t>void </a:t>
            </a:r>
          </a:p>
          <a:p>
            <a:pPr eaLnBrk="0" hangingPunct="0"/>
            <a:r>
              <a:rPr lang="en-US" sz="1800">
                <a:latin typeface="Courier New" panose="02070309020205020404" charset="0"/>
              </a:rPr>
              <a:t>set_i(struct rec *r,</a:t>
            </a:r>
          </a:p>
          <a:p>
            <a:pPr eaLnBrk="0" hangingPunct="0"/>
            <a:r>
              <a:rPr lang="en-US" sz="1800">
                <a:latin typeface="Courier New" panose="02070309020205020404" charset="0"/>
              </a:rPr>
              <a:t>      int val)</a:t>
            </a:r>
          </a:p>
          <a:p>
            <a:pPr eaLnBrk="0" hangingPunct="0"/>
            <a:r>
              <a:rPr lang="en-US" sz="1800">
                <a:latin typeface="Courier New" panose="02070309020205020404" charset="0"/>
              </a:rPr>
              <a:t>{</a:t>
            </a:r>
          </a:p>
          <a:p>
            <a:pPr eaLnBrk="0" hangingPunct="0"/>
            <a:r>
              <a:rPr lang="en-US" sz="1800">
                <a:latin typeface="Courier New" panose="02070309020205020404" charset="0"/>
              </a:rPr>
              <a:t>  r-&gt;i = val;</a:t>
            </a:r>
          </a:p>
          <a:p>
            <a:pPr eaLnBrk="0" hangingPunct="0"/>
            <a:r>
              <a:rPr lang="en-US" sz="1800">
                <a:latin typeface="Courier New" panose="02070309020205020404" charset="0"/>
              </a:rPr>
              <a:t>}</a:t>
            </a:r>
          </a:p>
        </p:txBody>
      </p:sp>
      <p:sp>
        <p:nvSpPr>
          <p:cNvPr id="322563" name="Rectangle 3"/>
          <p:cNvSpPr>
            <a:spLocks noChangeArrowheads="1"/>
          </p:cNvSpPr>
          <p:nvPr/>
        </p:nvSpPr>
        <p:spPr bwMode="auto">
          <a:xfrm>
            <a:off x="3379788" y="4293096"/>
            <a:ext cx="3365500" cy="412750"/>
          </a:xfrm>
          <a:prstGeom prst="rect">
            <a:avLst/>
          </a:prstGeom>
          <a:noFill/>
          <a:ln w="12700">
            <a:noFill/>
            <a:miter lim="800000"/>
          </a:ln>
        </p:spPr>
        <p:txBody>
          <a:bodyPr lIns="90487" tIns="44450" rIns="90487" bIns="44450"/>
          <a:lstStyle/>
          <a:p>
            <a:pPr marL="224155" indent="-224155" defTabSz="895350" eaLnBrk="0" hangingPunct="0">
              <a:spcBef>
                <a:spcPct val="30000"/>
              </a:spcBef>
            </a:pPr>
            <a:r>
              <a:rPr lang="en-US">
                <a:solidFill>
                  <a:schemeClr val="tx2"/>
                </a:solidFill>
                <a:latin typeface="Calibri" panose="020F0502020204030204" charset="0"/>
              </a:rPr>
              <a:t>IA32 </a:t>
            </a:r>
            <a:r>
              <a:rPr lang="zh-CN" altLang="en-US">
                <a:solidFill>
                  <a:schemeClr val="tx2"/>
                </a:solidFill>
                <a:latin typeface="Calibri" panose="020F0502020204030204" charset="0"/>
              </a:rPr>
              <a:t>汇编</a:t>
            </a:r>
          </a:p>
        </p:txBody>
      </p:sp>
      <p:sp>
        <p:nvSpPr>
          <p:cNvPr id="322564" name="Rectangle 4"/>
          <p:cNvSpPr>
            <a:spLocks noChangeArrowheads="1"/>
          </p:cNvSpPr>
          <p:nvPr/>
        </p:nvSpPr>
        <p:spPr bwMode="auto">
          <a:xfrm>
            <a:off x="3357555" y="4721724"/>
            <a:ext cx="5753108" cy="920765"/>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114300" algn="l"/>
                <a:tab pos="2912745" algn="l"/>
              </a:tabLst>
              <a:defRPr/>
            </a:pP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val</a:t>
            </a:r>
            <a:endParaRPr lang="en-US" sz="1800" dirty="0">
              <a:latin typeface="Courier New" panose="02070309020205020404" charset="0"/>
              <a:ea typeface="+mn-ea"/>
              <a:cs typeface="+mn-cs"/>
            </a:endParaRPr>
          </a:p>
          <a:p>
            <a:pPr eaLnBrk="0" hangingPunct="0">
              <a:tabLst>
                <a:tab pos="114300" algn="l"/>
                <a:tab pos="2912745" algn="l"/>
              </a:tabLst>
              <a:defRPr/>
            </a:pP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r</a:t>
            </a:r>
          </a:p>
          <a:p>
            <a:pPr eaLnBrk="0" hangingPunct="0">
              <a:tabLst>
                <a:tab pos="114300" algn="l"/>
                <a:tab pos="2912745"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12(%</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Mem</a:t>
            </a:r>
            <a:r>
              <a:rPr lang="en-US" sz="1800" dirty="0">
                <a:latin typeface="Courier New" panose="02070309020205020404" charset="0"/>
                <a:ea typeface="+mn-ea"/>
                <a:cs typeface="+mn-cs"/>
              </a:rPr>
              <a:t>[r+12] = </a:t>
            </a:r>
            <a:r>
              <a:rPr lang="en-US" sz="1800" dirty="0" err="1">
                <a:latin typeface="Courier New" panose="02070309020205020404" charset="0"/>
                <a:ea typeface="+mn-ea"/>
                <a:cs typeface="+mn-cs"/>
              </a:rPr>
              <a:t>val</a:t>
            </a:r>
            <a:endParaRPr lang="en-US" sz="1800" dirty="0">
              <a:latin typeface="Courier New" panose="02070309020205020404" charset="0"/>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wipe(down)">
                                      <p:cBhvr>
                                        <p:cTn id="7" dur="500"/>
                                        <p:tgtEl>
                                          <p:spTgt spid="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3">
                                            <p:txEl>
                                              <p:pRg st="1" end="1"/>
                                            </p:txEl>
                                          </p:spTgt>
                                        </p:tgtEl>
                                        <p:attrNameLst>
                                          <p:attrName>style.visibility</p:attrName>
                                        </p:attrNameLst>
                                      </p:cBhvr>
                                      <p:to>
                                        <p:strVal val="visible"/>
                                      </p:to>
                                    </p:set>
                                    <p:animEffect transition="in" filter="wipe(down)">
                                      <p:cBhvr>
                                        <p:cTn id="12" dur="500"/>
                                        <p:tgtEl>
                                          <p:spTgt spid="13">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animEffect transition="in" filter="wipe(down)">
                                      <p:cBhvr>
                                        <p:cTn id="15" dur="500"/>
                                        <p:tgtEl>
                                          <p:spTgt spid="1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22565"/>
                                        </p:tgtEl>
                                        <p:attrNameLst>
                                          <p:attrName>style.visibility</p:attrName>
                                        </p:attrNameLst>
                                      </p:cBhvr>
                                      <p:to>
                                        <p:strVal val="visible"/>
                                      </p:to>
                                    </p:set>
                                    <p:animEffect transition="in" filter="wipe(down)">
                                      <p:cBhvr>
                                        <p:cTn id="20" dur="500"/>
                                        <p:tgtEl>
                                          <p:spTgt spid="32256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22563"/>
                                        </p:tgtEl>
                                        <p:attrNameLst>
                                          <p:attrName>style.visibility</p:attrName>
                                        </p:attrNameLst>
                                      </p:cBhvr>
                                      <p:to>
                                        <p:strVal val="visible"/>
                                      </p:to>
                                    </p:set>
                                    <p:animEffect transition="in" filter="wipe(down)">
                                      <p:cBhvr>
                                        <p:cTn id="25" dur="500"/>
                                        <p:tgtEl>
                                          <p:spTgt spid="32256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22564"/>
                                        </p:tgtEl>
                                        <p:attrNameLst>
                                          <p:attrName>style.visibility</p:attrName>
                                        </p:attrNameLst>
                                      </p:cBhvr>
                                      <p:to>
                                        <p:strVal val="visible"/>
                                      </p:to>
                                    </p:set>
                                    <p:animEffect transition="in" filter="wipe(down)">
                                      <p:cBhvr>
                                        <p:cTn id="28" dur="500"/>
                                        <p:tgtEl>
                                          <p:spTgt spid="322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5" grpId="0" animBg="1"/>
      <p:bldP spid="322563" grpId="0"/>
      <p:bldP spid="322564" grpId="0" animBg="1"/>
    </p:bld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4986655"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生成指向结构成员的指针</a:t>
            </a:r>
          </a:p>
        </p:txBody>
      </p:sp>
      <p:sp>
        <p:nvSpPr>
          <p:cNvPr id="32" name="Rectangle 2"/>
          <p:cNvSpPr>
            <a:spLocks noChangeArrowheads="1"/>
          </p:cNvSpPr>
          <p:nvPr/>
        </p:nvSpPr>
        <p:spPr bwMode="auto">
          <a:xfrm>
            <a:off x="555625" y="1297012"/>
            <a:ext cx="2444739" cy="1473835"/>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a:t>
            </a: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a[3];</a:t>
            </a: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i</a:t>
            </a:r>
            <a:r>
              <a:rPr lang="en-US" sz="1800" dirty="0">
                <a:latin typeface="Courier New" panose="02070309020205020404" charset="0"/>
              </a:rPr>
              <a:t>;</a:t>
            </a:r>
          </a:p>
          <a:p>
            <a:pPr eaLnBrk="0" hangingPunct="0"/>
            <a:r>
              <a:rPr lang="en-US" sz="1800" dirty="0">
                <a:latin typeface="Courier New" panose="02070309020205020404" charset="0"/>
              </a:rPr>
              <a:t>  </a:t>
            </a:r>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*n;</a:t>
            </a:r>
          </a:p>
          <a:p>
            <a:pPr eaLnBrk="0" hangingPunct="0"/>
            <a:r>
              <a:rPr lang="en-US" sz="1800" dirty="0">
                <a:latin typeface="Courier New" panose="02070309020205020404" charset="0"/>
              </a:rPr>
              <a:t>};</a:t>
            </a:r>
          </a:p>
        </p:txBody>
      </p:sp>
      <p:sp>
        <p:nvSpPr>
          <p:cNvPr id="28" name="Line 14"/>
          <p:cNvSpPr>
            <a:spLocks noChangeShapeType="1"/>
          </p:cNvSpPr>
          <p:nvPr/>
        </p:nvSpPr>
        <p:spPr bwMode="auto">
          <a:xfrm>
            <a:off x="4433905" y="1504932"/>
            <a:ext cx="0" cy="381000"/>
          </a:xfrm>
          <a:prstGeom prst="line">
            <a:avLst/>
          </a:prstGeom>
          <a:noFill/>
          <a:ln w="25400">
            <a:solidFill>
              <a:schemeClr val="tx1"/>
            </a:solidFill>
            <a:round/>
            <a:tailEnd type="triangle" w="med" len="med"/>
          </a:ln>
        </p:spPr>
        <p:txBody>
          <a:bodyPr wrap="none" anchor="ctr"/>
          <a:lstStyle/>
          <a:p>
            <a:endParaRPr lang="en-US"/>
          </a:p>
        </p:txBody>
      </p:sp>
      <p:sp>
        <p:nvSpPr>
          <p:cNvPr id="29" name="Rectangle 15"/>
          <p:cNvSpPr>
            <a:spLocks noChangeArrowheads="1"/>
          </p:cNvSpPr>
          <p:nvPr/>
        </p:nvSpPr>
        <p:spPr bwMode="auto">
          <a:xfrm>
            <a:off x="4281505" y="1123932"/>
            <a:ext cx="1143000" cy="368300"/>
          </a:xfrm>
          <a:prstGeom prst="rect">
            <a:avLst/>
          </a:prstGeom>
          <a:noFill/>
          <a:ln w="25400">
            <a:noFill/>
            <a:miter lim="800000"/>
          </a:ln>
        </p:spPr>
        <p:txBody>
          <a:bodyPr wrap="none">
            <a:spAutoFit/>
          </a:bodyPr>
          <a:lstStyle/>
          <a:p>
            <a:pPr eaLnBrk="0" hangingPunct="0"/>
            <a:r>
              <a:rPr lang="en-US" dirty="0" err="1">
                <a:latin typeface="Courier New" panose="02070309020205020404" charset="0"/>
              </a:rPr>
              <a:t>r+idx</a:t>
            </a:r>
            <a:r>
              <a:rPr lang="en-US" dirty="0">
                <a:latin typeface="Courier New" panose="02070309020205020404" charset="0"/>
              </a:rPr>
              <a:t>*4</a:t>
            </a:r>
          </a:p>
        </p:txBody>
      </p:sp>
      <p:sp>
        <p:nvSpPr>
          <p:cNvPr id="30" name="Line 16"/>
          <p:cNvSpPr>
            <a:spLocks noChangeShapeType="1"/>
          </p:cNvSpPr>
          <p:nvPr/>
        </p:nvSpPr>
        <p:spPr bwMode="auto">
          <a:xfrm>
            <a:off x="3906838" y="1504932"/>
            <a:ext cx="0" cy="381000"/>
          </a:xfrm>
          <a:prstGeom prst="line">
            <a:avLst/>
          </a:prstGeom>
          <a:noFill/>
          <a:ln w="25400">
            <a:solidFill>
              <a:schemeClr val="tx1"/>
            </a:solidFill>
            <a:round/>
            <a:tailEnd type="triangle" w="med" len="med"/>
          </a:ln>
        </p:spPr>
        <p:txBody>
          <a:bodyPr wrap="none" anchor="ctr"/>
          <a:lstStyle/>
          <a:p>
            <a:endParaRPr lang="en-US"/>
          </a:p>
        </p:txBody>
      </p:sp>
      <p:sp>
        <p:nvSpPr>
          <p:cNvPr id="31" name="Rectangle 17"/>
          <p:cNvSpPr>
            <a:spLocks noChangeArrowheads="1"/>
          </p:cNvSpPr>
          <p:nvPr/>
        </p:nvSpPr>
        <p:spPr bwMode="auto">
          <a:xfrm>
            <a:off x="3754438" y="1123932"/>
            <a:ext cx="320040" cy="368300"/>
          </a:xfrm>
          <a:prstGeom prst="rect">
            <a:avLst/>
          </a:prstGeom>
          <a:noFill/>
          <a:ln w="25400">
            <a:noFill/>
            <a:miter lim="800000"/>
          </a:ln>
        </p:spPr>
        <p:txBody>
          <a:bodyPr wrap="none">
            <a:spAutoFit/>
          </a:bodyPr>
          <a:lstStyle/>
          <a:p>
            <a:pPr eaLnBrk="0" hangingPunct="0"/>
            <a:r>
              <a:rPr lang="en-US">
                <a:latin typeface="Courier New" panose="02070309020205020404" charset="0"/>
              </a:rPr>
              <a:t>r</a:t>
            </a:r>
          </a:p>
        </p:txBody>
      </p:sp>
      <p:sp>
        <p:nvSpPr>
          <p:cNvPr id="14" name="Rectangle 10"/>
          <p:cNvSpPr>
            <a:spLocks noChangeArrowheads="1"/>
          </p:cNvSpPr>
          <p:nvPr/>
        </p:nvSpPr>
        <p:spPr bwMode="auto">
          <a:xfrm>
            <a:off x="5272106" y="1925638"/>
            <a:ext cx="431800" cy="431800"/>
          </a:xfrm>
          <a:prstGeom prst="rect">
            <a:avLst/>
          </a:prstGeom>
          <a:solidFill>
            <a:srgbClr val="F1C7C7"/>
          </a:solidFill>
          <a:ln w="25400">
            <a:solidFill>
              <a:schemeClr val="tx1"/>
            </a:solidFill>
            <a:miter lim="800000"/>
          </a:ln>
        </p:spPr>
        <p:txBody>
          <a:bodyPr wrap="none" lIns="90487" tIns="44450" rIns="90487" bIns="44450" anchor="ctr"/>
          <a:lstStyle/>
          <a:p>
            <a:pPr algn="ctr" eaLnBrk="0" hangingPunct="0"/>
            <a:r>
              <a:rPr lang="en-US" sz="2000">
                <a:latin typeface="Courier New" panose="02070309020205020404" charset="0"/>
              </a:rPr>
              <a:t>i</a:t>
            </a:r>
          </a:p>
        </p:txBody>
      </p:sp>
      <p:sp>
        <p:nvSpPr>
          <p:cNvPr id="21" name="Rectangle 11"/>
          <p:cNvSpPr>
            <a:spLocks noChangeArrowheads="1"/>
          </p:cNvSpPr>
          <p:nvPr/>
        </p:nvSpPr>
        <p:spPr bwMode="auto">
          <a:xfrm>
            <a:off x="3932262" y="1925638"/>
            <a:ext cx="1346200" cy="431800"/>
          </a:xfrm>
          <a:prstGeom prst="rect">
            <a:avLst/>
          </a:prstGeom>
          <a:solidFill>
            <a:schemeClr val="accent2">
              <a:lumMod val="20000"/>
              <a:lumOff val="80000"/>
            </a:schemeClr>
          </a:solidFill>
          <a:ln w="25400">
            <a:solidFill>
              <a:schemeClr val="tx1"/>
            </a:solidFill>
            <a:miter lim="800000"/>
          </a:ln>
          <a:effectLst/>
        </p:spPr>
        <p:txBody>
          <a:bodyPr wrap="none" lIns="90487" tIns="44450" rIns="90487" bIns="44450" anchor="ctr"/>
          <a:lstStyle/>
          <a:p>
            <a:pPr eaLnBrk="0" hangingPunct="0">
              <a:defRPr/>
            </a:pPr>
            <a:r>
              <a:rPr lang="en-US" sz="2000">
                <a:latin typeface="Courier New" panose="02070309020205020404" charset="0"/>
                <a:ea typeface="+mn-ea"/>
                <a:cs typeface="+mn-cs"/>
              </a:rPr>
              <a:t>a</a:t>
            </a:r>
          </a:p>
        </p:txBody>
      </p:sp>
      <p:sp>
        <p:nvSpPr>
          <p:cNvPr id="23" name="Rectangle 12"/>
          <p:cNvSpPr>
            <a:spLocks noChangeArrowheads="1"/>
          </p:cNvSpPr>
          <p:nvPr/>
        </p:nvSpPr>
        <p:spPr bwMode="auto">
          <a:xfrm>
            <a:off x="5716606" y="1925638"/>
            <a:ext cx="431800" cy="431800"/>
          </a:xfrm>
          <a:prstGeom prst="rect">
            <a:avLst/>
          </a:prstGeom>
          <a:solidFill>
            <a:srgbClr val="D5F1CF"/>
          </a:solidFill>
          <a:ln w="25400">
            <a:solidFill>
              <a:schemeClr val="tx1"/>
            </a:solidFill>
            <a:miter lim="800000"/>
          </a:ln>
        </p:spPr>
        <p:txBody>
          <a:bodyPr wrap="none" lIns="90487" tIns="44450" rIns="90487" bIns="44450" anchor="ctr"/>
          <a:lstStyle/>
          <a:p>
            <a:pPr algn="ctr" eaLnBrk="0" hangingPunct="0"/>
            <a:r>
              <a:rPr lang="en-US" sz="2000" dirty="0">
                <a:latin typeface="Courier New" panose="02070309020205020404" charset="0"/>
              </a:rPr>
              <a:t>n</a:t>
            </a:r>
          </a:p>
        </p:txBody>
      </p:sp>
      <p:sp>
        <p:nvSpPr>
          <p:cNvPr id="24" name="Rectangle 13"/>
          <p:cNvSpPr>
            <a:spLocks noChangeArrowheads="1"/>
          </p:cNvSpPr>
          <p:nvPr/>
        </p:nvSpPr>
        <p:spPr bwMode="auto">
          <a:xfrm>
            <a:off x="3738581" y="2341563"/>
            <a:ext cx="332740" cy="39624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0</a:t>
            </a:r>
          </a:p>
        </p:txBody>
      </p:sp>
      <p:sp>
        <p:nvSpPr>
          <p:cNvPr id="25" name="Rectangle 14"/>
          <p:cNvSpPr>
            <a:spLocks noChangeArrowheads="1"/>
          </p:cNvSpPr>
          <p:nvPr/>
        </p:nvSpPr>
        <p:spPr bwMode="auto">
          <a:xfrm>
            <a:off x="4997488" y="2338378"/>
            <a:ext cx="485140" cy="396240"/>
          </a:xfrm>
          <a:prstGeom prst="rect">
            <a:avLst/>
          </a:prstGeom>
          <a:noFill/>
          <a:ln w="25400">
            <a:noFill/>
            <a:miter lim="800000"/>
          </a:ln>
        </p:spPr>
        <p:txBody>
          <a:bodyPr wrap="none" lIns="90487" tIns="44450" rIns="90487" bIns="44450">
            <a:spAutoFit/>
          </a:bodyPr>
          <a:lstStyle/>
          <a:p>
            <a:pPr eaLnBrk="0" hangingPunct="0"/>
            <a:r>
              <a:rPr lang="en-US" sz="2000" dirty="0">
                <a:latin typeface="Courier New" panose="02070309020205020404" charset="0"/>
              </a:rPr>
              <a:t>12</a:t>
            </a:r>
          </a:p>
        </p:txBody>
      </p:sp>
      <p:sp>
        <p:nvSpPr>
          <p:cNvPr id="26" name="Rectangle 15"/>
          <p:cNvSpPr>
            <a:spLocks noChangeArrowheads="1"/>
          </p:cNvSpPr>
          <p:nvPr/>
        </p:nvSpPr>
        <p:spPr bwMode="auto">
          <a:xfrm>
            <a:off x="5488006" y="2341563"/>
            <a:ext cx="485140" cy="39624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16</a:t>
            </a:r>
          </a:p>
        </p:txBody>
      </p:sp>
      <p:sp>
        <p:nvSpPr>
          <p:cNvPr id="27" name="Rectangle 16"/>
          <p:cNvSpPr>
            <a:spLocks noChangeArrowheads="1"/>
          </p:cNvSpPr>
          <p:nvPr/>
        </p:nvSpPr>
        <p:spPr bwMode="auto">
          <a:xfrm>
            <a:off x="5911869" y="2324100"/>
            <a:ext cx="485140" cy="39624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20</a:t>
            </a:r>
          </a:p>
        </p:txBody>
      </p:sp>
      <p:sp>
        <p:nvSpPr>
          <p:cNvPr id="323590" name="Rectangle 6"/>
          <p:cNvSpPr>
            <a:spLocks noGrp="1" noChangeArrowheads="1"/>
          </p:cNvSpPr>
          <p:nvPr/>
        </p:nvSpPr>
        <p:spPr>
          <a:xfrm>
            <a:off x="357188" y="3078163"/>
            <a:ext cx="3924300" cy="28638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dirty="0">
                <a:latin typeface="微软雅黑" panose="020B0503020204020204" charset="-122"/>
                <a:ea typeface="微软雅黑" panose="020B0503020204020204" charset="-122"/>
              </a:rPr>
              <a:t>生成指向数组元素的指针</a:t>
            </a:r>
          </a:p>
          <a:p>
            <a:pPr lvl="1">
              <a:buClr>
                <a:srgbClr val="0D0D0D"/>
              </a:buClr>
            </a:pPr>
            <a:r>
              <a:rPr lang="en-US" dirty="0">
                <a:latin typeface="微软雅黑" panose="020B0503020204020204" charset="-122"/>
                <a:ea typeface="微软雅黑" panose="020B0503020204020204" charset="-122"/>
              </a:rPr>
              <a:t>编译时确定每个结构成员的偏移量</a:t>
            </a:r>
          </a:p>
          <a:p>
            <a:pPr lvl="1">
              <a:buClr>
                <a:srgbClr val="0D0D0D"/>
              </a:buClr>
            </a:pPr>
            <a:r>
              <a:rPr lang="zh-CN" altLang="en-US" dirty="0">
                <a:latin typeface="微软雅黑" panose="020B0503020204020204" charset="-122"/>
                <a:ea typeface="微软雅黑" panose="020B0503020204020204" charset="-122"/>
              </a:rPr>
              <a:t>参数</a:t>
            </a:r>
          </a:p>
          <a:p>
            <a:pPr lvl="2"/>
            <a:r>
              <a:rPr lang="en-US" dirty="0" err="1">
                <a:latin typeface="微软雅黑" panose="020B0503020204020204" charset="-122"/>
                <a:ea typeface="微软雅黑" panose="020B0503020204020204" charset="-122"/>
              </a:rPr>
              <a:t>Mem</a:t>
            </a:r>
            <a:r>
              <a:rPr lang="en-US" dirty="0">
                <a:latin typeface="微软雅黑" panose="020B0503020204020204" charset="-122"/>
                <a:ea typeface="微软雅黑" panose="020B0503020204020204" charset="-122"/>
              </a:rPr>
              <a:t>[</a:t>
            </a:r>
            <a:r>
              <a:rPr lang="en-US" dirty="0">
                <a:latin typeface="微软雅黑" panose="020B0503020204020204" charset="-122"/>
                <a:ea typeface="微软雅黑" panose="020B0503020204020204" charset="-122"/>
                <a:cs typeface="Courier New" panose="02070309020205020404" charset="0"/>
              </a:rPr>
              <a:t>%ebp</a:t>
            </a:r>
            <a:r>
              <a:rPr lang="en-US" dirty="0">
                <a:latin typeface="微软雅黑" panose="020B0503020204020204" charset="-122"/>
                <a:ea typeface="微软雅黑" panose="020B0503020204020204" charset="-122"/>
              </a:rPr>
              <a:t>+8]: </a:t>
            </a:r>
            <a:r>
              <a:rPr lang="en-US" b="1" dirty="0">
                <a:latin typeface="微软雅黑" panose="020B0503020204020204" charset="-122"/>
                <a:ea typeface="微软雅黑" panose="020B0503020204020204" charset="-122"/>
                <a:cs typeface="Courier New" panose="02070309020205020404" charset="0"/>
              </a:rPr>
              <a:t>r</a:t>
            </a:r>
          </a:p>
          <a:p>
            <a:pPr lvl="2"/>
            <a:r>
              <a:rPr lang="en-US" dirty="0" err="1">
                <a:latin typeface="微软雅黑" panose="020B0503020204020204" charset="-122"/>
                <a:ea typeface="微软雅黑" panose="020B0503020204020204" charset="-122"/>
              </a:rPr>
              <a:t>Mem</a:t>
            </a:r>
            <a:r>
              <a:rPr lang="en-US" dirty="0">
                <a:latin typeface="微软雅黑" panose="020B0503020204020204" charset="-122"/>
                <a:ea typeface="微软雅黑" panose="020B0503020204020204" charset="-122"/>
              </a:rPr>
              <a:t>[</a:t>
            </a:r>
            <a:r>
              <a:rPr lang="en-US" dirty="0">
                <a:latin typeface="微软雅黑" panose="020B0503020204020204" charset="-122"/>
                <a:ea typeface="微软雅黑" panose="020B0503020204020204" charset="-122"/>
                <a:cs typeface="Courier New" panose="02070309020205020404" charset="0"/>
              </a:rPr>
              <a:t>%ebp</a:t>
            </a:r>
            <a:r>
              <a:rPr lang="en-US" dirty="0">
                <a:latin typeface="微软雅黑" panose="020B0503020204020204" charset="-122"/>
                <a:ea typeface="微软雅黑" panose="020B0503020204020204" charset="-122"/>
              </a:rPr>
              <a:t>+12]: </a:t>
            </a:r>
            <a:r>
              <a:rPr lang="en-US" b="1" dirty="0" err="1">
                <a:latin typeface="微软雅黑" panose="020B0503020204020204" charset="-122"/>
                <a:ea typeface="微软雅黑" panose="020B0503020204020204" charset="-122"/>
                <a:cs typeface="Courier New" panose="02070309020205020404" charset="0"/>
              </a:rPr>
              <a:t>idx</a:t>
            </a:r>
            <a:endParaRPr lang="en-US" b="1" dirty="0">
              <a:latin typeface="微软雅黑" panose="020B0503020204020204" charset="-122"/>
              <a:ea typeface="微软雅黑" panose="020B0503020204020204" charset="-122"/>
              <a:cs typeface="Courier New" panose="02070309020205020404" charset="0"/>
            </a:endParaRPr>
          </a:p>
          <a:p>
            <a:pPr lvl="1"/>
            <a:endParaRPr lang="en-US" dirty="0">
              <a:latin typeface="微软雅黑" panose="020B0503020204020204" charset="-122"/>
              <a:ea typeface="微软雅黑" panose="020B0503020204020204" charset="-122"/>
            </a:endParaRPr>
          </a:p>
        </p:txBody>
      </p:sp>
      <p:sp>
        <p:nvSpPr>
          <p:cNvPr id="323588" name="Rectangle 4"/>
          <p:cNvSpPr>
            <a:spLocks noChangeArrowheads="1"/>
          </p:cNvSpPr>
          <p:nvPr/>
        </p:nvSpPr>
        <p:spPr bwMode="auto">
          <a:xfrm>
            <a:off x="4986407" y="3170238"/>
            <a:ext cx="3810000" cy="147383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get_ap</a:t>
            </a:r>
            <a:endParaRPr lang="en-US" sz="1800" dirty="0">
              <a:latin typeface="Courier New" panose="02070309020205020404" charset="0"/>
            </a:endParaRPr>
          </a:p>
          <a:p>
            <a:pPr eaLnBrk="0" hangingPunct="0"/>
            <a:r>
              <a:rPr lang="en-US" sz="1800" dirty="0">
                <a:latin typeface="Courier New" panose="02070309020205020404" charset="0"/>
              </a:rPr>
              <a:t> (</a:t>
            </a:r>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*r,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idx</a:t>
            </a:r>
            <a:r>
              <a:rPr lang="en-US" sz="1800" dirty="0">
                <a:latin typeface="Courier New" panose="02070309020205020404" charset="0"/>
              </a:rPr>
              <a:t>)</a:t>
            </a:r>
          </a:p>
          <a:p>
            <a:pPr eaLnBrk="0" hangingPunct="0"/>
            <a:r>
              <a:rPr lang="en-US" sz="1800" dirty="0">
                <a:latin typeface="Courier New" panose="02070309020205020404" charset="0"/>
              </a:rPr>
              <a:t>{</a:t>
            </a:r>
          </a:p>
          <a:p>
            <a:pPr eaLnBrk="0" hangingPunct="0"/>
            <a:r>
              <a:rPr lang="en-US" sz="1800" dirty="0">
                <a:latin typeface="Courier New" panose="02070309020205020404" charset="0"/>
              </a:rPr>
              <a:t>  return &amp;r-&gt;a[</a:t>
            </a:r>
            <a:r>
              <a:rPr lang="en-US" sz="1800" dirty="0" err="1">
                <a:latin typeface="Courier New" panose="02070309020205020404" charset="0"/>
              </a:rPr>
              <a:t>idx</a:t>
            </a:r>
            <a:r>
              <a:rPr lang="en-US" sz="1800" dirty="0">
                <a:latin typeface="Courier New" panose="02070309020205020404" charset="0"/>
              </a:rPr>
              <a:t>];</a:t>
            </a:r>
          </a:p>
          <a:p>
            <a:pPr eaLnBrk="0" hangingPunct="0"/>
            <a:r>
              <a:rPr lang="en-US" sz="1800" dirty="0">
                <a:latin typeface="Courier New" panose="02070309020205020404" charset="0"/>
              </a:rPr>
              <a:t>}</a:t>
            </a:r>
          </a:p>
        </p:txBody>
      </p:sp>
      <p:sp>
        <p:nvSpPr>
          <p:cNvPr id="323587" name="Rectangle 3"/>
          <p:cNvSpPr>
            <a:spLocks noChangeArrowheads="1"/>
          </p:cNvSpPr>
          <p:nvPr/>
        </p:nvSpPr>
        <p:spPr bwMode="auto">
          <a:xfrm>
            <a:off x="4071334" y="5627063"/>
            <a:ext cx="5089525" cy="919480"/>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114300" algn="l"/>
                <a:tab pos="1033145" algn="l"/>
                <a:tab pos="32639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12(%</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Get </a:t>
            </a:r>
            <a:r>
              <a:rPr lang="en-US" sz="1800" dirty="0" err="1">
                <a:latin typeface="Courier New" panose="02070309020205020404" charset="0"/>
                <a:ea typeface="+mn-ea"/>
                <a:cs typeface="+mn-cs"/>
              </a:rPr>
              <a:t>idx</a:t>
            </a:r>
            <a:endParaRPr lang="en-US" sz="1800" dirty="0">
              <a:latin typeface="Courier New" panose="02070309020205020404" charset="0"/>
              <a:ea typeface="+mn-ea"/>
              <a:cs typeface="+mn-cs"/>
            </a:endParaRPr>
          </a:p>
          <a:p>
            <a:pPr eaLnBrk="0" hangingPunct="0">
              <a:tabLst>
                <a:tab pos="114300" algn="l"/>
                <a:tab pos="1033145" algn="l"/>
                <a:tab pos="32639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sall</a:t>
            </a:r>
            <a:r>
              <a:rPr lang="en-US" sz="1800" dirty="0">
                <a:latin typeface="Courier New" panose="02070309020205020404" charset="0"/>
                <a:ea typeface="+mn-ea"/>
                <a:cs typeface="+mn-cs"/>
              </a:rPr>
              <a:t>	$2,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idx</a:t>
            </a:r>
            <a:r>
              <a:rPr lang="en-US" sz="1800" dirty="0">
                <a:latin typeface="Courier New" panose="02070309020205020404" charset="0"/>
                <a:ea typeface="+mn-ea"/>
                <a:cs typeface="+mn-cs"/>
              </a:rPr>
              <a:t>*4</a:t>
            </a:r>
          </a:p>
          <a:p>
            <a:pPr eaLnBrk="0" hangingPunct="0">
              <a:tabLst>
                <a:tab pos="114300" algn="l"/>
                <a:tab pos="1033145" algn="l"/>
                <a:tab pos="326390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addl</a:t>
            </a:r>
            <a:r>
              <a:rPr lang="en-US" sz="1800" dirty="0">
                <a:latin typeface="Courier New" panose="02070309020205020404" charset="0"/>
                <a:ea typeface="+mn-ea"/>
                <a:cs typeface="+mn-cs"/>
              </a:rPr>
              <a:t>	8(%</a:t>
            </a:r>
            <a:r>
              <a:rPr lang="en-US" sz="1800" dirty="0" err="1">
                <a:latin typeface="Courier New" panose="02070309020205020404" charset="0"/>
                <a:ea typeface="+mn-ea"/>
                <a:cs typeface="+mn-cs"/>
              </a:rPr>
              <a:t>ebp</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r+idx</a:t>
            </a:r>
            <a:r>
              <a:rPr lang="en-US" sz="1800" dirty="0">
                <a:latin typeface="Courier New" panose="02070309020205020404" charset="0"/>
                <a:ea typeface="+mn-ea"/>
                <a:cs typeface="+mn-cs"/>
              </a:rPr>
              <a:t>*4</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3590">
                                            <p:txEl>
                                              <p:pRg st="0" end="0"/>
                                            </p:txEl>
                                          </p:spTgt>
                                        </p:tgtEl>
                                        <p:attrNameLst>
                                          <p:attrName>style.visibility</p:attrName>
                                        </p:attrNameLst>
                                      </p:cBhvr>
                                      <p:to>
                                        <p:strVal val="visible"/>
                                      </p:to>
                                    </p:set>
                                    <p:animEffect transition="in" filter="wipe(down)">
                                      <p:cBhvr>
                                        <p:cTn id="7" dur="500"/>
                                        <p:tgtEl>
                                          <p:spTgt spid="32359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23590">
                                            <p:txEl>
                                              <p:pRg st="1" end="1"/>
                                            </p:txEl>
                                          </p:spTgt>
                                        </p:tgtEl>
                                        <p:attrNameLst>
                                          <p:attrName>style.visibility</p:attrName>
                                        </p:attrNameLst>
                                      </p:cBhvr>
                                      <p:to>
                                        <p:strVal val="visible"/>
                                      </p:to>
                                    </p:set>
                                    <p:animEffect transition="in" filter="wipe(down)">
                                      <p:cBhvr>
                                        <p:cTn id="12" dur="500"/>
                                        <p:tgtEl>
                                          <p:spTgt spid="323590">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323590">
                                            <p:txEl>
                                              <p:pRg st="2" end="2"/>
                                            </p:txEl>
                                          </p:spTgt>
                                        </p:tgtEl>
                                        <p:attrNameLst>
                                          <p:attrName>style.visibility</p:attrName>
                                        </p:attrNameLst>
                                      </p:cBhvr>
                                      <p:to>
                                        <p:strVal val="visible"/>
                                      </p:to>
                                    </p:set>
                                    <p:animEffect transition="in" filter="wipe(down)">
                                      <p:cBhvr>
                                        <p:cTn id="15" dur="500"/>
                                        <p:tgtEl>
                                          <p:spTgt spid="323590">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323590">
                                            <p:txEl>
                                              <p:pRg st="3" end="3"/>
                                            </p:txEl>
                                          </p:spTgt>
                                        </p:tgtEl>
                                        <p:attrNameLst>
                                          <p:attrName>style.visibility</p:attrName>
                                        </p:attrNameLst>
                                      </p:cBhvr>
                                      <p:to>
                                        <p:strVal val="visible"/>
                                      </p:to>
                                    </p:set>
                                    <p:animEffect transition="in" filter="wipe(down)">
                                      <p:cBhvr>
                                        <p:cTn id="20" dur="500"/>
                                        <p:tgtEl>
                                          <p:spTgt spid="323590">
                                            <p:txEl>
                                              <p:pRg st="3" end="3"/>
                                            </p:txEl>
                                          </p:spTgt>
                                        </p:tgtEl>
                                      </p:cBhvr>
                                    </p:animEffect>
                                  </p:childTnLst>
                                </p:cTn>
                              </p:par>
                              <p:par>
                                <p:cTn id="21" presetID="22" presetClass="entr" presetSubtype="4" fill="hold" nodeType="withEffect">
                                  <p:stCondLst>
                                    <p:cond delay="0"/>
                                  </p:stCondLst>
                                  <p:childTnLst>
                                    <p:set>
                                      <p:cBhvr>
                                        <p:cTn id="22" dur="1" fill="hold">
                                          <p:stCondLst>
                                            <p:cond delay="0"/>
                                          </p:stCondLst>
                                        </p:cTn>
                                        <p:tgtEl>
                                          <p:spTgt spid="323590">
                                            <p:txEl>
                                              <p:pRg st="4" end="4"/>
                                            </p:txEl>
                                          </p:spTgt>
                                        </p:tgtEl>
                                        <p:attrNameLst>
                                          <p:attrName>style.visibility</p:attrName>
                                        </p:attrNameLst>
                                      </p:cBhvr>
                                      <p:to>
                                        <p:strVal val="visible"/>
                                      </p:to>
                                    </p:set>
                                    <p:animEffect transition="in" filter="wipe(down)">
                                      <p:cBhvr>
                                        <p:cTn id="23" dur="500"/>
                                        <p:tgtEl>
                                          <p:spTgt spid="323590">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323588"/>
                                        </p:tgtEl>
                                        <p:attrNameLst>
                                          <p:attrName>style.visibility</p:attrName>
                                        </p:attrNameLst>
                                      </p:cBhvr>
                                      <p:to>
                                        <p:strVal val="visible"/>
                                      </p:to>
                                    </p:set>
                                    <p:animEffect transition="in" filter="wipe(down)">
                                      <p:cBhvr>
                                        <p:cTn id="28" dur="500"/>
                                        <p:tgtEl>
                                          <p:spTgt spid="32358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23587"/>
                                        </p:tgtEl>
                                        <p:attrNameLst>
                                          <p:attrName>style.visibility</p:attrName>
                                        </p:attrNameLst>
                                      </p:cBhvr>
                                      <p:to>
                                        <p:strVal val="visible"/>
                                      </p:to>
                                    </p:set>
                                    <p:animEffect transition="in" filter="wipe(down)">
                                      <p:cBhvr>
                                        <p:cTn id="33" dur="500"/>
                                        <p:tgtEl>
                                          <p:spTgt spid="3235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88" grpId="0" animBg="1"/>
      <p:bldP spid="323587" grpId="0" animBg="1"/>
    </p:bld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4986655"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生成指向结构成员的指针</a:t>
            </a:r>
          </a:p>
        </p:txBody>
      </p:sp>
      <p:sp>
        <p:nvSpPr>
          <p:cNvPr id="121861" name="Rectangle 6"/>
          <p:cNvSpPr>
            <a:spLocks noGrp="1" noChangeArrowheads="1"/>
          </p:cNvSpPr>
          <p:nvPr/>
        </p:nvSpPr>
        <p:spPr>
          <a:xfrm>
            <a:off x="328295" y="1008380"/>
            <a:ext cx="3044825" cy="709602"/>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dirty="0">
                <a:latin typeface="Calibri" panose="020F0502020204030204" charset="0"/>
              </a:rPr>
              <a:t>C </a:t>
            </a:r>
            <a:r>
              <a:rPr lang="zh-CN" altLang="en-US" dirty="0">
                <a:latin typeface="Calibri" panose="020F0502020204030204" charset="0"/>
                <a:ea typeface="宋体" panose="02010600030101010101" pitchFamily="2" charset="-122"/>
              </a:rPr>
              <a:t>代码</a:t>
            </a:r>
          </a:p>
        </p:txBody>
      </p:sp>
      <p:sp>
        <p:nvSpPr>
          <p:cNvPr id="5" name="Rectangle 2"/>
          <p:cNvSpPr>
            <a:spLocks noChangeArrowheads="1"/>
          </p:cNvSpPr>
          <p:nvPr/>
        </p:nvSpPr>
        <p:spPr bwMode="auto">
          <a:xfrm>
            <a:off x="5171472" y="266114"/>
            <a:ext cx="2444739" cy="1474763"/>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a:t>
            </a: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a[3];</a:t>
            </a:r>
          </a:p>
          <a:p>
            <a:pPr eaLnBrk="0" hangingPunct="0"/>
            <a:r>
              <a:rPr lang="en-US" sz="1800" dirty="0">
                <a:latin typeface="Courier New" panose="02070309020205020404" charset="0"/>
              </a:rPr>
              <a:t>  </a:t>
            </a:r>
            <a:r>
              <a:rPr lang="en-US" sz="1800" dirty="0" err="1">
                <a:latin typeface="Courier New" panose="02070309020205020404" charset="0"/>
              </a:rPr>
              <a:t>int</a:t>
            </a:r>
            <a:r>
              <a:rPr lang="en-US" sz="1800" dirty="0">
                <a:latin typeface="Courier New" panose="02070309020205020404" charset="0"/>
              </a:rPr>
              <a:t> </a:t>
            </a:r>
            <a:r>
              <a:rPr lang="en-US" sz="1800" dirty="0" err="1">
                <a:latin typeface="Courier New" panose="02070309020205020404" charset="0"/>
              </a:rPr>
              <a:t>i</a:t>
            </a:r>
            <a:r>
              <a:rPr lang="en-US" sz="1800" dirty="0">
                <a:latin typeface="Courier New" panose="02070309020205020404" charset="0"/>
              </a:rPr>
              <a:t>;</a:t>
            </a:r>
          </a:p>
          <a:p>
            <a:pPr eaLnBrk="0" hangingPunct="0"/>
            <a:r>
              <a:rPr lang="en-US" sz="1800" dirty="0">
                <a:latin typeface="Courier New" panose="02070309020205020404" charset="0"/>
              </a:rPr>
              <a:t>  </a:t>
            </a:r>
            <a:r>
              <a:rPr lang="en-US" sz="1800" dirty="0" err="1">
                <a:latin typeface="Courier New" panose="02070309020205020404" charset="0"/>
              </a:rPr>
              <a:t>struct</a:t>
            </a:r>
            <a:r>
              <a:rPr lang="en-US" sz="1800" dirty="0">
                <a:latin typeface="Courier New" panose="02070309020205020404" charset="0"/>
              </a:rPr>
              <a:t> </a:t>
            </a:r>
            <a:r>
              <a:rPr lang="en-US" sz="1800" dirty="0" err="1">
                <a:latin typeface="Courier New" panose="02070309020205020404" charset="0"/>
              </a:rPr>
              <a:t>rec</a:t>
            </a:r>
            <a:r>
              <a:rPr lang="en-US" sz="1800" dirty="0">
                <a:latin typeface="Courier New" panose="02070309020205020404" charset="0"/>
              </a:rPr>
              <a:t> *n;</a:t>
            </a:r>
          </a:p>
          <a:p>
            <a:pPr eaLnBrk="0" hangingPunct="0"/>
            <a:r>
              <a:rPr lang="en-US" sz="1800" dirty="0">
                <a:latin typeface="Courier New" panose="02070309020205020404" charset="0"/>
              </a:rPr>
              <a:t>};</a:t>
            </a:r>
          </a:p>
        </p:txBody>
      </p:sp>
      <p:sp>
        <p:nvSpPr>
          <p:cNvPr id="324612" name="Rectangle 4"/>
          <p:cNvSpPr>
            <a:spLocks noChangeArrowheads="1"/>
          </p:cNvSpPr>
          <p:nvPr/>
        </p:nvSpPr>
        <p:spPr bwMode="auto">
          <a:xfrm>
            <a:off x="328264" y="1609725"/>
            <a:ext cx="3971924" cy="2582758"/>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nn-NO" sz="1800" dirty="0">
                <a:latin typeface="Courier New" panose="02070309020205020404" charset="0"/>
              </a:rPr>
              <a:t>void set_val</a:t>
            </a:r>
          </a:p>
          <a:p>
            <a:pPr eaLnBrk="0" hangingPunct="0"/>
            <a:r>
              <a:rPr lang="nn-NO" sz="1800" dirty="0">
                <a:latin typeface="Courier New" panose="02070309020205020404" charset="0"/>
              </a:rPr>
              <a:t>  (struct rec *r, int val)</a:t>
            </a:r>
          </a:p>
          <a:p>
            <a:pPr eaLnBrk="0" hangingPunct="0"/>
            <a:r>
              <a:rPr lang="nn-NO" sz="1800" dirty="0">
                <a:latin typeface="Courier New" panose="02070309020205020404" charset="0"/>
              </a:rPr>
              <a:t>{</a:t>
            </a:r>
          </a:p>
          <a:p>
            <a:pPr eaLnBrk="0" hangingPunct="0"/>
            <a:r>
              <a:rPr lang="nn-NO" sz="1800" dirty="0">
                <a:latin typeface="Courier New" panose="02070309020205020404" charset="0"/>
              </a:rPr>
              <a:t>  while (r) {</a:t>
            </a:r>
          </a:p>
          <a:p>
            <a:pPr eaLnBrk="0" hangingPunct="0"/>
            <a:r>
              <a:rPr lang="nn-NO" sz="1800" dirty="0">
                <a:latin typeface="Courier New" panose="02070309020205020404" charset="0"/>
              </a:rPr>
              <a:t>    int i = r-&gt;i;</a:t>
            </a:r>
          </a:p>
          <a:p>
            <a:pPr eaLnBrk="0" hangingPunct="0"/>
            <a:r>
              <a:rPr lang="nn-NO" sz="1800" dirty="0">
                <a:latin typeface="Courier New" panose="02070309020205020404" charset="0"/>
              </a:rPr>
              <a:t>    r-&gt;a[i] = val;</a:t>
            </a:r>
          </a:p>
          <a:p>
            <a:pPr eaLnBrk="0" hangingPunct="0"/>
            <a:r>
              <a:rPr lang="nn-NO" sz="1800" dirty="0">
                <a:latin typeface="Courier New" panose="02070309020205020404" charset="0"/>
              </a:rPr>
              <a:t>    r = r-&gt;</a:t>
            </a:r>
            <a:r>
              <a:rPr lang="nn-NO" sz="1800" dirty="0" err="1">
                <a:latin typeface="Courier New" panose="02070309020205020404" charset="0"/>
              </a:rPr>
              <a:t>next</a:t>
            </a:r>
            <a:r>
              <a:rPr lang="nn-NO" sz="1800" dirty="0">
                <a:latin typeface="Courier New" panose="02070309020205020404" charset="0"/>
              </a:rPr>
              <a:t>;</a:t>
            </a:r>
          </a:p>
          <a:p>
            <a:pPr eaLnBrk="0" hangingPunct="0"/>
            <a:r>
              <a:rPr lang="nn-NO" sz="1800" dirty="0">
                <a:latin typeface="Courier New" panose="02070309020205020404" charset="0"/>
              </a:rPr>
              <a:t>  }</a:t>
            </a:r>
          </a:p>
          <a:p>
            <a:pPr eaLnBrk="0" hangingPunct="0"/>
            <a:r>
              <a:rPr lang="nn-NO" sz="1800" dirty="0">
                <a:latin typeface="Courier New" panose="02070309020205020404" charset="0"/>
              </a:rPr>
              <a:t>}</a:t>
            </a:r>
          </a:p>
        </p:txBody>
      </p:sp>
      <p:sp>
        <p:nvSpPr>
          <p:cNvPr id="6" name="Rectangle 10"/>
          <p:cNvSpPr>
            <a:spLocks noChangeArrowheads="1"/>
          </p:cNvSpPr>
          <p:nvPr/>
        </p:nvSpPr>
        <p:spPr bwMode="auto">
          <a:xfrm>
            <a:off x="6518296" y="2235200"/>
            <a:ext cx="431800" cy="431800"/>
          </a:xfrm>
          <a:prstGeom prst="rect">
            <a:avLst/>
          </a:prstGeom>
          <a:solidFill>
            <a:srgbClr val="F1C7C7"/>
          </a:solidFill>
          <a:ln w="25400">
            <a:solidFill>
              <a:schemeClr val="tx1"/>
            </a:solidFill>
            <a:miter lim="800000"/>
          </a:ln>
        </p:spPr>
        <p:txBody>
          <a:bodyPr wrap="none" lIns="90487" tIns="44450" rIns="90487" bIns="44450" anchor="ctr"/>
          <a:lstStyle/>
          <a:p>
            <a:pPr algn="ctr" eaLnBrk="0" hangingPunct="0"/>
            <a:r>
              <a:rPr lang="en-US" sz="2000">
                <a:latin typeface="Courier New" panose="02070309020205020404" charset="0"/>
              </a:rPr>
              <a:t>i</a:t>
            </a:r>
          </a:p>
        </p:txBody>
      </p:sp>
      <p:sp>
        <p:nvSpPr>
          <p:cNvPr id="7" name="Rectangle 11"/>
          <p:cNvSpPr>
            <a:spLocks noChangeArrowheads="1"/>
          </p:cNvSpPr>
          <p:nvPr/>
        </p:nvSpPr>
        <p:spPr bwMode="auto">
          <a:xfrm>
            <a:off x="5178452" y="2235200"/>
            <a:ext cx="1346200" cy="431800"/>
          </a:xfrm>
          <a:prstGeom prst="rect">
            <a:avLst/>
          </a:prstGeom>
          <a:solidFill>
            <a:schemeClr val="accent2">
              <a:lumMod val="20000"/>
              <a:lumOff val="80000"/>
            </a:schemeClr>
          </a:solidFill>
          <a:ln w="25400">
            <a:solidFill>
              <a:schemeClr val="tx1"/>
            </a:solidFill>
            <a:miter lim="800000"/>
          </a:ln>
          <a:effectLst/>
        </p:spPr>
        <p:txBody>
          <a:bodyPr wrap="none" lIns="90487" tIns="44450" rIns="90487" bIns="44450" anchor="ctr"/>
          <a:lstStyle/>
          <a:p>
            <a:pPr eaLnBrk="0" hangingPunct="0">
              <a:defRPr/>
            </a:pPr>
            <a:r>
              <a:rPr lang="en-US" sz="2000">
                <a:latin typeface="Courier New" panose="02070309020205020404" charset="0"/>
                <a:ea typeface="+mn-ea"/>
                <a:cs typeface="+mn-cs"/>
              </a:rPr>
              <a:t>a</a:t>
            </a:r>
          </a:p>
        </p:txBody>
      </p:sp>
      <p:sp>
        <p:nvSpPr>
          <p:cNvPr id="8" name="Rectangle 12"/>
          <p:cNvSpPr>
            <a:spLocks noChangeArrowheads="1"/>
          </p:cNvSpPr>
          <p:nvPr/>
        </p:nvSpPr>
        <p:spPr bwMode="auto">
          <a:xfrm>
            <a:off x="6962796" y="2235200"/>
            <a:ext cx="431800" cy="431800"/>
          </a:xfrm>
          <a:prstGeom prst="rect">
            <a:avLst/>
          </a:prstGeom>
          <a:solidFill>
            <a:srgbClr val="D5F1CF"/>
          </a:solidFill>
          <a:ln w="25400">
            <a:solidFill>
              <a:schemeClr val="tx1"/>
            </a:solidFill>
            <a:miter lim="800000"/>
          </a:ln>
        </p:spPr>
        <p:txBody>
          <a:bodyPr wrap="none" lIns="90487" tIns="44450" rIns="90487" bIns="44450" anchor="ctr"/>
          <a:lstStyle/>
          <a:p>
            <a:pPr algn="ctr" eaLnBrk="0" hangingPunct="0"/>
            <a:r>
              <a:rPr lang="en-US" sz="2000" dirty="0">
                <a:latin typeface="Courier New" panose="02070309020205020404" charset="0"/>
              </a:rPr>
              <a:t>n</a:t>
            </a:r>
          </a:p>
        </p:txBody>
      </p:sp>
      <p:sp>
        <p:nvSpPr>
          <p:cNvPr id="9" name="Rectangle 13"/>
          <p:cNvSpPr>
            <a:spLocks noChangeArrowheads="1"/>
          </p:cNvSpPr>
          <p:nvPr/>
        </p:nvSpPr>
        <p:spPr bwMode="auto">
          <a:xfrm>
            <a:off x="4984771" y="2651125"/>
            <a:ext cx="3333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0</a:t>
            </a:r>
          </a:p>
        </p:txBody>
      </p:sp>
      <p:sp>
        <p:nvSpPr>
          <p:cNvPr id="44" name="Rectangle 14"/>
          <p:cNvSpPr>
            <a:spLocks noChangeArrowheads="1"/>
          </p:cNvSpPr>
          <p:nvPr/>
        </p:nvSpPr>
        <p:spPr bwMode="auto">
          <a:xfrm>
            <a:off x="6243678" y="2647940"/>
            <a:ext cx="490518" cy="397545"/>
          </a:xfrm>
          <a:prstGeom prst="rect">
            <a:avLst/>
          </a:prstGeom>
          <a:noFill/>
          <a:ln w="25400">
            <a:noFill/>
            <a:miter lim="800000"/>
          </a:ln>
        </p:spPr>
        <p:txBody>
          <a:bodyPr wrap="none" lIns="90487" tIns="44450" rIns="90487" bIns="44450">
            <a:spAutoFit/>
          </a:bodyPr>
          <a:lstStyle/>
          <a:p>
            <a:pPr eaLnBrk="0" hangingPunct="0"/>
            <a:r>
              <a:rPr lang="en-US" sz="2000" dirty="0">
                <a:latin typeface="Courier New" panose="02070309020205020404" charset="0"/>
              </a:rPr>
              <a:t>12</a:t>
            </a:r>
          </a:p>
        </p:txBody>
      </p:sp>
      <p:sp>
        <p:nvSpPr>
          <p:cNvPr id="45" name="Rectangle 15"/>
          <p:cNvSpPr>
            <a:spLocks noChangeArrowheads="1"/>
          </p:cNvSpPr>
          <p:nvPr/>
        </p:nvSpPr>
        <p:spPr bwMode="auto">
          <a:xfrm>
            <a:off x="6734196" y="2651125"/>
            <a:ext cx="4857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16</a:t>
            </a:r>
          </a:p>
        </p:txBody>
      </p:sp>
      <p:sp>
        <p:nvSpPr>
          <p:cNvPr id="46" name="Rectangle 16"/>
          <p:cNvSpPr>
            <a:spLocks noChangeArrowheads="1"/>
          </p:cNvSpPr>
          <p:nvPr/>
        </p:nvSpPr>
        <p:spPr bwMode="auto">
          <a:xfrm>
            <a:off x="7158059" y="2633662"/>
            <a:ext cx="485775" cy="393700"/>
          </a:xfrm>
          <a:prstGeom prst="rect">
            <a:avLst/>
          </a:prstGeom>
          <a:noFill/>
          <a:ln w="25400">
            <a:noFill/>
            <a:miter lim="800000"/>
          </a:ln>
        </p:spPr>
        <p:txBody>
          <a:bodyPr wrap="none" lIns="90487" tIns="44450" rIns="90487" bIns="44450">
            <a:spAutoFit/>
          </a:bodyPr>
          <a:lstStyle/>
          <a:p>
            <a:pPr eaLnBrk="0" hangingPunct="0"/>
            <a:r>
              <a:rPr lang="en-US" sz="2000">
                <a:latin typeface="Courier New" panose="02070309020205020404" charset="0"/>
              </a:rPr>
              <a:t>20</a:t>
            </a:r>
          </a:p>
        </p:txBody>
      </p:sp>
      <p:sp>
        <p:nvSpPr>
          <p:cNvPr id="47" name="Freeform 16"/>
          <p:cNvSpPr/>
          <p:nvPr/>
        </p:nvSpPr>
        <p:spPr bwMode="auto">
          <a:xfrm flipH="1">
            <a:off x="7188200" y="1873274"/>
            <a:ext cx="990600" cy="457200"/>
          </a:xfrm>
          <a:custGeom>
            <a:avLst/>
            <a:gdLst>
              <a:gd name="T0" fmla="*/ 624 w 624"/>
              <a:gd name="T1" fmla="*/ 288 h 288"/>
              <a:gd name="T2" fmla="*/ 576 w 624"/>
              <a:gd name="T3" fmla="*/ 0 h 288"/>
              <a:gd name="T4" fmla="*/ 96 w 624"/>
              <a:gd name="T5" fmla="*/ 0 h 288"/>
              <a:gd name="T6" fmla="*/ 0 w 624"/>
              <a:gd name="T7" fmla="*/ 144 h 288"/>
              <a:gd name="T8" fmla="*/ 0 60000 65536"/>
              <a:gd name="T9" fmla="*/ 0 60000 65536"/>
              <a:gd name="T10" fmla="*/ 0 60000 65536"/>
              <a:gd name="T11" fmla="*/ 0 60000 65536"/>
              <a:gd name="T12" fmla="*/ 0 w 624"/>
              <a:gd name="T13" fmla="*/ 0 h 288"/>
              <a:gd name="T14" fmla="*/ 624 w 624"/>
              <a:gd name="T15" fmla="*/ 288 h 288"/>
            </a:gdLst>
            <a:ahLst/>
            <a:cxnLst>
              <a:cxn ang="T8">
                <a:pos x="T0" y="T1"/>
              </a:cxn>
              <a:cxn ang="T9">
                <a:pos x="T2" y="T3"/>
              </a:cxn>
              <a:cxn ang="T10">
                <a:pos x="T4" y="T5"/>
              </a:cxn>
              <a:cxn ang="T11">
                <a:pos x="T6" y="T7"/>
              </a:cxn>
            </a:cxnLst>
            <a:rect l="T12" t="T13" r="T14" b="T15"/>
            <a:pathLst>
              <a:path w="624" h="288">
                <a:moveTo>
                  <a:pt x="624" y="288"/>
                </a:moveTo>
                <a:lnTo>
                  <a:pt x="576" y="0"/>
                </a:lnTo>
                <a:lnTo>
                  <a:pt x="96" y="0"/>
                </a:lnTo>
                <a:lnTo>
                  <a:pt x="0" y="144"/>
                </a:lnTo>
              </a:path>
            </a:pathLst>
          </a:custGeom>
          <a:noFill/>
          <a:ln w="38100">
            <a:solidFill>
              <a:schemeClr val="tx1"/>
            </a:solidFill>
            <a:round/>
            <a:tailEnd type="triangle" w="med" len="med"/>
          </a:ln>
        </p:spPr>
        <p:txBody>
          <a:bodyPr wrap="none" anchor="ctr"/>
          <a:lstStyle/>
          <a:p>
            <a:pPr eaLnBrk="0" hangingPunct="0"/>
            <a:endParaRPr lang="en-US">
              <a:latin typeface="Calibri" panose="020F0502020204030204" charset="0"/>
            </a:endParaRPr>
          </a:p>
        </p:txBody>
      </p:sp>
      <p:sp>
        <p:nvSpPr>
          <p:cNvPr id="48" name="Line 17"/>
          <p:cNvSpPr>
            <a:spLocks noChangeShapeType="1"/>
          </p:cNvSpPr>
          <p:nvPr/>
        </p:nvSpPr>
        <p:spPr bwMode="auto">
          <a:xfrm flipV="1">
            <a:off x="5638800" y="2667000"/>
            <a:ext cx="0" cy="381000"/>
          </a:xfrm>
          <a:prstGeom prst="line">
            <a:avLst/>
          </a:prstGeom>
          <a:noFill/>
          <a:ln w="25400">
            <a:solidFill>
              <a:schemeClr val="tx1"/>
            </a:solidFill>
            <a:round/>
            <a:tailEnd type="triangle" w="med" len="med"/>
          </a:ln>
        </p:spPr>
        <p:txBody>
          <a:bodyPr wrap="none" anchor="ctr"/>
          <a:lstStyle/>
          <a:p>
            <a:endParaRPr lang="en-US"/>
          </a:p>
        </p:txBody>
      </p:sp>
      <p:sp>
        <p:nvSpPr>
          <p:cNvPr id="49" name="Rectangle 18"/>
          <p:cNvSpPr>
            <a:spLocks noChangeArrowheads="1"/>
          </p:cNvSpPr>
          <p:nvPr/>
        </p:nvSpPr>
        <p:spPr bwMode="auto">
          <a:xfrm>
            <a:off x="4800600" y="3048000"/>
            <a:ext cx="1524000" cy="381000"/>
          </a:xfrm>
          <a:prstGeom prst="rect">
            <a:avLst/>
          </a:prstGeom>
          <a:noFill/>
          <a:ln w="12700">
            <a:noFill/>
            <a:miter lim="800000"/>
          </a:ln>
        </p:spPr>
        <p:txBody>
          <a:bodyPr lIns="90487" tIns="44450" rIns="90487" bIns="44450"/>
          <a:lstStyle/>
          <a:p>
            <a:pPr marL="224155" indent="-224155" defTabSz="895350" eaLnBrk="0" hangingPunct="0">
              <a:spcBef>
                <a:spcPct val="30000"/>
              </a:spcBef>
            </a:pPr>
            <a:r>
              <a:rPr lang="zh-CN" altLang="en-US">
                <a:solidFill>
                  <a:schemeClr val="tx2"/>
                </a:solidFill>
                <a:latin typeface="Calibri" panose="020F0502020204030204" charset="0"/>
              </a:rPr>
              <a:t>元素</a:t>
            </a:r>
            <a:r>
              <a:rPr lang="en-US">
                <a:solidFill>
                  <a:schemeClr val="tx2"/>
                </a:solidFill>
                <a:latin typeface="Calibri" panose="020F0502020204030204" charset="0"/>
              </a:rPr>
              <a:t> </a:t>
            </a:r>
            <a:r>
              <a:rPr lang="en-US">
                <a:latin typeface="Courier New" panose="02070309020205020404" charset="0"/>
              </a:rPr>
              <a:t>i</a:t>
            </a:r>
            <a:endParaRPr lang="en-US">
              <a:solidFill>
                <a:schemeClr val="tx2"/>
              </a:solidFill>
              <a:latin typeface="Calibri" panose="020F0502020204030204" charset="0"/>
            </a:endParaRPr>
          </a:p>
        </p:txBody>
      </p:sp>
      <p:graphicFrame>
        <p:nvGraphicFramePr>
          <p:cNvPr id="50" name="Table 49"/>
          <p:cNvGraphicFramePr>
            <a:graphicFrameLocks noGrp="1"/>
          </p:cNvGraphicFramePr>
          <p:nvPr/>
        </p:nvGraphicFramePr>
        <p:xfrm>
          <a:off x="4800600" y="3541393"/>
          <a:ext cx="2895600" cy="1112520"/>
        </p:xfrm>
        <a:graphic>
          <a:graphicData uri="http://schemas.openxmlformats.org/drawingml/2006/table">
            <a:tbl>
              <a:tblPr firstRow="1" bandRow="1">
                <a:tableStyleId>{00A15C55-8517-42AA-B614-E9B94910E393}</a:tableStyleId>
              </a:tblPr>
              <a:tblGrid>
                <a:gridCol w="14478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tblGrid>
              <a:tr h="370840">
                <a:tc>
                  <a:txBody>
                    <a:bodyPr/>
                    <a:lstStyle/>
                    <a:p>
                      <a:r>
                        <a:rPr lang="zh-CN" altLang="en-US" dirty="0">
                          <a:latin typeface="Calibri" panose="020F0502020204030204" charset="0"/>
                        </a:rPr>
                        <a:t>寄存器</a:t>
                      </a:r>
                    </a:p>
                  </a:txBody>
                  <a:tcPr/>
                </a:tc>
                <a:tc>
                  <a:txBody>
                    <a:bodyPr/>
                    <a:lstStyle/>
                    <a:p>
                      <a:r>
                        <a:rPr lang="zh-CN" altLang="en-US" dirty="0">
                          <a:latin typeface="Calibri" panose="020F0502020204030204" charset="0"/>
                        </a:rPr>
                        <a:t>值</a:t>
                      </a:r>
                    </a:p>
                  </a:txBody>
                  <a:tcPr/>
                </a:tc>
                <a:extLst>
                  <a:ext uri="{0D108BD9-81ED-4DB2-BD59-A6C34878D82A}">
                    <a16:rowId xmlns:a16="http://schemas.microsoft.com/office/drawing/2014/main" val="10000"/>
                  </a:ext>
                </a:extLst>
              </a:tr>
              <a:tr h="370840">
                <a:tc>
                  <a:txBody>
                    <a:bodyPr/>
                    <a:lstStyle/>
                    <a:p>
                      <a:r>
                        <a:rPr lang="en-US" b="1" dirty="0">
                          <a:latin typeface="Courier New" panose="02070309020205020404" charset="0"/>
                          <a:cs typeface="Courier New" panose="02070309020205020404" charset="0"/>
                        </a:rPr>
                        <a:t>%</a:t>
                      </a:r>
                      <a:r>
                        <a:rPr lang="en-US" b="1" dirty="0" err="1">
                          <a:latin typeface="Courier New" panose="02070309020205020404" charset="0"/>
                          <a:cs typeface="Courier New" panose="02070309020205020404" charset="0"/>
                        </a:rPr>
                        <a:t>edx</a:t>
                      </a:r>
                      <a:endParaRPr lang="en-US" b="1" dirty="0">
                        <a:latin typeface="Courier New" panose="02070309020205020404" charset="0"/>
                        <a:cs typeface="Courier New" panose="02070309020205020404" charset="0"/>
                      </a:endParaRPr>
                    </a:p>
                  </a:txBody>
                  <a:tcPr/>
                </a:tc>
                <a:tc>
                  <a:txBody>
                    <a:bodyPr/>
                    <a:lstStyle/>
                    <a:p>
                      <a:r>
                        <a:rPr lang="en-US" b="1" dirty="0">
                          <a:latin typeface="Courier New" panose="02070309020205020404" charset="0"/>
                          <a:cs typeface="Courier New" panose="02070309020205020404" charset="0"/>
                        </a:rPr>
                        <a:t>r</a:t>
                      </a:r>
                    </a:p>
                  </a:txBody>
                  <a:tcPr/>
                </a:tc>
                <a:extLst>
                  <a:ext uri="{0D108BD9-81ED-4DB2-BD59-A6C34878D82A}">
                    <a16:rowId xmlns:a16="http://schemas.microsoft.com/office/drawing/2014/main" val="10001"/>
                  </a:ext>
                </a:extLst>
              </a:tr>
              <a:tr h="370840">
                <a:tc>
                  <a:txBody>
                    <a:bodyPr/>
                    <a:lstStyle/>
                    <a:p>
                      <a:r>
                        <a:rPr lang="en-US" b="1" dirty="0">
                          <a:latin typeface="Courier New" panose="02070309020205020404" charset="0"/>
                          <a:cs typeface="Courier New" panose="02070309020205020404" charset="0"/>
                        </a:rPr>
                        <a:t>%</a:t>
                      </a:r>
                      <a:r>
                        <a:rPr lang="en-US" b="1" dirty="0" err="1">
                          <a:latin typeface="Courier New" panose="02070309020205020404" charset="0"/>
                          <a:cs typeface="Courier New" panose="02070309020205020404" charset="0"/>
                        </a:rPr>
                        <a:t>ecx</a:t>
                      </a:r>
                      <a:endParaRPr lang="en-US" b="1" dirty="0">
                        <a:latin typeface="Courier New" panose="02070309020205020404" charset="0"/>
                        <a:cs typeface="Courier New" panose="02070309020205020404" charset="0"/>
                      </a:endParaRPr>
                    </a:p>
                  </a:txBody>
                  <a:tcPr/>
                </a:tc>
                <a:tc>
                  <a:txBody>
                    <a:bodyPr/>
                    <a:lstStyle/>
                    <a:p>
                      <a:r>
                        <a:rPr lang="en-US" b="1" dirty="0" err="1">
                          <a:latin typeface="Courier New" panose="02070309020205020404" charset="0"/>
                          <a:cs typeface="Courier New" panose="02070309020205020404" charset="0"/>
                        </a:rPr>
                        <a:t>val</a:t>
                      </a:r>
                      <a:endParaRPr lang="en-US" b="1" dirty="0">
                        <a:latin typeface="Courier New" panose="02070309020205020404" charset="0"/>
                        <a:cs typeface="Courier New" panose="02070309020205020404" charset="0"/>
                      </a:endParaRPr>
                    </a:p>
                  </a:txBody>
                  <a:tcPr/>
                </a:tc>
                <a:extLst>
                  <a:ext uri="{0D108BD9-81ED-4DB2-BD59-A6C34878D82A}">
                    <a16:rowId xmlns:a16="http://schemas.microsoft.com/office/drawing/2014/main" val="10002"/>
                  </a:ext>
                </a:extLst>
              </a:tr>
            </a:tbl>
          </a:graphicData>
        </a:graphic>
      </p:graphicFrame>
      <p:sp>
        <p:nvSpPr>
          <p:cNvPr id="324611" name="Rectangle 3"/>
          <p:cNvSpPr>
            <a:spLocks noChangeArrowheads="1"/>
          </p:cNvSpPr>
          <p:nvPr/>
        </p:nvSpPr>
        <p:spPr bwMode="auto">
          <a:xfrm>
            <a:off x="769006" y="4898710"/>
            <a:ext cx="7159604" cy="1751762"/>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114300" algn="l"/>
                <a:tab pos="1255395" algn="l"/>
                <a:tab pos="3944620" algn="l"/>
              </a:tabLst>
              <a:defRPr/>
            </a:pPr>
            <a:r>
              <a:rPr lang="en-US" sz="1800" dirty="0">
                <a:latin typeface="Courier New" panose="02070309020205020404" charset="0"/>
                <a:ea typeface="+mn-ea"/>
                <a:cs typeface="+mn-cs"/>
              </a:rPr>
              <a:t> .L17:		# loop: </a:t>
            </a:r>
          </a:p>
          <a:p>
            <a:pPr eaLnBrk="0" hangingPunct="0">
              <a:tabLst>
                <a:tab pos="114300" algn="l"/>
                <a:tab pos="1255395" algn="l"/>
                <a:tab pos="394462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12(%</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eax</a:t>
            </a:r>
            <a:r>
              <a:rPr lang="en-US" sz="1800" dirty="0">
                <a:latin typeface="Courier New" panose="02070309020205020404" charset="0"/>
                <a:ea typeface="+mn-ea"/>
                <a:cs typeface="+mn-cs"/>
              </a:rPr>
              <a:t>	# r-&gt;</a:t>
            </a:r>
            <a:r>
              <a:rPr lang="en-US" sz="1800" dirty="0" err="1">
                <a:latin typeface="Courier New" panose="02070309020205020404" charset="0"/>
                <a:ea typeface="+mn-ea"/>
                <a:cs typeface="+mn-cs"/>
              </a:rPr>
              <a:t>i</a:t>
            </a:r>
            <a:endParaRPr lang="en-US" sz="1800" dirty="0">
              <a:latin typeface="Courier New" panose="02070309020205020404" charset="0"/>
              <a:ea typeface="+mn-ea"/>
              <a:cs typeface="+mn-cs"/>
            </a:endParaRPr>
          </a:p>
          <a:p>
            <a:pPr eaLnBrk="0" hangingPunct="0">
              <a:tabLst>
                <a:tab pos="114300" algn="l"/>
                <a:tab pos="1255395" algn="l"/>
                <a:tab pos="394462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ecx</a:t>
            </a:r>
            <a:r>
              <a:rPr lang="en-US" sz="1800" dirty="0">
                <a:latin typeface="Courier New" panose="02070309020205020404" charset="0"/>
                <a:ea typeface="+mn-ea"/>
                <a:cs typeface="+mn-cs"/>
              </a:rPr>
              <a:t>, (%edx,%eax,4)	# r-&gt;a[</a:t>
            </a:r>
            <a:r>
              <a:rPr lang="en-US" sz="1800" dirty="0" err="1">
                <a:latin typeface="Courier New" panose="02070309020205020404" charset="0"/>
                <a:ea typeface="+mn-ea"/>
                <a:cs typeface="+mn-cs"/>
              </a:rPr>
              <a:t>i</a:t>
            </a:r>
            <a:r>
              <a:rPr lang="en-US" sz="1800" dirty="0">
                <a:latin typeface="Courier New" panose="02070309020205020404" charset="0"/>
                <a:ea typeface="+mn-ea"/>
                <a:cs typeface="+mn-cs"/>
              </a:rPr>
              <a:t>] = </a:t>
            </a:r>
            <a:r>
              <a:rPr lang="en-US" sz="1800" dirty="0" err="1">
                <a:latin typeface="Courier New" panose="02070309020205020404" charset="0"/>
                <a:ea typeface="+mn-ea"/>
                <a:cs typeface="+mn-cs"/>
              </a:rPr>
              <a:t>val</a:t>
            </a:r>
            <a:endParaRPr lang="en-US" sz="1800" dirty="0">
              <a:latin typeface="Courier New" panose="02070309020205020404" charset="0"/>
              <a:ea typeface="+mn-ea"/>
              <a:cs typeface="+mn-cs"/>
            </a:endParaRPr>
          </a:p>
          <a:p>
            <a:pPr eaLnBrk="0" hangingPunct="0">
              <a:tabLst>
                <a:tab pos="114300" algn="l"/>
                <a:tab pos="1255395" algn="l"/>
                <a:tab pos="394462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movl</a:t>
            </a:r>
            <a:r>
              <a:rPr lang="en-US" sz="1800" dirty="0">
                <a:latin typeface="Courier New" panose="02070309020205020404" charset="0"/>
                <a:ea typeface="+mn-ea"/>
                <a:cs typeface="+mn-cs"/>
              </a:rPr>
              <a:t>	16(%</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 r = r-&gt;n</a:t>
            </a:r>
          </a:p>
          <a:p>
            <a:pPr eaLnBrk="0" hangingPunct="0">
              <a:tabLst>
                <a:tab pos="114300" algn="l"/>
                <a:tab pos="1255395" algn="l"/>
                <a:tab pos="394462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testl</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edx</a:t>
            </a:r>
            <a:r>
              <a:rPr lang="en-US" sz="1800" dirty="0">
                <a:latin typeface="Courier New" panose="02070309020205020404" charset="0"/>
                <a:ea typeface="+mn-ea"/>
                <a:cs typeface="+mn-cs"/>
              </a:rPr>
              <a:t>	# Test r</a:t>
            </a:r>
          </a:p>
          <a:p>
            <a:pPr eaLnBrk="0" hangingPunct="0">
              <a:tabLst>
                <a:tab pos="114300" algn="l"/>
                <a:tab pos="1255395" algn="l"/>
                <a:tab pos="3944620" algn="l"/>
              </a:tabLst>
              <a:defRPr/>
            </a:pPr>
            <a:r>
              <a:rPr lang="en-US" sz="1800" dirty="0">
                <a:latin typeface="Courier New" panose="02070309020205020404" charset="0"/>
                <a:ea typeface="+mn-ea"/>
                <a:cs typeface="+mn-cs"/>
              </a:rPr>
              <a:t>	  </a:t>
            </a:r>
            <a:r>
              <a:rPr lang="en-US" sz="1800" dirty="0" err="1">
                <a:latin typeface="Courier New" panose="02070309020205020404" charset="0"/>
                <a:ea typeface="+mn-ea"/>
                <a:cs typeface="+mn-cs"/>
              </a:rPr>
              <a:t>jne</a:t>
            </a:r>
            <a:r>
              <a:rPr lang="en-US" sz="1800" dirty="0">
                <a:latin typeface="Courier New" panose="02070309020205020404" charset="0"/>
                <a:ea typeface="+mn-ea"/>
                <a:cs typeface="+mn-cs"/>
              </a:rPr>
              <a:t>	.L17	# If != 0 </a:t>
            </a:r>
            <a:r>
              <a:rPr lang="en-US" sz="1800" dirty="0" err="1">
                <a:latin typeface="Courier New" panose="02070309020205020404" charset="0"/>
                <a:ea typeface="+mn-ea"/>
                <a:cs typeface="+mn-cs"/>
              </a:rPr>
              <a:t>goto</a:t>
            </a:r>
            <a:r>
              <a:rPr lang="en-US" sz="1800" dirty="0">
                <a:latin typeface="Courier New" panose="02070309020205020404" charset="0"/>
                <a:ea typeface="+mn-ea"/>
                <a:cs typeface="+mn-cs"/>
              </a:rPr>
              <a:t> loop</a:t>
            </a:r>
          </a:p>
        </p:txBody>
      </p:sp>
      <p:sp>
        <p:nvSpPr>
          <p:cNvPr id="10" name="下箭头 9"/>
          <p:cNvSpPr/>
          <p:nvPr/>
        </p:nvSpPr>
        <p:spPr>
          <a:xfrm>
            <a:off x="2108200" y="4192270"/>
            <a:ext cx="360680" cy="706755"/>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4611"/>
                                        </p:tgtEl>
                                        <p:attrNameLst>
                                          <p:attrName>style.visibility</p:attrName>
                                        </p:attrNameLst>
                                      </p:cBhvr>
                                      <p:to>
                                        <p:strVal val="visible"/>
                                      </p:to>
                                    </p:set>
                                    <p:animEffect transition="in" filter="wipe(down)">
                                      <p:cBhvr>
                                        <p:cTn id="12" dur="500"/>
                                        <p:tgtEl>
                                          <p:spTgt spid="324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4611" grpId="0" animBg="1"/>
      <p:bldP spid="10" grpId="0" animBg="1"/>
    </p:bld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2960370"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t>结构</a:t>
            </a:r>
            <a:r>
              <a:rPr lang="en-US" sz="2800" dirty="0">
                <a:sym typeface="+mn-ea"/>
              </a:rPr>
              <a:t>&amp;</a:t>
            </a:r>
            <a:r>
              <a:rPr lang="zh-CN" altLang="en-US" sz="2800" dirty="0">
                <a:sym typeface="+mn-ea"/>
              </a:rPr>
              <a:t>对齐</a:t>
            </a:r>
          </a:p>
        </p:txBody>
      </p:sp>
      <p:sp>
        <p:nvSpPr>
          <p:cNvPr id="22532" name="Rectangle 4"/>
          <p:cNvSpPr>
            <a:spLocks noGrp="1" noChangeArrowheads="1"/>
          </p:cNvSpPr>
          <p:nvPr/>
        </p:nvSpPr>
        <p:spPr>
          <a:xfrm>
            <a:off x="396875" y="1197679"/>
            <a:ext cx="7896225" cy="3602922"/>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dirty="0">
                <a:latin typeface="微软雅黑" panose="020B0503020204020204" charset="-122"/>
                <a:ea typeface="微软雅黑" panose="020B0503020204020204" charset="-122"/>
              </a:rPr>
              <a:t>未对齐的数据</a:t>
            </a:r>
          </a:p>
          <a:p>
            <a:endParaRPr lang="en-US" dirty="0">
              <a:latin typeface="微软雅黑" panose="020B0503020204020204" charset="-122"/>
              <a:ea typeface="微软雅黑" panose="020B0503020204020204" charset="-122"/>
            </a:endParaRPr>
          </a:p>
          <a:p>
            <a:pPr>
              <a:buNone/>
            </a:pPr>
            <a:endParaRPr lang="en-US" dirty="0">
              <a:latin typeface="微软雅黑" panose="020B0503020204020204" charset="-122"/>
              <a:ea typeface="微软雅黑" panose="020B0503020204020204" charset="-122"/>
            </a:endParaRPr>
          </a:p>
          <a:p>
            <a:endParaRPr lang="en-US" dirty="0">
              <a:latin typeface="微软雅黑" panose="020B0503020204020204" charset="-122"/>
              <a:ea typeface="微软雅黑" panose="020B0503020204020204" charset="-122"/>
            </a:endParaRPr>
          </a:p>
          <a:p>
            <a:pPr>
              <a:buClr>
                <a:srgbClr val="0D0D0D"/>
              </a:buClr>
            </a:pPr>
            <a:r>
              <a:rPr lang="en-US" dirty="0">
                <a:latin typeface="微软雅黑" panose="020B0503020204020204" charset="-122"/>
                <a:ea typeface="微软雅黑" panose="020B0503020204020204" charset="-122"/>
              </a:rPr>
              <a:t>对齐数据</a:t>
            </a:r>
          </a:p>
          <a:p>
            <a:pPr marL="552450" lvl="1">
              <a:buClr>
                <a:srgbClr val="0D0D0D"/>
              </a:buClr>
            </a:pPr>
            <a:r>
              <a:rPr lang="en-US" dirty="0">
                <a:latin typeface="微软雅黑" panose="020B0503020204020204" charset="-122"/>
                <a:ea typeface="微软雅黑" panose="020B0503020204020204" charset="-122"/>
              </a:rPr>
              <a:t>原始数据类型</a:t>
            </a:r>
            <a:r>
              <a:rPr lang="zh-CN" altLang="en-US" dirty="0">
                <a:latin typeface="微软雅黑" panose="020B0503020204020204" charset="-122"/>
                <a:ea typeface="微软雅黑" panose="020B0503020204020204" charset="-122"/>
              </a:rPr>
              <a:t>占</a:t>
            </a:r>
            <a:r>
              <a:rPr lang="en-US" dirty="0">
                <a:latin typeface="微软雅黑" panose="020B0503020204020204" charset="-122"/>
                <a:ea typeface="微软雅黑" panose="020B0503020204020204" charset="-122"/>
              </a:rPr>
              <a:t>k字节</a:t>
            </a:r>
          </a:p>
          <a:p>
            <a:pPr marL="552450" lvl="1">
              <a:buClr>
                <a:srgbClr val="0D0D0D"/>
              </a:buClr>
            </a:pPr>
            <a:r>
              <a:rPr lang="en-US" dirty="0">
                <a:latin typeface="微软雅黑" panose="020B0503020204020204" charset="-122"/>
                <a:ea typeface="微软雅黑" panose="020B0503020204020204" charset="-122"/>
              </a:rPr>
              <a:t>地址必须是k的倍数</a:t>
            </a:r>
          </a:p>
        </p:txBody>
      </p:sp>
      <p:sp>
        <p:nvSpPr>
          <p:cNvPr id="25" name="Rectangle 7"/>
          <p:cNvSpPr/>
          <p:nvPr/>
        </p:nvSpPr>
        <p:spPr bwMode="auto">
          <a:xfrm>
            <a:off x="633413" y="1752600"/>
            <a:ext cx="317500" cy="381000"/>
          </a:xfrm>
          <a:prstGeom prst="rect">
            <a:avLst/>
          </a:prstGeom>
          <a:solidFill>
            <a:srgbClr val="F6F5BD"/>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dirty="0">
                <a:solidFill>
                  <a:schemeClr val="tx1"/>
                </a:solidFill>
                <a:latin typeface="Courier New" panose="02070309020205020404" charset="0"/>
                <a:cs typeface="Courier New" panose="02070309020205020404" charset="0"/>
                <a:sym typeface="Courier New Bold" charset="0"/>
              </a:rPr>
              <a:t>c</a:t>
            </a:r>
          </a:p>
        </p:txBody>
      </p:sp>
      <p:sp>
        <p:nvSpPr>
          <p:cNvPr id="26" name="Rectangle 8"/>
          <p:cNvSpPr/>
          <p:nvPr/>
        </p:nvSpPr>
        <p:spPr bwMode="auto">
          <a:xfrm>
            <a:off x="936625" y="1752600"/>
            <a:ext cx="127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a:solidFill>
                  <a:schemeClr val="tx1"/>
                </a:solidFill>
                <a:latin typeface="Courier New" panose="02070309020205020404" charset="0"/>
                <a:cs typeface="Courier New" panose="02070309020205020404" charset="0"/>
                <a:sym typeface="Courier New Bold" charset="0"/>
              </a:rPr>
              <a:t>i[0]</a:t>
            </a:r>
          </a:p>
        </p:txBody>
      </p:sp>
      <p:sp>
        <p:nvSpPr>
          <p:cNvPr id="27" name="Rectangle 9"/>
          <p:cNvSpPr/>
          <p:nvPr/>
        </p:nvSpPr>
        <p:spPr bwMode="auto">
          <a:xfrm>
            <a:off x="2206625" y="1752600"/>
            <a:ext cx="127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dirty="0" err="1">
                <a:solidFill>
                  <a:schemeClr val="tx1"/>
                </a:solidFill>
                <a:latin typeface="Courier New" panose="02070309020205020404" charset="0"/>
                <a:cs typeface="Courier New" panose="02070309020205020404" charset="0"/>
                <a:sym typeface="Courier New Bold" charset="0"/>
              </a:rPr>
              <a:t>i</a:t>
            </a:r>
            <a:r>
              <a:rPr lang="en-US" sz="2000" dirty="0">
                <a:solidFill>
                  <a:schemeClr val="tx1"/>
                </a:solidFill>
                <a:latin typeface="Courier New" panose="02070309020205020404" charset="0"/>
                <a:cs typeface="Courier New" panose="02070309020205020404" charset="0"/>
                <a:sym typeface="Courier New Bold" charset="0"/>
              </a:rPr>
              <a:t>[1]</a:t>
            </a:r>
          </a:p>
        </p:txBody>
      </p:sp>
      <p:sp>
        <p:nvSpPr>
          <p:cNvPr id="28" name="Rectangle 10"/>
          <p:cNvSpPr/>
          <p:nvPr/>
        </p:nvSpPr>
        <p:spPr bwMode="auto">
          <a:xfrm>
            <a:off x="3449638" y="1752600"/>
            <a:ext cx="25400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dirty="0">
                <a:solidFill>
                  <a:schemeClr val="tx1"/>
                </a:solidFill>
                <a:latin typeface="Courier New" panose="02070309020205020404" charset="0"/>
                <a:cs typeface="Courier New" panose="02070309020205020404" charset="0"/>
                <a:sym typeface="Courier New Bold" charset="0"/>
              </a:rPr>
              <a:t>v</a:t>
            </a:r>
          </a:p>
        </p:txBody>
      </p:sp>
      <p:sp>
        <p:nvSpPr>
          <p:cNvPr id="31" name="Rectangle 13"/>
          <p:cNvSpPr/>
          <p:nvPr/>
        </p:nvSpPr>
        <p:spPr bwMode="auto">
          <a:xfrm>
            <a:off x="533400" y="2146300"/>
            <a:ext cx="21336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panose="02070309020205020404" charset="0"/>
                <a:cs typeface="Courier New" panose="02070309020205020404" charset="0"/>
                <a:sym typeface="Courier New Bold" charset="0"/>
              </a:rPr>
              <a:t>p</a:t>
            </a:r>
          </a:p>
        </p:txBody>
      </p:sp>
      <p:sp>
        <p:nvSpPr>
          <p:cNvPr id="32" name="Rectangle 14"/>
          <p:cNvSpPr/>
          <p:nvPr/>
        </p:nvSpPr>
        <p:spPr bwMode="auto">
          <a:xfrm>
            <a:off x="838200" y="2146300"/>
            <a:ext cx="48768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panose="02070309020205020404" charset="0"/>
                <a:cs typeface="Courier New" panose="02070309020205020404" charset="0"/>
                <a:sym typeface="Courier New Bold" charset="0"/>
              </a:rPr>
              <a:t>p+1</a:t>
            </a:r>
          </a:p>
        </p:txBody>
      </p:sp>
      <p:sp>
        <p:nvSpPr>
          <p:cNvPr id="33" name="Rectangle 15"/>
          <p:cNvSpPr/>
          <p:nvPr/>
        </p:nvSpPr>
        <p:spPr bwMode="auto">
          <a:xfrm>
            <a:off x="1941512" y="2146300"/>
            <a:ext cx="48768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panose="02070309020205020404" charset="0"/>
                <a:cs typeface="Courier New" panose="02070309020205020404" charset="0"/>
                <a:sym typeface="Courier New Bold" charset="0"/>
              </a:rPr>
              <a:t>p+5</a:t>
            </a:r>
          </a:p>
        </p:txBody>
      </p:sp>
      <p:sp>
        <p:nvSpPr>
          <p:cNvPr id="34" name="Rectangle 16"/>
          <p:cNvSpPr/>
          <p:nvPr/>
        </p:nvSpPr>
        <p:spPr bwMode="auto">
          <a:xfrm>
            <a:off x="3124200" y="2146300"/>
            <a:ext cx="48768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panose="02070309020205020404" charset="0"/>
                <a:cs typeface="Courier New" panose="02070309020205020404" charset="0"/>
                <a:sym typeface="Courier New Bold" charset="0"/>
              </a:rPr>
              <a:t>p+9</a:t>
            </a:r>
          </a:p>
        </p:txBody>
      </p:sp>
      <p:sp>
        <p:nvSpPr>
          <p:cNvPr id="35" name="Rectangle 17"/>
          <p:cNvSpPr/>
          <p:nvPr/>
        </p:nvSpPr>
        <p:spPr bwMode="auto">
          <a:xfrm>
            <a:off x="5670550" y="2146300"/>
            <a:ext cx="62484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panose="02070309020205020404" charset="0"/>
                <a:cs typeface="Courier New" panose="02070309020205020404" charset="0"/>
                <a:sym typeface="Courier New Bold" charset="0"/>
              </a:rPr>
              <a:t>p+17</a:t>
            </a:r>
          </a:p>
        </p:txBody>
      </p:sp>
      <p:sp>
        <p:nvSpPr>
          <p:cNvPr id="44" name="Rectangle 3"/>
          <p:cNvSpPr/>
          <p:nvPr/>
        </p:nvSpPr>
        <p:spPr bwMode="auto">
          <a:xfrm>
            <a:off x="6642100" y="1355724"/>
            <a:ext cx="2222500" cy="1539875"/>
          </a:xfrm>
          <a:prstGeom prst="rect">
            <a:avLst/>
          </a:prstGeom>
          <a:solidFill>
            <a:srgbClr val="FFFEB2"/>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a:solidFill>
                  <a:schemeClr val="tx1"/>
                </a:solidFill>
                <a:latin typeface="Courier New" panose="02070309020205020404" charset="0"/>
                <a:cs typeface="Courier New" panose="02070309020205020404" charset="0"/>
                <a:sym typeface="Courier New Bold" charset="0"/>
              </a:rPr>
              <a:t>struct S1 {</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char c;</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int i[2];</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double v;</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*p;</a:t>
            </a:r>
          </a:p>
        </p:txBody>
      </p:sp>
      <p:sp>
        <p:nvSpPr>
          <p:cNvPr id="6" name="Rectangle 7"/>
          <p:cNvSpPr/>
          <p:nvPr/>
        </p:nvSpPr>
        <p:spPr bwMode="auto">
          <a:xfrm>
            <a:off x="633413" y="4572000"/>
            <a:ext cx="317500" cy="381000"/>
          </a:xfrm>
          <a:prstGeom prst="rect">
            <a:avLst/>
          </a:prstGeom>
          <a:solidFill>
            <a:srgbClr val="F6F5BD"/>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a:solidFill>
                  <a:schemeClr val="tx1"/>
                </a:solidFill>
                <a:latin typeface="Courier New" panose="02070309020205020404" charset="0"/>
                <a:cs typeface="Courier New" panose="02070309020205020404" charset="0"/>
                <a:sym typeface="Courier New Bold" charset="0"/>
              </a:rPr>
              <a:t>c</a:t>
            </a:r>
          </a:p>
        </p:txBody>
      </p:sp>
      <p:sp>
        <p:nvSpPr>
          <p:cNvPr id="7" name="Rectangle 8"/>
          <p:cNvSpPr/>
          <p:nvPr/>
        </p:nvSpPr>
        <p:spPr bwMode="auto">
          <a:xfrm>
            <a:off x="1903413" y="4572000"/>
            <a:ext cx="127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a:solidFill>
                  <a:schemeClr val="tx1"/>
                </a:solidFill>
                <a:latin typeface="Courier New" panose="02070309020205020404" charset="0"/>
                <a:cs typeface="Courier New" panose="02070309020205020404" charset="0"/>
                <a:sym typeface="Courier New Bold" charset="0"/>
              </a:rPr>
              <a:t>i[0]</a:t>
            </a:r>
          </a:p>
        </p:txBody>
      </p:sp>
      <p:sp>
        <p:nvSpPr>
          <p:cNvPr id="8" name="Rectangle 9"/>
          <p:cNvSpPr/>
          <p:nvPr/>
        </p:nvSpPr>
        <p:spPr bwMode="auto">
          <a:xfrm>
            <a:off x="3173413" y="4572000"/>
            <a:ext cx="127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a:solidFill>
                  <a:schemeClr val="tx1"/>
                </a:solidFill>
                <a:latin typeface="Courier New" panose="02070309020205020404" charset="0"/>
                <a:cs typeface="Courier New" panose="02070309020205020404" charset="0"/>
                <a:sym typeface="Courier New Bold" charset="0"/>
              </a:rPr>
              <a:t>i[1]</a:t>
            </a:r>
          </a:p>
        </p:txBody>
      </p:sp>
      <p:sp>
        <p:nvSpPr>
          <p:cNvPr id="9" name="Rectangle 10"/>
          <p:cNvSpPr/>
          <p:nvPr/>
        </p:nvSpPr>
        <p:spPr bwMode="auto">
          <a:xfrm>
            <a:off x="5713413" y="4572000"/>
            <a:ext cx="2540000" cy="381000"/>
          </a:xfrm>
          <a:prstGeom prst="rect">
            <a:avLst/>
          </a:prstGeom>
          <a:solidFill>
            <a:srgbClr val="D6D6F4"/>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dirty="0">
                <a:solidFill>
                  <a:schemeClr val="tx1"/>
                </a:solidFill>
                <a:latin typeface="Courier New" panose="02070309020205020404" charset="0"/>
                <a:cs typeface="Courier New" panose="02070309020205020404" charset="0"/>
                <a:sym typeface="Courier New Bold" charset="0"/>
              </a:rPr>
              <a:t>v</a:t>
            </a:r>
          </a:p>
        </p:txBody>
      </p:sp>
      <p:sp>
        <p:nvSpPr>
          <p:cNvPr id="10" name="Rectangle 11"/>
          <p:cNvSpPr/>
          <p:nvPr/>
        </p:nvSpPr>
        <p:spPr bwMode="auto">
          <a:xfrm>
            <a:off x="950913" y="4572000"/>
            <a:ext cx="952500" cy="381000"/>
          </a:xfrm>
          <a:prstGeom prst="rect">
            <a:avLst/>
          </a:prstGeom>
          <a:solidFill>
            <a:srgbClr val="B2B2B2"/>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1600" dirty="0">
                <a:solidFill>
                  <a:srgbClr val="FFFFFF"/>
                </a:solidFill>
                <a:latin typeface="Calibri Bold Italic" charset="0"/>
                <a:ea typeface="Calibri Bold Italic" charset="0"/>
                <a:cs typeface="Calibri Bold Italic" charset="0"/>
                <a:sym typeface="Calibri Bold Italic" charset="0"/>
              </a:rPr>
              <a:t>3 bytes</a:t>
            </a:r>
          </a:p>
        </p:txBody>
      </p:sp>
      <p:sp>
        <p:nvSpPr>
          <p:cNvPr id="11" name="Rectangle 12"/>
          <p:cNvSpPr/>
          <p:nvPr/>
        </p:nvSpPr>
        <p:spPr bwMode="auto">
          <a:xfrm>
            <a:off x="4443413" y="4572000"/>
            <a:ext cx="1270000" cy="381000"/>
          </a:xfrm>
          <a:prstGeom prst="rect">
            <a:avLst/>
          </a:prstGeom>
          <a:solidFill>
            <a:srgbClr val="B2B2B2"/>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1600">
                <a:solidFill>
                  <a:srgbClr val="FFFFFF"/>
                </a:solidFill>
                <a:latin typeface="Calibri Bold Italic" charset="0"/>
                <a:ea typeface="Calibri Bold Italic" charset="0"/>
                <a:cs typeface="Calibri Bold Italic" charset="0"/>
                <a:sym typeface="Calibri Bold Italic" charset="0"/>
              </a:rPr>
              <a:t>4 bytes</a:t>
            </a:r>
          </a:p>
        </p:txBody>
      </p:sp>
      <p:sp>
        <p:nvSpPr>
          <p:cNvPr id="12" name="Rectangle 13"/>
          <p:cNvSpPr/>
          <p:nvPr/>
        </p:nvSpPr>
        <p:spPr bwMode="auto">
          <a:xfrm>
            <a:off x="381000" y="4965700"/>
            <a:ext cx="48768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dirty="0">
                <a:solidFill>
                  <a:schemeClr val="tx1"/>
                </a:solidFill>
                <a:latin typeface="Courier New" panose="02070309020205020404" charset="0"/>
                <a:cs typeface="Courier New" panose="02070309020205020404" charset="0"/>
                <a:sym typeface="Courier New Bold" charset="0"/>
              </a:rPr>
              <a:t>p+0</a:t>
            </a:r>
          </a:p>
        </p:txBody>
      </p:sp>
      <p:sp>
        <p:nvSpPr>
          <p:cNvPr id="13" name="Rectangle 14"/>
          <p:cNvSpPr/>
          <p:nvPr/>
        </p:nvSpPr>
        <p:spPr bwMode="auto">
          <a:xfrm>
            <a:off x="1652588" y="4965700"/>
            <a:ext cx="48768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a:solidFill>
                  <a:schemeClr val="tx1"/>
                </a:solidFill>
                <a:latin typeface="Courier New" panose="02070309020205020404" charset="0"/>
                <a:cs typeface="Courier New" panose="02070309020205020404" charset="0"/>
                <a:sym typeface="Courier New Bold" charset="0"/>
              </a:rPr>
              <a:t>p+4</a:t>
            </a:r>
          </a:p>
        </p:txBody>
      </p:sp>
      <p:sp>
        <p:nvSpPr>
          <p:cNvPr id="14" name="Rectangle 15"/>
          <p:cNvSpPr/>
          <p:nvPr/>
        </p:nvSpPr>
        <p:spPr bwMode="auto">
          <a:xfrm>
            <a:off x="2908300" y="4965700"/>
            <a:ext cx="48768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a:solidFill>
                  <a:schemeClr val="tx1"/>
                </a:solidFill>
                <a:latin typeface="Courier New" panose="02070309020205020404" charset="0"/>
                <a:cs typeface="Courier New" panose="02070309020205020404" charset="0"/>
                <a:sym typeface="Courier New Bold" charset="0"/>
              </a:rPr>
              <a:t>p+8</a:t>
            </a:r>
          </a:p>
        </p:txBody>
      </p:sp>
      <p:sp>
        <p:nvSpPr>
          <p:cNvPr id="15" name="Rectangle 16"/>
          <p:cNvSpPr/>
          <p:nvPr/>
        </p:nvSpPr>
        <p:spPr bwMode="auto">
          <a:xfrm>
            <a:off x="5387975" y="4965700"/>
            <a:ext cx="62484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a:solidFill>
                  <a:schemeClr val="tx1"/>
                </a:solidFill>
                <a:latin typeface="Courier New" panose="02070309020205020404" charset="0"/>
                <a:cs typeface="Courier New" panose="02070309020205020404" charset="0"/>
                <a:sym typeface="Courier New Bold" charset="0"/>
              </a:rPr>
              <a:t>p+16</a:t>
            </a:r>
          </a:p>
        </p:txBody>
      </p:sp>
      <p:sp>
        <p:nvSpPr>
          <p:cNvPr id="16" name="Rectangle 17"/>
          <p:cNvSpPr/>
          <p:nvPr/>
        </p:nvSpPr>
        <p:spPr bwMode="auto">
          <a:xfrm>
            <a:off x="7934325" y="4965700"/>
            <a:ext cx="624840" cy="353060"/>
          </a:xfrm>
          <a:prstGeom prst="rect">
            <a:avLst/>
          </a:prstGeom>
          <a:noFill/>
          <a:ln w="25400" cap="flat">
            <a:noFill/>
            <a:miter lim="800000"/>
            <a:headEnd type="none" w="med" len="med"/>
            <a:tailEnd type="none" w="med" len="med"/>
          </a:ln>
        </p:spPr>
        <p:txBody>
          <a:bodyPr wrap="none" lIns="38100" tIns="38100" rIns="38100" bIns="38100">
            <a:spAutoFit/>
          </a:bodyPr>
          <a:lstStyle/>
          <a:p>
            <a:r>
              <a:rPr lang="en-US" sz="1800">
                <a:solidFill>
                  <a:schemeClr val="tx1"/>
                </a:solidFill>
                <a:latin typeface="Courier New" panose="02070309020205020404" charset="0"/>
                <a:cs typeface="Courier New" panose="02070309020205020404" charset="0"/>
                <a:sym typeface="Courier New Bold" charset="0"/>
              </a:rPr>
              <a:t>p+24</a:t>
            </a:r>
          </a:p>
        </p:txBody>
      </p:sp>
      <p:sp>
        <p:nvSpPr>
          <p:cNvPr id="17" name="Line 18"/>
          <p:cNvSpPr>
            <a:spLocks noChangeShapeType="1"/>
          </p:cNvSpPr>
          <p:nvPr/>
        </p:nvSpPr>
        <p:spPr bwMode="auto">
          <a:xfrm rot="10800000" flipH="1">
            <a:off x="1903413" y="5314950"/>
            <a:ext cx="0" cy="3810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18" name="Rectangle 19"/>
          <p:cNvSpPr/>
          <p:nvPr/>
        </p:nvSpPr>
        <p:spPr bwMode="auto">
          <a:xfrm>
            <a:off x="1382713" y="5648325"/>
            <a:ext cx="2070100" cy="355600"/>
          </a:xfrm>
          <a:prstGeom prst="rect">
            <a:avLst/>
          </a:prstGeom>
          <a:noFill/>
          <a:ln w="12700" cap="flat">
            <a:noFill/>
            <a:miter lim="800000"/>
            <a:headEnd type="none" w="med" len="med"/>
            <a:tailEnd type="none" w="med" len="med"/>
          </a:ln>
        </p:spPr>
        <p:txBody>
          <a:bodyPr lIns="38100" tIns="38100" rIns="38100" bIns="38100"/>
          <a:lstStyle/>
          <a:p>
            <a:pPr marL="186055" indent="-186055">
              <a:spcBef>
                <a:spcPts val="640"/>
              </a:spcBef>
            </a:pPr>
            <a:r>
              <a:rPr lang="en-US" sz="1800">
                <a:solidFill>
                  <a:schemeClr val="tx1"/>
                </a:solidFill>
                <a:latin typeface="Calibri Bold" charset="0"/>
                <a:ea typeface="Calibri Bold" charset="0"/>
                <a:cs typeface="Calibri Bold" charset="0"/>
                <a:sym typeface="Calibri Bold" charset="0"/>
              </a:rPr>
              <a:t> 4</a:t>
            </a:r>
            <a:r>
              <a:rPr lang="en-US">
                <a:latin typeface="Calibri Bold" charset="0"/>
                <a:ea typeface="Calibri Bold" charset="0"/>
                <a:cs typeface="Calibri Bold" charset="0"/>
                <a:sym typeface="Calibri Bold" charset="0"/>
              </a:rPr>
              <a:t>的倍数</a:t>
            </a:r>
            <a:endParaRPr lang="en-US" sz="1800">
              <a:solidFill>
                <a:schemeClr val="tx1"/>
              </a:solidFill>
              <a:latin typeface="Calibri Bold" charset="0"/>
              <a:ea typeface="Calibri Bold" charset="0"/>
              <a:cs typeface="Calibri Bold" charset="0"/>
              <a:sym typeface="Calibri Bold" charset="0"/>
            </a:endParaRPr>
          </a:p>
        </p:txBody>
      </p:sp>
      <p:sp>
        <p:nvSpPr>
          <p:cNvPr id="19" name="Rectangle 20"/>
          <p:cNvSpPr/>
          <p:nvPr/>
        </p:nvSpPr>
        <p:spPr bwMode="auto">
          <a:xfrm>
            <a:off x="5218113" y="5648325"/>
            <a:ext cx="1905000" cy="355600"/>
          </a:xfrm>
          <a:prstGeom prst="rect">
            <a:avLst/>
          </a:prstGeom>
          <a:noFill/>
          <a:ln w="12700" cap="flat">
            <a:noFill/>
            <a:miter lim="800000"/>
            <a:headEnd type="none" w="med" len="med"/>
            <a:tailEnd type="none" w="med" len="med"/>
          </a:ln>
        </p:spPr>
        <p:txBody>
          <a:bodyPr lIns="38100" tIns="38100" rIns="38100" bIns="38100"/>
          <a:lstStyle/>
          <a:p>
            <a:pPr marL="186055" indent="-186055">
              <a:spcBef>
                <a:spcPts val="640"/>
              </a:spcBef>
            </a:pPr>
            <a:r>
              <a:rPr lang="en-US">
                <a:latin typeface="Calibri Bold" charset="0"/>
                <a:ea typeface="Calibri Bold" charset="0"/>
                <a:cs typeface="Calibri Bold" charset="0"/>
                <a:sym typeface="Calibri Bold" charset="0"/>
              </a:rPr>
              <a:t>8的倍数</a:t>
            </a:r>
            <a:endParaRPr lang="en-US" sz="1800">
              <a:solidFill>
                <a:schemeClr val="tx1"/>
              </a:solidFill>
              <a:latin typeface="Calibri Bold" charset="0"/>
              <a:ea typeface="Calibri Bold" charset="0"/>
              <a:cs typeface="Calibri Bold" charset="0"/>
              <a:sym typeface="Calibri Bold" charset="0"/>
            </a:endParaRPr>
          </a:p>
        </p:txBody>
      </p:sp>
      <p:sp>
        <p:nvSpPr>
          <p:cNvPr id="20" name="Line 21"/>
          <p:cNvSpPr>
            <a:spLocks noChangeShapeType="1"/>
          </p:cNvSpPr>
          <p:nvPr/>
        </p:nvSpPr>
        <p:spPr bwMode="auto">
          <a:xfrm rot="10800000" flipH="1">
            <a:off x="5713413" y="5314950"/>
            <a:ext cx="0" cy="3810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1" name="Rectangle 22"/>
          <p:cNvSpPr/>
          <p:nvPr/>
        </p:nvSpPr>
        <p:spPr bwMode="auto">
          <a:xfrm>
            <a:off x="404813" y="6159500"/>
            <a:ext cx="1536700" cy="355600"/>
          </a:xfrm>
          <a:prstGeom prst="rect">
            <a:avLst/>
          </a:prstGeom>
          <a:noFill/>
          <a:ln w="12700" cap="flat">
            <a:noFill/>
            <a:miter lim="800000"/>
            <a:headEnd type="none" w="med" len="med"/>
            <a:tailEnd type="none" w="med" len="med"/>
          </a:ln>
        </p:spPr>
        <p:txBody>
          <a:bodyPr lIns="38100" tIns="38100" rIns="38100" bIns="38100"/>
          <a:lstStyle/>
          <a:p>
            <a:pPr marL="186055" indent="-186055">
              <a:spcBef>
                <a:spcPts val="640"/>
              </a:spcBef>
            </a:pPr>
            <a:r>
              <a:rPr lang="en-US" sz="1800">
                <a:solidFill>
                  <a:schemeClr val="tx1"/>
                </a:solidFill>
                <a:latin typeface="Calibri Bold" charset="0"/>
                <a:ea typeface="Calibri Bold" charset="0"/>
                <a:cs typeface="Calibri Bold" charset="0"/>
                <a:sym typeface="Calibri Bold" charset="0"/>
              </a:rPr>
              <a:t>8的倍数</a:t>
            </a:r>
          </a:p>
        </p:txBody>
      </p:sp>
      <p:sp>
        <p:nvSpPr>
          <p:cNvPr id="22" name="Line 23"/>
          <p:cNvSpPr>
            <a:spLocks noChangeShapeType="1"/>
          </p:cNvSpPr>
          <p:nvPr/>
        </p:nvSpPr>
        <p:spPr bwMode="auto">
          <a:xfrm rot="10800000" flipH="1">
            <a:off x="633413" y="5314950"/>
            <a:ext cx="0" cy="8382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
        <p:nvSpPr>
          <p:cNvPr id="23" name="Rectangle 24"/>
          <p:cNvSpPr/>
          <p:nvPr/>
        </p:nvSpPr>
        <p:spPr bwMode="auto">
          <a:xfrm>
            <a:off x="7669530" y="6159500"/>
            <a:ext cx="1116330" cy="355600"/>
          </a:xfrm>
          <a:prstGeom prst="rect">
            <a:avLst/>
          </a:prstGeom>
          <a:noFill/>
          <a:ln w="12700" cap="flat">
            <a:noFill/>
            <a:miter lim="800000"/>
            <a:headEnd type="none" w="med" len="med"/>
            <a:tailEnd type="none" w="med" len="med"/>
          </a:ln>
        </p:spPr>
        <p:txBody>
          <a:bodyPr lIns="38100" tIns="38100" rIns="38100" bIns="38100"/>
          <a:lstStyle/>
          <a:p>
            <a:pPr marL="186055" indent="-186055">
              <a:spcBef>
                <a:spcPts val="640"/>
              </a:spcBef>
            </a:pPr>
            <a:r>
              <a:rPr lang="en-US">
                <a:latin typeface="Calibri Bold" charset="0"/>
                <a:ea typeface="Calibri Bold" charset="0"/>
                <a:cs typeface="Calibri Bold" charset="0"/>
                <a:sym typeface="Calibri Bold" charset="0"/>
              </a:rPr>
              <a:t>8的倍数</a:t>
            </a:r>
            <a:endParaRPr lang="en-US" sz="1800">
              <a:solidFill>
                <a:schemeClr val="tx1"/>
              </a:solidFill>
              <a:latin typeface="Calibri Bold" charset="0"/>
              <a:ea typeface="Calibri Bold" charset="0"/>
              <a:cs typeface="Calibri Bold" charset="0"/>
              <a:sym typeface="Calibri Bold" charset="0"/>
            </a:endParaRPr>
          </a:p>
        </p:txBody>
      </p:sp>
      <p:sp>
        <p:nvSpPr>
          <p:cNvPr id="24" name="Line 25"/>
          <p:cNvSpPr>
            <a:spLocks noChangeShapeType="1"/>
          </p:cNvSpPr>
          <p:nvPr/>
        </p:nvSpPr>
        <p:spPr bwMode="auto">
          <a:xfrm rot="10800000" flipH="1">
            <a:off x="8253413" y="5314950"/>
            <a:ext cx="0" cy="838200"/>
          </a:xfrm>
          <a:prstGeom prst="line">
            <a:avLst/>
          </a:prstGeom>
          <a:noFill/>
          <a:ln w="25400" cap="flat">
            <a:solidFill>
              <a:schemeClr val="tx1"/>
            </a:solidFill>
            <a:prstDash val="solid"/>
            <a:round/>
            <a:headEnd type="none" w="med" len="med"/>
            <a:tailEnd type="triangle" w="med" len="med"/>
          </a:ln>
        </p:spPr>
        <p:txBody>
          <a:bodyPr lIns="0" tIns="0" rIns="0" bIns="0"/>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532">
                                            <p:txEl>
                                              <p:pRg st="4" end="4"/>
                                            </p:txEl>
                                          </p:spTgt>
                                        </p:tgtEl>
                                        <p:attrNameLst>
                                          <p:attrName>style.visibility</p:attrName>
                                        </p:attrNameLst>
                                      </p:cBhvr>
                                      <p:to>
                                        <p:strVal val="visible"/>
                                      </p:to>
                                    </p:set>
                                    <p:animEffect transition="in" filter="wipe(down)">
                                      <p:cBhvr>
                                        <p:cTn id="7" dur="500"/>
                                        <p:tgtEl>
                                          <p:spTgt spid="2253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2532">
                                            <p:txEl>
                                              <p:pRg st="5" end="5"/>
                                            </p:txEl>
                                          </p:spTgt>
                                        </p:tgtEl>
                                        <p:attrNameLst>
                                          <p:attrName>style.visibility</p:attrName>
                                        </p:attrNameLst>
                                      </p:cBhvr>
                                      <p:to>
                                        <p:strVal val="visible"/>
                                      </p:to>
                                    </p:set>
                                    <p:animEffect transition="in" filter="wipe(down)">
                                      <p:cBhvr>
                                        <p:cTn id="12" dur="500"/>
                                        <p:tgtEl>
                                          <p:spTgt spid="22532">
                                            <p:txEl>
                                              <p:pRg st="5" end="5"/>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2532">
                                            <p:txEl>
                                              <p:pRg st="6" end="6"/>
                                            </p:txEl>
                                          </p:spTgt>
                                        </p:tgtEl>
                                        <p:attrNameLst>
                                          <p:attrName>style.visibility</p:attrName>
                                        </p:attrNameLst>
                                      </p:cBhvr>
                                      <p:to>
                                        <p:strVal val="visible"/>
                                      </p:to>
                                    </p:set>
                                    <p:animEffect transition="in" filter="wipe(down)">
                                      <p:cBhvr>
                                        <p:cTn id="15" dur="500"/>
                                        <p:tgtEl>
                                          <p:spTgt spid="22532">
                                            <p:txEl>
                                              <p:pRg st="6" end="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wipe(down)">
                                      <p:cBhvr>
                                        <p:cTn id="23" dur="500"/>
                                        <p:tgtEl>
                                          <p:spTgt spid="7"/>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00"/>
                                        <p:tgtEl>
                                          <p:spTgt spid="8"/>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wipe(down)">
                                      <p:cBhvr>
                                        <p:cTn id="29" dur="500"/>
                                        <p:tgtEl>
                                          <p:spTgt spid="9"/>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down)">
                                      <p:cBhvr>
                                        <p:cTn id="35" dur="500"/>
                                        <p:tgtEl>
                                          <p:spTgt spid="11"/>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down)">
                                      <p:cBhvr>
                                        <p:cTn id="38" dur="500"/>
                                        <p:tgtEl>
                                          <p:spTgt spid="12"/>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down)">
                                      <p:cBhvr>
                                        <p:cTn id="41" dur="500"/>
                                        <p:tgtEl>
                                          <p:spTgt spid="13"/>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wipe(down)">
                                      <p:cBhvr>
                                        <p:cTn id="44" dur="500"/>
                                        <p:tgtEl>
                                          <p:spTgt spid="14"/>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down)">
                                      <p:cBhvr>
                                        <p:cTn id="50" dur="500"/>
                                        <p:tgtEl>
                                          <p:spTgt spid="16"/>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21"/>
                                        </p:tgtEl>
                                        <p:attrNameLst>
                                          <p:attrName>style.visibility</p:attrName>
                                        </p:attrNameLst>
                                      </p:cBhvr>
                                      <p:to>
                                        <p:strVal val="visible"/>
                                      </p:to>
                                    </p:set>
                                    <p:animEffect transition="in" filter="wipe(down)">
                                      <p:cBhvr>
                                        <p:cTn id="61" dur="500"/>
                                        <p:tgtEl>
                                          <p:spTgt spid="21"/>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7"/>
                                        </p:tgtEl>
                                        <p:attrNameLst>
                                          <p:attrName>style.visibility</p:attrName>
                                        </p:attrNameLst>
                                      </p:cBhvr>
                                      <p:to>
                                        <p:strVal val="visible"/>
                                      </p:to>
                                    </p:set>
                                    <p:anim calcmode="lin" valueType="num">
                                      <p:cBhvr additive="base">
                                        <p:cTn id="66" dur="500" fill="hold"/>
                                        <p:tgtEl>
                                          <p:spTgt spid="17"/>
                                        </p:tgtEl>
                                        <p:attrNameLst>
                                          <p:attrName>ppt_x</p:attrName>
                                        </p:attrNameLst>
                                      </p:cBhvr>
                                      <p:tavLst>
                                        <p:tav tm="0">
                                          <p:val>
                                            <p:strVal val="#ppt_x"/>
                                          </p:val>
                                        </p:tav>
                                        <p:tav tm="100000">
                                          <p:val>
                                            <p:strVal val="#ppt_x"/>
                                          </p:val>
                                        </p:tav>
                                      </p:tavLst>
                                    </p:anim>
                                    <p:anim calcmode="lin" valueType="num">
                                      <p:cBhvr additive="base">
                                        <p:cTn id="6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down)">
                                      <p:cBhvr>
                                        <p:cTn id="72" dur="500"/>
                                        <p:tgtEl>
                                          <p:spTgt spid="18"/>
                                        </p:tgtEl>
                                      </p:cBhvr>
                                    </p:animEffect>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nodeType="click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grpId="0" nodeType="clickEffect">
                                  <p:stCondLst>
                                    <p:cond delay="0"/>
                                  </p:stCondLst>
                                  <p:childTnLst>
                                    <p:set>
                                      <p:cBhvr>
                                        <p:cTn id="82" dur="1" fill="hold">
                                          <p:stCondLst>
                                            <p:cond delay="0"/>
                                          </p:stCondLst>
                                        </p:cTn>
                                        <p:tgtEl>
                                          <p:spTgt spid="19"/>
                                        </p:tgtEl>
                                        <p:attrNameLst>
                                          <p:attrName>style.visibility</p:attrName>
                                        </p:attrNameLst>
                                      </p:cBhvr>
                                      <p:to>
                                        <p:strVal val="visible"/>
                                      </p:to>
                                    </p:set>
                                    <p:animEffect transition="in" filter="wipe(down)">
                                      <p:cBhvr>
                                        <p:cTn id="83" dur="500"/>
                                        <p:tgtEl>
                                          <p:spTgt spid="19"/>
                                        </p:tgtEl>
                                      </p:cBhvr>
                                    </p:animEffect>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24"/>
                                        </p:tgtEl>
                                        <p:attrNameLst>
                                          <p:attrName>style.visibility</p:attrName>
                                        </p:attrNameLst>
                                      </p:cBhvr>
                                      <p:to>
                                        <p:strVal val="visible"/>
                                      </p:to>
                                    </p:set>
                                    <p:anim calcmode="lin" valueType="num">
                                      <p:cBhvr additive="base">
                                        <p:cTn id="88" dur="500" fill="hold"/>
                                        <p:tgtEl>
                                          <p:spTgt spid="24"/>
                                        </p:tgtEl>
                                        <p:attrNameLst>
                                          <p:attrName>ppt_x</p:attrName>
                                        </p:attrNameLst>
                                      </p:cBhvr>
                                      <p:tavLst>
                                        <p:tav tm="0">
                                          <p:val>
                                            <p:strVal val="#ppt_x"/>
                                          </p:val>
                                        </p:tav>
                                        <p:tav tm="100000">
                                          <p:val>
                                            <p:strVal val="#ppt_x"/>
                                          </p:val>
                                        </p:tav>
                                      </p:tavLst>
                                    </p:anim>
                                    <p:anim calcmode="lin" valueType="num">
                                      <p:cBhvr additive="base">
                                        <p:cTn id="89"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23"/>
                                        </p:tgtEl>
                                        <p:attrNameLst>
                                          <p:attrName>style.visibility</p:attrName>
                                        </p:attrNameLst>
                                      </p:cBhvr>
                                      <p:to>
                                        <p:strVal val="visible"/>
                                      </p:to>
                                    </p:set>
                                    <p:animEffect transition="in" filter="wipe(down)">
                                      <p:cBhvr>
                                        <p:cTn id="9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p:bldP spid="13" grpId="0"/>
      <p:bldP spid="14" grpId="0"/>
      <p:bldP spid="15" grpId="0"/>
      <p:bldP spid="16" grpId="0"/>
      <p:bldP spid="18" grpId="0"/>
      <p:bldP spid="19" grpId="0"/>
      <p:bldP spid="21" grpId="0"/>
      <p:bldP spid="23" grpId="0"/>
    </p:bld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2711450"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t>对齐原则</a:t>
            </a:r>
          </a:p>
        </p:txBody>
      </p:sp>
      <p:sp>
        <p:nvSpPr>
          <p:cNvPr id="22532" name="Rectangle 4"/>
          <p:cNvSpPr>
            <a:spLocks noGrp="1" noChangeArrowheads="1"/>
          </p:cNvSpPr>
          <p:nvPr/>
        </p:nvSpPr>
        <p:spPr>
          <a:xfrm>
            <a:off x="357505" y="12096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zh-CN" altLang="en-US" dirty="0">
                <a:latin typeface="微软雅黑" panose="020B0503020204020204" charset="-122"/>
                <a:ea typeface="微软雅黑" panose="020B0503020204020204" charset="-122"/>
              </a:rPr>
              <a:t>数据对齐</a:t>
            </a:r>
          </a:p>
          <a:p>
            <a:pPr marL="552450" lvl="1">
              <a:buClr>
                <a:srgbClr val="0D0D0D"/>
              </a:buClr>
            </a:pPr>
            <a:r>
              <a:rPr lang="en-US" dirty="0">
                <a:latin typeface="微软雅黑" panose="020B0503020204020204" charset="-122"/>
                <a:ea typeface="微软雅黑" panose="020B0503020204020204" charset="-122"/>
              </a:rPr>
              <a:t>数据类型</a:t>
            </a:r>
            <a:r>
              <a:rPr lang="zh-CN" altLang="en-US" dirty="0">
                <a:latin typeface="微软雅黑" panose="020B0503020204020204" charset="-122"/>
                <a:ea typeface="微软雅黑" panose="020B0503020204020204" charset="-122"/>
              </a:rPr>
              <a:t>为</a:t>
            </a:r>
            <a:r>
              <a:rPr lang="en-US" dirty="0">
                <a:latin typeface="微软雅黑" panose="020B0503020204020204" charset="-122"/>
                <a:ea typeface="微软雅黑" panose="020B0503020204020204" charset="-122"/>
              </a:rPr>
              <a:t>k字节</a:t>
            </a:r>
          </a:p>
          <a:p>
            <a:pPr marL="552450" lvl="1">
              <a:buClr>
                <a:srgbClr val="0D0D0D"/>
              </a:buClr>
            </a:pPr>
            <a:r>
              <a:rPr lang="en-US" dirty="0">
                <a:latin typeface="微软雅黑" panose="020B0503020204020204" charset="-122"/>
                <a:ea typeface="微软雅黑" panose="020B0503020204020204" charset="-122"/>
              </a:rPr>
              <a:t>地址必须是k的倍数</a:t>
            </a:r>
          </a:p>
          <a:p>
            <a:pPr marL="552450" lvl="1">
              <a:buClr>
                <a:srgbClr val="0D0D0D"/>
              </a:buClr>
            </a:pPr>
            <a:r>
              <a:rPr lang="zh-CN" altLang="en-US" dirty="0">
                <a:latin typeface="微软雅黑" panose="020B0503020204020204" charset="-122"/>
                <a:ea typeface="微软雅黑" panose="020B0503020204020204" charset="-122"/>
              </a:rPr>
              <a:t>建议在</a:t>
            </a:r>
            <a:r>
              <a:rPr lang="en-US" dirty="0">
                <a:latin typeface="微软雅黑" panose="020B0503020204020204" charset="-122"/>
                <a:ea typeface="微软雅黑" panose="020B0503020204020204" charset="-122"/>
              </a:rPr>
              <a:t> x86-64</a:t>
            </a:r>
            <a:r>
              <a:rPr lang="zh-CN" altLang="en-US" dirty="0">
                <a:latin typeface="微软雅黑" panose="020B0503020204020204" charset="-122"/>
                <a:ea typeface="微软雅黑" panose="020B0503020204020204" charset="-122"/>
              </a:rPr>
              <a:t>系统</a:t>
            </a:r>
          </a:p>
          <a:p>
            <a:pPr>
              <a:buClr>
                <a:srgbClr val="0D0D0D"/>
              </a:buClr>
            </a:pPr>
            <a:r>
              <a:rPr lang="en-US" dirty="0">
                <a:latin typeface="微软雅黑" panose="020B0503020204020204" charset="-122"/>
                <a:ea typeface="微软雅黑" panose="020B0503020204020204" charset="-122"/>
              </a:rPr>
              <a:t>数据</a:t>
            </a:r>
            <a:r>
              <a:rPr lang="en-US" dirty="0">
                <a:latin typeface="微软雅黑" panose="020B0503020204020204" charset="-122"/>
                <a:ea typeface="微软雅黑" panose="020B0503020204020204" charset="-122"/>
                <a:sym typeface="+mn-ea"/>
              </a:rPr>
              <a:t>对齐</a:t>
            </a:r>
            <a:r>
              <a:rPr lang="en-US" dirty="0">
                <a:latin typeface="微软雅黑" panose="020B0503020204020204" charset="-122"/>
                <a:ea typeface="微软雅黑" panose="020B0503020204020204" charset="-122"/>
              </a:rPr>
              <a:t>的动机</a:t>
            </a:r>
          </a:p>
          <a:p>
            <a:pPr marL="552450" lvl="1">
              <a:buClr>
                <a:srgbClr val="0D0D0D"/>
              </a:buClr>
            </a:pPr>
            <a:r>
              <a:rPr lang="en-US" dirty="0">
                <a:latin typeface="微软雅黑" panose="020B0503020204020204" charset="-122"/>
                <a:ea typeface="微软雅黑" panose="020B0503020204020204" charset="-122"/>
              </a:rPr>
              <a:t>由4字节或8字节（对齐的）块访问的内存（系统相关）</a:t>
            </a:r>
          </a:p>
          <a:p>
            <a:pPr marL="838200" lvl="2"/>
            <a:r>
              <a:rPr lang="en-US" dirty="0">
                <a:latin typeface="微软雅黑" panose="020B0503020204020204" charset="-122"/>
                <a:ea typeface="微软雅黑" panose="020B0503020204020204" charset="-122"/>
              </a:rPr>
              <a:t>无法装载或存储跨越四字边界的数据</a:t>
            </a:r>
          </a:p>
          <a:p>
            <a:pPr marL="838200" lvl="2"/>
            <a:r>
              <a:rPr lang="en-US" dirty="0">
                <a:latin typeface="微软雅黑" panose="020B0503020204020204" charset="-122"/>
                <a:ea typeface="微软雅黑" panose="020B0503020204020204" charset="-122"/>
              </a:rPr>
              <a:t>当数据</a:t>
            </a:r>
            <a:r>
              <a:rPr lang="zh-CN" altLang="en-US" dirty="0">
                <a:latin typeface="微软雅黑" panose="020B0503020204020204" charset="-122"/>
                <a:ea typeface="微软雅黑" panose="020B0503020204020204" charset="-122"/>
              </a:rPr>
              <a:t>超过</a:t>
            </a:r>
            <a:r>
              <a:rPr lang="en-US" dirty="0">
                <a:latin typeface="微软雅黑" panose="020B0503020204020204" charset="-122"/>
                <a:ea typeface="微软雅黑" panose="020B0503020204020204" charset="-122"/>
              </a:rPr>
              <a:t>2页时，虚拟内存更难处理</a:t>
            </a:r>
          </a:p>
          <a:p>
            <a:pPr>
              <a:buClr>
                <a:srgbClr val="0D0D0D"/>
              </a:buClr>
            </a:pPr>
            <a:r>
              <a:rPr lang="zh-CN" altLang="en-US" dirty="0">
                <a:latin typeface="微软雅黑" panose="020B0503020204020204" charset="-122"/>
                <a:ea typeface="微软雅黑" panose="020B0503020204020204" charset="-122"/>
              </a:rPr>
              <a:t>编译器</a:t>
            </a:r>
          </a:p>
          <a:p>
            <a:pPr marL="552450" lvl="1">
              <a:buClr>
                <a:srgbClr val="0D0D0D"/>
              </a:buClr>
            </a:pPr>
            <a:r>
              <a:rPr lang="zh-CN" altLang="en-US" dirty="0">
                <a:latin typeface="微软雅黑" panose="020B0503020204020204" charset="-122"/>
                <a:ea typeface="微软雅黑" panose="020B0503020204020204" charset="-122"/>
              </a:rPr>
              <a:t>在</a:t>
            </a:r>
            <a:r>
              <a:rPr lang="en-US" dirty="0">
                <a:latin typeface="微软雅黑" panose="020B0503020204020204" charset="-122"/>
                <a:ea typeface="微软雅黑" panose="020B0503020204020204" charset="-122"/>
              </a:rPr>
              <a:t>结构</a:t>
            </a:r>
            <a:r>
              <a:rPr lang="zh-CN" altLang="en-US" dirty="0">
                <a:latin typeface="微软雅黑" panose="020B0503020204020204" charset="-122"/>
                <a:ea typeface="微软雅黑" panose="020B0503020204020204" charset="-122"/>
              </a:rPr>
              <a:t>中</a:t>
            </a:r>
            <a:r>
              <a:rPr lang="en-US" dirty="0">
                <a:latin typeface="微软雅黑" panose="020B0503020204020204" charset="-122"/>
                <a:ea typeface="微软雅黑" panose="020B0503020204020204" charset="-122"/>
                <a:sym typeface="+mn-ea"/>
              </a:rPr>
              <a:t>插入</a:t>
            </a:r>
            <a:r>
              <a:rPr lang="en-US" dirty="0">
                <a:latin typeface="微软雅黑" panose="020B0503020204020204" charset="-122"/>
                <a:ea typeface="微软雅黑" panose="020B0503020204020204" charset="-122"/>
              </a:rPr>
              <a:t>间隙，以确保字段对齐正确</a:t>
            </a:r>
          </a:p>
        </p:txBody>
      </p:sp>
      <p:sp>
        <p:nvSpPr>
          <p:cNvPr id="5" name="云形标注 4"/>
          <p:cNvSpPr/>
          <p:nvPr/>
        </p:nvSpPr>
        <p:spPr>
          <a:xfrm>
            <a:off x="3740150" y="13335"/>
            <a:ext cx="4883785" cy="2644140"/>
          </a:xfrm>
          <a:prstGeom prst="cloudCallout">
            <a:avLst>
              <a:gd name="adj1" fmla="val -75549"/>
              <a:gd name="adj2" fmla="val 1801"/>
            </a:avLst>
          </a:prstGeom>
          <a:solidFill>
            <a:schemeClr val="accent2">
              <a:alpha val="7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zh-CN" altLang="en-US" sz="2000" b="1" dirty="0">
                <a:sym typeface="+mn-ea"/>
              </a:rPr>
              <a:t>数据对齐可能会浪费存储空间，但通常会提升性能；</a:t>
            </a:r>
          </a:p>
          <a:p>
            <a:pPr lvl="1"/>
            <a:r>
              <a:rPr lang="zh-CN" altLang="en-US" sz="2000" b="1" dirty="0">
                <a:sym typeface="+mn-ea"/>
              </a:rPr>
              <a:t>在汇编语言中使用</a:t>
            </a:r>
            <a:r>
              <a:rPr lang="en-US" altLang="zh-CN" sz="2000" b="1" dirty="0">
                <a:sym typeface="+mn-ea"/>
              </a:rPr>
              <a:t>.align</a:t>
            </a:r>
            <a:r>
              <a:rPr lang="zh-CN" altLang="en-US" sz="2000" b="1" dirty="0">
                <a:sym typeface="+mn-ea"/>
              </a:rPr>
              <a:t>关键字</a:t>
            </a:r>
            <a:r>
              <a:rPr lang="en-US" altLang="zh-CN" sz="2000" b="1" dirty="0">
                <a:sym typeface="+mn-ea"/>
              </a:rPr>
              <a:t>——</a:t>
            </a:r>
            <a:r>
              <a:rPr lang="zh-CN" altLang="en-US" sz="2000" b="1" dirty="0">
                <a:sym typeface="+mn-ea"/>
              </a:rPr>
              <a:t>例如“</a:t>
            </a:r>
            <a:r>
              <a:rPr lang="en-US" altLang="zh-CN" sz="2000" b="1" dirty="0">
                <a:sym typeface="+mn-ea"/>
              </a:rPr>
              <a:t>.align 4</a:t>
            </a:r>
            <a:r>
              <a:rPr lang="zh-CN" altLang="en-US" sz="2000" b="1" dirty="0">
                <a:sym typeface="+mn-ea"/>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532">
                                            <p:txEl>
                                              <p:pRg st="1" end="1"/>
                                            </p:txEl>
                                          </p:spTgt>
                                        </p:tgtEl>
                                        <p:attrNameLst>
                                          <p:attrName>style.visibility</p:attrName>
                                        </p:attrNameLst>
                                      </p:cBhvr>
                                      <p:to>
                                        <p:strVal val="visible"/>
                                      </p:to>
                                    </p:set>
                                    <p:animEffect transition="in" filter="wipe(down)">
                                      <p:cBhvr>
                                        <p:cTn id="7" dur="500"/>
                                        <p:tgtEl>
                                          <p:spTgt spid="2253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2532">
                                            <p:txEl>
                                              <p:pRg st="2" end="2"/>
                                            </p:txEl>
                                          </p:spTgt>
                                        </p:tgtEl>
                                        <p:attrNameLst>
                                          <p:attrName>style.visibility</p:attrName>
                                        </p:attrNameLst>
                                      </p:cBhvr>
                                      <p:to>
                                        <p:strVal val="visible"/>
                                      </p:to>
                                    </p:set>
                                    <p:animEffect transition="in" filter="wipe(down)">
                                      <p:cBhvr>
                                        <p:cTn id="10" dur="500"/>
                                        <p:tgtEl>
                                          <p:spTgt spid="2253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2532">
                                            <p:txEl>
                                              <p:pRg st="3" end="3"/>
                                            </p:txEl>
                                          </p:spTgt>
                                        </p:tgtEl>
                                        <p:attrNameLst>
                                          <p:attrName>style.visibility</p:attrName>
                                        </p:attrNameLst>
                                      </p:cBhvr>
                                      <p:to>
                                        <p:strVal val="visible"/>
                                      </p:to>
                                    </p:set>
                                    <p:animEffect transition="in" filter="wipe(down)">
                                      <p:cBhvr>
                                        <p:cTn id="13" dur="500"/>
                                        <p:tgtEl>
                                          <p:spTgt spid="22532">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2532">
                                            <p:txEl>
                                              <p:pRg st="4" end="4"/>
                                            </p:txEl>
                                          </p:spTgt>
                                        </p:tgtEl>
                                        <p:attrNameLst>
                                          <p:attrName>style.visibility</p:attrName>
                                        </p:attrNameLst>
                                      </p:cBhvr>
                                      <p:to>
                                        <p:strVal val="visible"/>
                                      </p:to>
                                    </p:set>
                                    <p:animEffect transition="in" filter="wipe(down)">
                                      <p:cBhvr>
                                        <p:cTn id="18" dur="500"/>
                                        <p:tgtEl>
                                          <p:spTgt spid="2253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2532">
                                            <p:txEl>
                                              <p:pRg st="5" end="5"/>
                                            </p:txEl>
                                          </p:spTgt>
                                        </p:tgtEl>
                                        <p:attrNameLst>
                                          <p:attrName>style.visibility</p:attrName>
                                        </p:attrNameLst>
                                      </p:cBhvr>
                                      <p:to>
                                        <p:strVal val="visible"/>
                                      </p:to>
                                    </p:set>
                                    <p:animEffect transition="in" filter="wipe(down)">
                                      <p:cBhvr>
                                        <p:cTn id="23" dur="500"/>
                                        <p:tgtEl>
                                          <p:spTgt spid="22532">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22532">
                                            <p:txEl>
                                              <p:pRg st="6" end="6"/>
                                            </p:txEl>
                                          </p:spTgt>
                                        </p:tgtEl>
                                        <p:attrNameLst>
                                          <p:attrName>style.visibility</p:attrName>
                                        </p:attrNameLst>
                                      </p:cBhvr>
                                      <p:to>
                                        <p:strVal val="visible"/>
                                      </p:to>
                                    </p:set>
                                    <p:animEffect transition="in" filter="wipe(down)">
                                      <p:cBhvr>
                                        <p:cTn id="28" dur="500"/>
                                        <p:tgtEl>
                                          <p:spTgt spid="22532">
                                            <p:txEl>
                                              <p:pRg st="6" end="6"/>
                                            </p:txEl>
                                          </p:spTgt>
                                        </p:tgtEl>
                                      </p:cBhvr>
                                    </p:animEffect>
                                  </p:childTnLst>
                                </p:cTn>
                              </p:par>
                              <p:par>
                                <p:cTn id="29" presetID="22" presetClass="entr" presetSubtype="4" fill="hold" nodeType="withEffect">
                                  <p:stCondLst>
                                    <p:cond delay="0"/>
                                  </p:stCondLst>
                                  <p:childTnLst>
                                    <p:set>
                                      <p:cBhvr>
                                        <p:cTn id="30" dur="1" fill="hold">
                                          <p:stCondLst>
                                            <p:cond delay="0"/>
                                          </p:stCondLst>
                                        </p:cTn>
                                        <p:tgtEl>
                                          <p:spTgt spid="22532">
                                            <p:txEl>
                                              <p:pRg st="7" end="7"/>
                                            </p:txEl>
                                          </p:spTgt>
                                        </p:tgtEl>
                                        <p:attrNameLst>
                                          <p:attrName>style.visibility</p:attrName>
                                        </p:attrNameLst>
                                      </p:cBhvr>
                                      <p:to>
                                        <p:strVal val="visible"/>
                                      </p:to>
                                    </p:set>
                                    <p:animEffect transition="in" filter="wipe(down)">
                                      <p:cBhvr>
                                        <p:cTn id="31" dur="500"/>
                                        <p:tgtEl>
                                          <p:spTgt spid="2253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22532">
                                            <p:txEl>
                                              <p:pRg st="8" end="8"/>
                                            </p:txEl>
                                          </p:spTgt>
                                        </p:tgtEl>
                                        <p:attrNameLst>
                                          <p:attrName>style.visibility</p:attrName>
                                        </p:attrNameLst>
                                      </p:cBhvr>
                                      <p:to>
                                        <p:strVal val="visible"/>
                                      </p:to>
                                    </p:set>
                                    <p:animEffect transition="in" filter="wipe(down)">
                                      <p:cBhvr>
                                        <p:cTn id="36" dur="500"/>
                                        <p:tgtEl>
                                          <p:spTgt spid="22532">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2532">
                                            <p:txEl>
                                              <p:pRg st="9" end="9"/>
                                            </p:txEl>
                                          </p:spTgt>
                                        </p:tgtEl>
                                        <p:attrNameLst>
                                          <p:attrName>style.visibility</p:attrName>
                                        </p:attrNameLst>
                                      </p:cBhvr>
                                      <p:to>
                                        <p:strVal val="visible"/>
                                      </p:to>
                                    </p:set>
                                    <p:animEffect transition="in" filter="wipe(down)">
                                      <p:cBhvr>
                                        <p:cTn id="41" dur="500"/>
                                        <p:tgtEl>
                                          <p:spTgt spid="22532">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wipe(down)">
                                      <p:cBhvr>
                                        <p:cTn id="46"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4093210"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800"/>
              <a:t>数据对齐</a:t>
            </a:r>
            <a:r>
              <a:rPr sz="2800"/>
              <a:t>（x86-64）</a:t>
            </a:r>
          </a:p>
        </p:txBody>
      </p:sp>
      <p:sp>
        <p:nvSpPr>
          <p:cNvPr id="24580" name="Rectangle 4"/>
          <p:cNvSpPr>
            <a:spLocks noGrp="1" noChangeArrowheads="1"/>
          </p:cNvSpPr>
          <p:nvPr/>
        </p:nvSpPr>
        <p:spPr>
          <a:xfrm>
            <a:off x="396875" y="1363980"/>
            <a:ext cx="5619115" cy="3432175"/>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dirty="0">
                <a:latin typeface="微软雅黑" panose="020B0503020204020204" charset="-122"/>
                <a:ea typeface="微软雅黑" panose="020B0503020204020204" charset="-122"/>
              </a:rPr>
              <a:t>1 </a:t>
            </a:r>
            <a:r>
              <a:rPr lang="zh-CN" altLang="en-US" dirty="0">
                <a:latin typeface="微软雅黑" panose="020B0503020204020204" charset="-122"/>
                <a:ea typeface="微软雅黑" panose="020B0503020204020204" charset="-122"/>
              </a:rPr>
              <a:t>字节</a:t>
            </a:r>
            <a:r>
              <a:rPr lang="en-US" dirty="0">
                <a:latin typeface="微软雅黑" panose="020B0503020204020204" charset="-122"/>
                <a:ea typeface="微软雅黑" panose="020B0503020204020204" charset="-122"/>
              </a:rPr>
              <a:t>: </a:t>
            </a:r>
            <a:r>
              <a:rPr lang="en-US" dirty="0">
                <a:latin typeface="微软雅黑" panose="020B0503020204020204" charset="-122"/>
                <a:ea typeface="微软雅黑" panose="020B0503020204020204" charset="-122"/>
                <a:cs typeface="Courier New Bold" charset="0"/>
                <a:sym typeface="Courier New Bold" charset="0"/>
              </a:rPr>
              <a:t>char</a:t>
            </a:r>
            <a:r>
              <a:rPr lang="en-US" dirty="0">
                <a:latin typeface="微软雅黑" panose="020B0503020204020204" charset="-122"/>
                <a:ea typeface="微软雅黑" panose="020B0503020204020204" charset="-122"/>
              </a:rPr>
              <a:t>, …</a:t>
            </a:r>
          </a:p>
          <a:p>
            <a:pPr marL="552450" lvl="1">
              <a:buClr>
                <a:srgbClr val="ED7D31"/>
              </a:buClr>
            </a:pPr>
            <a:r>
              <a:rPr lang="zh-CN" altLang="en-US" dirty="0">
                <a:latin typeface="微软雅黑" panose="020B0503020204020204" charset="-122"/>
                <a:ea typeface="微软雅黑" panose="020B0503020204020204" charset="-122"/>
              </a:rPr>
              <a:t>没有地址限制</a:t>
            </a:r>
          </a:p>
          <a:p>
            <a:pPr>
              <a:buClr>
                <a:srgbClr val="0D0D0D"/>
              </a:buClr>
            </a:pPr>
            <a:r>
              <a:rPr lang="en-US" dirty="0">
                <a:latin typeface="微软雅黑" panose="020B0503020204020204" charset="-122"/>
                <a:ea typeface="微软雅黑" panose="020B0503020204020204" charset="-122"/>
              </a:rPr>
              <a:t>2 </a:t>
            </a:r>
            <a:r>
              <a:rPr lang="zh-CN" altLang="en-US" dirty="0">
                <a:latin typeface="微软雅黑" panose="020B0503020204020204" charset="-122"/>
                <a:ea typeface="微软雅黑" panose="020B0503020204020204" charset="-122"/>
              </a:rPr>
              <a:t>字节</a:t>
            </a:r>
            <a:r>
              <a:rPr lang="en-US" dirty="0">
                <a:latin typeface="微软雅黑" panose="020B0503020204020204" charset="-122"/>
                <a:ea typeface="微软雅黑" panose="020B0503020204020204" charset="-122"/>
              </a:rPr>
              <a:t>: </a:t>
            </a:r>
            <a:r>
              <a:rPr lang="en-US" dirty="0">
                <a:latin typeface="微软雅黑" panose="020B0503020204020204" charset="-122"/>
                <a:ea typeface="微软雅黑" panose="020B0503020204020204" charset="-122"/>
                <a:cs typeface="Courier New Bold" charset="0"/>
                <a:sym typeface="Courier New Bold" charset="0"/>
              </a:rPr>
              <a:t>short</a:t>
            </a:r>
            <a:r>
              <a:rPr lang="en-US" dirty="0">
                <a:latin typeface="微软雅黑" panose="020B0503020204020204" charset="-122"/>
                <a:ea typeface="微软雅黑" panose="020B0503020204020204" charset="-122"/>
              </a:rPr>
              <a:t>, …</a:t>
            </a:r>
          </a:p>
          <a:p>
            <a:pPr marL="552450" lvl="1">
              <a:buClr>
                <a:srgbClr val="ED7D31"/>
              </a:buClr>
            </a:pPr>
            <a:r>
              <a:rPr lang="en-US" dirty="0">
                <a:latin typeface="微软雅黑" panose="020B0503020204020204" charset="-122"/>
                <a:ea typeface="微软雅黑" panose="020B0503020204020204" charset="-122"/>
              </a:rPr>
              <a:t>最低</a:t>
            </a:r>
            <a:r>
              <a:rPr lang="zh-CN" altLang="en-US" dirty="0">
                <a:latin typeface="微软雅黑" panose="020B0503020204020204" charset="-122"/>
                <a:ea typeface="微软雅黑" panose="020B0503020204020204" charset="-122"/>
              </a:rPr>
              <a:t>的</a:t>
            </a:r>
            <a:r>
              <a:rPr lang="en-US" dirty="0">
                <a:latin typeface="微软雅黑" panose="020B0503020204020204" charset="-122"/>
                <a:ea typeface="微软雅黑" panose="020B0503020204020204" charset="-122"/>
              </a:rPr>
              <a:t>1位地址必须是 0</a:t>
            </a:r>
            <a:r>
              <a:rPr lang="en-US" baseline="-6000" dirty="0">
                <a:latin typeface="微软雅黑" panose="020B0503020204020204" charset="-122"/>
                <a:ea typeface="微软雅黑" panose="020B0503020204020204" charset="-122"/>
              </a:rPr>
              <a:t>2</a:t>
            </a:r>
            <a:endParaRPr lang="en-US" dirty="0">
              <a:latin typeface="微软雅黑" panose="020B0503020204020204" charset="-122"/>
              <a:ea typeface="微软雅黑" panose="020B0503020204020204" charset="-122"/>
            </a:endParaRPr>
          </a:p>
          <a:p>
            <a:pPr>
              <a:buClr>
                <a:srgbClr val="0D0D0D"/>
              </a:buClr>
            </a:pPr>
            <a:r>
              <a:rPr lang="en-US" dirty="0">
                <a:latin typeface="微软雅黑" panose="020B0503020204020204" charset="-122"/>
                <a:ea typeface="微软雅黑" panose="020B0503020204020204" charset="-122"/>
              </a:rPr>
              <a:t>4 </a:t>
            </a:r>
            <a:r>
              <a:rPr lang="zh-CN" altLang="en-US" dirty="0">
                <a:latin typeface="微软雅黑" panose="020B0503020204020204" charset="-122"/>
                <a:ea typeface="微软雅黑" panose="020B0503020204020204" charset="-122"/>
              </a:rPr>
              <a:t>字节</a:t>
            </a:r>
            <a:r>
              <a:rPr lang="en-US" dirty="0">
                <a:latin typeface="微软雅黑" panose="020B0503020204020204" charset="-122"/>
                <a:ea typeface="微软雅黑" panose="020B0503020204020204" charset="-122"/>
              </a:rPr>
              <a:t>: </a:t>
            </a:r>
            <a:r>
              <a:rPr lang="en-US" dirty="0" err="1">
                <a:latin typeface="微软雅黑" panose="020B0503020204020204" charset="-122"/>
                <a:ea typeface="微软雅黑" panose="020B0503020204020204" charset="-122"/>
                <a:cs typeface="Courier New Bold" charset="0"/>
                <a:sym typeface="Courier New Bold" charset="0"/>
              </a:rPr>
              <a:t>int</a:t>
            </a:r>
            <a:r>
              <a:rPr lang="en-US" dirty="0">
                <a:latin typeface="微软雅黑" panose="020B0503020204020204" charset="-122"/>
                <a:ea typeface="微软雅黑" panose="020B0503020204020204" charset="-122"/>
              </a:rPr>
              <a:t>, </a:t>
            </a:r>
            <a:r>
              <a:rPr lang="en-US" dirty="0">
                <a:latin typeface="微软雅黑" panose="020B0503020204020204" charset="-122"/>
                <a:ea typeface="微软雅黑" panose="020B0503020204020204" charset="-122"/>
                <a:cs typeface="Courier New Bold" charset="0"/>
                <a:sym typeface="Courier New Bold" charset="0"/>
              </a:rPr>
              <a:t>float</a:t>
            </a:r>
            <a:r>
              <a:rPr lang="en-US" dirty="0">
                <a:latin typeface="微软雅黑" panose="020B0503020204020204" charset="-122"/>
                <a:ea typeface="微软雅黑" panose="020B0503020204020204" charset="-122"/>
              </a:rPr>
              <a:t>, …</a:t>
            </a:r>
          </a:p>
          <a:p>
            <a:pPr marL="552450" lvl="1">
              <a:buClr>
                <a:srgbClr val="ED7D31"/>
              </a:buClr>
            </a:pPr>
            <a:r>
              <a:rPr lang="en-US" dirty="0">
                <a:latin typeface="微软雅黑" panose="020B0503020204020204" charset="-122"/>
                <a:ea typeface="微软雅黑" panose="020B0503020204020204" charset="-122"/>
              </a:rPr>
              <a:t>最低的2位地址必须是 00</a:t>
            </a:r>
            <a:r>
              <a:rPr lang="en-US" baseline="-6000" dirty="0">
                <a:latin typeface="微软雅黑" panose="020B0503020204020204" charset="-122"/>
                <a:ea typeface="微软雅黑" panose="020B0503020204020204" charset="-122"/>
              </a:rPr>
              <a:t>2</a:t>
            </a:r>
            <a:endParaRPr lang="en-US" dirty="0">
              <a:latin typeface="微软雅黑" panose="020B0503020204020204" charset="-122"/>
              <a:ea typeface="微软雅黑" panose="020B0503020204020204" charset="-122"/>
            </a:endParaRPr>
          </a:p>
          <a:p>
            <a:pPr>
              <a:buClr>
                <a:srgbClr val="0D0D0D"/>
              </a:buClr>
            </a:pPr>
            <a:r>
              <a:rPr lang="en-US" dirty="0">
                <a:latin typeface="微软雅黑" panose="020B0503020204020204" charset="-122"/>
                <a:ea typeface="微软雅黑" panose="020B0503020204020204" charset="-122"/>
              </a:rPr>
              <a:t>8 </a:t>
            </a:r>
            <a:r>
              <a:rPr lang="zh-CN" altLang="en-US" dirty="0">
                <a:latin typeface="微软雅黑" panose="020B0503020204020204" charset="-122"/>
                <a:ea typeface="微软雅黑" panose="020B0503020204020204" charset="-122"/>
              </a:rPr>
              <a:t>字节</a:t>
            </a:r>
            <a:r>
              <a:rPr lang="en-US" dirty="0">
                <a:latin typeface="微软雅黑" panose="020B0503020204020204" charset="-122"/>
                <a:ea typeface="微软雅黑" panose="020B0503020204020204" charset="-122"/>
              </a:rPr>
              <a:t>: </a:t>
            </a:r>
            <a:r>
              <a:rPr lang="en-US" dirty="0">
                <a:latin typeface="微软雅黑" panose="020B0503020204020204" charset="-122"/>
                <a:ea typeface="微软雅黑" panose="020B0503020204020204" charset="-122"/>
                <a:cs typeface="Courier New Bold" charset="0"/>
                <a:sym typeface="Courier New Bold" charset="0"/>
              </a:rPr>
              <a:t>double</a:t>
            </a:r>
            <a:r>
              <a:rPr lang="en-US" dirty="0">
                <a:latin typeface="微软雅黑" panose="020B0503020204020204" charset="-122"/>
                <a:ea typeface="微软雅黑" panose="020B0503020204020204" charset="-122"/>
              </a:rPr>
              <a:t>, </a:t>
            </a:r>
            <a:r>
              <a:rPr lang="en-US" dirty="0">
                <a:latin typeface="微软雅黑" panose="020B0503020204020204" charset="-122"/>
                <a:ea typeface="微软雅黑" panose="020B0503020204020204" charset="-122"/>
                <a:cs typeface="Courier New" panose="02070309020205020404"/>
              </a:rPr>
              <a:t>long,</a:t>
            </a:r>
            <a:r>
              <a:rPr lang="en-US" dirty="0">
                <a:latin typeface="微软雅黑" panose="020B0503020204020204" charset="-122"/>
                <a:ea typeface="微软雅黑" panose="020B0503020204020204" charset="-122"/>
              </a:rPr>
              <a:t> </a:t>
            </a:r>
            <a:r>
              <a:rPr lang="en-US" dirty="0">
                <a:latin typeface="微软雅黑" panose="020B0503020204020204" charset="-122"/>
                <a:ea typeface="微软雅黑" panose="020B0503020204020204" charset="-122"/>
                <a:cs typeface="Courier New Bold" charset="0"/>
                <a:sym typeface="Courier New Bold" charset="0"/>
              </a:rPr>
              <a:t>char *</a:t>
            </a:r>
            <a:r>
              <a:rPr lang="en-US" dirty="0">
                <a:latin typeface="微软雅黑" panose="020B0503020204020204" charset="-122"/>
                <a:ea typeface="微软雅黑" panose="020B0503020204020204" charset="-122"/>
              </a:rPr>
              <a:t>, …</a:t>
            </a:r>
          </a:p>
          <a:p>
            <a:pPr marL="552450" lvl="1">
              <a:buClr>
                <a:srgbClr val="ED7D31"/>
              </a:buClr>
            </a:pPr>
            <a:r>
              <a:rPr lang="en-US" dirty="0">
                <a:latin typeface="微软雅黑" panose="020B0503020204020204" charset="-122"/>
                <a:ea typeface="微软雅黑" panose="020B0503020204020204" charset="-122"/>
              </a:rPr>
              <a:t>最低的3位地址必须是 000</a:t>
            </a:r>
            <a:r>
              <a:rPr lang="en-US" baseline="-6000" dirty="0">
                <a:latin typeface="微软雅黑" panose="020B0503020204020204" charset="-122"/>
                <a:ea typeface="微软雅黑" panose="020B0503020204020204" charset="-122"/>
              </a:rPr>
              <a:t>2</a:t>
            </a:r>
            <a:endParaRPr lang="en-US" dirty="0">
              <a:latin typeface="微软雅黑" panose="020B0503020204020204" charset="-122"/>
              <a:ea typeface="微软雅黑" panose="020B0503020204020204" charset="-122"/>
            </a:endParaRPr>
          </a:p>
          <a:p>
            <a:endParaRPr 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4580">
                                            <p:txEl>
                                              <p:pRg st="1" end="1"/>
                                            </p:txEl>
                                          </p:spTgt>
                                        </p:tgtEl>
                                        <p:attrNameLst>
                                          <p:attrName>style.visibility</p:attrName>
                                        </p:attrNameLst>
                                      </p:cBhvr>
                                      <p:to>
                                        <p:strVal val="visible"/>
                                      </p:to>
                                    </p:set>
                                    <p:animEffect transition="in" filter="wipe(down)">
                                      <p:cBhvr>
                                        <p:cTn id="7" dur="500"/>
                                        <p:tgtEl>
                                          <p:spTgt spid="24580">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580">
                                            <p:txEl>
                                              <p:pRg st="3" end="3"/>
                                            </p:txEl>
                                          </p:spTgt>
                                        </p:tgtEl>
                                        <p:attrNameLst>
                                          <p:attrName>style.visibility</p:attrName>
                                        </p:attrNameLst>
                                      </p:cBhvr>
                                      <p:to>
                                        <p:strVal val="visible"/>
                                      </p:to>
                                    </p:set>
                                    <p:animEffect transition="in" filter="wipe(down)">
                                      <p:cBhvr>
                                        <p:cTn id="12" dur="500"/>
                                        <p:tgtEl>
                                          <p:spTgt spid="24580">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4580">
                                            <p:txEl>
                                              <p:pRg st="5" end="5"/>
                                            </p:txEl>
                                          </p:spTgt>
                                        </p:tgtEl>
                                        <p:attrNameLst>
                                          <p:attrName>style.visibility</p:attrName>
                                        </p:attrNameLst>
                                      </p:cBhvr>
                                      <p:to>
                                        <p:strVal val="visible"/>
                                      </p:to>
                                    </p:set>
                                    <p:animEffect transition="in" filter="wipe(down)">
                                      <p:cBhvr>
                                        <p:cTn id="17" dur="500"/>
                                        <p:tgtEl>
                                          <p:spTgt spid="24580">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4580">
                                            <p:txEl>
                                              <p:pRg st="7" end="7"/>
                                            </p:txEl>
                                          </p:spTgt>
                                        </p:tgtEl>
                                        <p:attrNameLst>
                                          <p:attrName>style.visibility</p:attrName>
                                        </p:attrNameLst>
                                      </p:cBhvr>
                                      <p:to>
                                        <p:strVal val="visible"/>
                                      </p:to>
                                    </p:set>
                                    <p:animEffect transition="in" filter="wipe(down)">
                                      <p:cBhvr>
                                        <p:cTn id="22" dur="500"/>
                                        <p:tgtEl>
                                          <p:spTgt spid="24580">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3093720"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800"/>
              <a:t>结构数组</a:t>
            </a:r>
          </a:p>
        </p:txBody>
      </p:sp>
      <p:sp>
        <p:nvSpPr>
          <p:cNvPr id="28678" name="Rectangle 6"/>
          <p:cNvSpPr/>
          <p:nvPr/>
        </p:nvSpPr>
        <p:spPr bwMode="auto">
          <a:xfrm>
            <a:off x="3325495" y="779213"/>
            <a:ext cx="2222500" cy="1529647"/>
          </a:xfrm>
          <a:prstGeom prst="rect">
            <a:avLst/>
          </a:prstGeom>
          <a:solidFill>
            <a:srgbClr val="FFFEB2"/>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0" tIns="0" rIns="0" bIns="0"/>
          <a:lstStyle/>
          <a:p>
            <a:pPr algn="l"/>
            <a:r>
              <a:rPr lang="en-US" sz="1800" dirty="0" err="1">
                <a:solidFill>
                  <a:schemeClr val="tx1"/>
                </a:solidFill>
                <a:latin typeface="Courier New" panose="02070309020205020404" charset="0"/>
                <a:cs typeface="Courier New" panose="02070309020205020404" charset="0"/>
                <a:sym typeface="Courier New Bold" charset="0"/>
              </a:rPr>
              <a:t>struct</a:t>
            </a:r>
            <a:r>
              <a:rPr lang="en-US" sz="1800" dirty="0">
                <a:solidFill>
                  <a:schemeClr val="tx1"/>
                </a:solidFill>
                <a:latin typeface="Courier New" panose="02070309020205020404" charset="0"/>
                <a:cs typeface="Courier New" panose="02070309020205020404" charset="0"/>
                <a:sym typeface="Courier New Bold" charset="0"/>
              </a:rPr>
              <a:t> S2 {</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double v;</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[2];</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char c;</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a[10];</a:t>
            </a:r>
          </a:p>
        </p:txBody>
      </p:sp>
      <p:sp>
        <p:nvSpPr>
          <p:cNvPr id="28673" name="Freeform 1"/>
          <p:cNvSpPr/>
          <p:nvPr/>
        </p:nvSpPr>
        <p:spPr bwMode="auto">
          <a:xfrm>
            <a:off x="711200" y="2971800"/>
            <a:ext cx="7670800" cy="2032000"/>
          </a:xfrm>
          <a:custGeom>
            <a:avLst/>
            <a:gdLst/>
            <a:ahLst/>
            <a:cxnLst>
              <a:cxn ang="0">
                <a:pos x="7617" y="0"/>
              </a:cxn>
              <a:cxn ang="0">
                <a:pos x="0" y="21465"/>
              </a:cxn>
              <a:cxn ang="0">
                <a:pos x="21600" y="21600"/>
              </a:cxn>
              <a:cxn ang="0">
                <a:pos x="13017" y="0"/>
              </a:cxn>
              <a:cxn ang="0">
                <a:pos x="7617" y="0"/>
              </a:cxn>
              <a:cxn ang="0">
                <a:pos x="7617" y="0"/>
              </a:cxn>
            </a:cxnLst>
            <a:rect l="0" t="0" r="r" b="b"/>
            <a:pathLst>
              <a:path w="21600" h="21600">
                <a:moveTo>
                  <a:pt x="7617" y="0"/>
                </a:moveTo>
                <a:lnTo>
                  <a:pt x="0" y="21465"/>
                </a:lnTo>
                <a:lnTo>
                  <a:pt x="21600" y="21600"/>
                </a:lnTo>
                <a:lnTo>
                  <a:pt x="13017" y="0"/>
                </a:lnTo>
                <a:lnTo>
                  <a:pt x="7617" y="0"/>
                </a:lnTo>
                <a:close/>
                <a:moveTo>
                  <a:pt x="7617" y="0"/>
                </a:moveTo>
              </a:path>
            </a:pathLst>
          </a:custGeom>
          <a:solidFill>
            <a:srgbClr val="E6E6E6"/>
          </a:solidFill>
          <a:ln w="38100" cap="flat">
            <a:noFill/>
            <a:miter lim="800000"/>
            <a:headEnd type="none" w="med" len="med"/>
            <a:tailEnd type="none" w="med" len="med"/>
          </a:ln>
        </p:spPr>
        <p:txBody>
          <a:bodyPr lIns="0" tIns="0" rIns="0" bIns="0"/>
          <a:lstStyle/>
          <a:p>
            <a:endParaRPr lang="en-US"/>
          </a:p>
        </p:txBody>
      </p:sp>
      <p:graphicFrame>
        <p:nvGraphicFramePr>
          <p:cNvPr id="28679" name="Group 7"/>
          <p:cNvGraphicFramePr>
            <a:graphicFrameLocks noGrp="1"/>
          </p:cNvGraphicFramePr>
          <p:nvPr/>
        </p:nvGraphicFramePr>
        <p:xfrm>
          <a:off x="381000" y="4978400"/>
          <a:ext cx="8335963" cy="762000"/>
        </p:xfrm>
        <a:graphic>
          <a:graphicData uri="http://schemas.openxmlformats.org/drawingml/2006/table">
            <a:tbl>
              <a:tblPr/>
              <a:tblGrid>
                <a:gridCol w="320675">
                  <a:extLst>
                    <a:ext uri="{9D8B030D-6E8A-4147-A177-3AD203B41FA5}">
                      <a16:colId xmlns:a16="http://schemas.microsoft.com/office/drawing/2014/main" val="20000"/>
                    </a:ext>
                  </a:extLst>
                </a:gridCol>
                <a:gridCol w="320675">
                  <a:extLst>
                    <a:ext uri="{9D8B030D-6E8A-4147-A177-3AD203B41FA5}">
                      <a16:colId xmlns:a16="http://schemas.microsoft.com/office/drawing/2014/main" val="20001"/>
                    </a:ext>
                  </a:extLst>
                </a:gridCol>
                <a:gridCol w="320675">
                  <a:extLst>
                    <a:ext uri="{9D8B030D-6E8A-4147-A177-3AD203B41FA5}">
                      <a16:colId xmlns:a16="http://schemas.microsoft.com/office/drawing/2014/main" val="20002"/>
                    </a:ext>
                  </a:extLst>
                </a:gridCol>
                <a:gridCol w="320675">
                  <a:extLst>
                    <a:ext uri="{9D8B030D-6E8A-4147-A177-3AD203B41FA5}">
                      <a16:colId xmlns:a16="http://schemas.microsoft.com/office/drawing/2014/main" val="20003"/>
                    </a:ext>
                  </a:extLst>
                </a:gridCol>
                <a:gridCol w="639763">
                  <a:extLst>
                    <a:ext uri="{9D8B030D-6E8A-4147-A177-3AD203B41FA5}">
                      <a16:colId xmlns:a16="http://schemas.microsoft.com/office/drawing/2014/main" val="20004"/>
                    </a:ext>
                  </a:extLst>
                </a:gridCol>
                <a:gridCol w="320675">
                  <a:extLst>
                    <a:ext uri="{9D8B030D-6E8A-4147-A177-3AD203B41FA5}">
                      <a16:colId xmlns:a16="http://schemas.microsoft.com/office/drawing/2014/main" val="20005"/>
                    </a:ext>
                  </a:extLst>
                </a:gridCol>
                <a:gridCol w="320675">
                  <a:extLst>
                    <a:ext uri="{9D8B030D-6E8A-4147-A177-3AD203B41FA5}">
                      <a16:colId xmlns:a16="http://schemas.microsoft.com/office/drawing/2014/main" val="20006"/>
                    </a:ext>
                  </a:extLst>
                </a:gridCol>
                <a:gridCol w="320675">
                  <a:extLst>
                    <a:ext uri="{9D8B030D-6E8A-4147-A177-3AD203B41FA5}">
                      <a16:colId xmlns:a16="http://schemas.microsoft.com/office/drawing/2014/main" val="20007"/>
                    </a:ext>
                  </a:extLst>
                </a:gridCol>
                <a:gridCol w="320675">
                  <a:extLst>
                    <a:ext uri="{9D8B030D-6E8A-4147-A177-3AD203B41FA5}">
                      <a16:colId xmlns:a16="http://schemas.microsoft.com/office/drawing/2014/main" val="20008"/>
                    </a:ext>
                  </a:extLst>
                </a:gridCol>
                <a:gridCol w="320675">
                  <a:extLst>
                    <a:ext uri="{9D8B030D-6E8A-4147-A177-3AD203B41FA5}">
                      <a16:colId xmlns:a16="http://schemas.microsoft.com/office/drawing/2014/main" val="20009"/>
                    </a:ext>
                  </a:extLst>
                </a:gridCol>
                <a:gridCol w="320675">
                  <a:extLst>
                    <a:ext uri="{9D8B030D-6E8A-4147-A177-3AD203B41FA5}">
                      <a16:colId xmlns:a16="http://schemas.microsoft.com/office/drawing/2014/main" val="20010"/>
                    </a:ext>
                  </a:extLst>
                </a:gridCol>
                <a:gridCol w="320675">
                  <a:extLst>
                    <a:ext uri="{9D8B030D-6E8A-4147-A177-3AD203B41FA5}">
                      <a16:colId xmlns:a16="http://schemas.microsoft.com/office/drawing/2014/main" val="20011"/>
                    </a:ext>
                  </a:extLst>
                </a:gridCol>
                <a:gridCol w="320675">
                  <a:extLst>
                    <a:ext uri="{9D8B030D-6E8A-4147-A177-3AD203B41FA5}">
                      <a16:colId xmlns:a16="http://schemas.microsoft.com/office/drawing/2014/main" val="20012"/>
                    </a:ext>
                  </a:extLst>
                </a:gridCol>
                <a:gridCol w="320675">
                  <a:extLst>
                    <a:ext uri="{9D8B030D-6E8A-4147-A177-3AD203B41FA5}">
                      <a16:colId xmlns:a16="http://schemas.microsoft.com/office/drawing/2014/main" val="20013"/>
                    </a:ext>
                  </a:extLst>
                </a:gridCol>
                <a:gridCol w="320675">
                  <a:extLst>
                    <a:ext uri="{9D8B030D-6E8A-4147-A177-3AD203B41FA5}">
                      <a16:colId xmlns:a16="http://schemas.microsoft.com/office/drawing/2014/main" val="20014"/>
                    </a:ext>
                  </a:extLst>
                </a:gridCol>
                <a:gridCol w="320675">
                  <a:extLst>
                    <a:ext uri="{9D8B030D-6E8A-4147-A177-3AD203B41FA5}">
                      <a16:colId xmlns:a16="http://schemas.microsoft.com/office/drawing/2014/main" val="20015"/>
                    </a:ext>
                  </a:extLst>
                </a:gridCol>
                <a:gridCol w="320675">
                  <a:extLst>
                    <a:ext uri="{9D8B030D-6E8A-4147-A177-3AD203B41FA5}">
                      <a16:colId xmlns:a16="http://schemas.microsoft.com/office/drawing/2014/main" val="20016"/>
                    </a:ext>
                  </a:extLst>
                </a:gridCol>
                <a:gridCol w="320675">
                  <a:extLst>
                    <a:ext uri="{9D8B030D-6E8A-4147-A177-3AD203B41FA5}">
                      <a16:colId xmlns:a16="http://schemas.microsoft.com/office/drawing/2014/main" val="20017"/>
                    </a:ext>
                  </a:extLst>
                </a:gridCol>
                <a:gridCol w="320675">
                  <a:extLst>
                    <a:ext uri="{9D8B030D-6E8A-4147-A177-3AD203B41FA5}">
                      <a16:colId xmlns:a16="http://schemas.microsoft.com/office/drawing/2014/main" val="20018"/>
                    </a:ext>
                  </a:extLst>
                </a:gridCol>
                <a:gridCol w="320675">
                  <a:extLst>
                    <a:ext uri="{9D8B030D-6E8A-4147-A177-3AD203B41FA5}">
                      <a16:colId xmlns:a16="http://schemas.microsoft.com/office/drawing/2014/main" val="20019"/>
                    </a:ext>
                  </a:extLst>
                </a:gridCol>
                <a:gridCol w="320675">
                  <a:extLst>
                    <a:ext uri="{9D8B030D-6E8A-4147-A177-3AD203B41FA5}">
                      <a16:colId xmlns:a16="http://schemas.microsoft.com/office/drawing/2014/main" val="20020"/>
                    </a:ext>
                  </a:extLst>
                </a:gridCol>
                <a:gridCol w="320675">
                  <a:extLst>
                    <a:ext uri="{9D8B030D-6E8A-4147-A177-3AD203B41FA5}">
                      <a16:colId xmlns:a16="http://schemas.microsoft.com/office/drawing/2014/main" val="20021"/>
                    </a:ext>
                  </a:extLst>
                </a:gridCol>
                <a:gridCol w="320675">
                  <a:extLst>
                    <a:ext uri="{9D8B030D-6E8A-4147-A177-3AD203B41FA5}">
                      <a16:colId xmlns:a16="http://schemas.microsoft.com/office/drawing/2014/main" val="20022"/>
                    </a:ext>
                  </a:extLst>
                </a:gridCol>
                <a:gridCol w="320675">
                  <a:extLst>
                    <a:ext uri="{9D8B030D-6E8A-4147-A177-3AD203B41FA5}">
                      <a16:colId xmlns:a16="http://schemas.microsoft.com/office/drawing/2014/main" val="20023"/>
                    </a:ext>
                  </a:extLst>
                </a:gridCol>
                <a:gridCol w="320675">
                  <a:extLst>
                    <a:ext uri="{9D8B030D-6E8A-4147-A177-3AD203B41FA5}">
                      <a16:colId xmlns:a16="http://schemas.microsoft.com/office/drawing/2014/main" val="20024"/>
                    </a:ext>
                  </a:extLst>
                </a:gridCol>
              </a:tblGrid>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w="25400" cap="flat" cmpd="sng" algn="ctr">
                      <a:solidFill>
                        <a:srgbClr val="000000"/>
                      </a:solidFill>
                      <a:prstDash val="solid"/>
                      <a:round/>
                      <a:headEnd type="none" w="med" len="med"/>
                      <a:tailEnd type="none" w="med" len="med"/>
                    </a:lnR>
                    <a:lnT cap="flat">
                      <a:noFill/>
                    </a:lnT>
                    <a:lnB cap="flat">
                      <a:noFill/>
                    </a:lnB>
                    <a:lnTlToBr>
                      <a:noFill/>
                    </a:lnTlToBr>
                    <a:lnBlToTr>
                      <a:noFill/>
                    </a:lnBlToTr>
                    <a:noFill/>
                  </a:tcPr>
                </a:tc>
                <a:tc gridSpan="7">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v</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DF0"/>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a:t>
                      </a: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[0]</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a:t>
                      </a: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[1]</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c</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tc gridSpan="7">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600" b="0" i="0" u="none" strike="noStrike" cap="none" normalizeH="0" baseline="0" dirty="0">
                          <a:ln>
                            <a:noFill/>
                          </a:ln>
                          <a:solidFill>
                            <a:srgbClr val="FFFFFF"/>
                          </a:solidFill>
                          <a:effectLst/>
                          <a:latin typeface="Calibri Bold Italic" charset="0"/>
                          <a:ea typeface="Calibri Bold Italic" charset="0"/>
                          <a:cs typeface="Calibri Bold Italic" charset="0"/>
                          <a:sym typeface="Calibri Bold Italic" charset="0"/>
                        </a:rPr>
                        <a:t>7 bytes</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B3B3B3"/>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w="254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381000">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a+24</a:t>
                      </a:r>
                    </a:p>
                  </a:txBody>
                  <a:tcPr marL="0" marR="0" marT="0" marB="0" anchor="ctr" horzOverflow="overflow">
                    <a:lnL cap="flat">
                      <a:noFill/>
                    </a:lnL>
                    <a:lnR cap="flat">
                      <a:noFill/>
                    </a:lnR>
                    <a:lnT cap="flat">
                      <a:noFill/>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a+32</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a+40</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a+48</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1"/>
                  </a:ext>
                </a:extLst>
              </a:tr>
            </a:tbl>
          </a:graphicData>
        </a:graphic>
      </p:graphicFrame>
      <p:graphicFrame>
        <p:nvGraphicFramePr>
          <p:cNvPr id="28791" name="Group 119"/>
          <p:cNvGraphicFramePr>
            <a:graphicFrameLocks noGrp="1"/>
          </p:cNvGraphicFramePr>
          <p:nvPr/>
        </p:nvGraphicFramePr>
        <p:xfrm>
          <a:off x="1181100" y="2578100"/>
          <a:ext cx="8240168" cy="762000"/>
        </p:xfrm>
        <a:graphic>
          <a:graphicData uri="http://schemas.openxmlformats.org/drawingml/2006/table">
            <a:tbl>
              <a:tblPr/>
              <a:tblGrid>
                <a:gridCol w="320675">
                  <a:extLst>
                    <a:ext uri="{9D8B030D-6E8A-4147-A177-3AD203B41FA5}">
                      <a16:colId xmlns:a16="http://schemas.microsoft.com/office/drawing/2014/main" val="20000"/>
                    </a:ext>
                  </a:extLst>
                </a:gridCol>
                <a:gridCol w="320675">
                  <a:extLst>
                    <a:ext uri="{9D8B030D-6E8A-4147-A177-3AD203B41FA5}">
                      <a16:colId xmlns:a16="http://schemas.microsoft.com/office/drawing/2014/main" val="20001"/>
                    </a:ext>
                  </a:extLst>
                </a:gridCol>
                <a:gridCol w="320675">
                  <a:extLst>
                    <a:ext uri="{9D8B030D-6E8A-4147-A177-3AD203B41FA5}">
                      <a16:colId xmlns:a16="http://schemas.microsoft.com/office/drawing/2014/main" val="20002"/>
                    </a:ext>
                  </a:extLst>
                </a:gridCol>
                <a:gridCol w="320675">
                  <a:extLst>
                    <a:ext uri="{9D8B030D-6E8A-4147-A177-3AD203B41FA5}">
                      <a16:colId xmlns:a16="http://schemas.microsoft.com/office/drawing/2014/main" val="20003"/>
                    </a:ext>
                  </a:extLst>
                </a:gridCol>
                <a:gridCol w="639763">
                  <a:extLst>
                    <a:ext uri="{9D8B030D-6E8A-4147-A177-3AD203B41FA5}">
                      <a16:colId xmlns:a16="http://schemas.microsoft.com/office/drawing/2014/main" val="20004"/>
                    </a:ext>
                  </a:extLst>
                </a:gridCol>
                <a:gridCol w="320675">
                  <a:extLst>
                    <a:ext uri="{9D8B030D-6E8A-4147-A177-3AD203B41FA5}">
                      <a16:colId xmlns:a16="http://schemas.microsoft.com/office/drawing/2014/main" val="20005"/>
                    </a:ext>
                  </a:extLst>
                </a:gridCol>
                <a:gridCol w="320675">
                  <a:extLst>
                    <a:ext uri="{9D8B030D-6E8A-4147-A177-3AD203B41FA5}">
                      <a16:colId xmlns:a16="http://schemas.microsoft.com/office/drawing/2014/main" val="20006"/>
                    </a:ext>
                  </a:extLst>
                </a:gridCol>
                <a:gridCol w="639762">
                  <a:extLst>
                    <a:ext uri="{9D8B030D-6E8A-4147-A177-3AD203B41FA5}">
                      <a16:colId xmlns:a16="http://schemas.microsoft.com/office/drawing/2014/main" val="20007"/>
                    </a:ext>
                  </a:extLst>
                </a:gridCol>
                <a:gridCol w="320675">
                  <a:extLst>
                    <a:ext uri="{9D8B030D-6E8A-4147-A177-3AD203B41FA5}">
                      <a16:colId xmlns:a16="http://schemas.microsoft.com/office/drawing/2014/main" val="20008"/>
                    </a:ext>
                  </a:extLst>
                </a:gridCol>
                <a:gridCol w="320675">
                  <a:extLst>
                    <a:ext uri="{9D8B030D-6E8A-4147-A177-3AD203B41FA5}">
                      <a16:colId xmlns:a16="http://schemas.microsoft.com/office/drawing/2014/main" val="20009"/>
                    </a:ext>
                  </a:extLst>
                </a:gridCol>
                <a:gridCol w="320675">
                  <a:extLst>
                    <a:ext uri="{9D8B030D-6E8A-4147-A177-3AD203B41FA5}">
                      <a16:colId xmlns:a16="http://schemas.microsoft.com/office/drawing/2014/main" val="20010"/>
                    </a:ext>
                  </a:extLst>
                </a:gridCol>
                <a:gridCol w="320675">
                  <a:extLst>
                    <a:ext uri="{9D8B030D-6E8A-4147-A177-3AD203B41FA5}">
                      <a16:colId xmlns:a16="http://schemas.microsoft.com/office/drawing/2014/main" val="20011"/>
                    </a:ext>
                  </a:extLst>
                </a:gridCol>
                <a:gridCol w="320675">
                  <a:extLst>
                    <a:ext uri="{9D8B030D-6E8A-4147-A177-3AD203B41FA5}">
                      <a16:colId xmlns:a16="http://schemas.microsoft.com/office/drawing/2014/main" val="20012"/>
                    </a:ext>
                  </a:extLst>
                </a:gridCol>
                <a:gridCol w="320675">
                  <a:extLst>
                    <a:ext uri="{9D8B030D-6E8A-4147-A177-3AD203B41FA5}">
                      <a16:colId xmlns:a16="http://schemas.microsoft.com/office/drawing/2014/main" val="20013"/>
                    </a:ext>
                  </a:extLst>
                </a:gridCol>
                <a:gridCol w="639763">
                  <a:extLst>
                    <a:ext uri="{9D8B030D-6E8A-4147-A177-3AD203B41FA5}">
                      <a16:colId xmlns:a16="http://schemas.microsoft.com/office/drawing/2014/main" val="20014"/>
                    </a:ext>
                  </a:extLst>
                </a:gridCol>
                <a:gridCol w="320675">
                  <a:extLst>
                    <a:ext uri="{9D8B030D-6E8A-4147-A177-3AD203B41FA5}">
                      <a16:colId xmlns:a16="http://schemas.microsoft.com/office/drawing/2014/main" val="20015"/>
                    </a:ext>
                  </a:extLst>
                </a:gridCol>
                <a:gridCol w="228055">
                  <a:extLst>
                    <a:ext uri="{9D8B030D-6E8A-4147-A177-3AD203B41FA5}">
                      <a16:colId xmlns:a16="http://schemas.microsoft.com/office/drawing/2014/main" val="20016"/>
                    </a:ext>
                  </a:extLst>
                </a:gridCol>
                <a:gridCol w="320675">
                  <a:extLst>
                    <a:ext uri="{9D8B030D-6E8A-4147-A177-3AD203B41FA5}">
                      <a16:colId xmlns:a16="http://schemas.microsoft.com/office/drawing/2014/main" val="20017"/>
                    </a:ext>
                  </a:extLst>
                </a:gridCol>
                <a:gridCol w="320675">
                  <a:extLst>
                    <a:ext uri="{9D8B030D-6E8A-4147-A177-3AD203B41FA5}">
                      <a16:colId xmlns:a16="http://schemas.microsoft.com/office/drawing/2014/main" val="20018"/>
                    </a:ext>
                  </a:extLst>
                </a:gridCol>
                <a:gridCol w="320675">
                  <a:extLst>
                    <a:ext uri="{9D8B030D-6E8A-4147-A177-3AD203B41FA5}">
                      <a16:colId xmlns:a16="http://schemas.microsoft.com/office/drawing/2014/main" val="20019"/>
                    </a:ext>
                  </a:extLst>
                </a:gridCol>
                <a:gridCol w="320675">
                  <a:extLst>
                    <a:ext uri="{9D8B030D-6E8A-4147-A177-3AD203B41FA5}">
                      <a16:colId xmlns:a16="http://schemas.microsoft.com/office/drawing/2014/main" val="20020"/>
                    </a:ext>
                  </a:extLst>
                </a:gridCol>
                <a:gridCol w="320675">
                  <a:extLst>
                    <a:ext uri="{9D8B030D-6E8A-4147-A177-3AD203B41FA5}">
                      <a16:colId xmlns:a16="http://schemas.microsoft.com/office/drawing/2014/main" val="20021"/>
                    </a:ext>
                  </a:extLst>
                </a:gridCol>
                <a:gridCol w="320675">
                  <a:extLst>
                    <a:ext uri="{9D8B030D-6E8A-4147-A177-3AD203B41FA5}">
                      <a16:colId xmlns:a16="http://schemas.microsoft.com/office/drawing/2014/main" val="20022"/>
                    </a:ext>
                  </a:extLst>
                </a:gridCol>
              </a:tblGrid>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w="25400" cap="flat" cmpd="sng" algn="ctr">
                      <a:solidFill>
                        <a:srgbClr val="000000"/>
                      </a:solidFill>
                      <a:prstDash val="solid"/>
                      <a:round/>
                      <a:headEnd type="none" w="med" len="med"/>
                      <a:tailEnd type="none" w="med" len="med"/>
                    </a:lnR>
                    <a:lnT cap="flat">
                      <a:noFill/>
                    </a:lnT>
                    <a:lnB cap="flat">
                      <a:noFill/>
                    </a:lnB>
                    <a:lnTlToBr>
                      <a:noFill/>
                    </a:lnTlToBr>
                    <a:lnBlToTr>
                      <a:noFill/>
                    </a:lnBlToTr>
                    <a:noFill/>
                  </a:tcPr>
                </a:tc>
                <a:tc gridSpan="5">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a[0]</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a[1]</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a[2]</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6">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dirty="0">
                          <a:ln>
                            <a:noFill/>
                          </a:ln>
                          <a:solidFill>
                            <a:schemeClr val="tx1"/>
                          </a:solidFill>
                          <a:effectLst/>
                          <a:latin typeface="Courier New Bold" charset="0"/>
                          <a:cs typeface="Courier New Bold" charset="0"/>
                          <a:sym typeface="Courier New Bold" charset="0"/>
                        </a:rPr>
                        <a:t>• • •</a:t>
                      </a:r>
                    </a:p>
                  </a:txBody>
                  <a:tcPr marL="0" marR="0" marT="0" marB="0" anchor="ctr" horzOverflow="overflow">
                    <a:lnL w="254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381000">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pitchFamily="49" charset="0"/>
                          <a:cs typeface="Courier New Bold" charset="0"/>
                          <a:sym typeface="Courier New Bold" charset="0"/>
                        </a:rPr>
                        <a:t>a+0</a:t>
                      </a:r>
                    </a:p>
                  </a:txBody>
                  <a:tcPr marL="0" marR="0" marT="0" marB="0" anchor="ctr" horzOverflow="overflow">
                    <a:lnL cap="flat">
                      <a:noFill/>
                    </a:lnL>
                    <a:lnR cap="flat">
                      <a:noFill/>
                    </a:lnR>
                    <a:lnT cap="flat">
                      <a:noFill/>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pitchFamily="49" charset="0"/>
                          <a:cs typeface="Courier New Bold" charset="0"/>
                          <a:sym typeface="Courier New Bold" charset="0"/>
                        </a:rPr>
                        <a:t>a+24</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pitchFamily="49" charset="0"/>
                          <a:cs typeface="Courier New Bold" charset="0"/>
                          <a:sym typeface="Courier New Bold" charset="0"/>
                        </a:rPr>
                        <a:t>a+48</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pitchFamily="49" charset="0"/>
                          <a:cs typeface="Courier New Bold" charset="0"/>
                          <a:sym typeface="Courier New Bold" charset="0"/>
                        </a:rPr>
                        <a:t>a+72</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pitchFamily="49"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3093720"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800"/>
              <a:t>访问数组元素</a:t>
            </a:r>
          </a:p>
        </p:txBody>
      </p:sp>
      <p:sp>
        <p:nvSpPr>
          <p:cNvPr id="29701" name="Rectangle 5"/>
          <p:cNvSpPr>
            <a:spLocks noGrp="1" noChangeArrowheads="1"/>
          </p:cNvSpPr>
          <p:nvPr/>
        </p:nvSpPr>
        <p:spPr>
          <a:xfrm>
            <a:off x="381000" y="1209675"/>
            <a:ext cx="8382000" cy="207010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dirty="0">
                <a:latin typeface="微软雅黑" panose="020B0503020204020204" charset="-122"/>
                <a:ea typeface="微软雅黑" panose="020B0503020204020204" charset="-122"/>
              </a:rPr>
              <a:t>计算数组偏移 12*</a:t>
            </a:r>
            <a:r>
              <a:rPr lang="en-US" dirty="0" err="1">
                <a:latin typeface="微软雅黑" panose="020B0503020204020204" charset="-122"/>
                <a:ea typeface="微软雅黑" panose="020B0503020204020204" charset="-122"/>
              </a:rPr>
              <a:t>idx</a:t>
            </a:r>
            <a:endParaRPr lang="en-US" dirty="0">
              <a:latin typeface="微软雅黑" panose="020B0503020204020204" charset="-122"/>
              <a:ea typeface="微软雅黑" panose="020B0503020204020204" charset="-122"/>
            </a:endParaRPr>
          </a:p>
          <a:p>
            <a:pPr marL="552450" lvl="1">
              <a:buClr>
                <a:srgbClr val="0D0D0D"/>
              </a:buClr>
            </a:pPr>
            <a:r>
              <a:rPr lang="en-US" dirty="0" err="1">
                <a:latin typeface="微软雅黑" panose="020B0503020204020204" charset="-122"/>
                <a:ea typeface="微软雅黑" panose="020B0503020204020204" charset="-122"/>
                <a:cs typeface="Courier New Bold" charset="0"/>
                <a:sym typeface="Courier New Bold" charset="0"/>
              </a:rPr>
              <a:t>sizeof</a:t>
            </a:r>
            <a:r>
              <a:rPr lang="en-US" dirty="0">
                <a:latin typeface="微软雅黑" panose="020B0503020204020204" charset="-122"/>
                <a:ea typeface="微软雅黑" panose="020B0503020204020204" charset="-122"/>
                <a:cs typeface="Courier New Bold" charset="0"/>
                <a:sym typeface="Courier New Bold" charset="0"/>
              </a:rPr>
              <a:t>(S3)</a:t>
            </a:r>
            <a:r>
              <a:rPr lang="en-US" dirty="0">
                <a:latin typeface="微软雅黑" panose="020B0503020204020204" charset="-122"/>
                <a:ea typeface="微软雅黑" panose="020B0503020204020204" charset="-122"/>
              </a:rPr>
              <a:t>, 包括 </a:t>
            </a:r>
            <a:r>
              <a:rPr lang="zh-CN" altLang="en-US" dirty="0">
                <a:latin typeface="微软雅黑" panose="020B0503020204020204" charset="-122"/>
                <a:ea typeface="微软雅黑" panose="020B0503020204020204" charset="-122"/>
              </a:rPr>
              <a:t>对齐间隔</a:t>
            </a:r>
          </a:p>
          <a:p>
            <a:pPr>
              <a:buClr>
                <a:srgbClr val="0D0D0D"/>
              </a:buClr>
            </a:pPr>
            <a:r>
              <a:rPr lang="en-US" dirty="0">
                <a:latin typeface="微软雅黑" panose="020B0503020204020204" charset="-122"/>
                <a:ea typeface="微软雅黑" panose="020B0503020204020204" charset="-122"/>
              </a:rPr>
              <a:t>元素j在结构内的偏移量为8</a:t>
            </a:r>
          </a:p>
          <a:p>
            <a:pPr>
              <a:buClr>
                <a:srgbClr val="0D0D0D"/>
              </a:buClr>
            </a:pPr>
            <a:r>
              <a:rPr lang="en-US" dirty="0">
                <a:latin typeface="微软雅黑" panose="020B0503020204020204" charset="-122"/>
                <a:ea typeface="微软雅黑" panose="020B0503020204020204" charset="-122"/>
              </a:rPr>
              <a:t>汇编程序给出偏移量a</a:t>
            </a:r>
            <a:r>
              <a:rPr lang="en-US" dirty="0">
                <a:latin typeface="微软雅黑" panose="020B0503020204020204" charset="-122"/>
                <a:ea typeface="微软雅黑" panose="020B0503020204020204" charset="-122"/>
                <a:cs typeface="Courier New Bold" charset="0"/>
                <a:sym typeface="Courier New Bold" charset="0"/>
              </a:rPr>
              <a:t>+8</a:t>
            </a:r>
            <a:endParaRPr lang="en-US" dirty="0">
              <a:latin typeface="微软雅黑" panose="020B0503020204020204" charset="-122"/>
              <a:ea typeface="微软雅黑" panose="020B0503020204020204" charset="-122"/>
            </a:endParaRPr>
          </a:p>
          <a:p>
            <a:pPr marL="552450" lvl="1">
              <a:buClr>
                <a:srgbClr val="0D0D0D"/>
              </a:buClr>
            </a:pPr>
            <a:r>
              <a:rPr lang="zh-CN" altLang="en-US" dirty="0">
                <a:latin typeface="微软雅黑" panose="020B0503020204020204" charset="-122"/>
                <a:ea typeface="微软雅黑" panose="020B0503020204020204" charset="-122"/>
              </a:rPr>
              <a:t>链接时解决</a:t>
            </a:r>
          </a:p>
        </p:txBody>
      </p:sp>
      <p:sp>
        <p:nvSpPr>
          <p:cNvPr id="29702" name="Rectangle 6"/>
          <p:cNvSpPr/>
          <p:nvPr/>
        </p:nvSpPr>
        <p:spPr bwMode="auto">
          <a:xfrm>
            <a:off x="6396038" y="609600"/>
            <a:ext cx="2222500" cy="1524000"/>
          </a:xfrm>
          <a:prstGeom prst="rect">
            <a:avLst/>
          </a:prstGeom>
          <a:solidFill>
            <a:srgbClr val="FFFEB2"/>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a:solidFill>
                  <a:schemeClr val="tx1"/>
                </a:solidFill>
                <a:latin typeface="Courier New" panose="02070309020205020404" charset="0"/>
                <a:cs typeface="Courier New" panose="02070309020205020404" charset="0"/>
                <a:sym typeface="Courier New Bold" charset="0"/>
              </a:rPr>
              <a:t>struct S3 {</a:t>
            </a:r>
            <a:endParaRPr lang="en-US" sz="18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short i;</a:t>
            </a:r>
            <a:endParaRPr lang="en-US" sz="18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float v;</a:t>
            </a:r>
            <a:endParaRPr lang="en-US" sz="18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short j;</a:t>
            </a:r>
            <a:endParaRPr lang="en-US" sz="18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a[10];</a:t>
            </a:r>
          </a:p>
        </p:txBody>
      </p:sp>
      <p:sp>
        <p:nvSpPr>
          <p:cNvPr id="29697" name="Freeform 1"/>
          <p:cNvSpPr/>
          <p:nvPr/>
        </p:nvSpPr>
        <p:spPr bwMode="auto">
          <a:xfrm>
            <a:off x="3111500" y="3860800"/>
            <a:ext cx="4445000" cy="812800"/>
          </a:xfrm>
          <a:custGeom>
            <a:avLst/>
            <a:gdLst/>
            <a:ahLst/>
            <a:cxnLst>
              <a:cxn ang="0">
                <a:pos x="6171" y="338"/>
              </a:cxn>
              <a:cxn ang="0">
                <a:pos x="0" y="21600"/>
              </a:cxn>
              <a:cxn ang="0">
                <a:pos x="21600" y="21600"/>
              </a:cxn>
              <a:cxn ang="0">
                <a:pos x="15552" y="0"/>
              </a:cxn>
              <a:cxn ang="0">
                <a:pos x="6171" y="338"/>
              </a:cxn>
              <a:cxn ang="0">
                <a:pos x="6171" y="338"/>
              </a:cxn>
            </a:cxnLst>
            <a:rect l="0" t="0" r="r" b="b"/>
            <a:pathLst>
              <a:path w="21600" h="21600">
                <a:moveTo>
                  <a:pt x="6171" y="338"/>
                </a:moveTo>
                <a:lnTo>
                  <a:pt x="0" y="21600"/>
                </a:lnTo>
                <a:lnTo>
                  <a:pt x="21600" y="21600"/>
                </a:lnTo>
                <a:lnTo>
                  <a:pt x="15552" y="0"/>
                </a:lnTo>
                <a:lnTo>
                  <a:pt x="6171" y="338"/>
                </a:lnTo>
                <a:close/>
                <a:moveTo>
                  <a:pt x="6171" y="338"/>
                </a:moveTo>
              </a:path>
            </a:pathLst>
          </a:custGeom>
          <a:solidFill>
            <a:srgbClr val="E6E6E6"/>
          </a:solidFill>
          <a:ln w="38100" cap="flat">
            <a:noFill/>
            <a:miter lim="800000"/>
            <a:headEnd type="none" w="med" len="med"/>
            <a:tailEnd type="none" w="med" len="med"/>
          </a:ln>
        </p:spPr>
        <p:txBody>
          <a:bodyPr lIns="0" tIns="0" rIns="0" bIns="0"/>
          <a:lstStyle/>
          <a:p>
            <a:endParaRPr lang="en-US"/>
          </a:p>
        </p:txBody>
      </p:sp>
      <p:sp>
        <p:nvSpPr>
          <p:cNvPr id="29703" name="Rectangle 7"/>
          <p:cNvSpPr/>
          <p:nvPr/>
        </p:nvSpPr>
        <p:spPr bwMode="auto">
          <a:xfrm>
            <a:off x="457200" y="5410200"/>
            <a:ext cx="3289300" cy="1117600"/>
          </a:xfrm>
          <a:prstGeom prst="rect">
            <a:avLst/>
          </a:prstGeom>
          <a:solidFill>
            <a:srgbClr val="FFFEB2"/>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a:solidFill>
                  <a:schemeClr val="tx1"/>
                </a:solidFill>
                <a:latin typeface="Courier New" panose="02070309020205020404" charset="0"/>
                <a:cs typeface="Courier New" panose="02070309020205020404" charset="0"/>
                <a:sym typeface="Courier New Bold" charset="0"/>
              </a:rPr>
              <a:t>short get_j(int idx)</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return a[idx].j;</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a:t>
            </a:r>
          </a:p>
        </p:txBody>
      </p:sp>
      <p:sp>
        <p:nvSpPr>
          <p:cNvPr id="29704" name="Rectangle 8"/>
          <p:cNvSpPr/>
          <p:nvPr/>
        </p:nvSpPr>
        <p:spPr bwMode="auto">
          <a:xfrm>
            <a:off x="3886200" y="5537200"/>
            <a:ext cx="4660900" cy="863600"/>
          </a:xfrm>
          <a:prstGeom prst="rect">
            <a:avLst/>
          </a:prstGeom>
          <a:solidFill>
            <a:srgbClr val="9CE0FF"/>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tabLst>
                <a:tab pos="114300" algn="l"/>
                <a:tab pos="114300" algn="l"/>
                <a:tab pos="114300" algn="l"/>
              </a:tabLst>
            </a:pPr>
            <a:r>
              <a:rPr lang="en-US" sz="1800" dirty="0">
                <a:solidFill>
                  <a:schemeClr val="tx1"/>
                </a:solidFill>
                <a:latin typeface="Courier New" panose="02070309020205020404" charset="0"/>
                <a:ea typeface="Monaco" charset="0"/>
                <a:cs typeface="Courier New" panose="02070309020205020404" charset="0"/>
                <a:sym typeface="Courier New Bold" charset="0"/>
              </a:rPr>
              <a:t>	# %</a:t>
            </a:r>
            <a:r>
              <a:rPr lang="en-US" sz="1800" dirty="0" err="1">
                <a:solidFill>
                  <a:schemeClr val="tx1"/>
                </a:solidFill>
                <a:latin typeface="Courier New" panose="02070309020205020404" charset="0"/>
                <a:ea typeface="Monaco" charset="0"/>
                <a:cs typeface="Courier New" panose="02070309020205020404" charset="0"/>
                <a:sym typeface="Courier New Bold" charset="0"/>
              </a:rPr>
              <a:t>rdi</a:t>
            </a:r>
            <a:r>
              <a:rPr lang="en-US" sz="1800" dirty="0">
                <a:solidFill>
                  <a:schemeClr val="tx1"/>
                </a:solidFill>
                <a:latin typeface="Courier New" panose="02070309020205020404" charset="0"/>
                <a:ea typeface="Monaco" charset="0"/>
                <a:cs typeface="Courier New" panose="02070309020205020404" charset="0"/>
                <a:sym typeface="Courier New Bold" charset="0"/>
              </a:rPr>
              <a:t> = </a:t>
            </a:r>
            <a:r>
              <a:rPr lang="en-US" sz="1800" dirty="0" err="1">
                <a:solidFill>
                  <a:schemeClr val="tx1"/>
                </a:solidFill>
                <a:latin typeface="Courier New" panose="02070309020205020404" charset="0"/>
                <a:ea typeface="Monaco" charset="0"/>
                <a:cs typeface="Courier New" panose="02070309020205020404" charset="0"/>
                <a:sym typeface="Courier New Bold" charset="0"/>
              </a:rPr>
              <a:t>idx</a:t>
            </a:r>
            <a:endParaRPr lang="en-US"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tabLst>
                <a:tab pos="114300" algn="l"/>
                <a:tab pos="114300" algn="l"/>
                <a:tab pos="114300" algn="l"/>
              </a:tabLst>
            </a:pPr>
            <a:r>
              <a:rPr lang="en-US" sz="1800" dirty="0">
                <a:solidFill>
                  <a:schemeClr val="tx1"/>
                </a:solidFill>
                <a:latin typeface="Courier New" panose="02070309020205020404" charset="0"/>
                <a:ea typeface="Monaco" charset="0"/>
                <a:cs typeface="Courier New" panose="02070309020205020404" charset="0"/>
                <a:sym typeface="Courier New Bold" charset="0"/>
              </a:rPr>
              <a:t>	</a:t>
            </a:r>
            <a:r>
              <a:rPr lang="en-US" sz="1800" dirty="0" err="1">
                <a:solidFill>
                  <a:schemeClr val="tx1"/>
                </a:solidFill>
                <a:latin typeface="Courier New" panose="02070309020205020404" charset="0"/>
                <a:ea typeface="Monaco" charset="0"/>
                <a:cs typeface="Courier New" panose="02070309020205020404" charset="0"/>
                <a:sym typeface="Courier New Bold" charset="0"/>
              </a:rPr>
              <a:t>leaq</a:t>
            </a:r>
            <a:r>
              <a:rPr lang="en-US" sz="1800" dirty="0">
                <a:solidFill>
                  <a:schemeClr val="tx1"/>
                </a:solidFill>
                <a:latin typeface="Courier New" panose="02070309020205020404" charset="0"/>
                <a:ea typeface="Monaco" charset="0"/>
                <a:cs typeface="Courier New" panose="02070309020205020404" charset="0"/>
                <a:sym typeface="Courier New Bold" charset="0"/>
              </a:rPr>
              <a:t> (%rdi,%rdi,2),%</a:t>
            </a:r>
            <a:r>
              <a:rPr lang="en-US" sz="1800" dirty="0" err="1">
                <a:solidFill>
                  <a:schemeClr val="tx1"/>
                </a:solidFill>
                <a:latin typeface="Courier New" panose="02070309020205020404" charset="0"/>
                <a:ea typeface="Monaco" charset="0"/>
                <a:cs typeface="Courier New" panose="02070309020205020404" charset="0"/>
                <a:sym typeface="Courier New Bold" charset="0"/>
              </a:rPr>
              <a:t>rax</a:t>
            </a:r>
            <a:r>
              <a:rPr lang="en-US" sz="1800" dirty="0">
                <a:solidFill>
                  <a:schemeClr val="tx1"/>
                </a:solidFill>
                <a:latin typeface="Courier New" panose="02070309020205020404" charset="0"/>
                <a:ea typeface="Monaco" charset="0"/>
                <a:cs typeface="Courier New" panose="02070309020205020404" charset="0"/>
                <a:sym typeface="Courier New Bold" charset="0"/>
              </a:rPr>
              <a:t> # 3*</a:t>
            </a:r>
            <a:r>
              <a:rPr lang="en-US" sz="1800" dirty="0" err="1">
                <a:solidFill>
                  <a:schemeClr val="tx1"/>
                </a:solidFill>
                <a:latin typeface="Courier New" panose="02070309020205020404" charset="0"/>
                <a:ea typeface="Monaco" charset="0"/>
                <a:cs typeface="Courier New" panose="02070309020205020404" charset="0"/>
                <a:sym typeface="Courier New Bold" charset="0"/>
              </a:rPr>
              <a:t>idx</a:t>
            </a:r>
            <a:endParaRPr lang="en-US"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tabLst>
                <a:tab pos="114300" algn="l"/>
                <a:tab pos="114300" algn="l"/>
                <a:tab pos="114300" algn="l"/>
              </a:tabLst>
            </a:pPr>
            <a:r>
              <a:rPr lang="en-US" sz="1800" dirty="0">
                <a:solidFill>
                  <a:schemeClr val="tx1"/>
                </a:solidFill>
                <a:latin typeface="Courier New" panose="02070309020205020404" charset="0"/>
                <a:ea typeface="Monaco" charset="0"/>
                <a:cs typeface="Courier New" panose="02070309020205020404" charset="0"/>
                <a:sym typeface="Courier New Bold" charset="0"/>
              </a:rPr>
              <a:t>	</a:t>
            </a:r>
            <a:r>
              <a:rPr lang="en-US" sz="1800" dirty="0" err="1">
                <a:solidFill>
                  <a:schemeClr val="tx1"/>
                </a:solidFill>
                <a:latin typeface="Courier New" panose="02070309020205020404" charset="0"/>
                <a:ea typeface="Monaco" charset="0"/>
                <a:cs typeface="Courier New" panose="02070309020205020404" charset="0"/>
                <a:sym typeface="Courier New Bold" charset="0"/>
              </a:rPr>
              <a:t>movzwl</a:t>
            </a:r>
            <a:r>
              <a:rPr lang="en-US" sz="1800" dirty="0">
                <a:solidFill>
                  <a:schemeClr val="tx1"/>
                </a:solidFill>
                <a:latin typeface="Courier New" panose="02070309020205020404" charset="0"/>
                <a:ea typeface="Monaco" charset="0"/>
                <a:cs typeface="Courier New" panose="02070309020205020404" charset="0"/>
                <a:sym typeface="Courier New Bold" charset="0"/>
              </a:rPr>
              <a:t> a+8(,%rax,4),%</a:t>
            </a:r>
            <a:r>
              <a:rPr lang="en-US" sz="1800" dirty="0" err="1">
                <a:solidFill>
                  <a:schemeClr val="tx1"/>
                </a:solidFill>
                <a:latin typeface="Courier New" panose="02070309020205020404" charset="0"/>
                <a:ea typeface="Monaco" charset="0"/>
                <a:cs typeface="Courier New" panose="02070309020205020404" charset="0"/>
                <a:sym typeface="Courier New Bold" charset="0"/>
              </a:rPr>
              <a:t>eax</a:t>
            </a:r>
            <a:endParaRPr lang="en-US" sz="1800" dirty="0">
              <a:solidFill>
                <a:schemeClr val="tx1"/>
              </a:solidFill>
              <a:latin typeface="Courier New" panose="02070309020205020404" charset="0"/>
              <a:ea typeface="Monaco" charset="0"/>
              <a:cs typeface="Courier New" panose="02070309020205020404" charset="0"/>
              <a:sym typeface="Courier New Bold" charset="0"/>
            </a:endParaRPr>
          </a:p>
        </p:txBody>
      </p:sp>
      <p:graphicFrame>
        <p:nvGraphicFramePr>
          <p:cNvPr id="29705" name="Group 9"/>
          <p:cNvGraphicFramePr>
            <a:graphicFrameLocks noGrp="1"/>
          </p:cNvGraphicFramePr>
          <p:nvPr/>
        </p:nvGraphicFramePr>
        <p:xfrm>
          <a:off x="241300" y="3479800"/>
          <a:ext cx="8329613" cy="762000"/>
        </p:xfrm>
        <a:graphic>
          <a:graphicData uri="http://schemas.openxmlformats.org/drawingml/2006/table">
            <a:tbl>
              <a:tblPr/>
              <a:tblGrid>
                <a:gridCol w="320675">
                  <a:extLst>
                    <a:ext uri="{9D8B030D-6E8A-4147-A177-3AD203B41FA5}">
                      <a16:colId xmlns:a16="http://schemas.microsoft.com/office/drawing/2014/main" val="20000"/>
                    </a:ext>
                  </a:extLst>
                </a:gridCol>
                <a:gridCol w="320675">
                  <a:extLst>
                    <a:ext uri="{9D8B030D-6E8A-4147-A177-3AD203B41FA5}">
                      <a16:colId xmlns:a16="http://schemas.microsoft.com/office/drawing/2014/main" val="20001"/>
                    </a:ext>
                  </a:extLst>
                </a:gridCol>
                <a:gridCol w="320675">
                  <a:extLst>
                    <a:ext uri="{9D8B030D-6E8A-4147-A177-3AD203B41FA5}">
                      <a16:colId xmlns:a16="http://schemas.microsoft.com/office/drawing/2014/main" val="20002"/>
                    </a:ext>
                  </a:extLst>
                </a:gridCol>
                <a:gridCol w="320675">
                  <a:extLst>
                    <a:ext uri="{9D8B030D-6E8A-4147-A177-3AD203B41FA5}">
                      <a16:colId xmlns:a16="http://schemas.microsoft.com/office/drawing/2014/main" val="20003"/>
                    </a:ext>
                  </a:extLst>
                </a:gridCol>
                <a:gridCol w="639763">
                  <a:extLst>
                    <a:ext uri="{9D8B030D-6E8A-4147-A177-3AD203B41FA5}">
                      <a16:colId xmlns:a16="http://schemas.microsoft.com/office/drawing/2014/main" val="20004"/>
                    </a:ext>
                  </a:extLst>
                </a:gridCol>
                <a:gridCol w="320675">
                  <a:extLst>
                    <a:ext uri="{9D8B030D-6E8A-4147-A177-3AD203B41FA5}">
                      <a16:colId xmlns:a16="http://schemas.microsoft.com/office/drawing/2014/main" val="20005"/>
                    </a:ext>
                  </a:extLst>
                </a:gridCol>
                <a:gridCol w="320675">
                  <a:extLst>
                    <a:ext uri="{9D8B030D-6E8A-4147-A177-3AD203B41FA5}">
                      <a16:colId xmlns:a16="http://schemas.microsoft.com/office/drawing/2014/main" val="20006"/>
                    </a:ext>
                  </a:extLst>
                </a:gridCol>
                <a:gridCol w="639762">
                  <a:extLst>
                    <a:ext uri="{9D8B030D-6E8A-4147-A177-3AD203B41FA5}">
                      <a16:colId xmlns:a16="http://schemas.microsoft.com/office/drawing/2014/main" val="20007"/>
                    </a:ext>
                  </a:extLst>
                </a:gridCol>
                <a:gridCol w="320675">
                  <a:extLst>
                    <a:ext uri="{9D8B030D-6E8A-4147-A177-3AD203B41FA5}">
                      <a16:colId xmlns:a16="http://schemas.microsoft.com/office/drawing/2014/main" val="20008"/>
                    </a:ext>
                  </a:extLst>
                </a:gridCol>
                <a:gridCol w="639763">
                  <a:extLst>
                    <a:ext uri="{9D8B030D-6E8A-4147-A177-3AD203B41FA5}">
                      <a16:colId xmlns:a16="http://schemas.microsoft.com/office/drawing/2014/main" val="20009"/>
                    </a:ext>
                  </a:extLst>
                </a:gridCol>
                <a:gridCol w="639762">
                  <a:extLst>
                    <a:ext uri="{9D8B030D-6E8A-4147-A177-3AD203B41FA5}">
                      <a16:colId xmlns:a16="http://schemas.microsoft.com/office/drawing/2014/main" val="20010"/>
                    </a:ext>
                  </a:extLst>
                </a:gridCol>
                <a:gridCol w="320675">
                  <a:extLst>
                    <a:ext uri="{9D8B030D-6E8A-4147-A177-3AD203B41FA5}">
                      <a16:colId xmlns:a16="http://schemas.microsoft.com/office/drawing/2014/main" val="20011"/>
                    </a:ext>
                  </a:extLst>
                </a:gridCol>
                <a:gridCol w="640080">
                  <a:extLst>
                    <a:ext uri="{9D8B030D-6E8A-4147-A177-3AD203B41FA5}">
                      <a16:colId xmlns:a16="http://schemas.microsoft.com/office/drawing/2014/main" val="20012"/>
                    </a:ext>
                  </a:extLst>
                </a:gridCol>
                <a:gridCol w="320358">
                  <a:extLst>
                    <a:ext uri="{9D8B030D-6E8A-4147-A177-3AD203B41FA5}">
                      <a16:colId xmlns:a16="http://schemas.microsoft.com/office/drawing/2014/main" val="20013"/>
                    </a:ext>
                  </a:extLst>
                </a:gridCol>
                <a:gridCol w="320675">
                  <a:extLst>
                    <a:ext uri="{9D8B030D-6E8A-4147-A177-3AD203B41FA5}">
                      <a16:colId xmlns:a16="http://schemas.microsoft.com/office/drawing/2014/main" val="20014"/>
                    </a:ext>
                  </a:extLst>
                </a:gridCol>
                <a:gridCol w="320675">
                  <a:extLst>
                    <a:ext uri="{9D8B030D-6E8A-4147-A177-3AD203B41FA5}">
                      <a16:colId xmlns:a16="http://schemas.microsoft.com/office/drawing/2014/main" val="20015"/>
                    </a:ext>
                  </a:extLst>
                </a:gridCol>
                <a:gridCol w="320675">
                  <a:extLst>
                    <a:ext uri="{9D8B030D-6E8A-4147-A177-3AD203B41FA5}">
                      <a16:colId xmlns:a16="http://schemas.microsoft.com/office/drawing/2014/main" val="20016"/>
                    </a:ext>
                  </a:extLst>
                </a:gridCol>
                <a:gridCol w="320675">
                  <a:extLst>
                    <a:ext uri="{9D8B030D-6E8A-4147-A177-3AD203B41FA5}">
                      <a16:colId xmlns:a16="http://schemas.microsoft.com/office/drawing/2014/main" val="20017"/>
                    </a:ext>
                  </a:extLst>
                </a:gridCol>
                <a:gridCol w="320675">
                  <a:extLst>
                    <a:ext uri="{9D8B030D-6E8A-4147-A177-3AD203B41FA5}">
                      <a16:colId xmlns:a16="http://schemas.microsoft.com/office/drawing/2014/main" val="20018"/>
                    </a:ext>
                  </a:extLst>
                </a:gridCol>
                <a:gridCol w="320675">
                  <a:extLst>
                    <a:ext uri="{9D8B030D-6E8A-4147-A177-3AD203B41FA5}">
                      <a16:colId xmlns:a16="http://schemas.microsoft.com/office/drawing/2014/main" val="20019"/>
                    </a:ext>
                  </a:extLst>
                </a:gridCol>
                <a:gridCol w="320675">
                  <a:extLst>
                    <a:ext uri="{9D8B030D-6E8A-4147-A177-3AD203B41FA5}">
                      <a16:colId xmlns:a16="http://schemas.microsoft.com/office/drawing/2014/main" val="20020"/>
                    </a:ext>
                  </a:extLst>
                </a:gridCol>
              </a:tblGrid>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w="25400" cap="flat" cmpd="sng" algn="ctr">
                      <a:solidFill>
                        <a:srgbClr val="000000"/>
                      </a:solidFill>
                      <a:prstDash val="solid"/>
                      <a:round/>
                      <a:headEnd type="none" w="med" len="med"/>
                      <a:tailEnd type="none" w="med" len="med"/>
                    </a:lnR>
                    <a:lnT cap="flat">
                      <a:noFill/>
                    </a:lnT>
                    <a:lnB cap="flat">
                      <a:noFill/>
                    </a:lnB>
                    <a:lnTlToBr>
                      <a:noFill/>
                    </a:lnTlToBr>
                    <a:lnBlToTr>
                      <a:noFill/>
                    </a:lnBlToTr>
                    <a:noFill/>
                  </a:tcPr>
                </a:tc>
                <a:tc gridSpan="5">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ourier New Bold" charset="0"/>
                          <a:cs typeface="Courier New Bold" charset="0"/>
                          <a:sym typeface="Courier New Bold" charset="0"/>
                        </a:rPr>
                        <a:t> </a:t>
                      </a: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a[0]</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dirty="0">
                          <a:ln>
                            <a:noFill/>
                          </a:ln>
                          <a:solidFill>
                            <a:schemeClr val="tx1"/>
                          </a:solidFill>
                          <a:effectLst/>
                          <a:latin typeface="Courier New Bold" charset="0"/>
                          <a:cs typeface="Courier New Bold" charset="0"/>
                          <a:sym typeface="Courier New Bold" charset="0"/>
                        </a:rPr>
                        <a:t>• • •</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ourier New Bold" charset="0"/>
                          <a:cs typeface="Courier New Bold" charset="0"/>
                          <a:sym typeface="Courier New Bold" charset="0"/>
                        </a:rPr>
                        <a:t> </a:t>
                      </a: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a:t>
                      </a: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idx</a:t>
                      </a: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1C7C7"/>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3">
                  <a:txBody>
                    <a:bodyPr/>
                    <a:lstStyle/>
                    <a:p>
                      <a:pPr marL="0" marR="0" lvl="0" indent="0" algn="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a:ln>
                            <a:noFill/>
                          </a:ln>
                          <a:solidFill>
                            <a:schemeClr val="tx1"/>
                          </a:solidFill>
                          <a:effectLst/>
                          <a:latin typeface="Courier New Bold" charset="0"/>
                          <a:cs typeface="Courier New Bold" charset="0"/>
                          <a:sym typeface="Courier New Bold" charset="0"/>
                        </a:rPr>
                        <a:t> • •</a:t>
                      </a:r>
                    </a:p>
                  </a:txBody>
                  <a:tcPr marL="0" marR="0" marT="0" marB="0" anchor="ctr" horzOverflow="overflow">
                    <a:lnL w="25400" cap="flat" cmpd="sng" algn="ctr">
                      <a:solidFill>
                        <a:srgbClr val="000000"/>
                      </a:solidFill>
                      <a:prstDash val="solid"/>
                      <a:round/>
                      <a:headEnd type="none" w="med" len="med"/>
                      <a:tailEnd type="none" w="med" len="med"/>
                    </a:lnL>
                    <a:lnR cap="flat">
                      <a:noFill/>
                    </a:lnR>
                    <a:lnT w="25400" cap="flat" cmpd="sng" algn="ctr">
                      <a:solidFill>
                        <a:srgbClr val="000000"/>
                      </a:solidFill>
                      <a:prstDash val="sysDot"/>
                      <a:round/>
                      <a:headEnd type="none" w="med" len="med"/>
                      <a:tailEnd type="none" w="med" len="med"/>
                    </a:lnT>
                    <a:lnB w="25400" cap="flat" cmpd="sng" algn="ctr">
                      <a:solidFill>
                        <a:srgbClr val="000000"/>
                      </a:solidFill>
                      <a:prstDash val="sysDot"/>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gridSpan="3">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2000" b="0" i="0" u="none" strike="noStrike" cap="none" normalizeH="0" baseline="0" dirty="0">
                          <a:ln>
                            <a:noFill/>
                          </a:ln>
                          <a:solidFill>
                            <a:schemeClr val="tx1"/>
                          </a:solidFill>
                          <a:effectLst/>
                          <a:latin typeface="Courier New Bold" charset="0"/>
                          <a:cs typeface="Courier New Bold" charset="0"/>
                          <a:sym typeface="Courier New Bold" charset="0"/>
                        </a:rPr>
                        <a:t> •</a:t>
                      </a:r>
                    </a:p>
                  </a:txBody>
                  <a:tcPr marL="0" marR="0" marT="0" marB="0" anchor="ctr" horzOverflow="overflow">
                    <a:lnL cap="flat">
                      <a:noFill/>
                    </a:lnL>
                    <a:lnR cap="flat">
                      <a:noFill/>
                    </a:lnR>
                    <a:lnT cap="flat">
                      <a:noFill/>
                    </a:lnT>
                    <a:lnB cap="flat">
                      <a:noFill/>
                    </a:lnB>
                    <a:lnTlToBr>
                      <a:noFill/>
                    </a:lnTlToBr>
                    <a:lnBlToTr>
                      <a:noFill/>
                    </a:lnBlToTr>
                    <a:noFill/>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381000">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a+0</a:t>
                      </a:r>
                    </a:p>
                  </a:txBody>
                  <a:tcPr marL="0" marR="0" marT="0" marB="0" anchor="ctr" horzOverflow="overflow">
                    <a:lnL cap="flat">
                      <a:noFill/>
                    </a:lnL>
                    <a:lnR cap="flat">
                      <a:noFill/>
                    </a:lnR>
                    <a:lnT cap="flat">
                      <a:noFill/>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a+12</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a+12*</a:t>
                      </a: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idx</a:t>
                      </a:r>
                      <a:endPar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ysDot"/>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ysDot"/>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1"/>
                  </a:ext>
                </a:extLst>
              </a:tr>
            </a:tbl>
          </a:graphicData>
        </a:graphic>
      </p:graphicFrame>
      <p:graphicFrame>
        <p:nvGraphicFramePr>
          <p:cNvPr id="29798" name="Group 102"/>
          <p:cNvGraphicFramePr>
            <a:graphicFrameLocks noGrp="1"/>
          </p:cNvGraphicFramePr>
          <p:nvPr/>
        </p:nvGraphicFramePr>
        <p:xfrm>
          <a:off x="1370013" y="4648200"/>
          <a:ext cx="6429375" cy="596900"/>
        </p:xfrm>
        <a:graphic>
          <a:graphicData uri="http://schemas.openxmlformats.org/drawingml/2006/table">
            <a:tbl>
              <a:tblPr/>
              <a:tblGrid>
                <a:gridCol w="247650">
                  <a:extLst>
                    <a:ext uri="{9D8B030D-6E8A-4147-A177-3AD203B41FA5}">
                      <a16:colId xmlns:a16="http://schemas.microsoft.com/office/drawing/2014/main" val="20000"/>
                    </a:ext>
                  </a:extLst>
                </a:gridCol>
                <a:gridCol w="247650">
                  <a:extLst>
                    <a:ext uri="{9D8B030D-6E8A-4147-A177-3AD203B41FA5}">
                      <a16:colId xmlns:a16="http://schemas.microsoft.com/office/drawing/2014/main" val="20001"/>
                    </a:ext>
                  </a:extLst>
                </a:gridCol>
                <a:gridCol w="247650">
                  <a:extLst>
                    <a:ext uri="{9D8B030D-6E8A-4147-A177-3AD203B41FA5}">
                      <a16:colId xmlns:a16="http://schemas.microsoft.com/office/drawing/2014/main" val="20002"/>
                    </a:ext>
                  </a:extLst>
                </a:gridCol>
                <a:gridCol w="247650">
                  <a:extLst>
                    <a:ext uri="{9D8B030D-6E8A-4147-A177-3AD203B41FA5}">
                      <a16:colId xmlns:a16="http://schemas.microsoft.com/office/drawing/2014/main" val="20003"/>
                    </a:ext>
                  </a:extLst>
                </a:gridCol>
                <a:gridCol w="741362">
                  <a:extLst>
                    <a:ext uri="{9D8B030D-6E8A-4147-A177-3AD203B41FA5}">
                      <a16:colId xmlns:a16="http://schemas.microsoft.com/office/drawing/2014/main" val="20004"/>
                    </a:ext>
                  </a:extLst>
                </a:gridCol>
                <a:gridCol w="741363">
                  <a:extLst>
                    <a:ext uri="{9D8B030D-6E8A-4147-A177-3AD203B41FA5}">
                      <a16:colId xmlns:a16="http://schemas.microsoft.com/office/drawing/2014/main" val="20005"/>
                    </a:ext>
                  </a:extLst>
                </a:gridCol>
                <a:gridCol w="247650">
                  <a:extLst>
                    <a:ext uri="{9D8B030D-6E8A-4147-A177-3AD203B41FA5}">
                      <a16:colId xmlns:a16="http://schemas.microsoft.com/office/drawing/2014/main" val="20006"/>
                    </a:ext>
                  </a:extLst>
                </a:gridCol>
                <a:gridCol w="493712">
                  <a:extLst>
                    <a:ext uri="{9D8B030D-6E8A-4147-A177-3AD203B41FA5}">
                      <a16:colId xmlns:a16="http://schemas.microsoft.com/office/drawing/2014/main" val="20007"/>
                    </a:ext>
                  </a:extLst>
                </a:gridCol>
                <a:gridCol w="493713">
                  <a:extLst>
                    <a:ext uri="{9D8B030D-6E8A-4147-A177-3AD203B41FA5}">
                      <a16:colId xmlns:a16="http://schemas.microsoft.com/office/drawing/2014/main" val="20008"/>
                    </a:ext>
                  </a:extLst>
                </a:gridCol>
                <a:gridCol w="247650">
                  <a:extLst>
                    <a:ext uri="{9D8B030D-6E8A-4147-A177-3AD203B41FA5}">
                      <a16:colId xmlns:a16="http://schemas.microsoft.com/office/drawing/2014/main" val="20009"/>
                    </a:ext>
                  </a:extLst>
                </a:gridCol>
                <a:gridCol w="741362">
                  <a:extLst>
                    <a:ext uri="{9D8B030D-6E8A-4147-A177-3AD203B41FA5}">
                      <a16:colId xmlns:a16="http://schemas.microsoft.com/office/drawing/2014/main" val="20010"/>
                    </a:ext>
                  </a:extLst>
                </a:gridCol>
                <a:gridCol w="741363">
                  <a:extLst>
                    <a:ext uri="{9D8B030D-6E8A-4147-A177-3AD203B41FA5}">
                      <a16:colId xmlns:a16="http://schemas.microsoft.com/office/drawing/2014/main" val="20011"/>
                    </a:ext>
                  </a:extLst>
                </a:gridCol>
                <a:gridCol w="247650">
                  <a:extLst>
                    <a:ext uri="{9D8B030D-6E8A-4147-A177-3AD203B41FA5}">
                      <a16:colId xmlns:a16="http://schemas.microsoft.com/office/drawing/2014/main" val="20012"/>
                    </a:ext>
                  </a:extLst>
                </a:gridCol>
                <a:gridCol w="247650">
                  <a:extLst>
                    <a:ext uri="{9D8B030D-6E8A-4147-A177-3AD203B41FA5}">
                      <a16:colId xmlns:a16="http://schemas.microsoft.com/office/drawing/2014/main" val="20013"/>
                    </a:ext>
                  </a:extLst>
                </a:gridCol>
                <a:gridCol w="247650">
                  <a:extLst>
                    <a:ext uri="{9D8B030D-6E8A-4147-A177-3AD203B41FA5}">
                      <a16:colId xmlns:a16="http://schemas.microsoft.com/office/drawing/2014/main" val="20014"/>
                    </a:ext>
                  </a:extLst>
                </a:gridCol>
                <a:gridCol w="247650">
                  <a:extLst>
                    <a:ext uri="{9D8B030D-6E8A-4147-A177-3AD203B41FA5}">
                      <a16:colId xmlns:a16="http://schemas.microsoft.com/office/drawing/2014/main" val="20015"/>
                    </a:ext>
                  </a:extLst>
                </a:gridCol>
              </a:tblGrid>
              <a:tr h="29845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w="25400" cap="flat" cmpd="sng" algn="ctr">
                      <a:solidFill>
                        <a:srgbClr val="FFFFFF"/>
                      </a:solidFill>
                      <a:prstDash val="solid"/>
                      <a:round/>
                      <a:headEnd type="none" w="med" len="med"/>
                      <a:tailEnd type="none" w="med" len="med"/>
                    </a:lnL>
                    <a:lnR cap="flat">
                      <a:noFill/>
                    </a:lnR>
                    <a:lnT cap="flat">
                      <a:noFill/>
                    </a:lnT>
                    <a:lnB cap="flat">
                      <a:noFill/>
                    </a:lnB>
                    <a:lnTlToBr>
                      <a:noFill/>
                    </a:lnTlToBr>
                    <a:lnBlToTr>
                      <a:noFill/>
                    </a:lnBlToTr>
                    <a:noFill/>
                  </a:tcPr>
                </a:tc>
                <a:tc gridSpan="4">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w="25400" cap="flat" cmpd="sng" algn="ctr">
                      <a:solidFill>
                        <a:srgbClr val="000000"/>
                      </a:solidFill>
                      <a:prstDash val="solid"/>
                      <a:round/>
                      <a:headEnd type="none" w="med" len="med"/>
                      <a:tailEnd type="none" w="med" len="med"/>
                    </a:lnR>
                    <a:lnT cap="flat">
                      <a:noFill/>
                    </a:lnT>
                    <a:lnB cap="flat">
                      <a:noFill/>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a:t>
                      </a:r>
                      <a:endPar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endParaRP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600" b="0" i="0" u="none" strike="noStrike" cap="none" normalizeH="0" baseline="0" dirty="0">
                          <a:ln>
                            <a:noFill/>
                          </a:ln>
                          <a:solidFill>
                            <a:srgbClr val="FFFFFF"/>
                          </a:solidFill>
                          <a:effectLst/>
                          <a:latin typeface="Calibri Bold Italic" charset="0"/>
                          <a:ea typeface="Calibri Bold Italic" charset="0"/>
                          <a:cs typeface="Calibri Bold Italic" charset="0"/>
                          <a:sym typeface="Calibri Bold Italic" charset="0"/>
                        </a:rPr>
                        <a:t>2 bytes</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lumMod val="65000"/>
                      </a:schemeClr>
                    </a:solidFill>
                  </a:tcPr>
                </a:tc>
                <a:tc hMerge="1">
                  <a:txBody>
                    <a:bodyPr/>
                    <a:lstStyle/>
                    <a:p>
                      <a:endParaRPr lang="zh-CN"/>
                    </a:p>
                  </a:txBody>
                  <a:tcPr/>
                </a:tc>
                <a:tc gridSpan="3">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v</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DF0"/>
                    </a:solidFill>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j</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gridSpan="3">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600" b="0" i="0" u="none" strike="noStrike" cap="none" normalizeH="0" baseline="0" dirty="0">
                          <a:ln>
                            <a:noFill/>
                          </a:ln>
                          <a:solidFill>
                            <a:srgbClr val="FFFFFF"/>
                          </a:solidFill>
                          <a:effectLst/>
                          <a:latin typeface="Calibri Bold Italic" charset="0"/>
                          <a:ea typeface="Calibri Bold Italic" charset="0"/>
                          <a:cs typeface="Calibri Bold Italic" charset="0"/>
                          <a:sym typeface="Calibri Bold Italic" charset="0"/>
                        </a:rPr>
                        <a:t>2 bytes</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B3B3B3"/>
                    </a:solidFill>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w="254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298450">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w="25400" cap="flat" cmpd="sng" algn="ctr">
                      <a:solidFill>
                        <a:srgbClr val="FFFFFF"/>
                      </a:solidFill>
                      <a:prstDash val="solid"/>
                      <a:round/>
                      <a:headEnd type="none" w="med" len="med"/>
                      <a:tailEnd type="none" w="med" len="med"/>
                    </a:lnL>
                    <a:lnR cap="flat">
                      <a:noFill/>
                    </a:lnR>
                    <a:lnT cap="flat">
                      <a:noFill/>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a+12*</a:t>
                      </a: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idx</a:t>
                      </a:r>
                      <a:endPar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endParaRPr>
                    </a:p>
                  </a:txBody>
                  <a:tcPr marL="0" marR="0" marT="0" marB="0" anchor="ctr" horzOverflow="overflow">
                    <a:lnL cap="flat">
                      <a:noFill/>
                    </a:lnL>
                    <a:lnR cap="flat">
                      <a:noFill/>
                    </a:lnR>
                    <a:lnT cap="flat">
                      <a:noFill/>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a+12*idx+8</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1"/>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701">
                                            <p:txEl>
                                              <p:pRg st="1" end="1"/>
                                            </p:txEl>
                                          </p:spTgt>
                                        </p:tgtEl>
                                        <p:attrNameLst>
                                          <p:attrName>style.visibility</p:attrName>
                                        </p:attrNameLst>
                                      </p:cBhvr>
                                      <p:to>
                                        <p:strVal val="visible"/>
                                      </p:to>
                                    </p:set>
                                    <p:animEffect transition="in" filter="wipe(down)">
                                      <p:cBhvr>
                                        <p:cTn id="7" dur="500"/>
                                        <p:tgtEl>
                                          <p:spTgt spid="29701">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9701">
                                            <p:txEl>
                                              <p:pRg st="2" end="2"/>
                                            </p:txEl>
                                          </p:spTgt>
                                        </p:tgtEl>
                                        <p:attrNameLst>
                                          <p:attrName>style.visibility</p:attrName>
                                        </p:attrNameLst>
                                      </p:cBhvr>
                                      <p:to>
                                        <p:strVal val="visible"/>
                                      </p:to>
                                    </p:set>
                                    <p:animEffect transition="in" filter="wipe(down)">
                                      <p:cBhvr>
                                        <p:cTn id="10" dur="500"/>
                                        <p:tgtEl>
                                          <p:spTgt spid="29701">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9701">
                                            <p:txEl>
                                              <p:pRg st="3" end="3"/>
                                            </p:txEl>
                                          </p:spTgt>
                                        </p:tgtEl>
                                        <p:attrNameLst>
                                          <p:attrName>style.visibility</p:attrName>
                                        </p:attrNameLst>
                                      </p:cBhvr>
                                      <p:to>
                                        <p:strVal val="visible"/>
                                      </p:to>
                                    </p:set>
                                    <p:animEffect transition="in" filter="wipe(down)">
                                      <p:cBhvr>
                                        <p:cTn id="13" dur="500"/>
                                        <p:tgtEl>
                                          <p:spTgt spid="29701">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9701">
                                            <p:txEl>
                                              <p:pRg st="4" end="4"/>
                                            </p:txEl>
                                          </p:spTgt>
                                        </p:tgtEl>
                                        <p:attrNameLst>
                                          <p:attrName>style.visibility</p:attrName>
                                        </p:attrNameLst>
                                      </p:cBhvr>
                                      <p:to>
                                        <p:strVal val="visible"/>
                                      </p:to>
                                    </p:set>
                                    <p:animEffect transition="in" filter="wipe(down)">
                                      <p:cBhvr>
                                        <p:cTn id="16" dur="500"/>
                                        <p:tgtEl>
                                          <p:spTgt spid="29701">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29703"/>
                                        </p:tgtEl>
                                        <p:attrNameLst>
                                          <p:attrName>style.visibility</p:attrName>
                                        </p:attrNameLst>
                                      </p:cBhvr>
                                      <p:to>
                                        <p:strVal val="visible"/>
                                      </p:to>
                                    </p:set>
                                    <p:anim calcmode="lin" valueType="num">
                                      <p:cBhvr additive="base">
                                        <p:cTn id="21" dur="500" fill="hold"/>
                                        <p:tgtEl>
                                          <p:spTgt spid="29703"/>
                                        </p:tgtEl>
                                        <p:attrNameLst>
                                          <p:attrName>ppt_x</p:attrName>
                                        </p:attrNameLst>
                                      </p:cBhvr>
                                      <p:tavLst>
                                        <p:tav tm="0">
                                          <p:val>
                                            <p:strVal val="#ppt_x"/>
                                          </p:val>
                                        </p:tav>
                                        <p:tav tm="100000">
                                          <p:val>
                                            <p:strVal val="#ppt_x"/>
                                          </p:val>
                                        </p:tav>
                                      </p:tavLst>
                                    </p:anim>
                                    <p:anim calcmode="lin" valueType="num">
                                      <p:cBhvr additive="base">
                                        <p:cTn id="22" dur="500" fill="hold"/>
                                        <p:tgtEl>
                                          <p:spTgt spid="29703"/>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9704"/>
                                        </p:tgtEl>
                                        <p:attrNameLst>
                                          <p:attrName>style.visibility</p:attrName>
                                        </p:attrNameLst>
                                      </p:cBhvr>
                                      <p:to>
                                        <p:strVal val="visible"/>
                                      </p:to>
                                    </p:set>
                                    <p:anim calcmode="lin" valueType="num">
                                      <p:cBhvr additive="base">
                                        <p:cTn id="27" dur="500" fill="hold"/>
                                        <p:tgtEl>
                                          <p:spTgt spid="29704"/>
                                        </p:tgtEl>
                                        <p:attrNameLst>
                                          <p:attrName>ppt_x</p:attrName>
                                        </p:attrNameLst>
                                      </p:cBhvr>
                                      <p:tavLst>
                                        <p:tav tm="0">
                                          <p:val>
                                            <p:strVal val="#ppt_x"/>
                                          </p:val>
                                        </p:tav>
                                        <p:tav tm="100000">
                                          <p:val>
                                            <p:strVal val="#ppt_x"/>
                                          </p:val>
                                        </p:tav>
                                      </p:tavLst>
                                    </p:anim>
                                    <p:anim calcmode="lin" valueType="num">
                                      <p:cBhvr additive="base">
                                        <p:cTn id="28" dur="500" fill="hold"/>
                                        <p:tgtEl>
                                          <p:spTgt spid="297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p:bldP spid="29704" grpId="0" animBg="1"/>
    </p:bld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箭头 3"/>
          <p:cNvSpPr/>
          <p:nvPr/>
        </p:nvSpPr>
        <p:spPr>
          <a:xfrm>
            <a:off x="0" y="266065"/>
            <a:ext cx="3093720" cy="943610"/>
          </a:xfrm>
          <a:prstGeom prst="notched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sz="2800"/>
              <a:t>节省空间</a:t>
            </a:r>
          </a:p>
        </p:txBody>
      </p:sp>
      <p:sp>
        <p:nvSpPr>
          <p:cNvPr id="27652" name="Rectangle 4"/>
          <p:cNvSpPr>
            <a:spLocks noGrp="1" noChangeArrowheads="1"/>
          </p:cNvSpPr>
          <p:nvPr/>
        </p:nvSpPr>
        <p:spPr>
          <a:xfrm>
            <a:off x="212725" y="132270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ED7D31"/>
              </a:buClr>
            </a:pPr>
            <a:r>
              <a:rPr lang="en-US" dirty="0">
                <a:latin typeface="微软雅黑" panose="020B0503020204020204" charset="-122"/>
                <a:ea typeface="微软雅黑" panose="020B0503020204020204" charset="-122"/>
              </a:rPr>
              <a:t>先把大数据类型放进去</a:t>
            </a:r>
          </a:p>
          <a:p>
            <a:endParaRPr lang="en-US" dirty="0">
              <a:latin typeface="微软雅黑" panose="020B0503020204020204" charset="-122"/>
              <a:ea typeface="微软雅黑" panose="020B0503020204020204" charset="-122"/>
            </a:endParaRPr>
          </a:p>
          <a:p>
            <a:endParaRPr lang="en-US" dirty="0">
              <a:latin typeface="微软雅黑" panose="020B0503020204020204" charset="-122"/>
              <a:ea typeface="微软雅黑" panose="020B0503020204020204" charset="-122"/>
            </a:endParaRPr>
          </a:p>
          <a:p>
            <a:endParaRPr lang="en-US" dirty="0">
              <a:latin typeface="微软雅黑" panose="020B0503020204020204" charset="-122"/>
              <a:ea typeface="微软雅黑" panose="020B0503020204020204" charset="-122"/>
            </a:endParaRPr>
          </a:p>
          <a:p>
            <a:endParaRPr lang="en-US" dirty="0">
              <a:latin typeface="微软雅黑" panose="020B0503020204020204" charset="-122"/>
              <a:ea typeface="微软雅黑" panose="020B0503020204020204" charset="-122"/>
            </a:endParaRPr>
          </a:p>
          <a:p>
            <a:pPr>
              <a:buClr>
                <a:srgbClr val="ED7D31"/>
              </a:buClr>
            </a:pPr>
            <a:r>
              <a:rPr lang="zh-CN" altLang="en-US" dirty="0">
                <a:latin typeface="微软雅黑" panose="020B0503020204020204" charset="-122"/>
                <a:ea typeface="微软雅黑" panose="020B0503020204020204" charset="-122"/>
              </a:rPr>
              <a:t>效果</a:t>
            </a:r>
            <a:r>
              <a:rPr lang="en-US" dirty="0">
                <a:latin typeface="微软雅黑" panose="020B0503020204020204" charset="-122"/>
                <a:ea typeface="微软雅黑" panose="020B0503020204020204" charset="-122"/>
              </a:rPr>
              <a:t> (K=4)</a:t>
            </a:r>
          </a:p>
        </p:txBody>
      </p:sp>
      <p:sp>
        <p:nvSpPr>
          <p:cNvPr id="27653" name="Rectangle 5"/>
          <p:cNvSpPr/>
          <p:nvPr/>
        </p:nvSpPr>
        <p:spPr bwMode="auto">
          <a:xfrm>
            <a:off x="1549400" y="2019300"/>
            <a:ext cx="2222500" cy="1562100"/>
          </a:xfrm>
          <a:prstGeom prst="rect">
            <a:avLst/>
          </a:prstGeom>
          <a:solidFill>
            <a:srgbClr val="FFFEB2"/>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struct</a:t>
            </a:r>
            <a:r>
              <a:rPr lang="en-US" sz="1800" dirty="0">
                <a:solidFill>
                  <a:schemeClr val="tx1"/>
                </a:solidFill>
                <a:latin typeface="Courier New" panose="02070309020205020404" charset="0"/>
                <a:cs typeface="Courier New" panose="02070309020205020404" charset="0"/>
                <a:sym typeface="Courier New Bold" charset="0"/>
              </a:rPr>
              <a:t> S4 {</a:t>
            </a:r>
            <a:endParaRPr lang="en-US" sz="18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char c;</a:t>
            </a:r>
            <a:endParaRPr lang="en-US" sz="18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a:t>
            </a:r>
            <a:endParaRPr lang="en-US" sz="18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char d;</a:t>
            </a:r>
            <a:endParaRPr lang="en-US" sz="18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*p;</a:t>
            </a:r>
          </a:p>
        </p:txBody>
      </p:sp>
      <p:sp>
        <p:nvSpPr>
          <p:cNvPr id="27654" name="Rectangle 6"/>
          <p:cNvSpPr/>
          <p:nvPr/>
        </p:nvSpPr>
        <p:spPr bwMode="auto">
          <a:xfrm>
            <a:off x="5353050" y="2017712"/>
            <a:ext cx="2224088" cy="1563688"/>
          </a:xfrm>
          <a:prstGeom prst="rect">
            <a:avLst/>
          </a:prstGeom>
          <a:solidFill>
            <a:srgbClr val="FFFEB2"/>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struct</a:t>
            </a:r>
            <a:r>
              <a:rPr lang="en-US" sz="1800" dirty="0">
                <a:solidFill>
                  <a:schemeClr val="tx1"/>
                </a:solidFill>
                <a:latin typeface="Courier New" panose="02070309020205020404" charset="0"/>
                <a:cs typeface="Courier New" panose="02070309020205020404" charset="0"/>
                <a:sym typeface="Courier New Bold" charset="0"/>
              </a:rPr>
              <a:t> S5 {</a:t>
            </a:r>
            <a:endParaRPr lang="en-US" sz="18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a:t>
            </a:r>
            <a:endParaRPr lang="en-US" sz="18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char c;</a:t>
            </a:r>
          </a:p>
          <a:p>
            <a:pPr algn="l"/>
            <a:r>
              <a:rPr lang="en-US" sz="1800" b="1" dirty="0">
                <a:latin typeface="Courier New" panose="02070309020205020404" charset="0"/>
                <a:ea typeface="Lucida Grande" charset="0"/>
                <a:cs typeface="Courier New" panose="02070309020205020404" charset="0"/>
                <a:sym typeface="Courier New Bold" charset="0"/>
              </a:rPr>
              <a:t>  char d;</a:t>
            </a:r>
            <a:endParaRPr lang="en-US" sz="18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*p;</a:t>
            </a:r>
          </a:p>
        </p:txBody>
      </p:sp>
      <p:sp>
        <p:nvSpPr>
          <p:cNvPr id="27655" name="AutoShape 7"/>
          <p:cNvSpPr/>
          <p:nvPr/>
        </p:nvSpPr>
        <p:spPr bwMode="auto">
          <a:xfrm>
            <a:off x="4140200" y="2298700"/>
            <a:ext cx="914400" cy="685800"/>
          </a:xfrm>
          <a:prstGeom prst="rightArrow">
            <a:avLst>
              <a:gd name="adj1" fmla="val 50000"/>
              <a:gd name="adj2" fmla="val 50000"/>
            </a:avLst>
          </a:prstGeom>
          <a:solidFill>
            <a:srgbClr val="ED7D31"/>
          </a:solidFill>
          <a:ln w="25400" cap="flat">
            <a:noFill/>
            <a:round/>
            <a:headEnd type="none" w="med" len="med"/>
            <a:tailEnd type="triangle" w="med" len="med"/>
          </a:ln>
          <a:effectLst>
            <a:outerShdw dist="76199" dir="2700000" algn="ctr" rotWithShape="0">
              <a:schemeClr val="bg2">
                <a:alpha val="75000"/>
              </a:schemeClr>
            </a:outerShdw>
          </a:effectLst>
        </p:spPr>
        <p:txBody>
          <a:bodyPr lIns="0" tIns="0" rIns="0" bIns="0"/>
          <a:lstStyle/>
          <a:p>
            <a:endParaRPr lang="en-US"/>
          </a:p>
        </p:txBody>
      </p:sp>
      <p:sp>
        <p:nvSpPr>
          <p:cNvPr id="12" name="Rectangle 7"/>
          <p:cNvSpPr/>
          <p:nvPr/>
        </p:nvSpPr>
        <p:spPr bwMode="auto">
          <a:xfrm>
            <a:off x="633413" y="4394200"/>
            <a:ext cx="317500" cy="381000"/>
          </a:xfrm>
          <a:prstGeom prst="rect">
            <a:avLst/>
          </a:prstGeom>
          <a:solidFill>
            <a:srgbClr val="F6F5BD"/>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a:solidFill>
                  <a:schemeClr val="tx1"/>
                </a:solidFill>
                <a:latin typeface="Courier New" panose="02070309020205020404" charset="0"/>
                <a:cs typeface="Courier New" panose="02070309020205020404" charset="0"/>
                <a:sym typeface="Courier New Bold" charset="0"/>
              </a:rPr>
              <a:t>c</a:t>
            </a:r>
          </a:p>
        </p:txBody>
      </p:sp>
      <p:sp>
        <p:nvSpPr>
          <p:cNvPr id="13" name="Rectangle 8"/>
          <p:cNvSpPr/>
          <p:nvPr/>
        </p:nvSpPr>
        <p:spPr bwMode="auto">
          <a:xfrm>
            <a:off x="1904683" y="4394200"/>
            <a:ext cx="127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dirty="0" err="1">
                <a:solidFill>
                  <a:schemeClr val="tx1"/>
                </a:solidFill>
                <a:latin typeface="Courier New" panose="02070309020205020404" charset="0"/>
                <a:cs typeface="Courier New" panose="02070309020205020404" charset="0"/>
                <a:sym typeface="Courier New Bold" charset="0"/>
              </a:rPr>
              <a:t>i</a:t>
            </a:r>
            <a:endParaRPr lang="en-US" sz="2000" dirty="0">
              <a:solidFill>
                <a:schemeClr val="tx1"/>
              </a:solidFill>
              <a:latin typeface="Courier New" panose="02070309020205020404" charset="0"/>
              <a:cs typeface="Courier New" panose="02070309020205020404" charset="0"/>
              <a:sym typeface="Courier New Bold" charset="0"/>
            </a:endParaRPr>
          </a:p>
        </p:txBody>
      </p:sp>
      <p:sp>
        <p:nvSpPr>
          <p:cNvPr id="15" name="Rectangle 11"/>
          <p:cNvSpPr/>
          <p:nvPr/>
        </p:nvSpPr>
        <p:spPr bwMode="auto">
          <a:xfrm>
            <a:off x="950913" y="4394200"/>
            <a:ext cx="952500" cy="381000"/>
          </a:xfrm>
          <a:prstGeom prst="rect">
            <a:avLst/>
          </a:prstGeom>
          <a:solidFill>
            <a:srgbClr val="B2B2B2"/>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1600" dirty="0">
                <a:solidFill>
                  <a:srgbClr val="FFFFFF"/>
                </a:solidFill>
                <a:latin typeface="Calibri Bold Italic" charset="0"/>
                <a:ea typeface="Calibri Bold Italic" charset="0"/>
                <a:cs typeface="Calibri Bold Italic" charset="0"/>
                <a:sym typeface="Calibri Bold Italic" charset="0"/>
              </a:rPr>
              <a:t>3 bytes</a:t>
            </a:r>
          </a:p>
        </p:txBody>
      </p:sp>
      <p:sp>
        <p:nvSpPr>
          <p:cNvPr id="16" name="Rectangle 7"/>
          <p:cNvSpPr/>
          <p:nvPr/>
        </p:nvSpPr>
        <p:spPr bwMode="auto">
          <a:xfrm>
            <a:off x="3149600" y="4394200"/>
            <a:ext cx="317500" cy="381000"/>
          </a:xfrm>
          <a:prstGeom prst="rect">
            <a:avLst/>
          </a:prstGeom>
          <a:solidFill>
            <a:srgbClr val="F6F5BD"/>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dirty="0">
                <a:solidFill>
                  <a:schemeClr val="tx1"/>
                </a:solidFill>
                <a:latin typeface="Courier New" panose="02070309020205020404" charset="0"/>
                <a:cs typeface="Courier New" panose="02070309020205020404" charset="0"/>
                <a:sym typeface="Courier New Bold" charset="0"/>
              </a:rPr>
              <a:t>d</a:t>
            </a:r>
          </a:p>
        </p:txBody>
      </p:sp>
      <p:sp>
        <p:nvSpPr>
          <p:cNvPr id="17" name="Rectangle 11"/>
          <p:cNvSpPr/>
          <p:nvPr/>
        </p:nvSpPr>
        <p:spPr bwMode="auto">
          <a:xfrm>
            <a:off x="3467100" y="4394200"/>
            <a:ext cx="952500" cy="381000"/>
          </a:xfrm>
          <a:prstGeom prst="rect">
            <a:avLst/>
          </a:prstGeom>
          <a:solidFill>
            <a:srgbClr val="B2B2B2"/>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1600" dirty="0">
                <a:solidFill>
                  <a:srgbClr val="FFFFFF"/>
                </a:solidFill>
                <a:latin typeface="Calibri Bold Italic" charset="0"/>
                <a:ea typeface="Calibri Bold Italic" charset="0"/>
                <a:cs typeface="Calibri Bold Italic" charset="0"/>
                <a:sym typeface="Calibri Bold Italic" charset="0"/>
              </a:rPr>
              <a:t>3 bytes</a:t>
            </a:r>
          </a:p>
        </p:txBody>
      </p:sp>
      <p:sp>
        <p:nvSpPr>
          <p:cNvPr id="18" name="Rectangle 7"/>
          <p:cNvSpPr/>
          <p:nvPr/>
        </p:nvSpPr>
        <p:spPr bwMode="auto">
          <a:xfrm>
            <a:off x="1892300" y="5080000"/>
            <a:ext cx="317500" cy="381000"/>
          </a:xfrm>
          <a:prstGeom prst="rect">
            <a:avLst/>
          </a:prstGeom>
          <a:solidFill>
            <a:srgbClr val="F6F5BD"/>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a:solidFill>
                  <a:schemeClr val="tx1"/>
                </a:solidFill>
                <a:latin typeface="Courier New" panose="02070309020205020404" charset="0"/>
                <a:cs typeface="Courier New" panose="02070309020205020404" charset="0"/>
                <a:sym typeface="Courier New Bold" charset="0"/>
              </a:rPr>
              <a:t>c</a:t>
            </a:r>
          </a:p>
        </p:txBody>
      </p:sp>
      <p:sp>
        <p:nvSpPr>
          <p:cNvPr id="19" name="Rectangle 8"/>
          <p:cNvSpPr/>
          <p:nvPr/>
        </p:nvSpPr>
        <p:spPr bwMode="auto">
          <a:xfrm>
            <a:off x="635000" y="5080000"/>
            <a:ext cx="1270000" cy="381000"/>
          </a:xfrm>
          <a:prstGeom prst="rect">
            <a:avLst/>
          </a:prstGeom>
          <a:solidFill>
            <a:srgbClr val="D5F1CF"/>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dirty="0" err="1">
                <a:solidFill>
                  <a:schemeClr val="tx1"/>
                </a:solidFill>
                <a:latin typeface="Courier New" panose="02070309020205020404" charset="0"/>
                <a:cs typeface="Courier New" panose="02070309020205020404" charset="0"/>
                <a:sym typeface="Courier New Bold" charset="0"/>
              </a:rPr>
              <a:t>i</a:t>
            </a:r>
            <a:endParaRPr lang="en-US" sz="2000" dirty="0">
              <a:solidFill>
                <a:schemeClr val="tx1"/>
              </a:solidFill>
              <a:latin typeface="Courier New" panose="02070309020205020404" charset="0"/>
              <a:cs typeface="Courier New" panose="02070309020205020404" charset="0"/>
              <a:sym typeface="Courier New Bold" charset="0"/>
            </a:endParaRPr>
          </a:p>
        </p:txBody>
      </p:sp>
      <p:sp>
        <p:nvSpPr>
          <p:cNvPr id="21" name="Rectangle 7"/>
          <p:cNvSpPr/>
          <p:nvPr/>
        </p:nvSpPr>
        <p:spPr bwMode="auto">
          <a:xfrm>
            <a:off x="2159000" y="5080000"/>
            <a:ext cx="317500" cy="381000"/>
          </a:xfrm>
          <a:prstGeom prst="rect">
            <a:avLst/>
          </a:prstGeom>
          <a:solidFill>
            <a:srgbClr val="F6F5BD"/>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2000" dirty="0">
                <a:solidFill>
                  <a:schemeClr val="tx1"/>
                </a:solidFill>
                <a:latin typeface="Courier New" panose="02070309020205020404" charset="0"/>
                <a:cs typeface="Courier New" panose="02070309020205020404" charset="0"/>
                <a:sym typeface="Courier New Bold" charset="0"/>
              </a:rPr>
              <a:t>d</a:t>
            </a:r>
          </a:p>
        </p:txBody>
      </p:sp>
      <p:sp>
        <p:nvSpPr>
          <p:cNvPr id="22" name="Rectangle 11"/>
          <p:cNvSpPr/>
          <p:nvPr/>
        </p:nvSpPr>
        <p:spPr bwMode="auto">
          <a:xfrm>
            <a:off x="2476500" y="5080000"/>
            <a:ext cx="696913" cy="381000"/>
          </a:xfrm>
          <a:prstGeom prst="rect">
            <a:avLst/>
          </a:prstGeom>
          <a:solidFill>
            <a:srgbClr val="B2B2B2"/>
          </a:solidFill>
          <a:ln w="25400" cap="flat">
            <a:solidFill>
              <a:schemeClr val="tx1"/>
            </a:solidFill>
            <a:prstDash val="solid"/>
            <a:miter lim="800000"/>
            <a:headEnd type="none" w="med" len="med"/>
            <a:tailEnd type="none" w="med" len="med"/>
          </a:ln>
        </p:spPr>
        <p:txBody>
          <a:bodyPr lIns="38100" tIns="38100" rIns="38100" bIns="38100" anchor="ctr"/>
          <a:lstStyle/>
          <a:p>
            <a:pPr algn="ctr"/>
            <a:r>
              <a:rPr lang="en-US" sz="1400" dirty="0">
                <a:solidFill>
                  <a:srgbClr val="FFFFFF"/>
                </a:solidFill>
                <a:latin typeface="Calibri Bold Italic" charset="0"/>
                <a:ea typeface="Calibri Bold Italic" charset="0"/>
                <a:cs typeface="Calibri Bold Italic" charset="0"/>
                <a:sym typeface="Calibri Bold Italic" charset="0"/>
              </a:rPr>
              <a:t>2 bytes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7652">
                                            <p:txEl>
                                              <p:pRg st="0" end="0"/>
                                            </p:txEl>
                                          </p:spTgt>
                                        </p:tgtEl>
                                        <p:attrNameLst>
                                          <p:attrName>style.visibility</p:attrName>
                                        </p:attrNameLst>
                                      </p:cBhvr>
                                      <p:to>
                                        <p:strVal val="visible"/>
                                      </p:to>
                                    </p:set>
                                    <p:animEffect transition="in" filter="wipe(down)">
                                      <p:cBhvr>
                                        <p:cTn id="7" dur="500"/>
                                        <p:tgtEl>
                                          <p:spTgt spid="2765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7653"/>
                                        </p:tgtEl>
                                        <p:attrNameLst>
                                          <p:attrName>style.visibility</p:attrName>
                                        </p:attrNameLst>
                                      </p:cBhvr>
                                      <p:to>
                                        <p:strVal val="visible"/>
                                      </p:to>
                                    </p:set>
                                    <p:animEffect transition="in" filter="wipe(down)">
                                      <p:cBhvr>
                                        <p:cTn id="12" dur="500"/>
                                        <p:tgtEl>
                                          <p:spTgt spid="2765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7655"/>
                                        </p:tgtEl>
                                        <p:attrNameLst>
                                          <p:attrName>style.visibility</p:attrName>
                                        </p:attrNameLst>
                                      </p:cBhvr>
                                      <p:to>
                                        <p:strVal val="visible"/>
                                      </p:to>
                                    </p:set>
                                    <p:animEffect transition="in" filter="wipe(down)">
                                      <p:cBhvr>
                                        <p:cTn id="17" dur="500"/>
                                        <p:tgtEl>
                                          <p:spTgt spid="2765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7654"/>
                                        </p:tgtEl>
                                        <p:attrNameLst>
                                          <p:attrName>style.visibility</p:attrName>
                                        </p:attrNameLst>
                                      </p:cBhvr>
                                      <p:to>
                                        <p:strVal val="visible"/>
                                      </p:to>
                                    </p:set>
                                    <p:animEffect transition="in" filter="wipe(down)">
                                      <p:cBhvr>
                                        <p:cTn id="22" dur="500"/>
                                        <p:tgtEl>
                                          <p:spTgt spid="2765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7652">
                                            <p:txEl>
                                              <p:pRg st="5" end="5"/>
                                            </p:txEl>
                                          </p:spTgt>
                                        </p:tgtEl>
                                        <p:attrNameLst>
                                          <p:attrName>style.visibility</p:attrName>
                                        </p:attrNameLst>
                                      </p:cBhvr>
                                      <p:to>
                                        <p:strVal val="visible"/>
                                      </p:to>
                                    </p:set>
                                    <p:animEffect transition="in" filter="wipe(down)">
                                      <p:cBhvr>
                                        <p:cTn id="27" dur="500"/>
                                        <p:tgtEl>
                                          <p:spTgt spid="27652">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down)">
                                      <p:cBhvr>
                                        <p:cTn id="35" dur="500"/>
                                        <p:tgtEl>
                                          <p:spTgt spid="13"/>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wipe(down)">
                                      <p:cBhvr>
                                        <p:cTn id="38" dur="500"/>
                                        <p:tgtEl>
                                          <p:spTgt spid="15"/>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down)">
                                      <p:cBhvr>
                                        <p:cTn id="41" dur="500"/>
                                        <p:tgtEl>
                                          <p:spTgt spid="16"/>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down)">
                                      <p:cBhvr>
                                        <p:cTn id="44" dur="5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wipe(down)">
                                      <p:cBhvr>
                                        <p:cTn id="49" dur="500"/>
                                        <p:tgtEl>
                                          <p:spTgt spid="18"/>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down)">
                                      <p:cBhvr>
                                        <p:cTn id="52" dur="500"/>
                                        <p:tgtEl>
                                          <p:spTgt spid="19"/>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wipe(down)">
                                      <p:cBhvr>
                                        <p:cTn id="55" dur="500"/>
                                        <p:tgtEl>
                                          <p:spTgt spid="21"/>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down)">
                                      <p:cBhvr>
                                        <p:cTn id="5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nimBg="1"/>
      <p:bldP spid="27654" grpId="0" animBg="1"/>
      <p:bldP spid="27655" grpId="0" animBg="1"/>
      <p:bldP spid="12" grpId="0" animBg="1"/>
      <p:bldP spid="13" grpId="0" animBg="1"/>
      <p:bldP spid="15" grpId="0" animBg="1"/>
      <p:bldP spid="16" grpId="0" animBg="1"/>
      <p:bldP spid="17" grpId="0" animBg="1"/>
      <p:bldP spid="18" grpId="0" animBg="1"/>
      <p:bldP spid="19" grpId="0" animBg="1"/>
      <p:bldP spid="21" grpId="0" animBg="1"/>
      <p:bldP spid="22" grpId="0" animBg="1"/>
    </p:bld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30378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联合分配</a:t>
            </a:r>
          </a:p>
        </p:txBody>
      </p:sp>
      <p:sp>
        <p:nvSpPr>
          <p:cNvPr id="31748" name="Rectangle 4"/>
          <p:cNvSpPr>
            <a:spLocks noGrp="1" noChangeArrowheads="1"/>
          </p:cNvSpPr>
          <p:nvPr/>
        </p:nvSpPr>
        <p:spPr>
          <a:xfrm>
            <a:off x="381000" y="1143000"/>
            <a:ext cx="8382000" cy="82550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en-US" b="0" dirty="0">
                <a:latin typeface="微软雅黑" panose="020B0503020204020204" charset="-122"/>
                <a:ea typeface="微软雅黑" panose="020B0503020204020204" charset="-122"/>
              </a:rPr>
              <a:t>按最大元素分配</a:t>
            </a:r>
          </a:p>
          <a:p>
            <a:pPr>
              <a:buClr>
                <a:srgbClr val="0D0D0D"/>
              </a:buClr>
            </a:pPr>
            <a:r>
              <a:rPr lang="en-US" b="0" dirty="0">
                <a:latin typeface="微软雅黑" panose="020B0503020204020204" charset="-122"/>
                <a:ea typeface="微软雅黑" panose="020B0503020204020204" charset="-122"/>
              </a:rPr>
              <a:t>一次只能使用一个字段</a:t>
            </a:r>
          </a:p>
        </p:txBody>
      </p:sp>
      <p:sp>
        <p:nvSpPr>
          <p:cNvPr id="31749" name="Rectangle 5"/>
          <p:cNvSpPr/>
          <p:nvPr/>
        </p:nvSpPr>
        <p:spPr bwMode="auto">
          <a:xfrm>
            <a:off x="609600" y="2232024"/>
            <a:ext cx="2222500" cy="1501775"/>
          </a:xfrm>
          <a:prstGeom prst="rect">
            <a:avLst/>
          </a:prstGeom>
          <a:solidFill>
            <a:srgbClr val="FF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union U1 {</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char c;</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[2];</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double v;</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*up;</a:t>
            </a:r>
          </a:p>
        </p:txBody>
      </p:sp>
      <p:sp>
        <p:nvSpPr>
          <p:cNvPr id="31750" name="Rectangle 6"/>
          <p:cNvSpPr/>
          <p:nvPr/>
        </p:nvSpPr>
        <p:spPr bwMode="auto">
          <a:xfrm>
            <a:off x="609600" y="3886200"/>
            <a:ext cx="2222500" cy="1524000"/>
          </a:xfrm>
          <a:prstGeom prst="rect">
            <a:avLst/>
          </a:prstGeom>
          <a:solidFill>
            <a:srgbClr val="FF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err="1">
                <a:solidFill>
                  <a:schemeClr val="tx1"/>
                </a:solidFill>
                <a:latin typeface="Courier New" panose="02070309020205020404" charset="0"/>
                <a:cs typeface="Courier New" panose="02070309020205020404" charset="0"/>
                <a:sym typeface="Courier New Bold" charset="0"/>
              </a:rPr>
              <a:t>struct</a:t>
            </a:r>
            <a:r>
              <a:rPr lang="en-US" sz="1800" dirty="0">
                <a:solidFill>
                  <a:schemeClr val="tx1"/>
                </a:solidFill>
                <a:latin typeface="Courier New" panose="02070309020205020404" charset="0"/>
                <a:cs typeface="Courier New" panose="02070309020205020404" charset="0"/>
                <a:sym typeface="Courier New Bold" charset="0"/>
              </a:rPr>
              <a:t> S1 {</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char c;</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[2];</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double v;</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*sp;</a:t>
            </a:r>
          </a:p>
        </p:txBody>
      </p:sp>
      <p:graphicFrame>
        <p:nvGraphicFramePr>
          <p:cNvPr id="31751" name="Group 7"/>
          <p:cNvGraphicFramePr>
            <a:graphicFrameLocks noGrp="1"/>
          </p:cNvGraphicFramePr>
          <p:nvPr/>
        </p:nvGraphicFramePr>
        <p:xfrm>
          <a:off x="342900" y="5715000"/>
          <a:ext cx="8647113" cy="762000"/>
        </p:xfrm>
        <a:graphic>
          <a:graphicData uri="http://schemas.openxmlformats.org/drawingml/2006/table">
            <a:tbl>
              <a:tblPr/>
              <a:tblGrid>
                <a:gridCol w="320675">
                  <a:extLst>
                    <a:ext uri="{9D8B030D-6E8A-4147-A177-3AD203B41FA5}">
                      <a16:colId xmlns:a16="http://schemas.microsoft.com/office/drawing/2014/main" val="20000"/>
                    </a:ext>
                  </a:extLst>
                </a:gridCol>
                <a:gridCol w="320675">
                  <a:extLst>
                    <a:ext uri="{9D8B030D-6E8A-4147-A177-3AD203B41FA5}">
                      <a16:colId xmlns:a16="http://schemas.microsoft.com/office/drawing/2014/main" val="20001"/>
                    </a:ext>
                  </a:extLst>
                </a:gridCol>
                <a:gridCol w="320675">
                  <a:extLst>
                    <a:ext uri="{9D8B030D-6E8A-4147-A177-3AD203B41FA5}">
                      <a16:colId xmlns:a16="http://schemas.microsoft.com/office/drawing/2014/main" val="20002"/>
                    </a:ext>
                  </a:extLst>
                </a:gridCol>
                <a:gridCol w="320675">
                  <a:extLst>
                    <a:ext uri="{9D8B030D-6E8A-4147-A177-3AD203B41FA5}">
                      <a16:colId xmlns:a16="http://schemas.microsoft.com/office/drawing/2014/main" val="20003"/>
                    </a:ext>
                  </a:extLst>
                </a:gridCol>
                <a:gridCol w="320675">
                  <a:extLst>
                    <a:ext uri="{9D8B030D-6E8A-4147-A177-3AD203B41FA5}">
                      <a16:colId xmlns:a16="http://schemas.microsoft.com/office/drawing/2014/main" val="20004"/>
                    </a:ext>
                  </a:extLst>
                </a:gridCol>
                <a:gridCol w="320675">
                  <a:extLst>
                    <a:ext uri="{9D8B030D-6E8A-4147-A177-3AD203B41FA5}">
                      <a16:colId xmlns:a16="http://schemas.microsoft.com/office/drawing/2014/main" val="20005"/>
                    </a:ext>
                  </a:extLst>
                </a:gridCol>
                <a:gridCol w="320675">
                  <a:extLst>
                    <a:ext uri="{9D8B030D-6E8A-4147-A177-3AD203B41FA5}">
                      <a16:colId xmlns:a16="http://schemas.microsoft.com/office/drawing/2014/main" val="20006"/>
                    </a:ext>
                  </a:extLst>
                </a:gridCol>
                <a:gridCol w="320675">
                  <a:extLst>
                    <a:ext uri="{9D8B030D-6E8A-4147-A177-3AD203B41FA5}">
                      <a16:colId xmlns:a16="http://schemas.microsoft.com/office/drawing/2014/main" val="20007"/>
                    </a:ext>
                  </a:extLst>
                </a:gridCol>
                <a:gridCol w="320675">
                  <a:extLst>
                    <a:ext uri="{9D8B030D-6E8A-4147-A177-3AD203B41FA5}">
                      <a16:colId xmlns:a16="http://schemas.microsoft.com/office/drawing/2014/main" val="20008"/>
                    </a:ext>
                  </a:extLst>
                </a:gridCol>
                <a:gridCol w="320675">
                  <a:extLst>
                    <a:ext uri="{9D8B030D-6E8A-4147-A177-3AD203B41FA5}">
                      <a16:colId xmlns:a16="http://schemas.microsoft.com/office/drawing/2014/main" val="20009"/>
                    </a:ext>
                  </a:extLst>
                </a:gridCol>
                <a:gridCol w="320675">
                  <a:extLst>
                    <a:ext uri="{9D8B030D-6E8A-4147-A177-3AD203B41FA5}">
                      <a16:colId xmlns:a16="http://schemas.microsoft.com/office/drawing/2014/main" val="20010"/>
                    </a:ext>
                  </a:extLst>
                </a:gridCol>
                <a:gridCol w="320675">
                  <a:extLst>
                    <a:ext uri="{9D8B030D-6E8A-4147-A177-3AD203B41FA5}">
                      <a16:colId xmlns:a16="http://schemas.microsoft.com/office/drawing/2014/main" val="20011"/>
                    </a:ext>
                  </a:extLst>
                </a:gridCol>
                <a:gridCol w="320675">
                  <a:extLst>
                    <a:ext uri="{9D8B030D-6E8A-4147-A177-3AD203B41FA5}">
                      <a16:colId xmlns:a16="http://schemas.microsoft.com/office/drawing/2014/main" val="20012"/>
                    </a:ext>
                  </a:extLst>
                </a:gridCol>
                <a:gridCol w="320675">
                  <a:extLst>
                    <a:ext uri="{9D8B030D-6E8A-4147-A177-3AD203B41FA5}">
                      <a16:colId xmlns:a16="http://schemas.microsoft.com/office/drawing/2014/main" val="20013"/>
                    </a:ext>
                  </a:extLst>
                </a:gridCol>
                <a:gridCol w="320675">
                  <a:extLst>
                    <a:ext uri="{9D8B030D-6E8A-4147-A177-3AD203B41FA5}">
                      <a16:colId xmlns:a16="http://schemas.microsoft.com/office/drawing/2014/main" val="20014"/>
                    </a:ext>
                  </a:extLst>
                </a:gridCol>
                <a:gridCol w="639763">
                  <a:extLst>
                    <a:ext uri="{9D8B030D-6E8A-4147-A177-3AD203B41FA5}">
                      <a16:colId xmlns:a16="http://schemas.microsoft.com/office/drawing/2014/main" val="20015"/>
                    </a:ext>
                  </a:extLst>
                </a:gridCol>
                <a:gridCol w="639762">
                  <a:extLst>
                    <a:ext uri="{9D8B030D-6E8A-4147-A177-3AD203B41FA5}">
                      <a16:colId xmlns:a16="http://schemas.microsoft.com/office/drawing/2014/main" val="20016"/>
                    </a:ext>
                  </a:extLst>
                </a:gridCol>
                <a:gridCol w="320675">
                  <a:extLst>
                    <a:ext uri="{9D8B030D-6E8A-4147-A177-3AD203B41FA5}">
                      <a16:colId xmlns:a16="http://schemas.microsoft.com/office/drawing/2014/main" val="20017"/>
                    </a:ext>
                  </a:extLst>
                </a:gridCol>
                <a:gridCol w="320675">
                  <a:extLst>
                    <a:ext uri="{9D8B030D-6E8A-4147-A177-3AD203B41FA5}">
                      <a16:colId xmlns:a16="http://schemas.microsoft.com/office/drawing/2014/main" val="20018"/>
                    </a:ext>
                  </a:extLst>
                </a:gridCol>
                <a:gridCol w="320675">
                  <a:extLst>
                    <a:ext uri="{9D8B030D-6E8A-4147-A177-3AD203B41FA5}">
                      <a16:colId xmlns:a16="http://schemas.microsoft.com/office/drawing/2014/main" val="20019"/>
                    </a:ext>
                  </a:extLst>
                </a:gridCol>
                <a:gridCol w="320675">
                  <a:extLst>
                    <a:ext uri="{9D8B030D-6E8A-4147-A177-3AD203B41FA5}">
                      <a16:colId xmlns:a16="http://schemas.microsoft.com/office/drawing/2014/main" val="20020"/>
                    </a:ext>
                  </a:extLst>
                </a:gridCol>
                <a:gridCol w="639763">
                  <a:extLst>
                    <a:ext uri="{9D8B030D-6E8A-4147-A177-3AD203B41FA5}">
                      <a16:colId xmlns:a16="http://schemas.microsoft.com/office/drawing/2014/main" val="20021"/>
                    </a:ext>
                  </a:extLst>
                </a:gridCol>
                <a:gridCol w="635000">
                  <a:extLst>
                    <a:ext uri="{9D8B030D-6E8A-4147-A177-3AD203B41FA5}">
                      <a16:colId xmlns:a16="http://schemas.microsoft.com/office/drawing/2014/main" val="20022"/>
                    </a:ext>
                  </a:extLst>
                </a:gridCol>
              </a:tblGrid>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cap="flat">
                      <a:noFill/>
                    </a:lnL>
                    <a:lnR w="25400" cap="flat" cmpd="sng" algn="ctr">
                      <a:solidFill>
                        <a:srgbClr val="000000"/>
                      </a:solidFill>
                      <a:prstDash val="solid"/>
                      <a:round/>
                      <a:headEnd type="none" w="med" len="med"/>
                      <a:tailEnd type="none" w="med" len="med"/>
                    </a:lnR>
                    <a:lnT cap="flat">
                      <a:noFill/>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c</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tc gridSpan="3">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600" b="0" i="0" u="none" strike="noStrike" cap="none" normalizeH="0" baseline="0" dirty="0">
                          <a:ln>
                            <a:noFill/>
                          </a:ln>
                          <a:solidFill>
                            <a:srgbClr val="FFFFFF"/>
                          </a:solidFill>
                          <a:effectLst/>
                          <a:latin typeface="Calibri Bold Italic" charset="0"/>
                          <a:ea typeface="Calibri Bold Italic" charset="0"/>
                          <a:cs typeface="Calibri Bold Italic" charset="0"/>
                          <a:sym typeface="Calibri Bold Italic" charset="0"/>
                        </a:rPr>
                        <a:t>3 bytes</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B3B3B3"/>
                    </a:solidFill>
                  </a:tcPr>
                </a:tc>
                <a:tc hMerge="1">
                  <a:txBody>
                    <a:bodyPr/>
                    <a:lstStyle/>
                    <a:p>
                      <a:endParaRPr lang="zh-CN"/>
                    </a:p>
                  </a:txBody>
                  <a:tcPr/>
                </a:tc>
                <a:tc hMerge="1">
                  <a:txBody>
                    <a:bodyPr/>
                    <a:lstStyle/>
                    <a:p>
                      <a:endParaRPr lang="zh-CN"/>
                    </a:p>
                  </a:txBody>
                  <a:tcPr/>
                </a:tc>
                <a:tc gridSpan="4">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a:t>
                      </a: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[0]</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a:t>
                      </a: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[1]</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3">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600" b="0" i="0" u="none" strike="noStrike" cap="none" normalizeH="0" baseline="0">
                          <a:ln>
                            <a:noFill/>
                          </a:ln>
                          <a:solidFill>
                            <a:srgbClr val="FFFFFF"/>
                          </a:solidFill>
                          <a:effectLst/>
                          <a:latin typeface="Calibri Bold Italic" charset="0"/>
                          <a:ea typeface="Calibri Bold Italic" charset="0"/>
                          <a:cs typeface="Calibri Bold Italic" charset="0"/>
                          <a:sym typeface="Calibri Bold Italic" charset="0"/>
                        </a:rPr>
                        <a:t>4 bytes</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B3B3B3"/>
                    </a:solidFill>
                  </a:tcPr>
                </a:tc>
                <a:tc hMerge="1">
                  <a:txBody>
                    <a:bodyPr/>
                    <a:lstStyle/>
                    <a:p>
                      <a:endParaRPr lang="zh-CN"/>
                    </a:p>
                  </a:txBody>
                  <a:tcPr/>
                </a:tc>
                <a:tc hMerge="1">
                  <a:txBody>
                    <a:bodyPr/>
                    <a:lstStyle/>
                    <a:p>
                      <a:endParaRPr lang="zh-CN"/>
                    </a:p>
                  </a:txBody>
                  <a:tcPr/>
                </a:tc>
                <a:tc gridSpan="6">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v</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DF0"/>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0" marR="0" marT="0" marB="0" anchor="ctr" horzOverflow="overflow">
                    <a:lnL w="254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381000">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sp+0</a:t>
                      </a:r>
                    </a:p>
                  </a:txBody>
                  <a:tcPr marL="0" marR="0" marT="0" marB="0" anchor="ctr" horzOverflow="overflow">
                    <a:lnL cap="flat">
                      <a:noFill/>
                    </a:lnL>
                    <a:lnR cap="flat">
                      <a:noFill/>
                    </a:lnR>
                    <a:lnT cap="flat">
                      <a:noFill/>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sp+4</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sp+8</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sp+16</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sp+24</a:t>
                      </a:r>
                    </a:p>
                  </a:txBody>
                  <a:tcPr marL="0" marR="0" marT="0" marB="0" anchor="ctr" horzOverflow="overflow">
                    <a:lnL cap="flat">
                      <a:noFill/>
                    </a:lnL>
                    <a:lnR cap="flat">
                      <a:noFill/>
                    </a:lnR>
                    <a:lnT w="25400" cap="flat" cmpd="sng" algn="ctr">
                      <a:solidFill>
                        <a:srgbClr val="000000"/>
                      </a:solidFill>
                      <a:prstDash val="solid"/>
                      <a:round/>
                      <a:headEnd type="none" w="med" len="med"/>
                      <a:tailEnd type="none" w="med" len="med"/>
                    </a:lnT>
                    <a:lnB cap="flat">
                      <a:noFill/>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1"/>
                  </a:ext>
                </a:extLst>
              </a:tr>
            </a:tbl>
          </a:graphicData>
        </a:graphic>
      </p:graphicFrame>
      <p:graphicFrame>
        <p:nvGraphicFramePr>
          <p:cNvPr id="31855" name="Group 111"/>
          <p:cNvGraphicFramePr>
            <a:graphicFrameLocks noGrp="1"/>
          </p:cNvGraphicFramePr>
          <p:nvPr/>
        </p:nvGraphicFramePr>
        <p:xfrm>
          <a:off x="4025900" y="2654300"/>
          <a:ext cx="3175000" cy="1549400"/>
        </p:xfrm>
        <a:graphic>
          <a:graphicData uri="http://schemas.openxmlformats.org/drawingml/2006/table">
            <a:tbl>
              <a:tblPr/>
              <a:tblGrid>
                <a:gridCol w="317500">
                  <a:extLst>
                    <a:ext uri="{9D8B030D-6E8A-4147-A177-3AD203B41FA5}">
                      <a16:colId xmlns:a16="http://schemas.microsoft.com/office/drawing/2014/main" val="20000"/>
                    </a:ext>
                  </a:extLst>
                </a:gridCol>
                <a:gridCol w="317500">
                  <a:extLst>
                    <a:ext uri="{9D8B030D-6E8A-4147-A177-3AD203B41FA5}">
                      <a16:colId xmlns:a16="http://schemas.microsoft.com/office/drawing/2014/main" val="20001"/>
                    </a:ext>
                  </a:extLst>
                </a:gridCol>
                <a:gridCol w="317500">
                  <a:extLst>
                    <a:ext uri="{9D8B030D-6E8A-4147-A177-3AD203B41FA5}">
                      <a16:colId xmlns:a16="http://schemas.microsoft.com/office/drawing/2014/main" val="20002"/>
                    </a:ext>
                  </a:extLst>
                </a:gridCol>
                <a:gridCol w="317500">
                  <a:extLst>
                    <a:ext uri="{9D8B030D-6E8A-4147-A177-3AD203B41FA5}">
                      <a16:colId xmlns:a16="http://schemas.microsoft.com/office/drawing/2014/main" val="20003"/>
                    </a:ext>
                  </a:extLst>
                </a:gridCol>
                <a:gridCol w="317500">
                  <a:extLst>
                    <a:ext uri="{9D8B030D-6E8A-4147-A177-3AD203B41FA5}">
                      <a16:colId xmlns:a16="http://schemas.microsoft.com/office/drawing/2014/main" val="20004"/>
                    </a:ext>
                  </a:extLst>
                </a:gridCol>
                <a:gridCol w="317500">
                  <a:extLst>
                    <a:ext uri="{9D8B030D-6E8A-4147-A177-3AD203B41FA5}">
                      <a16:colId xmlns:a16="http://schemas.microsoft.com/office/drawing/2014/main" val="20005"/>
                    </a:ext>
                  </a:extLst>
                </a:gridCol>
                <a:gridCol w="317500">
                  <a:extLst>
                    <a:ext uri="{9D8B030D-6E8A-4147-A177-3AD203B41FA5}">
                      <a16:colId xmlns:a16="http://schemas.microsoft.com/office/drawing/2014/main" val="20006"/>
                    </a:ext>
                  </a:extLst>
                </a:gridCol>
                <a:gridCol w="317500">
                  <a:extLst>
                    <a:ext uri="{9D8B030D-6E8A-4147-A177-3AD203B41FA5}">
                      <a16:colId xmlns:a16="http://schemas.microsoft.com/office/drawing/2014/main" val="20007"/>
                    </a:ext>
                  </a:extLst>
                </a:gridCol>
                <a:gridCol w="317500">
                  <a:extLst>
                    <a:ext uri="{9D8B030D-6E8A-4147-A177-3AD203B41FA5}">
                      <a16:colId xmlns:a16="http://schemas.microsoft.com/office/drawing/2014/main" val="20008"/>
                    </a:ext>
                  </a:extLst>
                </a:gridCol>
                <a:gridCol w="317500">
                  <a:extLst>
                    <a:ext uri="{9D8B030D-6E8A-4147-A177-3AD203B41FA5}">
                      <a16:colId xmlns:a16="http://schemas.microsoft.com/office/drawing/2014/main" val="20009"/>
                    </a:ext>
                  </a:extLst>
                </a:gridCol>
              </a:tblGrid>
              <a:tr h="38735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a:ln>
                            <a:noFill/>
                          </a:ln>
                          <a:solidFill>
                            <a:schemeClr val="tx1"/>
                          </a:solidFill>
                          <a:effectLst/>
                          <a:latin typeface="Courier New" panose="02070309020205020404" charset="0"/>
                          <a:cs typeface="Courier New" panose="02070309020205020404" charset="0"/>
                          <a:sym typeface="Courier New Bold" charset="0"/>
                        </a:rPr>
                        <a:t>c</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FEB2"/>
                    </a:solid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254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735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a:ln>
                            <a:noFill/>
                          </a:ln>
                          <a:solidFill>
                            <a:schemeClr val="tx1"/>
                          </a:solidFill>
                          <a:effectLst/>
                          <a:latin typeface="Courier New" panose="02070309020205020404" charset="0"/>
                          <a:cs typeface="Courier New" panose="02070309020205020404" charset="0"/>
                          <a:sym typeface="Courier New Bold" charset="0"/>
                        </a:rPr>
                        <a:t>i[0]</a:t>
                      </a:r>
                      <a:endPar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endParaRP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hMerge="1">
                  <a:txBody>
                    <a:bodyPr/>
                    <a:lstStyle/>
                    <a:p>
                      <a:endParaRPr lang="zh-CN"/>
                    </a:p>
                  </a:txBody>
                  <a:tcPr/>
                </a:tc>
                <a:tc hMerge="1">
                  <a:txBody>
                    <a:bodyPr/>
                    <a:lstStyle/>
                    <a:p>
                      <a:endParaRPr lang="zh-CN"/>
                    </a:p>
                  </a:txBody>
                  <a:tcPr/>
                </a:tc>
                <a:tc hMerge="1">
                  <a:txBody>
                    <a:bodyPr/>
                    <a:lstStyle/>
                    <a:p>
                      <a:endParaRPr lang="zh-CN"/>
                    </a:p>
                  </a:txBody>
                  <a:tcPr/>
                </a:tc>
                <a:tc gridSpan="4">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err="1">
                          <a:ln>
                            <a:noFill/>
                          </a:ln>
                          <a:solidFill>
                            <a:schemeClr val="tx1"/>
                          </a:solidFill>
                          <a:effectLst/>
                          <a:latin typeface="Courier New" panose="02070309020205020404" charset="0"/>
                          <a:cs typeface="Courier New" panose="02070309020205020404" charset="0"/>
                          <a:sym typeface="Courier New Bold" charset="0"/>
                        </a:rPr>
                        <a:t>i</a:t>
                      </a: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[1]</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254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735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8">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a:ln>
                            <a:noFill/>
                          </a:ln>
                          <a:solidFill>
                            <a:schemeClr val="tx1"/>
                          </a:solidFill>
                          <a:effectLst/>
                          <a:latin typeface="Courier New" panose="02070309020205020404" charset="0"/>
                          <a:cs typeface="Courier New" panose="02070309020205020404" charset="0"/>
                          <a:sym typeface="Courier New Bold" charset="0"/>
                        </a:rPr>
                        <a:t>v</a:t>
                      </a:r>
                    </a:p>
                  </a:txBody>
                  <a:tcPr marL="0" marR="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DF0"/>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254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7350">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a:ln>
                            <a:noFill/>
                          </a:ln>
                          <a:solidFill>
                            <a:schemeClr val="tx1"/>
                          </a:solidFill>
                          <a:effectLst/>
                          <a:latin typeface="Courier New" panose="02070309020205020404" charset="0"/>
                          <a:cs typeface="Courier New" panose="02070309020205020404" charset="0"/>
                          <a:sym typeface="Courier New Bold" charset="0"/>
                        </a:rPr>
                        <a:t>up+0</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4">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a:ln>
                            <a:noFill/>
                          </a:ln>
                          <a:solidFill>
                            <a:schemeClr val="tx1"/>
                          </a:solidFill>
                          <a:effectLst/>
                          <a:latin typeface="Courier New" panose="02070309020205020404" charset="0"/>
                          <a:cs typeface="Courier New" panose="02070309020205020404" charset="0"/>
                          <a:sym typeface="Courier New Bold" charset="0"/>
                        </a:rPr>
                        <a:t>up+4</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up+8</a:t>
                      </a:r>
                    </a:p>
                  </a:txBody>
                  <a:tcPr marL="0" marR="0" marT="0" marB="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748">
                                            <p:txEl>
                                              <p:pRg st="0" end="0"/>
                                            </p:txEl>
                                          </p:spTgt>
                                        </p:tgtEl>
                                        <p:attrNameLst>
                                          <p:attrName>style.visibility</p:attrName>
                                        </p:attrNameLst>
                                      </p:cBhvr>
                                      <p:to>
                                        <p:strVal val="visible"/>
                                      </p:to>
                                    </p:set>
                                    <p:animEffect transition="in" filter="wipe(down)">
                                      <p:cBhvr>
                                        <p:cTn id="7" dur="500"/>
                                        <p:tgtEl>
                                          <p:spTgt spid="31748">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1748">
                                            <p:txEl>
                                              <p:pRg st="1" end="1"/>
                                            </p:txEl>
                                          </p:spTgt>
                                        </p:tgtEl>
                                        <p:attrNameLst>
                                          <p:attrName>style.visibility</p:attrName>
                                        </p:attrNameLst>
                                      </p:cBhvr>
                                      <p:to>
                                        <p:strVal val="visible"/>
                                      </p:to>
                                    </p:set>
                                    <p:animEffect transition="in" filter="wipe(down)">
                                      <p:cBhvr>
                                        <p:cTn id="10" dur="500"/>
                                        <p:tgtEl>
                                          <p:spTgt spid="3174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31749"/>
                                        </p:tgtEl>
                                        <p:attrNameLst>
                                          <p:attrName>style.visibility</p:attrName>
                                        </p:attrNameLst>
                                      </p:cBhvr>
                                      <p:to>
                                        <p:strVal val="visible"/>
                                      </p:to>
                                    </p:set>
                                    <p:animEffect transition="in" filter="wipe(down)">
                                      <p:cBhvr>
                                        <p:cTn id="15" dur="500"/>
                                        <p:tgtEl>
                                          <p:spTgt spid="3174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31750"/>
                                        </p:tgtEl>
                                        <p:attrNameLst>
                                          <p:attrName>style.visibility</p:attrName>
                                        </p:attrNameLst>
                                      </p:cBhvr>
                                      <p:to>
                                        <p:strVal val="visible"/>
                                      </p:to>
                                    </p:set>
                                    <p:animEffect transition="in" filter="wipe(down)">
                                      <p:cBhvr>
                                        <p:cTn id="20" dur="500"/>
                                        <p:tgtEl>
                                          <p:spTgt spid="3175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31855"/>
                                        </p:tgtEl>
                                        <p:attrNameLst>
                                          <p:attrName>style.visibility</p:attrName>
                                        </p:attrNameLst>
                                      </p:cBhvr>
                                      <p:to>
                                        <p:strVal val="visible"/>
                                      </p:to>
                                    </p:set>
                                    <p:animEffect transition="in" filter="wipe(down)">
                                      <p:cBhvr>
                                        <p:cTn id="25" dur="500"/>
                                        <p:tgtEl>
                                          <p:spTgt spid="31855"/>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1751"/>
                                        </p:tgtEl>
                                        <p:attrNameLst>
                                          <p:attrName>style.visibility</p:attrName>
                                        </p:attrNameLst>
                                      </p:cBhvr>
                                      <p:to>
                                        <p:strVal val="visible"/>
                                      </p:to>
                                    </p:set>
                                    <p:animEffect transition="in" filter="wipe(down)">
                                      <p:cBhvr>
                                        <p:cTn id="30" dur="500"/>
                                        <p:tgtEl>
                                          <p:spTgt spid="317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p:bldP spid="31750" grpId="0" animBg="1"/>
    </p:bld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4856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使用联合访问位模式</a:t>
            </a:r>
          </a:p>
        </p:txBody>
      </p:sp>
      <p:sp>
        <p:nvSpPr>
          <p:cNvPr id="32771" name="Rectangle 3"/>
          <p:cNvSpPr/>
          <p:nvPr/>
        </p:nvSpPr>
        <p:spPr bwMode="auto">
          <a:xfrm>
            <a:off x="528638" y="1495424"/>
            <a:ext cx="2527300" cy="1323975"/>
          </a:xfrm>
          <a:prstGeom prst="rect">
            <a:avLst/>
          </a:prstGeom>
          <a:solidFill>
            <a:srgbClr val="FF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a:solidFill>
                  <a:schemeClr val="tx1"/>
                </a:solidFill>
                <a:latin typeface="Courier New" panose="02070309020205020404" charset="0"/>
                <a:cs typeface="Courier New" panose="02070309020205020404" charset="0"/>
                <a:sym typeface="Courier New Bold" charset="0"/>
              </a:rPr>
              <a:t>typedef union {</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float f;</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unsigned u;</a:t>
            </a:r>
            <a:endParaRPr lang="en-US" sz="2400" b="1">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a:solidFill>
                  <a:schemeClr val="tx1"/>
                </a:solidFill>
                <a:latin typeface="Courier New" panose="02070309020205020404" charset="0"/>
                <a:cs typeface="Courier New" panose="02070309020205020404" charset="0"/>
                <a:sym typeface="Courier New Bold" charset="0"/>
              </a:rPr>
              <a:t>} bit_float_t;</a:t>
            </a:r>
          </a:p>
        </p:txBody>
      </p:sp>
      <p:sp>
        <p:nvSpPr>
          <p:cNvPr id="32772" name="Rectangle 4"/>
          <p:cNvSpPr/>
          <p:nvPr/>
        </p:nvSpPr>
        <p:spPr bwMode="auto">
          <a:xfrm>
            <a:off x="604838" y="3289300"/>
            <a:ext cx="3898900" cy="1816100"/>
          </a:xfrm>
          <a:prstGeom prst="rect">
            <a:avLst/>
          </a:prstGeom>
          <a:solidFill>
            <a:srgbClr val="FF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float bit2float(unsigned </a:t>
            </a:r>
            <a:r>
              <a:rPr lang="en-US" sz="1800" dirty="0" err="1">
                <a:solidFill>
                  <a:schemeClr val="tx1"/>
                </a:solidFill>
                <a:latin typeface="Courier New" panose="02070309020205020404" charset="0"/>
                <a:cs typeface="Courier New" panose="02070309020205020404" charset="0"/>
                <a:sym typeface="Courier New Bold" charset="0"/>
              </a:rPr>
              <a:t>u</a:t>
            </a:r>
            <a:r>
              <a:rPr lang="en-US" sz="1800" dirty="0">
                <a:solidFill>
                  <a:schemeClr val="tx1"/>
                </a:solidFill>
                <a:latin typeface="Courier New" panose="02070309020205020404" charset="0"/>
                <a:cs typeface="Courier New" panose="02070309020205020404" charset="0"/>
                <a:sym typeface="Courier New Bold" charset="0"/>
              </a:rPr>
              <a:t>) {</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bit_float_t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arg</a:t>
            </a:r>
            <a:r>
              <a:rPr lang="en-US" sz="1800"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arg.u</a:t>
            </a:r>
            <a:r>
              <a:rPr lang="en-US" sz="1800" dirty="0">
                <a:solidFill>
                  <a:schemeClr val="tx1"/>
                </a:solidFill>
                <a:latin typeface="Courier New" panose="02070309020205020404" charset="0"/>
                <a:cs typeface="Courier New" panose="02070309020205020404" charset="0"/>
                <a:sym typeface="Courier New Bold" charset="0"/>
              </a:rPr>
              <a:t> = </a:t>
            </a:r>
            <a:r>
              <a:rPr lang="en-US" sz="1800" dirty="0" err="1">
                <a:solidFill>
                  <a:schemeClr val="tx1"/>
                </a:solidFill>
                <a:latin typeface="Courier New" panose="02070309020205020404" charset="0"/>
                <a:cs typeface="Courier New" panose="02070309020205020404" charset="0"/>
                <a:sym typeface="Courier New Bold" charset="0"/>
              </a:rPr>
              <a:t>u</a:t>
            </a:r>
            <a:r>
              <a:rPr lang="en-US" sz="1800"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return </a:t>
            </a:r>
            <a:r>
              <a:rPr lang="en-US" sz="1800" dirty="0" err="1">
                <a:solidFill>
                  <a:schemeClr val="tx1"/>
                </a:solidFill>
                <a:latin typeface="Courier New" panose="02070309020205020404" charset="0"/>
                <a:cs typeface="Courier New" panose="02070309020205020404" charset="0"/>
                <a:sym typeface="Courier New Bold" charset="0"/>
              </a:rPr>
              <a:t>arg.f</a:t>
            </a:r>
            <a:r>
              <a:rPr lang="en-US" sz="1800"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32773" name="Rectangle 5"/>
          <p:cNvSpPr/>
          <p:nvPr/>
        </p:nvSpPr>
        <p:spPr bwMode="auto">
          <a:xfrm>
            <a:off x="4724400" y="3292474"/>
            <a:ext cx="3898900" cy="1812925"/>
          </a:xfrm>
          <a:prstGeom prst="rect">
            <a:avLst/>
          </a:prstGeom>
          <a:solidFill>
            <a:srgbClr val="FFFFCC"/>
          </a:solidFill>
          <a:ln w="12700" cap="flat">
            <a:solidFill>
              <a:schemeClr val="tx1"/>
            </a:solidFill>
            <a:prstDash val="solid"/>
            <a:miter lim="800000"/>
            <a:headEnd type="none" w="med" len="med"/>
            <a:tailEnd type="none" w="med" len="med"/>
          </a:ln>
          <a:effectLst>
            <a:outerShdw dist="76199" dir="2700000" algn="ctr" rotWithShape="0">
              <a:schemeClr val="bg2">
                <a:alpha val="75000"/>
              </a:schemeClr>
            </a:outerShdw>
          </a:effectLst>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unsigned float2bit(float </a:t>
            </a:r>
            <a:r>
              <a:rPr lang="en-US" sz="1800" dirty="0" err="1">
                <a:solidFill>
                  <a:schemeClr val="tx1"/>
                </a:solidFill>
                <a:latin typeface="Courier New" panose="02070309020205020404" charset="0"/>
                <a:cs typeface="Courier New" panose="02070309020205020404" charset="0"/>
                <a:sym typeface="Courier New Bold" charset="0"/>
              </a:rPr>
              <a:t>f</a:t>
            </a:r>
            <a:r>
              <a:rPr lang="en-US" sz="1800" dirty="0">
                <a:solidFill>
                  <a:schemeClr val="tx1"/>
                </a:solidFill>
                <a:latin typeface="Courier New" panose="02070309020205020404" charset="0"/>
                <a:cs typeface="Courier New" panose="02070309020205020404" charset="0"/>
                <a:sym typeface="Courier New Bold" charset="0"/>
              </a:rPr>
              <a:t>) {</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bit_float_t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arg</a:t>
            </a:r>
            <a:r>
              <a:rPr lang="en-US" sz="1800"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arg.f</a:t>
            </a:r>
            <a:r>
              <a:rPr lang="en-US" sz="1800" dirty="0">
                <a:solidFill>
                  <a:schemeClr val="tx1"/>
                </a:solidFill>
                <a:latin typeface="Courier New" panose="02070309020205020404" charset="0"/>
                <a:cs typeface="Courier New" panose="02070309020205020404" charset="0"/>
                <a:sym typeface="Courier New Bold" charset="0"/>
              </a:rPr>
              <a:t> = </a:t>
            </a:r>
            <a:r>
              <a:rPr lang="en-US" sz="1800" dirty="0" err="1">
                <a:solidFill>
                  <a:schemeClr val="tx1"/>
                </a:solidFill>
                <a:latin typeface="Courier New" panose="02070309020205020404" charset="0"/>
                <a:cs typeface="Courier New" panose="02070309020205020404" charset="0"/>
                <a:sym typeface="Courier New Bold" charset="0"/>
              </a:rPr>
              <a:t>f</a:t>
            </a:r>
            <a:r>
              <a:rPr lang="en-US" sz="1800"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return </a:t>
            </a:r>
            <a:r>
              <a:rPr lang="en-US" sz="1800" dirty="0" err="1">
                <a:solidFill>
                  <a:schemeClr val="tx1"/>
                </a:solidFill>
                <a:latin typeface="Courier New" panose="02070309020205020404" charset="0"/>
                <a:cs typeface="Courier New" panose="02070309020205020404" charset="0"/>
                <a:sym typeface="Courier New Bold" charset="0"/>
              </a:rPr>
              <a:t>arg.u</a:t>
            </a:r>
            <a:r>
              <a:rPr lang="en-US" sz="1800" dirty="0">
                <a:solidFill>
                  <a:schemeClr val="tx1"/>
                </a:solidFill>
                <a:latin typeface="Courier New" panose="02070309020205020404" charset="0"/>
                <a:cs typeface="Courier New" panose="02070309020205020404" charset="0"/>
                <a:sym typeface="Courier New Bold" charset="0"/>
              </a:rPr>
              <a:t>;</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a:t>
            </a:r>
          </a:p>
        </p:txBody>
      </p:sp>
      <p:sp>
        <p:nvSpPr>
          <p:cNvPr id="32775" name="Rectangle 7"/>
          <p:cNvSpPr/>
          <p:nvPr/>
        </p:nvSpPr>
        <p:spPr bwMode="auto">
          <a:xfrm>
            <a:off x="593725" y="5257800"/>
            <a:ext cx="3149600" cy="457200"/>
          </a:xfrm>
          <a:prstGeom prst="rect">
            <a:avLst/>
          </a:prstGeom>
          <a:noFill/>
          <a:ln w="12700" cap="flat">
            <a:noFill/>
            <a:miter lim="800000"/>
            <a:headEnd type="none" w="med" len="med"/>
            <a:tailEnd type="none" w="med" len="med"/>
          </a:ln>
        </p:spPr>
        <p:txBody>
          <a:bodyPr lIns="0" tIns="0" rIns="0" bIns="0"/>
          <a:lstStyle/>
          <a:p>
            <a:pPr algn="l"/>
            <a:r>
              <a:rPr lang="en-US" sz="2400" dirty="0">
                <a:solidFill>
                  <a:schemeClr val="tx1"/>
                </a:solidFill>
                <a:latin typeface="Calibri Bold" charset="0"/>
                <a:ea typeface="Calibri Bold" charset="0"/>
                <a:cs typeface="Calibri Bold" charset="0"/>
                <a:sym typeface="Calibri Bold" charset="0"/>
              </a:rPr>
              <a:t> </a:t>
            </a:r>
            <a:r>
              <a:rPr lang="zh-CN" altLang="en-US" sz="2400" dirty="0">
                <a:latin typeface="Calibri Bold" charset="0"/>
                <a:ea typeface="宋体" panose="02010600030101010101" pitchFamily="2" charset="-122"/>
                <a:cs typeface="Calibri Bold" charset="0"/>
                <a:sym typeface="Calibri Bold" charset="0"/>
              </a:rPr>
              <a:t>等同于</a:t>
            </a:r>
            <a:r>
              <a:rPr lang="en-US" sz="2400" dirty="0">
                <a:solidFill>
                  <a:schemeClr val="tx1"/>
                </a:solidFill>
                <a:latin typeface="Courier New Bold" charset="0"/>
                <a:cs typeface="Courier New Bold" charset="0"/>
                <a:sym typeface="Courier New Bold" charset="0"/>
              </a:rPr>
              <a:t>(float) </a:t>
            </a:r>
            <a:r>
              <a:rPr lang="en-US" sz="2400" dirty="0" err="1">
                <a:solidFill>
                  <a:schemeClr val="tx1"/>
                </a:solidFill>
                <a:latin typeface="Courier New Bold" charset="0"/>
                <a:cs typeface="Courier New Bold" charset="0"/>
                <a:sym typeface="Courier New Bold" charset="0"/>
              </a:rPr>
              <a:t>u</a:t>
            </a:r>
            <a:r>
              <a:rPr lang="en-US" sz="2400" dirty="0">
                <a:solidFill>
                  <a:schemeClr val="tx1"/>
                </a:solidFill>
                <a:latin typeface="Calibri Bold" charset="0"/>
                <a:ea typeface="Calibri Bold" charset="0"/>
                <a:cs typeface="Calibri Bold" charset="0"/>
                <a:sym typeface="Calibri Bold" charset="0"/>
              </a:rPr>
              <a:t> ? </a:t>
            </a:r>
          </a:p>
        </p:txBody>
      </p:sp>
      <p:sp>
        <p:nvSpPr>
          <p:cNvPr id="32776" name="Rectangle 8"/>
          <p:cNvSpPr/>
          <p:nvPr/>
        </p:nvSpPr>
        <p:spPr bwMode="auto">
          <a:xfrm>
            <a:off x="4722813" y="5257800"/>
            <a:ext cx="3886200" cy="457200"/>
          </a:xfrm>
          <a:prstGeom prst="rect">
            <a:avLst/>
          </a:prstGeom>
          <a:noFill/>
          <a:ln w="12700" cap="flat">
            <a:noFill/>
            <a:miter lim="800000"/>
            <a:headEnd type="none" w="med" len="med"/>
            <a:tailEnd type="none" w="med" len="med"/>
          </a:ln>
        </p:spPr>
        <p:txBody>
          <a:bodyPr lIns="0" tIns="0" rIns="0" bIns="0"/>
          <a:lstStyle/>
          <a:p>
            <a:pPr algn="l"/>
            <a:r>
              <a:rPr lang="zh-CN" altLang="en-US" sz="2400" dirty="0">
                <a:solidFill>
                  <a:schemeClr val="tx1"/>
                </a:solidFill>
                <a:latin typeface="Calibri Bold" charset="0"/>
                <a:ea typeface="宋体" panose="02010600030101010101" pitchFamily="2" charset="-122"/>
                <a:cs typeface="Calibri Bold" charset="0"/>
                <a:sym typeface="Calibri Bold" charset="0"/>
              </a:rPr>
              <a:t>等同于</a:t>
            </a:r>
            <a:r>
              <a:rPr lang="en-US" sz="2400" dirty="0">
                <a:solidFill>
                  <a:schemeClr val="tx1"/>
                </a:solidFill>
                <a:latin typeface="Calibri Bold" charset="0"/>
                <a:ea typeface="Calibri Bold" charset="0"/>
                <a:cs typeface="Calibri Bold" charset="0"/>
                <a:sym typeface="Calibri Bold" charset="0"/>
              </a:rPr>
              <a:t> </a:t>
            </a:r>
            <a:r>
              <a:rPr lang="en-US" sz="2400" dirty="0">
                <a:solidFill>
                  <a:schemeClr val="tx1"/>
                </a:solidFill>
                <a:latin typeface="Courier New Bold" charset="0"/>
                <a:cs typeface="Courier New Bold" charset="0"/>
                <a:sym typeface="Courier New Bold" charset="0"/>
              </a:rPr>
              <a:t>(unsigned) </a:t>
            </a:r>
            <a:r>
              <a:rPr lang="en-US" sz="2400" dirty="0" err="1">
                <a:solidFill>
                  <a:schemeClr val="tx1"/>
                </a:solidFill>
                <a:latin typeface="Courier New Bold" charset="0"/>
                <a:cs typeface="Courier New Bold" charset="0"/>
                <a:sym typeface="Courier New Bold" charset="0"/>
              </a:rPr>
              <a:t>f</a:t>
            </a:r>
            <a:r>
              <a:rPr lang="en-US" sz="2400" dirty="0">
                <a:solidFill>
                  <a:schemeClr val="tx1"/>
                </a:solidFill>
                <a:latin typeface="Calibri Bold" charset="0"/>
                <a:ea typeface="Calibri Bold" charset="0"/>
                <a:cs typeface="Calibri Bold" charset="0"/>
                <a:sym typeface="Calibri Bold" charset="0"/>
              </a:rPr>
              <a:t> ? </a:t>
            </a:r>
          </a:p>
        </p:txBody>
      </p:sp>
      <p:graphicFrame>
        <p:nvGraphicFramePr>
          <p:cNvPr id="32777" name="Group 9"/>
          <p:cNvGraphicFramePr>
            <a:graphicFrameLocks noGrp="1"/>
          </p:cNvGraphicFramePr>
          <p:nvPr/>
        </p:nvGraphicFramePr>
        <p:xfrm>
          <a:off x="4622800" y="1498600"/>
          <a:ext cx="1905000" cy="1143000"/>
        </p:xfrm>
        <a:graphic>
          <a:graphicData uri="http://schemas.openxmlformats.org/drawingml/2006/table">
            <a:tbl>
              <a:tblPr/>
              <a:tblGrid>
                <a:gridCol w="317500">
                  <a:extLst>
                    <a:ext uri="{9D8B030D-6E8A-4147-A177-3AD203B41FA5}">
                      <a16:colId xmlns:a16="http://schemas.microsoft.com/office/drawing/2014/main" val="20000"/>
                    </a:ext>
                  </a:extLst>
                </a:gridCol>
                <a:gridCol w="317500">
                  <a:extLst>
                    <a:ext uri="{9D8B030D-6E8A-4147-A177-3AD203B41FA5}">
                      <a16:colId xmlns:a16="http://schemas.microsoft.com/office/drawing/2014/main" val="20001"/>
                    </a:ext>
                  </a:extLst>
                </a:gridCol>
                <a:gridCol w="317500">
                  <a:extLst>
                    <a:ext uri="{9D8B030D-6E8A-4147-A177-3AD203B41FA5}">
                      <a16:colId xmlns:a16="http://schemas.microsoft.com/office/drawing/2014/main" val="20002"/>
                    </a:ext>
                  </a:extLst>
                </a:gridCol>
                <a:gridCol w="317500">
                  <a:extLst>
                    <a:ext uri="{9D8B030D-6E8A-4147-A177-3AD203B41FA5}">
                      <a16:colId xmlns:a16="http://schemas.microsoft.com/office/drawing/2014/main" val="20003"/>
                    </a:ext>
                  </a:extLst>
                </a:gridCol>
                <a:gridCol w="317500">
                  <a:extLst>
                    <a:ext uri="{9D8B030D-6E8A-4147-A177-3AD203B41FA5}">
                      <a16:colId xmlns:a16="http://schemas.microsoft.com/office/drawing/2014/main" val="20004"/>
                    </a:ext>
                  </a:extLst>
                </a:gridCol>
                <a:gridCol w="317500">
                  <a:extLst>
                    <a:ext uri="{9D8B030D-6E8A-4147-A177-3AD203B41FA5}">
                      <a16:colId xmlns:a16="http://schemas.microsoft.com/office/drawing/2014/main" val="20005"/>
                    </a:ext>
                  </a:extLst>
                </a:gridCol>
              </a:tblGrid>
              <a:tr h="38100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dirty="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12700" cap="flat" cmpd="sng" algn="ctr">
                      <a:solidFill>
                        <a:srgbClr val="FFFFFF"/>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u</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D5F1CF"/>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12700" cap="flat" cmpd="sng" algn="ctr">
                      <a:solidFill>
                        <a:srgbClr val="FFFFFF"/>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4">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f</a:t>
                      </a:r>
                    </a:p>
                  </a:txBody>
                  <a:tcPr marL="50800" marR="50800" marT="50800" marB="5080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CBCDF0"/>
                    </a:solidFill>
                  </a:tcPr>
                </a:tc>
                <a:tc hMerge="1">
                  <a:txBody>
                    <a:bodyPr/>
                    <a:lstStyle/>
                    <a:p>
                      <a:endParaRPr lang="zh-CN"/>
                    </a:p>
                  </a:txBody>
                  <a:tcPr/>
                </a:tc>
                <a:tc hMerge="1">
                  <a:txBody>
                    <a:bodyPr/>
                    <a:lstStyle/>
                    <a:p>
                      <a:endParaRPr lang="zh-CN"/>
                    </a:p>
                  </a:txBody>
                  <a:tcPr/>
                </a:tc>
                <a:tc hMerge="1">
                  <a:txBody>
                    <a:bodyPr/>
                    <a:lstStyle/>
                    <a:p>
                      <a:endParaRPr lang="zh-CN"/>
                    </a:p>
                  </a:txBody>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0" i="0" u="none" strike="noStrike" cap="none" normalizeH="0" baseline="0">
                        <a:ln>
                          <a:noFill/>
                        </a:ln>
                        <a:solidFill>
                          <a:schemeClr val="tx1"/>
                        </a:solidFill>
                        <a:effectLst/>
                        <a:latin typeface="Courier New Bold" charset="0"/>
                        <a:ea typeface="ヒラギノ角ゴ ProN W6" charset="0"/>
                        <a:cs typeface="ヒラギノ角ゴ ProN W6" charset="0"/>
                        <a:sym typeface="Courier New Bold" charset="0"/>
                      </a:endParaRPr>
                    </a:p>
                  </a:txBody>
                  <a:tcPr marL="50800" marR="50800" marT="50800" marB="50800" anchor="ctr" horzOverflow="overflow">
                    <a:lnL w="25400" cap="flat" cmpd="sng" algn="ctr">
                      <a:solidFill>
                        <a:srgbClr val="000000"/>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a:ln>
                            <a:noFill/>
                          </a:ln>
                          <a:solidFill>
                            <a:schemeClr val="tx1"/>
                          </a:solidFill>
                          <a:effectLst/>
                          <a:latin typeface="Courier New" panose="02070309020205020404" charset="0"/>
                          <a:cs typeface="Courier New" panose="02070309020205020404" charset="0"/>
                          <a:sym typeface="Courier New Bold" charset="0"/>
                        </a:rPr>
                        <a:t>0</a:t>
                      </a:r>
                    </a:p>
                  </a:txBody>
                  <a:tcPr marL="50800" marR="50800" marT="50800" marB="50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CN"/>
                    </a:p>
                  </a:txBody>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50800" marR="50800" marT="50800" marB="50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endParaRPr kumimoji="0" lang="en-US" sz="1800" b="1" i="0" u="none" strike="noStrike" cap="none" normalizeH="0" baseline="0" dirty="0">
                        <a:ln>
                          <a:noFill/>
                        </a:ln>
                        <a:solidFill>
                          <a:schemeClr val="tx1"/>
                        </a:solidFill>
                        <a:effectLst/>
                        <a:latin typeface="Courier New" panose="02070309020205020404" charset="0"/>
                        <a:ea typeface="ヒラギノ角ゴ ProN W6" charset="0"/>
                        <a:cs typeface="Courier New" panose="02070309020205020404" charset="0"/>
                        <a:sym typeface="Courier New Bold" charset="0"/>
                      </a:endParaRPr>
                    </a:p>
                  </a:txBody>
                  <a:tcPr marL="50800" marR="50800" marT="50800" marB="50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cs typeface="Courier New" panose="02070309020205020404" charset="0"/>
                          <a:sym typeface="Courier New Bold" charset="0"/>
                        </a:rPr>
                        <a:t>4</a:t>
                      </a:r>
                    </a:p>
                  </a:txBody>
                  <a:tcPr marL="50800" marR="50800" marT="50800" marB="50800" anchor="ctr"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noFill/>
                  </a:tcPr>
                </a:tc>
                <a:tc hMerge="1">
                  <a:txBody>
                    <a:bodyPr/>
                    <a:lstStyle/>
                    <a:p>
                      <a:endParaRPr lang="zh-CN"/>
                    </a:p>
                  </a:txBody>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wipe(down)">
                                      <p:cBhvr>
                                        <p:cTn id="7" dur="500"/>
                                        <p:tgtEl>
                                          <p:spTgt spid="3277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775"/>
                                        </p:tgtEl>
                                        <p:attrNameLst>
                                          <p:attrName>style.visibility</p:attrName>
                                        </p:attrNameLst>
                                      </p:cBhvr>
                                      <p:to>
                                        <p:strVal val="visible"/>
                                      </p:to>
                                    </p:set>
                                    <p:animEffect transition="in" filter="wipe(down)">
                                      <p:cBhvr>
                                        <p:cTn id="12" dur="500"/>
                                        <p:tgtEl>
                                          <p:spTgt spid="3277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2773"/>
                                        </p:tgtEl>
                                        <p:attrNameLst>
                                          <p:attrName>style.visibility</p:attrName>
                                        </p:attrNameLst>
                                      </p:cBhvr>
                                      <p:to>
                                        <p:strVal val="visible"/>
                                      </p:to>
                                    </p:set>
                                    <p:animEffect transition="in" filter="wipe(down)">
                                      <p:cBhvr>
                                        <p:cTn id="17" dur="500"/>
                                        <p:tgtEl>
                                          <p:spTgt spid="3277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2776"/>
                                        </p:tgtEl>
                                        <p:attrNameLst>
                                          <p:attrName>style.visibility</p:attrName>
                                        </p:attrNameLst>
                                      </p:cBhvr>
                                      <p:to>
                                        <p:strVal val="visible"/>
                                      </p:to>
                                    </p:set>
                                    <p:animEffect transition="in" filter="wipe(down)">
                                      <p:cBhvr>
                                        <p:cTn id="22" dur="500"/>
                                        <p:tgtEl>
                                          <p:spTgt spid="327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animBg="1"/>
      <p:bldP spid="32773" grpId="0" animBg="1"/>
      <p:bldP spid="32775" grpId="0"/>
      <p:bldP spid="32776" grpId="0"/>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310388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字节顺序</a:t>
            </a:r>
          </a:p>
        </p:txBody>
      </p:sp>
      <p:sp>
        <p:nvSpPr>
          <p:cNvPr id="33796" name="Rectangle 4"/>
          <p:cNvSpPr>
            <a:spLocks noGrp="1" noChangeArrowheads="1"/>
          </p:cNvSpPr>
          <p:nvPr/>
        </p:nvSpPr>
        <p:spPr>
          <a:xfrm>
            <a:off x="290513" y="1160781"/>
            <a:ext cx="8307387" cy="548640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215900" indent="-215900">
              <a:spcBef>
                <a:spcPct val="0"/>
              </a:spcBef>
              <a:buClr>
                <a:srgbClr val="0D0D0D"/>
              </a:buClr>
            </a:pPr>
            <a:r>
              <a:rPr lang="en-US" dirty="0">
                <a:latin typeface="微软雅黑" panose="020B0503020204020204" charset="-122"/>
                <a:ea typeface="微软雅黑" panose="020B0503020204020204" charset="-122"/>
                <a:cs typeface="Calibri" panose="020F0502020204030204" charset="0"/>
              </a:rPr>
              <a:t>Idea</a:t>
            </a:r>
            <a:endParaRPr lang="en-US" dirty="0">
              <a:latin typeface="微软雅黑" panose="020B0503020204020204" charset="-122"/>
              <a:ea typeface="微软雅黑" panose="020B0503020204020204" charset="-122"/>
            </a:endParaRPr>
          </a:p>
          <a:p>
            <a:pPr lvl="1">
              <a:buClr>
                <a:srgbClr val="0D0D0D"/>
              </a:buClr>
            </a:pPr>
            <a:r>
              <a:rPr lang="en-US" dirty="0">
                <a:latin typeface="微软雅黑" panose="020B0503020204020204" charset="-122"/>
                <a:ea typeface="微软雅黑" panose="020B0503020204020204" charset="-122"/>
              </a:rPr>
              <a:t>存储在内存中的Short/long/quad作为2/4 / 8个连续字节</a:t>
            </a:r>
          </a:p>
          <a:p>
            <a:pPr lvl="1">
              <a:buClr>
                <a:srgbClr val="0D0D0D"/>
              </a:buClr>
            </a:pPr>
            <a:r>
              <a:rPr lang="en-US" dirty="0">
                <a:latin typeface="微软雅黑" panose="020B0503020204020204" charset="-122"/>
                <a:ea typeface="微软雅黑" panose="020B0503020204020204" charset="-122"/>
              </a:rPr>
              <a:t>哪个字节最重要？</a:t>
            </a:r>
          </a:p>
          <a:p>
            <a:pPr lvl="1">
              <a:buClr>
                <a:srgbClr val="0D0D0D"/>
              </a:buClr>
            </a:pPr>
            <a:r>
              <a:rPr lang="en-US" dirty="0">
                <a:latin typeface="微软雅黑" panose="020B0503020204020204" charset="-122"/>
                <a:ea typeface="微软雅黑" panose="020B0503020204020204" charset="-122"/>
              </a:rPr>
              <a:t>在</a:t>
            </a:r>
            <a:r>
              <a:rPr lang="zh-CN" altLang="en-US" dirty="0">
                <a:latin typeface="微软雅黑" panose="020B0503020204020204" charset="-122"/>
                <a:ea typeface="微软雅黑" panose="020B0503020204020204" charset="-122"/>
              </a:rPr>
              <a:t>不同</a:t>
            </a:r>
            <a:r>
              <a:rPr lang="en-US" dirty="0">
                <a:latin typeface="微软雅黑" panose="020B0503020204020204" charset="-122"/>
                <a:ea typeface="微软雅黑" panose="020B0503020204020204" charset="-122"/>
              </a:rPr>
              <a:t>机器之间交换二进制数据时会导致问题</a:t>
            </a:r>
          </a:p>
          <a:p>
            <a:pPr marL="215900" indent="-215900">
              <a:buClr>
                <a:srgbClr val="0D0D0D"/>
              </a:buClr>
            </a:pPr>
            <a:r>
              <a:rPr lang="zh-CN" altLang="en-US" dirty="0">
                <a:latin typeface="微软雅黑" panose="020B0503020204020204" charset="-122"/>
                <a:ea typeface="微软雅黑" panose="020B0503020204020204" charset="-122"/>
              </a:rPr>
              <a:t>大端模式</a:t>
            </a:r>
          </a:p>
          <a:p>
            <a:pPr lvl="1">
              <a:buClr>
                <a:srgbClr val="0D0D0D"/>
              </a:buClr>
            </a:pPr>
            <a:r>
              <a:rPr lang="en-US" dirty="0">
                <a:latin typeface="微软雅黑" panose="020B0503020204020204" charset="-122"/>
                <a:ea typeface="微软雅黑" panose="020B0503020204020204" charset="-122"/>
              </a:rPr>
              <a:t>数据的高字节保存在内存的低地址中</a:t>
            </a:r>
          </a:p>
          <a:p>
            <a:pPr lvl="1">
              <a:buClr>
                <a:srgbClr val="0D0D0D"/>
              </a:buClr>
            </a:pPr>
            <a:r>
              <a:rPr lang="en-US" dirty="0" err="1">
                <a:latin typeface="微软雅黑" panose="020B0503020204020204" charset="-122"/>
                <a:ea typeface="微软雅黑" panose="020B0503020204020204" charset="-122"/>
              </a:rPr>
              <a:t>Sparc</a:t>
            </a:r>
            <a:r>
              <a:rPr lang="en-US" dirty="0">
                <a:latin typeface="微软雅黑" panose="020B0503020204020204" charset="-122"/>
                <a:ea typeface="微软雅黑" panose="020B0503020204020204" charset="-122"/>
              </a:rPr>
              <a:t>, </a:t>
            </a:r>
            <a:r>
              <a:rPr lang="en-US" i="1" dirty="0">
                <a:solidFill>
                  <a:srgbClr val="C00000"/>
                </a:solidFill>
                <a:latin typeface="微软雅黑" panose="020B0503020204020204" charset="-122"/>
                <a:ea typeface="微软雅黑" panose="020B0503020204020204" charset="-122"/>
              </a:rPr>
              <a:t>Internet</a:t>
            </a:r>
          </a:p>
          <a:p>
            <a:pPr marL="215900" indent="-215900">
              <a:buClr>
                <a:srgbClr val="0D0D0D"/>
              </a:buClr>
            </a:pPr>
            <a:r>
              <a:rPr lang="zh-CN" altLang="en-US" dirty="0">
                <a:latin typeface="微软雅黑" panose="020B0503020204020204" charset="-122"/>
                <a:ea typeface="微软雅黑" panose="020B0503020204020204" charset="-122"/>
              </a:rPr>
              <a:t>小端模式</a:t>
            </a:r>
          </a:p>
          <a:p>
            <a:pPr lvl="1">
              <a:buClr>
                <a:srgbClr val="0D0D0D"/>
              </a:buClr>
            </a:pPr>
            <a:r>
              <a:rPr lang="en-US" dirty="0">
                <a:latin typeface="微软雅黑" panose="020B0503020204020204" charset="-122"/>
                <a:ea typeface="微软雅黑" panose="020B0503020204020204" charset="-122"/>
              </a:rPr>
              <a:t>指数据的高字节保存在内存的高地址中</a:t>
            </a:r>
          </a:p>
          <a:p>
            <a:pPr lvl="1">
              <a:buClr>
                <a:srgbClr val="0D0D0D"/>
              </a:buClr>
            </a:pPr>
            <a:r>
              <a:rPr lang="en-US" dirty="0">
                <a:latin typeface="微软雅黑" panose="020B0503020204020204" charset="-122"/>
                <a:ea typeface="微软雅黑" panose="020B0503020204020204" charset="-122"/>
              </a:rPr>
              <a:t>Intel x86, ARM Android </a:t>
            </a:r>
            <a:r>
              <a:rPr lang="zh-CN" altLang="en-US" dirty="0">
                <a:latin typeface="微软雅黑" panose="020B0503020204020204" charset="-122"/>
                <a:ea typeface="微软雅黑" panose="020B0503020204020204" charset="-122"/>
              </a:rPr>
              <a:t>和</a:t>
            </a:r>
            <a:r>
              <a:rPr lang="en-US" dirty="0">
                <a:latin typeface="微软雅黑" panose="020B0503020204020204" charset="-122"/>
                <a:ea typeface="微软雅黑" panose="020B0503020204020204" charset="-122"/>
              </a:rPr>
              <a:t> IOS</a:t>
            </a:r>
          </a:p>
          <a:p>
            <a:pPr>
              <a:buClr>
                <a:srgbClr val="0D0D0D"/>
              </a:buClr>
            </a:pPr>
            <a:r>
              <a:rPr lang="zh-CN" altLang="en-US" dirty="0">
                <a:latin typeface="微软雅黑" panose="020B0503020204020204" charset="-122"/>
                <a:ea typeface="微软雅黑" panose="020B0503020204020204" charset="-122"/>
              </a:rPr>
              <a:t>双端模式</a:t>
            </a:r>
          </a:p>
          <a:p>
            <a:pPr lvl="1">
              <a:buClr>
                <a:srgbClr val="0D0D0D"/>
              </a:buClr>
            </a:pPr>
            <a:r>
              <a:rPr lang="en-US" dirty="0">
                <a:latin typeface="微软雅黑" panose="020B0503020204020204" charset="-122"/>
                <a:ea typeface="微软雅黑" panose="020B0503020204020204" charset="-122"/>
              </a:rPr>
              <a:t>可以任意配置</a:t>
            </a:r>
          </a:p>
          <a:p>
            <a:pPr lvl="1">
              <a:buClr>
                <a:srgbClr val="0D0D0D"/>
              </a:buClr>
            </a:pPr>
            <a:r>
              <a:rPr lang="en-US" dirty="0">
                <a:latin typeface="微软雅黑" panose="020B0503020204020204" charset="-122"/>
                <a:ea typeface="微软雅黑" panose="020B0503020204020204" charset="-122"/>
              </a:rPr>
              <a:t>ARM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anim calcmode="lin" valueType="num">
                                      <p:cBhvr additive="base">
                                        <p:cTn id="7" dur="500" fill="hold"/>
                                        <p:tgtEl>
                                          <p:spTgt spid="3379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796">
                                            <p:txEl>
                                              <p:pRg st="2" end="2"/>
                                            </p:txEl>
                                          </p:spTgt>
                                        </p:tgtEl>
                                        <p:attrNameLst>
                                          <p:attrName>style.visibility</p:attrName>
                                        </p:attrNameLst>
                                      </p:cBhvr>
                                      <p:to>
                                        <p:strVal val="visible"/>
                                      </p:to>
                                    </p:set>
                                    <p:anim calcmode="lin" valueType="num">
                                      <p:cBhvr additive="base">
                                        <p:cTn id="11" dur="500" fill="hold"/>
                                        <p:tgtEl>
                                          <p:spTgt spid="3379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79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3796">
                                            <p:txEl>
                                              <p:pRg st="3" end="3"/>
                                            </p:txEl>
                                          </p:spTgt>
                                        </p:tgtEl>
                                        <p:attrNameLst>
                                          <p:attrName>style.visibility</p:attrName>
                                        </p:attrNameLst>
                                      </p:cBhvr>
                                      <p:to>
                                        <p:strVal val="visible"/>
                                      </p:to>
                                    </p:set>
                                    <p:anim calcmode="lin" valueType="num">
                                      <p:cBhvr additive="base">
                                        <p:cTn id="15" dur="500" fill="hold"/>
                                        <p:tgtEl>
                                          <p:spTgt spid="33796">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37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3796">
                                            <p:txEl>
                                              <p:pRg st="5" end="5"/>
                                            </p:txEl>
                                          </p:spTgt>
                                        </p:tgtEl>
                                        <p:attrNameLst>
                                          <p:attrName>style.visibility</p:attrName>
                                        </p:attrNameLst>
                                      </p:cBhvr>
                                      <p:to>
                                        <p:strVal val="visible"/>
                                      </p:to>
                                    </p:set>
                                    <p:anim calcmode="lin" valueType="num">
                                      <p:cBhvr additive="base">
                                        <p:cTn id="21" dur="500" fill="hold"/>
                                        <p:tgtEl>
                                          <p:spTgt spid="33796">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3796">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3796">
                                            <p:txEl>
                                              <p:pRg st="6" end="6"/>
                                            </p:txEl>
                                          </p:spTgt>
                                        </p:tgtEl>
                                        <p:attrNameLst>
                                          <p:attrName>style.visibility</p:attrName>
                                        </p:attrNameLst>
                                      </p:cBhvr>
                                      <p:to>
                                        <p:strVal val="visible"/>
                                      </p:to>
                                    </p:set>
                                    <p:anim calcmode="lin" valueType="num">
                                      <p:cBhvr additive="base">
                                        <p:cTn id="25" dur="500" fill="hold"/>
                                        <p:tgtEl>
                                          <p:spTgt spid="33796">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796">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3796">
                                            <p:txEl>
                                              <p:pRg st="8" end="8"/>
                                            </p:txEl>
                                          </p:spTgt>
                                        </p:tgtEl>
                                        <p:attrNameLst>
                                          <p:attrName>style.visibility</p:attrName>
                                        </p:attrNameLst>
                                      </p:cBhvr>
                                      <p:to>
                                        <p:strVal val="visible"/>
                                      </p:to>
                                    </p:set>
                                    <p:anim calcmode="lin" valueType="num">
                                      <p:cBhvr additive="base">
                                        <p:cTn id="31" dur="500" fill="hold"/>
                                        <p:tgtEl>
                                          <p:spTgt spid="33796">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3796">
                                            <p:txEl>
                                              <p:pRg st="8" end="8"/>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3796">
                                            <p:txEl>
                                              <p:pRg st="9" end="9"/>
                                            </p:txEl>
                                          </p:spTgt>
                                        </p:tgtEl>
                                        <p:attrNameLst>
                                          <p:attrName>style.visibility</p:attrName>
                                        </p:attrNameLst>
                                      </p:cBhvr>
                                      <p:to>
                                        <p:strVal val="visible"/>
                                      </p:to>
                                    </p:set>
                                    <p:anim calcmode="lin" valueType="num">
                                      <p:cBhvr additive="base">
                                        <p:cTn id="35" dur="500" fill="hold"/>
                                        <p:tgtEl>
                                          <p:spTgt spid="33796">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3796">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33796">
                                            <p:txEl>
                                              <p:pRg st="11" end="11"/>
                                            </p:txEl>
                                          </p:spTgt>
                                        </p:tgtEl>
                                        <p:attrNameLst>
                                          <p:attrName>style.visibility</p:attrName>
                                        </p:attrNameLst>
                                      </p:cBhvr>
                                      <p:to>
                                        <p:strVal val="visible"/>
                                      </p:to>
                                    </p:set>
                                    <p:anim calcmode="lin" valueType="num">
                                      <p:cBhvr additive="base">
                                        <p:cTn id="41" dur="500" fill="hold"/>
                                        <p:tgtEl>
                                          <p:spTgt spid="33796">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3796">
                                            <p:txEl>
                                              <p:pRg st="11" end="11"/>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3796">
                                            <p:txEl>
                                              <p:pRg st="12" end="12"/>
                                            </p:txEl>
                                          </p:spTgt>
                                        </p:tgtEl>
                                        <p:attrNameLst>
                                          <p:attrName>style.visibility</p:attrName>
                                        </p:attrNameLst>
                                      </p:cBhvr>
                                      <p:to>
                                        <p:strVal val="visible"/>
                                      </p:to>
                                    </p:set>
                                    <p:anim calcmode="lin" valueType="num">
                                      <p:cBhvr additive="base">
                                        <p:cTn id="45" dur="500" fill="hold"/>
                                        <p:tgtEl>
                                          <p:spTgt spid="33796">
                                            <p:txEl>
                                              <p:pRg st="12" end="12"/>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3796">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367030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字节顺序的例子</a:t>
            </a:r>
          </a:p>
        </p:txBody>
      </p:sp>
      <p:sp>
        <p:nvSpPr>
          <p:cNvPr id="34820" name="Rectangle 4"/>
          <p:cNvSpPr/>
          <p:nvPr/>
        </p:nvSpPr>
        <p:spPr bwMode="auto">
          <a:xfrm>
            <a:off x="533400" y="1150938"/>
            <a:ext cx="4051300" cy="1820862"/>
          </a:xfrm>
          <a:prstGeom prst="rect">
            <a:avLst/>
          </a:prstGeom>
          <a:solidFill>
            <a:srgbClr val="FFFFCC"/>
          </a:solidFill>
          <a:ln w="12700" cap="flat">
            <a:solidFill>
              <a:schemeClr val="tx1"/>
            </a:solidFill>
            <a:prstDash val="solid"/>
            <a:miter lim="800000"/>
            <a:headEnd type="none" w="med" len="med"/>
            <a:tailEnd type="none" w="med" len="med"/>
          </a:ln>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Bold" charset="0"/>
              </a:rPr>
              <a:t>    union {</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unsigned char c[8];</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unsigned short s[4];</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unsigned </a:t>
            </a:r>
            <a:r>
              <a:rPr lang="en-US" sz="1800" dirty="0" err="1">
                <a:solidFill>
                  <a:schemeClr val="tx1"/>
                </a:solidFill>
                <a:latin typeface="Courier New" panose="02070309020205020404" charset="0"/>
                <a:cs typeface="Courier New" panose="02070309020205020404" charset="0"/>
                <a:sym typeface="Courier New Bold" charset="0"/>
              </a:rPr>
              <a:t>int</a:t>
            </a:r>
            <a:r>
              <a:rPr lang="en-US" sz="1800" dirty="0">
                <a:solidFill>
                  <a:schemeClr val="tx1"/>
                </a:solidFill>
                <a:latin typeface="Courier New" panose="02070309020205020404" charset="0"/>
                <a:cs typeface="Courier New" panose="02070309020205020404" charset="0"/>
                <a:sym typeface="Courier New Bold" charset="0"/>
              </a:rPr>
              <a:t> </a:t>
            </a:r>
            <a:r>
              <a:rPr lang="en-US" sz="1800" dirty="0" err="1">
                <a:solidFill>
                  <a:schemeClr val="tx1"/>
                </a:solidFill>
                <a:latin typeface="Courier New" panose="02070309020205020404" charset="0"/>
                <a:cs typeface="Courier New" panose="02070309020205020404" charset="0"/>
                <a:sym typeface="Courier New Bold" charset="0"/>
              </a:rPr>
              <a:t>i</a:t>
            </a:r>
            <a:r>
              <a:rPr lang="en-US" sz="1800" dirty="0">
                <a:solidFill>
                  <a:schemeClr val="tx1"/>
                </a:solidFill>
                <a:latin typeface="Courier New" panose="02070309020205020404" charset="0"/>
                <a:cs typeface="Courier New" panose="02070309020205020404" charset="0"/>
                <a:sym typeface="Courier New Bold" charset="0"/>
              </a:rPr>
              <a:t>[2];</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unsigned long l[1];</a:t>
            </a:r>
            <a:endParaRPr lang="en-US" sz="2400" b="1"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Bold" charset="0"/>
              </a:rPr>
              <a:t>    } </a:t>
            </a:r>
            <a:r>
              <a:rPr lang="en-US" sz="1800" dirty="0" err="1">
                <a:solidFill>
                  <a:schemeClr val="tx1"/>
                </a:solidFill>
                <a:latin typeface="Courier New" panose="02070309020205020404" charset="0"/>
                <a:cs typeface="Courier New" panose="02070309020205020404" charset="0"/>
                <a:sym typeface="Courier New Bold" charset="0"/>
              </a:rPr>
              <a:t>dw</a:t>
            </a:r>
            <a:r>
              <a:rPr lang="en-US" sz="1800" dirty="0">
                <a:solidFill>
                  <a:schemeClr val="tx1"/>
                </a:solidFill>
                <a:latin typeface="Courier New" panose="02070309020205020404" charset="0"/>
                <a:cs typeface="Courier New" panose="02070309020205020404" charset="0"/>
                <a:sym typeface="Courier New Bold" charset="0"/>
              </a:rPr>
              <a:t>;</a:t>
            </a:r>
          </a:p>
        </p:txBody>
      </p:sp>
      <p:graphicFrame>
        <p:nvGraphicFramePr>
          <p:cNvPr id="22" name="Table 21"/>
          <p:cNvGraphicFramePr>
            <a:graphicFrameLocks noGrp="1"/>
          </p:cNvGraphicFramePr>
          <p:nvPr/>
        </p:nvGraphicFramePr>
        <p:xfrm>
          <a:off x="1676400" y="3393440"/>
          <a:ext cx="6096000" cy="148336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40">
                <a:tc>
                  <a:txBody>
                    <a:bodyPr/>
                    <a:lstStyle/>
                    <a:p>
                      <a:pPr algn="ctr"/>
                      <a:r>
                        <a:rPr lang="en-US" b="1" dirty="0">
                          <a:latin typeface="Courier New" panose="02070309020205020404" charset="0"/>
                          <a:cs typeface="Courier New" panose="02070309020205020404" charset="0"/>
                        </a:rPr>
                        <a:t>c[0]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extLst>
                  <a:ext uri="{0D108BD9-81ED-4DB2-BD59-A6C34878D82A}">
                    <a16:rowId xmlns:a16="http://schemas.microsoft.com/office/drawing/2014/main" val="10000"/>
                  </a:ext>
                </a:extLst>
              </a:tr>
              <a:tr h="370840">
                <a:tc gridSpan="2">
                  <a:txBody>
                    <a:bodyPr/>
                    <a:lstStyle/>
                    <a:p>
                      <a:pPr algn="ctr"/>
                      <a:r>
                        <a:rPr lang="en-US" b="1" dirty="0">
                          <a:latin typeface="Courier New" panose="02070309020205020404" charset="0"/>
                          <a:cs typeface="Courier New" panose="02070309020205020404" charset="0"/>
                        </a:rPr>
                        <a:t>s[0]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gridSpan="4">
                  <a:txBody>
                    <a:bodyPr/>
                    <a:lstStyle/>
                    <a:p>
                      <a:pPr algn="ctr"/>
                      <a:r>
                        <a:rPr lang="en-US" b="1" dirty="0">
                          <a:latin typeface="Courier New" panose="02070309020205020404" charset="0"/>
                          <a:cs typeface="Courier New" panose="02070309020205020404" charset="0"/>
                        </a:rPr>
                        <a:t>l[0]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endParaRPr lang="en-US" b="1" dirty="0">
                        <a:latin typeface="Courier New" panose="02070309020205020404" charset="0"/>
                        <a:cs typeface="Courier New" panose="020703090202050204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3" name="TextBox 22"/>
          <p:cNvSpPr txBox="1"/>
          <p:nvPr/>
        </p:nvSpPr>
        <p:spPr>
          <a:xfrm>
            <a:off x="738323" y="3393440"/>
            <a:ext cx="938077" cy="461665"/>
          </a:xfrm>
          <a:prstGeom prst="rect">
            <a:avLst/>
          </a:prstGeom>
          <a:noFill/>
        </p:spPr>
        <p:txBody>
          <a:bodyPr wrap="none" rtlCol="0">
            <a:spAutoFit/>
          </a:bodyPr>
          <a:lstStyle/>
          <a:p>
            <a:pPr algn="r"/>
            <a:r>
              <a:rPr lang="en-US" dirty="0">
                <a:latin typeface="Calibri" panose="020F0502020204030204" charset="0"/>
              </a:rPr>
              <a:t>32-bit</a:t>
            </a:r>
          </a:p>
        </p:txBody>
      </p:sp>
      <p:graphicFrame>
        <p:nvGraphicFramePr>
          <p:cNvPr id="24" name="Table 23"/>
          <p:cNvGraphicFramePr>
            <a:graphicFrameLocks noGrp="1"/>
          </p:cNvGraphicFramePr>
          <p:nvPr/>
        </p:nvGraphicFramePr>
        <p:xfrm>
          <a:off x="1676400" y="5146040"/>
          <a:ext cx="6096000" cy="148336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40">
                <a:tc>
                  <a:txBody>
                    <a:bodyPr/>
                    <a:lstStyle/>
                    <a:p>
                      <a:pPr algn="ctr"/>
                      <a:r>
                        <a:rPr lang="en-US" b="1" dirty="0">
                          <a:latin typeface="Courier New" panose="02070309020205020404" charset="0"/>
                          <a:cs typeface="Courier New" panose="02070309020205020404" charset="0"/>
                        </a:rPr>
                        <a:t>c[0]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extLst>
                  <a:ext uri="{0D108BD9-81ED-4DB2-BD59-A6C34878D82A}">
                    <a16:rowId xmlns:a16="http://schemas.microsoft.com/office/drawing/2014/main" val="10000"/>
                  </a:ext>
                </a:extLst>
              </a:tr>
              <a:tr h="370840">
                <a:tc gridSpan="2">
                  <a:txBody>
                    <a:bodyPr/>
                    <a:lstStyle/>
                    <a:p>
                      <a:pPr algn="ctr"/>
                      <a:r>
                        <a:rPr lang="en-US" b="1" dirty="0">
                          <a:latin typeface="Courier New" panose="02070309020205020404" charset="0"/>
                          <a:cs typeface="Courier New" panose="02070309020205020404" charset="0"/>
                        </a:rPr>
                        <a:t>s[0]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0840">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gridSpan="8">
                  <a:txBody>
                    <a:bodyPr/>
                    <a:lstStyle/>
                    <a:p>
                      <a:pPr algn="ctr"/>
                      <a:r>
                        <a:rPr lang="en-US" b="1" dirty="0">
                          <a:latin typeface="Courier New" panose="02070309020205020404" charset="0"/>
                          <a:cs typeface="Courier New" panose="02070309020205020404" charset="0"/>
                        </a:rPr>
                        <a:t>l[0]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5" name="Rectangle 24"/>
          <p:cNvSpPr/>
          <p:nvPr/>
        </p:nvSpPr>
        <p:spPr>
          <a:xfrm>
            <a:off x="738323" y="5146040"/>
            <a:ext cx="938077" cy="461665"/>
          </a:xfrm>
          <a:prstGeom prst="rect">
            <a:avLst/>
          </a:prstGeom>
        </p:spPr>
        <p:txBody>
          <a:bodyPr wrap="none">
            <a:spAutoFit/>
          </a:bodyPr>
          <a:lstStyle/>
          <a:p>
            <a:pPr algn="r"/>
            <a:r>
              <a:rPr lang="en-US" dirty="0">
                <a:latin typeface="Calibri" panose="020F0502020204030204" charset="0"/>
              </a:rPr>
              <a:t>64-bit</a:t>
            </a:r>
          </a:p>
        </p:txBody>
      </p:sp>
      <p:sp>
        <p:nvSpPr>
          <p:cNvPr id="5" name="TextBox 1"/>
          <p:cNvSpPr txBox="1"/>
          <p:nvPr/>
        </p:nvSpPr>
        <p:spPr>
          <a:xfrm>
            <a:off x="4584700" y="1313180"/>
            <a:ext cx="4606290" cy="706755"/>
          </a:xfrm>
          <a:prstGeom prst="rect">
            <a:avLst/>
          </a:prstGeom>
          <a:noFill/>
        </p:spPr>
        <p:txBody>
          <a:bodyPr wrap="none" rtlCol="0">
            <a:spAutoFit/>
          </a:bodyPr>
          <a:lstStyle/>
          <a:p>
            <a:r>
              <a:rPr lang="en-US" sz="2000" dirty="0">
                <a:solidFill>
                  <a:srgbClr val="C00000"/>
                </a:solidFill>
                <a:latin typeface="Calibri" panose="020F0502020204030204" charset="0"/>
              </a:rPr>
              <a:t> </a:t>
            </a:r>
            <a:br>
              <a:rPr lang="en-US" sz="2000" dirty="0">
                <a:solidFill>
                  <a:srgbClr val="C00000"/>
                </a:solidFill>
                <a:latin typeface="Calibri" panose="020F0502020204030204" charset="0"/>
              </a:rPr>
            </a:br>
            <a:r>
              <a:rPr lang="zh-CN" altLang="en-US" sz="2000" dirty="0">
                <a:solidFill>
                  <a:srgbClr val="C00000"/>
                </a:solidFill>
                <a:latin typeface="Calibri" panose="020F0502020204030204" charset="0"/>
              </a:rPr>
              <a:t>在</a:t>
            </a:r>
            <a:r>
              <a:rPr lang="en-US" sz="2000" dirty="0">
                <a:solidFill>
                  <a:srgbClr val="C00000"/>
                </a:solidFill>
                <a:latin typeface="Calibri" panose="020F0502020204030204" charset="0"/>
              </a:rPr>
              <a:t>short/</a:t>
            </a:r>
            <a:r>
              <a:rPr lang="en-US" sz="2000" dirty="0" err="1">
                <a:solidFill>
                  <a:srgbClr val="C00000"/>
                </a:solidFill>
                <a:latin typeface="Calibri" panose="020F0502020204030204" charset="0"/>
              </a:rPr>
              <a:t>int</a:t>
            </a:r>
            <a:r>
              <a:rPr lang="en-US" sz="2000" dirty="0">
                <a:solidFill>
                  <a:srgbClr val="C00000"/>
                </a:solidFill>
                <a:latin typeface="Calibri" panose="020F0502020204030204" charset="0"/>
              </a:rPr>
              <a:t>/long </a:t>
            </a:r>
            <a:r>
              <a:rPr lang="zh-CN" altLang="en-US" sz="2000" dirty="0">
                <a:solidFill>
                  <a:srgbClr val="C00000"/>
                </a:solidFill>
                <a:latin typeface="Calibri" panose="020F0502020204030204" charset="0"/>
              </a:rPr>
              <a:t>中，字节是如何存储的</a:t>
            </a:r>
            <a:r>
              <a:rPr lang="en-US" sz="2000" dirty="0">
                <a:solidFill>
                  <a:srgbClr val="C00000"/>
                </a:solidFill>
                <a:latin typeface="Calibri" panose="020F0502020204030204" charset="0"/>
              </a:rPr>
              <a:t>?</a:t>
            </a:r>
          </a:p>
        </p:txBody>
      </p:sp>
      <p:cxnSp>
        <p:nvCxnSpPr>
          <p:cNvPr id="6" name="Straight Arrow Connector 3"/>
          <p:cNvCxnSpPr/>
          <p:nvPr/>
        </p:nvCxnSpPr>
        <p:spPr bwMode="auto">
          <a:xfrm>
            <a:off x="3783691" y="3241039"/>
            <a:ext cx="1219200" cy="0"/>
          </a:xfrm>
          <a:prstGeom prst="straightConnector1">
            <a:avLst/>
          </a:prstGeom>
          <a:noFill/>
          <a:ln w="25400" cap="flat" cmpd="sng" algn="ctr">
            <a:solidFill>
              <a:schemeClr val="tx1">
                <a:lumMod val="50000"/>
                <a:lumOff val="50000"/>
              </a:schemeClr>
            </a:solidFill>
            <a:prstDash val="solid"/>
            <a:round/>
            <a:headEnd type="none" w="med" len="med"/>
            <a:tailEnd type="arrow"/>
          </a:ln>
          <a:effectLst/>
        </p:spPr>
      </p:cxnSp>
      <p:sp>
        <p:nvSpPr>
          <p:cNvPr id="7" name="TextBox 4"/>
          <p:cNvSpPr txBox="1"/>
          <p:nvPr/>
        </p:nvSpPr>
        <p:spPr>
          <a:xfrm>
            <a:off x="1600200" y="3079527"/>
            <a:ext cx="1249680" cy="306705"/>
          </a:xfrm>
          <a:prstGeom prst="rect">
            <a:avLst/>
          </a:prstGeom>
          <a:noFill/>
        </p:spPr>
        <p:txBody>
          <a:bodyPr wrap="none" rtlCol="0">
            <a:spAutoFit/>
          </a:bodyPr>
          <a:lstStyle/>
          <a:p>
            <a:r>
              <a:rPr lang="zh-CN" altLang="en-US" sz="1400" dirty="0">
                <a:solidFill>
                  <a:schemeClr val="tx1">
                    <a:lumMod val="65000"/>
                    <a:lumOff val="35000"/>
                  </a:schemeClr>
                </a:solidFill>
                <a:latin typeface="Calibri" panose="020F0502020204030204" charset="0"/>
              </a:rPr>
              <a:t>内存地址增大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 calcmode="lin" valueType="num">
                                      <p:cBhvr additive="base">
                                        <p:cTn id="12" dur="500" fill="hold"/>
                                        <p:tgtEl>
                                          <p:spTgt spid="22"/>
                                        </p:tgtEl>
                                        <p:attrNameLst>
                                          <p:attrName>ppt_x</p:attrName>
                                        </p:attrNameLst>
                                      </p:cBhvr>
                                      <p:tavLst>
                                        <p:tav tm="0">
                                          <p:val>
                                            <p:strVal val="#ppt_x"/>
                                          </p:val>
                                        </p:tav>
                                        <p:tav tm="100000">
                                          <p:val>
                                            <p:strVal val="#ppt_x"/>
                                          </p:val>
                                        </p:tav>
                                      </p:tavLst>
                                    </p:anim>
                                    <p:anim calcmode="lin" valueType="num">
                                      <p:cBhvr additive="base">
                                        <p:cTn id="13" dur="500" fill="hold"/>
                                        <p:tgtEl>
                                          <p:spTgt spid="22"/>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 calcmode="lin" valueType="num">
                                      <p:cBhvr additive="base">
                                        <p:cTn id="16" dur="500" fill="hold"/>
                                        <p:tgtEl>
                                          <p:spTgt spid="23"/>
                                        </p:tgtEl>
                                        <p:attrNameLst>
                                          <p:attrName>ppt_x</p:attrName>
                                        </p:attrNameLst>
                                      </p:cBhvr>
                                      <p:tavLst>
                                        <p:tav tm="0">
                                          <p:val>
                                            <p:strVal val="#ppt_x"/>
                                          </p:val>
                                        </p:tav>
                                        <p:tav tm="100000">
                                          <p:val>
                                            <p:strVal val="#ppt_x"/>
                                          </p:val>
                                        </p:tav>
                                      </p:tavLst>
                                    </p:anim>
                                    <p:anim calcmode="lin" valueType="num">
                                      <p:cBhvr additive="base">
                                        <p:cTn id="17" dur="500" fill="hold"/>
                                        <p:tgtEl>
                                          <p:spTgt spid="23"/>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ppt_x</p:attrName>
                                        </p:attrNameLst>
                                      </p:cBhvr>
                                      <p:tavLst>
                                        <p:tav tm="0">
                                          <p:val>
                                            <p:strVal val="#ppt_x"/>
                                          </p:val>
                                        </p:tav>
                                        <p:tav tm="100000">
                                          <p:val>
                                            <p:strVal val="#ppt_x"/>
                                          </p:val>
                                        </p:tav>
                                      </p:tavLst>
                                    </p:anim>
                                    <p:anim calcmode="lin" valueType="num">
                                      <p:cBhvr additive="base">
                                        <p:cTn id="21" dur="500" fill="hold"/>
                                        <p:tgtEl>
                                          <p:spTgt spid="6"/>
                                        </p:tgtEl>
                                        <p:attrNameLst>
                                          <p:attrName>ppt_y</p:attrName>
                                        </p:attrNameLst>
                                      </p:cBhvr>
                                      <p:tavLst>
                                        <p:tav tm="0">
                                          <p:val>
                                            <p:strVal val="1+#ppt_h/2"/>
                                          </p:val>
                                        </p:tav>
                                        <p:tav tm="100000">
                                          <p:val>
                                            <p:strVal val="#ppt_y"/>
                                          </p:val>
                                        </p:tav>
                                      </p:tavLst>
                                    </p:anim>
                                  </p:childTnLst>
                                </p:cTn>
                              </p:par>
                              <p:par>
                                <p:cTn id="22" presetID="2" presetClass="entr" presetSubtype="4"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4"/>
                                        </p:tgtEl>
                                        <p:attrNameLst>
                                          <p:attrName>style.visibility</p:attrName>
                                        </p:attrNameLst>
                                      </p:cBhvr>
                                      <p:to>
                                        <p:strVal val="visible"/>
                                      </p:to>
                                    </p:set>
                                    <p:anim calcmode="lin" valueType="num">
                                      <p:cBhvr additive="base">
                                        <p:cTn id="30" dur="500" fill="hold"/>
                                        <p:tgtEl>
                                          <p:spTgt spid="24"/>
                                        </p:tgtEl>
                                        <p:attrNameLst>
                                          <p:attrName>ppt_x</p:attrName>
                                        </p:attrNameLst>
                                      </p:cBhvr>
                                      <p:tavLst>
                                        <p:tav tm="0">
                                          <p:val>
                                            <p:strVal val="#ppt_x"/>
                                          </p:val>
                                        </p:tav>
                                        <p:tav tm="100000">
                                          <p:val>
                                            <p:strVal val="#ppt_x"/>
                                          </p:val>
                                        </p:tav>
                                      </p:tavLst>
                                    </p:anim>
                                    <p:anim calcmode="lin" valueType="num">
                                      <p:cBhvr additive="base">
                                        <p:cTn id="31" dur="500" fill="hold"/>
                                        <p:tgtEl>
                                          <p:spTgt spid="24"/>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 calcmode="lin" valueType="num">
                                      <p:cBhvr additive="base">
                                        <p:cTn id="34" dur="500" fill="hold"/>
                                        <p:tgtEl>
                                          <p:spTgt spid="25"/>
                                        </p:tgtEl>
                                        <p:attrNameLst>
                                          <p:attrName>ppt_x</p:attrName>
                                        </p:attrNameLst>
                                      </p:cBhvr>
                                      <p:tavLst>
                                        <p:tav tm="0">
                                          <p:val>
                                            <p:strVal val="#ppt_x"/>
                                          </p:val>
                                        </p:tav>
                                        <p:tav tm="100000">
                                          <p:val>
                                            <p:strVal val="#ppt_x"/>
                                          </p:val>
                                        </p:tav>
                                      </p:tavLst>
                                    </p:anim>
                                    <p:anim calcmode="lin" valueType="num">
                                      <p:cBhvr additive="base">
                                        <p:cTn id="35"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5" grpId="0"/>
      <p:bldP spid="5" grpId="0"/>
      <p:bldP spid="7" grpId="0"/>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367030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Calibri" panose="020F0502020204030204" charset="0"/>
                <a:ea typeface="Calibri" panose="020F0502020204030204" charset="0"/>
                <a:cs typeface="Calibri" panose="020F0502020204030204" charset="0"/>
                <a:sym typeface="Calibri" panose="020F0502020204030204" charset="0"/>
              </a:rPr>
              <a:t>IA32</a:t>
            </a:r>
            <a:r>
              <a:rPr lang="zh-CN" altLang="en-US" sz="3200">
                <a:sym typeface="+mn-ea"/>
              </a:rPr>
              <a:t>的</a:t>
            </a:r>
            <a:r>
              <a:rPr lang="zh-CN" altLang="en-US" sz="3200"/>
              <a:t>字节顺序</a:t>
            </a:r>
          </a:p>
        </p:txBody>
      </p:sp>
      <p:sp>
        <p:nvSpPr>
          <p:cNvPr id="36868" name="Rectangle 4"/>
          <p:cNvSpPr/>
          <p:nvPr/>
        </p:nvSpPr>
        <p:spPr bwMode="auto">
          <a:xfrm>
            <a:off x="457200" y="1143000"/>
            <a:ext cx="26162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zh-CN" altLang="en-US" sz="2400">
                <a:solidFill>
                  <a:schemeClr val="tx1"/>
                </a:solidFill>
                <a:latin typeface="Calibri" panose="020F0502020204030204" charset="0"/>
                <a:ea typeface="宋体" panose="02010600030101010101" pitchFamily="2" charset="-122"/>
                <a:cs typeface="Calibri" panose="020F0502020204030204" charset="0"/>
                <a:sym typeface="Calibri" panose="020F0502020204030204" charset="0"/>
              </a:rPr>
              <a:t>小端模式</a:t>
            </a:r>
          </a:p>
        </p:txBody>
      </p:sp>
      <p:sp>
        <p:nvSpPr>
          <p:cNvPr id="36869" name="Rectangle 5"/>
          <p:cNvSpPr/>
          <p:nvPr/>
        </p:nvSpPr>
        <p:spPr bwMode="auto">
          <a:xfrm>
            <a:off x="228601" y="4876800"/>
            <a:ext cx="8458199" cy="1447800"/>
          </a:xfrm>
          <a:prstGeom prst="rect">
            <a:avLst/>
          </a:prstGeom>
          <a:noFill/>
          <a:ln w="25400" cap="flat">
            <a:noFill/>
            <a:miter lim="800000"/>
            <a:headEnd type="none" w="med" len="med"/>
            <a:tailEnd type="none" w="med" len="med"/>
          </a:ln>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panose="02070309020205020404" charset="0"/>
              </a:rPr>
              <a:t>Characters 0-7 == [0xf0,0xf1,0xf2,0xf3,0xf4,0xf5,0xf6,0xf7]</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panose="02070309020205020404" charset="0"/>
              </a:rPr>
              <a:t>Shorts     0-3 == [0xf1f0,0xf3f2,0xf5f4,0xf7f6]</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err="1">
                <a:solidFill>
                  <a:schemeClr val="tx1"/>
                </a:solidFill>
                <a:latin typeface="Courier New" panose="02070309020205020404" charset="0"/>
                <a:cs typeface="Courier New" panose="02070309020205020404" charset="0"/>
                <a:sym typeface="Courier New" panose="02070309020205020404" charset="0"/>
              </a:rPr>
              <a:t>Ints</a:t>
            </a:r>
            <a:r>
              <a:rPr lang="en-US" sz="1800" dirty="0">
                <a:solidFill>
                  <a:schemeClr val="tx1"/>
                </a:solidFill>
                <a:latin typeface="Courier New" panose="02070309020205020404" charset="0"/>
                <a:cs typeface="Courier New" panose="02070309020205020404" charset="0"/>
                <a:sym typeface="Courier New" panose="02070309020205020404" charset="0"/>
              </a:rPr>
              <a:t>       0-1 == [0xf3f2f1f0,0xf7f6f5f4]</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panose="02070309020205020404" charset="0"/>
              </a:rPr>
              <a:t>Long       0   == [0xf3f2f1f0]</a:t>
            </a:r>
          </a:p>
        </p:txBody>
      </p:sp>
      <p:sp>
        <p:nvSpPr>
          <p:cNvPr id="36870" name="Rectangle 6"/>
          <p:cNvSpPr/>
          <p:nvPr/>
        </p:nvSpPr>
        <p:spPr bwMode="auto">
          <a:xfrm>
            <a:off x="284163" y="4432300"/>
            <a:ext cx="36703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dirty="0">
                <a:solidFill>
                  <a:schemeClr val="tx1"/>
                </a:solidFill>
                <a:latin typeface="Calibri" panose="020F0502020204030204" charset="0"/>
                <a:ea typeface="Calibri" panose="020F0502020204030204" charset="0"/>
                <a:cs typeface="Calibri" panose="020F0502020204030204" charset="0"/>
                <a:sym typeface="Calibri" panose="020F0502020204030204" charset="0"/>
              </a:rPr>
              <a:t>Output:</a:t>
            </a:r>
          </a:p>
        </p:txBody>
      </p:sp>
      <p:graphicFrame>
        <p:nvGraphicFramePr>
          <p:cNvPr id="50" name="Table 49"/>
          <p:cNvGraphicFramePr>
            <a:graphicFrameLocks noGrp="1"/>
          </p:cNvGraphicFramePr>
          <p:nvPr/>
        </p:nvGraphicFramePr>
        <p:xfrm>
          <a:off x="1966913" y="1873905"/>
          <a:ext cx="6096000" cy="185420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40">
                <a:tc>
                  <a:txBody>
                    <a:bodyPr/>
                    <a:lstStyle/>
                    <a:p>
                      <a:pPr algn="ctr"/>
                      <a:r>
                        <a:rPr lang="en-US" b="1" dirty="0">
                          <a:latin typeface="Courier New" panose="02070309020205020404" charset="0"/>
                          <a:cs typeface="Courier New" panose="02070309020205020404" charset="0"/>
                        </a:rPr>
                        <a:t>f0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extLst>
                  <a:ext uri="{0D108BD9-81ED-4DB2-BD59-A6C34878D82A}">
                    <a16:rowId xmlns:a16="http://schemas.microsoft.com/office/drawing/2014/main" val="10000"/>
                  </a:ext>
                </a:extLst>
              </a:tr>
              <a:tr h="370840">
                <a:tc>
                  <a:txBody>
                    <a:bodyPr/>
                    <a:lstStyle/>
                    <a:p>
                      <a:pPr algn="ctr"/>
                      <a:r>
                        <a:rPr lang="en-US" b="1" dirty="0">
                          <a:latin typeface="Courier New" panose="02070309020205020404" charset="0"/>
                          <a:cs typeface="Courier New" panose="02070309020205020404" charset="0"/>
                        </a:rPr>
                        <a:t>c[0]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extLst>
                  <a:ext uri="{0D108BD9-81ED-4DB2-BD59-A6C34878D82A}">
                    <a16:rowId xmlns:a16="http://schemas.microsoft.com/office/drawing/2014/main" val="10001"/>
                  </a:ext>
                </a:extLst>
              </a:tr>
              <a:tr h="370840">
                <a:tc gridSpan="2">
                  <a:txBody>
                    <a:bodyPr/>
                    <a:lstStyle/>
                    <a:p>
                      <a:pPr algn="ctr"/>
                      <a:r>
                        <a:rPr lang="en-US" b="1" dirty="0">
                          <a:latin typeface="Courier New" panose="02070309020205020404" charset="0"/>
                          <a:cs typeface="Courier New" panose="02070309020205020404" charset="0"/>
                        </a:rPr>
                        <a:t>s[0]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gridSpan="4">
                  <a:txBody>
                    <a:bodyPr/>
                    <a:lstStyle/>
                    <a:p>
                      <a:pPr algn="ctr"/>
                      <a:r>
                        <a:rPr lang="en-US" b="1" dirty="0">
                          <a:latin typeface="Courier New" panose="02070309020205020404" charset="0"/>
                          <a:cs typeface="Courier New" panose="02070309020205020404" charset="0"/>
                        </a:rPr>
                        <a:t>l[0]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endParaRPr lang="en-US" b="1" dirty="0">
                        <a:latin typeface="Courier New" panose="02070309020205020404" charset="0"/>
                        <a:cs typeface="Courier New" panose="020703090202050204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2" name="Rectangle 12"/>
          <p:cNvSpPr/>
          <p:nvPr/>
        </p:nvSpPr>
        <p:spPr bwMode="auto">
          <a:xfrm>
            <a:off x="2047914" y="3728105"/>
            <a:ext cx="338234"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LSB</a:t>
            </a:r>
          </a:p>
        </p:txBody>
      </p:sp>
      <p:sp>
        <p:nvSpPr>
          <p:cNvPr id="53" name="Rectangle 12"/>
          <p:cNvSpPr/>
          <p:nvPr/>
        </p:nvSpPr>
        <p:spPr bwMode="auto">
          <a:xfrm>
            <a:off x="4571249" y="3734455"/>
            <a:ext cx="419987"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MSB</a:t>
            </a:r>
          </a:p>
        </p:txBody>
      </p:sp>
      <p:sp>
        <p:nvSpPr>
          <p:cNvPr id="54" name="Rectangle 12"/>
          <p:cNvSpPr/>
          <p:nvPr/>
        </p:nvSpPr>
        <p:spPr bwMode="auto">
          <a:xfrm>
            <a:off x="5105400" y="3746500"/>
            <a:ext cx="338234"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LSB</a:t>
            </a:r>
          </a:p>
        </p:txBody>
      </p:sp>
      <p:sp>
        <p:nvSpPr>
          <p:cNvPr id="55" name="Rectangle 12"/>
          <p:cNvSpPr/>
          <p:nvPr/>
        </p:nvSpPr>
        <p:spPr bwMode="auto">
          <a:xfrm>
            <a:off x="7642927" y="3728105"/>
            <a:ext cx="419987"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MSB</a:t>
            </a:r>
          </a:p>
        </p:txBody>
      </p:sp>
      <p:sp>
        <p:nvSpPr>
          <p:cNvPr id="56" name="Line 42"/>
          <p:cNvSpPr>
            <a:spLocks noChangeShapeType="1"/>
          </p:cNvSpPr>
          <p:nvPr/>
        </p:nvSpPr>
        <p:spPr bwMode="auto">
          <a:xfrm>
            <a:off x="2489426" y="4038888"/>
            <a:ext cx="2134288" cy="0"/>
          </a:xfrm>
          <a:prstGeom prst="line">
            <a:avLst/>
          </a:prstGeom>
          <a:noFill/>
          <a:ln w="25400" cap="flat">
            <a:solidFill>
              <a:schemeClr val="accent2">
                <a:lumMod val="50000"/>
              </a:schemeClr>
            </a:solidFill>
            <a:prstDash val="solid"/>
            <a:round/>
            <a:headEnd type="triangle" w="med" len="med"/>
            <a:tailEnd type="none" w="med" len="med"/>
          </a:ln>
        </p:spPr>
        <p:txBody>
          <a:bodyPr lIns="0" tIns="0" rIns="0" bIns="0"/>
          <a:lstStyle/>
          <a:p>
            <a:endParaRPr lang="en-US"/>
          </a:p>
        </p:txBody>
      </p:sp>
      <p:sp>
        <p:nvSpPr>
          <p:cNvPr id="57" name="Rectangle 43"/>
          <p:cNvSpPr/>
          <p:nvPr/>
        </p:nvSpPr>
        <p:spPr bwMode="auto">
          <a:xfrm>
            <a:off x="3224676" y="4050000"/>
            <a:ext cx="435115" cy="29210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Print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6869"/>
                                        </p:tgtEl>
                                        <p:attrNameLst>
                                          <p:attrName>style.visibility</p:attrName>
                                        </p:attrNameLst>
                                      </p:cBhvr>
                                      <p:to>
                                        <p:strVal val="visible"/>
                                      </p:to>
                                    </p:set>
                                    <p:animEffect transition="in" filter="wipe(down)">
                                      <p:cBhvr>
                                        <p:cTn id="7" dur="500"/>
                                        <p:tgtEl>
                                          <p:spTgt spid="36869"/>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6870"/>
                                        </p:tgtEl>
                                        <p:attrNameLst>
                                          <p:attrName>style.visibility</p:attrName>
                                        </p:attrNameLst>
                                      </p:cBhvr>
                                      <p:to>
                                        <p:strVal val="visible"/>
                                      </p:to>
                                    </p:set>
                                    <p:animEffect transition="in" filter="wipe(down)">
                                      <p:cBhvr>
                                        <p:cTn id="10" dur="500"/>
                                        <p:tgtEl>
                                          <p:spTgt spid="36870"/>
                                        </p:tgtEl>
                                      </p:cBhvr>
                                    </p:animEffect>
                                  </p:childTnLst>
                                </p:cTn>
                              </p:par>
                              <p:par>
                                <p:cTn id="11" presetID="22" presetClass="entr" presetSubtype="4"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wipe(down)">
                                      <p:cBhvr>
                                        <p:cTn id="13" dur="500"/>
                                        <p:tgtEl>
                                          <p:spTgt spid="56"/>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7"/>
                                        </p:tgtEl>
                                        <p:attrNameLst>
                                          <p:attrName>style.visibility</p:attrName>
                                        </p:attrNameLst>
                                      </p:cBhvr>
                                      <p:to>
                                        <p:strVal val="visible"/>
                                      </p:to>
                                    </p:set>
                                    <p:animEffect transition="in" filter="wipe(down)">
                                      <p:cBhvr>
                                        <p:cTn id="16"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9" grpId="0"/>
      <p:bldP spid="36870" grpId="0"/>
      <p:bldP spid="57" grpId="0"/>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367030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latin typeface="Calibri" panose="020F0502020204030204" charset="0"/>
                <a:ea typeface="Calibri" panose="020F0502020204030204" charset="0"/>
                <a:cs typeface="Calibri" panose="020F0502020204030204" charset="0"/>
                <a:sym typeface="Calibri" panose="020F0502020204030204" charset="0"/>
              </a:rPr>
              <a:t>Sun</a:t>
            </a:r>
            <a:r>
              <a:rPr lang="zh-CN" altLang="en-US" sz="3200">
                <a:sym typeface="+mn-ea"/>
              </a:rPr>
              <a:t>的</a:t>
            </a:r>
            <a:r>
              <a:rPr lang="zh-CN" altLang="en-US" sz="3200"/>
              <a:t>字节顺序</a:t>
            </a:r>
          </a:p>
        </p:txBody>
      </p:sp>
      <p:sp>
        <p:nvSpPr>
          <p:cNvPr id="37892" name="Rectangle 4"/>
          <p:cNvSpPr/>
          <p:nvPr/>
        </p:nvSpPr>
        <p:spPr bwMode="auto">
          <a:xfrm>
            <a:off x="457200" y="1143000"/>
            <a:ext cx="26162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zh-CN" altLang="en-US" sz="2400">
                <a:solidFill>
                  <a:schemeClr val="tx1"/>
                </a:solidFill>
                <a:latin typeface="Calibri" panose="020F0502020204030204" charset="0"/>
                <a:ea typeface="宋体" panose="02010600030101010101" pitchFamily="2" charset="-122"/>
                <a:cs typeface="Calibri" panose="020F0502020204030204" charset="0"/>
                <a:sym typeface="Calibri" panose="020F0502020204030204" charset="0"/>
              </a:rPr>
              <a:t>大端模式</a:t>
            </a:r>
          </a:p>
        </p:txBody>
      </p:sp>
      <p:sp>
        <p:nvSpPr>
          <p:cNvPr id="37893" name="Rectangle 5"/>
          <p:cNvSpPr/>
          <p:nvPr/>
        </p:nvSpPr>
        <p:spPr bwMode="auto">
          <a:xfrm>
            <a:off x="228600" y="5029200"/>
            <a:ext cx="8686800" cy="1295400"/>
          </a:xfrm>
          <a:prstGeom prst="rect">
            <a:avLst/>
          </a:prstGeom>
          <a:noFill/>
          <a:ln w="25400" cap="flat">
            <a:noFill/>
            <a:miter lim="800000"/>
            <a:headEnd type="none" w="med" len="med"/>
            <a:tailEnd type="none" w="med" len="med"/>
          </a:ln>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panose="02070309020205020404" charset="0"/>
              </a:rPr>
              <a:t>Characters 0-7 == [0xf0,0xf1,0xf2,0xf3,0xf4,0xf5,0xf6,0xf7]</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panose="02070309020205020404" charset="0"/>
              </a:rPr>
              <a:t>Shorts     0-3 == [0xf0f1,0xf2f3,0xf4f5,0xf6f7]</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err="1">
                <a:solidFill>
                  <a:schemeClr val="tx1"/>
                </a:solidFill>
                <a:latin typeface="Courier New" panose="02070309020205020404" charset="0"/>
                <a:cs typeface="Courier New" panose="02070309020205020404" charset="0"/>
                <a:sym typeface="Courier New" panose="02070309020205020404" charset="0"/>
              </a:rPr>
              <a:t>Ints</a:t>
            </a:r>
            <a:r>
              <a:rPr lang="en-US" sz="1800" dirty="0">
                <a:solidFill>
                  <a:schemeClr val="tx1"/>
                </a:solidFill>
                <a:latin typeface="Courier New" panose="02070309020205020404" charset="0"/>
                <a:cs typeface="Courier New" panose="02070309020205020404" charset="0"/>
                <a:sym typeface="Courier New" panose="02070309020205020404" charset="0"/>
              </a:rPr>
              <a:t>       0-1 == [0xf0f1f2f3,0xf4f5f6f7]</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panose="02070309020205020404" charset="0"/>
              </a:rPr>
              <a:t>Long       0   == [0xf0f1f2f3]</a:t>
            </a:r>
          </a:p>
        </p:txBody>
      </p:sp>
      <p:sp>
        <p:nvSpPr>
          <p:cNvPr id="37894" name="Rectangle 6"/>
          <p:cNvSpPr/>
          <p:nvPr/>
        </p:nvSpPr>
        <p:spPr bwMode="auto">
          <a:xfrm>
            <a:off x="304800" y="4495800"/>
            <a:ext cx="36703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dirty="0">
                <a:solidFill>
                  <a:schemeClr val="tx1"/>
                </a:solidFill>
                <a:latin typeface="Calibri" panose="020F0502020204030204" charset="0"/>
                <a:ea typeface="Calibri" panose="020F0502020204030204" charset="0"/>
                <a:cs typeface="Calibri" panose="020F0502020204030204" charset="0"/>
                <a:sym typeface="Calibri" panose="020F0502020204030204" charset="0"/>
              </a:rPr>
              <a:t>Output on Sun:</a:t>
            </a:r>
          </a:p>
        </p:txBody>
      </p:sp>
      <p:graphicFrame>
        <p:nvGraphicFramePr>
          <p:cNvPr id="48" name="Table 47"/>
          <p:cNvGraphicFramePr>
            <a:graphicFrameLocks noGrp="1"/>
          </p:cNvGraphicFramePr>
          <p:nvPr/>
        </p:nvGraphicFramePr>
        <p:xfrm>
          <a:off x="1966913" y="1873905"/>
          <a:ext cx="6096000" cy="185420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40">
                <a:tc>
                  <a:txBody>
                    <a:bodyPr/>
                    <a:lstStyle/>
                    <a:p>
                      <a:pPr algn="ctr"/>
                      <a:r>
                        <a:rPr lang="en-US" b="1" dirty="0">
                          <a:latin typeface="Courier New" panose="02070309020205020404" charset="0"/>
                          <a:cs typeface="Courier New" panose="02070309020205020404" charset="0"/>
                        </a:rPr>
                        <a:t>f0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extLst>
                  <a:ext uri="{0D108BD9-81ED-4DB2-BD59-A6C34878D82A}">
                    <a16:rowId xmlns:a16="http://schemas.microsoft.com/office/drawing/2014/main" val="10000"/>
                  </a:ext>
                </a:extLst>
              </a:tr>
              <a:tr h="370840">
                <a:tc>
                  <a:txBody>
                    <a:bodyPr/>
                    <a:lstStyle/>
                    <a:p>
                      <a:pPr algn="ctr"/>
                      <a:r>
                        <a:rPr lang="en-US" b="1" dirty="0">
                          <a:latin typeface="Courier New" panose="02070309020205020404" charset="0"/>
                          <a:cs typeface="Courier New" panose="02070309020205020404" charset="0"/>
                        </a:rPr>
                        <a:t>c[0]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extLst>
                  <a:ext uri="{0D108BD9-81ED-4DB2-BD59-A6C34878D82A}">
                    <a16:rowId xmlns:a16="http://schemas.microsoft.com/office/drawing/2014/main" val="10001"/>
                  </a:ext>
                </a:extLst>
              </a:tr>
              <a:tr h="370840">
                <a:tc gridSpan="2">
                  <a:txBody>
                    <a:bodyPr/>
                    <a:lstStyle/>
                    <a:p>
                      <a:pPr algn="ctr"/>
                      <a:r>
                        <a:rPr lang="en-US" b="1" dirty="0">
                          <a:latin typeface="Courier New" panose="02070309020205020404" charset="0"/>
                          <a:cs typeface="Courier New" panose="02070309020205020404" charset="0"/>
                        </a:rPr>
                        <a:t>s[0]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gridSpan="4">
                  <a:txBody>
                    <a:bodyPr/>
                    <a:lstStyle/>
                    <a:p>
                      <a:pPr algn="ctr"/>
                      <a:r>
                        <a:rPr lang="en-US" b="1" dirty="0">
                          <a:latin typeface="Courier New" panose="02070309020205020404" charset="0"/>
                          <a:cs typeface="Courier New" panose="02070309020205020404" charset="0"/>
                        </a:rPr>
                        <a:t>l[0]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endParaRPr lang="en-US" b="1" dirty="0">
                        <a:latin typeface="Courier New" panose="02070309020205020404" charset="0"/>
                        <a:cs typeface="Courier New" panose="020703090202050204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9" name="Rectangle 12"/>
          <p:cNvSpPr/>
          <p:nvPr/>
        </p:nvSpPr>
        <p:spPr bwMode="auto">
          <a:xfrm>
            <a:off x="1966162" y="3728105"/>
            <a:ext cx="419987"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MSB</a:t>
            </a:r>
          </a:p>
        </p:txBody>
      </p:sp>
      <p:sp>
        <p:nvSpPr>
          <p:cNvPr id="50" name="Rectangle 12"/>
          <p:cNvSpPr/>
          <p:nvPr/>
        </p:nvSpPr>
        <p:spPr bwMode="auto">
          <a:xfrm>
            <a:off x="4653002" y="3734455"/>
            <a:ext cx="338234"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LSB</a:t>
            </a:r>
          </a:p>
        </p:txBody>
      </p:sp>
      <p:sp>
        <p:nvSpPr>
          <p:cNvPr id="51" name="Rectangle 12"/>
          <p:cNvSpPr/>
          <p:nvPr/>
        </p:nvSpPr>
        <p:spPr bwMode="auto">
          <a:xfrm>
            <a:off x="5023648" y="3746500"/>
            <a:ext cx="419987"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MSB</a:t>
            </a:r>
          </a:p>
        </p:txBody>
      </p:sp>
      <p:sp>
        <p:nvSpPr>
          <p:cNvPr id="52" name="Rectangle 12"/>
          <p:cNvSpPr/>
          <p:nvPr/>
        </p:nvSpPr>
        <p:spPr bwMode="auto">
          <a:xfrm>
            <a:off x="7724680" y="3728105"/>
            <a:ext cx="338234"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LSB</a:t>
            </a:r>
          </a:p>
        </p:txBody>
      </p:sp>
      <p:sp>
        <p:nvSpPr>
          <p:cNvPr id="53" name="Line 42"/>
          <p:cNvSpPr>
            <a:spLocks noChangeShapeType="1"/>
          </p:cNvSpPr>
          <p:nvPr/>
        </p:nvSpPr>
        <p:spPr bwMode="auto">
          <a:xfrm flipH="1">
            <a:off x="2489426" y="4038888"/>
            <a:ext cx="2134288" cy="0"/>
          </a:xfrm>
          <a:prstGeom prst="line">
            <a:avLst/>
          </a:prstGeom>
          <a:noFill/>
          <a:ln w="25400" cap="flat">
            <a:solidFill>
              <a:schemeClr val="accent2">
                <a:lumMod val="50000"/>
              </a:schemeClr>
            </a:solidFill>
            <a:prstDash val="solid"/>
            <a:round/>
            <a:headEnd type="triangle" w="med" len="med"/>
            <a:tailEnd type="none" w="med" len="med"/>
          </a:ln>
        </p:spPr>
        <p:txBody>
          <a:bodyPr lIns="0" tIns="0" rIns="0" bIns="0"/>
          <a:lstStyle/>
          <a:p>
            <a:endParaRPr lang="en-US"/>
          </a:p>
        </p:txBody>
      </p:sp>
      <p:sp>
        <p:nvSpPr>
          <p:cNvPr id="54" name="Rectangle 43"/>
          <p:cNvSpPr/>
          <p:nvPr/>
        </p:nvSpPr>
        <p:spPr bwMode="auto">
          <a:xfrm>
            <a:off x="3224676" y="4050000"/>
            <a:ext cx="435115" cy="29210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Print</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1300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a:latin typeface="Calibri" panose="020F0502020204030204" charset="0"/>
                <a:ea typeface="Calibri" panose="020F0502020204030204" charset="0"/>
                <a:cs typeface="Calibri" panose="020F0502020204030204" charset="0"/>
                <a:sym typeface="Calibri" panose="020F0502020204030204" charset="0"/>
              </a:rPr>
              <a:t>x86-64</a:t>
            </a:r>
            <a:r>
              <a:rPr lang="zh-CN" altLang="en-US" sz="3200">
                <a:sym typeface="+mn-ea"/>
              </a:rPr>
              <a:t>的</a:t>
            </a:r>
            <a:r>
              <a:rPr lang="zh-CN" altLang="en-US" sz="3200"/>
              <a:t>字节顺序</a:t>
            </a:r>
          </a:p>
        </p:txBody>
      </p:sp>
      <p:sp>
        <p:nvSpPr>
          <p:cNvPr id="38916" name="Rectangle 4"/>
          <p:cNvSpPr/>
          <p:nvPr/>
        </p:nvSpPr>
        <p:spPr bwMode="auto">
          <a:xfrm>
            <a:off x="457200" y="1066800"/>
            <a:ext cx="26162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zh-CN" altLang="en-US" sz="2400">
                <a:solidFill>
                  <a:schemeClr val="tx1"/>
                </a:solidFill>
                <a:latin typeface="Calibri" panose="020F0502020204030204" charset="0"/>
                <a:ea typeface="宋体" panose="02010600030101010101" pitchFamily="2" charset="-122"/>
                <a:cs typeface="Calibri" panose="020F0502020204030204" charset="0"/>
                <a:sym typeface="Calibri" panose="020F0502020204030204" charset="0"/>
              </a:rPr>
              <a:t>小端模式</a:t>
            </a:r>
          </a:p>
        </p:txBody>
      </p:sp>
      <p:sp>
        <p:nvSpPr>
          <p:cNvPr id="38917" name="Rectangle 5"/>
          <p:cNvSpPr/>
          <p:nvPr/>
        </p:nvSpPr>
        <p:spPr bwMode="auto">
          <a:xfrm>
            <a:off x="190500" y="4953000"/>
            <a:ext cx="8763000" cy="1231900"/>
          </a:xfrm>
          <a:prstGeom prst="rect">
            <a:avLst/>
          </a:prstGeom>
          <a:noFill/>
          <a:ln w="25400" cap="flat">
            <a:noFill/>
            <a:miter lim="800000"/>
            <a:headEnd type="none" w="med" len="med"/>
            <a:tailEnd type="none" w="med" len="med"/>
          </a:ln>
        </p:spPr>
        <p:txBody>
          <a:bodyPr lIns="38100" tIns="38100" rIns="38100" bIns="38100"/>
          <a:lstStyle/>
          <a:p>
            <a:pPr algn="l"/>
            <a:r>
              <a:rPr lang="en-US" sz="1800" dirty="0">
                <a:solidFill>
                  <a:schemeClr val="tx1"/>
                </a:solidFill>
                <a:latin typeface="Courier New" panose="02070309020205020404" charset="0"/>
                <a:cs typeface="Courier New" panose="02070309020205020404" charset="0"/>
                <a:sym typeface="Courier New" panose="02070309020205020404" charset="0"/>
              </a:rPr>
              <a:t>Characters 0-7 == [0xf0,0xf1,0xf2,0xf3,0xf4,0xf5,0xf6,0xf7]</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panose="02070309020205020404" charset="0"/>
              </a:rPr>
              <a:t>Shorts     0-3 == [0xf1f0,0xf3f2,0xf5f4,0xf7f6]</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err="1">
                <a:solidFill>
                  <a:schemeClr val="tx1"/>
                </a:solidFill>
                <a:latin typeface="Courier New" panose="02070309020205020404" charset="0"/>
                <a:cs typeface="Courier New" panose="02070309020205020404" charset="0"/>
                <a:sym typeface="Courier New" panose="02070309020205020404" charset="0"/>
              </a:rPr>
              <a:t>Ints</a:t>
            </a:r>
            <a:r>
              <a:rPr lang="en-US" sz="1800" dirty="0">
                <a:solidFill>
                  <a:schemeClr val="tx1"/>
                </a:solidFill>
                <a:latin typeface="Courier New" panose="02070309020205020404" charset="0"/>
                <a:cs typeface="Courier New" panose="02070309020205020404" charset="0"/>
                <a:sym typeface="Courier New" panose="02070309020205020404" charset="0"/>
              </a:rPr>
              <a:t>       0-1 == [0xf3f2f1f0,0xf7f6f5f4]</a:t>
            </a:r>
            <a:endParaRPr lang="en-US" sz="1800" dirty="0">
              <a:solidFill>
                <a:schemeClr val="tx1"/>
              </a:solidFill>
              <a:latin typeface="Courier New" panose="02070309020205020404" charset="0"/>
              <a:ea typeface="Lucida Grande" charset="0"/>
              <a:cs typeface="Courier New" panose="02070309020205020404" charset="0"/>
              <a:sym typeface="Arial Narrow" panose="020B0606020202030204" pitchFamily="34" charset="0"/>
            </a:endParaRPr>
          </a:p>
          <a:p>
            <a:pPr algn="l"/>
            <a:r>
              <a:rPr lang="en-US" sz="1800" dirty="0">
                <a:solidFill>
                  <a:schemeClr val="tx1"/>
                </a:solidFill>
                <a:latin typeface="Courier New" panose="02070309020205020404" charset="0"/>
                <a:cs typeface="Courier New" panose="02070309020205020404" charset="0"/>
                <a:sym typeface="Courier New" panose="02070309020205020404" charset="0"/>
              </a:rPr>
              <a:t>Long       0   == </a:t>
            </a:r>
            <a:r>
              <a:rPr lang="en-US" sz="1800" dirty="0">
                <a:solidFill>
                  <a:srgbClr val="0070C0"/>
                </a:solidFill>
                <a:latin typeface="Courier New" panose="02070309020205020404" charset="0"/>
                <a:cs typeface="Courier New" panose="02070309020205020404" charset="0"/>
                <a:sym typeface="Courier New" panose="02070309020205020404" charset="0"/>
              </a:rPr>
              <a:t>[0xf7f6f5f4f3f2f1f0]</a:t>
            </a:r>
          </a:p>
        </p:txBody>
      </p:sp>
      <p:sp>
        <p:nvSpPr>
          <p:cNvPr id="38918" name="Rectangle 6"/>
          <p:cNvSpPr/>
          <p:nvPr/>
        </p:nvSpPr>
        <p:spPr bwMode="auto">
          <a:xfrm>
            <a:off x="381000" y="4330987"/>
            <a:ext cx="3670300" cy="444500"/>
          </a:xfrm>
          <a:prstGeom prst="rect">
            <a:avLst/>
          </a:prstGeom>
          <a:noFill/>
          <a:ln w="12700" cap="flat">
            <a:noFill/>
            <a:miter lim="800000"/>
            <a:headEnd type="none" w="med" len="med"/>
            <a:tailEnd type="none" w="med" len="med"/>
          </a:ln>
        </p:spPr>
        <p:txBody>
          <a:bodyPr lIns="38100" tIns="38100" rIns="38100" bIns="38100"/>
          <a:lstStyle/>
          <a:p>
            <a:pPr marL="186055" indent="-186055" algn="l">
              <a:spcBef>
                <a:spcPts val="865"/>
              </a:spcBef>
            </a:pPr>
            <a:r>
              <a:rPr lang="en-US" sz="2400" dirty="0">
                <a:solidFill>
                  <a:schemeClr val="tx1"/>
                </a:solidFill>
                <a:latin typeface="Calibri" panose="020F0502020204030204" charset="0"/>
                <a:ea typeface="Calibri" panose="020F0502020204030204" charset="0"/>
                <a:cs typeface="Calibri" panose="020F0502020204030204" charset="0"/>
                <a:sym typeface="Calibri" panose="020F0502020204030204" charset="0"/>
              </a:rPr>
              <a:t>Output on x86-64:</a:t>
            </a:r>
          </a:p>
        </p:txBody>
      </p:sp>
      <p:graphicFrame>
        <p:nvGraphicFramePr>
          <p:cNvPr id="48" name="Table 47"/>
          <p:cNvGraphicFramePr>
            <a:graphicFrameLocks noGrp="1"/>
          </p:cNvGraphicFramePr>
          <p:nvPr/>
        </p:nvGraphicFramePr>
        <p:xfrm>
          <a:off x="1966913" y="1873905"/>
          <a:ext cx="6096000" cy="185420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7620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7620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gridCol w="762000">
                  <a:extLst>
                    <a:ext uri="{9D8B030D-6E8A-4147-A177-3AD203B41FA5}">
                      <a16:colId xmlns:a16="http://schemas.microsoft.com/office/drawing/2014/main" val="20004"/>
                    </a:ext>
                  </a:extLst>
                </a:gridCol>
                <a:gridCol w="762000">
                  <a:extLst>
                    <a:ext uri="{9D8B030D-6E8A-4147-A177-3AD203B41FA5}">
                      <a16:colId xmlns:a16="http://schemas.microsoft.com/office/drawing/2014/main" val="20005"/>
                    </a:ext>
                  </a:extLst>
                </a:gridCol>
                <a:gridCol w="762000">
                  <a:extLst>
                    <a:ext uri="{9D8B030D-6E8A-4147-A177-3AD203B41FA5}">
                      <a16:colId xmlns:a16="http://schemas.microsoft.com/office/drawing/2014/main" val="20006"/>
                    </a:ext>
                  </a:extLst>
                </a:gridCol>
                <a:gridCol w="762000">
                  <a:extLst>
                    <a:ext uri="{9D8B030D-6E8A-4147-A177-3AD203B41FA5}">
                      <a16:colId xmlns:a16="http://schemas.microsoft.com/office/drawing/2014/main" val="20007"/>
                    </a:ext>
                  </a:extLst>
                </a:gridCol>
              </a:tblGrid>
              <a:tr h="370840">
                <a:tc>
                  <a:txBody>
                    <a:bodyPr/>
                    <a:lstStyle/>
                    <a:p>
                      <a:pPr algn="ctr"/>
                      <a:r>
                        <a:rPr lang="en-US" b="1" dirty="0">
                          <a:latin typeface="Courier New" panose="02070309020205020404" charset="0"/>
                          <a:cs typeface="Courier New" panose="02070309020205020404" charset="0"/>
                        </a:rPr>
                        <a:t>f0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f7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extLst>
                  <a:ext uri="{0D108BD9-81ED-4DB2-BD59-A6C34878D82A}">
                    <a16:rowId xmlns:a16="http://schemas.microsoft.com/office/drawing/2014/main" val="10000"/>
                  </a:ext>
                </a:extLst>
              </a:tr>
              <a:tr h="370840">
                <a:tc>
                  <a:txBody>
                    <a:bodyPr/>
                    <a:lstStyle/>
                    <a:p>
                      <a:pPr algn="ctr"/>
                      <a:r>
                        <a:rPr lang="en-US" b="1" dirty="0">
                          <a:latin typeface="Courier New" panose="02070309020205020404" charset="0"/>
                          <a:cs typeface="Courier New" panose="02070309020205020404" charset="0"/>
                        </a:rPr>
                        <a:t>c[0]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a:txBody>
                    <a:bodyPr/>
                    <a:lstStyle/>
                    <a:p>
                      <a:pPr algn="ctr"/>
                      <a:r>
                        <a:rPr lang="en-US" b="1" dirty="0">
                          <a:latin typeface="Courier New" panose="02070309020205020404" charset="0"/>
                          <a:cs typeface="Courier New" panose="02070309020205020404" charset="0"/>
                        </a:rPr>
                        <a:t>c[7]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extLst>
                  <a:ext uri="{0D108BD9-81ED-4DB2-BD59-A6C34878D82A}">
                    <a16:rowId xmlns:a16="http://schemas.microsoft.com/office/drawing/2014/main" val="10001"/>
                  </a:ext>
                </a:extLst>
              </a:tr>
              <a:tr h="370840">
                <a:tc gridSpan="2">
                  <a:txBody>
                    <a:bodyPr/>
                    <a:lstStyle/>
                    <a:p>
                      <a:pPr algn="ctr"/>
                      <a:r>
                        <a:rPr lang="en-US" b="1" dirty="0">
                          <a:latin typeface="Courier New" panose="02070309020205020404" charset="0"/>
                          <a:cs typeface="Courier New" panose="02070309020205020404" charset="0"/>
                        </a:rPr>
                        <a:t>s[0]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r>
                        <a:rPr lang="en-US" b="1" dirty="0">
                          <a:latin typeface="Courier New" panose="02070309020205020404" charset="0"/>
                          <a:cs typeface="Courier New" panose="02070309020205020404" charset="0"/>
                        </a:rPr>
                        <a:t>s[3]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70840">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algn="ctr"/>
                      <a:r>
                        <a:rPr lang="en-US" b="1" dirty="0" err="1">
                          <a:latin typeface="Courier New" panose="02070309020205020404" charset="0"/>
                          <a:cs typeface="Courier New" panose="02070309020205020404" charset="0"/>
                        </a:rPr>
                        <a:t>i</a:t>
                      </a:r>
                      <a:r>
                        <a:rPr lang="en-US" b="1" dirty="0">
                          <a:latin typeface="Courier New" panose="02070309020205020404" charset="0"/>
                          <a:cs typeface="Courier New" panose="02070309020205020404" charset="0"/>
                        </a:rPr>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70840">
                <a:tc gridSpan="8">
                  <a:txBody>
                    <a:bodyPr/>
                    <a:lstStyle/>
                    <a:p>
                      <a:pPr algn="ctr"/>
                      <a:r>
                        <a:rPr lang="en-US" b="1" dirty="0">
                          <a:latin typeface="Courier New" panose="02070309020205020404" charset="0"/>
                          <a:cs typeface="Courier New" panose="02070309020205020404" charset="0"/>
                        </a:rPr>
                        <a:t>l[0]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5F1CF"/>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9" name="Rectangle 12"/>
          <p:cNvSpPr/>
          <p:nvPr/>
        </p:nvSpPr>
        <p:spPr bwMode="auto">
          <a:xfrm>
            <a:off x="2047914" y="3728105"/>
            <a:ext cx="338234"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LSB</a:t>
            </a:r>
          </a:p>
        </p:txBody>
      </p:sp>
      <p:sp>
        <p:nvSpPr>
          <p:cNvPr id="50" name="Rectangle 12"/>
          <p:cNvSpPr/>
          <p:nvPr/>
        </p:nvSpPr>
        <p:spPr bwMode="auto">
          <a:xfrm>
            <a:off x="7642926" y="3757612"/>
            <a:ext cx="419987" cy="292388"/>
          </a:xfrm>
          <a:prstGeom prst="rect">
            <a:avLst/>
          </a:prstGeom>
          <a:noFill/>
          <a:ln w="25400" cap="flat">
            <a:noFill/>
            <a:miter lim="800000"/>
            <a:headEnd type="none" w="med" len="med"/>
            <a:tailEnd type="none" w="med" len="med"/>
          </a:ln>
        </p:spPr>
        <p:txBody>
          <a:bodyPr wrap="none" lIns="38100" tIns="38100" rIns="38100" bIns="38100">
            <a:spAutoFit/>
          </a:bodyPr>
          <a:lstStyle/>
          <a:p>
            <a:pPr algn="r"/>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MSB</a:t>
            </a:r>
          </a:p>
        </p:txBody>
      </p:sp>
      <p:sp>
        <p:nvSpPr>
          <p:cNvPr id="53" name="Line 42"/>
          <p:cNvSpPr>
            <a:spLocks noChangeShapeType="1"/>
          </p:cNvSpPr>
          <p:nvPr/>
        </p:nvSpPr>
        <p:spPr bwMode="auto">
          <a:xfrm>
            <a:off x="2489426" y="4038887"/>
            <a:ext cx="4901974" cy="0"/>
          </a:xfrm>
          <a:prstGeom prst="line">
            <a:avLst/>
          </a:prstGeom>
          <a:noFill/>
          <a:ln w="25400" cap="flat">
            <a:solidFill>
              <a:schemeClr val="accent2">
                <a:lumMod val="50000"/>
              </a:schemeClr>
            </a:solidFill>
            <a:prstDash val="solid"/>
            <a:round/>
            <a:headEnd type="triangle" w="med" len="med"/>
            <a:tailEnd type="none" w="med" len="med"/>
          </a:ln>
        </p:spPr>
        <p:txBody>
          <a:bodyPr lIns="0" tIns="0" rIns="0" bIns="0"/>
          <a:lstStyle/>
          <a:p>
            <a:endParaRPr lang="en-US"/>
          </a:p>
        </p:txBody>
      </p:sp>
      <p:sp>
        <p:nvSpPr>
          <p:cNvPr id="54" name="Rectangle 43"/>
          <p:cNvSpPr/>
          <p:nvPr/>
        </p:nvSpPr>
        <p:spPr bwMode="auto">
          <a:xfrm>
            <a:off x="4800600" y="4038887"/>
            <a:ext cx="435115" cy="292100"/>
          </a:xfrm>
          <a:prstGeom prst="rect">
            <a:avLst/>
          </a:prstGeom>
          <a:noFill/>
          <a:ln w="25400" cap="flat">
            <a:noFill/>
            <a:miter lim="800000"/>
            <a:headEnd type="none" w="med" len="med"/>
            <a:tailEnd type="none" w="med" len="med"/>
          </a:ln>
        </p:spPr>
        <p:txBody>
          <a:bodyPr wrap="none" lIns="38100" tIns="38100" rIns="38100" bIns="38100">
            <a:spAutoFit/>
          </a:bodyPr>
          <a:lstStyle/>
          <a:p>
            <a:pPr algn="l"/>
            <a:r>
              <a:rPr lang="en-US" sz="1400" dirty="0">
                <a:solidFill>
                  <a:srgbClr val="C00000"/>
                </a:solidFill>
                <a:latin typeface="Calibri" panose="020F0502020204030204" charset="0"/>
                <a:ea typeface="Calibri" panose="020F0502020204030204" charset="0"/>
                <a:cs typeface="Calibri" panose="020F0502020204030204" charset="0"/>
                <a:sym typeface="Calibri" panose="020F0502020204030204" charset="0"/>
              </a:rPr>
              <a:t>Print</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1300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200"/>
              <a:t>c复合类型概述</a:t>
            </a:r>
          </a:p>
        </p:txBody>
      </p:sp>
      <p:sp>
        <p:nvSpPr>
          <p:cNvPr id="39940" name="Rectangle 4"/>
          <p:cNvSpPr>
            <a:spLocks noGrp="1" noChangeArrowheads="1"/>
          </p:cNvSpPr>
          <p:nvPr/>
        </p:nvSpPr>
        <p:spPr>
          <a:xfrm>
            <a:off x="291465" y="1138555"/>
            <a:ext cx="82899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0D0D0D"/>
              </a:buClr>
            </a:pPr>
            <a:r>
              <a:rPr lang="zh-CN" altLang="en-US" dirty="0"/>
              <a:t>数组</a:t>
            </a:r>
          </a:p>
          <a:p>
            <a:pPr marL="552450" lvl="1">
              <a:buClr>
                <a:srgbClr val="0D0D0D"/>
              </a:buClr>
            </a:pPr>
            <a:r>
              <a:rPr lang="en-US" dirty="0"/>
              <a:t>连续分配内存</a:t>
            </a:r>
          </a:p>
          <a:p>
            <a:pPr marL="552450" lvl="1">
              <a:buClr>
                <a:srgbClr val="0D0D0D"/>
              </a:buClr>
            </a:pPr>
            <a:r>
              <a:rPr lang="en-US" dirty="0"/>
              <a:t>满足每个元素的对齐要求</a:t>
            </a:r>
          </a:p>
          <a:p>
            <a:pPr marL="552450" lvl="1">
              <a:buClr>
                <a:srgbClr val="0D0D0D"/>
              </a:buClr>
            </a:pPr>
            <a:r>
              <a:rPr lang="en-US" dirty="0"/>
              <a:t>指向第一个元素的指针</a:t>
            </a:r>
          </a:p>
          <a:p>
            <a:pPr marL="552450" lvl="1">
              <a:buClr>
                <a:srgbClr val="0D0D0D"/>
              </a:buClr>
            </a:pPr>
            <a:r>
              <a:rPr lang="en-US" dirty="0"/>
              <a:t>没有边界检查</a:t>
            </a:r>
          </a:p>
          <a:p>
            <a:pPr>
              <a:buClr>
                <a:srgbClr val="0D0D0D"/>
              </a:buClr>
            </a:pPr>
            <a:r>
              <a:rPr lang="zh-CN" altLang="en-US" dirty="0"/>
              <a:t>结构</a:t>
            </a:r>
          </a:p>
          <a:p>
            <a:pPr marL="552450" lvl="1">
              <a:buClr>
                <a:srgbClr val="0D0D0D"/>
              </a:buClr>
            </a:pPr>
            <a:r>
              <a:rPr lang="en-US" dirty="0"/>
              <a:t>按顺序分配字节</a:t>
            </a:r>
          </a:p>
          <a:p>
            <a:pPr marL="552450" lvl="1">
              <a:buClr>
                <a:srgbClr val="0D0D0D"/>
              </a:buClr>
            </a:pPr>
            <a:r>
              <a:rPr lang="zh-CN" altLang="en-US" dirty="0"/>
              <a:t>按照数据类型满足字节整除（满足对齐要求）</a:t>
            </a:r>
          </a:p>
          <a:p>
            <a:pPr>
              <a:buClr>
                <a:srgbClr val="0D0D0D"/>
              </a:buClr>
            </a:pPr>
            <a:r>
              <a:rPr lang="zh-CN" altLang="en-US" dirty="0"/>
              <a:t>联合</a:t>
            </a:r>
          </a:p>
          <a:p>
            <a:pPr marL="609600" lvl="1" indent="-342900">
              <a:buClr>
                <a:srgbClr val="0D0D0D"/>
              </a:buClr>
              <a:buFont typeface="Wingdings" panose="05000000000000000000" charset="0"/>
              <a:buChar char=""/>
            </a:pPr>
            <a:r>
              <a:rPr lang="zh-CN" altLang="en-US" dirty="0">
                <a:highlight>
                  <a:srgbClr val="FFFF00"/>
                </a:highlight>
              </a:rPr>
              <a:t>一个联合总的大小等于它最大字段的大小</a:t>
            </a:r>
          </a:p>
          <a:p>
            <a:pPr marL="609600" lvl="1" indent="-342900">
              <a:buClr>
                <a:srgbClr val="0D0D0D"/>
              </a:buClr>
              <a:buFont typeface="Wingdings" panose="05000000000000000000" charset="0"/>
              <a:buChar char=""/>
            </a:pPr>
            <a:r>
              <a:rPr lang="zh-CN" altLang="en-US" dirty="0"/>
              <a:t>可以用来访问不同数据类型的位模式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9940">
                                            <p:txEl>
                                              <p:pRg st="1" end="1"/>
                                            </p:txEl>
                                          </p:spTgt>
                                        </p:tgtEl>
                                        <p:attrNameLst>
                                          <p:attrName>style.visibility</p:attrName>
                                        </p:attrNameLst>
                                      </p:cBhvr>
                                      <p:to>
                                        <p:strVal val="visible"/>
                                      </p:to>
                                    </p:set>
                                    <p:animEffect transition="in" filter="wipe(down)">
                                      <p:cBhvr>
                                        <p:cTn id="7" dur="500"/>
                                        <p:tgtEl>
                                          <p:spTgt spid="39940">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9940">
                                            <p:txEl>
                                              <p:pRg st="2" end="2"/>
                                            </p:txEl>
                                          </p:spTgt>
                                        </p:tgtEl>
                                        <p:attrNameLst>
                                          <p:attrName>style.visibility</p:attrName>
                                        </p:attrNameLst>
                                      </p:cBhvr>
                                      <p:to>
                                        <p:strVal val="visible"/>
                                      </p:to>
                                    </p:set>
                                    <p:animEffect transition="in" filter="wipe(down)">
                                      <p:cBhvr>
                                        <p:cTn id="10" dur="500"/>
                                        <p:tgtEl>
                                          <p:spTgt spid="39940">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9940">
                                            <p:txEl>
                                              <p:pRg st="3" end="3"/>
                                            </p:txEl>
                                          </p:spTgt>
                                        </p:tgtEl>
                                        <p:attrNameLst>
                                          <p:attrName>style.visibility</p:attrName>
                                        </p:attrNameLst>
                                      </p:cBhvr>
                                      <p:to>
                                        <p:strVal val="visible"/>
                                      </p:to>
                                    </p:set>
                                    <p:animEffect transition="in" filter="wipe(down)">
                                      <p:cBhvr>
                                        <p:cTn id="13" dur="500"/>
                                        <p:tgtEl>
                                          <p:spTgt spid="39940">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9940">
                                            <p:txEl>
                                              <p:pRg st="4" end="4"/>
                                            </p:txEl>
                                          </p:spTgt>
                                        </p:tgtEl>
                                        <p:attrNameLst>
                                          <p:attrName>style.visibility</p:attrName>
                                        </p:attrNameLst>
                                      </p:cBhvr>
                                      <p:to>
                                        <p:strVal val="visible"/>
                                      </p:to>
                                    </p:set>
                                    <p:animEffect transition="in" filter="wipe(down)">
                                      <p:cBhvr>
                                        <p:cTn id="16" dur="500"/>
                                        <p:tgtEl>
                                          <p:spTgt spid="39940">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39940">
                                            <p:txEl>
                                              <p:pRg st="6" end="6"/>
                                            </p:txEl>
                                          </p:spTgt>
                                        </p:tgtEl>
                                        <p:attrNameLst>
                                          <p:attrName>style.visibility</p:attrName>
                                        </p:attrNameLst>
                                      </p:cBhvr>
                                      <p:to>
                                        <p:strVal val="visible"/>
                                      </p:to>
                                    </p:set>
                                    <p:animEffect transition="in" filter="wipe(down)">
                                      <p:cBhvr>
                                        <p:cTn id="21" dur="500"/>
                                        <p:tgtEl>
                                          <p:spTgt spid="39940">
                                            <p:txEl>
                                              <p:pRg st="6" end="6"/>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39940">
                                            <p:txEl>
                                              <p:pRg st="7" end="7"/>
                                            </p:txEl>
                                          </p:spTgt>
                                        </p:tgtEl>
                                        <p:attrNameLst>
                                          <p:attrName>style.visibility</p:attrName>
                                        </p:attrNameLst>
                                      </p:cBhvr>
                                      <p:to>
                                        <p:strVal val="visible"/>
                                      </p:to>
                                    </p:set>
                                    <p:animEffect transition="in" filter="wipe(down)">
                                      <p:cBhvr>
                                        <p:cTn id="24" dur="500"/>
                                        <p:tgtEl>
                                          <p:spTgt spid="39940">
                                            <p:txEl>
                                              <p:pRg st="7" end="7"/>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39940">
                                            <p:txEl>
                                              <p:pRg st="9" end="9"/>
                                            </p:txEl>
                                          </p:spTgt>
                                        </p:tgtEl>
                                        <p:attrNameLst>
                                          <p:attrName>style.visibility</p:attrName>
                                        </p:attrNameLst>
                                      </p:cBhvr>
                                      <p:to>
                                        <p:strVal val="visible"/>
                                      </p:to>
                                    </p:set>
                                    <p:animEffect transition="in" filter="wipe(down)">
                                      <p:cBhvr>
                                        <p:cTn id="29" dur="500"/>
                                        <p:tgtEl>
                                          <p:spTgt spid="39940">
                                            <p:txEl>
                                              <p:pRg st="9" end="9"/>
                                            </p:txEl>
                                          </p:spTgt>
                                        </p:tgtEl>
                                      </p:cBhvr>
                                    </p:animEffect>
                                  </p:childTnLst>
                                </p:cTn>
                              </p:par>
                              <p:par>
                                <p:cTn id="30" presetID="22" presetClass="entr" presetSubtype="4" fill="hold" nodeType="withEffect">
                                  <p:stCondLst>
                                    <p:cond delay="0"/>
                                  </p:stCondLst>
                                  <p:childTnLst>
                                    <p:set>
                                      <p:cBhvr>
                                        <p:cTn id="31" dur="1" fill="hold">
                                          <p:stCondLst>
                                            <p:cond delay="0"/>
                                          </p:stCondLst>
                                        </p:cTn>
                                        <p:tgtEl>
                                          <p:spTgt spid="39940">
                                            <p:txEl>
                                              <p:pRg st="10" end="10"/>
                                            </p:txEl>
                                          </p:spTgt>
                                        </p:tgtEl>
                                        <p:attrNameLst>
                                          <p:attrName>style.visibility</p:attrName>
                                        </p:attrNameLst>
                                      </p:cBhvr>
                                      <p:to>
                                        <p:strVal val="visible"/>
                                      </p:to>
                                    </p:set>
                                    <p:animEffect transition="in" filter="wipe(down)">
                                      <p:cBhvr>
                                        <p:cTn id="32" dur="500"/>
                                        <p:tgtEl>
                                          <p:spTgt spid="39940">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1300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200"/>
              <a:t>理解指针和数组</a:t>
            </a:r>
            <a:r>
              <a:rPr lang="en-US" sz="3200" dirty="0">
                <a:sym typeface="+mn-ea"/>
              </a:rPr>
              <a:t>#1</a:t>
            </a:r>
            <a:endParaRPr sz="3200"/>
          </a:p>
        </p:txBody>
      </p:sp>
      <p:sp>
        <p:nvSpPr>
          <p:cNvPr id="5" name="Content Placeholder 2"/>
          <p:cNvSpPr>
            <a:spLocks noGrp="1"/>
          </p:cNvSpPr>
          <p:nvPr/>
        </p:nvSpPr>
        <p:spPr>
          <a:xfrm>
            <a:off x="396875" y="4797151"/>
            <a:ext cx="7896225" cy="1536973"/>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844DAD"/>
              </a:buClr>
            </a:pPr>
            <a:r>
              <a:rPr lang="en-US" dirty="0" err="1">
                <a:latin typeface="宋体" panose="02010600030101010101" pitchFamily="2" charset="-122"/>
                <a:ea typeface="宋体" panose="02010600030101010101" pitchFamily="2" charset="-122"/>
              </a:rPr>
              <a:t>Cmp</a:t>
            </a:r>
            <a:r>
              <a:rPr lang="en-US" dirty="0">
                <a:latin typeface="宋体" panose="02010600030101010101" pitchFamily="2" charset="-122"/>
                <a:ea typeface="宋体" panose="02010600030101010101" pitchFamily="2" charset="-122"/>
              </a:rPr>
              <a:t>: 编译 (Y/N)</a:t>
            </a:r>
          </a:p>
          <a:p>
            <a:pPr>
              <a:buClr>
                <a:srgbClr val="844DAD"/>
              </a:buClr>
            </a:pPr>
            <a:r>
              <a:rPr lang="en-US" dirty="0">
                <a:latin typeface="宋体" panose="02010600030101010101" pitchFamily="2" charset="-122"/>
                <a:ea typeface="宋体" panose="02010600030101010101" pitchFamily="2" charset="-122"/>
              </a:rPr>
              <a:t>Bad: 可能的错误指针引用 (Y/N)</a:t>
            </a:r>
          </a:p>
          <a:p>
            <a:pPr>
              <a:buClr>
                <a:srgbClr val="844DAD"/>
              </a:buClr>
            </a:pPr>
            <a:r>
              <a:rPr lang="en-US" dirty="0">
                <a:latin typeface="宋体" panose="02010600030101010101" pitchFamily="2" charset="-122"/>
                <a:ea typeface="宋体" panose="02010600030101010101" pitchFamily="2" charset="-122"/>
              </a:rPr>
              <a:t>Size: </a:t>
            </a:r>
            <a:r>
              <a:rPr lang="en-US">
                <a:latin typeface="宋体" panose="02010600030101010101" pitchFamily="2" charset="-122"/>
                <a:ea typeface="宋体" panose="02010600030101010101" pitchFamily="2" charset="-122"/>
              </a:rPr>
              <a:t>通过sizeof返回的值</a:t>
            </a:r>
          </a:p>
          <a:p>
            <a:endParaRPr lang="en-US" dirty="0">
              <a:latin typeface="宋体" panose="02010600030101010101" pitchFamily="2" charset="-122"/>
              <a:ea typeface="宋体" panose="02010600030101010101" pitchFamily="2" charset="-122"/>
            </a:endParaRPr>
          </a:p>
        </p:txBody>
      </p:sp>
      <p:graphicFrame>
        <p:nvGraphicFramePr>
          <p:cNvPr id="6" name="Content Placeholder 4"/>
          <p:cNvGraphicFramePr/>
          <p:nvPr/>
        </p:nvGraphicFramePr>
        <p:xfrm>
          <a:off x="691952" y="1421160"/>
          <a:ext cx="5813008" cy="1497768"/>
        </p:xfrm>
        <a:graphic>
          <a:graphicData uri="http://schemas.openxmlformats.org/drawingml/2006/table">
            <a:tbl>
              <a:tblPr firstRow="1" bandRow="1">
                <a:tableStyleId>{93296810-A885-4BE3-A3E7-6D5BEEA58F35}</a:tableStyleId>
              </a:tblPr>
              <a:tblGrid>
                <a:gridCol w="1453252">
                  <a:extLst>
                    <a:ext uri="{9D8B030D-6E8A-4147-A177-3AD203B41FA5}">
                      <a16:colId xmlns:a16="http://schemas.microsoft.com/office/drawing/2014/main" val="20000"/>
                    </a:ext>
                  </a:extLst>
                </a:gridCol>
                <a:gridCol w="726626">
                  <a:extLst>
                    <a:ext uri="{9D8B030D-6E8A-4147-A177-3AD203B41FA5}">
                      <a16:colId xmlns:a16="http://schemas.microsoft.com/office/drawing/2014/main" val="20001"/>
                    </a:ext>
                  </a:extLst>
                </a:gridCol>
                <a:gridCol w="726626">
                  <a:extLst>
                    <a:ext uri="{9D8B030D-6E8A-4147-A177-3AD203B41FA5}">
                      <a16:colId xmlns:a16="http://schemas.microsoft.com/office/drawing/2014/main" val="20002"/>
                    </a:ext>
                  </a:extLst>
                </a:gridCol>
                <a:gridCol w="726626">
                  <a:extLst>
                    <a:ext uri="{9D8B030D-6E8A-4147-A177-3AD203B41FA5}">
                      <a16:colId xmlns:a16="http://schemas.microsoft.com/office/drawing/2014/main" val="20003"/>
                    </a:ext>
                  </a:extLst>
                </a:gridCol>
                <a:gridCol w="726626">
                  <a:extLst>
                    <a:ext uri="{9D8B030D-6E8A-4147-A177-3AD203B41FA5}">
                      <a16:colId xmlns:a16="http://schemas.microsoft.com/office/drawing/2014/main" val="20004"/>
                    </a:ext>
                  </a:extLst>
                </a:gridCol>
                <a:gridCol w="726626">
                  <a:extLst>
                    <a:ext uri="{9D8B030D-6E8A-4147-A177-3AD203B41FA5}">
                      <a16:colId xmlns:a16="http://schemas.microsoft.com/office/drawing/2014/main" val="20005"/>
                    </a:ext>
                  </a:extLst>
                </a:gridCol>
                <a:gridCol w="726626">
                  <a:extLst>
                    <a:ext uri="{9D8B030D-6E8A-4147-A177-3AD203B41FA5}">
                      <a16:colId xmlns:a16="http://schemas.microsoft.com/office/drawing/2014/main" val="20006"/>
                    </a:ext>
                  </a:extLst>
                </a:gridCol>
              </a:tblGrid>
              <a:tr h="374442">
                <a:tc>
                  <a:txBody>
                    <a:bodyPr/>
                    <a:lstStyle/>
                    <a:p>
                      <a:pPr algn="ctr"/>
                      <a:r>
                        <a:rPr lang="en-US" b="1" i="0" dirty="0" err="1">
                          <a:latin typeface="Calibri" panose="020F0502020204030204"/>
                          <a:cs typeface="Calibri" panose="020F0502020204030204"/>
                        </a:rPr>
                        <a:t>Decl</a:t>
                      </a:r>
                      <a:endParaRPr lang="en-US" b="1" i="0" dirty="0">
                        <a:latin typeface="Calibri" panose="020F0502020204030204"/>
                        <a:cs typeface="Calibri" panose="020F0502020204030204"/>
                      </a:endParaRPr>
                    </a:p>
                  </a:txBody>
                  <a:tcPr>
                    <a:solidFill>
                      <a:srgbClr val="844DAD"/>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extLst>
                  <a:ext uri="{0D108BD9-81ED-4DB2-BD59-A6C34878D82A}">
                    <a16:rowId xmlns:a16="http://schemas.microsoft.com/office/drawing/2014/main" val="10000"/>
                  </a:ext>
                </a:extLst>
              </a:tr>
              <a:tr h="374442">
                <a:tc>
                  <a:txBody>
                    <a:bodyPr/>
                    <a:lstStyle/>
                    <a:p>
                      <a:pPr algn="ctr"/>
                      <a:endParaRPr lang="en-US" b="1" i="0" dirty="0">
                        <a:latin typeface="Courier New" panose="02070309020205020404"/>
                        <a:cs typeface="Courier New" panose="02070309020205020404"/>
                      </a:endParaRP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1300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200"/>
              <a:t>理解指针和数组</a:t>
            </a:r>
            <a:r>
              <a:rPr lang="en-US" sz="3200" dirty="0">
                <a:sym typeface="+mn-ea"/>
              </a:rPr>
              <a:t>#1</a:t>
            </a:r>
            <a:endParaRPr sz="3200"/>
          </a:p>
        </p:txBody>
      </p:sp>
      <p:sp>
        <p:nvSpPr>
          <p:cNvPr id="5" name="Content Placeholder 2"/>
          <p:cNvSpPr>
            <a:spLocks noGrp="1"/>
          </p:cNvSpPr>
          <p:nvPr/>
        </p:nvSpPr>
        <p:spPr>
          <a:xfrm>
            <a:off x="396875" y="4797151"/>
            <a:ext cx="7896225" cy="1536973"/>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844DAD"/>
              </a:buClr>
            </a:pPr>
            <a:r>
              <a:rPr lang="en-US" dirty="0" err="1">
                <a:latin typeface="宋体" panose="02010600030101010101" pitchFamily="2" charset="-122"/>
                <a:ea typeface="宋体" panose="02010600030101010101" pitchFamily="2" charset="-122"/>
              </a:rPr>
              <a:t>Cmp</a:t>
            </a:r>
            <a:r>
              <a:rPr lang="en-US" dirty="0">
                <a:latin typeface="宋体" panose="02010600030101010101" pitchFamily="2" charset="-122"/>
                <a:ea typeface="宋体" panose="02010600030101010101" pitchFamily="2" charset="-122"/>
              </a:rPr>
              <a:t>: 编译 (Y/N)</a:t>
            </a:r>
          </a:p>
          <a:p>
            <a:pPr>
              <a:buClr>
                <a:srgbClr val="844DAD"/>
              </a:buClr>
            </a:pPr>
            <a:r>
              <a:rPr lang="en-US" dirty="0">
                <a:latin typeface="宋体" panose="02010600030101010101" pitchFamily="2" charset="-122"/>
                <a:ea typeface="宋体" panose="02010600030101010101" pitchFamily="2" charset="-122"/>
              </a:rPr>
              <a:t>Bad: 可能的错误指针引用 (Y/N)</a:t>
            </a:r>
          </a:p>
          <a:p>
            <a:pPr>
              <a:buClr>
                <a:srgbClr val="844DAD"/>
              </a:buClr>
            </a:pPr>
            <a:r>
              <a:rPr lang="en-US" dirty="0">
                <a:latin typeface="宋体" panose="02010600030101010101" pitchFamily="2" charset="-122"/>
                <a:ea typeface="宋体" panose="02010600030101010101" pitchFamily="2" charset="-122"/>
              </a:rPr>
              <a:t>Size: </a:t>
            </a:r>
            <a:r>
              <a:rPr lang="en-US">
                <a:latin typeface="宋体" panose="02010600030101010101" pitchFamily="2" charset="-122"/>
                <a:ea typeface="宋体" panose="02010600030101010101" pitchFamily="2" charset="-122"/>
              </a:rPr>
              <a:t>通过sizeof返回的值</a:t>
            </a:r>
          </a:p>
          <a:p>
            <a:endParaRPr lang="en-US" dirty="0">
              <a:latin typeface="宋体" panose="02010600030101010101" pitchFamily="2" charset="-122"/>
              <a:ea typeface="宋体" panose="02010600030101010101" pitchFamily="2" charset="-122"/>
            </a:endParaRPr>
          </a:p>
        </p:txBody>
      </p:sp>
      <p:graphicFrame>
        <p:nvGraphicFramePr>
          <p:cNvPr id="7" name="Content Placeholder 4"/>
          <p:cNvGraphicFramePr/>
          <p:nvPr/>
        </p:nvGraphicFramePr>
        <p:xfrm>
          <a:off x="467544" y="1340768"/>
          <a:ext cx="5813008" cy="1497768"/>
        </p:xfrm>
        <a:graphic>
          <a:graphicData uri="http://schemas.openxmlformats.org/drawingml/2006/table">
            <a:tbl>
              <a:tblPr firstRow="1" bandRow="1">
                <a:tableStyleId>{93296810-A885-4BE3-A3E7-6D5BEEA58F35}</a:tableStyleId>
              </a:tblPr>
              <a:tblGrid>
                <a:gridCol w="1453252">
                  <a:extLst>
                    <a:ext uri="{9D8B030D-6E8A-4147-A177-3AD203B41FA5}">
                      <a16:colId xmlns:a16="http://schemas.microsoft.com/office/drawing/2014/main" val="20000"/>
                    </a:ext>
                  </a:extLst>
                </a:gridCol>
                <a:gridCol w="726626">
                  <a:extLst>
                    <a:ext uri="{9D8B030D-6E8A-4147-A177-3AD203B41FA5}">
                      <a16:colId xmlns:a16="http://schemas.microsoft.com/office/drawing/2014/main" val="20001"/>
                    </a:ext>
                  </a:extLst>
                </a:gridCol>
                <a:gridCol w="726626">
                  <a:extLst>
                    <a:ext uri="{9D8B030D-6E8A-4147-A177-3AD203B41FA5}">
                      <a16:colId xmlns:a16="http://schemas.microsoft.com/office/drawing/2014/main" val="20002"/>
                    </a:ext>
                  </a:extLst>
                </a:gridCol>
                <a:gridCol w="726626">
                  <a:extLst>
                    <a:ext uri="{9D8B030D-6E8A-4147-A177-3AD203B41FA5}">
                      <a16:colId xmlns:a16="http://schemas.microsoft.com/office/drawing/2014/main" val="20003"/>
                    </a:ext>
                  </a:extLst>
                </a:gridCol>
                <a:gridCol w="726626">
                  <a:extLst>
                    <a:ext uri="{9D8B030D-6E8A-4147-A177-3AD203B41FA5}">
                      <a16:colId xmlns:a16="http://schemas.microsoft.com/office/drawing/2014/main" val="20004"/>
                    </a:ext>
                  </a:extLst>
                </a:gridCol>
                <a:gridCol w="726626">
                  <a:extLst>
                    <a:ext uri="{9D8B030D-6E8A-4147-A177-3AD203B41FA5}">
                      <a16:colId xmlns:a16="http://schemas.microsoft.com/office/drawing/2014/main" val="20005"/>
                    </a:ext>
                  </a:extLst>
                </a:gridCol>
                <a:gridCol w="726626">
                  <a:extLst>
                    <a:ext uri="{9D8B030D-6E8A-4147-A177-3AD203B41FA5}">
                      <a16:colId xmlns:a16="http://schemas.microsoft.com/office/drawing/2014/main" val="20006"/>
                    </a:ext>
                  </a:extLst>
                </a:gridCol>
              </a:tblGrid>
              <a:tr h="374442">
                <a:tc>
                  <a:txBody>
                    <a:bodyPr/>
                    <a:lstStyle/>
                    <a:p>
                      <a:pPr algn="ctr"/>
                      <a:r>
                        <a:rPr lang="en-US" b="1" i="0" dirty="0" err="1">
                          <a:latin typeface="Calibri" panose="020F0502020204030204"/>
                          <a:cs typeface="Calibri" panose="020F0502020204030204"/>
                        </a:rPr>
                        <a:t>Decl</a:t>
                      </a:r>
                      <a:endParaRPr lang="en-US" b="1" i="0" dirty="0">
                        <a:latin typeface="Calibri" panose="020F0502020204030204"/>
                        <a:cs typeface="Calibri" panose="020F0502020204030204"/>
                      </a:endParaRPr>
                    </a:p>
                  </a:txBody>
                  <a:tcPr>
                    <a:solidFill>
                      <a:srgbClr val="844DAD"/>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extLst>
                  <a:ext uri="{0D108BD9-81ED-4DB2-BD59-A6C34878D82A}">
                    <a16:rowId xmlns:a16="http://schemas.microsoft.com/office/drawing/2014/main" val="10000"/>
                  </a:ext>
                </a:extLst>
              </a:tr>
              <a:tr h="374442">
                <a:tc>
                  <a:txBody>
                    <a:bodyPr/>
                    <a:lstStyle/>
                    <a:p>
                      <a:pPr algn="ctr"/>
                      <a:endParaRPr lang="en-US" b="1" i="0" dirty="0">
                        <a:latin typeface="Courier New" panose="02070309020205020404"/>
                        <a:cs typeface="Courier New" panose="02070309020205020404"/>
                      </a:endParaRP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12</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8</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3"/>
                  </a:ext>
                </a:extLst>
              </a:tr>
            </a:tbl>
          </a:graphicData>
        </a:graphic>
      </p:graphicFrame>
      <p:grpSp>
        <p:nvGrpSpPr>
          <p:cNvPr id="54" name="Group 53"/>
          <p:cNvGrpSpPr/>
          <p:nvPr/>
        </p:nvGrpSpPr>
        <p:grpSpPr>
          <a:xfrm>
            <a:off x="467544" y="3140968"/>
            <a:ext cx="4002918" cy="770602"/>
            <a:chOff x="1979712" y="3140968"/>
            <a:chExt cx="4002918" cy="770602"/>
          </a:xfrm>
        </p:grpSpPr>
        <p:sp>
          <p:nvSpPr>
            <p:cNvPr id="29" name="Rectangle 27"/>
            <p:cNvSpPr>
              <a:spLocks noChangeArrowheads="1"/>
            </p:cNvSpPr>
            <p:nvPr/>
          </p:nvSpPr>
          <p:spPr bwMode="auto">
            <a:xfrm>
              <a:off x="5076056" y="364502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7" name="Rectangle 26"/>
            <p:cNvSpPr>
              <a:spLocks noChangeArrowheads="1"/>
            </p:cNvSpPr>
            <p:nvPr/>
          </p:nvSpPr>
          <p:spPr bwMode="auto">
            <a:xfrm>
              <a:off x="2555776" y="3212976"/>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0" name="Rectangle 27"/>
            <p:cNvSpPr>
              <a:spLocks noChangeArrowheads="1"/>
            </p:cNvSpPr>
            <p:nvPr/>
          </p:nvSpPr>
          <p:spPr bwMode="auto">
            <a:xfrm>
              <a:off x="2555776" y="3645024"/>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3" name="Text Box 33"/>
            <p:cNvSpPr txBox="1">
              <a:spLocks noChangeArrowheads="1"/>
            </p:cNvSpPr>
            <p:nvPr/>
          </p:nvSpPr>
          <p:spPr bwMode="auto">
            <a:xfrm>
              <a:off x="1979712" y="3140968"/>
              <a:ext cx="486544" cy="338554"/>
            </a:xfrm>
            <a:prstGeom prst="rect">
              <a:avLst/>
            </a:prstGeom>
            <a:noFill/>
            <a:ln w="25400">
              <a:noFill/>
              <a:miter lim="800000"/>
            </a:ln>
          </p:spPr>
          <p:txBody>
            <a:bodyPr wrap="square">
              <a:spAutoFit/>
            </a:bodyPr>
            <a:lstStyle/>
            <a:p>
              <a:pPr algn="r" eaLnBrk="0" hangingPunct="0"/>
              <a:r>
                <a:rPr lang="en-US" sz="1600" dirty="0">
                  <a:latin typeface="Courier New" panose="02070309020205020404"/>
                  <a:cs typeface="Courier New" panose="02070309020205020404"/>
                </a:rPr>
                <a:t>A1</a:t>
              </a:r>
            </a:p>
          </p:txBody>
        </p:sp>
        <p:sp>
          <p:nvSpPr>
            <p:cNvPr id="45" name="Text Box 33"/>
            <p:cNvSpPr txBox="1">
              <a:spLocks noChangeArrowheads="1"/>
            </p:cNvSpPr>
            <p:nvPr/>
          </p:nvSpPr>
          <p:spPr bwMode="auto">
            <a:xfrm>
              <a:off x="1979712" y="3573016"/>
              <a:ext cx="486544" cy="338554"/>
            </a:xfrm>
            <a:prstGeom prst="rect">
              <a:avLst/>
            </a:prstGeom>
            <a:noFill/>
            <a:ln w="25400">
              <a:noFill/>
              <a:miter lim="800000"/>
            </a:ln>
          </p:spPr>
          <p:txBody>
            <a:bodyPr wrap="square">
              <a:spAutoFit/>
            </a:bodyPr>
            <a:lstStyle/>
            <a:p>
              <a:pPr algn="r" eaLnBrk="0" hangingPunct="0"/>
              <a:r>
                <a:rPr lang="en-US" sz="1600" dirty="0">
                  <a:latin typeface="Courier New" panose="02070309020205020404"/>
                  <a:cs typeface="Courier New" panose="02070309020205020404"/>
                </a:rPr>
                <a:t>A2</a:t>
              </a:r>
            </a:p>
          </p:txBody>
        </p:sp>
        <p:sp>
          <p:nvSpPr>
            <p:cNvPr id="46" name="Rectangle 26"/>
            <p:cNvSpPr>
              <a:spLocks noChangeArrowheads="1"/>
            </p:cNvSpPr>
            <p:nvPr/>
          </p:nvSpPr>
          <p:spPr bwMode="auto">
            <a:xfrm>
              <a:off x="3441576" y="3212976"/>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7" name="Rectangle 26"/>
            <p:cNvSpPr>
              <a:spLocks noChangeArrowheads="1"/>
            </p:cNvSpPr>
            <p:nvPr/>
          </p:nvSpPr>
          <p:spPr bwMode="auto">
            <a:xfrm>
              <a:off x="4355976" y="3212976"/>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49" name="Straight Arrow Connector 48"/>
            <p:cNvCxnSpPr>
              <a:endCxn id="29" idx="1"/>
            </p:cNvCxnSpPr>
            <p:nvPr/>
          </p:nvCxnSpPr>
          <p:spPr bwMode="auto">
            <a:xfrm>
              <a:off x="3419872" y="3759506"/>
              <a:ext cx="165618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grpSp>
      <p:grpSp>
        <p:nvGrpSpPr>
          <p:cNvPr id="38" name="Group 37"/>
          <p:cNvGrpSpPr/>
          <p:nvPr/>
        </p:nvGrpSpPr>
        <p:grpSpPr>
          <a:xfrm>
            <a:off x="5220072" y="3140968"/>
            <a:ext cx="3701008" cy="1201281"/>
            <a:chOff x="5364088" y="5610726"/>
            <a:chExt cx="3701008" cy="1201281"/>
          </a:xfrm>
        </p:grpSpPr>
        <p:sp>
          <p:nvSpPr>
            <p:cNvPr id="39" name="Rectangle 26"/>
            <p:cNvSpPr>
              <a:spLocks noChangeArrowheads="1"/>
            </p:cNvSpPr>
            <p:nvPr/>
          </p:nvSpPr>
          <p:spPr bwMode="auto">
            <a:xfrm>
              <a:off x="7236296" y="6258798"/>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1" name="Rectangle 27"/>
            <p:cNvSpPr>
              <a:spLocks noChangeArrowheads="1"/>
            </p:cNvSpPr>
            <p:nvPr/>
          </p:nvSpPr>
          <p:spPr bwMode="auto">
            <a:xfrm>
              <a:off x="7236296" y="5970766"/>
              <a:ext cx="1828800"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2" name="Text Box 33"/>
            <p:cNvSpPr txBox="1">
              <a:spLocks noChangeArrowheads="1"/>
            </p:cNvSpPr>
            <p:nvPr/>
          </p:nvSpPr>
          <p:spPr bwMode="auto">
            <a:xfrm>
              <a:off x="5364088" y="6186790"/>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分配的整数</a:t>
              </a:r>
            </a:p>
          </p:txBody>
        </p:sp>
        <p:sp>
          <p:nvSpPr>
            <p:cNvPr id="44" name="Rectangle 27"/>
            <p:cNvSpPr>
              <a:spLocks noChangeArrowheads="1"/>
            </p:cNvSpPr>
            <p:nvPr/>
          </p:nvSpPr>
          <p:spPr bwMode="auto">
            <a:xfrm>
              <a:off x="7236296" y="5682734"/>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8" name="Text Box 33"/>
            <p:cNvSpPr txBox="1">
              <a:spLocks noChangeArrowheads="1"/>
            </p:cNvSpPr>
            <p:nvPr/>
          </p:nvSpPr>
          <p:spPr bwMode="auto">
            <a:xfrm>
              <a:off x="5364088" y="5898758"/>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未分配的指针</a:t>
              </a:r>
            </a:p>
          </p:txBody>
        </p:sp>
        <p:sp>
          <p:nvSpPr>
            <p:cNvPr id="50" name="Text Box 33"/>
            <p:cNvSpPr txBox="1">
              <a:spLocks noChangeArrowheads="1"/>
            </p:cNvSpPr>
            <p:nvPr/>
          </p:nvSpPr>
          <p:spPr bwMode="auto">
            <a:xfrm>
              <a:off x="5364088" y="5610726"/>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分配的指针</a:t>
              </a:r>
            </a:p>
          </p:txBody>
        </p:sp>
        <p:sp>
          <p:nvSpPr>
            <p:cNvPr id="51" name="Text Box 33"/>
            <p:cNvSpPr txBox="1">
              <a:spLocks noChangeArrowheads="1"/>
            </p:cNvSpPr>
            <p:nvPr/>
          </p:nvSpPr>
          <p:spPr bwMode="auto">
            <a:xfrm>
              <a:off x="5364088" y="6474822"/>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未分配的整数</a:t>
              </a:r>
            </a:p>
          </p:txBody>
        </p:sp>
        <p:sp>
          <p:nvSpPr>
            <p:cNvPr id="52" name="Rectangle 27"/>
            <p:cNvSpPr>
              <a:spLocks noChangeArrowheads="1"/>
            </p:cNvSpPr>
            <p:nvPr/>
          </p:nvSpPr>
          <p:spPr bwMode="auto">
            <a:xfrm>
              <a:off x="7236296" y="652534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1300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200"/>
              <a:t>理解指针和数组</a:t>
            </a:r>
            <a:r>
              <a:rPr lang="en-US" sz="3200" dirty="0">
                <a:sym typeface="+mn-ea"/>
              </a:rPr>
              <a:t>#2</a:t>
            </a:r>
            <a:endParaRPr sz="3200"/>
          </a:p>
        </p:txBody>
      </p:sp>
      <p:sp>
        <p:nvSpPr>
          <p:cNvPr id="6" name="Content Placeholder 2"/>
          <p:cNvSpPr>
            <a:spLocks noGrp="1"/>
          </p:cNvSpPr>
          <p:nvPr/>
        </p:nvSpPr>
        <p:spPr>
          <a:xfrm>
            <a:off x="396875" y="4797151"/>
            <a:ext cx="7896225" cy="1536973"/>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844DAD"/>
              </a:buClr>
            </a:pPr>
            <a:r>
              <a:rPr lang="en-US" dirty="0" err="1">
                <a:latin typeface="宋体" panose="02010600030101010101" pitchFamily="2" charset="-122"/>
                <a:ea typeface="宋体" panose="02010600030101010101" pitchFamily="2" charset="-122"/>
              </a:rPr>
              <a:t>Cmp</a:t>
            </a:r>
            <a:r>
              <a:rPr lang="en-US" dirty="0">
                <a:latin typeface="宋体" panose="02010600030101010101" pitchFamily="2" charset="-122"/>
                <a:ea typeface="宋体" panose="02010600030101010101" pitchFamily="2" charset="-122"/>
              </a:rPr>
              <a:t>: 编译 (Y/N)</a:t>
            </a:r>
          </a:p>
          <a:p>
            <a:pPr>
              <a:buClr>
                <a:srgbClr val="844DAD"/>
              </a:buClr>
            </a:pPr>
            <a:r>
              <a:rPr lang="en-US" dirty="0">
                <a:latin typeface="宋体" panose="02010600030101010101" pitchFamily="2" charset="-122"/>
                <a:ea typeface="宋体" panose="02010600030101010101" pitchFamily="2" charset="-122"/>
              </a:rPr>
              <a:t>Bad: 可能的错误指针引用 (Y/N)</a:t>
            </a:r>
          </a:p>
          <a:p>
            <a:pPr>
              <a:buClr>
                <a:srgbClr val="844DAD"/>
              </a:buClr>
            </a:pPr>
            <a:r>
              <a:rPr lang="en-US" dirty="0">
                <a:latin typeface="宋体" panose="02010600030101010101" pitchFamily="2" charset="-122"/>
                <a:ea typeface="宋体" panose="02010600030101010101" pitchFamily="2" charset="-122"/>
              </a:rPr>
              <a:t>Size: </a:t>
            </a:r>
            <a:r>
              <a:rPr lang="en-US">
                <a:latin typeface="宋体" panose="02010600030101010101" pitchFamily="2" charset="-122"/>
                <a:ea typeface="宋体" panose="02010600030101010101" pitchFamily="2" charset="-122"/>
              </a:rPr>
              <a:t>通过sizeof返回的值</a:t>
            </a:r>
          </a:p>
          <a:p>
            <a:endParaRPr lang="en-US" dirty="0">
              <a:latin typeface="宋体" panose="02010600030101010101" pitchFamily="2" charset="-122"/>
              <a:ea typeface="宋体" panose="02010600030101010101" pitchFamily="2" charset="-122"/>
            </a:endParaRPr>
          </a:p>
        </p:txBody>
      </p:sp>
      <p:graphicFrame>
        <p:nvGraphicFramePr>
          <p:cNvPr id="8" name="Content Placeholder 4"/>
          <p:cNvGraphicFramePr/>
          <p:nvPr/>
        </p:nvGraphicFramePr>
        <p:xfrm>
          <a:off x="575112" y="1543457"/>
          <a:ext cx="7992700" cy="2656008"/>
        </p:xfrm>
        <a:graphic>
          <a:graphicData uri="http://schemas.openxmlformats.org/drawingml/2006/table">
            <a:tbl>
              <a:tblPr firstRow="1" bandRow="1">
                <a:tableStyleId>{93296810-A885-4BE3-A3E7-6D5BEEA58F35}</a:tableStyleId>
              </a:tblPr>
              <a:tblGrid>
                <a:gridCol w="1453252">
                  <a:extLst>
                    <a:ext uri="{9D8B030D-6E8A-4147-A177-3AD203B41FA5}">
                      <a16:colId xmlns:a16="http://schemas.microsoft.com/office/drawing/2014/main" val="20000"/>
                    </a:ext>
                  </a:extLst>
                </a:gridCol>
                <a:gridCol w="726626">
                  <a:extLst>
                    <a:ext uri="{9D8B030D-6E8A-4147-A177-3AD203B41FA5}">
                      <a16:colId xmlns:a16="http://schemas.microsoft.com/office/drawing/2014/main" val="20001"/>
                    </a:ext>
                  </a:extLst>
                </a:gridCol>
                <a:gridCol w="726626">
                  <a:extLst>
                    <a:ext uri="{9D8B030D-6E8A-4147-A177-3AD203B41FA5}">
                      <a16:colId xmlns:a16="http://schemas.microsoft.com/office/drawing/2014/main" val="20002"/>
                    </a:ext>
                  </a:extLst>
                </a:gridCol>
                <a:gridCol w="726626">
                  <a:extLst>
                    <a:ext uri="{9D8B030D-6E8A-4147-A177-3AD203B41FA5}">
                      <a16:colId xmlns:a16="http://schemas.microsoft.com/office/drawing/2014/main" val="20003"/>
                    </a:ext>
                  </a:extLst>
                </a:gridCol>
                <a:gridCol w="726626">
                  <a:extLst>
                    <a:ext uri="{9D8B030D-6E8A-4147-A177-3AD203B41FA5}">
                      <a16:colId xmlns:a16="http://schemas.microsoft.com/office/drawing/2014/main" val="20004"/>
                    </a:ext>
                  </a:extLst>
                </a:gridCol>
                <a:gridCol w="726626">
                  <a:extLst>
                    <a:ext uri="{9D8B030D-6E8A-4147-A177-3AD203B41FA5}">
                      <a16:colId xmlns:a16="http://schemas.microsoft.com/office/drawing/2014/main" val="20005"/>
                    </a:ext>
                  </a:extLst>
                </a:gridCol>
                <a:gridCol w="726626">
                  <a:extLst>
                    <a:ext uri="{9D8B030D-6E8A-4147-A177-3AD203B41FA5}">
                      <a16:colId xmlns:a16="http://schemas.microsoft.com/office/drawing/2014/main" val="20006"/>
                    </a:ext>
                  </a:extLst>
                </a:gridCol>
                <a:gridCol w="726626">
                  <a:extLst>
                    <a:ext uri="{9D8B030D-6E8A-4147-A177-3AD203B41FA5}">
                      <a16:colId xmlns:a16="http://schemas.microsoft.com/office/drawing/2014/main" val="20007"/>
                    </a:ext>
                  </a:extLst>
                </a:gridCol>
                <a:gridCol w="726626">
                  <a:extLst>
                    <a:ext uri="{9D8B030D-6E8A-4147-A177-3AD203B41FA5}">
                      <a16:colId xmlns:a16="http://schemas.microsoft.com/office/drawing/2014/main" val="20008"/>
                    </a:ext>
                  </a:extLst>
                </a:gridCol>
                <a:gridCol w="726440">
                  <a:extLst>
                    <a:ext uri="{9D8B030D-6E8A-4147-A177-3AD203B41FA5}">
                      <a16:colId xmlns:a16="http://schemas.microsoft.com/office/drawing/2014/main" val="20009"/>
                    </a:ext>
                  </a:extLst>
                </a:gridCol>
              </a:tblGrid>
              <a:tr h="374442">
                <a:tc>
                  <a:txBody>
                    <a:bodyPr/>
                    <a:lstStyle/>
                    <a:p>
                      <a:pPr algn="ctr"/>
                      <a:r>
                        <a:rPr lang="en-US" b="1" i="0" dirty="0" err="1">
                          <a:latin typeface="Calibri" panose="020F0502020204030204"/>
                          <a:cs typeface="Calibri" panose="020F0502020204030204"/>
                        </a:rPr>
                        <a:t>Decl</a:t>
                      </a:r>
                      <a:endParaRPr lang="en-US" b="1" i="0" dirty="0">
                        <a:latin typeface="Calibri" panose="020F0502020204030204"/>
                        <a:cs typeface="Calibri" panose="020F0502020204030204"/>
                      </a:endParaRPr>
                    </a:p>
                  </a:txBody>
                  <a:tcPr>
                    <a:solidFill>
                      <a:srgbClr val="7030A0"/>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7030A0"/>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7030A0"/>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7030A0"/>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extLst>
                  <a:ext uri="{0D108BD9-81ED-4DB2-BD59-A6C34878D82A}">
                    <a16:rowId xmlns:a16="http://schemas.microsoft.com/office/drawing/2014/main" val="10000"/>
                  </a:ext>
                </a:extLst>
              </a:tr>
              <a:tr h="374442">
                <a:tc>
                  <a:txBody>
                    <a:bodyPr/>
                    <a:lstStyle/>
                    <a:p>
                      <a:pPr algn="ctr"/>
                      <a:endParaRPr lang="en-US" b="1" i="0" dirty="0">
                        <a:latin typeface="Courier New" panose="02070309020205020404"/>
                        <a:cs typeface="Courier New" panose="02070309020205020404"/>
                      </a:endParaRPr>
                    </a:p>
                  </a:txBody>
                  <a:tcPr>
                    <a:solidFill>
                      <a:srgbClr val="7030A0"/>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7030A0"/>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7030A0"/>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7030A0"/>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7030A0"/>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7030A0"/>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7030A0"/>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7030A0"/>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7030A0"/>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7030A0"/>
                    </a:solidFill>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*A2[3]</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extLst>
                  <a:ext uri="{0D108BD9-81ED-4DB2-BD59-A6C34878D82A}">
                    <a16:rowId xmlns:a16="http://schemas.microsoft.com/office/drawing/2014/main" val="10003"/>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t>
                      </a:r>
                    </a:p>
                    <a:p>
                      <a:pPr algn="l"/>
                      <a:r>
                        <a:rPr lang="en-US" sz="1600" b="1" i="0" dirty="0">
                          <a:latin typeface="Courier New" panose="02070309020205020404"/>
                          <a:cs typeface="Courier New" panose="02070309020205020404"/>
                        </a:rPr>
                        <a:t>(*A3)[3]</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4"/>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(*A4[3])</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1300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200"/>
              <a:t>理解指针和数组</a:t>
            </a:r>
            <a:r>
              <a:rPr lang="en-US" sz="3200" dirty="0">
                <a:sym typeface="+mn-ea"/>
              </a:rPr>
              <a:t>#2</a:t>
            </a:r>
            <a:endParaRPr sz="3200"/>
          </a:p>
        </p:txBody>
      </p:sp>
      <p:graphicFrame>
        <p:nvGraphicFramePr>
          <p:cNvPr id="5" name="Content Placeholder 4"/>
          <p:cNvGraphicFramePr/>
          <p:nvPr/>
        </p:nvGraphicFramePr>
        <p:xfrm>
          <a:off x="539552" y="1124744"/>
          <a:ext cx="7992886" cy="2656008"/>
        </p:xfrm>
        <a:graphic>
          <a:graphicData uri="http://schemas.openxmlformats.org/drawingml/2006/table">
            <a:tbl>
              <a:tblPr firstRow="1" bandRow="1">
                <a:tableStyleId>{93296810-A885-4BE3-A3E7-6D5BEEA58F35}</a:tableStyleId>
              </a:tblPr>
              <a:tblGrid>
                <a:gridCol w="1453252">
                  <a:extLst>
                    <a:ext uri="{9D8B030D-6E8A-4147-A177-3AD203B41FA5}">
                      <a16:colId xmlns:a16="http://schemas.microsoft.com/office/drawing/2014/main" val="20000"/>
                    </a:ext>
                  </a:extLst>
                </a:gridCol>
                <a:gridCol w="726626">
                  <a:extLst>
                    <a:ext uri="{9D8B030D-6E8A-4147-A177-3AD203B41FA5}">
                      <a16:colId xmlns:a16="http://schemas.microsoft.com/office/drawing/2014/main" val="20001"/>
                    </a:ext>
                  </a:extLst>
                </a:gridCol>
                <a:gridCol w="726626">
                  <a:extLst>
                    <a:ext uri="{9D8B030D-6E8A-4147-A177-3AD203B41FA5}">
                      <a16:colId xmlns:a16="http://schemas.microsoft.com/office/drawing/2014/main" val="20002"/>
                    </a:ext>
                  </a:extLst>
                </a:gridCol>
                <a:gridCol w="726626">
                  <a:extLst>
                    <a:ext uri="{9D8B030D-6E8A-4147-A177-3AD203B41FA5}">
                      <a16:colId xmlns:a16="http://schemas.microsoft.com/office/drawing/2014/main" val="20003"/>
                    </a:ext>
                  </a:extLst>
                </a:gridCol>
                <a:gridCol w="726626">
                  <a:extLst>
                    <a:ext uri="{9D8B030D-6E8A-4147-A177-3AD203B41FA5}">
                      <a16:colId xmlns:a16="http://schemas.microsoft.com/office/drawing/2014/main" val="20004"/>
                    </a:ext>
                  </a:extLst>
                </a:gridCol>
                <a:gridCol w="726626">
                  <a:extLst>
                    <a:ext uri="{9D8B030D-6E8A-4147-A177-3AD203B41FA5}">
                      <a16:colId xmlns:a16="http://schemas.microsoft.com/office/drawing/2014/main" val="20005"/>
                    </a:ext>
                  </a:extLst>
                </a:gridCol>
                <a:gridCol w="726626">
                  <a:extLst>
                    <a:ext uri="{9D8B030D-6E8A-4147-A177-3AD203B41FA5}">
                      <a16:colId xmlns:a16="http://schemas.microsoft.com/office/drawing/2014/main" val="20006"/>
                    </a:ext>
                  </a:extLst>
                </a:gridCol>
                <a:gridCol w="726626">
                  <a:extLst>
                    <a:ext uri="{9D8B030D-6E8A-4147-A177-3AD203B41FA5}">
                      <a16:colId xmlns:a16="http://schemas.microsoft.com/office/drawing/2014/main" val="20007"/>
                    </a:ext>
                  </a:extLst>
                </a:gridCol>
                <a:gridCol w="726626">
                  <a:extLst>
                    <a:ext uri="{9D8B030D-6E8A-4147-A177-3AD203B41FA5}">
                      <a16:colId xmlns:a16="http://schemas.microsoft.com/office/drawing/2014/main" val="20008"/>
                    </a:ext>
                  </a:extLst>
                </a:gridCol>
                <a:gridCol w="726626">
                  <a:extLst>
                    <a:ext uri="{9D8B030D-6E8A-4147-A177-3AD203B41FA5}">
                      <a16:colId xmlns:a16="http://schemas.microsoft.com/office/drawing/2014/main" val="20009"/>
                    </a:ext>
                  </a:extLst>
                </a:gridCol>
              </a:tblGrid>
              <a:tr h="374442">
                <a:tc>
                  <a:txBody>
                    <a:bodyPr/>
                    <a:lstStyle/>
                    <a:p>
                      <a:pPr algn="ctr"/>
                      <a:r>
                        <a:rPr lang="en-US" b="1" i="0" dirty="0" err="1">
                          <a:latin typeface="Calibri" panose="020F0502020204030204"/>
                          <a:cs typeface="Calibri" panose="020F0502020204030204"/>
                        </a:rPr>
                        <a:t>Decl</a:t>
                      </a:r>
                      <a:endParaRPr lang="en-US" b="1" i="0" dirty="0">
                        <a:latin typeface="Calibri" panose="020F0502020204030204"/>
                        <a:cs typeface="Calibri" panose="020F0502020204030204"/>
                      </a:endParaRPr>
                    </a:p>
                  </a:txBody>
                  <a:tcPr>
                    <a:solidFill>
                      <a:srgbClr val="844DAD"/>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extLst>
                  <a:ext uri="{0D108BD9-81ED-4DB2-BD59-A6C34878D82A}">
                    <a16:rowId xmlns:a16="http://schemas.microsoft.com/office/drawing/2014/main" val="10000"/>
                  </a:ext>
                </a:extLst>
              </a:tr>
              <a:tr h="374442">
                <a:tc>
                  <a:txBody>
                    <a:bodyPr/>
                    <a:lstStyle/>
                    <a:p>
                      <a:pPr algn="ctr"/>
                      <a:endParaRPr lang="en-US" b="1" i="0" dirty="0">
                        <a:latin typeface="Courier New" panose="02070309020205020404"/>
                        <a:cs typeface="Courier New" panose="02070309020205020404"/>
                      </a:endParaRP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12</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a:t>
                      </a:r>
                    </a:p>
                  </a:txBody>
                  <a:tcPr/>
                </a:tc>
                <a:tc>
                  <a:txBody>
                    <a:bodyPr/>
                    <a:lstStyle/>
                    <a:p>
                      <a:pPr algn="ctr"/>
                      <a:r>
                        <a:rPr lang="en-US" b="1" i="0" dirty="0">
                          <a:solidFill>
                            <a:srgbClr val="990000"/>
                          </a:solidFill>
                          <a:latin typeface="Courier New" panose="02070309020205020404"/>
                          <a:cs typeface="Courier New" panose="02070309020205020404"/>
                        </a:rPr>
                        <a:t>-</a:t>
                      </a: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*A2[3]</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24</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8</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3"/>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t>
                      </a:r>
                    </a:p>
                    <a:p>
                      <a:pPr algn="l"/>
                      <a:r>
                        <a:rPr lang="en-US" sz="1600" b="1" i="0" dirty="0">
                          <a:latin typeface="Courier New" panose="02070309020205020404"/>
                          <a:cs typeface="Courier New" panose="02070309020205020404"/>
                        </a:rPr>
                        <a:t>(*A3)[3]</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8</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12</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4"/>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(*A4[3])</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24</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8</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5"/>
                  </a:ext>
                </a:extLst>
              </a:tr>
            </a:tbl>
          </a:graphicData>
        </a:graphic>
      </p:graphicFrame>
      <p:grpSp>
        <p:nvGrpSpPr>
          <p:cNvPr id="58" name="Group 57"/>
          <p:cNvGrpSpPr/>
          <p:nvPr/>
        </p:nvGrpSpPr>
        <p:grpSpPr>
          <a:xfrm>
            <a:off x="467544" y="3861048"/>
            <a:ext cx="3290664" cy="338554"/>
            <a:chOff x="467544" y="3861048"/>
            <a:chExt cx="3290664" cy="338554"/>
          </a:xfrm>
        </p:grpSpPr>
        <p:sp>
          <p:nvSpPr>
            <p:cNvPr id="16" name="Rectangle 26"/>
            <p:cNvSpPr>
              <a:spLocks noChangeArrowheads="1"/>
            </p:cNvSpPr>
            <p:nvPr/>
          </p:nvSpPr>
          <p:spPr bwMode="auto">
            <a:xfrm>
              <a:off x="1043608" y="3933056"/>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8" name="Text Box 33"/>
            <p:cNvSpPr txBox="1">
              <a:spLocks noChangeArrowheads="1"/>
            </p:cNvSpPr>
            <p:nvPr/>
          </p:nvSpPr>
          <p:spPr bwMode="auto">
            <a:xfrm>
              <a:off x="467544" y="3861048"/>
              <a:ext cx="486544" cy="338554"/>
            </a:xfrm>
            <a:prstGeom prst="rect">
              <a:avLst/>
            </a:prstGeom>
            <a:noFill/>
            <a:ln w="25400">
              <a:noFill/>
              <a:miter lim="800000"/>
            </a:ln>
          </p:spPr>
          <p:txBody>
            <a:bodyPr wrap="square">
              <a:spAutoFit/>
            </a:bodyPr>
            <a:lstStyle/>
            <a:p>
              <a:pPr algn="r" eaLnBrk="0" hangingPunct="0"/>
              <a:r>
                <a:rPr lang="en-US" sz="1600" dirty="0">
                  <a:latin typeface="Courier New" panose="02070309020205020404"/>
                  <a:cs typeface="Courier New" panose="02070309020205020404"/>
                </a:rPr>
                <a:t>A1</a:t>
              </a:r>
            </a:p>
          </p:txBody>
        </p:sp>
        <p:sp>
          <p:nvSpPr>
            <p:cNvPr id="20" name="Rectangle 26"/>
            <p:cNvSpPr>
              <a:spLocks noChangeArrowheads="1"/>
            </p:cNvSpPr>
            <p:nvPr/>
          </p:nvSpPr>
          <p:spPr bwMode="auto">
            <a:xfrm>
              <a:off x="1929408" y="3933056"/>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1" name="Rectangle 26"/>
            <p:cNvSpPr>
              <a:spLocks noChangeArrowheads="1"/>
            </p:cNvSpPr>
            <p:nvPr/>
          </p:nvSpPr>
          <p:spPr bwMode="auto">
            <a:xfrm>
              <a:off x="2843808" y="3933056"/>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grpSp>
        <p:nvGrpSpPr>
          <p:cNvPr id="57" name="Group 56"/>
          <p:cNvGrpSpPr/>
          <p:nvPr/>
        </p:nvGrpSpPr>
        <p:grpSpPr>
          <a:xfrm>
            <a:off x="0" y="4293096"/>
            <a:ext cx="6472808" cy="733020"/>
            <a:chOff x="0" y="4293096"/>
            <a:chExt cx="6472808" cy="733020"/>
          </a:xfrm>
        </p:grpSpPr>
        <p:sp>
          <p:nvSpPr>
            <p:cNvPr id="15" name="Rectangle 27"/>
            <p:cNvSpPr>
              <a:spLocks noChangeArrowheads="1"/>
            </p:cNvSpPr>
            <p:nvPr/>
          </p:nvSpPr>
          <p:spPr bwMode="auto">
            <a:xfrm>
              <a:off x="1433178" y="4797152"/>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7" name="Rectangle 27"/>
            <p:cNvSpPr>
              <a:spLocks noChangeArrowheads="1"/>
            </p:cNvSpPr>
            <p:nvPr/>
          </p:nvSpPr>
          <p:spPr bwMode="auto">
            <a:xfrm>
              <a:off x="1043608" y="4365104"/>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9" name="Text Box 33"/>
            <p:cNvSpPr txBox="1">
              <a:spLocks noChangeArrowheads="1"/>
            </p:cNvSpPr>
            <p:nvPr/>
          </p:nvSpPr>
          <p:spPr bwMode="auto">
            <a:xfrm>
              <a:off x="0" y="4293096"/>
              <a:ext cx="954088" cy="338554"/>
            </a:xfrm>
            <a:prstGeom prst="rect">
              <a:avLst/>
            </a:prstGeom>
            <a:noFill/>
            <a:ln w="25400">
              <a:noFill/>
              <a:miter lim="800000"/>
            </a:ln>
          </p:spPr>
          <p:txBody>
            <a:bodyPr wrap="square">
              <a:spAutoFit/>
            </a:bodyPr>
            <a:lstStyle/>
            <a:p>
              <a:pPr algn="r" eaLnBrk="0" hangingPunct="0"/>
              <a:r>
                <a:rPr lang="en-US" sz="1600" dirty="0">
                  <a:latin typeface="Courier New" panose="02070309020205020404"/>
                  <a:cs typeface="Courier New" panose="02070309020205020404"/>
                </a:rPr>
                <a:t>A2/A4</a:t>
              </a:r>
            </a:p>
          </p:txBody>
        </p:sp>
        <p:cxnSp>
          <p:nvCxnSpPr>
            <p:cNvPr id="22" name="Straight Arrow Connector 21"/>
            <p:cNvCxnSpPr/>
            <p:nvPr/>
          </p:nvCxnSpPr>
          <p:spPr bwMode="auto">
            <a:xfrm>
              <a:off x="1907704" y="4509120"/>
              <a:ext cx="0" cy="288032"/>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23" name="Rectangle 27"/>
            <p:cNvSpPr>
              <a:spLocks noChangeArrowheads="1"/>
            </p:cNvSpPr>
            <p:nvPr/>
          </p:nvSpPr>
          <p:spPr bwMode="auto">
            <a:xfrm>
              <a:off x="2843808" y="4365104"/>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4" name="Rectangle 27"/>
            <p:cNvSpPr>
              <a:spLocks noChangeArrowheads="1"/>
            </p:cNvSpPr>
            <p:nvPr/>
          </p:nvSpPr>
          <p:spPr bwMode="auto">
            <a:xfrm>
              <a:off x="4644008" y="4365104"/>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6" name="Rectangle 27"/>
            <p:cNvSpPr>
              <a:spLocks noChangeArrowheads="1"/>
            </p:cNvSpPr>
            <p:nvPr/>
          </p:nvSpPr>
          <p:spPr bwMode="auto">
            <a:xfrm>
              <a:off x="3275856" y="4797152"/>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37" name="Straight Arrow Connector 36"/>
            <p:cNvCxnSpPr/>
            <p:nvPr/>
          </p:nvCxnSpPr>
          <p:spPr bwMode="auto">
            <a:xfrm>
              <a:off x="3750382" y="4509120"/>
              <a:ext cx="0" cy="288032"/>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38" name="Rectangle 27"/>
            <p:cNvSpPr>
              <a:spLocks noChangeArrowheads="1"/>
            </p:cNvSpPr>
            <p:nvPr/>
          </p:nvSpPr>
          <p:spPr bwMode="auto">
            <a:xfrm>
              <a:off x="5118534" y="4797152"/>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39" name="Straight Arrow Connector 38"/>
            <p:cNvCxnSpPr/>
            <p:nvPr/>
          </p:nvCxnSpPr>
          <p:spPr bwMode="auto">
            <a:xfrm>
              <a:off x="5593060" y="4509120"/>
              <a:ext cx="0" cy="288032"/>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grpSp>
      <p:grpSp>
        <p:nvGrpSpPr>
          <p:cNvPr id="26" name="Group 5"/>
          <p:cNvGrpSpPr/>
          <p:nvPr/>
        </p:nvGrpSpPr>
        <p:grpSpPr>
          <a:xfrm>
            <a:off x="467544" y="5157192"/>
            <a:ext cx="5803118" cy="338554"/>
            <a:chOff x="467544" y="5157192"/>
            <a:chExt cx="5803118" cy="338554"/>
          </a:xfrm>
        </p:grpSpPr>
        <p:sp>
          <p:nvSpPr>
            <p:cNvPr id="47" name="Rectangle 27"/>
            <p:cNvSpPr>
              <a:spLocks noChangeArrowheads="1"/>
            </p:cNvSpPr>
            <p:nvPr/>
          </p:nvSpPr>
          <p:spPr bwMode="auto">
            <a:xfrm>
              <a:off x="1043608" y="5229200"/>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9" name="Text Box 33"/>
            <p:cNvSpPr txBox="1">
              <a:spLocks noChangeArrowheads="1"/>
            </p:cNvSpPr>
            <p:nvPr/>
          </p:nvSpPr>
          <p:spPr bwMode="auto">
            <a:xfrm>
              <a:off x="467544" y="5157192"/>
              <a:ext cx="486544" cy="338554"/>
            </a:xfrm>
            <a:prstGeom prst="rect">
              <a:avLst/>
            </a:prstGeom>
            <a:noFill/>
            <a:ln w="25400">
              <a:noFill/>
              <a:miter lim="800000"/>
            </a:ln>
          </p:spPr>
          <p:txBody>
            <a:bodyPr wrap="square">
              <a:spAutoFit/>
            </a:bodyPr>
            <a:lstStyle/>
            <a:p>
              <a:pPr algn="r" eaLnBrk="0" hangingPunct="0"/>
              <a:r>
                <a:rPr lang="en-US" sz="1600" dirty="0">
                  <a:latin typeface="Courier New" panose="02070309020205020404"/>
                  <a:cs typeface="Courier New" panose="02070309020205020404"/>
                </a:rPr>
                <a:t>A3</a:t>
              </a:r>
            </a:p>
          </p:txBody>
        </p:sp>
        <p:cxnSp>
          <p:nvCxnSpPr>
            <p:cNvPr id="52" name="Straight Arrow Connector 51"/>
            <p:cNvCxnSpPr>
              <a:endCxn id="45" idx="1"/>
            </p:cNvCxnSpPr>
            <p:nvPr/>
          </p:nvCxnSpPr>
          <p:spPr bwMode="auto">
            <a:xfrm>
              <a:off x="1907704" y="5343682"/>
              <a:ext cx="165618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grpSp>
          <p:nvGrpSpPr>
            <p:cNvPr id="27" name="Group 3"/>
            <p:cNvGrpSpPr/>
            <p:nvPr/>
          </p:nvGrpSpPr>
          <p:grpSpPr>
            <a:xfrm>
              <a:off x="3563888" y="5229200"/>
              <a:ext cx="2706774" cy="228964"/>
              <a:chOff x="3563888" y="5229200"/>
              <a:chExt cx="2706774" cy="228964"/>
            </a:xfrm>
          </p:grpSpPr>
          <p:sp>
            <p:nvSpPr>
              <p:cNvPr id="42" name="Rectangle 27"/>
              <p:cNvSpPr>
                <a:spLocks noChangeArrowheads="1"/>
              </p:cNvSpPr>
              <p:nvPr/>
            </p:nvSpPr>
            <p:spPr bwMode="auto">
              <a:xfrm>
                <a:off x="4457514" y="522920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5" name="Rectangle 27"/>
              <p:cNvSpPr>
                <a:spLocks noChangeArrowheads="1"/>
              </p:cNvSpPr>
              <p:nvPr/>
            </p:nvSpPr>
            <p:spPr bwMode="auto">
              <a:xfrm>
                <a:off x="3563888" y="522920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53" name="Rectangle 27"/>
              <p:cNvSpPr>
                <a:spLocks noChangeArrowheads="1"/>
              </p:cNvSpPr>
              <p:nvPr/>
            </p:nvSpPr>
            <p:spPr bwMode="auto">
              <a:xfrm>
                <a:off x="5364088" y="522920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1" name="Rectangle 27"/>
              <p:cNvSpPr>
                <a:spLocks noChangeArrowheads="1"/>
              </p:cNvSpPr>
              <p:nvPr/>
            </p:nvSpPr>
            <p:spPr bwMode="auto">
              <a:xfrm>
                <a:off x="3563888" y="5229200"/>
                <a:ext cx="2706774"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grpSp>
      <p:grpSp>
        <p:nvGrpSpPr>
          <p:cNvPr id="28" name="Group 37"/>
          <p:cNvGrpSpPr/>
          <p:nvPr/>
        </p:nvGrpSpPr>
        <p:grpSpPr>
          <a:xfrm>
            <a:off x="5296272" y="5528568"/>
            <a:ext cx="3701008" cy="1201281"/>
            <a:chOff x="5364088" y="5610726"/>
            <a:chExt cx="3701008" cy="1201281"/>
          </a:xfrm>
        </p:grpSpPr>
        <p:sp>
          <p:nvSpPr>
            <p:cNvPr id="29" name="Rectangle 26"/>
            <p:cNvSpPr>
              <a:spLocks noChangeArrowheads="1"/>
            </p:cNvSpPr>
            <p:nvPr/>
          </p:nvSpPr>
          <p:spPr bwMode="auto">
            <a:xfrm>
              <a:off x="7236296" y="6258798"/>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 name="Rectangle 27"/>
            <p:cNvSpPr>
              <a:spLocks noChangeArrowheads="1"/>
            </p:cNvSpPr>
            <p:nvPr/>
          </p:nvSpPr>
          <p:spPr bwMode="auto">
            <a:xfrm>
              <a:off x="7236296" y="5970766"/>
              <a:ext cx="1828800"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1" name="Text Box 33"/>
            <p:cNvSpPr txBox="1">
              <a:spLocks noChangeArrowheads="1"/>
            </p:cNvSpPr>
            <p:nvPr/>
          </p:nvSpPr>
          <p:spPr bwMode="auto">
            <a:xfrm>
              <a:off x="5364088" y="6186790"/>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分配的整数</a:t>
              </a:r>
            </a:p>
          </p:txBody>
        </p:sp>
        <p:sp>
          <p:nvSpPr>
            <p:cNvPr id="44" name="Rectangle 27"/>
            <p:cNvSpPr>
              <a:spLocks noChangeArrowheads="1"/>
            </p:cNvSpPr>
            <p:nvPr/>
          </p:nvSpPr>
          <p:spPr bwMode="auto">
            <a:xfrm>
              <a:off x="7236296" y="5682734"/>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48" name="Text Box 33"/>
            <p:cNvSpPr txBox="1">
              <a:spLocks noChangeArrowheads="1"/>
            </p:cNvSpPr>
            <p:nvPr/>
          </p:nvSpPr>
          <p:spPr bwMode="auto">
            <a:xfrm>
              <a:off x="5364088" y="5898758"/>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未分配的指针</a:t>
              </a:r>
            </a:p>
          </p:txBody>
        </p:sp>
        <p:sp>
          <p:nvSpPr>
            <p:cNvPr id="50" name="Text Box 33"/>
            <p:cNvSpPr txBox="1">
              <a:spLocks noChangeArrowheads="1"/>
            </p:cNvSpPr>
            <p:nvPr/>
          </p:nvSpPr>
          <p:spPr bwMode="auto">
            <a:xfrm>
              <a:off x="5364088" y="5610726"/>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分配的指针</a:t>
              </a:r>
            </a:p>
          </p:txBody>
        </p:sp>
        <p:sp>
          <p:nvSpPr>
            <p:cNvPr id="51" name="Text Box 33"/>
            <p:cNvSpPr txBox="1">
              <a:spLocks noChangeArrowheads="1"/>
            </p:cNvSpPr>
            <p:nvPr/>
          </p:nvSpPr>
          <p:spPr bwMode="auto">
            <a:xfrm>
              <a:off x="5364088" y="6474822"/>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未分配的整数</a:t>
              </a:r>
            </a:p>
          </p:txBody>
        </p:sp>
        <p:sp>
          <p:nvSpPr>
            <p:cNvPr id="32" name="Rectangle 27"/>
            <p:cNvSpPr>
              <a:spLocks noChangeArrowheads="1"/>
            </p:cNvSpPr>
            <p:nvPr/>
          </p:nvSpPr>
          <p:spPr bwMode="auto">
            <a:xfrm>
              <a:off x="7236296" y="652534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1300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200"/>
              <a:t>理解指针和数组</a:t>
            </a:r>
            <a:r>
              <a:rPr lang="en-US" sz="3200" dirty="0">
                <a:sym typeface="+mn-ea"/>
              </a:rPr>
              <a:t>#3</a:t>
            </a:r>
            <a:endParaRPr sz="3200"/>
          </a:p>
        </p:txBody>
      </p:sp>
      <p:graphicFrame>
        <p:nvGraphicFramePr>
          <p:cNvPr id="7" name="Content Placeholder 4"/>
          <p:cNvGraphicFramePr/>
          <p:nvPr/>
        </p:nvGraphicFramePr>
        <p:xfrm>
          <a:off x="464749" y="1197678"/>
          <a:ext cx="7896228" cy="2886732"/>
        </p:xfrm>
        <a:graphic>
          <a:graphicData uri="http://schemas.openxmlformats.org/drawingml/2006/table">
            <a:tbl>
              <a:tblPr firstRow="1" bandRow="1">
                <a:tableStyleId>{93296810-A885-4BE3-A3E7-6D5BEEA58F35}</a:tableStyleId>
              </a:tblPr>
              <a:tblGrid>
                <a:gridCol w="2429610">
                  <a:extLst>
                    <a:ext uri="{9D8B030D-6E8A-4147-A177-3AD203B41FA5}">
                      <a16:colId xmlns:a16="http://schemas.microsoft.com/office/drawing/2014/main" val="20000"/>
                    </a:ext>
                  </a:extLst>
                </a:gridCol>
                <a:gridCol w="607402">
                  <a:extLst>
                    <a:ext uri="{9D8B030D-6E8A-4147-A177-3AD203B41FA5}">
                      <a16:colId xmlns:a16="http://schemas.microsoft.com/office/drawing/2014/main" val="20001"/>
                    </a:ext>
                  </a:extLst>
                </a:gridCol>
                <a:gridCol w="607402">
                  <a:extLst>
                    <a:ext uri="{9D8B030D-6E8A-4147-A177-3AD203B41FA5}">
                      <a16:colId xmlns:a16="http://schemas.microsoft.com/office/drawing/2014/main" val="20002"/>
                    </a:ext>
                  </a:extLst>
                </a:gridCol>
                <a:gridCol w="607402">
                  <a:extLst>
                    <a:ext uri="{9D8B030D-6E8A-4147-A177-3AD203B41FA5}">
                      <a16:colId xmlns:a16="http://schemas.microsoft.com/office/drawing/2014/main" val="20003"/>
                    </a:ext>
                  </a:extLst>
                </a:gridCol>
                <a:gridCol w="607402">
                  <a:extLst>
                    <a:ext uri="{9D8B030D-6E8A-4147-A177-3AD203B41FA5}">
                      <a16:colId xmlns:a16="http://schemas.microsoft.com/office/drawing/2014/main" val="20004"/>
                    </a:ext>
                  </a:extLst>
                </a:gridCol>
                <a:gridCol w="607402">
                  <a:extLst>
                    <a:ext uri="{9D8B030D-6E8A-4147-A177-3AD203B41FA5}">
                      <a16:colId xmlns:a16="http://schemas.microsoft.com/office/drawing/2014/main" val="20005"/>
                    </a:ext>
                  </a:extLst>
                </a:gridCol>
                <a:gridCol w="607402">
                  <a:extLst>
                    <a:ext uri="{9D8B030D-6E8A-4147-A177-3AD203B41FA5}">
                      <a16:colId xmlns:a16="http://schemas.microsoft.com/office/drawing/2014/main" val="20006"/>
                    </a:ext>
                  </a:extLst>
                </a:gridCol>
                <a:gridCol w="607402">
                  <a:extLst>
                    <a:ext uri="{9D8B030D-6E8A-4147-A177-3AD203B41FA5}">
                      <a16:colId xmlns:a16="http://schemas.microsoft.com/office/drawing/2014/main" val="20007"/>
                    </a:ext>
                  </a:extLst>
                </a:gridCol>
                <a:gridCol w="607402">
                  <a:extLst>
                    <a:ext uri="{9D8B030D-6E8A-4147-A177-3AD203B41FA5}">
                      <a16:colId xmlns:a16="http://schemas.microsoft.com/office/drawing/2014/main" val="20008"/>
                    </a:ext>
                  </a:extLst>
                </a:gridCol>
                <a:gridCol w="607402">
                  <a:extLst>
                    <a:ext uri="{9D8B030D-6E8A-4147-A177-3AD203B41FA5}">
                      <a16:colId xmlns:a16="http://schemas.microsoft.com/office/drawing/2014/main" val="20009"/>
                    </a:ext>
                  </a:extLst>
                </a:gridCol>
              </a:tblGrid>
              <a:tr h="374442">
                <a:tc>
                  <a:txBody>
                    <a:bodyPr/>
                    <a:lstStyle/>
                    <a:p>
                      <a:pPr algn="ctr"/>
                      <a:r>
                        <a:rPr lang="en-US" b="1" i="0" dirty="0" err="1">
                          <a:latin typeface="Calibri" panose="020F0502020204030204"/>
                          <a:cs typeface="Calibri" panose="020F0502020204030204"/>
                        </a:rPr>
                        <a:t>Decl</a:t>
                      </a:r>
                      <a:endParaRPr lang="en-US" b="1" i="0" dirty="0">
                        <a:latin typeface="Calibri" panose="020F0502020204030204"/>
                        <a:cs typeface="Calibri" panose="020F0502020204030204"/>
                      </a:endParaRPr>
                    </a:p>
                  </a:txBody>
                  <a:tcPr>
                    <a:solidFill>
                      <a:srgbClr val="844DAD"/>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extLst>
                  <a:ext uri="{0D108BD9-81ED-4DB2-BD59-A6C34878D82A}">
                    <a16:rowId xmlns:a16="http://schemas.microsoft.com/office/drawing/2014/main" val="10000"/>
                  </a:ext>
                </a:extLst>
              </a:tr>
              <a:tr h="374442">
                <a:tc>
                  <a:txBody>
                    <a:bodyPr/>
                    <a:lstStyle/>
                    <a:p>
                      <a:pPr algn="ctr"/>
                      <a:endParaRPr lang="en-US" b="1" i="0" dirty="0">
                        <a:latin typeface="Courier New" panose="02070309020205020404"/>
                        <a:cs typeface="Courier New" panose="02070309020205020404"/>
                      </a:endParaRP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extLst>
                  <a:ext uri="{0D108BD9-81ED-4DB2-BD59-A6C34878D82A}">
                    <a16:rowId xmlns:a16="http://schemas.microsoft.com/office/drawing/2014/main" val="10003"/>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(*A3)[3][5]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4"/>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*(A4[3][5])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5"/>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(*A5[3])[5]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6"/>
                  </a:ext>
                </a:extLst>
              </a:tr>
            </a:tbl>
          </a:graphicData>
        </a:graphic>
      </p:graphicFrame>
      <p:graphicFrame>
        <p:nvGraphicFramePr>
          <p:cNvPr id="8" name="Content Placeholder 4"/>
          <p:cNvGraphicFramePr/>
          <p:nvPr/>
        </p:nvGraphicFramePr>
        <p:xfrm>
          <a:off x="4109161" y="3974969"/>
          <a:ext cx="4251816" cy="2886732"/>
        </p:xfrm>
        <a:graphic>
          <a:graphicData uri="http://schemas.openxmlformats.org/drawingml/2006/table">
            <a:tbl>
              <a:tblPr firstRow="1" bandRow="1">
                <a:tableStyleId>{93296810-A885-4BE3-A3E7-6D5BEEA58F35}</a:tableStyleId>
              </a:tblPr>
              <a:tblGrid>
                <a:gridCol w="2429610">
                  <a:extLst>
                    <a:ext uri="{9D8B030D-6E8A-4147-A177-3AD203B41FA5}">
                      <a16:colId xmlns:a16="http://schemas.microsoft.com/office/drawing/2014/main" val="20000"/>
                    </a:ext>
                  </a:extLst>
                </a:gridCol>
                <a:gridCol w="607402">
                  <a:extLst>
                    <a:ext uri="{9D8B030D-6E8A-4147-A177-3AD203B41FA5}">
                      <a16:colId xmlns:a16="http://schemas.microsoft.com/office/drawing/2014/main" val="20001"/>
                    </a:ext>
                  </a:extLst>
                </a:gridCol>
                <a:gridCol w="607402">
                  <a:extLst>
                    <a:ext uri="{9D8B030D-6E8A-4147-A177-3AD203B41FA5}">
                      <a16:colId xmlns:a16="http://schemas.microsoft.com/office/drawing/2014/main" val="20002"/>
                    </a:ext>
                  </a:extLst>
                </a:gridCol>
                <a:gridCol w="607402">
                  <a:extLst>
                    <a:ext uri="{9D8B030D-6E8A-4147-A177-3AD203B41FA5}">
                      <a16:colId xmlns:a16="http://schemas.microsoft.com/office/drawing/2014/main" val="20003"/>
                    </a:ext>
                  </a:extLst>
                </a:gridCol>
              </a:tblGrid>
              <a:tr h="374442">
                <a:tc>
                  <a:txBody>
                    <a:bodyPr/>
                    <a:lstStyle/>
                    <a:p>
                      <a:pPr algn="ctr"/>
                      <a:r>
                        <a:rPr lang="en-US" b="1" i="0" dirty="0" err="1">
                          <a:latin typeface="Calibri" panose="020F0502020204030204"/>
                          <a:cs typeface="Calibri" panose="020F0502020204030204"/>
                        </a:rPr>
                        <a:t>Decl</a:t>
                      </a:r>
                      <a:endParaRPr lang="en-US" b="1" i="0" dirty="0">
                        <a:latin typeface="Calibri" panose="020F0502020204030204"/>
                        <a:cs typeface="Calibri" panose="020F0502020204030204"/>
                      </a:endParaRPr>
                    </a:p>
                  </a:txBody>
                  <a:tcPr>
                    <a:solidFill>
                      <a:srgbClr val="844DAD"/>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extLst>
                  <a:ext uri="{0D108BD9-81ED-4DB2-BD59-A6C34878D82A}">
                    <a16:rowId xmlns:a16="http://schemas.microsoft.com/office/drawing/2014/main" val="10000"/>
                  </a:ext>
                </a:extLst>
              </a:tr>
              <a:tr h="374442">
                <a:tc>
                  <a:txBody>
                    <a:bodyPr/>
                    <a:lstStyle/>
                    <a:p>
                      <a:pPr algn="ctr"/>
                      <a:endParaRPr lang="en-US" b="1" i="0" dirty="0">
                        <a:latin typeface="Courier New" panose="02070309020205020404"/>
                        <a:cs typeface="Courier New" panose="02070309020205020404"/>
                      </a:endParaRP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*A2[3][5]</a:t>
                      </a: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tc>
                  <a:txBody>
                    <a:bodyPr/>
                    <a:lstStyle/>
                    <a:p>
                      <a:pPr algn="ctr"/>
                      <a:endParaRPr lang="en-US" b="1" i="0">
                        <a:latin typeface="Courier New" panose="02070309020205020404"/>
                        <a:cs typeface="Courier New" panose="02070309020205020404"/>
                      </a:endParaRPr>
                    </a:p>
                  </a:txBody>
                  <a:tcPr/>
                </a:tc>
                <a:extLst>
                  <a:ext uri="{0D108BD9-81ED-4DB2-BD59-A6C34878D82A}">
                    <a16:rowId xmlns:a16="http://schemas.microsoft.com/office/drawing/2014/main" val="10003"/>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(*A3)[3][5]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4"/>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*(A4[3][5])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5"/>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(*A5[3])[5]</a:t>
                      </a: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tc>
                  <a:txBody>
                    <a:bodyPr/>
                    <a:lstStyle/>
                    <a:p>
                      <a:pPr algn="ctr"/>
                      <a:endParaRPr lang="en-US" b="1" i="0" dirty="0">
                        <a:latin typeface="Courier New" panose="02070309020205020404"/>
                        <a:cs typeface="Courier New" panose="02070309020205020404"/>
                      </a:endParaRP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graphicFrame>
        <p:nvGraphicFramePr>
          <p:cNvPr id="25" name="Table 24"/>
          <p:cNvGraphicFramePr>
            <a:graphicFrameLocks noGrp="1"/>
          </p:cNvGraphicFramePr>
          <p:nvPr/>
        </p:nvGraphicFramePr>
        <p:xfrm>
          <a:off x="5652120" y="606284"/>
          <a:ext cx="2429610" cy="2246652"/>
        </p:xfrm>
        <a:graphic>
          <a:graphicData uri="http://schemas.openxmlformats.org/drawingml/2006/table">
            <a:tbl>
              <a:tblPr firstRow="1" bandRow="1">
                <a:tableStyleId>{93296810-A885-4BE3-A3E7-6D5BEEA58F35}</a:tableStyleId>
              </a:tblPr>
              <a:tblGrid>
                <a:gridCol w="2429610">
                  <a:extLst>
                    <a:ext uri="{9D8B030D-6E8A-4147-A177-3AD203B41FA5}">
                      <a16:colId xmlns:a16="http://schemas.microsoft.com/office/drawing/2014/main" val="20000"/>
                    </a:ext>
                  </a:extLst>
                </a:gridCol>
              </a:tblGrid>
              <a:tr h="374442">
                <a:tc>
                  <a:txBody>
                    <a:bodyPr/>
                    <a:lstStyle/>
                    <a:p>
                      <a:pPr algn="ctr"/>
                      <a:r>
                        <a:rPr lang="zh-CN" altLang="en-US" b="1" i="0" dirty="0">
                          <a:latin typeface="Calibri" panose="020F0502020204030204"/>
                          <a:cs typeface="Calibri" panose="020F0502020204030204"/>
                        </a:rPr>
                        <a:t>描述</a:t>
                      </a:r>
                    </a:p>
                  </a:txBody>
                  <a:tcPr>
                    <a:solidFill>
                      <a:srgbClr val="844DAD"/>
                    </a:solidFill>
                  </a:tcPr>
                </a:tc>
                <a:extLst>
                  <a:ext uri="{0D108BD9-81ED-4DB2-BD59-A6C34878D82A}">
                    <a16:rowId xmlns:a16="http://schemas.microsoft.com/office/drawing/2014/main" val="10000"/>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A1[3][5]</a:t>
                      </a:r>
                    </a:p>
                  </a:txBody>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*A2[3][5]</a:t>
                      </a: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(*A3)[3][5]</a:t>
                      </a:r>
                    </a:p>
                  </a:txBody>
                  <a:tcPr/>
                </a:tc>
                <a:extLst>
                  <a:ext uri="{0D108BD9-81ED-4DB2-BD59-A6C34878D82A}">
                    <a16:rowId xmlns:a16="http://schemas.microsoft.com/office/drawing/2014/main" val="10003"/>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*(A4[3][5])</a:t>
                      </a:r>
                    </a:p>
                  </a:txBody>
                  <a:tcPr/>
                </a:tc>
                <a:extLst>
                  <a:ext uri="{0D108BD9-81ED-4DB2-BD59-A6C34878D82A}">
                    <a16:rowId xmlns:a16="http://schemas.microsoft.com/office/drawing/2014/main" val="10004"/>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(*A5[3])[5]</a:t>
                      </a:r>
                    </a:p>
                  </a:txBody>
                  <a:tcPr/>
                </a:tc>
                <a:extLst>
                  <a:ext uri="{0D108BD9-81ED-4DB2-BD59-A6C34878D82A}">
                    <a16:rowId xmlns:a16="http://schemas.microsoft.com/office/drawing/2014/main" val="10005"/>
                  </a:ext>
                </a:extLst>
              </a:tr>
            </a:tbl>
          </a:graphicData>
        </a:graphic>
      </p:graphicFrame>
      <p:sp>
        <p:nvSpPr>
          <p:cNvPr id="9" name="Text Box 33"/>
          <p:cNvSpPr txBox="1">
            <a:spLocks noChangeArrowheads="1"/>
          </p:cNvSpPr>
          <p:nvPr/>
        </p:nvSpPr>
        <p:spPr bwMode="auto">
          <a:xfrm>
            <a:off x="107504" y="3068960"/>
            <a:ext cx="1080120" cy="338554"/>
          </a:xfrm>
          <a:prstGeom prst="rect">
            <a:avLst/>
          </a:prstGeom>
          <a:noFill/>
          <a:ln w="25400">
            <a:noFill/>
            <a:miter lim="800000"/>
          </a:ln>
        </p:spPr>
        <p:txBody>
          <a:bodyPr wrap="square">
            <a:spAutoFit/>
          </a:bodyPr>
          <a:lstStyle/>
          <a:p>
            <a:pPr eaLnBrk="0" hangingPunct="0"/>
            <a:r>
              <a:rPr lang="en-US" sz="1600" dirty="0">
                <a:latin typeface="Courier New" panose="02070309020205020404"/>
                <a:cs typeface="Courier New" panose="02070309020205020404"/>
              </a:rPr>
              <a:t>A2/A4</a:t>
            </a:r>
          </a:p>
        </p:txBody>
      </p:sp>
      <p:sp>
        <p:nvSpPr>
          <p:cNvPr id="5" name="Rectangle 27"/>
          <p:cNvSpPr>
            <a:spLocks noChangeArrowheads="1"/>
          </p:cNvSpPr>
          <p:nvPr/>
        </p:nvSpPr>
        <p:spPr bwMode="auto">
          <a:xfrm>
            <a:off x="78904" y="3429000"/>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12" name="Straight Arrow Connector 11"/>
          <p:cNvCxnSpPr/>
          <p:nvPr/>
        </p:nvCxnSpPr>
        <p:spPr bwMode="auto">
          <a:xfrm>
            <a:off x="943000" y="3543482"/>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41" name="Rectangle 27"/>
          <p:cNvSpPr>
            <a:spLocks noChangeArrowheads="1"/>
          </p:cNvSpPr>
          <p:nvPr/>
        </p:nvSpPr>
        <p:spPr bwMode="auto">
          <a:xfrm>
            <a:off x="1879104" y="3429000"/>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42" name="Straight Arrow Connector 41"/>
          <p:cNvCxnSpPr/>
          <p:nvPr/>
        </p:nvCxnSpPr>
        <p:spPr bwMode="auto">
          <a:xfrm>
            <a:off x="2743200" y="3543482"/>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44" name="Rectangle 27"/>
          <p:cNvSpPr>
            <a:spLocks noChangeArrowheads="1"/>
          </p:cNvSpPr>
          <p:nvPr/>
        </p:nvSpPr>
        <p:spPr bwMode="auto">
          <a:xfrm>
            <a:off x="3679304" y="3429000"/>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45" name="Straight Arrow Connector 44"/>
          <p:cNvCxnSpPr/>
          <p:nvPr/>
        </p:nvCxnSpPr>
        <p:spPr bwMode="auto">
          <a:xfrm>
            <a:off x="4543400" y="3543482"/>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47" name="Rectangle 27"/>
          <p:cNvSpPr>
            <a:spLocks noChangeArrowheads="1"/>
          </p:cNvSpPr>
          <p:nvPr/>
        </p:nvSpPr>
        <p:spPr bwMode="auto">
          <a:xfrm>
            <a:off x="5479504" y="3429000"/>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48" name="Straight Arrow Connector 47"/>
          <p:cNvCxnSpPr/>
          <p:nvPr/>
        </p:nvCxnSpPr>
        <p:spPr bwMode="auto">
          <a:xfrm>
            <a:off x="6343600" y="3543482"/>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50" name="Rectangle 27"/>
          <p:cNvSpPr>
            <a:spLocks noChangeArrowheads="1"/>
          </p:cNvSpPr>
          <p:nvPr/>
        </p:nvSpPr>
        <p:spPr bwMode="auto">
          <a:xfrm>
            <a:off x="7279704" y="3429000"/>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51" name="Straight Arrow Connector 50"/>
          <p:cNvCxnSpPr/>
          <p:nvPr/>
        </p:nvCxnSpPr>
        <p:spPr bwMode="auto">
          <a:xfrm>
            <a:off x="8143800" y="3543482"/>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53" name="Rectangle 27"/>
          <p:cNvSpPr>
            <a:spLocks noChangeArrowheads="1"/>
          </p:cNvSpPr>
          <p:nvPr/>
        </p:nvSpPr>
        <p:spPr bwMode="auto">
          <a:xfrm>
            <a:off x="78904" y="3645024"/>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54" name="Straight Arrow Connector 53"/>
          <p:cNvCxnSpPr/>
          <p:nvPr/>
        </p:nvCxnSpPr>
        <p:spPr bwMode="auto">
          <a:xfrm>
            <a:off x="943000" y="3759506"/>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56" name="Rectangle 27"/>
          <p:cNvSpPr>
            <a:spLocks noChangeArrowheads="1"/>
          </p:cNvSpPr>
          <p:nvPr/>
        </p:nvSpPr>
        <p:spPr bwMode="auto">
          <a:xfrm>
            <a:off x="1879104" y="3645024"/>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57" name="Straight Arrow Connector 56"/>
          <p:cNvCxnSpPr/>
          <p:nvPr/>
        </p:nvCxnSpPr>
        <p:spPr bwMode="auto">
          <a:xfrm>
            <a:off x="2743200" y="3759506"/>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59" name="Rectangle 27"/>
          <p:cNvSpPr>
            <a:spLocks noChangeArrowheads="1"/>
          </p:cNvSpPr>
          <p:nvPr/>
        </p:nvSpPr>
        <p:spPr bwMode="auto">
          <a:xfrm>
            <a:off x="3679304" y="3645024"/>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60" name="Straight Arrow Connector 59"/>
          <p:cNvCxnSpPr/>
          <p:nvPr/>
        </p:nvCxnSpPr>
        <p:spPr bwMode="auto">
          <a:xfrm>
            <a:off x="4543400" y="3759506"/>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62" name="Rectangle 27"/>
          <p:cNvSpPr>
            <a:spLocks noChangeArrowheads="1"/>
          </p:cNvSpPr>
          <p:nvPr/>
        </p:nvSpPr>
        <p:spPr bwMode="auto">
          <a:xfrm>
            <a:off x="5479504" y="3645024"/>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63" name="Straight Arrow Connector 62"/>
          <p:cNvCxnSpPr/>
          <p:nvPr/>
        </p:nvCxnSpPr>
        <p:spPr bwMode="auto">
          <a:xfrm>
            <a:off x="6343600" y="3759506"/>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65" name="Rectangle 27"/>
          <p:cNvSpPr>
            <a:spLocks noChangeArrowheads="1"/>
          </p:cNvSpPr>
          <p:nvPr/>
        </p:nvSpPr>
        <p:spPr bwMode="auto">
          <a:xfrm>
            <a:off x="7279704" y="3645024"/>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66" name="Straight Arrow Connector 65"/>
          <p:cNvCxnSpPr/>
          <p:nvPr/>
        </p:nvCxnSpPr>
        <p:spPr bwMode="auto">
          <a:xfrm>
            <a:off x="8143800" y="3759506"/>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68" name="Rectangle 27"/>
          <p:cNvSpPr>
            <a:spLocks noChangeArrowheads="1"/>
          </p:cNvSpPr>
          <p:nvPr/>
        </p:nvSpPr>
        <p:spPr bwMode="auto">
          <a:xfrm>
            <a:off x="78904" y="3861048"/>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69" name="Straight Arrow Connector 68"/>
          <p:cNvCxnSpPr/>
          <p:nvPr/>
        </p:nvCxnSpPr>
        <p:spPr bwMode="auto">
          <a:xfrm>
            <a:off x="943000" y="3975530"/>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71" name="Rectangle 27"/>
          <p:cNvSpPr>
            <a:spLocks noChangeArrowheads="1"/>
          </p:cNvSpPr>
          <p:nvPr/>
        </p:nvSpPr>
        <p:spPr bwMode="auto">
          <a:xfrm>
            <a:off x="1879104" y="3861048"/>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72" name="Straight Arrow Connector 71"/>
          <p:cNvCxnSpPr/>
          <p:nvPr/>
        </p:nvCxnSpPr>
        <p:spPr bwMode="auto">
          <a:xfrm>
            <a:off x="2743200" y="3975530"/>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74" name="Rectangle 27"/>
          <p:cNvSpPr>
            <a:spLocks noChangeArrowheads="1"/>
          </p:cNvSpPr>
          <p:nvPr/>
        </p:nvSpPr>
        <p:spPr bwMode="auto">
          <a:xfrm>
            <a:off x="3679304" y="3861048"/>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75" name="Straight Arrow Connector 74"/>
          <p:cNvCxnSpPr/>
          <p:nvPr/>
        </p:nvCxnSpPr>
        <p:spPr bwMode="auto">
          <a:xfrm>
            <a:off x="4543400" y="3975530"/>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77" name="Rectangle 27"/>
          <p:cNvSpPr>
            <a:spLocks noChangeArrowheads="1"/>
          </p:cNvSpPr>
          <p:nvPr/>
        </p:nvSpPr>
        <p:spPr bwMode="auto">
          <a:xfrm>
            <a:off x="5479504" y="3861048"/>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78" name="Straight Arrow Connector 77"/>
          <p:cNvCxnSpPr/>
          <p:nvPr/>
        </p:nvCxnSpPr>
        <p:spPr bwMode="auto">
          <a:xfrm>
            <a:off x="6343600" y="3975530"/>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80" name="Rectangle 27"/>
          <p:cNvSpPr>
            <a:spLocks noChangeArrowheads="1"/>
          </p:cNvSpPr>
          <p:nvPr/>
        </p:nvSpPr>
        <p:spPr bwMode="auto">
          <a:xfrm>
            <a:off x="7279704" y="3861048"/>
            <a:ext cx="1828800" cy="228964"/>
          </a:xfrm>
          <a:prstGeom prst="rect">
            <a:avLst/>
          </a:prstGeom>
          <a:solidFill>
            <a:srgbClr val="F6F5BD"/>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81" name="Straight Arrow Connector 80"/>
          <p:cNvCxnSpPr/>
          <p:nvPr/>
        </p:nvCxnSpPr>
        <p:spPr bwMode="auto">
          <a:xfrm>
            <a:off x="8143800" y="3975530"/>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grpSp>
        <p:nvGrpSpPr>
          <p:cNvPr id="180" name="Group 179"/>
          <p:cNvGrpSpPr/>
          <p:nvPr/>
        </p:nvGrpSpPr>
        <p:grpSpPr>
          <a:xfrm>
            <a:off x="107504" y="5021722"/>
            <a:ext cx="8945574" cy="1503622"/>
            <a:chOff x="107504" y="4098558"/>
            <a:chExt cx="8945574" cy="1503622"/>
          </a:xfrm>
        </p:grpSpPr>
        <p:grpSp>
          <p:nvGrpSpPr>
            <p:cNvPr id="177" name="Group 176"/>
            <p:cNvGrpSpPr/>
            <p:nvPr/>
          </p:nvGrpSpPr>
          <p:grpSpPr>
            <a:xfrm>
              <a:off x="107504" y="4437112"/>
              <a:ext cx="8945574" cy="1165068"/>
              <a:chOff x="107504" y="4437112"/>
              <a:chExt cx="8945574" cy="1165068"/>
            </a:xfrm>
          </p:grpSpPr>
          <p:sp>
            <p:nvSpPr>
              <p:cNvPr id="141" name="Rectangle 27"/>
              <p:cNvSpPr>
                <a:spLocks noChangeArrowheads="1"/>
              </p:cNvSpPr>
              <p:nvPr/>
            </p:nvSpPr>
            <p:spPr bwMode="auto">
              <a:xfrm>
                <a:off x="107504" y="4437112"/>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142" name="Straight Arrow Connector 141"/>
              <p:cNvCxnSpPr/>
              <p:nvPr/>
            </p:nvCxnSpPr>
            <p:spPr bwMode="auto">
              <a:xfrm>
                <a:off x="971600" y="4551594"/>
                <a:ext cx="0" cy="821622"/>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139" name="Rectangle 27"/>
              <p:cNvSpPr>
                <a:spLocks noChangeArrowheads="1"/>
              </p:cNvSpPr>
              <p:nvPr/>
            </p:nvSpPr>
            <p:spPr bwMode="auto">
              <a:xfrm>
                <a:off x="1907704" y="4437112"/>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140" name="Straight Arrow Connector 139"/>
              <p:cNvCxnSpPr/>
              <p:nvPr/>
            </p:nvCxnSpPr>
            <p:spPr bwMode="auto">
              <a:xfrm>
                <a:off x="2771800" y="4551594"/>
                <a:ext cx="0" cy="53359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sp>
            <p:nvSpPr>
              <p:cNvPr id="137" name="Rectangle 27"/>
              <p:cNvSpPr>
                <a:spLocks noChangeArrowheads="1"/>
              </p:cNvSpPr>
              <p:nvPr/>
            </p:nvSpPr>
            <p:spPr bwMode="auto">
              <a:xfrm>
                <a:off x="3707904" y="4437112"/>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138" name="Straight Arrow Connector 137"/>
              <p:cNvCxnSpPr/>
              <p:nvPr/>
            </p:nvCxnSpPr>
            <p:spPr bwMode="auto">
              <a:xfrm>
                <a:off x="4572000" y="4551594"/>
                <a:ext cx="0" cy="245558"/>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grpSp>
            <p:nvGrpSpPr>
              <p:cNvPr id="167" name="Group 166"/>
              <p:cNvGrpSpPr/>
              <p:nvPr/>
            </p:nvGrpSpPr>
            <p:grpSpPr>
              <a:xfrm>
                <a:off x="4572000" y="4797152"/>
                <a:ext cx="4481078" cy="228964"/>
                <a:chOff x="2267744" y="5013176"/>
                <a:chExt cx="4481078" cy="228964"/>
              </a:xfrm>
            </p:grpSpPr>
            <p:sp>
              <p:nvSpPr>
                <p:cNvPr id="150" name="Rectangle 27"/>
                <p:cNvSpPr>
                  <a:spLocks noChangeArrowheads="1"/>
                </p:cNvSpPr>
                <p:nvPr/>
              </p:nvSpPr>
              <p:spPr bwMode="auto">
                <a:xfrm>
                  <a:off x="2267744" y="501317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1" name="Rectangle 27"/>
                <p:cNvSpPr>
                  <a:spLocks noChangeArrowheads="1"/>
                </p:cNvSpPr>
                <p:nvPr/>
              </p:nvSpPr>
              <p:spPr bwMode="auto">
                <a:xfrm>
                  <a:off x="3161370" y="501317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2" name="Rectangle 27"/>
                <p:cNvSpPr>
                  <a:spLocks noChangeArrowheads="1"/>
                </p:cNvSpPr>
                <p:nvPr/>
              </p:nvSpPr>
              <p:spPr bwMode="auto">
                <a:xfrm>
                  <a:off x="4054996" y="501317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3" name="Rectangle 27"/>
                <p:cNvSpPr>
                  <a:spLocks noChangeArrowheads="1"/>
                </p:cNvSpPr>
                <p:nvPr/>
              </p:nvSpPr>
              <p:spPr bwMode="auto">
                <a:xfrm>
                  <a:off x="4948622" y="501317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4" name="Rectangle 27"/>
                <p:cNvSpPr>
                  <a:spLocks noChangeArrowheads="1"/>
                </p:cNvSpPr>
                <p:nvPr/>
              </p:nvSpPr>
              <p:spPr bwMode="auto">
                <a:xfrm>
                  <a:off x="5842248" y="501317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grpSp>
            <p:nvGrpSpPr>
              <p:cNvPr id="168" name="Group 167"/>
              <p:cNvGrpSpPr/>
              <p:nvPr/>
            </p:nvGrpSpPr>
            <p:grpSpPr>
              <a:xfrm>
                <a:off x="2771800" y="5085184"/>
                <a:ext cx="4481078" cy="228964"/>
                <a:chOff x="2267744" y="5229200"/>
                <a:chExt cx="4481078" cy="228964"/>
              </a:xfrm>
            </p:grpSpPr>
            <p:sp>
              <p:nvSpPr>
                <p:cNvPr id="155" name="Rectangle 27"/>
                <p:cNvSpPr>
                  <a:spLocks noChangeArrowheads="1"/>
                </p:cNvSpPr>
                <p:nvPr/>
              </p:nvSpPr>
              <p:spPr bwMode="auto">
                <a:xfrm>
                  <a:off x="2267744" y="522920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6" name="Rectangle 27"/>
                <p:cNvSpPr>
                  <a:spLocks noChangeArrowheads="1"/>
                </p:cNvSpPr>
                <p:nvPr/>
              </p:nvSpPr>
              <p:spPr bwMode="auto">
                <a:xfrm>
                  <a:off x="3161370" y="522920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7" name="Rectangle 27"/>
                <p:cNvSpPr>
                  <a:spLocks noChangeArrowheads="1"/>
                </p:cNvSpPr>
                <p:nvPr/>
              </p:nvSpPr>
              <p:spPr bwMode="auto">
                <a:xfrm>
                  <a:off x="4054996" y="522920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8" name="Rectangle 27"/>
                <p:cNvSpPr>
                  <a:spLocks noChangeArrowheads="1"/>
                </p:cNvSpPr>
                <p:nvPr/>
              </p:nvSpPr>
              <p:spPr bwMode="auto">
                <a:xfrm>
                  <a:off x="4948622" y="522920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9" name="Rectangle 27"/>
                <p:cNvSpPr>
                  <a:spLocks noChangeArrowheads="1"/>
                </p:cNvSpPr>
                <p:nvPr/>
              </p:nvSpPr>
              <p:spPr bwMode="auto">
                <a:xfrm>
                  <a:off x="5842248" y="522920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grpSp>
            <p:nvGrpSpPr>
              <p:cNvPr id="169" name="Group 168"/>
              <p:cNvGrpSpPr/>
              <p:nvPr/>
            </p:nvGrpSpPr>
            <p:grpSpPr>
              <a:xfrm>
                <a:off x="971600" y="5373216"/>
                <a:ext cx="4481078" cy="228964"/>
                <a:chOff x="2267744" y="5445224"/>
                <a:chExt cx="4481078" cy="228964"/>
              </a:xfrm>
            </p:grpSpPr>
            <p:sp>
              <p:nvSpPr>
                <p:cNvPr id="160" name="Rectangle 27"/>
                <p:cNvSpPr>
                  <a:spLocks noChangeArrowheads="1"/>
                </p:cNvSpPr>
                <p:nvPr/>
              </p:nvSpPr>
              <p:spPr bwMode="auto">
                <a:xfrm>
                  <a:off x="2267744" y="544522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61" name="Rectangle 27"/>
                <p:cNvSpPr>
                  <a:spLocks noChangeArrowheads="1"/>
                </p:cNvSpPr>
                <p:nvPr/>
              </p:nvSpPr>
              <p:spPr bwMode="auto">
                <a:xfrm>
                  <a:off x="3161370" y="544522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62" name="Rectangle 27"/>
                <p:cNvSpPr>
                  <a:spLocks noChangeArrowheads="1"/>
                </p:cNvSpPr>
                <p:nvPr/>
              </p:nvSpPr>
              <p:spPr bwMode="auto">
                <a:xfrm>
                  <a:off x="4054996" y="544522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63" name="Rectangle 27"/>
                <p:cNvSpPr>
                  <a:spLocks noChangeArrowheads="1"/>
                </p:cNvSpPr>
                <p:nvPr/>
              </p:nvSpPr>
              <p:spPr bwMode="auto">
                <a:xfrm>
                  <a:off x="4948622" y="544522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64" name="Rectangle 27"/>
                <p:cNvSpPr>
                  <a:spLocks noChangeArrowheads="1"/>
                </p:cNvSpPr>
                <p:nvPr/>
              </p:nvSpPr>
              <p:spPr bwMode="auto">
                <a:xfrm>
                  <a:off x="5842248" y="544522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grpSp>
        <p:sp>
          <p:nvSpPr>
            <p:cNvPr id="178" name="Text Box 33"/>
            <p:cNvSpPr txBox="1">
              <a:spLocks noChangeArrowheads="1"/>
            </p:cNvSpPr>
            <p:nvPr/>
          </p:nvSpPr>
          <p:spPr bwMode="auto">
            <a:xfrm>
              <a:off x="107504" y="4098558"/>
              <a:ext cx="1080120" cy="338554"/>
            </a:xfrm>
            <a:prstGeom prst="rect">
              <a:avLst/>
            </a:prstGeom>
            <a:noFill/>
            <a:ln w="25400">
              <a:noFill/>
              <a:miter lim="800000"/>
            </a:ln>
          </p:spPr>
          <p:txBody>
            <a:bodyPr wrap="square">
              <a:spAutoFit/>
            </a:bodyPr>
            <a:lstStyle/>
            <a:p>
              <a:pPr eaLnBrk="0" hangingPunct="0"/>
              <a:r>
                <a:rPr lang="en-US" sz="1600" dirty="0">
                  <a:latin typeface="Courier New" panose="02070309020205020404"/>
                  <a:cs typeface="Courier New" panose="02070309020205020404"/>
                </a:rPr>
                <a:t>A5</a:t>
              </a:r>
            </a:p>
          </p:txBody>
        </p:sp>
      </p:grpSp>
      <p:grpSp>
        <p:nvGrpSpPr>
          <p:cNvPr id="182" name="Group 181"/>
          <p:cNvGrpSpPr/>
          <p:nvPr/>
        </p:nvGrpSpPr>
        <p:grpSpPr>
          <a:xfrm>
            <a:off x="78904" y="548680"/>
            <a:ext cx="5069160" cy="1489313"/>
            <a:chOff x="-684584" y="764704"/>
            <a:chExt cx="5069160" cy="1489313"/>
          </a:xfrm>
        </p:grpSpPr>
        <p:sp>
          <p:nvSpPr>
            <p:cNvPr id="14" name="Rectangle 26"/>
            <p:cNvSpPr>
              <a:spLocks noChangeArrowheads="1"/>
            </p:cNvSpPr>
            <p:nvPr/>
          </p:nvSpPr>
          <p:spPr bwMode="auto">
            <a:xfrm>
              <a:off x="2555776" y="1700808"/>
              <a:ext cx="914400" cy="228964"/>
            </a:xfrm>
            <a:prstGeom prst="rect">
              <a:avLst/>
            </a:prstGeom>
            <a:solidFill>
              <a:schemeClr val="accent2">
                <a:lumMod val="40000"/>
                <a:lumOff val="60000"/>
              </a:schemeClr>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5" name="Rectangle 27"/>
            <p:cNvSpPr>
              <a:spLocks noChangeArrowheads="1"/>
            </p:cNvSpPr>
            <p:nvPr/>
          </p:nvSpPr>
          <p:spPr bwMode="auto">
            <a:xfrm>
              <a:off x="2555776" y="1412776"/>
              <a:ext cx="1828800"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6" name="Text Box 33"/>
            <p:cNvSpPr txBox="1">
              <a:spLocks noChangeArrowheads="1"/>
            </p:cNvSpPr>
            <p:nvPr/>
          </p:nvSpPr>
          <p:spPr bwMode="auto">
            <a:xfrm>
              <a:off x="683568" y="1628800"/>
              <a:ext cx="1854696" cy="337185"/>
            </a:xfrm>
            <a:prstGeom prst="rect">
              <a:avLst/>
            </a:prstGeom>
            <a:noFill/>
            <a:ln w="25400">
              <a:noFill/>
              <a:miter lim="800000"/>
            </a:ln>
          </p:spPr>
          <p:txBody>
            <a:bodyPr wrap="square">
              <a:spAutoFit/>
            </a:bodyPr>
            <a:lstStyle/>
            <a:p>
              <a:pPr algn="r" eaLnBrk="0" hangingPunct="0"/>
              <a:r>
                <a:rPr lang="zh-CN" altLang="en-US" sz="1600" dirty="0">
                  <a:latin typeface="Calibri" panose="020F0502020204030204" charset="0"/>
                  <a:sym typeface="+mn-ea"/>
                </a:rPr>
                <a:t>分配的整数</a:t>
              </a:r>
              <a:endParaRPr lang="en-US" sz="1600" b="0" dirty="0">
                <a:latin typeface="Calibri" panose="020F0502020204030204" charset="0"/>
              </a:endParaRPr>
            </a:p>
          </p:txBody>
        </p:sp>
        <p:sp>
          <p:nvSpPr>
            <p:cNvPr id="17" name="Rectangle 27"/>
            <p:cNvSpPr>
              <a:spLocks noChangeArrowheads="1"/>
            </p:cNvSpPr>
            <p:nvPr/>
          </p:nvSpPr>
          <p:spPr bwMode="auto">
            <a:xfrm>
              <a:off x="2555776" y="836712"/>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8" name="Text Box 33"/>
            <p:cNvSpPr txBox="1">
              <a:spLocks noChangeArrowheads="1"/>
            </p:cNvSpPr>
            <p:nvPr/>
          </p:nvSpPr>
          <p:spPr bwMode="auto">
            <a:xfrm>
              <a:off x="683568" y="1340768"/>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未分配的指针</a:t>
              </a:r>
            </a:p>
          </p:txBody>
        </p:sp>
        <p:sp>
          <p:nvSpPr>
            <p:cNvPr id="19" name="Text Box 33"/>
            <p:cNvSpPr txBox="1">
              <a:spLocks noChangeArrowheads="1"/>
            </p:cNvSpPr>
            <p:nvPr/>
          </p:nvSpPr>
          <p:spPr bwMode="auto">
            <a:xfrm>
              <a:off x="683568" y="764704"/>
              <a:ext cx="1854696"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分配的指针</a:t>
              </a:r>
            </a:p>
          </p:txBody>
        </p:sp>
        <p:sp>
          <p:nvSpPr>
            <p:cNvPr id="20" name="Text Box 33"/>
            <p:cNvSpPr txBox="1">
              <a:spLocks noChangeArrowheads="1"/>
            </p:cNvSpPr>
            <p:nvPr/>
          </p:nvSpPr>
          <p:spPr bwMode="auto">
            <a:xfrm>
              <a:off x="683568" y="1916832"/>
              <a:ext cx="1854696" cy="337185"/>
            </a:xfrm>
            <a:prstGeom prst="rect">
              <a:avLst/>
            </a:prstGeom>
            <a:noFill/>
            <a:ln w="25400">
              <a:noFill/>
              <a:miter lim="800000"/>
            </a:ln>
          </p:spPr>
          <p:txBody>
            <a:bodyPr wrap="square">
              <a:spAutoFit/>
            </a:bodyPr>
            <a:lstStyle/>
            <a:p>
              <a:pPr algn="r" eaLnBrk="0" hangingPunct="0"/>
              <a:r>
                <a:rPr lang="zh-CN" altLang="en-US" sz="1600" dirty="0">
                  <a:latin typeface="Calibri" panose="020F0502020204030204" charset="0"/>
                  <a:sym typeface="+mn-ea"/>
                </a:rPr>
                <a:t>未分配的整数</a:t>
              </a:r>
              <a:endParaRPr lang="en-US" sz="1600" b="0" dirty="0">
                <a:latin typeface="Calibri" panose="020F0502020204030204" charset="0"/>
              </a:endParaRPr>
            </a:p>
          </p:txBody>
        </p:sp>
        <p:sp>
          <p:nvSpPr>
            <p:cNvPr id="21" name="Rectangle 27"/>
            <p:cNvSpPr>
              <a:spLocks noChangeArrowheads="1"/>
            </p:cNvSpPr>
            <p:nvPr/>
          </p:nvSpPr>
          <p:spPr bwMode="auto">
            <a:xfrm>
              <a:off x="2555776" y="196735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nvGrpSpPr>
            <p:cNvPr id="103" name="Group 102"/>
            <p:cNvGrpSpPr/>
            <p:nvPr/>
          </p:nvGrpSpPr>
          <p:grpSpPr>
            <a:xfrm>
              <a:off x="2555776" y="1124744"/>
              <a:ext cx="1828800" cy="228964"/>
              <a:chOff x="1259632" y="5661248"/>
              <a:chExt cx="1828800" cy="228964"/>
            </a:xfrm>
          </p:grpSpPr>
          <p:sp>
            <p:nvSpPr>
              <p:cNvPr id="131" name="Rectangle 27"/>
              <p:cNvSpPr>
                <a:spLocks noChangeArrowheads="1"/>
              </p:cNvSpPr>
              <p:nvPr/>
            </p:nvSpPr>
            <p:spPr bwMode="auto">
              <a:xfrm>
                <a:off x="1259632" y="5661248"/>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132" name="Straight Arrow Connector 131"/>
              <p:cNvCxnSpPr/>
              <p:nvPr/>
            </p:nvCxnSpPr>
            <p:spPr bwMode="auto">
              <a:xfrm>
                <a:off x="2123728" y="5775730"/>
                <a:ext cx="576064"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grpSp>
        <p:sp>
          <p:nvSpPr>
            <p:cNvPr id="181" name="Text Box 33"/>
            <p:cNvSpPr txBox="1">
              <a:spLocks noChangeArrowheads="1"/>
            </p:cNvSpPr>
            <p:nvPr/>
          </p:nvSpPr>
          <p:spPr bwMode="auto">
            <a:xfrm>
              <a:off x="-684584" y="1052736"/>
              <a:ext cx="3222848" cy="337185"/>
            </a:xfrm>
            <a:prstGeom prst="rect">
              <a:avLst/>
            </a:prstGeom>
            <a:noFill/>
            <a:ln w="25400">
              <a:noFill/>
              <a:miter lim="800000"/>
            </a:ln>
          </p:spPr>
          <p:txBody>
            <a:bodyPr wrap="square">
              <a:spAutoFit/>
            </a:bodyPr>
            <a:lstStyle/>
            <a:p>
              <a:pPr algn="r" eaLnBrk="0" hangingPunct="0"/>
              <a:r>
                <a:rPr lang="zh-CN" altLang="en-US" sz="1600" b="0" dirty="0">
                  <a:latin typeface="Calibri" panose="020F0502020204030204" charset="0"/>
                </a:rPr>
                <a:t>分配的指针指向未分配的整数</a:t>
              </a:r>
            </a:p>
          </p:txBody>
        </p:sp>
      </p:grpSp>
      <p:grpSp>
        <p:nvGrpSpPr>
          <p:cNvPr id="13" name="Group 12"/>
          <p:cNvGrpSpPr/>
          <p:nvPr/>
        </p:nvGrpSpPr>
        <p:grpSpPr>
          <a:xfrm>
            <a:off x="107504" y="2335940"/>
            <a:ext cx="5090864" cy="673952"/>
            <a:chOff x="107504" y="2335940"/>
            <a:chExt cx="5090864" cy="673952"/>
          </a:xfrm>
        </p:grpSpPr>
        <p:sp>
          <p:nvSpPr>
            <p:cNvPr id="6" name="Text Box 33"/>
            <p:cNvSpPr txBox="1">
              <a:spLocks noChangeArrowheads="1"/>
            </p:cNvSpPr>
            <p:nvPr/>
          </p:nvSpPr>
          <p:spPr bwMode="auto">
            <a:xfrm>
              <a:off x="107504" y="2492896"/>
              <a:ext cx="486544" cy="338554"/>
            </a:xfrm>
            <a:prstGeom prst="rect">
              <a:avLst/>
            </a:prstGeom>
            <a:noFill/>
            <a:ln w="25400">
              <a:noFill/>
              <a:miter lim="800000"/>
            </a:ln>
          </p:spPr>
          <p:txBody>
            <a:bodyPr wrap="square">
              <a:spAutoFit/>
            </a:bodyPr>
            <a:lstStyle/>
            <a:p>
              <a:pPr algn="r" eaLnBrk="0" hangingPunct="0"/>
              <a:r>
                <a:rPr lang="en-US" sz="1600" dirty="0">
                  <a:latin typeface="Courier New" panose="02070309020205020404"/>
                  <a:cs typeface="Courier New" panose="02070309020205020404"/>
                </a:rPr>
                <a:t>A1</a:t>
              </a:r>
            </a:p>
          </p:txBody>
        </p:sp>
        <p:grpSp>
          <p:nvGrpSpPr>
            <p:cNvPr id="10" name="Group 3"/>
            <p:cNvGrpSpPr/>
            <p:nvPr/>
          </p:nvGrpSpPr>
          <p:grpSpPr>
            <a:xfrm>
              <a:off x="683568" y="2335940"/>
              <a:ext cx="4514800" cy="673952"/>
              <a:chOff x="683568" y="2335940"/>
              <a:chExt cx="4514800" cy="673952"/>
            </a:xfrm>
          </p:grpSpPr>
          <p:grpSp>
            <p:nvGrpSpPr>
              <p:cNvPr id="36" name="Group 35"/>
              <p:cNvGrpSpPr/>
              <p:nvPr/>
            </p:nvGrpSpPr>
            <p:grpSpPr>
              <a:xfrm>
                <a:off x="683568" y="2348880"/>
                <a:ext cx="4514800" cy="661012"/>
                <a:chOff x="4572000" y="1556792"/>
                <a:chExt cx="4514800" cy="661012"/>
              </a:xfrm>
            </p:grpSpPr>
            <p:sp>
              <p:nvSpPr>
                <p:cNvPr id="11" name="Rectangle 26"/>
                <p:cNvSpPr>
                  <a:spLocks noChangeArrowheads="1"/>
                </p:cNvSpPr>
                <p:nvPr/>
              </p:nvSpPr>
              <p:spPr bwMode="auto">
                <a:xfrm>
                  <a:off x="4572000" y="1556792"/>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2" name="Rectangle 26"/>
                <p:cNvSpPr>
                  <a:spLocks noChangeArrowheads="1"/>
                </p:cNvSpPr>
                <p:nvPr/>
              </p:nvSpPr>
              <p:spPr bwMode="auto">
                <a:xfrm>
                  <a:off x="5457800" y="1556792"/>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3" name="Rectangle 26"/>
                <p:cNvSpPr>
                  <a:spLocks noChangeArrowheads="1"/>
                </p:cNvSpPr>
                <p:nvPr/>
              </p:nvSpPr>
              <p:spPr bwMode="auto">
                <a:xfrm>
                  <a:off x="6372200" y="1556792"/>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4" name="Rectangle 26"/>
                <p:cNvSpPr>
                  <a:spLocks noChangeArrowheads="1"/>
                </p:cNvSpPr>
                <p:nvPr/>
              </p:nvSpPr>
              <p:spPr bwMode="auto">
                <a:xfrm>
                  <a:off x="7258000" y="1556792"/>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6" name="Rectangle 26"/>
                <p:cNvSpPr>
                  <a:spLocks noChangeArrowheads="1"/>
                </p:cNvSpPr>
                <p:nvPr/>
              </p:nvSpPr>
              <p:spPr bwMode="auto">
                <a:xfrm>
                  <a:off x="8172400" y="1556792"/>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7" name="Rectangle 26"/>
                <p:cNvSpPr>
                  <a:spLocks noChangeArrowheads="1"/>
                </p:cNvSpPr>
                <p:nvPr/>
              </p:nvSpPr>
              <p:spPr bwMode="auto">
                <a:xfrm>
                  <a:off x="4572000" y="1772816"/>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8" name="Rectangle 26"/>
                <p:cNvSpPr>
                  <a:spLocks noChangeArrowheads="1"/>
                </p:cNvSpPr>
                <p:nvPr/>
              </p:nvSpPr>
              <p:spPr bwMode="auto">
                <a:xfrm>
                  <a:off x="5457800" y="1772816"/>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29" name="Rectangle 26"/>
                <p:cNvSpPr>
                  <a:spLocks noChangeArrowheads="1"/>
                </p:cNvSpPr>
                <p:nvPr/>
              </p:nvSpPr>
              <p:spPr bwMode="auto">
                <a:xfrm>
                  <a:off x="6372200" y="1772816"/>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0" name="Rectangle 26"/>
                <p:cNvSpPr>
                  <a:spLocks noChangeArrowheads="1"/>
                </p:cNvSpPr>
                <p:nvPr/>
              </p:nvSpPr>
              <p:spPr bwMode="auto">
                <a:xfrm>
                  <a:off x="7258000" y="1772816"/>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1" name="Rectangle 26"/>
                <p:cNvSpPr>
                  <a:spLocks noChangeArrowheads="1"/>
                </p:cNvSpPr>
                <p:nvPr/>
              </p:nvSpPr>
              <p:spPr bwMode="auto">
                <a:xfrm>
                  <a:off x="8172400" y="1772816"/>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2" name="Rectangle 26"/>
                <p:cNvSpPr>
                  <a:spLocks noChangeArrowheads="1"/>
                </p:cNvSpPr>
                <p:nvPr/>
              </p:nvSpPr>
              <p:spPr bwMode="auto">
                <a:xfrm>
                  <a:off x="4572000" y="1988840"/>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3" name="Rectangle 31"/>
                <p:cNvSpPr>
                  <a:spLocks noChangeArrowheads="1"/>
                </p:cNvSpPr>
                <p:nvPr/>
              </p:nvSpPr>
              <p:spPr bwMode="auto">
                <a:xfrm>
                  <a:off x="5457800" y="1988840"/>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4" name="Rectangle 26"/>
                <p:cNvSpPr>
                  <a:spLocks noChangeArrowheads="1"/>
                </p:cNvSpPr>
                <p:nvPr/>
              </p:nvSpPr>
              <p:spPr bwMode="auto">
                <a:xfrm>
                  <a:off x="6372200" y="1988840"/>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5" name="Rectangle 26"/>
                <p:cNvSpPr>
                  <a:spLocks noChangeArrowheads="1"/>
                </p:cNvSpPr>
                <p:nvPr/>
              </p:nvSpPr>
              <p:spPr bwMode="auto">
                <a:xfrm>
                  <a:off x="7258000" y="1988840"/>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37" name="Rectangle 26"/>
                <p:cNvSpPr>
                  <a:spLocks noChangeArrowheads="1"/>
                </p:cNvSpPr>
                <p:nvPr/>
              </p:nvSpPr>
              <p:spPr bwMode="auto">
                <a:xfrm>
                  <a:off x="8172400" y="1988840"/>
                  <a:ext cx="914400" cy="228964"/>
                </a:xfrm>
                <a:prstGeom prst="rect">
                  <a:avLst/>
                </a:prstGeom>
                <a:solidFill>
                  <a:schemeClr val="accent2">
                    <a:lumMod val="40000"/>
                    <a:lumOff val="60000"/>
                  </a:schemeClr>
                </a:solidFill>
                <a:ln w="3175" cmpd="sng">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sp>
            <p:nvSpPr>
              <p:cNvPr id="129" name="Rectangle 27"/>
              <p:cNvSpPr>
                <a:spLocks noChangeArrowheads="1"/>
              </p:cNvSpPr>
              <p:nvPr/>
            </p:nvSpPr>
            <p:spPr bwMode="auto">
              <a:xfrm>
                <a:off x="683568" y="2335940"/>
                <a:ext cx="45148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30" name="Rectangle 27"/>
              <p:cNvSpPr>
                <a:spLocks noChangeArrowheads="1"/>
              </p:cNvSpPr>
              <p:nvPr/>
            </p:nvSpPr>
            <p:spPr bwMode="auto">
              <a:xfrm>
                <a:off x="683568" y="2564904"/>
                <a:ext cx="45148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33" name="Rectangle 27"/>
              <p:cNvSpPr>
                <a:spLocks noChangeArrowheads="1"/>
              </p:cNvSpPr>
              <p:nvPr/>
            </p:nvSpPr>
            <p:spPr bwMode="auto">
              <a:xfrm>
                <a:off x="683568" y="2780928"/>
                <a:ext cx="45148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grpSp>
      <p:grpSp>
        <p:nvGrpSpPr>
          <p:cNvPr id="97" name="Group 96"/>
          <p:cNvGrpSpPr/>
          <p:nvPr/>
        </p:nvGrpSpPr>
        <p:grpSpPr>
          <a:xfrm>
            <a:off x="107504" y="4273686"/>
            <a:ext cx="7649430" cy="673952"/>
            <a:chOff x="107504" y="4273686"/>
            <a:chExt cx="7649430" cy="673952"/>
          </a:xfrm>
        </p:grpSpPr>
        <p:grpSp>
          <p:nvGrpSpPr>
            <p:cNvPr id="166" name="Group 165"/>
            <p:cNvGrpSpPr/>
            <p:nvPr/>
          </p:nvGrpSpPr>
          <p:grpSpPr>
            <a:xfrm>
              <a:off x="107504" y="4280156"/>
              <a:ext cx="7649430" cy="661012"/>
              <a:chOff x="107504" y="3573016"/>
              <a:chExt cx="7649430" cy="661012"/>
            </a:xfrm>
          </p:grpSpPr>
          <p:grpSp>
            <p:nvGrpSpPr>
              <p:cNvPr id="165" name="Group 164"/>
              <p:cNvGrpSpPr/>
              <p:nvPr/>
            </p:nvGrpSpPr>
            <p:grpSpPr>
              <a:xfrm>
                <a:off x="1187624" y="3573016"/>
                <a:ext cx="6569310" cy="661012"/>
                <a:chOff x="1187624" y="3573016"/>
                <a:chExt cx="6569310" cy="661012"/>
              </a:xfrm>
            </p:grpSpPr>
            <p:sp>
              <p:nvSpPr>
                <p:cNvPr id="38" name="Rectangle 27"/>
                <p:cNvSpPr>
                  <a:spLocks noChangeArrowheads="1"/>
                </p:cNvSpPr>
                <p:nvPr/>
              </p:nvSpPr>
              <p:spPr bwMode="auto">
                <a:xfrm>
                  <a:off x="3275856" y="357301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83" name="Rectangle 27"/>
                <p:cNvSpPr>
                  <a:spLocks noChangeArrowheads="1"/>
                </p:cNvSpPr>
                <p:nvPr/>
              </p:nvSpPr>
              <p:spPr bwMode="auto">
                <a:xfrm>
                  <a:off x="4169482" y="357301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84" name="Rectangle 27"/>
                <p:cNvSpPr>
                  <a:spLocks noChangeArrowheads="1"/>
                </p:cNvSpPr>
                <p:nvPr/>
              </p:nvSpPr>
              <p:spPr bwMode="auto">
                <a:xfrm>
                  <a:off x="5063108" y="357301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85" name="Rectangle 27"/>
                <p:cNvSpPr>
                  <a:spLocks noChangeArrowheads="1"/>
                </p:cNvSpPr>
                <p:nvPr/>
              </p:nvSpPr>
              <p:spPr bwMode="auto">
                <a:xfrm>
                  <a:off x="5956734" y="357301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86" name="Rectangle 27"/>
                <p:cNvSpPr>
                  <a:spLocks noChangeArrowheads="1"/>
                </p:cNvSpPr>
                <p:nvPr/>
              </p:nvSpPr>
              <p:spPr bwMode="auto">
                <a:xfrm>
                  <a:off x="6850360" y="3573016"/>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87" name="Rectangle 27"/>
                <p:cNvSpPr>
                  <a:spLocks noChangeArrowheads="1"/>
                </p:cNvSpPr>
                <p:nvPr/>
              </p:nvSpPr>
              <p:spPr bwMode="auto">
                <a:xfrm>
                  <a:off x="3275856" y="378904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88" name="Rectangle 27"/>
                <p:cNvSpPr>
                  <a:spLocks noChangeArrowheads="1"/>
                </p:cNvSpPr>
                <p:nvPr/>
              </p:nvSpPr>
              <p:spPr bwMode="auto">
                <a:xfrm>
                  <a:off x="4169482" y="378904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89" name="Rectangle 27"/>
                <p:cNvSpPr>
                  <a:spLocks noChangeArrowheads="1"/>
                </p:cNvSpPr>
                <p:nvPr/>
              </p:nvSpPr>
              <p:spPr bwMode="auto">
                <a:xfrm>
                  <a:off x="5063108" y="378904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90" name="Rectangle 27"/>
                <p:cNvSpPr>
                  <a:spLocks noChangeArrowheads="1"/>
                </p:cNvSpPr>
                <p:nvPr/>
              </p:nvSpPr>
              <p:spPr bwMode="auto">
                <a:xfrm>
                  <a:off x="5956734" y="378904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91" name="Rectangle 27"/>
                <p:cNvSpPr>
                  <a:spLocks noChangeArrowheads="1"/>
                </p:cNvSpPr>
                <p:nvPr/>
              </p:nvSpPr>
              <p:spPr bwMode="auto">
                <a:xfrm>
                  <a:off x="6850360" y="3789040"/>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92" name="Rectangle 27"/>
                <p:cNvSpPr>
                  <a:spLocks noChangeArrowheads="1"/>
                </p:cNvSpPr>
                <p:nvPr/>
              </p:nvSpPr>
              <p:spPr bwMode="auto">
                <a:xfrm>
                  <a:off x="3275856" y="400506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93" name="Rectangle 27"/>
                <p:cNvSpPr>
                  <a:spLocks noChangeArrowheads="1"/>
                </p:cNvSpPr>
                <p:nvPr/>
              </p:nvSpPr>
              <p:spPr bwMode="auto">
                <a:xfrm>
                  <a:off x="4169482" y="400506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94" name="Rectangle 27"/>
                <p:cNvSpPr>
                  <a:spLocks noChangeArrowheads="1"/>
                </p:cNvSpPr>
                <p:nvPr/>
              </p:nvSpPr>
              <p:spPr bwMode="auto">
                <a:xfrm>
                  <a:off x="5063108" y="400506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95" name="Rectangle 27"/>
                <p:cNvSpPr>
                  <a:spLocks noChangeArrowheads="1"/>
                </p:cNvSpPr>
                <p:nvPr/>
              </p:nvSpPr>
              <p:spPr bwMode="auto">
                <a:xfrm>
                  <a:off x="5956734" y="400506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96" name="Rectangle 27"/>
                <p:cNvSpPr>
                  <a:spLocks noChangeArrowheads="1"/>
                </p:cNvSpPr>
                <p:nvPr/>
              </p:nvSpPr>
              <p:spPr bwMode="auto">
                <a:xfrm>
                  <a:off x="6850360" y="4005064"/>
                  <a:ext cx="906574" cy="228964"/>
                </a:xfrm>
                <a:prstGeom prst="rect">
                  <a:avLst/>
                </a:prstGeom>
                <a:solidFill>
                  <a:schemeClr val="bg1">
                    <a:lumMod val="85000"/>
                  </a:schemeClr>
                </a:solidFill>
                <a:ln w="25400">
                  <a:solidFill>
                    <a:schemeClr val="bg1">
                      <a:lumMod val="50000"/>
                    </a:schemeClr>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45" name="Rectangle 27"/>
                <p:cNvSpPr>
                  <a:spLocks noChangeArrowheads="1"/>
                </p:cNvSpPr>
                <p:nvPr/>
              </p:nvSpPr>
              <p:spPr bwMode="auto">
                <a:xfrm>
                  <a:off x="1187624" y="3789040"/>
                  <a:ext cx="1828800" cy="228964"/>
                </a:xfrm>
                <a:prstGeom prst="rect">
                  <a:avLst/>
                </a:prstGeom>
                <a:solidFill>
                  <a:srgbClr val="F6F5BD"/>
                </a:solid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cxnSp>
              <p:nvCxnSpPr>
                <p:cNvPr id="146" name="Straight Arrow Connector 145"/>
                <p:cNvCxnSpPr>
                  <a:endCxn id="87" idx="1"/>
                </p:cNvCxnSpPr>
                <p:nvPr/>
              </p:nvCxnSpPr>
              <p:spPr bwMode="auto">
                <a:xfrm>
                  <a:off x="2051720" y="3903522"/>
                  <a:ext cx="1224136" cy="0"/>
                </a:xfrm>
                <a:prstGeom prst="straightConnector1">
                  <a:avLst/>
                </a:prstGeom>
                <a:noFill/>
                <a:ln w="25400" cap="flat" cmpd="sng" algn="ctr">
                  <a:solidFill>
                    <a:schemeClr val="tx1">
                      <a:lumMod val="50000"/>
                      <a:lumOff val="50000"/>
                    </a:schemeClr>
                  </a:solidFill>
                  <a:prstDash val="solid"/>
                  <a:round/>
                  <a:headEnd type="oval" w="lg" len="lg"/>
                  <a:tailEnd type="arrow"/>
                </a:ln>
                <a:effectLst/>
              </p:spPr>
            </p:cxnSp>
          </p:grpSp>
          <p:sp>
            <p:nvSpPr>
              <p:cNvPr id="148" name="Text Box 33"/>
              <p:cNvSpPr txBox="1">
                <a:spLocks noChangeArrowheads="1"/>
              </p:cNvSpPr>
              <p:nvPr/>
            </p:nvSpPr>
            <p:spPr bwMode="auto">
              <a:xfrm>
                <a:off x="107504" y="3717032"/>
                <a:ext cx="1080120" cy="338554"/>
              </a:xfrm>
              <a:prstGeom prst="rect">
                <a:avLst/>
              </a:prstGeom>
              <a:noFill/>
              <a:ln w="25400">
                <a:noFill/>
                <a:miter lim="800000"/>
              </a:ln>
            </p:spPr>
            <p:txBody>
              <a:bodyPr wrap="square">
                <a:spAutoFit/>
              </a:bodyPr>
              <a:lstStyle/>
              <a:p>
                <a:pPr algn="r" eaLnBrk="0" hangingPunct="0"/>
                <a:r>
                  <a:rPr lang="en-US" sz="1600" dirty="0">
                    <a:latin typeface="Courier New" panose="02070309020205020404"/>
                    <a:cs typeface="Courier New" panose="02070309020205020404"/>
                  </a:rPr>
                  <a:t>A3</a:t>
                </a:r>
              </a:p>
            </p:txBody>
          </p:sp>
        </p:grpSp>
        <p:grpSp>
          <p:nvGrpSpPr>
            <p:cNvPr id="39" name="Group 21"/>
            <p:cNvGrpSpPr/>
            <p:nvPr/>
          </p:nvGrpSpPr>
          <p:grpSpPr>
            <a:xfrm>
              <a:off x="3279304" y="4273686"/>
              <a:ext cx="4477630" cy="673952"/>
              <a:chOff x="3279304" y="4267216"/>
              <a:chExt cx="4514800" cy="673952"/>
            </a:xfrm>
          </p:grpSpPr>
          <p:sp>
            <p:nvSpPr>
              <p:cNvPr id="136" name="Rectangle 27"/>
              <p:cNvSpPr>
                <a:spLocks noChangeArrowheads="1"/>
              </p:cNvSpPr>
              <p:nvPr/>
            </p:nvSpPr>
            <p:spPr bwMode="auto">
              <a:xfrm>
                <a:off x="3279304" y="4267216"/>
                <a:ext cx="45148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43" name="Rectangle 27"/>
              <p:cNvSpPr>
                <a:spLocks noChangeArrowheads="1"/>
              </p:cNvSpPr>
              <p:nvPr/>
            </p:nvSpPr>
            <p:spPr bwMode="auto">
              <a:xfrm>
                <a:off x="3279304" y="4496180"/>
                <a:ext cx="45148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44" name="Rectangle 27"/>
              <p:cNvSpPr>
                <a:spLocks noChangeArrowheads="1"/>
              </p:cNvSpPr>
              <p:nvPr/>
            </p:nvSpPr>
            <p:spPr bwMode="auto">
              <a:xfrm>
                <a:off x="3279304" y="4712204"/>
                <a:ext cx="45148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grpSp>
      <p:sp>
        <p:nvSpPr>
          <p:cNvPr id="170" name="Rectangle 27"/>
          <p:cNvSpPr>
            <a:spLocks noChangeArrowheads="1"/>
          </p:cNvSpPr>
          <p:nvPr/>
        </p:nvSpPr>
        <p:spPr bwMode="auto">
          <a:xfrm>
            <a:off x="987707" y="6296380"/>
            <a:ext cx="4477919"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71" name="Rectangle 27"/>
          <p:cNvSpPr>
            <a:spLocks noChangeArrowheads="1"/>
          </p:cNvSpPr>
          <p:nvPr/>
        </p:nvSpPr>
        <p:spPr bwMode="auto">
          <a:xfrm>
            <a:off x="2769177" y="6008348"/>
            <a:ext cx="4477919"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72" name="Rectangle 27"/>
          <p:cNvSpPr>
            <a:spLocks noChangeArrowheads="1"/>
          </p:cNvSpPr>
          <p:nvPr/>
        </p:nvSpPr>
        <p:spPr bwMode="auto">
          <a:xfrm>
            <a:off x="4550647" y="5720316"/>
            <a:ext cx="4477919"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nvGrpSpPr>
          <p:cNvPr id="40" name="Group 37"/>
          <p:cNvGrpSpPr/>
          <p:nvPr/>
        </p:nvGrpSpPr>
        <p:grpSpPr>
          <a:xfrm>
            <a:off x="78904" y="3407514"/>
            <a:ext cx="9029600" cy="673952"/>
            <a:chOff x="78904" y="3407514"/>
            <a:chExt cx="9029600" cy="673952"/>
          </a:xfrm>
        </p:grpSpPr>
        <p:sp>
          <p:nvSpPr>
            <p:cNvPr id="173" name="Rectangle 27"/>
            <p:cNvSpPr>
              <a:spLocks noChangeArrowheads="1"/>
            </p:cNvSpPr>
            <p:nvPr/>
          </p:nvSpPr>
          <p:spPr bwMode="auto">
            <a:xfrm>
              <a:off x="78904" y="3407514"/>
              <a:ext cx="90296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74" name="Rectangle 27"/>
            <p:cNvSpPr>
              <a:spLocks noChangeArrowheads="1"/>
            </p:cNvSpPr>
            <p:nvPr/>
          </p:nvSpPr>
          <p:spPr bwMode="auto">
            <a:xfrm>
              <a:off x="78904" y="3636478"/>
              <a:ext cx="90296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sp>
          <p:nvSpPr>
            <p:cNvPr id="175" name="Rectangle 27"/>
            <p:cNvSpPr>
              <a:spLocks noChangeArrowheads="1"/>
            </p:cNvSpPr>
            <p:nvPr/>
          </p:nvSpPr>
          <p:spPr bwMode="auto">
            <a:xfrm>
              <a:off x="78904" y="3852502"/>
              <a:ext cx="9029600" cy="228964"/>
            </a:xfrm>
            <a:prstGeom prst="rect">
              <a:avLst/>
            </a:prstGeom>
            <a:noFill/>
            <a:ln w="25400">
              <a:solidFill>
                <a:schemeClr val="tx1"/>
              </a:solidFill>
              <a:miter lim="800000"/>
            </a:ln>
            <a:effectLst/>
          </p:spPr>
          <p:txBody>
            <a:bodyPr wrap="none" anchor="ctr"/>
            <a:lstStyle/>
            <a:p>
              <a:pPr algn="ctr" eaLnBrk="0" hangingPunct="0">
                <a:defRPr/>
              </a:pPr>
              <a:endParaRPr lang="en-US" sz="1600" dirty="0">
                <a:latin typeface="Calibri" panose="020F0502020204030204" charset="0"/>
                <a:ea typeface="+mn-ea"/>
                <a:cs typeface="+mn-cs"/>
              </a:endParaRPr>
            </a:p>
          </p:txBody>
        </p:sp>
      </p:gr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3642"/>
            <a:ext cx="2551430" cy="252730"/>
          </a:xfrm>
          <a:prstGeom prst="rect">
            <a:avLst/>
          </a:prstGeom>
        </p:spPr>
        <p:txBody>
          <a:bodyPr wrap="none">
            <a:spAutoFit/>
          </a:bodyPr>
          <a:lstStyle/>
          <a:p>
            <a:pPr algn="l"/>
            <a:r>
              <a:rPr lang="en-US" altLang="zh-CN" sz="1050" b="1" dirty="0"/>
              <a:t>PART FOUR </a:t>
            </a:r>
            <a:r>
              <a:rPr lang="zh-CN" altLang="en-US" sz="1050" dirty="0">
                <a:latin typeface="+mn-ea"/>
                <a:cs typeface="+mn-ea"/>
                <a:sym typeface="+mn-ea"/>
              </a:rPr>
              <a:t>复杂数据类型的分配和访问</a:t>
            </a:r>
            <a:endParaRPr lang="zh-CN" altLang="en-US" sz="1050" b="1" dirty="0"/>
          </a:p>
        </p:txBody>
      </p:sp>
      <p:sp>
        <p:nvSpPr>
          <p:cNvPr id="3" name="椭圆 2"/>
          <p:cNvSpPr/>
          <p:nvPr/>
        </p:nvSpPr>
        <p:spPr>
          <a:xfrm>
            <a:off x="2468756" y="86555"/>
            <a:ext cx="98188" cy="85006"/>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燕尾形 3"/>
          <p:cNvSpPr/>
          <p:nvPr/>
        </p:nvSpPr>
        <p:spPr>
          <a:xfrm>
            <a:off x="0" y="358140"/>
            <a:ext cx="4130040" cy="596900"/>
          </a:xfrm>
          <a:prstGeom prst="chevron">
            <a:avLst/>
          </a:prstGeom>
          <a:solidFill>
            <a:srgbClr val="7030A0">
              <a:alpha val="8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3200"/>
              <a:t>理解指针和数组</a:t>
            </a:r>
            <a:r>
              <a:rPr lang="en-US" sz="3200" dirty="0">
                <a:sym typeface="+mn-ea"/>
              </a:rPr>
              <a:t>#3</a:t>
            </a:r>
            <a:endParaRPr sz="3200"/>
          </a:p>
        </p:txBody>
      </p:sp>
      <p:graphicFrame>
        <p:nvGraphicFramePr>
          <p:cNvPr id="6" name="Content Placeholder 4"/>
          <p:cNvGraphicFramePr/>
          <p:nvPr/>
        </p:nvGraphicFramePr>
        <p:xfrm>
          <a:off x="464749" y="1088458"/>
          <a:ext cx="7896228" cy="2886940"/>
        </p:xfrm>
        <a:graphic>
          <a:graphicData uri="http://schemas.openxmlformats.org/drawingml/2006/table">
            <a:tbl>
              <a:tblPr firstRow="1" bandRow="1">
                <a:tableStyleId>{93296810-A885-4BE3-A3E7-6D5BEEA58F35}</a:tableStyleId>
              </a:tblPr>
              <a:tblGrid>
                <a:gridCol w="2429610">
                  <a:extLst>
                    <a:ext uri="{9D8B030D-6E8A-4147-A177-3AD203B41FA5}">
                      <a16:colId xmlns:a16="http://schemas.microsoft.com/office/drawing/2014/main" val="20000"/>
                    </a:ext>
                  </a:extLst>
                </a:gridCol>
                <a:gridCol w="607402">
                  <a:extLst>
                    <a:ext uri="{9D8B030D-6E8A-4147-A177-3AD203B41FA5}">
                      <a16:colId xmlns:a16="http://schemas.microsoft.com/office/drawing/2014/main" val="20001"/>
                    </a:ext>
                  </a:extLst>
                </a:gridCol>
                <a:gridCol w="607402">
                  <a:extLst>
                    <a:ext uri="{9D8B030D-6E8A-4147-A177-3AD203B41FA5}">
                      <a16:colId xmlns:a16="http://schemas.microsoft.com/office/drawing/2014/main" val="20002"/>
                    </a:ext>
                  </a:extLst>
                </a:gridCol>
                <a:gridCol w="607402">
                  <a:extLst>
                    <a:ext uri="{9D8B030D-6E8A-4147-A177-3AD203B41FA5}">
                      <a16:colId xmlns:a16="http://schemas.microsoft.com/office/drawing/2014/main" val="20003"/>
                    </a:ext>
                  </a:extLst>
                </a:gridCol>
                <a:gridCol w="607402">
                  <a:extLst>
                    <a:ext uri="{9D8B030D-6E8A-4147-A177-3AD203B41FA5}">
                      <a16:colId xmlns:a16="http://schemas.microsoft.com/office/drawing/2014/main" val="20004"/>
                    </a:ext>
                  </a:extLst>
                </a:gridCol>
                <a:gridCol w="607402">
                  <a:extLst>
                    <a:ext uri="{9D8B030D-6E8A-4147-A177-3AD203B41FA5}">
                      <a16:colId xmlns:a16="http://schemas.microsoft.com/office/drawing/2014/main" val="20005"/>
                    </a:ext>
                  </a:extLst>
                </a:gridCol>
                <a:gridCol w="607402">
                  <a:extLst>
                    <a:ext uri="{9D8B030D-6E8A-4147-A177-3AD203B41FA5}">
                      <a16:colId xmlns:a16="http://schemas.microsoft.com/office/drawing/2014/main" val="20006"/>
                    </a:ext>
                  </a:extLst>
                </a:gridCol>
                <a:gridCol w="607402">
                  <a:extLst>
                    <a:ext uri="{9D8B030D-6E8A-4147-A177-3AD203B41FA5}">
                      <a16:colId xmlns:a16="http://schemas.microsoft.com/office/drawing/2014/main" val="20007"/>
                    </a:ext>
                  </a:extLst>
                </a:gridCol>
                <a:gridCol w="607402">
                  <a:extLst>
                    <a:ext uri="{9D8B030D-6E8A-4147-A177-3AD203B41FA5}">
                      <a16:colId xmlns:a16="http://schemas.microsoft.com/office/drawing/2014/main" val="20008"/>
                    </a:ext>
                  </a:extLst>
                </a:gridCol>
                <a:gridCol w="607402">
                  <a:extLst>
                    <a:ext uri="{9D8B030D-6E8A-4147-A177-3AD203B41FA5}">
                      <a16:colId xmlns:a16="http://schemas.microsoft.com/office/drawing/2014/main" val="20009"/>
                    </a:ext>
                  </a:extLst>
                </a:gridCol>
              </a:tblGrid>
              <a:tr h="374650">
                <a:tc>
                  <a:txBody>
                    <a:bodyPr/>
                    <a:lstStyle/>
                    <a:p>
                      <a:pPr algn="ctr"/>
                      <a:r>
                        <a:rPr lang="en-US" b="1" i="0" dirty="0" err="1">
                          <a:latin typeface="Calibri" panose="020F0502020204030204"/>
                          <a:cs typeface="Calibri" panose="020F0502020204030204"/>
                        </a:rPr>
                        <a:t>Decl</a:t>
                      </a:r>
                      <a:endParaRPr lang="en-US" b="1" i="0" dirty="0">
                        <a:latin typeface="Calibri" panose="020F0502020204030204"/>
                        <a:cs typeface="Calibri" panose="020F0502020204030204"/>
                      </a:endParaRPr>
                    </a:p>
                  </a:txBody>
                  <a:tcPr>
                    <a:solidFill>
                      <a:srgbClr val="844DAD"/>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extLst>
                  <a:ext uri="{0D108BD9-81ED-4DB2-BD59-A6C34878D82A}">
                    <a16:rowId xmlns:a16="http://schemas.microsoft.com/office/drawing/2014/main" val="10000"/>
                  </a:ext>
                </a:extLst>
              </a:tr>
              <a:tr h="374442">
                <a:tc>
                  <a:txBody>
                    <a:bodyPr/>
                    <a:lstStyle/>
                    <a:p>
                      <a:pPr algn="ctr"/>
                      <a:endParaRPr lang="en-US" b="1" i="0" dirty="0">
                        <a:latin typeface="Courier New" panose="02070309020205020404"/>
                        <a:cs typeface="Courier New" panose="02070309020205020404"/>
                      </a:endParaRP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A1[3][5]</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60</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20</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*A2[3][5]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120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40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8</a:t>
                      </a:r>
                    </a:p>
                  </a:txBody>
                  <a:tcPr/>
                </a:tc>
                <a:extLst>
                  <a:ext uri="{0D108BD9-81ED-4DB2-BD59-A6C34878D82A}">
                    <a16:rowId xmlns:a16="http://schemas.microsoft.com/office/drawing/2014/main" val="10003"/>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(*A3)[3][5]</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8</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60</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20</a:t>
                      </a:r>
                    </a:p>
                  </a:txBody>
                  <a:tcPr/>
                </a:tc>
                <a:extLst>
                  <a:ext uri="{0D108BD9-81ED-4DB2-BD59-A6C34878D82A}">
                    <a16:rowId xmlns:a16="http://schemas.microsoft.com/office/drawing/2014/main" val="10004"/>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*(A4[3][5])</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120</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40</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8</a:t>
                      </a:r>
                    </a:p>
                  </a:txBody>
                  <a:tcPr/>
                </a:tc>
                <a:extLst>
                  <a:ext uri="{0D108BD9-81ED-4DB2-BD59-A6C34878D82A}">
                    <a16:rowId xmlns:a16="http://schemas.microsoft.com/office/drawing/2014/main" val="10005"/>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(*A5[3])[5]</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24</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8</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20</a:t>
                      </a:r>
                    </a:p>
                  </a:txBody>
                  <a:tcPr/>
                </a:tc>
                <a:extLst>
                  <a:ext uri="{0D108BD9-81ED-4DB2-BD59-A6C34878D82A}">
                    <a16:rowId xmlns:a16="http://schemas.microsoft.com/office/drawing/2014/main" val="10006"/>
                  </a:ext>
                </a:extLst>
              </a:tr>
            </a:tbl>
          </a:graphicData>
        </a:graphic>
      </p:graphicFrame>
      <p:graphicFrame>
        <p:nvGraphicFramePr>
          <p:cNvPr id="9" name="Content Placeholder 4"/>
          <p:cNvGraphicFramePr/>
          <p:nvPr/>
        </p:nvGraphicFramePr>
        <p:xfrm>
          <a:off x="4109161" y="3974969"/>
          <a:ext cx="4251816" cy="2886732"/>
        </p:xfrm>
        <a:graphic>
          <a:graphicData uri="http://schemas.openxmlformats.org/drawingml/2006/table">
            <a:tbl>
              <a:tblPr firstRow="1" bandRow="1">
                <a:tableStyleId>{93296810-A885-4BE3-A3E7-6D5BEEA58F35}</a:tableStyleId>
              </a:tblPr>
              <a:tblGrid>
                <a:gridCol w="2429610">
                  <a:extLst>
                    <a:ext uri="{9D8B030D-6E8A-4147-A177-3AD203B41FA5}">
                      <a16:colId xmlns:a16="http://schemas.microsoft.com/office/drawing/2014/main" val="20000"/>
                    </a:ext>
                  </a:extLst>
                </a:gridCol>
                <a:gridCol w="607402">
                  <a:extLst>
                    <a:ext uri="{9D8B030D-6E8A-4147-A177-3AD203B41FA5}">
                      <a16:colId xmlns:a16="http://schemas.microsoft.com/office/drawing/2014/main" val="20001"/>
                    </a:ext>
                  </a:extLst>
                </a:gridCol>
                <a:gridCol w="607402">
                  <a:extLst>
                    <a:ext uri="{9D8B030D-6E8A-4147-A177-3AD203B41FA5}">
                      <a16:colId xmlns:a16="http://schemas.microsoft.com/office/drawing/2014/main" val="20002"/>
                    </a:ext>
                  </a:extLst>
                </a:gridCol>
                <a:gridCol w="607402">
                  <a:extLst>
                    <a:ext uri="{9D8B030D-6E8A-4147-A177-3AD203B41FA5}">
                      <a16:colId xmlns:a16="http://schemas.microsoft.com/office/drawing/2014/main" val="20003"/>
                    </a:ext>
                  </a:extLst>
                </a:gridCol>
              </a:tblGrid>
              <a:tr h="374442">
                <a:tc>
                  <a:txBody>
                    <a:bodyPr/>
                    <a:lstStyle/>
                    <a:p>
                      <a:pPr algn="ctr"/>
                      <a:r>
                        <a:rPr lang="en-US" b="1" i="0" dirty="0" err="1">
                          <a:latin typeface="Calibri" panose="020F0502020204030204"/>
                          <a:cs typeface="Calibri" panose="020F0502020204030204"/>
                        </a:rPr>
                        <a:t>Decl</a:t>
                      </a:r>
                      <a:endParaRPr lang="en-US" b="1" i="0" dirty="0">
                        <a:latin typeface="Calibri" panose="020F0502020204030204"/>
                        <a:cs typeface="Calibri" panose="020F0502020204030204"/>
                      </a:endParaRPr>
                    </a:p>
                  </a:txBody>
                  <a:tcPr>
                    <a:solidFill>
                      <a:srgbClr val="844DAD"/>
                    </a:solidFill>
                  </a:tcPr>
                </a:tc>
                <a:tc gridSpan="3">
                  <a:txBody>
                    <a:bodyPr/>
                    <a:lstStyle/>
                    <a:p>
                      <a:pPr algn="ctr"/>
                      <a:r>
                        <a:rPr lang="en-US" b="1" i="0" dirty="0">
                          <a:latin typeface="Courier New" panose="02070309020205020404"/>
                          <a:cs typeface="Courier New" panose="02070309020205020404"/>
                        </a:rPr>
                        <a:t>***A</a:t>
                      </a:r>
                      <a:r>
                        <a:rPr lang="en-US" b="1" i="1" dirty="0">
                          <a:latin typeface="Courier New" panose="02070309020205020404"/>
                          <a:cs typeface="Courier New" panose="02070309020205020404"/>
                        </a:rPr>
                        <a:t>n</a:t>
                      </a:r>
                    </a:p>
                  </a:txBody>
                  <a:tcPr>
                    <a:solidFill>
                      <a:srgbClr val="844DAD"/>
                    </a:solidFill>
                  </a:tcPr>
                </a:tc>
                <a:tc hMerge="1">
                  <a:txBody>
                    <a:bodyPr/>
                    <a:lstStyle/>
                    <a:p>
                      <a:endParaRPr lang="zh-CN"/>
                    </a:p>
                  </a:txBody>
                  <a:tcPr>
                    <a:solidFill>
                      <a:srgbClr val="3333CC"/>
                    </a:solidFill>
                  </a:tcPr>
                </a:tc>
                <a:tc hMerge="1">
                  <a:txBody>
                    <a:bodyPr/>
                    <a:lstStyle/>
                    <a:p>
                      <a:endParaRPr lang="zh-CN"/>
                    </a:p>
                  </a:txBody>
                  <a:tcPr>
                    <a:solidFill>
                      <a:srgbClr val="3333CC"/>
                    </a:solidFill>
                  </a:tcPr>
                </a:tc>
                <a:extLst>
                  <a:ext uri="{0D108BD9-81ED-4DB2-BD59-A6C34878D82A}">
                    <a16:rowId xmlns:a16="http://schemas.microsoft.com/office/drawing/2014/main" val="10000"/>
                  </a:ext>
                </a:extLst>
              </a:tr>
              <a:tr h="374442">
                <a:tc>
                  <a:txBody>
                    <a:bodyPr/>
                    <a:lstStyle/>
                    <a:p>
                      <a:pPr algn="ctr"/>
                      <a:endParaRPr lang="en-US" b="1" i="0" dirty="0">
                        <a:latin typeface="Courier New" panose="02070309020205020404"/>
                        <a:cs typeface="Courier New" panose="02070309020205020404"/>
                      </a:endParaRPr>
                    </a:p>
                  </a:txBody>
                  <a:tcPr>
                    <a:solidFill>
                      <a:srgbClr val="844DAD"/>
                    </a:solidFill>
                  </a:tcPr>
                </a:tc>
                <a:tc>
                  <a:txBody>
                    <a:bodyPr/>
                    <a:lstStyle/>
                    <a:p>
                      <a:pPr algn="ctr"/>
                      <a:r>
                        <a:rPr lang="en-US" b="0" i="0" dirty="0" err="1">
                          <a:solidFill>
                            <a:srgbClr val="F6F5BD"/>
                          </a:solidFill>
                          <a:latin typeface="Calibri" panose="020F0502020204030204"/>
                          <a:cs typeface="Calibri" panose="020F0502020204030204"/>
                        </a:rPr>
                        <a:t>Cmp</a:t>
                      </a:r>
                      <a:endParaRPr lang="en-US" b="0" i="0" dirty="0">
                        <a:solidFill>
                          <a:srgbClr val="F6F5BD"/>
                        </a:solidFill>
                        <a:latin typeface="Calibri" panose="020F0502020204030204"/>
                        <a:cs typeface="Calibri" panose="020F0502020204030204"/>
                      </a:endParaRP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Bad</a:t>
                      </a:r>
                    </a:p>
                  </a:txBody>
                  <a:tcPr>
                    <a:solidFill>
                      <a:srgbClr val="844DAD"/>
                    </a:solidFill>
                  </a:tcPr>
                </a:tc>
                <a:tc>
                  <a:txBody>
                    <a:bodyPr/>
                    <a:lstStyle/>
                    <a:p>
                      <a:pPr algn="ctr"/>
                      <a:r>
                        <a:rPr lang="en-US" b="0" i="0" dirty="0">
                          <a:solidFill>
                            <a:srgbClr val="F6F5BD"/>
                          </a:solidFill>
                          <a:latin typeface="Calibri" panose="020F0502020204030204"/>
                          <a:cs typeface="Calibri" panose="020F0502020204030204"/>
                        </a:rPr>
                        <a:t>Size</a:t>
                      </a:r>
                    </a:p>
                  </a:txBody>
                  <a:tcPr>
                    <a:solidFill>
                      <a:srgbClr val="844DAD"/>
                    </a:solidFill>
                  </a:tcPr>
                </a:tc>
                <a:extLst>
                  <a:ext uri="{0D108BD9-81ED-4DB2-BD59-A6C34878D82A}">
                    <a16:rowId xmlns:a16="http://schemas.microsoft.com/office/drawing/2014/main" val="10001"/>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A1[3][5]</a:t>
                      </a:r>
                    </a:p>
                  </a:txBody>
                  <a:tcPr/>
                </a:tc>
                <a:tc>
                  <a:txBody>
                    <a:bodyPr/>
                    <a:lstStyle/>
                    <a:p>
                      <a:pPr algn="ctr"/>
                      <a:r>
                        <a:rPr lang="en-US" b="1" i="0" dirty="0">
                          <a:solidFill>
                            <a:srgbClr val="990000"/>
                          </a:solidFill>
                          <a:latin typeface="Courier New" panose="02070309020205020404"/>
                          <a:cs typeface="Courier New" panose="02070309020205020404"/>
                        </a:rPr>
                        <a:t>N</a:t>
                      </a:r>
                    </a:p>
                  </a:txBody>
                  <a:tcPr/>
                </a:tc>
                <a:tc>
                  <a:txBody>
                    <a:bodyPr/>
                    <a:lstStyle/>
                    <a:p>
                      <a:pPr algn="ctr"/>
                      <a:r>
                        <a:rPr lang="en-US" b="1" i="0" dirty="0">
                          <a:solidFill>
                            <a:srgbClr val="990000"/>
                          </a:solidFill>
                          <a:latin typeface="Courier New" panose="02070309020205020404"/>
                          <a:cs typeface="Courier New" panose="02070309020205020404"/>
                        </a:rPr>
                        <a:t>-</a:t>
                      </a:r>
                    </a:p>
                  </a:txBody>
                  <a:tcPr/>
                </a:tc>
                <a:tc>
                  <a:txBody>
                    <a:bodyPr/>
                    <a:lstStyle/>
                    <a:p>
                      <a:pPr algn="ctr"/>
                      <a:r>
                        <a:rPr lang="en-US" b="1" i="0" dirty="0">
                          <a:solidFill>
                            <a:srgbClr val="990000"/>
                          </a:solidFill>
                          <a:latin typeface="Courier New" panose="02070309020205020404"/>
                          <a:cs typeface="Courier New" panose="02070309020205020404"/>
                        </a:rPr>
                        <a:t>-</a:t>
                      </a:r>
                    </a:p>
                  </a:txBody>
                  <a:tcPr/>
                </a:tc>
                <a:extLst>
                  <a:ext uri="{0D108BD9-81ED-4DB2-BD59-A6C34878D82A}">
                    <a16:rowId xmlns:a16="http://schemas.microsoft.com/office/drawing/2014/main" val="10002"/>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*A2[3][5]</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3"/>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(*A3)[3][5]</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4"/>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*(A4[3][5])</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5"/>
                  </a:ext>
                </a:extLst>
              </a:tr>
              <a:tr h="374442">
                <a:tc>
                  <a:txBody>
                    <a:bodyPr/>
                    <a:lstStyle/>
                    <a:p>
                      <a:pPr algn="l"/>
                      <a:r>
                        <a:rPr lang="en-US" sz="1600" b="1" i="0" dirty="0" err="1">
                          <a:latin typeface="Courier New" panose="02070309020205020404"/>
                          <a:cs typeface="Courier New" panose="02070309020205020404"/>
                        </a:rPr>
                        <a:t>int</a:t>
                      </a:r>
                      <a:r>
                        <a:rPr lang="en-US" sz="1600" b="1" i="0" dirty="0">
                          <a:latin typeface="Courier New" panose="02070309020205020404"/>
                          <a:cs typeface="Courier New" panose="02070309020205020404"/>
                        </a:rPr>
                        <a:t> (*A5[3])[5]</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Y</a:t>
                      </a:r>
                    </a:p>
                  </a:txBody>
                  <a:tcPr/>
                </a:tc>
                <a:tc>
                  <a:txBody>
                    <a:bodyPr/>
                    <a:lstStyle/>
                    <a:p>
                      <a:pPr algn="ctr"/>
                      <a:r>
                        <a:rPr lang="en-US" b="1" i="0" dirty="0">
                          <a:solidFill>
                            <a:srgbClr val="990000"/>
                          </a:solidFill>
                          <a:latin typeface="Courier New" panose="02070309020205020404"/>
                          <a:cs typeface="Courier New" panose="02070309020205020404"/>
                        </a:rPr>
                        <a:t>4</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221195" y="3317593"/>
            <a:ext cx="2701610" cy="751205"/>
          </a:xfrm>
          <a:prstGeom prst="rect">
            <a:avLst/>
          </a:prstGeom>
          <a:noFill/>
        </p:spPr>
        <p:txBody>
          <a:bodyPr wrap="square" rtlCol="0">
            <a:spAutoFit/>
          </a:bodyPr>
          <a:lstStyle/>
          <a:p>
            <a:pPr algn="ctr" defTabSz="608965">
              <a:lnSpc>
                <a:spcPct val="130000"/>
              </a:lnSpc>
            </a:pPr>
            <a:r>
              <a:rPr lang="en-US" altLang="zh-CN" sz="3300" b="1" dirty="0">
                <a:latin typeface="+mj-lt"/>
                <a:ea typeface="微软雅黑" panose="020B0503020204020204" charset="-122"/>
              </a:rPr>
              <a:t>PART FIVE</a:t>
            </a:r>
          </a:p>
        </p:txBody>
      </p:sp>
      <p:sp>
        <p:nvSpPr>
          <p:cNvPr id="3" name="文本框 2"/>
          <p:cNvSpPr txBox="1"/>
          <p:nvPr/>
        </p:nvSpPr>
        <p:spPr>
          <a:xfrm>
            <a:off x="294640" y="2670175"/>
            <a:ext cx="8660765" cy="783590"/>
          </a:xfrm>
          <a:prstGeom prst="rect">
            <a:avLst/>
          </a:prstGeom>
          <a:noFill/>
        </p:spPr>
        <p:txBody>
          <a:bodyPr wrap="square" rtlCol="0">
            <a:spAutoFit/>
          </a:bodyPr>
          <a:lstStyle/>
          <a:p>
            <a:pPr algn="l"/>
            <a:r>
              <a:rPr lang="zh-CN" altLang="en-US" sz="4500" dirty="0">
                <a:latin typeface="+mn-ea"/>
                <a:cs typeface="+mn-ea"/>
                <a:sym typeface="+mn-ea"/>
              </a:rPr>
              <a:t>第五讲：越界访问和缓冲区溢出</a:t>
            </a:r>
            <a:endParaRPr lang="zh-CN" altLang="en-US" sz="4500" dirty="0">
              <a:latin typeface="+mj-lt"/>
              <a:ea typeface="微软雅黑" panose="020B0503020204020204" charset="-122"/>
            </a:endParaRPr>
          </a:p>
        </p:txBody>
      </p:sp>
      <p:sp>
        <p:nvSpPr>
          <p:cNvPr id="4" name="矩形 3"/>
          <p:cNvSpPr/>
          <p:nvPr/>
        </p:nvSpPr>
        <p:spPr>
          <a:xfrm>
            <a:off x="3667363" y="3962018"/>
            <a:ext cx="1809275" cy="85006"/>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spd="slow">
    <p:push dir="u"/>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4551680"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tx1">
                    <a:lumMod val="65000"/>
                    <a:lumOff val="35000"/>
                  </a:schemeClr>
                </a:solidFill>
                <a:sym typeface="+mn-ea"/>
              </a:rPr>
              <a:t>x86-64 Linux</a:t>
            </a:r>
            <a:r>
              <a:rPr lang="zh-CN" altLang="en-US" sz="2800">
                <a:solidFill>
                  <a:schemeClr val="tx1">
                    <a:lumMod val="65000"/>
                    <a:lumOff val="35000"/>
                  </a:schemeClr>
                </a:solidFill>
              </a:rPr>
              <a:t>的内存布局</a:t>
            </a:r>
          </a:p>
        </p:txBody>
      </p:sp>
      <p:sp>
        <p:nvSpPr>
          <p:cNvPr id="10243" name="Rectangle 3"/>
          <p:cNvSpPr>
            <a:spLocks noGrp="1" noChangeArrowheads="1"/>
          </p:cNvSpPr>
          <p:nvPr/>
        </p:nvSpPr>
        <p:spPr>
          <a:xfrm>
            <a:off x="396875" y="1362075"/>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FFD966"/>
              </a:buClr>
            </a:pPr>
            <a:r>
              <a:rPr lang="en-US" dirty="0">
                <a:sym typeface="+mn-ea"/>
              </a:rPr>
              <a:t>栈</a:t>
            </a:r>
            <a:endParaRPr lang="en-US" dirty="0"/>
          </a:p>
          <a:p>
            <a:pPr lvl="1">
              <a:buClr>
                <a:srgbClr val="7F7F7F"/>
              </a:buClr>
            </a:pPr>
            <a:r>
              <a:rPr lang="en-US" dirty="0"/>
              <a:t>运行时栈（8MB的限制）</a:t>
            </a:r>
          </a:p>
          <a:p>
            <a:pPr lvl="1">
              <a:buClr>
                <a:srgbClr val="7F7F7F"/>
              </a:buClr>
            </a:pPr>
            <a:r>
              <a:rPr lang="en-US"/>
              <a:t>例如，局部变量</a:t>
            </a:r>
          </a:p>
          <a:p>
            <a:pPr>
              <a:buClr>
                <a:srgbClr val="FFD966"/>
              </a:buClr>
            </a:pPr>
            <a:r>
              <a:rPr lang="en-US" dirty="0"/>
              <a:t>堆</a:t>
            </a:r>
          </a:p>
          <a:p>
            <a:pPr lvl="1">
              <a:buClr>
                <a:srgbClr val="7F7F7F"/>
              </a:buClr>
            </a:pPr>
            <a:r>
              <a:rPr lang="en-US" dirty="0"/>
              <a:t>根据需要动态分配</a:t>
            </a:r>
          </a:p>
          <a:p>
            <a:pPr lvl="1">
              <a:buClr>
                <a:srgbClr val="7F7F7F"/>
              </a:buClr>
            </a:pPr>
            <a:r>
              <a:rPr lang="zh-CN" altLang="en-US" dirty="0"/>
              <a:t>调用</a:t>
            </a:r>
            <a:r>
              <a:rPr lang="en-US" dirty="0"/>
              <a:t>  </a:t>
            </a:r>
            <a:r>
              <a:rPr lang="en-US" sz="1800" b="1" dirty="0" err="1">
                <a:latin typeface="Courier New" panose="02070309020205020404" charset="0"/>
                <a:cs typeface="Courier New" panose="02070309020205020404" charset="0"/>
              </a:rPr>
              <a:t>malloc</a:t>
            </a:r>
            <a:r>
              <a:rPr lang="en-US" sz="1800" b="1" dirty="0">
                <a:latin typeface="Courier New" panose="02070309020205020404" charset="0"/>
                <a:cs typeface="Courier New" panose="02070309020205020404" charset="0"/>
              </a:rPr>
              <a:t>()</a:t>
            </a:r>
            <a:r>
              <a:rPr lang="en-US" dirty="0"/>
              <a:t>, </a:t>
            </a:r>
            <a:r>
              <a:rPr lang="en-US" sz="1800" b="1" dirty="0" err="1">
                <a:latin typeface="Courier New" panose="02070309020205020404" charset="0"/>
                <a:cs typeface="Courier New" panose="02070309020205020404" charset="0"/>
              </a:rPr>
              <a:t>calloc</a:t>
            </a:r>
            <a:r>
              <a:rPr lang="en-US" sz="1800" b="1" dirty="0">
                <a:latin typeface="Courier New" panose="02070309020205020404" charset="0"/>
                <a:cs typeface="Courier New" panose="02070309020205020404" charset="0"/>
              </a:rPr>
              <a:t>()</a:t>
            </a:r>
            <a:r>
              <a:rPr lang="en-US" dirty="0"/>
              <a:t>, </a:t>
            </a:r>
            <a:r>
              <a:rPr lang="en-US" sz="1800" b="1" dirty="0">
                <a:latin typeface="Courier New" panose="02070309020205020404" charset="0"/>
                <a:cs typeface="Courier New" panose="02070309020205020404" charset="0"/>
              </a:rPr>
              <a:t>new()</a:t>
            </a:r>
          </a:p>
          <a:p>
            <a:pPr>
              <a:buClr>
                <a:srgbClr val="FFD966"/>
              </a:buClr>
            </a:pPr>
            <a:r>
              <a:rPr lang="en-US" dirty="0">
                <a:sym typeface="+mn-ea"/>
              </a:rPr>
              <a:t>数据</a:t>
            </a:r>
            <a:endParaRPr lang="en-US" dirty="0"/>
          </a:p>
          <a:p>
            <a:pPr lvl="1">
              <a:buClr>
                <a:srgbClr val="7F7F7F"/>
              </a:buClr>
            </a:pPr>
            <a:r>
              <a:rPr lang="en-US" dirty="0"/>
              <a:t>静态分配的数据</a:t>
            </a:r>
          </a:p>
          <a:p>
            <a:pPr lvl="1">
              <a:buClr>
                <a:srgbClr val="7F7F7F"/>
              </a:buClr>
            </a:pPr>
            <a:r>
              <a:rPr lang="en-US"/>
              <a:t>例如，全局变量，静态变量，字符串常量</a:t>
            </a:r>
          </a:p>
          <a:p>
            <a:pPr>
              <a:buClr>
                <a:srgbClr val="FFD966"/>
              </a:buClr>
            </a:pPr>
            <a:r>
              <a:rPr lang="en-US" dirty="0"/>
              <a:t>文本/共享库</a:t>
            </a:r>
          </a:p>
          <a:p>
            <a:pPr lvl="1">
              <a:buClr>
                <a:srgbClr val="7F7F7F"/>
              </a:buClr>
            </a:pPr>
            <a:r>
              <a:rPr lang="en-US" dirty="0"/>
              <a:t>可执行的机器指令</a:t>
            </a:r>
          </a:p>
          <a:p>
            <a:pPr lvl="1">
              <a:buClr>
                <a:srgbClr val="7F7F7F"/>
              </a:buClr>
            </a:pPr>
            <a:r>
              <a:rPr lang="en-US" dirty="0"/>
              <a:t>Read-only</a:t>
            </a:r>
          </a:p>
        </p:txBody>
      </p:sp>
      <p:sp>
        <p:nvSpPr>
          <p:cNvPr id="10244" name="Text Box 5"/>
          <p:cNvSpPr txBox="1">
            <a:spLocks noChangeArrowheads="1"/>
          </p:cNvSpPr>
          <p:nvPr/>
        </p:nvSpPr>
        <p:spPr bwMode="auto">
          <a:xfrm>
            <a:off x="2950402" y="6169580"/>
            <a:ext cx="2133600" cy="368300"/>
          </a:xfrm>
          <a:prstGeom prst="rect">
            <a:avLst/>
          </a:prstGeom>
          <a:noFill/>
          <a:ln w="25400">
            <a:noFill/>
            <a:miter lim="800000"/>
          </a:ln>
        </p:spPr>
        <p:txBody>
          <a:bodyPr>
            <a:spAutoFit/>
          </a:bodyPr>
          <a:lstStyle/>
          <a:p>
            <a:pPr algn="r" eaLnBrk="0" hangingPunct="0"/>
            <a:r>
              <a:rPr lang="en-US" sz="1800" b="0" dirty="0">
                <a:latin typeface="Calibri" panose="020F0502020204030204" charset="0"/>
              </a:rPr>
              <a:t>十六进制地址</a:t>
            </a:r>
          </a:p>
        </p:txBody>
      </p:sp>
      <p:sp>
        <p:nvSpPr>
          <p:cNvPr id="10245" name="Text Box 12"/>
          <p:cNvSpPr txBox="1">
            <a:spLocks noChangeArrowheads="1"/>
          </p:cNvSpPr>
          <p:nvPr/>
        </p:nvSpPr>
        <p:spPr bwMode="auto">
          <a:xfrm>
            <a:off x="4456982" y="914400"/>
            <a:ext cx="2401018" cy="369332"/>
          </a:xfrm>
          <a:prstGeom prst="rect">
            <a:avLst/>
          </a:prstGeom>
          <a:noFill/>
          <a:ln w="25400">
            <a:noFill/>
            <a:miter lim="800000"/>
          </a:ln>
        </p:spPr>
        <p:txBody>
          <a:bodyPr wrap="none">
            <a:spAutoFit/>
          </a:bodyPr>
          <a:lstStyle/>
          <a:p>
            <a:pPr algn="r" eaLnBrk="0" hangingPunct="0"/>
            <a:r>
              <a:rPr lang="en-US" sz="1800" dirty="0">
                <a:latin typeface="Courier New" panose="02070309020205020404" charset="0"/>
              </a:rPr>
              <a:t>00007FFFFFFFFFFF</a:t>
            </a:r>
          </a:p>
        </p:txBody>
      </p:sp>
      <p:sp>
        <p:nvSpPr>
          <p:cNvPr id="348180" name="Rectangle 20"/>
          <p:cNvSpPr>
            <a:spLocks noChangeArrowheads="1"/>
          </p:cNvSpPr>
          <p:nvPr/>
        </p:nvSpPr>
        <p:spPr bwMode="auto">
          <a:xfrm>
            <a:off x="6858000" y="1041955"/>
            <a:ext cx="1447800" cy="5584825"/>
          </a:xfrm>
          <a:prstGeom prst="rect">
            <a:avLst/>
          </a:prstGeom>
          <a:solidFill>
            <a:schemeClr val="bg1">
              <a:lumMod val="95000"/>
            </a:schemeClr>
          </a:solidFill>
          <a:ln w="25400">
            <a:solidFill>
              <a:schemeClr val="tx1"/>
            </a:solidFill>
            <a:miter lim="800000"/>
          </a:ln>
          <a:effectLst/>
        </p:spPr>
        <p:txBody>
          <a:bodyPr wrap="none" anchor="ctr"/>
          <a:lstStyle/>
          <a:p>
            <a:pPr eaLnBrk="0" hangingPunct="0">
              <a:defRPr/>
            </a:pPr>
            <a:endParaRPr lang="en-US" dirty="0">
              <a:latin typeface="Calibri" panose="020F0502020204030204" charset="0"/>
              <a:cs typeface="+mn-cs"/>
            </a:endParaRPr>
          </a:p>
        </p:txBody>
      </p:sp>
      <p:sp>
        <p:nvSpPr>
          <p:cNvPr id="348181" name="Rectangle 21"/>
          <p:cNvSpPr>
            <a:spLocks noChangeArrowheads="1"/>
          </p:cNvSpPr>
          <p:nvPr/>
        </p:nvSpPr>
        <p:spPr bwMode="auto">
          <a:xfrm>
            <a:off x="6858000" y="1047750"/>
            <a:ext cx="1447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eaLnBrk="0" hangingPunct="0">
              <a:defRPr/>
            </a:pPr>
            <a:r>
              <a:rPr lang="en-US" altLang="zh-CN" sz="1800" dirty="0">
                <a:latin typeface="Calibri" panose="020F0502020204030204" charset="0"/>
                <a:cs typeface="+mn-cs"/>
              </a:rPr>
              <a:t>         </a:t>
            </a:r>
            <a:r>
              <a:rPr lang="zh-CN" altLang="en-US" sz="1800" dirty="0">
                <a:latin typeface="Calibri" panose="020F0502020204030204" charset="0"/>
                <a:cs typeface="+mn-cs"/>
              </a:rPr>
              <a:t>栈</a:t>
            </a:r>
          </a:p>
        </p:txBody>
      </p:sp>
      <p:sp>
        <p:nvSpPr>
          <p:cNvPr id="10249" name="Rectangle 23"/>
          <p:cNvSpPr>
            <a:spLocks noChangeArrowheads="1"/>
          </p:cNvSpPr>
          <p:nvPr/>
        </p:nvSpPr>
        <p:spPr bwMode="auto">
          <a:xfrm>
            <a:off x="6858000" y="6017180"/>
            <a:ext cx="1447800" cy="304800"/>
          </a:xfrm>
          <a:prstGeom prst="rect">
            <a:avLst/>
          </a:prstGeom>
          <a:solidFill>
            <a:srgbClr val="F6F5BD"/>
          </a:solidFill>
          <a:ln w="25400">
            <a:solidFill>
              <a:schemeClr val="tx1"/>
            </a:solidFill>
            <a:miter lim="800000"/>
          </a:ln>
        </p:spPr>
        <p:txBody>
          <a:bodyPr wrap="none" anchor="ctr"/>
          <a:lstStyle/>
          <a:p>
            <a:pPr eaLnBrk="0" hangingPunct="0"/>
            <a:r>
              <a:rPr lang="en-US" altLang="zh-CN" sz="1800">
                <a:latin typeface="Calibri" panose="020F0502020204030204" charset="0"/>
              </a:rPr>
              <a:t>        </a:t>
            </a:r>
            <a:r>
              <a:rPr lang="zh-CN" altLang="en-US" sz="1800">
                <a:latin typeface="Calibri" panose="020F0502020204030204" charset="0"/>
              </a:rPr>
              <a:t>文本</a:t>
            </a:r>
          </a:p>
        </p:txBody>
      </p:sp>
      <p:sp>
        <p:nvSpPr>
          <p:cNvPr id="10250" name="Rectangle 24"/>
          <p:cNvSpPr>
            <a:spLocks noChangeArrowheads="1"/>
          </p:cNvSpPr>
          <p:nvPr/>
        </p:nvSpPr>
        <p:spPr bwMode="auto">
          <a:xfrm>
            <a:off x="6858000" y="5712380"/>
            <a:ext cx="1447800" cy="304800"/>
          </a:xfrm>
          <a:prstGeom prst="rect">
            <a:avLst/>
          </a:prstGeom>
          <a:solidFill>
            <a:srgbClr val="F1C7C7"/>
          </a:solidFill>
          <a:ln w="25400">
            <a:solidFill>
              <a:schemeClr val="tx1"/>
            </a:solidFill>
            <a:miter lim="800000"/>
          </a:ln>
        </p:spPr>
        <p:txBody>
          <a:bodyPr wrap="none" anchor="ctr"/>
          <a:lstStyle/>
          <a:p>
            <a:pPr eaLnBrk="0" hangingPunct="0"/>
            <a:r>
              <a:rPr lang="en-US" altLang="zh-CN" sz="1800">
                <a:latin typeface="Calibri" panose="020F0502020204030204" charset="0"/>
              </a:rPr>
              <a:t>        </a:t>
            </a:r>
            <a:r>
              <a:rPr lang="zh-CN" altLang="en-US" sz="1800">
                <a:latin typeface="Calibri" panose="020F0502020204030204" charset="0"/>
              </a:rPr>
              <a:t>数据</a:t>
            </a:r>
          </a:p>
        </p:txBody>
      </p:sp>
      <p:sp>
        <p:nvSpPr>
          <p:cNvPr id="10251" name="Rectangle 25"/>
          <p:cNvSpPr>
            <a:spLocks noChangeArrowheads="1"/>
          </p:cNvSpPr>
          <p:nvPr/>
        </p:nvSpPr>
        <p:spPr bwMode="auto">
          <a:xfrm>
            <a:off x="6858000" y="5105400"/>
            <a:ext cx="1447800" cy="606980"/>
          </a:xfrm>
          <a:prstGeom prst="rect">
            <a:avLst/>
          </a:prstGeom>
          <a:solidFill>
            <a:srgbClr val="D5F1CF"/>
          </a:solidFill>
          <a:ln w="25400">
            <a:solidFill>
              <a:schemeClr val="tx1"/>
            </a:solidFill>
            <a:miter lim="800000"/>
          </a:ln>
        </p:spPr>
        <p:txBody>
          <a:bodyPr wrap="none" anchor="ctr"/>
          <a:lstStyle/>
          <a:p>
            <a:pPr eaLnBrk="0" hangingPunct="0"/>
            <a:r>
              <a:rPr lang="en-US" altLang="zh-CN" sz="1800" dirty="0">
                <a:latin typeface="Calibri" panose="020F0502020204030204" charset="0"/>
              </a:rPr>
              <a:t>         </a:t>
            </a:r>
            <a:r>
              <a:rPr lang="zh-CN" altLang="en-US" sz="1800" dirty="0">
                <a:latin typeface="Calibri" panose="020F0502020204030204" charset="0"/>
              </a:rPr>
              <a:t>堆</a:t>
            </a:r>
            <a:r>
              <a:rPr lang="en-US" altLang="zh-CN" sz="1800" dirty="0">
                <a:latin typeface="Calibri" panose="020F0502020204030204" charset="0"/>
              </a:rPr>
              <a:t>	</a:t>
            </a:r>
          </a:p>
        </p:txBody>
      </p:sp>
      <p:sp>
        <p:nvSpPr>
          <p:cNvPr id="10252" name="Text Box 27"/>
          <p:cNvSpPr txBox="1">
            <a:spLocks noChangeArrowheads="1"/>
          </p:cNvSpPr>
          <p:nvPr/>
        </p:nvSpPr>
        <p:spPr bwMode="auto">
          <a:xfrm>
            <a:off x="5842202" y="6169580"/>
            <a:ext cx="1015798" cy="369332"/>
          </a:xfrm>
          <a:prstGeom prst="rect">
            <a:avLst/>
          </a:prstGeom>
          <a:noFill/>
          <a:ln w="25400">
            <a:noFill/>
            <a:miter lim="800000"/>
          </a:ln>
        </p:spPr>
        <p:txBody>
          <a:bodyPr wrap="none">
            <a:spAutoFit/>
          </a:bodyPr>
          <a:lstStyle/>
          <a:p>
            <a:pPr algn="r" eaLnBrk="0" hangingPunct="0"/>
            <a:r>
              <a:rPr lang="en-US" sz="1800" dirty="0">
                <a:latin typeface="Courier New" panose="02070309020205020404" charset="0"/>
              </a:rPr>
              <a:t>400000</a:t>
            </a:r>
          </a:p>
        </p:txBody>
      </p:sp>
      <p:sp>
        <p:nvSpPr>
          <p:cNvPr id="10253" name="Line 34"/>
          <p:cNvSpPr>
            <a:spLocks noChangeShapeType="1"/>
          </p:cNvSpPr>
          <p:nvPr/>
        </p:nvSpPr>
        <p:spPr bwMode="auto">
          <a:xfrm>
            <a:off x="7581900" y="1428750"/>
            <a:ext cx="0" cy="457200"/>
          </a:xfrm>
          <a:prstGeom prst="line">
            <a:avLst/>
          </a:prstGeom>
          <a:noFill/>
          <a:ln w="38100">
            <a:solidFill>
              <a:schemeClr val="tx2"/>
            </a:solidFill>
            <a:round/>
            <a:tailEnd type="triangle" w="med" len="med"/>
          </a:ln>
        </p:spPr>
        <p:txBody>
          <a:bodyPr wrap="none" lIns="45720" rIns="45720" anchor="ctr">
            <a:spAutoFit/>
          </a:bodyPr>
          <a:lstStyle/>
          <a:p>
            <a:endParaRPr lang="en-US"/>
          </a:p>
        </p:txBody>
      </p:sp>
      <p:sp>
        <p:nvSpPr>
          <p:cNvPr id="10254" name="Line 35"/>
          <p:cNvSpPr>
            <a:spLocks noChangeShapeType="1"/>
          </p:cNvSpPr>
          <p:nvPr/>
        </p:nvSpPr>
        <p:spPr bwMode="auto">
          <a:xfrm flipV="1">
            <a:off x="7581900" y="4876800"/>
            <a:ext cx="0" cy="228600"/>
          </a:xfrm>
          <a:prstGeom prst="line">
            <a:avLst/>
          </a:prstGeom>
          <a:noFill/>
          <a:ln w="38100">
            <a:solidFill>
              <a:schemeClr val="tx2"/>
            </a:solidFill>
            <a:round/>
            <a:tailEnd type="triangle" w="med" len="med"/>
          </a:ln>
        </p:spPr>
        <p:txBody>
          <a:bodyPr wrap="none" lIns="45720" rIns="45720" anchor="ctr">
            <a:spAutoFit/>
          </a:bodyPr>
          <a:lstStyle/>
          <a:p>
            <a:endParaRPr lang="en-US"/>
          </a:p>
        </p:txBody>
      </p:sp>
      <p:sp>
        <p:nvSpPr>
          <p:cNvPr id="16" name="Right Arrow 15"/>
          <p:cNvSpPr/>
          <p:nvPr/>
        </p:nvSpPr>
        <p:spPr bwMode="auto">
          <a:xfrm>
            <a:off x="5181600" y="6115605"/>
            <a:ext cx="609600" cy="457200"/>
          </a:xfrm>
          <a:prstGeom prst="rightArrow">
            <a:avLst/>
          </a:prstGeom>
          <a:solidFill>
            <a:schemeClr val="bg1">
              <a:lumMod val="85000"/>
            </a:schemeClr>
          </a:solidFill>
          <a:ln w="25400" cap="flat" cmpd="sng" algn="ctr">
            <a:noFill/>
            <a:prstDash val="solid"/>
            <a:round/>
            <a:headEnd type="none" w="med" len="med"/>
            <a:tailEnd type="triangle" w="med" len="med"/>
          </a:ln>
          <a:effectLst/>
        </p:spPr>
        <p:txBody>
          <a:bodyPr anchor="ctr" anchorCtr="1"/>
          <a:lstStyle/>
          <a:p>
            <a:pPr algn="ctr" eaLnBrk="0" hangingPunct="0">
              <a:defRPr/>
            </a:pPr>
            <a:endParaRPr lang="en-US" dirty="0">
              <a:latin typeface="Calibri" panose="020F0502020204030204" charset="0"/>
              <a:cs typeface="+mn-cs"/>
            </a:endParaRPr>
          </a:p>
        </p:txBody>
      </p:sp>
      <p:cxnSp>
        <p:nvCxnSpPr>
          <p:cNvPr id="18" name="Straight Connector 17"/>
          <p:cNvCxnSpPr/>
          <p:nvPr/>
        </p:nvCxnSpPr>
        <p:spPr bwMode="auto">
          <a:xfrm>
            <a:off x="6858000" y="2189163"/>
            <a:ext cx="1447800" cy="1587"/>
          </a:xfrm>
          <a:prstGeom prst="line">
            <a:avLst/>
          </a:prstGeom>
          <a:noFill/>
          <a:ln w="25400" cap="flat" cmpd="sng" algn="ctr">
            <a:solidFill>
              <a:schemeClr val="tx1">
                <a:lumMod val="50000"/>
                <a:lumOff val="50000"/>
              </a:schemeClr>
            </a:solidFill>
            <a:prstDash val="solid"/>
            <a:round/>
            <a:headEnd type="none" w="med" len="med"/>
            <a:tailEnd type="none" w="med" len="med"/>
          </a:ln>
          <a:effectLst/>
        </p:spPr>
      </p:cxnSp>
      <p:sp>
        <p:nvSpPr>
          <p:cNvPr id="10257" name="AutoShape 16"/>
          <p:cNvSpPr/>
          <p:nvPr/>
        </p:nvSpPr>
        <p:spPr bwMode="auto">
          <a:xfrm rot="10800000">
            <a:off x="8364538" y="1047750"/>
            <a:ext cx="228600" cy="1141413"/>
          </a:xfrm>
          <a:prstGeom prst="leftBrace">
            <a:avLst>
              <a:gd name="adj1" fmla="val 75011"/>
              <a:gd name="adj2" fmla="val 50000"/>
            </a:avLst>
          </a:prstGeom>
          <a:no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20" name="Rectangle 19"/>
          <p:cNvSpPr/>
          <p:nvPr/>
        </p:nvSpPr>
        <p:spPr>
          <a:xfrm>
            <a:off x="8564563" y="1435100"/>
            <a:ext cx="633412" cy="368300"/>
          </a:xfrm>
          <a:prstGeom prst="rect">
            <a:avLst/>
          </a:prstGeom>
        </p:spPr>
        <p:txBody>
          <a:bodyPr wrap="none">
            <a:spAutoFit/>
          </a:bodyPr>
          <a:lstStyle/>
          <a:p>
            <a:pPr eaLnBrk="0" hangingPunct="0">
              <a:defRPr/>
            </a:pPr>
            <a:r>
              <a:rPr lang="en-US" sz="1800" kern="0" dirty="0">
                <a:solidFill>
                  <a:srgbClr val="000000"/>
                </a:solidFill>
                <a:latin typeface="Calibri" panose="020F0502020204030204" charset="0"/>
                <a:cs typeface="+mn-cs"/>
              </a:rPr>
              <a:t>8MB</a:t>
            </a:r>
            <a:endParaRPr lang="en-US" dirty="0">
              <a:latin typeface="Calibri" panose="020F0502020204030204" charset="0"/>
              <a:cs typeface="+mn-cs"/>
            </a:endParaRPr>
          </a:p>
        </p:txBody>
      </p:sp>
      <p:sp>
        <p:nvSpPr>
          <p:cNvPr id="22" name="Rectangle 25"/>
          <p:cNvSpPr>
            <a:spLocks noChangeArrowheads="1"/>
          </p:cNvSpPr>
          <p:nvPr/>
        </p:nvSpPr>
        <p:spPr bwMode="auto">
          <a:xfrm>
            <a:off x="6858000" y="3733800"/>
            <a:ext cx="1447800" cy="609600"/>
          </a:xfrm>
          <a:prstGeom prst="rect">
            <a:avLst/>
          </a:prstGeom>
          <a:solidFill>
            <a:srgbClr val="D5F1CF"/>
          </a:solidFill>
          <a:ln w="25400">
            <a:solidFill>
              <a:schemeClr val="tx1"/>
            </a:solidFill>
            <a:miter lim="800000"/>
          </a:ln>
        </p:spPr>
        <p:txBody>
          <a:bodyPr wrap="none" anchor="ctr"/>
          <a:lstStyle/>
          <a:p>
            <a:pPr algn="ctr" eaLnBrk="0" hangingPunct="0"/>
            <a:r>
              <a:rPr lang="zh-CN" altLang="en-US" sz="1800" dirty="0">
                <a:latin typeface="Calibri" panose="020F0502020204030204" charset="0"/>
              </a:rPr>
              <a:t>共享库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43">
                                            <p:txEl>
                                              <p:pRg st="1" end="1"/>
                                            </p:txEl>
                                          </p:spTgt>
                                        </p:tgtEl>
                                        <p:attrNameLst>
                                          <p:attrName>style.visibility</p:attrName>
                                        </p:attrNameLst>
                                      </p:cBhvr>
                                      <p:to>
                                        <p:strVal val="visible"/>
                                      </p:to>
                                    </p:set>
                                    <p:anim calcmode="lin" valueType="num">
                                      <p:cBhvr additive="base">
                                        <p:cTn id="7" dur="5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43">
                                            <p:txEl>
                                              <p:pRg st="2" end="2"/>
                                            </p:txEl>
                                          </p:spTgt>
                                        </p:tgtEl>
                                        <p:attrNameLst>
                                          <p:attrName>style.visibility</p:attrName>
                                        </p:attrNameLst>
                                      </p:cBhvr>
                                      <p:to>
                                        <p:strVal val="visible"/>
                                      </p:to>
                                    </p:set>
                                    <p:anim calcmode="lin" valueType="num">
                                      <p:cBhvr additive="base">
                                        <p:cTn id="11" dur="5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02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0243">
                                            <p:txEl>
                                              <p:pRg st="4" end="4"/>
                                            </p:txEl>
                                          </p:spTgt>
                                        </p:tgtEl>
                                        <p:attrNameLst>
                                          <p:attrName>style.visibility</p:attrName>
                                        </p:attrNameLst>
                                      </p:cBhvr>
                                      <p:to>
                                        <p:strVal val="visible"/>
                                      </p:to>
                                    </p:set>
                                    <p:anim calcmode="lin" valueType="num">
                                      <p:cBhvr additive="base">
                                        <p:cTn id="17" dur="5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24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243">
                                            <p:txEl>
                                              <p:pRg st="5" end="5"/>
                                            </p:txEl>
                                          </p:spTgt>
                                        </p:tgtEl>
                                        <p:attrNameLst>
                                          <p:attrName>style.visibility</p:attrName>
                                        </p:attrNameLst>
                                      </p:cBhvr>
                                      <p:to>
                                        <p:strVal val="visible"/>
                                      </p:to>
                                    </p:set>
                                    <p:anim calcmode="lin" valueType="num">
                                      <p:cBhvr additive="base">
                                        <p:cTn id="21" dur="5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2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0243">
                                            <p:txEl>
                                              <p:pRg st="7" end="7"/>
                                            </p:txEl>
                                          </p:spTgt>
                                        </p:tgtEl>
                                        <p:attrNameLst>
                                          <p:attrName>style.visibility</p:attrName>
                                        </p:attrNameLst>
                                      </p:cBhvr>
                                      <p:to>
                                        <p:strVal val="visible"/>
                                      </p:to>
                                    </p:set>
                                    <p:anim calcmode="lin" valueType="num">
                                      <p:cBhvr additive="base">
                                        <p:cTn id="27" dur="500" fill="hold"/>
                                        <p:tgtEl>
                                          <p:spTgt spid="1024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24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0243">
                                            <p:txEl>
                                              <p:pRg st="8" end="8"/>
                                            </p:txEl>
                                          </p:spTgt>
                                        </p:tgtEl>
                                        <p:attrNameLst>
                                          <p:attrName>style.visibility</p:attrName>
                                        </p:attrNameLst>
                                      </p:cBhvr>
                                      <p:to>
                                        <p:strVal val="visible"/>
                                      </p:to>
                                    </p:set>
                                    <p:anim calcmode="lin" valueType="num">
                                      <p:cBhvr additive="base">
                                        <p:cTn id="31" dur="500" fill="hold"/>
                                        <p:tgtEl>
                                          <p:spTgt spid="1024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24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0243">
                                            <p:txEl>
                                              <p:pRg st="10" end="10"/>
                                            </p:txEl>
                                          </p:spTgt>
                                        </p:tgtEl>
                                        <p:attrNameLst>
                                          <p:attrName>style.visibility</p:attrName>
                                        </p:attrNameLst>
                                      </p:cBhvr>
                                      <p:to>
                                        <p:strVal val="visible"/>
                                      </p:to>
                                    </p:set>
                                    <p:anim calcmode="lin" valueType="num">
                                      <p:cBhvr additive="base">
                                        <p:cTn id="37" dur="500" fill="hold"/>
                                        <p:tgtEl>
                                          <p:spTgt spid="10243">
                                            <p:txEl>
                                              <p:pRg st="10" end="1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243">
                                            <p:txEl>
                                              <p:pRg st="10" end="1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0243">
                                            <p:txEl>
                                              <p:pRg st="11" end="11"/>
                                            </p:txEl>
                                          </p:spTgt>
                                        </p:tgtEl>
                                        <p:attrNameLst>
                                          <p:attrName>style.visibility</p:attrName>
                                        </p:attrNameLst>
                                      </p:cBhvr>
                                      <p:to>
                                        <p:strVal val="visible"/>
                                      </p:to>
                                    </p:set>
                                    <p:anim calcmode="lin" valueType="num">
                                      <p:cBhvr additive="base">
                                        <p:cTn id="41" dur="500" fill="hold"/>
                                        <p:tgtEl>
                                          <p:spTgt spid="10243">
                                            <p:txEl>
                                              <p:pRg st="11" end="11"/>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24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93255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rPr>
              <a:t>内存分配的例子</a:t>
            </a:r>
          </a:p>
        </p:txBody>
      </p:sp>
      <p:sp>
        <p:nvSpPr>
          <p:cNvPr id="11267" name="Rectangle 3"/>
          <p:cNvSpPr>
            <a:spLocks noChangeArrowheads="1"/>
          </p:cNvSpPr>
          <p:nvPr/>
        </p:nvSpPr>
        <p:spPr bwMode="auto">
          <a:xfrm>
            <a:off x="609600" y="1498600"/>
            <a:ext cx="5791200" cy="4798751"/>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fi-FI" sz="1800" dirty="0" err="1">
                <a:latin typeface="Courier New" panose="02070309020205020404" charset="0"/>
              </a:rPr>
              <a:t>char</a:t>
            </a:r>
            <a:r>
              <a:rPr lang="fi-FI" sz="1800" dirty="0">
                <a:latin typeface="Courier New" panose="02070309020205020404" charset="0"/>
              </a:rPr>
              <a:t> big_array[1L&lt;&lt;24];  /* 16 MB */</a:t>
            </a:r>
          </a:p>
          <a:p>
            <a:pPr eaLnBrk="0" hangingPunct="0"/>
            <a:r>
              <a:rPr lang="fi-FI" sz="1800" dirty="0" err="1">
                <a:latin typeface="Courier New" panose="02070309020205020404" charset="0"/>
              </a:rPr>
              <a:t>char</a:t>
            </a:r>
            <a:r>
              <a:rPr lang="fi-FI" sz="1800" dirty="0">
                <a:latin typeface="Courier New" panose="02070309020205020404" charset="0"/>
              </a:rPr>
              <a:t> huge_array[1L&lt;&lt;31]; /*  2 GB */</a:t>
            </a:r>
          </a:p>
          <a:p>
            <a:pPr eaLnBrk="0" hangingPunct="0"/>
            <a:endParaRPr lang="fi-FI" sz="1800" dirty="0">
              <a:latin typeface="Courier New" panose="02070309020205020404" charset="0"/>
            </a:endParaRPr>
          </a:p>
          <a:p>
            <a:pPr eaLnBrk="0" hangingPunct="0"/>
            <a:r>
              <a:rPr lang="fi-FI" sz="1800" dirty="0" err="1">
                <a:latin typeface="Courier New" panose="02070309020205020404" charset="0"/>
              </a:rPr>
              <a:t>int</a:t>
            </a:r>
            <a:r>
              <a:rPr lang="fi-FI" sz="1800" dirty="0">
                <a:latin typeface="Courier New" panose="02070309020205020404" charset="0"/>
              </a:rPr>
              <a:t> </a:t>
            </a:r>
            <a:r>
              <a:rPr lang="fi-FI" sz="1800" dirty="0" err="1">
                <a:latin typeface="Courier New" panose="02070309020205020404" charset="0"/>
              </a:rPr>
              <a:t>global</a:t>
            </a:r>
            <a:r>
              <a:rPr lang="fi-FI" sz="1800" dirty="0">
                <a:latin typeface="Courier New" panose="02070309020205020404" charset="0"/>
              </a:rPr>
              <a:t> = 0;</a:t>
            </a:r>
          </a:p>
          <a:p>
            <a:pPr eaLnBrk="0" hangingPunct="0"/>
            <a:endParaRPr lang="fi-FI" sz="1800" dirty="0">
              <a:latin typeface="Courier New" panose="02070309020205020404" charset="0"/>
            </a:endParaRPr>
          </a:p>
          <a:p>
            <a:pPr eaLnBrk="0" hangingPunct="0"/>
            <a:r>
              <a:rPr lang="fi-FI" sz="1800" dirty="0" err="1">
                <a:latin typeface="Courier New" panose="02070309020205020404" charset="0"/>
              </a:rPr>
              <a:t>int</a:t>
            </a:r>
            <a:r>
              <a:rPr lang="fi-FI" sz="1800" dirty="0">
                <a:latin typeface="Courier New" panose="02070309020205020404" charset="0"/>
              </a:rPr>
              <a:t> </a:t>
            </a:r>
            <a:r>
              <a:rPr lang="fi-FI" sz="1800" dirty="0" err="1">
                <a:latin typeface="Courier New" panose="02070309020205020404" charset="0"/>
              </a:rPr>
              <a:t>useless</a:t>
            </a:r>
            <a:r>
              <a:rPr lang="fi-FI" sz="1800" dirty="0">
                <a:latin typeface="Courier New" panose="02070309020205020404" charset="0"/>
              </a:rPr>
              <a:t>() { </a:t>
            </a:r>
            <a:r>
              <a:rPr lang="fi-FI" sz="1800" dirty="0" err="1">
                <a:latin typeface="Courier New" panose="02070309020205020404" charset="0"/>
              </a:rPr>
              <a:t>return</a:t>
            </a:r>
            <a:r>
              <a:rPr lang="fi-FI" sz="1800" dirty="0">
                <a:latin typeface="Courier New" panose="02070309020205020404" charset="0"/>
              </a:rPr>
              <a:t> 0; }</a:t>
            </a:r>
          </a:p>
          <a:p>
            <a:pPr eaLnBrk="0" hangingPunct="0"/>
            <a:endParaRPr lang="fi-FI" sz="1800" dirty="0">
              <a:latin typeface="Courier New" panose="02070309020205020404" charset="0"/>
            </a:endParaRPr>
          </a:p>
          <a:p>
            <a:pPr eaLnBrk="0" hangingPunct="0"/>
            <a:r>
              <a:rPr lang="fi-FI" sz="1800" dirty="0" err="1">
                <a:latin typeface="Courier New" panose="02070309020205020404" charset="0"/>
              </a:rPr>
              <a:t>int</a:t>
            </a:r>
            <a:r>
              <a:rPr lang="fi-FI" sz="1800" dirty="0">
                <a:latin typeface="Courier New" panose="02070309020205020404" charset="0"/>
              </a:rPr>
              <a:t> main ()</a:t>
            </a:r>
          </a:p>
          <a:p>
            <a:pPr eaLnBrk="0" hangingPunct="0"/>
            <a:r>
              <a:rPr lang="fi-FI" sz="1800" dirty="0">
                <a:latin typeface="Courier New" panose="02070309020205020404" charset="0"/>
              </a:rPr>
              <a:t>{</a:t>
            </a:r>
          </a:p>
          <a:p>
            <a:pPr eaLnBrk="0" hangingPunct="0"/>
            <a:r>
              <a:rPr lang="fi-FI" sz="1800" dirty="0">
                <a:latin typeface="Courier New" panose="02070309020205020404" charset="0"/>
              </a:rPr>
              <a:t>    </a:t>
            </a:r>
            <a:r>
              <a:rPr lang="fi-FI" sz="1800" dirty="0" err="1">
                <a:latin typeface="Courier New" panose="02070309020205020404" charset="0"/>
              </a:rPr>
              <a:t>void</a:t>
            </a:r>
            <a:r>
              <a:rPr lang="fi-FI" sz="1800" dirty="0">
                <a:latin typeface="Courier New" panose="02070309020205020404" charset="0"/>
              </a:rPr>
              <a:t> *p1, *p2, *p3, *p4;</a:t>
            </a:r>
          </a:p>
          <a:p>
            <a:pPr eaLnBrk="0" hangingPunct="0"/>
            <a:r>
              <a:rPr lang="fi-FI" sz="1800" dirty="0">
                <a:latin typeface="Courier New" panose="02070309020205020404" charset="0"/>
              </a:rPr>
              <a:t>    </a:t>
            </a:r>
            <a:r>
              <a:rPr lang="fi-FI" sz="1800" dirty="0" err="1">
                <a:latin typeface="Courier New" panose="02070309020205020404" charset="0"/>
              </a:rPr>
              <a:t>int</a:t>
            </a:r>
            <a:r>
              <a:rPr lang="fi-FI" sz="1800" dirty="0">
                <a:latin typeface="Courier New" panose="02070309020205020404" charset="0"/>
              </a:rPr>
              <a:t> </a:t>
            </a:r>
            <a:r>
              <a:rPr lang="fi-FI" sz="1800" dirty="0" err="1">
                <a:latin typeface="Courier New" panose="02070309020205020404" charset="0"/>
              </a:rPr>
              <a:t>local</a:t>
            </a:r>
            <a:r>
              <a:rPr lang="fi-FI" sz="1800" dirty="0">
                <a:latin typeface="Courier New" panose="02070309020205020404" charset="0"/>
              </a:rPr>
              <a:t> = 0;</a:t>
            </a:r>
          </a:p>
          <a:p>
            <a:pPr eaLnBrk="0" hangingPunct="0"/>
            <a:r>
              <a:rPr lang="fi-FI" sz="1800" dirty="0">
                <a:latin typeface="Courier New" panose="02070309020205020404" charset="0"/>
              </a:rPr>
              <a:t>    p1 = malloc(1L &lt;&lt; 28); /* 256 MB */</a:t>
            </a:r>
          </a:p>
          <a:p>
            <a:pPr eaLnBrk="0" hangingPunct="0"/>
            <a:r>
              <a:rPr lang="fi-FI" sz="1800" dirty="0">
                <a:latin typeface="Courier New" panose="02070309020205020404" charset="0"/>
              </a:rPr>
              <a:t>    p2 = malloc(1L &lt;&lt; 8);  /* 256  B */</a:t>
            </a:r>
          </a:p>
          <a:p>
            <a:pPr eaLnBrk="0" hangingPunct="0"/>
            <a:r>
              <a:rPr lang="fi-FI" sz="1800" dirty="0">
                <a:latin typeface="Courier New" panose="02070309020205020404" charset="0"/>
              </a:rPr>
              <a:t>    p3 = malloc(1L &lt;&lt; 32); /*   4 GB */</a:t>
            </a:r>
          </a:p>
          <a:p>
            <a:pPr eaLnBrk="0" hangingPunct="0"/>
            <a:r>
              <a:rPr lang="fi-FI" sz="1800" dirty="0">
                <a:latin typeface="Courier New" panose="02070309020205020404" charset="0"/>
              </a:rPr>
              <a:t>    p4 = malloc(1L &lt;&lt; 8);  /* 256  B */</a:t>
            </a:r>
          </a:p>
          <a:p>
            <a:pPr eaLnBrk="0" hangingPunct="0"/>
            <a:r>
              <a:rPr lang="en-US" sz="1800" dirty="0">
                <a:latin typeface="Courier New" panose="02070309020205020404" charset="0"/>
              </a:rPr>
              <a:t> /* Some print statements ... */</a:t>
            </a:r>
          </a:p>
          <a:p>
            <a:pPr eaLnBrk="0" hangingPunct="0"/>
            <a:r>
              <a:rPr lang="en-US" sz="1800" dirty="0">
                <a:latin typeface="Courier New" panose="02070309020205020404" charset="0"/>
              </a:rPr>
              <a:t>}</a:t>
            </a:r>
          </a:p>
        </p:txBody>
      </p:sp>
      <p:sp>
        <p:nvSpPr>
          <p:cNvPr id="9" name="Rectangle 20"/>
          <p:cNvSpPr>
            <a:spLocks noChangeArrowheads="1"/>
          </p:cNvSpPr>
          <p:nvPr/>
        </p:nvSpPr>
        <p:spPr bwMode="auto">
          <a:xfrm>
            <a:off x="6858000" y="1041955"/>
            <a:ext cx="1447800" cy="5584825"/>
          </a:xfrm>
          <a:prstGeom prst="rect">
            <a:avLst/>
          </a:prstGeom>
          <a:solidFill>
            <a:schemeClr val="bg1">
              <a:lumMod val="95000"/>
            </a:schemeClr>
          </a:solidFill>
          <a:ln w="25400">
            <a:solidFill>
              <a:schemeClr val="tx1"/>
            </a:solidFill>
            <a:miter lim="800000"/>
          </a:ln>
          <a:effectLst/>
        </p:spPr>
        <p:txBody>
          <a:bodyPr wrap="none" anchor="ctr"/>
          <a:lstStyle/>
          <a:p>
            <a:pPr eaLnBrk="0" hangingPunct="0">
              <a:defRPr/>
            </a:pPr>
            <a:endParaRPr lang="en-US" dirty="0">
              <a:latin typeface="Calibri" panose="020F0502020204030204" charset="0"/>
              <a:cs typeface="+mn-cs"/>
            </a:endParaRPr>
          </a:p>
        </p:txBody>
      </p:sp>
      <p:sp>
        <p:nvSpPr>
          <p:cNvPr id="10" name="Rectangle 21"/>
          <p:cNvSpPr>
            <a:spLocks noChangeArrowheads="1"/>
          </p:cNvSpPr>
          <p:nvPr/>
        </p:nvSpPr>
        <p:spPr bwMode="auto">
          <a:xfrm>
            <a:off x="6858000" y="1047750"/>
            <a:ext cx="1447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eaLnBrk="0" hangingPunct="0">
              <a:defRPr/>
            </a:pPr>
            <a:r>
              <a:rPr lang="en-US" altLang="zh-CN" sz="1800" dirty="0">
                <a:latin typeface="Calibri" panose="020F0502020204030204" charset="0"/>
                <a:cs typeface="+mn-cs"/>
              </a:rPr>
              <a:t>         </a:t>
            </a:r>
            <a:r>
              <a:rPr lang="zh-CN" altLang="en-US" sz="1800" dirty="0">
                <a:latin typeface="Calibri" panose="020F0502020204030204" charset="0"/>
                <a:cs typeface="+mn-cs"/>
              </a:rPr>
              <a:t>栈</a:t>
            </a:r>
          </a:p>
        </p:txBody>
      </p:sp>
      <p:sp>
        <p:nvSpPr>
          <p:cNvPr id="11" name="Rectangle 23"/>
          <p:cNvSpPr>
            <a:spLocks noChangeArrowheads="1"/>
          </p:cNvSpPr>
          <p:nvPr/>
        </p:nvSpPr>
        <p:spPr bwMode="auto">
          <a:xfrm>
            <a:off x="6858000" y="6017180"/>
            <a:ext cx="1447800" cy="304800"/>
          </a:xfrm>
          <a:prstGeom prst="rect">
            <a:avLst/>
          </a:prstGeom>
          <a:solidFill>
            <a:srgbClr val="F6F5BD"/>
          </a:solidFill>
          <a:ln w="25400">
            <a:solidFill>
              <a:schemeClr val="tx1"/>
            </a:solidFill>
            <a:miter lim="800000"/>
          </a:ln>
        </p:spPr>
        <p:txBody>
          <a:bodyPr wrap="none" anchor="ctr"/>
          <a:lstStyle/>
          <a:p>
            <a:pPr eaLnBrk="0" hangingPunct="0"/>
            <a:r>
              <a:rPr lang="en-US" altLang="zh-CN" sz="1800">
                <a:latin typeface="Calibri" panose="020F0502020204030204" charset="0"/>
              </a:rPr>
              <a:t>        </a:t>
            </a:r>
            <a:r>
              <a:rPr lang="zh-CN" altLang="en-US" sz="1800">
                <a:latin typeface="Calibri" panose="020F0502020204030204" charset="0"/>
              </a:rPr>
              <a:t>文本</a:t>
            </a:r>
          </a:p>
        </p:txBody>
      </p:sp>
      <p:sp>
        <p:nvSpPr>
          <p:cNvPr id="12" name="Rectangle 24"/>
          <p:cNvSpPr>
            <a:spLocks noChangeArrowheads="1"/>
          </p:cNvSpPr>
          <p:nvPr/>
        </p:nvSpPr>
        <p:spPr bwMode="auto">
          <a:xfrm>
            <a:off x="6858000" y="5712380"/>
            <a:ext cx="1447800" cy="304800"/>
          </a:xfrm>
          <a:prstGeom prst="rect">
            <a:avLst/>
          </a:prstGeom>
          <a:solidFill>
            <a:srgbClr val="F1C7C7"/>
          </a:solidFill>
          <a:ln w="25400">
            <a:solidFill>
              <a:schemeClr val="tx1"/>
            </a:solidFill>
            <a:miter lim="800000"/>
          </a:ln>
        </p:spPr>
        <p:txBody>
          <a:bodyPr wrap="none" anchor="ctr"/>
          <a:lstStyle/>
          <a:p>
            <a:pPr eaLnBrk="0" hangingPunct="0"/>
            <a:r>
              <a:rPr lang="en-US" altLang="zh-CN" sz="1800">
                <a:latin typeface="Calibri" panose="020F0502020204030204" charset="0"/>
              </a:rPr>
              <a:t>        </a:t>
            </a:r>
            <a:r>
              <a:rPr lang="zh-CN" altLang="en-US" sz="1800">
                <a:latin typeface="Calibri" panose="020F0502020204030204" charset="0"/>
              </a:rPr>
              <a:t>数据</a:t>
            </a:r>
          </a:p>
        </p:txBody>
      </p:sp>
      <p:sp>
        <p:nvSpPr>
          <p:cNvPr id="13" name="Rectangle 25"/>
          <p:cNvSpPr>
            <a:spLocks noChangeArrowheads="1"/>
          </p:cNvSpPr>
          <p:nvPr/>
        </p:nvSpPr>
        <p:spPr bwMode="auto">
          <a:xfrm>
            <a:off x="6858000" y="5105400"/>
            <a:ext cx="1447800" cy="606980"/>
          </a:xfrm>
          <a:prstGeom prst="rect">
            <a:avLst/>
          </a:prstGeom>
          <a:solidFill>
            <a:srgbClr val="D5F1CF"/>
          </a:solidFill>
          <a:ln w="25400">
            <a:solidFill>
              <a:schemeClr val="tx1"/>
            </a:solidFill>
            <a:miter lim="800000"/>
          </a:ln>
        </p:spPr>
        <p:txBody>
          <a:bodyPr wrap="none" anchor="ctr"/>
          <a:lstStyle/>
          <a:p>
            <a:pPr eaLnBrk="0" hangingPunct="0"/>
            <a:r>
              <a:rPr lang="en-US" altLang="zh-CN" sz="1800" dirty="0">
                <a:latin typeface="Calibri" panose="020F0502020204030204" charset="0"/>
              </a:rPr>
              <a:t>         </a:t>
            </a:r>
            <a:r>
              <a:rPr lang="zh-CN" altLang="en-US" sz="1800" dirty="0">
                <a:latin typeface="Calibri" panose="020F0502020204030204" charset="0"/>
              </a:rPr>
              <a:t>堆</a:t>
            </a:r>
            <a:r>
              <a:rPr lang="en-US" altLang="zh-CN" sz="1800" dirty="0">
                <a:latin typeface="Calibri" panose="020F0502020204030204" charset="0"/>
              </a:rPr>
              <a:t>	</a:t>
            </a:r>
          </a:p>
        </p:txBody>
      </p:sp>
      <p:sp>
        <p:nvSpPr>
          <p:cNvPr id="14" name="Line 34"/>
          <p:cNvSpPr>
            <a:spLocks noChangeShapeType="1"/>
          </p:cNvSpPr>
          <p:nvPr/>
        </p:nvSpPr>
        <p:spPr bwMode="auto">
          <a:xfrm>
            <a:off x="7581900" y="1428750"/>
            <a:ext cx="0" cy="457200"/>
          </a:xfrm>
          <a:prstGeom prst="line">
            <a:avLst/>
          </a:prstGeom>
          <a:noFill/>
          <a:ln w="38100">
            <a:solidFill>
              <a:schemeClr val="tx2"/>
            </a:solidFill>
            <a:round/>
            <a:tailEnd type="triangle" w="med" len="med"/>
          </a:ln>
        </p:spPr>
        <p:txBody>
          <a:bodyPr wrap="none" lIns="45720" rIns="45720" anchor="ctr">
            <a:spAutoFit/>
          </a:bodyPr>
          <a:lstStyle/>
          <a:p>
            <a:endParaRPr lang="en-US"/>
          </a:p>
        </p:txBody>
      </p:sp>
      <p:sp>
        <p:nvSpPr>
          <p:cNvPr id="15" name="Line 35"/>
          <p:cNvSpPr>
            <a:spLocks noChangeShapeType="1"/>
          </p:cNvSpPr>
          <p:nvPr/>
        </p:nvSpPr>
        <p:spPr bwMode="auto">
          <a:xfrm flipV="1">
            <a:off x="7581900" y="4876800"/>
            <a:ext cx="0" cy="228600"/>
          </a:xfrm>
          <a:prstGeom prst="line">
            <a:avLst/>
          </a:prstGeom>
          <a:noFill/>
          <a:ln w="38100">
            <a:solidFill>
              <a:schemeClr val="tx2"/>
            </a:solidFill>
            <a:round/>
            <a:tailEnd type="triangle" w="med" len="med"/>
          </a:ln>
        </p:spPr>
        <p:txBody>
          <a:bodyPr wrap="none" lIns="45720" rIns="45720" anchor="ctr">
            <a:spAutoFit/>
          </a:bodyPr>
          <a:lstStyle/>
          <a:p>
            <a:endParaRPr lang="en-US"/>
          </a:p>
        </p:txBody>
      </p:sp>
      <p:cxnSp>
        <p:nvCxnSpPr>
          <p:cNvPr id="26" name="Straight Connector 17"/>
          <p:cNvCxnSpPr/>
          <p:nvPr/>
        </p:nvCxnSpPr>
        <p:spPr bwMode="auto">
          <a:xfrm>
            <a:off x="6858000" y="2189163"/>
            <a:ext cx="1447800" cy="1587"/>
          </a:xfrm>
          <a:prstGeom prst="line">
            <a:avLst/>
          </a:prstGeom>
          <a:noFill/>
          <a:ln w="25400" cap="flat" cmpd="sng" algn="ctr">
            <a:solidFill>
              <a:schemeClr val="tx1">
                <a:lumMod val="50000"/>
                <a:lumOff val="50000"/>
              </a:schemeClr>
            </a:solidFill>
            <a:prstDash val="solid"/>
            <a:round/>
            <a:headEnd type="none" w="med" len="med"/>
            <a:tailEnd type="none" w="med" len="med"/>
          </a:ln>
          <a:effectLst/>
        </p:spPr>
      </p:cxnSp>
      <p:sp>
        <p:nvSpPr>
          <p:cNvPr id="29" name="Rectangle 25"/>
          <p:cNvSpPr>
            <a:spLocks noChangeArrowheads="1"/>
          </p:cNvSpPr>
          <p:nvPr/>
        </p:nvSpPr>
        <p:spPr bwMode="auto">
          <a:xfrm>
            <a:off x="6858000" y="3733800"/>
            <a:ext cx="1447800" cy="609600"/>
          </a:xfrm>
          <a:prstGeom prst="rect">
            <a:avLst/>
          </a:prstGeom>
          <a:solidFill>
            <a:srgbClr val="D5F1CF"/>
          </a:solidFill>
          <a:ln w="25400">
            <a:solidFill>
              <a:schemeClr val="tx1"/>
            </a:solidFill>
            <a:miter lim="800000"/>
          </a:ln>
        </p:spPr>
        <p:txBody>
          <a:bodyPr wrap="none" anchor="ctr"/>
          <a:lstStyle/>
          <a:p>
            <a:pPr algn="ctr" eaLnBrk="0" hangingPunct="0"/>
            <a:r>
              <a:rPr lang="zh-CN" altLang="en-US" sz="1800" dirty="0">
                <a:latin typeface="Calibri" panose="020F0502020204030204" charset="0"/>
              </a:rPr>
              <a:t>共享库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7"/>
                                        </p:tgtEl>
                                        <p:attrNameLst>
                                          <p:attrName>style.visibility</p:attrName>
                                        </p:attrNameLst>
                                      </p:cBhvr>
                                      <p:to>
                                        <p:strVal val="visible"/>
                                      </p:to>
                                    </p:set>
                                    <p:anim calcmode="lin" valueType="num">
                                      <p:cBhvr additive="base">
                                        <p:cTn id="7" dur="500" fill="hold"/>
                                        <p:tgtEl>
                                          <p:spTgt spid="11267"/>
                                        </p:tgtEl>
                                        <p:attrNameLst>
                                          <p:attrName>ppt_x</p:attrName>
                                        </p:attrNameLst>
                                      </p:cBhvr>
                                      <p:tavLst>
                                        <p:tav tm="0">
                                          <p:val>
                                            <p:strVal val="#ppt_x"/>
                                          </p:val>
                                        </p:tav>
                                        <p:tav tm="100000">
                                          <p:val>
                                            <p:strVal val="#ppt_x"/>
                                          </p:val>
                                        </p:tav>
                                      </p:tavLst>
                                    </p:anim>
                                    <p:anim calcmode="lin" valueType="num">
                                      <p:cBhvr additive="base">
                                        <p:cTn id="8" dur="500" fill="hold"/>
                                        <p:tgtEl>
                                          <p:spTgt spid="112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animBg="1"/>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93255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rPr>
              <a:t>内存分配的例子</a:t>
            </a:r>
          </a:p>
        </p:txBody>
      </p:sp>
      <p:sp>
        <p:nvSpPr>
          <p:cNvPr id="9" name="Rectangle 20"/>
          <p:cNvSpPr>
            <a:spLocks noChangeArrowheads="1"/>
          </p:cNvSpPr>
          <p:nvPr/>
        </p:nvSpPr>
        <p:spPr bwMode="auto">
          <a:xfrm>
            <a:off x="6858000" y="1041955"/>
            <a:ext cx="1447800" cy="5584825"/>
          </a:xfrm>
          <a:prstGeom prst="rect">
            <a:avLst/>
          </a:prstGeom>
          <a:solidFill>
            <a:schemeClr val="bg1">
              <a:lumMod val="95000"/>
            </a:schemeClr>
          </a:solidFill>
          <a:ln w="25400">
            <a:solidFill>
              <a:schemeClr val="tx1"/>
            </a:solidFill>
            <a:miter lim="800000"/>
          </a:ln>
          <a:effectLst/>
        </p:spPr>
        <p:txBody>
          <a:bodyPr wrap="none" anchor="ctr"/>
          <a:lstStyle/>
          <a:p>
            <a:pPr eaLnBrk="0" hangingPunct="0">
              <a:defRPr/>
            </a:pPr>
            <a:endParaRPr lang="en-US" dirty="0">
              <a:latin typeface="Calibri" panose="020F0502020204030204" charset="0"/>
              <a:cs typeface="+mn-cs"/>
            </a:endParaRPr>
          </a:p>
        </p:txBody>
      </p:sp>
      <p:sp>
        <p:nvSpPr>
          <p:cNvPr id="10" name="Rectangle 21"/>
          <p:cNvSpPr>
            <a:spLocks noChangeArrowheads="1"/>
          </p:cNvSpPr>
          <p:nvPr/>
        </p:nvSpPr>
        <p:spPr bwMode="auto">
          <a:xfrm>
            <a:off x="6858000" y="1047750"/>
            <a:ext cx="1447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eaLnBrk="0" hangingPunct="0">
              <a:defRPr/>
            </a:pPr>
            <a:r>
              <a:rPr lang="en-US" altLang="zh-CN" sz="1800" dirty="0">
                <a:latin typeface="Calibri" panose="020F0502020204030204" charset="0"/>
                <a:cs typeface="+mn-cs"/>
              </a:rPr>
              <a:t>         </a:t>
            </a:r>
            <a:r>
              <a:rPr lang="zh-CN" altLang="en-US" sz="1800" dirty="0">
                <a:latin typeface="Calibri" panose="020F0502020204030204" charset="0"/>
                <a:cs typeface="+mn-cs"/>
              </a:rPr>
              <a:t>栈</a:t>
            </a:r>
          </a:p>
        </p:txBody>
      </p:sp>
      <p:sp>
        <p:nvSpPr>
          <p:cNvPr id="11" name="Rectangle 23"/>
          <p:cNvSpPr>
            <a:spLocks noChangeArrowheads="1"/>
          </p:cNvSpPr>
          <p:nvPr/>
        </p:nvSpPr>
        <p:spPr bwMode="auto">
          <a:xfrm>
            <a:off x="6858000" y="6017180"/>
            <a:ext cx="1447800" cy="304800"/>
          </a:xfrm>
          <a:prstGeom prst="rect">
            <a:avLst/>
          </a:prstGeom>
          <a:solidFill>
            <a:srgbClr val="F6F5BD"/>
          </a:solidFill>
          <a:ln w="25400">
            <a:solidFill>
              <a:schemeClr val="tx1"/>
            </a:solidFill>
            <a:miter lim="800000"/>
          </a:ln>
        </p:spPr>
        <p:txBody>
          <a:bodyPr wrap="none" anchor="ctr"/>
          <a:lstStyle/>
          <a:p>
            <a:pPr eaLnBrk="0" hangingPunct="0"/>
            <a:r>
              <a:rPr lang="en-US" altLang="zh-CN" sz="1800">
                <a:latin typeface="Calibri" panose="020F0502020204030204" charset="0"/>
              </a:rPr>
              <a:t>        </a:t>
            </a:r>
            <a:r>
              <a:rPr lang="zh-CN" altLang="en-US" sz="1800">
                <a:latin typeface="Calibri" panose="020F0502020204030204" charset="0"/>
              </a:rPr>
              <a:t>文本</a:t>
            </a:r>
          </a:p>
        </p:txBody>
      </p:sp>
      <p:sp>
        <p:nvSpPr>
          <p:cNvPr id="12" name="Rectangle 24"/>
          <p:cNvSpPr>
            <a:spLocks noChangeArrowheads="1"/>
          </p:cNvSpPr>
          <p:nvPr/>
        </p:nvSpPr>
        <p:spPr bwMode="auto">
          <a:xfrm>
            <a:off x="6858000" y="5712380"/>
            <a:ext cx="1447800" cy="304800"/>
          </a:xfrm>
          <a:prstGeom prst="rect">
            <a:avLst/>
          </a:prstGeom>
          <a:solidFill>
            <a:srgbClr val="F1C7C7"/>
          </a:solidFill>
          <a:ln w="25400">
            <a:solidFill>
              <a:schemeClr val="tx1"/>
            </a:solidFill>
            <a:miter lim="800000"/>
          </a:ln>
        </p:spPr>
        <p:txBody>
          <a:bodyPr wrap="none" anchor="ctr"/>
          <a:lstStyle/>
          <a:p>
            <a:pPr eaLnBrk="0" hangingPunct="0"/>
            <a:r>
              <a:rPr lang="en-US" altLang="zh-CN" sz="1800">
                <a:latin typeface="Calibri" panose="020F0502020204030204" charset="0"/>
              </a:rPr>
              <a:t>        </a:t>
            </a:r>
            <a:r>
              <a:rPr lang="zh-CN" altLang="en-US" sz="1800">
                <a:latin typeface="Calibri" panose="020F0502020204030204" charset="0"/>
              </a:rPr>
              <a:t>数据</a:t>
            </a:r>
          </a:p>
        </p:txBody>
      </p:sp>
      <p:sp>
        <p:nvSpPr>
          <p:cNvPr id="13" name="Rectangle 25"/>
          <p:cNvSpPr>
            <a:spLocks noChangeArrowheads="1"/>
          </p:cNvSpPr>
          <p:nvPr/>
        </p:nvSpPr>
        <p:spPr bwMode="auto">
          <a:xfrm>
            <a:off x="6858000" y="5105400"/>
            <a:ext cx="1447800" cy="606980"/>
          </a:xfrm>
          <a:prstGeom prst="rect">
            <a:avLst/>
          </a:prstGeom>
          <a:solidFill>
            <a:srgbClr val="D5F1CF"/>
          </a:solidFill>
          <a:ln w="25400">
            <a:solidFill>
              <a:schemeClr val="tx1"/>
            </a:solidFill>
            <a:miter lim="800000"/>
          </a:ln>
        </p:spPr>
        <p:txBody>
          <a:bodyPr wrap="none" anchor="ctr"/>
          <a:lstStyle/>
          <a:p>
            <a:pPr eaLnBrk="0" hangingPunct="0"/>
            <a:r>
              <a:rPr lang="en-US" altLang="zh-CN" sz="1800" dirty="0">
                <a:latin typeface="Calibri" panose="020F0502020204030204" charset="0"/>
              </a:rPr>
              <a:t>         </a:t>
            </a:r>
            <a:r>
              <a:rPr lang="zh-CN" altLang="en-US" sz="1800" dirty="0">
                <a:latin typeface="Calibri" panose="020F0502020204030204" charset="0"/>
              </a:rPr>
              <a:t>堆</a:t>
            </a:r>
            <a:r>
              <a:rPr lang="en-US" altLang="zh-CN" sz="1800" dirty="0">
                <a:latin typeface="Calibri" panose="020F0502020204030204" charset="0"/>
              </a:rPr>
              <a:t>	</a:t>
            </a:r>
          </a:p>
        </p:txBody>
      </p:sp>
      <p:sp>
        <p:nvSpPr>
          <p:cNvPr id="14" name="Line 34"/>
          <p:cNvSpPr>
            <a:spLocks noChangeShapeType="1"/>
          </p:cNvSpPr>
          <p:nvPr/>
        </p:nvSpPr>
        <p:spPr bwMode="auto">
          <a:xfrm>
            <a:off x="7581900" y="1428750"/>
            <a:ext cx="0" cy="457200"/>
          </a:xfrm>
          <a:prstGeom prst="line">
            <a:avLst/>
          </a:prstGeom>
          <a:noFill/>
          <a:ln w="38100">
            <a:solidFill>
              <a:schemeClr val="tx2"/>
            </a:solidFill>
            <a:round/>
            <a:tailEnd type="triangle" w="med" len="med"/>
          </a:ln>
        </p:spPr>
        <p:txBody>
          <a:bodyPr wrap="none" lIns="45720" rIns="45720" anchor="ctr">
            <a:spAutoFit/>
          </a:bodyPr>
          <a:lstStyle/>
          <a:p>
            <a:endParaRPr lang="en-US"/>
          </a:p>
        </p:txBody>
      </p:sp>
      <p:sp>
        <p:nvSpPr>
          <p:cNvPr id="15" name="Line 35"/>
          <p:cNvSpPr>
            <a:spLocks noChangeShapeType="1"/>
          </p:cNvSpPr>
          <p:nvPr/>
        </p:nvSpPr>
        <p:spPr bwMode="auto">
          <a:xfrm flipV="1">
            <a:off x="7581900" y="4876800"/>
            <a:ext cx="0" cy="228600"/>
          </a:xfrm>
          <a:prstGeom prst="line">
            <a:avLst/>
          </a:prstGeom>
          <a:noFill/>
          <a:ln w="38100">
            <a:solidFill>
              <a:schemeClr val="tx2"/>
            </a:solidFill>
            <a:round/>
            <a:tailEnd type="triangle" w="med" len="med"/>
          </a:ln>
        </p:spPr>
        <p:txBody>
          <a:bodyPr wrap="none" lIns="45720" rIns="45720" anchor="ctr">
            <a:spAutoFit/>
          </a:bodyPr>
          <a:lstStyle/>
          <a:p>
            <a:endParaRPr lang="en-US"/>
          </a:p>
        </p:txBody>
      </p:sp>
      <p:cxnSp>
        <p:nvCxnSpPr>
          <p:cNvPr id="26" name="Straight Connector 17"/>
          <p:cNvCxnSpPr/>
          <p:nvPr/>
        </p:nvCxnSpPr>
        <p:spPr bwMode="auto">
          <a:xfrm>
            <a:off x="6858000" y="2189163"/>
            <a:ext cx="1447800" cy="1587"/>
          </a:xfrm>
          <a:prstGeom prst="line">
            <a:avLst/>
          </a:prstGeom>
          <a:noFill/>
          <a:ln w="25400" cap="flat" cmpd="sng" algn="ctr">
            <a:solidFill>
              <a:schemeClr val="tx1">
                <a:lumMod val="50000"/>
                <a:lumOff val="50000"/>
              </a:schemeClr>
            </a:solidFill>
            <a:prstDash val="solid"/>
            <a:round/>
            <a:headEnd type="none" w="med" len="med"/>
            <a:tailEnd type="none" w="med" len="med"/>
          </a:ln>
          <a:effectLst/>
        </p:spPr>
      </p:cxnSp>
      <p:sp>
        <p:nvSpPr>
          <p:cNvPr id="29" name="Rectangle 25"/>
          <p:cNvSpPr>
            <a:spLocks noChangeArrowheads="1"/>
          </p:cNvSpPr>
          <p:nvPr/>
        </p:nvSpPr>
        <p:spPr bwMode="auto">
          <a:xfrm>
            <a:off x="6858000" y="3733800"/>
            <a:ext cx="1447800" cy="609600"/>
          </a:xfrm>
          <a:prstGeom prst="rect">
            <a:avLst/>
          </a:prstGeom>
          <a:solidFill>
            <a:srgbClr val="D5F1CF"/>
          </a:solidFill>
          <a:ln w="25400">
            <a:solidFill>
              <a:schemeClr val="tx1"/>
            </a:solidFill>
            <a:miter lim="800000"/>
          </a:ln>
        </p:spPr>
        <p:txBody>
          <a:bodyPr wrap="none" anchor="ctr"/>
          <a:lstStyle/>
          <a:p>
            <a:pPr algn="ctr" eaLnBrk="0" hangingPunct="0"/>
            <a:r>
              <a:rPr lang="zh-CN" altLang="en-US" sz="1800" dirty="0">
                <a:latin typeface="Calibri" panose="020F0502020204030204" charset="0"/>
              </a:rPr>
              <a:t>共享库</a:t>
            </a:r>
          </a:p>
        </p:txBody>
      </p:sp>
      <p:sp>
        <p:nvSpPr>
          <p:cNvPr id="13314" name="Rectangle 25"/>
          <p:cNvSpPr>
            <a:spLocks noChangeArrowheads="1"/>
          </p:cNvSpPr>
          <p:nvPr/>
        </p:nvSpPr>
        <p:spPr bwMode="auto">
          <a:xfrm>
            <a:off x="2667000" y="4038600"/>
            <a:ext cx="2667000" cy="533400"/>
          </a:xfrm>
          <a:prstGeom prst="rect">
            <a:avLst/>
          </a:prstGeom>
          <a:solidFill>
            <a:srgbClr val="F6F5BD"/>
          </a:solidFill>
          <a:ln w="25400">
            <a:noFill/>
            <a:miter lim="800000"/>
          </a:ln>
        </p:spPr>
        <p:txBody>
          <a:bodyPr wrap="none" anchor="ctr"/>
          <a:lstStyle/>
          <a:p>
            <a:pPr eaLnBrk="0" hangingPunct="0"/>
            <a:endParaRPr lang="en-US" sz="1800">
              <a:latin typeface="Calibri" panose="020F0502020204030204" charset="0"/>
            </a:endParaRPr>
          </a:p>
        </p:txBody>
      </p:sp>
      <p:sp>
        <p:nvSpPr>
          <p:cNvPr id="13315" name="Rectangle 25"/>
          <p:cNvSpPr>
            <a:spLocks noChangeArrowheads="1"/>
          </p:cNvSpPr>
          <p:nvPr/>
        </p:nvSpPr>
        <p:spPr bwMode="auto">
          <a:xfrm>
            <a:off x="2667000" y="3499005"/>
            <a:ext cx="2667000" cy="539595"/>
          </a:xfrm>
          <a:prstGeom prst="rect">
            <a:avLst/>
          </a:prstGeom>
          <a:solidFill>
            <a:srgbClr val="F1C7C7"/>
          </a:solidFill>
          <a:ln w="25400">
            <a:noFill/>
            <a:miter lim="800000"/>
          </a:ln>
        </p:spPr>
        <p:txBody>
          <a:bodyPr wrap="none" anchor="ctr"/>
          <a:lstStyle/>
          <a:p>
            <a:pPr eaLnBrk="0" hangingPunct="0"/>
            <a:endParaRPr lang="en-US" sz="1800">
              <a:latin typeface="Calibri" panose="020F0502020204030204" charset="0"/>
            </a:endParaRPr>
          </a:p>
        </p:txBody>
      </p:sp>
      <p:sp>
        <p:nvSpPr>
          <p:cNvPr id="32" name="Rectangle 25"/>
          <p:cNvSpPr>
            <a:spLocks noChangeArrowheads="1"/>
          </p:cNvSpPr>
          <p:nvPr/>
        </p:nvSpPr>
        <p:spPr bwMode="auto">
          <a:xfrm>
            <a:off x="2667000" y="2073275"/>
            <a:ext cx="2667000" cy="304800"/>
          </a:xfrm>
          <a:prstGeom prst="rect">
            <a:avLst/>
          </a:prstGeom>
          <a:solidFill>
            <a:schemeClr val="accent2">
              <a:lumMod val="20000"/>
              <a:lumOff val="80000"/>
            </a:schemeClr>
          </a:solidFill>
          <a:ln w="25400">
            <a:noFill/>
            <a:miter lim="800000"/>
          </a:ln>
          <a:effectLst/>
        </p:spPr>
        <p:txBody>
          <a:bodyPr wrap="none" anchor="ctr"/>
          <a:lstStyle/>
          <a:p>
            <a:pPr eaLnBrk="0" hangingPunct="0">
              <a:defRPr/>
            </a:pPr>
            <a:endParaRPr lang="en-US" sz="1800" dirty="0">
              <a:latin typeface="Calibri" panose="020F0502020204030204" charset="0"/>
              <a:cs typeface="+mn-cs"/>
            </a:endParaRPr>
          </a:p>
        </p:txBody>
      </p:sp>
      <p:sp>
        <p:nvSpPr>
          <p:cNvPr id="13317" name="Rectangle 25"/>
          <p:cNvSpPr>
            <a:spLocks noChangeArrowheads="1"/>
          </p:cNvSpPr>
          <p:nvPr/>
        </p:nvSpPr>
        <p:spPr bwMode="auto">
          <a:xfrm>
            <a:off x="2667000" y="2438400"/>
            <a:ext cx="2667000" cy="1066800"/>
          </a:xfrm>
          <a:prstGeom prst="rect">
            <a:avLst/>
          </a:prstGeom>
          <a:solidFill>
            <a:srgbClr val="D5F1CF"/>
          </a:solidFill>
          <a:ln w="25400">
            <a:noFill/>
            <a:miter lim="800000"/>
          </a:ln>
        </p:spPr>
        <p:txBody>
          <a:bodyPr wrap="none" anchor="ctr"/>
          <a:lstStyle/>
          <a:p>
            <a:pPr eaLnBrk="0" hangingPunct="0"/>
            <a:endParaRPr lang="en-US" sz="1800">
              <a:latin typeface="Calibri" panose="020F0502020204030204" charset="0"/>
            </a:endParaRPr>
          </a:p>
        </p:txBody>
      </p:sp>
      <p:sp>
        <p:nvSpPr>
          <p:cNvPr id="13319" name="Rectangle 3"/>
          <p:cNvSpPr>
            <a:spLocks noChangeArrowheads="1"/>
          </p:cNvSpPr>
          <p:nvPr/>
        </p:nvSpPr>
        <p:spPr bwMode="auto">
          <a:xfrm>
            <a:off x="152400" y="2066925"/>
            <a:ext cx="5638800" cy="2582759"/>
          </a:xfrm>
          <a:prstGeom prst="rect">
            <a:avLst/>
          </a:prstGeom>
          <a:noFill/>
          <a:ln w="12700">
            <a:noFill/>
            <a:miter lim="800000"/>
          </a:ln>
        </p:spPr>
        <p:txBody>
          <a:bodyPr wrap="square" lIns="90487" tIns="44450" rIns="90487" bIns="44450">
            <a:spAutoFit/>
          </a:bodyPr>
          <a:lstStyle/>
          <a:p>
            <a:pPr eaLnBrk="0" hangingPunct="0">
              <a:tabLst>
                <a:tab pos="2511425" algn="l"/>
              </a:tabLst>
            </a:pPr>
            <a:r>
              <a:rPr lang="en-US" sz="1800" dirty="0">
                <a:latin typeface="Courier New" panose="02070309020205020404" charset="0"/>
              </a:rPr>
              <a:t>local	0x00007ffe4d3be87c </a:t>
            </a:r>
          </a:p>
          <a:p>
            <a:pPr eaLnBrk="0" hangingPunct="0">
              <a:tabLst>
                <a:tab pos="2511425" algn="l"/>
              </a:tabLst>
            </a:pPr>
            <a:r>
              <a:rPr lang="en-US" sz="1800" dirty="0">
                <a:latin typeface="Courier New" panose="02070309020205020404" charset="0"/>
              </a:rPr>
              <a:t>p1 	0x00007f7262a1e010 </a:t>
            </a:r>
          </a:p>
          <a:p>
            <a:pPr eaLnBrk="0" hangingPunct="0">
              <a:tabLst>
                <a:tab pos="2511425" algn="l"/>
              </a:tabLst>
            </a:pPr>
            <a:r>
              <a:rPr lang="en-US" sz="1800" dirty="0">
                <a:latin typeface="Courier New" panose="02070309020205020404" charset="0"/>
              </a:rPr>
              <a:t>p3 	0x00007f7162a1d010 </a:t>
            </a:r>
          </a:p>
          <a:p>
            <a:pPr eaLnBrk="0" hangingPunct="0">
              <a:tabLst>
                <a:tab pos="2511425" algn="l"/>
              </a:tabLst>
            </a:pPr>
            <a:r>
              <a:rPr lang="en-US" sz="1800" dirty="0">
                <a:latin typeface="Courier New" panose="02070309020205020404" charset="0"/>
              </a:rPr>
              <a:t>p4	0x000000008359d120 </a:t>
            </a:r>
          </a:p>
          <a:p>
            <a:pPr eaLnBrk="0" hangingPunct="0">
              <a:tabLst>
                <a:tab pos="2511425" algn="l"/>
              </a:tabLst>
            </a:pPr>
            <a:r>
              <a:rPr lang="en-US" sz="1800" dirty="0">
                <a:latin typeface="Courier New" panose="02070309020205020404" charset="0"/>
              </a:rPr>
              <a:t>p2	0x000000008359d010 </a:t>
            </a:r>
          </a:p>
          <a:p>
            <a:pPr eaLnBrk="0" hangingPunct="0">
              <a:tabLst>
                <a:tab pos="2511425" algn="l"/>
              </a:tabLst>
            </a:pPr>
            <a:r>
              <a:rPr lang="en-US" sz="1800" dirty="0" err="1">
                <a:latin typeface="Courier New" panose="02070309020205020404" charset="0"/>
              </a:rPr>
              <a:t>big_array</a:t>
            </a:r>
            <a:r>
              <a:rPr lang="en-US" sz="1800" dirty="0">
                <a:latin typeface="Courier New" panose="02070309020205020404" charset="0"/>
              </a:rPr>
              <a:t> 	0x0000000080601060 </a:t>
            </a:r>
          </a:p>
          <a:p>
            <a:pPr eaLnBrk="0" hangingPunct="0">
              <a:tabLst>
                <a:tab pos="2511425" algn="l"/>
              </a:tabLst>
            </a:pPr>
            <a:r>
              <a:rPr lang="en-US" sz="1800" dirty="0" err="1">
                <a:latin typeface="Courier New" panose="02070309020205020404" charset="0"/>
              </a:rPr>
              <a:t>huge_array</a:t>
            </a:r>
            <a:r>
              <a:rPr lang="en-US" sz="1800" dirty="0">
                <a:latin typeface="Courier New" panose="02070309020205020404" charset="0"/>
              </a:rPr>
              <a:t> 	0x0000000000601060 </a:t>
            </a:r>
          </a:p>
          <a:p>
            <a:pPr eaLnBrk="0" hangingPunct="0">
              <a:tabLst>
                <a:tab pos="2511425" algn="l"/>
              </a:tabLst>
            </a:pPr>
            <a:r>
              <a:rPr lang="en-US" sz="1800" dirty="0">
                <a:latin typeface="Courier New" panose="02070309020205020404" charset="0"/>
              </a:rPr>
              <a:t>main()	0x000000000040060c</a:t>
            </a:r>
          </a:p>
          <a:p>
            <a:pPr eaLnBrk="0" hangingPunct="0">
              <a:tabLst>
                <a:tab pos="2511425" algn="l"/>
              </a:tabLst>
            </a:pPr>
            <a:r>
              <a:rPr lang="en-US" sz="1800" dirty="0">
                <a:latin typeface="Courier New" panose="02070309020205020404" charset="0"/>
              </a:rPr>
              <a:t>useless() 	0x0000000000400590</a:t>
            </a:r>
          </a:p>
        </p:txBody>
      </p:sp>
      <p:sp>
        <p:nvSpPr>
          <p:cNvPr id="438308" name="Text Box 36"/>
          <p:cNvSpPr txBox="1">
            <a:spLocks noChangeArrowheads="1"/>
          </p:cNvSpPr>
          <p:nvPr/>
        </p:nvSpPr>
        <p:spPr bwMode="auto">
          <a:xfrm>
            <a:off x="457200" y="1214438"/>
            <a:ext cx="1437640" cy="368300"/>
          </a:xfrm>
          <a:prstGeom prst="rect">
            <a:avLst/>
          </a:prstGeom>
          <a:noFill/>
          <a:ln w="19050">
            <a:noFill/>
            <a:miter lim="800000"/>
            <a:tailEnd type="none" w="sm" len="sm"/>
          </a:ln>
          <a:effectLst/>
        </p:spPr>
        <p:txBody>
          <a:bodyPr wrap="none" lIns="45720" rIns="45720">
            <a:spAutoFit/>
          </a:bodyPr>
          <a:lstStyle/>
          <a:p>
            <a:pPr eaLnBrk="0" hangingPunct="0">
              <a:defRPr/>
            </a:pPr>
            <a:r>
              <a:rPr lang="zh-CN" altLang="en-US" i="1" dirty="0">
                <a:solidFill>
                  <a:schemeClr val="tx1">
                    <a:lumMod val="50000"/>
                    <a:lumOff val="50000"/>
                  </a:schemeClr>
                </a:solidFill>
                <a:latin typeface="Calibri" panose="020F0502020204030204" charset="0"/>
                <a:cs typeface="+mn-cs"/>
              </a:rPr>
              <a:t>地址范围</a:t>
            </a:r>
            <a:r>
              <a:rPr lang="en-US" i="1" dirty="0">
                <a:solidFill>
                  <a:schemeClr val="tx1">
                    <a:lumMod val="50000"/>
                    <a:lumOff val="50000"/>
                  </a:schemeClr>
                </a:solidFill>
                <a:latin typeface="Calibri" panose="020F0502020204030204" charset="0"/>
                <a:cs typeface="+mn-cs"/>
              </a:rPr>
              <a:t> ~2</a:t>
            </a:r>
            <a:r>
              <a:rPr lang="en-US" i="1" baseline="30000" dirty="0">
                <a:solidFill>
                  <a:schemeClr val="tx1">
                    <a:lumMod val="50000"/>
                    <a:lumOff val="50000"/>
                  </a:schemeClr>
                </a:solidFill>
                <a:latin typeface="Calibri" panose="020F0502020204030204" charset="0"/>
                <a:cs typeface="+mn-cs"/>
              </a:rPr>
              <a:t>47</a:t>
            </a:r>
          </a:p>
        </p:txBody>
      </p:sp>
      <p:sp>
        <p:nvSpPr>
          <p:cNvPr id="19" name="Rectangle 20"/>
          <p:cNvSpPr>
            <a:spLocks noChangeArrowheads="1"/>
          </p:cNvSpPr>
          <p:nvPr/>
        </p:nvSpPr>
        <p:spPr bwMode="auto">
          <a:xfrm>
            <a:off x="6858000" y="892175"/>
            <a:ext cx="1447800" cy="5584825"/>
          </a:xfrm>
          <a:prstGeom prst="rect">
            <a:avLst/>
          </a:prstGeom>
          <a:solidFill>
            <a:schemeClr val="bg1">
              <a:lumMod val="95000"/>
            </a:schemeClr>
          </a:solidFill>
          <a:ln w="25400">
            <a:solidFill>
              <a:schemeClr val="tx1"/>
            </a:solidFill>
            <a:miter lim="800000"/>
          </a:ln>
          <a:effectLst/>
        </p:spPr>
        <p:txBody>
          <a:bodyPr wrap="none" anchor="ctr"/>
          <a:lstStyle/>
          <a:p>
            <a:pPr eaLnBrk="0" hangingPunct="0">
              <a:defRPr/>
            </a:pPr>
            <a:endParaRPr lang="en-US" dirty="0">
              <a:latin typeface="Calibri" panose="020F0502020204030204" charset="0"/>
              <a:cs typeface="+mn-cs"/>
            </a:endParaRPr>
          </a:p>
        </p:txBody>
      </p:sp>
      <p:sp>
        <p:nvSpPr>
          <p:cNvPr id="13325" name="Rectangle 23"/>
          <p:cNvSpPr>
            <a:spLocks noChangeArrowheads="1"/>
          </p:cNvSpPr>
          <p:nvPr/>
        </p:nvSpPr>
        <p:spPr bwMode="auto">
          <a:xfrm>
            <a:off x="6858000" y="5867400"/>
            <a:ext cx="1447800" cy="304800"/>
          </a:xfrm>
          <a:prstGeom prst="rect">
            <a:avLst/>
          </a:prstGeom>
          <a:solidFill>
            <a:srgbClr val="F6F5BD"/>
          </a:solidFill>
          <a:ln w="25400">
            <a:solidFill>
              <a:schemeClr val="tx1"/>
            </a:solidFill>
            <a:miter lim="800000"/>
          </a:ln>
        </p:spPr>
        <p:txBody>
          <a:bodyPr wrap="none" anchor="ctr"/>
          <a:lstStyle/>
          <a:p>
            <a:pPr eaLnBrk="0" hangingPunct="0"/>
            <a:r>
              <a:rPr lang="en-US" sz="1800">
                <a:latin typeface="Calibri" panose="020F0502020204030204" charset="0"/>
              </a:rPr>
              <a:t>Text</a:t>
            </a:r>
          </a:p>
        </p:txBody>
      </p:sp>
      <p:sp>
        <p:nvSpPr>
          <p:cNvPr id="13326" name="Rectangle 24"/>
          <p:cNvSpPr>
            <a:spLocks noChangeArrowheads="1"/>
          </p:cNvSpPr>
          <p:nvPr/>
        </p:nvSpPr>
        <p:spPr bwMode="auto">
          <a:xfrm>
            <a:off x="6858000" y="5562600"/>
            <a:ext cx="1447800" cy="304800"/>
          </a:xfrm>
          <a:prstGeom prst="rect">
            <a:avLst/>
          </a:prstGeom>
          <a:solidFill>
            <a:srgbClr val="F1C7C7"/>
          </a:solidFill>
          <a:ln w="25400">
            <a:solidFill>
              <a:schemeClr val="tx1"/>
            </a:solidFill>
            <a:miter lim="800000"/>
          </a:ln>
        </p:spPr>
        <p:txBody>
          <a:bodyPr wrap="none" anchor="ctr"/>
          <a:lstStyle/>
          <a:p>
            <a:pPr eaLnBrk="0" hangingPunct="0"/>
            <a:r>
              <a:rPr lang="en-US" sz="1800">
                <a:latin typeface="Calibri" panose="020F0502020204030204" charset="0"/>
              </a:rPr>
              <a:t>Data</a:t>
            </a:r>
          </a:p>
        </p:txBody>
      </p:sp>
      <p:sp>
        <p:nvSpPr>
          <p:cNvPr id="13327" name="Rectangle 25"/>
          <p:cNvSpPr>
            <a:spLocks noChangeArrowheads="1"/>
          </p:cNvSpPr>
          <p:nvPr/>
        </p:nvSpPr>
        <p:spPr bwMode="auto">
          <a:xfrm>
            <a:off x="6858000" y="4267200"/>
            <a:ext cx="1447800" cy="1295400"/>
          </a:xfrm>
          <a:prstGeom prst="rect">
            <a:avLst/>
          </a:prstGeom>
          <a:solidFill>
            <a:srgbClr val="D5F1CF"/>
          </a:solidFill>
          <a:ln w="25400">
            <a:solidFill>
              <a:schemeClr val="tx1"/>
            </a:solidFill>
            <a:miter lim="800000"/>
          </a:ln>
        </p:spPr>
        <p:txBody>
          <a:bodyPr wrap="none" anchor="ctr"/>
          <a:lstStyle/>
          <a:p>
            <a:pPr eaLnBrk="0" hangingPunct="0"/>
            <a:r>
              <a:rPr lang="en-US" sz="1800" dirty="0">
                <a:latin typeface="Calibri" panose="020F0502020204030204" charset="0"/>
              </a:rPr>
              <a:t>Heap</a:t>
            </a:r>
          </a:p>
        </p:txBody>
      </p:sp>
      <p:sp>
        <p:nvSpPr>
          <p:cNvPr id="13328" name="Line 34"/>
          <p:cNvSpPr>
            <a:spLocks noChangeShapeType="1"/>
          </p:cNvSpPr>
          <p:nvPr/>
        </p:nvSpPr>
        <p:spPr bwMode="auto">
          <a:xfrm>
            <a:off x="7581900" y="1038225"/>
            <a:ext cx="0" cy="457200"/>
          </a:xfrm>
          <a:prstGeom prst="line">
            <a:avLst/>
          </a:prstGeom>
          <a:noFill/>
          <a:ln w="38100">
            <a:solidFill>
              <a:schemeClr val="tx2"/>
            </a:solidFill>
            <a:round/>
            <a:tailEnd type="triangle" w="med" len="med"/>
          </a:ln>
        </p:spPr>
        <p:txBody>
          <a:bodyPr wrap="none" lIns="45720" rIns="45720" anchor="ctr">
            <a:spAutoFit/>
          </a:bodyPr>
          <a:lstStyle/>
          <a:p>
            <a:endParaRPr lang="en-US"/>
          </a:p>
        </p:txBody>
      </p:sp>
      <p:sp>
        <p:nvSpPr>
          <p:cNvPr id="13329" name="Line 35"/>
          <p:cNvSpPr>
            <a:spLocks noChangeShapeType="1"/>
          </p:cNvSpPr>
          <p:nvPr/>
        </p:nvSpPr>
        <p:spPr bwMode="auto">
          <a:xfrm flipV="1">
            <a:off x="7581900" y="4038600"/>
            <a:ext cx="0" cy="228600"/>
          </a:xfrm>
          <a:prstGeom prst="line">
            <a:avLst/>
          </a:prstGeom>
          <a:noFill/>
          <a:ln w="38100">
            <a:solidFill>
              <a:schemeClr val="tx2"/>
            </a:solidFill>
            <a:round/>
            <a:tailEnd type="triangle" w="med" len="med"/>
          </a:ln>
        </p:spPr>
        <p:txBody>
          <a:bodyPr wrap="none" lIns="45720" rIns="45720" anchor="ctr">
            <a:spAutoFit/>
          </a:bodyPr>
          <a:lstStyle/>
          <a:p>
            <a:endParaRPr lang="en-US"/>
          </a:p>
        </p:txBody>
      </p:sp>
      <p:sp>
        <p:nvSpPr>
          <p:cNvPr id="21" name="Rectangle 25"/>
          <p:cNvSpPr>
            <a:spLocks noChangeArrowheads="1"/>
          </p:cNvSpPr>
          <p:nvPr/>
        </p:nvSpPr>
        <p:spPr bwMode="auto">
          <a:xfrm>
            <a:off x="6858000" y="1600200"/>
            <a:ext cx="1447800" cy="609600"/>
          </a:xfrm>
          <a:prstGeom prst="rect">
            <a:avLst/>
          </a:prstGeom>
          <a:solidFill>
            <a:srgbClr val="D5F1CF"/>
          </a:solidFill>
          <a:ln w="25400">
            <a:solidFill>
              <a:schemeClr val="tx1"/>
            </a:solidFill>
            <a:miter lim="800000"/>
          </a:ln>
        </p:spPr>
        <p:txBody>
          <a:bodyPr wrap="none" anchor="ctr"/>
          <a:lstStyle/>
          <a:p>
            <a:pPr eaLnBrk="0" hangingPunct="0"/>
            <a:r>
              <a:rPr lang="en-US" sz="1800" dirty="0">
                <a:latin typeface="Calibri" panose="020F0502020204030204" charset="0"/>
              </a:rPr>
              <a:t>Heap</a:t>
            </a:r>
          </a:p>
        </p:txBody>
      </p:sp>
      <p:sp>
        <p:nvSpPr>
          <p:cNvPr id="22" name="Line 35"/>
          <p:cNvSpPr>
            <a:spLocks noChangeShapeType="1"/>
          </p:cNvSpPr>
          <p:nvPr/>
        </p:nvSpPr>
        <p:spPr bwMode="auto">
          <a:xfrm>
            <a:off x="7581900" y="2209800"/>
            <a:ext cx="0" cy="228600"/>
          </a:xfrm>
          <a:prstGeom prst="line">
            <a:avLst/>
          </a:prstGeom>
          <a:noFill/>
          <a:ln w="38100">
            <a:solidFill>
              <a:schemeClr val="tx2"/>
            </a:solidFill>
            <a:round/>
            <a:tailEnd type="triangle" w="med" len="med"/>
          </a:ln>
        </p:spPr>
        <p:txBody>
          <a:bodyPr wrap="none" lIns="45720" rIns="45720" anchor="ctr">
            <a:spAutoFit/>
          </a:bodyPr>
          <a:lstStyle/>
          <a:p>
            <a:endParaRPr lang="en-US"/>
          </a:p>
        </p:txBody>
      </p:sp>
      <p:sp>
        <p:nvSpPr>
          <p:cNvPr id="20" name="Rectangle 21"/>
          <p:cNvSpPr>
            <a:spLocks noChangeArrowheads="1"/>
          </p:cNvSpPr>
          <p:nvPr/>
        </p:nvSpPr>
        <p:spPr bwMode="auto">
          <a:xfrm>
            <a:off x="6858000" y="885825"/>
            <a:ext cx="1447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eaLnBrk="0" hangingPunct="0">
              <a:defRPr/>
            </a:pPr>
            <a:r>
              <a:rPr lang="en-US" sz="1800" dirty="0">
                <a:latin typeface="Calibri" panose="020F0502020204030204" charset="0"/>
                <a:cs typeface="+mn-cs"/>
              </a:rPr>
              <a:t>Stack</a:t>
            </a:r>
          </a:p>
        </p:txBody>
      </p:sp>
      <p:grpSp>
        <p:nvGrpSpPr>
          <p:cNvPr id="7" name="Group 6"/>
          <p:cNvGrpSpPr/>
          <p:nvPr/>
        </p:nvGrpSpPr>
        <p:grpSpPr>
          <a:xfrm>
            <a:off x="5334000" y="1752600"/>
            <a:ext cx="1544638" cy="3303759"/>
            <a:chOff x="4841481" y="1752600"/>
            <a:chExt cx="2037157" cy="3303759"/>
          </a:xfrm>
        </p:grpSpPr>
        <p:cxnSp>
          <p:nvCxnSpPr>
            <p:cNvPr id="5" name="Straight Arrow Connector 2"/>
            <p:cNvCxnSpPr/>
            <p:nvPr/>
          </p:nvCxnSpPr>
          <p:spPr bwMode="auto">
            <a:xfrm flipV="1">
              <a:off x="4876800" y="1752600"/>
              <a:ext cx="2001838" cy="762000"/>
            </a:xfrm>
            <a:prstGeom prst="straightConnector1">
              <a:avLst/>
            </a:prstGeom>
            <a:noFill/>
            <a:ln w="25400" cap="flat" cmpd="sng" algn="ctr">
              <a:solidFill>
                <a:schemeClr val="tx1">
                  <a:lumMod val="50000"/>
                  <a:lumOff val="50000"/>
                </a:schemeClr>
              </a:solidFill>
              <a:prstDash val="solid"/>
              <a:round/>
              <a:headEnd type="none" w="med" len="med"/>
              <a:tailEnd type="arrow"/>
            </a:ln>
            <a:effectLst/>
          </p:spPr>
        </p:cxnSp>
        <p:cxnSp>
          <p:nvCxnSpPr>
            <p:cNvPr id="25" name="Straight Arrow Connector 24"/>
            <p:cNvCxnSpPr/>
            <p:nvPr/>
          </p:nvCxnSpPr>
          <p:spPr bwMode="auto">
            <a:xfrm flipV="1">
              <a:off x="4876800" y="2073275"/>
              <a:ext cx="2001838" cy="746125"/>
            </a:xfrm>
            <a:prstGeom prst="straightConnector1">
              <a:avLst/>
            </a:prstGeom>
            <a:noFill/>
            <a:ln w="25400" cap="flat" cmpd="sng" algn="ctr">
              <a:solidFill>
                <a:schemeClr val="tx1">
                  <a:lumMod val="50000"/>
                  <a:lumOff val="50000"/>
                </a:schemeClr>
              </a:solidFill>
              <a:prstDash val="solid"/>
              <a:round/>
              <a:headEnd type="none" w="med" len="med"/>
              <a:tailEnd type="arrow"/>
            </a:ln>
            <a:effectLst/>
          </p:spPr>
        </p:cxnSp>
        <p:cxnSp>
          <p:nvCxnSpPr>
            <p:cNvPr id="6" name="Straight Arrow Connector 25"/>
            <p:cNvCxnSpPr/>
            <p:nvPr/>
          </p:nvCxnSpPr>
          <p:spPr bwMode="auto">
            <a:xfrm>
              <a:off x="4870380" y="3066106"/>
              <a:ext cx="2008258" cy="1658294"/>
            </a:xfrm>
            <a:prstGeom prst="straightConnector1">
              <a:avLst/>
            </a:prstGeom>
            <a:noFill/>
            <a:ln w="25400" cap="flat" cmpd="sng" algn="ctr">
              <a:solidFill>
                <a:schemeClr val="tx1">
                  <a:lumMod val="50000"/>
                  <a:lumOff val="50000"/>
                </a:schemeClr>
              </a:solidFill>
              <a:prstDash val="solid"/>
              <a:round/>
              <a:headEnd type="none" w="med" len="med"/>
              <a:tailEnd type="arrow"/>
            </a:ln>
            <a:effectLst/>
          </p:spPr>
        </p:cxnSp>
        <p:cxnSp>
          <p:nvCxnSpPr>
            <p:cNvPr id="8" name="Straight Arrow Connector 28"/>
            <p:cNvCxnSpPr/>
            <p:nvPr/>
          </p:nvCxnSpPr>
          <p:spPr bwMode="auto">
            <a:xfrm>
              <a:off x="4841481" y="3398065"/>
              <a:ext cx="2008258" cy="1658294"/>
            </a:xfrm>
            <a:prstGeom prst="straightConnector1">
              <a:avLst/>
            </a:prstGeom>
            <a:noFill/>
            <a:ln w="25400" cap="flat" cmpd="sng" algn="ctr">
              <a:solidFill>
                <a:schemeClr val="tx1">
                  <a:lumMod val="50000"/>
                  <a:lumOff val="50000"/>
                </a:schemeClr>
              </a:solidFill>
              <a:prstDash val="solid"/>
              <a:round/>
              <a:headEnd type="none" w="med" len="med"/>
              <a:tailEnd type="arrow"/>
            </a:ln>
            <a:effectLst/>
          </p:spPr>
        </p:cxnSp>
      </p:gr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93255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rPr>
              <a:t>内存引用错误</a:t>
            </a:r>
            <a:r>
              <a:rPr lang="zh-CN" sz="2800">
                <a:solidFill>
                  <a:schemeClr val="tx1">
                    <a:lumMod val="65000"/>
                    <a:lumOff val="35000"/>
                  </a:schemeClr>
                </a:solidFill>
              </a:rPr>
              <a:t>示范</a:t>
            </a:r>
          </a:p>
        </p:txBody>
      </p:sp>
      <p:sp>
        <p:nvSpPr>
          <p:cNvPr id="18436" name="Rectangle 4"/>
          <p:cNvSpPr/>
          <p:nvPr/>
        </p:nvSpPr>
        <p:spPr bwMode="auto">
          <a:xfrm>
            <a:off x="838200" y="1295400"/>
            <a:ext cx="6553200" cy="2844800"/>
          </a:xfrm>
          <a:prstGeom prst="rect">
            <a:avLst/>
          </a:prstGeom>
          <a:solidFill>
            <a:srgbClr val="F8F6D9"/>
          </a:solidFill>
          <a:ln w="6350" cap="flat">
            <a:solidFill>
              <a:schemeClr val="tx1"/>
            </a:solidFill>
            <a:prstDash val="solid"/>
            <a:miter lim="800000"/>
            <a:headEnd type="none" w="med" len="med"/>
            <a:tailEnd type="none" w="med" len="med"/>
          </a:ln>
        </p:spPr>
        <p:txBody>
          <a:bodyPr lIns="63500" tIns="63500" rIns="63500" bIns="63500"/>
          <a:lstStyle/>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err="1">
                <a:solidFill>
                  <a:schemeClr val="tx1"/>
                </a:solidFill>
                <a:latin typeface="Courier New" panose="02070309020205020404"/>
                <a:ea typeface="Monaco" charset="0"/>
                <a:cs typeface="Courier New" panose="02070309020205020404"/>
                <a:sym typeface="Monaco" charset="0"/>
              </a:rPr>
              <a:t>typedef</a:t>
            </a: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struct</a:t>
            </a:r>
            <a:r>
              <a:rPr lang="en-US" sz="1600" b="1" dirty="0">
                <a:solidFill>
                  <a:schemeClr val="tx1"/>
                </a:solidFill>
                <a:latin typeface="Courier New" panose="02070309020205020404"/>
                <a:ea typeface="Monaco" charset="0"/>
                <a:cs typeface="Courier New" panose="02070309020205020404"/>
                <a:sym typeface="Monaco" charset="0"/>
              </a:rPr>
              <a:t> {</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int</a:t>
            </a:r>
            <a:r>
              <a:rPr lang="en-US" sz="1600" b="1" dirty="0">
                <a:solidFill>
                  <a:schemeClr val="tx1"/>
                </a:solidFill>
                <a:latin typeface="Courier New" panose="02070309020205020404"/>
                <a:ea typeface="Monaco" charset="0"/>
                <a:cs typeface="Courier New" panose="02070309020205020404"/>
                <a:sym typeface="Monaco" charset="0"/>
              </a:rPr>
              <a:t> a[2];</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double d;</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struct_t</a:t>
            </a:r>
            <a:r>
              <a:rPr lang="en-US" sz="1600" b="1" dirty="0">
                <a:solidFill>
                  <a:schemeClr val="tx1"/>
                </a:solidFill>
                <a:latin typeface="Courier New" panose="02070309020205020404"/>
                <a:ea typeface="Monaco" charset="0"/>
                <a:cs typeface="Courier New" panose="02070309020205020404"/>
                <a:sym typeface="Monaco" charset="0"/>
              </a:rPr>
              <a:t>;</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endParaRPr lang="en-US" sz="1600" b="1" dirty="0">
              <a:solidFill>
                <a:schemeClr val="tx1"/>
              </a:solidFill>
              <a:latin typeface="Courier New" panose="02070309020205020404"/>
              <a:ea typeface="Monaco" charset="0"/>
              <a:cs typeface="Courier New" panose="02070309020205020404"/>
              <a:sym typeface="Monaco" charset="0"/>
            </a:endParaRP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double fun(</a:t>
            </a:r>
            <a:r>
              <a:rPr lang="en-US" sz="1600" b="1" dirty="0" err="1">
                <a:solidFill>
                  <a:schemeClr val="tx1"/>
                </a:solidFill>
                <a:latin typeface="Courier New" panose="02070309020205020404"/>
                <a:ea typeface="Monaco" charset="0"/>
                <a:cs typeface="Courier New" panose="02070309020205020404"/>
                <a:sym typeface="Monaco" charset="0"/>
              </a:rPr>
              <a:t>int</a:t>
            </a: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i</a:t>
            </a:r>
            <a:r>
              <a:rPr lang="en-US" sz="1600" b="1" dirty="0">
                <a:solidFill>
                  <a:schemeClr val="tx1"/>
                </a:solidFill>
                <a:latin typeface="Courier New" panose="02070309020205020404"/>
                <a:ea typeface="Monaco" charset="0"/>
                <a:cs typeface="Courier New" panose="02070309020205020404"/>
                <a:sym typeface="Monaco" charset="0"/>
              </a:rPr>
              <a:t>) {</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volatile </a:t>
            </a:r>
            <a:r>
              <a:rPr lang="en-US" sz="1600" b="1" dirty="0" err="1">
                <a:solidFill>
                  <a:schemeClr val="tx1"/>
                </a:solidFill>
                <a:latin typeface="Courier New" panose="02070309020205020404"/>
                <a:ea typeface="Monaco" charset="0"/>
                <a:cs typeface="Courier New" panose="02070309020205020404"/>
                <a:sym typeface="Monaco" charset="0"/>
              </a:rPr>
              <a:t>struct_t</a:t>
            </a:r>
            <a:r>
              <a:rPr lang="en-US" sz="1600" b="1" dirty="0">
                <a:solidFill>
                  <a:schemeClr val="tx1"/>
                </a:solidFill>
                <a:latin typeface="Courier New" panose="02070309020205020404"/>
                <a:ea typeface="Monaco" charset="0"/>
                <a:cs typeface="Courier New" panose="02070309020205020404"/>
                <a:sym typeface="Monaco" charset="0"/>
              </a:rPr>
              <a:t> s;</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s.d</a:t>
            </a:r>
            <a:r>
              <a:rPr lang="en-US" sz="1600" b="1" dirty="0">
                <a:solidFill>
                  <a:schemeClr val="tx1"/>
                </a:solidFill>
                <a:latin typeface="Courier New" panose="02070309020205020404"/>
                <a:ea typeface="Monaco" charset="0"/>
                <a:cs typeface="Courier New" panose="02070309020205020404"/>
                <a:sym typeface="Monaco" charset="0"/>
              </a:rPr>
              <a:t> = 3.14;</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s.a</a:t>
            </a:r>
            <a:r>
              <a:rPr lang="en-US" sz="1600" b="1" dirty="0">
                <a:solidFill>
                  <a:schemeClr val="tx1"/>
                </a:solidFill>
                <a:latin typeface="Courier New" panose="02070309020205020404"/>
                <a:ea typeface="Monaco" charset="0"/>
                <a:cs typeface="Courier New" panose="02070309020205020404"/>
                <a:sym typeface="Monaco" charset="0"/>
              </a:rPr>
              <a:t>[</a:t>
            </a:r>
            <a:r>
              <a:rPr lang="en-US" sz="1600" b="1" dirty="0" err="1">
                <a:solidFill>
                  <a:schemeClr val="tx1"/>
                </a:solidFill>
                <a:latin typeface="Courier New" panose="02070309020205020404"/>
                <a:ea typeface="Monaco" charset="0"/>
                <a:cs typeface="Courier New" panose="02070309020205020404"/>
                <a:sym typeface="Monaco" charset="0"/>
              </a:rPr>
              <a:t>i</a:t>
            </a:r>
            <a:r>
              <a:rPr lang="en-US" sz="1600" b="1" dirty="0">
                <a:solidFill>
                  <a:schemeClr val="tx1"/>
                </a:solidFill>
                <a:latin typeface="Courier New" panose="02070309020205020404"/>
                <a:ea typeface="Monaco" charset="0"/>
                <a:cs typeface="Courier New" panose="02070309020205020404"/>
                <a:sym typeface="Monaco" charset="0"/>
              </a:rPr>
              <a:t>] = 1073741824; /* Possibly out of bounds */</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return </a:t>
            </a:r>
            <a:r>
              <a:rPr lang="en-US" sz="1600" b="1" dirty="0" err="1">
                <a:solidFill>
                  <a:schemeClr val="tx1"/>
                </a:solidFill>
                <a:latin typeface="Courier New" panose="02070309020205020404"/>
                <a:ea typeface="Monaco" charset="0"/>
                <a:cs typeface="Courier New" panose="02070309020205020404"/>
                <a:sym typeface="Monaco" charset="0"/>
              </a:rPr>
              <a:t>s.d</a:t>
            </a:r>
            <a:r>
              <a:rPr lang="en-US" sz="1600" b="1" dirty="0">
                <a:solidFill>
                  <a:schemeClr val="tx1"/>
                </a:solidFill>
                <a:latin typeface="Courier New" panose="02070309020205020404"/>
                <a:ea typeface="Monaco" charset="0"/>
                <a:cs typeface="Courier New" panose="02070309020205020404"/>
                <a:sym typeface="Monaco" charset="0"/>
              </a:rPr>
              <a:t>;</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a:t>
            </a:r>
          </a:p>
        </p:txBody>
      </p:sp>
      <p:sp>
        <p:nvSpPr>
          <p:cNvPr id="18437" name="Rectangle 5"/>
          <p:cNvSpPr/>
          <p:nvPr/>
        </p:nvSpPr>
        <p:spPr bwMode="auto">
          <a:xfrm>
            <a:off x="825500" y="4267200"/>
            <a:ext cx="7327900" cy="1828800"/>
          </a:xfrm>
          <a:prstGeom prst="rect">
            <a:avLst/>
          </a:prstGeom>
          <a:solidFill>
            <a:srgbClr val="FFFFFF"/>
          </a:solidFill>
          <a:ln w="12700" cap="flat">
            <a:noFill/>
            <a:miter lim="800000"/>
            <a:headEnd type="none" w="med" len="med"/>
            <a:tailEnd type="none" w="med" len="med"/>
          </a:ln>
        </p:spPr>
        <p:txBody>
          <a:bodyPr lIns="38100" tIns="38100" rIns="38100" bIns="38100"/>
          <a:lstStyle/>
          <a:p>
            <a:pPr algn="l"/>
            <a:r>
              <a:rPr lang="en-US" sz="1800" dirty="0">
                <a:solidFill>
                  <a:schemeClr val="tx1"/>
                </a:solidFill>
                <a:latin typeface="Courier New" panose="02070309020205020404" charset="0"/>
                <a:ea typeface="Zapf Dingbats" charset="2"/>
                <a:cs typeface="Zapf Dingbats" charset="2"/>
                <a:sym typeface="Courier New" panose="02070309020205020404" charset="0"/>
              </a:rPr>
              <a:t>fun(0)  -&gt;	3.14</a:t>
            </a:r>
            <a:endParaRPr lang="en-US" sz="2400"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fun(1)  -&gt;</a:t>
            </a:r>
            <a:r>
              <a:rPr lang="en-US" sz="1800" dirty="0">
                <a:solidFill>
                  <a:schemeClr val="tx1"/>
                </a:solidFill>
                <a:latin typeface="Courier New" panose="02070309020205020404" charset="0"/>
                <a:ea typeface="Monaco" charset="0"/>
                <a:cs typeface="Monaco" charset="0"/>
                <a:sym typeface="Courier New" panose="02070309020205020404" charset="0"/>
              </a:rPr>
              <a:t>	3.14</a:t>
            </a:r>
            <a:endParaRPr lang="en-US" sz="2400"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fun(2)  -&gt;</a:t>
            </a:r>
            <a:r>
              <a:rPr lang="en-US" sz="1800" dirty="0">
                <a:solidFill>
                  <a:schemeClr val="tx1"/>
                </a:solidFill>
                <a:latin typeface="Courier New" panose="02070309020205020404" charset="0"/>
                <a:ea typeface="Monaco" charset="0"/>
                <a:cs typeface="Monaco" charset="0"/>
                <a:sym typeface="Courier New" panose="02070309020205020404" charset="0"/>
              </a:rPr>
              <a:t>	3.1399998664856</a:t>
            </a:r>
            <a:endParaRPr lang="en-US" sz="2400"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fun(3)  -&gt;</a:t>
            </a:r>
            <a:r>
              <a:rPr lang="en-US" sz="1800" dirty="0">
                <a:solidFill>
                  <a:schemeClr val="tx1"/>
                </a:solidFill>
                <a:latin typeface="Courier New" panose="02070309020205020404" charset="0"/>
                <a:ea typeface="Monaco" charset="0"/>
                <a:cs typeface="Monaco" charset="0"/>
                <a:sym typeface="Courier New" panose="02070309020205020404" charset="0"/>
              </a:rPr>
              <a:t>	2.00000061035156</a:t>
            </a:r>
            <a:endParaRPr lang="en-US" sz="2400"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fun(4)  -&gt;</a:t>
            </a:r>
            <a:r>
              <a:rPr lang="en-US" sz="1800" dirty="0">
                <a:solidFill>
                  <a:schemeClr val="tx1"/>
                </a:solidFill>
                <a:latin typeface="Courier New" panose="02070309020205020404" charset="0"/>
                <a:ea typeface="Monaco" charset="0"/>
                <a:cs typeface="Monaco" charset="0"/>
                <a:sym typeface="Courier New" panose="02070309020205020404" charset="0"/>
              </a:rPr>
              <a:t>	3.14</a:t>
            </a: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fun(6)  -&gt;</a:t>
            </a:r>
            <a:r>
              <a:rPr lang="en-US" sz="1800" dirty="0">
                <a:solidFill>
                  <a:schemeClr val="tx1"/>
                </a:solidFill>
                <a:latin typeface="Courier New" panose="02070309020205020404" charset="0"/>
                <a:ea typeface="Monaco" charset="0"/>
                <a:cs typeface="Monaco" charset="0"/>
                <a:sym typeface="Courier New" panose="02070309020205020404" charset="0"/>
              </a:rPr>
              <a:t>	</a:t>
            </a:r>
            <a:r>
              <a:rPr lang="en-US" sz="1800" dirty="0">
                <a:solidFill>
                  <a:schemeClr val="tx1"/>
                </a:solidFill>
                <a:latin typeface="Calibri" panose="020F0502020204030204"/>
                <a:ea typeface="Monaco" charset="0"/>
                <a:cs typeface="Calibri" panose="020F0502020204030204"/>
                <a:sym typeface="Courier New" panose="02070309020205020404" charset="0"/>
              </a:rPr>
              <a:t>Segmentation fault</a:t>
            </a:r>
            <a:endParaRPr lang="en-US" sz="1800" dirty="0">
              <a:solidFill>
                <a:schemeClr val="tx1"/>
              </a:solidFill>
              <a:latin typeface="Courier New" panose="02070309020205020404" charset="0"/>
              <a:ea typeface="Monaco" charset="0"/>
              <a:cs typeface="Monaco" charset="0"/>
              <a:sym typeface="Courier New" panose="02070309020205020404" charset="0"/>
            </a:endParaRPr>
          </a:p>
        </p:txBody>
      </p:sp>
      <p:sp>
        <p:nvSpPr>
          <p:cNvPr id="749578" name="Text Box 10"/>
          <p:cNvSpPr txBox="1">
            <a:spLocks noChangeArrowheads="1"/>
          </p:cNvSpPr>
          <p:nvPr/>
        </p:nvSpPr>
        <p:spPr bwMode="auto">
          <a:xfrm>
            <a:off x="5027613" y="4584065"/>
            <a:ext cx="4095750" cy="937260"/>
          </a:xfrm>
          <a:prstGeom prst="rect">
            <a:avLst/>
          </a:prstGeom>
          <a:noFill/>
          <a:ln w="9525" algn="ctr">
            <a:noFill/>
            <a:miter lim="800000"/>
          </a:ln>
          <a:effectLst/>
        </p:spPr>
        <p:txBody>
          <a:bodyPr>
            <a:spAutoFit/>
          </a:bodyPr>
          <a:lstStyle/>
          <a:p>
            <a:pPr marL="342900" indent="-342900">
              <a:spcBef>
                <a:spcPct val="50000"/>
              </a:spcBef>
            </a:pPr>
            <a:r>
              <a:rPr lang="zh-CN" altLang="en-US" sz="2200">
                <a:solidFill>
                  <a:srgbClr val="008000"/>
                </a:solidFill>
              </a:rPr>
              <a:t>为什么当 </a:t>
            </a:r>
            <a:r>
              <a:rPr lang="en-US" altLang="zh-CN" sz="2200">
                <a:solidFill>
                  <a:srgbClr val="008000"/>
                </a:solidFill>
              </a:rPr>
              <a:t>i&gt;1 </a:t>
            </a:r>
            <a:r>
              <a:rPr lang="zh-CN" altLang="en-US" sz="2200">
                <a:solidFill>
                  <a:srgbClr val="008000"/>
                </a:solidFill>
              </a:rPr>
              <a:t>就有问题？</a:t>
            </a:r>
          </a:p>
          <a:p>
            <a:pPr marL="342900" indent="-342900">
              <a:spcBef>
                <a:spcPct val="50000"/>
              </a:spcBef>
            </a:pPr>
            <a:r>
              <a:rPr lang="zh-CN" altLang="en-US" sz="2200">
                <a:solidFill>
                  <a:srgbClr val="FF3300"/>
                </a:solidFill>
              </a:rPr>
              <a:t>因为数组访问越界！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7">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3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43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49578">
                                            <p:txEl>
                                              <p:pRg st="0" end="0"/>
                                            </p:txEl>
                                          </p:spTgt>
                                        </p:tgtEl>
                                        <p:attrNameLst>
                                          <p:attrName>style.visibility</p:attrName>
                                        </p:attrNameLst>
                                      </p:cBhvr>
                                      <p:to>
                                        <p:strVal val="visible"/>
                                      </p:to>
                                    </p:set>
                                    <p:animEffect transition="in" filter="blinds(horizontal)">
                                      <p:cBhvr>
                                        <p:cTn id="35" dur="500"/>
                                        <p:tgtEl>
                                          <p:spTgt spid="749578">
                                            <p:txEl>
                                              <p:pRg st="0" end="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749578">
                                            <p:txEl>
                                              <p:pRg st="1" end="1"/>
                                            </p:txEl>
                                          </p:spTgt>
                                        </p:tgtEl>
                                        <p:attrNameLst>
                                          <p:attrName>style.visibility</p:attrName>
                                        </p:attrNameLst>
                                      </p:cBhvr>
                                      <p:to>
                                        <p:strVal val="visible"/>
                                      </p:to>
                                    </p:set>
                                    <p:animEffect transition="in" filter="blinds(horizontal)">
                                      <p:cBhvr>
                                        <p:cTn id="40" dur="500"/>
                                        <p:tgtEl>
                                          <p:spTgt spid="74957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uild="p" animBg="1"/>
    </p:bld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93255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rPr>
              <a:t>内存引用错误</a:t>
            </a:r>
            <a:r>
              <a:rPr lang="zh-CN" sz="2800">
                <a:solidFill>
                  <a:schemeClr val="tx1">
                    <a:lumMod val="65000"/>
                    <a:lumOff val="35000"/>
                  </a:schemeClr>
                </a:solidFill>
              </a:rPr>
              <a:t>示范</a:t>
            </a:r>
          </a:p>
        </p:txBody>
      </p:sp>
      <p:sp>
        <p:nvSpPr>
          <p:cNvPr id="19460" name="Rectangle 4"/>
          <p:cNvSpPr/>
          <p:nvPr/>
        </p:nvSpPr>
        <p:spPr bwMode="auto">
          <a:xfrm>
            <a:off x="1447800" y="1270000"/>
            <a:ext cx="2209800" cy="1320800"/>
          </a:xfrm>
          <a:prstGeom prst="rect">
            <a:avLst/>
          </a:prstGeom>
          <a:solidFill>
            <a:srgbClr val="F8F6D9"/>
          </a:solidFill>
          <a:ln w="6350" cap="flat">
            <a:solidFill>
              <a:schemeClr val="tx1"/>
            </a:solidFill>
            <a:prstDash val="solid"/>
            <a:miter lim="800000"/>
            <a:headEnd type="none" w="med" len="med"/>
            <a:tailEnd type="none" w="med" len="med"/>
          </a:ln>
        </p:spPr>
        <p:txBody>
          <a:bodyPr lIns="63500" tIns="63500" rIns="63500" bIns="63500"/>
          <a:lstStyle/>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err="1">
                <a:solidFill>
                  <a:schemeClr val="tx1"/>
                </a:solidFill>
                <a:latin typeface="Courier New" panose="02070309020205020404"/>
                <a:ea typeface="Monaco" charset="0"/>
                <a:cs typeface="Courier New" panose="02070309020205020404"/>
                <a:sym typeface="Monaco" charset="0"/>
              </a:rPr>
              <a:t>typedef</a:t>
            </a: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struct</a:t>
            </a:r>
            <a:r>
              <a:rPr lang="en-US" sz="1600" b="1" dirty="0">
                <a:solidFill>
                  <a:schemeClr val="tx1"/>
                </a:solidFill>
                <a:latin typeface="Courier New" panose="02070309020205020404"/>
                <a:ea typeface="Monaco" charset="0"/>
                <a:cs typeface="Courier New" panose="02070309020205020404"/>
                <a:sym typeface="Monaco" charset="0"/>
              </a:rPr>
              <a:t> {</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int</a:t>
            </a:r>
            <a:r>
              <a:rPr lang="en-US" sz="1600" b="1" dirty="0">
                <a:solidFill>
                  <a:schemeClr val="tx1"/>
                </a:solidFill>
                <a:latin typeface="Courier New" panose="02070309020205020404"/>
                <a:ea typeface="Monaco" charset="0"/>
                <a:cs typeface="Courier New" panose="02070309020205020404"/>
                <a:sym typeface="Monaco" charset="0"/>
              </a:rPr>
              <a:t> a[2];</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double d;</a:t>
            </a:r>
          </a:p>
          <a:p>
            <a:pPr algn="l">
              <a:tabLst>
                <a:tab pos="914400" algn="l"/>
                <a:tab pos="2286000" algn="l"/>
                <a:tab pos="914400" algn="l"/>
                <a:tab pos="2286000" algn="l"/>
                <a:tab pos="914400" algn="l"/>
                <a:tab pos="2286000" algn="l"/>
                <a:tab pos="914400" algn="l"/>
                <a:tab pos="2286000" algn="l"/>
                <a:tab pos="914400" algn="l"/>
                <a:tab pos="2286000" algn="l"/>
                <a:tab pos="914400" algn="l"/>
                <a:tab pos="2286000" algn="l"/>
                <a:tab pos="914400" algn="l"/>
                <a:tab pos="2286000" algn="l"/>
              </a:tabLst>
            </a:pPr>
            <a:r>
              <a:rPr lang="en-US" sz="1600" b="1" dirty="0">
                <a:solidFill>
                  <a:schemeClr val="tx1"/>
                </a:solidFill>
                <a:latin typeface="Courier New" panose="02070309020205020404"/>
                <a:ea typeface="Monaco" charset="0"/>
                <a:cs typeface="Courier New" panose="02070309020205020404"/>
                <a:sym typeface="Monaco" charset="0"/>
              </a:rPr>
              <a:t>} </a:t>
            </a:r>
            <a:r>
              <a:rPr lang="en-US" sz="1600" b="1" dirty="0" err="1">
                <a:solidFill>
                  <a:schemeClr val="tx1"/>
                </a:solidFill>
                <a:latin typeface="Courier New" panose="02070309020205020404"/>
                <a:ea typeface="Monaco" charset="0"/>
                <a:cs typeface="Courier New" panose="02070309020205020404"/>
                <a:sym typeface="Monaco" charset="0"/>
              </a:rPr>
              <a:t>struct_t</a:t>
            </a:r>
            <a:r>
              <a:rPr lang="en-US" sz="1600" b="1" dirty="0">
                <a:solidFill>
                  <a:schemeClr val="tx1"/>
                </a:solidFill>
                <a:latin typeface="Courier New" panose="02070309020205020404"/>
                <a:ea typeface="Monaco" charset="0"/>
                <a:cs typeface="Courier New" panose="02070309020205020404"/>
                <a:sym typeface="Monaco" charset="0"/>
              </a:rPr>
              <a:t>;</a:t>
            </a:r>
          </a:p>
        </p:txBody>
      </p:sp>
      <p:sp>
        <p:nvSpPr>
          <p:cNvPr id="19461" name="Rectangle 5"/>
          <p:cNvSpPr/>
          <p:nvPr/>
        </p:nvSpPr>
        <p:spPr bwMode="auto">
          <a:xfrm>
            <a:off x="4267200" y="1295400"/>
            <a:ext cx="4419600" cy="1371600"/>
          </a:xfrm>
          <a:prstGeom prst="rect">
            <a:avLst/>
          </a:prstGeom>
          <a:solidFill>
            <a:srgbClr val="FFFFFF"/>
          </a:solidFill>
          <a:ln w="12700" cap="flat">
            <a:noFill/>
            <a:miter lim="800000"/>
            <a:headEnd type="none" w="med" len="med"/>
            <a:tailEnd type="none" w="med" len="med"/>
          </a:ln>
        </p:spPr>
        <p:txBody>
          <a:bodyPr lIns="38100" tIns="38100" rIns="38100" bIns="38100"/>
          <a:lstStyle/>
          <a:p>
            <a:pPr algn="l"/>
            <a:r>
              <a:rPr lang="en-US" sz="1800" dirty="0">
                <a:solidFill>
                  <a:schemeClr val="tx1"/>
                </a:solidFill>
                <a:latin typeface="Courier New" panose="02070309020205020404" charset="0"/>
                <a:ea typeface="Zapf Dingbats" charset="2"/>
                <a:cs typeface="Zapf Dingbats" charset="2"/>
                <a:sym typeface="Courier New" panose="02070309020205020404" charset="0"/>
              </a:rPr>
              <a:t>fun(0)  -&gt;	3.14</a:t>
            </a:r>
            <a:endParaRPr lang="en-US" sz="2400"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fun(1)  -&gt;</a:t>
            </a:r>
            <a:r>
              <a:rPr lang="en-US" sz="1800" dirty="0">
                <a:solidFill>
                  <a:schemeClr val="tx1"/>
                </a:solidFill>
                <a:latin typeface="Courier New" panose="02070309020205020404" charset="0"/>
                <a:ea typeface="Monaco" charset="0"/>
                <a:cs typeface="Monaco" charset="0"/>
                <a:sym typeface="Courier New" panose="02070309020205020404" charset="0"/>
              </a:rPr>
              <a:t>	3.14</a:t>
            </a:r>
            <a:endParaRPr lang="en-US" sz="2400"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fun(2)  -&gt;</a:t>
            </a:r>
            <a:r>
              <a:rPr lang="en-US" sz="1800" dirty="0">
                <a:solidFill>
                  <a:schemeClr val="tx1"/>
                </a:solidFill>
                <a:latin typeface="Courier New" panose="02070309020205020404" charset="0"/>
                <a:ea typeface="Monaco" charset="0"/>
                <a:cs typeface="Monaco" charset="0"/>
                <a:sym typeface="Courier New" panose="02070309020205020404" charset="0"/>
              </a:rPr>
              <a:t>	3.1399998664856</a:t>
            </a:r>
            <a:endParaRPr lang="en-US" sz="2400"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fun(3)  -&gt;</a:t>
            </a:r>
            <a:r>
              <a:rPr lang="en-US" sz="1800" dirty="0">
                <a:solidFill>
                  <a:schemeClr val="tx1"/>
                </a:solidFill>
                <a:latin typeface="Courier New" panose="02070309020205020404" charset="0"/>
                <a:ea typeface="Monaco" charset="0"/>
                <a:cs typeface="Monaco" charset="0"/>
                <a:sym typeface="Courier New" panose="02070309020205020404" charset="0"/>
              </a:rPr>
              <a:t>	2.00000061035156</a:t>
            </a:r>
            <a:endParaRPr lang="en-US" sz="2400" dirty="0">
              <a:solidFill>
                <a:schemeClr val="tx1"/>
              </a:solidFill>
              <a:latin typeface="Arial Narrow" panose="020B0606020202030204" pitchFamily="34" charset="0"/>
              <a:ea typeface="Lucida Grande" charset="0"/>
              <a:cs typeface="Lucida Grande" charset="0"/>
              <a:sym typeface="Arial Narrow" panose="020B0606020202030204" pitchFamily="34" charset="0"/>
            </a:endParaRPr>
          </a:p>
          <a:p>
            <a:pPr algn="l"/>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fun(4)  -&gt;</a:t>
            </a:r>
            <a:r>
              <a:rPr lang="en-US" sz="1800" dirty="0">
                <a:solidFill>
                  <a:schemeClr val="tx1"/>
                </a:solidFill>
                <a:latin typeface="Courier New" panose="02070309020205020404" charset="0"/>
                <a:ea typeface="Monaco" charset="0"/>
                <a:cs typeface="Monaco" charset="0"/>
                <a:sym typeface="Courier New" panose="02070309020205020404" charset="0"/>
              </a:rPr>
              <a:t>	3.14</a:t>
            </a:r>
          </a:p>
          <a:p>
            <a:pPr algn="l"/>
            <a:endParaRPr lang="en-US" sz="1800" dirty="0">
              <a:solidFill>
                <a:schemeClr val="tx1"/>
              </a:solidFill>
              <a:latin typeface="Courier New" panose="02070309020205020404" charset="0"/>
              <a:ea typeface="Monaco" charset="0"/>
              <a:cs typeface="Monaco" charset="0"/>
              <a:sym typeface="Courier New" panose="02070309020205020404" charset="0"/>
            </a:endParaRPr>
          </a:p>
        </p:txBody>
      </p:sp>
      <p:sp>
        <p:nvSpPr>
          <p:cNvPr id="19462" name="AutoShape 6"/>
          <p:cNvSpPr/>
          <p:nvPr/>
        </p:nvSpPr>
        <p:spPr bwMode="auto">
          <a:xfrm>
            <a:off x="6337300" y="3733800"/>
            <a:ext cx="304800" cy="2667000"/>
          </a:xfrm>
          <a:custGeom>
            <a:avLst/>
            <a:gdLst>
              <a:gd name="T0" fmla="*/ 10800 w 21600"/>
              <a:gd name="T1" fmla="*/ 10800 h 21600"/>
            </a:gdLst>
            <a:ahLst/>
            <a:cxnLst>
              <a:cxn ang="0">
                <a:pos x="T0" y="T1"/>
              </a:cxn>
            </a:cxnLst>
            <a:rect l="0" t="0" r="r" b="b"/>
            <a:pathLst>
              <a:path w="21600" h="21600">
                <a:moveTo>
                  <a:pt x="0" y="0"/>
                </a:moveTo>
                <a:cubicBezTo>
                  <a:pt x="5965" y="0"/>
                  <a:pt x="10800" y="631"/>
                  <a:pt x="10800" y="1409"/>
                </a:cubicBezTo>
                <a:lnTo>
                  <a:pt x="10800" y="9391"/>
                </a:lnTo>
                <a:cubicBezTo>
                  <a:pt x="10800" y="10169"/>
                  <a:pt x="15635" y="10800"/>
                  <a:pt x="21600" y="10800"/>
                </a:cubicBezTo>
                <a:cubicBezTo>
                  <a:pt x="15635" y="10800"/>
                  <a:pt x="10800" y="11431"/>
                  <a:pt x="10800" y="12209"/>
                </a:cubicBezTo>
                <a:lnTo>
                  <a:pt x="10800" y="20191"/>
                </a:lnTo>
                <a:cubicBezTo>
                  <a:pt x="10800" y="20969"/>
                  <a:pt x="5965" y="21600"/>
                  <a:pt x="0" y="21600"/>
                </a:cubicBezTo>
              </a:path>
            </a:pathLst>
          </a:custGeom>
          <a:noFill/>
          <a:ln w="28575" cap="flat">
            <a:solidFill>
              <a:srgbClr val="7F7F7F"/>
            </a:solidFill>
            <a:prstDash val="solid"/>
            <a:round/>
            <a:headEnd type="none" w="med" len="med"/>
            <a:tailEnd type="none" w="med" len="med"/>
          </a:ln>
        </p:spPr>
        <p:txBody>
          <a:bodyPr lIns="0" tIns="0" rIns="0" bIns="0"/>
          <a:lstStyle/>
          <a:p>
            <a:endParaRPr lang="en-US"/>
          </a:p>
        </p:txBody>
      </p:sp>
      <p:sp>
        <p:nvSpPr>
          <p:cNvPr id="19463" name="Rectangle 7"/>
          <p:cNvSpPr/>
          <p:nvPr/>
        </p:nvSpPr>
        <p:spPr bwMode="auto">
          <a:xfrm>
            <a:off x="6794500" y="4800600"/>
            <a:ext cx="2120900" cy="647700"/>
          </a:xfrm>
          <a:prstGeom prst="rect">
            <a:avLst/>
          </a:prstGeom>
          <a:noFill/>
          <a:ln w="19050" cap="flat">
            <a:noFill/>
            <a:miter lim="800000"/>
            <a:headEnd type="none" w="med" len="med"/>
            <a:tailEnd type="none" w="med" len="med"/>
          </a:ln>
        </p:spPr>
        <p:txBody>
          <a:bodyPr lIns="38100" tIns="38100" rIns="38100" bIns="38100"/>
          <a:lstStyle/>
          <a:p>
            <a:pPr algn="l">
              <a:lnSpc>
                <a:spcPct val="110000"/>
              </a:lnSpc>
            </a:pPr>
            <a:r>
              <a:rPr lang="en-US" sz="1800" dirty="0">
                <a:solidFill>
                  <a:schemeClr val="tx1"/>
                </a:solidFill>
                <a:latin typeface="Calibri" panose="020F0502020204030204" charset="0"/>
                <a:ea typeface="Calibri" panose="020F0502020204030204" charset="0"/>
                <a:cs typeface="Calibri" panose="020F0502020204030204" charset="0"/>
                <a:sym typeface="Calibri" panose="020F0502020204030204" charset="0"/>
              </a:rPr>
              <a:t>位置访问 </a:t>
            </a:r>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fun(</a:t>
            </a:r>
            <a:r>
              <a:rPr lang="en-US" sz="1800" dirty="0" err="1">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i</a:t>
            </a:r>
            <a:r>
              <a:rPr lang="en-US" sz="1800" dirty="0">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a:t>
            </a:r>
          </a:p>
        </p:txBody>
      </p:sp>
      <p:sp>
        <p:nvSpPr>
          <p:cNvPr id="19464" name="Rectangle 8"/>
          <p:cNvSpPr/>
          <p:nvPr/>
        </p:nvSpPr>
        <p:spPr bwMode="auto">
          <a:xfrm>
            <a:off x="3136900" y="3244215"/>
            <a:ext cx="914400" cy="368935"/>
          </a:xfrm>
          <a:prstGeom prst="rect">
            <a:avLst/>
          </a:prstGeom>
          <a:noFill/>
          <a:ln w="12700" cap="flat">
            <a:noFill/>
            <a:miter lim="800000"/>
            <a:headEnd type="none" w="med" len="med"/>
            <a:tailEnd type="none" w="med" len="med"/>
          </a:ln>
        </p:spPr>
        <p:txBody>
          <a:bodyPr wrap="none" lIns="0" tIns="0" rIns="0" bIns="0">
            <a:spAutoFit/>
          </a:bodyPr>
          <a:lstStyle/>
          <a:p>
            <a:r>
              <a:rPr lang="zh-CN" altLang="en-US" sz="2400" dirty="0">
                <a:solidFill>
                  <a:schemeClr val="tx1"/>
                </a:solidFill>
                <a:latin typeface="Calibri Bold" charset="0"/>
                <a:ea typeface="宋体" panose="02010600030101010101" pitchFamily="2" charset="-122"/>
                <a:cs typeface="Calibri Bold" charset="0"/>
                <a:sym typeface="Calibri Bold" charset="0"/>
              </a:rPr>
              <a:t>解释：</a:t>
            </a:r>
          </a:p>
        </p:txBody>
      </p:sp>
      <p:graphicFrame>
        <p:nvGraphicFramePr>
          <p:cNvPr id="19465" name="Group 9"/>
          <p:cNvGraphicFramePr>
            <a:graphicFrameLocks noGrp="1"/>
          </p:cNvGraphicFramePr>
          <p:nvPr/>
        </p:nvGraphicFramePr>
        <p:xfrm>
          <a:off x="4203700" y="3733800"/>
          <a:ext cx="2070100" cy="2667000"/>
        </p:xfrm>
        <a:graphic>
          <a:graphicData uri="http://schemas.openxmlformats.org/drawingml/2006/table">
            <a:tbl>
              <a:tblPr/>
              <a:tblGrid>
                <a:gridCol w="1638300">
                  <a:extLst>
                    <a:ext uri="{9D8B030D-6E8A-4147-A177-3AD203B41FA5}">
                      <a16:colId xmlns:a16="http://schemas.microsoft.com/office/drawing/2014/main" val="20000"/>
                    </a:ext>
                  </a:extLst>
                </a:gridCol>
                <a:gridCol w="431800">
                  <a:extLst>
                    <a:ext uri="{9D8B030D-6E8A-4147-A177-3AD203B41FA5}">
                      <a16:colId xmlns:a16="http://schemas.microsoft.com/office/drawing/2014/main" val="20001"/>
                    </a:ext>
                  </a:extLst>
                </a:gridCol>
              </a:tblGrid>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defRPr/>
                      </a:pPr>
                      <a:r>
                        <a:rPr kumimoji="0" lang="en-US" sz="1800" b="0" i="0" u="none" strike="noStrike" cap="none" normalizeH="0" baseline="0" dirty="0">
                          <a:ln>
                            <a:noFill/>
                          </a:ln>
                          <a:solidFill>
                            <a:schemeClr val="tx1"/>
                          </a:solidFill>
                          <a:effectLst/>
                          <a:latin typeface="Calibri" panose="020F0502020204030204" charset="0"/>
                          <a:ea typeface="Monaco" charset="0"/>
                          <a:cs typeface="Calibri" panose="020F0502020204030204"/>
                          <a:sym typeface="Monaco" charset="0"/>
                        </a:rPr>
                        <a:t>Critical State</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Arial Narrow" panose="020B0606020202030204" pitchFamily="34" charset="0"/>
                          <a:cs typeface="Calibri" panose="020F0502020204030204"/>
                          <a:sym typeface="Arial Narrow" panose="020B0606020202030204" pitchFamily="34" charset="0"/>
                        </a:rPr>
                        <a:t>6</a:t>
                      </a:r>
                    </a:p>
                  </a:txBody>
                  <a:tcPr marL="50800" marR="50800" marT="50800" marB="50800" anchor="ctr" horzOverflow="overflow">
                    <a:lnL w="127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Monaco" charset="0"/>
                          <a:cs typeface="Courier New" panose="02070309020205020404"/>
                          <a:sym typeface="Monaco" charset="0"/>
                        </a:rPr>
                        <a:t>?</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Arial Narrow" panose="020B0606020202030204" pitchFamily="34" charset="0"/>
                          <a:cs typeface="Calibri" panose="020F0502020204030204"/>
                          <a:sym typeface="Arial Narrow" panose="020B0606020202030204" pitchFamily="34" charset="0"/>
                        </a:rPr>
                        <a:t>5</a:t>
                      </a:r>
                    </a:p>
                  </a:txBody>
                  <a:tcPr marL="50800" marR="50800" marT="50800" marB="50800" anchor="ctr" horzOverflow="overflow">
                    <a:lnL w="127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Monaco" charset="0"/>
                          <a:cs typeface="Courier New" panose="02070309020205020404"/>
                          <a:sym typeface="Monaco" charset="0"/>
                        </a:rPr>
                        <a:t>?</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Arial Narrow" panose="020B0606020202030204" pitchFamily="34" charset="0"/>
                          <a:cs typeface="Calibri" panose="020F0502020204030204"/>
                          <a:sym typeface="Arial Narrow" panose="020B0606020202030204" pitchFamily="34" charset="0"/>
                        </a:rPr>
                        <a:t>4</a:t>
                      </a:r>
                    </a:p>
                  </a:txBody>
                  <a:tcPr marL="50800" marR="50800" marT="50800" marB="50800" anchor="ctr" horzOverflow="overflow">
                    <a:lnL w="127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ea typeface="Monaco" charset="0"/>
                          <a:cs typeface="Courier New" panose="02070309020205020404" charset="0"/>
                          <a:sym typeface="Monaco" charset="0"/>
                        </a:rPr>
                        <a:t>d7 ... d4</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Arial Narrow" panose="020B0606020202030204" pitchFamily="34" charset="0"/>
                          <a:cs typeface="Calibri" panose="020F0502020204030204"/>
                          <a:sym typeface="Arial Narrow" panose="020B0606020202030204" pitchFamily="34" charset="0"/>
                        </a:rPr>
                        <a:t>3</a:t>
                      </a:r>
                    </a:p>
                  </a:txBody>
                  <a:tcPr marL="50800" marR="50800" marT="50800" marB="50800" anchor="ctr" horzOverflow="overflow">
                    <a:lnL w="127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ea typeface="Monaco" charset="0"/>
                          <a:cs typeface="Courier New" panose="02070309020205020404" charset="0"/>
                          <a:sym typeface="Monaco" charset="0"/>
                        </a:rPr>
                        <a:t>d3 ... d0</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Arial Narrow" panose="020B0606020202030204" pitchFamily="34" charset="0"/>
                          <a:cs typeface="Calibri" panose="020F0502020204030204"/>
                          <a:sym typeface="Arial Narrow" panose="020B0606020202030204" pitchFamily="34" charset="0"/>
                        </a:rPr>
                        <a:t>2</a:t>
                      </a:r>
                    </a:p>
                  </a:txBody>
                  <a:tcPr marL="50800" marR="50800" marT="50800" marB="50800" anchor="ctr" horzOverflow="overflow">
                    <a:lnL w="127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ea typeface="Monaco" charset="0"/>
                          <a:cs typeface="Courier New" panose="02070309020205020404" charset="0"/>
                          <a:sym typeface="Monaco" charset="0"/>
                        </a:rPr>
                        <a:t>a[1]</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Arial Narrow" panose="020B0606020202030204" pitchFamily="34" charset="0"/>
                          <a:cs typeface="Calibri" panose="020F0502020204030204"/>
                          <a:sym typeface="Arial Narrow" panose="020B0606020202030204" pitchFamily="34" charset="0"/>
                        </a:rPr>
                        <a:t>1</a:t>
                      </a:r>
                    </a:p>
                  </a:txBody>
                  <a:tcPr marL="50800" marR="50800" marT="50800" marB="50800" anchor="ctr" horzOverflow="overflow">
                    <a:lnL w="127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1" i="0" u="none" strike="noStrike" cap="none" normalizeH="0" baseline="0" dirty="0">
                          <a:ln>
                            <a:noFill/>
                          </a:ln>
                          <a:solidFill>
                            <a:schemeClr val="tx1"/>
                          </a:solidFill>
                          <a:effectLst/>
                          <a:latin typeface="Courier New" panose="02070309020205020404" charset="0"/>
                          <a:ea typeface="Monaco" charset="0"/>
                          <a:cs typeface="Courier New" panose="02070309020205020404" charset="0"/>
                          <a:sym typeface="Monaco" charset="0"/>
                        </a:rPr>
                        <a:t>a[0]</a:t>
                      </a:r>
                    </a:p>
                  </a:txBody>
                  <a:tcPr marL="50800" marR="50800" marT="50800" marB="508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
                          <a:srgbClr val="990000"/>
                        </a:buClr>
                        <a:buSzPct val="60000"/>
                        <a:buFont typeface="Wingdings 2" panose="05020102010507070707" pitchFamily="18" charset="2"/>
                        <a:buNone/>
                        <a:tabLst>
                          <a:tab pos="914400" algn="l"/>
                        </a:tabLst>
                      </a:pPr>
                      <a:r>
                        <a:rPr kumimoji="0" lang="en-US" sz="1800" b="0" i="0" u="none" strike="noStrike" cap="none" normalizeH="0" baseline="0" dirty="0">
                          <a:ln>
                            <a:noFill/>
                          </a:ln>
                          <a:solidFill>
                            <a:schemeClr val="tx1"/>
                          </a:solidFill>
                          <a:effectLst/>
                          <a:latin typeface="Calibri" panose="020F0502020204030204" charset="0"/>
                          <a:ea typeface="Arial Narrow" panose="020B0606020202030204" pitchFamily="34" charset="0"/>
                          <a:cs typeface="Calibri" panose="020F0502020204030204"/>
                          <a:sym typeface="Arial Narrow" panose="020B0606020202030204" pitchFamily="34" charset="0"/>
                        </a:rPr>
                        <a:t>0</a:t>
                      </a:r>
                    </a:p>
                  </a:txBody>
                  <a:tcPr marL="50800" marR="50800" marT="50800" marB="50800" anchor="ctr" horzOverflow="overflow">
                    <a:lnL w="12700" cap="flat" cmpd="sng" algn="ctr">
                      <a:solidFill>
                        <a:srgbClr val="000000"/>
                      </a:solidFill>
                      <a:prstDash val="solid"/>
                      <a:round/>
                      <a:headEnd type="none" w="med" len="med"/>
                      <a:tailEnd type="none" w="med" len="med"/>
                    </a:lnL>
                    <a:lnR cap="flat">
                      <a:noFill/>
                    </a:lnR>
                    <a:lnT cap="flat">
                      <a:noFill/>
                    </a:lnT>
                    <a:lnB cap="flat">
                      <a:noFill/>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1" name="AutoShape 6"/>
          <p:cNvSpPr/>
          <p:nvPr/>
        </p:nvSpPr>
        <p:spPr bwMode="auto">
          <a:xfrm flipH="1">
            <a:off x="3746500" y="4876800"/>
            <a:ext cx="304800" cy="1524000"/>
          </a:xfrm>
          <a:custGeom>
            <a:avLst/>
            <a:gdLst>
              <a:gd name="T0" fmla="*/ 10800 w 21600"/>
              <a:gd name="T1" fmla="*/ 10800 h 21600"/>
            </a:gdLst>
            <a:ahLst/>
            <a:cxnLst>
              <a:cxn ang="0">
                <a:pos x="T0" y="T1"/>
              </a:cxn>
            </a:cxnLst>
            <a:rect l="0" t="0" r="r" b="b"/>
            <a:pathLst>
              <a:path w="21600" h="21600">
                <a:moveTo>
                  <a:pt x="0" y="0"/>
                </a:moveTo>
                <a:cubicBezTo>
                  <a:pt x="5965" y="0"/>
                  <a:pt x="10800" y="631"/>
                  <a:pt x="10800" y="1409"/>
                </a:cubicBezTo>
                <a:lnTo>
                  <a:pt x="10800" y="9391"/>
                </a:lnTo>
                <a:cubicBezTo>
                  <a:pt x="10800" y="10169"/>
                  <a:pt x="15635" y="10800"/>
                  <a:pt x="21600" y="10800"/>
                </a:cubicBezTo>
                <a:cubicBezTo>
                  <a:pt x="15635" y="10800"/>
                  <a:pt x="10800" y="11431"/>
                  <a:pt x="10800" y="12209"/>
                </a:cubicBezTo>
                <a:lnTo>
                  <a:pt x="10800" y="20191"/>
                </a:lnTo>
                <a:cubicBezTo>
                  <a:pt x="10800" y="20969"/>
                  <a:pt x="5965" y="21600"/>
                  <a:pt x="0" y="21600"/>
                </a:cubicBezTo>
              </a:path>
            </a:pathLst>
          </a:custGeom>
          <a:noFill/>
          <a:ln w="28575" cap="flat">
            <a:solidFill>
              <a:srgbClr val="7F7F7F"/>
            </a:solidFill>
            <a:prstDash val="solid"/>
            <a:round/>
            <a:headEnd type="none" w="med" len="med"/>
            <a:tailEnd type="none" w="med" len="med"/>
          </a:ln>
        </p:spPr>
        <p:txBody>
          <a:bodyPr lIns="0" tIns="0" rIns="0" bIns="0"/>
          <a:lstStyle/>
          <a:p>
            <a:endParaRPr lang="en-US"/>
          </a:p>
        </p:txBody>
      </p:sp>
      <p:sp>
        <p:nvSpPr>
          <p:cNvPr id="5" name="Rectangle 1"/>
          <p:cNvSpPr/>
          <p:nvPr/>
        </p:nvSpPr>
        <p:spPr>
          <a:xfrm>
            <a:off x="2298700" y="5486400"/>
            <a:ext cx="1280160" cy="368300"/>
          </a:xfrm>
          <a:prstGeom prst="rect">
            <a:avLst/>
          </a:prstGeom>
        </p:spPr>
        <p:txBody>
          <a:bodyPr wrap="none">
            <a:spAutoFit/>
          </a:bodyPr>
          <a:lstStyle/>
          <a:p>
            <a:r>
              <a:rPr lang="en-US" sz="1800" dirty="0" err="1">
                <a:solidFill>
                  <a:schemeClr val="tx1"/>
                </a:solidFill>
                <a:latin typeface="Courier New" panose="02070309020205020404" charset="0"/>
                <a:ea typeface="Courier New" panose="02070309020205020404" charset="0"/>
                <a:cs typeface="Courier New" panose="02070309020205020404" charset="0"/>
                <a:sym typeface="Courier New" panose="02070309020205020404" charset="0"/>
              </a:rPr>
              <a:t>struct_t</a:t>
            </a:r>
            <a:endParaRPr 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anim calcmode="lin" valueType="num">
                                      <p:cBhvr additive="base">
                                        <p:cTn id="7" dur="500" fill="hold"/>
                                        <p:tgtEl>
                                          <p:spTgt spid="19462"/>
                                        </p:tgtEl>
                                        <p:attrNameLst>
                                          <p:attrName>ppt_x</p:attrName>
                                        </p:attrNameLst>
                                      </p:cBhvr>
                                      <p:tavLst>
                                        <p:tav tm="0">
                                          <p:val>
                                            <p:strVal val="#ppt_x"/>
                                          </p:val>
                                        </p:tav>
                                        <p:tav tm="100000">
                                          <p:val>
                                            <p:strVal val="#ppt_x"/>
                                          </p:val>
                                        </p:tav>
                                      </p:tavLst>
                                    </p:anim>
                                    <p:anim calcmode="lin" valueType="num">
                                      <p:cBhvr additive="base">
                                        <p:cTn id="8" dur="500" fill="hold"/>
                                        <p:tgtEl>
                                          <p:spTgt spid="1946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463"/>
                                        </p:tgtEl>
                                        <p:attrNameLst>
                                          <p:attrName>style.visibility</p:attrName>
                                        </p:attrNameLst>
                                      </p:cBhvr>
                                      <p:to>
                                        <p:strVal val="visible"/>
                                      </p:to>
                                    </p:set>
                                    <p:anim calcmode="lin" valueType="num">
                                      <p:cBhvr additive="base">
                                        <p:cTn id="11" dur="500" fill="hold"/>
                                        <p:tgtEl>
                                          <p:spTgt spid="19463"/>
                                        </p:tgtEl>
                                        <p:attrNameLst>
                                          <p:attrName>ppt_x</p:attrName>
                                        </p:attrNameLst>
                                      </p:cBhvr>
                                      <p:tavLst>
                                        <p:tav tm="0">
                                          <p:val>
                                            <p:strVal val="#ppt_x"/>
                                          </p:val>
                                        </p:tav>
                                        <p:tav tm="100000">
                                          <p:val>
                                            <p:strVal val="#ppt_x"/>
                                          </p:val>
                                        </p:tav>
                                      </p:tavLst>
                                    </p:anim>
                                    <p:anim calcmode="lin" valueType="num">
                                      <p:cBhvr additive="base">
                                        <p:cTn id="12" dur="500" fill="hold"/>
                                        <p:tgtEl>
                                          <p:spTgt spid="19463"/>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9464"/>
                                        </p:tgtEl>
                                        <p:attrNameLst>
                                          <p:attrName>style.visibility</p:attrName>
                                        </p:attrNameLst>
                                      </p:cBhvr>
                                      <p:to>
                                        <p:strVal val="visible"/>
                                      </p:to>
                                    </p:set>
                                    <p:anim calcmode="lin" valueType="num">
                                      <p:cBhvr additive="base">
                                        <p:cTn id="15" dur="500" fill="hold"/>
                                        <p:tgtEl>
                                          <p:spTgt spid="19464"/>
                                        </p:tgtEl>
                                        <p:attrNameLst>
                                          <p:attrName>ppt_x</p:attrName>
                                        </p:attrNameLst>
                                      </p:cBhvr>
                                      <p:tavLst>
                                        <p:tav tm="0">
                                          <p:val>
                                            <p:strVal val="#ppt_x"/>
                                          </p:val>
                                        </p:tav>
                                        <p:tav tm="100000">
                                          <p:val>
                                            <p:strVal val="#ppt_x"/>
                                          </p:val>
                                        </p:tav>
                                      </p:tavLst>
                                    </p:anim>
                                    <p:anim calcmode="lin" valueType="num">
                                      <p:cBhvr additive="base">
                                        <p:cTn id="16" dur="500" fill="hold"/>
                                        <p:tgtEl>
                                          <p:spTgt spid="19464"/>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9465"/>
                                        </p:tgtEl>
                                        <p:attrNameLst>
                                          <p:attrName>style.visibility</p:attrName>
                                        </p:attrNameLst>
                                      </p:cBhvr>
                                      <p:to>
                                        <p:strVal val="visible"/>
                                      </p:to>
                                    </p:set>
                                    <p:anim calcmode="lin" valueType="num">
                                      <p:cBhvr additive="base">
                                        <p:cTn id="19" dur="500" fill="hold"/>
                                        <p:tgtEl>
                                          <p:spTgt spid="19465"/>
                                        </p:tgtEl>
                                        <p:attrNameLst>
                                          <p:attrName>ppt_x</p:attrName>
                                        </p:attrNameLst>
                                      </p:cBhvr>
                                      <p:tavLst>
                                        <p:tav tm="0">
                                          <p:val>
                                            <p:strVal val="#ppt_x"/>
                                          </p:val>
                                        </p:tav>
                                        <p:tav tm="100000">
                                          <p:val>
                                            <p:strVal val="#ppt_x"/>
                                          </p:val>
                                        </p:tav>
                                      </p:tavLst>
                                    </p:anim>
                                    <p:anim calcmode="lin" valueType="num">
                                      <p:cBhvr additive="base">
                                        <p:cTn id="20" dur="500" fill="hold"/>
                                        <p:tgtEl>
                                          <p:spTgt spid="1946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animBg="1"/>
      <p:bldP spid="19463" grpId="0"/>
      <p:bldP spid="19464" grpId="0"/>
      <p:bldP spid="11" grpId="0" animBg="1"/>
      <p:bldP spid="5" grpId="0"/>
    </p:bld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2998470"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solidFill>
                  <a:schemeClr val="tx1">
                    <a:lumMod val="65000"/>
                    <a:lumOff val="35000"/>
                  </a:schemeClr>
                </a:solidFill>
                <a:sym typeface="+mn-ea"/>
              </a:rPr>
              <a:t>缓冲区溢出</a:t>
            </a:r>
          </a:p>
        </p:txBody>
      </p:sp>
      <p:sp>
        <p:nvSpPr>
          <p:cNvPr id="20483" name="Rectangle 3"/>
          <p:cNvSpPr>
            <a:spLocks noGrp="1" noChangeArrowheads="1"/>
          </p:cNvSpPr>
          <p:nvPr/>
        </p:nvSpPr>
        <p:spPr>
          <a:xfrm>
            <a:off x="381000" y="1295400"/>
            <a:ext cx="8307388" cy="487680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D0D0D"/>
              </a:buClr>
            </a:pPr>
            <a:r>
              <a:rPr lang="zh-CN" altLang="en-US" dirty="0">
                <a:latin typeface="微软雅黑" panose="020B0503020204020204" charset="-122"/>
                <a:ea typeface="微软雅黑" panose="020B0503020204020204" charset="-122"/>
              </a:rPr>
              <a:t>上述例子出现的情况</a:t>
            </a:r>
            <a:r>
              <a:rPr lang="en-US" dirty="0">
                <a:latin typeface="微软雅黑" panose="020B0503020204020204" charset="-122"/>
                <a:ea typeface="微软雅黑" panose="020B0503020204020204" charset="-122"/>
              </a:rPr>
              <a:t>一般称为“缓冲区溢出”</a:t>
            </a:r>
          </a:p>
          <a:p>
            <a:pPr lvl="1" eaLnBrk="1" hangingPunct="1">
              <a:buClr>
                <a:srgbClr val="FFD966"/>
              </a:buClr>
            </a:pPr>
            <a:r>
              <a:rPr lang="en-US" dirty="0">
                <a:latin typeface="微软雅黑" panose="020B0503020204020204" charset="-122"/>
                <a:ea typeface="微软雅黑" panose="020B0503020204020204" charset="-122"/>
              </a:rPr>
              <a:t>超过</a:t>
            </a:r>
            <a:r>
              <a:rPr lang="zh-CN" altLang="en-US" dirty="0">
                <a:latin typeface="微软雅黑" panose="020B0503020204020204" charset="-122"/>
                <a:ea typeface="微软雅黑" panose="020B0503020204020204" charset="-122"/>
              </a:rPr>
              <a:t>所</a:t>
            </a:r>
            <a:r>
              <a:rPr lang="en-US" dirty="0">
                <a:latin typeface="微软雅黑" panose="020B0503020204020204" charset="-122"/>
                <a:ea typeface="微软雅黑" panose="020B0503020204020204" charset="-122"/>
              </a:rPr>
              <a:t>分配给</a:t>
            </a:r>
            <a:r>
              <a:rPr lang="zh-CN" altLang="en-US" dirty="0">
                <a:latin typeface="微软雅黑" panose="020B0503020204020204" charset="-122"/>
                <a:ea typeface="微软雅黑" panose="020B0503020204020204" charset="-122"/>
              </a:rPr>
              <a:t>的</a:t>
            </a:r>
            <a:r>
              <a:rPr lang="en-US" dirty="0">
                <a:latin typeface="微软雅黑" panose="020B0503020204020204" charset="-122"/>
                <a:ea typeface="微软雅黑" panose="020B0503020204020204" charset="-122"/>
              </a:rPr>
              <a:t>数组的内存大小时</a:t>
            </a:r>
          </a:p>
          <a:p>
            <a:pPr eaLnBrk="1" hangingPunct="1">
              <a:buClr>
                <a:srgbClr val="0D0D0D"/>
              </a:buClr>
            </a:pPr>
            <a:r>
              <a:rPr lang="zh-CN" altLang="en-US" dirty="0">
                <a:latin typeface="微软雅黑" panose="020B0503020204020204" charset="-122"/>
                <a:ea typeface="微软雅黑" panose="020B0503020204020204" charset="-122"/>
              </a:rPr>
              <a:t>为什么说这个问题很严重</a:t>
            </a:r>
            <a:r>
              <a:rPr lang="en-US" dirty="0">
                <a:latin typeface="微软雅黑" panose="020B0503020204020204" charset="-122"/>
                <a:ea typeface="微软雅黑" panose="020B0503020204020204" charset="-122"/>
              </a:rPr>
              <a:t>?</a:t>
            </a:r>
          </a:p>
          <a:p>
            <a:pPr lvl="1" eaLnBrk="1" hangingPunct="1">
              <a:buClr>
                <a:srgbClr val="FFD966"/>
              </a:buClr>
            </a:pPr>
            <a:r>
              <a:rPr lang="en-US" dirty="0">
                <a:latin typeface="微软雅黑" panose="020B0503020204020204" charset="-122"/>
                <a:ea typeface="微软雅黑" panose="020B0503020204020204" charset="-122"/>
              </a:rPr>
              <a:t>技术原因</a:t>
            </a:r>
            <a:r>
              <a:rPr lang="zh-CN" altLang="en-US" dirty="0">
                <a:latin typeface="微软雅黑" panose="020B0503020204020204" charset="-122"/>
                <a:ea typeface="微软雅黑" panose="020B0503020204020204" charset="-122"/>
              </a:rPr>
              <a:t>导致</a:t>
            </a:r>
            <a:r>
              <a:rPr lang="en-US" dirty="0">
                <a:latin typeface="微软雅黑" panose="020B0503020204020204" charset="-122"/>
                <a:ea typeface="微软雅黑" panose="020B0503020204020204" charset="-122"/>
              </a:rPr>
              <a:t>的安全漏洞</a:t>
            </a:r>
          </a:p>
          <a:p>
            <a:pPr lvl="2" eaLnBrk="1" hangingPunct="1">
              <a:buClr>
                <a:srgbClr val="FFD966"/>
              </a:buClr>
            </a:pPr>
            <a:r>
              <a:rPr lang="en-US" dirty="0">
                <a:latin typeface="微软雅黑" panose="020B0503020204020204" charset="-122"/>
                <a:ea typeface="微软雅黑" panose="020B0503020204020204" charset="-122"/>
              </a:rPr>
              <a:t>总体原因是社会工程/用户的</a:t>
            </a:r>
            <a:r>
              <a:rPr lang="zh-CN" altLang="en-US" dirty="0">
                <a:latin typeface="微软雅黑" panose="020B0503020204020204" charset="-122"/>
                <a:ea typeface="微软雅黑" panose="020B0503020204020204" charset="-122"/>
              </a:rPr>
              <a:t>粗心</a:t>
            </a:r>
          </a:p>
          <a:p>
            <a:pPr eaLnBrk="1" hangingPunct="1">
              <a:buClr>
                <a:srgbClr val="0D0D0D"/>
              </a:buClr>
            </a:pPr>
            <a:r>
              <a:rPr lang="en-US" dirty="0">
                <a:latin typeface="微软雅黑" panose="020B0503020204020204" charset="-122"/>
                <a:ea typeface="微软雅黑" panose="020B0503020204020204" charset="-122"/>
              </a:rPr>
              <a:t>最常见的形式</a:t>
            </a:r>
          </a:p>
          <a:p>
            <a:pPr lvl="1" eaLnBrk="1" hangingPunct="1">
              <a:buClr>
                <a:srgbClr val="FFD966"/>
              </a:buClr>
            </a:pPr>
            <a:r>
              <a:rPr lang="en-US" dirty="0">
                <a:latin typeface="微软雅黑" panose="020B0503020204020204" charset="-122"/>
                <a:ea typeface="微软雅黑" panose="020B0503020204020204" charset="-122"/>
              </a:rPr>
              <a:t>字符串输入</a:t>
            </a:r>
            <a:r>
              <a:rPr lang="zh-CN" altLang="en-US" dirty="0">
                <a:latin typeface="微软雅黑" panose="020B0503020204020204" charset="-122"/>
                <a:ea typeface="微软雅黑" panose="020B0503020204020204" charset="-122"/>
              </a:rPr>
              <a:t>时</a:t>
            </a:r>
            <a:r>
              <a:rPr lang="en-US" dirty="0">
                <a:latin typeface="微软雅黑" panose="020B0503020204020204" charset="-122"/>
                <a:ea typeface="微软雅黑" panose="020B0503020204020204" charset="-122"/>
              </a:rPr>
              <a:t>未检查长度</a:t>
            </a:r>
          </a:p>
          <a:p>
            <a:pPr lvl="1" eaLnBrk="1" hangingPunct="1">
              <a:buClr>
                <a:srgbClr val="FFD966"/>
              </a:buClr>
            </a:pPr>
            <a:r>
              <a:rPr lang="en-US" dirty="0">
                <a:latin typeface="微软雅黑" panose="020B0503020204020204" charset="-122"/>
                <a:ea typeface="微软雅黑" panose="020B0503020204020204" charset="-122"/>
              </a:rPr>
              <a:t>特别是栈上的有界字符数组</a:t>
            </a:r>
          </a:p>
          <a:p>
            <a:pPr lvl="2" eaLnBrk="1" hangingPunct="1">
              <a:buClr>
                <a:srgbClr val="FFD966"/>
              </a:buClr>
            </a:pPr>
            <a:r>
              <a:rPr lang="en-US" dirty="0">
                <a:latin typeface="微软雅黑" panose="020B0503020204020204" charset="-122"/>
                <a:ea typeface="微软雅黑" panose="020B0503020204020204" charset="-122"/>
              </a:rPr>
              <a:t>有时称为栈粉碎</a:t>
            </a:r>
          </a:p>
          <a:p>
            <a:pPr lvl="1" eaLnBrk="1" hangingPunct="1"/>
            <a:endParaRPr lang="en-US" dirty="0">
              <a:latin typeface="微软雅黑" panose="020B0503020204020204" charset="-122"/>
              <a:ea typeface="微软雅黑" panose="020B0503020204020204" charset="-122"/>
            </a:endParaRPr>
          </a:p>
          <a:p>
            <a:pPr eaLnBrk="1" hangingPunct="1"/>
            <a:endParaRPr lang="en-US" dirty="0">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anim calcmode="lin" valueType="num">
                                      <p:cBhvr additive="base">
                                        <p:cTn id="13"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0483">
                                            <p:txEl>
                                              <p:pRg st="4" end="4"/>
                                            </p:txEl>
                                          </p:spTgt>
                                        </p:tgtEl>
                                        <p:attrNameLst>
                                          <p:attrName>style.visibility</p:attrName>
                                        </p:attrNameLst>
                                      </p:cBhvr>
                                      <p:to>
                                        <p:strVal val="visible"/>
                                      </p:to>
                                    </p:set>
                                    <p:anim calcmode="lin" valueType="num">
                                      <p:cBhvr additive="base">
                                        <p:cTn id="17"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04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20483">
                                            <p:txEl>
                                              <p:pRg st="6" end="6"/>
                                            </p:txEl>
                                          </p:spTgt>
                                        </p:tgtEl>
                                        <p:attrNameLst>
                                          <p:attrName>style.visibility</p:attrName>
                                        </p:attrNameLst>
                                      </p:cBhvr>
                                      <p:to>
                                        <p:strVal val="visible"/>
                                      </p:to>
                                    </p:set>
                                    <p:anim calcmode="lin" valueType="num">
                                      <p:cBhvr additive="base">
                                        <p:cTn id="23"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20483">
                                            <p:txEl>
                                              <p:pRg st="7" end="7"/>
                                            </p:txEl>
                                          </p:spTgt>
                                        </p:tgtEl>
                                        <p:attrNameLst>
                                          <p:attrName>style.visibility</p:attrName>
                                        </p:attrNameLst>
                                      </p:cBhvr>
                                      <p:to>
                                        <p:strVal val="visible"/>
                                      </p:to>
                                    </p:set>
                                    <p:anim calcmode="lin" valueType="num">
                                      <p:cBhvr additive="base">
                                        <p:cTn id="27"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0483">
                                            <p:txEl>
                                              <p:pRg st="8" end="8"/>
                                            </p:txEl>
                                          </p:spTgt>
                                        </p:tgtEl>
                                        <p:attrNameLst>
                                          <p:attrName>style.visibility</p:attrName>
                                        </p:attrNameLst>
                                      </p:cBhvr>
                                      <p:to>
                                        <p:strVal val="visible"/>
                                      </p:to>
                                    </p:set>
                                    <p:anim calcmode="lin" valueType="num">
                                      <p:cBhvr additive="base">
                                        <p:cTn id="31" dur="500" fill="hold"/>
                                        <p:tgtEl>
                                          <p:spTgt spid="2048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2998470"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solidFill>
                  <a:schemeClr val="tx1">
                    <a:lumMod val="65000"/>
                    <a:lumOff val="35000"/>
                  </a:schemeClr>
                </a:solidFill>
                <a:sym typeface="+mn-ea"/>
              </a:rPr>
              <a:t>字符串库代码</a:t>
            </a:r>
          </a:p>
        </p:txBody>
      </p:sp>
      <p:sp>
        <p:nvSpPr>
          <p:cNvPr id="22531" name="Rectangle 6"/>
          <p:cNvSpPr>
            <a:spLocks noGrp="1" noChangeArrowheads="1"/>
          </p:cNvSpPr>
          <p:nvPr/>
        </p:nvSpPr>
        <p:spPr>
          <a:xfrm>
            <a:off x="131445" y="1038860"/>
            <a:ext cx="8153400" cy="579120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D0D0D"/>
              </a:buClr>
            </a:pPr>
            <a:r>
              <a:rPr lang="en-US" dirty="0"/>
              <a:t> Unix </a:t>
            </a:r>
            <a:r>
              <a:rPr lang="zh-CN" dirty="0"/>
              <a:t>函数</a:t>
            </a:r>
            <a:r>
              <a:rPr lang="en-US" dirty="0"/>
              <a:t> </a:t>
            </a:r>
            <a:r>
              <a:rPr lang="en-US" dirty="0">
                <a:latin typeface="Courier New" panose="02070309020205020404" charset="0"/>
              </a:rPr>
              <a:t>gets()</a:t>
            </a:r>
            <a:r>
              <a:rPr lang="zh-CN" altLang="en-US" dirty="0">
                <a:latin typeface="Courier New" panose="02070309020205020404" charset="0"/>
              </a:rPr>
              <a:t>的功能实现</a:t>
            </a:r>
          </a:p>
          <a:p>
            <a:pPr lvl="1" eaLnBrk="1" hangingPunct="1"/>
            <a:endParaRPr lang="en-US" dirty="0"/>
          </a:p>
          <a:p>
            <a:pPr lvl="1" eaLnBrk="1" hangingPunct="1"/>
            <a:endParaRPr lang="en-US" dirty="0"/>
          </a:p>
          <a:p>
            <a:pPr lvl="1" eaLnBrk="1" hangingPunct="1"/>
            <a:endParaRPr lang="en-US" dirty="0"/>
          </a:p>
          <a:p>
            <a:pPr lvl="1" eaLnBrk="1" hangingPunct="1"/>
            <a:endParaRPr lang="en-US" dirty="0"/>
          </a:p>
          <a:p>
            <a:pPr lvl="1" eaLnBrk="1" hangingPunct="1">
              <a:buFont typeface="Wingdings" panose="05000000000000000000" pitchFamily="2" charset="2"/>
              <a:buNone/>
            </a:pPr>
            <a:endParaRPr lang="en-US" dirty="0"/>
          </a:p>
          <a:p>
            <a:pPr lvl="1" eaLnBrk="1" hangingPunct="1">
              <a:buFont typeface="Wingdings" panose="05000000000000000000" pitchFamily="2" charset="2"/>
              <a:buNone/>
            </a:pPr>
            <a:endParaRPr lang="en-US" dirty="0"/>
          </a:p>
          <a:p>
            <a:pPr lvl="1" eaLnBrk="1" hangingPunct="1">
              <a:buFont typeface="Wingdings" panose="05000000000000000000" pitchFamily="2" charset="2"/>
              <a:buNone/>
            </a:pPr>
            <a:endParaRPr lang="en-US" dirty="0"/>
          </a:p>
          <a:p>
            <a:pPr lvl="1" eaLnBrk="1" hangingPunct="1">
              <a:buFont typeface="Wingdings" panose="05000000000000000000" pitchFamily="2" charset="2"/>
              <a:buNone/>
            </a:pPr>
            <a:endParaRPr lang="en-US" dirty="0"/>
          </a:p>
          <a:p>
            <a:pPr lvl="1" eaLnBrk="1" hangingPunct="1">
              <a:buFont typeface="Wingdings" panose="05000000000000000000" pitchFamily="2" charset="2"/>
              <a:buNone/>
            </a:pPr>
            <a:endParaRPr lang="en-US" dirty="0"/>
          </a:p>
          <a:p>
            <a:pPr lvl="1" eaLnBrk="1" hangingPunct="1">
              <a:buFont typeface="Wingdings" panose="05000000000000000000" pitchFamily="2" charset="2"/>
              <a:buNone/>
            </a:pPr>
            <a:endParaRPr lang="en-US" dirty="0"/>
          </a:p>
          <a:p>
            <a:pPr lvl="1" eaLnBrk="1" hangingPunct="1"/>
            <a:r>
              <a:rPr lang="en-US" dirty="0"/>
              <a:t>无法指定要读取的字符数量的限制</a:t>
            </a:r>
          </a:p>
          <a:p>
            <a:pPr eaLnBrk="1" hangingPunct="1">
              <a:buClr>
                <a:srgbClr val="0D0D0D"/>
              </a:buClr>
            </a:pPr>
            <a:r>
              <a:rPr lang="en-US" dirty="0"/>
              <a:t>与其他库函数类似的问题</a:t>
            </a:r>
          </a:p>
          <a:p>
            <a:pPr lvl="1" eaLnBrk="1" hangingPunct="1"/>
            <a:r>
              <a:rPr lang="en-US" b="1" dirty="0" err="1">
                <a:latin typeface="Courier New" panose="02070309020205020404" charset="0"/>
              </a:rPr>
              <a:t>strcpy</a:t>
            </a:r>
            <a:r>
              <a:rPr lang="en-US" b="1" dirty="0"/>
              <a:t>, </a:t>
            </a:r>
            <a:r>
              <a:rPr lang="en-US" b="1" dirty="0" err="1">
                <a:latin typeface="Courier New" panose="02070309020205020404" charset="0"/>
              </a:rPr>
              <a:t>strcat</a:t>
            </a:r>
            <a:r>
              <a:rPr lang="en-US" dirty="0"/>
              <a:t>:</a:t>
            </a:r>
            <a:r>
              <a:rPr lang="zh-CN" altLang="en-US" dirty="0"/>
              <a:t>复制</a:t>
            </a:r>
            <a:r>
              <a:rPr lang="en-US" dirty="0"/>
              <a:t>任意长度的字符串</a:t>
            </a:r>
          </a:p>
          <a:p>
            <a:pPr lvl="1" eaLnBrk="1" hangingPunct="1"/>
            <a:r>
              <a:rPr lang="en-US" b="1" dirty="0" err="1">
                <a:latin typeface="Courier New" panose="02070309020205020404" charset="0"/>
              </a:rPr>
              <a:t>scanf</a:t>
            </a:r>
            <a:r>
              <a:rPr lang="en-US" b="1" dirty="0"/>
              <a:t>, </a:t>
            </a:r>
            <a:r>
              <a:rPr lang="en-US" b="1" dirty="0" err="1">
                <a:latin typeface="Courier New" panose="02070309020205020404" charset="0"/>
              </a:rPr>
              <a:t>fscanf</a:t>
            </a:r>
            <a:r>
              <a:rPr lang="en-US" b="1" dirty="0"/>
              <a:t>, </a:t>
            </a:r>
            <a:r>
              <a:rPr lang="en-US" b="1" dirty="0" err="1">
                <a:latin typeface="Courier New" panose="02070309020205020404" charset="0"/>
              </a:rPr>
              <a:t>sscanf</a:t>
            </a:r>
            <a:r>
              <a:rPr lang="zh-CN" altLang="en-US" b="1" dirty="0" err="1">
                <a:latin typeface="Courier New" panose="02070309020205020404" charset="0"/>
              </a:rPr>
              <a:t>：</a:t>
            </a:r>
            <a:r>
              <a:rPr lang="en-US" dirty="0"/>
              <a:t> </a:t>
            </a:r>
            <a:r>
              <a:rPr lang="en-US" b="1" dirty="0">
                <a:latin typeface="Courier New" panose="02070309020205020404" charset="0"/>
              </a:rPr>
              <a:t>%s</a:t>
            </a:r>
            <a:endParaRPr lang="en-US" dirty="0"/>
          </a:p>
        </p:txBody>
      </p:sp>
      <p:sp>
        <p:nvSpPr>
          <p:cNvPr id="22532" name="Rectangle 4"/>
          <p:cNvSpPr>
            <a:spLocks noChangeArrowheads="1"/>
          </p:cNvSpPr>
          <p:nvPr/>
        </p:nvSpPr>
        <p:spPr bwMode="auto">
          <a:xfrm>
            <a:off x="838200" y="1524000"/>
            <a:ext cx="5410200" cy="3397250"/>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800" dirty="0">
                <a:latin typeface="Courier New" panose="02070309020205020404" charset="0"/>
                <a:ea typeface="MS Mincho" panose="02020609040205080304" pitchFamily="49" charset="-128"/>
              </a:rPr>
              <a:t>/* Get string from </a:t>
            </a:r>
            <a:r>
              <a:rPr lang="en-US" sz="1800" dirty="0" err="1">
                <a:latin typeface="Courier New" panose="02070309020205020404" charset="0"/>
                <a:ea typeface="MS Mincho" panose="02020609040205080304" pitchFamily="49" charset="-128"/>
              </a:rPr>
              <a:t>stdin</a:t>
            </a:r>
            <a:r>
              <a:rPr lang="en-US" sz="1800" dirty="0">
                <a:latin typeface="Courier New" panose="02070309020205020404" charset="0"/>
                <a:ea typeface="MS Mincho" panose="02020609040205080304" pitchFamily="49" charset="-128"/>
              </a:rPr>
              <a:t> */</a:t>
            </a:r>
          </a:p>
          <a:p>
            <a:pPr eaLnBrk="0" hangingPunct="0">
              <a:tabLst>
                <a:tab pos="457200" algn="l"/>
                <a:tab pos="1485900" algn="l"/>
              </a:tabLst>
            </a:pPr>
            <a:r>
              <a:rPr lang="en-US" sz="1800" dirty="0">
                <a:latin typeface="Courier New" panose="02070309020205020404" charset="0"/>
                <a:ea typeface="MS Mincho" panose="02020609040205080304" pitchFamily="49" charset="-128"/>
              </a:rPr>
              <a:t>char *gets(char *</a:t>
            </a:r>
            <a:r>
              <a:rPr lang="en-US" sz="1800" dirty="0" err="1">
                <a:latin typeface="Courier New" panose="02070309020205020404" charset="0"/>
                <a:ea typeface="MS Mincho" panose="02020609040205080304" pitchFamily="49" charset="-128"/>
              </a:rPr>
              <a:t>dest</a:t>
            </a:r>
            <a:r>
              <a:rPr lang="en-US" sz="1800" dirty="0">
                <a:latin typeface="Courier New" panose="02070309020205020404" charset="0"/>
                <a:ea typeface="MS Mincho" panose="02020609040205080304" pitchFamily="49" charset="-128"/>
              </a:rPr>
              <a:t>)</a:t>
            </a:r>
            <a:br>
              <a:rPr lang="en-US" sz="1800" dirty="0">
                <a:latin typeface="Courier New" panose="02070309020205020404" charset="0"/>
                <a:ea typeface="MS Mincho" panose="02020609040205080304" pitchFamily="49" charset="-128"/>
              </a:rPr>
            </a:br>
            <a:r>
              <a:rPr lang="en-US" sz="1800" dirty="0">
                <a:latin typeface="Courier New" panose="02070309020205020404" charset="0"/>
                <a:ea typeface="MS Mincho" panose="02020609040205080304" pitchFamily="49" charset="-128"/>
              </a:rPr>
              <a:t>{</a:t>
            </a:r>
            <a:br>
              <a:rPr lang="en-US" sz="1800" dirty="0">
                <a:latin typeface="Courier New" panose="02070309020205020404" charset="0"/>
                <a:ea typeface="MS Mincho" panose="02020609040205080304" pitchFamily="49" charset="-128"/>
              </a:rPr>
            </a:br>
            <a:r>
              <a:rPr lang="en-US" sz="1800" dirty="0">
                <a:latin typeface="Courier New" panose="02070309020205020404" charset="0"/>
                <a:ea typeface="MS Mincho" panose="02020609040205080304" pitchFamily="49" charset="-128"/>
              </a:rPr>
              <a:t>    </a:t>
            </a:r>
            <a:r>
              <a:rPr lang="en-US" sz="1800" dirty="0" err="1">
                <a:latin typeface="Courier New" panose="02070309020205020404" charset="0"/>
                <a:ea typeface="MS Mincho" panose="02020609040205080304" pitchFamily="49" charset="-128"/>
              </a:rPr>
              <a:t>int</a:t>
            </a:r>
            <a:r>
              <a:rPr lang="en-US" sz="1800" dirty="0">
                <a:latin typeface="Courier New" panose="02070309020205020404" charset="0"/>
                <a:ea typeface="MS Mincho" panose="02020609040205080304" pitchFamily="49" charset="-128"/>
              </a:rPr>
              <a:t> c = </a:t>
            </a:r>
            <a:r>
              <a:rPr lang="en-US" sz="1800" dirty="0" err="1">
                <a:latin typeface="Courier New" panose="02070309020205020404" charset="0"/>
                <a:ea typeface="MS Mincho" panose="02020609040205080304" pitchFamily="49" charset="-128"/>
              </a:rPr>
              <a:t>getchar</a:t>
            </a:r>
            <a:r>
              <a:rPr lang="en-US" sz="1800" dirty="0">
                <a:latin typeface="Courier New" panose="02070309020205020404" charset="0"/>
                <a:ea typeface="MS Mincho" panose="02020609040205080304" pitchFamily="49" charset="-128"/>
              </a:rPr>
              <a: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char *p = </a:t>
            </a:r>
            <a:r>
              <a:rPr lang="en-US" sz="1800" dirty="0" err="1">
                <a:latin typeface="Courier New" panose="02070309020205020404" charset="0"/>
                <a:ea typeface="MS Mincho" panose="02020609040205080304" pitchFamily="49" charset="-128"/>
              </a:rPr>
              <a:t>dest</a:t>
            </a:r>
            <a:r>
              <a:rPr lang="en-US" sz="1800" dirty="0">
                <a:latin typeface="Courier New" panose="02070309020205020404" charset="0"/>
                <a:ea typeface="MS Mincho" panose="02020609040205080304" pitchFamily="49" charset="-128"/>
              </a:rPr>
              <a: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r>
              <a:rPr lang="en-US" sz="1800" dirty="0">
                <a:solidFill>
                  <a:srgbClr val="C00000"/>
                </a:solidFill>
                <a:latin typeface="Courier New" panose="02070309020205020404" charset="0"/>
                <a:ea typeface="MS Mincho" panose="02020609040205080304" pitchFamily="49" charset="-128"/>
              </a:rPr>
              <a:t>while (c != EOF &amp;&amp; c != '\n') </a:t>
            </a:r>
            <a:r>
              <a:rPr lang="en-US" sz="1800" dirty="0">
                <a:latin typeface="Courier New" panose="02070309020205020404" charset="0"/>
                <a:ea typeface="MS Mincho" panose="02020609040205080304" pitchFamily="49" charset="-128"/>
              </a:rPr>
              <a: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r>
              <a:rPr lang="en-US" sz="1800" dirty="0">
                <a:solidFill>
                  <a:srgbClr val="C00000"/>
                </a:solidFill>
                <a:latin typeface="Courier New" panose="02070309020205020404" charset="0"/>
                <a:ea typeface="MS Mincho" panose="02020609040205080304" pitchFamily="49" charset="-128"/>
              </a:rPr>
              <a:t>*p++ = c;</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c = </a:t>
            </a:r>
            <a:r>
              <a:rPr lang="en-US" sz="1800" dirty="0" err="1">
                <a:latin typeface="Courier New" panose="02070309020205020404" charset="0"/>
                <a:ea typeface="MS Mincho" panose="02020609040205080304" pitchFamily="49" charset="-128"/>
              </a:rPr>
              <a:t>getchar</a:t>
            </a:r>
            <a:r>
              <a:rPr lang="en-US" sz="1800" dirty="0">
                <a:latin typeface="Courier New" panose="02070309020205020404" charset="0"/>
                <a:ea typeface="MS Mincho" panose="02020609040205080304" pitchFamily="49" charset="-128"/>
              </a:rPr>
              <a: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*p = '\0';</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return </a:t>
            </a:r>
            <a:r>
              <a:rPr lang="en-US" sz="1800" dirty="0" err="1">
                <a:latin typeface="Courier New" panose="02070309020205020404" charset="0"/>
                <a:ea typeface="MS Mincho" panose="02020609040205080304" pitchFamily="49" charset="-128"/>
              </a:rPr>
              <a:t>dest</a:t>
            </a:r>
            <a:r>
              <a:rPr lang="en-US" sz="1800" dirty="0">
                <a:latin typeface="Courier New" panose="02070309020205020404" charset="0"/>
                <a:ea typeface="MS Mincho" panose="02020609040205080304" pitchFamily="49" charset="-128"/>
              </a:rPr>
              <a: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531">
                                            <p:txEl>
                                              <p:pRg st="11" end="11"/>
                                            </p:txEl>
                                          </p:spTgt>
                                        </p:tgtEl>
                                        <p:attrNameLst>
                                          <p:attrName>style.visibility</p:attrName>
                                        </p:attrNameLst>
                                      </p:cBhvr>
                                      <p:to>
                                        <p:strVal val="visible"/>
                                      </p:to>
                                    </p:set>
                                    <p:anim calcmode="lin" valueType="num">
                                      <p:cBhvr additive="base">
                                        <p:cTn id="7" dur="500" fill="hold"/>
                                        <p:tgtEl>
                                          <p:spTgt spid="22531">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1">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2531">
                                            <p:txEl>
                                              <p:pRg st="13" end="13"/>
                                            </p:txEl>
                                          </p:spTgt>
                                        </p:tgtEl>
                                        <p:attrNameLst>
                                          <p:attrName>style.visibility</p:attrName>
                                        </p:attrNameLst>
                                      </p:cBhvr>
                                      <p:to>
                                        <p:strVal val="visible"/>
                                      </p:to>
                                    </p:set>
                                    <p:anim calcmode="lin" valueType="num">
                                      <p:cBhvr additive="base">
                                        <p:cTn id="13" dur="500" fill="hold"/>
                                        <p:tgtEl>
                                          <p:spTgt spid="22531">
                                            <p:txEl>
                                              <p:pRg st="13" end="1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1">
                                            <p:txEl>
                                              <p:pRg st="13" end="1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22531">
                                            <p:txEl>
                                              <p:pRg st="14" end="14"/>
                                            </p:txEl>
                                          </p:spTgt>
                                        </p:tgtEl>
                                        <p:attrNameLst>
                                          <p:attrName>style.visibility</p:attrName>
                                        </p:attrNameLst>
                                      </p:cBhvr>
                                      <p:to>
                                        <p:strVal val="visible"/>
                                      </p:to>
                                    </p:set>
                                    <p:anim calcmode="lin" valueType="num">
                                      <p:cBhvr additive="base">
                                        <p:cTn id="17" dur="500" fill="hold"/>
                                        <p:tgtEl>
                                          <p:spTgt spid="22531">
                                            <p:txEl>
                                              <p:pRg st="14" end="1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2531">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93255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a:solidFill>
                  <a:schemeClr val="tx1">
                    <a:lumMod val="65000"/>
                    <a:lumOff val="35000"/>
                  </a:schemeClr>
                </a:solidFill>
                <a:sym typeface="+mn-ea"/>
              </a:rPr>
              <a:t>“</a:t>
            </a:r>
            <a:r>
              <a:rPr lang="zh-CN" altLang="en-US" sz="2800">
                <a:solidFill>
                  <a:schemeClr val="tx1">
                    <a:lumMod val="65000"/>
                    <a:lumOff val="35000"/>
                  </a:schemeClr>
                </a:solidFill>
                <a:sym typeface="+mn-ea"/>
              </a:rPr>
              <a:t>脆弱的</a:t>
            </a:r>
            <a:r>
              <a:rPr lang="en-US" altLang="zh-CN" sz="2800">
                <a:solidFill>
                  <a:schemeClr val="tx1">
                    <a:lumMod val="65000"/>
                    <a:lumOff val="35000"/>
                  </a:schemeClr>
                </a:solidFill>
                <a:sym typeface="+mn-ea"/>
              </a:rPr>
              <a:t>”</a:t>
            </a:r>
            <a:r>
              <a:rPr lang="zh-CN" altLang="en-US" sz="2800">
                <a:solidFill>
                  <a:schemeClr val="tx1">
                    <a:lumMod val="65000"/>
                    <a:lumOff val="35000"/>
                  </a:schemeClr>
                </a:solidFill>
                <a:sym typeface="+mn-ea"/>
              </a:rPr>
              <a:t>缓冲区代码</a:t>
            </a:r>
          </a:p>
        </p:txBody>
      </p:sp>
      <p:sp>
        <p:nvSpPr>
          <p:cNvPr id="23555" name="Rectangle 3"/>
          <p:cNvSpPr>
            <a:spLocks noChangeArrowheads="1"/>
          </p:cNvSpPr>
          <p:nvPr/>
        </p:nvSpPr>
        <p:spPr bwMode="auto">
          <a:xfrm>
            <a:off x="609600" y="3124200"/>
            <a:ext cx="3657600" cy="828432"/>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void </a:t>
            </a:r>
            <a:r>
              <a:rPr lang="en-US" sz="1600" dirty="0" err="1">
                <a:latin typeface="Courier New" panose="02070309020205020404" charset="0"/>
                <a:ea typeface="MS Mincho" panose="02020609040205080304" pitchFamily="49" charset="-128"/>
              </a:rPr>
              <a:t>call_echo</a:t>
            </a:r>
            <a:r>
              <a:rPr lang="en-US" sz="1600" dirty="0">
                <a:latin typeface="Courier New" panose="02070309020205020404" charset="0"/>
                <a:ea typeface="MS Mincho" panose="02020609040205080304" pitchFamily="49" charset="-128"/>
              </a:rPr>
              <a:t>() {</a:t>
            </a:r>
          </a:p>
          <a:p>
            <a:pPr eaLnBrk="0" hangingPunct="0">
              <a:tabLst>
                <a:tab pos="457200" algn="l"/>
                <a:tab pos="1485900" algn="l"/>
              </a:tabLst>
            </a:pPr>
            <a:r>
              <a:rPr lang="en-US" sz="1600" dirty="0">
                <a:latin typeface="Courier New" panose="02070309020205020404" charset="0"/>
                <a:ea typeface="MS Mincho" panose="02020609040205080304" pitchFamily="49" charset="-128"/>
              </a:rPr>
              <a:t>    echo();</a:t>
            </a:r>
          </a:p>
          <a:p>
            <a:pPr eaLnBrk="0" hangingPunct="0">
              <a:tabLst>
                <a:tab pos="457200" algn="l"/>
                <a:tab pos="1485900" algn="l"/>
              </a:tabLst>
            </a:pPr>
            <a:r>
              <a:rPr lang="en-US" sz="1600" dirty="0">
                <a:latin typeface="Courier New" panose="02070309020205020404" charset="0"/>
                <a:ea typeface="MS Mincho" panose="02020609040205080304" pitchFamily="49" charset="-128"/>
              </a:rPr>
              <a:t>}</a:t>
            </a:r>
          </a:p>
        </p:txBody>
      </p:sp>
      <p:sp>
        <p:nvSpPr>
          <p:cNvPr id="23556" name="Rectangle 4"/>
          <p:cNvSpPr>
            <a:spLocks noChangeArrowheads="1"/>
          </p:cNvSpPr>
          <p:nvPr/>
        </p:nvSpPr>
        <p:spPr bwMode="auto">
          <a:xfrm>
            <a:off x="609600" y="1219200"/>
            <a:ext cx="5029200" cy="181292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 Echo Line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void echo()</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char </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[4];  /* Way too small!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gets(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puts(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p>
        </p:txBody>
      </p:sp>
      <p:sp>
        <p:nvSpPr>
          <p:cNvPr id="5" name="Rectangle 3"/>
          <p:cNvSpPr>
            <a:spLocks noChangeArrowheads="1"/>
          </p:cNvSpPr>
          <p:nvPr/>
        </p:nvSpPr>
        <p:spPr bwMode="auto">
          <a:xfrm>
            <a:off x="3352800" y="4133850"/>
            <a:ext cx="5257800" cy="828432"/>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1485900" algn="l"/>
              </a:tabLst>
              <a:defRPr/>
            </a:pPr>
            <a:r>
              <a:rPr lang="en-US" sz="1600" dirty="0" err="1">
                <a:latin typeface="Courier New" panose="02070309020205020404" charset="0"/>
                <a:ea typeface="MS Mincho" panose="02020609040205080304" pitchFamily="49" charset="-128"/>
                <a:cs typeface="+mn-cs"/>
              </a:rPr>
              <a:t>unix</a:t>
            </a:r>
            <a:r>
              <a:rPr lang="en-US" sz="1600" dirty="0">
                <a:latin typeface="Courier New" panose="02070309020205020404" charset="0"/>
                <a:ea typeface="MS Mincho" panose="02020609040205080304" pitchFamily="49" charset="-128"/>
                <a:cs typeface="+mn-cs"/>
              </a:rPr>
              <a:t>&gt;</a:t>
            </a:r>
            <a:r>
              <a:rPr lang="en-US" sz="1600" i="1" dirty="0">
                <a:latin typeface="Courier New" panose="02070309020205020404" charset="0"/>
                <a:ea typeface="MS Mincho" panose="02020609040205080304" pitchFamily="49" charset="-128"/>
                <a:cs typeface="+mn-cs"/>
              </a:rPr>
              <a:t>./</a:t>
            </a:r>
            <a:r>
              <a:rPr lang="en-US" sz="1600" i="1" dirty="0" err="1">
                <a:latin typeface="Courier New" panose="02070309020205020404" charset="0"/>
                <a:ea typeface="MS Mincho" panose="02020609040205080304" pitchFamily="49" charset="-128"/>
                <a:cs typeface="+mn-cs"/>
              </a:rPr>
              <a:t>bufdemo-nsp</a:t>
            </a:r>
            <a:endParaRPr lang="en-US" sz="1600" i="1" dirty="0">
              <a:latin typeface="Courier New" panose="02070309020205020404" charset="0"/>
              <a:ea typeface="MS Mincho" panose="02020609040205080304" pitchFamily="49" charset="-128"/>
              <a:cs typeface="+mn-cs"/>
            </a:endParaRP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Type a string:</a:t>
            </a:r>
            <a:r>
              <a:rPr lang="en-US" sz="1600" i="1" dirty="0">
                <a:latin typeface="Courier New" panose="02070309020205020404" charset="0"/>
                <a:ea typeface="MS Mincho" panose="02020609040205080304" pitchFamily="49" charset="-128"/>
                <a:cs typeface="+mn-cs"/>
              </a:rPr>
              <a:t>012345678901234567890123</a:t>
            </a:r>
          </a:p>
          <a:p>
            <a:pPr eaLnBrk="0" hangingPunct="0">
              <a:tabLst>
                <a:tab pos="457200" algn="l"/>
                <a:tab pos="1485900" algn="l"/>
              </a:tabLst>
              <a:defRPr/>
            </a:pPr>
            <a:r>
              <a:rPr lang="en-US" sz="1600" dirty="0">
                <a:latin typeface="Courier New" panose="02070309020205020404" charset="0"/>
                <a:ea typeface="MS Mincho" panose="02020609040205080304" pitchFamily="49" charset="-128"/>
              </a:rPr>
              <a:t>012345678901234567890123</a:t>
            </a:r>
            <a:endParaRPr lang="en-US" sz="1600" dirty="0">
              <a:latin typeface="Courier New" panose="02070309020205020404" charset="0"/>
              <a:ea typeface="MS Mincho" panose="02020609040205080304" pitchFamily="49" charset="-128"/>
              <a:cs typeface="+mn-cs"/>
            </a:endParaRPr>
          </a:p>
        </p:txBody>
      </p:sp>
      <p:sp>
        <p:nvSpPr>
          <p:cNvPr id="6" name="Rectangle 4"/>
          <p:cNvSpPr>
            <a:spLocks noChangeArrowheads="1"/>
          </p:cNvSpPr>
          <p:nvPr/>
        </p:nvSpPr>
        <p:spPr bwMode="auto">
          <a:xfrm>
            <a:off x="3352800" y="5267325"/>
            <a:ext cx="5257800" cy="828675"/>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1485900" algn="l"/>
              </a:tabLst>
              <a:defRPr/>
            </a:pPr>
            <a:r>
              <a:rPr lang="en-US" sz="1600" dirty="0" err="1">
                <a:latin typeface="Courier New" panose="02070309020205020404" charset="0"/>
                <a:ea typeface="MS Mincho" panose="02020609040205080304" pitchFamily="49" charset="-128"/>
                <a:cs typeface="+mn-cs"/>
              </a:rPr>
              <a:t>unix</a:t>
            </a:r>
            <a:r>
              <a:rPr lang="en-US" sz="1600" dirty="0">
                <a:latin typeface="Courier New" panose="02070309020205020404" charset="0"/>
                <a:ea typeface="MS Mincho" panose="02020609040205080304" pitchFamily="49" charset="-128"/>
                <a:cs typeface="+mn-cs"/>
              </a:rPr>
              <a:t>&gt;./</a:t>
            </a:r>
            <a:r>
              <a:rPr lang="en-US" sz="1600" dirty="0" err="1">
                <a:latin typeface="Courier New" panose="02070309020205020404" charset="0"/>
                <a:ea typeface="MS Mincho" panose="02020609040205080304" pitchFamily="49" charset="-128"/>
                <a:cs typeface="+mn-cs"/>
              </a:rPr>
              <a:t>bufdemo-nsp</a:t>
            </a:r>
            <a:endParaRPr lang="en-US" sz="1600" dirty="0">
              <a:latin typeface="Courier New" panose="02070309020205020404" charset="0"/>
              <a:ea typeface="MS Mincho" panose="02020609040205080304" pitchFamily="49" charset="-128"/>
              <a:cs typeface="+mn-cs"/>
            </a:endParaRP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Type a string:</a:t>
            </a:r>
            <a:r>
              <a:rPr lang="en-US" sz="1600" i="1" dirty="0">
                <a:latin typeface="Courier New" panose="02070309020205020404" charset="0"/>
                <a:ea typeface="MS Mincho" panose="02020609040205080304" pitchFamily="49" charset="-128"/>
              </a:rPr>
              <a:t>0123456789012345678901234</a:t>
            </a: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Segmentation Fault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93255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sym typeface="+mn-ea"/>
              </a:rPr>
              <a:t>缓冲区溢出反汇编程序</a:t>
            </a:r>
          </a:p>
        </p:txBody>
      </p:sp>
      <p:sp>
        <p:nvSpPr>
          <p:cNvPr id="448516" name="Rectangle 4"/>
          <p:cNvSpPr>
            <a:spLocks noChangeArrowheads="1"/>
          </p:cNvSpPr>
          <p:nvPr/>
        </p:nvSpPr>
        <p:spPr bwMode="auto">
          <a:xfrm>
            <a:off x="444500" y="1600200"/>
            <a:ext cx="8578850" cy="2305760"/>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1485900" algn="l"/>
                <a:tab pos="3771900" algn="l"/>
                <a:tab pos="3943350" algn="l"/>
              </a:tabLst>
              <a:defRPr/>
            </a:pPr>
            <a:r>
              <a:rPr lang="en-US" sz="1800" dirty="0">
                <a:latin typeface="Courier New" panose="02070309020205020404" charset="0"/>
                <a:ea typeface="MS Mincho" panose="02020609040205080304" pitchFamily="49" charset="-128"/>
                <a:cs typeface="+mn-cs"/>
              </a:rPr>
              <a:t> 00000000004006cf &lt;echo&gt;:</a:t>
            </a:r>
          </a:p>
          <a:p>
            <a:pPr eaLnBrk="0" hangingPunct="0">
              <a:tabLst>
                <a:tab pos="457200" algn="l"/>
                <a:tab pos="1485900" algn="l"/>
                <a:tab pos="3771900" algn="l"/>
                <a:tab pos="3943350" algn="l"/>
              </a:tabLst>
              <a:defRPr/>
            </a:pPr>
            <a:r>
              <a:rPr lang="en-US" sz="1800" dirty="0">
                <a:latin typeface="Courier New" panose="02070309020205020404" charset="0"/>
                <a:ea typeface="MS Mincho" panose="02020609040205080304" pitchFamily="49" charset="-128"/>
                <a:cs typeface="+mn-cs"/>
              </a:rPr>
              <a:t>  4006cf:	48 83 </a:t>
            </a:r>
            <a:r>
              <a:rPr lang="en-US" sz="1800" dirty="0" err="1">
                <a:latin typeface="Courier New" panose="02070309020205020404" charset="0"/>
                <a:ea typeface="MS Mincho" panose="02020609040205080304" pitchFamily="49" charset="-128"/>
                <a:cs typeface="+mn-cs"/>
              </a:rPr>
              <a:t>ec</a:t>
            </a:r>
            <a:r>
              <a:rPr lang="en-US" sz="1800" dirty="0">
                <a:latin typeface="Courier New" panose="02070309020205020404" charset="0"/>
                <a:ea typeface="MS Mincho" panose="02020609040205080304" pitchFamily="49" charset="-128"/>
                <a:cs typeface="+mn-cs"/>
              </a:rPr>
              <a:t> 18          	sub    </a:t>
            </a:r>
            <a:r>
              <a:rPr lang="en-US" sz="1800" dirty="0">
                <a:solidFill>
                  <a:srgbClr val="C00000"/>
                </a:solidFill>
                <a:latin typeface="Courier New" panose="02070309020205020404" charset="0"/>
                <a:ea typeface="MS Mincho" panose="02020609040205080304" pitchFamily="49" charset="-128"/>
                <a:cs typeface="+mn-cs"/>
              </a:rPr>
              <a:t>$0x18</a:t>
            </a:r>
            <a:r>
              <a:rPr lang="en-US" sz="1800" dirty="0">
                <a:latin typeface="Courier New" panose="02070309020205020404" charset="0"/>
                <a:ea typeface="MS Mincho" panose="02020609040205080304" pitchFamily="49" charset="-128"/>
                <a:cs typeface="+mn-cs"/>
              </a:rPr>
              <a:t>,%rsp</a:t>
            </a:r>
          </a:p>
          <a:p>
            <a:pPr eaLnBrk="0" hangingPunct="0">
              <a:tabLst>
                <a:tab pos="457200" algn="l"/>
                <a:tab pos="1485900" algn="l"/>
                <a:tab pos="3771900" algn="l"/>
                <a:tab pos="3943350" algn="l"/>
              </a:tabLst>
              <a:defRPr/>
            </a:pPr>
            <a:r>
              <a:rPr lang="en-US" sz="1800" dirty="0">
                <a:latin typeface="Courier New" panose="02070309020205020404" charset="0"/>
                <a:ea typeface="MS Mincho" panose="02020609040205080304" pitchFamily="49" charset="-128"/>
                <a:cs typeface="+mn-cs"/>
              </a:rPr>
              <a:t>  4006d3:	48 89 e7             	</a:t>
            </a:r>
            <a:r>
              <a:rPr lang="en-US" sz="1800" dirty="0" err="1">
                <a:latin typeface="Courier New" panose="02070309020205020404" charset="0"/>
                <a:ea typeface="MS Mincho" panose="02020609040205080304" pitchFamily="49" charset="-128"/>
                <a:cs typeface="+mn-cs"/>
              </a:rPr>
              <a:t>mov</a:t>
            </a:r>
            <a:r>
              <a:rPr lang="en-US" sz="1800" dirty="0">
                <a:latin typeface="Courier New" panose="02070309020205020404" charset="0"/>
                <a:ea typeface="MS Mincho" panose="02020609040205080304" pitchFamily="49" charset="-128"/>
                <a:cs typeface="+mn-cs"/>
              </a:rPr>
              <a:t>    </a:t>
            </a:r>
            <a:r>
              <a:rPr lang="en-US" sz="1800" dirty="0">
                <a:solidFill>
                  <a:srgbClr val="C00000"/>
                </a:solidFill>
                <a:latin typeface="Courier New" panose="02070309020205020404" charset="0"/>
                <a:ea typeface="MS Mincho" panose="02020609040205080304" pitchFamily="49" charset="-128"/>
                <a:cs typeface="+mn-cs"/>
              </a:rPr>
              <a:t>%</a:t>
            </a:r>
            <a:r>
              <a:rPr lang="en-US" sz="1800" dirty="0" err="1">
                <a:solidFill>
                  <a:srgbClr val="C00000"/>
                </a:solidFill>
                <a:latin typeface="Courier New" panose="02070309020205020404" charset="0"/>
                <a:ea typeface="MS Mincho" panose="02020609040205080304" pitchFamily="49" charset="-128"/>
                <a:cs typeface="+mn-cs"/>
              </a:rPr>
              <a:t>rsp</a:t>
            </a:r>
            <a:r>
              <a:rPr lang="en-US" sz="1800" dirty="0">
                <a:solidFill>
                  <a:srgbClr val="C00000"/>
                </a:solidFill>
                <a:latin typeface="Courier New" panose="02070309020205020404" charset="0"/>
                <a:ea typeface="MS Mincho" panose="02020609040205080304" pitchFamily="49" charset="-128"/>
                <a:cs typeface="+mn-cs"/>
              </a:rPr>
              <a:t>,%</a:t>
            </a:r>
            <a:r>
              <a:rPr lang="en-US" sz="1800" dirty="0" err="1">
                <a:solidFill>
                  <a:srgbClr val="C00000"/>
                </a:solidFill>
                <a:latin typeface="Courier New" panose="02070309020205020404" charset="0"/>
                <a:ea typeface="MS Mincho" panose="02020609040205080304" pitchFamily="49" charset="-128"/>
                <a:cs typeface="+mn-cs"/>
              </a:rPr>
              <a:t>rdi</a:t>
            </a:r>
            <a:endParaRPr lang="en-US" sz="1800" dirty="0">
              <a:solidFill>
                <a:srgbClr val="C00000"/>
              </a:solidFill>
              <a:latin typeface="Courier New" panose="02070309020205020404" charset="0"/>
              <a:ea typeface="MS Mincho" panose="02020609040205080304" pitchFamily="49" charset="-128"/>
              <a:cs typeface="+mn-cs"/>
            </a:endParaRPr>
          </a:p>
          <a:p>
            <a:pPr eaLnBrk="0" hangingPunct="0">
              <a:tabLst>
                <a:tab pos="457200" algn="l"/>
                <a:tab pos="1485900" algn="l"/>
                <a:tab pos="3771900" algn="l"/>
                <a:tab pos="3943350" algn="l"/>
              </a:tabLst>
              <a:defRPr/>
            </a:pPr>
            <a:r>
              <a:rPr lang="en-US" sz="1800" dirty="0">
                <a:latin typeface="Courier New" panose="02070309020205020404" charset="0"/>
                <a:ea typeface="MS Mincho" panose="02020609040205080304" pitchFamily="49" charset="-128"/>
                <a:cs typeface="+mn-cs"/>
              </a:rPr>
              <a:t>  4006d6:	e8 a5 </a:t>
            </a:r>
            <a:r>
              <a:rPr lang="en-US" sz="1800" dirty="0" err="1">
                <a:latin typeface="Courier New" panose="02070309020205020404" charset="0"/>
                <a:ea typeface="MS Mincho" panose="02020609040205080304" pitchFamily="49" charset="-128"/>
                <a:cs typeface="+mn-cs"/>
              </a:rPr>
              <a:t>ff</a:t>
            </a:r>
            <a:r>
              <a:rPr lang="en-US" sz="1800" dirty="0">
                <a:latin typeface="Courier New" panose="02070309020205020404" charset="0"/>
                <a:ea typeface="MS Mincho" panose="02020609040205080304" pitchFamily="49" charset="-128"/>
                <a:cs typeface="+mn-cs"/>
              </a:rPr>
              <a:t> </a:t>
            </a:r>
            <a:r>
              <a:rPr lang="en-US" sz="1800" dirty="0" err="1">
                <a:latin typeface="Courier New" panose="02070309020205020404" charset="0"/>
                <a:ea typeface="MS Mincho" panose="02020609040205080304" pitchFamily="49" charset="-128"/>
                <a:cs typeface="+mn-cs"/>
              </a:rPr>
              <a:t>ff</a:t>
            </a:r>
            <a:r>
              <a:rPr lang="en-US" sz="1800" dirty="0">
                <a:latin typeface="Courier New" panose="02070309020205020404" charset="0"/>
                <a:ea typeface="MS Mincho" panose="02020609040205080304" pitchFamily="49" charset="-128"/>
                <a:cs typeface="+mn-cs"/>
              </a:rPr>
              <a:t> </a:t>
            </a:r>
            <a:r>
              <a:rPr lang="en-US" sz="1800" dirty="0" err="1">
                <a:latin typeface="Courier New" panose="02070309020205020404" charset="0"/>
                <a:ea typeface="MS Mincho" panose="02020609040205080304" pitchFamily="49" charset="-128"/>
                <a:cs typeface="+mn-cs"/>
              </a:rPr>
              <a:t>ff</a:t>
            </a:r>
            <a:r>
              <a:rPr lang="en-US" sz="1800" dirty="0">
                <a:latin typeface="Courier New" panose="02070309020205020404" charset="0"/>
                <a:ea typeface="MS Mincho" panose="02020609040205080304" pitchFamily="49" charset="-128"/>
                <a:cs typeface="+mn-cs"/>
              </a:rPr>
              <a:t>       	</a:t>
            </a:r>
            <a:r>
              <a:rPr lang="en-US" sz="1800" dirty="0" err="1">
                <a:latin typeface="Courier New" panose="02070309020205020404" charset="0"/>
                <a:ea typeface="MS Mincho" panose="02020609040205080304" pitchFamily="49" charset="-128"/>
                <a:cs typeface="+mn-cs"/>
              </a:rPr>
              <a:t>callq</a:t>
            </a:r>
            <a:r>
              <a:rPr lang="en-US" sz="1800" dirty="0">
                <a:latin typeface="Courier New" panose="02070309020205020404" charset="0"/>
                <a:ea typeface="MS Mincho" panose="02020609040205080304" pitchFamily="49" charset="-128"/>
                <a:cs typeface="+mn-cs"/>
              </a:rPr>
              <a:t>  400680 &lt;gets&gt;</a:t>
            </a:r>
          </a:p>
          <a:p>
            <a:pPr eaLnBrk="0" hangingPunct="0">
              <a:tabLst>
                <a:tab pos="457200" algn="l"/>
                <a:tab pos="1485900" algn="l"/>
                <a:tab pos="3771900" algn="l"/>
                <a:tab pos="3943350" algn="l"/>
              </a:tabLst>
              <a:defRPr/>
            </a:pPr>
            <a:r>
              <a:rPr lang="en-US" sz="1800" dirty="0">
                <a:latin typeface="Courier New" panose="02070309020205020404" charset="0"/>
                <a:ea typeface="MS Mincho" panose="02020609040205080304" pitchFamily="49" charset="-128"/>
                <a:cs typeface="+mn-cs"/>
              </a:rPr>
              <a:t>  4006db:	48 89 e7             	</a:t>
            </a:r>
            <a:r>
              <a:rPr lang="en-US" sz="1800" dirty="0" err="1">
                <a:latin typeface="Courier New" panose="02070309020205020404" charset="0"/>
                <a:ea typeface="MS Mincho" panose="02020609040205080304" pitchFamily="49" charset="-128"/>
                <a:cs typeface="+mn-cs"/>
              </a:rPr>
              <a:t>mov</a:t>
            </a:r>
            <a:r>
              <a:rPr lang="en-US" sz="1800" dirty="0">
                <a:latin typeface="Courier New" panose="02070309020205020404" charset="0"/>
                <a:ea typeface="MS Mincho" panose="02020609040205080304" pitchFamily="49" charset="-128"/>
                <a:cs typeface="+mn-cs"/>
              </a:rPr>
              <a:t>    %</a:t>
            </a:r>
            <a:r>
              <a:rPr lang="en-US" sz="1800" dirty="0" err="1">
                <a:latin typeface="Courier New" panose="02070309020205020404" charset="0"/>
                <a:ea typeface="MS Mincho" panose="02020609040205080304" pitchFamily="49" charset="-128"/>
                <a:cs typeface="+mn-cs"/>
              </a:rPr>
              <a:t>rsp</a:t>
            </a:r>
            <a:r>
              <a:rPr lang="en-US" sz="1800" dirty="0">
                <a:latin typeface="Courier New" panose="02070309020205020404" charset="0"/>
                <a:ea typeface="MS Mincho" panose="02020609040205080304" pitchFamily="49" charset="-128"/>
                <a:cs typeface="+mn-cs"/>
              </a:rPr>
              <a:t>,%</a:t>
            </a:r>
            <a:r>
              <a:rPr lang="en-US" sz="1800" dirty="0" err="1">
                <a:latin typeface="Courier New" panose="02070309020205020404" charset="0"/>
                <a:ea typeface="MS Mincho" panose="02020609040205080304" pitchFamily="49" charset="-128"/>
                <a:cs typeface="+mn-cs"/>
              </a:rPr>
              <a:t>rdi</a:t>
            </a:r>
            <a:endParaRPr lang="en-US" sz="1800" dirty="0">
              <a:latin typeface="Courier New" panose="02070309020205020404" charset="0"/>
              <a:ea typeface="MS Mincho" panose="02020609040205080304" pitchFamily="49" charset="-128"/>
              <a:cs typeface="+mn-cs"/>
            </a:endParaRPr>
          </a:p>
          <a:p>
            <a:pPr eaLnBrk="0" hangingPunct="0">
              <a:tabLst>
                <a:tab pos="457200" algn="l"/>
                <a:tab pos="1485900" algn="l"/>
                <a:tab pos="3771900" algn="l"/>
                <a:tab pos="3943350" algn="l"/>
              </a:tabLst>
              <a:defRPr/>
            </a:pPr>
            <a:r>
              <a:rPr lang="en-US" sz="1800" dirty="0">
                <a:latin typeface="Courier New" panose="02070309020205020404" charset="0"/>
                <a:ea typeface="MS Mincho" panose="02020609040205080304" pitchFamily="49" charset="-128"/>
                <a:cs typeface="+mn-cs"/>
              </a:rPr>
              <a:t>  4006de:	e8 3d </a:t>
            </a:r>
            <a:r>
              <a:rPr lang="en-US" sz="1800" dirty="0" err="1">
                <a:latin typeface="Courier New" panose="02070309020205020404" charset="0"/>
                <a:ea typeface="MS Mincho" panose="02020609040205080304" pitchFamily="49" charset="-128"/>
                <a:cs typeface="+mn-cs"/>
              </a:rPr>
              <a:t>fe</a:t>
            </a:r>
            <a:r>
              <a:rPr lang="en-US" sz="1800" dirty="0">
                <a:latin typeface="Courier New" panose="02070309020205020404" charset="0"/>
                <a:ea typeface="MS Mincho" panose="02020609040205080304" pitchFamily="49" charset="-128"/>
                <a:cs typeface="+mn-cs"/>
              </a:rPr>
              <a:t> </a:t>
            </a:r>
            <a:r>
              <a:rPr lang="en-US" sz="1800" dirty="0" err="1">
                <a:latin typeface="Courier New" panose="02070309020205020404" charset="0"/>
                <a:ea typeface="MS Mincho" panose="02020609040205080304" pitchFamily="49" charset="-128"/>
                <a:cs typeface="+mn-cs"/>
              </a:rPr>
              <a:t>ff</a:t>
            </a:r>
            <a:r>
              <a:rPr lang="en-US" sz="1800" dirty="0">
                <a:latin typeface="Courier New" panose="02070309020205020404" charset="0"/>
                <a:ea typeface="MS Mincho" panose="02020609040205080304" pitchFamily="49" charset="-128"/>
                <a:cs typeface="+mn-cs"/>
              </a:rPr>
              <a:t> </a:t>
            </a:r>
            <a:r>
              <a:rPr lang="en-US" sz="1800" dirty="0" err="1">
                <a:latin typeface="Courier New" panose="02070309020205020404" charset="0"/>
                <a:ea typeface="MS Mincho" panose="02020609040205080304" pitchFamily="49" charset="-128"/>
                <a:cs typeface="+mn-cs"/>
              </a:rPr>
              <a:t>ff</a:t>
            </a:r>
            <a:r>
              <a:rPr lang="en-US" sz="1800" dirty="0">
                <a:latin typeface="Courier New" panose="02070309020205020404" charset="0"/>
                <a:ea typeface="MS Mincho" panose="02020609040205080304" pitchFamily="49" charset="-128"/>
                <a:cs typeface="+mn-cs"/>
              </a:rPr>
              <a:t>       	</a:t>
            </a:r>
            <a:r>
              <a:rPr lang="en-US" sz="1800" dirty="0" err="1">
                <a:latin typeface="Courier New" panose="02070309020205020404" charset="0"/>
                <a:ea typeface="MS Mincho" panose="02020609040205080304" pitchFamily="49" charset="-128"/>
                <a:cs typeface="+mn-cs"/>
              </a:rPr>
              <a:t>callq</a:t>
            </a:r>
            <a:r>
              <a:rPr lang="en-US" sz="1800" dirty="0">
                <a:latin typeface="Courier New" panose="02070309020205020404" charset="0"/>
                <a:ea typeface="MS Mincho" panose="02020609040205080304" pitchFamily="49" charset="-128"/>
                <a:cs typeface="+mn-cs"/>
              </a:rPr>
              <a:t>  400520 &lt;</a:t>
            </a:r>
            <a:r>
              <a:rPr lang="en-US" sz="1800" dirty="0" err="1">
                <a:latin typeface="Courier New" panose="02070309020205020404" charset="0"/>
                <a:ea typeface="MS Mincho" panose="02020609040205080304" pitchFamily="49" charset="-128"/>
                <a:cs typeface="+mn-cs"/>
              </a:rPr>
              <a:t>puts@plt</a:t>
            </a:r>
            <a:r>
              <a:rPr lang="en-US" sz="1800" dirty="0">
                <a:latin typeface="Courier New" panose="02070309020205020404" charset="0"/>
                <a:ea typeface="MS Mincho" panose="02020609040205080304" pitchFamily="49" charset="-128"/>
                <a:cs typeface="+mn-cs"/>
              </a:rPr>
              <a:t>&gt;</a:t>
            </a:r>
          </a:p>
          <a:p>
            <a:pPr eaLnBrk="0" hangingPunct="0">
              <a:tabLst>
                <a:tab pos="457200" algn="l"/>
                <a:tab pos="1485900" algn="l"/>
                <a:tab pos="3771900" algn="l"/>
                <a:tab pos="3943350" algn="l"/>
              </a:tabLst>
              <a:defRPr/>
            </a:pPr>
            <a:r>
              <a:rPr lang="en-US" sz="1800" dirty="0">
                <a:latin typeface="Courier New" panose="02070309020205020404" charset="0"/>
                <a:ea typeface="MS Mincho" panose="02020609040205080304" pitchFamily="49" charset="-128"/>
                <a:cs typeface="+mn-cs"/>
              </a:rPr>
              <a:t>  4006e3:	48 83 c4 18          	add    $0x18,%rsp</a:t>
            </a:r>
          </a:p>
          <a:p>
            <a:pPr eaLnBrk="0" hangingPunct="0">
              <a:tabLst>
                <a:tab pos="457200" algn="l"/>
                <a:tab pos="1485900" algn="l"/>
                <a:tab pos="3771900" algn="l"/>
                <a:tab pos="3943350" algn="l"/>
              </a:tabLst>
              <a:defRPr/>
            </a:pPr>
            <a:r>
              <a:rPr lang="en-US" sz="1800" dirty="0">
                <a:latin typeface="Courier New" panose="02070309020205020404" charset="0"/>
                <a:ea typeface="MS Mincho" panose="02020609040205080304" pitchFamily="49" charset="-128"/>
                <a:cs typeface="+mn-cs"/>
              </a:rPr>
              <a:t>  4006e7:	c3                   	</a:t>
            </a:r>
            <a:r>
              <a:rPr lang="en-US" sz="1800" dirty="0" err="1">
                <a:latin typeface="Courier New" panose="02070309020205020404" charset="0"/>
                <a:ea typeface="MS Mincho" panose="02020609040205080304" pitchFamily="49" charset="-128"/>
                <a:cs typeface="+mn-cs"/>
              </a:rPr>
              <a:t>retq</a:t>
            </a:r>
            <a:r>
              <a:rPr lang="en-US" sz="1800" dirty="0">
                <a:latin typeface="Courier New" panose="02070309020205020404" charset="0"/>
                <a:ea typeface="MS Mincho" panose="02020609040205080304" pitchFamily="49" charset="-128"/>
                <a:cs typeface="+mn-cs"/>
              </a:rPr>
              <a:t> </a:t>
            </a:r>
            <a:endParaRPr lang="ro-RO" sz="1800" dirty="0">
              <a:latin typeface="Courier New" panose="02070309020205020404" charset="0"/>
              <a:ea typeface="MS Mincho" panose="02020609040205080304" pitchFamily="49" charset="-128"/>
              <a:cs typeface="+mn-cs"/>
            </a:endParaRPr>
          </a:p>
        </p:txBody>
      </p:sp>
      <p:sp>
        <p:nvSpPr>
          <p:cNvPr id="24580" name="Rectangle 5"/>
          <p:cNvSpPr>
            <a:spLocks noChangeArrowheads="1"/>
          </p:cNvSpPr>
          <p:nvPr/>
        </p:nvSpPr>
        <p:spPr bwMode="auto">
          <a:xfrm>
            <a:off x="565150" y="4826501"/>
            <a:ext cx="8045450" cy="1474763"/>
          </a:xfrm>
          <a:prstGeom prst="rect">
            <a:avLst/>
          </a:prstGeom>
          <a:solidFill>
            <a:srgbClr val="F1C7C7"/>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800" dirty="0">
                <a:latin typeface="Courier New" panose="02070309020205020404" charset="0"/>
                <a:ea typeface="MS Mincho" panose="02020609040205080304" pitchFamily="49" charset="-128"/>
              </a:rPr>
              <a:t>  4006e8:	48 83 </a:t>
            </a:r>
            <a:r>
              <a:rPr lang="en-US" sz="1800" dirty="0" err="1">
                <a:latin typeface="Courier New" panose="02070309020205020404" charset="0"/>
                <a:ea typeface="MS Mincho" panose="02020609040205080304" pitchFamily="49" charset="-128"/>
              </a:rPr>
              <a:t>ec</a:t>
            </a:r>
            <a:r>
              <a:rPr lang="en-US" sz="1800" dirty="0">
                <a:latin typeface="Courier New" panose="02070309020205020404" charset="0"/>
                <a:ea typeface="MS Mincho" panose="02020609040205080304" pitchFamily="49" charset="-128"/>
              </a:rPr>
              <a:t> 08          	sub    $0x8,%rsp</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4006ec:	b8 00 00 00 00       	</a:t>
            </a:r>
            <a:r>
              <a:rPr lang="en-US" sz="1800" dirty="0" err="1">
                <a:latin typeface="Courier New" panose="02070309020205020404" charset="0"/>
                <a:ea typeface="MS Mincho" panose="02020609040205080304" pitchFamily="49" charset="-128"/>
              </a:rPr>
              <a:t>mov</a:t>
            </a:r>
            <a:r>
              <a:rPr lang="en-US" sz="1800" dirty="0">
                <a:latin typeface="Courier New" panose="02070309020205020404" charset="0"/>
                <a:ea typeface="MS Mincho" panose="02020609040205080304" pitchFamily="49" charset="-128"/>
              </a:rPr>
              <a:t>    $0x0,%eax</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4006f1:	e8 d9 </a:t>
            </a:r>
            <a:r>
              <a:rPr lang="en-US" sz="1800" dirty="0" err="1">
                <a:latin typeface="Courier New" panose="02070309020205020404" charset="0"/>
                <a:ea typeface="MS Mincho" panose="02020609040205080304" pitchFamily="49" charset="-128"/>
              </a:rPr>
              <a:t>ff</a:t>
            </a:r>
            <a:r>
              <a:rPr lang="en-US" sz="1800" dirty="0">
                <a:latin typeface="Courier New" panose="02070309020205020404" charset="0"/>
                <a:ea typeface="MS Mincho" panose="02020609040205080304" pitchFamily="49" charset="-128"/>
              </a:rPr>
              <a:t> </a:t>
            </a:r>
            <a:r>
              <a:rPr lang="en-US" sz="1800" dirty="0" err="1">
                <a:latin typeface="Courier New" panose="02070309020205020404" charset="0"/>
                <a:ea typeface="MS Mincho" panose="02020609040205080304" pitchFamily="49" charset="-128"/>
              </a:rPr>
              <a:t>ff</a:t>
            </a:r>
            <a:r>
              <a:rPr lang="en-US" sz="1800" dirty="0">
                <a:latin typeface="Courier New" panose="02070309020205020404" charset="0"/>
                <a:ea typeface="MS Mincho" panose="02020609040205080304" pitchFamily="49" charset="-128"/>
              </a:rPr>
              <a:t> </a:t>
            </a:r>
            <a:r>
              <a:rPr lang="en-US" sz="1800" dirty="0" err="1">
                <a:latin typeface="Courier New" panose="02070309020205020404" charset="0"/>
                <a:ea typeface="MS Mincho" panose="02020609040205080304" pitchFamily="49" charset="-128"/>
              </a:rPr>
              <a:t>ff</a:t>
            </a:r>
            <a:r>
              <a:rPr lang="en-US" sz="1800" dirty="0">
                <a:latin typeface="Courier New" panose="02070309020205020404" charset="0"/>
                <a:ea typeface="MS Mincho" panose="02020609040205080304" pitchFamily="49" charset="-128"/>
              </a:rPr>
              <a:t>       	</a:t>
            </a:r>
            <a:r>
              <a:rPr lang="en-US" sz="1800" dirty="0" err="1">
                <a:latin typeface="Courier New" panose="02070309020205020404" charset="0"/>
                <a:ea typeface="MS Mincho" panose="02020609040205080304" pitchFamily="49" charset="-128"/>
              </a:rPr>
              <a:t>callq</a:t>
            </a:r>
            <a:r>
              <a:rPr lang="en-US" sz="1800" dirty="0">
                <a:latin typeface="Courier New" panose="02070309020205020404" charset="0"/>
                <a:ea typeface="MS Mincho" panose="02020609040205080304" pitchFamily="49" charset="-128"/>
              </a:rPr>
              <a:t>  4006cf &lt;echo&gt;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r>
              <a:rPr lang="en-US" sz="1800" dirty="0">
                <a:solidFill>
                  <a:srgbClr val="0070C0"/>
                </a:solidFill>
                <a:latin typeface="Courier New" panose="02070309020205020404" charset="0"/>
                <a:ea typeface="MS Mincho" panose="02020609040205080304" pitchFamily="49" charset="-128"/>
              </a:rPr>
              <a:t>4006f6</a:t>
            </a:r>
            <a:r>
              <a:rPr lang="en-US" sz="1800" dirty="0">
                <a:latin typeface="Courier New" panose="02070309020205020404" charset="0"/>
                <a:ea typeface="MS Mincho" panose="02020609040205080304" pitchFamily="49" charset="-128"/>
              </a:rPr>
              <a:t>:	48 83 c4 08          	add    $0x8,%rsp</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4006fa:	c3                   	</a:t>
            </a:r>
            <a:r>
              <a:rPr lang="en-US" sz="1800" dirty="0" err="1">
                <a:latin typeface="Courier New" panose="02070309020205020404" charset="0"/>
                <a:ea typeface="MS Mincho" panose="02020609040205080304" pitchFamily="49" charset="-128"/>
              </a:rPr>
              <a:t>retq</a:t>
            </a:r>
            <a:r>
              <a:rPr lang="en-US" sz="1800" dirty="0">
                <a:latin typeface="Courier New" panose="02070309020205020404" charset="0"/>
                <a:ea typeface="MS Mincho" panose="02020609040205080304" pitchFamily="49" charset="-128"/>
              </a:rPr>
              <a:t> </a:t>
            </a:r>
          </a:p>
        </p:txBody>
      </p:sp>
      <p:sp>
        <p:nvSpPr>
          <p:cNvPr id="7" name="TextBox 4"/>
          <p:cNvSpPr txBox="1"/>
          <p:nvPr/>
        </p:nvSpPr>
        <p:spPr>
          <a:xfrm>
            <a:off x="444500" y="4419600"/>
            <a:ext cx="1469122" cy="461665"/>
          </a:xfrm>
          <a:prstGeom prst="rect">
            <a:avLst/>
          </a:prstGeom>
          <a:noFill/>
        </p:spPr>
        <p:txBody>
          <a:bodyPr wrap="none" rtlCol="0">
            <a:spAutoFit/>
          </a:bodyPr>
          <a:lstStyle/>
          <a:p>
            <a:r>
              <a:rPr lang="en-US" dirty="0" err="1">
                <a:latin typeface="Calibri" panose="020F0502020204030204" charset="0"/>
              </a:rPr>
              <a:t>call_echo</a:t>
            </a:r>
            <a:r>
              <a:rPr lang="en-US" dirty="0">
                <a:latin typeface="Calibri" panose="020F0502020204030204" charset="0"/>
              </a:rPr>
              <a:t>:</a:t>
            </a:r>
          </a:p>
        </p:txBody>
      </p:sp>
      <p:sp>
        <p:nvSpPr>
          <p:cNvPr id="8" name="TextBox 5"/>
          <p:cNvSpPr txBox="1"/>
          <p:nvPr/>
        </p:nvSpPr>
        <p:spPr>
          <a:xfrm>
            <a:off x="444500" y="1138535"/>
            <a:ext cx="883575" cy="461665"/>
          </a:xfrm>
          <a:prstGeom prst="rect">
            <a:avLst/>
          </a:prstGeom>
          <a:noFill/>
        </p:spPr>
        <p:txBody>
          <a:bodyPr wrap="none" rtlCol="0">
            <a:spAutoFit/>
          </a:bodyPr>
          <a:lstStyle/>
          <a:p>
            <a:r>
              <a:rPr lang="en-US" dirty="0">
                <a:latin typeface="Calibri" panose="020F0502020204030204" charset="0"/>
              </a:rPr>
              <a:t>echo:</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93255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sym typeface="+mn-ea"/>
              </a:rPr>
              <a:t>缓冲区溢出栈</a:t>
            </a:r>
          </a:p>
        </p:txBody>
      </p:sp>
      <p:sp>
        <p:nvSpPr>
          <p:cNvPr id="360451" name="Rectangle 3"/>
          <p:cNvSpPr>
            <a:spLocks noChangeArrowheads="1"/>
          </p:cNvSpPr>
          <p:nvPr/>
        </p:nvSpPr>
        <p:spPr bwMode="auto">
          <a:xfrm>
            <a:off x="6096000" y="5181600"/>
            <a:ext cx="2601912" cy="1320874"/>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echo:</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solidFill>
                  <a:srgbClr val="C00000"/>
                </a:solidFill>
                <a:latin typeface="Courier New" panose="02070309020205020404" charset="0"/>
                <a:ea typeface="MS Mincho" panose="02020609040205080304" pitchFamily="49" charset="-128"/>
                <a:cs typeface="+mn-cs"/>
              </a:rPr>
              <a:t>subq</a:t>
            </a:r>
            <a:r>
              <a:rPr lang="en-US" sz="1600" dirty="0">
                <a:solidFill>
                  <a:srgbClr val="C00000"/>
                </a:solidFill>
                <a:latin typeface="Courier New" panose="02070309020205020404" charset="0"/>
                <a:ea typeface="MS Mincho" panose="02020609040205080304" pitchFamily="49" charset="-128"/>
                <a:cs typeface="+mn-cs"/>
              </a:rPr>
              <a:t>  $24, %</a:t>
            </a:r>
            <a:r>
              <a:rPr lang="en-US" sz="1600" dirty="0" err="1">
                <a:solidFill>
                  <a:srgbClr val="C00000"/>
                </a:solidFill>
                <a:latin typeface="Courier New" panose="02070309020205020404" charset="0"/>
                <a:ea typeface="MS Mincho" panose="02020609040205080304" pitchFamily="49" charset="-128"/>
                <a:cs typeface="+mn-cs"/>
              </a:rPr>
              <a:t>rsp</a:t>
            </a:r>
            <a:endParaRPr lang="en-US" sz="1600" dirty="0">
              <a:solidFill>
                <a:srgbClr val="C00000"/>
              </a:solidFill>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solidFill>
                  <a:srgbClr val="C00000"/>
                </a:solidFill>
                <a:latin typeface="Courier New" panose="02070309020205020404" charset="0"/>
                <a:ea typeface="MS Mincho" panose="02020609040205080304" pitchFamily="49" charset="-128"/>
                <a:cs typeface="+mn-cs"/>
              </a:rPr>
              <a:t>  </a:t>
            </a:r>
            <a:r>
              <a:rPr lang="en-US" sz="1600" dirty="0" err="1">
                <a:solidFill>
                  <a:srgbClr val="C00000"/>
                </a:solidFill>
                <a:latin typeface="Courier New" panose="02070309020205020404" charset="0"/>
                <a:ea typeface="MS Mincho" panose="02020609040205080304" pitchFamily="49" charset="-128"/>
                <a:cs typeface="+mn-cs"/>
              </a:rPr>
              <a:t>movq</a:t>
            </a:r>
            <a:r>
              <a:rPr lang="en-US" sz="1600" dirty="0">
                <a:solidFill>
                  <a:srgbClr val="C00000"/>
                </a:solidFill>
                <a:latin typeface="Courier New" panose="02070309020205020404" charset="0"/>
                <a:ea typeface="MS Mincho" panose="02020609040205080304" pitchFamily="49" charset="-128"/>
                <a:cs typeface="+mn-cs"/>
              </a:rPr>
              <a:t>  %</a:t>
            </a:r>
            <a:r>
              <a:rPr lang="en-US" sz="1600" dirty="0" err="1">
                <a:solidFill>
                  <a:srgbClr val="C00000"/>
                </a:solidFill>
                <a:latin typeface="Courier New" panose="02070309020205020404" charset="0"/>
                <a:ea typeface="MS Mincho" panose="02020609040205080304" pitchFamily="49" charset="-128"/>
                <a:cs typeface="+mn-cs"/>
              </a:rPr>
              <a:t>rsp</a:t>
            </a:r>
            <a:r>
              <a:rPr lang="en-US" sz="1600" dirty="0">
                <a:solidFill>
                  <a:srgbClr val="C00000"/>
                </a:solidFill>
                <a:latin typeface="Courier New" panose="02070309020205020404" charset="0"/>
                <a:ea typeface="MS Mincho" panose="02020609040205080304" pitchFamily="49" charset="-128"/>
                <a:cs typeface="+mn-cs"/>
              </a:rPr>
              <a:t>, %</a:t>
            </a:r>
            <a:r>
              <a:rPr lang="en-US" sz="1600" dirty="0" err="1">
                <a:solidFill>
                  <a:srgbClr val="C00000"/>
                </a:solidFill>
                <a:latin typeface="Courier New" panose="02070309020205020404" charset="0"/>
                <a:ea typeface="MS Mincho" panose="02020609040205080304" pitchFamily="49" charset="-128"/>
                <a:cs typeface="+mn-cs"/>
              </a:rPr>
              <a:t>rdi</a:t>
            </a:r>
            <a:endParaRPr lang="en-US" sz="1600" dirty="0">
              <a:solidFill>
                <a:srgbClr val="C00000"/>
              </a:solidFill>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call  gets</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 . .</a:t>
            </a:r>
          </a:p>
        </p:txBody>
      </p:sp>
      <p:sp>
        <p:nvSpPr>
          <p:cNvPr id="25604" name="Rectangle 4"/>
          <p:cNvSpPr>
            <a:spLocks noChangeArrowheads="1"/>
          </p:cNvSpPr>
          <p:nvPr/>
        </p:nvSpPr>
        <p:spPr bwMode="auto">
          <a:xfrm>
            <a:off x="3733800" y="2286000"/>
            <a:ext cx="5105400" cy="181292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 Echo Line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void echo()</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a:t>
            </a:r>
            <a:r>
              <a:rPr lang="en-US" sz="1600" dirty="0">
                <a:solidFill>
                  <a:srgbClr val="C00000"/>
                </a:solidFill>
                <a:latin typeface="Courier New" panose="02070309020205020404" charset="0"/>
                <a:ea typeface="MS Mincho" panose="02020609040205080304" pitchFamily="49" charset="-128"/>
              </a:rPr>
              <a:t>char </a:t>
            </a:r>
            <a:r>
              <a:rPr lang="en-US" sz="1600" dirty="0" err="1">
                <a:solidFill>
                  <a:srgbClr val="C00000"/>
                </a:solidFill>
                <a:latin typeface="Courier New" panose="02070309020205020404" charset="0"/>
                <a:ea typeface="MS Mincho" panose="02020609040205080304" pitchFamily="49" charset="-128"/>
              </a:rPr>
              <a:t>buf</a:t>
            </a:r>
            <a:r>
              <a:rPr lang="en-US" sz="1600" dirty="0">
                <a:solidFill>
                  <a:srgbClr val="C00000"/>
                </a:solidFill>
                <a:latin typeface="Courier New" panose="02070309020205020404" charset="0"/>
                <a:ea typeface="MS Mincho" panose="02020609040205080304" pitchFamily="49" charset="-128"/>
              </a:rPr>
              <a:t>[4];  </a:t>
            </a:r>
            <a:r>
              <a:rPr lang="en-US" sz="1600" dirty="0">
                <a:latin typeface="Courier New" panose="02070309020205020404" charset="0"/>
                <a:ea typeface="MS Mincho" panose="02020609040205080304" pitchFamily="49" charset="-128"/>
              </a:rPr>
              <a:t>/* Way too small!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gets(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puts(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p>
        </p:txBody>
      </p:sp>
      <p:sp>
        <p:nvSpPr>
          <p:cNvPr id="360470" name="Rectangle 22"/>
          <p:cNvSpPr>
            <a:spLocks noChangeArrowheads="1"/>
          </p:cNvSpPr>
          <p:nvPr/>
        </p:nvSpPr>
        <p:spPr bwMode="auto">
          <a:xfrm>
            <a:off x="533400" y="2503486"/>
            <a:ext cx="1797050" cy="608299"/>
          </a:xfrm>
          <a:prstGeom prst="rect">
            <a:avLst/>
          </a:prstGeom>
          <a:solidFill>
            <a:srgbClr val="D5F1CF"/>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sp>
        <p:nvSpPr>
          <p:cNvPr id="360477" name="Line 29"/>
          <p:cNvSpPr>
            <a:spLocks noChangeShapeType="1"/>
          </p:cNvSpPr>
          <p:nvPr/>
        </p:nvSpPr>
        <p:spPr bwMode="auto">
          <a:xfrm flipH="1">
            <a:off x="2952750" y="4814816"/>
            <a:ext cx="450850" cy="0"/>
          </a:xfrm>
          <a:prstGeom prst="line">
            <a:avLst/>
          </a:prstGeom>
          <a:noFill/>
          <a:ln w="28575">
            <a:solidFill>
              <a:schemeClr val="tx1"/>
            </a:solidFill>
            <a:round/>
            <a:tailEnd type="triangle" w="med" len="med"/>
          </a:ln>
        </p:spPr>
        <p:txBody>
          <a:bodyPr/>
          <a:lstStyle/>
          <a:p>
            <a:endParaRPr lang="en-US"/>
          </a:p>
        </p:txBody>
      </p:sp>
      <p:sp>
        <p:nvSpPr>
          <p:cNvPr id="360478" name="Rectangle 30"/>
          <p:cNvSpPr>
            <a:spLocks noChangeArrowheads="1"/>
          </p:cNvSpPr>
          <p:nvPr/>
        </p:nvSpPr>
        <p:spPr bwMode="auto">
          <a:xfrm>
            <a:off x="3365500" y="4641778"/>
            <a:ext cx="738754" cy="369332"/>
          </a:xfrm>
          <a:prstGeom prst="rect">
            <a:avLst/>
          </a:prstGeom>
          <a:noFill/>
          <a:ln w="9525">
            <a:noFill/>
            <a:miter lim="800000"/>
          </a:ln>
        </p:spPr>
        <p:txBody>
          <a:bodyPr wrap="none">
            <a:spAutoFit/>
          </a:bodyPr>
          <a:lstStyle/>
          <a:p>
            <a:r>
              <a:rPr lang="en-US" sz="1800" dirty="0">
                <a:latin typeface="Courier New" panose="02070309020205020404" charset="0"/>
              </a:rPr>
              <a:t>%</a:t>
            </a:r>
            <a:r>
              <a:rPr lang="en-US" sz="1800" dirty="0" err="1">
                <a:latin typeface="Courier New" panose="02070309020205020404" charset="0"/>
              </a:rPr>
              <a:t>rsp</a:t>
            </a:r>
            <a:endParaRPr lang="en-US" sz="1800" dirty="0">
              <a:latin typeface="Courier New" panose="02070309020205020404" charset="0"/>
            </a:endParaRPr>
          </a:p>
        </p:txBody>
      </p:sp>
      <p:sp>
        <p:nvSpPr>
          <p:cNvPr id="360479" name="Rectangle 31"/>
          <p:cNvSpPr>
            <a:spLocks noChangeArrowheads="1"/>
          </p:cNvSpPr>
          <p:nvPr/>
        </p:nvSpPr>
        <p:spPr bwMode="auto">
          <a:xfrm>
            <a:off x="533400" y="1360487"/>
            <a:ext cx="1797050" cy="1143000"/>
          </a:xfrm>
          <a:prstGeom prst="rect">
            <a:avLst/>
          </a:prstGeom>
          <a:solidFill>
            <a:schemeClr val="bg1">
              <a:lumMod val="95000"/>
            </a:schemeClr>
          </a:solidFill>
          <a:ln w="28575">
            <a:solidFill>
              <a:schemeClr val="tx1"/>
            </a:solidFill>
            <a:miter lim="800000"/>
          </a:ln>
          <a:effectLst/>
        </p:spPr>
        <p:txBody>
          <a:bodyPr wrap="none"/>
          <a:lstStyle/>
          <a:p>
            <a:pPr algn="ctr">
              <a:defRPr/>
            </a:pPr>
            <a:r>
              <a:rPr lang="en-US" sz="1800" b="0" dirty="0">
                <a:latin typeface="Calibri" panose="020F0502020204030204" charset="0"/>
                <a:cs typeface="+mn-cs"/>
              </a:rPr>
              <a:t>Stack Frame</a:t>
            </a:r>
          </a:p>
          <a:p>
            <a:pPr algn="ctr">
              <a:defRPr/>
            </a:pPr>
            <a:r>
              <a:rPr lang="en-US" sz="1800" b="0" dirty="0">
                <a:latin typeface="Calibri" panose="020F0502020204030204" charset="0"/>
                <a:cs typeface="+mn-cs"/>
              </a:rPr>
              <a:t>for </a:t>
            </a:r>
            <a:r>
              <a:rPr lang="en-US" sz="1800" dirty="0" err="1">
                <a:latin typeface="Courier New" panose="02070309020205020404" charset="0"/>
                <a:cs typeface="+mn-cs"/>
              </a:rPr>
              <a:t>call_echo</a:t>
            </a:r>
            <a:endParaRPr lang="en-US" sz="1800" dirty="0">
              <a:latin typeface="Courier New" panose="02070309020205020404" charset="0"/>
              <a:cs typeface="+mn-cs"/>
            </a:endParaRPr>
          </a:p>
        </p:txBody>
      </p:sp>
      <p:sp>
        <p:nvSpPr>
          <p:cNvPr id="360472" name="Rectangle 24"/>
          <p:cNvSpPr>
            <a:spLocks noChangeArrowheads="1"/>
          </p:cNvSpPr>
          <p:nvPr/>
        </p:nvSpPr>
        <p:spPr bwMode="auto">
          <a:xfrm>
            <a:off x="533400"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[3]</a:t>
            </a:r>
          </a:p>
        </p:txBody>
      </p:sp>
      <p:sp>
        <p:nvSpPr>
          <p:cNvPr id="360473" name="Rectangle 25"/>
          <p:cNvSpPr>
            <a:spLocks noChangeArrowheads="1"/>
          </p:cNvSpPr>
          <p:nvPr/>
        </p:nvSpPr>
        <p:spPr bwMode="auto">
          <a:xfrm>
            <a:off x="982663"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solidFill>
                  <a:srgbClr val="C00000"/>
                </a:solidFill>
                <a:latin typeface="Courier New" panose="02070309020205020404" charset="0"/>
                <a:cs typeface="+mn-cs"/>
              </a:rPr>
              <a:t>[2]</a:t>
            </a:r>
          </a:p>
        </p:txBody>
      </p:sp>
      <p:sp>
        <p:nvSpPr>
          <p:cNvPr id="360474" name="Rectangle 26"/>
          <p:cNvSpPr>
            <a:spLocks noChangeArrowheads="1"/>
          </p:cNvSpPr>
          <p:nvPr/>
        </p:nvSpPr>
        <p:spPr bwMode="auto">
          <a:xfrm>
            <a:off x="1431925"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solidFill>
                  <a:srgbClr val="C00000"/>
                </a:solidFill>
                <a:latin typeface="Courier New" panose="02070309020205020404" charset="0"/>
                <a:cs typeface="+mn-cs"/>
              </a:rPr>
              <a:t>[1]</a:t>
            </a:r>
          </a:p>
        </p:txBody>
      </p:sp>
      <p:sp>
        <p:nvSpPr>
          <p:cNvPr id="360475" name="Rectangle 27"/>
          <p:cNvSpPr>
            <a:spLocks noChangeArrowheads="1"/>
          </p:cNvSpPr>
          <p:nvPr/>
        </p:nvSpPr>
        <p:spPr bwMode="auto">
          <a:xfrm>
            <a:off x="1881188"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solidFill>
                  <a:srgbClr val="C00000"/>
                </a:solidFill>
                <a:latin typeface="Courier New" panose="02070309020205020404" charset="0"/>
                <a:cs typeface="+mn-cs"/>
              </a:rPr>
              <a:t>[0]</a:t>
            </a:r>
          </a:p>
        </p:txBody>
      </p:sp>
      <p:sp>
        <p:nvSpPr>
          <p:cNvPr id="360476" name="Rectangle 28"/>
          <p:cNvSpPr>
            <a:spLocks noChangeArrowheads="1"/>
          </p:cNvSpPr>
          <p:nvPr/>
        </p:nvSpPr>
        <p:spPr bwMode="auto">
          <a:xfrm>
            <a:off x="2330450" y="4648200"/>
            <a:ext cx="593725" cy="366712"/>
          </a:xfrm>
          <a:prstGeom prst="rect">
            <a:avLst/>
          </a:prstGeom>
          <a:noFill/>
          <a:ln w="9525">
            <a:noFill/>
            <a:miter lim="800000"/>
          </a:ln>
        </p:spPr>
        <p:txBody>
          <a:bodyPr wrap="none">
            <a:spAutoFit/>
          </a:bodyPr>
          <a:lstStyle/>
          <a:p>
            <a:r>
              <a:rPr lang="en-US" sz="1800" dirty="0" err="1">
                <a:solidFill>
                  <a:srgbClr val="C00000"/>
                </a:solidFill>
                <a:latin typeface="Courier New" panose="02070309020205020404" charset="0"/>
              </a:rPr>
              <a:t>buf</a:t>
            </a:r>
            <a:endParaRPr lang="en-US" sz="1800" dirty="0">
              <a:solidFill>
                <a:srgbClr val="C00000"/>
              </a:solidFill>
              <a:latin typeface="Courier New" panose="02070309020205020404" charset="0"/>
            </a:endParaRPr>
          </a:p>
        </p:txBody>
      </p:sp>
      <p:sp>
        <p:nvSpPr>
          <p:cNvPr id="16" name="TextBox 15"/>
          <p:cNvSpPr txBox="1">
            <a:spLocks noChangeArrowheads="1"/>
          </p:cNvSpPr>
          <p:nvPr/>
        </p:nvSpPr>
        <p:spPr bwMode="auto">
          <a:xfrm>
            <a:off x="457200" y="990600"/>
            <a:ext cx="1488440" cy="368300"/>
          </a:xfrm>
          <a:prstGeom prst="rect">
            <a:avLst/>
          </a:prstGeom>
          <a:noFill/>
          <a:ln w="9525">
            <a:noFill/>
            <a:miter lim="800000"/>
          </a:ln>
        </p:spPr>
        <p:txBody>
          <a:bodyPr wrap="none">
            <a:spAutoFit/>
          </a:bodyPr>
          <a:lstStyle/>
          <a:p>
            <a:pPr eaLnBrk="0" hangingPunct="0"/>
            <a:r>
              <a:rPr lang="zh-CN" altLang="en-US" sz="1800" i="1">
                <a:solidFill>
                  <a:srgbClr val="C00000"/>
                </a:solidFill>
                <a:latin typeface="Calibri" panose="020F0502020204030204" charset="0"/>
              </a:rPr>
              <a:t>在调用</a:t>
            </a:r>
            <a:r>
              <a:rPr lang="en-US" sz="1800" i="1">
                <a:solidFill>
                  <a:srgbClr val="C00000"/>
                </a:solidFill>
                <a:latin typeface="Calibri" panose="020F0502020204030204" charset="0"/>
              </a:rPr>
              <a:t>gets</a:t>
            </a:r>
            <a:r>
              <a:rPr lang="zh-CN" altLang="en-US" sz="1800" i="1">
                <a:solidFill>
                  <a:srgbClr val="C00000"/>
                </a:solidFill>
                <a:latin typeface="Calibri" panose="020F0502020204030204" charset="0"/>
              </a:rPr>
              <a:t>前</a:t>
            </a:r>
          </a:p>
        </p:txBody>
      </p:sp>
      <p:sp>
        <p:nvSpPr>
          <p:cNvPr id="18" name="Rectangle 23"/>
          <p:cNvSpPr>
            <a:spLocks noChangeArrowheads="1"/>
          </p:cNvSpPr>
          <p:nvPr/>
        </p:nvSpPr>
        <p:spPr bwMode="auto">
          <a:xfrm>
            <a:off x="533400" y="3113087"/>
            <a:ext cx="1797050" cy="1531207"/>
          </a:xfrm>
          <a:prstGeom prst="rect">
            <a:avLst/>
          </a:prstGeom>
          <a:solidFill>
            <a:schemeClr val="bg2">
              <a:lumMod val="40000"/>
              <a:lumOff val="60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rPr>
              <a:t>20 bytes unused</a:t>
            </a:r>
            <a:endParaRPr lang="en-US" sz="1800" dirty="0">
              <a:latin typeface="Courier New" panose="02070309020205020404" charset="0"/>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93255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sym typeface="+mn-ea"/>
              </a:rPr>
              <a:t>缓冲区溢出栈</a:t>
            </a:r>
            <a:r>
              <a:rPr lang="zh-CN" sz="2800">
                <a:solidFill>
                  <a:schemeClr val="tx1">
                    <a:lumMod val="65000"/>
                    <a:lumOff val="35000"/>
                  </a:schemeClr>
                </a:solidFill>
                <a:sym typeface="+mn-ea"/>
              </a:rPr>
              <a:t>例子</a:t>
            </a:r>
          </a:p>
        </p:txBody>
      </p:sp>
      <p:sp>
        <p:nvSpPr>
          <p:cNvPr id="5" name="Rectangle 3"/>
          <p:cNvSpPr>
            <a:spLocks noChangeArrowheads="1"/>
          </p:cNvSpPr>
          <p:nvPr/>
        </p:nvSpPr>
        <p:spPr bwMode="auto">
          <a:xfrm>
            <a:off x="5486400" y="1219200"/>
            <a:ext cx="2601912" cy="1320874"/>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echo:</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subq</a:t>
            </a:r>
            <a:r>
              <a:rPr lang="en-US" sz="1600" dirty="0">
                <a:latin typeface="Courier New" panose="02070309020205020404" charset="0"/>
                <a:ea typeface="MS Mincho" panose="02020609040205080304" pitchFamily="49" charset="-128"/>
                <a:cs typeface="+mn-cs"/>
              </a:rPr>
              <a:t>  $24, %</a:t>
            </a:r>
            <a:r>
              <a:rPr lang="en-US" sz="1600" dirty="0" err="1">
                <a:latin typeface="Courier New" panose="02070309020205020404" charset="0"/>
                <a:ea typeface="MS Mincho" panose="02020609040205080304" pitchFamily="49" charset="-128"/>
                <a:cs typeface="+mn-cs"/>
              </a:rPr>
              <a:t>rsp</a:t>
            </a:r>
            <a:endParaRPr lang="en-US" sz="1600" dirty="0">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movq</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rsp</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rdi</a:t>
            </a:r>
            <a:endParaRPr lang="en-US" sz="1600" dirty="0">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call  gets</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 . .</a:t>
            </a:r>
          </a:p>
        </p:txBody>
      </p:sp>
      <p:sp>
        <p:nvSpPr>
          <p:cNvPr id="6" name="Rectangle 4"/>
          <p:cNvSpPr>
            <a:spLocks noChangeArrowheads="1"/>
          </p:cNvSpPr>
          <p:nvPr/>
        </p:nvSpPr>
        <p:spPr bwMode="auto">
          <a:xfrm>
            <a:off x="3048000" y="1219200"/>
            <a:ext cx="2438400" cy="1567096"/>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void </a:t>
            </a:r>
            <a:r>
              <a:rPr lang="en-US" sz="1600" dirty="0">
                <a:solidFill>
                  <a:srgbClr val="0070C0"/>
                </a:solidFill>
                <a:latin typeface="Courier New" panose="02070309020205020404" charset="0"/>
                <a:ea typeface="MS Mincho" panose="02020609040205080304" pitchFamily="49" charset="-128"/>
              </a:rPr>
              <a:t>echo</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char </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[4]; </a:t>
            </a:r>
          </a:p>
          <a:p>
            <a:pPr eaLnBrk="0" hangingPunct="0">
              <a:tabLst>
                <a:tab pos="457200" algn="l"/>
                <a:tab pos="1485900" algn="l"/>
              </a:tabLst>
            </a:pPr>
            <a:r>
              <a:rPr lang="en-US" sz="1600" dirty="0">
                <a:latin typeface="Courier New" panose="02070309020205020404" charset="0"/>
                <a:ea typeface="MS Mincho" panose="02020609040205080304" pitchFamily="49" charset="-128"/>
              </a:rPr>
              <a:t>    gets(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 .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p>
        </p:txBody>
      </p:sp>
      <p:sp>
        <p:nvSpPr>
          <p:cNvPr id="7" name="Rectangle 22"/>
          <p:cNvSpPr>
            <a:spLocks noChangeArrowheads="1"/>
          </p:cNvSpPr>
          <p:nvPr/>
        </p:nvSpPr>
        <p:spPr bwMode="auto">
          <a:xfrm>
            <a:off x="533400" y="2503486"/>
            <a:ext cx="1797050" cy="608299"/>
          </a:xfrm>
          <a:prstGeom prst="rect">
            <a:avLst/>
          </a:prstGeom>
          <a:solidFill>
            <a:schemeClr val="bg1">
              <a:lumMod val="95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sp>
        <p:nvSpPr>
          <p:cNvPr id="8" name="Line 29"/>
          <p:cNvSpPr>
            <a:spLocks noChangeShapeType="1"/>
          </p:cNvSpPr>
          <p:nvPr/>
        </p:nvSpPr>
        <p:spPr bwMode="auto">
          <a:xfrm flipH="1">
            <a:off x="2952750" y="4814816"/>
            <a:ext cx="450850" cy="0"/>
          </a:xfrm>
          <a:prstGeom prst="line">
            <a:avLst/>
          </a:prstGeom>
          <a:noFill/>
          <a:ln w="28575">
            <a:solidFill>
              <a:schemeClr val="tx1"/>
            </a:solidFill>
            <a:round/>
            <a:tailEnd type="triangle" w="med" len="med"/>
          </a:ln>
        </p:spPr>
        <p:txBody>
          <a:bodyPr/>
          <a:lstStyle/>
          <a:p>
            <a:endParaRPr lang="en-US"/>
          </a:p>
        </p:txBody>
      </p:sp>
      <p:sp>
        <p:nvSpPr>
          <p:cNvPr id="9" name="Rectangle 30"/>
          <p:cNvSpPr>
            <a:spLocks noChangeArrowheads="1"/>
          </p:cNvSpPr>
          <p:nvPr/>
        </p:nvSpPr>
        <p:spPr bwMode="auto">
          <a:xfrm>
            <a:off x="3365500" y="4641778"/>
            <a:ext cx="738754" cy="369332"/>
          </a:xfrm>
          <a:prstGeom prst="rect">
            <a:avLst/>
          </a:prstGeom>
          <a:noFill/>
          <a:ln w="9525">
            <a:noFill/>
            <a:miter lim="800000"/>
          </a:ln>
        </p:spPr>
        <p:txBody>
          <a:bodyPr wrap="none">
            <a:spAutoFit/>
          </a:bodyPr>
          <a:lstStyle/>
          <a:p>
            <a:r>
              <a:rPr lang="en-US" sz="1800" dirty="0">
                <a:latin typeface="Courier New" panose="02070309020205020404" charset="0"/>
              </a:rPr>
              <a:t>%</a:t>
            </a:r>
            <a:r>
              <a:rPr lang="en-US" sz="1800" dirty="0" err="1">
                <a:latin typeface="Courier New" panose="02070309020205020404" charset="0"/>
              </a:rPr>
              <a:t>rsp</a:t>
            </a:r>
            <a:endParaRPr lang="en-US" sz="1800" dirty="0">
              <a:latin typeface="Courier New" panose="02070309020205020404" charset="0"/>
            </a:endParaRPr>
          </a:p>
        </p:txBody>
      </p:sp>
      <p:sp>
        <p:nvSpPr>
          <p:cNvPr id="10" name="Rectangle 31"/>
          <p:cNvSpPr>
            <a:spLocks noChangeArrowheads="1"/>
          </p:cNvSpPr>
          <p:nvPr/>
        </p:nvSpPr>
        <p:spPr bwMode="auto">
          <a:xfrm>
            <a:off x="533400" y="1360487"/>
            <a:ext cx="1797050" cy="1143000"/>
          </a:xfrm>
          <a:prstGeom prst="rect">
            <a:avLst/>
          </a:prstGeom>
          <a:solidFill>
            <a:schemeClr val="bg1">
              <a:lumMod val="95000"/>
            </a:schemeClr>
          </a:solidFill>
          <a:ln w="28575">
            <a:solidFill>
              <a:schemeClr val="tx1"/>
            </a:solidFill>
            <a:miter lim="800000"/>
          </a:ln>
          <a:effectLst/>
        </p:spPr>
        <p:txBody>
          <a:bodyPr wrap="none"/>
          <a:lstStyle/>
          <a:p>
            <a:pPr algn="ctr">
              <a:defRPr/>
            </a:pPr>
            <a:r>
              <a:rPr lang="en-US" sz="1800" b="0" dirty="0">
                <a:latin typeface="Calibri" panose="020F0502020204030204" charset="0"/>
                <a:cs typeface="+mn-cs"/>
              </a:rPr>
              <a:t>Stack Frame</a:t>
            </a:r>
          </a:p>
          <a:p>
            <a:pPr algn="ctr">
              <a:defRPr/>
            </a:pPr>
            <a:r>
              <a:rPr lang="en-US" sz="1800" b="0" dirty="0">
                <a:latin typeface="Calibri" panose="020F0502020204030204" charset="0"/>
                <a:cs typeface="+mn-cs"/>
              </a:rPr>
              <a:t>for </a:t>
            </a:r>
            <a:r>
              <a:rPr lang="en-US" sz="1800" dirty="0" err="1">
                <a:latin typeface="Courier New" panose="02070309020205020404" charset="0"/>
                <a:cs typeface="+mn-cs"/>
              </a:rPr>
              <a:t>call_echo</a:t>
            </a:r>
            <a:endParaRPr lang="en-US" sz="1800" dirty="0">
              <a:latin typeface="Courier New" panose="02070309020205020404" charset="0"/>
              <a:cs typeface="+mn-cs"/>
            </a:endParaRPr>
          </a:p>
        </p:txBody>
      </p:sp>
      <p:sp>
        <p:nvSpPr>
          <p:cNvPr id="11" name="Rectangle 24"/>
          <p:cNvSpPr>
            <a:spLocks noChangeArrowheads="1"/>
          </p:cNvSpPr>
          <p:nvPr/>
        </p:nvSpPr>
        <p:spPr bwMode="auto">
          <a:xfrm>
            <a:off x="533400"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a:t>
            </a:r>
          </a:p>
        </p:txBody>
      </p:sp>
      <p:sp>
        <p:nvSpPr>
          <p:cNvPr id="12" name="Rectangle 25"/>
          <p:cNvSpPr>
            <a:spLocks noChangeArrowheads="1"/>
          </p:cNvSpPr>
          <p:nvPr/>
        </p:nvSpPr>
        <p:spPr bwMode="auto">
          <a:xfrm>
            <a:off x="982663"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latin typeface="Courier New" panose="02070309020205020404" charset="0"/>
                <a:cs typeface="+mn-cs"/>
              </a:rPr>
              <a:t>[2]</a:t>
            </a:r>
          </a:p>
        </p:txBody>
      </p:sp>
      <p:sp>
        <p:nvSpPr>
          <p:cNvPr id="13" name="Rectangle 26"/>
          <p:cNvSpPr>
            <a:spLocks noChangeArrowheads="1"/>
          </p:cNvSpPr>
          <p:nvPr/>
        </p:nvSpPr>
        <p:spPr bwMode="auto">
          <a:xfrm>
            <a:off x="1431925"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latin typeface="Courier New" panose="02070309020205020404" charset="0"/>
                <a:cs typeface="+mn-cs"/>
              </a:rPr>
              <a:t>[1]</a:t>
            </a:r>
          </a:p>
        </p:txBody>
      </p:sp>
      <p:sp>
        <p:nvSpPr>
          <p:cNvPr id="14" name="Rectangle 27"/>
          <p:cNvSpPr>
            <a:spLocks noChangeArrowheads="1"/>
          </p:cNvSpPr>
          <p:nvPr/>
        </p:nvSpPr>
        <p:spPr bwMode="auto">
          <a:xfrm>
            <a:off x="1881188"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latin typeface="Courier New" panose="02070309020205020404" charset="0"/>
                <a:cs typeface="+mn-cs"/>
              </a:rPr>
              <a:t>[0]</a:t>
            </a:r>
          </a:p>
        </p:txBody>
      </p:sp>
      <p:sp>
        <p:nvSpPr>
          <p:cNvPr id="15" name="Rectangle 28"/>
          <p:cNvSpPr>
            <a:spLocks noChangeArrowheads="1"/>
          </p:cNvSpPr>
          <p:nvPr/>
        </p:nvSpPr>
        <p:spPr bwMode="auto">
          <a:xfrm>
            <a:off x="2330450" y="4648200"/>
            <a:ext cx="593725" cy="366712"/>
          </a:xfrm>
          <a:prstGeom prst="rect">
            <a:avLst/>
          </a:prstGeom>
          <a:noFill/>
          <a:ln w="9525">
            <a:noFill/>
            <a:miter lim="800000"/>
          </a:ln>
        </p:spPr>
        <p:txBody>
          <a:bodyPr wrap="none">
            <a:spAutoFit/>
          </a:bodyPr>
          <a:lstStyle/>
          <a:p>
            <a:r>
              <a:rPr lang="en-US" sz="1800" dirty="0" err="1">
                <a:latin typeface="Courier New" panose="02070309020205020404" charset="0"/>
              </a:rPr>
              <a:t>buf</a:t>
            </a:r>
            <a:endParaRPr lang="en-US" sz="1800" dirty="0">
              <a:latin typeface="Courier New" panose="02070309020205020404" charset="0"/>
            </a:endParaRPr>
          </a:p>
        </p:txBody>
      </p:sp>
      <p:sp>
        <p:nvSpPr>
          <p:cNvPr id="17" name="TextBox 15"/>
          <p:cNvSpPr txBox="1">
            <a:spLocks noChangeArrowheads="1"/>
          </p:cNvSpPr>
          <p:nvPr/>
        </p:nvSpPr>
        <p:spPr bwMode="auto">
          <a:xfrm>
            <a:off x="457200" y="990600"/>
            <a:ext cx="1488440" cy="368300"/>
          </a:xfrm>
          <a:prstGeom prst="rect">
            <a:avLst/>
          </a:prstGeom>
          <a:noFill/>
          <a:ln w="9525">
            <a:noFill/>
            <a:miter lim="800000"/>
          </a:ln>
        </p:spPr>
        <p:txBody>
          <a:bodyPr wrap="none">
            <a:spAutoFit/>
          </a:bodyPr>
          <a:lstStyle/>
          <a:p>
            <a:pPr algn="l" eaLnBrk="0" hangingPunct="0"/>
            <a:r>
              <a:rPr lang="zh-CN" altLang="en-US" i="1">
                <a:solidFill>
                  <a:srgbClr val="C00000"/>
                </a:solidFill>
                <a:latin typeface="Calibri" panose="020F0502020204030204" charset="0"/>
                <a:sym typeface="+mn-ea"/>
              </a:rPr>
              <a:t>在调用</a:t>
            </a:r>
            <a:r>
              <a:rPr lang="en-US" i="1">
                <a:solidFill>
                  <a:srgbClr val="C00000"/>
                </a:solidFill>
                <a:latin typeface="Calibri" panose="020F0502020204030204" charset="0"/>
                <a:sym typeface="+mn-ea"/>
              </a:rPr>
              <a:t>gets</a:t>
            </a:r>
            <a:r>
              <a:rPr lang="zh-CN" altLang="en-US" i="1">
                <a:solidFill>
                  <a:srgbClr val="C00000"/>
                </a:solidFill>
                <a:latin typeface="Calibri" panose="020F0502020204030204" charset="0"/>
                <a:sym typeface="+mn-ea"/>
              </a:rPr>
              <a:t>前</a:t>
            </a:r>
            <a:endParaRPr lang="en-US" sz="1800" i="1">
              <a:solidFill>
                <a:srgbClr val="C00000"/>
              </a:solidFill>
              <a:latin typeface="Calibri" panose="020F0502020204030204" charset="0"/>
            </a:endParaRPr>
          </a:p>
        </p:txBody>
      </p:sp>
      <p:sp>
        <p:nvSpPr>
          <p:cNvPr id="19" name="Rectangle 23"/>
          <p:cNvSpPr>
            <a:spLocks noChangeArrowheads="1"/>
          </p:cNvSpPr>
          <p:nvPr/>
        </p:nvSpPr>
        <p:spPr bwMode="auto">
          <a:xfrm>
            <a:off x="533400" y="3113087"/>
            <a:ext cx="1797050" cy="1531207"/>
          </a:xfrm>
          <a:prstGeom prst="rect">
            <a:avLst/>
          </a:prstGeom>
          <a:solidFill>
            <a:schemeClr val="bg2">
              <a:lumMod val="40000"/>
              <a:lumOff val="60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rPr>
              <a:t>20 bytes unused</a:t>
            </a:r>
            <a:endParaRPr lang="en-US" sz="1800" dirty="0">
              <a:latin typeface="Courier New" panose="02070309020205020404" charset="0"/>
            </a:endParaRPr>
          </a:p>
        </p:txBody>
      </p:sp>
      <p:sp>
        <p:nvSpPr>
          <p:cNvPr id="25" name="Rectangle 5"/>
          <p:cNvSpPr>
            <a:spLocks noChangeArrowheads="1"/>
          </p:cNvSpPr>
          <p:nvPr/>
        </p:nvSpPr>
        <p:spPr bwMode="auto">
          <a:xfrm>
            <a:off x="3403600" y="3444014"/>
            <a:ext cx="4718485" cy="1197764"/>
          </a:xfrm>
          <a:prstGeom prst="rect">
            <a:avLst/>
          </a:prstGeom>
          <a:solidFill>
            <a:srgbClr val="F1C7C7"/>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4006f1:	</a:t>
            </a:r>
            <a:r>
              <a:rPr lang="en-US" sz="1800" dirty="0" err="1">
                <a:latin typeface="Courier New" panose="02070309020205020404" charset="0"/>
                <a:ea typeface="MS Mincho" panose="02020609040205080304" pitchFamily="49" charset="-128"/>
              </a:rPr>
              <a:t>callq</a:t>
            </a:r>
            <a:r>
              <a:rPr lang="en-US" sz="1800" dirty="0">
                <a:latin typeface="Courier New" panose="02070309020205020404" charset="0"/>
                <a:ea typeface="MS Mincho" panose="02020609040205080304" pitchFamily="49" charset="-128"/>
              </a:rPr>
              <a:t>  4006cf &lt;</a:t>
            </a:r>
            <a:r>
              <a:rPr lang="en-US" sz="1800" dirty="0">
                <a:solidFill>
                  <a:srgbClr val="0070C0"/>
                </a:solidFill>
                <a:latin typeface="Courier New" panose="02070309020205020404" charset="0"/>
                <a:ea typeface="MS Mincho" panose="02020609040205080304" pitchFamily="49" charset="-128"/>
              </a:rPr>
              <a:t>echo</a:t>
            </a:r>
            <a:r>
              <a:rPr lang="en-US" sz="1800" dirty="0">
                <a:latin typeface="Courier New" panose="02070309020205020404" charset="0"/>
                <a:ea typeface="MS Mincho" panose="02020609040205080304" pitchFamily="49" charset="-128"/>
              </a:rPr>
              <a:t>&gt;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r>
              <a:rPr lang="en-US" sz="1800" dirty="0">
                <a:solidFill>
                  <a:srgbClr val="C00000"/>
                </a:solidFill>
                <a:latin typeface="Courier New" panose="02070309020205020404" charset="0"/>
                <a:ea typeface="MS Mincho" panose="02020609040205080304" pitchFamily="49" charset="-128"/>
              </a:rPr>
              <a:t>4006f6</a:t>
            </a:r>
            <a:r>
              <a:rPr lang="en-US" sz="1800" dirty="0">
                <a:latin typeface="Courier New" panose="02070309020205020404" charset="0"/>
                <a:ea typeface="MS Mincho" panose="02020609040205080304" pitchFamily="49" charset="-128"/>
              </a:rPr>
              <a:t>:	add    $0x8,%rsp</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p:txBody>
      </p:sp>
      <p:sp>
        <p:nvSpPr>
          <p:cNvPr id="26" name="TextBox 25"/>
          <p:cNvSpPr txBox="1"/>
          <p:nvPr/>
        </p:nvSpPr>
        <p:spPr>
          <a:xfrm>
            <a:off x="3282950" y="3037113"/>
            <a:ext cx="1469122" cy="461665"/>
          </a:xfrm>
          <a:prstGeom prst="rect">
            <a:avLst/>
          </a:prstGeom>
          <a:noFill/>
        </p:spPr>
        <p:txBody>
          <a:bodyPr wrap="none" rtlCol="0">
            <a:spAutoFit/>
          </a:bodyPr>
          <a:lstStyle/>
          <a:p>
            <a:r>
              <a:rPr lang="en-US" dirty="0" err="1">
                <a:latin typeface="Calibri" panose="020F0502020204030204" charset="0"/>
              </a:rPr>
              <a:t>call_echo</a:t>
            </a:r>
            <a:r>
              <a:rPr lang="en-US" dirty="0">
                <a:latin typeface="Calibri" panose="020F0502020204030204" charset="0"/>
              </a:rPr>
              <a:t>:</a:t>
            </a:r>
          </a:p>
        </p:txBody>
      </p:sp>
      <p:grpSp>
        <p:nvGrpSpPr>
          <p:cNvPr id="20" name="Group 2"/>
          <p:cNvGrpSpPr/>
          <p:nvPr/>
        </p:nvGrpSpPr>
        <p:grpSpPr>
          <a:xfrm>
            <a:off x="533400" y="2811289"/>
            <a:ext cx="1797050" cy="304800"/>
            <a:chOff x="2377022" y="2811289"/>
            <a:chExt cx="1797050" cy="304800"/>
          </a:xfrm>
          <a:solidFill>
            <a:srgbClr val="D5F1CF"/>
          </a:solidFill>
        </p:grpSpPr>
        <p:sp>
          <p:nvSpPr>
            <p:cNvPr id="27"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28"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40</a:t>
              </a:r>
            </a:p>
          </p:txBody>
        </p:sp>
        <p:sp>
          <p:nvSpPr>
            <p:cNvPr id="29"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06</a:t>
              </a:r>
            </a:p>
          </p:txBody>
        </p:sp>
        <p:sp>
          <p:nvSpPr>
            <p:cNvPr id="30"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f6</a:t>
              </a:r>
            </a:p>
          </p:txBody>
        </p:sp>
      </p:grpSp>
      <p:grpSp>
        <p:nvGrpSpPr>
          <p:cNvPr id="32" name="Group 31"/>
          <p:cNvGrpSpPr/>
          <p:nvPr/>
        </p:nvGrpSpPr>
        <p:grpSpPr>
          <a:xfrm>
            <a:off x="538208" y="2481496"/>
            <a:ext cx="1797050" cy="304800"/>
            <a:chOff x="2377022" y="2811289"/>
            <a:chExt cx="1797050" cy="304800"/>
          </a:xfrm>
          <a:solidFill>
            <a:srgbClr val="D5F1CF"/>
          </a:solidFill>
        </p:grpSpPr>
        <p:sp>
          <p:nvSpPr>
            <p:cNvPr id="33"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34"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35"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36"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grpSp>
      <p:sp>
        <p:nvSpPr>
          <p:cNvPr id="21" name="Arc 4"/>
          <p:cNvSpPr/>
          <p:nvPr/>
        </p:nvSpPr>
        <p:spPr bwMode="auto">
          <a:xfrm>
            <a:off x="2438400" y="1360487"/>
            <a:ext cx="1460500" cy="2513847"/>
          </a:xfrm>
          <a:prstGeom prst="arc">
            <a:avLst>
              <a:gd name="adj1" fmla="val 5393125"/>
              <a:gd name="adj2" fmla="val 15866911"/>
            </a:avLst>
          </a:prstGeom>
          <a:noFill/>
          <a:ln w="25400" cap="flat" cmpd="sng" algn="ctr">
            <a:solidFill>
              <a:schemeClr val="tx1">
                <a:lumMod val="50000"/>
                <a:lumOff val="50000"/>
              </a:schemeClr>
            </a:solidFill>
            <a:prstDash val="solid"/>
            <a:round/>
            <a:headEnd type="none" w="med" len="med"/>
            <a:tailEnd type="stealth" w="med" len="med"/>
          </a:ln>
          <a:effectLst/>
        </p:spPr>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21" grpId="0" bldLvl="0" animBg="1"/>
    </p:bld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4103370"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sym typeface="+mn-ea"/>
              </a:rPr>
              <a:t>缓冲区溢出栈</a:t>
            </a:r>
            <a:r>
              <a:rPr lang="zh-CN" sz="2800">
                <a:solidFill>
                  <a:schemeClr val="tx1">
                    <a:lumMod val="65000"/>
                    <a:lumOff val="35000"/>
                  </a:schemeClr>
                </a:solidFill>
                <a:sym typeface="+mn-ea"/>
              </a:rPr>
              <a:t>例子#1</a:t>
            </a:r>
          </a:p>
        </p:txBody>
      </p:sp>
      <p:sp>
        <p:nvSpPr>
          <p:cNvPr id="360451" name="Rectangle 3"/>
          <p:cNvSpPr>
            <a:spLocks noChangeArrowheads="1"/>
          </p:cNvSpPr>
          <p:nvPr/>
        </p:nvSpPr>
        <p:spPr bwMode="auto">
          <a:xfrm>
            <a:off x="5486400" y="1219200"/>
            <a:ext cx="2601912" cy="1320874"/>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echo:</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subq</a:t>
            </a:r>
            <a:r>
              <a:rPr lang="en-US" sz="1600" dirty="0">
                <a:latin typeface="Courier New" panose="02070309020205020404" charset="0"/>
                <a:ea typeface="MS Mincho" panose="02020609040205080304" pitchFamily="49" charset="-128"/>
                <a:cs typeface="+mn-cs"/>
              </a:rPr>
              <a:t>  $24, %</a:t>
            </a:r>
            <a:r>
              <a:rPr lang="en-US" sz="1600" dirty="0" err="1">
                <a:latin typeface="Courier New" panose="02070309020205020404" charset="0"/>
                <a:ea typeface="MS Mincho" panose="02020609040205080304" pitchFamily="49" charset="-128"/>
                <a:cs typeface="+mn-cs"/>
              </a:rPr>
              <a:t>rsp</a:t>
            </a:r>
            <a:endParaRPr lang="en-US" sz="1600" dirty="0">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movq</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rsp</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rdi</a:t>
            </a:r>
            <a:endParaRPr lang="en-US" sz="1600" dirty="0">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call  gets</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 . .</a:t>
            </a:r>
          </a:p>
        </p:txBody>
      </p:sp>
      <p:sp>
        <p:nvSpPr>
          <p:cNvPr id="25604" name="Rectangle 4"/>
          <p:cNvSpPr>
            <a:spLocks noChangeArrowheads="1"/>
          </p:cNvSpPr>
          <p:nvPr/>
        </p:nvSpPr>
        <p:spPr bwMode="auto">
          <a:xfrm>
            <a:off x="3048000" y="1219200"/>
            <a:ext cx="2438400" cy="1567096"/>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void echo()</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char </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[4]; </a:t>
            </a:r>
          </a:p>
          <a:p>
            <a:pPr eaLnBrk="0" hangingPunct="0">
              <a:tabLst>
                <a:tab pos="457200" algn="l"/>
                <a:tab pos="1485900" algn="l"/>
              </a:tabLst>
            </a:pPr>
            <a:r>
              <a:rPr lang="en-US" sz="1600" dirty="0">
                <a:latin typeface="Courier New" panose="02070309020205020404" charset="0"/>
                <a:ea typeface="MS Mincho" panose="02020609040205080304" pitchFamily="49" charset="-128"/>
              </a:rPr>
              <a:t>    gets(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 .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p>
        </p:txBody>
      </p:sp>
      <p:sp>
        <p:nvSpPr>
          <p:cNvPr id="360470" name="Rectangle 22"/>
          <p:cNvSpPr>
            <a:spLocks noChangeArrowheads="1"/>
          </p:cNvSpPr>
          <p:nvPr/>
        </p:nvSpPr>
        <p:spPr bwMode="auto">
          <a:xfrm>
            <a:off x="533400" y="2503486"/>
            <a:ext cx="1797050" cy="608299"/>
          </a:xfrm>
          <a:prstGeom prst="rect">
            <a:avLst/>
          </a:prstGeom>
          <a:solidFill>
            <a:schemeClr val="bg1">
              <a:lumMod val="95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sp>
        <p:nvSpPr>
          <p:cNvPr id="360477" name="Line 29"/>
          <p:cNvSpPr>
            <a:spLocks noChangeShapeType="1"/>
          </p:cNvSpPr>
          <p:nvPr/>
        </p:nvSpPr>
        <p:spPr bwMode="auto">
          <a:xfrm flipH="1">
            <a:off x="2952750" y="4814816"/>
            <a:ext cx="450850" cy="0"/>
          </a:xfrm>
          <a:prstGeom prst="line">
            <a:avLst/>
          </a:prstGeom>
          <a:noFill/>
          <a:ln w="28575">
            <a:solidFill>
              <a:schemeClr val="tx1"/>
            </a:solidFill>
            <a:round/>
            <a:tailEnd type="triangle" w="med" len="med"/>
          </a:ln>
        </p:spPr>
        <p:txBody>
          <a:bodyPr/>
          <a:lstStyle/>
          <a:p>
            <a:endParaRPr lang="en-US"/>
          </a:p>
        </p:txBody>
      </p:sp>
      <p:sp>
        <p:nvSpPr>
          <p:cNvPr id="360478" name="Rectangle 30"/>
          <p:cNvSpPr>
            <a:spLocks noChangeArrowheads="1"/>
          </p:cNvSpPr>
          <p:nvPr/>
        </p:nvSpPr>
        <p:spPr bwMode="auto">
          <a:xfrm>
            <a:off x="3365500" y="4641778"/>
            <a:ext cx="738754" cy="369332"/>
          </a:xfrm>
          <a:prstGeom prst="rect">
            <a:avLst/>
          </a:prstGeom>
          <a:noFill/>
          <a:ln w="9525">
            <a:noFill/>
            <a:miter lim="800000"/>
          </a:ln>
        </p:spPr>
        <p:txBody>
          <a:bodyPr wrap="none">
            <a:spAutoFit/>
          </a:bodyPr>
          <a:lstStyle/>
          <a:p>
            <a:r>
              <a:rPr lang="en-US" sz="1800" dirty="0">
                <a:latin typeface="Courier New" panose="02070309020205020404" charset="0"/>
              </a:rPr>
              <a:t>%</a:t>
            </a:r>
            <a:r>
              <a:rPr lang="en-US" sz="1800" dirty="0" err="1">
                <a:latin typeface="Courier New" panose="02070309020205020404" charset="0"/>
              </a:rPr>
              <a:t>rsp</a:t>
            </a:r>
            <a:endParaRPr lang="en-US" sz="1800" dirty="0">
              <a:latin typeface="Courier New" panose="02070309020205020404" charset="0"/>
            </a:endParaRPr>
          </a:p>
        </p:txBody>
      </p:sp>
      <p:sp>
        <p:nvSpPr>
          <p:cNvPr id="360479" name="Rectangle 31"/>
          <p:cNvSpPr>
            <a:spLocks noChangeArrowheads="1"/>
          </p:cNvSpPr>
          <p:nvPr/>
        </p:nvSpPr>
        <p:spPr bwMode="auto">
          <a:xfrm>
            <a:off x="533400" y="1360487"/>
            <a:ext cx="1797050" cy="1143000"/>
          </a:xfrm>
          <a:prstGeom prst="rect">
            <a:avLst/>
          </a:prstGeom>
          <a:solidFill>
            <a:schemeClr val="bg1">
              <a:lumMod val="95000"/>
            </a:schemeClr>
          </a:solidFill>
          <a:ln w="28575">
            <a:solidFill>
              <a:schemeClr val="tx1"/>
            </a:solidFill>
            <a:miter lim="800000"/>
          </a:ln>
          <a:effectLst/>
        </p:spPr>
        <p:txBody>
          <a:bodyPr wrap="none"/>
          <a:lstStyle/>
          <a:p>
            <a:pPr algn="ctr">
              <a:defRPr/>
            </a:pPr>
            <a:r>
              <a:rPr lang="en-US" sz="1800" b="0" dirty="0">
                <a:latin typeface="Calibri" panose="020F0502020204030204" charset="0"/>
                <a:cs typeface="+mn-cs"/>
              </a:rPr>
              <a:t>Stack Frame</a:t>
            </a:r>
          </a:p>
          <a:p>
            <a:pPr algn="ctr">
              <a:defRPr/>
            </a:pPr>
            <a:r>
              <a:rPr lang="en-US" sz="1800" b="0" dirty="0">
                <a:latin typeface="Calibri" panose="020F0502020204030204" charset="0"/>
                <a:cs typeface="+mn-cs"/>
              </a:rPr>
              <a:t>for </a:t>
            </a:r>
            <a:r>
              <a:rPr lang="en-US" sz="1800" dirty="0" err="1">
                <a:latin typeface="Courier New" panose="02070309020205020404" charset="0"/>
                <a:cs typeface="+mn-cs"/>
              </a:rPr>
              <a:t>call_echo</a:t>
            </a:r>
            <a:endParaRPr lang="en-US" sz="1800" dirty="0">
              <a:latin typeface="Courier New" panose="02070309020205020404" charset="0"/>
              <a:cs typeface="+mn-cs"/>
            </a:endParaRPr>
          </a:p>
        </p:txBody>
      </p:sp>
      <p:grpSp>
        <p:nvGrpSpPr>
          <p:cNvPr id="16" name="Group 1"/>
          <p:cNvGrpSpPr/>
          <p:nvPr/>
        </p:nvGrpSpPr>
        <p:grpSpPr>
          <a:xfrm>
            <a:off x="533400" y="4648200"/>
            <a:ext cx="1797050" cy="304800"/>
            <a:chOff x="533400" y="4648200"/>
            <a:chExt cx="1797050" cy="304800"/>
          </a:xfrm>
        </p:grpSpPr>
        <p:sp>
          <p:nvSpPr>
            <p:cNvPr id="360472" name="Rectangle 24"/>
            <p:cNvSpPr>
              <a:spLocks noChangeArrowheads="1"/>
            </p:cNvSpPr>
            <p:nvPr/>
          </p:nvSpPr>
          <p:spPr bwMode="auto">
            <a:xfrm>
              <a:off x="533400"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360473" name="Rectangle 25"/>
            <p:cNvSpPr>
              <a:spLocks noChangeArrowheads="1"/>
            </p:cNvSpPr>
            <p:nvPr/>
          </p:nvSpPr>
          <p:spPr bwMode="auto">
            <a:xfrm>
              <a:off x="982663"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360474" name="Rectangle 26"/>
            <p:cNvSpPr>
              <a:spLocks noChangeArrowheads="1"/>
            </p:cNvSpPr>
            <p:nvPr/>
          </p:nvSpPr>
          <p:spPr bwMode="auto">
            <a:xfrm>
              <a:off x="1431925"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360475" name="Rectangle 27"/>
            <p:cNvSpPr>
              <a:spLocks noChangeArrowheads="1"/>
            </p:cNvSpPr>
            <p:nvPr/>
          </p:nvSpPr>
          <p:spPr bwMode="auto">
            <a:xfrm>
              <a:off x="1881188"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sp>
        <p:nvSpPr>
          <p:cNvPr id="360476" name="Rectangle 28"/>
          <p:cNvSpPr>
            <a:spLocks noChangeArrowheads="1"/>
          </p:cNvSpPr>
          <p:nvPr/>
        </p:nvSpPr>
        <p:spPr bwMode="auto">
          <a:xfrm>
            <a:off x="2330450" y="4648200"/>
            <a:ext cx="593725" cy="366712"/>
          </a:xfrm>
          <a:prstGeom prst="rect">
            <a:avLst/>
          </a:prstGeom>
          <a:noFill/>
          <a:ln w="9525">
            <a:noFill/>
            <a:miter lim="800000"/>
          </a:ln>
        </p:spPr>
        <p:txBody>
          <a:bodyPr wrap="none">
            <a:spAutoFit/>
          </a:bodyPr>
          <a:lstStyle/>
          <a:p>
            <a:r>
              <a:rPr lang="en-US" sz="1800" dirty="0" err="1">
                <a:latin typeface="Courier New" panose="02070309020205020404" charset="0"/>
              </a:rPr>
              <a:t>buf</a:t>
            </a:r>
            <a:endParaRPr lang="en-US" sz="1800" dirty="0">
              <a:latin typeface="Courier New" panose="02070309020205020404" charset="0"/>
            </a:endParaRPr>
          </a:p>
        </p:txBody>
      </p:sp>
      <p:sp>
        <p:nvSpPr>
          <p:cNvPr id="18" name="TextBox 15"/>
          <p:cNvSpPr txBox="1">
            <a:spLocks noChangeArrowheads="1"/>
          </p:cNvSpPr>
          <p:nvPr/>
        </p:nvSpPr>
        <p:spPr bwMode="auto">
          <a:xfrm>
            <a:off x="457200" y="990600"/>
            <a:ext cx="1259840" cy="368300"/>
          </a:xfrm>
          <a:prstGeom prst="rect">
            <a:avLst/>
          </a:prstGeom>
          <a:noFill/>
          <a:ln w="9525">
            <a:noFill/>
            <a:miter lim="800000"/>
          </a:ln>
        </p:spPr>
        <p:txBody>
          <a:bodyPr wrap="none">
            <a:spAutoFit/>
          </a:bodyPr>
          <a:lstStyle/>
          <a:p>
            <a:pPr algn="l" eaLnBrk="0" hangingPunct="0"/>
            <a:r>
              <a:rPr lang="zh-CN" altLang="en-US" i="1">
                <a:solidFill>
                  <a:srgbClr val="C00000"/>
                </a:solidFill>
                <a:latin typeface="Calibri" panose="020F0502020204030204" charset="0"/>
                <a:sym typeface="+mn-ea"/>
              </a:rPr>
              <a:t>调用</a:t>
            </a:r>
            <a:r>
              <a:rPr lang="en-US" sz="1800" i="1" dirty="0">
                <a:solidFill>
                  <a:srgbClr val="C00000"/>
                </a:solidFill>
                <a:latin typeface="Calibri" panose="020F0502020204030204" charset="0"/>
              </a:rPr>
              <a:t>gets</a:t>
            </a:r>
            <a:r>
              <a:rPr lang="zh-CN" altLang="en-US" sz="1800" i="1" dirty="0">
                <a:solidFill>
                  <a:srgbClr val="C00000"/>
                </a:solidFill>
                <a:latin typeface="Calibri" panose="020F0502020204030204" charset="0"/>
              </a:rPr>
              <a:t>后</a:t>
            </a:r>
          </a:p>
        </p:txBody>
      </p:sp>
      <p:sp>
        <p:nvSpPr>
          <p:cNvPr id="22" name="Rectangle 23"/>
          <p:cNvSpPr>
            <a:spLocks noChangeArrowheads="1"/>
          </p:cNvSpPr>
          <p:nvPr/>
        </p:nvSpPr>
        <p:spPr bwMode="auto">
          <a:xfrm>
            <a:off x="533400" y="3113087"/>
            <a:ext cx="1797050" cy="1531207"/>
          </a:xfrm>
          <a:prstGeom prst="rect">
            <a:avLst/>
          </a:prstGeom>
          <a:solidFill>
            <a:schemeClr val="accent2">
              <a:lumMod val="20000"/>
              <a:lumOff val="80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rPr>
              <a:t>20 bytes unused</a:t>
            </a:r>
            <a:endParaRPr lang="en-US" sz="1800" dirty="0">
              <a:latin typeface="Courier New" panose="02070309020205020404" charset="0"/>
            </a:endParaRPr>
          </a:p>
        </p:txBody>
      </p:sp>
      <p:sp>
        <p:nvSpPr>
          <p:cNvPr id="23" name="Rectangle 5"/>
          <p:cNvSpPr>
            <a:spLocks noChangeArrowheads="1"/>
          </p:cNvSpPr>
          <p:nvPr/>
        </p:nvSpPr>
        <p:spPr bwMode="auto">
          <a:xfrm>
            <a:off x="3403600" y="3444014"/>
            <a:ext cx="4718485" cy="1197764"/>
          </a:xfrm>
          <a:prstGeom prst="rect">
            <a:avLst/>
          </a:prstGeom>
          <a:solidFill>
            <a:srgbClr val="F1C7C7"/>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4006f1:	</a:t>
            </a:r>
            <a:r>
              <a:rPr lang="en-US" sz="1800" dirty="0" err="1">
                <a:latin typeface="Courier New" panose="02070309020205020404" charset="0"/>
                <a:ea typeface="MS Mincho" panose="02020609040205080304" pitchFamily="49" charset="-128"/>
              </a:rPr>
              <a:t>callq</a:t>
            </a:r>
            <a:r>
              <a:rPr lang="en-US" sz="1800" dirty="0">
                <a:latin typeface="Courier New" panose="02070309020205020404" charset="0"/>
                <a:ea typeface="MS Mincho" panose="02020609040205080304" pitchFamily="49" charset="-128"/>
              </a:rPr>
              <a:t>  4006cf &lt;echo&gt;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r>
              <a:rPr lang="en-US" sz="1800" dirty="0">
                <a:solidFill>
                  <a:srgbClr val="0070C0"/>
                </a:solidFill>
                <a:latin typeface="Courier New" panose="02070309020205020404" charset="0"/>
                <a:ea typeface="MS Mincho" panose="02020609040205080304" pitchFamily="49" charset="-128"/>
              </a:rPr>
              <a:t>4006f6</a:t>
            </a:r>
            <a:r>
              <a:rPr lang="en-US" sz="1800" dirty="0">
                <a:latin typeface="Courier New" panose="02070309020205020404" charset="0"/>
                <a:ea typeface="MS Mincho" panose="02020609040205080304" pitchFamily="49" charset="-128"/>
              </a:rPr>
              <a:t>:	add    $0x8,%rsp</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p:txBody>
      </p:sp>
      <p:sp>
        <p:nvSpPr>
          <p:cNvPr id="24" name="TextBox 25"/>
          <p:cNvSpPr txBox="1"/>
          <p:nvPr/>
        </p:nvSpPr>
        <p:spPr>
          <a:xfrm>
            <a:off x="3282950" y="3037113"/>
            <a:ext cx="1469122" cy="461665"/>
          </a:xfrm>
          <a:prstGeom prst="rect">
            <a:avLst/>
          </a:prstGeom>
          <a:noFill/>
        </p:spPr>
        <p:txBody>
          <a:bodyPr wrap="none" rtlCol="0">
            <a:spAutoFit/>
          </a:bodyPr>
          <a:lstStyle/>
          <a:p>
            <a:r>
              <a:rPr lang="en-US" dirty="0" err="1">
                <a:latin typeface="Calibri" panose="020F0502020204030204" charset="0"/>
              </a:rPr>
              <a:t>call_echo</a:t>
            </a:r>
            <a:r>
              <a:rPr lang="en-US" dirty="0">
                <a:latin typeface="Calibri" panose="020F0502020204030204" charset="0"/>
              </a:rPr>
              <a:t>:</a:t>
            </a:r>
          </a:p>
        </p:txBody>
      </p:sp>
      <p:grpSp>
        <p:nvGrpSpPr>
          <p:cNvPr id="31" name="Group 2"/>
          <p:cNvGrpSpPr/>
          <p:nvPr/>
        </p:nvGrpSpPr>
        <p:grpSpPr>
          <a:xfrm>
            <a:off x="533400" y="2811289"/>
            <a:ext cx="1797050" cy="304800"/>
            <a:chOff x="2377022" y="2811289"/>
            <a:chExt cx="1797050" cy="304800"/>
          </a:xfrm>
          <a:solidFill>
            <a:srgbClr val="D5F1CF"/>
          </a:solidFill>
        </p:grpSpPr>
        <p:sp>
          <p:nvSpPr>
            <p:cNvPr id="37"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8"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40</a:t>
              </a:r>
            </a:p>
          </p:txBody>
        </p:sp>
        <p:sp>
          <p:nvSpPr>
            <p:cNvPr id="39"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06</a:t>
              </a:r>
            </a:p>
          </p:txBody>
        </p:sp>
        <p:sp>
          <p:nvSpPr>
            <p:cNvPr id="40"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f6</a:t>
              </a:r>
            </a:p>
          </p:txBody>
        </p:sp>
      </p:grpSp>
      <p:grpSp>
        <p:nvGrpSpPr>
          <p:cNvPr id="41" name="Group 31"/>
          <p:cNvGrpSpPr/>
          <p:nvPr/>
        </p:nvGrpSpPr>
        <p:grpSpPr>
          <a:xfrm>
            <a:off x="538208" y="2481496"/>
            <a:ext cx="1797050" cy="304800"/>
            <a:chOff x="2377022" y="2811289"/>
            <a:chExt cx="1797050" cy="304800"/>
          </a:xfrm>
          <a:solidFill>
            <a:srgbClr val="D5F1CF"/>
          </a:solidFill>
        </p:grpSpPr>
        <p:sp>
          <p:nvSpPr>
            <p:cNvPr id="42"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43"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44"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45"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grpSp>
      <p:sp>
        <p:nvSpPr>
          <p:cNvPr id="46" name="Rectangle 3"/>
          <p:cNvSpPr>
            <a:spLocks noChangeArrowheads="1"/>
          </p:cNvSpPr>
          <p:nvPr/>
        </p:nvSpPr>
        <p:spPr bwMode="auto">
          <a:xfrm>
            <a:off x="2390791" y="5029200"/>
            <a:ext cx="5257800" cy="828432"/>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1485900" algn="l"/>
              </a:tabLst>
              <a:defRPr/>
            </a:pPr>
            <a:r>
              <a:rPr lang="en-US" sz="1600" dirty="0" err="1">
                <a:latin typeface="Courier New" panose="02070309020205020404" charset="0"/>
                <a:ea typeface="MS Mincho" panose="02020609040205080304" pitchFamily="49" charset="-128"/>
                <a:cs typeface="+mn-cs"/>
              </a:rPr>
              <a:t>unix</a:t>
            </a:r>
            <a:r>
              <a:rPr lang="en-US" sz="1600" dirty="0">
                <a:latin typeface="Courier New" panose="02070309020205020404" charset="0"/>
                <a:ea typeface="MS Mincho" panose="02020609040205080304" pitchFamily="49" charset="-128"/>
                <a:cs typeface="+mn-cs"/>
              </a:rPr>
              <a:t>&gt;</a:t>
            </a:r>
            <a:r>
              <a:rPr lang="en-US" sz="1600" i="1" dirty="0">
                <a:latin typeface="Courier New" panose="02070309020205020404" charset="0"/>
                <a:ea typeface="MS Mincho" panose="02020609040205080304" pitchFamily="49" charset="-128"/>
                <a:cs typeface="+mn-cs"/>
              </a:rPr>
              <a:t>./</a:t>
            </a:r>
            <a:r>
              <a:rPr lang="en-US" sz="1600" i="1" dirty="0" err="1">
                <a:latin typeface="Courier New" panose="02070309020205020404" charset="0"/>
                <a:ea typeface="MS Mincho" panose="02020609040205080304" pitchFamily="49" charset="-128"/>
                <a:cs typeface="+mn-cs"/>
              </a:rPr>
              <a:t>bufdemo-nsp</a:t>
            </a:r>
            <a:endParaRPr lang="en-US" sz="1600" i="1" dirty="0">
              <a:latin typeface="Courier New" panose="02070309020205020404" charset="0"/>
              <a:ea typeface="MS Mincho" panose="02020609040205080304" pitchFamily="49" charset="-128"/>
              <a:cs typeface="+mn-cs"/>
            </a:endParaRP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Type a string:</a:t>
            </a:r>
            <a:r>
              <a:rPr lang="en-US" sz="1600" i="1" dirty="0">
                <a:latin typeface="Courier New" panose="02070309020205020404" charset="0"/>
                <a:ea typeface="MS Mincho" panose="02020609040205080304" pitchFamily="49" charset="-128"/>
                <a:cs typeface="+mn-cs"/>
              </a:rPr>
              <a:t>01234567890123456789012</a:t>
            </a:r>
          </a:p>
          <a:p>
            <a:pPr eaLnBrk="0" hangingPunct="0">
              <a:tabLst>
                <a:tab pos="457200" algn="l"/>
                <a:tab pos="1485900" algn="l"/>
              </a:tabLst>
              <a:defRPr/>
            </a:pPr>
            <a:r>
              <a:rPr lang="en-US" sz="1600" dirty="0">
                <a:latin typeface="Courier New" panose="02070309020205020404" charset="0"/>
                <a:ea typeface="MS Mincho" panose="02020609040205080304" pitchFamily="49" charset="-128"/>
              </a:rPr>
              <a:t>01234567890123456789012</a:t>
            </a:r>
            <a:endParaRPr lang="en-US" sz="1600" dirty="0">
              <a:latin typeface="Courier New" panose="02070309020205020404" charset="0"/>
              <a:ea typeface="MS Mincho" panose="02020609040205080304" pitchFamily="49" charset="-128"/>
              <a:cs typeface="+mn-cs"/>
            </a:endParaRPr>
          </a:p>
        </p:txBody>
      </p:sp>
      <p:grpSp>
        <p:nvGrpSpPr>
          <p:cNvPr id="47" name="Group 42"/>
          <p:cNvGrpSpPr/>
          <p:nvPr/>
        </p:nvGrpSpPr>
        <p:grpSpPr>
          <a:xfrm>
            <a:off x="533400" y="4336978"/>
            <a:ext cx="1797050" cy="304800"/>
            <a:chOff x="533400" y="4648200"/>
            <a:chExt cx="1797050" cy="304800"/>
          </a:xfrm>
          <a:solidFill>
            <a:schemeClr val="bg2">
              <a:lumMod val="40000"/>
              <a:lumOff val="60000"/>
            </a:schemeClr>
          </a:solidFill>
        </p:grpSpPr>
        <p:sp>
          <p:nvSpPr>
            <p:cNvPr id="48"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49"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sp>
          <p:nvSpPr>
            <p:cNvPr id="50"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35</a:t>
              </a:r>
            </a:p>
          </p:txBody>
        </p:sp>
        <p:sp>
          <p:nvSpPr>
            <p:cNvPr id="51"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34</a:t>
              </a:r>
            </a:p>
          </p:txBody>
        </p:sp>
      </p:grpSp>
      <p:grpSp>
        <p:nvGrpSpPr>
          <p:cNvPr id="52" name="Group 47"/>
          <p:cNvGrpSpPr/>
          <p:nvPr/>
        </p:nvGrpSpPr>
        <p:grpSpPr>
          <a:xfrm>
            <a:off x="533400" y="4025756"/>
            <a:ext cx="1797050" cy="304800"/>
            <a:chOff x="533400" y="4648200"/>
            <a:chExt cx="1797050" cy="304800"/>
          </a:xfrm>
          <a:solidFill>
            <a:schemeClr val="bg2">
              <a:lumMod val="40000"/>
              <a:lumOff val="60000"/>
            </a:schemeClr>
          </a:solidFill>
        </p:grpSpPr>
        <p:sp>
          <p:nvSpPr>
            <p:cNvPr id="53"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54"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sp>
          <p:nvSpPr>
            <p:cNvPr id="55"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56"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grpSp>
      <p:grpSp>
        <p:nvGrpSpPr>
          <p:cNvPr id="57" name="Group 52"/>
          <p:cNvGrpSpPr/>
          <p:nvPr/>
        </p:nvGrpSpPr>
        <p:grpSpPr>
          <a:xfrm>
            <a:off x="533400" y="3714534"/>
            <a:ext cx="1797050" cy="304800"/>
            <a:chOff x="533400" y="4648200"/>
            <a:chExt cx="1797050" cy="304800"/>
          </a:xfrm>
          <a:solidFill>
            <a:schemeClr val="bg2">
              <a:lumMod val="40000"/>
              <a:lumOff val="60000"/>
            </a:schemeClr>
          </a:solidFill>
        </p:grpSpPr>
        <p:sp>
          <p:nvSpPr>
            <p:cNvPr id="58"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35</a:t>
              </a:r>
            </a:p>
          </p:txBody>
        </p:sp>
        <p:sp>
          <p:nvSpPr>
            <p:cNvPr id="59"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34</a:t>
              </a:r>
            </a:p>
          </p:txBody>
        </p:sp>
        <p:sp>
          <p:nvSpPr>
            <p:cNvPr id="60"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61"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grpSp>
      <p:grpSp>
        <p:nvGrpSpPr>
          <p:cNvPr id="62" name="Group 57"/>
          <p:cNvGrpSpPr/>
          <p:nvPr/>
        </p:nvGrpSpPr>
        <p:grpSpPr>
          <a:xfrm>
            <a:off x="533400" y="3403312"/>
            <a:ext cx="1797050" cy="304800"/>
            <a:chOff x="533400" y="4648200"/>
            <a:chExt cx="1797050" cy="304800"/>
          </a:xfrm>
          <a:solidFill>
            <a:schemeClr val="bg2">
              <a:lumMod val="40000"/>
              <a:lumOff val="60000"/>
            </a:schemeClr>
          </a:solidFill>
        </p:grpSpPr>
        <p:sp>
          <p:nvSpPr>
            <p:cNvPr id="63"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64"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sp>
          <p:nvSpPr>
            <p:cNvPr id="65"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66"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grpSp>
      <p:grpSp>
        <p:nvGrpSpPr>
          <p:cNvPr id="67" name="Group 62"/>
          <p:cNvGrpSpPr/>
          <p:nvPr/>
        </p:nvGrpSpPr>
        <p:grpSpPr>
          <a:xfrm>
            <a:off x="533400" y="3092090"/>
            <a:ext cx="1797050" cy="304800"/>
            <a:chOff x="533400" y="4648200"/>
            <a:chExt cx="1797050" cy="304800"/>
          </a:xfrm>
          <a:solidFill>
            <a:schemeClr val="bg2">
              <a:lumMod val="40000"/>
              <a:lumOff val="60000"/>
            </a:schemeClr>
          </a:solidFill>
        </p:grpSpPr>
        <p:sp>
          <p:nvSpPr>
            <p:cNvPr id="68"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FF0000"/>
                  </a:solidFill>
                  <a:latin typeface="Courier New" panose="02070309020205020404" charset="0"/>
                  <a:cs typeface="+mn-cs"/>
                </a:rPr>
                <a:t>00</a:t>
              </a:r>
            </a:p>
          </p:txBody>
        </p:sp>
        <p:sp>
          <p:nvSpPr>
            <p:cNvPr id="69"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70"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71"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sp>
        <p:nvSpPr>
          <p:cNvPr id="72" name="TextBox 3"/>
          <p:cNvSpPr txBox="1"/>
          <p:nvPr/>
        </p:nvSpPr>
        <p:spPr>
          <a:xfrm>
            <a:off x="982663" y="6292334"/>
            <a:ext cx="3154680" cy="368300"/>
          </a:xfrm>
          <a:prstGeom prst="rect">
            <a:avLst/>
          </a:prstGeom>
          <a:noFill/>
        </p:spPr>
        <p:txBody>
          <a:bodyPr wrap="none" rtlCol="0">
            <a:spAutoFit/>
          </a:bodyPr>
          <a:lstStyle/>
          <a:p>
            <a:pPr algn="l"/>
            <a:r>
              <a:rPr lang="en-US" sz="1800" dirty="0">
                <a:solidFill>
                  <a:srgbClr val="C00000"/>
                </a:solidFill>
                <a:latin typeface="Calibri" panose="020F0502020204030204" charset="0"/>
              </a:rPr>
              <a:t>溢出缓冲区，但</a:t>
            </a:r>
            <a:r>
              <a:rPr lang="zh-CN" altLang="en-US" sz="1800" dirty="0">
                <a:solidFill>
                  <a:srgbClr val="C00000"/>
                </a:solidFill>
                <a:latin typeface="Calibri" panose="020F0502020204030204" charset="0"/>
              </a:rPr>
              <a:t>没有破</a:t>
            </a:r>
            <a:r>
              <a:rPr lang="en-US" sz="1800" dirty="0">
                <a:solidFill>
                  <a:srgbClr val="C00000"/>
                </a:solidFill>
                <a:latin typeface="Calibri" panose="020F0502020204030204" charset="0"/>
              </a:rPr>
              <a:t>坏状态</a:t>
            </a:r>
          </a:p>
        </p:txBody>
      </p:sp>
      <p:sp>
        <p:nvSpPr>
          <p:cNvPr id="73" name="Rectangle 3"/>
          <p:cNvSpPr>
            <a:spLocks noChangeArrowheads="1"/>
          </p:cNvSpPr>
          <p:nvPr/>
        </p:nvSpPr>
        <p:spPr bwMode="auto">
          <a:xfrm>
            <a:off x="2390791" y="5943600"/>
            <a:ext cx="3552809" cy="335989"/>
          </a:xfrm>
          <a:prstGeom prst="rect">
            <a:avLst/>
          </a:prstGeom>
          <a:solidFill>
            <a:schemeClr val="bg2">
              <a:lumMod val="40000"/>
              <a:lumOff val="60000"/>
            </a:schemeClr>
          </a:solidFill>
          <a:ln w="12700">
            <a:noFill/>
            <a:miter lim="800000"/>
          </a:ln>
          <a:effectLst/>
        </p:spPr>
        <p:txBody>
          <a:bodyPr wrap="square" lIns="90487" tIns="44450" rIns="90487" bIns="44450">
            <a:spAutoFit/>
          </a:bodyPr>
          <a:lstStyle/>
          <a:p>
            <a:pPr eaLnBrk="0" hangingPunct="0">
              <a:tabLst>
                <a:tab pos="457200" algn="l"/>
                <a:tab pos="1485900" algn="l"/>
              </a:tabLst>
              <a:defRPr/>
            </a:pPr>
            <a:r>
              <a:rPr lang="en-US" sz="1600" dirty="0">
                <a:latin typeface="Courier New" panose="02070309020205020404" charset="0"/>
                <a:ea typeface="MS Mincho" panose="02020609040205080304" pitchFamily="49" charset="-128"/>
              </a:rPr>
              <a:t>“01234567890123456789012</a:t>
            </a:r>
            <a:r>
              <a:rPr lang="en-US" sz="1600" dirty="0">
                <a:solidFill>
                  <a:srgbClr val="C00000"/>
                </a:solidFill>
                <a:latin typeface="Courier New" panose="02070309020205020404" charset="0"/>
                <a:ea typeface="MS Mincho" panose="02020609040205080304" pitchFamily="49" charset="-128"/>
              </a:rPr>
              <a:t>\0</a:t>
            </a:r>
            <a:r>
              <a:rPr lang="en-US" sz="1600" dirty="0">
                <a:latin typeface="Courier New" panose="02070309020205020404" charset="0"/>
                <a:ea typeface="MS Mincho" panose="02020609040205080304" pitchFamily="49" charset="-128"/>
              </a:rPr>
              <a:t>”</a:t>
            </a:r>
            <a:endParaRPr lang="en-US" sz="1600" dirty="0">
              <a:latin typeface="Courier New" panose="02070309020205020404" charset="0"/>
              <a:ea typeface="MS Mincho" panose="02020609040205080304" pitchFamily="49" charset="-128"/>
              <a:cs typeface="+mn-cs"/>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4103370"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sym typeface="+mn-ea"/>
              </a:rPr>
              <a:t>缓冲区溢出栈</a:t>
            </a:r>
            <a:r>
              <a:rPr lang="zh-CN" sz="2800">
                <a:solidFill>
                  <a:schemeClr val="tx1">
                    <a:lumMod val="65000"/>
                    <a:lumOff val="35000"/>
                  </a:schemeClr>
                </a:solidFill>
                <a:sym typeface="+mn-ea"/>
              </a:rPr>
              <a:t>例子#</a:t>
            </a:r>
            <a:r>
              <a:rPr lang="en-US" altLang="zh-CN" sz="2800">
                <a:solidFill>
                  <a:schemeClr val="tx1">
                    <a:lumMod val="65000"/>
                    <a:lumOff val="35000"/>
                  </a:schemeClr>
                </a:solidFill>
                <a:sym typeface="+mn-ea"/>
              </a:rPr>
              <a:t>2</a:t>
            </a:r>
          </a:p>
        </p:txBody>
      </p:sp>
      <p:sp>
        <p:nvSpPr>
          <p:cNvPr id="18" name="TextBox 15"/>
          <p:cNvSpPr txBox="1">
            <a:spLocks noChangeArrowheads="1"/>
          </p:cNvSpPr>
          <p:nvPr/>
        </p:nvSpPr>
        <p:spPr bwMode="auto">
          <a:xfrm>
            <a:off x="457200" y="990600"/>
            <a:ext cx="1259840" cy="368300"/>
          </a:xfrm>
          <a:prstGeom prst="rect">
            <a:avLst/>
          </a:prstGeom>
          <a:noFill/>
          <a:ln w="9525">
            <a:noFill/>
            <a:miter lim="800000"/>
          </a:ln>
        </p:spPr>
        <p:txBody>
          <a:bodyPr wrap="none">
            <a:spAutoFit/>
          </a:bodyPr>
          <a:lstStyle/>
          <a:p>
            <a:pPr algn="l" eaLnBrk="0" hangingPunct="0"/>
            <a:r>
              <a:rPr lang="zh-CN" altLang="en-US" i="1">
                <a:solidFill>
                  <a:srgbClr val="C00000"/>
                </a:solidFill>
                <a:latin typeface="Calibri" panose="020F0502020204030204" charset="0"/>
                <a:sym typeface="+mn-ea"/>
              </a:rPr>
              <a:t>调用</a:t>
            </a:r>
            <a:r>
              <a:rPr lang="en-US" sz="1800" i="1" dirty="0">
                <a:solidFill>
                  <a:srgbClr val="C00000"/>
                </a:solidFill>
                <a:latin typeface="Calibri" panose="020F0502020204030204" charset="0"/>
              </a:rPr>
              <a:t>gets</a:t>
            </a:r>
            <a:r>
              <a:rPr lang="zh-CN" altLang="en-US" sz="1800" i="1" dirty="0">
                <a:solidFill>
                  <a:srgbClr val="C00000"/>
                </a:solidFill>
                <a:latin typeface="Calibri" panose="020F0502020204030204" charset="0"/>
              </a:rPr>
              <a:t>后</a:t>
            </a:r>
          </a:p>
        </p:txBody>
      </p:sp>
      <p:sp>
        <p:nvSpPr>
          <p:cNvPr id="5" name="Rectangle 3"/>
          <p:cNvSpPr>
            <a:spLocks noChangeArrowheads="1"/>
          </p:cNvSpPr>
          <p:nvPr/>
        </p:nvSpPr>
        <p:spPr bwMode="auto">
          <a:xfrm>
            <a:off x="5486400" y="1219200"/>
            <a:ext cx="2601912" cy="1320874"/>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echo:</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subq</a:t>
            </a:r>
            <a:r>
              <a:rPr lang="en-US" sz="1600" dirty="0">
                <a:latin typeface="Courier New" panose="02070309020205020404" charset="0"/>
                <a:ea typeface="MS Mincho" panose="02020609040205080304" pitchFamily="49" charset="-128"/>
                <a:cs typeface="+mn-cs"/>
              </a:rPr>
              <a:t>  $24, %</a:t>
            </a:r>
            <a:r>
              <a:rPr lang="en-US" sz="1600" dirty="0" err="1">
                <a:latin typeface="Courier New" panose="02070309020205020404" charset="0"/>
                <a:ea typeface="MS Mincho" panose="02020609040205080304" pitchFamily="49" charset="-128"/>
                <a:cs typeface="+mn-cs"/>
              </a:rPr>
              <a:t>rsp</a:t>
            </a:r>
            <a:endParaRPr lang="en-US" sz="1600" dirty="0">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movq</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rsp</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rdi</a:t>
            </a:r>
            <a:endParaRPr lang="en-US" sz="1600" dirty="0">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call  gets</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 . .</a:t>
            </a:r>
          </a:p>
        </p:txBody>
      </p:sp>
      <p:sp>
        <p:nvSpPr>
          <p:cNvPr id="6" name="Rectangle 4"/>
          <p:cNvSpPr>
            <a:spLocks noChangeArrowheads="1"/>
          </p:cNvSpPr>
          <p:nvPr/>
        </p:nvSpPr>
        <p:spPr bwMode="auto">
          <a:xfrm>
            <a:off x="3048000" y="1219200"/>
            <a:ext cx="2438400" cy="1567096"/>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void echo()</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char </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[4]; </a:t>
            </a:r>
          </a:p>
          <a:p>
            <a:pPr eaLnBrk="0" hangingPunct="0">
              <a:tabLst>
                <a:tab pos="457200" algn="l"/>
                <a:tab pos="1485900" algn="l"/>
              </a:tabLst>
            </a:pPr>
            <a:r>
              <a:rPr lang="en-US" sz="1600" dirty="0">
                <a:latin typeface="Courier New" panose="02070309020205020404" charset="0"/>
                <a:ea typeface="MS Mincho" panose="02020609040205080304" pitchFamily="49" charset="-128"/>
              </a:rPr>
              <a:t>    gets(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 .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p>
        </p:txBody>
      </p:sp>
      <p:sp>
        <p:nvSpPr>
          <p:cNvPr id="7" name="Rectangle 22"/>
          <p:cNvSpPr>
            <a:spLocks noChangeArrowheads="1"/>
          </p:cNvSpPr>
          <p:nvPr/>
        </p:nvSpPr>
        <p:spPr bwMode="auto">
          <a:xfrm>
            <a:off x="533400" y="2503486"/>
            <a:ext cx="1797050" cy="608299"/>
          </a:xfrm>
          <a:prstGeom prst="rect">
            <a:avLst/>
          </a:prstGeom>
          <a:solidFill>
            <a:schemeClr val="bg1">
              <a:lumMod val="95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sp>
        <p:nvSpPr>
          <p:cNvPr id="8" name="Line 29"/>
          <p:cNvSpPr>
            <a:spLocks noChangeShapeType="1"/>
          </p:cNvSpPr>
          <p:nvPr/>
        </p:nvSpPr>
        <p:spPr bwMode="auto">
          <a:xfrm flipH="1">
            <a:off x="2952750" y="4814816"/>
            <a:ext cx="450850" cy="0"/>
          </a:xfrm>
          <a:prstGeom prst="line">
            <a:avLst/>
          </a:prstGeom>
          <a:noFill/>
          <a:ln w="28575">
            <a:solidFill>
              <a:schemeClr val="tx1"/>
            </a:solidFill>
            <a:round/>
            <a:tailEnd type="triangle" w="med" len="med"/>
          </a:ln>
        </p:spPr>
        <p:txBody>
          <a:bodyPr/>
          <a:lstStyle/>
          <a:p>
            <a:endParaRPr lang="en-US"/>
          </a:p>
        </p:txBody>
      </p:sp>
      <p:sp>
        <p:nvSpPr>
          <p:cNvPr id="9" name="Rectangle 30"/>
          <p:cNvSpPr>
            <a:spLocks noChangeArrowheads="1"/>
          </p:cNvSpPr>
          <p:nvPr/>
        </p:nvSpPr>
        <p:spPr bwMode="auto">
          <a:xfrm>
            <a:off x="3365500" y="4641778"/>
            <a:ext cx="738754" cy="369332"/>
          </a:xfrm>
          <a:prstGeom prst="rect">
            <a:avLst/>
          </a:prstGeom>
          <a:noFill/>
          <a:ln w="9525">
            <a:noFill/>
            <a:miter lim="800000"/>
          </a:ln>
        </p:spPr>
        <p:txBody>
          <a:bodyPr wrap="none">
            <a:spAutoFit/>
          </a:bodyPr>
          <a:lstStyle/>
          <a:p>
            <a:r>
              <a:rPr lang="en-US" sz="1800" dirty="0">
                <a:latin typeface="Courier New" panose="02070309020205020404" charset="0"/>
              </a:rPr>
              <a:t>%</a:t>
            </a:r>
            <a:r>
              <a:rPr lang="en-US" sz="1800" dirty="0" err="1">
                <a:latin typeface="Courier New" panose="02070309020205020404" charset="0"/>
              </a:rPr>
              <a:t>rsp</a:t>
            </a:r>
            <a:endParaRPr lang="en-US" sz="1800" dirty="0">
              <a:latin typeface="Courier New" panose="02070309020205020404" charset="0"/>
            </a:endParaRPr>
          </a:p>
        </p:txBody>
      </p:sp>
      <p:sp>
        <p:nvSpPr>
          <p:cNvPr id="10" name="Rectangle 31"/>
          <p:cNvSpPr>
            <a:spLocks noChangeArrowheads="1"/>
          </p:cNvSpPr>
          <p:nvPr/>
        </p:nvSpPr>
        <p:spPr bwMode="auto">
          <a:xfrm>
            <a:off x="533400" y="1360487"/>
            <a:ext cx="1797050" cy="1143000"/>
          </a:xfrm>
          <a:prstGeom prst="rect">
            <a:avLst/>
          </a:prstGeom>
          <a:solidFill>
            <a:schemeClr val="bg1">
              <a:lumMod val="95000"/>
            </a:schemeClr>
          </a:solidFill>
          <a:ln w="28575">
            <a:solidFill>
              <a:schemeClr val="tx1"/>
            </a:solidFill>
            <a:miter lim="800000"/>
          </a:ln>
          <a:effectLst/>
        </p:spPr>
        <p:txBody>
          <a:bodyPr wrap="none"/>
          <a:lstStyle/>
          <a:p>
            <a:pPr algn="ctr">
              <a:defRPr/>
            </a:pPr>
            <a:r>
              <a:rPr lang="en-US" sz="1800" b="0" dirty="0">
                <a:latin typeface="Calibri" panose="020F0502020204030204" charset="0"/>
                <a:cs typeface="+mn-cs"/>
              </a:rPr>
              <a:t>Stack Frame</a:t>
            </a:r>
          </a:p>
          <a:p>
            <a:pPr algn="ctr">
              <a:defRPr/>
            </a:pPr>
            <a:r>
              <a:rPr lang="en-US" sz="1800" b="0" dirty="0">
                <a:latin typeface="Calibri" panose="020F0502020204030204" charset="0"/>
                <a:cs typeface="+mn-cs"/>
              </a:rPr>
              <a:t>for </a:t>
            </a:r>
            <a:r>
              <a:rPr lang="en-US" sz="1800" dirty="0" err="1">
                <a:latin typeface="Courier New" panose="02070309020205020404" charset="0"/>
                <a:cs typeface="+mn-cs"/>
              </a:rPr>
              <a:t>call_echo</a:t>
            </a:r>
            <a:endParaRPr lang="en-US" sz="1800" dirty="0">
              <a:latin typeface="Courier New" panose="02070309020205020404" charset="0"/>
              <a:cs typeface="+mn-cs"/>
            </a:endParaRPr>
          </a:p>
        </p:txBody>
      </p:sp>
      <p:grpSp>
        <p:nvGrpSpPr>
          <p:cNvPr id="11" name="Group 1"/>
          <p:cNvGrpSpPr/>
          <p:nvPr/>
        </p:nvGrpSpPr>
        <p:grpSpPr>
          <a:xfrm>
            <a:off x="533400" y="4648200"/>
            <a:ext cx="1797050" cy="304800"/>
            <a:chOff x="533400" y="4648200"/>
            <a:chExt cx="1797050" cy="304800"/>
          </a:xfrm>
        </p:grpSpPr>
        <p:sp>
          <p:nvSpPr>
            <p:cNvPr id="12" name="Rectangle 24"/>
            <p:cNvSpPr>
              <a:spLocks noChangeArrowheads="1"/>
            </p:cNvSpPr>
            <p:nvPr/>
          </p:nvSpPr>
          <p:spPr bwMode="auto">
            <a:xfrm>
              <a:off x="533400"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13" name="Rectangle 25"/>
            <p:cNvSpPr>
              <a:spLocks noChangeArrowheads="1"/>
            </p:cNvSpPr>
            <p:nvPr/>
          </p:nvSpPr>
          <p:spPr bwMode="auto">
            <a:xfrm>
              <a:off x="982663"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14" name="Rectangle 26"/>
            <p:cNvSpPr>
              <a:spLocks noChangeArrowheads="1"/>
            </p:cNvSpPr>
            <p:nvPr/>
          </p:nvSpPr>
          <p:spPr bwMode="auto">
            <a:xfrm>
              <a:off x="1431925"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15" name="Rectangle 27"/>
            <p:cNvSpPr>
              <a:spLocks noChangeArrowheads="1"/>
            </p:cNvSpPr>
            <p:nvPr/>
          </p:nvSpPr>
          <p:spPr bwMode="auto">
            <a:xfrm>
              <a:off x="1881188"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sp>
        <p:nvSpPr>
          <p:cNvPr id="17" name="Rectangle 28"/>
          <p:cNvSpPr>
            <a:spLocks noChangeArrowheads="1"/>
          </p:cNvSpPr>
          <p:nvPr/>
        </p:nvSpPr>
        <p:spPr bwMode="auto">
          <a:xfrm>
            <a:off x="2330450" y="4648200"/>
            <a:ext cx="593725" cy="366712"/>
          </a:xfrm>
          <a:prstGeom prst="rect">
            <a:avLst/>
          </a:prstGeom>
          <a:noFill/>
          <a:ln w="9525">
            <a:noFill/>
            <a:miter lim="800000"/>
          </a:ln>
        </p:spPr>
        <p:txBody>
          <a:bodyPr wrap="none">
            <a:spAutoFit/>
          </a:bodyPr>
          <a:lstStyle/>
          <a:p>
            <a:r>
              <a:rPr lang="en-US" sz="1800" dirty="0" err="1">
                <a:latin typeface="Courier New" panose="02070309020205020404" charset="0"/>
              </a:rPr>
              <a:t>buf</a:t>
            </a:r>
            <a:endParaRPr lang="en-US" sz="1800" dirty="0">
              <a:latin typeface="Courier New" panose="02070309020205020404" charset="0"/>
            </a:endParaRPr>
          </a:p>
        </p:txBody>
      </p:sp>
      <p:sp>
        <p:nvSpPr>
          <p:cNvPr id="19" name="Rectangle 23"/>
          <p:cNvSpPr>
            <a:spLocks noChangeArrowheads="1"/>
          </p:cNvSpPr>
          <p:nvPr/>
        </p:nvSpPr>
        <p:spPr bwMode="auto">
          <a:xfrm>
            <a:off x="533400" y="3113087"/>
            <a:ext cx="1797050" cy="1531207"/>
          </a:xfrm>
          <a:prstGeom prst="rect">
            <a:avLst/>
          </a:prstGeom>
          <a:solidFill>
            <a:schemeClr val="accent2">
              <a:lumMod val="20000"/>
              <a:lumOff val="80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rPr>
              <a:t>20 bytes unused</a:t>
            </a:r>
            <a:endParaRPr lang="en-US" sz="1800" dirty="0">
              <a:latin typeface="Courier New" panose="02070309020205020404" charset="0"/>
            </a:endParaRPr>
          </a:p>
        </p:txBody>
      </p:sp>
      <p:sp>
        <p:nvSpPr>
          <p:cNvPr id="25" name="Rectangle 5"/>
          <p:cNvSpPr>
            <a:spLocks noChangeArrowheads="1"/>
          </p:cNvSpPr>
          <p:nvPr/>
        </p:nvSpPr>
        <p:spPr bwMode="auto">
          <a:xfrm>
            <a:off x="3403600" y="3444014"/>
            <a:ext cx="4718485" cy="1197764"/>
          </a:xfrm>
          <a:prstGeom prst="rect">
            <a:avLst/>
          </a:prstGeom>
          <a:solidFill>
            <a:srgbClr val="F1C7C7"/>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4006f1:	</a:t>
            </a:r>
            <a:r>
              <a:rPr lang="en-US" sz="1800" dirty="0" err="1">
                <a:latin typeface="Courier New" panose="02070309020205020404" charset="0"/>
                <a:ea typeface="MS Mincho" panose="02020609040205080304" pitchFamily="49" charset="-128"/>
              </a:rPr>
              <a:t>callq</a:t>
            </a:r>
            <a:r>
              <a:rPr lang="en-US" sz="1800" dirty="0">
                <a:latin typeface="Courier New" panose="02070309020205020404" charset="0"/>
                <a:ea typeface="MS Mincho" panose="02020609040205080304" pitchFamily="49" charset="-128"/>
              </a:rPr>
              <a:t>  4006cf &lt;echo&gt;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r>
              <a:rPr lang="en-US" sz="1800" dirty="0">
                <a:solidFill>
                  <a:srgbClr val="FF0000"/>
                </a:solidFill>
                <a:latin typeface="Courier New" panose="02070309020205020404" charset="0"/>
                <a:ea typeface="MS Mincho" panose="02020609040205080304" pitchFamily="49" charset="-128"/>
              </a:rPr>
              <a:t>4006f6</a:t>
            </a:r>
            <a:r>
              <a:rPr lang="en-US" sz="1800" dirty="0">
                <a:latin typeface="Courier New" panose="02070309020205020404" charset="0"/>
                <a:ea typeface="MS Mincho" panose="02020609040205080304" pitchFamily="49" charset="-128"/>
              </a:rPr>
              <a:t>:	add    $0x8,%rsp</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p:txBody>
      </p:sp>
      <p:sp>
        <p:nvSpPr>
          <p:cNvPr id="26" name="TextBox 25"/>
          <p:cNvSpPr txBox="1"/>
          <p:nvPr/>
        </p:nvSpPr>
        <p:spPr>
          <a:xfrm>
            <a:off x="3282950" y="3037113"/>
            <a:ext cx="1469122" cy="461665"/>
          </a:xfrm>
          <a:prstGeom prst="rect">
            <a:avLst/>
          </a:prstGeom>
          <a:noFill/>
        </p:spPr>
        <p:txBody>
          <a:bodyPr wrap="none" rtlCol="0">
            <a:spAutoFit/>
          </a:bodyPr>
          <a:lstStyle/>
          <a:p>
            <a:r>
              <a:rPr lang="en-US" dirty="0" err="1">
                <a:latin typeface="Calibri" panose="020F0502020204030204" charset="0"/>
              </a:rPr>
              <a:t>call_echo</a:t>
            </a:r>
            <a:r>
              <a:rPr lang="en-US" dirty="0">
                <a:latin typeface="Calibri" panose="020F0502020204030204" charset="0"/>
              </a:rPr>
              <a:t>:</a:t>
            </a:r>
          </a:p>
        </p:txBody>
      </p:sp>
      <p:grpSp>
        <p:nvGrpSpPr>
          <p:cNvPr id="32" name="Group 31"/>
          <p:cNvGrpSpPr/>
          <p:nvPr/>
        </p:nvGrpSpPr>
        <p:grpSpPr>
          <a:xfrm>
            <a:off x="538208" y="2481496"/>
            <a:ext cx="1797050" cy="304800"/>
            <a:chOff x="2377022" y="2811289"/>
            <a:chExt cx="1797050" cy="304800"/>
          </a:xfrm>
          <a:solidFill>
            <a:srgbClr val="D5F1CF"/>
          </a:solidFill>
        </p:grpSpPr>
        <p:sp>
          <p:nvSpPr>
            <p:cNvPr id="33"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4"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5"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6"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grpSp>
      <p:sp>
        <p:nvSpPr>
          <p:cNvPr id="20" name="Rectangle 3"/>
          <p:cNvSpPr>
            <a:spLocks noChangeArrowheads="1"/>
          </p:cNvSpPr>
          <p:nvPr/>
        </p:nvSpPr>
        <p:spPr bwMode="auto">
          <a:xfrm>
            <a:off x="2390791" y="5029200"/>
            <a:ext cx="5257800" cy="828432"/>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1485900" algn="l"/>
              </a:tabLst>
              <a:defRPr/>
            </a:pPr>
            <a:r>
              <a:rPr lang="en-US" sz="1600" dirty="0" err="1">
                <a:latin typeface="Courier New" panose="02070309020205020404" charset="0"/>
                <a:ea typeface="MS Mincho" panose="02020609040205080304" pitchFamily="49" charset="-128"/>
                <a:cs typeface="+mn-cs"/>
              </a:rPr>
              <a:t>unix</a:t>
            </a:r>
            <a:r>
              <a:rPr lang="en-US" sz="1600" dirty="0">
                <a:latin typeface="Courier New" panose="02070309020205020404" charset="0"/>
                <a:ea typeface="MS Mincho" panose="02020609040205080304" pitchFamily="49" charset="-128"/>
                <a:cs typeface="+mn-cs"/>
              </a:rPr>
              <a:t>&gt;</a:t>
            </a:r>
            <a:r>
              <a:rPr lang="en-US" sz="1600" i="1" dirty="0">
                <a:latin typeface="Courier New" panose="02070309020205020404" charset="0"/>
                <a:ea typeface="MS Mincho" panose="02020609040205080304" pitchFamily="49" charset="-128"/>
                <a:cs typeface="+mn-cs"/>
              </a:rPr>
              <a:t>./</a:t>
            </a:r>
            <a:r>
              <a:rPr lang="en-US" sz="1600" i="1" dirty="0" err="1">
                <a:latin typeface="Courier New" panose="02070309020205020404" charset="0"/>
                <a:ea typeface="MS Mincho" panose="02020609040205080304" pitchFamily="49" charset="-128"/>
                <a:cs typeface="+mn-cs"/>
              </a:rPr>
              <a:t>bufdemo-nsp</a:t>
            </a:r>
            <a:endParaRPr lang="en-US" sz="1600" i="1" dirty="0">
              <a:latin typeface="Courier New" panose="02070309020205020404" charset="0"/>
              <a:ea typeface="MS Mincho" panose="02020609040205080304" pitchFamily="49" charset="-128"/>
              <a:cs typeface="+mn-cs"/>
            </a:endParaRP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Type a string:</a:t>
            </a:r>
            <a:r>
              <a:rPr lang="en-US" sz="1600" i="1" dirty="0">
                <a:latin typeface="Courier New" panose="02070309020205020404" charset="0"/>
                <a:ea typeface="MS Mincho" panose="02020609040205080304" pitchFamily="49" charset="-128"/>
                <a:cs typeface="+mn-cs"/>
              </a:rPr>
              <a:t>0123456789012345678901234</a:t>
            </a:r>
          </a:p>
          <a:p>
            <a:pPr eaLnBrk="0" hangingPunct="0">
              <a:tabLst>
                <a:tab pos="457200" algn="l"/>
                <a:tab pos="1485900" algn="l"/>
              </a:tabLst>
              <a:defRPr/>
            </a:pPr>
            <a:r>
              <a:rPr lang="en-US" sz="1600" dirty="0">
                <a:latin typeface="Courier New" panose="02070309020205020404" charset="0"/>
                <a:ea typeface="MS Mincho" panose="02020609040205080304" pitchFamily="49" charset="-128"/>
              </a:rPr>
              <a:t>Segmentation Fault</a:t>
            </a:r>
            <a:endParaRPr lang="en-US" sz="1600" dirty="0">
              <a:latin typeface="Courier New" panose="02070309020205020404" charset="0"/>
              <a:ea typeface="MS Mincho" panose="02020609040205080304" pitchFamily="49" charset="-128"/>
              <a:cs typeface="+mn-cs"/>
            </a:endParaRPr>
          </a:p>
        </p:txBody>
      </p:sp>
      <p:grpSp>
        <p:nvGrpSpPr>
          <p:cNvPr id="21" name="Group 42"/>
          <p:cNvGrpSpPr/>
          <p:nvPr/>
        </p:nvGrpSpPr>
        <p:grpSpPr>
          <a:xfrm>
            <a:off x="533400" y="4310223"/>
            <a:ext cx="1797050" cy="304800"/>
            <a:chOff x="533400" y="4648200"/>
            <a:chExt cx="1797050" cy="304800"/>
          </a:xfrm>
          <a:solidFill>
            <a:schemeClr val="bg2">
              <a:lumMod val="40000"/>
              <a:lumOff val="60000"/>
            </a:schemeClr>
          </a:solidFill>
        </p:grpSpPr>
        <p:sp>
          <p:nvSpPr>
            <p:cNvPr id="27"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r>
                <a:rPr lang="en-US" sz="1800" dirty="0">
                  <a:latin typeface="Courier New" panose="02070309020205020404" charset="0"/>
                  <a:cs typeface="+mn-cs"/>
                </a:rPr>
                <a:t>37</a:t>
              </a:r>
            </a:p>
          </p:txBody>
        </p:sp>
        <p:sp>
          <p:nvSpPr>
            <p:cNvPr id="28"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r>
                <a:rPr lang="en-US" sz="1800" dirty="0">
                  <a:latin typeface="Courier New" panose="02070309020205020404" charset="0"/>
                  <a:cs typeface="+mn-cs"/>
                </a:rPr>
                <a:t>36</a:t>
              </a:r>
            </a:p>
          </p:txBody>
        </p:sp>
        <p:sp>
          <p:nvSpPr>
            <p:cNvPr id="29"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r>
                <a:rPr lang="en-US" sz="1800" dirty="0">
                  <a:latin typeface="Courier New" panose="02070309020205020404" charset="0"/>
                  <a:cs typeface="+mn-cs"/>
                </a:rPr>
                <a:t>35</a:t>
              </a:r>
            </a:p>
          </p:txBody>
        </p:sp>
        <p:sp>
          <p:nvSpPr>
            <p:cNvPr id="30"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r>
                <a:rPr lang="en-US" sz="1800" dirty="0">
                  <a:latin typeface="Courier New" panose="02070309020205020404" charset="0"/>
                  <a:cs typeface="+mn-cs"/>
                </a:rPr>
                <a:t>34</a:t>
              </a:r>
            </a:p>
          </p:txBody>
        </p:sp>
      </p:grpSp>
      <p:grpSp>
        <p:nvGrpSpPr>
          <p:cNvPr id="74" name="Group 47"/>
          <p:cNvGrpSpPr/>
          <p:nvPr/>
        </p:nvGrpSpPr>
        <p:grpSpPr>
          <a:xfrm>
            <a:off x="533400" y="3999001"/>
            <a:ext cx="1797050" cy="304800"/>
            <a:chOff x="533400" y="4648200"/>
            <a:chExt cx="1797050" cy="304800"/>
          </a:xfrm>
          <a:solidFill>
            <a:schemeClr val="bg2">
              <a:lumMod val="40000"/>
              <a:lumOff val="60000"/>
            </a:schemeClr>
          </a:solidFill>
        </p:grpSpPr>
        <p:sp>
          <p:nvSpPr>
            <p:cNvPr id="75"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76"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sp>
          <p:nvSpPr>
            <p:cNvPr id="77"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78"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grpSp>
      <p:grpSp>
        <p:nvGrpSpPr>
          <p:cNvPr id="79" name="Group 52"/>
          <p:cNvGrpSpPr/>
          <p:nvPr/>
        </p:nvGrpSpPr>
        <p:grpSpPr>
          <a:xfrm>
            <a:off x="533400" y="3687779"/>
            <a:ext cx="1797050" cy="304800"/>
            <a:chOff x="533400" y="4648200"/>
            <a:chExt cx="1797050" cy="304800"/>
          </a:xfrm>
          <a:solidFill>
            <a:schemeClr val="bg2">
              <a:lumMod val="40000"/>
              <a:lumOff val="60000"/>
            </a:schemeClr>
          </a:solidFill>
        </p:grpSpPr>
        <p:sp>
          <p:nvSpPr>
            <p:cNvPr id="80"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35</a:t>
              </a:r>
            </a:p>
          </p:txBody>
        </p:sp>
        <p:sp>
          <p:nvSpPr>
            <p:cNvPr id="81"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34</a:t>
              </a:r>
            </a:p>
          </p:txBody>
        </p:sp>
        <p:sp>
          <p:nvSpPr>
            <p:cNvPr id="82"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83"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grpSp>
      <p:grpSp>
        <p:nvGrpSpPr>
          <p:cNvPr id="84" name="Group 57"/>
          <p:cNvGrpSpPr/>
          <p:nvPr/>
        </p:nvGrpSpPr>
        <p:grpSpPr>
          <a:xfrm>
            <a:off x="533400" y="3376557"/>
            <a:ext cx="1797050" cy="304800"/>
            <a:chOff x="533400" y="4648200"/>
            <a:chExt cx="1797050" cy="304800"/>
          </a:xfrm>
          <a:solidFill>
            <a:schemeClr val="bg2">
              <a:lumMod val="40000"/>
              <a:lumOff val="60000"/>
            </a:schemeClr>
          </a:solidFill>
        </p:grpSpPr>
        <p:sp>
          <p:nvSpPr>
            <p:cNvPr id="85"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86"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sp>
          <p:nvSpPr>
            <p:cNvPr id="87"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88"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grpSp>
      <p:grpSp>
        <p:nvGrpSpPr>
          <p:cNvPr id="89" name="Group 62"/>
          <p:cNvGrpSpPr/>
          <p:nvPr/>
        </p:nvGrpSpPr>
        <p:grpSpPr>
          <a:xfrm>
            <a:off x="533400" y="3065335"/>
            <a:ext cx="1797050" cy="304800"/>
            <a:chOff x="533400" y="4648200"/>
            <a:chExt cx="1797050" cy="304800"/>
          </a:xfrm>
          <a:solidFill>
            <a:schemeClr val="bg2">
              <a:lumMod val="40000"/>
              <a:lumOff val="60000"/>
            </a:schemeClr>
          </a:solidFill>
        </p:grpSpPr>
        <p:sp>
          <p:nvSpPr>
            <p:cNvPr id="90"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91"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92"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93"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sp>
        <p:nvSpPr>
          <p:cNvPr id="94" name="TextBox 3"/>
          <p:cNvSpPr txBox="1"/>
          <p:nvPr/>
        </p:nvSpPr>
        <p:spPr>
          <a:xfrm>
            <a:off x="982663" y="6292334"/>
            <a:ext cx="3154680" cy="368300"/>
          </a:xfrm>
          <a:prstGeom prst="rect">
            <a:avLst/>
          </a:prstGeom>
          <a:noFill/>
        </p:spPr>
        <p:txBody>
          <a:bodyPr wrap="none" rtlCol="0">
            <a:spAutoFit/>
          </a:bodyPr>
          <a:lstStyle/>
          <a:p>
            <a:pPr algn="l"/>
            <a:r>
              <a:rPr lang="en-US" sz="1800" dirty="0">
                <a:solidFill>
                  <a:srgbClr val="C00000"/>
                </a:solidFill>
                <a:latin typeface="Calibri" panose="020F0502020204030204" charset="0"/>
              </a:rPr>
              <a:t>溢出缓冲区和损坏的返回指针</a:t>
            </a:r>
          </a:p>
        </p:txBody>
      </p:sp>
      <p:grpSp>
        <p:nvGrpSpPr>
          <p:cNvPr id="95" name="Group 67"/>
          <p:cNvGrpSpPr/>
          <p:nvPr/>
        </p:nvGrpSpPr>
        <p:grpSpPr>
          <a:xfrm>
            <a:off x="533400" y="2787290"/>
            <a:ext cx="1797050" cy="304800"/>
            <a:chOff x="2377022" y="2811289"/>
            <a:chExt cx="1797050" cy="304800"/>
          </a:xfrm>
          <a:solidFill>
            <a:srgbClr val="D5F1CF"/>
          </a:solidFill>
        </p:grpSpPr>
        <p:sp>
          <p:nvSpPr>
            <p:cNvPr id="96"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97"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40</a:t>
              </a:r>
            </a:p>
          </p:txBody>
        </p:sp>
        <p:sp>
          <p:nvSpPr>
            <p:cNvPr id="98"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FF0000"/>
                  </a:solidFill>
                  <a:latin typeface="Courier New" panose="02070309020205020404" charset="0"/>
                  <a:cs typeface="+mn-cs"/>
                </a:rPr>
                <a:t>00</a:t>
              </a:r>
            </a:p>
          </p:txBody>
        </p:sp>
        <p:sp>
          <p:nvSpPr>
            <p:cNvPr id="99"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FF0000"/>
                  </a:solidFill>
                  <a:latin typeface="Courier New" panose="02070309020205020404" charset="0"/>
                  <a:cs typeface="+mn-cs"/>
                </a:rPr>
                <a:t>34</a:t>
              </a:r>
            </a:p>
          </p:txBody>
        </p:sp>
      </p:grpSp>
      <p:sp>
        <p:nvSpPr>
          <p:cNvPr id="100" name="Rectangle 3"/>
          <p:cNvSpPr>
            <a:spLocks noChangeArrowheads="1"/>
          </p:cNvSpPr>
          <p:nvPr/>
        </p:nvSpPr>
        <p:spPr bwMode="auto">
          <a:xfrm>
            <a:off x="2390791" y="5943600"/>
            <a:ext cx="3781409" cy="335989"/>
          </a:xfrm>
          <a:prstGeom prst="rect">
            <a:avLst/>
          </a:prstGeom>
          <a:solidFill>
            <a:schemeClr val="bg2">
              <a:lumMod val="40000"/>
              <a:lumOff val="60000"/>
            </a:schemeClr>
          </a:solidFill>
          <a:ln w="12700">
            <a:noFill/>
            <a:miter lim="800000"/>
          </a:ln>
          <a:effectLst/>
        </p:spPr>
        <p:txBody>
          <a:bodyPr wrap="square" lIns="90487" tIns="44450" rIns="90487" bIns="44450">
            <a:spAutoFit/>
          </a:bodyPr>
          <a:lstStyle/>
          <a:p>
            <a:pPr eaLnBrk="0" hangingPunct="0">
              <a:tabLst>
                <a:tab pos="457200" algn="l"/>
                <a:tab pos="1485900" algn="l"/>
              </a:tabLst>
              <a:defRPr/>
            </a:pPr>
            <a:r>
              <a:rPr lang="en-US" sz="1600" dirty="0">
                <a:latin typeface="Courier New" panose="02070309020205020404" charset="0"/>
                <a:ea typeface="MS Mincho" panose="02020609040205080304" pitchFamily="49" charset="-128"/>
              </a:rPr>
              <a:t>“012345678901234567890123</a:t>
            </a:r>
            <a:r>
              <a:rPr lang="en-US" sz="1600" dirty="0">
                <a:solidFill>
                  <a:srgbClr val="C00000"/>
                </a:solidFill>
                <a:latin typeface="Courier New" panose="02070309020205020404" charset="0"/>
                <a:ea typeface="MS Mincho" panose="02020609040205080304" pitchFamily="49" charset="-128"/>
              </a:rPr>
              <a:t>4\0</a:t>
            </a:r>
            <a:r>
              <a:rPr lang="en-US" sz="1600" dirty="0">
                <a:latin typeface="Courier New" panose="02070309020205020404" charset="0"/>
                <a:ea typeface="MS Mincho" panose="02020609040205080304" pitchFamily="49" charset="-128"/>
              </a:rPr>
              <a:t>”</a:t>
            </a:r>
            <a:endParaRPr lang="en-US" sz="1600" dirty="0">
              <a:latin typeface="Courier New" panose="02070309020205020404" charset="0"/>
              <a:ea typeface="MS Mincho" panose="02020609040205080304" pitchFamily="49" charset="-128"/>
              <a:cs typeface="+mn-cs"/>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4103370"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sym typeface="+mn-ea"/>
              </a:rPr>
              <a:t>缓冲区溢出栈</a:t>
            </a:r>
            <a:r>
              <a:rPr lang="zh-CN" sz="2800">
                <a:solidFill>
                  <a:schemeClr val="tx1">
                    <a:lumMod val="65000"/>
                    <a:lumOff val="35000"/>
                  </a:schemeClr>
                </a:solidFill>
                <a:sym typeface="+mn-ea"/>
              </a:rPr>
              <a:t>例子#</a:t>
            </a:r>
            <a:r>
              <a:rPr lang="en-US" altLang="zh-CN" sz="2800">
                <a:solidFill>
                  <a:schemeClr val="tx1">
                    <a:lumMod val="65000"/>
                    <a:lumOff val="35000"/>
                  </a:schemeClr>
                </a:solidFill>
                <a:sym typeface="+mn-ea"/>
              </a:rPr>
              <a:t>3</a:t>
            </a:r>
          </a:p>
        </p:txBody>
      </p:sp>
      <p:sp>
        <p:nvSpPr>
          <p:cNvPr id="18" name="TextBox 15"/>
          <p:cNvSpPr txBox="1">
            <a:spLocks noChangeArrowheads="1"/>
          </p:cNvSpPr>
          <p:nvPr/>
        </p:nvSpPr>
        <p:spPr bwMode="auto">
          <a:xfrm>
            <a:off x="457200" y="990600"/>
            <a:ext cx="1259840" cy="368300"/>
          </a:xfrm>
          <a:prstGeom prst="rect">
            <a:avLst/>
          </a:prstGeom>
          <a:noFill/>
          <a:ln w="9525">
            <a:noFill/>
            <a:miter lim="800000"/>
          </a:ln>
        </p:spPr>
        <p:txBody>
          <a:bodyPr wrap="none">
            <a:spAutoFit/>
          </a:bodyPr>
          <a:lstStyle/>
          <a:p>
            <a:pPr algn="l" eaLnBrk="0" hangingPunct="0"/>
            <a:r>
              <a:rPr lang="zh-CN" altLang="en-US" i="1">
                <a:solidFill>
                  <a:srgbClr val="C00000"/>
                </a:solidFill>
                <a:latin typeface="Calibri" panose="020F0502020204030204" charset="0"/>
                <a:sym typeface="+mn-ea"/>
              </a:rPr>
              <a:t>调用</a:t>
            </a:r>
            <a:r>
              <a:rPr lang="en-US" sz="1800" i="1" dirty="0">
                <a:solidFill>
                  <a:srgbClr val="C00000"/>
                </a:solidFill>
                <a:latin typeface="Calibri" panose="020F0502020204030204" charset="0"/>
              </a:rPr>
              <a:t>gets</a:t>
            </a:r>
            <a:r>
              <a:rPr lang="zh-CN" altLang="en-US" sz="1800" i="1" dirty="0">
                <a:solidFill>
                  <a:srgbClr val="C00000"/>
                </a:solidFill>
                <a:latin typeface="Calibri" panose="020F0502020204030204" charset="0"/>
              </a:rPr>
              <a:t>后</a:t>
            </a:r>
          </a:p>
        </p:txBody>
      </p:sp>
      <p:sp>
        <p:nvSpPr>
          <p:cNvPr id="360451" name="Rectangle 3"/>
          <p:cNvSpPr>
            <a:spLocks noChangeArrowheads="1"/>
          </p:cNvSpPr>
          <p:nvPr/>
        </p:nvSpPr>
        <p:spPr bwMode="auto">
          <a:xfrm>
            <a:off x="5486400" y="1219200"/>
            <a:ext cx="2601912" cy="1320874"/>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echo:</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subq</a:t>
            </a:r>
            <a:r>
              <a:rPr lang="en-US" sz="1600" dirty="0">
                <a:latin typeface="Courier New" panose="02070309020205020404" charset="0"/>
                <a:ea typeface="MS Mincho" panose="02020609040205080304" pitchFamily="49" charset="-128"/>
                <a:cs typeface="+mn-cs"/>
              </a:rPr>
              <a:t>  $24, %</a:t>
            </a:r>
            <a:r>
              <a:rPr lang="en-US" sz="1600" dirty="0" err="1">
                <a:latin typeface="Courier New" panose="02070309020205020404" charset="0"/>
                <a:ea typeface="MS Mincho" panose="02020609040205080304" pitchFamily="49" charset="-128"/>
                <a:cs typeface="+mn-cs"/>
              </a:rPr>
              <a:t>rsp</a:t>
            </a:r>
            <a:endParaRPr lang="en-US" sz="1600" dirty="0">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movq</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rsp</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rdi</a:t>
            </a:r>
            <a:endParaRPr lang="en-US" sz="1600" dirty="0">
              <a:latin typeface="Courier New" panose="02070309020205020404" charset="0"/>
              <a:ea typeface="MS Mincho" panose="02020609040205080304" pitchFamily="49" charset="-128"/>
              <a:cs typeface="+mn-cs"/>
            </a:endParaRP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call  gets</a:t>
            </a:r>
          </a:p>
          <a:p>
            <a:pPr eaLnBrk="0" hangingPunct="0">
              <a:tabLst>
                <a:tab pos="457200" algn="l"/>
                <a:tab pos="3146425" algn="l"/>
              </a:tabLst>
              <a:defRPr/>
            </a:pPr>
            <a:r>
              <a:rPr lang="en-US" sz="1600" dirty="0">
                <a:latin typeface="Courier New" panose="02070309020205020404" charset="0"/>
                <a:ea typeface="MS Mincho" panose="02020609040205080304" pitchFamily="49" charset="-128"/>
                <a:cs typeface="+mn-cs"/>
              </a:rPr>
              <a:t>  . . .</a:t>
            </a:r>
          </a:p>
        </p:txBody>
      </p:sp>
      <p:sp>
        <p:nvSpPr>
          <p:cNvPr id="25604" name="Rectangle 4"/>
          <p:cNvSpPr>
            <a:spLocks noChangeArrowheads="1"/>
          </p:cNvSpPr>
          <p:nvPr/>
        </p:nvSpPr>
        <p:spPr bwMode="auto">
          <a:xfrm>
            <a:off x="3048000" y="1219200"/>
            <a:ext cx="2438400" cy="1567096"/>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void echo()</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char </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[4]; </a:t>
            </a:r>
          </a:p>
          <a:p>
            <a:pPr eaLnBrk="0" hangingPunct="0">
              <a:tabLst>
                <a:tab pos="457200" algn="l"/>
                <a:tab pos="1485900" algn="l"/>
              </a:tabLst>
            </a:pPr>
            <a:r>
              <a:rPr lang="en-US" sz="1600" dirty="0">
                <a:latin typeface="Courier New" panose="02070309020205020404" charset="0"/>
                <a:ea typeface="MS Mincho" panose="02020609040205080304" pitchFamily="49" charset="-128"/>
              </a:rPr>
              <a:t>    gets(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 .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p>
        </p:txBody>
      </p:sp>
      <p:sp>
        <p:nvSpPr>
          <p:cNvPr id="360470" name="Rectangle 22"/>
          <p:cNvSpPr>
            <a:spLocks noChangeArrowheads="1"/>
          </p:cNvSpPr>
          <p:nvPr/>
        </p:nvSpPr>
        <p:spPr bwMode="auto">
          <a:xfrm>
            <a:off x="533400" y="2503486"/>
            <a:ext cx="1797050" cy="608299"/>
          </a:xfrm>
          <a:prstGeom prst="rect">
            <a:avLst/>
          </a:prstGeom>
          <a:solidFill>
            <a:schemeClr val="bg1">
              <a:lumMod val="95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sp>
        <p:nvSpPr>
          <p:cNvPr id="360477" name="Line 29"/>
          <p:cNvSpPr>
            <a:spLocks noChangeShapeType="1"/>
          </p:cNvSpPr>
          <p:nvPr/>
        </p:nvSpPr>
        <p:spPr bwMode="auto">
          <a:xfrm flipH="1">
            <a:off x="2952750" y="4814816"/>
            <a:ext cx="450850" cy="0"/>
          </a:xfrm>
          <a:prstGeom prst="line">
            <a:avLst/>
          </a:prstGeom>
          <a:noFill/>
          <a:ln w="28575">
            <a:solidFill>
              <a:schemeClr val="tx1"/>
            </a:solidFill>
            <a:round/>
            <a:tailEnd type="triangle" w="med" len="med"/>
          </a:ln>
        </p:spPr>
        <p:txBody>
          <a:bodyPr/>
          <a:lstStyle/>
          <a:p>
            <a:endParaRPr lang="en-US"/>
          </a:p>
        </p:txBody>
      </p:sp>
      <p:sp>
        <p:nvSpPr>
          <p:cNvPr id="360478" name="Rectangle 30"/>
          <p:cNvSpPr>
            <a:spLocks noChangeArrowheads="1"/>
          </p:cNvSpPr>
          <p:nvPr/>
        </p:nvSpPr>
        <p:spPr bwMode="auto">
          <a:xfrm>
            <a:off x="3365500" y="4641778"/>
            <a:ext cx="738754" cy="369332"/>
          </a:xfrm>
          <a:prstGeom prst="rect">
            <a:avLst/>
          </a:prstGeom>
          <a:noFill/>
          <a:ln w="9525">
            <a:noFill/>
            <a:miter lim="800000"/>
          </a:ln>
        </p:spPr>
        <p:txBody>
          <a:bodyPr wrap="none">
            <a:spAutoFit/>
          </a:bodyPr>
          <a:lstStyle/>
          <a:p>
            <a:r>
              <a:rPr lang="en-US" sz="1800" dirty="0">
                <a:latin typeface="Courier New" panose="02070309020205020404" charset="0"/>
              </a:rPr>
              <a:t>%</a:t>
            </a:r>
            <a:r>
              <a:rPr lang="en-US" sz="1800" dirty="0" err="1">
                <a:latin typeface="Courier New" panose="02070309020205020404" charset="0"/>
              </a:rPr>
              <a:t>rsp</a:t>
            </a:r>
            <a:endParaRPr lang="en-US" sz="1800" dirty="0">
              <a:latin typeface="Courier New" panose="02070309020205020404" charset="0"/>
            </a:endParaRPr>
          </a:p>
        </p:txBody>
      </p:sp>
      <p:sp>
        <p:nvSpPr>
          <p:cNvPr id="360479" name="Rectangle 31"/>
          <p:cNvSpPr>
            <a:spLocks noChangeArrowheads="1"/>
          </p:cNvSpPr>
          <p:nvPr/>
        </p:nvSpPr>
        <p:spPr bwMode="auto">
          <a:xfrm>
            <a:off x="533400" y="1360487"/>
            <a:ext cx="1797050" cy="1143000"/>
          </a:xfrm>
          <a:prstGeom prst="rect">
            <a:avLst/>
          </a:prstGeom>
          <a:solidFill>
            <a:schemeClr val="bg1">
              <a:lumMod val="95000"/>
            </a:schemeClr>
          </a:solidFill>
          <a:ln w="28575">
            <a:solidFill>
              <a:schemeClr val="tx1"/>
            </a:solidFill>
            <a:miter lim="800000"/>
          </a:ln>
          <a:effectLst/>
        </p:spPr>
        <p:txBody>
          <a:bodyPr wrap="none"/>
          <a:lstStyle/>
          <a:p>
            <a:pPr algn="ctr">
              <a:defRPr/>
            </a:pPr>
            <a:r>
              <a:rPr lang="en-US" sz="1800" b="0" dirty="0">
                <a:latin typeface="Calibri" panose="020F0502020204030204" charset="0"/>
                <a:cs typeface="+mn-cs"/>
              </a:rPr>
              <a:t>Stack Frame</a:t>
            </a:r>
          </a:p>
          <a:p>
            <a:pPr algn="ctr">
              <a:defRPr/>
            </a:pPr>
            <a:r>
              <a:rPr lang="en-US" sz="1800" b="0" dirty="0">
                <a:latin typeface="Calibri" panose="020F0502020204030204" charset="0"/>
                <a:cs typeface="+mn-cs"/>
              </a:rPr>
              <a:t>for </a:t>
            </a:r>
            <a:r>
              <a:rPr lang="en-US" sz="1800" dirty="0" err="1">
                <a:latin typeface="Courier New" panose="02070309020205020404" charset="0"/>
                <a:cs typeface="+mn-cs"/>
              </a:rPr>
              <a:t>call_echo</a:t>
            </a:r>
            <a:endParaRPr lang="en-US" sz="1800" dirty="0">
              <a:latin typeface="Courier New" panose="02070309020205020404" charset="0"/>
              <a:cs typeface="+mn-cs"/>
            </a:endParaRPr>
          </a:p>
        </p:txBody>
      </p:sp>
      <p:grpSp>
        <p:nvGrpSpPr>
          <p:cNvPr id="16" name="Group 1"/>
          <p:cNvGrpSpPr/>
          <p:nvPr/>
        </p:nvGrpSpPr>
        <p:grpSpPr>
          <a:xfrm>
            <a:off x="533400" y="4648200"/>
            <a:ext cx="1797050" cy="304800"/>
            <a:chOff x="533400" y="4648200"/>
            <a:chExt cx="1797050" cy="304800"/>
          </a:xfrm>
        </p:grpSpPr>
        <p:sp>
          <p:nvSpPr>
            <p:cNvPr id="360472" name="Rectangle 24"/>
            <p:cNvSpPr>
              <a:spLocks noChangeArrowheads="1"/>
            </p:cNvSpPr>
            <p:nvPr/>
          </p:nvSpPr>
          <p:spPr bwMode="auto">
            <a:xfrm>
              <a:off x="533400"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360473" name="Rectangle 25"/>
            <p:cNvSpPr>
              <a:spLocks noChangeArrowheads="1"/>
            </p:cNvSpPr>
            <p:nvPr/>
          </p:nvSpPr>
          <p:spPr bwMode="auto">
            <a:xfrm>
              <a:off x="982663"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360474" name="Rectangle 26"/>
            <p:cNvSpPr>
              <a:spLocks noChangeArrowheads="1"/>
            </p:cNvSpPr>
            <p:nvPr/>
          </p:nvSpPr>
          <p:spPr bwMode="auto">
            <a:xfrm>
              <a:off x="1431925"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360475" name="Rectangle 27"/>
            <p:cNvSpPr>
              <a:spLocks noChangeArrowheads="1"/>
            </p:cNvSpPr>
            <p:nvPr/>
          </p:nvSpPr>
          <p:spPr bwMode="auto">
            <a:xfrm>
              <a:off x="1881188"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sp>
        <p:nvSpPr>
          <p:cNvPr id="360476" name="Rectangle 28"/>
          <p:cNvSpPr>
            <a:spLocks noChangeArrowheads="1"/>
          </p:cNvSpPr>
          <p:nvPr/>
        </p:nvSpPr>
        <p:spPr bwMode="auto">
          <a:xfrm>
            <a:off x="2330450" y="4648200"/>
            <a:ext cx="593725" cy="366712"/>
          </a:xfrm>
          <a:prstGeom prst="rect">
            <a:avLst/>
          </a:prstGeom>
          <a:noFill/>
          <a:ln w="9525">
            <a:noFill/>
            <a:miter lim="800000"/>
          </a:ln>
        </p:spPr>
        <p:txBody>
          <a:bodyPr wrap="none">
            <a:spAutoFit/>
          </a:bodyPr>
          <a:lstStyle/>
          <a:p>
            <a:r>
              <a:rPr lang="en-US" sz="1800" dirty="0" err="1">
                <a:latin typeface="Courier New" panose="02070309020205020404" charset="0"/>
              </a:rPr>
              <a:t>buf</a:t>
            </a:r>
            <a:endParaRPr lang="en-US" sz="1800" dirty="0">
              <a:latin typeface="Courier New" panose="02070309020205020404" charset="0"/>
            </a:endParaRPr>
          </a:p>
        </p:txBody>
      </p:sp>
      <p:sp>
        <p:nvSpPr>
          <p:cNvPr id="22" name="Rectangle 23"/>
          <p:cNvSpPr>
            <a:spLocks noChangeArrowheads="1"/>
          </p:cNvSpPr>
          <p:nvPr/>
        </p:nvSpPr>
        <p:spPr bwMode="auto">
          <a:xfrm>
            <a:off x="533400" y="3113087"/>
            <a:ext cx="1797050" cy="1531207"/>
          </a:xfrm>
          <a:prstGeom prst="rect">
            <a:avLst/>
          </a:prstGeom>
          <a:solidFill>
            <a:schemeClr val="accent2">
              <a:lumMod val="20000"/>
              <a:lumOff val="80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rPr>
              <a:t>20 bytes unused</a:t>
            </a:r>
            <a:endParaRPr lang="en-US" sz="1800" dirty="0">
              <a:latin typeface="Courier New" panose="02070309020205020404" charset="0"/>
            </a:endParaRPr>
          </a:p>
        </p:txBody>
      </p:sp>
      <p:sp>
        <p:nvSpPr>
          <p:cNvPr id="23" name="Rectangle 5"/>
          <p:cNvSpPr>
            <a:spLocks noChangeArrowheads="1"/>
          </p:cNvSpPr>
          <p:nvPr/>
        </p:nvSpPr>
        <p:spPr bwMode="auto">
          <a:xfrm>
            <a:off x="3403600" y="3444014"/>
            <a:ext cx="4718485" cy="1197764"/>
          </a:xfrm>
          <a:prstGeom prst="rect">
            <a:avLst/>
          </a:prstGeom>
          <a:solidFill>
            <a:srgbClr val="F1C7C7"/>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4006f1:	</a:t>
            </a:r>
            <a:r>
              <a:rPr lang="en-US" sz="1800" dirty="0" err="1">
                <a:latin typeface="Courier New" panose="02070309020205020404" charset="0"/>
                <a:ea typeface="MS Mincho" panose="02020609040205080304" pitchFamily="49" charset="-128"/>
              </a:rPr>
              <a:t>callq</a:t>
            </a:r>
            <a:r>
              <a:rPr lang="en-US" sz="1800" dirty="0">
                <a:latin typeface="Courier New" panose="02070309020205020404" charset="0"/>
                <a:ea typeface="MS Mincho" panose="02020609040205080304" pitchFamily="49" charset="-128"/>
              </a:rPr>
              <a:t>  4006cf &lt;echo&gt;</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r>
              <a:rPr lang="en-US" sz="1800" dirty="0">
                <a:solidFill>
                  <a:srgbClr val="FF0000"/>
                </a:solidFill>
                <a:latin typeface="Courier New" panose="02070309020205020404" charset="0"/>
                <a:ea typeface="MS Mincho" panose="02020609040205080304" pitchFamily="49" charset="-128"/>
              </a:rPr>
              <a:t>4006f6</a:t>
            </a:r>
            <a:r>
              <a:rPr lang="en-US" sz="1800" dirty="0">
                <a:latin typeface="Courier New" panose="02070309020205020404" charset="0"/>
                <a:ea typeface="MS Mincho" panose="02020609040205080304" pitchFamily="49" charset="-128"/>
              </a:rPr>
              <a:t>:	add    $0x8,%rsp</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p:txBody>
      </p:sp>
      <p:sp>
        <p:nvSpPr>
          <p:cNvPr id="24" name="TextBox 25"/>
          <p:cNvSpPr txBox="1"/>
          <p:nvPr/>
        </p:nvSpPr>
        <p:spPr>
          <a:xfrm>
            <a:off x="3282950" y="3037113"/>
            <a:ext cx="1469122" cy="461665"/>
          </a:xfrm>
          <a:prstGeom prst="rect">
            <a:avLst/>
          </a:prstGeom>
          <a:noFill/>
        </p:spPr>
        <p:txBody>
          <a:bodyPr wrap="none" rtlCol="0">
            <a:spAutoFit/>
          </a:bodyPr>
          <a:lstStyle/>
          <a:p>
            <a:r>
              <a:rPr lang="en-US" dirty="0" err="1">
                <a:latin typeface="Calibri" panose="020F0502020204030204" charset="0"/>
              </a:rPr>
              <a:t>call_echo</a:t>
            </a:r>
            <a:r>
              <a:rPr lang="en-US" dirty="0">
                <a:latin typeface="Calibri" panose="020F0502020204030204" charset="0"/>
              </a:rPr>
              <a:t>:</a:t>
            </a:r>
          </a:p>
        </p:txBody>
      </p:sp>
      <p:grpSp>
        <p:nvGrpSpPr>
          <p:cNvPr id="31" name="Group 31"/>
          <p:cNvGrpSpPr/>
          <p:nvPr/>
        </p:nvGrpSpPr>
        <p:grpSpPr>
          <a:xfrm>
            <a:off x="532564" y="2509716"/>
            <a:ext cx="1797050" cy="304800"/>
            <a:chOff x="2377022" y="2811289"/>
            <a:chExt cx="1797050" cy="304800"/>
          </a:xfrm>
          <a:solidFill>
            <a:srgbClr val="CDF1C5"/>
          </a:solidFill>
        </p:grpSpPr>
        <p:sp>
          <p:nvSpPr>
            <p:cNvPr id="37"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8"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9"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40"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grpSp>
      <p:sp>
        <p:nvSpPr>
          <p:cNvPr id="41" name="Rectangle 3"/>
          <p:cNvSpPr>
            <a:spLocks noChangeArrowheads="1"/>
          </p:cNvSpPr>
          <p:nvPr/>
        </p:nvSpPr>
        <p:spPr bwMode="auto">
          <a:xfrm>
            <a:off x="2390791" y="5029200"/>
            <a:ext cx="5257800" cy="828432"/>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1485900" algn="l"/>
              </a:tabLst>
              <a:defRPr/>
            </a:pPr>
            <a:r>
              <a:rPr lang="en-US" sz="1600" dirty="0" err="1">
                <a:latin typeface="Courier New" panose="02070309020205020404" charset="0"/>
                <a:ea typeface="MS Mincho" panose="02020609040205080304" pitchFamily="49" charset="-128"/>
                <a:cs typeface="+mn-cs"/>
              </a:rPr>
              <a:t>unix</a:t>
            </a:r>
            <a:r>
              <a:rPr lang="en-US" sz="1600" dirty="0">
                <a:latin typeface="Courier New" panose="02070309020205020404" charset="0"/>
                <a:ea typeface="MS Mincho" panose="02020609040205080304" pitchFamily="49" charset="-128"/>
                <a:cs typeface="+mn-cs"/>
              </a:rPr>
              <a:t>&gt;</a:t>
            </a:r>
            <a:r>
              <a:rPr lang="en-US" sz="1600" i="1" dirty="0">
                <a:latin typeface="Courier New" panose="02070309020205020404" charset="0"/>
                <a:ea typeface="MS Mincho" panose="02020609040205080304" pitchFamily="49" charset="-128"/>
                <a:cs typeface="+mn-cs"/>
              </a:rPr>
              <a:t>./</a:t>
            </a:r>
            <a:r>
              <a:rPr lang="en-US" sz="1600" i="1" dirty="0" err="1">
                <a:latin typeface="Courier New" panose="02070309020205020404" charset="0"/>
                <a:ea typeface="MS Mincho" panose="02020609040205080304" pitchFamily="49" charset="-128"/>
                <a:cs typeface="+mn-cs"/>
              </a:rPr>
              <a:t>bufdemo-nsp</a:t>
            </a:r>
            <a:endParaRPr lang="en-US" sz="1600" i="1" dirty="0">
              <a:latin typeface="Courier New" panose="02070309020205020404" charset="0"/>
              <a:ea typeface="MS Mincho" panose="02020609040205080304" pitchFamily="49" charset="-128"/>
              <a:cs typeface="+mn-cs"/>
            </a:endParaRP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Type a string:</a:t>
            </a:r>
            <a:r>
              <a:rPr lang="en-US" sz="1600" i="1" dirty="0">
                <a:latin typeface="Courier New" panose="02070309020205020404" charset="0"/>
                <a:ea typeface="MS Mincho" panose="02020609040205080304" pitchFamily="49" charset="-128"/>
                <a:cs typeface="+mn-cs"/>
              </a:rPr>
              <a:t>012345678901234567890123</a:t>
            </a:r>
          </a:p>
          <a:p>
            <a:pPr eaLnBrk="0" hangingPunct="0">
              <a:tabLst>
                <a:tab pos="457200" algn="l"/>
                <a:tab pos="1485900" algn="l"/>
              </a:tabLst>
              <a:defRPr/>
            </a:pPr>
            <a:r>
              <a:rPr lang="en-US" sz="1600" dirty="0">
                <a:latin typeface="Courier New" panose="02070309020205020404" charset="0"/>
                <a:ea typeface="MS Mincho" panose="02020609040205080304" pitchFamily="49" charset="-128"/>
              </a:rPr>
              <a:t>012345678901234567890123</a:t>
            </a:r>
          </a:p>
        </p:txBody>
      </p:sp>
      <p:grpSp>
        <p:nvGrpSpPr>
          <p:cNvPr id="43" name="Group 42"/>
          <p:cNvGrpSpPr/>
          <p:nvPr/>
        </p:nvGrpSpPr>
        <p:grpSpPr>
          <a:xfrm>
            <a:off x="533400" y="4336978"/>
            <a:ext cx="1797050" cy="304800"/>
            <a:chOff x="533400" y="4648200"/>
            <a:chExt cx="1797050" cy="304800"/>
          </a:xfrm>
          <a:solidFill>
            <a:schemeClr val="bg2">
              <a:lumMod val="40000"/>
              <a:lumOff val="60000"/>
            </a:schemeClr>
          </a:solidFill>
        </p:grpSpPr>
        <p:sp>
          <p:nvSpPr>
            <p:cNvPr id="44"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45"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sp>
          <p:nvSpPr>
            <p:cNvPr id="46"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35</a:t>
              </a:r>
            </a:p>
          </p:txBody>
        </p:sp>
        <p:sp>
          <p:nvSpPr>
            <p:cNvPr id="47"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34</a:t>
              </a:r>
            </a:p>
          </p:txBody>
        </p:sp>
      </p:grpSp>
      <p:grpSp>
        <p:nvGrpSpPr>
          <p:cNvPr id="48" name="Group 47"/>
          <p:cNvGrpSpPr/>
          <p:nvPr/>
        </p:nvGrpSpPr>
        <p:grpSpPr>
          <a:xfrm>
            <a:off x="533400" y="4025756"/>
            <a:ext cx="1797050" cy="304800"/>
            <a:chOff x="533400" y="4648200"/>
            <a:chExt cx="1797050" cy="304800"/>
          </a:xfrm>
          <a:solidFill>
            <a:schemeClr val="bg2">
              <a:lumMod val="40000"/>
              <a:lumOff val="60000"/>
            </a:schemeClr>
          </a:solidFill>
        </p:grpSpPr>
        <p:sp>
          <p:nvSpPr>
            <p:cNvPr id="49"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50"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sp>
          <p:nvSpPr>
            <p:cNvPr id="51"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52"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grpSp>
      <p:grpSp>
        <p:nvGrpSpPr>
          <p:cNvPr id="53" name="Group 52"/>
          <p:cNvGrpSpPr/>
          <p:nvPr/>
        </p:nvGrpSpPr>
        <p:grpSpPr>
          <a:xfrm>
            <a:off x="533400" y="3714534"/>
            <a:ext cx="1797050" cy="304800"/>
            <a:chOff x="533400" y="4648200"/>
            <a:chExt cx="1797050" cy="304800"/>
          </a:xfrm>
          <a:solidFill>
            <a:schemeClr val="bg2">
              <a:lumMod val="40000"/>
              <a:lumOff val="60000"/>
            </a:schemeClr>
          </a:solidFill>
        </p:grpSpPr>
        <p:sp>
          <p:nvSpPr>
            <p:cNvPr id="54"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35</a:t>
              </a:r>
            </a:p>
          </p:txBody>
        </p:sp>
        <p:sp>
          <p:nvSpPr>
            <p:cNvPr id="55"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34</a:t>
              </a:r>
            </a:p>
          </p:txBody>
        </p:sp>
        <p:sp>
          <p:nvSpPr>
            <p:cNvPr id="56"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57"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grpSp>
      <p:grpSp>
        <p:nvGrpSpPr>
          <p:cNvPr id="58" name="Group 57"/>
          <p:cNvGrpSpPr/>
          <p:nvPr/>
        </p:nvGrpSpPr>
        <p:grpSpPr>
          <a:xfrm>
            <a:off x="533400" y="3403312"/>
            <a:ext cx="1797050" cy="304800"/>
            <a:chOff x="533400" y="4648200"/>
            <a:chExt cx="1797050" cy="304800"/>
          </a:xfrm>
          <a:solidFill>
            <a:schemeClr val="bg2">
              <a:lumMod val="40000"/>
              <a:lumOff val="60000"/>
            </a:schemeClr>
          </a:solidFill>
        </p:grpSpPr>
        <p:sp>
          <p:nvSpPr>
            <p:cNvPr id="59"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60"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sp>
          <p:nvSpPr>
            <p:cNvPr id="61"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62"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grpSp>
      <p:grpSp>
        <p:nvGrpSpPr>
          <p:cNvPr id="63" name="Group 62"/>
          <p:cNvGrpSpPr/>
          <p:nvPr/>
        </p:nvGrpSpPr>
        <p:grpSpPr>
          <a:xfrm>
            <a:off x="533400" y="3092090"/>
            <a:ext cx="1797050" cy="304800"/>
            <a:chOff x="533400" y="4648200"/>
            <a:chExt cx="1797050" cy="304800"/>
          </a:xfrm>
          <a:solidFill>
            <a:schemeClr val="bg2">
              <a:lumMod val="40000"/>
              <a:lumOff val="60000"/>
            </a:schemeClr>
          </a:solidFill>
        </p:grpSpPr>
        <p:sp>
          <p:nvSpPr>
            <p:cNvPr id="64"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65"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66"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67"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sp>
        <p:nvSpPr>
          <p:cNvPr id="42" name="TextBox 3"/>
          <p:cNvSpPr txBox="1"/>
          <p:nvPr/>
        </p:nvSpPr>
        <p:spPr>
          <a:xfrm>
            <a:off x="982663" y="6292334"/>
            <a:ext cx="5897880" cy="368300"/>
          </a:xfrm>
          <a:prstGeom prst="rect">
            <a:avLst/>
          </a:prstGeom>
          <a:noFill/>
        </p:spPr>
        <p:txBody>
          <a:bodyPr wrap="none" rtlCol="0">
            <a:spAutoFit/>
          </a:bodyPr>
          <a:lstStyle/>
          <a:p>
            <a:pPr algn="l"/>
            <a:r>
              <a:rPr lang="en-US" sz="1800" dirty="0">
                <a:solidFill>
                  <a:srgbClr val="C00000"/>
                </a:solidFill>
                <a:latin typeface="Calibri" panose="020F0502020204030204" charset="0"/>
              </a:rPr>
              <a:t>溢出的缓冲区，损坏的返回指针，但程序似乎</a:t>
            </a:r>
            <a:r>
              <a:rPr lang="zh-CN" altLang="en-US" sz="1800" dirty="0">
                <a:solidFill>
                  <a:srgbClr val="C00000"/>
                </a:solidFill>
                <a:latin typeface="Calibri" panose="020F0502020204030204" charset="0"/>
              </a:rPr>
              <a:t>仍在</a:t>
            </a:r>
            <a:r>
              <a:rPr lang="en-US" sz="1800" dirty="0">
                <a:solidFill>
                  <a:srgbClr val="C00000"/>
                </a:solidFill>
                <a:latin typeface="Calibri" panose="020F0502020204030204" charset="0"/>
              </a:rPr>
              <a:t>工作！</a:t>
            </a:r>
          </a:p>
        </p:txBody>
      </p:sp>
      <p:grpSp>
        <p:nvGrpSpPr>
          <p:cNvPr id="68" name="Group 67"/>
          <p:cNvGrpSpPr/>
          <p:nvPr/>
        </p:nvGrpSpPr>
        <p:grpSpPr>
          <a:xfrm>
            <a:off x="533400" y="2819400"/>
            <a:ext cx="1797050" cy="304800"/>
            <a:chOff x="2377022" y="2811289"/>
            <a:chExt cx="1797050" cy="304800"/>
          </a:xfrm>
          <a:solidFill>
            <a:srgbClr val="D5F1CF"/>
          </a:solidFill>
        </p:grpSpPr>
        <p:sp>
          <p:nvSpPr>
            <p:cNvPr id="69"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70"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40</a:t>
              </a:r>
            </a:p>
          </p:txBody>
        </p:sp>
        <p:sp>
          <p:nvSpPr>
            <p:cNvPr id="71"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06</a:t>
              </a:r>
            </a:p>
          </p:txBody>
        </p:sp>
        <p:sp>
          <p:nvSpPr>
            <p:cNvPr id="72"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FF0000"/>
                  </a:solidFill>
                  <a:latin typeface="Courier New" panose="02070309020205020404" charset="0"/>
                  <a:cs typeface="+mn-cs"/>
                </a:rPr>
                <a:t>00</a:t>
              </a:r>
            </a:p>
          </p:txBody>
        </p:sp>
      </p:grpSp>
      <p:sp>
        <p:nvSpPr>
          <p:cNvPr id="73" name="Rectangle 3"/>
          <p:cNvSpPr>
            <a:spLocks noChangeArrowheads="1"/>
          </p:cNvSpPr>
          <p:nvPr/>
        </p:nvSpPr>
        <p:spPr bwMode="auto">
          <a:xfrm>
            <a:off x="2390791" y="5956345"/>
            <a:ext cx="3781409" cy="335989"/>
          </a:xfrm>
          <a:prstGeom prst="rect">
            <a:avLst/>
          </a:prstGeom>
          <a:solidFill>
            <a:schemeClr val="bg2">
              <a:lumMod val="40000"/>
              <a:lumOff val="60000"/>
            </a:schemeClr>
          </a:solidFill>
          <a:ln w="12700">
            <a:solidFill>
              <a:schemeClr val="bg2">
                <a:lumMod val="40000"/>
                <a:lumOff val="60000"/>
              </a:schemeClr>
            </a:solidFill>
            <a:miter lim="800000"/>
          </a:ln>
          <a:effectLst/>
        </p:spPr>
        <p:txBody>
          <a:bodyPr wrap="square" lIns="90487" tIns="44450" rIns="90487" bIns="44450">
            <a:spAutoFit/>
          </a:bodyPr>
          <a:lstStyle/>
          <a:p>
            <a:pPr eaLnBrk="0" hangingPunct="0">
              <a:tabLst>
                <a:tab pos="457200" algn="l"/>
                <a:tab pos="1485900" algn="l"/>
              </a:tabLst>
              <a:defRPr/>
            </a:pPr>
            <a:r>
              <a:rPr lang="en-US" sz="1600" dirty="0">
                <a:latin typeface="Courier New" panose="02070309020205020404" charset="0"/>
                <a:ea typeface="MS Mincho" panose="02020609040205080304" pitchFamily="49" charset="-128"/>
              </a:rPr>
              <a:t>“012345678901234567890123</a:t>
            </a:r>
            <a:r>
              <a:rPr lang="en-US" sz="1600" dirty="0">
                <a:solidFill>
                  <a:srgbClr val="C00000"/>
                </a:solidFill>
                <a:latin typeface="Courier New" panose="02070309020205020404" charset="0"/>
                <a:ea typeface="MS Mincho" panose="02020609040205080304" pitchFamily="49" charset="-128"/>
              </a:rPr>
              <a:t>\0</a:t>
            </a:r>
            <a:r>
              <a:rPr lang="en-US" sz="1600" dirty="0">
                <a:latin typeface="Courier New" panose="02070309020205020404" charset="0"/>
                <a:ea typeface="MS Mincho" panose="02020609040205080304" pitchFamily="49" charset="-128"/>
              </a:rPr>
              <a:t>”</a:t>
            </a:r>
            <a:endParaRPr lang="en-US" sz="1600" dirty="0">
              <a:latin typeface="Courier New" panose="02070309020205020404" charset="0"/>
              <a:ea typeface="MS Mincho" panose="02020609040205080304" pitchFamily="49" charset="-128"/>
              <a:cs typeface="+mn-cs"/>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4103370"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800">
                <a:solidFill>
                  <a:schemeClr val="tx1">
                    <a:lumMod val="65000"/>
                    <a:lumOff val="35000"/>
                  </a:schemeClr>
                </a:solidFill>
                <a:sym typeface="+mn-ea"/>
              </a:rPr>
              <a:t>缓冲区溢出栈</a:t>
            </a:r>
            <a:r>
              <a:rPr lang="zh-CN" sz="2800">
                <a:solidFill>
                  <a:schemeClr val="tx1">
                    <a:lumMod val="65000"/>
                    <a:lumOff val="35000"/>
                  </a:schemeClr>
                </a:solidFill>
                <a:sym typeface="+mn-ea"/>
              </a:rPr>
              <a:t>例子#</a:t>
            </a:r>
            <a:r>
              <a:rPr lang="en-US" altLang="zh-CN" sz="2800">
                <a:solidFill>
                  <a:schemeClr val="tx1">
                    <a:lumMod val="65000"/>
                    <a:lumOff val="35000"/>
                  </a:schemeClr>
                </a:solidFill>
                <a:sym typeface="+mn-ea"/>
              </a:rPr>
              <a:t>3</a:t>
            </a:r>
          </a:p>
        </p:txBody>
      </p:sp>
      <p:sp>
        <p:nvSpPr>
          <p:cNvPr id="18" name="TextBox 15"/>
          <p:cNvSpPr txBox="1">
            <a:spLocks noChangeArrowheads="1"/>
          </p:cNvSpPr>
          <p:nvPr/>
        </p:nvSpPr>
        <p:spPr bwMode="auto">
          <a:xfrm>
            <a:off x="457200" y="990600"/>
            <a:ext cx="1259840" cy="368300"/>
          </a:xfrm>
          <a:prstGeom prst="rect">
            <a:avLst/>
          </a:prstGeom>
          <a:noFill/>
          <a:ln w="9525">
            <a:noFill/>
            <a:miter lim="800000"/>
          </a:ln>
        </p:spPr>
        <p:txBody>
          <a:bodyPr wrap="none">
            <a:spAutoFit/>
          </a:bodyPr>
          <a:lstStyle/>
          <a:p>
            <a:pPr algn="l" eaLnBrk="0" hangingPunct="0"/>
            <a:r>
              <a:rPr lang="zh-CN" altLang="en-US" i="1">
                <a:solidFill>
                  <a:srgbClr val="C00000"/>
                </a:solidFill>
                <a:latin typeface="Calibri" panose="020F0502020204030204" charset="0"/>
                <a:sym typeface="+mn-ea"/>
              </a:rPr>
              <a:t>调用</a:t>
            </a:r>
            <a:r>
              <a:rPr lang="en-US" sz="1800" i="1" dirty="0">
                <a:solidFill>
                  <a:srgbClr val="C00000"/>
                </a:solidFill>
                <a:latin typeface="Calibri" panose="020F0502020204030204" charset="0"/>
              </a:rPr>
              <a:t>gets</a:t>
            </a:r>
            <a:r>
              <a:rPr lang="zh-CN" altLang="en-US" sz="1800" i="1" dirty="0">
                <a:solidFill>
                  <a:srgbClr val="C00000"/>
                </a:solidFill>
                <a:latin typeface="Calibri" panose="020F0502020204030204" charset="0"/>
              </a:rPr>
              <a:t>后</a:t>
            </a:r>
          </a:p>
        </p:txBody>
      </p:sp>
      <p:sp>
        <p:nvSpPr>
          <p:cNvPr id="5" name="Rectangle 22"/>
          <p:cNvSpPr>
            <a:spLocks noChangeArrowheads="1"/>
          </p:cNvSpPr>
          <p:nvPr/>
        </p:nvSpPr>
        <p:spPr bwMode="auto">
          <a:xfrm>
            <a:off x="533400" y="2503486"/>
            <a:ext cx="1797050" cy="608299"/>
          </a:xfrm>
          <a:prstGeom prst="rect">
            <a:avLst/>
          </a:prstGeom>
          <a:solidFill>
            <a:schemeClr val="bg1">
              <a:lumMod val="95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sp>
        <p:nvSpPr>
          <p:cNvPr id="6" name="Line 29"/>
          <p:cNvSpPr>
            <a:spLocks noChangeShapeType="1"/>
          </p:cNvSpPr>
          <p:nvPr/>
        </p:nvSpPr>
        <p:spPr bwMode="auto">
          <a:xfrm flipH="1">
            <a:off x="2952750" y="4814816"/>
            <a:ext cx="450850" cy="0"/>
          </a:xfrm>
          <a:prstGeom prst="line">
            <a:avLst/>
          </a:prstGeom>
          <a:noFill/>
          <a:ln w="28575">
            <a:solidFill>
              <a:schemeClr val="tx1"/>
            </a:solidFill>
            <a:round/>
            <a:tailEnd type="triangle" w="med" len="med"/>
          </a:ln>
        </p:spPr>
        <p:txBody>
          <a:bodyPr/>
          <a:lstStyle/>
          <a:p>
            <a:endParaRPr lang="en-US"/>
          </a:p>
        </p:txBody>
      </p:sp>
      <p:sp>
        <p:nvSpPr>
          <p:cNvPr id="7" name="Rectangle 30"/>
          <p:cNvSpPr>
            <a:spLocks noChangeArrowheads="1"/>
          </p:cNvSpPr>
          <p:nvPr/>
        </p:nvSpPr>
        <p:spPr bwMode="auto">
          <a:xfrm>
            <a:off x="3365500" y="4641778"/>
            <a:ext cx="738754" cy="369332"/>
          </a:xfrm>
          <a:prstGeom prst="rect">
            <a:avLst/>
          </a:prstGeom>
          <a:noFill/>
          <a:ln w="9525">
            <a:noFill/>
            <a:miter lim="800000"/>
          </a:ln>
        </p:spPr>
        <p:txBody>
          <a:bodyPr wrap="none">
            <a:spAutoFit/>
          </a:bodyPr>
          <a:lstStyle/>
          <a:p>
            <a:r>
              <a:rPr lang="en-US" sz="1800" dirty="0">
                <a:latin typeface="Courier New" panose="02070309020205020404" charset="0"/>
              </a:rPr>
              <a:t>%</a:t>
            </a:r>
            <a:r>
              <a:rPr lang="en-US" sz="1800" dirty="0" err="1">
                <a:latin typeface="Courier New" panose="02070309020205020404" charset="0"/>
              </a:rPr>
              <a:t>rsp</a:t>
            </a:r>
            <a:endParaRPr lang="en-US" sz="1800" dirty="0">
              <a:latin typeface="Courier New" panose="02070309020205020404" charset="0"/>
            </a:endParaRPr>
          </a:p>
        </p:txBody>
      </p:sp>
      <p:sp>
        <p:nvSpPr>
          <p:cNvPr id="8" name="Rectangle 31"/>
          <p:cNvSpPr>
            <a:spLocks noChangeArrowheads="1"/>
          </p:cNvSpPr>
          <p:nvPr/>
        </p:nvSpPr>
        <p:spPr bwMode="auto">
          <a:xfrm>
            <a:off x="533400" y="1371600"/>
            <a:ext cx="1797050" cy="1143000"/>
          </a:xfrm>
          <a:prstGeom prst="rect">
            <a:avLst/>
          </a:prstGeom>
          <a:solidFill>
            <a:srgbClr val="FFFFCC"/>
          </a:solidFill>
          <a:ln w="28575">
            <a:solidFill>
              <a:schemeClr val="tx1"/>
            </a:solidFill>
            <a:miter lim="800000"/>
          </a:ln>
          <a:effectLst/>
        </p:spPr>
        <p:txBody>
          <a:bodyPr wrap="none"/>
          <a:lstStyle/>
          <a:p>
            <a:pPr algn="ctr">
              <a:defRPr/>
            </a:pPr>
            <a:r>
              <a:rPr lang="en-US" sz="1600" b="0" dirty="0">
                <a:latin typeface="Calibri" panose="020F0502020204030204" charset="0"/>
                <a:cs typeface="+mn-cs"/>
              </a:rPr>
              <a:t>Stack Frame</a:t>
            </a:r>
          </a:p>
          <a:p>
            <a:pPr algn="ctr">
              <a:defRPr/>
            </a:pPr>
            <a:r>
              <a:rPr lang="en-US" sz="1600" b="0" dirty="0">
                <a:latin typeface="Calibri" panose="020F0502020204030204" charset="0"/>
                <a:cs typeface="+mn-cs"/>
              </a:rPr>
              <a:t>for </a:t>
            </a:r>
            <a:r>
              <a:rPr lang="en-US" sz="1600" dirty="0" err="1">
                <a:latin typeface="Courier New" panose="02070309020205020404" charset="0"/>
                <a:cs typeface="+mn-cs"/>
              </a:rPr>
              <a:t>call_echo</a:t>
            </a:r>
            <a:endParaRPr lang="en-US" sz="1600" dirty="0">
              <a:latin typeface="Courier New" panose="02070309020205020404" charset="0"/>
              <a:cs typeface="+mn-cs"/>
            </a:endParaRPr>
          </a:p>
        </p:txBody>
      </p:sp>
      <p:grpSp>
        <p:nvGrpSpPr>
          <p:cNvPr id="9" name="Group 1"/>
          <p:cNvGrpSpPr/>
          <p:nvPr/>
        </p:nvGrpSpPr>
        <p:grpSpPr>
          <a:xfrm>
            <a:off x="533400" y="4648200"/>
            <a:ext cx="1797050" cy="304800"/>
            <a:chOff x="533400" y="4648200"/>
            <a:chExt cx="1797050" cy="304800"/>
          </a:xfrm>
        </p:grpSpPr>
        <p:sp>
          <p:nvSpPr>
            <p:cNvPr id="10" name="Rectangle 24"/>
            <p:cNvSpPr>
              <a:spLocks noChangeArrowheads="1"/>
            </p:cNvSpPr>
            <p:nvPr/>
          </p:nvSpPr>
          <p:spPr bwMode="auto">
            <a:xfrm>
              <a:off x="533400"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11" name="Rectangle 25"/>
            <p:cNvSpPr>
              <a:spLocks noChangeArrowheads="1"/>
            </p:cNvSpPr>
            <p:nvPr/>
          </p:nvSpPr>
          <p:spPr bwMode="auto">
            <a:xfrm>
              <a:off x="982663"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12" name="Rectangle 26"/>
            <p:cNvSpPr>
              <a:spLocks noChangeArrowheads="1"/>
            </p:cNvSpPr>
            <p:nvPr/>
          </p:nvSpPr>
          <p:spPr bwMode="auto">
            <a:xfrm>
              <a:off x="1431925"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13" name="Rectangle 27"/>
            <p:cNvSpPr>
              <a:spLocks noChangeArrowheads="1"/>
            </p:cNvSpPr>
            <p:nvPr/>
          </p:nvSpPr>
          <p:spPr bwMode="auto">
            <a:xfrm>
              <a:off x="1881188"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sp>
        <p:nvSpPr>
          <p:cNvPr id="14" name="Rectangle 28"/>
          <p:cNvSpPr>
            <a:spLocks noChangeArrowheads="1"/>
          </p:cNvSpPr>
          <p:nvPr/>
        </p:nvSpPr>
        <p:spPr bwMode="auto">
          <a:xfrm>
            <a:off x="2330450" y="4648200"/>
            <a:ext cx="593725" cy="366712"/>
          </a:xfrm>
          <a:prstGeom prst="rect">
            <a:avLst/>
          </a:prstGeom>
          <a:noFill/>
          <a:ln w="9525">
            <a:noFill/>
            <a:miter lim="800000"/>
          </a:ln>
        </p:spPr>
        <p:txBody>
          <a:bodyPr wrap="none">
            <a:spAutoFit/>
          </a:bodyPr>
          <a:lstStyle/>
          <a:p>
            <a:r>
              <a:rPr lang="en-US" sz="1800" dirty="0" err="1">
                <a:latin typeface="Courier New" panose="02070309020205020404" charset="0"/>
              </a:rPr>
              <a:t>buf</a:t>
            </a:r>
            <a:endParaRPr lang="en-US" sz="1800" dirty="0">
              <a:latin typeface="Courier New" panose="02070309020205020404" charset="0"/>
            </a:endParaRPr>
          </a:p>
        </p:txBody>
      </p:sp>
      <p:sp>
        <p:nvSpPr>
          <p:cNvPr id="15" name="Rectangle 23"/>
          <p:cNvSpPr>
            <a:spLocks noChangeArrowheads="1"/>
          </p:cNvSpPr>
          <p:nvPr/>
        </p:nvSpPr>
        <p:spPr bwMode="auto">
          <a:xfrm>
            <a:off x="533400" y="3113087"/>
            <a:ext cx="1797050" cy="1531207"/>
          </a:xfrm>
          <a:prstGeom prst="rect">
            <a:avLst/>
          </a:prstGeom>
          <a:solidFill>
            <a:schemeClr val="accent2">
              <a:lumMod val="20000"/>
              <a:lumOff val="80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rPr>
              <a:t>20 bytes unused</a:t>
            </a:r>
            <a:endParaRPr lang="en-US" sz="1800" dirty="0">
              <a:latin typeface="Courier New" panose="02070309020205020404" charset="0"/>
            </a:endParaRPr>
          </a:p>
        </p:txBody>
      </p:sp>
      <p:sp>
        <p:nvSpPr>
          <p:cNvPr id="25" name="Rectangle 5"/>
          <p:cNvSpPr>
            <a:spLocks noChangeArrowheads="1"/>
          </p:cNvSpPr>
          <p:nvPr/>
        </p:nvSpPr>
        <p:spPr bwMode="auto">
          <a:xfrm>
            <a:off x="2924175" y="1832820"/>
            <a:ext cx="4162425" cy="2582759"/>
          </a:xfrm>
          <a:prstGeom prst="rect">
            <a:avLst/>
          </a:prstGeom>
          <a:solidFill>
            <a:srgbClr val="F1C7C7"/>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latin typeface="Courier New" panose="02070309020205020404" charset="0"/>
                <a:ea typeface="MS Mincho" panose="02020609040205080304" pitchFamily="49" charset="-128"/>
              </a:rPr>
              <a:t>  . . .</a:t>
            </a:r>
          </a:p>
          <a:p>
            <a:pPr eaLnBrk="0" hangingPunct="0">
              <a:tabLst>
                <a:tab pos="457200" algn="l"/>
                <a:tab pos="1485900" algn="l"/>
              </a:tabLst>
            </a:pPr>
            <a:r>
              <a:rPr lang="en-US" sz="1800" dirty="0">
                <a:latin typeface="Courier New" panose="02070309020205020404" charset="0"/>
                <a:ea typeface="MS Mincho" panose="02020609040205080304" pitchFamily="49" charset="-128"/>
              </a:rPr>
              <a:t>  </a:t>
            </a:r>
            <a:r>
              <a:rPr lang="sk-SK" sz="1800" dirty="0">
                <a:solidFill>
                  <a:srgbClr val="0070C0"/>
                </a:solidFill>
                <a:latin typeface="Courier New" panose="02070309020205020404" charset="0"/>
                <a:ea typeface="MS Mincho" panose="02020609040205080304" pitchFamily="49" charset="-128"/>
              </a:rPr>
              <a:t>4006</a:t>
            </a:r>
            <a:r>
              <a:rPr lang="sk-SK" sz="1800" dirty="0">
                <a:solidFill>
                  <a:srgbClr val="C00000"/>
                </a:solidFill>
                <a:latin typeface="Courier New" panose="02070309020205020404" charset="0"/>
                <a:ea typeface="MS Mincho" panose="02020609040205080304" pitchFamily="49" charset="-128"/>
              </a:rPr>
              <a:t>00</a:t>
            </a:r>
            <a:r>
              <a:rPr lang="sk-SK" sz="1800" dirty="0">
                <a:latin typeface="Courier New" panose="02070309020205020404" charset="0"/>
                <a:ea typeface="MS Mincho" panose="02020609040205080304" pitchFamily="49" charset="-128"/>
              </a:rPr>
              <a:t>:	mov    %rsp,%rbp</a:t>
            </a:r>
          </a:p>
          <a:p>
            <a:pPr eaLnBrk="0" hangingPunct="0">
              <a:tabLst>
                <a:tab pos="457200" algn="l"/>
                <a:tab pos="1485900" algn="l"/>
              </a:tabLst>
            </a:pPr>
            <a:r>
              <a:rPr lang="sk-SK" sz="1800" dirty="0">
                <a:latin typeface="Courier New" panose="02070309020205020404" charset="0"/>
                <a:ea typeface="MS Mincho" panose="02020609040205080304" pitchFamily="49" charset="-128"/>
              </a:rPr>
              <a:t>  400603:	mov    %rax,%rdx</a:t>
            </a:r>
          </a:p>
          <a:p>
            <a:pPr eaLnBrk="0" hangingPunct="0">
              <a:tabLst>
                <a:tab pos="457200" algn="l"/>
                <a:tab pos="1485900" algn="l"/>
              </a:tabLst>
            </a:pPr>
            <a:r>
              <a:rPr lang="sk-SK" sz="1800" dirty="0">
                <a:latin typeface="Courier New" panose="02070309020205020404" charset="0"/>
                <a:ea typeface="MS Mincho" panose="02020609040205080304" pitchFamily="49" charset="-128"/>
              </a:rPr>
              <a:t>  400606:	shr    $0x3f,%rdx</a:t>
            </a:r>
          </a:p>
          <a:p>
            <a:pPr eaLnBrk="0" hangingPunct="0">
              <a:tabLst>
                <a:tab pos="457200" algn="l"/>
                <a:tab pos="1485900" algn="l"/>
              </a:tabLst>
            </a:pPr>
            <a:r>
              <a:rPr lang="sk-SK" sz="1800" dirty="0">
                <a:latin typeface="Courier New" panose="02070309020205020404" charset="0"/>
                <a:ea typeface="MS Mincho" panose="02020609040205080304" pitchFamily="49" charset="-128"/>
              </a:rPr>
              <a:t>  40060a:	add    %rdx,%rax</a:t>
            </a:r>
          </a:p>
          <a:p>
            <a:pPr eaLnBrk="0" hangingPunct="0">
              <a:tabLst>
                <a:tab pos="457200" algn="l"/>
                <a:tab pos="1485900" algn="l"/>
              </a:tabLst>
            </a:pPr>
            <a:r>
              <a:rPr lang="sk-SK" sz="1800" dirty="0">
                <a:latin typeface="Courier New" panose="02070309020205020404" charset="0"/>
                <a:ea typeface="MS Mincho" panose="02020609040205080304" pitchFamily="49" charset="-128"/>
              </a:rPr>
              <a:t>  40060d:	sar    %rax</a:t>
            </a:r>
          </a:p>
          <a:p>
            <a:pPr eaLnBrk="0" hangingPunct="0">
              <a:tabLst>
                <a:tab pos="457200" algn="l"/>
                <a:tab pos="1485900" algn="l"/>
              </a:tabLst>
            </a:pPr>
            <a:r>
              <a:rPr lang="sk-SK" sz="1800" dirty="0">
                <a:latin typeface="Courier New" panose="02070309020205020404" charset="0"/>
                <a:ea typeface="MS Mincho" panose="02020609040205080304" pitchFamily="49" charset="-128"/>
              </a:rPr>
              <a:t>  400610:	jne    400614</a:t>
            </a:r>
          </a:p>
          <a:p>
            <a:pPr eaLnBrk="0" hangingPunct="0">
              <a:tabLst>
                <a:tab pos="457200" algn="l"/>
                <a:tab pos="1485900" algn="l"/>
              </a:tabLst>
            </a:pPr>
            <a:r>
              <a:rPr lang="sk-SK" sz="1800" dirty="0">
                <a:latin typeface="Courier New" panose="02070309020205020404" charset="0"/>
                <a:ea typeface="MS Mincho" panose="02020609040205080304" pitchFamily="49" charset="-128"/>
              </a:rPr>
              <a:t>  400612:	pop    %rbp</a:t>
            </a:r>
          </a:p>
          <a:p>
            <a:pPr eaLnBrk="0" hangingPunct="0">
              <a:tabLst>
                <a:tab pos="457200" algn="l"/>
                <a:tab pos="1485900" algn="l"/>
              </a:tabLst>
            </a:pPr>
            <a:r>
              <a:rPr lang="sk-SK" sz="1800" dirty="0">
                <a:latin typeface="Courier New" panose="02070309020205020404" charset="0"/>
                <a:ea typeface="MS Mincho" panose="02020609040205080304" pitchFamily="49" charset="-128"/>
              </a:rPr>
              <a:t>  </a:t>
            </a:r>
            <a:r>
              <a:rPr lang="sk-SK" sz="1800" dirty="0">
                <a:solidFill>
                  <a:srgbClr val="00B050"/>
                </a:solidFill>
                <a:latin typeface="Courier New" panose="02070309020205020404" charset="0"/>
                <a:ea typeface="MS Mincho" panose="02020609040205080304" pitchFamily="49" charset="-128"/>
              </a:rPr>
              <a:t>400613:	retq </a:t>
            </a:r>
            <a:endParaRPr lang="en-US" sz="1800" dirty="0">
              <a:solidFill>
                <a:srgbClr val="00B050"/>
              </a:solidFill>
              <a:latin typeface="Courier New" panose="02070309020205020404" charset="0"/>
              <a:ea typeface="MS Mincho" panose="02020609040205080304" pitchFamily="49" charset="-128"/>
            </a:endParaRPr>
          </a:p>
        </p:txBody>
      </p:sp>
      <p:sp>
        <p:nvSpPr>
          <p:cNvPr id="26" name="TextBox 25"/>
          <p:cNvSpPr txBox="1"/>
          <p:nvPr/>
        </p:nvSpPr>
        <p:spPr>
          <a:xfrm>
            <a:off x="2803525" y="1425919"/>
            <a:ext cx="2725626" cy="461665"/>
          </a:xfrm>
          <a:prstGeom prst="rect">
            <a:avLst/>
          </a:prstGeom>
          <a:noFill/>
        </p:spPr>
        <p:txBody>
          <a:bodyPr wrap="none" rtlCol="0">
            <a:spAutoFit/>
          </a:bodyPr>
          <a:lstStyle/>
          <a:p>
            <a:r>
              <a:rPr lang="en-US" dirty="0" err="1">
                <a:latin typeface="Calibri" panose="020F0502020204030204" charset="0"/>
              </a:rPr>
              <a:t>register_tm_clones</a:t>
            </a:r>
            <a:r>
              <a:rPr lang="en-US" dirty="0">
                <a:latin typeface="Calibri" panose="020F0502020204030204" charset="0"/>
              </a:rPr>
              <a:t>:</a:t>
            </a:r>
          </a:p>
        </p:txBody>
      </p:sp>
      <p:grpSp>
        <p:nvGrpSpPr>
          <p:cNvPr id="32" name="Group 31"/>
          <p:cNvGrpSpPr/>
          <p:nvPr/>
        </p:nvGrpSpPr>
        <p:grpSpPr>
          <a:xfrm>
            <a:off x="532564" y="2503312"/>
            <a:ext cx="1797050" cy="304800"/>
            <a:chOff x="2377022" y="2811289"/>
            <a:chExt cx="1797050" cy="304800"/>
          </a:xfrm>
          <a:solidFill>
            <a:srgbClr val="D5F1CF"/>
          </a:solidFill>
        </p:grpSpPr>
        <p:sp>
          <p:nvSpPr>
            <p:cNvPr id="33"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4"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5"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36"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grpSp>
      <p:grpSp>
        <p:nvGrpSpPr>
          <p:cNvPr id="17" name="Group 42"/>
          <p:cNvGrpSpPr/>
          <p:nvPr/>
        </p:nvGrpSpPr>
        <p:grpSpPr>
          <a:xfrm>
            <a:off x="533400" y="4336978"/>
            <a:ext cx="1797050" cy="304800"/>
            <a:chOff x="533400" y="4648200"/>
            <a:chExt cx="1797050" cy="304800"/>
          </a:xfrm>
          <a:solidFill>
            <a:schemeClr val="bg2">
              <a:lumMod val="40000"/>
              <a:lumOff val="60000"/>
            </a:schemeClr>
          </a:solidFill>
        </p:grpSpPr>
        <p:sp>
          <p:nvSpPr>
            <p:cNvPr id="19"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20"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sp>
          <p:nvSpPr>
            <p:cNvPr id="21"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35</a:t>
              </a:r>
            </a:p>
          </p:txBody>
        </p:sp>
        <p:sp>
          <p:nvSpPr>
            <p:cNvPr id="27"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34</a:t>
              </a:r>
            </a:p>
          </p:txBody>
        </p:sp>
      </p:grpSp>
      <p:grpSp>
        <p:nvGrpSpPr>
          <p:cNvPr id="28" name="Group 47"/>
          <p:cNvGrpSpPr/>
          <p:nvPr/>
        </p:nvGrpSpPr>
        <p:grpSpPr>
          <a:xfrm>
            <a:off x="533400" y="4025756"/>
            <a:ext cx="1797050" cy="304800"/>
            <a:chOff x="533400" y="4648200"/>
            <a:chExt cx="1797050" cy="304800"/>
          </a:xfrm>
          <a:solidFill>
            <a:schemeClr val="bg2">
              <a:lumMod val="40000"/>
              <a:lumOff val="60000"/>
            </a:schemeClr>
          </a:solidFill>
        </p:grpSpPr>
        <p:sp>
          <p:nvSpPr>
            <p:cNvPr id="29"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30"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sp>
          <p:nvSpPr>
            <p:cNvPr id="74"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75"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grpSp>
      <p:grpSp>
        <p:nvGrpSpPr>
          <p:cNvPr id="76" name="Group 52"/>
          <p:cNvGrpSpPr/>
          <p:nvPr/>
        </p:nvGrpSpPr>
        <p:grpSpPr>
          <a:xfrm>
            <a:off x="533400" y="3714534"/>
            <a:ext cx="1797050" cy="304800"/>
            <a:chOff x="533400" y="4648200"/>
            <a:chExt cx="1797050" cy="304800"/>
          </a:xfrm>
          <a:solidFill>
            <a:schemeClr val="bg2">
              <a:lumMod val="40000"/>
              <a:lumOff val="60000"/>
            </a:schemeClr>
          </a:solidFill>
        </p:grpSpPr>
        <p:sp>
          <p:nvSpPr>
            <p:cNvPr id="77"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35</a:t>
              </a:r>
            </a:p>
          </p:txBody>
        </p:sp>
        <p:sp>
          <p:nvSpPr>
            <p:cNvPr id="78"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34</a:t>
              </a:r>
            </a:p>
          </p:txBody>
        </p:sp>
        <p:sp>
          <p:nvSpPr>
            <p:cNvPr id="79"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80"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grpSp>
      <p:grpSp>
        <p:nvGrpSpPr>
          <p:cNvPr id="81" name="Group 57"/>
          <p:cNvGrpSpPr/>
          <p:nvPr/>
        </p:nvGrpSpPr>
        <p:grpSpPr>
          <a:xfrm>
            <a:off x="533400" y="3403312"/>
            <a:ext cx="1797050" cy="304800"/>
            <a:chOff x="533400" y="4648200"/>
            <a:chExt cx="1797050" cy="304800"/>
          </a:xfrm>
          <a:solidFill>
            <a:schemeClr val="bg2">
              <a:lumMod val="40000"/>
              <a:lumOff val="60000"/>
            </a:schemeClr>
          </a:solidFill>
        </p:grpSpPr>
        <p:sp>
          <p:nvSpPr>
            <p:cNvPr id="82"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83"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sp>
          <p:nvSpPr>
            <p:cNvPr id="84"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85"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grpSp>
      <p:grpSp>
        <p:nvGrpSpPr>
          <p:cNvPr id="86" name="Group 62"/>
          <p:cNvGrpSpPr/>
          <p:nvPr/>
        </p:nvGrpSpPr>
        <p:grpSpPr>
          <a:xfrm>
            <a:off x="533400" y="3092090"/>
            <a:ext cx="1797050" cy="304800"/>
            <a:chOff x="533400" y="4648200"/>
            <a:chExt cx="1797050" cy="304800"/>
          </a:xfrm>
          <a:solidFill>
            <a:schemeClr val="bg2">
              <a:lumMod val="40000"/>
              <a:lumOff val="60000"/>
            </a:schemeClr>
          </a:solidFill>
        </p:grpSpPr>
        <p:sp>
          <p:nvSpPr>
            <p:cNvPr id="87"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88"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89"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90"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sp>
        <p:nvSpPr>
          <p:cNvPr id="91" name="TextBox 3"/>
          <p:cNvSpPr txBox="1"/>
          <p:nvPr/>
        </p:nvSpPr>
        <p:spPr>
          <a:xfrm>
            <a:off x="914400" y="5410200"/>
            <a:ext cx="5469890" cy="922020"/>
          </a:xfrm>
          <a:prstGeom prst="rect">
            <a:avLst/>
          </a:prstGeom>
          <a:noFill/>
        </p:spPr>
        <p:txBody>
          <a:bodyPr wrap="none" rtlCol="0">
            <a:spAutoFit/>
          </a:bodyPr>
          <a:lstStyle/>
          <a:p>
            <a:pPr marL="285750" indent="-285750" algn="l">
              <a:buFont typeface="Wingdings" panose="05000000000000000000" charset="0"/>
              <a:buChar char=""/>
            </a:pPr>
            <a:r>
              <a:rPr lang="en-US" sz="1800" dirty="0">
                <a:latin typeface="Calibri" panose="020F0502020204030204" charset="0"/>
              </a:rPr>
              <a:t>“返回”无关代码</a:t>
            </a:r>
          </a:p>
          <a:p>
            <a:pPr marL="285750" indent="-285750" algn="l">
              <a:buFont typeface="Wingdings" panose="05000000000000000000" charset="0"/>
              <a:buChar char=""/>
            </a:pPr>
            <a:r>
              <a:rPr lang="en-US" sz="1800" dirty="0">
                <a:latin typeface="Calibri" panose="020F0502020204030204" charset="0"/>
              </a:rPr>
              <a:t>没有修改临界状态</a:t>
            </a:r>
          </a:p>
          <a:p>
            <a:pPr marL="285750" indent="-285750" algn="l">
              <a:buFont typeface="Wingdings" panose="05000000000000000000" charset="0"/>
              <a:buChar char=""/>
            </a:pPr>
            <a:r>
              <a:rPr lang="en-US" sz="1800"/>
              <a:t>最终执行retq回到主</a:t>
            </a:r>
            <a:r>
              <a:rPr lang="zh-CN" altLang="en-US" sz="1800"/>
              <a:t>函数</a:t>
            </a:r>
            <a:r>
              <a:rPr lang="en-US" sz="1800"/>
              <a:t>–call_echo没有局部变量</a:t>
            </a:r>
            <a:r>
              <a:rPr lang="en-US" sz="1800" dirty="0">
                <a:latin typeface="Courier New" panose="02070309020205020404" charset="0"/>
                <a:cs typeface="Courier New" panose="02070309020205020404" charset="0"/>
              </a:rPr>
              <a:t> </a:t>
            </a:r>
          </a:p>
        </p:txBody>
      </p:sp>
      <p:grpSp>
        <p:nvGrpSpPr>
          <p:cNvPr id="92" name="Group 67"/>
          <p:cNvGrpSpPr/>
          <p:nvPr/>
        </p:nvGrpSpPr>
        <p:grpSpPr>
          <a:xfrm>
            <a:off x="533400" y="2819400"/>
            <a:ext cx="1797050" cy="304800"/>
            <a:chOff x="2377022" y="2811289"/>
            <a:chExt cx="1797050" cy="304800"/>
          </a:xfrm>
          <a:solidFill>
            <a:srgbClr val="D5F1CF"/>
          </a:solidFill>
        </p:grpSpPr>
        <p:sp>
          <p:nvSpPr>
            <p:cNvPr id="93"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00</a:t>
              </a:r>
            </a:p>
          </p:txBody>
        </p:sp>
        <p:sp>
          <p:nvSpPr>
            <p:cNvPr id="94"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40</a:t>
              </a:r>
            </a:p>
          </p:txBody>
        </p:sp>
        <p:sp>
          <p:nvSpPr>
            <p:cNvPr id="95"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70C0"/>
                  </a:solidFill>
                  <a:latin typeface="Courier New" panose="02070309020205020404" charset="0"/>
                  <a:cs typeface="+mn-cs"/>
                </a:rPr>
                <a:t>06</a:t>
              </a:r>
            </a:p>
          </p:txBody>
        </p:sp>
        <p:sp>
          <p:nvSpPr>
            <p:cNvPr id="96"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FF0000"/>
                  </a:solidFill>
                  <a:latin typeface="Courier New" panose="02070309020205020404" charset="0"/>
                  <a:cs typeface="+mn-cs"/>
                </a:rPr>
                <a:t>00</a:t>
              </a:r>
            </a:p>
          </p:txBody>
        </p:sp>
      </p:grpSp>
      <p:sp>
        <p:nvSpPr>
          <p:cNvPr id="97" name="Rectangle 22"/>
          <p:cNvSpPr>
            <a:spLocks noChangeArrowheads="1"/>
          </p:cNvSpPr>
          <p:nvPr/>
        </p:nvSpPr>
        <p:spPr bwMode="auto">
          <a:xfrm>
            <a:off x="533400" y="1887758"/>
            <a:ext cx="1797050" cy="608299"/>
          </a:xfrm>
          <a:prstGeom prst="rect">
            <a:avLst/>
          </a:prstGeom>
          <a:solidFill>
            <a:srgbClr val="FFFFCC"/>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grpSp>
        <p:nvGrpSpPr>
          <p:cNvPr id="98" name="Group 73"/>
          <p:cNvGrpSpPr/>
          <p:nvPr/>
        </p:nvGrpSpPr>
        <p:grpSpPr>
          <a:xfrm>
            <a:off x="538208" y="1887584"/>
            <a:ext cx="1797050" cy="304800"/>
            <a:chOff x="2377022" y="2811289"/>
            <a:chExt cx="1797050" cy="304800"/>
          </a:xfrm>
          <a:solidFill>
            <a:srgbClr val="FFFFCC"/>
          </a:solidFill>
        </p:grpSpPr>
        <p:sp>
          <p:nvSpPr>
            <p:cNvPr id="99"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sp>
          <p:nvSpPr>
            <p:cNvPr id="100"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sp>
          <p:nvSpPr>
            <p:cNvPr id="101"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sp>
          <p:nvSpPr>
            <p:cNvPr id="102"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grpSp>
      <p:grpSp>
        <p:nvGrpSpPr>
          <p:cNvPr id="103" name="Group 78"/>
          <p:cNvGrpSpPr/>
          <p:nvPr/>
        </p:nvGrpSpPr>
        <p:grpSpPr>
          <a:xfrm>
            <a:off x="533400" y="2203672"/>
            <a:ext cx="1797050" cy="304800"/>
            <a:chOff x="2377022" y="2811289"/>
            <a:chExt cx="1797050" cy="304800"/>
          </a:xfrm>
          <a:solidFill>
            <a:srgbClr val="FFFFCC"/>
          </a:solidFill>
        </p:grpSpPr>
        <p:sp>
          <p:nvSpPr>
            <p:cNvPr id="104"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sp>
          <p:nvSpPr>
            <p:cNvPr id="105"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48</a:t>
              </a:r>
            </a:p>
          </p:txBody>
        </p:sp>
        <p:sp>
          <p:nvSpPr>
            <p:cNvPr id="106"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83</a:t>
              </a:r>
            </a:p>
          </p:txBody>
        </p:sp>
        <p:sp>
          <p:nvSpPr>
            <p:cNvPr id="107"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80</a:t>
              </a:r>
            </a:p>
          </p:txBody>
        </p:sp>
      </p:grpSp>
      <p:sp>
        <p:nvSpPr>
          <p:cNvPr id="108" name="Rectangle 3"/>
          <p:cNvSpPr>
            <a:spLocks noChangeArrowheads="1"/>
          </p:cNvSpPr>
          <p:nvPr/>
        </p:nvSpPr>
        <p:spPr bwMode="auto">
          <a:xfrm>
            <a:off x="5257801" y="4600696"/>
            <a:ext cx="3657600" cy="828432"/>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void </a:t>
            </a:r>
            <a:r>
              <a:rPr lang="en-US" sz="1600" dirty="0" err="1">
                <a:latin typeface="Courier New" panose="02070309020205020404" charset="0"/>
                <a:ea typeface="MS Mincho" panose="02020609040205080304" pitchFamily="49" charset="-128"/>
              </a:rPr>
              <a:t>call_echo</a:t>
            </a:r>
            <a:r>
              <a:rPr lang="en-US" sz="1600" dirty="0">
                <a:latin typeface="Courier New" panose="02070309020205020404" charset="0"/>
                <a:ea typeface="MS Mincho" panose="02020609040205080304" pitchFamily="49" charset="-128"/>
              </a:rPr>
              <a:t>() {</a:t>
            </a:r>
          </a:p>
          <a:p>
            <a:pPr eaLnBrk="0" hangingPunct="0">
              <a:tabLst>
                <a:tab pos="457200" algn="l"/>
                <a:tab pos="1485900" algn="l"/>
              </a:tabLst>
            </a:pPr>
            <a:r>
              <a:rPr lang="en-US" sz="1600" dirty="0">
                <a:latin typeface="Courier New" panose="02070309020205020404" charset="0"/>
                <a:ea typeface="MS Mincho" panose="02020609040205080304" pitchFamily="49" charset="-128"/>
              </a:rPr>
              <a:t>    echo();</a:t>
            </a:r>
          </a:p>
          <a:p>
            <a:pPr eaLnBrk="0" hangingPunct="0">
              <a:tabLst>
                <a:tab pos="457200" algn="l"/>
                <a:tab pos="1485900" algn="l"/>
              </a:tabLst>
            </a:pPr>
            <a:r>
              <a:rPr lang="en-US" sz="1600" dirty="0">
                <a:latin typeface="Courier New" panose="02070309020205020404" charset="0"/>
                <a:ea typeface="MS Mincho" panose="02020609040205080304" pitchFamily="49" charset="-128"/>
              </a:rPr>
              <a:t>}</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3462020"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solidFill>
                  <a:schemeClr val="tx1">
                    <a:lumMod val="65000"/>
                    <a:lumOff val="35000"/>
                  </a:schemeClr>
                </a:solidFill>
                <a:sym typeface="+mn-ea"/>
              </a:rPr>
              <a:t>注入了攻击的代码</a:t>
            </a:r>
          </a:p>
        </p:txBody>
      </p:sp>
      <p:sp>
        <p:nvSpPr>
          <p:cNvPr id="30723" name="Rectangle 3"/>
          <p:cNvSpPr>
            <a:spLocks noGrp="1" noChangeArrowheads="1"/>
          </p:cNvSpPr>
          <p:nvPr/>
        </p:nvSpPr>
        <p:spPr>
          <a:xfrm>
            <a:off x="228600" y="5397500"/>
            <a:ext cx="8255000" cy="1143000"/>
          </a:xfrm>
          <a:prstGeom prst="rect">
            <a:avLst/>
          </a:prstGeom>
          <a:noFill/>
          <a:ln w="9525">
            <a:noFill/>
            <a:miter lim="800000"/>
          </a:ln>
        </p:spPr>
        <p:txBody>
          <a:bodyPr vert="horz" wrap="square" lIns="91440" tIns="45720" rIns="91440" bIns="45720" numCol="1" anchor="ctr"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marL="160655" defTabSz="895350" eaLnBrk="1" hangingPunct="1">
              <a:lnSpc>
                <a:spcPct val="90000"/>
              </a:lnSpc>
            </a:pPr>
            <a:r>
              <a:rPr lang="en-US" sz="2000" dirty="0"/>
              <a:t>输入字符串包含可执行代码的字节表示</a:t>
            </a:r>
          </a:p>
          <a:p>
            <a:pPr marL="160655" defTabSz="895350" eaLnBrk="1" hangingPunct="1">
              <a:lnSpc>
                <a:spcPct val="90000"/>
              </a:lnSpc>
            </a:pPr>
            <a:r>
              <a:rPr lang="en-US" sz="2000" dirty="0"/>
              <a:t>用缓冲区B的地址重写返回地址A</a:t>
            </a:r>
          </a:p>
          <a:p>
            <a:pPr marL="160655" defTabSz="895350" eaLnBrk="1" hangingPunct="1">
              <a:lnSpc>
                <a:spcPct val="90000"/>
              </a:lnSpc>
            </a:pPr>
            <a:r>
              <a:rPr lang="en-US" sz="2000" dirty="0"/>
              <a:t>当q执行RET时，将跳转到 </a:t>
            </a:r>
            <a:r>
              <a:rPr lang="zh-CN" altLang="en-US" sz="2000" dirty="0"/>
              <a:t>攻击代码</a:t>
            </a:r>
          </a:p>
        </p:txBody>
      </p:sp>
      <p:sp>
        <p:nvSpPr>
          <p:cNvPr id="30724" name="Rectangle 4"/>
          <p:cNvSpPr>
            <a:spLocks noChangeArrowheads="1"/>
          </p:cNvSpPr>
          <p:nvPr/>
        </p:nvSpPr>
        <p:spPr bwMode="auto">
          <a:xfrm>
            <a:off x="304800" y="3190875"/>
            <a:ext cx="2438400" cy="174942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800" dirty="0" err="1">
                <a:latin typeface="Courier New" panose="02070309020205020404" charset="0"/>
              </a:rPr>
              <a:t>int</a:t>
            </a:r>
            <a:r>
              <a:rPr lang="en-US" sz="1800" dirty="0">
                <a:latin typeface="Courier New" panose="02070309020205020404" charset="0"/>
              </a:rPr>
              <a:t> Q() {</a:t>
            </a:r>
          </a:p>
          <a:p>
            <a:pPr eaLnBrk="0" hangingPunct="0">
              <a:tabLst>
                <a:tab pos="457200" algn="l"/>
                <a:tab pos="1485900" algn="l"/>
              </a:tabLst>
            </a:pPr>
            <a:r>
              <a:rPr lang="en-US" sz="1800" dirty="0">
                <a:latin typeface="Courier New" panose="02070309020205020404" charset="0"/>
              </a:rPr>
              <a:t>  char </a:t>
            </a:r>
            <a:r>
              <a:rPr lang="en-US" sz="1800" dirty="0" err="1">
                <a:latin typeface="Courier New" panose="02070309020205020404" charset="0"/>
              </a:rPr>
              <a:t>buf</a:t>
            </a:r>
            <a:r>
              <a:rPr lang="en-US" sz="1800" dirty="0">
                <a:latin typeface="Courier New" panose="02070309020205020404" charset="0"/>
              </a:rPr>
              <a:t>[64]; </a:t>
            </a:r>
          </a:p>
          <a:p>
            <a:pPr eaLnBrk="0" hangingPunct="0">
              <a:tabLst>
                <a:tab pos="457200" algn="l"/>
                <a:tab pos="1485900" algn="l"/>
              </a:tabLst>
            </a:pPr>
            <a:r>
              <a:rPr lang="en-US" sz="1800" dirty="0">
                <a:latin typeface="Courier New" panose="02070309020205020404" charset="0"/>
              </a:rPr>
              <a:t>  </a:t>
            </a:r>
            <a:r>
              <a:rPr lang="en-US" sz="1800" dirty="0">
                <a:solidFill>
                  <a:srgbClr val="C00000"/>
                </a:solidFill>
                <a:latin typeface="Courier New" panose="02070309020205020404" charset="0"/>
              </a:rPr>
              <a:t>gets(</a:t>
            </a:r>
            <a:r>
              <a:rPr lang="en-US" sz="1800" dirty="0" err="1">
                <a:solidFill>
                  <a:srgbClr val="C00000"/>
                </a:solidFill>
                <a:latin typeface="Courier New" panose="02070309020205020404" charset="0"/>
              </a:rPr>
              <a:t>buf</a:t>
            </a:r>
            <a:r>
              <a:rPr lang="en-US" sz="1800" dirty="0">
                <a:solidFill>
                  <a:srgbClr val="C00000"/>
                </a:solidFill>
                <a:latin typeface="Courier New" panose="02070309020205020404" charset="0"/>
              </a:rPr>
              <a:t>); </a:t>
            </a:r>
          </a:p>
          <a:p>
            <a:pPr eaLnBrk="0" hangingPunct="0">
              <a:tabLst>
                <a:tab pos="457200" algn="l"/>
                <a:tab pos="1485900" algn="l"/>
              </a:tabLst>
            </a:pPr>
            <a:r>
              <a:rPr lang="en-US" sz="1800" dirty="0">
                <a:latin typeface="Courier New" panose="02070309020205020404" charset="0"/>
              </a:rPr>
              <a:t>  ...</a:t>
            </a:r>
          </a:p>
          <a:p>
            <a:pPr eaLnBrk="0" hangingPunct="0">
              <a:tabLst>
                <a:tab pos="457200" algn="l"/>
                <a:tab pos="1485900" algn="l"/>
              </a:tabLst>
            </a:pPr>
            <a:r>
              <a:rPr lang="en-US" sz="1800" dirty="0">
                <a:latin typeface="Courier New" panose="02070309020205020404" charset="0"/>
              </a:rPr>
              <a:t>  return ...; </a:t>
            </a:r>
          </a:p>
          <a:p>
            <a:pPr eaLnBrk="0" hangingPunct="0">
              <a:tabLst>
                <a:tab pos="457200" algn="l"/>
                <a:tab pos="1485900" algn="l"/>
              </a:tabLst>
            </a:pPr>
            <a:r>
              <a:rPr lang="en-US" sz="1800" dirty="0">
                <a:latin typeface="Courier New" panose="02070309020205020404" charset="0"/>
              </a:rPr>
              <a:t>}</a:t>
            </a:r>
          </a:p>
        </p:txBody>
      </p:sp>
      <p:sp>
        <p:nvSpPr>
          <p:cNvPr id="30725" name="Rectangle 5"/>
          <p:cNvSpPr>
            <a:spLocks noChangeArrowheads="1"/>
          </p:cNvSpPr>
          <p:nvPr/>
        </p:nvSpPr>
        <p:spPr bwMode="auto">
          <a:xfrm>
            <a:off x="304800" y="1746250"/>
            <a:ext cx="1828800" cy="1200150"/>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800" dirty="0">
                <a:latin typeface="Courier New" panose="02070309020205020404" charset="0"/>
              </a:rPr>
              <a:t>void P(){</a:t>
            </a:r>
          </a:p>
          <a:p>
            <a:pPr eaLnBrk="0" hangingPunct="0">
              <a:tabLst>
                <a:tab pos="457200" algn="l"/>
                <a:tab pos="1485900" algn="l"/>
              </a:tabLst>
            </a:pPr>
            <a:r>
              <a:rPr lang="en-US" sz="1800" dirty="0">
                <a:latin typeface="Courier New" panose="02070309020205020404" charset="0"/>
              </a:rPr>
              <a:t>  Q();</a:t>
            </a:r>
          </a:p>
          <a:p>
            <a:pPr eaLnBrk="0" hangingPunct="0">
              <a:tabLst>
                <a:tab pos="457200" algn="l"/>
                <a:tab pos="1485900" algn="l"/>
              </a:tabLst>
            </a:pPr>
            <a:r>
              <a:rPr lang="en-US" sz="1800" dirty="0">
                <a:latin typeface="Courier New" panose="02070309020205020404" charset="0"/>
              </a:rPr>
              <a:t>  </a:t>
            </a:r>
            <a:r>
              <a:rPr lang="en-US" sz="1800" dirty="0">
                <a:solidFill>
                  <a:srgbClr val="C00000"/>
                </a:solidFill>
                <a:latin typeface="Courier New" panose="02070309020205020404" charset="0"/>
              </a:rPr>
              <a:t>...</a:t>
            </a:r>
          </a:p>
          <a:p>
            <a:pPr eaLnBrk="0" hangingPunct="0">
              <a:tabLst>
                <a:tab pos="457200" algn="l"/>
                <a:tab pos="1485900" algn="l"/>
              </a:tabLst>
            </a:pPr>
            <a:r>
              <a:rPr lang="en-US" sz="1800" dirty="0">
                <a:latin typeface="Courier New" panose="02070309020205020404" charset="0"/>
              </a:rPr>
              <a:t>}</a:t>
            </a:r>
          </a:p>
        </p:txBody>
      </p:sp>
      <p:sp>
        <p:nvSpPr>
          <p:cNvPr id="30730" name="Text Box 12"/>
          <p:cNvSpPr txBox="1">
            <a:spLocks noChangeArrowheads="1"/>
          </p:cNvSpPr>
          <p:nvPr/>
        </p:nvSpPr>
        <p:spPr bwMode="auto">
          <a:xfrm>
            <a:off x="2365375" y="2206943"/>
            <a:ext cx="1097280" cy="645160"/>
          </a:xfrm>
          <a:prstGeom prst="rect">
            <a:avLst/>
          </a:prstGeom>
          <a:noFill/>
          <a:ln w="28575">
            <a:noFill/>
            <a:miter lim="800000"/>
          </a:ln>
        </p:spPr>
        <p:txBody>
          <a:bodyPr wrap="none" anchor="ctr">
            <a:spAutoFit/>
          </a:bodyPr>
          <a:lstStyle/>
          <a:p>
            <a:pPr eaLnBrk="0" hangingPunct="0"/>
            <a:r>
              <a:rPr lang="zh-CN" altLang="en-US" sz="1800" b="0" dirty="0">
                <a:latin typeface="Calibri" panose="020F0502020204030204" charset="0"/>
              </a:rPr>
              <a:t>返回地址</a:t>
            </a:r>
          </a:p>
          <a:p>
            <a:pPr eaLnBrk="0" hangingPunct="0"/>
            <a:r>
              <a:rPr lang="en-US" sz="1800" b="0" dirty="0">
                <a:solidFill>
                  <a:srgbClr val="C00000"/>
                </a:solidFill>
                <a:latin typeface="Calibri" panose="020F0502020204030204" charset="0"/>
              </a:rPr>
              <a:t>A</a:t>
            </a:r>
          </a:p>
        </p:txBody>
      </p:sp>
      <p:sp>
        <p:nvSpPr>
          <p:cNvPr id="30731" name="Line 13"/>
          <p:cNvSpPr>
            <a:spLocks noChangeShapeType="1"/>
          </p:cNvSpPr>
          <p:nvPr/>
        </p:nvSpPr>
        <p:spPr bwMode="auto">
          <a:xfrm flipH="1">
            <a:off x="1676400" y="2505075"/>
            <a:ext cx="688975" cy="0"/>
          </a:xfrm>
          <a:prstGeom prst="line">
            <a:avLst/>
          </a:prstGeom>
          <a:noFill/>
          <a:ln w="28575">
            <a:solidFill>
              <a:schemeClr val="tx1"/>
            </a:solidFill>
            <a:round/>
            <a:tailEnd type="triangle" w="med" len="med"/>
          </a:ln>
        </p:spPr>
        <p:txBody>
          <a:bodyPr anchor="ctr">
            <a:spAutoFit/>
          </a:bodyPr>
          <a:lstStyle/>
          <a:p>
            <a:endParaRPr lang="en-US"/>
          </a:p>
        </p:txBody>
      </p:sp>
      <p:sp>
        <p:nvSpPr>
          <p:cNvPr id="30726" name="Text Box 6"/>
          <p:cNvSpPr txBox="1">
            <a:spLocks noChangeArrowheads="1"/>
          </p:cNvSpPr>
          <p:nvPr/>
        </p:nvSpPr>
        <p:spPr bwMode="auto">
          <a:xfrm>
            <a:off x="5402263" y="989013"/>
            <a:ext cx="2200275" cy="368300"/>
          </a:xfrm>
          <a:prstGeom prst="rect">
            <a:avLst/>
          </a:prstGeom>
          <a:noFill/>
          <a:ln w="25400">
            <a:noFill/>
            <a:miter lim="800000"/>
          </a:ln>
        </p:spPr>
        <p:txBody>
          <a:bodyPr wrap="none">
            <a:spAutoFit/>
          </a:bodyPr>
          <a:lstStyle/>
          <a:p>
            <a:pPr eaLnBrk="0" hangingPunct="0"/>
            <a:r>
              <a:rPr lang="zh-CN" altLang="en-US" sz="1800" b="0" dirty="0">
                <a:latin typeface="Calibri" panose="020F0502020204030204" charset="0"/>
              </a:rPr>
              <a:t>调用</a:t>
            </a:r>
            <a:r>
              <a:rPr lang="en-US" sz="1800" b="0" dirty="0">
                <a:latin typeface="Calibri" panose="020F0502020204030204" charset="0"/>
              </a:rPr>
              <a:t> </a:t>
            </a:r>
            <a:r>
              <a:rPr lang="en-US" sz="1800" dirty="0">
                <a:latin typeface="Courier New" panose="02070309020205020404" charset="0"/>
              </a:rPr>
              <a:t>gets()</a:t>
            </a:r>
            <a:r>
              <a:rPr lang="zh-CN" altLang="en-US" sz="1800" dirty="0">
                <a:latin typeface="Courier New" panose="02070309020205020404" charset="0"/>
              </a:rPr>
              <a:t>后的栈</a:t>
            </a:r>
          </a:p>
        </p:txBody>
      </p:sp>
      <p:sp>
        <p:nvSpPr>
          <p:cNvPr id="365575" name="Rectangle 7"/>
          <p:cNvSpPr>
            <a:spLocks noChangeArrowheads="1"/>
          </p:cNvSpPr>
          <p:nvPr/>
        </p:nvSpPr>
        <p:spPr bwMode="auto">
          <a:xfrm>
            <a:off x="5499100" y="2654300"/>
            <a:ext cx="1066800" cy="381000"/>
          </a:xfrm>
          <a:prstGeom prst="rect">
            <a:avLst/>
          </a:prstGeom>
          <a:solidFill>
            <a:srgbClr val="A8E799"/>
          </a:solidFill>
          <a:ln w="28575">
            <a:solidFill>
              <a:schemeClr val="tx1"/>
            </a:solidFill>
            <a:miter lim="800000"/>
          </a:ln>
          <a:effectLst/>
        </p:spPr>
        <p:txBody>
          <a:bodyPr wrap="none" anchor="ctr"/>
          <a:lstStyle/>
          <a:p>
            <a:pPr eaLnBrk="0" hangingPunct="0">
              <a:defRPr/>
            </a:pPr>
            <a:r>
              <a:rPr lang="en-US" sz="1800" strike="sngStrike" dirty="0">
                <a:solidFill>
                  <a:srgbClr val="C00000"/>
                </a:solidFill>
                <a:latin typeface="Calibri" panose="020F0502020204030204" charset="0"/>
                <a:cs typeface="+mn-cs"/>
              </a:rPr>
              <a:t>A</a:t>
            </a:r>
            <a:r>
              <a:rPr lang="en-US" sz="1800" dirty="0">
                <a:solidFill>
                  <a:srgbClr val="C00000"/>
                </a:solidFill>
                <a:latin typeface="Calibri" panose="020F0502020204030204" charset="0"/>
                <a:cs typeface="+mn-cs"/>
              </a:rPr>
              <a:t> B</a:t>
            </a:r>
          </a:p>
        </p:txBody>
      </p:sp>
      <p:sp>
        <p:nvSpPr>
          <p:cNvPr id="365576" name="Rectangle 8"/>
          <p:cNvSpPr>
            <a:spLocks noChangeArrowheads="1"/>
          </p:cNvSpPr>
          <p:nvPr/>
        </p:nvSpPr>
        <p:spPr bwMode="auto">
          <a:xfrm>
            <a:off x="5499100" y="1435101"/>
            <a:ext cx="1066800" cy="1558924"/>
          </a:xfrm>
          <a:prstGeom prst="rect">
            <a:avLst/>
          </a:prstGeom>
          <a:solidFill>
            <a:schemeClr val="bg1">
              <a:lumMod val="95000"/>
            </a:schemeClr>
          </a:solidFill>
          <a:ln w="28575">
            <a:solidFill>
              <a:schemeClr val="tx1"/>
            </a:solidFill>
            <a:miter lim="800000"/>
          </a:ln>
          <a:effectLst/>
        </p:spPr>
        <p:txBody>
          <a:bodyPr wrap="none" anchor="ctr"/>
          <a:lstStyle/>
          <a:p>
            <a:pPr eaLnBrk="0" hangingPunct="0">
              <a:defRPr/>
            </a:pPr>
            <a:endParaRPr lang="en-US" sz="1800" dirty="0">
              <a:latin typeface="Calibri" panose="020F0502020204030204" charset="0"/>
              <a:cs typeface="+mn-cs"/>
            </a:endParaRPr>
          </a:p>
        </p:txBody>
      </p:sp>
      <p:sp>
        <p:nvSpPr>
          <p:cNvPr id="365579" name="Rectangle 11"/>
          <p:cNvSpPr>
            <a:spLocks noChangeArrowheads="1"/>
          </p:cNvSpPr>
          <p:nvPr/>
        </p:nvSpPr>
        <p:spPr bwMode="auto">
          <a:xfrm>
            <a:off x="5499100" y="2991341"/>
            <a:ext cx="1066800" cy="2190260"/>
          </a:xfrm>
          <a:prstGeom prst="rect">
            <a:avLst/>
          </a:prstGeom>
          <a:solidFill>
            <a:schemeClr val="accent2">
              <a:lumMod val="20000"/>
              <a:lumOff val="80000"/>
            </a:schemeClr>
          </a:solidFill>
          <a:ln w="28575">
            <a:solidFill>
              <a:schemeClr val="tx1"/>
            </a:solidFill>
            <a:miter lim="800000"/>
          </a:ln>
          <a:effectLst/>
        </p:spPr>
        <p:txBody>
          <a:bodyPr wrap="none" anchor="ctr"/>
          <a:lstStyle/>
          <a:p>
            <a:pPr eaLnBrk="0" hangingPunct="0">
              <a:defRPr/>
            </a:pPr>
            <a:endParaRPr lang="en-US" sz="1800" dirty="0">
              <a:latin typeface="Calibri" panose="020F0502020204030204" charset="0"/>
              <a:cs typeface="+mn-cs"/>
            </a:endParaRPr>
          </a:p>
          <a:p>
            <a:pPr eaLnBrk="0" hangingPunct="0">
              <a:defRPr/>
            </a:pPr>
            <a:endParaRPr lang="en-US" sz="1800" dirty="0">
              <a:latin typeface="Calibri" panose="020F0502020204030204" charset="0"/>
              <a:cs typeface="+mn-cs"/>
            </a:endParaRPr>
          </a:p>
        </p:txBody>
      </p:sp>
      <p:sp>
        <p:nvSpPr>
          <p:cNvPr id="30732" name="Text Box 14"/>
          <p:cNvSpPr txBox="1">
            <a:spLocks noChangeArrowheads="1"/>
          </p:cNvSpPr>
          <p:nvPr/>
        </p:nvSpPr>
        <p:spPr bwMode="auto">
          <a:xfrm>
            <a:off x="6934200" y="1858963"/>
            <a:ext cx="914400" cy="368300"/>
          </a:xfrm>
          <a:prstGeom prst="rect">
            <a:avLst/>
          </a:prstGeom>
          <a:noFill/>
          <a:ln w="28575">
            <a:noFill/>
            <a:miter lim="800000"/>
          </a:ln>
        </p:spPr>
        <p:txBody>
          <a:bodyPr wrap="none" anchor="ctr">
            <a:spAutoFit/>
          </a:bodyPr>
          <a:lstStyle/>
          <a:p>
            <a:pPr eaLnBrk="0" hangingPunct="0"/>
            <a:r>
              <a:rPr lang="en-US" sz="1800" dirty="0">
                <a:latin typeface="Courier New" panose="02070309020205020404" charset="0"/>
              </a:rPr>
              <a:t>P</a:t>
            </a:r>
            <a:r>
              <a:rPr lang="en-US" sz="1800" b="0" dirty="0">
                <a:latin typeface="Courier New" panose="02070309020205020404" charset="0"/>
              </a:rPr>
              <a:t> </a:t>
            </a:r>
            <a:r>
              <a:rPr lang="zh-CN" altLang="en-US" sz="1800" b="0" dirty="0">
                <a:latin typeface="Courier New" panose="02070309020205020404" charset="0"/>
              </a:rPr>
              <a:t>栈帧</a:t>
            </a:r>
          </a:p>
        </p:txBody>
      </p:sp>
      <p:sp>
        <p:nvSpPr>
          <p:cNvPr id="30733" name="Text Box 15"/>
          <p:cNvSpPr txBox="1">
            <a:spLocks noChangeArrowheads="1"/>
          </p:cNvSpPr>
          <p:nvPr/>
        </p:nvSpPr>
        <p:spPr bwMode="auto">
          <a:xfrm>
            <a:off x="6934200" y="3933031"/>
            <a:ext cx="828675" cy="368300"/>
          </a:xfrm>
          <a:prstGeom prst="rect">
            <a:avLst/>
          </a:prstGeom>
          <a:noFill/>
          <a:ln w="28575">
            <a:noFill/>
            <a:miter lim="800000"/>
          </a:ln>
        </p:spPr>
        <p:txBody>
          <a:bodyPr wrap="none" anchor="ctr">
            <a:spAutoFit/>
          </a:bodyPr>
          <a:lstStyle/>
          <a:p>
            <a:pPr algn="l" eaLnBrk="0" hangingPunct="0"/>
            <a:r>
              <a:rPr lang="en-US" sz="1800" dirty="0">
                <a:latin typeface="Courier New" panose="02070309020205020404" charset="0"/>
              </a:rPr>
              <a:t>Q</a:t>
            </a:r>
            <a:r>
              <a:rPr lang="en-US" sz="1800" b="0" dirty="0">
                <a:latin typeface="Calibri" panose="020F0502020204030204" charset="0"/>
              </a:rPr>
              <a:t> </a:t>
            </a:r>
            <a:r>
              <a:rPr lang="zh-CN" altLang="en-US" dirty="0">
                <a:latin typeface="Courier New" panose="02070309020205020404" charset="0"/>
                <a:sym typeface="+mn-ea"/>
              </a:rPr>
              <a:t>栈帧</a:t>
            </a:r>
            <a:endParaRPr lang="en-US" sz="1800" b="0" dirty="0">
              <a:latin typeface="Calibri" panose="020F0502020204030204" charset="0"/>
            </a:endParaRPr>
          </a:p>
        </p:txBody>
      </p:sp>
      <p:sp>
        <p:nvSpPr>
          <p:cNvPr id="30734" name="Text Box 16"/>
          <p:cNvSpPr txBox="1">
            <a:spLocks noChangeArrowheads="1"/>
          </p:cNvSpPr>
          <p:nvPr/>
        </p:nvSpPr>
        <p:spPr bwMode="auto">
          <a:xfrm>
            <a:off x="4746625" y="4365990"/>
            <a:ext cx="314325" cy="369887"/>
          </a:xfrm>
          <a:prstGeom prst="rect">
            <a:avLst/>
          </a:prstGeom>
          <a:noFill/>
          <a:ln w="28575">
            <a:noFill/>
            <a:miter lim="800000"/>
          </a:ln>
        </p:spPr>
        <p:txBody>
          <a:bodyPr wrap="none" anchor="ctr">
            <a:spAutoFit/>
          </a:bodyPr>
          <a:lstStyle/>
          <a:p>
            <a:pPr eaLnBrk="0" hangingPunct="0"/>
            <a:r>
              <a:rPr lang="en-US" sz="1800" dirty="0">
                <a:latin typeface="Calibri" panose="020F0502020204030204" charset="0"/>
              </a:rPr>
              <a:t>B</a:t>
            </a:r>
          </a:p>
        </p:txBody>
      </p:sp>
      <p:sp>
        <p:nvSpPr>
          <p:cNvPr id="30735" name="Line 17"/>
          <p:cNvSpPr>
            <a:spLocks noChangeShapeType="1"/>
          </p:cNvSpPr>
          <p:nvPr/>
        </p:nvSpPr>
        <p:spPr bwMode="auto">
          <a:xfrm>
            <a:off x="5038725" y="4553315"/>
            <a:ext cx="396875" cy="0"/>
          </a:xfrm>
          <a:prstGeom prst="line">
            <a:avLst/>
          </a:prstGeom>
          <a:noFill/>
          <a:ln w="28575">
            <a:solidFill>
              <a:schemeClr val="tx1"/>
            </a:solidFill>
            <a:round/>
            <a:tailEnd type="triangle" w="med" len="med"/>
          </a:ln>
        </p:spPr>
        <p:txBody>
          <a:bodyPr anchor="ctr">
            <a:spAutoFit/>
          </a:bodyPr>
          <a:lstStyle/>
          <a:p>
            <a:endParaRPr lang="en-US"/>
          </a:p>
        </p:txBody>
      </p:sp>
      <p:sp>
        <p:nvSpPr>
          <p:cNvPr id="365586" name="Rectangle 18"/>
          <p:cNvSpPr>
            <a:spLocks noChangeArrowheads="1"/>
          </p:cNvSpPr>
          <p:nvPr/>
        </p:nvSpPr>
        <p:spPr bwMode="auto">
          <a:xfrm>
            <a:off x="5499100" y="3913664"/>
            <a:ext cx="1066800" cy="645160"/>
          </a:xfrm>
          <a:prstGeom prst="rect">
            <a:avLst/>
          </a:prstGeom>
          <a:solidFill>
            <a:srgbClr val="F1C7C7"/>
          </a:solidFill>
          <a:ln w="28575">
            <a:solidFill>
              <a:schemeClr val="tx1"/>
            </a:solidFill>
            <a:miter lim="800000"/>
          </a:ln>
          <a:effectLst/>
        </p:spPr>
        <p:txBody>
          <a:bodyPr anchor="ctr">
            <a:spAutoFit/>
          </a:bodyPr>
          <a:lstStyle/>
          <a:p>
            <a:pPr eaLnBrk="0" hangingPunct="0">
              <a:defRPr/>
            </a:pPr>
            <a:r>
              <a:rPr lang="zh-CN" altLang="en-US" sz="1800" dirty="0">
                <a:latin typeface="Calibri" panose="020F0502020204030204" charset="0"/>
                <a:cs typeface="+mn-cs"/>
              </a:rPr>
              <a:t>攻击</a:t>
            </a:r>
          </a:p>
          <a:p>
            <a:pPr eaLnBrk="0" hangingPunct="0">
              <a:defRPr/>
            </a:pPr>
            <a:r>
              <a:rPr lang="zh-CN" altLang="en-US" sz="1800" dirty="0">
                <a:latin typeface="Calibri" panose="020F0502020204030204" charset="0"/>
                <a:cs typeface="+mn-cs"/>
              </a:rPr>
              <a:t>代码</a:t>
            </a:r>
          </a:p>
        </p:txBody>
      </p:sp>
      <p:sp>
        <p:nvSpPr>
          <p:cNvPr id="30738" name="Text Box 21"/>
          <p:cNvSpPr txBox="1">
            <a:spLocks noChangeArrowheads="1"/>
          </p:cNvSpPr>
          <p:nvPr/>
        </p:nvSpPr>
        <p:spPr bwMode="auto">
          <a:xfrm>
            <a:off x="3505200" y="3286602"/>
            <a:ext cx="1371600" cy="645160"/>
          </a:xfrm>
          <a:prstGeom prst="rect">
            <a:avLst/>
          </a:prstGeom>
          <a:noFill/>
          <a:ln w="28575">
            <a:noFill/>
            <a:miter lim="800000"/>
          </a:ln>
        </p:spPr>
        <p:txBody>
          <a:bodyPr anchor="ctr">
            <a:spAutoFit/>
          </a:bodyPr>
          <a:lstStyle/>
          <a:p>
            <a:pPr eaLnBrk="0" hangingPunct="0"/>
            <a:r>
              <a:rPr lang="en-US" sz="1800" b="0" dirty="0">
                <a:latin typeface="Calibri" panose="020F0502020204030204" charset="0"/>
              </a:rPr>
              <a:t>数据写入</a:t>
            </a:r>
          </a:p>
          <a:p>
            <a:pPr eaLnBrk="0" hangingPunct="0"/>
            <a:r>
              <a:rPr lang="en-US" sz="1800" b="0" dirty="0">
                <a:latin typeface="Calibri" panose="020F0502020204030204" charset="0"/>
              </a:rPr>
              <a:t>by </a:t>
            </a:r>
            <a:r>
              <a:rPr lang="en-US" sz="1800" dirty="0">
                <a:latin typeface="Courier New" panose="02070309020205020404" charset="0"/>
              </a:rPr>
              <a:t>gets()</a:t>
            </a:r>
          </a:p>
        </p:txBody>
      </p:sp>
      <p:sp>
        <p:nvSpPr>
          <p:cNvPr id="30739" name="AutoShape 16"/>
          <p:cNvSpPr/>
          <p:nvPr/>
        </p:nvSpPr>
        <p:spPr bwMode="auto">
          <a:xfrm rot="10800000">
            <a:off x="6664325" y="1435100"/>
            <a:ext cx="228600" cy="1600200"/>
          </a:xfrm>
          <a:prstGeom prst="leftBrace">
            <a:avLst>
              <a:gd name="adj1" fmla="val 74991"/>
              <a:gd name="adj2" fmla="val 50000"/>
            </a:avLst>
          </a:prstGeom>
          <a:no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30740" name="AutoShape 16"/>
          <p:cNvSpPr/>
          <p:nvPr/>
        </p:nvSpPr>
        <p:spPr bwMode="auto">
          <a:xfrm rot="10800000">
            <a:off x="6664325" y="3035300"/>
            <a:ext cx="228600" cy="2157413"/>
          </a:xfrm>
          <a:prstGeom prst="leftBrace">
            <a:avLst>
              <a:gd name="adj1" fmla="val 74976"/>
              <a:gd name="adj2" fmla="val 50000"/>
            </a:avLst>
          </a:prstGeom>
          <a:no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30741" name="AutoShape 16"/>
          <p:cNvSpPr/>
          <p:nvPr/>
        </p:nvSpPr>
        <p:spPr bwMode="auto">
          <a:xfrm rot="10800000" flipH="1">
            <a:off x="5130800" y="2654300"/>
            <a:ext cx="228600" cy="1905000"/>
          </a:xfrm>
          <a:prstGeom prst="leftBrace">
            <a:avLst>
              <a:gd name="adj1" fmla="val 75000"/>
              <a:gd name="adj2" fmla="val 50000"/>
            </a:avLst>
          </a:prstGeom>
          <a:no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365587" name="Rectangle 19"/>
          <p:cNvSpPr>
            <a:spLocks noChangeArrowheads="1"/>
          </p:cNvSpPr>
          <p:nvPr/>
        </p:nvSpPr>
        <p:spPr bwMode="auto">
          <a:xfrm>
            <a:off x="5499100" y="2994025"/>
            <a:ext cx="1065213" cy="936625"/>
          </a:xfrm>
          <a:prstGeom prst="rect">
            <a:avLst/>
          </a:prstGeom>
          <a:solidFill>
            <a:schemeClr val="bg1">
              <a:lumMod val="75000"/>
            </a:schemeClr>
          </a:solidFill>
          <a:ln w="28575">
            <a:solidFill>
              <a:schemeClr val="tx1"/>
            </a:solidFill>
            <a:miter lim="800000"/>
          </a:ln>
          <a:effectLst/>
        </p:spPr>
        <p:txBody>
          <a:bodyPr anchor="ctr"/>
          <a:lstStyle/>
          <a:p>
            <a:pPr eaLnBrk="0" hangingPunct="0">
              <a:defRPr/>
            </a:pPr>
            <a:r>
              <a:rPr lang="en-US" sz="1800" dirty="0">
                <a:latin typeface="Calibri" panose="020F0502020204030204" charset="0"/>
                <a:cs typeface="+mn-cs"/>
              </a:rPr>
              <a:t>pad</a:t>
            </a:r>
          </a:p>
        </p:txBody>
      </p:sp>
      <p:sp>
        <p:nvSpPr>
          <p:cNvPr id="16" name="Rectangle 7"/>
          <p:cNvSpPr>
            <a:spLocks noChangeArrowheads="1"/>
          </p:cNvSpPr>
          <p:nvPr/>
        </p:nvSpPr>
        <p:spPr bwMode="auto">
          <a:xfrm>
            <a:off x="5503984" y="2610340"/>
            <a:ext cx="1066800" cy="381000"/>
          </a:xfrm>
          <a:prstGeom prst="rect">
            <a:avLst/>
          </a:prstGeom>
          <a:solidFill>
            <a:srgbClr val="A8E799"/>
          </a:solidFill>
          <a:ln w="28575">
            <a:solidFill>
              <a:schemeClr val="tx1"/>
            </a:solidFill>
            <a:miter lim="800000"/>
          </a:ln>
          <a:effectLst/>
        </p:spPr>
        <p:txBody>
          <a:bodyPr wrap="none" anchor="ctr"/>
          <a:lstStyle/>
          <a:p>
            <a:pPr eaLnBrk="0" hangingPunct="0">
              <a:defRPr/>
            </a:pPr>
            <a:r>
              <a:rPr lang="en-US" sz="1800" dirty="0">
                <a:solidFill>
                  <a:srgbClr val="C00000"/>
                </a:solidFill>
                <a:latin typeface="Calibri" panose="020F0502020204030204" charset="0"/>
                <a:cs typeface="+mn-cs"/>
              </a:rPr>
              <a:t>A</a:t>
            </a:r>
          </a:p>
        </p:txBody>
      </p:sp>
      <p:sp>
        <p:nvSpPr>
          <p:cNvPr id="23" name="Rectangle 7"/>
          <p:cNvSpPr>
            <a:spLocks noChangeArrowheads="1"/>
          </p:cNvSpPr>
          <p:nvPr/>
        </p:nvSpPr>
        <p:spPr bwMode="auto">
          <a:xfrm>
            <a:off x="5498904" y="2610340"/>
            <a:ext cx="1066800" cy="381000"/>
          </a:xfrm>
          <a:prstGeom prst="rect">
            <a:avLst/>
          </a:prstGeom>
          <a:solidFill>
            <a:srgbClr val="A8E799"/>
          </a:solidFill>
          <a:ln w="28575">
            <a:solidFill>
              <a:schemeClr val="tx1"/>
            </a:solidFill>
            <a:miter lim="800000"/>
          </a:ln>
          <a:effectLst/>
        </p:spPr>
        <p:txBody>
          <a:bodyPr wrap="none" anchor="ctr"/>
          <a:lstStyle/>
          <a:p>
            <a:pPr eaLnBrk="0" hangingPunct="0">
              <a:defRPr/>
            </a:pPr>
            <a:r>
              <a:rPr lang="en-US" sz="1800" dirty="0">
                <a:solidFill>
                  <a:srgbClr val="C00000"/>
                </a:solidFill>
                <a:latin typeface="Calibri" panose="020F0502020204030204" charset="0"/>
                <a:cs typeface="+mn-cs"/>
              </a:rPr>
              <a:t>B</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7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07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7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7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73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6558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6558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7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074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7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07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07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4" grpId="0" bldLvl="0" animBg="1"/>
      <p:bldP spid="30730" grpId="0"/>
      <p:bldP spid="30731" grpId="0" bldLvl="0" animBg="1"/>
      <p:bldP spid="30726" grpId="0"/>
      <p:bldP spid="30733" grpId="0"/>
      <p:bldP spid="30734" grpId="0"/>
      <p:bldP spid="30735" grpId="0" bldLvl="0" animBg="1"/>
      <p:bldP spid="365586" grpId="0" bldLvl="0" animBg="1"/>
      <p:bldP spid="30738" grpId="0"/>
      <p:bldP spid="30740" grpId="0" bldLvl="0" animBg="1"/>
      <p:bldP spid="30741" grpId="0" bldLvl="0" animBg="1"/>
      <p:bldP spid="365587" grpId="0" bldLvl="0" animBg="1"/>
      <p:bldP spid="16" grpId="0" bldLvl="0" animBg="1"/>
      <p:bldP spid="23" grpId="0" bldLvl="0" animBg="1"/>
    </p:bld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426402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solidFill>
                  <a:schemeClr val="tx1">
                    <a:lumMod val="65000"/>
                    <a:lumOff val="35000"/>
                  </a:schemeClr>
                </a:solidFill>
                <a:sym typeface="+mn-ea"/>
              </a:rPr>
              <a:t>攻击代码是如何执行的？</a:t>
            </a:r>
          </a:p>
        </p:txBody>
      </p:sp>
      <p:sp>
        <p:nvSpPr>
          <p:cNvPr id="348180" name="Rectangle 20"/>
          <p:cNvSpPr>
            <a:spLocks noChangeArrowheads="1"/>
          </p:cNvSpPr>
          <p:nvPr/>
        </p:nvSpPr>
        <p:spPr bwMode="auto">
          <a:xfrm>
            <a:off x="5029200" y="1061005"/>
            <a:ext cx="1447800" cy="5584825"/>
          </a:xfrm>
          <a:prstGeom prst="rect">
            <a:avLst/>
          </a:prstGeom>
          <a:solidFill>
            <a:schemeClr val="bg1">
              <a:lumMod val="95000"/>
            </a:schemeClr>
          </a:solidFill>
          <a:ln w="25400">
            <a:solidFill>
              <a:schemeClr val="tx1"/>
            </a:solidFill>
            <a:miter lim="800000"/>
          </a:ln>
          <a:effectLst/>
        </p:spPr>
        <p:txBody>
          <a:bodyPr wrap="none" anchor="ctr"/>
          <a:lstStyle/>
          <a:p>
            <a:pPr eaLnBrk="0" hangingPunct="0">
              <a:defRPr/>
            </a:pPr>
            <a:endParaRPr lang="en-US" dirty="0">
              <a:latin typeface="Calibri" panose="020F0502020204030204" charset="0"/>
              <a:cs typeface="+mn-cs"/>
            </a:endParaRPr>
          </a:p>
        </p:txBody>
      </p:sp>
      <p:sp>
        <p:nvSpPr>
          <p:cNvPr id="348181" name="Rectangle 21"/>
          <p:cNvSpPr>
            <a:spLocks noChangeArrowheads="1"/>
          </p:cNvSpPr>
          <p:nvPr/>
        </p:nvSpPr>
        <p:spPr bwMode="auto">
          <a:xfrm>
            <a:off x="5029200" y="1066800"/>
            <a:ext cx="1447800" cy="381000"/>
          </a:xfrm>
          <a:prstGeom prst="rect">
            <a:avLst/>
          </a:prstGeom>
          <a:solidFill>
            <a:schemeClr val="accent2">
              <a:lumMod val="20000"/>
              <a:lumOff val="80000"/>
            </a:schemeClr>
          </a:solidFill>
          <a:ln w="25400">
            <a:solidFill>
              <a:schemeClr val="tx1"/>
            </a:solidFill>
            <a:miter lim="800000"/>
          </a:ln>
          <a:effectLst/>
        </p:spPr>
        <p:txBody>
          <a:bodyPr wrap="none" anchor="ctr"/>
          <a:lstStyle/>
          <a:p>
            <a:pPr eaLnBrk="0" hangingPunct="0">
              <a:defRPr/>
            </a:pPr>
            <a:r>
              <a:rPr lang="zh-CN" altLang="en-US" sz="1800" dirty="0">
                <a:latin typeface="Calibri" panose="020F0502020204030204" charset="0"/>
                <a:cs typeface="+mn-cs"/>
              </a:rPr>
              <a:t>栈</a:t>
            </a:r>
            <a:r>
              <a:rPr lang="en-US" altLang="zh-CN" sz="1800" dirty="0">
                <a:latin typeface="Calibri" panose="020F0502020204030204" charset="0"/>
                <a:cs typeface="+mn-cs"/>
              </a:rPr>
              <a:t>	</a:t>
            </a:r>
          </a:p>
        </p:txBody>
      </p:sp>
      <p:sp>
        <p:nvSpPr>
          <p:cNvPr id="10249" name="Rectangle 23"/>
          <p:cNvSpPr>
            <a:spLocks noChangeArrowheads="1"/>
          </p:cNvSpPr>
          <p:nvPr/>
        </p:nvSpPr>
        <p:spPr bwMode="auto">
          <a:xfrm>
            <a:off x="5029200" y="6036230"/>
            <a:ext cx="1447800" cy="304800"/>
          </a:xfrm>
          <a:prstGeom prst="rect">
            <a:avLst/>
          </a:prstGeom>
          <a:solidFill>
            <a:srgbClr val="F6F5BD"/>
          </a:solidFill>
          <a:ln w="25400">
            <a:solidFill>
              <a:schemeClr val="tx1"/>
            </a:solidFill>
            <a:miter lim="800000"/>
          </a:ln>
        </p:spPr>
        <p:txBody>
          <a:bodyPr wrap="none" anchor="ctr"/>
          <a:lstStyle/>
          <a:p>
            <a:pPr eaLnBrk="0" hangingPunct="0"/>
            <a:r>
              <a:rPr lang="zh-CN" altLang="en-US" sz="1800">
                <a:latin typeface="Calibri" panose="020F0502020204030204" charset="0"/>
              </a:rPr>
              <a:t>文本</a:t>
            </a:r>
          </a:p>
        </p:txBody>
      </p:sp>
      <p:sp>
        <p:nvSpPr>
          <p:cNvPr id="10250" name="Rectangle 24"/>
          <p:cNvSpPr>
            <a:spLocks noChangeArrowheads="1"/>
          </p:cNvSpPr>
          <p:nvPr/>
        </p:nvSpPr>
        <p:spPr bwMode="auto">
          <a:xfrm>
            <a:off x="5029200" y="5731430"/>
            <a:ext cx="1447800" cy="304800"/>
          </a:xfrm>
          <a:prstGeom prst="rect">
            <a:avLst/>
          </a:prstGeom>
          <a:solidFill>
            <a:srgbClr val="F1C7C7"/>
          </a:solidFill>
          <a:ln w="25400">
            <a:solidFill>
              <a:schemeClr val="tx1"/>
            </a:solidFill>
            <a:miter lim="800000"/>
          </a:ln>
        </p:spPr>
        <p:txBody>
          <a:bodyPr wrap="none" anchor="ctr"/>
          <a:lstStyle/>
          <a:p>
            <a:pPr eaLnBrk="0" hangingPunct="0"/>
            <a:r>
              <a:rPr lang="zh-CN" altLang="en-US" sz="1800">
                <a:latin typeface="Calibri" panose="020F0502020204030204" charset="0"/>
              </a:rPr>
              <a:t>数据</a:t>
            </a:r>
          </a:p>
        </p:txBody>
      </p:sp>
      <p:sp>
        <p:nvSpPr>
          <p:cNvPr id="10251" name="Rectangle 25"/>
          <p:cNvSpPr>
            <a:spLocks noChangeArrowheads="1"/>
          </p:cNvSpPr>
          <p:nvPr/>
        </p:nvSpPr>
        <p:spPr bwMode="auto">
          <a:xfrm>
            <a:off x="5029200" y="5124450"/>
            <a:ext cx="1447800" cy="606980"/>
          </a:xfrm>
          <a:prstGeom prst="rect">
            <a:avLst/>
          </a:prstGeom>
          <a:solidFill>
            <a:srgbClr val="D5F1CF"/>
          </a:solidFill>
          <a:ln w="25400">
            <a:solidFill>
              <a:schemeClr val="tx1"/>
            </a:solidFill>
            <a:miter lim="800000"/>
          </a:ln>
        </p:spPr>
        <p:txBody>
          <a:bodyPr wrap="none" anchor="ctr"/>
          <a:lstStyle/>
          <a:p>
            <a:pPr eaLnBrk="0" hangingPunct="0"/>
            <a:r>
              <a:rPr lang="zh-CN" altLang="en-US" sz="1800" dirty="0">
                <a:latin typeface="Calibri" panose="020F0502020204030204" charset="0"/>
              </a:rPr>
              <a:t>堆</a:t>
            </a:r>
          </a:p>
        </p:txBody>
      </p:sp>
      <p:cxnSp>
        <p:nvCxnSpPr>
          <p:cNvPr id="18" name="Straight Connector 17"/>
          <p:cNvCxnSpPr/>
          <p:nvPr/>
        </p:nvCxnSpPr>
        <p:spPr bwMode="auto">
          <a:xfrm>
            <a:off x="5029200" y="2208213"/>
            <a:ext cx="1447800" cy="1587"/>
          </a:xfrm>
          <a:prstGeom prst="line">
            <a:avLst/>
          </a:prstGeom>
          <a:noFill/>
          <a:ln w="25400" cap="flat" cmpd="sng" algn="ctr">
            <a:solidFill>
              <a:schemeClr val="tx1">
                <a:lumMod val="50000"/>
                <a:lumOff val="50000"/>
              </a:schemeClr>
            </a:solidFill>
            <a:prstDash val="solid"/>
            <a:round/>
            <a:headEnd type="none" w="med" len="med"/>
            <a:tailEnd type="none" w="med" len="med"/>
          </a:ln>
          <a:effectLst/>
        </p:spPr>
      </p:cxnSp>
      <p:sp>
        <p:nvSpPr>
          <p:cNvPr id="22" name="Rectangle 25"/>
          <p:cNvSpPr>
            <a:spLocks noChangeArrowheads="1"/>
          </p:cNvSpPr>
          <p:nvPr/>
        </p:nvSpPr>
        <p:spPr bwMode="auto">
          <a:xfrm>
            <a:off x="5029200" y="3752850"/>
            <a:ext cx="1447800" cy="609600"/>
          </a:xfrm>
          <a:prstGeom prst="rect">
            <a:avLst/>
          </a:prstGeom>
          <a:solidFill>
            <a:srgbClr val="D5F1CF"/>
          </a:solidFill>
          <a:ln w="25400">
            <a:solidFill>
              <a:schemeClr val="tx1"/>
            </a:solidFill>
            <a:miter lim="800000"/>
          </a:ln>
        </p:spPr>
        <p:txBody>
          <a:bodyPr wrap="none" anchor="ctr"/>
          <a:lstStyle/>
          <a:p>
            <a:pPr algn="ctr" eaLnBrk="0" hangingPunct="0"/>
            <a:r>
              <a:rPr lang="en-US" sz="1800" dirty="0">
                <a:latin typeface="Calibri" panose="020F0502020204030204" charset="0"/>
              </a:rPr>
              <a:t>共享库</a:t>
            </a:r>
          </a:p>
        </p:txBody>
      </p:sp>
      <p:sp>
        <p:nvSpPr>
          <p:cNvPr id="38" name="Rectangle 4"/>
          <p:cNvSpPr>
            <a:spLocks noChangeArrowheads="1"/>
          </p:cNvSpPr>
          <p:nvPr/>
        </p:nvSpPr>
        <p:spPr bwMode="auto">
          <a:xfrm>
            <a:off x="533400" y="3810838"/>
            <a:ext cx="2971800" cy="1751762"/>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err="1">
                <a:latin typeface="Courier New" panose="02070309020205020404" charset="0"/>
              </a:rPr>
              <a:t>int</a:t>
            </a:r>
            <a:r>
              <a:rPr lang="en-US" sz="1800" dirty="0">
                <a:latin typeface="Courier New" panose="02070309020205020404" charset="0"/>
              </a:rPr>
              <a:t> Q() {</a:t>
            </a:r>
          </a:p>
          <a:p>
            <a:pPr eaLnBrk="0" hangingPunct="0">
              <a:tabLst>
                <a:tab pos="457200" algn="l"/>
                <a:tab pos="1485900" algn="l"/>
              </a:tabLst>
            </a:pPr>
            <a:r>
              <a:rPr lang="en-US" sz="1800" dirty="0">
                <a:latin typeface="Courier New" panose="02070309020205020404" charset="0"/>
              </a:rPr>
              <a:t>  char </a:t>
            </a:r>
            <a:r>
              <a:rPr lang="en-US" sz="1800" dirty="0" err="1">
                <a:latin typeface="Courier New" panose="02070309020205020404" charset="0"/>
              </a:rPr>
              <a:t>buf</a:t>
            </a:r>
            <a:r>
              <a:rPr lang="en-US" sz="1800" dirty="0">
                <a:latin typeface="Courier New" panose="02070309020205020404" charset="0"/>
              </a:rPr>
              <a:t>[64]; </a:t>
            </a:r>
          </a:p>
          <a:p>
            <a:pPr eaLnBrk="0" hangingPunct="0">
              <a:tabLst>
                <a:tab pos="457200" algn="l"/>
                <a:tab pos="1485900" algn="l"/>
              </a:tabLst>
            </a:pPr>
            <a:r>
              <a:rPr lang="en-US" sz="1800" dirty="0">
                <a:latin typeface="Courier New" panose="02070309020205020404" charset="0"/>
              </a:rPr>
              <a:t>  </a:t>
            </a:r>
            <a:r>
              <a:rPr lang="en-US" sz="1800" dirty="0">
                <a:solidFill>
                  <a:srgbClr val="0070C0"/>
                </a:solidFill>
                <a:latin typeface="Courier New" panose="02070309020205020404" charset="0"/>
              </a:rPr>
              <a:t>gets(</a:t>
            </a:r>
            <a:r>
              <a:rPr lang="en-US" sz="1800" dirty="0" err="1">
                <a:solidFill>
                  <a:srgbClr val="0070C0"/>
                </a:solidFill>
                <a:latin typeface="Courier New" panose="02070309020205020404" charset="0"/>
              </a:rPr>
              <a:t>buf</a:t>
            </a:r>
            <a:r>
              <a:rPr lang="en-US" sz="1800" dirty="0">
                <a:solidFill>
                  <a:srgbClr val="0070C0"/>
                </a:solidFill>
                <a:latin typeface="Courier New" panose="02070309020205020404" charset="0"/>
              </a:rPr>
              <a:t>); // A-&gt;B </a:t>
            </a:r>
          </a:p>
          <a:p>
            <a:pPr eaLnBrk="0" hangingPunct="0">
              <a:tabLst>
                <a:tab pos="457200" algn="l"/>
                <a:tab pos="1485900" algn="l"/>
              </a:tabLst>
            </a:pPr>
            <a:r>
              <a:rPr lang="en-US" sz="1800" dirty="0">
                <a:latin typeface="Courier New" panose="02070309020205020404" charset="0"/>
              </a:rPr>
              <a:t>  ...</a:t>
            </a:r>
          </a:p>
          <a:p>
            <a:pPr eaLnBrk="0" hangingPunct="0">
              <a:tabLst>
                <a:tab pos="457200" algn="l"/>
                <a:tab pos="1485900" algn="l"/>
              </a:tabLst>
            </a:pPr>
            <a:r>
              <a:rPr lang="en-US" sz="1800" dirty="0">
                <a:latin typeface="Courier New" panose="02070309020205020404" charset="0"/>
              </a:rPr>
              <a:t>  </a:t>
            </a:r>
            <a:r>
              <a:rPr lang="en-US" sz="1800" dirty="0">
                <a:solidFill>
                  <a:srgbClr val="C00000"/>
                </a:solidFill>
                <a:latin typeface="Courier New" panose="02070309020205020404" charset="0"/>
              </a:rPr>
              <a:t>return ...;</a:t>
            </a:r>
            <a:r>
              <a:rPr lang="en-US" sz="1800" dirty="0">
                <a:latin typeface="Courier New" panose="02070309020205020404" charset="0"/>
              </a:rPr>
              <a:t> </a:t>
            </a:r>
          </a:p>
          <a:p>
            <a:pPr eaLnBrk="0" hangingPunct="0">
              <a:tabLst>
                <a:tab pos="457200" algn="l"/>
                <a:tab pos="1485900" algn="l"/>
              </a:tabLst>
            </a:pPr>
            <a:r>
              <a:rPr lang="en-US" sz="1800" dirty="0">
                <a:latin typeface="Courier New" panose="02070309020205020404" charset="0"/>
              </a:rPr>
              <a:t>}</a:t>
            </a:r>
          </a:p>
        </p:txBody>
      </p:sp>
      <p:sp>
        <p:nvSpPr>
          <p:cNvPr id="39" name="Rectangle 5"/>
          <p:cNvSpPr>
            <a:spLocks noChangeArrowheads="1"/>
          </p:cNvSpPr>
          <p:nvPr/>
        </p:nvSpPr>
        <p:spPr bwMode="auto">
          <a:xfrm>
            <a:off x="533400" y="1911350"/>
            <a:ext cx="1828800" cy="1200150"/>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800" dirty="0">
                <a:latin typeface="Courier New" panose="02070309020205020404" charset="0"/>
              </a:rPr>
              <a:t>void P(){</a:t>
            </a:r>
          </a:p>
          <a:p>
            <a:pPr eaLnBrk="0" hangingPunct="0">
              <a:tabLst>
                <a:tab pos="457200" algn="l"/>
                <a:tab pos="1485900" algn="l"/>
              </a:tabLst>
            </a:pPr>
            <a:r>
              <a:rPr lang="en-US" sz="1800" dirty="0">
                <a:latin typeface="Courier New" panose="02070309020205020404" charset="0"/>
              </a:rPr>
              <a:t>  Q();</a:t>
            </a:r>
          </a:p>
          <a:p>
            <a:pPr eaLnBrk="0" hangingPunct="0">
              <a:tabLst>
                <a:tab pos="457200" algn="l"/>
                <a:tab pos="1485900" algn="l"/>
              </a:tabLst>
            </a:pPr>
            <a:r>
              <a:rPr lang="en-US" sz="1800" dirty="0">
                <a:latin typeface="Courier New" panose="02070309020205020404" charset="0"/>
              </a:rPr>
              <a:t>  ...</a:t>
            </a:r>
          </a:p>
          <a:p>
            <a:pPr eaLnBrk="0" hangingPunct="0">
              <a:tabLst>
                <a:tab pos="457200" algn="l"/>
                <a:tab pos="1485900" algn="l"/>
              </a:tabLst>
            </a:pPr>
            <a:r>
              <a:rPr lang="en-US" sz="1800" dirty="0">
                <a:latin typeface="Courier New" panose="02070309020205020404" charset="0"/>
              </a:rPr>
              <a:t>}</a:t>
            </a:r>
          </a:p>
        </p:txBody>
      </p:sp>
      <p:grpSp>
        <p:nvGrpSpPr>
          <p:cNvPr id="11" name="Group 10"/>
          <p:cNvGrpSpPr/>
          <p:nvPr/>
        </p:nvGrpSpPr>
        <p:grpSpPr>
          <a:xfrm>
            <a:off x="6477000" y="952501"/>
            <a:ext cx="2214684" cy="3746500"/>
            <a:chOff x="6477000" y="952501"/>
            <a:chExt cx="2214684" cy="3746500"/>
          </a:xfrm>
        </p:grpSpPr>
        <p:sp>
          <p:nvSpPr>
            <p:cNvPr id="24" name="Rectangle 7"/>
            <p:cNvSpPr>
              <a:spLocks noChangeArrowheads="1"/>
            </p:cNvSpPr>
            <p:nvPr/>
          </p:nvSpPr>
          <p:spPr bwMode="auto">
            <a:xfrm>
              <a:off x="7620000" y="2171700"/>
              <a:ext cx="1066800" cy="381000"/>
            </a:xfrm>
            <a:prstGeom prst="rect">
              <a:avLst/>
            </a:prstGeom>
            <a:solidFill>
              <a:srgbClr val="A8E799"/>
            </a:solidFill>
            <a:ln w="28575">
              <a:solidFill>
                <a:schemeClr val="tx1"/>
              </a:solidFill>
              <a:miter lim="800000"/>
            </a:ln>
            <a:effectLst/>
          </p:spPr>
          <p:txBody>
            <a:bodyPr wrap="none" anchor="ctr"/>
            <a:lstStyle/>
            <a:p>
              <a:pPr eaLnBrk="0" hangingPunct="0">
                <a:defRPr/>
              </a:pPr>
              <a:r>
                <a:rPr lang="en-US" sz="1800" strike="sngStrike" dirty="0">
                  <a:solidFill>
                    <a:srgbClr val="C00000"/>
                  </a:solidFill>
                  <a:latin typeface="Calibri" panose="020F0502020204030204" charset="0"/>
                  <a:cs typeface="+mn-cs"/>
                </a:rPr>
                <a:t>A</a:t>
              </a:r>
              <a:r>
                <a:rPr lang="en-US" sz="1800" dirty="0">
                  <a:solidFill>
                    <a:srgbClr val="C00000"/>
                  </a:solidFill>
                  <a:latin typeface="Calibri" panose="020F0502020204030204" charset="0"/>
                  <a:cs typeface="+mn-cs"/>
                </a:rPr>
                <a:t> B</a:t>
              </a:r>
            </a:p>
          </p:txBody>
        </p:sp>
        <p:sp>
          <p:nvSpPr>
            <p:cNvPr id="25" name="Rectangle 8"/>
            <p:cNvSpPr>
              <a:spLocks noChangeArrowheads="1"/>
            </p:cNvSpPr>
            <p:nvPr/>
          </p:nvSpPr>
          <p:spPr bwMode="auto">
            <a:xfrm>
              <a:off x="7620000" y="952501"/>
              <a:ext cx="1066800" cy="1558924"/>
            </a:xfrm>
            <a:prstGeom prst="rect">
              <a:avLst/>
            </a:prstGeom>
            <a:solidFill>
              <a:schemeClr val="bg1">
                <a:lumMod val="95000"/>
              </a:schemeClr>
            </a:solidFill>
            <a:ln w="28575">
              <a:solidFill>
                <a:schemeClr val="tx1"/>
              </a:solidFill>
              <a:miter lim="800000"/>
            </a:ln>
            <a:effectLst/>
          </p:spPr>
          <p:txBody>
            <a:bodyPr wrap="none" anchor="ctr"/>
            <a:lstStyle/>
            <a:p>
              <a:pPr eaLnBrk="0" hangingPunct="0">
                <a:defRPr/>
              </a:pPr>
              <a:endParaRPr lang="en-US" sz="1800" dirty="0">
                <a:latin typeface="Calibri" panose="020F0502020204030204" charset="0"/>
                <a:cs typeface="+mn-cs"/>
              </a:endParaRPr>
            </a:p>
          </p:txBody>
        </p:sp>
        <p:sp>
          <p:nvSpPr>
            <p:cNvPr id="26" name="Rectangle 11"/>
            <p:cNvSpPr>
              <a:spLocks noChangeArrowheads="1"/>
            </p:cNvSpPr>
            <p:nvPr/>
          </p:nvSpPr>
          <p:spPr bwMode="auto">
            <a:xfrm>
              <a:off x="7620000" y="2508741"/>
              <a:ext cx="1066800" cy="2190260"/>
            </a:xfrm>
            <a:prstGeom prst="rect">
              <a:avLst/>
            </a:prstGeom>
            <a:solidFill>
              <a:schemeClr val="accent2">
                <a:lumMod val="20000"/>
                <a:lumOff val="80000"/>
              </a:schemeClr>
            </a:solidFill>
            <a:ln w="28575">
              <a:solidFill>
                <a:schemeClr val="tx1"/>
              </a:solidFill>
              <a:miter lim="800000"/>
            </a:ln>
            <a:effectLst/>
          </p:spPr>
          <p:txBody>
            <a:bodyPr wrap="none" anchor="ctr"/>
            <a:lstStyle/>
            <a:p>
              <a:pPr eaLnBrk="0" hangingPunct="0">
                <a:defRPr/>
              </a:pPr>
              <a:endParaRPr lang="en-US" sz="1800" dirty="0">
                <a:latin typeface="Calibri" panose="020F0502020204030204" charset="0"/>
                <a:cs typeface="+mn-cs"/>
              </a:endParaRPr>
            </a:p>
            <a:p>
              <a:pPr eaLnBrk="0" hangingPunct="0">
                <a:defRPr/>
              </a:pPr>
              <a:endParaRPr lang="en-US" sz="1800" dirty="0">
                <a:latin typeface="Calibri" panose="020F0502020204030204" charset="0"/>
                <a:cs typeface="+mn-cs"/>
              </a:endParaRPr>
            </a:p>
          </p:txBody>
        </p:sp>
        <p:sp>
          <p:nvSpPr>
            <p:cNvPr id="31" name="Rectangle 18"/>
            <p:cNvSpPr>
              <a:spLocks noChangeArrowheads="1"/>
            </p:cNvSpPr>
            <p:nvPr/>
          </p:nvSpPr>
          <p:spPr bwMode="auto">
            <a:xfrm>
              <a:off x="7620000" y="3431064"/>
              <a:ext cx="1066800" cy="645160"/>
            </a:xfrm>
            <a:prstGeom prst="rect">
              <a:avLst/>
            </a:prstGeom>
            <a:solidFill>
              <a:srgbClr val="F1C7C7"/>
            </a:solidFill>
            <a:ln w="28575">
              <a:solidFill>
                <a:schemeClr val="tx1"/>
              </a:solidFill>
              <a:miter lim="800000"/>
            </a:ln>
            <a:effectLst/>
          </p:spPr>
          <p:txBody>
            <a:bodyPr anchor="ctr">
              <a:spAutoFit/>
            </a:bodyPr>
            <a:lstStyle/>
            <a:p>
              <a:pPr eaLnBrk="0" hangingPunct="0">
                <a:defRPr/>
              </a:pPr>
              <a:r>
                <a:rPr lang="zh-CN" altLang="en-US" sz="1800" dirty="0">
                  <a:latin typeface="Calibri" panose="020F0502020204030204" charset="0"/>
                  <a:cs typeface="+mn-cs"/>
                </a:rPr>
                <a:t>攻击</a:t>
              </a:r>
            </a:p>
            <a:p>
              <a:pPr eaLnBrk="0" hangingPunct="0">
                <a:defRPr/>
              </a:pPr>
              <a:r>
                <a:rPr lang="zh-CN" altLang="en-US" sz="1800" dirty="0">
                  <a:latin typeface="Calibri" panose="020F0502020204030204" charset="0"/>
                  <a:cs typeface="+mn-cs"/>
                </a:rPr>
                <a:t>代码</a:t>
              </a:r>
            </a:p>
          </p:txBody>
        </p:sp>
        <p:sp>
          <p:nvSpPr>
            <p:cNvPr id="35" name="Rectangle 19"/>
            <p:cNvSpPr>
              <a:spLocks noChangeArrowheads="1"/>
            </p:cNvSpPr>
            <p:nvPr/>
          </p:nvSpPr>
          <p:spPr bwMode="auto">
            <a:xfrm>
              <a:off x="7620000" y="2511425"/>
              <a:ext cx="1065213" cy="936625"/>
            </a:xfrm>
            <a:prstGeom prst="rect">
              <a:avLst/>
            </a:prstGeom>
            <a:solidFill>
              <a:schemeClr val="bg1">
                <a:lumMod val="75000"/>
              </a:schemeClr>
            </a:solidFill>
            <a:ln w="28575">
              <a:solidFill>
                <a:schemeClr val="tx1"/>
              </a:solidFill>
              <a:miter lim="800000"/>
            </a:ln>
            <a:effectLst/>
          </p:spPr>
          <p:txBody>
            <a:bodyPr anchor="ctr"/>
            <a:lstStyle/>
            <a:p>
              <a:pPr eaLnBrk="0" hangingPunct="0">
                <a:defRPr/>
              </a:pPr>
              <a:r>
                <a:rPr lang="en-US" sz="1800" dirty="0">
                  <a:latin typeface="Calibri" panose="020F0502020204030204" charset="0"/>
                  <a:cs typeface="+mn-cs"/>
                </a:rPr>
                <a:t>pad</a:t>
              </a:r>
            </a:p>
          </p:txBody>
        </p:sp>
        <p:sp>
          <p:nvSpPr>
            <p:cNvPr id="36" name="Rectangle 7"/>
            <p:cNvSpPr>
              <a:spLocks noChangeArrowheads="1"/>
            </p:cNvSpPr>
            <p:nvPr/>
          </p:nvSpPr>
          <p:spPr bwMode="auto">
            <a:xfrm>
              <a:off x="7624884" y="2127740"/>
              <a:ext cx="1066800" cy="381000"/>
            </a:xfrm>
            <a:prstGeom prst="rect">
              <a:avLst/>
            </a:prstGeom>
            <a:solidFill>
              <a:srgbClr val="A8E799"/>
            </a:solidFill>
            <a:ln w="28575">
              <a:solidFill>
                <a:schemeClr val="tx1"/>
              </a:solidFill>
              <a:miter lim="800000"/>
            </a:ln>
            <a:effectLst/>
          </p:spPr>
          <p:txBody>
            <a:bodyPr wrap="none" anchor="ctr"/>
            <a:lstStyle/>
            <a:p>
              <a:pPr eaLnBrk="0" hangingPunct="0">
                <a:defRPr/>
              </a:pPr>
              <a:r>
                <a:rPr lang="en-US" sz="1800" dirty="0">
                  <a:solidFill>
                    <a:srgbClr val="C00000"/>
                  </a:solidFill>
                  <a:latin typeface="Calibri" panose="020F0502020204030204" charset="0"/>
                  <a:cs typeface="+mn-cs"/>
                </a:rPr>
                <a:t>A</a:t>
              </a:r>
            </a:p>
          </p:txBody>
        </p:sp>
        <p:sp>
          <p:nvSpPr>
            <p:cNvPr id="37" name="Rectangle 7"/>
            <p:cNvSpPr>
              <a:spLocks noChangeArrowheads="1"/>
            </p:cNvSpPr>
            <p:nvPr/>
          </p:nvSpPr>
          <p:spPr bwMode="auto">
            <a:xfrm>
              <a:off x="7624884" y="2127740"/>
              <a:ext cx="1066800" cy="381000"/>
            </a:xfrm>
            <a:prstGeom prst="rect">
              <a:avLst/>
            </a:prstGeom>
            <a:solidFill>
              <a:srgbClr val="A8E799"/>
            </a:solidFill>
            <a:ln w="28575">
              <a:solidFill>
                <a:schemeClr val="tx1"/>
              </a:solidFill>
              <a:miter lim="800000"/>
            </a:ln>
            <a:effectLst/>
          </p:spPr>
          <p:txBody>
            <a:bodyPr wrap="none" anchor="ctr"/>
            <a:lstStyle/>
            <a:p>
              <a:pPr eaLnBrk="0" hangingPunct="0">
                <a:defRPr/>
              </a:pPr>
              <a:r>
                <a:rPr lang="en-US" sz="1800" dirty="0">
                  <a:solidFill>
                    <a:srgbClr val="C00000"/>
                  </a:solidFill>
                  <a:latin typeface="Calibri" panose="020F0502020204030204" charset="0"/>
                  <a:cs typeface="+mn-cs"/>
                </a:rPr>
                <a:t>B</a:t>
              </a:r>
            </a:p>
          </p:txBody>
        </p:sp>
        <p:cxnSp>
          <p:nvCxnSpPr>
            <p:cNvPr id="5" name="Straight Connector 3"/>
            <p:cNvCxnSpPr/>
            <p:nvPr/>
          </p:nvCxnSpPr>
          <p:spPr bwMode="auto">
            <a:xfrm flipV="1">
              <a:off x="6477000" y="952501"/>
              <a:ext cx="1143000" cy="108504"/>
            </a:xfrm>
            <a:prstGeom prst="line">
              <a:avLst/>
            </a:prstGeom>
            <a:noFill/>
            <a:ln w="25400" cap="flat" cmpd="sng" algn="ctr">
              <a:solidFill>
                <a:schemeClr val="tx1">
                  <a:lumMod val="50000"/>
                  <a:lumOff val="50000"/>
                </a:schemeClr>
              </a:solidFill>
              <a:prstDash val="solid"/>
              <a:round/>
              <a:headEnd type="none" w="med" len="med"/>
              <a:tailEnd type="none" w="med" len="med"/>
            </a:ln>
            <a:effectLst/>
          </p:spPr>
        </p:cxnSp>
        <p:cxnSp>
          <p:nvCxnSpPr>
            <p:cNvPr id="43" name="Straight Connector 42"/>
            <p:cNvCxnSpPr/>
            <p:nvPr/>
          </p:nvCxnSpPr>
          <p:spPr bwMode="auto">
            <a:xfrm>
              <a:off x="6477000" y="1447801"/>
              <a:ext cx="1143000" cy="3251200"/>
            </a:xfrm>
            <a:prstGeom prst="line">
              <a:avLst/>
            </a:prstGeom>
            <a:noFill/>
            <a:ln w="25400" cap="flat" cmpd="sng" algn="ctr">
              <a:solidFill>
                <a:schemeClr val="tx1">
                  <a:lumMod val="50000"/>
                  <a:lumOff val="50000"/>
                </a:schemeClr>
              </a:solidFill>
              <a:prstDash val="solid"/>
              <a:round/>
              <a:headEnd type="none" w="med" len="med"/>
              <a:tailEnd type="none" w="med" len="med"/>
            </a:ln>
            <a:effectLst/>
          </p:spPr>
        </p:cxnSp>
        <p:sp>
          <p:nvSpPr>
            <p:cNvPr id="52" name="Rectangle 7"/>
            <p:cNvSpPr>
              <a:spLocks noChangeArrowheads="1"/>
            </p:cNvSpPr>
            <p:nvPr/>
          </p:nvSpPr>
          <p:spPr bwMode="auto">
            <a:xfrm>
              <a:off x="7624884" y="1750192"/>
              <a:ext cx="1066800" cy="381000"/>
            </a:xfrm>
            <a:prstGeom prst="rect">
              <a:avLst/>
            </a:prstGeom>
            <a:solidFill>
              <a:srgbClr val="A8E799"/>
            </a:solidFill>
            <a:ln w="28575">
              <a:solidFill>
                <a:schemeClr val="tx1"/>
              </a:solidFill>
              <a:miter lim="800000"/>
            </a:ln>
            <a:effectLst/>
          </p:spPr>
          <p:txBody>
            <a:bodyPr wrap="none" anchor="ctr"/>
            <a:lstStyle/>
            <a:p>
              <a:pPr eaLnBrk="0" hangingPunct="0">
                <a:defRPr/>
              </a:pPr>
              <a:r>
                <a:rPr lang="en-US" sz="1800" dirty="0">
                  <a:solidFill>
                    <a:srgbClr val="C00000"/>
                  </a:solidFill>
                  <a:latin typeface="Calibri" panose="020F0502020204030204" charset="0"/>
                  <a:cs typeface="+mn-cs"/>
                </a:rPr>
                <a:t>…</a:t>
              </a:r>
            </a:p>
          </p:txBody>
        </p:sp>
      </p:grpSp>
      <p:grpSp>
        <p:nvGrpSpPr>
          <p:cNvPr id="19" name="Group 18"/>
          <p:cNvGrpSpPr/>
          <p:nvPr/>
        </p:nvGrpSpPr>
        <p:grpSpPr>
          <a:xfrm>
            <a:off x="4191000" y="6061352"/>
            <a:ext cx="838200" cy="369332"/>
            <a:chOff x="4191000" y="6061352"/>
            <a:chExt cx="838200" cy="369332"/>
          </a:xfrm>
        </p:grpSpPr>
        <p:sp>
          <p:nvSpPr>
            <p:cNvPr id="48" name="Text Box 16"/>
            <p:cNvSpPr txBox="1">
              <a:spLocks noChangeArrowheads="1"/>
            </p:cNvSpPr>
            <p:nvPr/>
          </p:nvSpPr>
          <p:spPr bwMode="auto">
            <a:xfrm>
              <a:off x="4191000" y="6061352"/>
              <a:ext cx="445956" cy="369332"/>
            </a:xfrm>
            <a:prstGeom prst="rect">
              <a:avLst/>
            </a:prstGeom>
            <a:noFill/>
            <a:ln w="28575">
              <a:noFill/>
              <a:miter lim="800000"/>
            </a:ln>
          </p:spPr>
          <p:txBody>
            <a:bodyPr wrap="none" anchor="ctr">
              <a:spAutoFit/>
            </a:bodyPr>
            <a:lstStyle/>
            <a:p>
              <a:pPr eaLnBrk="0" hangingPunct="0"/>
              <a:r>
                <a:rPr lang="en-US" sz="1800" dirty="0">
                  <a:latin typeface="Calibri" panose="020F0502020204030204" charset="0"/>
                </a:rPr>
                <a:t>rip</a:t>
              </a:r>
            </a:p>
          </p:txBody>
        </p:sp>
        <p:sp>
          <p:nvSpPr>
            <p:cNvPr id="49" name="Line 17"/>
            <p:cNvSpPr>
              <a:spLocks noChangeShapeType="1"/>
            </p:cNvSpPr>
            <p:nvPr/>
          </p:nvSpPr>
          <p:spPr bwMode="auto">
            <a:xfrm>
              <a:off x="4632325" y="6248400"/>
              <a:ext cx="396875" cy="0"/>
            </a:xfrm>
            <a:prstGeom prst="line">
              <a:avLst/>
            </a:prstGeom>
            <a:noFill/>
            <a:ln w="28575">
              <a:solidFill>
                <a:schemeClr val="tx1"/>
              </a:solidFill>
              <a:round/>
              <a:tailEnd type="triangle" w="med" len="med"/>
            </a:ln>
          </p:spPr>
          <p:txBody>
            <a:bodyPr anchor="ctr">
              <a:spAutoFit/>
            </a:bodyPr>
            <a:lstStyle/>
            <a:p>
              <a:endParaRPr lang="en-US"/>
            </a:p>
          </p:txBody>
        </p:sp>
      </p:grpSp>
      <p:grpSp>
        <p:nvGrpSpPr>
          <p:cNvPr id="15" name="Group 14"/>
          <p:cNvGrpSpPr/>
          <p:nvPr/>
        </p:nvGrpSpPr>
        <p:grpSpPr>
          <a:xfrm>
            <a:off x="4191000" y="1089942"/>
            <a:ext cx="838200" cy="369332"/>
            <a:chOff x="4191000" y="1089942"/>
            <a:chExt cx="838200" cy="369332"/>
          </a:xfrm>
        </p:grpSpPr>
        <p:sp>
          <p:nvSpPr>
            <p:cNvPr id="50" name="Text Box 16"/>
            <p:cNvSpPr txBox="1">
              <a:spLocks noChangeArrowheads="1"/>
            </p:cNvSpPr>
            <p:nvPr/>
          </p:nvSpPr>
          <p:spPr bwMode="auto">
            <a:xfrm>
              <a:off x="4191000" y="1089942"/>
              <a:ext cx="445956" cy="369332"/>
            </a:xfrm>
            <a:prstGeom prst="rect">
              <a:avLst/>
            </a:prstGeom>
            <a:noFill/>
            <a:ln w="28575">
              <a:noFill/>
              <a:miter lim="800000"/>
            </a:ln>
          </p:spPr>
          <p:txBody>
            <a:bodyPr wrap="none" anchor="ctr">
              <a:spAutoFit/>
            </a:bodyPr>
            <a:lstStyle/>
            <a:p>
              <a:pPr eaLnBrk="0" hangingPunct="0"/>
              <a:r>
                <a:rPr lang="en-US" sz="1800" dirty="0">
                  <a:solidFill>
                    <a:srgbClr val="C00000"/>
                  </a:solidFill>
                  <a:latin typeface="Calibri" panose="020F0502020204030204" charset="0"/>
                </a:rPr>
                <a:t>rip</a:t>
              </a:r>
            </a:p>
          </p:txBody>
        </p:sp>
        <p:sp>
          <p:nvSpPr>
            <p:cNvPr id="51" name="Line 17"/>
            <p:cNvSpPr>
              <a:spLocks noChangeShapeType="1"/>
            </p:cNvSpPr>
            <p:nvPr/>
          </p:nvSpPr>
          <p:spPr bwMode="auto">
            <a:xfrm>
              <a:off x="4632325" y="1276990"/>
              <a:ext cx="396875" cy="0"/>
            </a:xfrm>
            <a:prstGeom prst="line">
              <a:avLst/>
            </a:prstGeom>
            <a:noFill/>
            <a:ln w="28575">
              <a:solidFill>
                <a:srgbClr val="C00000"/>
              </a:solidFill>
              <a:round/>
              <a:tailEnd type="triangle" w="med" len="med"/>
            </a:ln>
          </p:spPr>
          <p:txBody>
            <a:bodyPr anchor="ctr">
              <a:spAutoFit/>
            </a:bodyPr>
            <a:lstStyle/>
            <a:p>
              <a:endParaRPr lang="en-US"/>
            </a:p>
          </p:txBody>
        </p:sp>
      </p:grpSp>
      <p:grpSp>
        <p:nvGrpSpPr>
          <p:cNvPr id="12" name="Group 11"/>
          <p:cNvGrpSpPr/>
          <p:nvPr/>
        </p:nvGrpSpPr>
        <p:grpSpPr>
          <a:xfrm>
            <a:off x="6786684" y="3889652"/>
            <a:ext cx="838200" cy="369332"/>
            <a:chOff x="6786684" y="3889652"/>
            <a:chExt cx="838200" cy="369332"/>
          </a:xfrm>
        </p:grpSpPr>
        <p:sp>
          <p:nvSpPr>
            <p:cNvPr id="54" name="Text Box 16"/>
            <p:cNvSpPr txBox="1">
              <a:spLocks noChangeArrowheads="1"/>
            </p:cNvSpPr>
            <p:nvPr/>
          </p:nvSpPr>
          <p:spPr bwMode="auto">
            <a:xfrm>
              <a:off x="6786684" y="3889652"/>
              <a:ext cx="445956" cy="369332"/>
            </a:xfrm>
            <a:prstGeom prst="rect">
              <a:avLst/>
            </a:prstGeom>
            <a:noFill/>
            <a:ln w="28575">
              <a:noFill/>
              <a:miter lim="800000"/>
            </a:ln>
          </p:spPr>
          <p:txBody>
            <a:bodyPr wrap="none" anchor="ctr">
              <a:spAutoFit/>
            </a:bodyPr>
            <a:lstStyle/>
            <a:p>
              <a:pPr eaLnBrk="0" hangingPunct="0"/>
              <a:r>
                <a:rPr lang="en-US" sz="1800" dirty="0">
                  <a:solidFill>
                    <a:srgbClr val="C00000"/>
                  </a:solidFill>
                  <a:latin typeface="Calibri" panose="020F0502020204030204" charset="0"/>
                </a:rPr>
                <a:t>rip</a:t>
              </a:r>
            </a:p>
          </p:txBody>
        </p:sp>
        <p:sp>
          <p:nvSpPr>
            <p:cNvPr id="55" name="Line 17"/>
            <p:cNvSpPr>
              <a:spLocks noChangeShapeType="1"/>
            </p:cNvSpPr>
            <p:nvPr/>
          </p:nvSpPr>
          <p:spPr bwMode="auto">
            <a:xfrm>
              <a:off x="7228009" y="4076700"/>
              <a:ext cx="396875" cy="0"/>
            </a:xfrm>
            <a:prstGeom prst="line">
              <a:avLst/>
            </a:prstGeom>
            <a:noFill/>
            <a:ln w="28575">
              <a:solidFill>
                <a:srgbClr val="C00000"/>
              </a:solidFill>
              <a:round/>
              <a:tailEnd type="triangle" w="med" len="med"/>
            </a:ln>
          </p:spPr>
          <p:txBody>
            <a:bodyPr anchor="ctr">
              <a:spAutoFit/>
            </a:bodyPr>
            <a:lstStyle/>
            <a:p>
              <a:endParaRPr lang="en-US"/>
            </a:p>
          </p:txBody>
        </p:sp>
      </p:grpSp>
      <p:grpSp>
        <p:nvGrpSpPr>
          <p:cNvPr id="17" name="Group 16"/>
          <p:cNvGrpSpPr/>
          <p:nvPr/>
        </p:nvGrpSpPr>
        <p:grpSpPr>
          <a:xfrm>
            <a:off x="6786684" y="3261002"/>
            <a:ext cx="838200" cy="369332"/>
            <a:chOff x="6786684" y="3261002"/>
            <a:chExt cx="838200" cy="369332"/>
          </a:xfrm>
        </p:grpSpPr>
        <p:sp>
          <p:nvSpPr>
            <p:cNvPr id="56" name="Text Box 16"/>
            <p:cNvSpPr txBox="1">
              <a:spLocks noChangeArrowheads="1"/>
            </p:cNvSpPr>
            <p:nvPr/>
          </p:nvSpPr>
          <p:spPr bwMode="auto">
            <a:xfrm>
              <a:off x="6786684" y="3261002"/>
              <a:ext cx="445956" cy="369332"/>
            </a:xfrm>
            <a:prstGeom prst="rect">
              <a:avLst/>
            </a:prstGeom>
            <a:noFill/>
            <a:ln w="28575">
              <a:noFill/>
              <a:miter lim="800000"/>
            </a:ln>
          </p:spPr>
          <p:txBody>
            <a:bodyPr wrap="none" anchor="ctr">
              <a:spAutoFit/>
            </a:bodyPr>
            <a:lstStyle/>
            <a:p>
              <a:pPr eaLnBrk="0" hangingPunct="0"/>
              <a:r>
                <a:rPr lang="en-US" sz="1800" dirty="0">
                  <a:solidFill>
                    <a:srgbClr val="C00000"/>
                  </a:solidFill>
                  <a:latin typeface="Calibri" panose="020F0502020204030204" charset="0"/>
                </a:rPr>
                <a:t>rip</a:t>
              </a:r>
            </a:p>
          </p:txBody>
        </p:sp>
        <p:sp>
          <p:nvSpPr>
            <p:cNvPr id="57" name="Line 17"/>
            <p:cNvSpPr>
              <a:spLocks noChangeShapeType="1"/>
            </p:cNvSpPr>
            <p:nvPr/>
          </p:nvSpPr>
          <p:spPr bwMode="auto">
            <a:xfrm>
              <a:off x="7228009" y="3448050"/>
              <a:ext cx="396875" cy="0"/>
            </a:xfrm>
            <a:prstGeom prst="line">
              <a:avLst/>
            </a:prstGeom>
            <a:noFill/>
            <a:ln w="28575">
              <a:solidFill>
                <a:srgbClr val="C00000"/>
              </a:solidFill>
              <a:round/>
              <a:tailEnd type="triangle" w="med" len="med"/>
            </a:ln>
          </p:spPr>
          <p:txBody>
            <a:bodyPr anchor="ctr">
              <a:spAutoFit/>
            </a:bodyPr>
            <a:lstStyle/>
            <a:p>
              <a:endParaRPr lang="en-US">
                <a:solidFill>
                  <a:srgbClr val="C00000"/>
                </a:solidFill>
              </a:endParaRPr>
            </a:p>
          </p:txBody>
        </p:sp>
      </p:grpSp>
      <p:sp>
        <p:nvSpPr>
          <p:cNvPr id="59" name="Arc 58"/>
          <p:cNvSpPr/>
          <p:nvPr/>
        </p:nvSpPr>
        <p:spPr bwMode="auto">
          <a:xfrm>
            <a:off x="3666980" y="1276990"/>
            <a:ext cx="1143000" cy="4879374"/>
          </a:xfrm>
          <a:prstGeom prst="arc">
            <a:avLst>
              <a:gd name="adj1" fmla="val 5391088"/>
              <a:gd name="adj2" fmla="val 16237356"/>
            </a:avLst>
          </a:prstGeom>
          <a:noFill/>
          <a:ln w="50800" cap="flat" cmpd="sng" algn="ctr">
            <a:solidFill>
              <a:srgbClr val="C00000"/>
            </a:solidFill>
            <a:prstDash val="solid"/>
            <a:round/>
            <a:headEnd type="stealth" w="med" len="med"/>
            <a:tailEnd type="none" w="med" len="med"/>
          </a:ln>
          <a:effectLst/>
        </p:spPr>
        <p:txBody>
          <a:bodyPr rtlCol="0" anchor="ctr"/>
          <a:lstStyle/>
          <a:p>
            <a:pPr algn="ctr"/>
            <a:endParaRPr lang="en-US"/>
          </a:p>
        </p:txBody>
      </p:sp>
      <p:grpSp>
        <p:nvGrpSpPr>
          <p:cNvPr id="13" name="Group 12"/>
          <p:cNvGrpSpPr/>
          <p:nvPr/>
        </p:nvGrpSpPr>
        <p:grpSpPr>
          <a:xfrm>
            <a:off x="6786684" y="2321692"/>
            <a:ext cx="838200" cy="369332"/>
            <a:chOff x="6786684" y="2321692"/>
            <a:chExt cx="838200" cy="369332"/>
          </a:xfrm>
        </p:grpSpPr>
        <p:sp>
          <p:nvSpPr>
            <p:cNvPr id="60" name="Text Box 16"/>
            <p:cNvSpPr txBox="1">
              <a:spLocks noChangeArrowheads="1"/>
            </p:cNvSpPr>
            <p:nvPr/>
          </p:nvSpPr>
          <p:spPr bwMode="auto">
            <a:xfrm>
              <a:off x="6786684" y="2321692"/>
              <a:ext cx="478401" cy="369332"/>
            </a:xfrm>
            <a:prstGeom prst="rect">
              <a:avLst/>
            </a:prstGeom>
            <a:noFill/>
            <a:ln w="28575">
              <a:noFill/>
              <a:miter lim="800000"/>
            </a:ln>
          </p:spPr>
          <p:txBody>
            <a:bodyPr wrap="none" anchor="ctr">
              <a:spAutoFit/>
            </a:bodyPr>
            <a:lstStyle/>
            <a:p>
              <a:pPr eaLnBrk="0" hangingPunct="0"/>
              <a:r>
                <a:rPr lang="en-US" sz="1800" dirty="0" err="1">
                  <a:solidFill>
                    <a:srgbClr val="0070C0"/>
                  </a:solidFill>
                  <a:latin typeface="Calibri" panose="020F0502020204030204" charset="0"/>
                </a:rPr>
                <a:t>rsp</a:t>
              </a:r>
              <a:endParaRPr lang="en-US" sz="1800" dirty="0">
                <a:solidFill>
                  <a:srgbClr val="0070C0"/>
                </a:solidFill>
                <a:latin typeface="Calibri" panose="020F0502020204030204" charset="0"/>
              </a:endParaRPr>
            </a:p>
          </p:txBody>
        </p:sp>
        <p:sp>
          <p:nvSpPr>
            <p:cNvPr id="61" name="Line 17"/>
            <p:cNvSpPr>
              <a:spLocks noChangeShapeType="1"/>
            </p:cNvSpPr>
            <p:nvPr/>
          </p:nvSpPr>
          <p:spPr bwMode="auto">
            <a:xfrm>
              <a:off x="7228009" y="2508740"/>
              <a:ext cx="396875" cy="0"/>
            </a:xfrm>
            <a:prstGeom prst="line">
              <a:avLst/>
            </a:prstGeom>
            <a:noFill/>
            <a:ln w="28575">
              <a:solidFill>
                <a:srgbClr val="0070C0"/>
              </a:solidFill>
              <a:round/>
              <a:tailEnd type="triangle" w="med" len="med"/>
            </a:ln>
          </p:spPr>
          <p:txBody>
            <a:bodyPr anchor="ctr">
              <a:spAutoFit/>
            </a:bodyPr>
            <a:lstStyle/>
            <a:p>
              <a:endParaRPr lang="en-US">
                <a:solidFill>
                  <a:srgbClr val="C00000"/>
                </a:solidFill>
              </a:endParaRPr>
            </a:p>
          </p:txBody>
        </p:sp>
      </p:grpSp>
      <p:grpSp>
        <p:nvGrpSpPr>
          <p:cNvPr id="14" name="Group 13"/>
          <p:cNvGrpSpPr/>
          <p:nvPr/>
        </p:nvGrpSpPr>
        <p:grpSpPr>
          <a:xfrm>
            <a:off x="6786684" y="1940692"/>
            <a:ext cx="838200" cy="369332"/>
            <a:chOff x="6786684" y="1940692"/>
            <a:chExt cx="838200" cy="369332"/>
          </a:xfrm>
        </p:grpSpPr>
        <p:sp>
          <p:nvSpPr>
            <p:cNvPr id="62" name="Text Box 16"/>
            <p:cNvSpPr txBox="1">
              <a:spLocks noChangeArrowheads="1"/>
            </p:cNvSpPr>
            <p:nvPr/>
          </p:nvSpPr>
          <p:spPr bwMode="auto">
            <a:xfrm>
              <a:off x="6786684" y="1940692"/>
              <a:ext cx="478401" cy="369332"/>
            </a:xfrm>
            <a:prstGeom prst="rect">
              <a:avLst/>
            </a:prstGeom>
            <a:noFill/>
            <a:ln w="28575">
              <a:noFill/>
              <a:miter lim="800000"/>
            </a:ln>
          </p:spPr>
          <p:txBody>
            <a:bodyPr wrap="none" anchor="ctr">
              <a:spAutoFit/>
            </a:bodyPr>
            <a:lstStyle/>
            <a:p>
              <a:pPr eaLnBrk="0" hangingPunct="0"/>
              <a:r>
                <a:rPr lang="en-US" sz="1800" dirty="0" err="1">
                  <a:solidFill>
                    <a:srgbClr val="0070C0"/>
                  </a:solidFill>
                  <a:latin typeface="Calibri" panose="020F0502020204030204" charset="0"/>
                </a:rPr>
                <a:t>rsp</a:t>
              </a:r>
              <a:endParaRPr lang="en-US" sz="1800" dirty="0">
                <a:solidFill>
                  <a:srgbClr val="0070C0"/>
                </a:solidFill>
                <a:latin typeface="Calibri" panose="020F0502020204030204" charset="0"/>
              </a:endParaRPr>
            </a:p>
          </p:txBody>
        </p:sp>
        <p:sp>
          <p:nvSpPr>
            <p:cNvPr id="63" name="Line 17"/>
            <p:cNvSpPr>
              <a:spLocks noChangeShapeType="1"/>
            </p:cNvSpPr>
            <p:nvPr/>
          </p:nvSpPr>
          <p:spPr bwMode="auto">
            <a:xfrm>
              <a:off x="7228009" y="2127740"/>
              <a:ext cx="396875" cy="0"/>
            </a:xfrm>
            <a:prstGeom prst="line">
              <a:avLst/>
            </a:prstGeom>
            <a:noFill/>
            <a:ln w="28575">
              <a:solidFill>
                <a:srgbClr val="0070C0"/>
              </a:solidFill>
              <a:round/>
              <a:tailEnd type="triangle" w="med" len="med"/>
            </a:ln>
          </p:spPr>
          <p:txBody>
            <a:bodyPr anchor="ctr">
              <a:spAutoFit/>
            </a:bodyPr>
            <a:lstStyle/>
            <a:p>
              <a:endParaRPr lang="en-US">
                <a:solidFill>
                  <a:srgbClr val="C00000"/>
                </a:solidFill>
              </a:endParaRPr>
            </a:p>
          </p:txBody>
        </p:sp>
      </p:grpSp>
      <p:grpSp>
        <p:nvGrpSpPr>
          <p:cNvPr id="10" name="Group 9"/>
          <p:cNvGrpSpPr/>
          <p:nvPr/>
        </p:nvGrpSpPr>
        <p:grpSpPr>
          <a:xfrm>
            <a:off x="2971800" y="1276990"/>
            <a:ext cx="1752600" cy="4971410"/>
            <a:chOff x="2971800" y="1276990"/>
            <a:chExt cx="1752600" cy="4971410"/>
          </a:xfrm>
        </p:grpSpPr>
        <p:sp>
          <p:nvSpPr>
            <p:cNvPr id="9" name="Arc 8"/>
            <p:cNvSpPr/>
            <p:nvPr/>
          </p:nvSpPr>
          <p:spPr bwMode="auto">
            <a:xfrm>
              <a:off x="3581400" y="1276990"/>
              <a:ext cx="1143000" cy="4971410"/>
            </a:xfrm>
            <a:prstGeom prst="arc">
              <a:avLst>
                <a:gd name="adj1" fmla="val 5391088"/>
                <a:gd name="adj2" fmla="val 16237356"/>
              </a:avLst>
            </a:prstGeom>
            <a:noFill/>
            <a:ln w="50800" cap="flat" cmpd="sng" algn="ctr">
              <a:solidFill>
                <a:srgbClr val="C00000"/>
              </a:solidFill>
              <a:prstDash val="solid"/>
              <a:round/>
              <a:headEnd type="none" w="med" len="med"/>
              <a:tailEnd type="stealth" w="med" len="med"/>
            </a:ln>
            <a:effectLst/>
          </p:spPr>
          <p:txBody>
            <a:bodyPr rtlCol="0" anchor="ctr"/>
            <a:lstStyle/>
            <a:p>
              <a:pPr algn="ctr"/>
              <a:endParaRPr lang="en-US"/>
            </a:p>
          </p:txBody>
        </p:sp>
        <p:sp>
          <p:nvSpPr>
            <p:cNvPr id="64" name="Text Box 16"/>
            <p:cNvSpPr txBox="1">
              <a:spLocks noChangeArrowheads="1"/>
            </p:cNvSpPr>
            <p:nvPr/>
          </p:nvSpPr>
          <p:spPr bwMode="auto">
            <a:xfrm>
              <a:off x="2971800" y="3405607"/>
              <a:ext cx="598241" cy="369332"/>
            </a:xfrm>
            <a:prstGeom prst="rect">
              <a:avLst/>
            </a:prstGeom>
            <a:noFill/>
            <a:ln w="28575">
              <a:noFill/>
              <a:miter lim="800000"/>
            </a:ln>
          </p:spPr>
          <p:txBody>
            <a:bodyPr wrap="none" anchor="ctr">
              <a:spAutoFit/>
            </a:bodyPr>
            <a:lstStyle/>
            <a:p>
              <a:pPr eaLnBrk="0" hangingPunct="0"/>
              <a:r>
                <a:rPr lang="en-US" sz="1800" dirty="0">
                  <a:solidFill>
                    <a:srgbClr val="C00000"/>
                  </a:solidFill>
                  <a:latin typeface="Courier New" panose="02070309020205020404" charset="0"/>
                  <a:cs typeface="Courier New" panose="02070309020205020404" charset="0"/>
                </a:rPr>
                <a:t>ret</a:t>
              </a:r>
            </a:p>
          </p:txBody>
        </p:sp>
      </p:grpSp>
      <p:sp>
        <p:nvSpPr>
          <p:cNvPr id="65" name="Text Box 16"/>
          <p:cNvSpPr txBox="1">
            <a:spLocks noChangeArrowheads="1"/>
          </p:cNvSpPr>
          <p:nvPr/>
        </p:nvSpPr>
        <p:spPr bwMode="auto">
          <a:xfrm>
            <a:off x="3805080" y="3405607"/>
            <a:ext cx="598241" cy="369332"/>
          </a:xfrm>
          <a:prstGeom prst="rect">
            <a:avLst/>
          </a:prstGeom>
          <a:noFill/>
          <a:ln w="28575">
            <a:noFill/>
            <a:miter lim="800000"/>
          </a:ln>
        </p:spPr>
        <p:txBody>
          <a:bodyPr wrap="none" anchor="ctr">
            <a:spAutoFit/>
          </a:bodyPr>
          <a:lstStyle/>
          <a:p>
            <a:pPr eaLnBrk="0" hangingPunct="0"/>
            <a:r>
              <a:rPr lang="en-US" sz="1800" dirty="0">
                <a:solidFill>
                  <a:srgbClr val="C00000"/>
                </a:solidFill>
                <a:latin typeface="Courier New" panose="02070309020205020404" charset="0"/>
                <a:cs typeface="Courier New" panose="02070309020205020404" charset="0"/>
              </a:rPr>
              <a:t>ret</a:t>
            </a:r>
          </a:p>
        </p:txBody>
      </p:sp>
      <p:grpSp>
        <p:nvGrpSpPr>
          <p:cNvPr id="74" name="Group 73"/>
          <p:cNvGrpSpPr/>
          <p:nvPr/>
        </p:nvGrpSpPr>
        <p:grpSpPr>
          <a:xfrm>
            <a:off x="4191000" y="5971698"/>
            <a:ext cx="838200" cy="369332"/>
            <a:chOff x="4191000" y="6061352"/>
            <a:chExt cx="838200" cy="369332"/>
          </a:xfrm>
        </p:grpSpPr>
        <p:sp>
          <p:nvSpPr>
            <p:cNvPr id="75" name="Text Box 16"/>
            <p:cNvSpPr txBox="1">
              <a:spLocks noChangeArrowheads="1"/>
            </p:cNvSpPr>
            <p:nvPr/>
          </p:nvSpPr>
          <p:spPr bwMode="auto">
            <a:xfrm>
              <a:off x="4191000" y="6061352"/>
              <a:ext cx="445956" cy="369332"/>
            </a:xfrm>
            <a:prstGeom prst="rect">
              <a:avLst/>
            </a:prstGeom>
            <a:noFill/>
            <a:ln w="28575">
              <a:noFill/>
              <a:miter lim="800000"/>
            </a:ln>
          </p:spPr>
          <p:txBody>
            <a:bodyPr wrap="none" anchor="ctr">
              <a:spAutoFit/>
            </a:bodyPr>
            <a:lstStyle/>
            <a:p>
              <a:pPr eaLnBrk="0" hangingPunct="0"/>
              <a:r>
                <a:rPr lang="en-US" sz="1800" dirty="0">
                  <a:latin typeface="Calibri" panose="020F0502020204030204" charset="0"/>
                </a:rPr>
                <a:t>rip</a:t>
              </a:r>
            </a:p>
          </p:txBody>
        </p:sp>
        <p:sp>
          <p:nvSpPr>
            <p:cNvPr id="76" name="Line 17"/>
            <p:cNvSpPr>
              <a:spLocks noChangeShapeType="1"/>
            </p:cNvSpPr>
            <p:nvPr/>
          </p:nvSpPr>
          <p:spPr bwMode="auto">
            <a:xfrm>
              <a:off x="4632325" y="6248400"/>
              <a:ext cx="396875" cy="0"/>
            </a:xfrm>
            <a:prstGeom prst="line">
              <a:avLst/>
            </a:prstGeom>
            <a:noFill/>
            <a:ln w="28575">
              <a:solidFill>
                <a:schemeClr val="tx1"/>
              </a:solidFill>
              <a:round/>
              <a:tailEnd type="triangle" w="med" len="med"/>
            </a:ln>
          </p:spPr>
          <p:txBody>
            <a:bodyPr anchor="ctr">
              <a:spAutoFit/>
            </a:bodyPr>
            <a:lstStyle/>
            <a:p>
              <a:endParaRPr lang="en-US"/>
            </a:p>
          </p:txBody>
        </p:sp>
      </p:grpSp>
      <p:grpSp>
        <p:nvGrpSpPr>
          <p:cNvPr id="53" name="Group 52"/>
          <p:cNvGrpSpPr/>
          <p:nvPr/>
        </p:nvGrpSpPr>
        <p:grpSpPr>
          <a:xfrm>
            <a:off x="6786684" y="1571360"/>
            <a:ext cx="838200" cy="369332"/>
            <a:chOff x="6786684" y="1940692"/>
            <a:chExt cx="838200" cy="369332"/>
          </a:xfrm>
        </p:grpSpPr>
        <p:sp>
          <p:nvSpPr>
            <p:cNvPr id="58" name="Text Box 16"/>
            <p:cNvSpPr txBox="1">
              <a:spLocks noChangeArrowheads="1"/>
            </p:cNvSpPr>
            <p:nvPr/>
          </p:nvSpPr>
          <p:spPr bwMode="auto">
            <a:xfrm>
              <a:off x="6786684" y="1940692"/>
              <a:ext cx="478401" cy="369332"/>
            </a:xfrm>
            <a:prstGeom prst="rect">
              <a:avLst/>
            </a:prstGeom>
            <a:noFill/>
            <a:ln w="28575">
              <a:noFill/>
              <a:miter lim="800000"/>
            </a:ln>
          </p:spPr>
          <p:txBody>
            <a:bodyPr wrap="none" anchor="ctr">
              <a:spAutoFit/>
            </a:bodyPr>
            <a:lstStyle/>
            <a:p>
              <a:pPr eaLnBrk="0" hangingPunct="0"/>
              <a:r>
                <a:rPr lang="en-US" sz="1800" dirty="0" err="1">
                  <a:solidFill>
                    <a:srgbClr val="0070C0"/>
                  </a:solidFill>
                  <a:latin typeface="Calibri" panose="020F0502020204030204" charset="0"/>
                </a:rPr>
                <a:t>rsp</a:t>
              </a:r>
              <a:endParaRPr lang="en-US" sz="1800" dirty="0">
                <a:solidFill>
                  <a:srgbClr val="0070C0"/>
                </a:solidFill>
                <a:latin typeface="Calibri" panose="020F0502020204030204" charset="0"/>
              </a:endParaRPr>
            </a:p>
          </p:txBody>
        </p:sp>
        <p:sp>
          <p:nvSpPr>
            <p:cNvPr id="66" name="Line 17"/>
            <p:cNvSpPr>
              <a:spLocks noChangeShapeType="1"/>
            </p:cNvSpPr>
            <p:nvPr/>
          </p:nvSpPr>
          <p:spPr bwMode="auto">
            <a:xfrm>
              <a:off x="7228009" y="2127740"/>
              <a:ext cx="396875" cy="0"/>
            </a:xfrm>
            <a:prstGeom prst="line">
              <a:avLst/>
            </a:prstGeom>
            <a:noFill/>
            <a:ln w="28575">
              <a:solidFill>
                <a:srgbClr val="0070C0"/>
              </a:solidFill>
              <a:round/>
              <a:tailEnd type="triangle" w="med" len="med"/>
            </a:ln>
          </p:spPr>
          <p:txBody>
            <a:bodyPr anchor="ctr">
              <a:spAutoFit/>
            </a:bodyPr>
            <a:lstStyle/>
            <a:p>
              <a:endParaRPr lang="en-US">
                <a:solidFill>
                  <a:srgbClr val="C00000"/>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3"/>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9"/>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0"/>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par>
                                <p:cTn id="31" presetID="1" presetClass="exit" presetSubtype="0" fill="hold" nodeType="withEffect">
                                  <p:stCondLst>
                                    <p:cond delay="0"/>
                                  </p:stCondLst>
                                  <p:childTnLst>
                                    <p:set>
                                      <p:cBhvr>
                                        <p:cTn id="32" dur="1" fill="hold">
                                          <p:stCondLst>
                                            <p:cond delay="0"/>
                                          </p:stCondLst>
                                        </p:cTn>
                                        <p:tgtEl>
                                          <p:spTgt spid="12"/>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nodeType="clickEffect">
                                  <p:stCondLst>
                                    <p:cond delay="0"/>
                                  </p:stCondLst>
                                  <p:childTnLst>
                                    <p:set>
                                      <p:cBhvr>
                                        <p:cTn id="42" dur="1" fill="hold">
                                          <p:stCondLst>
                                            <p:cond delay="0"/>
                                          </p:stCondLst>
                                        </p:cTn>
                                        <p:tgtEl>
                                          <p:spTgt spid="17"/>
                                        </p:tgtEl>
                                        <p:attrNameLst>
                                          <p:attrName>style.visibility</p:attrName>
                                        </p:attrNameLst>
                                      </p:cBhvr>
                                      <p:to>
                                        <p:strVal val="hidden"/>
                                      </p:to>
                                    </p:set>
                                  </p:childTnLst>
                                </p:cTn>
                              </p:par>
                              <p:par>
                                <p:cTn id="43" presetID="1" presetClass="entr" presetSubtype="0" fill="hold" nodeType="withEffect">
                                  <p:stCondLst>
                                    <p:cond delay="0"/>
                                  </p:stCondLst>
                                  <p:childTnLst>
                                    <p:set>
                                      <p:cBhvr>
                                        <p:cTn id="44" dur="1" fill="hold">
                                          <p:stCondLst>
                                            <p:cond delay="0"/>
                                          </p:stCondLst>
                                        </p:cTn>
                                        <p:tgtEl>
                                          <p:spTgt spid="74"/>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15"/>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53"/>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14"/>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xit" presetSubtype="0" fill="hold" grpId="1" nodeType="clickEffect">
                                  <p:stCondLst>
                                    <p:cond delay="0"/>
                                  </p:stCondLst>
                                  <p:childTnLst>
                                    <p:set>
                                      <p:cBhvr>
                                        <p:cTn id="54" dur="1" fill="hold">
                                          <p:stCondLst>
                                            <p:cond delay="0"/>
                                          </p:stCondLst>
                                        </p:cTn>
                                        <p:tgtEl>
                                          <p:spTgt spid="59"/>
                                        </p:tgtEl>
                                        <p:attrNameLst>
                                          <p:attrName>style.visibility</p:attrName>
                                        </p:attrNameLst>
                                      </p:cBhvr>
                                      <p:to>
                                        <p:strVal val="hidden"/>
                                      </p:to>
                                    </p:set>
                                  </p:childTnLst>
                                </p:cTn>
                              </p:par>
                              <p:par>
                                <p:cTn id="55" presetID="1" presetClass="exit" presetSubtype="0" fill="hold" grpId="1" nodeType="withEffect">
                                  <p:stCondLst>
                                    <p:cond delay="0"/>
                                  </p:stCondLst>
                                  <p:childTnLst>
                                    <p:set>
                                      <p:cBhvr>
                                        <p:cTn id="56" dur="1" fill="hold">
                                          <p:stCondLst>
                                            <p:cond delay="0"/>
                                          </p:stCondLst>
                                        </p:cTn>
                                        <p:tgtEl>
                                          <p:spTgt spid="6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bldLvl="0" animBg="1"/>
      <p:bldP spid="59" grpId="1" bldLvl="0" animBg="1"/>
      <p:bldP spid="65" grpId="0"/>
      <p:bldP spid="65" grpId="1"/>
    </p:bld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426402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solidFill>
                  <a:schemeClr val="tx1">
                    <a:lumMod val="65000"/>
                    <a:lumOff val="35000"/>
                  </a:schemeClr>
                </a:solidFill>
                <a:sym typeface="+mn-ea"/>
              </a:rPr>
              <a:t>带有攻击的字符串</a:t>
            </a:r>
          </a:p>
        </p:txBody>
      </p:sp>
      <p:sp>
        <p:nvSpPr>
          <p:cNvPr id="360479" name="Rectangle 31"/>
          <p:cNvSpPr>
            <a:spLocks noChangeArrowheads="1"/>
          </p:cNvSpPr>
          <p:nvPr/>
        </p:nvSpPr>
        <p:spPr bwMode="auto">
          <a:xfrm>
            <a:off x="533400" y="1360486"/>
            <a:ext cx="1797050" cy="3592513"/>
          </a:xfrm>
          <a:prstGeom prst="rect">
            <a:avLst/>
          </a:prstGeom>
          <a:solidFill>
            <a:schemeClr val="bg1">
              <a:lumMod val="95000"/>
            </a:schemeClr>
          </a:solidFill>
          <a:ln w="28575">
            <a:solidFill>
              <a:schemeClr val="tx1"/>
            </a:solidFill>
            <a:miter lim="800000"/>
          </a:ln>
          <a:effectLst/>
        </p:spPr>
        <p:txBody>
          <a:bodyPr wrap="none"/>
          <a:lstStyle/>
          <a:p>
            <a:pPr algn="ctr">
              <a:defRPr/>
            </a:pPr>
            <a:r>
              <a:rPr lang="zh-CN" altLang="en-US" sz="1600" b="0" dirty="0">
                <a:latin typeface="Calibri" panose="020F0502020204030204" charset="0"/>
                <a:cs typeface="+mn-cs"/>
              </a:rPr>
              <a:t>栈帧</a:t>
            </a:r>
          </a:p>
          <a:p>
            <a:pPr algn="ctr">
              <a:defRPr/>
            </a:pPr>
            <a:r>
              <a:rPr lang="zh-CN" altLang="en-US" sz="1600" dirty="0" err="1">
                <a:latin typeface="Courier New" panose="02070309020205020404" charset="0"/>
                <a:cs typeface="+mn-cs"/>
              </a:rPr>
              <a:t>调用</a:t>
            </a:r>
            <a:r>
              <a:rPr lang="en-US" sz="1600" dirty="0" err="1">
                <a:latin typeface="Courier New" panose="02070309020205020404" charset="0"/>
                <a:cs typeface="+mn-cs"/>
              </a:rPr>
              <a:t>echo</a:t>
            </a:r>
            <a:endParaRPr lang="en-US" sz="1600" dirty="0">
              <a:latin typeface="Courier New" panose="02070309020205020404" charset="0"/>
              <a:cs typeface="+mn-cs"/>
            </a:endParaRPr>
          </a:p>
        </p:txBody>
      </p:sp>
      <p:sp>
        <p:nvSpPr>
          <p:cNvPr id="360476" name="Rectangle 28"/>
          <p:cNvSpPr>
            <a:spLocks noChangeArrowheads="1"/>
          </p:cNvSpPr>
          <p:nvPr/>
        </p:nvSpPr>
        <p:spPr bwMode="auto">
          <a:xfrm>
            <a:off x="2330450" y="4648200"/>
            <a:ext cx="3079689" cy="646331"/>
          </a:xfrm>
          <a:prstGeom prst="rect">
            <a:avLst/>
          </a:prstGeom>
          <a:noFill/>
          <a:ln w="9525">
            <a:noFill/>
            <a:miter lim="800000"/>
          </a:ln>
        </p:spPr>
        <p:txBody>
          <a:bodyPr wrap="none">
            <a:spAutoFit/>
          </a:bodyPr>
          <a:lstStyle/>
          <a:p>
            <a:r>
              <a:rPr lang="en-US" sz="1800" dirty="0" err="1">
                <a:latin typeface="Courier New" panose="02070309020205020404" charset="0"/>
              </a:rPr>
              <a:t>buf</a:t>
            </a:r>
            <a:r>
              <a:rPr lang="en-US" sz="1800" dirty="0">
                <a:latin typeface="Courier New" panose="02070309020205020404" charset="0"/>
              </a:rPr>
              <a:t> = </a:t>
            </a:r>
            <a:r>
              <a:rPr lang="en-US" sz="1800" dirty="0">
                <a:solidFill>
                  <a:srgbClr val="C00000"/>
                </a:solidFill>
                <a:latin typeface="Courier New" panose="02070309020205020404" charset="0"/>
              </a:rPr>
              <a:t>00007FFFFFFAB80</a:t>
            </a:r>
          </a:p>
          <a:p>
            <a:endParaRPr lang="en-US" sz="1800" dirty="0">
              <a:latin typeface="Courier New" panose="02070309020205020404" charset="0"/>
            </a:endParaRPr>
          </a:p>
        </p:txBody>
      </p:sp>
      <p:sp>
        <p:nvSpPr>
          <p:cNvPr id="73" name="Rectangle 3"/>
          <p:cNvSpPr>
            <a:spLocks noChangeArrowheads="1"/>
          </p:cNvSpPr>
          <p:nvPr/>
        </p:nvSpPr>
        <p:spPr bwMode="auto">
          <a:xfrm>
            <a:off x="532564" y="5715000"/>
            <a:ext cx="7929605" cy="335989"/>
          </a:xfrm>
          <a:prstGeom prst="rect">
            <a:avLst/>
          </a:prstGeom>
          <a:solidFill>
            <a:schemeClr val="bg2">
              <a:lumMod val="40000"/>
              <a:lumOff val="60000"/>
            </a:schemeClr>
          </a:solidFill>
          <a:ln w="12700">
            <a:solidFill>
              <a:schemeClr val="bg2">
                <a:lumMod val="40000"/>
                <a:lumOff val="60000"/>
              </a:schemeClr>
            </a:solidFill>
            <a:miter lim="800000"/>
          </a:ln>
          <a:effectLst/>
        </p:spPr>
        <p:txBody>
          <a:bodyPr wrap="square" lIns="90487" tIns="44450" rIns="90487" bIns="44450">
            <a:spAutoFit/>
          </a:bodyPr>
          <a:lstStyle/>
          <a:p>
            <a:pPr eaLnBrk="0" hangingPunct="0">
              <a:tabLst>
                <a:tab pos="457200" algn="l"/>
                <a:tab pos="1485900" algn="l"/>
              </a:tabLst>
              <a:defRPr/>
            </a:pPr>
            <a:r>
              <a:rPr lang="en-US" sz="1600" dirty="0">
                <a:latin typeface="Courier New" panose="02070309020205020404" charset="0"/>
                <a:ea typeface="MS Mincho" panose="02020609040205080304" pitchFamily="49" charset="-128"/>
              </a:rPr>
              <a:t>“</a:t>
            </a:r>
            <a:r>
              <a:rPr lang="en-US" sz="1600" dirty="0">
                <a:solidFill>
                  <a:srgbClr val="7030A0"/>
                </a:solidFill>
                <a:latin typeface="Courier New" panose="02070309020205020404" charset="0"/>
                <a:ea typeface="MS Mincho" panose="02020609040205080304" pitchFamily="49" charset="-128"/>
              </a:rPr>
              <a:t>\xB8\0\0\0\0\C3</a:t>
            </a:r>
            <a:r>
              <a:rPr lang="en-US" sz="1600" dirty="0">
                <a:latin typeface="Courier New" panose="02070309020205020404" charset="0"/>
                <a:ea typeface="MS Mincho" panose="02020609040205080304" pitchFamily="49" charset="-128"/>
              </a:rPr>
              <a:t>678901234567890123</a:t>
            </a:r>
            <a:r>
              <a:rPr lang="en-US" sz="1600" dirty="0">
                <a:solidFill>
                  <a:srgbClr val="C00000"/>
                </a:solidFill>
                <a:latin typeface="Courier New" panose="02070309020205020404" charset="0"/>
                <a:ea typeface="MS Mincho" panose="02020609040205080304" pitchFamily="49" charset="-128"/>
              </a:rPr>
              <a:t>\x80\</a:t>
            </a:r>
            <a:r>
              <a:rPr lang="en-US" sz="1600" dirty="0" err="1">
                <a:solidFill>
                  <a:srgbClr val="C00000"/>
                </a:solidFill>
                <a:latin typeface="Courier New" panose="02070309020205020404" charset="0"/>
                <a:ea typeface="MS Mincho" panose="02020609040205080304" pitchFamily="49" charset="-128"/>
              </a:rPr>
              <a:t>xAB</a:t>
            </a:r>
            <a:r>
              <a:rPr lang="en-US" sz="1600" dirty="0">
                <a:solidFill>
                  <a:srgbClr val="C00000"/>
                </a:solidFill>
                <a:latin typeface="Courier New" panose="02070309020205020404" charset="0"/>
                <a:ea typeface="MS Mincho" panose="02020609040205080304" pitchFamily="49" charset="-128"/>
              </a:rPr>
              <a:t>\</a:t>
            </a:r>
            <a:r>
              <a:rPr lang="en-US" sz="1600" dirty="0" err="1">
                <a:solidFill>
                  <a:srgbClr val="C00000"/>
                </a:solidFill>
                <a:latin typeface="Courier New" panose="02070309020205020404" charset="0"/>
                <a:ea typeface="MS Mincho" panose="02020609040205080304" pitchFamily="49" charset="-128"/>
              </a:rPr>
              <a:t>xFF</a:t>
            </a:r>
            <a:r>
              <a:rPr lang="en-US" sz="1600" dirty="0">
                <a:solidFill>
                  <a:srgbClr val="C00000"/>
                </a:solidFill>
                <a:latin typeface="Courier New" panose="02070309020205020404" charset="0"/>
                <a:ea typeface="MS Mincho" panose="02020609040205080304" pitchFamily="49" charset="-128"/>
              </a:rPr>
              <a:t>\</a:t>
            </a:r>
            <a:r>
              <a:rPr lang="en-US" sz="1600" dirty="0" err="1">
                <a:solidFill>
                  <a:srgbClr val="C00000"/>
                </a:solidFill>
                <a:latin typeface="Courier New" panose="02070309020205020404" charset="0"/>
                <a:ea typeface="MS Mincho" panose="02020609040205080304" pitchFamily="49" charset="-128"/>
              </a:rPr>
              <a:t>xFF</a:t>
            </a:r>
            <a:r>
              <a:rPr lang="en-US" sz="1600" dirty="0">
                <a:solidFill>
                  <a:srgbClr val="C00000"/>
                </a:solidFill>
                <a:latin typeface="Courier New" panose="02070309020205020404" charset="0"/>
                <a:ea typeface="MS Mincho" panose="02020609040205080304" pitchFamily="49" charset="-128"/>
              </a:rPr>
              <a:t>\</a:t>
            </a:r>
            <a:r>
              <a:rPr lang="en-US" sz="1600" dirty="0" err="1">
                <a:solidFill>
                  <a:srgbClr val="C00000"/>
                </a:solidFill>
                <a:latin typeface="Courier New" panose="02070309020205020404" charset="0"/>
                <a:ea typeface="MS Mincho" panose="02020609040205080304" pitchFamily="49" charset="-128"/>
              </a:rPr>
              <a:t>xFF</a:t>
            </a:r>
            <a:r>
              <a:rPr lang="en-US" sz="1600" dirty="0">
                <a:solidFill>
                  <a:srgbClr val="C00000"/>
                </a:solidFill>
                <a:latin typeface="Courier New" panose="02070309020205020404" charset="0"/>
                <a:ea typeface="MS Mincho" panose="02020609040205080304" pitchFamily="49" charset="-128"/>
              </a:rPr>
              <a:t>\x07\0\0</a:t>
            </a:r>
            <a:r>
              <a:rPr lang="en-US" sz="1600" dirty="0">
                <a:latin typeface="Courier New" panose="02070309020205020404" charset="0"/>
                <a:ea typeface="MS Mincho" panose="02020609040205080304" pitchFamily="49" charset="-128"/>
              </a:rPr>
              <a:t>”</a:t>
            </a:r>
            <a:endParaRPr lang="en-US" sz="1600" dirty="0">
              <a:latin typeface="Courier New" panose="02070309020205020404" charset="0"/>
              <a:ea typeface="MS Mincho" panose="02020609040205080304" pitchFamily="49" charset="-128"/>
              <a:cs typeface="+mn-cs"/>
            </a:endParaRPr>
          </a:p>
        </p:txBody>
      </p:sp>
      <p:sp>
        <p:nvSpPr>
          <p:cNvPr id="6" name="Rectangle 22"/>
          <p:cNvSpPr>
            <a:spLocks noChangeArrowheads="1"/>
          </p:cNvSpPr>
          <p:nvPr/>
        </p:nvSpPr>
        <p:spPr bwMode="auto">
          <a:xfrm>
            <a:off x="533400" y="1887758"/>
            <a:ext cx="1797050" cy="608299"/>
          </a:xfrm>
          <a:prstGeom prst="rect">
            <a:avLst/>
          </a:prstGeom>
          <a:solidFill>
            <a:srgbClr val="FFFFCC"/>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grpSp>
        <p:nvGrpSpPr>
          <p:cNvPr id="7" name="Group 75"/>
          <p:cNvGrpSpPr/>
          <p:nvPr/>
        </p:nvGrpSpPr>
        <p:grpSpPr>
          <a:xfrm>
            <a:off x="538208" y="1887584"/>
            <a:ext cx="1797050" cy="304800"/>
            <a:chOff x="2377022" y="2811289"/>
            <a:chExt cx="1797050" cy="304800"/>
          </a:xfrm>
          <a:solidFill>
            <a:srgbClr val="FFFFCC"/>
          </a:solidFill>
        </p:grpSpPr>
        <p:sp>
          <p:nvSpPr>
            <p:cNvPr id="77"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sp>
          <p:nvSpPr>
            <p:cNvPr id="78"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sp>
          <p:nvSpPr>
            <p:cNvPr id="79"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sp>
          <p:nvSpPr>
            <p:cNvPr id="80"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grpSp>
      <p:grpSp>
        <p:nvGrpSpPr>
          <p:cNvPr id="81" name="Group 80"/>
          <p:cNvGrpSpPr/>
          <p:nvPr/>
        </p:nvGrpSpPr>
        <p:grpSpPr>
          <a:xfrm>
            <a:off x="533400" y="2203672"/>
            <a:ext cx="1797050" cy="304800"/>
            <a:chOff x="2377022" y="2811289"/>
            <a:chExt cx="1797050" cy="304800"/>
          </a:xfrm>
          <a:solidFill>
            <a:srgbClr val="FFFFCC"/>
          </a:solidFill>
        </p:grpSpPr>
        <p:sp>
          <p:nvSpPr>
            <p:cNvPr id="82"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00</a:t>
              </a:r>
            </a:p>
          </p:txBody>
        </p:sp>
        <p:sp>
          <p:nvSpPr>
            <p:cNvPr id="83"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48</a:t>
              </a:r>
            </a:p>
          </p:txBody>
        </p:sp>
        <p:sp>
          <p:nvSpPr>
            <p:cNvPr id="84"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83</a:t>
              </a:r>
            </a:p>
          </p:txBody>
        </p:sp>
        <p:sp>
          <p:nvSpPr>
            <p:cNvPr id="85"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00B050"/>
                  </a:solidFill>
                  <a:latin typeface="Courier New" panose="02070309020205020404" charset="0"/>
                  <a:cs typeface="+mn-cs"/>
                </a:rPr>
                <a:t>80</a:t>
              </a:r>
            </a:p>
          </p:txBody>
        </p:sp>
      </p:grpSp>
      <p:sp>
        <p:nvSpPr>
          <p:cNvPr id="86" name="Line 29"/>
          <p:cNvSpPr>
            <a:spLocks noChangeShapeType="1"/>
          </p:cNvSpPr>
          <p:nvPr/>
        </p:nvSpPr>
        <p:spPr bwMode="auto">
          <a:xfrm flipH="1">
            <a:off x="2362200" y="3031907"/>
            <a:ext cx="450850" cy="0"/>
          </a:xfrm>
          <a:prstGeom prst="line">
            <a:avLst/>
          </a:prstGeom>
          <a:noFill/>
          <a:ln w="28575">
            <a:solidFill>
              <a:srgbClr val="C00000"/>
            </a:solidFill>
            <a:round/>
            <a:tailEnd type="triangle" w="med" len="med"/>
          </a:ln>
        </p:spPr>
        <p:txBody>
          <a:bodyPr/>
          <a:lstStyle/>
          <a:p>
            <a:endParaRPr lang="en-US"/>
          </a:p>
        </p:txBody>
      </p:sp>
      <p:sp>
        <p:nvSpPr>
          <p:cNvPr id="87" name="Rectangle 30"/>
          <p:cNvSpPr>
            <a:spLocks noChangeArrowheads="1"/>
          </p:cNvSpPr>
          <p:nvPr/>
        </p:nvSpPr>
        <p:spPr bwMode="auto">
          <a:xfrm>
            <a:off x="2762250" y="2858869"/>
            <a:ext cx="819150" cy="369332"/>
          </a:xfrm>
          <a:prstGeom prst="rect">
            <a:avLst/>
          </a:prstGeom>
          <a:noFill/>
          <a:ln w="9525">
            <a:noFill/>
            <a:miter lim="800000"/>
          </a:ln>
        </p:spPr>
        <p:txBody>
          <a:bodyPr wrap="square">
            <a:spAutoFit/>
          </a:bodyPr>
          <a:lstStyle/>
          <a:p>
            <a:r>
              <a:rPr lang="en-US" sz="1800" dirty="0">
                <a:solidFill>
                  <a:srgbClr val="C00000"/>
                </a:solidFill>
                <a:latin typeface="Courier New" panose="02070309020205020404" charset="0"/>
              </a:rPr>
              <a:t>%</a:t>
            </a:r>
            <a:r>
              <a:rPr lang="en-US" sz="1800" dirty="0" err="1">
                <a:solidFill>
                  <a:srgbClr val="C00000"/>
                </a:solidFill>
                <a:latin typeface="Courier New" panose="02070309020205020404" charset="0"/>
              </a:rPr>
              <a:t>rsp</a:t>
            </a:r>
            <a:endParaRPr lang="en-US" sz="1800" dirty="0">
              <a:solidFill>
                <a:srgbClr val="C00000"/>
              </a:solidFill>
              <a:latin typeface="Courier New" panose="02070309020205020404" charset="0"/>
            </a:endParaRPr>
          </a:p>
        </p:txBody>
      </p:sp>
      <p:sp>
        <p:nvSpPr>
          <p:cNvPr id="89" name="Rectangle 5"/>
          <p:cNvSpPr>
            <a:spLocks noChangeArrowheads="1"/>
          </p:cNvSpPr>
          <p:nvPr/>
        </p:nvSpPr>
        <p:spPr bwMode="auto">
          <a:xfrm>
            <a:off x="3485806" y="1565875"/>
            <a:ext cx="4805085" cy="643766"/>
          </a:xfrm>
          <a:prstGeom prst="rect">
            <a:avLst/>
          </a:prstGeom>
          <a:solidFill>
            <a:srgbClr val="F1C7C7"/>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solidFill>
                  <a:srgbClr val="7030A0"/>
                </a:solidFill>
                <a:latin typeface="Courier New" panose="02070309020205020404" charset="0"/>
                <a:ea typeface="MS Mincho" panose="02020609040205080304" pitchFamily="49" charset="-128"/>
              </a:rPr>
              <a:t>B8 00 00 00 00   </a:t>
            </a:r>
            <a:r>
              <a:rPr lang="en-US" sz="1800" dirty="0" err="1">
                <a:latin typeface="Courier New" panose="02070309020205020404" charset="0"/>
                <a:ea typeface="MS Mincho" panose="02020609040205080304" pitchFamily="49" charset="-128"/>
              </a:rPr>
              <a:t>mov</a:t>
            </a:r>
            <a:r>
              <a:rPr lang="en-US" sz="1800" dirty="0">
                <a:latin typeface="Courier New" panose="02070309020205020404" charset="0"/>
                <a:ea typeface="MS Mincho" panose="02020609040205080304" pitchFamily="49" charset="-128"/>
              </a:rPr>
              <a:t>    $0x0,%eax</a:t>
            </a:r>
          </a:p>
          <a:p>
            <a:pPr eaLnBrk="0" hangingPunct="0">
              <a:tabLst>
                <a:tab pos="457200" algn="l"/>
                <a:tab pos="1485900" algn="l"/>
              </a:tabLst>
            </a:pPr>
            <a:r>
              <a:rPr lang="en-US" sz="1800" dirty="0">
                <a:solidFill>
                  <a:srgbClr val="7030A0"/>
                </a:solidFill>
                <a:latin typeface="Courier New" panose="02070309020205020404" charset="0"/>
                <a:ea typeface="MS Mincho" panose="02020609040205080304" pitchFamily="49" charset="-128"/>
              </a:rPr>
              <a:t>C3</a:t>
            </a:r>
            <a:r>
              <a:rPr lang="en-US" sz="1800" dirty="0">
                <a:latin typeface="Courier New" panose="02070309020205020404" charset="0"/>
                <a:ea typeface="MS Mincho" panose="02020609040205080304" pitchFamily="49" charset="-128"/>
              </a:rPr>
              <a:t>               </a:t>
            </a:r>
            <a:r>
              <a:rPr lang="en-US" sz="1800" dirty="0" err="1">
                <a:latin typeface="Courier New" panose="02070309020205020404" charset="0"/>
                <a:ea typeface="MS Mincho" panose="02020609040205080304" pitchFamily="49" charset="-128"/>
              </a:rPr>
              <a:t>retq</a:t>
            </a:r>
            <a:r>
              <a:rPr lang="en-US" sz="1800" dirty="0">
                <a:latin typeface="Courier New" panose="02070309020205020404" charset="0"/>
                <a:ea typeface="MS Mincho" panose="02020609040205080304" pitchFamily="49" charset="-128"/>
              </a:rPr>
              <a:t> </a:t>
            </a:r>
          </a:p>
        </p:txBody>
      </p:sp>
      <p:sp>
        <p:nvSpPr>
          <p:cNvPr id="90" name="TextBox 89"/>
          <p:cNvSpPr txBox="1">
            <a:spLocks noChangeArrowheads="1"/>
          </p:cNvSpPr>
          <p:nvPr/>
        </p:nvSpPr>
        <p:spPr bwMode="auto">
          <a:xfrm>
            <a:off x="3487405" y="1175266"/>
            <a:ext cx="1479444" cy="369332"/>
          </a:xfrm>
          <a:prstGeom prst="rect">
            <a:avLst/>
          </a:prstGeom>
          <a:noFill/>
          <a:ln w="9525">
            <a:noFill/>
            <a:miter lim="800000"/>
          </a:ln>
        </p:spPr>
        <p:txBody>
          <a:bodyPr wrap="none">
            <a:spAutoFit/>
          </a:bodyPr>
          <a:lstStyle/>
          <a:p>
            <a:pPr eaLnBrk="0" hangingPunct="0"/>
            <a:r>
              <a:rPr lang="en-US" sz="1800" i="1" dirty="0">
                <a:solidFill>
                  <a:srgbClr val="C00000"/>
                </a:solidFill>
                <a:latin typeface="Calibri" panose="020F0502020204030204" charset="0"/>
              </a:rPr>
              <a:t>Injected Code</a:t>
            </a:r>
          </a:p>
        </p:txBody>
      </p:sp>
      <p:sp>
        <p:nvSpPr>
          <p:cNvPr id="91" name="Rectangle 4"/>
          <p:cNvSpPr>
            <a:spLocks noChangeArrowheads="1"/>
          </p:cNvSpPr>
          <p:nvPr/>
        </p:nvSpPr>
        <p:spPr bwMode="auto">
          <a:xfrm>
            <a:off x="3505200" y="2895600"/>
            <a:ext cx="2438400" cy="174942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800" dirty="0" err="1">
                <a:latin typeface="Courier New" panose="02070309020205020404" charset="0"/>
              </a:rPr>
              <a:t>int</a:t>
            </a:r>
            <a:r>
              <a:rPr lang="en-US" sz="1800" dirty="0">
                <a:latin typeface="Courier New" panose="02070309020205020404" charset="0"/>
              </a:rPr>
              <a:t> echo() {</a:t>
            </a:r>
          </a:p>
          <a:p>
            <a:pPr eaLnBrk="0" hangingPunct="0">
              <a:tabLst>
                <a:tab pos="457200" algn="l"/>
                <a:tab pos="1485900" algn="l"/>
              </a:tabLst>
            </a:pPr>
            <a:r>
              <a:rPr lang="en-US" sz="1800" dirty="0">
                <a:latin typeface="Courier New" panose="02070309020205020404" charset="0"/>
              </a:rPr>
              <a:t>  char </a:t>
            </a:r>
            <a:r>
              <a:rPr lang="en-US" sz="1800" dirty="0" err="1">
                <a:latin typeface="Courier New" panose="02070309020205020404" charset="0"/>
              </a:rPr>
              <a:t>buf</a:t>
            </a:r>
            <a:r>
              <a:rPr lang="en-US" sz="1800" dirty="0">
                <a:latin typeface="Courier New" panose="02070309020205020404" charset="0"/>
              </a:rPr>
              <a:t>[4]; </a:t>
            </a:r>
          </a:p>
          <a:p>
            <a:pPr eaLnBrk="0" hangingPunct="0">
              <a:tabLst>
                <a:tab pos="457200" algn="l"/>
                <a:tab pos="1485900" algn="l"/>
              </a:tabLst>
            </a:pPr>
            <a:r>
              <a:rPr lang="en-US" sz="1800" dirty="0">
                <a:latin typeface="Courier New" panose="02070309020205020404" charset="0"/>
              </a:rPr>
              <a:t>  </a:t>
            </a:r>
            <a:r>
              <a:rPr lang="en-US" sz="1800" dirty="0">
                <a:solidFill>
                  <a:srgbClr val="0070C0"/>
                </a:solidFill>
                <a:latin typeface="Courier New" panose="02070309020205020404" charset="0"/>
              </a:rPr>
              <a:t>gets(</a:t>
            </a:r>
            <a:r>
              <a:rPr lang="en-US" sz="1800" dirty="0" err="1">
                <a:solidFill>
                  <a:srgbClr val="0070C0"/>
                </a:solidFill>
                <a:latin typeface="Courier New" panose="02070309020205020404" charset="0"/>
              </a:rPr>
              <a:t>buf</a:t>
            </a:r>
            <a:r>
              <a:rPr lang="en-US" sz="1800" dirty="0">
                <a:solidFill>
                  <a:srgbClr val="0070C0"/>
                </a:solidFill>
                <a:latin typeface="Courier New" panose="02070309020205020404" charset="0"/>
              </a:rPr>
              <a:t>); </a:t>
            </a:r>
          </a:p>
          <a:p>
            <a:pPr eaLnBrk="0" hangingPunct="0">
              <a:tabLst>
                <a:tab pos="457200" algn="l"/>
                <a:tab pos="1485900" algn="l"/>
              </a:tabLst>
            </a:pPr>
            <a:r>
              <a:rPr lang="en-US" sz="1800" dirty="0">
                <a:latin typeface="Courier New" panose="02070309020205020404" charset="0"/>
              </a:rPr>
              <a:t>  ...</a:t>
            </a:r>
          </a:p>
          <a:p>
            <a:pPr eaLnBrk="0" hangingPunct="0">
              <a:tabLst>
                <a:tab pos="457200" algn="l"/>
                <a:tab pos="1485900" algn="l"/>
              </a:tabLst>
            </a:pPr>
            <a:r>
              <a:rPr lang="en-US" sz="1800" dirty="0">
                <a:latin typeface="Courier New" panose="02070309020205020404" charset="0"/>
              </a:rPr>
              <a:t>  </a:t>
            </a:r>
            <a:r>
              <a:rPr lang="en-US" sz="1800" dirty="0">
                <a:solidFill>
                  <a:srgbClr val="C00000"/>
                </a:solidFill>
                <a:latin typeface="Courier New" panose="02070309020205020404" charset="0"/>
              </a:rPr>
              <a:t>return ...;</a:t>
            </a:r>
            <a:r>
              <a:rPr lang="en-US" sz="1800" dirty="0">
                <a:latin typeface="Courier New" panose="02070309020205020404" charset="0"/>
              </a:rPr>
              <a:t> </a:t>
            </a:r>
          </a:p>
          <a:p>
            <a:pPr eaLnBrk="0" hangingPunct="0">
              <a:tabLst>
                <a:tab pos="457200" algn="l"/>
                <a:tab pos="1485900" algn="l"/>
              </a:tabLst>
            </a:pPr>
            <a:r>
              <a:rPr lang="en-US" sz="1800" dirty="0">
                <a:latin typeface="Courier New" panose="02070309020205020404" charset="0"/>
              </a:rPr>
              <a:t>}</a:t>
            </a:r>
          </a:p>
        </p:txBody>
      </p:sp>
      <p:sp>
        <p:nvSpPr>
          <p:cNvPr id="92" name="TextBox 91"/>
          <p:cNvSpPr txBox="1">
            <a:spLocks noChangeArrowheads="1"/>
          </p:cNvSpPr>
          <p:nvPr/>
        </p:nvSpPr>
        <p:spPr bwMode="auto">
          <a:xfrm>
            <a:off x="533400" y="5345668"/>
            <a:ext cx="1325880" cy="368300"/>
          </a:xfrm>
          <a:prstGeom prst="rect">
            <a:avLst/>
          </a:prstGeom>
          <a:noFill/>
          <a:ln w="9525">
            <a:noFill/>
            <a:miter lim="800000"/>
          </a:ln>
        </p:spPr>
        <p:txBody>
          <a:bodyPr wrap="none">
            <a:spAutoFit/>
          </a:bodyPr>
          <a:lstStyle/>
          <a:p>
            <a:pPr eaLnBrk="0" hangingPunct="0"/>
            <a:r>
              <a:rPr lang="zh-CN" altLang="en-US" sz="1800" i="1" dirty="0">
                <a:solidFill>
                  <a:srgbClr val="C00000"/>
                </a:solidFill>
                <a:latin typeface="Calibri" panose="020F0502020204030204" charset="0"/>
              </a:rPr>
              <a:t>攻击字符串</a:t>
            </a:r>
          </a:p>
        </p:txBody>
      </p:sp>
      <p:grpSp>
        <p:nvGrpSpPr>
          <p:cNvPr id="8" name="Group 2"/>
          <p:cNvGrpSpPr/>
          <p:nvPr/>
        </p:nvGrpSpPr>
        <p:grpSpPr>
          <a:xfrm>
            <a:off x="190499" y="2503486"/>
            <a:ext cx="2139951" cy="2449514"/>
            <a:chOff x="190499" y="2503486"/>
            <a:chExt cx="2139951" cy="2449514"/>
          </a:xfrm>
        </p:grpSpPr>
        <p:sp>
          <p:nvSpPr>
            <p:cNvPr id="360470" name="Rectangle 22"/>
            <p:cNvSpPr>
              <a:spLocks noChangeArrowheads="1"/>
            </p:cNvSpPr>
            <p:nvPr/>
          </p:nvSpPr>
          <p:spPr bwMode="auto">
            <a:xfrm>
              <a:off x="533400" y="2503486"/>
              <a:ext cx="1797050" cy="608299"/>
            </a:xfrm>
            <a:prstGeom prst="rect">
              <a:avLst/>
            </a:prstGeom>
            <a:solidFill>
              <a:schemeClr val="bg1">
                <a:lumMod val="95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Return Address</a:t>
              </a:r>
            </a:p>
            <a:p>
              <a:pPr algn="ctr">
                <a:defRPr/>
              </a:pPr>
              <a:r>
                <a:rPr lang="en-US" sz="1800" b="0" dirty="0">
                  <a:latin typeface="Calibri" panose="020F0502020204030204" charset="0"/>
                  <a:cs typeface="+mn-cs"/>
                </a:rPr>
                <a:t>(8 bytes)</a:t>
              </a:r>
            </a:p>
          </p:txBody>
        </p:sp>
        <p:grpSp>
          <p:nvGrpSpPr>
            <p:cNvPr id="16" name="Group 1"/>
            <p:cNvGrpSpPr/>
            <p:nvPr/>
          </p:nvGrpSpPr>
          <p:grpSpPr>
            <a:xfrm>
              <a:off x="533400" y="4648200"/>
              <a:ext cx="1797050" cy="304800"/>
              <a:chOff x="533400" y="4648200"/>
              <a:chExt cx="1797050" cy="304800"/>
            </a:xfrm>
          </p:grpSpPr>
          <p:sp>
            <p:nvSpPr>
              <p:cNvPr id="360472" name="Rectangle 24"/>
              <p:cNvSpPr>
                <a:spLocks noChangeArrowheads="1"/>
              </p:cNvSpPr>
              <p:nvPr/>
            </p:nvSpPr>
            <p:spPr bwMode="auto">
              <a:xfrm>
                <a:off x="533400"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solidFill>
                      <a:srgbClr val="7030A0"/>
                    </a:solidFill>
                    <a:latin typeface="Courier New" panose="02070309020205020404" charset="0"/>
                    <a:cs typeface="+mn-cs"/>
                  </a:rPr>
                  <a:t>00</a:t>
                </a:r>
              </a:p>
            </p:txBody>
          </p:sp>
          <p:sp>
            <p:nvSpPr>
              <p:cNvPr id="360473" name="Rectangle 25"/>
              <p:cNvSpPr>
                <a:spLocks noChangeArrowheads="1"/>
              </p:cNvSpPr>
              <p:nvPr/>
            </p:nvSpPr>
            <p:spPr bwMode="auto">
              <a:xfrm>
                <a:off x="982663"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solidFill>
                      <a:srgbClr val="7030A0"/>
                    </a:solidFill>
                    <a:latin typeface="Courier New" panose="02070309020205020404" charset="0"/>
                    <a:cs typeface="+mn-cs"/>
                  </a:rPr>
                  <a:t>00</a:t>
                </a:r>
              </a:p>
            </p:txBody>
          </p:sp>
          <p:sp>
            <p:nvSpPr>
              <p:cNvPr id="360474" name="Rectangle 26"/>
              <p:cNvSpPr>
                <a:spLocks noChangeArrowheads="1"/>
              </p:cNvSpPr>
              <p:nvPr/>
            </p:nvSpPr>
            <p:spPr bwMode="auto">
              <a:xfrm>
                <a:off x="1431925" y="46482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solidFill>
                      <a:srgbClr val="7030A0"/>
                    </a:solidFill>
                    <a:latin typeface="Courier New" panose="02070309020205020404" charset="0"/>
                    <a:cs typeface="+mn-cs"/>
                  </a:rPr>
                  <a:t>00</a:t>
                </a:r>
              </a:p>
            </p:txBody>
          </p:sp>
          <p:sp>
            <p:nvSpPr>
              <p:cNvPr id="360475" name="Rectangle 27"/>
              <p:cNvSpPr>
                <a:spLocks noChangeArrowheads="1"/>
              </p:cNvSpPr>
              <p:nvPr/>
            </p:nvSpPr>
            <p:spPr bwMode="auto">
              <a:xfrm>
                <a:off x="1881188" y="46482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solidFill>
                      <a:srgbClr val="7030A0"/>
                    </a:solidFill>
                    <a:latin typeface="Courier New" panose="02070309020205020404" charset="0"/>
                    <a:cs typeface="+mn-cs"/>
                  </a:rPr>
                  <a:t>B8</a:t>
                </a:r>
              </a:p>
            </p:txBody>
          </p:sp>
        </p:grpSp>
        <p:sp>
          <p:nvSpPr>
            <p:cNvPr id="20" name="Rectangle 23"/>
            <p:cNvSpPr>
              <a:spLocks noChangeArrowheads="1"/>
            </p:cNvSpPr>
            <p:nvPr/>
          </p:nvSpPr>
          <p:spPr bwMode="auto">
            <a:xfrm>
              <a:off x="533400" y="3113087"/>
              <a:ext cx="1797050" cy="1531207"/>
            </a:xfrm>
            <a:prstGeom prst="rect">
              <a:avLst/>
            </a:prstGeom>
            <a:solidFill>
              <a:schemeClr val="accent2">
                <a:lumMod val="20000"/>
                <a:lumOff val="80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rPr>
                <a:t>20 bytes unused</a:t>
              </a:r>
              <a:endParaRPr lang="en-US" sz="1800" dirty="0">
                <a:latin typeface="Courier New" panose="02070309020205020404" charset="0"/>
              </a:endParaRPr>
            </a:p>
          </p:txBody>
        </p:sp>
        <p:grpSp>
          <p:nvGrpSpPr>
            <p:cNvPr id="32" name="Group 31"/>
            <p:cNvGrpSpPr/>
            <p:nvPr/>
          </p:nvGrpSpPr>
          <p:grpSpPr>
            <a:xfrm>
              <a:off x="532564" y="2509716"/>
              <a:ext cx="1797050" cy="304800"/>
              <a:chOff x="2377022" y="2811289"/>
              <a:chExt cx="1797050" cy="304800"/>
            </a:xfrm>
            <a:solidFill>
              <a:srgbClr val="CDF1C5"/>
            </a:solidFill>
          </p:grpSpPr>
          <p:sp>
            <p:nvSpPr>
              <p:cNvPr id="33"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34"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21"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07</a:t>
                </a:r>
              </a:p>
            </p:txBody>
          </p:sp>
          <p:sp>
            <p:nvSpPr>
              <p:cNvPr id="23"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FF</a:t>
                </a:r>
              </a:p>
            </p:txBody>
          </p:sp>
        </p:grpSp>
        <p:grpSp>
          <p:nvGrpSpPr>
            <p:cNvPr id="27" name="Group 42"/>
            <p:cNvGrpSpPr/>
            <p:nvPr/>
          </p:nvGrpSpPr>
          <p:grpSpPr>
            <a:xfrm>
              <a:off x="533400" y="4336978"/>
              <a:ext cx="1797050" cy="304800"/>
              <a:chOff x="533400" y="4648200"/>
              <a:chExt cx="1797050" cy="304800"/>
            </a:xfrm>
            <a:solidFill>
              <a:schemeClr val="bg2">
                <a:lumMod val="40000"/>
                <a:lumOff val="60000"/>
              </a:schemeClr>
            </a:solidFill>
          </p:grpSpPr>
          <p:sp>
            <p:nvSpPr>
              <p:cNvPr id="44"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45"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sp>
            <p:nvSpPr>
              <p:cNvPr id="46"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7030A0"/>
                    </a:solidFill>
                    <a:latin typeface="Courier New" panose="02070309020205020404" charset="0"/>
                    <a:cs typeface="+mn-cs"/>
                  </a:rPr>
                  <a:t>C3</a:t>
                </a:r>
              </a:p>
            </p:txBody>
          </p:sp>
          <p:sp>
            <p:nvSpPr>
              <p:cNvPr id="47"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7030A0"/>
                    </a:solidFill>
                    <a:latin typeface="Courier New" panose="02070309020205020404" charset="0"/>
                    <a:cs typeface="+mn-cs"/>
                  </a:rPr>
                  <a:t>00</a:t>
                </a:r>
              </a:p>
            </p:txBody>
          </p:sp>
        </p:grpSp>
        <p:grpSp>
          <p:nvGrpSpPr>
            <p:cNvPr id="28" name="Group 47"/>
            <p:cNvGrpSpPr/>
            <p:nvPr/>
          </p:nvGrpSpPr>
          <p:grpSpPr>
            <a:xfrm>
              <a:off x="533400" y="4025756"/>
              <a:ext cx="1797050" cy="304800"/>
              <a:chOff x="533400" y="4648200"/>
              <a:chExt cx="1797050" cy="304800"/>
            </a:xfrm>
            <a:solidFill>
              <a:schemeClr val="bg2">
                <a:lumMod val="40000"/>
                <a:lumOff val="60000"/>
              </a:schemeClr>
            </a:solidFill>
          </p:grpSpPr>
          <p:sp>
            <p:nvSpPr>
              <p:cNvPr id="29"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30"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sp>
            <p:nvSpPr>
              <p:cNvPr id="40"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41"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grpSp>
        <p:grpSp>
          <p:nvGrpSpPr>
            <p:cNvPr id="42" name="Group 52"/>
            <p:cNvGrpSpPr/>
            <p:nvPr/>
          </p:nvGrpSpPr>
          <p:grpSpPr>
            <a:xfrm>
              <a:off x="533400" y="3714534"/>
              <a:ext cx="1797050" cy="304800"/>
              <a:chOff x="533400" y="4648200"/>
              <a:chExt cx="1797050" cy="304800"/>
            </a:xfrm>
            <a:solidFill>
              <a:schemeClr val="bg2">
                <a:lumMod val="40000"/>
                <a:lumOff val="60000"/>
              </a:schemeClr>
            </a:solidFill>
          </p:grpSpPr>
          <p:sp>
            <p:nvSpPr>
              <p:cNvPr id="67"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35</a:t>
                </a:r>
              </a:p>
            </p:txBody>
          </p:sp>
          <p:sp>
            <p:nvSpPr>
              <p:cNvPr id="68"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34</a:t>
                </a:r>
              </a:p>
            </p:txBody>
          </p:sp>
          <p:sp>
            <p:nvSpPr>
              <p:cNvPr id="69"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70"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grpSp>
        <p:grpSp>
          <p:nvGrpSpPr>
            <p:cNvPr id="71" name="Group 57"/>
            <p:cNvGrpSpPr/>
            <p:nvPr/>
          </p:nvGrpSpPr>
          <p:grpSpPr>
            <a:xfrm>
              <a:off x="533400" y="3403312"/>
              <a:ext cx="1797050" cy="304800"/>
              <a:chOff x="533400" y="4648200"/>
              <a:chExt cx="1797050" cy="304800"/>
            </a:xfrm>
            <a:solidFill>
              <a:schemeClr val="bg2">
                <a:lumMod val="40000"/>
                <a:lumOff val="60000"/>
              </a:schemeClr>
            </a:solidFill>
          </p:grpSpPr>
          <p:sp>
            <p:nvSpPr>
              <p:cNvPr id="72"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39</a:t>
                </a:r>
              </a:p>
            </p:txBody>
          </p:sp>
          <p:sp>
            <p:nvSpPr>
              <p:cNvPr id="88"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38</a:t>
                </a:r>
              </a:p>
            </p:txBody>
          </p:sp>
          <p:sp>
            <p:nvSpPr>
              <p:cNvPr id="93"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37</a:t>
                </a:r>
              </a:p>
            </p:txBody>
          </p:sp>
          <p:sp>
            <p:nvSpPr>
              <p:cNvPr id="94"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36</a:t>
                </a:r>
              </a:p>
            </p:txBody>
          </p:sp>
        </p:grpSp>
        <p:grpSp>
          <p:nvGrpSpPr>
            <p:cNvPr id="95" name="Group 62"/>
            <p:cNvGrpSpPr/>
            <p:nvPr/>
          </p:nvGrpSpPr>
          <p:grpSpPr>
            <a:xfrm>
              <a:off x="533400" y="3092090"/>
              <a:ext cx="1797050" cy="304800"/>
              <a:chOff x="533400" y="4648200"/>
              <a:chExt cx="1797050" cy="304800"/>
            </a:xfrm>
            <a:solidFill>
              <a:schemeClr val="bg2">
                <a:lumMod val="40000"/>
                <a:lumOff val="60000"/>
              </a:schemeClr>
            </a:solidFill>
          </p:grpSpPr>
          <p:sp>
            <p:nvSpPr>
              <p:cNvPr id="96" name="Rectangle 24"/>
              <p:cNvSpPr>
                <a:spLocks noChangeArrowheads="1"/>
              </p:cNvSpPr>
              <p:nvPr/>
            </p:nvSpPr>
            <p:spPr bwMode="auto">
              <a:xfrm>
                <a:off x="533400"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33</a:t>
                </a:r>
              </a:p>
            </p:txBody>
          </p:sp>
          <p:sp>
            <p:nvSpPr>
              <p:cNvPr id="97" name="Rectangle 25"/>
              <p:cNvSpPr>
                <a:spLocks noChangeArrowheads="1"/>
              </p:cNvSpPr>
              <p:nvPr/>
            </p:nvSpPr>
            <p:spPr bwMode="auto">
              <a:xfrm>
                <a:off x="982663"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32</a:t>
                </a:r>
              </a:p>
            </p:txBody>
          </p:sp>
          <p:sp>
            <p:nvSpPr>
              <p:cNvPr id="98" name="Rectangle 26"/>
              <p:cNvSpPr>
                <a:spLocks noChangeArrowheads="1"/>
              </p:cNvSpPr>
              <p:nvPr/>
            </p:nvSpPr>
            <p:spPr bwMode="auto">
              <a:xfrm>
                <a:off x="1431925" y="4648200"/>
                <a:ext cx="449263"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31</a:t>
                </a:r>
              </a:p>
            </p:txBody>
          </p:sp>
          <p:sp>
            <p:nvSpPr>
              <p:cNvPr id="99" name="Rectangle 27"/>
              <p:cNvSpPr>
                <a:spLocks noChangeArrowheads="1"/>
              </p:cNvSpPr>
              <p:nvPr/>
            </p:nvSpPr>
            <p:spPr bwMode="auto">
              <a:xfrm>
                <a:off x="1881188" y="4648200"/>
                <a:ext cx="449262" cy="304800"/>
              </a:xfrm>
              <a:prstGeom prst="rect">
                <a:avLst/>
              </a:prstGeom>
              <a:grp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30</a:t>
                </a:r>
              </a:p>
            </p:txBody>
          </p:sp>
        </p:grpSp>
        <p:grpSp>
          <p:nvGrpSpPr>
            <p:cNvPr id="100" name="Group 67"/>
            <p:cNvGrpSpPr/>
            <p:nvPr/>
          </p:nvGrpSpPr>
          <p:grpSpPr>
            <a:xfrm>
              <a:off x="533400" y="2819400"/>
              <a:ext cx="1797050" cy="304800"/>
              <a:chOff x="2377022" y="2811289"/>
              <a:chExt cx="1797050" cy="304800"/>
            </a:xfrm>
            <a:solidFill>
              <a:srgbClr val="D5F1CF"/>
            </a:solidFill>
          </p:grpSpPr>
          <p:sp>
            <p:nvSpPr>
              <p:cNvPr id="101"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FF</a:t>
                </a:r>
              </a:p>
            </p:txBody>
          </p:sp>
          <p:sp>
            <p:nvSpPr>
              <p:cNvPr id="102"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FF</a:t>
                </a:r>
              </a:p>
            </p:txBody>
          </p:sp>
          <p:sp>
            <p:nvSpPr>
              <p:cNvPr id="103"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AB</a:t>
                </a:r>
              </a:p>
            </p:txBody>
          </p:sp>
          <p:sp>
            <p:nvSpPr>
              <p:cNvPr id="104"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80</a:t>
                </a:r>
              </a:p>
            </p:txBody>
          </p:sp>
        </p:grpSp>
        <p:sp>
          <p:nvSpPr>
            <p:cNvPr id="105" name="AutoShape 16"/>
            <p:cNvSpPr/>
            <p:nvPr/>
          </p:nvSpPr>
          <p:spPr bwMode="auto">
            <a:xfrm rot="10800000" flipH="1">
              <a:off x="190499" y="2509716"/>
              <a:ext cx="228600" cy="2443284"/>
            </a:xfrm>
            <a:prstGeom prst="leftBrace">
              <a:avLst>
                <a:gd name="adj1" fmla="val 75000"/>
                <a:gd name="adj2" fmla="val 50000"/>
              </a:avLst>
            </a:prstGeom>
            <a:noFill/>
            <a:ln w="25400">
              <a:solidFill>
                <a:srgbClr val="0070C0"/>
              </a:solidFill>
              <a:round/>
            </a:ln>
          </p:spPr>
          <p:txBody>
            <a:bodyPr wrap="none" anchor="ctr"/>
            <a:lstStyle/>
            <a:p>
              <a:pPr eaLnBrk="0" hangingPunct="0"/>
              <a:endParaRPr lang="en-US" sz="1800">
                <a:solidFill>
                  <a:srgbClr val="0070C0"/>
                </a:solidFill>
                <a:latin typeface="Calibri" panose="020F0502020204030204" charset="0"/>
              </a:endParaRPr>
            </a:p>
          </p:txBody>
        </p:sp>
      </p:grpSp>
      <p:sp>
        <p:nvSpPr>
          <p:cNvPr id="106" name="TextBox 94"/>
          <p:cNvSpPr txBox="1">
            <a:spLocks noChangeArrowheads="1"/>
          </p:cNvSpPr>
          <p:nvPr/>
        </p:nvSpPr>
        <p:spPr bwMode="auto">
          <a:xfrm>
            <a:off x="3429000" y="2209800"/>
            <a:ext cx="3342640" cy="368300"/>
          </a:xfrm>
          <a:prstGeom prst="rect">
            <a:avLst/>
          </a:prstGeom>
          <a:noFill/>
          <a:ln w="9525">
            <a:noFill/>
            <a:miter lim="800000"/>
          </a:ln>
        </p:spPr>
        <p:txBody>
          <a:bodyPr wrap="none">
            <a:spAutoFit/>
          </a:bodyPr>
          <a:lstStyle/>
          <a:p>
            <a:pPr eaLnBrk="0" hangingPunct="0"/>
            <a:r>
              <a:rPr lang="zh-CN" altLang="en-US" sz="1800" dirty="0">
                <a:latin typeface="Calibri" panose="020F0502020204030204" charset="0"/>
                <a:cs typeface="Courier New" panose="02070309020205020404" charset="0"/>
              </a:rPr>
              <a:t>攻击</a:t>
            </a:r>
            <a:r>
              <a:rPr lang="en-US" sz="1800" dirty="0">
                <a:latin typeface="Calibri" panose="020F0502020204030204" charset="0"/>
                <a:cs typeface="Courier New" panose="02070309020205020404" charset="0"/>
              </a:rPr>
              <a:t>: </a:t>
            </a:r>
            <a:r>
              <a:rPr lang="en-US" sz="1800" dirty="0" err="1">
                <a:latin typeface="Courier New" panose="02070309020205020404" charset="0"/>
                <a:cs typeface="Courier New" panose="02070309020205020404" charset="0"/>
              </a:rPr>
              <a:t>int</a:t>
            </a:r>
            <a:r>
              <a:rPr lang="en-US" sz="1800" dirty="0">
                <a:latin typeface="Courier New" panose="02070309020205020404" charset="0"/>
                <a:cs typeface="Courier New" panose="02070309020205020404" charset="0"/>
              </a:rPr>
              <a:t> echo() </a:t>
            </a:r>
            <a:r>
              <a:rPr lang="zh-CN" altLang="en-US" sz="1800" dirty="0">
                <a:latin typeface="Courier New" panose="02070309020205020404" charset="0"/>
                <a:cs typeface="Courier New" panose="02070309020205020404" charset="0"/>
              </a:rPr>
              <a:t>总是返回</a:t>
            </a:r>
            <a:r>
              <a:rPr lang="en-US" sz="1800" dirty="0">
                <a:latin typeface="Calibri" panose="020F0502020204030204" charset="0"/>
              </a:rPr>
              <a:t> 0</a:t>
            </a:r>
          </a:p>
        </p:txBody>
      </p:sp>
      <p:grpSp>
        <p:nvGrpSpPr>
          <p:cNvPr id="107" name="Group 96"/>
          <p:cNvGrpSpPr/>
          <p:nvPr/>
        </p:nvGrpSpPr>
        <p:grpSpPr>
          <a:xfrm>
            <a:off x="527006" y="2811289"/>
            <a:ext cx="1797050" cy="304800"/>
            <a:chOff x="2377022" y="2811289"/>
            <a:chExt cx="1797050" cy="304800"/>
          </a:xfrm>
          <a:solidFill>
            <a:srgbClr val="D5F1CF"/>
          </a:solidFill>
        </p:grpSpPr>
        <p:sp>
          <p:nvSpPr>
            <p:cNvPr id="108"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109"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40</a:t>
              </a:r>
            </a:p>
          </p:txBody>
        </p:sp>
        <p:sp>
          <p:nvSpPr>
            <p:cNvPr id="110"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06</a:t>
              </a:r>
            </a:p>
          </p:txBody>
        </p:sp>
        <p:sp>
          <p:nvSpPr>
            <p:cNvPr id="111"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f6</a:t>
              </a:r>
            </a:p>
          </p:txBody>
        </p:sp>
      </p:grpSp>
      <p:grpSp>
        <p:nvGrpSpPr>
          <p:cNvPr id="112" name="Group 101"/>
          <p:cNvGrpSpPr/>
          <p:nvPr/>
        </p:nvGrpSpPr>
        <p:grpSpPr>
          <a:xfrm>
            <a:off x="527006" y="2514600"/>
            <a:ext cx="1797050" cy="304800"/>
            <a:chOff x="2377022" y="2811289"/>
            <a:chExt cx="1797050" cy="304800"/>
          </a:xfrm>
          <a:solidFill>
            <a:srgbClr val="D5F1CF"/>
          </a:solidFill>
        </p:grpSpPr>
        <p:sp>
          <p:nvSpPr>
            <p:cNvPr id="113" name="Rectangle 24"/>
            <p:cNvSpPr>
              <a:spLocks noChangeArrowheads="1"/>
            </p:cNvSpPr>
            <p:nvPr/>
          </p:nvSpPr>
          <p:spPr bwMode="auto">
            <a:xfrm>
              <a:off x="2377022"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114" name="Rectangle 25"/>
            <p:cNvSpPr>
              <a:spLocks noChangeArrowheads="1"/>
            </p:cNvSpPr>
            <p:nvPr/>
          </p:nvSpPr>
          <p:spPr bwMode="auto">
            <a:xfrm>
              <a:off x="2826285"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115" name="Rectangle 26"/>
            <p:cNvSpPr>
              <a:spLocks noChangeArrowheads="1"/>
            </p:cNvSpPr>
            <p:nvPr/>
          </p:nvSpPr>
          <p:spPr bwMode="auto">
            <a:xfrm>
              <a:off x="3275547" y="2811289"/>
              <a:ext cx="449263"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sp>
          <p:nvSpPr>
            <p:cNvPr id="116" name="Rectangle 27"/>
            <p:cNvSpPr>
              <a:spLocks noChangeArrowheads="1"/>
            </p:cNvSpPr>
            <p:nvPr/>
          </p:nvSpPr>
          <p:spPr bwMode="auto">
            <a:xfrm>
              <a:off x="3724810" y="2811289"/>
              <a:ext cx="449262" cy="304800"/>
            </a:xfrm>
            <a:prstGeom prst="rect">
              <a:avLst/>
            </a:prstGeom>
            <a:grpFill/>
            <a:ln w="28575">
              <a:solidFill>
                <a:schemeClr val="tx1"/>
              </a:solidFill>
              <a:miter lim="800000"/>
            </a:ln>
            <a:effectLst/>
          </p:spPr>
          <p:txBody>
            <a:bodyPr wrap="none" anchor="ctr"/>
            <a:lstStyle/>
            <a:p>
              <a:pPr algn="ctr">
                <a:defRPr/>
              </a:pPr>
              <a:r>
                <a:rPr lang="en-US" sz="1800" dirty="0">
                  <a:solidFill>
                    <a:srgbClr val="C00000"/>
                  </a:solidFill>
                  <a:latin typeface="Courier New" panose="02070309020205020404" charset="0"/>
                  <a:cs typeface="+mn-cs"/>
                </a:rPr>
                <a:t>00</a:t>
              </a:r>
            </a:p>
          </p:txBody>
        </p:sp>
      </p:grpSp>
      <p:sp>
        <p:nvSpPr>
          <p:cNvPr id="117" name="TextBox 87"/>
          <p:cNvSpPr txBox="1">
            <a:spLocks noChangeArrowheads="1"/>
          </p:cNvSpPr>
          <p:nvPr/>
        </p:nvSpPr>
        <p:spPr bwMode="auto">
          <a:xfrm>
            <a:off x="533400" y="6096000"/>
            <a:ext cx="3731260" cy="368300"/>
          </a:xfrm>
          <a:prstGeom prst="rect">
            <a:avLst/>
          </a:prstGeom>
          <a:noFill/>
          <a:ln w="9525">
            <a:noFill/>
            <a:miter lim="800000"/>
          </a:ln>
        </p:spPr>
        <p:txBody>
          <a:bodyPr wrap="square">
            <a:spAutoFit/>
          </a:bodyPr>
          <a:lstStyle/>
          <a:p>
            <a:pPr algn="l" eaLnBrk="0" hangingPunct="0"/>
            <a:r>
              <a:rPr lang="zh-CN" altLang="en-US" sz="1800" b="0" dirty="0">
                <a:latin typeface="Calibri" panose="020F0502020204030204" charset="0"/>
              </a:rPr>
              <a:t>在</a:t>
            </a:r>
            <a:r>
              <a:rPr lang="zh-CN" altLang="en-US" dirty="0">
                <a:solidFill>
                  <a:schemeClr val="tx1"/>
                </a:solidFill>
                <a:latin typeface="Calibri" panose="020F0502020204030204" charset="0"/>
                <a:sym typeface="+mn-ea"/>
              </a:rPr>
              <a:t>攻击字符串中</a:t>
            </a:r>
            <a:r>
              <a:rPr lang="zh-CN" altLang="en-US" sz="1800" b="0" dirty="0">
                <a:latin typeface="Calibri" panose="020F0502020204030204" charset="0"/>
              </a:rPr>
              <a:t>不能有</a:t>
            </a:r>
            <a:r>
              <a:rPr lang="en-US" sz="1800" b="0" dirty="0">
                <a:latin typeface="Calibri" panose="020F0502020204030204" charset="0"/>
              </a:rPr>
              <a:t>‘\n’ </a:t>
            </a:r>
            <a:r>
              <a:rPr lang="zh-CN" altLang="en-US" sz="1800" b="0" dirty="0">
                <a:latin typeface="Calibri" panose="020F0502020204030204" charset="0"/>
              </a:rPr>
              <a:t>或者</a:t>
            </a:r>
            <a:r>
              <a:rPr lang="en-US" sz="1800" b="0" dirty="0">
                <a:latin typeface="Calibri" panose="020F0502020204030204" charset="0"/>
              </a:rPr>
              <a:t> EOF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112"/>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7"/>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bldLvl="0" animBg="1"/>
      <p:bldP spid="89" grpId="0" bldLvl="0" animBg="1"/>
      <p:bldP spid="90" grpId="0"/>
      <p:bldP spid="92" grpId="0"/>
      <p:bldP spid="106" grpId="0"/>
      <p:bldP spid="117" grpId="0"/>
    </p:bld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五边形 3"/>
          <p:cNvSpPr/>
          <p:nvPr/>
        </p:nvSpPr>
        <p:spPr>
          <a:xfrm>
            <a:off x="0" y="459740"/>
            <a:ext cx="4264025" cy="579120"/>
          </a:xfrm>
          <a:prstGeom prst="homePlat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a:solidFill>
                  <a:schemeClr val="tx1">
                    <a:lumMod val="65000"/>
                    <a:lumOff val="35000"/>
                  </a:schemeClr>
                </a:solidFill>
                <a:sym typeface="+mn-ea"/>
              </a:rPr>
              <a:t>如何处理缓冲区溢出攻击</a:t>
            </a:r>
          </a:p>
        </p:txBody>
      </p:sp>
      <p:sp>
        <p:nvSpPr>
          <p:cNvPr id="31747" name="Rectangle 3"/>
          <p:cNvSpPr>
            <a:spLocks noGrp="1" noChangeArrowheads="1"/>
          </p:cNvSpPr>
          <p:nvPr/>
        </p:nvSpPr>
        <p:spPr>
          <a:xfrm>
            <a:off x="247650" y="1591310"/>
            <a:ext cx="6333490" cy="225552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D0D0D"/>
              </a:buClr>
            </a:pPr>
            <a:r>
              <a:rPr lang="en-US" b="0" dirty="0">
                <a:latin typeface="微软雅黑" panose="020B0503020204020204" charset="-122"/>
                <a:ea typeface="微软雅黑" panose="020B0503020204020204" charset="-122"/>
              </a:rPr>
              <a:t>避免溢出漏洞</a:t>
            </a:r>
          </a:p>
          <a:p>
            <a:pPr eaLnBrk="1" hangingPunct="1">
              <a:buClr>
                <a:srgbClr val="0D0D0D"/>
              </a:buClr>
            </a:pPr>
            <a:r>
              <a:rPr lang="en-US" b="0" dirty="0">
                <a:latin typeface="微软雅黑" panose="020B0503020204020204" charset="-122"/>
                <a:ea typeface="微软雅黑" panose="020B0503020204020204" charset="-122"/>
              </a:rPr>
              <a:t>采用系统级保护</a:t>
            </a:r>
          </a:p>
          <a:p>
            <a:pPr eaLnBrk="1" hangingPunct="1">
              <a:buClr>
                <a:srgbClr val="0D0D0D"/>
              </a:buClr>
            </a:pPr>
            <a:r>
              <a:rPr lang="en-US" b="0" dirty="0">
                <a:latin typeface="微软雅黑" panose="020B0503020204020204" charset="-122"/>
                <a:ea typeface="微软雅黑" panose="020B0503020204020204" charset="-122"/>
              </a:rPr>
              <a:t>编译器使用“栈金丝雀“</a:t>
            </a:r>
          </a:p>
          <a:p>
            <a:pPr marL="0" indent="0" eaLnBrk="1" hangingPunct="1">
              <a:buNone/>
            </a:pPr>
            <a:endParaRPr lang="en-US" b="0" dirty="0">
              <a:latin typeface="微软雅黑" panose="020B0503020204020204" charset="-122"/>
              <a:ea typeface="微软雅黑" panose="020B0503020204020204" charset="-122"/>
            </a:endParaRPr>
          </a:p>
        </p:txBody>
      </p:sp>
      <p:sp>
        <p:nvSpPr>
          <p:cNvPr id="5" name="燕尾形 4"/>
          <p:cNvSpPr/>
          <p:nvPr/>
        </p:nvSpPr>
        <p:spPr>
          <a:xfrm>
            <a:off x="1895475" y="4374515"/>
            <a:ext cx="3674745" cy="636905"/>
          </a:xfrm>
          <a:prstGeom prst="chevron">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a:t>接下来会一一讲述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anim calcmode="lin" valueType="num">
                                      <p:cBhvr additive="base">
                                        <p:cTn id="7" dur="500" fill="hold"/>
                                        <p:tgtEl>
                                          <p:spTgt spid="317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174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anim calcmode="lin" valueType="num">
                                      <p:cBhvr additive="base">
                                        <p:cTn id="11" dur="500" fill="hold"/>
                                        <p:tgtEl>
                                          <p:spTgt spid="3174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174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anim calcmode="lin" valueType="num">
                                      <p:cBhvr additive="base">
                                        <p:cTn id="15" dur="500" fill="hold"/>
                                        <p:tgtEl>
                                          <p:spTgt spid="3174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174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 calcmode="lin" valueType="num">
                                      <p:cBhvr additive="base">
                                        <p:cTn id="21" dur="500" fill="hold"/>
                                        <p:tgtEl>
                                          <p:spTgt spid="5"/>
                                        </p:tgtEl>
                                        <p:attrNameLst>
                                          <p:attrName>ppt_x</p:attrName>
                                        </p:attrNameLst>
                                      </p:cBhvr>
                                      <p:tavLst>
                                        <p:tav tm="0">
                                          <p:val>
                                            <p:strVal val="#ppt_x"/>
                                          </p:val>
                                        </p:tav>
                                        <p:tav tm="100000">
                                          <p:val>
                                            <p:strVal val="#ppt_x"/>
                                          </p:val>
                                        </p:tav>
                                      </p:tavLst>
                                    </p:anim>
                                    <p:anim calcmode="lin" valueType="num">
                                      <p:cBhvr additive="base">
                                        <p:cTn id="2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51485"/>
            <a:ext cx="4055745" cy="636905"/>
          </a:xfrm>
          <a:prstGeom prst="chevron">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charset="-122"/>
                <a:ea typeface="微软雅黑" panose="020B0503020204020204" charset="-122"/>
                <a:sym typeface="+mn-ea"/>
              </a:rPr>
              <a:t>在代码中</a:t>
            </a:r>
            <a:r>
              <a:rPr lang="en-US" sz="2400" dirty="0">
                <a:latin typeface="微软雅黑" panose="020B0503020204020204" charset="-122"/>
                <a:ea typeface="微软雅黑" panose="020B0503020204020204" charset="-122"/>
                <a:sym typeface="+mn-ea"/>
              </a:rPr>
              <a:t>避免溢出漏洞</a:t>
            </a:r>
            <a:endParaRPr lang="zh-CN" altLang="en-US" sz="2400"/>
          </a:p>
        </p:txBody>
      </p:sp>
      <p:sp>
        <p:nvSpPr>
          <p:cNvPr id="37892" name="Rectangle 4"/>
          <p:cNvSpPr>
            <a:spLocks noChangeArrowheads="1"/>
          </p:cNvSpPr>
          <p:nvPr/>
        </p:nvSpPr>
        <p:spPr bwMode="auto">
          <a:xfrm>
            <a:off x="609600" y="1447800"/>
            <a:ext cx="5943600" cy="2028761"/>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tabLst>
                <a:tab pos="457200" algn="l"/>
                <a:tab pos="1485900" algn="l"/>
              </a:tabLst>
            </a:pPr>
            <a:r>
              <a:rPr lang="en-US" sz="1800" dirty="0">
                <a:latin typeface="Courier New" panose="02070309020205020404" charset="0"/>
                <a:ea typeface="MS Mincho" panose="02020609040205080304" pitchFamily="49" charset="-128"/>
              </a:rPr>
              <a:t>/* Echo Line */</a:t>
            </a:r>
            <a:br>
              <a:rPr lang="en-US" sz="1800" dirty="0">
                <a:latin typeface="Courier New" panose="02070309020205020404" charset="0"/>
                <a:ea typeface="MS Mincho" panose="02020609040205080304" pitchFamily="49" charset="-128"/>
              </a:rPr>
            </a:br>
            <a:r>
              <a:rPr lang="en-US" sz="1800" dirty="0">
                <a:latin typeface="Courier New" panose="02070309020205020404" charset="0"/>
                <a:ea typeface="MS Mincho" panose="02020609040205080304" pitchFamily="49" charset="-128"/>
              </a:rPr>
              <a:t>void echo()</a:t>
            </a:r>
            <a:br>
              <a:rPr lang="en-US" sz="1800" dirty="0">
                <a:latin typeface="Courier New" panose="02070309020205020404" charset="0"/>
                <a:ea typeface="MS Mincho" panose="02020609040205080304" pitchFamily="49" charset="-128"/>
              </a:rPr>
            </a:br>
            <a:r>
              <a:rPr lang="en-US" sz="1800" dirty="0">
                <a:latin typeface="Courier New" panose="02070309020205020404" charset="0"/>
                <a:ea typeface="MS Mincho" panose="02020609040205080304" pitchFamily="49" charset="-128"/>
              </a:rPr>
              <a:t>{</a:t>
            </a:r>
            <a:br>
              <a:rPr lang="en-US" sz="1800" dirty="0">
                <a:latin typeface="Courier New" panose="02070309020205020404" charset="0"/>
                <a:ea typeface="MS Mincho" panose="02020609040205080304" pitchFamily="49" charset="-128"/>
              </a:rPr>
            </a:br>
            <a:r>
              <a:rPr lang="en-US" sz="1800" dirty="0">
                <a:latin typeface="Courier New" panose="02070309020205020404" charset="0"/>
                <a:ea typeface="MS Mincho" panose="02020609040205080304" pitchFamily="49" charset="-128"/>
              </a:rPr>
              <a:t>    char </a:t>
            </a:r>
            <a:r>
              <a:rPr lang="en-US" sz="1800" dirty="0" err="1">
                <a:latin typeface="Courier New" panose="02070309020205020404" charset="0"/>
                <a:ea typeface="MS Mincho" panose="02020609040205080304" pitchFamily="49" charset="-128"/>
              </a:rPr>
              <a:t>buf</a:t>
            </a:r>
            <a:r>
              <a:rPr lang="en-US" sz="1800" dirty="0">
                <a:latin typeface="Courier New" panose="02070309020205020404" charset="0"/>
                <a:ea typeface="MS Mincho" panose="02020609040205080304" pitchFamily="49" charset="-128"/>
              </a:rPr>
              <a:t>[4];  /* Way too small! */</a:t>
            </a:r>
            <a:br>
              <a:rPr lang="en-US" sz="1800" dirty="0">
                <a:latin typeface="Courier New" panose="02070309020205020404" charset="0"/>
                <a:ea typeface="MS Mincho" panose="02020609040205080304" pitchFamily="49" charset="-128"/>
              </a:rPr>
            </a:br>
            <a:r>
              <a:rPr lang="en-US" sz="1800" dirty="0">
                <a:latin typeface="Courier New" panose="02070309020205020404" charset="0"/>
                <a:ea typeface="MS Mincho" panose="02020609040205080304" pitchFamily="49" charset="-128"/>
              </a:rPr>
              <a:t>    </a:t>
            </a:r>
            <a:r>
              <a:rPr lang="en-US" sz="1800" dirty="0" err="1">
                <a:solidFill>
                  <a:srgbClr val="C00000"/>
                </a:solidFill>
                <a:latin typeface="Courier New" panose="02070309020205020404" charset="0"/>
                <a:ea typeface="MS Mincho" panose="02020609040205080304" pitchFamily="49" charset="-128"/>
              </a:rPr>
              <a:t>fgets</a:t>
            </a:r>
            <a:r>
              <a:rPr lang="en-US" sz="1800" dirty="0">
                <a:solidFill>
                  <a:srgbClr val="C00000"/>
                </a:solidFill>
                <a:latin typeface="Courier New" panose="02070309020205020404" charset="0"/>
                <a:ea typeface="MS Mincho" panose="02020609040205080304" pitchFamily="49" charset="-128"/>
              </a:rPr>
              <a:t>(</a:t>
            </a:r>
            <a:r>
              <a:rPr lang="en-US" sz="1800" dirty="0" err="1">
                <a:solidFill>
                  <a:srgbClr val="C00000"/>
                </a:solidFill>
                <a:latin typeface="Courier New" panose="02070309020205020404" charset="0"/>
                <a:ea typeface="MS Mincho" panose="02020609040205080304" pitchFamily="49" charset="-128"/>
              </a:rPr>
              <a:t>buf</a:t>
            </a:r>
            <a:r>
              <a:rPr lang="en-US" sz="1800" dirty="0">
                <a:solidFill>
                  <a:srgbClr val="C00000"/>
                </a:solidFill>
                <a:latin typeface="Courier New" panose="02070309020205020404" charset="0"/>
                <a:ea typeface="MS Mincho" panose="02020609040205080304" pitchFamily="49" charset="-128"/>
              </a:rPr>
              <a:t>, 4, </a:t>
            </a:r>
            <a:r>
              <a:rPr lang="en-US" sz="1800" dirty="0" err="1">
                <a:solidFill>
                  <a:srgbClr val="C00000"/>
                </a:solidFill>
                <a:latin typeface="Courier New" panose="02070309020205020404" charset="0"/>
                <a:ea typeface="MS Mincho" panose="02020609040205080304" pitchFamily="49" charset="-128"/>
              </a:rPr>
              <a:t>stdin</a:t>
            </a:r>
            <a:r>
              <a:rPr lang="en-US" sz="1800" dirty="0">
                <a:solidFill>
                  <a:srgbClr val="C00000"/>
                </a:solidFill>
                <a:latin typeface="Courier New" panose="02070309020205020404" charset="0"/>
                <a:ea typeface="MS Mincho" panose="02020609040205080304" pitchFamily="49" charset="-128"/>
              </a:rPr>
              <a:t>);</a:t>
            </a:r>
            <a:br>
              <a:rPr lang="en-US" sz="1800" dirty="0">
                <a:latin typeface="Courier New" panose="02070309020205020404" charset="0"/>
                <a:ea typeface="MS Mincho" panose="02020609040205080304" pitchFamily="49" charset="-128"/>
              </a:rPr>
            </a:br>
            <a:r>
              <a:rPr lang="en-US" sz="1800" dirty="0">
                <a:latin typeface="Courier New" panose="02070309020205020404" charset="0"/>
                <a:ea typeface="MS Mincho" panose="02020609040205080304" pitchFamily="49" charset="-128"/>
              </a:rPr>
              <a:t>    puts(</a:t>
            </a:r>
            <a:r>
              <a:rPr lang="en-US" sz="1800" dirty="0" err="1">
                <a:latin typeface="Courier New" panose="02070309020205020404" charset="0"/>
                <a:ea typeface="MS Mincho" panose="02020609040205080304" pitchFamily="49" charset="-128"/>
              </a:rPr>
              <a:t>buf</a:t>
            </a:r>
            <a:r>
              <a:rPr lang="en-US" sz="1800" dirty="0">
                <a:latin typeface="Courier New" panose="02070309020205020404" charset="0"/>
                <a:ea typeface="MS Mincho" panose="02020609040205080304" pitchFamily="49" charset="-128"/>
              </a:rPr>
              <a:t>);</a:t>
            </a:r>
            <a:br>
              <a:rPr lang="en-US" sz="1800" dirty="0">
                <a:latin typeface="Courier New" panose="02070309020205020404" charset="0"/>
                <a:ea typeface="MS Mincho" panose="02020609040205080304" pitchFamily="49" charset="-128"/>
              </a:rPr>
            </a:br>
            <a:r>
              <a:rPr lang="en-US" sz="1800" dirty="0">
                <a:latin typeface="Courier New" panose="02070309020205020404" charset="0"/>
                <a:ea typeface="MS Mincho" panose="02020609040205080304" pitchFamily="49" charset="-128"/>
              </a:rPr>
              <a:t>}</a:t>
            </a:r>
          </a:p>
        </p:txBody>
      </p:sp>
      <p:sp>
        <p:nvSpPr>
          <p:cNvPr id="37891" name="Rectangle 3"/>
          <p:cNvSpPr>
            <a:spLocks noGrp="1" noChangeArrowheads="1"/>
          </p:cNvSpPr>
          <p:nvPr/>
        </p:nvSpPr>
        <p:spPr>
          <a:xfrm>
            <a:off x="526098" y="3723005"/>
            <a:ext cx="8091487" cy="248285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lnSpc>
                <a:spcPct val="85000"/>
              </a:lnSpc>
              <a:buClr>
                <a:srgbClr val="0D0D0D"/>
              </a:buClr>
            </a:pPr>
            <a:r>
              <a:rPr lang="en-US" dirty="0">
                <a:latin typeface="微软雅黑" panose="020B0503020204020204" charset="-122"/>
                <a:ea typeface="微软雅黑" panose="020B0503020204020204" charset="-122"/>
              </a:rPr>
              <a:t>例如，使用限制字符串长度的库例程</a:t>
            </a:r>
          </a:p>
          <a:p>
            <a:pPr lvl="1" eaLnBrk="1" hangingPunct="1">
              <a:lnSpc>
                <a:spcPct val="90000"/>
              </a:lnSpc>
              <a:buClr>
                <a:srgbClr val="A9D18E"/>
              </a:buClr>
            </a:pPr>
            <a:r>
              <a:rPr lang="en-US" b="1" dirty="0" err="1">
                <a:solidFill>
                  <a:srgbClr val="C00000"/>
                </a:solidFill>
                <a:latin typeface="微软雅黑" panose="020B0503020204020204" charset="-122"/>
                <a:ea typeface="微软雅黑" panose="020B0503020204020204" charset="-122"/>
              </a:rPr>
              <a:t>f</a:t>
            </a:r>
            <a:r>
              <a:rPr lang="en-US" b="1" dirty="0" err="1">
                <a:latin typeface="微软雅黑" panose="020B0503020204020204" charset="-122"/>
                <a:ea typeface="微软雅黑" panose="020B0503020204020204" charset="-122"/>
              </a:rPr>
              <a:t>gets</a:t>
            </a:r>
            <a:r>
              <a:rPr lang="en-US"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代替</a:t>
            </a:r>
            <a:r>
              <a:rPr lang="en-US" dirty="0">
                <a:latin typeface="微软雅黑" panose="020B0503020204020204" charset="-122"/>
                <a:ea typeface="微软雅黑" panose="020B0503020204020204" charset="-122"/>
              </a:rPr>
              <a:t> </a:t>
            </a:r>
            <a:r>
              <a:rPr lang="en-US" b="1" dirty="0">
                <a:latin typeface="微软雅黑" panose="020B0503020204020204" charset="-122"/>
                <a:ea typeface="微软雅黑" panose="020B0503020204020204" charset="-122"/>
              </a:rPr>
              <a:t>gets</a:t>
            </a:r>
          </a:p>
          <a:p>
            <a:pPr lvl="1" eaLnBrk="1" hangingPunct="1">
              <a:lnSpc>
                <a:spcPct val="90000"/>
              </a:lnSpc>
              <a:buClr>
                <a:srgbClr val="A9D18E"/>
              </a:buClr>
            </a:pPr>
            <a:r>
              <a:rPr lang="en-US" b="1" dirty="0" err="1">
                <a:latin typeface="微软雅黑" panose="020B0503020204020204" charset="-122"/>
                <a:ea typeface="微软雅黑" panose="020B0503020204020204" charset="-122"/>
                <a:cs typeface="Courier New" panose="02070309020205020404" charset="0"/>
              </a:rPr>
              <a:t>str</a:t>
            </a:r>
            <a:r>
              <a:rPr lang="en-US" b="1" dirty="0" err="1">
                <a:solidFill>
                  <a:srgbClr val="C00000"/>
                </a:solidFill>
                <a:latin typeface="微软雅黑" panose="020B0503020204020204" charset="-122"/>
                <a:ea typeface="微软雅黑" panose="020B0503020204020204" charset="-122"/>
                <a:cs typeface="Courier New" panose="02070309020205020404" charset="0"/>
              </a:rPr>
              <a:t>n</a:t>
            </a:r>
            <a:r>
              <a:rPr lang="en-US" b="1" dirty="0" err="1">
                <a:latin typeface="微软雅黑" panose="020B0503020204020204" charset="-122"/>
                <a:ea typeface="微软雅黑" panose="020B0503020204020204" charset="-122"/>
                <a:cs typeface="Courier New" panose="02070309020205020404" charset="0"/>
              </a:rPr>
              <a:t>cpy</a:t>
            </a:r>
            <a:r>
              <a:rPr lang="en-US"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代替</a:t>
            </a:r>
            <a:r>
              <a:rPr lang="en-US" dirty="0">
                <a:latin typeface="微软雅黑" panose="020B0503020204020204" charset="-122"/>
                <a:ea typeface="微软雅黑" panose="020B0503020204020204" charset="-122"/>
              </a:rPr>
              <a:t> </a:t>
            </a:r>
            <a:r>
              <a:rPr lang="en-US" b="1" dirty="0" err="1">
                <a:latin typeface="微软雅黑" panose="020B0503020204020204" charset="-122"/>
                <a:ea typeface="微软雅黑" panose="020B0503020204020204" charset="-122"/>
              </a:rPr>
              <a:t>strcpy</a:t>
            </a:r>
            <a:endParaRPr lang="en-US" b="1" dirty="0">
              <a:latin typeface="微软雅黑" panose="020B0503020204020204" charset="-122"/>
              <a:ea typeface="微软雅黑" panose="020B0503020204020204" charset="-122"/>
            </a:endParaRPr>
          </a:p>
          <a:p>
            <a:pPr lvl="1" eaLnBrk="1" hangingPunct="1">
              <a:lnSpc>
                <a:spcPct val="90000"/>
              </a:lnSpc>
              <a:buClr>
                <a:srgbClr val="A9D18E"/>
              </a:buClr>
            </a:pPr>
            <a:r>
              <a:rPr lang="en-US" dirty="0">
                <a:latin typeface="微软雅黑" panose="020B0503020204020204" charset="-122"/>
                <a:ea typeface="微软雅黑" panose="020B0503020204020204" charset="-122"/>
              </a:rPr>
              <a:t>不要用 </a:t>
            </a:r>
            <a:r>
              <a:rPr lang="en-US" b="1" dirty="0" err="1">
                <a:latin typeface="微软雅黑" panose="020B0503020204020204" charset="-122"/>
                <a:ea typeface="微软雅黑" panose="020B0503020204020204" charset="-122"/>
              </a:rPr>
              <a:t>scanf</a:t>
            </a:r>
            <a:r>
              <a:rPr lang="en-US" dirty="0">
                <a:latin typeface="微软雅黑" panose="020B0503020204020204" charset="-122"/>
                <a:ea typeface="微软雅黑" panose="020B0503020204020204" charset="-122"/>
              </a:rPr>
              <a:t>  </a:t>
            </a:r>
            <a:r>
              <a:rPr lang="en-US" b="1" dirty="0">
                <a:latin typeface="微软雅黑" panose="020B0503020204020204" charset="-122"/>
                <a:ea typeface="微软雅黑" panose="020B0503020204020204" charset="-122"/>
              </a:rPr>
              <a:t>%s</a:t>
            </a:r>
            <a:r>
              <a:rPr lang="en-US"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转换规格</a:t>
            </a:r>
          </a:p>
          <a:p>
            <a:pPr lvl="2" eaLnBrk="1" hangingPunct="1">
              <a:lnSpc>
                <a:spcPct val="97000"/>
              </a:lnSpc>
            </a:pPr>
            <a:r>
              <a:rPr lang="en-US">
                <a:latin typeface="微软雅黑" panose="020B0503020204020204" charset="-122"/>
                <a:ea typeface="微软雅黑" panose="020B0503020204020204" charset="-122"/>
              </a:rPr>
              <a:t>使用fgets读取字符串</a:t>
            </a:r>
          </a:p>
          <a:p>
            <a:pPr lvl="2" eaLnBrk="1" hangingPunct="1">
              <a:lnSpc>
                <a:spcPct val="97000"/>
              </a:lnSpc>
            </a:pPr>
            <a:r>
              <a:rPr lang="en-US" dirty="0">
                <a:latin typeface="微软雅黑" panose="020B0503020204020204" charset="-122"/>
                <a:ea typeface="微软雅黑" panose="020B0503020204020204" charset="-122"/>
              </a:rPr>
              <a:t>或者使用% ns，其中n是一个合适的整数。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additive="base">
                                        <p:cTn id="7"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7891">
                                            <p:txEl>
                                              <p:pRg st="2" end="2"/>
                                            </p:txEl>
                                          </p:spTgt>
                                        </p:tgtEl>
                                        <p:attrNameLst>
                                          <p:attrName>style.visibility</p:attrName>
                                        </p:attrNameLst>
                                      </p:cBhvr>
                                      <p:to>
                                        <p:strVal val="visible"/>
                                      </p:to>
                                    </p:set>
                                    <p:anim calcmode="lin" valueType="num">
                                      <p:cBhvr additive="base">
                                        <p:cTn id="13"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7891">
                                            <p:txEl>
                                              <p:pRg st="3" end="3"/>
                                            </p:txEl>
                                          </p:spTgt>
                                        </p:tgtEl>
                                        <p:attrNameLst>
                                          <p:attrName>style.visibility</p:attrName>
                                        </p:attrNameLst>
                                      </p:cBhvr>
                                      <p:to>
                                        <p:strVal val="visible"/>
                                      </p:to>
                                    </p:set>
                                    <p:anim calcmode="lin" valueType="num">
                                      <p:cBhvr additive="base">
                                        <p:cTn id="19"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7891">
                                            <p:txEl>
                                              <p:pRg st="4" end="4"/>
                                            </p:txEl>
                                          </p:spTgt>
                                        </p:tgtEl>
                                        <p:attrNameLst>
                                          <p:attrName>style.visibility</p:attrName>
                                        </p:attrNameLst>
                                      </p:cBhvr>
                                      <p:to>
                                        <p:strVal val="visible"/>
                                      </p:to>
                                    </p:set>
                                    <p:anim calcmode="lin" valueType="num">
                                      <p:cBhvr additive="base">
                                        <p:cTn id="25" dur="500" fill="hold"/>
                                        <p:tgtEl>
                                          <p:spTgt spid="3789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789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7891">
                                            <p:txEl>
                                              <p:pRg st="5" end="5"/>
                                            </p:txEl>
                                          </p:spTgt>
                                        </p:tgtEl>
                                        <p:attrNameLst>
                                          <p:attrName>style.visibility</p:attrName>
                                        </p:attrNameLst>
                                      </p:cBhvr>
                                      <p:to>
                                        <p:strVal val="visible"/>
                                      </p:to>
                                    </p:set>
                                    <p:anim calcmode="lin" valueType="num">
                                      <p:cBhvr additive="base">
                                        <p:cTn id="29" dur="500" fill="hold"/>
                                        <p:tgtEl>
                                          <p:spTgt spid="3789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789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51485"/>
            <a:ext cx="3134360" cy="636905"/>
          </a:xfrm>
          <a:prstGeom prst="chevron">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微软雅黑" panose="020B0503020204020204" charset="-122"/>
                <a:ea typeface="微软雅黑" panose="020B0503020204020204" charset="-122"/>
                <a:sym typeface="+mn-ea"/>
              </a:rPr>
              <a:t>采用系统级保护</a:t>
            </a:r>
            <a:endParaRPr lang="zh-CN" altLang="en-US" sz="2400"/>
          </a:p>
        </p:txBody>
      </p:sp>
      <p:sp>
        <p:nvSpPr>
          <p:cNvPr id="38916" name="Rectangle 44"/>
          <p:cNvSpPr>
            <a:spLocks noGrp="1" noChangeArrowheads="1"/>
          </p:cNvSpPr>
          <p:nvPr/>
        </p:nvSpPr>
        <p:spPr>
          <a:xfrm>
            <a:off x="1418908" y="1681798"/>
            <a:ext cx="4433887" cy="293846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D0D0D"/>
              </a:buClr>
            </a:pPr>
            <a:r>
              <a:rPr lang="en-US" dirty="0">
                <a:latin typeface="微软雅黑" panose="020B0503020204020204" charset="-122"/>
                <a:ea typeface="微软雅黑" panose="020B0503020204020204" charset="-122"/>
              </a:rPr>
              <a:t>随机叠加偏移</a:t>
            </a:r>
          </a:p>
          <a:p>
            <a:pPr lvl="1" eaLnBrk="1" hangingPunct="1">
              <a:lnSpc>
                <a:spcPct val="150000"/>
              </a:lnSpc>
              <a:spcBef>
                <a:spcPts val="0"/>
              </a:spcBef>
              <a:buClr>
                <a:srgbClr val="0D0D0D"/>
              </a:buClr>
            </a:pPr>
            <a:r>
              <a:rPr lang="en-US" dirty="0">
                <a:latin typeface="微软雅黑" panose="020B0503020204020204" charset="-122"/>
                <a:ea typeface="微软雅黑" panose="020B0503020204020204" charset="-122"/>
              </a:rPr>
              <a:t>在程序开始时，在栈上分配任意数量的空间。</a:t>
            </a:r>
          </a:p>
          <a:p>
            <a:pPr lvl="1" eaLnBrk="1" hangingPunct="1">
              <a:lnSpc>
                <a:spcPct val="150000"/>
              </a:lnSpc>
              <a:spcBef>
                <a:spcPts val="0"/>
              </a:spcBef>
              <a:buClr>
                <a:srgbClr val="0D0D0D"/>
              </a:buClr>
            </a:pPr>
            <a:r>
              <a:rPr lang="en-US" dirty="0">
                <a:latin typeface="微软雅黑" panose="020B0503020204020204" charset="-122"/>
                <a:ea typeface="微软雅黑" panose="020B0503020204020204" charset="-122"/>
              </a:rPr>
              <a:t>移位整个程序的堆栈地址</a:t>
            </a:r>
            <a:r>
              <a:rPr lang="zh-CN" altLang="en-US" dirty="0">
                <a:latin typeface="微软雅黑" panose="020B0503020204020204" charset="-122"/>
                <a:ea typeface="微软雅黑" panose="020B0503020204020204" charset="-122"/>
              </a:rPr>
              <a:t>。</a:t>
            </a:r>
          </a:p>
          <a:p>
            <a:pPr lvl="1" eaLnBrk="1" hangingPunct="1">
              <a:lnSpc>
                <a:spcPct val="150000"/>
              </a:lnSpc>
              <a:spcBef>
                <a:spcPts val="0"/>
              </a:spcBef>
              <a:buClr>
                <a:srgbClr val="0D0D0D"/>
              </a:buClr>
            </a:pPr>
            <a:r>
              <a:rPr lang="en-US" dirty="0">
                <a:latin typeface="微软雅黑" panose="020B0503020204020204" charset="-122"/>
                <a:ea typeface="微软雅黑" panose="020B0503020204020204" charset="-122"/>
              </a:rPr>
              <a:t>使得黑客很难预测插入代码的</a:t>
            </a:r>
            <a:r>
              <a:rPr lang="zh-CN" altLang="en-US" dirty="0">
                <a:latin typeface="微软雅黑" panose="020B0503020204020204" charset="-122"/>
                <a:ea typeface="微软雅黑" panose="020B0503020204020204" charset="-122"/>
              </a:rPr>
              <a:t>起始位置</a:t>
            </a:r>
            <a:r>
              <a:rPr lang="en-US" dirty="0">
                <a:latin typeface="微软雅黑" panose="020B0503020204020204" charset="-122"/>
                <a:ea typeface="微软雅黑" panose="020B0503020204020204" charset="-122"/>
              </a:rPr>
              <a:t>。</a:t>
            </a:r>
          </a:p>
          <a:p>
            <a:pPr lvl="2" eaLnBrk="1" hangingPunct="1"/>
            <a:r>
              <a:rPr lang="en-US" dirty="0">
                <a:latin typeface="微软雅黑" panose="020B0503020204020204" charset="-122"/>
                <a:ea typeface="微软雅黑" panose="020B0503020204020204" charset="-122"/>
              </a:rPr>
              <a:t>每次程序执行</a:t>
            </a:r>
            <a:r>
              <a:rPr lang="zh-CN" altLang="en-US" dirty="0">
                <a:latin typeface="微软雅黑" panose="020B0503020204020204" charset="-122"/>
                <a:ea typeface="微软雅黑" panose="020B0503020204020204" charset="-122"/>
              </a:rPr>
              <a:t>时，</a:t>
            </a:r>
            <a:r>
              <a:rPr lang="en-US" dirty="0">
                <a:latin typeface="微软雅黑" panose="020B0503020204020204" charset="-122"/>
                <a:ea typeface="微软雅黑" panose="020B0503020204020204" charset="-122"/>
              </a:rPr>
              <a:t>栈的重新定位</a:t>
            </a:r>
          </a:p>
          <a:p>
            <a:pPr lvl="1" eaLnBrk="1" hangingPunct="1"/>
            <a:endParaRPr lang="en-US" dirty="0">
              <a:latin typeface="微软雅黑" panose="020B0503020204020204" charset="-122"/>
              <a:ea typeface="微软雅黑" panose="020B0503020204020204" charset="-122"/>
            </a:endParaRPr>
          </a:p>
        </p:txBody>
      </p:sp>
      <p:graphicFrame>
        <p:nvGraphicFramePr>
          <p:cNvPr id="6" name="Object 1"/>
          <p:cNvGraphicFramePr>
            <a:graphicFrameLocks noChangeAspect="1"/>
          </p:cNvGraphicFramePr>
          <p:nvPr/>
        </p:nvGraphicFramePr>
        <p:xfrm>
          <a:off x="1143000" y="3425825"/>
          <a:ext cx="6858000" cy="4763"/>
        </p:xfrm>
        <a:graphic>
          <a:graphicData uri="http://schemas.openxmlformats.org/presentationml/2006/ole">
            <mc:AlternateContent xmlns:mc="http://schemas.openxmlformats.org/markup-compatibility/2006">
              <mc:Choice xmlns:v="urn:schemas-microsoft-com:vml" Requires="v">
                <p:oleObj spid="_x0000_s1196" name="Worksheet" r:id="rId3" imgW="31750000" imgH="25400" progId="Excel.Sheet.12">
                  <p:embed/>
                </p:oleObj>
              </mc:Choice>
              <mc:Fallback>
                <p:oleObj name="Worksheet" r:id="rId3" imgW="31750000" imgH="25400" progId="Excel.Sheet.12">
                  <p:embed/>
                  <p:pic>
                    <p:nvPicPr>
                      <p:cNvPr id="0" name="图片 1153"/>
                      <p:cNvPicPr/>
                      <p:nvPr/>
                    </p:nvPicPr>
                    <p:blipFill>
                      <a:blip r:embed="rId4"/>
                      <a:stretch>
                        <a:fillRect/>
                      </a:stretch>
                    </p:blipFill>
                    <p:spPr>
                      <a:xfrm>
                        <a:off x="1143000" y="3425825"/>
                        <a:ext cx="6858000" cy="4763"/>
                      </a:xfrm>
                      <a:prstGeom prst="rect">
                        <a:avLst/>
                      </a:prstGeom>
                    </p:spPr>
                  </p:pic>
                </p:oleObj>
              </mc:Fallback>
            </mc:AlternateContent>
          </a:graphicData>
        </a:graphic>
      </p:graphicFrame>
      <p:grpSp>
        <p:nvGrpSpPr>
          <p:cNvPr id="52" name="Group 51"/>
          <p:cNvGrpSpPr/>
          <p:nvPr/>
        </p:nvGrpSpPr>
        <p:grpSpPr>
          <a:xfrm>
            <a:off x="5991940" y="1328738"/>
            <a:ext cx="2676604" cy="4949546"/>
            <a:chOff x="5991940" y="1328738"/>
            <a:chExt cx="2676604" cy="4949546"/>
          </a:xfrm>
        </p:grpSpPr>
        <p:sp>
          <p:nvSpPr>
            <p:cNvPr id="53" name="Rectangle 4"/>
            <p:cNvSpPr/>
            <p:nvPr/>
          </p:nvSpPr>
          <p:spPr bwMode="auto">
            <a:xfrm>
              <a:off x="7398544" y="3386138"/>
              <a:ext cx="1270000" cy="304800"/>
            </a:xfrm>
            <a:prstGeom prst="rect">
              <a:avLst/>
            </a:prstGeom>
            <a:solidFill>
              <a:srgbClr val="F2F2F2"/>
            </a:solidFill>
            <a:ln w="25400" cap="flat">
              <a:solidFill>
                <a:srgbClr val="000000"/>
              </a:solidFill>
              <a:prstDash val="solid"/>
              <a:miter lim="800000"/>
              <a:headEnd type="none" w="med" len="med"/>
              <a:tailEnd type="none" w="med" len="med"/>
            </a:ln>
          </p:spPr>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u="none" strike="noStrike" kern="0" cap="none" spc="0" normalizeH="0" baseline="0" noProof="0" dirty="0">
                  <a:ln>
                    <a:noFill/>
                  </a:ln>
                  <a:solidFill>
                    <a:srgbClr val="000000"/>
                  </a:solidFill>
                  <a:effectLst/>
                  <a:uLnTx/>
                  <a:uFillTx/>
                  <a:latin typeface="Courier New" panose="02070309020205020404"/>
                  <a:ea typeface="Calibri Bold" charset="0"/>
                  <a:cs typeface="Courier New" panose="02070309020205020404"/>
                  <a:sym typeface="Calibri Bold" charset="0"/>
                </a:rPr>
                <a:t>main</a:t>
              </a:r>
            </a:p>
          </p:txBody>
        </p:sp>
        <p:sp>
          <p:nvSpPr>
            <p:cNvPr id="54" name="Rectangle 5"/>
            <p:cNvSpPr/>
            <p:nvPr/>
          </p:nvSpPr>
          <p:spPr bwMode="auto">
            <a:xfrm>
              <a:off x="7398544" y="3690938"/>
              <a:ext cx="1270000" cy="957262"/>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lIns="0" tIns="0" rIns="0" bIns="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sz="1800" b="0" i="0" u="none" strike="noStrike" kern="0" cap="none" spc="0" normalizeH="0" baseline="0" noProof="0" dirty="0">
                  <a:ln>
                    <a:noFill/>
                  </a:ln>
                  <a:solidFill>
                    <a:srgbClr val="000000"/>
                  </a:solidFill>
                  <a:effectLst/>
                  <a:uLnTx/>
                  <a:uFillTx/>
                  <a:latin typeface="Calibri Bold" charset="0"/>
                  <a:ea typeface="Calibri Bold" charset="0"/>
                  <a:cs typeface="Calibri Bold" charset="0"/>
                  <a:sym typeface="Calibri Bold" charset="0"/>
                </a:rPr>
                <a:t>应用</a:t>
              </a:r>
            </a:p>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Calibri Bold" charset="0"/>
                  <a:ea typeface="宋体" panose="02010600030101010101" pitchFamily="2" charset="-122"/>
                  <a:cs typeface="Calibri Bold" charset="0"/>
                  <a:sym typeface="Calibri Bold" charset="0"/>
                </a:rPr>
                <a:t>代码</a:t>
              </a:r>
            </a:p>
          </p:txBody>
        </p:sp>
        <p:sp>
          <p:nvSpPr>
            <p:cNvPr id="55" name="Rectangle 7"/>
            <p:cNvSpPr/>
            <p:nvPr/>
          </p:nvSpPr>
          <p:spPr bwMode="auto">
            <a:xfrm>
              <a:off x="7398544" y="1404938"/>
              <a:ext cx="1270000" cy="304800"/>
            </a:xfrm>
            <a:prstGeom prst="rect">
              <a:avLst/>
            </a:prstGeom>
            <a:solidFill>
              <a:srgbClr val="F2F2F2"/>
            </a:solidFill>
            <a:ln w="25400" cap="flat">
              <a:solidFill>
                <a:srgbClr val="000000"/>
              </a:solidFill>
              <a:prstDash val="solid"/>
              <a:miter lim="800000"/>
              <a:headEnd type="none" w="med" len="med"/>
              <a:tailEnd type="none" w="med" len="med"/>
            </a:ln>
          </p:spPr>
          <p:txBody>
            <a:bodyPr lIns="0" tIns="0" rIns="0" bIns="0"/>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sp>
          <p:nvSpPr>
            <p:cNvPr id="56" name="Rectangle 9"/>
            <p:cNvSpPr/>
            <p:nvPr/>
          </p:nvSpPr>
          <p:spPr bwMode="auto">
            <a:xfrm>
              <a:off x="7398544" y="1709738"/>
              <a:ext cx="1270000" cy="1676400"/>
            </a:xfrm>
            <a:prstGeom prst="rect">
              <a:avLst/>
            </a:prstGeom>
            <a:solidFill>
              <a:srgbClr val="FF9999"/>
            </a:solidFill>
            <a:ln w="25400" cap="flat">
              <a:solidFill>
                <a:srgbClr val="000000"/>
              </a:solidFill>
              <a:prstDash val="solid"/>
              <a:miter lim="800000"/>
              <a:headEnd type="none" w="med" len="med"/>
              <a:tailEnd type="none" w="med" len="med"/>
            </a:ln>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dirty="0">
                <a:ln>
                  <a:noFill/>
                </a:ln>
                <a:solidFill>
                  <a:srgbClr val="000000"/>
                </a:solidFill>
                <a:effectLst/>
                <a:uLnTx/>
                <a:uFillTx/>
                <a:latin typeface="Calibri Bold" charset="0"/>
                <a:ea typeface="Calibri Bold" charset="0"/>
                <a:cs typeface="Calibri Bold" charset="0"/>
                <a:sym typeface="Calibri Bold" charset="0"/>
              </a:endParaRPr>
            </a:p>
          </p:txBody>
        </p:sp>
        <p:sp>
          <p:nvSpPr>
            <p:cNvPr id="57" name="Rectangle 10"/>
            <p:cNvSpPr/>
            <p:nvPr/>
          </p:nvSpPr>
          <p:spPr bwMode="auto">
            <a:xfrm>
              <a:off x="5991940" y="2243138"/>
              <a:ext cx="990600" cy="353060"/>
            </a:xfrm>
            <a:prstGeom prst="rect">
              <a:avLst/>
            </a:prstGeom>
            <a:noFill/>
            <a:ln w="25400" cap="flat">
              <a:noFill/>
              <a:miter lim="800000"/>
              <a:headEnd type="none" w="med" len="med"/>
              <a:tailEnd type="none" w="med" len="med"/>
            </a:ln>
          </p:spPr>
          <p:txBody>
            <a:bodyPr wrap="none" lIns="38100" tIns="38100" rIns="38100" bIns="38100">
              <a:spAutoFit/>
            </a:body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Calibri Bold" charset="0"/>
                  <a:ea typeface="宋体" panose="02010600030101010101" pitchFamily="2" charset="-122"/>
                  <a:cs typeface="Calibri Bold" charset="0"/>
                  <a:sym typeface="Calibri Bold" charset="0"/>
                </a:rPr>
                <a:t>随机分配</a:t>
              </a:r>
            </a:p>
          </p:txBody>
        </p:sp>
        <p:sp>
          <p:nvSpPr>
            <p:cNvPr id="58" name="AutoShape 11"/>
            <p:cNvSpPr/>
            <p:nvPr/>
          </p:nvSpPr>
          <p:spPr bwMode="auto">
            <a:xfrm>
              <a:off x="7150767" y="1704917"/>
              <a:ext cx="228600" cy="1681221"/>
            </a:xfrm>
            <a:custGeom>
              <a:avLst/>
              <a:gdLst>
                <a:gd name="T0" fmla="*/ 10800 w 21600"/>
                <a:gd name="T1" fmla="*/ 10800 h 21600"/>
              </a:gdLst>
              <a:ahLst/>
              <a:cxnLst>
                <a:cxn ang="0">
                  <a:pos x="T0" y="T1"/>
                </a:cxn>
              </a:cxnLst>
              <a:rect l="0" t="0" r="r" b="b"/>
              <a:pathLst>
                <a:path w="21600" h="21600">
                  <a:moveTo>
                    <a:pt x="21600" y="21600"/>
                  </a:moveTo>
                  <a:cubicBezTo>
                    <a:pt x="15635" y="21600"/>
                    <a:pt x="10800" y="20875"/>
                    <a:pt x="10800" y="19980"/>
                  </a:cubicBezTo>
                  <a:lnTo>
                    <a:pt x="10800" y="12420"/>
                  </a:lnTo>
                  <a:cubicBezTo>
                    <a:pt x="10800" y="11525"/>
                    <a:pt x="5965" y="10800"/>
                    <a:pt x="0" y="10800"/>
                  </a:cubicBezTo>
                  <a:cubicBezTo>
                    <a:pt x="5965" y="10800"/>
                    <a:pt x="10800" y="10075"/>
                    <a:pt x="10800" y="9180"/>
                  </a:cubicBezTo>
                  <a:lnTo>
                    <a:pt x="10800" y="1620"/>
                  </a:lnTo>
                  <a:cubicBezTo>
                    <a:pt x="10800" y="725"/>
                    <a:pt x="15635" y="0"/>
                    <a:pt x="21600" y="0"/>
                  </a:cubicBezTo>
                </a:path>
              </a:pathLst>
            </a:custGeom>
            <a:noFill/>
            <a:ln w="25400" cap="flat">
              <a:solidFill>
                <a:srgbClr val="000000"/>
              </a:solidFill>
              <a:prstDash val="solid"/>
              <a:round/>
              <a:headEnd type="none" w="med" len="med"/>
              <a:tailEnd type="none" w="med" len="med"/>
            </a:ln>
          </p:spPr>
          <p:txBody>
            <a:bodyPr lIns="0" tIns="0" rIns="0" bIns="0"/>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ysClr val="windowText" lastClr="000000"/>
                </a:solidFill>
                <a:effectLst/>
                <a:uLnTx/>
                <a:uFillTx/>
              </a:endParaRPr>
            </a:p>
          </p:txBody>
        </p:sp>
        <p:sp>
          <p:nvSpPr>
            <p:cNvPr id="59" name="Rectangle 10"/>
            <p:cNvSpPr/>
            <p:nvPr/>
          </p:nvSpPr>
          <p:spPr bwMode="auto">
            <a:xfrm>
              <a:off x="6407944" y="1328738"/>
              <a:ext cx="762000" cy="353060"/>
            </a:xfrm>
            <a:prstGeom prst="rect">
              <a:avLst/>
            </a:prstGeom>
            <a:noFill/>
            <a:ln w="25400" cap="flat">
              <a:noFill/>
              <a:miter lim="800000"/>
              <a:headEnd type="none" w="med" len="med"/>
              <a:tailEnd type="none" w="med" len="med"/>
            </a:ln>
          </p:spPr>
          <p:txBody>
            <a:bodyPr wrap="none" lIns="38100" tIns="38100" rIns="38100" bIns="38100">
              <a:spAutoFit/>
            </a:bodyPr>
            <a:lstStyle/>
            <a:p>
              <a:pPr marL="0" marR="0" lvl="0" indent="0" algn="r" defTabSz="914400" eaLnBrk="1" fontAlgn="auto" latinLnBrk="0" hangingPunct="1">
                <a:lnSpc>
                  <a:spcPct val="100000"/>
                </a:lnSpc>
                <a:spcBef>
                  <a:spcPts val="0"/>
                </a:spcBef>
                <a:spcAft>
                  <a:spcPts val="0"/>
                </a:spcAft>
                <a:buClrTx/>
                <a:buSzTx/>
                <a:buFontTx/>
                <a:buNone/>
                <a:defRPr/>
              </a:pPr>
              <a:r>
                <a:rPr kumimoji="0" lang="zh-CN" altLang="en-US" sz="1800" b="0" i="0" u="none" strike="noStrike" kern="0" cap="none" spc="0" normalizeH="0" baseline="0" noProof="0" dirty="0">
                  <a:ln>
                    <a:noFill/>
                  </a:ln>
                  <a:solidFill>
                    <a:srgbClr val="000000"/>
                  </a:solidFill>
                  <a:effectLst/>
                  <a:uLnTx/>
                  <a:uFillTx/>
                  <a:latin typeface="Calibri Bold" charset="0"/>
                  <a:ea typeface="宋体" panose="02010600030101010101" pitchFamily="2" charset="-122"/>
                  <a:cs typeface="Calibri Bold" charset="0"/>
                  <a:sym typeface="Calibri Bold" charset="0"/>
                </a:rPr>
                <a:t>栈基址</a:t>
              </a:r>
            </a:p>
          </p:txBody>
        </p:sp>
        <p:sp>
          <p:nvSpPr>
            <p:cNvPr id="60" name="Rectangle 7"/>
            <p:cNvSpPr>
              <a:spLocks noChangeArrowheads="1"/>
            </p:cNvSpPr>
            <p:nvPr/>
          </p:nvSpPr>
          <p:spPr bwMode="auto">
            <a:xfrm>
              <a:off x="7398544" y="4638842"/>
              <a:ext cx="1270000" cy="381000"/>
            </a:xfrm>
            <a:prstGeom prst="rect">
              <a:avLst/>
            </a:prstGeom>
            <a:solidFill>
              <a:schemeClr val="bg1">
                <a:lumMod val="95000"/>
              </a:schemeClr>
            </a:solidFill>
            <a:ln w="28575">
              <a:solidFill>
                <a:schemeClr val="tx1"/>
              </a:solidFill>
              <a:miter lim="800000"/>
            </a:ln>
            <a:effectLst/>
          </p:spPr>
          <p:txBody>
            <a:bodyPr wrap="none" anchor="ctr"/>
            <a:lstStyle/>
            <a:p>
              <a:pPr eaLnBrk="0" hangingPunct="0">
                <a:defRPr/>
              </a:pPr>
              <a:r>
                <a:rPr lang="en-US" sz="1800" dirty="0">
                  <a:latin typeface="Calibri" panose="020F0502020204030204" charset="0"/>
                  <a:cs typeface="+mn-cs"/>
                </a:rPr>
                <a:t>B?</a:t>
              </a:r>
            </a:p>
          </p:txBody>
        </p:sp>
        <p:sp>
          <p:nvSpPr>
            <p:cNvPr id="61" name="Text Box 16"/>
            <p:cNvSpPr txBox="1">
              <a:spLocks noChangeArrowheads="1"/>
            </p:cNvSpPr>
            <p:nvPr/>
          </p:nvSpPr>
          <p:spPr bwMode="auto">
            <a:xfrm>
              <a:off x="6561519" y="5908952"/>
              <a:ext cx="421021" cy="369332"/>
            </a:xfrm>
            <a:prstGeom prst="rect">
              <a:avLst/>
            </a:prstGeom>
            <a:noFill/>
            <a:ln w="28575">
              <a:noFill/>
              <a:miter lim="800000"/>
            </a:ln>
          </p:spPr>
          <p:txBody>
            <a:bodyPr wrap="none" anchor="ctr">
              <a:spAutoFit/>
            </a:bodyPr>
            <a:lstStyle/>
            <a:p>
              <a:pPr algn="r" eaLnBrk="0" hangingPunct="0"/>
              <a:r>
                <a:rPr lang="en-US" sz="1800" dirty="0">
                  <a:latin typeface="Calibri" panose="020F0502020204030204" charset="0"/>
                </a:rPr>
                <a:t>B?</a:t>
              </a:r>
            </a:p>
          </p:txBody>
        </p:sp>
        <p:sp>
          <p:nvSpPr>
            <p:cNvPr id="62" name="Line 17"/>
            <p:cNvSpPr>
              <a:spLocks noChangeShapeType="1"/>
            </p:cNvSpPr>
            <p:nvPr/>
          </p:nvSpPr>
          <p:spPr bwMode="auto">
            <a:xfrm>
              <a:off x="6982540" y="6096000"/>
              <a:ext cx="396875" cy="0"/>
            </a:xfrm>
            <a:prstGeom prst="line">
              <a:avLst/>
            </a:prstGeom>
            <a:noFill/>
            <a:ln w="28575">
              <a:solidFill>
                <a:schemeClr val="tx1"/>
              </a:solidFill>
              <a:round/>
              <a:tailEnd type="triangle" w="med" len="med"/>
            </a:ln>
          </p:spPr>
          <p:txBody>
            <a:bodyPr anchor="ctr">
              <a:spAutoFit/>
            </a:bodyPr>
            <a:lstStyle/>
            <a:p>
              <a:endParaRPr lang="en-US"/>
            </a:p>
          </p:txBody>
        </p:sp>
        <p:sp>
          <p:nvSpPr>
            <p:cNvPr id="63" name="Rectangle 18"/>
            <p:cNvSpPr>
              <a:spLocks noChangeArrowheads="1"/>
            </p:cNvSpPr>
            <p:nvPr/>
          </p:nvSpPr>
          <p:spPr bwMode="auto">
            <a:xfrm>
              <a:off x="7398544" y="5535574"/>
              <a:ext cx="1270000" cy="645160"/>
            </a:xfrm>
            <a:prstGeom prst="rect">
              <a:avLst/>
            </a:prstGeom>
            <a:solidFill>
              <a:schemeClr val="accent2">
                <a:lumMod val="40000"/>
                <a:lumOff val="60000"/>
              </a:schemeClr>
            </a:solidFill>
            <a:ln w="28575">
              <a:solidFill>
                <a:schemeClr val="tx1"/>
              </a:solidFill>
              <a:miter lim="800000"/>
            </a:ln>
            <a:effectLst/>
          </p:spPr>
          <p:txBody>
            <a:bodyPr wrap="square" anchor="ctr">
              <a:spAutoFit/>
            </a:bodyPr>
            <a:lstStyle/>
            <a:p>
              <a:pPr eaLnBrk="0" hangingPunct="0">
                <a:defRPr/>
              </a:pPr>
              <a:r>
                <a:rPr lang="zh-CN" altLang="en-US" sz="1800" dirty="0">
                  <a:latin typeface="Calibri" panose="020F0502020204030204" charset="0"/>
                  <a:cs typeface="+mn-cs"/>
                </a:rPr>
                <a:t>攻击</a:t>
              </a:r>
            </a:p>
            <a:p>
              <a:pPr eaLnBrk="0" hangingPunct="0">
                <a:defRPr/>
              </a:pPr>
              <a:r>
                <a:rPr lang="zh-CN" altLang="en-US" sz="1800" dirty="0">
                  <a:latin typeface="Calibri" panose="020F0502020204030204" charset="0"/>
                  <a:cs typeface="+mn-cs"/>
                </a:rPr>
                <a:t>代码</a:t>
              </a:r>
            </a:p>
          </p:txBody>
        </p:sp>
        <p:sp>
          <p:nvSpPr>
            <p:cNvPr id="64" name="Rectangle 19"/>
            <p:cNvSpPr>
              <a:spLocks noChangeArrowheads="1"/>
            </p:cNvSpPr>
            <p:nvPr/>
          </p:nvSpPr>
          <p:spPr bwMode="auto">
            <a:xfrm>
              <a:off x="7398544" y="5016392"/>
              <a:ext cx="1270000" cy="518706"/>
            </a:xfrm>
            <a:prstGeom prst="rect">
              <a:avLst/>
            </a:prstGeom>
            <a:solidFill>
              <a:schemeClr val="accent2">
                <a:lumMod val="40000"/>
                <a:lumOff val="60000"/>
              </a:schemeClr>
            </a:solidFill>
            <a:ln w="28575">
              <a:solidFill>
                <a:schemeClr val="tx1"/>
              </a:solidFill>
              <a:miter lim="800000"/>
            </a:ln>
            <a:effectLst/>
          </p:spPr>
          <p:txBody>
            <a:bodyPr anchor="ctr"/>
            <a:lstStyle/>
            <a:p>
              <a:pPr eaLnBrk="0" hangingPunct="0">
                <a:defRPr/>
              </a:pPr>
              <a:r>
                <a:rPr lang="en-US" sz="1800" dirty="0">
                  <a:latin typeface="Calibri" panose="020F0502020204030204" charset="0"/>
                  <a:cs typeface="+mn-cs"/>
                </a:rPr>
                <a:t>pad</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6">
                                            <p:txEl>
                                              <p:pRg st="1" end="1"/>
                                            </p:txEl>
                                          </p:spTgt>
                                        </p:tgtEl>
                                        <p:attrNameLst>
                                          <p:attrName>style.visibility</p:attrName>
                                        </p:attrNameLst>
                                      </p:cBhvr>
                                      <p:to>
                                        <p:strVal val="visible"/>
                                      </p:to>
                                    </p:set>
                                    <p:anim calcmode="lin" valueType="num">
                                      <p:cBhvr additive="base">
                                        <p:cTn id="7" dur="500" fill="hold"/>
                                        <p:tgtEl>
                                          <p:spTgt spid="389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8916">
                                            <p:txEl>
                                              <p:pRg st="2" end="2"/>
                                            </p:txEl>
                                          </p:spTgt>
                                        </p:tgtEl>
                                        <p:attrNameLst>
                                          <p:attrName>style.visibility</p:attrName>
                                        </p:attrNameLst>
                                      </p:cBhvr>
                                      <p:to>
                                        <p:strVal val="visible"/>
                                      </p:to>
                                    </p:set>
                                    <p:anim calcmode="lin" valueType="num">
                                      <p:cBhvr additive="base">
                                        <p:cTn id="13" dur="500" fill="hold"/>
                                        <p:tgtEl>
                                          <p:spTgt spid="3891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8916">
                                            <p:txEl>
                                              <p:pRg st="3" end="3"/>
                                            </p:txEl>
                                          </p:spTgt>
                                        </p:tgtEl>
                                        <p:attrNameLst>
                                          <p:attrName>style.visibility</p:attrName>
                                        </p:attrNameLst>
                                      </p:cBhvr>
                                      <p:to>
                                        <p:strVal val="visible"/>
                                      </p:to>
                                    </p:set>
                                    <p:anim calcmode="lin" valueType="num">
                                      <p:cBhvr additive="base">
                                        <p:cTn id="19" dur="500" fill="hold"/>
                                        <p:tgtEl>
                                          <p:spTgt spid="3891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1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916">
                                            <p:txEl>
                                              <p:pRg st="4" end="4"/>
                                            </p:txEl>
                                          </p:spTgt>
                                        </p:tgtEl>
                                        <p:attrNameLst>
                                          <p:attrName>style.visibility</p:attrName>
                                        </p:attrNameLst>
                                      </p:cBhvr>
                                      <p:to>
                                        <p:strVal val="visible"/>
                                      </p:to>
                                    </p:set>
                                    <p:anim calcmode="lin" valueType="num">
                                      <p:cBhvr additive="base">
                                        <p:cTn id="25" dur="500" fill="hold"/>
                                        <p:tgtEl>
                                          <p:spTgt spid="3891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1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51485"/>
            <a:ext cx="3134360" cy="636905"/>
          </a:xfrm>
          <a:prstGeom prst="chevron">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微软雅黑" panose="020B0503020204020204" charset="-122"/>
                <a:ea typeface="微软雅黑" panose="020B0503020204020204" charset="-122"/>
                <a:sym typeface="+mn-ea"/>
              </a:rPr>
              <a:t>采用系统级保护</a:t>
            </a:r>
            <a:endParaRPr lang="zh-CN" altLang="en-US" sz="2400"/>
          </a:p>
        </p:txBody>
      </p:sp>
      <p:sp>
        <p:nvSpPr>
          <p:cNvPr id="4" name="Rectangle 44"/>
          <p:cNvSpPr>
            <a:spLocks noGrp="1" noChangeArrowheads="1"/>
          </p:cNvSpPr>
          <p:nvPr/>
        </p:nvSpPr>
        <p:spPr>
          <a:xfrm>
            <a:off x="140018" y="1302068"/>
            <a:ext cx="4052887" cy="522446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Clr>
                <a:srgbClr val="92D050"/>
              </a:buClr>
            </a:pPr>
            <a:r>
              <a:rPr lang="en-US">
                <a:latin typeface="微软雅黑" panose="020B0503020204020204" charset="-122"/>
                <a:ea typeface="微软雅黑" panose="020B0503020204020204" charset="-122"/>
              </a:rPr>
              <a:t>不可执行的代码段</a:t>
            </a:r>
          </a:p>
          <a:p>
            <a:pPr lvl="1" eaLnBrk="1" hangingPunct="1">
              <a:buClr>
                <a:srgbClr val="70AD47"/>
              </a:buClr>
            </a:pPr>
            <a:r>
              <a:rPr lang="en-US" dirty="0">
                <a:latin typeface="微软雅黑" panose="020B0503020204020204" charset="-122"/>
                <a:ea typeface="微软雅黑" panose="020B0503020204020204" charset="-122"/>
              </a:rPr>
              <a:t>在传统的x86，可以标记存储区为“只读”或“可写的”</a:t>
            </a:r>
          </a:p>
          <a:p>
            <a:pPr lvl="2" eaLnBrk="1" hangingPunct="1"/>
            <a:r>
              <a:rPr lang="en-US" dirty="0">
                <a:latin typeface="微软雅黑" panose="020B0503020204020204" charset="-122"/>
                <a:ea typeface="微软雅黑" panose="020B0503020204020204" charset="-122"/>
              </a:rPr>
              <a:t>可以执行任何可读的操作</a:t>
            </a:r>
          </a:p>
          <a:p>
            <a:pPr lvl="1" eaLnBrk="1" hangingPunct="1">
              <a:buClr>
                <a:srgbClr val="70AD47"/>
              </a:buClr>
            </a:pPr>
            <a:r>
              <a:rPr lang="en-US" dirty="0">
                <a:latin typeface="微软雅黑" panose="020B0503020204020204" charset="-122"/>
                <a:ea typeface="微软雅黑" panose="020B0503020204020204" charset="-122"/>
              </a:rPr>
              <a:t>x86-64添加显式“执行”权限</a:t>
            </a:r>
          </a:p>
          <a:p>
            <a:pPr lvl="1" eaLnBrk="1" hangingPunct="1">
              <a:buClr>
                <a:srgbClr val="70AD47"/>
              </a:buClr>
            </a:pPr>
            <a:r>
              <a:rPr lang="en-US" dirty="0">
                <a:latin typeface="微软雅黑" panose="020B0503020204020204" charset="-122"/>
                <a:ea typeface="微软雅黑" panose="020B0503020204020204" charset="-122"/>
              </a:rPr>
              <a:t>标记为不可执行的栈</a:t>
            </a:r>
          </a:p>
          <a:p>
            <a:pPr lvl="1" eaLnBrk="1" hangingPunct="1"/>
            <a:endParaRPr lang="en-US" dirty="0">
              <a:latin typeface="微软雅黑" panose="020B0503020204020204" charset="-122"/>
              <a:ea typeface="微软雅黑" panose="020B0503020204020204" charset="-122"/>
            </a:endParaRPr>
          </a:p>
        </p:txBody>
      </p:sp>
      <p:graphicFrame>
        <p:nvGraphicFramePr>
          <p:cNvPr id="7" name="Object 1"/>
          <p:cNvGraphicFramePr>
            <a:graphicFrameLocks noChangeAspect="1"/>
          </p:cNvGraphicFramePr>
          <p:nvPr/>
        </p:nvGraphicFramePr>
        <p:xfrm>
          <a:off x="1143000" y="3425825"/>
          <a:ext cx="6858000" cy="4763"/>
        </p:xfrm>
        <a:graphic>
          <a:graphicData uri="http://schemas.openxmlformats.org/presentationml/2006/ole">
            <mc:AlternateContent xmlns:mc="http://schemas.openxmlformats.org/markup-compatibility/2006">
              <mc:Choice xmlns:v="urn:schemas-microsoft-com:vml" Requires="v">
                <p:oleObj spid="_x0000_s2151" name="Worksheet" r:id="rId3" imgW="31750000" imgH="25400" progId="Excel.Sheet.12">
                  <p:embed/>
                </p:oleObj>
              </mc:Choice>
              <mc:Fallback>
                <p:oleObj name="Worksheet" r:id="rId3" imgW="31750000" imgH="25400" progId="Excel.Sheet.12">
                  <p:embed/>
                  <p:pic>
                    <p:nvPicPr>
                      <p:cNvPr id="0" name="图片 2108"/>
                      <p:cNvPicPr/>
                      <p:nvPr/>
                    </p:nvPicPr>
                    <p:blipFill>
                      <a:blip r:embed="rId4"/>
                      <a:stretch>
                        <a:fillRect/>
                      </a:stretch>
                    </p:blipFill>
                    <p:spPr>
                      <a:xfrm>
                        <a:off x="1143000" y="3425825"/>
                        <a:ext cx="6858000" cy="4763"/>
                      </a:xfrm>
                      <a:prstGeom prst="rect">
                        <a:avLst/>
                      </a:prstGeom>
                    </p:spPr>
                  </p:pic>
                </p:oleObj>
              </mc:Fallback>
            </mc:AlternateContent>
          </a:graphicData>
        </a:graphic>
      </p:graphicFrame>
      <p:grpSp>
        <p:nvGrpSpPr>
          <p:cNvPr id="16" name="Group 15"/>
          <p:cNvGrpSpPr/>
          <p:nvPr/>
        </p:nvGrpSpPr>
        <p:grpSpPr>
          <a:xfrm>
            <a:off x="4259263" y="1154113"/>
            <a:ext cx="3817937" cy="4203700"/>
            <a:chOff x="4259263" y="1154113"/>
            <a:chExt cx="3817937" cy="4203700"/>
          </a:xfrm>
        </p:grpSpPr>
        <p:sp>
          <p:nvSpPr>
            <p:cNvPr id="17" name="Text Box 6"/>
            <p:cNvSpPr txBox="1">
              <a:spLocks noChangeArrowheads="1"/>
            </p:cNvSpPr>
            <p:nvPr/>
          </p:nvSpPr>
          <p:spPr bwMode="auto">
            <a:xfrm>
              <a:off x="5630863" y="1154113"/>
              <a:ext cx="2428875" cy="368300"/>
            </a:xfrm>
            <a:prstGeom prst="rect">
              <a:avLst/>
            </a:prstGeom>
            <a:noFill/>
            <a:ln w="25400">
              <a:noFill/>
              <a:miter lim="800000"/>
            </a:ln>
          </p:spPr>
          <p:txBody>
            <a:bodyPr wrap="none">
              <a:spAutoFit/>
            </a:bodyPr>
            <a:lstStyle/>
            <a:p>
              <a:pPr eaLnBrk="0" hangingPunct="0"/>
              <a:r>
                <a:rPr lang="zh-CN" altLang="en-US" sz="1800" b="0">
                  <a:latin typeface="Calibri" panose="020F0502020204030204" charset="0"/>
                </a:rPr>
                <a:t>调用</a:t>
              </a:r>
              <a:r>
                <a:rPr lang="en-US" sz="1800" b="0">
                  <a:latin typeface="Calibri" panose="020F0502020204030204" charset="0"/>
                </a:rPr>
                <a:t> </a:t>
              </a:r>
              <a:r>
                <a:rPr lang="en-US" sz="1800">
                  <a:latin typeface="Courier New" panose="02070309020205020404" charset="0"/>
                </a:rPr>
                <a:t>gets()</a:t>
              </a:r>
              <a:r>
                <a:rPr lang="zh-CN" altLang="en-US" sz="1800">
                  <a:latin typeface="Courier New" panose="02070309020205020404" charset="0"/>
                </a:rPr>
                <a:t>之后的栈</a:t>
              </a:r>
            </a:p>
          </p:txBody>
        </p:sp>
        <p:sp>
          <p:nvSpPr>
            <p:cNvPr id="18" name="Rectangle 7"/>
            <p:cNvSpPr>
              <a:spLocks noChangeArrowheads="1"/>
            </p:cNvSpPr>
            <p:nvPr/>
          </p:nvSpPr>
          <p:spPr bwMode="auto">
            <a:xfrm>
              <a:off x="5727700" y="2819400"/>
              <a:ext cx="1066800" cy="381000"/>
            </a:xfrm>
            <a:prstGeom prst="rect">
              <a:avLst/>
            </a:prstGeom>
            <a:solidFill>
              <a:schemeClr val="bg1">
                <a:lumMod val="95000"/>
              </a:schemeClr>
            </a:solidFill>
            <a:ln w="28575">
              <a:solidFill>
                <a:schemeClr val="tx1"/>
              </a:solidFill>
              <a:miter lim="800000"/>
            </a:ln>
            <a:effectLst/>
          </p:spPr>
          <p:txBody>
            <a:bodyPr wrap="none" anchor="ctr"/>
            <a:lstStyle/>
            <a:p>
              <a:pPr eaLnBrk="0" hangingPunct="0">
                <a:defRPr/>
              </a:pPr>
              <a:r>
                <a:rPr lang="en-US" sz="1800" dirty="0">
                  <a:latin typeface="Calibri" panose="020F0502020204030204" charset="0"/>
                  <a:cs typeface="+mn-cs"/>
                </a:rPr>
                <a:t>B</a:t>
              </a:r>
            </a:p>
          </p:txBody>
        </p:sp>
        <p:sp>
          <p:nvSpPr>
            <p:cNvPr id="19" name="Rectangle 8"/>
            <p:cNvSpPr>
              <a:spLocks noChangeArrowheads="1"/>
            </p:cNvSpPr>
            <p:nvPr/>
          </p:nvSpPr>
          <p:spPr bwMode="auto">
            <a:xfrm>
              <a:off x="5727700" y="1600200"/>
              <a:ext cx="1066800" cy="1219200"/>
            </a:xfrm>
            <a:prstGeom prst="rect">
              <a:avLst/>
            </a:prstGeom>
            <a:solidFill>
              <a:schemeClr val="bg1">
                <a:lumMod val="95000"/>
              </a:schemeClr>
            </a:solidFill>
            <a:ln w="28575">
              <a:solidFill>
                <a:schemeClr val="tx1"/>
              </a:solidFill>
              <a:miter lim="800000"/>
            </a:ln>
            <a:effectLst/>
          </p:spPr>
          <p:txBody>
            <a:bodyPr wrap="none" anchor="ctr"/>
            <a:lstStyle/>
            <a:p>
              <a:pPr eaLnBrk="0" hangingPunct="0">
                <a:defRPr/>
              </a:pPr>
              <a:endParaRPr lang="en-US" sz="1800" dirty="0">
                <a:latin typeface="Calibri" panose="020F0502020204030204" charset="0"/>
                <a:cs typeface="+mn-cs"/>
              </a:endParaRPr>
            </a:p>
          </p:txBody>
        </p:sp>
        <p:sp>
          <p:nvSpPr>
            <p:cNvPr id="20" name="Rectangle 11"/>
            <p:cNvSpPr>
              <a:spLocks noChangeArrowheads="1"/>
            </p:cNvSpPr>
            <p:nvPr/>
          </p:nvSpPr>
          <p:spPr bwMode="auto">
            <a:xfrm>
              <a:off x="5727700" y="4724400"/>
              <a:ext cx="1066800" cy="622300"/>
            </a:xfrm>
            <a:prstGeom prst="rect">
              <a:avLst/>
            </a:prstGeom>
            <a:solidFill>
              <a:schemeClr val="accent2">
                <a:lumMod val="20000"/>
                <a:lumOff val="80000"/>
              </a:schemeClr>
            </a:solidFill>
            <a:ln w="28575">
              <a:solidFill>
                <a:schemeClr val="tx1"/>
              </a:solidFill>
              <a:miter lim="800000"/>
            </a:ln>
            <a:effectLst/>
          </p:spPr>
          <p:txBody>
            <a:bodyPr wrap="none" anchor="ctr"/>
            <a:lstStyle/>
            <a:p>
              <a:pPr eaLnBrk="0" hangingPunct="0">
                <a:defRPr/>
              </a:pPr>
              <a:endParaRPr lang="en-US" sz="1800" dirty="0">
                <a:latin typeface="Calibri" panose="020F0502020204030204" charset="0"/>
                <a:cs typeface="+mn-cs"/>
              </a:endParaRPr>
            </a:p>
            <a:p>
              <a:pPr eaLnBrk="0" hangingPunct="0">
                <a:defRPr/>
              </a:pPr>
              <a:endParaRPr lang="en-US" sz="1800" dirty="0">
                <a:latin typeface="Calibri" panose="020F0502020204030204" charset="0"/>
                <a:cs typeface="+mn-cs"/>
              </a:endParaRPr>
            </a:p>
          </p:txBody>
        </p:sp>
        <p:sp>
          <p:nvSpPr>
            <p:cNvPr id="21" name="Text Box 14"/>
            <p:cNvSpPr txBox="1">
              <a:spLocks noChangeArrowheads="1"/>
            </p:cNvSpPr>
            <p:nvPr/>
          </p:nvSpPr>
          <p:spPr bwMode="auto">
            <a:xfrm>
              <a:off x="7162800" y="2024063"/>
              <a:ext cx="914400" cy="368300"/>
            </a:xfrm>
            <a:prstGeom prst="rect">
              <a:avLst/>
            </a:prstGeom>
            <a:noFill/>
            <a:ln w="28575">
              <a:noFill/>
              <a:miter lim="800000"/>
            </a:ln>
          </p:spPr>
          <p:txBody>
            <a:bodyPr wrap="none" anchor="ctr">
              <a:spAutoFit/>
            </a:bodyPr>
            <a:lstStyle/>
            <a:p>
              <a:pPr eaLnBrk="0" hangingPunct="0"/>
              <a:r>
                <a:rPr lang="en-US" sz="1800" dirty="0">
                  <a:latin typeface="Courier New" panose="02070309020205020404" charset="0"/>
                </a:rPr>
                <a:t>P</a:t>
              </a:r>
              <a:r>
                <a:rPr lang="en-US" sz="1800" b="0" dirty="0">
                  <a:latin typeface="Courier New" panose="02070309020205020404" charset="0"/>
                </a:rPr>
                <a:t> </a:t>
              </a:r>
              <a:r>
                <a:rPr lang="zh-CN" altLang="en-US" sz="1800" b="0" dirty="0">
                  <a:latin typeface="Courier New" panose="02070309020205020404" charset="0"/>
                </a:rPr>
                <a:t>栈帧</a:t>
              </a:r>
            </a:p>
          </p:txBody>
        </p:sp>
        <p:sp>
          <p:nvSpPr>
            <p:cNvPr id="22" name="Text Box 15"/>
            <p:cNvSpPr txBox="1">
              <a:spLocks noChangeArrowheads="1"/>
            </p:cNvSpPr>
            <p:nvPr/>
          </p:nvSpPr>
          <p:spPr bwMode="auto">
            <a:xfrm>
              <a:off x="7162800" y="4098131"/>
              <a:ext cx="828675" cy="368300"/>
            </a:xfrm>
            <a:prstGeom prst="rect">
              <a:avLst/>
            </a:prstGeom>
            <a:noFill/>
            <a:ln w="28575">
              <a:noFill/>
              <a:miter lim="800000"/>
            </a:ln>
          </p:spPr>
          <p:txBody>
            <a:bodyPr wrap="none" anchor="ctr">
              <a:spAutoFit/>
            </a:bodyPr>
            <a:lstStyle/>
            <a:p>
              <a:pPr eaLnBrk="0" hangingPunct="0"/>
              <a:r>
                <a:rPr lang="en-US" sz="1800" dirty="0">
                  <a:latin typeface="Courier New" panose="02070309020205020404" charset="0"/>
                </a:rPr>
                <a:t>Q</a:t>
              </a:r>
              <a:r>
                <a:rPr lang="en-US" sz="1800" b="0" dirty="0">
                  <a:latin typeface="Calibri" panose="020F0502020204030204" charset="0"/>
                </a:rPr>
                <a:t> </a:t>
              </a:r>
              <a:r>
                <a:rPr lang="zh-CN" altLang="en-US" sz="1800" b="0" dirty="0">
                  <a:latin typeface="Calibri" panose="020F0502020204030204" charset="0"/>
                </a:rPr>
                <a:t>栈帧</a:t>
              </a:r>
            </a:p>
          </p:txBody>
        </p:sp>
        <p:sp>
          <p:nvSpPr>
            <p:cNvPr id="23" name="Text Box 16"/>
            <p:cNvSpPr txBox="1">
              <a:spLocks noChangeArrowheads="1"/>
            </p:cNvSpPr>
            <p:nvPr/>
          </p:nvSpPr>
          <p:spPr bwMode="auto">
            <a:xfrm>
              <a:off x="4975225" y="4478338"/>
              <a:ext cx="314325" cy="369887"/>
            </a:xfrm>
            <a:prstGeom prst="rect">
              <a:avLst/>
            </a:prstGeom>
            <a:noFill/>
            <a:ln w="28575">
              <a:noFill/>
              <a:miter lim="800000"/>
            </a:ln>
          </p:spPr>
          <p:txBody>
            <a:bodyPr wrap="none" anchor="ctr">
              <a:spAutoFit/>
            </a:bodyPr>
            <a:lstStyle/>
            <a:p>
              <a:pPr eaLnBrk="0" hangingPunct="0"/>
              <a:r>
                <a:rPr lang="en-US" sz="1800">
                  <a:latin typeface="Calibri" panose="020F0502020204030204" charset="0"/>
                </a:rPr>
                <a:t>B</a:t>
              </a:r>
            </a:p>
          </p:txBody>
        </p:sp>
        <p:sp>
          <p:nvSpPr>
            <p:cNvPr id="24" name="Line 17"/>
            <p:cNvSpPr>
              <a:spLocks noChangeShapeType="1"/>
            </p:cNvSpPr>
            <p:nvPr/>
          </p:nvSpPr>
          <p:spPr bwMode="auto">
            <a:xfrm>
              <a:off x="5267325" y="4665663"/>
              <a:ext cx="396875" cy="0"/>
            </a:xfrm>
            <a:prstGeom prst="line">
              <a:avLst/>
            </a:prstGeom>
            <a:noFill/>
            <a:ln w="28575">
              <a:solidFill>
                <a:schemeClr val="tx1"/>
              </a:solidFill>
              <a:round/>
              <a:tailEnd type="triangle" w="med" len="med"/>
            </a:ln>
          </p:spPr>
          <p:txBody>
            <a:bodyPr anchor="ctr">
              <a:spAutoFit/>
            </a:bodyPr>
            <a:lstStyle/>
            <a:p>
              <a:endParaRPr lang="en-US"/>
            </a:p>
          </p:txBody>
        </p:sp>
        <p:sp>
          <p:nvSpPr>
            <p:cNvPr id="25" name="Rectangle 18"/>
            <p:cNvSpPr>
              <a:spLocks noChangeArrowheads="1"/>
            </p:cNvSpPr>
            <p:nvPr/>
          </p:nvSpPr>
          <p:spPr bwMode="auto">
            <a:xfrm>
              <a:off x="5727700" y="4078288"/>
              <a:ext cx="1066800" cy="646112"/>
            </a:xfrm>
            <a:prstGeom prst="rect">
              <a:avLst/>
            </a:prstGeom>
            <a:solidFill>
              <a:schemeClr val="accent2">
                <a:lumMod val="40000"/>
                <a:lumOff val="60000"/>
              </a:schemeClr>
            </a:solidFill>
            <a:ln w="28575">
              <a:solidFill>
                <a:schemeClr val="tx1"/>
              </a:solidFill>
              <a:miter lim="800000"/>
            </a:ln>
            <a:effectLst/>
          </p:spPr>
          <p:txBody>
            <a:bodyPr anchor="ctr">
              <a:spAutoFit/>
            </a:bodyPr>
            <a:lstStyle/>
            <a:p>
              <a:pPr eaLnBrk="0" hangingPunct="0">
                <a:defRPr/>
              </a:pPr>
              <a:r>
                <a:rPr lang="en-US" sz="1800" dirty="0">
                  <a:latin typeface="Calibri" panose="020F0502020204030204" charset="0"/>
                  <a:cs typeface="+mn-cs"/>
                </a:rPr>
                <a:t>exploit</a:t>
              </a:r>
            </a:p>
            <a:p>
              <a:pPr eaLnBrk="0" hangingPunct="0">
                <a:defRPr/>
              </a:pPr>
              <a:r>
                <a:rPr lang="en-US" sz="1800" dirty="0">
                  <a:latin typeface="Calibri" panose="020F0502020204030204" charset="0"/>
                  <a:cs typeface="+mn-cs"/>
                </a:rPr>
                <a:t>code</a:t>
              </a:r>
            </a:p>
          </p:txBody>
        </p:sp>
        <p:sp>
          <p:nvSpPr>
            <p:cNvPr id="26" name="Rectangle 19"/>
            <p:cNvSpPr>
              <a:spLocks noChangeArrowheads="1"/>
            </p:cNvSpPr>
            <p:nvPr/>
          </p:nvSpPr>
          <p:spPr bwMode="auto">
            <a:xfrm>
              <a:off x="5727700" y="3159125"/>
              <a:ext cx="1065213" cy="936625"/>
            </a:xfrm>
            <a:prstGeom prst="rect">
              <a:avLst/>
            </a:prstGeom>
            <a:solidFill>
              <a:schemeClr val="accent2">
                <a:lumMod val="40000"/>
                <a:lumOff val="60000"/>
              </a:schemeClr>
            </a:solidFill>
            <a:ln w="28575">
              <a:solidFill>
                <a:schemeClr val="tx1"/>
              </a:solidFill>
              <a:miter lim="800000"/>
            </a:ln>
            <a:effectLst/>
          </p:spPr>
          <p:txBody>
            <a:bodyPr anchor="ctr"/>
            <a:lstStyle/>
            <a:p>
              <a:pPr eaLnBrk="0" hangingPunct="0">
                <a:defRPr/>
              </a:pPr>
              <a:r>
                <a:rPr lang="en-US" sz="1800" dirty="0">
                  <a:latin typeface="Calibri" panose="020F0502020204030204" charset="0"/>
                  <a:cs typeface="+mn-cs"/>
                </a:rPr>
                <a:t>pad</a:t>
              </a:r>
            </a:p>
          </p:txBody>
        </p:sp>
        <p:sp>
          <p:nvSpPr>
            <p:cNvPr id="27" name="Text Box 21"/>
            <p:cNvSpPr txBox="1">
              <a:spLocks noChangeArrowheads="1"/>
            </p:cNvSpPr>
            <p:nvPr/>
          </p:nvSpPr>
          <p:spPr bwMode="auto">
            <a:xfrm>
              <a:off x="4259263" y="3452972"/>
              <a:ext cx="1371600" cy="645160"/>
            </a:xfrm>
            <a:prstGeom prst="rect">
              <a:avLst/>
            </a:prstGeom>
            <a:noFill/>
            <a:ln w="28575">
              <a:noFill/>
              <a:miter lim="800000"/>
            </a:ln>
          </p:spPr>
          <p:txBody>
            <a:bodyPr anchor="ctr">
              <a:spAutoFit/>
            </a:bodyPr>
            <a:lstStyle/>
            <a:p>
              <a:pPr eaLnBrk="0" hangingPunct="0"/>
              <a:r>
                <a:rPr lang="en-US" sz="1800" b="0">
                  <a:latin typeface="Calibri" panose="020F0502020204030204" charset="0"/>
                </a:rPr>
                <a:t>通过gets()</a:t>
              </a:r>
            </a:p>
            <a:p>
              <a:pPr eaLnBrk="0" hangingPunct="0"/>
              <a:r>
                <a:rPr lang="en-US" sz="1800" b="0"/>
                <a:t>数据写入</a:t>
              </a:r>
            </a:p>
          </p:txBody>
        </p:sp>
        <p:sp>
          <p:nvSpPr>
            <p:cNvPr id="28" name="AutoShape 16"/>
            <p:cNvSpPr/>
            <p:nvPr/>
          </p:nvSpPr>
          <p:spPr bwMode="auto">
            <a:xfrm rot="10800000">
              <a:off x="6892925" y="1600200"/>
              <a:ext cx="228600" cy="1600200"/>
            </a:xfrm>
            <a:prstGeom prst="leftBrace">
              <a:avLst>
                <a:gd name="adj1" fmla="val 74991"/>
                <a:gd name="adj2" fmla="val 50000"/>
              </a:avLst>
            </a:prstGeom>
            <a:no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29" name="AutoShape 16"/>
            <p:cNvSpPr/>
            <p:nvPr/>
          </p:nvSpPr>
          <p:spPr bwMode="auto">
            <a:xfrm rot="10800000">
              <a:off x="6892925" y="3200400"/>
              <a:ext cx="228600" cy="2157413"/>
            </a:xfrm>
            <a:prstGeom prst="leftBrace">
              <a:avLst>
                <a:gd name="adj1" fmla="val 74976"/>
                <a:gd name="adj2" fmla="val 50000"/>
              </a:avLst>
            </a:prstGeom>
            <a:noFill/>
            <a:ln w="25400">
              <a:solidFill>
                <a:schemeClr val="tx1"/>
              </a:solidFill>
              <a:round/>
            </a:ln>
          </p:spPr>
          <p:txBody>
            <a:bodyPr wrap="none" anchor="ctr"/>
            <a:lstStyle/>
            <a:p>
              <a:pPr eaLnBrk="0" hangingPunct="0"/>
              <a:endParaRPr lang="en-US" sz="1800">
                <a:latin typeface="Calibri" panose="020F0502020204030204" charset="0"/>
              </a:endParaRPr>
            </a:p>
          </p:txBody>
        </p:sp>
        <p:sp>
          <p:nvSpPr>
            <p:cNvPr id="30" name="AutoShape 16"/>
            <p:cNvSpPr/>
            <p:nvPr/>
          </p:nvSpPr>
          <p:spPr bwMode="auto">
            <a:xfrm rot="10800000" flipH="1">
              <a:off x="5359400" y="2819400"/>
              <a:ext cx="228600" cy="1905000"/>
            </a:xfrm>
            <a:prstGeom prst="leftBrace">
              <a:avLst>
                <a:gd name="adj1" fmla="val 75000"/>
                <a:gd name="adj2" fmla="val 50000"/>
              </a:avLst>
            </a:prstGeom>
            <a:noFill/>
            <a:ln w="25400">
              <a:solidFill>
                <a:schemeClr val="tx1"/>
              </a:solidFill>
              <a:round/>
            </a:ln>
          </p:spPr>
          <p:txBody>
            <a:bodyPr wrap="none" anchor="ctr"/>
            <a:lstStyle/>
            <a:p>
              <a:pPr eaLnBrk="0" hangingPunct="0"/>
              <a:endParaRPr lang="en-US" sz="1800">
                <a:latin typeface="Calibri" panose="020F0502020204030204" charset="0"/>
              </a:endParaRPr>
            </a:p>
          </p:txBody>
        </p:sp>
      </p:grpSp>
      <p:cxnSp>
        <p:nvCxnSpPr>
          <p:cNvPr id="8" name="Straight Arrow Connector 4"/>
          <p:cNvCxnSpPr/>
          <p:nvPr/>
        </p:nvCxnSpPr>
        <p:spPr bwMode="auto">
          <a:xfrm flipV="1">
            <a:off x="4419600" y="4665663"/>
            <a:ext cx="1308100" cy="1277937"/>
          </a:xfrm>
          <a:prstGeom prst="straightConnector1">
            <a:avLst/>
          </a:prstGeom>
          <a:noFill/>
          <a:ln w="25400" cap="flat" cmpd="sng" algn="ctr">
            <a:solidFill>
              <a:schemeClr val="tx1">
                <a:lumMod val="50000"/>
                <a:lumOff val="50000"/>
              </a:schemeClr>
            </a:solidFill>
            <a:prstDash val="solid"/>
            <a:round/>
            <a:headEnd type="none" w="med" len="med"/>
            <a:tailEnd type="arrow"/>
          </a:ln>
          <a:effectLst/>
        </p:spPr>
      </p:cxnSp>
      <p:sp>
        <p:nvSpPr>
          <p:cNvPr id="31" name="TextBox 30"/>
          <p:cNvSpPr txBox="1"/>
          <p:nvPr/>
        </p:nvSpPr>
        <p:spPr>
          <a:xfrm>
            <a:off x="895231" y="5943600"/>
            <a:ext cx="3611880" cy="368300"/>
          </a:xfrm>
          <a:prstGeom prst="rect">
            <a:avLst/>
          </a:prstGeom>
          <a:noFill/>
        </p:spPr>
        <p:txBody>
          <a:bodyPr wrap="none" rtlCol="0">
            <a:spAutoFit/>
          </a:bodyPr>
          <a:lstStyle/>
          <a:p>
            <a:pPr algn="r"/>
            <a:r>
              <a:rPr lang="en-US" sz="1800" dirty="0">
                <a:latin typeface="Calibri" panose="020F0502020204030204" charset="0"/>
              </a:rPr>
              <a:t>执行此代码的任何尝试都将失败。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anim calcmode="lin" valueType="num">
                                      <p:cBhvr additive="base">
                                        <p:cTn id="19"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 calcmode="lin" valueType="num">
                                      <p:cBhvr additive="base">
                                        <p:cTn id="25"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1"/>
                                        </p:tgtEl>
                                        <p:attrNameLst>
                                          <p:attrName>style.visibility</p:attrName>
                                        </p:attrNameLst>
                                      </p:cBhvr>
                                      <p:to>
                                        <p:strVal val="visible"/>
                                      </p:to>
                                    </p:set>
                                    <p:anim calcmode="lin" valueType="num">
                                      <p:cBhvr additive="base">
                                        <p:cTn id="37" dur="500" fill="hold"/>
                                        <p:tgtEl>
                                          <p:spTgt spid="31"/>
                                        </p:tgtEl>
                                        <p:attrNameLst>
                                          <p:attrName>ppt_x</p:attrName>
                                        </p:attrNameLst>
                                      </p:cBhvr>
                                      <p:tavLst>
                                        <p:tav tm="0">
                                          <p:val>
                                            <p:strVal val="#ppt_x"/>
                                          </p:val>
                                        </p:tav>
                                        <p:tav tm="100000">
                                          <p:val>
                                            <p:strVal val="#ppt_x"/>
                                          </p:val>
                                        </p:tav>
                                      </p:tavLst>
                                    </p:anim>
                                    <p:anim calcmode="lin" valueType="num">
                                      <p:cBhvr additive="base">
                                        <p:cTn id="3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51485"/>
            <a:ext cx="2647315" cy="636905"/>
          </a:xfrm>
          <a:prstGeom prst="chevron">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微软雅黑" panose="020B0503020204020204" charset="-122"/>
                <a:ea typeface="微软雅黑" panose="020B0503020204020204" charset="-122"/>
                <a:sym typeface="+mn-ea"/>
              </a:rPr>
              <a:t>栈金丝雀</a:t>
            </a:r>
          </a:p>
        </p:txBody>
      </p:sp>
      <p:sp>
        <p:nvSpPr>
          <p:cNvPr id="38916" name="Rectangle 44"/>
          <p:cNvSpPr>
            <a:spLocks noGrp="1" noChangeArrowheads="1"/>
          </p:cNvSpPr>
          <p:nvPr/>
        </p:nvSpPr>
        <p:spPr>
          <a:xfrm>
            <a:off x="366713" y="1328738"/>
            <a:ext cx="7939087" cy="5224462"/>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Clr>
                <a:srgbClr val="0D0D0D"/>
              </a:buClr>
            </a:pPr>
            <a:r>
              <a:rPr lang="zh-CN" altLang="en-US" dirty="0"/>
              <a:t>思想</a:t>
            </a:r>
          </a:p>
          <a:p>
            <a:pPr lvl="1" eaLnBrk="1" hangingPunct="1">
              <a:buClr>
                <a:srgbClr val="0D0D0D"/>
              </a:buClr>
            </a:pPr>
            <a:r>
              <a:rPr lang="zh-CN" altLang="en-US" dirty="0"/>
              <a:t>在栈帧中任何局部缓冲区与栈状态间存储一个特殊的金丝雀值（哨兵值）</a:t>
            </a:r>
          </a:p>
          <a:p>
            <a:pPr lvl="1" eaLnBrk="1" hangingPunct="1">
              <a:buClr>
                <a:srgbClr val="0D0D0D"/>
              </a:buClr>
            </a:pPr>
            <a:r>
              <a:rPr lang="zh-CN" altLang="en-US" dirty="0"/>
              <a:t>从函数返回前，程序检查这个金丝雀值是否改变了</a:t>
            </a:r>
          </a:p>
          <a:p>
            <a:pPr eaLnBrk="1" hangingPunct="1">
              <a:buClr>
                <a:srgbClr val="0D0D0D"/>
              </a:buClr>
            </a:pPr>
            <a:r>
              <a:rPr lang="en-US" dirty="0"/>
              <a:t>GCC </a:t>
            </a:r>
            <a:r>
              <a:rPr lang="zh-CN" altLang="en-US" dirty="0"/>
              <a:t>实施</a:t>
            </a:r>
          </a:p>
          <a:p>
            <a:pPr lvl="1" eaLnBrk="1" hangingPunct="1">
              <a:buClr>
                <a:srgbClr val="0D0D0D"/>
              </a:buClr>
            </a:pPr>
            <a:r>
              <a:rPr lang="en-US" dirty="0"/>
              <a:t> </a:t>
            </a:r>
            <a:r>
              <a:rPr lang="en-US" b="1" dirty="0">
                <a:latin typeface="Courier New" panose="02070309020205020404" charset="0"/>
                <a:cs typeface="Courier New" panose="02070309020205020404" charset="0"/>
              </a:rPr>
              <a:t>-</a:t>
            </a:r>
            <a:r>
              <a:rPr lang="en-US" b="1" dirty="0" err="1">
                <a:latin typeface="Courier New" panose="02070309020205020404" charset="0"/>
                <a:cs typeface="Courier New" panose="02070309020205020404" charset="0"/>
              </a:rPr>
              <a:t>fstack</a:t>
            </a:r>
            <a:r>
              <a:rPr lang="en-US" b="1" dirty="0">
                <a:latin typeface="Courier New" panose="02070309020205020404" charset="0"/>
                <a:cs typeface="Courier New" panose="02070309020205020404" charset="0"/>
              </a:rPr>
              <a:t>-protector</a:t>
            </a:r>
            <a:endParaRPr lang="en-US" dirty="0"/>
          </a:p>
        </p:txBody>
      </p:sp>
      <p:sp>
        <p:nvSpPr>
          <p:cNvPr id="6" name="Rectangle 3"/>
          <p:cNvSpPr>
            <a:spLocks noChangeArrowheads="1"/>
          </p:cNvSpPr>
          <p:nvPr/>
        </p:nvSpPr>
        <p:spPr bwMode="auto">
          <a:xfrm>
            <a:off x="1828800" y="3981450"/>
            <a:ext cx="4152900" cy="828675"/>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457200" algn="l"/>
                <a:tab pos="1485900" algn="l"/>
              </a:tabLst>
              <a:defRPr/>
            </a:pPr>
            <a:r>
              <a:rPr lang="en-US" sz="1600" dirty="0" err="1">
                <a:latin typeface="Courier New" panose="02070309020205020404" charset="0"/>
                <a:ea typeface="MS Mincho" panose="02020609040205080304" pitchFamily="49" charset="-128"/>
                <a:cs typeface="+mn-cs"/>
              </a:rPr>
              <a:t>unix</a:t>
            </a:r>
            <a:r>
              <a:rPr lang="en-US" sz="1600" dirty="0">
                <a:latin typeface="Courier New" panose="02070309020205020404" charset="0"/>
                <a:ea typeface="MS Mincho" panose="02020609040205080304" pitchFamily="49" charset="-128"/>
                <a:cs typeface="+mn-cs"/>
              </a:rPr>
              <a:t>&gt;</a:t>
            </a:r>
            <a:r>
              <a:rPr lang="en-US" sz="1600" i="1" dirty="0">
                <a:latin typeface="Courier New" panose="02070309020205020404" charset="0"/>
                <a:ea typeface="MS Mincho" panose="02020609040205080304" pitchFamily="49" charset="-128"/>
                <a:cs typeface="+mn-cs"/>
              </a:rPr>
              <a:t>./</a:t>
            </a:r>
            <a:r>
              <a:rPr lang="en-US" sz="1600" i="1" dirty="0" err="1">
                <a:latin typeface="Courier New" panose="02070309020205020404" charset="0"/>
                <a:ea typeface="MS Mincho" panose="02020609040205080304" pitchFamily="49" charset="-128"/>
                <a:cs typeface="+mn-cs"/>
              </a:rPr>
              <a:t>bufdemo-sp</a:t>
            </a:r>
            <a:endParaRPr lang="en-US" sz="1600" i="1" dirty="0">
              <a:latin typeface="Courier New" panose="02070309020205020404" charset="0"/>
              <a:ea typeface="MS Mincho" panose="02020609040205080304" pitchFamily="49" charset="-128"/>
              <a:cs typeface="+mn-cs"/>
            </a:endParaRP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Type a string:</a:t>
            </a:r>
            <a:r>
              <a:rPr lang="en-US" sz="1600" i="1" dirty="0">
                <a:latin typeface="Courier New" panose="02070309020205020404" charset="0"/>
                <a:ea typeface="MS Mincho" panose="02020609040205080304" pitchFamily="49" charset="-128"/>
                <a:cs typeface="+mn-cs"/>
              </a:rPr>
              <a:t>0123456</a:t>
            </a: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0123456</a:t>
            </a:r>
          </a:p>
        </p:txBody>
      </p:sp>
      <p:sp>
        <p:nvSpPr>
          <p:cNvPr id="9" name="Rectangle 4"/>
          <p:cNvSpPr>
            <a:spLocks noChangeArrowheads="1"/>
          </p:cNvSpPr>
          <p:nvPr/>
        </p:nvSpPr>
        <p:spPr bwMode="auto">
          <a:xfrm>
            <a:off x="1828800" y="4886325"/>
            <a:ext cx="4152900" cy="828675"/>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457200" algn="l"/>
                <a:tab pos="1485900" algn="l"/>
              </a:tabLst>
              <a:defRPr/>
            </a:pPr>
            <a:r>
              <a:rPr lang="en-US" sz="1600" dirty="0" err="1">
                <a:latin typeface="Courier New" panose="02070309020205020404" charset="0"/>
                <a:ea typeface="MS Mincho" panose="02020609040205080304" pitchFamily="49" charset="-128"/>
                <a:cs typeface="+mn-cs"/>
              </a:rPr>
              <a:t>unix</a:t>
            </a:r>
            <a:r>
              <a:rPr lang="en-US" sz="1600" dirty="0">
                <a:latin typeface="Courier New" panose="02070309020205020404" charset="0"/>
                <a:ea typeface="MS Mincho" panose="02020609040205080304" pitchFamily="49" charset="-128"/>
                <a:cs typeface="+mn-cs"/>
              </a:rPr>
              <a:t>&gt;./</a:t>
            </a:r>
            <a:r>
              <a:rPr lang="en-US" sz="1600" dirty="0" err="1">
                <a:latin typeface="Courier New" panose="02070309020205020404" charset="0"/>
                <a:ea typeface="MS Mincho" panose="02020609040205080304" pitchFamily="49" charset="-128"/>
                <a:cs typeface="+mn-cs"/>
              </a:rPr>
              <a:t>bufdemo-sp</a:t>
            </a:r>
            <a:endParaRPr lang="en-US" sz="1600" dirty="0">
              <a:latin typeface="Courier New" panose="02070309020205020404" charset="0"/>
              <a:ea typeface="MS Mincho" panose="02020609040205080304" pitchFamily="49" charset="-128"/>
              <a:cs typeface="+mn-cs"/>
            </a:endParaRP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Type a string:</a:t>
            </a:r>
            <a:r>
              <a:rPr lang="en-US" sz="1600" i="1" dirty="0">
                <a:latin typeface="Courier New" panose="02070309020205020404" charset="0"/>
                <a:ea typeface="MS Mincho" panose="02020609040205080304" pitchFamily="49" charset="-128"/>
                <a:cs typeface="+mn-cs"/>
              </a:rPr>
              <a:t>01234567</a:t>
            </a:r>
          </a:p>
          <a:p>
            <a:pPr eaLnBrk="0" hangingPunct="0">
              <a:tabLst>
                <a:tab pos="457200" algn="l"/>
                <a:tab pos="1485900" algn="l"/>
              </a:tabLst>
              <a:defRPr/>
            </a:pPr>
            <a:r>
              <a:rPr lang="en-US" sz="1600" dirty="0">
                <a:latin typeface="Courier New" panose="02070309020205020404" charset="0"/>
                <a:ea typeface="MS Mincho" panose="02020609040205080304" pitchFamily="49" charset="-128"/>
                <a:cs typeface="+mn-cs"/>
              </a:rPr>
              <a:t>*** stack smashing detected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916">
                                            <p:txEl>
                                              <p:pRg st="1" end="1"/>
                                            </p:txEl>
                                          </p:spTgt>
                                        </p:tgtEl>
                                        <p:attrNameLst>
                                          <p:attrName>style.visibility</p:attrName>
                                        </p:attrNameLst>
                                      </p:cBhvr>
                                      <p:to>
                                        <p:strVal val="visible"/>
                                      </p:to>
                                    </p:set>
                                    <p:anim calcmode="lin" valueType="num">
                                      <p:cBhvr additive="base">
                                        <p:cTn id="7" dur="500" fill="hold"/>
                                        <p:tgtEl>
                                          <p:spTgt spid="3891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916">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916">
                                            <p:txEl>
                                              <p:pRg st="2" end="2"/>
                                            </p:txEl>
                                          </p:spTgt>
                                        </p:tgtEl>
                                        <p:attrNameLst>
                                          <p:attrName>style.visibility</p:attrName>
                                        </p:attrNameLst>
                                      </p:cBhvr>
                                      <p:to>
                                        <p:strVal val="visible"/>
                                      </p:to>
                                    </p:set>
                                    <p:anim calcmode="lin" valueType="num">
                                      <p:cBhvr additive="base">
                                        <p:cTn id="11" dur="500" fill="hold"/>
                                        <p:tgtEl>
                                          <p:spTgt spid="3891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91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8916">
                                            <p:txEl>
                                              <p:pRg st="4" end="4"/>
                                            </p:txEl>
                                          </p:spTgt>
                                        </p:tgtEl>
                                        <p:attrNameLst>
                                          <p:attrName>style.visibility</p:attrName>
                                        </p:attrNameLst>
                                      </p:cBhvr>
                                      <p:to>
                                        <p:strVal val="visible"/>
                                      </p:to>
                                    </p:set>
                                    <p:anim calcmode="lin" valueType="num">
                                      <p:cBhvr additive="base">
                                        <p:cTn id="17" dur="500" fill="hold"/>
                                        <p:tgtEl>
                                          <p:spTgt spid="38916">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891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box(in)">
                                      <p:cBhvr>
                                        <p:cTn id="23" dur="20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ox(in)">
                                      <p:cBhvr>
                                        <p:cTn id="28"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51485"/>
            <a:ext cx="3370580" cy="636905"/>
          </a:xfrm>
          <a:prstGeom prst="chevron">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charset="-122"/>
                <a:ea typeface="微软雅黑" panose="020B0503020204020204" charset="-122"/>
                <a:sym typeface="+mn-ea"/>
              </a:rPr>
              <a:t>栈保护区反汇编</a:t>
            </a:r>
          </a:p>
        </p:txBody>
      </p:sp>
      <p:sp>
        <p:nvSpPr>
          <p:cNvPr id="448516" name="Rectangle 4"/>
          <p:cNvSpPr>
            <a:spLocks noChangeArrowheads="1"/>
          </p:cNvSpPr>
          <p:nvPr/>
        </p:nvSpPr>
        <p:spPr bwMode="auto">
          <a:xfrm>
            <a:off x="92075" y="1676400"/>
            <a:ext cx="8899526" cy="3967754"/>
          </a:xfrm>
          <a:prstGeom prst="rect">
            <a:avLst/>
          </a:prstGeom>
          <a:solidFill>
            <a:schemeClr val="bg1">
              <a:lumMod val="95000"/>
            </a:schemeClr>
          </a:solidFill>
          <a:ln w="12700">
            <a:solidFill>
              <a:schemeClr val="tx1"/>
            </a:solidFill>
            <a:miter lim="800000"/>
          </a:ln>
          <a:effectLst/>
        </p:spPr>
        <p:txBody>
          <a:bodyPr wrap="square" lIns="90487" tIns="44450" rIns="90487" bIns="44450">
            <a:spAutoFit/>
          </a:bodyPr>
          <a:lstStyle/>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40072f:	sub    $0x18,%rsp</a:t>
            </a:r>
          </a:p>
          <a:p>
            <a:pPr eaLnBrk="0" hangingPunct="0">
              <a:tabLst>
                <a:tab pos="457200" algn="l"/>
                <a:tab pos="1485900" algn="l"/>
                <a:tab pos="3771900" algn="l"/>
                <a:tab pos="3943350" algn="l"/>
              </a:tabLst>
              <a:defRPr/>
            </a:pPr>
            <a:r>
              <a:rPr lang="sk-SK" sz="1800" dirty="0">
                <a:solidFill>
                  <a:srgbClr val="C00000"/>
                </a:solidFill>
                <a:latin typeface="Courier New" panose="02070309020205020404" charset="0"/>
                <a:ea typeface="MS Mincho" panose="02020609040205080304" pitchFamily="49" charset="-128"/>
                <a:cs typeface="+mn-cs"/>
              </a:rPr>
              <a:t>  400733:	mov    %fs:0x28,%rax</a:t>
            </a:r>
          </a:p>
          <a:p>
            <a:pPr eaLnBrk="0" hangingPunct="0">
              <a:tabLst>
                <a:tab pos="457200" algn="l"/>
                <a:tab pos="1485900" algn="l"/>
                <a:tab pos="3771900" algn="l"/>
                <a:tab pos="3943350" algn="l"/>
              </a:tabLst>
              <a:defRPr/>
            </a:pPr>
            <a:r>
              <a:rPr lang="sk-SK" sz="1800" dirty="0">
                <a:solidFill>
                  <a:srgbClr val="C00000"/>
                </a:solidFill>
                <a:latin typeface="Courier New" panose="02070309020205020404" charset="0"/>
                <a:ea typeface="MS Mincho" panose="02020609040205080304" pitchFamily="49" charset="-128"/>
                <a:cs typeface="+mn-cs"/>
              </a:rPr>
              <a:t>  40073c:	mov    %rax,0x8(%rsp)</a:t>
            </a:r>
          </a:p>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a:t>
            </a:r>
            <a:r>
              <a:rPr lang="sk-SK" sz="1800" dirty="0">
                <a:solidFill>
                  <a:srgbClr val="C00000"/>
                </a:solidFill>
                <a:latin typeface="Courier New" panose="02070309020205020404" charset="0"/>
                <a:ea typeface="MS Mincho" panose="02020609040205080304" pitchFamily="49" charset="-128"/>
                <a:cs typeface="+mn-cs"/>
              </a:rPr>
              <a:t>400741:	xor    %eax,%eax</a:t>
            </a:r>
          </a:p>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400743:	mov    %rsp,%rdi</a:t>
            </a:r>
          </a:p>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400746:	callq  4006e0 &lt;gets&gt;</a:t>
            </a:r>
          </a:p>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40074b:	mov    %rsp,%rdi</a:t>
            </a:r>
          </a:p>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40074e:	callq  400570 &lt;puts@plt&gt;</a:t>
            </a:r>
          </a:p>
          <a:p>
            <a:pPr eaLnBrk="0" hangingPunct="0">
              <a:tabLst>
                <a:tab pos="457200" algn="l"/>
                <a:tab pos="1485900" algn="l"/>
                <a:tab pos="3771900" algn="l"/>
                <a:tab pos="3943350" algn="l"/>
              </a:tabLst>
              <a:defRPr/>
            </a:pPr>
            <a:r>
              <a:rPr lang="sk-SK" sz="1800" dirty="0">
                <a:solidFill>
                  <a:srgbClr val="FF0000"/>
                </a:solidFill>
                <a:latin typeface="Courier New" panose="02070309020205020404" charset="0"/>
                <a:ea typeface="MS Mincho" panose="02020609040205080304" pitchFamily="49" charset="-128"/>
                <a:cs typeface="+mn-cs"/>
              </a:rPr>
              <a:t>  </a:t>
            </a:r>
            <a:r>
              <a:rPr lang="sk-SK" sz="1800" dirty="0">
                <a:solidFill>
                  <a:srgbClr val="C00000"/>
                </a:solidFill>
                <a:latin typeface="Courier New" panose="02070309020205020404" charset="0"/>
                <a:ea typeface="MS Mincho" panose="02020609040205080304" pitchFamily="49" charset="-128"/>
                <a:cs typeface="+mn-cs"/>
              </a:rPr>
              <a:t>400753:	mov    0x8(%rsp),%rax</a:t>
            </a:r>
          </a:p>
          <a:p>
            <a:pPr eaLnBrk="0" hangingPunct="0">
              <a:tabLst>
                <a:tab pos="457200" algn="l"/>
                <a:tab pos="1485900" algn="l"/>
                <a:tab pos="3771900" algn="l"/>
                <a:tab pos="3943350" algn="l"/>
              </a:tabLst>
              <a:defRPr/>
            </a:pPr>
            <a:r>
              <a:rPr lang="sk-SK" sz="1800" dirty="0">
                <a:solidFill>
                  <a:srgbClr val="C00000"/>
                </a:solidFill>
                <a:latin typeface="Courier New" panose="02070309020205020404" charset="0"/>
                <a:ea typeface="MS Mincho" panose="02020609040205080304" pitchFamily="49" charset="-128"/>
                <a:cs typeface="+mn-cs"/>
              </a:rPr>
              <a:t>  400758:	xor    %fs:0x28,%rax</a:t>
            </a:r>
          </a:p>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400761:	je     400768 &lt;echo+0x39&gt;</a:t>
            </a:r>
          </a:p>
          <a:p>
            <a:pPr eaLnBrk="0" hangingPunct="0">
              <a:tabLst>
                <a:tab pos="457200" algn="l"/>
                <a:tab pos="1485900" algn="l"/>
                <a:tab pos="3771900" algn="l"/>
                <a:tab pos="3943350" algn="l"/>
              </a:tabLst>
              <a:defRPr/>
            </a:pPr>
            <a:r>
              <a:rPr lang="sk-SK" sz="1800" dirty="0">
                <a:solidFill>
                  <a:srgbClr val="FF0000"/>
                </a:solidFill>
                <a:latin typeface="Courier New" panose="02070309020205020404" charset="0"/>
                <a:ea typeface="MS Mincho" panose="02020609040205080304" pitchFamily="49" charset="-128"/>
                <a:cs typeface="+mn-cs"/>
              </a:rPr>
              <a:t>  </a:t>
            </a:r>
            <a:r>
              <a:rPr lang="sk-SK" sz="1800" dirty="0">
                <a:solidFill>
                  <a:srgbClr val="C00000"/>
                </a:solidFill>
                <a:latin typeface="Courier New" panose="02070309020205020404" charset="0"/>
                <a:ea typeface="MS Mincho" panose="02020609040205080304" pitchFamily="49" charset="-128"/>
                <a:cs typeface="+mn-cs"/>
              </a:rPr>
              <a:t>400763:	callq  400580 &lt;__stack_chk_fail@plt&gt;</a:t>
            </a:r>
          </a:p>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400768:	add    $0x18,%rsp</a:t>
            </a:r>
          </a:p>
          <a:p>
            <a:pPr eaLnBrk="0" hangingPunct="0">
              <a:tabLst>
                <a:tab pos="457200" algn="l"/>
                <a:tab pos="1485900" algn="l"/>
                <a:tab pos="3771900" algn="l"/>
                <a:tab pos="3943350" algn="l"/>
              </a:tabLst>
              <a:defRPr/>
            </a:pPr>
            <a:r>
              <a:rPr lang="sk-SK" sz="1800" dirty="0">
                <a:latin typeface="Courier New" panose="02070309020205020404" charset="0"/>
                <a:ea typeface="MS Mincho" panose="02020609040205080304" pitchFamily="49" charset="-128"/>
                <a:cs typeface="+mn-cs"/>
              </a:rPr>
              <a:t>  40076c:	retq </a:t>
            </a:r>
            <a:endParaRPr lang="ro-RO" sz="1800" dirty="0">
              <a:latin typeface="Courier New" panose="02070309020205020404" charset="0"/>
              <a:ea typeface="MS Mincho" panose="02020609040205080304" pitchFamily="49" charset="-128"/>
              <a:cs typeface="+mn-cs"/>
            </a:endParaRPr>
          </a:p>
        </p:txBody>
      </p:sp>
      <p:sp>
        <p:nvSpPr>
          <p:cNvPr id="4" name="TextBox 5"/>
          <p:cNvSpPr txBox="1"/>
          <p:nvPr/>
        </p:nvSpPr>
        <p:spPr>
          <a:xfrm>
            <a:off x="92075" y="1221363"/>
            <a:ext cx="883575" cy="461665"/>
          </a:xfrm>
          <a:prstGeom prst="rect">
            <a:avLst/>
          </a:prstGeom>
          <a:noFill/>
        </p:spPr>
        <p:txBody>
          <a:bodyPr wrap="none" rtlCol="0">
            <a:spAutoFit/>
          </a:bodyPr>
          <a:lstStyle/>
          <a:p>
            <a:r>
              <a:rPr lang="en-US" dirty="0">
                <a:latin typeface="Calibri" panose="020F0502020204030204" charset="0"/>
              </a:rPr>
              <a:t>echo:</a:t>
            </a: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51485"/>
            <a:ext cx="2607310" cy="636905"/>
          </a:xfrm>
          <a:prstGeom prst="chevron">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latin typeface="微软雅黑" panose="020B0503020204020204" charset="-122"/>
                <a:ea typeface="微软雅黑" panose="020B0503020204020204" charset="-122"/>
                <a:sym typeface="+mn-ea"/>
              </a:rPr>
              <a:t>设置金丝雀</a:t>
            </a:r>
          </a:p>
        </p:txBody>
      </p:sp>
      <p:sp>
        <p:nvSpPr>
          <p:cNvPr id="360451" name="Rectangle 3"/>
          <p:cNvSpPr>
            <a:spLocks noChangeArrowheads="1"/>
          </p:cNvSpPr>
          <p:nvPr/>
        </p:nvSpPr>
        <p:spPr bwMode="auto">
          <a:xfrm>
            <a:off x="2624432" y="5062304"/>
            <a:ext cx="6183312" cy="1567096"/>
          </a:xfrm>
          <a:prstGeom prst="rect">
            <a:avLst/>
          </a:prstGeom>
          <a:solidFill>
            <a:schemeClr val="bg1">
              <a:lumMod val="95000"/>
            </a:schemeClr>
          </a:solidFill>
          <a:ln w="12700">
            <a:solidFill>
              <a:schemeClr val="tx1"/>
            </a:solidFill>
            <a:miter lim="800000"/>
          </a:ln>
          <a:effectLst/>
        </p:spPr>
        <p:txBody>
          <a:bodyPr lIns="90487" tIns="44450" rIns="90487" bIns="44450">
            <a:spAutoFit/>
          </a:bodyPr>
          <a:lstStyle/>
          <a:p>
            <a:pPr eaLnBrk="0" hangingPunct="0">
              <a:tabLst>
                <a:tab pos="457200" algn="l"/>
                <a:tab pos="1543050" algn="l"/>
              </a:tabLst>
              <a:defRPr/>
            </a:pPr>
            <a:r>
              <a:rPr lang="en-US" sz="1600" dirty="0">
                <a:latin typeface="Courier New" panose="02070309020205020404" charset="0"/>
                <a:ea typeface="MS Mincho" panose="02020609040205080304" pitchFamily="49" charset="-128"/>
                <a:cs typeface="+mn-cs"/>
              </a:rPr>
              <a:t>echo:</a:t>
            </a:r>
          </a:p>
          <a:p>
            <a:pPr eaLnBrk="0" hangingPunct="0">
              <a:tabLst>
                <a:tab pos="457200" algn="l"/>
                <a:tab pos="1543050" algn="l"/>
              </a:tabLst>
              <a:defRPr/>
            </a:pPr>
            <a:r>
              <a:rPr lang="en-US" sz="1600" dirty="0">
                <a:latin typeface="Courier New" panose="02070309020205020404" charset="0"/>
                <a:ea typeface="MS Mincho" panose="02020609040205080304" pitchFamily="49" charset="-128"/>
              </a:rPr>
              <a:t>	. . .</a:t>
            </a:r>
          </a:p>
          <a:p>
            <a:pPr eaLnBrk="0" hangingPunct="0">
              <a:tabLst>
                <a:tab pos="457200" algn="l"/>
                <a:tab pos="1543050"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movq</a:t>
            </a:r>
            <a:r>
              <a:rPr lang="en-US" sz="1600" dirty="0">
                <a:latin typeface="Courier New" panose="02070309020205020404" charset="0"/>
                <a:ea typeface="MS Mincho" panose="02020609040205080304" pitchFamily="49" charset="-128"/>
                <a:cs typeface="+mn-cs"/>
              </a:rPr>
              <a:t>	%fs:40, %</a:t>
            </a:r>
            <a:r>
              <a:rPr lang="en-US" sz="1600" dirty="0" err="1">
                <a:latin typeface="Courier New" panose="02070309020205020404" charset="0"/>
                <a:ea typeface="MS Mincho" panose="02020609040205080304" pitchFamily="49" charset="-128"/>
                <a:cs typeface="+mn-cs"/>
              </a:rPr>
              <a:t>rax</a:t>
            </a:r>
            <a:r>
              <a:rPr lang="en-US" sz="1600" dirty="0">
                <a:latin typeface="Courier New" panose="02070309020205020404" charset="0"/>
                <a:ea typeface="MS Mincho" panose="02020609040205080304" pitchFamily="49" charset="-128"/>
                <a:cs typeface="+mn-cs"/>
              </a:rPr>
              <a:t>  # Get canary</a:t>
            </a:r>
          </a:p>
          <a:p>
            <a:pPr eaLnBrk="0" hangingPunct="0">
              <a:tabLst>
                <a:tab pos="457200" algn="l"/>
                <a:tab pos="1543050"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movq</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rax</a:t>
            </a:r>
            <a:r>
              <a:rPr lang="en-US" sz="1600" dirty="0">
                <a:latin typeface="Courier New" panose="02070309020205020404" charset="0"/>
                <a:ea typeface="MS Mincho" panose="02020609040205080304" pitchFamily="49" charset="-128"/>
                <a:cs typeface="+mn-cs"/>
              </a:rPr>
              <a:t>, 8(%</a:t>
            </a:r>
            <a:r>
              <a:rPr lang="en-US" sz="1600" dirty="0" err="1">
                <a:latin typeface="Courier New" panose="02070309020205020404" charset="0"/>
                <a:ea typeface="MS Mincho" panose="02020609040205080304" pitchFamily="49" charset="-128"/>
                <a:cs typeface="+mn-cs"/>
              </a:rPr>
              <a:t>rsp</a:t>
            </a:r>
            <a:r>
              <a:rPr lang="en-US" sz="1600" dirty="0">
                <a:latin typeface="Courier New" panose="02070309020205020404" charset="0"/>
                <a:ea typeface="MS Mincho" panose="02020609040205080304" pitchFamily="49" charset="-128"/>
                <a:cs typeface="+mn-cs"/>
              </a:rPr>
              <a:t>) # Place on stack</a:t>
            </a:r>
          </a:p>
          <a:p>
            <a:pPr eaLnBrk="0" hangingPunct="0">
              <a:tabLst>
                <a:tab pos="457200" algn="l"/>
                <a:tab pos="1543050" algn="l"/>
              </a:tabLst>
              <a:defRPr/>
            </a:pP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xorl</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eax</a:t>
            </a:r>
            <a:r>
              <a:rPr lang="en-US" sz="1600" dirty="0">
                <a:latin typeface="Courier New" panose="02070309020205020404" charset="0"/>
                <a:ea typeface="MS Mincho" panose="02020609040205080304" pitchFamily="49" charset="-128"/>
                <a:cs typeface="+mn-cs"/>
              </a:rPr>
              <a:t>, %</a:t>
            </a:r>
            <a:r>
              <a:rPr lang="en-US" sz="1600" dirty="0" err="1">
                <a:latin typeface="Courier New" panose="02070309020205020404" charset="0"/>
                <a:ea typeface="MS Mincho" panose="02020609040205080304" pitchFamily="49" charset="-128"/>
                <a:cs typeface="+mn-cs"/>
              </a:rPr>
              <a:t>eax</a:t>
            </a:r>
            <a:r>
              <a:rPr lang="en-US" sz="1600" dirty="0">
                <a:latin typeface="Courier New" panose="02070309020205020404" charset="0"/>
                <a:ea typeface="MS Mincho" panose="02020609040205080304" pitchFamily="49" charset="-128"/>
                <a:cs typeface="+mn-cs"/>
              </a:rPr>
              <a:t>    # Erase canary</a:t>
            </a:r>
          </a:p>
          <a:p>
            <a:pPr eaLnBrk="0" hangingPunct="0">
              <a:tabLst>
                <a:tab pos="457200" algn="l"/>
                <a:tab pos="1543050" algn="l"/>
              </a:tabLst>
              <a:defRPr/>
            </a:pPr>
            <a:r>
              <a:rPr lang="en-US" sz="1600" dirty="0">
                <a:latin typeface="Courier New" panose="02070309020205020404" charset="0"/>
                <a:ea typeface="MS Mincho" panose="02020609040205080304" pitchFamily="49" charset="-128"/>
                <a:cs typeface="+mn-cs"/>
              </a:rPr>
              <a:t>	. . .</a:t>
            </a:r>
          </a:p>
        </p:txBody>
      </p:sp>
      <p:sp>
        <p:nvSpPr>
          <p:cNvPr id="25604" name="Rectangle 4"/>
          <p:cNvSpPr>
            <a:spLocks noChangeArrowheads="1"/>
          </p:cNvSpPr>
          <p:nvPr/>
        </p:nvSpPr>
        <p:spPr bwMode="auto">
          <a:xfrm>
            <a:off x="3124200" y="1235075"/>
            <a:ext cx="5105400" cy="1812925"/>
          </a:xfrm>
          <a:prstGeom prst="rect">
            <a:avLst/>
          </a:prstGeom>
          <a:solidFill>
            <a:srgbClr val="F6F5BD"/>
          </a:solidFill>
          <a:ln w="12700">
            <a:solidFill>
              <a:schemeClr val="tx1"/>
            </a:solidFill>
            <a:miter lim="800000"/>
          </a:ln>
        </p:spPr>
        <p:txBody>
          <a:bodyPr lIns="90487" tIns="44450" rIns="90487" bIns="44450">
            <a:spAutoFit/>
          </a:bodyPr>
          <a:lstStyle/>
          <a:p>
            <a:pPr eaLnBrk="0" hangingPunct="0">
              <a:tabLst>
                <a:tab pos="457200" algn="l"/>
                <a:tab pos="1485900" algn="l"/>
              </a:tabLst>
            </a:pPr>
            <a:r>
              <a:rPr lang="en-US" sz="1600" dirty="0">
                <a:latin typeface="Courier New" panose="02070309020205020404" charset="0"/>
                <a:ea typeface="MS Mincho" panose="02020609040205080304" pitchFamily="49" charset="-128"/>
              </a:rPr>
              <a:t>/* Echo Line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void echo()</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char </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[4];  /* Way too small! */</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gets(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    puts(</a:t>
            </a:r>
            <a:r>
              <a:rPr lang="en-US" sz="1600" dirty="0" err="1">
                <a:latin typeface="Courier New" panose="02070309020205020404" charset="0"/>
                <a:ea typeface="MS Mincho" panose="02020609040205080304" pitchFamily="49" charset="-128"/>
              </a:rPr>
              <a:t>buf</a:t>
            </a:r>
            <a:r>
              <a:rPr lang="en-US" sz="1600" dirty="0">
                <a:latin typeface="Courier New" panose="02070309020205020404" charset="0"/>
                <a:ea typeface="MS Mincho" panose="02020609040205080304" pitchFamily="49" charset="-128"/>
              </a:rPr>
              <a:t>);</a:t>
            </a:r>
            <a:br>
              <a:rPr lang="en-US" sz="1600" dirty="0">
                <a:latin typeface="Courier New" panose="02070309020205020404" charset="0"/>
                <a:ea typeface="MS Mincho" panose="02020609040205080304" pitchFamily="49" charset="-128"/>
              </a:rPr>
            </a:br>
            <a:r>
              <a:rPr lang="en-US" sz="1600" dirty="0">
                <a:latin typeface="Courier New" panose="02070309020205020404" charset="0"/>
                <a:ea typeface="MS Mincho" panose="02020609040205080304" pitchFamily="49" charset="-128"/>
              </a:rPr>
              <a:t>}</a:t>
            </a:r>
          </a:p>
        </p:txBody>
      </p:sp>
      <p:sp>
        <p:nvSpPr>
          <p:cNvPr id="21" name="Rectangle 22"/>
          <p:cNvSpPr>
            <a:spLocks noChangeArrowheads="1"/>
          </p:cNvSpPr>
          <p:nvPr/>
        </p:nvSpPr>
        <p:spPr bwMode="auto">
          <a:xfrm>
            <a:off x="533400" y="2579686"/>
            <a:ext cx="1797050" cy="608299"/>
          </a:xfrm>
          <a:prstGeom prst="rect">
            <a:avLst/>
          </a:prstGeom>
          <a:solidFill>
            <a:srgbClr val="D5F1CF"/>
          </a:solidFill>
          <a:ln w="28575">
            <a:solidFill>
              <a:schemeClr val="tx1"/>
            </a:solidFill>
            <a:miter lim="800000"/>
          </a:ln>
          <a:effectLst/>
        </p:spPr>
        <p:txBody>
          <a:bodyPr wrap="none" anchor="ctr"/>
          <a:lstStyle/>
          <a:p>
            <a:pPr algn="ctr">
              <a:defRPr/>
            </a:pPr>
            <a:r>
              <a:rPr lang="zh-CN" altLang="en-US" sz="1800" b="0" dirty="0">
                <a:latin typeface="Calibri" panose="020F0502020204030204" charset="0"/>
                <a:cs typeface="+mn-cs"/>
              </a:rPr>
              <a:t>返回地址</a:t>
            </a:r>
          </a:p>
          <a:p>
            <a:pPr algn="ctr">
              <a:defRPr/>
            </a:pPr>
            <a:r>
              <a:rPr lang="en-US" sz="1800" b="0" dirty="0">
                <a:latin typeface="Calibri" panose="020F0502020204030204" charset="0"/>
                <a:cs typeface="+mn-cs"/>
              </a:rPr>
              <a:t>(8 bytes)</a:t>
            </a:r>
          </a:p>
        </p:txBody>
      </p:sp>
      <p:sp>
        <p:nvSpPr>
          <p:cNvPr id="22" name="Line 29"/>
          <p:cNvSpPr>
            <a:spLocks noChangeShapeType="1"/>
          </p:cNvSpPr>
          <p:nvPr/>
        </p:nvSpPr>
        <p:spPr bwMode="auto">
          <a:xfrm flipH="1">
            <a:off x="2952750" y="4891016"/>
            <a:ext cx="450850" cy="0"/>
          </a:xfrm>
          <a:prstGeom prst="line">
            <a:avLst/>
          </a:prstGeom>
          <a:noFill/>
          <a:ln w="28575">
            <a:solidFill>
              <a:schemeClr val="tx1"/>
            </a:solidFill>
            <a:round/>
            <a:tailEnd type="triangle" w="med" len="med"/>
          </a:ln>
        </p:spPr>
        <p:txBody>
          <a:bodyPr/>
          <a:lstStyle/>
          <a:p>
            <a:endParaRPr lang="en-US"/>
          </a:p>
        </p:txBody>
      </p:sp>
      <p:sp>
        <p:nvSpPr>
          <p:cNvPr id="23" name="Rectangle 30"/>
          <p:cNvSpPr>
            <a:spLocks noChangeArrowheads="1"/>
          </p:cNvSpPr>
          <p:nvPr/>
        </p:nvSpPr>
        <p:spPr bwMode="auto">
          <a:xfrm>
            <a:off x="3365500" y="4717978"/>
            <a:ext cx="738754" cy="369332"/>
          </a:xfrm>
          <a:prstGeom prst="rect">
            <a:avLst/>
          </a:prstGeom>
          <a:noFill/>
          <a:ln w="9525">
            <a:noFill/>
            <a:miter lim="800000"/>
          </a:ln>
        </p:spPr>
        <p:txBody>
          <a:bodyPr wrap="none">
            <a:spAutoFit/>
          </a:bodyPr>
          <a:lstStyle/>
          <a:p>
            <a:r>
              <a:rPr lang="en-US" sz="1800" dirty="0">
                <a:latin typeface="Courier New" panose="02070309020205020404" charset="0"/>
              </a:rPr>
              <a:t>%</a:t>
            </a:r>
            <a:r>
              <a:rPr lang="en-US" sz="1800" dirty="0" err="1">
                <a:latin typeface="Courier New" panose="02070309020205020404" charset="0"/>
              </a:rPr>
              <a:t>rsp</a:t>
            </a:r>
            <a:endParaRPr lang="en-US" sz="1800" dirty="0">
              <a:latin typeface="Courier New" panose="02070309020205020404" charset="0"/>
            </a:endParaRPr>
          </a:p>
        </p:txBody>
      </p:sp>
      <p:sp>
        <p:nvSpPr>
          <p:cNvPr id="24" name="Rectangle 31"/>
          <p:cNvSpPr>
            <a:spLocks noChangeArrowheads="1"/>
          </p:cNvSpPr>
          <p:nvPr/>
        </p:nvSpPr>
        <p:spPr bwMode="auto">
          <a:xfrm>
            <a:off x="533400" y="1436687"/>
            <a:ext cx="1797050" cy="1143000"/>
          </a:xfrm>
          <a:prstGeom prst="rect">
            <a:avLst/>
          </a:prstGeom>
          <a:solidFill>
            <a:schemeClr val="bg1">
              <a:lumMod val="95000"/>
            </a:schemeClr>
          </a:solidFill>
          <a:ln w="28575">
            <a:solidFill>
              <a:schemeClr val="tx1"/>
            </a:solidFill>
            <a:miter lim="800000"/>
          </a:ln>
          <a:effectLst/>
        </p:spPr>
        <p:txBody>
          <a:bodyPr wrap="none"/>
          <a:lstStyle/>
          <a:p>
            <a:pPr algn="ctr">
              <a:defRPr/>
            </a:pPr>
            <a:r>
              <a:rPr lang="en-US" dirty="0" err="1">
                <a:latin typeface="Courier New" panose="02070309020205020404" charset="0"/>
                <a:sym typeface="+mn-ea"/>
              </a:rPr>
              <a:t>call_echo</a:t>
            </a:r>
          </a:p>
          <a:p>
            <a:pPr algn="ctr">
              <a:defRPr/>
            </a:pPr>
            <a:r>
              <a:rPr lang="zh-CN" altLang="en-US" sz="1800" b="0" dirty="0">
                <a:latin typeface="Calibri" panose="020F0502020204030204" charset="0"/>
                <a:cs typeface="+mn-cs"/>
              </a:rPr>
              <a:t>栈帧</a:t>
            </a:r>
          </a:p>
          <a:p>
            <a:pPr algn="ctr">
              <a:defRPr/>
            </a:pPr>
            <a:r>
              <a:rPr lang="en-US" sz="1800" b="0" dirty="0">
                <a:latin typeface="Calibri" panose="020F0502020204030204" charset="0"/>
                <a:cs typeface="+mn-cs"/>
              </a:rPr>
              <a:t> </a:t>
            </a:r>
            <a:endParaRPr lang="en-US" sz="1800" dirty="0">
              <a:latin typeface="Courier New" panose="02070309020205020404" charset="0"/>
              <a:cs typeface="+mn-cs"/>
            </a:endParaRPr>
          </a:p>
        </p:txBody>
      </p:sp>
      <p:sp>
        <p:nvSpPr>
          <p:cNvPr id="25" name="Rectangle 24"/>
          <p:cNvSpPr>
            <a:spLocks noChangeArrowheads="1"/>
          </p:cNvSpPr>
          <p:nvPr/>
        </p:nvSpPr>
        <p:spPr bwMode="auto">
          <a:xfrm>
            <a:off x="533400" y="47244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dirty="0">
                <a:latin typeface="Courier New" panose="02070309020205020404" charset="0"/>
                <a:cs typeface="+mn-cs"/>
              </a:rPr>
              <a:t>[3]</a:t>
            </a:r>
          </a:p>
        </p:txBody>
      </p:sp>
      <p:sp>
        <p:nvSpPr>
          <p:cNvPr id="26" name="Rectangle 25"/>
          <p:cNvSpPr>
            <a:spLocks noChangeArrowheads="1"/>
          </p:cNvSpPr>
          <p:nvPr/>
        </p:nvSpPr>
        <p:spPr bwMode="auto">
          <a:xfrm>
            <a:off x="982663" y="47244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latin typeface="Courier New" panose="02070309020205020404" charset="0"/>
                <a:cs typeface="+mn-cs"/>
              </a:rPr>
              <a:t>[2]</a:t>
            </a:r>
          </a:p>
        </p:txBody>
      </p:sp>
      <p:sp>
        <p:nvSpPr>
          <p:cNvPr id="27" name="Rectangle 26"/>
          <p:cNvSpPr>
            <a:spLocks noChangeArrowheads="1"/>
          </p:cNvSpPr>
          <p:nvPr/>
        </p:nvSpPr>
        <p:spPr bwMode="auto">
          <a:xfrm>
            <a:off x="1431925" y="4724400"/>
            <a:ext cx="449263"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latin typeface="Courier New" panose="02070309020205020404" charset="0"/>
                <a:cs typeface="+mn-cs"/>
              </a:rPr>
              <a:t>[1]</a:t>
            </a:r>
          </a:p>
        </p:txBody>
      </p:sp>
      <p:sp>
        <p:nvSpPr>
          <p:cNvPr id="28" name="Rectangle 27"/>
          <p:cNvSpPr>
            <a:spLocks noChangeArrowheads="1"/>
          </p:cNvSpPr>
          <p:nvPr/>
        </p:nvSpPr>
        <p:spPr bwMode="auto">
          <a:xfrm>
            <a:off x="1881188" y="4724400"/>
            <a:ext cx="449262" cy="304800"/>
          </a:xfrm>
          <a:prstGeom prst="rect">
            <a:avLst/>
          </a:prstGeom>
          <a:solidFill>
            <a:schemeClr val="accent2">
              <a:lumMod val="40000"/>
              <a:lumOff val="60000"/>
            </a:schemeClr>
          </a:solidFill>
          <a:ln w="28575">
            <a:solidFill>
              <a:schemeClr val="tx1"/>
            </a:solidFill>
            <a:miter lim="800000"/>
          </a:ln>
          <a:effectLst/>
        </p:spPr>
        <p:txBody>
          <a:bodyPr wrap="none" anchor="ctr"/>
          <a:lstStyle/>
          <a:p>
            <a:pPr algn="ctr">
              <a:defRPr/>
            </a:pPr>
            <a:r>
              <a:rPr lang="en-US" sz="1800">
                <a:latin typeface="Courier New" panose="02070309020205020404" charset="0"/>
                <a:cs typeface="+mn-cs"/>
              </a:rPr>
              <a:t>[0]</a:t>
            </a:r>
          </a:p>
        </p:txBody>
      </p:sp>
      <p:sp>
        <p:nvSpPr>
          <p:cNvPr id="29" name="Rectangle 28"/>
          <p:cNvSpPr>
            <a:spLocks noChangeArrowheads="1"/>
          </p:cNvSpPr>
          <p:nvPr/>
        </p:nvSpPr>
        <p:spPr bwMode="auto">
          <a:xfrm>
            <a:off x="2330450" y="4724400"/>
            <a:ext cx="593725" cy="366712"/>
          </a:xfrm>
          <a:prstGeom prst="rect">
            <a:avLst/>
          </a:prstGeom>
          <a:noFill/>
          <a:ln w="9525">
            <a:noFill/>
            <a:miter lim="800000"/>
          </a:ln>
        </p:spPr>
        <p:txBody>
          <a:bodyPr wrap="none">
            <a:spAutoFit/>
          </a:bodyPr>
          <a:lstStyle/>
          <a:p>
            <a:r>
              <a:rPr lang="en-US" sz="1800" dirty="0" err="1">
                <a:latin typeface="Courier New" panose="02070309020205020404" charset="0"/>
              </a:rPr>
              <a:t>buf</a:t>
            </a:r>
            <a:endParaRPr lang="en-US" sz="1800" dirty="0">
              <a:latin typeface="Courier New" panose="02070309020205020404" charset="0"/>
            </a:endParaRPr>
          </a:p>
        </p:txBody>
      </p:sp>
      <p:sp>
        <p:nvSpPr>
          <p:cNvPr id="30" name="TextBox 29"/>
          <p:cNvSpPr txBox="1">
            <a:spLocks noChangeArrowheads="1"/>
          </p:cNvSpPr>
          <p:nvPr/>
        </p:nvSpPr>
        <p:spPr bwMode="auto">
          <a:xfrm>
            <a:off x="457200" y="1066800"/>
            <a:ext cx="1488440" cy="368300"/>
          </a:xfrm>
          <a:prstGeom prst="rect">
            <a:avLst/>
          </a:prstGeom>
          <a:noFill/>
          <a:ln w="9525">
            <a:noFill/>
            <a:miter lim="800000"/>
          </a:ln>
        </p:spPr>
        <p:txBody>
          <a:bodyPr wrap="none">
            <a:spAutoFit/>
          </a:bodyPr>
          <a:lstStyle/>
          <a:p>
            <a:pPr eaLnBrk="0" hangingPunct="0"/>
            <a:r>
              <a:rPr lang="zh-CN" altLang="en-US" sz="1800" i="1">
                <a:solidFill>
                  <a:srgbClr val="C00000"/>
                </a:solidFill>
                <a:latin typeface="Calibri" panose="020F0502020204030204" charset="0"/>
              </a:rPr>
              <a:t>调用</a:t>
            </a:r>
            <a:r>
              <a:rPr lang="en-US" altLang="zh-CN" sz="1800" i="1">
                <a:solidFill>
                  <a:srgbClr val="C00000"/>
                </a:solidFill>
                <a:latin typeface="Calibri" panose="020F0502020204030204" charset="0"/>
              </a:rPr>
              <a:t>gets</a:t>
            </a:r>
            <a:r>
              <a:rPr lang="zh-CN" altLang="en-US" sz="1800" i="1">
                <a:solidFill>
                  <a:srgbClr val="C00000"/>
                </a:solidFill>
                <a:latin typeface="Calibri" panose="020F0502020204030204" charset="0"/>
              </a:rPr>
              <a:t>之前</a:t>
            </a:r>
          </a:p>
        </p:txBody>
      </p:sp>
      <p:sp>
        <p:nvSpPr>
          <p:cNvPr id="31" name="Rectangle 23"/>
          <p:cNvSpPr>
            <a:spLocks noChangeArrowheads="1"/>
          </p:cNvSpPr>
          <p:nvPr/>
        </p:nvSpPr>
        <p:spPr bwMode="auto">
          <a:xfrm>
            <a:off x="533400" y="3189287"/>
            <a:ext cx="1797050" cy="1531207"/>
          </a:xfrm>
          <a:prstGeom prst="rect">
            <a:avLst/>
          </a:prstGeom>
          <a:solidFill>
            <a:schemeClr val="bg2">
              <a:lumMod val="40000"/>
              <a:lumOff val="60000"/>
            </a:schemeClr>
          </a:solidFill>
          <a:ln w="28575">
            <a:solidFill>
              <a:schemeClr val="tx1"/>
            </a:solidFill>
            <a:miter lim="800000"/>
          </a:ln>
          <a:effectLst/>
        </p:spPr>
        <p:txBody>
          <a:bodyPr wrap="none" anchor="ctr"/>
          <a:lstStyle/>
          <a:p>
            <a:pPr algn="ctr">
              <a:defRPr/>
            </a:pPr>
            <a:r>
              <a:rPr lang="en-US" sz="1800" b="0" dirty="0">
                <a:latin typeface="Calibri" panose="020F0502020204030204" charset="0"/>
              </a:rPr>
              <a:t>20 bytes unused</a:t>
            </a:r>
            <a:endParaRPr lang="en-US" sz="1800" dirty="0">
              <a:latin typeface="Courier New" panose="02070309020205020404" charset="0"/>
            </a:endParaRPr>
          </a:p>
        </p:txBody>
      </p:sp>
      <p:sp>
        <p:nvSpPr>
          <p:cNvPr id="32" name="Rectangle 22"/>
          <p:cNvSpPr>
            <a:spLocks noChangeArrowheads="1"/>
          </p:cNvSpPr>
          <p:nvPr/>
        </p:nvSpPr>
        <p:spPr bwMode="auto">
          <a:xfrm>
            <a:off x="533400" y="3811301"/>
            <a:ext cx="1797050" cy="608299"/>
          </a:xfrm>
          <a:prstGeom prst="rect">
            <a:avLst/>
          </a:prstGeom>
          <a:solidFill>
            <a:srgbClr val="F1C7C7"/>
          </a:solidFill>
          <a:ln w="28575">
            <a:solidFill>
              <a:schemeClr val="tx1"/>
            </a:solidFill>
            <a:miter lim="800000"/>
          </a:ln>
          <a:effectLst/>
        </p:spPr>
        <p:txBody>
          <a:bodyPr wrap="none" anchor="ctr"/>
          <a:lstStyle/>
          <a:p>
            <a:pPr algn="ctr">
              <a:defRPr/>
            </a:pPr>
            <a:r>
              <a:rPr lang="en-US" sz="1800" b="0" dirty="0">
                <a:latin typeface="Calibri" panose="020F0502020204030204" charset="0"/>
                <a:cs typeface="+mn-cs"/>
              </a:rPr>
              <a:t>C</a:t>
            </a:r>
            <a:r>
              <a:rPr lang="zh-CN" altLang="en-US" sz="1800" b="0" dirty="0">
                <a:latin typeface="Calibri" panose="020F0502020204030204" charset="0"/>
                <a:cs typeface="+mn-cs"/>
              </a:rPr>
              <a:t>金丝雀</a:t>
            </a:r>
          </a:p>
          <a:p>
            <a:pPr algn="ctr">
              <a:defRPr/>
            </a:pPr>
            <a:r>
              <a:rPr lang="en-US" sz="1800" b="0" dirty="0">
                <a:latin typeface="Calibri" panose="020F0502020204030204" charset="0"/>
                <a:cs typeface="+mn-cs"/>
              </a:rPr>
              <a:t>(8 bytes)</a:t>
            </a:r>
          </a:p>
        </p:txBody>
      </p:sp>
      <p:sp>
        <p:nvSpPr>
          <p:cNvPr id="6" name="TextBox 2"/>
          <p:cNvSpPr txBox="1"/>
          <p:nvPr/>
        </p:nvSpPr>
        <p:spPr>
          <a:xfrm>
            <a:off x="3870960" y="3854450"/>
            <a:ext cx="1561465" cy="368300"/>
          </a:xfrm>
          <a:prstGeom prst="rect">
            <a:avLst/>
          </a:prstGeom>
          <a:noFill/>
        </p:spPr>
        <p:txBody>
          <a:bodyPr wrap="none" rtlCol="0">
            <a:spAutoFit/>
          </a:bodyPr>
          <a:lstStyle/>
          <a:p>
            <a:r>
              <a:rPr lang="zh-CN" altLang="en-US" sz="1800" dirty="0">
                <a:latin typeface="Calibri" panose="020F0502020204030204" charset="0"/>
              </a:rPr>
              <a:t>输入</a:t>
            </a:r>
            <a:r>
              <a:rPr lang="en-US" sz="1800" dirty="0">
                <a:latin typeface="Calibri" panose="020F0502020204030204" charset="0"/>
              </a:rPr>
              <a:t>: </a:t>
            </a:r>
            <a:r>
              <a:rPr lang="en-US" sz="1800" i="1" dirty="0">
                <a:latin typeface="Calibri" panose="020F0502020204030204" charset="0"/>
              </a:rPr>
              <a:t>0123456</a:t>
            </a: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1758"/>
            <a:ext cx="2202815" cy="252730"/>
          </a:xfrm>
          <a:prstGeom prst="rect">
            <a:avLst/>
          </a:prstGeom>
        </p:spPr>
        <p:txBody>
          <a:bodyPr wrap="none">
            <a:spAutoFit/>
          </a:bodyPr>
          <a:lstStyle/>
          <a:p>
            <a:pPr algn="l"/>
            <a:r>
              <a:rPr lang="en-US" altLang="zh-CN" sz="1050" b="1" dirty="0"/>
              <a:t>PART FIVE </a:t>
            </a:r>
            <a:r>
              <a:rPr lang="zh-CN" altLang="en-US" sz="1050" dirty="0">
                <a:latin typeface="+mn-ea"/>
                <a:cs typeface="+mn-ea"/>
                <a:sym typeface="+mn-ea"/>
              </a:rPr>
              <a:t>越界访问和缓冲区溢出</a:t>
            </a:r>
            <a:endParaRPr lang="zh-CN" altLang="en-US" sz="1050" b="1" dirty="0"/>
          </a:p>
        </p:txBody>
      </p:sp>
      <p:sp>
        <p:nvSpPr>
          <p:cNvPr id="3" name="椭圆 2"/>
          <p:cNvSpPr/>
          <p:nvPr/>
        </p:nvSpPr>
        <p:spPr>
          <a:xfrm>
            <a:off x="2116875" y="73855"/>
            <a:ext cx="98188" cy="85006"/>
          </a:xfrm>
          <a:prstGeom prst="ellipse">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燕尾形 4"/>
          <p:cNvSpPr/>
          <p:nvPr/>
        </p:nvSpPr>
        <p:spPr>
          <a:xfrm>
            <a:off x="0" y="451485"/>
            <a:ext cx="4198620" cy="636905"/>
          </a:xfrm>
          <a:prstGeom prst="chevron">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latin typeface="微软雅黑" panose="020B0503020204020204" charset="-122"/>
                <a:ea typeface="微软雅黑" panose="020B0503020204020204" charset="-122"/>
                <a:sym typeface="+mn-ea"/>
              </a:rPr>
              <a:t>面向返回的编程攻击</a:t>
            </a:r>
          </a:p>
        </p:txBody>
      </p:sp>
      <p:sp>
        <p:nvSpPr>
          <p:cNvPr id="4" name="Content Placeholder 2"/>
          <p:cNvSpPr>
            <a:spLocks noGrp="1"/>
          </p:cNvSpPr>
          <p:nvPr/>
        </p:nvSpPr>
        <p:spPr>
          <a:xfrm>
            <a:off x="396875" y="1256030"/>
            <a:ext cx="7896225" cy="4972050"/>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n-ea"/>
                <a:cs typeface="+mn-cs"/>
              </a:defRPr>
            </a:lvl1pPr>
            <a:lvl2pPr marL="742950" indent="-285750" algn="l" rtl="0" eaLnBrk="0" fontAlgn="base" hangingPunct="0">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defRPr>
            </a:lvl2pPr>
            <a:lvl3pPr marL="1143000" indent="-228600" algn="l" rtl="0" eaLnBrk="0" fontAlgn="base" hangingPunct="0">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defRPr>
            </a:lvl3pPr>
            <a:lvl4pPr marL="1600200" indent="-228600" algn="l" rtl="0" eaLnBrk="0" fontAlgn="base" hangingPunct="0">
              <a:spcBef>
                <a:spcPct val="20000"/>
              </a:spcBef>
              <a:spcAft>
                <a:spcPct val="0"/>
              </a:spcAft>
              <a:buChar char="–"/>
              <a:defRPr sz="2000">
                <a:solidFill>
                  <a:schemeClr val="tx1"/>
                </a:solidFill>
                <a:latin typeface="Calibri" panose="020F0502020204030204" charset="0"/>
              </a:defRPr>
            </a:lvl4pPr>
            <a:lvl5pPr marL="2057400" indent="-228600" algn="l" rtl="0" eaLnBrk="0" fontAlgn="base" hangingPunct="0">
              <a:spcBef>
                <a:spcPct val="20000"/>
              </a:spcBef>
              <a:spcAft>
                <a:spcPct val="0"/>
              </a:spcAft>
              <a:buChar char="»"/>
              <a:defRPr sz="2000">
                <a:solidFill>
                  <a:schemeClr val="tx1"/>
                </a:solidFill>
                <a:latin typeface="Calibri" panose="020F050202020403020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70AD47"/>
              </a:buClr>
            </a:pPr>
            <a:r>
              <a:rPr lang="en-US" dirty="0">
                <a:latin typeface="微软雅黑" panose="020B0503020204020204" charset="-122"/>
                <a:ea typeface="微软雅黑" panose="020B0503020204020204" charset="-122"/>
              </a:rPr>
              <a:t>挑战（</a:t>
            </a:r>
            <a:r>
              <a:rPr lang="zh-CN" altLang="en-US" dirty="0">
                <a:latin typeface="微软雅黑" panose="020B0503020204020204" charset="-122"/>
                <a:ea typeface="微软雅黑" panose="020B0503020204020204" charset="-122"/>
              </a:rPr>
              <a:t>对于</a:t>
            </a:r>
            <a:r>
              <a:rPr lang="en-US" dirty="0">
                <a:latin typeface="微软雅黑" panose="020B0503020204020204" charset="-122"/>
                <a:ea typeface="微软雅黑" panose="020B0503020204020204" charset="-122"/>
              </a:rPr>
              <a:t>黑客</a:t>
            </a:r>
            <a:r>
              <a:rPr lang="zh-CN" altLang="en-US" dirty="0">
                <a:latin typeface="微软雅黑" panose="020B0503020204020204" charset="-122"/>
                <a:ea typeface="微软雅黑" panose="020B0503020204020204" charset="-122"/>
              </a:rPr>
              <a:t>来说</a:t>
            </a:r>
            <a:r>
              <a:rPr lang="en-US" dirty="0">
                <a:latin typeface="微软雅黑" panose="020B0503020204020204" charset="-122"/>
                <a:ea typeface="微软雅黑" panose="020B0503020204020204" charset="-122"/>
              </a:rPr>
              <a:t>）</a:t>
            </a:r>
          </a:p>
          <a:p>
            <a:pPr lvl="1"/>
            <a:r>
              <a:rPr lang="en-US" dirty="0">
                <a:latin typeface="微软雅黑" panose="020B0503020204020204" charset="-122"/>
                <a:ea typeface="微软雅黑" panose="020B0503020204020204" charset="-122"/>
              </a:rPr>
              <a:t>栈随机化使缓冲区位置难以预测。</a:t>
            </a:r>
          </a:p>
          <a:p>
            <a:pPr lvl="1"/>
            <a:r>
              <a:rPr lang="en-US" dirty="0" err="1">
                <a:latin typeface="微软雅黑" panose="020B0503020204020204" charset="-122"/>
                <a:ea typeface="微软雅黑" panose="020B0503020204020204" charset="-122"/>
              </a:rPr>
              <a:t>标记栈</a:t>
            </a:r>
            <a:r>
              <a:rPr lang="zh-CN" altLang="en-US" dirty="0">
                <a:latin typeface="微软雅黑" panose="020B0503020204020204" charset="-122"/>
                <a:ea typeface="微软雅黑" panose="020B0503020204020204" charset="-122"/>
              </a:rPr>
              <a:t>为</a:t>
            </a:r>
            <a:r>
              <a:rPr lang="en-US" dirty="0" err="1">
                <a:latin typeface="微软雅黑" panose="020B0503020204020204" charset="-122"/>
                <a:ea typeface="微软雅黑" panose="020B0503020204020204" charset="-122"/>
              </a:rPr>
              <a:t>不可执行</a:t>
            </a:r>
            <a:r>
              <a:rPr lang="zh-CN" altLang="en-US" dirty="0">
                <a:latin typeface="微软雅黑" panose="020B0503020204020204" charset="-122"/>
                <a:ea typeface="微软雅黑" panose="020B0503020204020204" charset="-122"/>
              </a:rPr>
              <a:t>使得二进制代码很难插入。</a:t>
            </a:r>
          </a:p>
          <a:p>
            <a:pPr>
              <a:buClr>
                <a:srgbClr val="70AD47"/>
              </a:buClr>
            </a:pPr>
            <a:r>
              <a:rPr lang="en-US" dirty="0">
                <a:latin typeface="微软雅黑" panose="020B0503020204020204" charset="-122"/>
                <a:ea typeface="微软雅黑" panose="020B0503020204020204" charset="-122"/>
              </a:rPr>
              <a:t>替代策略</a:t>
            </a:r>
          </a:p>
          <a:p>
            <a:pPr lvl="1"/>
            <a:r>
              <a:rPr lang="en-US" dirty="0">
                <a:latin typeface="微软雅黑" panose="020B0503020204020204" charset="-122"/>
                <a:ea typeface="微软雅黑" panose="020B0503020204020204" charset="-122"/>
              </a:rPr>
              <a:t>使用</a:t>
            </a:r>
            <a:r>
              <a:rPr lang="zh-CN" altLang="en-US" dirty="0">
                <a:latin typeface="微软雅黑" panose="020B0503020204020204" charset="-122"/>
                <a:ea typeface="微软雅黑" panose="020B0503020204020204" charset="-122"/>
              </a:rPr>
              <a:t>现有的</a:t>
            </a:r>
            <a:r>
              <a:rPr lang="en-US" dirty="0">
                <a:latin typeface="微软雅黑" panose="020B0503020204020204" charset="-122"/>
                <a:ea typeface="微软雅黑" panose="020B0503020204020204" charset="-122"/>
              </a:rPr>
              <a:t>代码</a:t>
            </a:r>
          </a:p>
          <a:p>
            <a:pPr lvl="2"/>
            <a:r>
              <a:rPr lang="zh-CN" altLang="en-US" dirty="0" err="1">
                <a:latin typeface="微软雅黑" panose="020B0503020204020204" charset="-122"/>
                <a:ea typeface="微软雅黑" panose="020B0503020204020204" charset="-122"/>
              </a:rPr>
              <a:t>例如</a:t>
            </a:r>
            <a:r>
              <a:rPr lang="en-US" dirty="0" err="1">
                <a:latin typeface="微软雅黑" panose="020B0503020204020204" charset="-122"/>
                <a:ea typeface="微软雅黑" panose="020B0503020204020204" charset="-122"/>
              </a:rPr>
              <a:t>stdlib</a:t>
            </a:r>
            <a:r>
              <a:rPr lang="zh-CN" altLang="en-US" dirty="0" err="1">
                <a:latin typeface="微软雅黑" panose="020B0503020204020204" charset="-122"/>
                <a:ea typeface="微软雅黑" panose="020B0503020204020204" charset="-122"/>
              </a:rPr>
              <a:t>库代码</a:t>
            </a:r>
          </a:p>
          <a:p>
            <a:pPr lvl="1"/>
            <a:r>
              <a:rPr lang="en-US" dirty="0">
                <a:latin typeface="微软雅黑" panose="020B0503020204020204" charset="-122"/>
                <a:ea typeface="微软雅黑" panose="020B0503020204020204" charset="-122"/>
              </a:rPr>
              <a:t>将片段串在一起以获得总体期望的结果。</a:t>
            </a:r>
          </a:p>
          <a:p>
            <a:pPr lvl="1"/>
            <a:r>
              <a:rPr lang="en-US" i="1" dirty="0">
                <a:latin typeface="微软雅黑" panose="020B0503020204020204" charset="-122"/>
                <a:ea typeface="微软雅黑" panose="020B0503020204020204" charset="-122"/>
              </a:rPr>
              <a:t>不克服栈金丝雀</a:t>
            </a:r>
          </a:p>
          <a:p>
            <a:pPr>
              <a:buClr>
                <a:srgbClr val="70AD47"/>
              </a:buClr>
            </a:pPr>
            <a:r>
              <a:rPr lang="en-US" dirty="0">
                <a:latin typeface="微软雅黑" panose="020B0503020204020204" charset="-122"/>
                <a:ea typeface="微软雅黑" panose="020B0503020204020204" charset="-122"/>
              </a:rPr>
              <a:t>从小工具构建程序</a:t>
            </a:r>
          </a:p>
          <a:p>
            <a:pPr lvl="1"/>
            <a:r>
              <a:rPr lang="en-US" dirty="0">
                <a:latin typeface="微软雅黑" panose="020B0503020204020204" charset="-122"/>
                <a:ea typeface="微软雅黑" panose="020B0503020204020204" charset="-122"/>
              </a:rPr>
              <a:t>指令序列</a:t>
            </a:r>
            <a:r>
              <a:rPr lang="en-US" dirty="0">
                <a:latin typeface="微软雅黑" panose="020B0503020204020204" charset="-122"/>
                <a:ea typeface="微软雅黑" panose="020B0503020204020204" charset="-122"/>
                <a:sym typeface="+mn-ea"/>
              </a:rPr>
              <a:t>以</a:t>
            </a:r>
            <a:r>
              <a:rPr lang="en-US" b="1" dirty="0">
                <a:latin typeface="微软雅黑" panose="020B0503020204020204" charset="-122"/>
                <a:ea typeface="微软雅黑" panose="020B0503020204020204" charset="-122"/>
                <a:cs typeface="Courier New" panose="02070309020205020404"/>
                <a:sym typeface="+mn-ea"/>
              </a:rPr>
              <a:t>ret</a:t>
            </a:r>
            <a:r>
              <a:rPr lang="en-US" dirty="0">
                <a:latin typeface="微软雅黑" panose="020B0503020204020204" charset="-122"/>
                <a:ea typeface="微软雅黑" panose="020B0503020204020204" charset="-122"/>
                <a:sym typeface="+mn-ea"/>
              </a:rPr>
              <a:t>结尾</a:t>
            </a:r>
            <a:endParaRPr lang="en-US" b="1" dirty="0">
              <a:latin typeface="微软雅黑" panose="020B0503020204020204" charset="-122"/>
              <a:ea typeface="微软雅黑" panose="020B0503020204020204" charset="-122"/>
              <a:cs typeface="Courier New" panose="02070309020205020404"/>
            </a:endParaRPr>
          </a:p>
          <a:p>
            <a:pPr lvl="2"/>
            <a:r>
              <a:rPr lang="en-US" dirty="0">
                <a:latin typeface="微软雅黑" panose="020B0503020204020204" charset="-122"/>
                <a:ea typeface="微软雅黑" panose="020B0503020204020204" charset="-122"/>
              </a:rPr>
              <a:t>单字节编码 </a:t>
            </a:r>
            <a:r>
              <a:rPr lang="en-US" b="1" dirty="0">
                <a:latin typeface="微软雅黑" panose="020B0503020204020204" charset="-122"/>
                <a:ea typeface="微软雅黑" panose="020B0503020204020204" charset="-122"/>
                <a:cs typeface="Courier New" panose="02070309020205020404"/>
              </a:rPr>
              <a:t>0xc3</a:t>
            </a:r>
          </a:p>
          <a:p>
            <a:pPr lvl="1"/>
            <a:r>
              <a:rPr lang="en-US" dirty="0">
                <a:latin typeface="微软雅黑" panose="020B0503020204020204" charset="-122"/>
                <a:ea typeface="微软雅黑" panose="020B0503020204020204" charset="-122"/>
                <a:cs typeface="Calibri" panose="020F0502020204030204"/>
              </a:rPr>
              <a:t>从运行到运行固定的代码位置</a:t>
            </a:r>
          </a:p>
          <a:p>
            <a:pPr lvl="1"/>
            <a:r>
              <a:rPr lang="en-US" dirty="0">
                <a:latin typeface="微软雅黑" panose="020B0503020204020204" charset="-122"/>
                <a:ea typeface="微软雅黑" panose="020B0503020204020204" charset="-122"/>
                <a:cs typeface="Calibri" panose="020F0502020204030204"/>
              </a:rPr>
              <a:t>代码</a:t>
            </a:r>
            <a:r>
              <a:rPr lang="zh-CN" altLang="en-US" dirty="0">
                <a:latin typeface="微软雅黑" panose="020B0503020204020204" charset="-122"/>
                <a:ea typeface="微软雅黑" panose="020B0503020204020204" charset="-122"/>
                <a:cs typeface="Calibri" panose="020F0502020204030204"/>
              </a:rPr>
              <a:t>是</a:t>
            </a:r>
            <a:r>
              <a:rPr lang="en-US" dirty="0">
                <a:latin typeface="微软雅黑" panose="020B0503020204020204" charset="-122"/>
                <a:ea typeface="微软雅黑" panose="020B0503020204020204" charset="-122"/>
                <a:cs typeface="Calibri" panose="020F0502020204030204"/>
              </a:rPr>
              <a:t>可执行</a:t>
            </a:r>
            <a:r>
              <a:rPr lang="zh-CN" altLang="en-US" dirty="0">
                <a:latin typeface="微软雅黑" panose="020B0503020204020204" charset="-122"/>
                <a:ea typeface="微软雅黑" panose="020B0503020204020204" charset="-122"/>
                <a:cs typeface="Calibri" panose="020F0502020204030204"/>
              </a:rPr>
              <a:t>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 calcmode="lin" valueType="num">
                                      <p:cBhvr additive="base">
                                        <p:cTn id="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anim calcmode="lin" valueType="num">
                                      <p:cBhvr additive="base">
                                        <p:cTn id="11"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 calcmode="lin" valueType="num">
                                      <p:cBhvr additive="base">
                                        <p:cTn id="17"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anim calcmode="lin" valueType="num">
                                      <p:cBhvr additive="base">
                                        <p:cTn id="21"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anim calcmode="lin" valueType="num">
                                      <p:cBhvr additive="base">
                                        <p:cTn id="25"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anim calcmode="lin" valueType="num">
                                      <p:cBhvr additive="base">
                                        <p:cTn id="29"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anim calcmode="lin" valueType="num">
                                      <p:cBhvr additive="base">
                                        <p:cTn id="35"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4">
                                            <p:txEl>
                                              <p:pRg st="9" end="9"/>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anim calcmode="lin" valueType="num">
                                      <p:cBhvr additive="base">
                                        <p:cTn id="39"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anim calcmode="lin" valueType="num">
                                      <p:cBhvr additive="base">
                                        <p:cTn id="43"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11" end="11"/>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4">
                                            <p:txEl>
                                              <p:pRg st="12" end="12"/>
                                            </p:txEl>
                                          </p:spTgt>
                                        </p:tgtEl>
                                        <p:attrNameLst>
                                          <p:attrName>style.visibility</p:attrName>
                                        </p:attrNameLst>
                                      </p:cBhvr>
                                      <p:to>
                                        <p:strVal val="visible"/>
                                      </p:to>
                                    </p:set>
                                    <p:anim calcmode="lin" valueType="num">
                                      <p:cBhvr additive="base">
                                        <p:cTn id="47" dur="500" fill="hold"/>
                                        <p:tgtEl>
                                          <p:spTgt spid="4">
                                            <p:txEl>
                                              <p:pRg st="12" end="12"/>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4">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文本框 1"/>
          <p:cNvSpPr txBox="1"/>
          <p:nvPr/>
        </p:nvSpPr>
        <p:spPr>
          <a:xfrm>
            <a:off x="3221195" y="3317593"/>
            <a:ext cx="2701610" cy="751205"/>
          </a:xfrm>
          <a:prstGeom prst="rect">
            <a:avLst/>
          </a:prstGeom>
          <a:noFill/>
        </p:spPr>
        <p:txBody>
          <a:bodyPr wrap="square" rtlCol="0">
            <a:spAutoFit/>
          </a:bodyPr>
          <a:lstStyle/>
          <a:p>
            <a:pPr algn="ctr" defTabSz="608965">
              <a:lnSpc>
                <a:spcPct val="130000"/>
              </a:lnSpc>
            </a:pPr>
            <a:r>
              <a:rPr lang="en-US" altLang="zh-CN" sz="3300" b="1" dirty="0">
                <a:latin typeface="+mj-lt"/>
                <a:ea typeface="微软雅黑" panose="020B0503020204020204" charset="-122"/>
              </a:rPr>
              <a:t>PART</a:t>
            </a:r>
            <a:r>
              <a:rPr lang="zh-CN" altLang="en-US" sz="3300" b="1" dirty="0">
                <a:latin typeface="+mj-lt"/>
                <a:ea typeface="微软雅黑" panose="020B0503020204020204" charset="-122"/>
              </a:rPr>
              <a:t> </a:t>
            </a:r>
            <a:r>
              <a:rPr lang="en-US" altLang="zh-CN" sz="3300" b="1" dirty="0">
                <a:latin typeface="+mj-lt"/>
                <a:ea typeface="微软雅黑" panose="020B0503020204020204" charset="-122"/>
              </a:rPr>
              <a:t>THREE</a:t>
            </a:r>
          </a:p>
        </p:txBody>
      </p:sp>
      <p:sp>
        <p:nvSpPr>
          <p:cNvPr id="3" name="文本框 2"/>
          <p:cNvSpPr txBox="1"/>
          <p:nvPr/>
        </p:nvSpPr>
        <p:spPr>
          <a:xfrm>
            <a:off x="2162175" y="2670175"/>
            <a:ext cx="5858510" cy="783590"/>
          </a:xfrm>
          <a:prstGeom prst="rect">
            <a:avLst/>
          </a:prstGeom>
          <a:noFill/>
        </p:spPr>
        <p:txBody>
          <a:bodyPr wrap="square" rtlCol="0">
            <a:spAutoFit/>
          </a:bodyPr>
          <a:lstStyle/>
          <a:p>
            <a:pPr algn="l"/>
            <a:r>
              <a:rPr lang="zh-CN" altLang="en-US" sz="4500" dirty="0">
                <a:latin typeface="+mn-ea"/>
                <a:cs typeface="+mn-ea"/>
                <a:sym typeface="+mn-ea"/>
              </a:rPr>
              <a:t>第六讲：浮点代码</a:t>
            </a:r>
            <a:endParaRPr lang="zh-CN" altLang="en-US" sz="4500" dirty="0">
              <a:latin typeface="+mj-lt"/>
              <a:ea typeface="微软雅黑" panose="020B0503020204020204" charset="-122"/>
            </a:endParaRPr>
          </a:p>
        </p:txBody>
      </p:sp>
      <p:sp>
        <p:nvSpPr>
          <p:cNvPr id="4" name="矩形 3"/>
          <p:cNvSpPr/>
          <p:nvPr/>
        </p:nvSpPr>
        <p:spPr>
          <a:xfrm>
            <a:off x="3667363" y="3962018"/>
            <a:ext cx="1809275" cy="85006"/>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Tree>
  </p:cSld>
  <p:clrMapOvr>
    <a:masterClrMapping/>
  </p:clrMapOvr>
  <p:transition spd="slow">
    <p:push dir="u"/>
  </p:transition>
</p:sld>
</file>

<file path=ppt/slides/slide2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3" name="椭圆 2"/>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3810" y="60960"/>
            <a:ext cx="276161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ea typeface="+mj-ea"/>
                <a:sym typeface="+mn-ea"/>
              </a:rPr>
              <a:t>SSE3</a:t>
            </a:r>
            <a:endParaRPr lang="en-US" altLang="en-US" sz="3200" dirty="0">
              <a:ea typeface="+mj-ea"/>
              <a:sym typeface="+mn-ea"/>
            </a:endParaRPr>
          </a:p>
        </p:txBody>
      </p:sp>
      <p:sp>
        <p:nvSpPr>
          <p:cNvPr id="11" name="Rectangle 3"/>
          <p:cNvSpPr>
            <a:spLocks noGrp="1" noChangeArrowheads="1"/>
          </p:cNvSpPr>
          <p:nvPr/>
        </p:nvSpPr>
        <p:spPr>
          <a:xfrm>
            <a:off x="202248" y="740023"/>
            <a:ext cx="8307387" cy="53784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defRPr/>
            </a:pPr>
            <a:r>
              <a:rPr lang="en-US" dirty="0">
                <a:ea typeface="+mn-ea"/>
              </a:rPr>
              <a:t>XMM </a:t>
            </a:r>
            <a:r>
              <a:rPr lang="zh-CN" altLang="en-US" dirty="0">
                <a:ea typeface="+mn-ea"/>
              </a:rPr>
              <a:t>寄存器</a:t>
            </a:r>
          </a:p>
          <a:p>
            <a:pPr lvl="1" eaLnBrk="1" hangingPunct="1">
              <a:buFont typeface="Wingdings" panose="05000000000000000000" pitchFamily="2" charset="2"/>
              <a:buChar char="n"/>
              <a:defRPr/>
            </a:pPr>
            <a:r>
              <a:rPr lang="en-US" dirty="0"/>
              <a:t>16 </a:t>
            </a:r>
            <a:r>
              <a:rPr lang="zh-CN" altLang="en-US" dirty="0">
                <a:ea typeface="宋体" panose="02010600030101010101" pitchFamily="2" charset="-122"/>
              </a:rPr>
              <a:t>个</a:t>
            </a:r>
            <a:r>
              <a:rPr lang="en-US" dirty="0"/>
              <a:t>, </a:t>
            </a:r>
            <a:r>
              <a:rPr lang="zh-CN" altLang="en-US" dirty="0">
                <a:ea typeface="宋体" panose="02010600030101010101" pitchFamily="2" charset="-122"/>
              </a:rPr>
              <a:t>每个</a:t>
            </a:r>
            <a:r>
              <a:rPr lang="en-US" dirty="0"/>
              <a:t> 16 </a:t>
            </a:r>
            <a:r>
              <a:rPr lang="zh-CN" altLang="en-US" dirty="0">
                <a:ea typeface="宋体" panose="02010600030101010101" pitchFamily="2" charset="-122"/>
              </a:rPr>
              <a:t>字节</a:t>
            </a:r>
          </a:p>
          <a:p>
            <a:pPr lvl="1" eaLnBrk="1" hangingPunct="1">
              <a:buFont typeface="Wingdings" panose="05000000000000000000" pitchFamily="2" charset="2"/>
              <a:buChar char="n"/>
              <a:defRPr/>
            </a:pPr>
            <a:r>
              <a:rPr lang="en-US" dirty="0"/>
              <a:t>16 单字节整</a:t>
            </a:r>
            <a:r>
              <a:rPr lang="zh-CN" altLang="en-US" dirty="0">
                <a:ea typeface="宋体" panose="02010600030101010101" pitchFamily="2" charset="-122"/>
              </a:rPr>
              <a:t>数</a:t>
            </a:r>
          </a:p>
          <a:p>
            <a:pPr lvl="1" eaLnBrk="1" hangingPunct="1">
              <a:buFont typeface="Wingdings" panose="05000000000000000000" pitchFamily="2" charset="2"/>
              <a:buChar char="n"/>
              <a:defRPr/>
            </a:pPr>
            <a:endParaRPr lang="en-US" dirty="0"/>
          </a:p>
          <a:p>
            <a:pPr lvl="1" eaLnBrk="1" hangingPunct="1">
              <a:buFont typeface="Wingdings" panose="05000000000000000000" pitchFamily="2" charset="2"/>
              <a:buChar char="n"/>
              <a:defRPr/>
            </a:pPr>
            <a:r>
              <a:rPr lang="en-US" dirty="0"/>
              <a:t>8 16</a:t>
            </a:r>
            <a:r>
              <a:rPr lang="zh-CN" altLang="en-US" dirty="0">
                <a:ea typeface="宋体" panose="02010600030101010101" pitchFamily="2" charset="-122"/>
              </a:rPr>
              <a:t>位整数</a:t>
            </a:r>
            <a:endParaRPr lang="en-US" dirty="0"/>
          </a:p>
          <a:p>
            <a:pPr lvl="1" eaLnBrk="1" hangingPunct="1">
              <a:buFont typeface="Wingdings" panose="05000000000000000000" pitchFamily="2" charset="2"/>
              <a:buChar char="n"/>
              <a:defRPr/>
            </a:pPr>
            <a:endParaRPr lang="en-US" dirty="0"/>
          </a:p>
          <a:p>
            <a:pPr lvl="1" eaLnBrk="1" hangingPunct="1">
              <a:buFont typeface="Wingdings" panose="05000000000000000000" pitchFamily="2" charset="2"/>
              <a:buChar char="n"/>
              <a:defRPr/>
            </a:pPr>
            <a:r>
              <a:rPr lang="en-US" dirty="0"/>
              <a:t>4 32位整数</a:t>
            </a:r>
          </a:p>
          <a:p>
            <a:pPr lvl="1" eaLnBrk="1" hangingPunct="1">
              <a:buFont typeface="Wingdings" panose="05000000000000000000" pitchFamily="2" charset="2"/>
              <a:buChar char="n"/>
              <a:defRPr/>
            </a:pPr>
            <a:endParaRPr lang="en-US" dirty="0"/>
          </a:p>
          <a:p>
            <a:pPr lvl="1" eaLnBrk="1" hangingPunct="1">
              <a:buFont typeface="Wingdings" panose="05000000000000000000" pitchFamily="2" charset="2"/>
              <a:buChar char="n"/>
              <a:defRPr/>
            </a:pPr>
            <a:r>
              <a:rPr lang="en-US" dirty="0"/>
              <a:t>4 </a:t>
            </a:r>
            <a:r>
              <a:rPr lang="zh-CN" altLang="en-US" dirty="0">
                <a:ea typeface="宋体" panose="02010600030101010101" pitchFamily="2" charset="-122"/>
              </a:rPr>
              <a:t>单精度浮点数</a:t>
            </a:r>
          </a:p>
          <a:p>
            <a:pPr lvl="1" eaLnBrk="1" hangingPunct="1">
              <a:buFont typeface="Wingdings" panose="05000000000000000000" pitchFamily="2" charset="2"/>
              <a:buChar char="n"/>
              <a:defRPr/>
            </a:pPr>
            <a:endParaRPr lang="en-US" dirty="0"/>
          </a:p>
          <a:p>
            <a:pPr lvl="1" eaLnBrk="1" hangingPunct="1">
              <a:buFont typeface="Wingdings" panose="05000000000000000000" pitchFamily="2" charset="2"/>
              <a:buChar char="n"/>
              <a:defRPr/>
            </a:pPr>
            <a:r>
              <a:rPr lang="en-US" dirty="0"/>
              <a:t>2 </a:t>
            </a:r>
            <a:r>
              <a:rPr lang="zh-CN" altLang="en-US" dirty="0">
                <a:ea typeface="宋体" panose="02010600030101010101" pitchFamily="2" charset="-122"/>
              </a:rPr>
              <a:t>双精度浮点数</a:t>
            </a:r>
          </a:p>
          <a:p>
            <a:pPr lvl="1" eaLnBrk="1" hangingPunct="1">
              <a:buFont typeface="Wingdings" panose="05000000000000000000" pitchFamily="2" charset="2"/>
              <a:buChar char="n"/>
              <a:defRPr/>
            </a:pPr>
            <a:endParaRPr lang="en-US" dirty="0"/>
          </a:p>
          <a:p>
            <a:pPr lvl="1" eaLnBrk="1" hangingPunct="1">
              <a:buFont typeface="Wingdings" panose="05000000000000000000" pitchFamily="2" charset="2"/>
              <a:buChar char="n"/>
              <a:defRPr/>
            </a:pPr>
            <a:r>
              <a:rPr lang="en-US" dirty="0"/>
              <a:t>1 </a:t>
            </a:r>
            <a:r>
              <a:rPr lang="zh-CN" altLang="en-US" dirty="0">
                <a:ea typeface="宋体" panose="02010600030101010101" pitchFamily="2" charset="-122"/>
              </a:rPr>
              <a:t>单精度浮点数</a:t>
            </a:r>
          </a:p>
          <a:p>
            <a:pPr lvl="1" eaLnBrk="1" hangingPunct="1">
              <a:buFont typeface="Wingdings" panose="05000000000000000000" pitchFamily="2" charset="2"/>
              <a:buChar char="n"/>
              <a:defRPr/>
            </a:pPr>
            <a:endParaRPr lang="en-US" dirty="0"/>
          </a:p>
          <a:p>
            <a:pPr lvl="1" eaLnBrk="1" hangingPunct="1">
              <a:buFont typeface="Wingdings" panose="05000000000000000000" pitchFamily="2" charset="2"/>
              <a:buChar char="n"/>
              <a:defRPr/>
            </a:pPr>
            <a:r>
              <a:rPr lang="en-US" dirty="0"/>
              <a:t>1 </a:t>
            </a:r>
            <a:r>
              <a:rPr lang="zh-CN" altLang="en-US" dirty="0">
                <a:ea typeface="宋体" panose="02010600030101010101" pitchFamily="2" charset="-122"/>
                <a:sym typeface="+mn-ea"/>
              </a:rPr>
              <a:t>双精度浮点数</a:t>
            </a:r>
            <a:endParaRPr lang="en-US" dirty="0"/>
          </a:p>
        </p:txBody>
      </p:sp>
      <p:grpSp>
        <p:nvGrpSpPr>
          <p:cNvPr id="12" name="Group 20"/>
          <p:cNvGrpSpPr/>
          <p:nvPr/>
        </p:nvGrpSpPr>
        <p:grpSpPr bwMode="auto">
          <a:xfrm>
            <a:off x="469900" y="2000498"/>
            <a:ext cx="7315200" cy="304800"/>
            <a:chOff x="768" y="864"/>
            <a:chExt cx="4608" cy="192"/>
          </a:xfrm>
        </p:grpSpPr>
        <p:sp>
          <p:nvSpPr>
            <p:cNvPr id="13" name="Rectangle 4"/>
            <p:cNvSpPr>
              <a:spLocks noChangeArrowheads="1"/>
            </p:cNvSpPr>
            <p:nvPr/>
          </p:nvSpPr>
          <p:spPr bwMode="auto">
            <a:xfrm>
              <a:off x="768"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14" name="Rectangle 5"/>
            <p:cNvSpPr>
              <a:spLocks noChangeArrowheads="1"/>
            </p:cNvSpPr>
            <p:nvPr/>
          </p:nvSpPr>
          <p:spPr bwMode="auto">
            <a:xfrm>
              <a:off x="1056"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15" name="Rectangle 6"/>
            <p:cNvSpPr>
              <a:spLocks noChangeArrowheads="1"/>
            </p:cNvSpPr>
            <p:nvPr/>
          </p:nvSpPr>
          <p:spPr bwMode="auto">
            <a:xfrm>
              <a:off x="1344"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16" name="Rectangle 7"/>
            <p:cNvSpPr>
              <a:spLocks noChangeArrowheads="1"/>
            </p:cNvSpPr>
            <p:nvPr/>
          </p:nvSpPr>
          <p:spPr bwMode="auto">
            <a:xfrm>
              <a:off x="1632"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17" name="Rectangle 8"/>
            <p:cNvSpPr>
              <a:spLocks noChangeArrowheads="1"/>
            </p:cNvSpPr>
            <p:nvPr/>
          </p:nvSpPr>
          <p:spPr bwMode="auto">
            <a:xfrm>
              <a:off x="1920"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18" name="Rectangle 9"/>
            <p:cNvSpPr>
              <a:spLocks noChangeArrowheads="1"/>
            </p:cNvSpPr>
            <p:nvPr/>
          </p:nvSpPr>
          <p:spPr bwMode="auto">
            <a:xfrm>
              <a:off x="2208"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19" name="Rectangle 10"/>
            <p:cNvSpPr>
              <a:spLocks noChangeArrowheads="1"/>
            </p:cNvSpPr>
            <p:nvPr/>
          </p:nvSpPr>
          <p:spPr bwMode="auto">
            <a:xfrm>
              <a:off x="2496"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0" name="Rectangle 11"/>
            <p:cNvSpPr>
              <a:spLocks noChangeArrowheads="1"/>
            </p:cNvSpPr>
            <p:nvPr/>
          </p:nvSpPr>
          <p:spPr bwMode="auto">
            <a:xfrm>
              <a:off x="2784"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1" name="Rectangle 12"/>
            <p:cNvSpPr>
              <a:spLocks noChangeArrowheads="1"/>
            </p:cNvSpPr>
            <p:nvPr/>
          </p:nvSpPr>
          <p:spPr bwMode="auto">
            <a:xfrm>
              <a:off x="3072"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2" name="Rectangle 13"/>
            <p:cNvSpPr>
              <a:spLocks noChangeArrowheads="1"/>
            </p:cNvSpPr>
            <p:nvPr/>
          </p:nvSpPr>
          <p:spPr bwMode="auto">
            <a:xfrm>
              <a:off x="3360"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3" name="Rectangle 14"/>
            <p:cNvSpPr>
              <a:spLocks noChangeArrowheads="1"/>
            </p:cNvSpPr>
            <p:nvPr/>
          </p:nvSpPr>
          <p:spPr bwMode="auto">
            <a:xfrm>
              <a:off x="3648"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4" name="Rectangle 15"/>
            <p:cNvSpPr>
              <a:spLocks noChangeArrowheads="1"/>
            </p:cNvSpPr>
            <p:nvPr/>
          </p:nvSpPr>
          <p:spPr bwMode="auto">
            <a:xfrm>
              <a:off x="3936"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5" name="Rectangle 16"/>
            <p:cNvSpPr>
              <a:spLocks noChangeArrowheads="1"/>
            </p:cNvSpPr>
            <p:nvPr/>
          </p:nvSpPr>
          <p:spPr bwMode="auto">
            <a:xfrm>
              <a:off x="4224"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6" name="Rectangle 17"/>
            <p:cNvSpPr>
              <a:spLocks noChangeArrowheads="1"/>
            </p:cNvSpPr>
            <p:nvPr/>
          </p:nvSpPr>
          <p:spPr bwMode="auto">
            <a:xfrm>
              <a:off x="4512"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7" name="Rectangle 18"/>
            <p:cNvSpPr>
              <a:spLocks noChangeArrowheads="1"/>
            </p:cNvSpPr>
            <p:nvPr/>
          </p:nvSpPr>
          <p:spPr bwMode="auto">
            <a:xfrm>
              <a:off x="4800"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sp>
          <p:nvSpPr>
            <p:cNvPr id="28" name="Rectangle 19"/>
            <p:cNvSpPr>
              <a:spLocks noChangeArrowheads="1"/>
            </p:cNvSpPr>
            <p:nvPr/>
          </p:nvSpPr>
          <p:spPr bwMode="auto">
            <a:xfrm>
              <a:off x="5088" y="864"/>
              <a:ext cx="288" cy="192"/>
            </a:xfrm>
            <a:prstGeom prst="rect">
              <a:avLst/>
            </a:prstGeom>
            <a:solidFill>
              <a:srgbClr val="FFCCCC"/>
            </a:solidFill>
            <a:ln w="28575">
              <a:solidFill>
                <a:schemeClr val="tx2"/>
              </a:solidFill>
              <a:miter lim="800000"/>
              <a:tailEnd type="none" w="sm" len="sm"/>
            </a:ln>
          </p:spPr>
          <p:txBody>
            <a:bodyPr wrap="none" lIns="45720" rIns="45720" anchor="ctr">
              <a:spAutoFit/>
            </a:bodyPr>
            <a:lstStyle/>
            <a:p>
              <a:endParaRPr lang="en-US"/>
            </a:p>
          </p:txBody>
        </p:sp>
      </p:grpSp>
      <p:grpSp>
        <p:nvGrpSpPr>
          <p:cNvPr id="29" name="Group 1"/>
          <p:cNvGrpSpPr/>
          <p:nvPr/>
        </p:nvGrpSpPr>
        <p:grpSpPr>
          <a:xfrm>
            <a:off x="469900" y="2709044"/>
            <a:ext cx="7315200" cy="304800"/>
            <a:chOff x="609600" y="2546350"/>
            <a:chExt cx="7315200" cy="304800"/>
          </a:xfrm>
        </p:grpSpPr>
        <p:grpSp>
          <p:nvGrpSpPr>
            <p:cNvPr id="30" name="Group 21"/>
            <p:cNvGrpSpPr/>
            <p:nvPr/>
          </p:nvGrpSpPr>
          <p:grpSpPr bwMode="auto">
            <a:xfrm>
              <a:off x="609600" y="2546350"/>
              <a:ext cx="7315200" cy="304800"/>
              <a:chOff x="768" y="864"/>
              <a:chExt cx="4608" cy="192"/>
            </a:xfrm>
          </p:grpSpPr>
          <p:sp>
            <p:nvSpPr>
              <p:cNvPr id="31" name="Rectangle 22"/>
              <p:cNvSpPr>
                <a:spLocks noChangeArrowheads="1"/>
              </p:cNvSpPr>
              <p:nvPr/>
            </p:nvSpPr>
            <p:spPr bwMode="auto">
              <a:xfrm>
                <a:off x="768"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32" name="Rectangle 23"/>
              <p:cNvSpPr>
                <a:spLocks noChangeArrowheads="1"/>
              </p:cNvSpPr>
              <p:nvPr/>
            </p:nvSpPr>
            <p:spPr bwMode="auto">
              <a:xfrm>
                <a:off x="1056"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33" name="Rectangle 24"/>
              <p:cNvSpPr>
                <a:spLocks noChangeArrowheads="1"/>
              </p:cNvSpPr>
              <p:nvPr/>
            </p:nvSpPr>
            <p:spPr bwMode="auto">
              <a:xfrm>
                <a:off x="1344"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34" name="Rectangle 25"/>
              <p:cNvSpPr>
                <a:spLocks noChangeArrowheads="1"/>
              </p:cNvSpPr>
              <p:nvPr/>
            </p:nvSpPr>
            <p:spPr bwMode="auto">
              <a:xfrm>
                <a:off x="1632"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35" name="Rectangle 26"/>
              <p:cNvSpPr>
                <a:spLocks noChangeArrowheads="1"/>
              </p:cNvSpPr>
              <p:nvPr/>
            </p:nvSpPr>
            <p:spPr bwMode="auto">
              <a:xfrm>
                <a:off x="1920"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36" name="Rectangle 27"/>
              <p:cNvSpPr>
                <a:spLocks noChangeArrowheads="1"/>
              </p:cNvSpPr>
              <p:nvPr/>
            </p:nvSpPr>
            <p:spPr bwMode="auto">
              <a:xfrm>
                <a:off x="2208"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37" name="Rectangle 28"/>
              <p:cNvSpPr>
                <a:spLocks noChangeArrowheads="1"/>
              </p:cNvSpPr>
              <p:nvPr/>
            </p:nvSpPr>
            <p:spPr bwMode="auto">
              <a:xfrm>
                <a:off x="2496"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38" name="Rectangle 29"/>
              <p:cNvSpPr>
                <a:spLocks noChangeArrowheads="1"/>
              </p:cNvSpPr>
              <p:nvPr/>
            </p:nvSpPr>
            <p:spPr bwMode="auto">
              <a:xfrm>
                <a:off x="2784"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39" name="Rectangle 30"/>
              <p:cNvSpPr>
                <a:spLocks noChangeArrowheads="1"/>
              </p:cNvSpPr>
              <p:nvPr/>
            </p:nvSpPr>
            <p:spPr bwMode="auto">
              <a:xfrm>
                <a:off x="3072"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40" name="Rectangle 31"/>
              <p:cNvSpPr>
                <a:spLocks noChangeArrowheads="1"/>
              </p:cNvSpPr>
              <p:nvPr/>
            </p:nvSpPr>
            <p:spPr bwMode="auto">
              <a:xfrm>
                <a:off x="3360"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41" name="Rectangle 32"/>
              <p:cNvSpPr>
                <a:spLocks noChangeArrowheads="1"/>
              </p:cNvSpPr>
              <p:nvPr/>
            </p:nvSpPr>
            <p:spPr bwMode="auto">
              <a:xfrm>
                <a:off x="3648"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42" name="Rectangle 33"/>
              <p:cNvSpPr>
                <a:spLocks noChangeArrowheads="1"/>
              </p:cNvSpPr>
              <p:nvPr/>
            </p:nvSpPr>
            <p:spPr bwMode="auto">
              <a:xfrm>
                <a:off x="3936"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43" name="Rectangle 34"/>
              <p:cNvSpPr>
                <a:spLocks noChangeArrowheads="1"/>
              </p:cNvSpPr>
              <p:nvPr/>
            </p:nvSpPr>
            <p:spPr bwMode="auto">
              <a:xfrm>
                <a:off x="4224"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44" name="Rectangle 35"/>
              <p:cNvSpPr>
                <a:spLocks noChangeArrowheads="1"/>
              </p:cNvSpPr>
              <p:nvPr/>
            </p:nvSpPr>
            <p:spPr bwMode="auto">
              <a:xfrm>
                <a:off x="4512"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45" name="Rectangle 36"/>
              <p:cNvSpPr>
                <a:spLocks noChangeArrowheads="1"/>
              </p:cNvSpPr>
              <p:nvPr/>
            </p:nvSpPr>
            <p:spPr bwMode="auto">
              <a:xfrm>
                <a:off x="4800"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46" name="Rectangle 37"/>
              <p:cNvSpPr>
                <a:spLocks noChangeArrowheads="1"/>
              </p:cNvSpPr>
              <p:nvPr/>
            </p:nvSpPr>
            <p:spPr bwMode="auto">
              <a:xfrm>
                <a:off x="5088"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grpSp>
        <p:sp>
          <p:nvSpPr>
            <p:cNvPr id="47" name="Rectangle 89"/>
            <p:cNvSpPr>
              <a:spLocks noChangeArrowheads="1"/>
            </p:cNvSpPr>
            <p:nvPr/>
          </p:nvSpPr>
          <p:spPr bwMode="auto">
            <a:xfrm>
              <a:off x="609600" y="2546350"/>
              <a:ext cx="9144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wrap="none" lIns="45720" rIns="45720" anchor="ctr">
              <a:spAutoFit/>
            </a:bodyPr>
            <a:lstStyle/>
            <a:p>
              <a:endParaRPr lang="en-US"/>
            </a:p>
          </p:txBody>
        </p:sp>
        <p:sp>
          <p:nvSpPr>
            <p:cNvPr id="48" name="Rectangle 90"/>
            <p:cNvSpPr>
              <a:spLocks noChangeArrowheads="1"/>
            </p:cNvSpPr>
            <p:nvPr/>
          </p:nvSpPr>
          <p:spPr bwMode="auto">
            <a:xfrm>
              <a:off x="1524000" y="2546350"/>
              <a:ext cx="9144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wrap="none" lIns="45720" rIns="45720" anchor="ctr">
              <a:spAutoFit/>
            </a:bodyPr>
            <a:lstStyle/>
            <a:p>
              <a:endParaRPr lang="en-US"/>
            </a:p>
          </p:txBody>
        </p:sp>
        <p:sp>
          <p:nvSpPr>
            <p:cNvPr id="49" name="Rectangle 91"/>
            <p:cNvSpPr>
              <a:spLocks noChangeArrowheads="1"/>
            </p:cNvSpPr>
            <p:nvPr/>
          </p:nvSpPr>
          <p:spPr bwMode="auto">
            <a:xfrm>
              <a:off x="2438400" y="2546350"/>
              <a:ext cx="9144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wrap="none" lIns="45720" rIns="45720" anchor="ctr">
              <a:spAutoFit/>
            </a:bodyPr>
            <a:lstStyle/>
            <a:p>
              <a:endParaRPr lang="en-US"/>
            </a:p>
          </p:txBody>
        </p:sp>
        <p:sp>
          <p:nvSpPr>
            <p:cNvPr id="50" name="Rectangle 92"/>
            <p:cNvSpPr>
              <a:spLocks noChangeArrowheads="1"/>
            </p:cNvSpPr>
            <p:nvPr/>
          </p:nvSpPr>
          <p:spPr bwMode="auto">
            <a:xfrm>
              <a:off x="3352800" y="2546350"/>
              <a:ext cx="9144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wrap="none" lIns="45720" rIns="45720" anchor="ctr">
              <a:spAutoFit/>
            </a:bodyPr>
            <a:lstStyle/>
            <a:p>
              <a:endParaRPr lang="en-US"/>
            </a:p>
          </p:txBody>
        </p:sp>
        <p:sp>
          <p:nvSpPr>
            <p:cNvPr id="51" name="Rectangle 93"/>
            <p:cNvSpPr>
              <a:spLocks noChangeArrowheads="1"/>
            </p:cNvSpPr>
            <p:nvPr/>
          </p:nvSpPr>
          <p:spPr bwMode="auto">
            <a:xfrm>
              <a:off x="4267200" y="2546350"/>
              <a:ext cx="9144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wrap="none" lIns="45720" rIns="45720" anchor="ctr">
              <a:spAutoFit/>
            </a:bodyPr>
            <a:lstStyle/>
            <a:p>
              <a:endParaRPr lang="en-US"/>
            </a:p>
          </p:txBody>
        </p:sp>
        <p:sp>
          <p:nvSpPr>
            <p:cNvPr id="52" name="Rectangle 94"/>
            <p:cNvSpPr>
              <a:spLocks noChangeArrowheads="1"/>
            </p:cNvSpPr>
            <p:nvPr/>
          </p:nvSpPr>
          <p:spPr bwMode="auto">
            <a:xfrm>
              <a:off x="5181600" y="2546350"/>
              <a:ext cx="9144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wrap="none" lIns="45720" rIns="45720" anchor="ctr">
              <a:spAutoFit/>
            </a:bodyPr>
            <a:lstStyle/>
            <a:p>
              <a:endParaRPr lang="en-US"/>
            </a:p>
          </p:txBody>
        </p:sp>
        <p:sp>
          <p:nvSpPr>
            <p:cNvPr id="53" name="Rectangle 95"/>
            <p:cNvSpPr>
              <a:spLocks noChangeArrowheads="1"/>
            </p:cNvSpPr>
            <p:nvPr/>
          </p:nvSpPr>
          <p:spPr bwMode="auto">
            <a:xfrm>
              <a:off x="6096000" y="2546350"/>
              <a:ext cx="9144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wrap="none" lIns="45720" rIns="45720" anchor="ctr">
              <a:spAutoFit/>
            </a:bodyPr>
            <a:lstStyle/>
            <a:p>
              <a:endParaRPr lang="en-US"/>
            </a:p>
          </p:txBody>
        </p:sp>
        <p:sp>
          <p:nvSpPr>
            <p:cNvPr id="54" name="Rectangle 96"/>
            <p:cNvSpPr>
              <a:spLocks noChangeArrowheads="1"/>
            </p:cNvSpPr>
            <p:nvPr/>
          </p:nvSpPr>
          <p:spPr bwMode="auto">
            <a:xfrm>
              <a:off x="7010400" y="2546350"/>
              <a:ext cx="9144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wrap="none" lIns="45720" rIns="45720" anchor="ctr">
              <a:spAutoFit/>
            </a:bodyPr>
            <a:lstStyle/>
            <a:p>
              <a:endParaRPr lang="en-US"/>
            </a:p>
          </p:txBody>
        </p:sp>
      </p:grpSp>
      <p:grpSp>
        <p:nvGrpSpPr>
          <p:cNvPr id="55" name="Group 2"/>
          <p:cNvGrpSpPr/>
          <p:nvPr/>
        </p:nvGrpSpPr>
        <p:grpSpPr>
          <a:xfrm>
            <a:off x="469900" y="3429124"/>
            <a:ext cx="7315200" cy="304800"/>
            <a:chOff x="609600" y="3308350"/>
            <a:chExt cx="7315200" cy="304800"/>
          </a:xfrm>
        </p:grpSpPr>
        <p:grpSp>
          <p:nvGrpSpPr>
            <p:cNvPr id="56" name="Group 38"/>
            <p:cNvGrpSpPr/>
            <p:nvPr/>
          </p:nvGrpSpPr>
          <p:grpSpPr bwMode="auto">
            <a:xfrm>
              <a:off x="609600" y="3308350"/>
              <a:ext cx="7315200" cy="304800"/>
              <a:chOff x="768" y="864"/>
              <a:chExt cx="4608" cy="192"/>
            </a:xfrm>
          </p:grpSpPr>
          <p:sp>
            <p:nvSpPr>
              <p:cNvPr id="57" name="Rectangle 39"/>
              <p:cNvSpPr>
                <a:spLocks noChangeArrowheads="1"/>
              </p:cNvSpPr>
              <p:nvPr/>
            </p:nvSpPr>
            <p:spPr bwMode="auto">
              <a:xfrm>
                <a:off x="768"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58" name="Rectangle 40"/>
              <p:cNvSpPr>
                <a:spLocks noChangeArrowheads="1"/>
              </p:cNvSpPr>
              <p:nvPr/>
            </p:nvSpPr>
            <p:spPr bwMode="auto">
              <a:xfrm>
                <a:off x="1056"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59" name="Rectangle 41"/>
              <p:cNvSpPr>
                <a:spLocks noChangeArrowheads="1"/>
              </p:cNvSpPr>
              <p:nvPr/>
            </p:nvSpPr>
            <p:spPr bwMode="auto">
              <a:xfrm>
                <a:off x="1344"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0" name="Rectangle 42"/>
              <p:cNvSpPr>
                <a:spLocks noChangeArrowheads="1"/>
              </p:cNvSpPr>
              <p:nvPr/>
            </p:nvSpPr>
            <p:spPr bwMode="auto">
              <a:xfrm>
                <a:off x="1632"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1" name="Rectangle 43"/>
              <p:cNvSpPr>
                <a:spLocks noChangeArrowheads="1"/>
              </p:cNvSpPr>
              <p:nvPr/>
            </p:nvSpPr>
            <p:spPr bwMode="auto">
              <a:xfrm>
                <a:off x="1920"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2" name="Rectangle 44"/>
              <p:cNvSpPr>
                <a:spLocks noChangeArrowheads="1"/>
              </p:cNvSpPr>
              <p:nvPr/>
            </p:nvSpPr>
            <p:spPr bwMode="auto">
              <a:xfrm>
                <a:off x="2208"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3" name="Rectangle 45"/>
              <p:cNvSpPr>
                <a:spLocks noChangeArrowheads="1"/>
              </p:cNvSpPr>
              <p:nvPr/>
            </p:nvSpPr>
            <p:spPr bwMode="auto">
              <a:xfrm>
                <a:off x="2496"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4" name="Rectangle 46"/>
              <p:cNvSpPr>
                <a:spLocks noChangeArrowheads="1"/>
              </p:cNvSpPr>
              <p:nvPr/>
            </p:nvSpPr>
            <p:spPr bwMode="auto">
              <a:xfrm>
                <a:off x="2784"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5" name="Rectangle 47"/>
              <p:cNvSpPr>
                <a:spLocks noChangeArrowheads="1"/>
              </p:cNvSpPr>
              <p:nvPr/>
            </p:nvSpPr>
            <p:spPr bwMode="auto">
              <a:xfrm>
                <a:off x="3072"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6" name="Rectangle 48"/>
              <p:cNvSpPr>
                <a:spLocks noChangeArrowheads="1"/>
              </p:cNvSpPr>
              <p:nvPr/>
            </p:nvSpPr>
            <p:spPr bwMode="auto">
              <a:xfrm>
                <a:off x="3360"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7" name="Rectangle 49"/>
              <p:cNvSpPr>
                <a:spLocks noChangeArrowheads="1"/>
              </p:cNvSpPr>
              <p:nvPr/>
            </p:nvSpPr>
            <p:spPr bwMode="auto">
              <a:xfrm>
                <a:off x="3648"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8" name="Rectangle 50"/>
              <p:cNvSpPr>
                <a:spLocks noChangeArrowheads="1"/>
              </p:cNvSpPr>
              <p:nvPr/>
            </p:nvSpPr>
            <p:spPr bwMode="auto">
              <a:xfrm>
                <a:off x="3936"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69" name="Rectangle 51"/>
              <p:cNvSpPr>
                <a:spLocks noChangeArrowheads="1"/>
              </p:cNvSpPr>
              <p:nvPr/>
            </p:nvSpPr>
            <p:spPr bwMode="auto">
              <a:xfrm>
                <a:off x="4224"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70" name="Rectangle 52"/>
              <p:cNvSpPr>
                <a:spLocks noChangeArrowheads="1"/>
              </p:cNvSpPr>
              <p:nvPr/>
            </p:nvSpPr>
            <p:spPr bwMode="auto">
              <a:xfrm>
                <a:off x="4512"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71" name="Rectangle 53"/>
              <p:cNvSpPr>
                <a:spLocks noChangeArrowheads="1"/>
              </p:cNvSpPr>
              <p:nvPr/>
            </p:nvSpPr>
            <p:spPr bwMode="auto">
              <a:xfrm>
                <a:off x="4800"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sp>
            <p:nvSpPr>
              <p:cNvPr id="72" name="Rectangle 54"/>
              <p:cNvSpPr>
                <a:spLocks noChangeArrowheads="1"/>
              </p:cNvSpPr>
              <p:nvPr/>
            </p:nvSpPr>
            <p:spPr bwMode="auto">
              <a:xfrm>
                <a:off x="5088" y="864"/>
                <a:ext cx="288" cy="192"/>
              </a:xfrm>
              <a:prstGeom prst="rect">
                <a:avLst/>
              </a:prstGeom>
              <a:solidFill>
                <a:srgbClr val="FFCCCC"/>
              </a:solidFill>
              <a:ln w="6350">
                <a:solidFill>
                  <a:schemeClr val="tx2"/>
                </a:solidFill>
                <a:miter lim="800000"/>
                <a:tailEnd type="none" w="sm" len="sm"/>
              </a:ln>
            </p:spPr>
            <p:txBody>
              <a:bodyPr wrap="none" lIns="45720" rIns="45720" anchor="ctr">
                <a:spAutoFit/>
              </a:bodyPr>
              <a:lstStyle/>
              <a:p>
                <a:endParaRPr lang="en-US"/>
              </a:p>
            </p:txBody>
          </p:sp>
        </p:grpSp>
        <p:sp>
          <p:nvSpPr>
            <p:cNvPr id="73" name="Rectangle 97"/>
            <p:cNvSpPr>
              <a:spLocks noChangeArrowheads="1"/>
            </p:cNvSpPr>
            <p:nvPr/>
          </p:nvSpPr>
          <p:spPr bwMode="auto">
            <a:xfrm>
              <a:off x="609600" y="330835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74" name="Rectangle 98"/>
            <p:cNvSpPr>
              <a:spLocks noChangeArrowheads="1"/>
            </p:cNvSpPr>
            <p:nvPr/>
          </p:nvSpPr>
          <p:spPr bwMode="auto">
            <a:xfrm>
              <a:off x="2438400" y="330835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75" name="Rectangle 99"/>
            <p:cNvSpPr>
              <a:spLocks noChangeArrowheads="1"/>
            </p:cNvSpPr>
            <p:nvPr/>
          </p:nvSpPr>
          <p:spPr bwMode="auto">
            <a:xfrm>
              <a:off x="4267200" y="330835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76" name="Rectangle 100"/>
            <p:cNvSpPr>
              <a:spLocks noChangeArrowheads="1"/>
            </p:cNvSpPr>
            <p:nvPr/>
          </p:nvSpPr>
          <p:spPr bwMode="auto">
            <a:xfrm>
              <a:off x="6096000" y="330835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grpSp>
        <p:nvGrpSpPr>
          <p:cNvPr id="77" name="Group 3"/>
          <p:cNvGrpSpPr/>
          <p:nvPr/>
        </p:nvGrpSpPr>
        <p:grpSpPr>
          <a:xfrm>
            <a:off x="469900" y="4132436"/>
            <a:ext cx="7315200" cy="304800"/>
            <a:chOff x="609600" y="4070350"/>
            <a:chExt cx="7315200" cy="304800"/>
          </a:xfrm>
        </p:grpSpPr>
        <p:grpSp>
          <p:nvGrpSpPr>
            <p:cNvPr id="78" name="Group 55"/>
            <p:cNvGrpSpPr/>
            <p:nvPr/>
          </p:nvGrpSpPr>
          <p:grpSpPr bwMode="auto">
            <a:xfrm>
              <a:off x="609600" y="4070350"/>
              <a:ext cx="7315200" cy="304800"/>
              <a:chOff x="768" y="864"/>
              <a:chExt cx="4608" cy="192"/>
            </a:xfrm>
          </p:grpSpPr>
          <p:sp>
            <p:nvSpPr>
              <p:cNvPr id="79" name="Rectangle 56"/>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0" name="Rectangle 57"/>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1" name="Rectangle 58"/>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2" name="Rectangle 59"/>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3" name="Rectangle 60"/>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4" name="Rectangle 61"/>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5" name="Rectangle 62"/>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6" name="Rectangle 63"/>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7" name="Rectangle 64"/>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8" name="Rectangle 65"/>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89" name="Rectangle 66"/>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90" name="Rectangle 67"/>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91" name="Rectangle 68"/>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92" name="Rectangle 69"/>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93" name="Rectangle 70"/>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94" name="Rectangle 71"/>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95" name="Rectangle 101"/>
            <p:cNvSpPr>
              <a:spLocks noChangeArrowheads="1"/>
            </p:cNvSpPr>
            <p:nvPr/>
          </p:nvSpPr>
          <p:spPr bwMode="auto">
            <a:xfrm>
              <a:off x="609600" y="407035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96" name="Rectangle 102"/>
            <p:cNvSpPr>
              <a:spLocks noChangeArrowheads="1"/>
            </p:cNvSpPr>
            <p:nvPr/>
          </p:nvSpPr>
          <p:spPr bwMode="auto">
            <a:xfrm>
              <a:off x="2438400" y="407035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97" name="Rectangle 103"/>
            <p:cNvSpPr>
              <a:spLocks noChangeArrowheads="1"/>
            </p:cNvSpPr>
            <p:nvPr/>
          </p:nvSpPr>
          <p:spPr bwMode="auto">
            <a:xfrm>
              <a:off x="4267200" y="407035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98" name="Rectangle 104"/>
            <p:cNvSpPr>
              <a:spLocks noChangeArrowheads="1"/>
            </p:cNvSpPr>
            <p:nvPr/>
          </p:nvSpPr>
          <p:spPr bwMode="auto">
            <a:xfrm>
              <a:off x="6096000" y="407035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grpSp>
        <p:nvGrpSpPr>
          <p:cNvPr id="99" name="Group 4"/>
          <p:cNvGrpSpPr/>
          <p:nvPr/>
        </p:nvGrpSpPr>
        <p:grpSpPr>
          <a:xfrm>
            <a:off x="469900" y="4941292"/>
            <a:ext cx="7315200" cy="304800"/>
            <a:chOff x="609600" y="4832350"/>
            <a:chExt cx="7315200" cy="304800"/>
          </a:xfrm>
        </p:grpSpPr>
        <p:grpSp>
          <p:nvGrpSpPr>
            <p:cNvPr id="100" name="Group 72"/>
            <p:cNvGrpSpPr/>
            <p:nvPr/>
          </p:nvGrpSpPr>
          <p:grpSpPr bwMode="auto">
            <a:xfrm>
              <a:off x="609600" y="4832350"/>
              <a:ext cx="7315200" cy="304800"/>
              <a:chOff x="768" y="864"/>
              <a:chExt cx="4608" cy="192"/>
            </a:xfrm>
          </p:grpSpPr>
          <p:sp>
            <p:nvSpPr>
              <p:cNvPr id="101" name="Rectangle 73"/>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02" name="Rectangle 74"/>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03" name="Rectangle 75"/>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04" name="Rectangle 76"/>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05" name="Rectangle 77"/>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06" name="Rectangle 78"/>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07" name="Rectangle 79"/>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08" name="Rectangle 80"/>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09" name="Rectangle 81"/>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10" name="Rectangle 82"/>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11" name="Rectangle 83"/>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12" name="Rectangle 84"/>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13" name="Rectangle 85"/>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14" name="Rectangle 86"/>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15" name="Rectangle 87"/>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16" name="Rectangle 88"/>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117" name="Rectangle 105"/>
            <p:cNvSpPr>
              <a:spLocks noChangeArrowheads="1"/>
            </p:cNvSpPr>
            <p:nvPr/>
          </p:nvSpPr>
          <p:spPr bwMode="auto">
            <a:xfrm>
              <a:off x="609600" y="4832350"/>
              <a:ext cx="36576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118" name="Rectangle 109"/>
            <p:cNvSpPr>
              <a:spLocks noChangeArrowheads="1"/>
            </p:cNvSpPr>
            <p:nvPr/>
          </p:nvSpPr>
          <p:spPr bwMode="auto">
            <a:xfrm>
              <a:off x="4267200" y="4832350"/>
              <a:ext cx="36576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grpSp>
        <p:nvGrpSpPr>
          <p:cNvPr id="119" name="Group 5"/>
          <p:cNvGrpSpPr/>
          <p:nvPr/>
        </p:nvGrpSpPr>
        <p:grpSpPr>
          <a:xfrm>
            <a:off x="469900" y="5661372"/>
            <a:ext cx="7315200" cy="304800"/>
            <a:chOff x="609600" y="5638800"/>
            <a:chExt cx="7315200" cy="304800"/>
          </a:xfrm>
        </p:grpSpPr>
        <p:grpSp>
          <p:nvGrpSpPr>
            <p:cNvPr id="120" name="Group 110"/>
            <p:cNvGrpSpPr/>
            <p:nvPr/>
          </p:nvGrpSpPr>
          <p:grpSpPr bwMode="auto">
            <a:xfrm>
              <a:off x="609600" y="5638800"/>
              <a:ext cx="7315200" cy="304800"/>
              <a:chOff x="768" y="864"/>
              <a:chExt cx="4608" cy="192"/>
            </a:xfrm>
          </p:grpSpPr>
          <p:sp>
            <p:nvSpPr>
              <p:cNvPr id="121" name="Rectangle 111"/>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22" name="Rectangle 112"/>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23" name="Rectangle 113"/>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24" name="Rectangle 114"/>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25" name="Rectangle 115"/>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26" name="Rectangle 116"/>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27" name="Rectangle 117"/>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28" name="Rectangle 118"/>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29" name="Rectangle 119"/>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30" name="Rectangle 120"/>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31" name="Rectangle 121"/>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32" name="Rectangle 122"/>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33" name="Rectangle 123"/>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34" name="Rectangle 124"/>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35" name="Rectangle 125"/>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36" name="Rectangle 126"/>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137" name="Rectangle 127"/>
            <p:cNvSpPr>
              <a:spLocks noChangeArrowheads="1"/>
            </p:cNvSpPr>
            <p:nvPr/>
          </p:nvSpPr>
          <p:spPr bwMode="auto">
            <a:xfrm>
              <a:off x="609600" y="5638800"/>
              <a:ext cx="18288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grpSp>
        <p:nvGrpSpPr>
          <p:cNvPr id="138" name="Group 6"/>
          <p:cNvGrpSpPr/>
          <p:nvPr/>
        </p:nvGrpSpPr>
        <p:grpSpPr>
          <a:xfrm>
            <a:off x="469900" y="6381452"/>
            <a:ext cx="7315200" cy="304800"/>
            <a:chOff x="609600" y="6324600"/>
            <a:chExt cx="7315200" cy="304800"/>
          </a:xfrm>
        </p:grpSpPr>
        <p:grpSp>
          <p:nvGrpSpPr>
            <p:cNvPr id="139" name="Group 131"/>
            <p:cNvGrpSpPr/>
            <p:nvPr/>
          </p:nvGrpSpPr>
          <p:grpSpPr bwMode="auto">
            <a:xfrm>
              <a:off x="609600" y="6324600"/>
              <a:ext cx="7315200" cy="304800"/>
              <a:chOff x="768" y="864"/>
              <a:chExt cx="4608" cy="192"/>
            </a:xfrm>
          </p:grpSpPr>
          <p:sp>
            <p:nvSpPr>
              <p:cNvPr id="140" name="Rectangle 132"/>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1" name="Rectangle 133"/>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2" name="Rectangle 134"/>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3" name="Rectangle 135"/>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4" name="Rectangle 136"/>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5" name="Rectangle 137"/>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6" name="Rectangle 138"/>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7" name="Rectangle 139"/>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8" name="Rectangle 140"/>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49" name="Rectangle 141"/>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50" name="Rectangle 142"/>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51" name="Rectangle 143"/>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52" name="Rectangle 144"/>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53" name="Rectangle 145"/>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54" name="Rectangle 146"/>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155" name="Rectangle 147"/>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156" name="Rectangle 148"/>
            <p:cNvSpPr>
              <a:spLocks noChangeArrowheads="1"/>
            </p:cNvSpPr>
            <p:nvPr/>
          </p:nvSpPr>
          <p:spPr bwMode="auto">
            <a:xfrm>
              <a:off x="609600" y="6324600"/>
              <a:ext cx="36576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3" name="椭圆 2"/>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3810" y="60960"/>
            <a:ext cx="4051300"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ea typeface="+mj-ea"/>
                <a:sym typeface="+mn-ea"/>
              </a:rPr>
              <a:t>Scalar &amp; SIMD</a:t>
            </a:r>
            <a:r>
              <a:rPr lang="zh-CN" altLang="en-US" sz="3200" dirty="0">
                <a:ea typeface="+mj-ea"/>
                <a:sym typeface="+mn-ea"/>
              </a:rPr>
              <a:t>操作</a:t>
            </a:r>
          </a:p>
        </p:txBody>
      </p:sp>
      <p:sp>
        <p:nvSpPr>
          <p:cNvPr id="825347" name="Rectangle 3"/>
          <p:cNvSpPr>
            <a:spLocks noGrp="1" noChangeArrowheads="1"/>
          </p:cNvSpPr>
          <p:nvPr/>
        </p:nvSpPr>
        <p:spPr>
          <a:xfrm>
            <a:off x="170498" y="789141"/>
            <a:ext cx="8307387" cy="53784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lvl="1" eaLnBrk="1" hangingPunct="1">
              <a:buClr>
                <a:srgbClr val="ED7D31"/>
              </a:buClr>
              <a:buFont typeface="Wingdings" panose="05000000000000000000" pitchFamily="2" charset="2"/>
              <a:buChar char="n"/>
              <a:defRPr/>
            </a:pPr>
            <a:r>
              <a:rPr lang="en-US" dirty="0"/>
              <a:t>Scalar </a:t>
            </a:r>
            <a:r>
              <a:rPr lang="zh-CN" altLang="en-US" dirty="0">
                <a:ea typeface="宋体" panose="02010600030101010101" pitchFamily="2" charset="-122"/>
              </a:rPr>
              <a:t>操作</a:t>
            </a:r>
            <a:r>
              <a:rPr lang="en-US" dirty="0"/>
              <a:t>: </a:t>
            </a:r>
            <a:r>
              <a:rPr lang="zh-CN" altLang="en-US" dirty="0">
                <a:ea typeface="宋体" panose="02010600030101010101" pitchFamily="2" charset="-122"/>
              </a:rPr>
              <a:t>单精度</a:t>
            </a:r>
          </a:p>
          <a:p>
            <a:pPr lvl="1" eaLnBrk="1" hangingPunct="1">
              <a:buFont typeface="Wingdings" panose="05000000000000000000" pitchFamily="2" charset="2"/>
              <a:buChar char="n"/>
              <a:defRPr/>
            </a:pPr>
            <a:endParaRPr lang="en-US" sz="1800" dirty="0"/>
          </a:p>
          <a:p>
            <a:pPr lvl="1" eaLnBrk="1" hangingPunct="1">
              <a:buFont typeface="Wingdings" panose="05000000000000000000" pitchFamily="2" charset="2"/>
              <a:buChar char="n"/>
              <a:defRPr/>
            </a:pPr>
            <a:endParaRPr lang="en-US" sz="1800" dirty="0"/>
          </a:p>
          <a:p>
            <a:pPr eaLnBrk="1" hangingPunct="1">
              <a:buFont typeface="Wingdings" panose="05000000000000000000" pitchFamily="2" charset="2"/>
              <a:buNone/>
              <a:defRPr/>
            </a:pPr>
            <a:endParaRPr lang="en-US" sz="2000" dirty="0">
              <a:ea typeface="+mn-ea"/>
            </a:endParaRPr>
          </a:p>
          <a:p>
            <a:pPr lvl="1" eaLnBrk="1" hangingPunct="1">
              <a:buFont typeface="Wingdings" panose="05000000000000000000" pitchFamily="2" charset="2"/>
              <a:buChar char="n"/>
              <a:defRPr/>
            </a:pPr>
            <a:endParaRPr lang="en-US" sz="1800" dirty="0"/>
          </a:p>
          <a:p>
            <a:pPr lvl="1" eaLnBrk="1" hangingPunct="1">
              <a:buFont typeface="Wingdings" panose="05000000000000000000" pitchFamily="2" charset="2"/>
              <a:buChar char="n"/>
              <a:defRPr/>
            </a:pPr>
            <a:endParaRPr lang="en-US" dirty="0"/>
          </a:p>
          <a:p>
            <a:pPr lvl="1" eaLnBrk="1" hangingPunct="1">
              <a:buClr>
                <a:srgbClr val="E86914"/>
              </a:buClr>
              <a:buFont typeface="Wingdings" panose="05000000000000000000" pitchFamily="2" charset="2"/>
              <a:buChar char="n"/>
              <a:defRPr/>
            </a:pPr>
            <a:r>
              <a:rPr lang="en-US" dirty="0"/>
              <a:t>SIMD </a:t>
            </a:r>
            <a:r>
              <a:rPr lang="zh-CN" altLang="en-US" dirty="0">
                <a:ea typeface="宋体" panose="02010600030101010101" pitchFamily="2" charset="-122"/>
              </a:rPr>
              <a:t>操作</a:t>
            </a:r>
            <a:r>
              <a:rPr lang="en-US" dirty="0"/>
              <a:t>: </a:t>
            </a:r>
            <a:r>
              <a:rPr lang="zh-CN" altLang="en-US" dirty="0">
                <a:ea typeface="宋体" panose="02010600030101010101" pitchFamily="2" charset="-122"/>
              </a:rPr>
              <a:t>单精度</a:t>
            </a:r>
          </a:p>
          <a:p>
            <a:pPr lvl="1" eaLnBrk="1" hangingPunct="1">
              <a:buFont typeface="Wingdings" panose="05000000000000000000" pitchFamily="2" charset="2"/>
              <a:buChar char="n"/>
              <a:defRPr/>
            </a:pPr>
            <a:endParaRPr lang="en-US" sz="1800" dirty="0"/>
          </a:p>
          <a:p>
            <a:pPr lvl="1" eaLnBrk="1" hangingPunct="1">
              <a:buFont typeface="Wingdings" panose="05000000000000000000" pitchFamily="2" charset="2"/>
              <a:buChar char="n"/>
              <a:defRPr/>
            </a:pPr>
            <a:endParaRPr lang="en-US" sz="1800" dirty="0"/>
          </a:p>
          <a:p>
            <a:pPr eaLnBrk="1" hangingPunct="1">
              <a:buFont typeface="Wingdings" panose="05000000000000000000" pitchFamily="2" charset="2"/>
              <a:buNone/>
              <a:defRPr/>
            </a:pPr>
            <a:endParaRPr lang="en-US" sz="2000" dirty="0">
              <a:ea typeface="+mn-ea"/>
            </a:endParaRPr>
          </a:p>
          <a:p>
            <a:pPr lvl="1" eaLnBrk="1" hangingPunct="1">
              <a:buFont typeface="Wingdings" panose="05000000000000000000" pitchFamily="2" charset="2"/>
              <a:buChar char="n"/>
              <a:defRPr/>
            </a:pPr>
            <a:endParaRPr lang="en-US" sz="1800" dirty="0"/>
          </a:p>
          <a:p>
            <a:pPr lvl="1" eaLnBrk="1" hangingPunct="1">
              <a:buFont typeface="Wingdings" panose="05000000000000000000" pitchFamily="2" charset="2"/>
              <a:buChar char="n"/>
              <a:defRPr/>
            </a:pPr>
            <a:endParaRPr lang="en-US" dirty="0"/>
          </a:p>
          <a:p>
            <a:pPr lvl="1" eaLnBrk="1" hangingPunct="1">
              <a:buClr>
                <a:srgbClr val="E86914"/>
              </a:buClr>
              <a:buFont typeface="Wingdings" panose="05000000000000000000" pitchFamily="2" charset="2"/>
              <a:buChar char="n"/>
              <a:defRPr/>
            </a:pPr>
            <a:r>
              <a:rPr lang="en-US" dirty="0"/>
              <a:t>Scalar </a:t>
            </a:r>
            <a:r>
              <a:rPr lang="zh-CN" altLang="en-US" dirty="0">
                <a:ea typeface="宋体" panose="02010600030101010101" pitchFamily="2" charset="-122"/>
              </a:rPr>
              <a:t>操作</a:t>
            </a:r>
            <a:r>
              <a:rPr lang="en-US" dirty="0"/>
              <a:t>: </a:t>
            </a:r>
            <a:r>
              <a:rPr lang="zh-CN" altLang="en-US" dirty="0">
                <a:ea typeface="宋体" panose="02010600030101010101" pitchFamily="2" charset="-122"/>
              </a:rPr>
              <a:t>双精度</a:t>
            </a:r>
          </a:p>
        </p:txBody>
      </p:sp>
      <p:grpSp>
        <p:nvGrpSpPr>
          <p:cNvPr id="5" name="Group 1"/>
          <p:cNvGrpSpPr/>
          <p:nvPr/>
        </p:nvGrpSpPr>
        <p:grpSpPr>
          <a:xfrm>
            <a:off x="101600" y="908720"/>
            <a:ext cx="8557969" cy="5904656"/>
            <a:chOff x="228600" y="685800"/>
            <a:chExt cx="8881060" cy="6127576"/>
          </a:xfrm>
        </p:grpSpPr>
        <p:grpSp>
          <p:nvGrpSpPr>
            <p:cNvPr id="40964" name="Group 332"/>
            <p:cNvGrpSpPr/>
            <p:nvPr/>
          </p:nvGrpSpPr>
          <p:grpSpPr bwMode="auto">
            <a:xfrm>
              <a:off x="228600" y="685800"/>
              <a:ext cx="8880475" cy="1889126"/>
              <a:chOff x="144" y="432"/>
              <a:chExt cx="5594" cy="1190"/>
            </a:xfrm>
          </p:grpSpPr>
          <p:grpSp>
            <p:nvGrpSpPr>
              <p:cNvPr id="41084" name="Group 331"/>
              <p:cNvGrpSpPr/>
              <p:nvPr/>
            </p:nvGrpSpPr>
            <p:grpSpPr bwMode="auto">
              <a:xfrm>
                <a:off x="144" y="672"/>
                <a:ext cx="4608" cy="192"/>
                <a:chOff x="144" y="672"/>
                <a:chExt cx="4608" cy="192"/>
              </a:xfrm>
            </p:grpSpPr>
            <p:grpSp>
              <p:nvGrpSpPr>
                <p:cNvPr id="41112" name="Group 55"/>
                <p:cNvGrpSpPr/>
                <p:nvPr/>
              </p:nvGrpSpPr>
              <p:grpSpPr bwMode="auto">
                <a:xfrm>
                  <a:off x="144" y="672"/>
                  <a:ext cx="4608" cy="192"/>
                  <a:chOff x="768" y="864"/>
                  <a:chExt cx="4608" cy="192"/>
                </a:xfrm>
              </p:grpSpPr>
              <p:sp>
                <p:nvSpPr>
                  <p:cNvPr id="41114" name="Rectangle 56"/>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15" name="Rectangle 57"/>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16" name="Rectangle 58"/>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17" name="Rectangle 59"/>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18" name="Rectangle 60"/>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19" name="Rectangle 61"/>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0" name="Rectangle 62"/>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1" name="Rectangle 63"/>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2" name="Rectangle 64"/>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3" name="Rectangle 65"/>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4" name="Rectangle 66"/>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5" name="Rectangle 67"/>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6" name="Rectangle 68"/>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7" name="Rectangle 69"/>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8" name="Rectangle 70"/>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29" name="Rectangle 71"/>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41113" name="Rectangle 101"/>
                <p:cNvSpPr>
                  <a:spLocks noChangeArrowheads="1"/>
                </p:cNvSpPr>
                <p:nvPr/>
              </p:nvSpPr>
              <p:spPr bwMode="auto">
                <a:xfrm>
                  <a:off x="144" y="672"/>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grpSp>
            <p:nvGrpSpPr>
              <p:cNvPr id="41085" name="Group 330"/>
              <p:cNvGrpSpPr/>
              <p:nvPr/>
            </p:nvGrpSpPr>
            <p:grpSpPr bwMode="auto">
              <a:xfrm>
                <a:off x="144" y="1392"/>
                <a:ext cx="4608" cy="192"/>
                <a:chOff x="144" y="1392"/>
                <a:chExt cx="4608" cy="192"/>
              </a:xfrm>
            </p:grpSpPr>
            <p:grpSp>
              <p:nvGrpSpPr>
                <p:cNvPr id="41094" name="Group 148"/>
                <p:cNvGrpSpPr/>
                <p:nvPr/>
              </p:nvGrpSpPr>
              <p:grpSpPr bwMode="auto">
                <a:xfrm>
                  <a:off x="144" y="1392"/>
                  <a:ext cx="4608" cy="192"/>
                  <a:chOff x="768" y="864"/>
                  <a:chExt cx="4608" cy="192"/>
                </a:xfrm>
              </p:grpSpPr>
              <p:sp>
                <p:nvSpPr>
                  <p:cNvPr id="41096" name="Rectangle 149"/>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97" name="Rectangle 150"/>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98" name="Rectangle 151"/>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99" name="Rectangle 152"/>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0" name="Rectangle 153"/>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1" name="Rectangle 154"/>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2" name="Rectangle 155"/>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3" name="Rectangle 156"/>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4" name="Rectangle 157"/>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5" name="Rectangle 158"/>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6" name="Rectangle 159"/>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7" name="Rectangle 160"/>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8" name="Rectangle 161"/>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09" name="Rectangle 162"/>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10" name="Rectangle 163"/>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111" name="Rectangle 164"/>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41095" name="Rectangle 165"/>
                <p:cNvSpPr>
                  <a:spLocks noChangeArrowheads="1"/>
                </p:cNvSpPr>
                <p:nvPr/>
              </p:nvSpPr>
              <p:spPr bwMode="auto">
                <a:xfrm>
                  <a:off x="144" y="1392"/>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grpSp>
            <p:nvGrpSpPr>
              <p:cNvPr id="41086" name="Group 174"/>
              <p:cNvGrpSpPr/>
              <p:nvPr/>
            </p:nvGrpSpPr>
            <p:grpSpPr bwMode="auto">
              <a:xfrm>
                <a:off x="528" y="864"/>
                <a:ext cx="432" cy="528"/>
                <a:chOff x="720" y="864"/>
                <a:chExt cx="432" cy="528"/>
              </a:xfrm>
            </p:grpSpPr>
            <p:sp>
              <p:nvSpPr>
                <p:cNvPr id="41090" name="Oval 169"/>
                <p:cNvSpPr>
                  <a:spLocks noChangeArrowheads="1"/>
                </p:cNvSpPr>
                <p:nvPr/>
              </p:nvSpPr>
              <p:spPr bwMode="auto">
                <a:xfrm>
                  <a:off x="816" y="1008"/>
                  <a:ext cx="215" cy="217"/>
                </a:xfrm>
                <a:prstGeom prst="ellipse">
                  <a:avLst/>
                </a:prstGeom>
                <a:solidFill>
                  <a:srgbClr val="FFFF99"/>
                </a:solidFill>
                <a:ln w="19050">
                  <a:solidFill>
                    <a:schemeClr val="tx2"/>
                  </a:solidFill>
                  <a:round/>
                  <a:tailEnd type="none" w="sm" len="sm"/>
                </a:ln>
              </p:spPr>
              <p:txBody>
                <a:bodyPr wrap="none" lIns="45720" rIns="45720" anchor="ctr"/>
                <a:lstStyle/>
                <a:p>
                  <a:pPr algn="ctr"/>
                  <a:r>
                    <a:rPr lang="en-US">
                      <a:latin typeface="Courier New" panose="02070309020205020404" charset="0"/>
                    </a:rPr>
                    <a:t>+</a:t>
                  </a:r>
                </a:p>
              </p:txBody>
            </p:sp>
            <p:sp>
              <p:nvSpPr>
                <p:cNvPr id="41091" name="Line 170"/>
                <p:cNvSpPr>
                  <a:spLocks noChangeShapeType="1"/>
                </p:cNvSpPr>
                <p:nvPr/>
              </p:nvSpPr>
              <p:spPr bwMode="auto">
                <a:xfrm>
                  <a:off x="720" y="864"/>
                  <a:ext cx="144"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92" name="Line 171"/>
                <p:cNvSpPr>
                  <a:spLocks noChangeShapeType="1"/>
                </p:cNvSpPr>
                <p:nvPr/>
              </p:nvSpPr>
              <p:spPr bwMode="auto">
                <a:xfrm flipV="1">
                  <a:off x="720" y="1200"/>
                  <a:ext cx="144" cy="192"/>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93" name="Line 172"/>
                <p:cNvSpPr>
                  <a:spLocks noChangeShapeType="1"/>
                </p:cNvSpPr>
                <p:nvPr/>
              </p:nvSpPr>
              <p:spPr bwMode="auto">
                <a:xfrm rot="5400000" flipV="1">
                  <a:off x="984" y="1224"/>
                  <a:ext cx="192"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grpSp>
          <p:sp>
            <p:nvSpPr>
              <p:cNvPr id="41087" name="Text Box 190"/>
              <p:cNvSpPr txBox="1">
                <a:spLocks noChangeArrowheads="1"/>
              </p:cNvSpPr>
              <p:nvPr/>
            </p:nvSpPr>
            <p:spPr bwMode="auto">
              <a:xfrm>
                <a:off x="4819" y="673"/>
                <a:ext cx="5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a:latin typeface="Courier New" panose="02070309020205020404" charset="0"/>
                  </a:rPr>
                  <a:t>%xmm0</a:t>
                </a:r>
              </a:p>
            </p:txBody>
          </p:sp>
          <p:sp>
            <p:nvSpPr>
              <p:cNvPr id="41088" name="Text Box 191"/>
              <p:cNvSpPr txBox="1">
                <a:spLocks noChangeArrowheads="1"/>
              </p:cNvSpPr>
              <p:nvPr/>
            </p:nvSpPr>
            <p:spPr bwMode="auto">
              <a:xfrm>
                <a:off x="4840" y="1370"/>
                <a:ext cx="5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a:latin typeface="Courier New" panose="02070309020205020404" charset="0"/>
                  </a:rPr>
                  <a:t>%xmm1</a:t>
                </a:r>
              </a:p>
            </p:txBody>
          </p:sp>
          <p:sp>
            <p:nvSpPr>
              <p:cNvPr id="41089" name="Text Box 192"/>
              <p:cNvSpPr txBox="1">
                <a:spLocks noChangeArrowheads="1"/>
              </p:cNvSpPr>
              <p:nvPr/>
            </p:nvSpPr>
            <p:spPr bwMode="auto">
              <a:xfrm>
                <a:off x="4032" y="432"/>
                <a:ext cx="17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err="1">
                    <a:latin typeface="Courier New" panose="02070309020205020404" charset="0"/>
                  </a:rPr>
                  <a:t>addss</a:t>
                </a:r>
                <a:r>
                  <a:rPr lang="en-US" sz="2000" dirty="0">
                    <a:latin typeface="Courier New" panose="02070309020205020404" charset="0"/>
                  </a:rPr>
                  <a:t> %xmm0,%xmm1</a:t>
                </a:r>
              </a:p>
            </p:txBody>
          </p:sp>
        </p:grpSp>
        <p:grpSp>
          <p:nvGrpSpPr>
            <p:cNvPr id="40965" name="Group 194"/>
            <p:cNvGrpSpPr/>
            <p:nvPr/>
          </p:nvGrpSpPr>
          <p:grpSpPr bwMode="auto">
            <a:xfrm>
              <a:off x="228600" y="2780928"/>
              <a:ext cx="8880475" cy="1889126"/>
              <a:chOff x="144" y="432"/>
              <a:chExt cx="5594" cy="1190"/>
            </a:xfrm>
          </p:grpSpPr>
          <p:grpSp>
            <p:nvGrpSpPr>
              <p:cNvPr id="41017" name="Group 195"/>
              <p:cNvGrpSpPr/>
              <p:nvPr/>
            </p:nvGrpSpPr>
            <p:grpSpPr bwMode="auto">
              <a:xfrm>
                <a:off x="144" y="672"/>
                <a:ext cx="4608" cy="192"/>
                <a:chOff x="384" y="2564"/>
                <a:chExt cx="4608" cy="192"/>
              </a:xfrm>
            </p:grpSpPr>
            <p:grpSp>
              <p:nvGrpSpPr>
                <p:cNvPr id="41063" name="Group 196"/>
                <p:cNvGrpSpPr/>
                <p:nvPr/>
              </p:nvGrpSpPr>
              <p:grpSpPr bwMode="auto">
                <a:xfrm>
                  <a:off x="384" y="2564"/>
                  <a:ext cx="4608" cy="192"/>
                  <a:chOff x="768" y="864"/>
                  <a:chExt cx="4608" cy="192"/>
                </a:xfrm>
              </p:grpSpPr>
              <p:sp>
                <p:nvSpPr>
                  <p:cNvPr id="41068" name="Rectangle 197"/>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69" name="Rectangle 198"/>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0" name="Rectangle 199"/>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1" name="Rectangle 200"/>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2" name="Rectangle 201"/>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3" name="Rectangle 202"/>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4" name="Rectangle 203"/>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5" name="Rectangle 204"/>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6" name="Rectangle 205"/>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7" name="Rectangle 206"/>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8" name="Rectangle 207"/>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79" name="Rectangle 208"/>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80" name="Rectangle 209"/>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81" name="Rectangle 210"/>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82" name="Rectangle 211"/>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83" name="Rectangle 212"/>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41064" name="Rectangle 213"/>
                <p:cNvSpPr>
                  <a:spLocks noChangeArrowheads="1"/>
                </p:cNvSpPr>
                <p:nvPr/>
              </p:nvSpPr>
              <p:spPr bwMode="auto">
                <a:xfrm>
                  <a:off x="384" y="2564"/>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41065" name="Rectangle 214"/>
                <p:cNvSpPr>
                  <a:spLocks noChangeArrowheads="1"/>
                </p:cNvSpPr>
                <p:nvPr/>
              </p:nvSpPr>
              <p:spPr bwMode="auto">
                <a:xfrm>
                  <a:off x="1536" y="2564"/>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41066" name="Rectangle 215"/>
                <p:cNvSpPr>
                  <a:spLocks noChangeArrowheads="1"/>
                </p:cNvSpPr>
                <p:nvPr/>
              </p:nvSpPr>
              <p:spPr bwMode="auto">
                <a:xfrm>
                  <a:off x="2688" y="2564"/>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41067" name="Rectangle 216"/>
                <p:cNvSpPr>
                  <a:spLocks noChangeArrowheads="1"/>
                </p:cNvSpPr>
                <p:nvPr/>
              </p:nvSpPr>
              <p:spPr bwMode="auto">
                <a:xfrm>
                  <a:off x="3840" y="2564"/>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grpSp>
            <p:nvGrpSpPr>
              <p:cNvPr id="41018" name="Group 217"/>
              <p:cNvGrpSpPr/>
              <p:nvPr/>
            </p:nvGrpSpPr>
            <p:grpSpPr bwMode="auto">
              <a:xfrm>
                <a:off x="144" y="1392"/>
                <a:ext cx="4608" cy="192"/>
                <a:chOff x="384" y="2564"/>
                <a:chExt cx="4608" cy="192"/>
              </a:xfrm>
            </p:grpSpPr>
            <p:grpSp>
              <p:nvGrpSpPr>
                <p:cNvPr id="41042" name="Group 218"/>
                <p:cNvGrpSpPr/>
                <p:nvPr/>
              </p:nvGrpSpPr>
              <p:grpSpPr bwMode="auto">
                <a:xfrm>
                  <a:off x="384" y="2564"/>
                  <a:ext cx="4608" cy="192"/>
                  <a:chOff x="768" y="864"/>
                  <a:chExt cx="4608" cy="192"/>
                </a:xfrm>
              </p:grpSpPr>
              <p:sp>
                <p:nvSpPr>
                  <p:cNvPr id="41047" name="Rectangle 219"/>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48" name="Rectangle 220"/>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49" name="Rectangle 221"/>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0" name="Rectangle 222"/>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1" name="Rectangle 223"/>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2" name="Rectangle 224"/>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3" name="Rectangle 225"/>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4" name="Rectangle 226"/>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5" name="Rectangle 227"/>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6" name="Rectangle 228"/>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7" name="Rectangle 229"/>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8" name="Rectangle 230"/>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59" name="Rectangle 231"/>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60" name="Rectangle 232"/>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61" name="Rectangle 233"/>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62" name="Rectangle 234"/>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41043" name="Rectangle 235"/>
                <p:cNvSpPr>
                  <a:spLocks noChangeArrowheads="1"/>
                </p:cNvSpPr>
                <p:nvPr/>
              </p:nvSpPr>
              <p:spPr bwMode="auto">
                <a:xfrm>
                  <a:off x="384" y="2564"/>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41044" name="Rectangle 236"/>
                <p:cNvSpPr>
                  <a:spLocks noChangeArrowheads="1"/>
                </p:cNvSpPr>
                <p:nvPr/>
              </p:nvSpPr>
              <p:spPr bwMode="auto">
                <a:xfrm>
                  <a:off x="1536" y="2564"/>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41045" name="Rectangle 237"/>
                <p:cNvSpPr>
                  <a:spLocks noChangeArrowheads="1"/>
                </p:cNvSpPr>
                <p:nvPr/>
              </p:nvSpPr>
              <p:spPr bwMode="auto">
                <a:xfrm>
                  <a:off x="2688" y="2564"/>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sp>
              <p:nvSpPr>
                <p:cNvPr id="41046" name="Rectangle 238"/>
                <p:cNvSpPr>
                  <a:spLocks noChangeArrowheads="1"/>
                </p:cNvSpPr>
                <p:nvPr/>
              </p:nvSpPr>
              <p:spPr bwMode="auto">
                <a:xfrm>
                  <a:off x="3840" y="2564"/>
                  <a:ext cx="1152" cy="192"/>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grpSp>
            <p:nvGrpSpPr>
              <p:cNvPr id="41019" name="Group 239"/>
              <p:cNvGrpSpPr/>
              <p:nvPr/>
            </p:nvGrpSpPr>
            <p:grpSpPr bwMode="auto">
              <a:xfrm>
                <a:off x="528" y="864"/>
                <a:ext cx="432" cy="528"/>
                <a:chOff x="720" y="864"/>
                <a:chExt cx="432" cy="528"/>
              </a:xfrm>
            </p:grpSpPr>
            <p:sp>
              <p:nvSpPr>
                <p:cNvPr id="41038" name="Oval 240"/>
                <p:cNvSpPr>
                  <a:spLocks noChangeArrowheads="1"/>
                </p:cNvSpPr>
                <p:nvPr/>
              </p:nvSpPr>
              <p:spPr bwMode="auto">
                <a:xfrm>
                  <a:off x="816" y="1008"/>
                  <a:ext cx="215" cy="217"/>
                </a:xfrm>
                <a:prstGeom prst="ellipse">
                  <a:avLst/>
                </a:prstGeom>
                <a:solidFill>
                  <a:srgbClr val="FFFF99"/>
                </a:solidFill>
                <a:ln w="19050">
                  <a:solidFill>
                    <a:schemeClr val="tx2"/>
                  </a:solidFill>
                  <a:round/>
                  <a:tailEnd type="none" w="sm" len="sm"/>
                </a:ln>
              </p:spPr>
              <p:txBody>
                <a:bodyPr wrap="none" lIns="45720" rIns="45720" anchor="ctr"/>
                <a:lstStyle/>
                <a:p>
                  <a:pPr algn="ctr"/>
                  <a:r>
                    <a:rPr lang="en-US">
                      <a:latin typeface="Courier New" panose="02070309020205020404" charset="0"/>
                    </a:rPr>
                    <a:t>+</a:t>
                  </a:r>
                </a:p>
              </p:txBody>
            </p:sp>
            <p:sp>
              <p:nvSpPr>
                <p:cNvPr id="41039" name="Line 241"/>
                <p:cNvSpPr>
                  <a:spLocks noChangeShapeType="1"/>
                </p:cNvSpPr>
                <p:nvPr/>
              </p:nvSpPr>
              <p:spPr bwMode="auto">
                <a:xfrm>
                  <a:off x="720" y="864"/>
                  <a:ext cx="144"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40" name="Line 242"/>
                <p:cNvSpPr>
                  <a:spLocks noChangeShapeType="1"/>
                </p:cNvSpPr>
                <p:nvPr/>
              </p:nvSpPr>
              <p:spPr bwMode="auto">
                <a:xfrm flipV="1">
                  <a:off x="720" y="1200"/>
                  <a:ext cx="144" cy="192"/>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41" name="Line 243"/>
                <p:cNvSpPr>
                  <a:spLocks noChangeShapeType="1"/>
                </p:cNvSpPr>
                <p:nvPr/>
              </p:nvSpPr>
              <p:spPr bwMode="auto">
                <a:xfrm rot="5400000" flipV="1">
                  <a:off x="984" y="1224"/>
                  <a:ext cx="192"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grpSp>
          <p:grpSp>
            <p:nvGrpSpPr>
              <p:cNvPr id="41020" name="Group 244"/>
              <p:cNvGrpSpPr/>
              <p:nvPr/>
            </p:nvGrpSpPr>
            <p:grpSpPr bwMode="auto">
              <a:xfrm>
                <a:off x="1680" y="864"/>
                <a:ext cx="432" cy="528"/>
                <a:chOff x="720" y="864"/>
                <a:chExt cx="432" cy="528"/>
              </a:xfrm>
            </p:grpSpPr>
            <p:sp>
              <p:nvSpPr>
                <p:cNvPr id="41034" name="Oval 245"/>
                <p:cNvSpPr>
                  <a:spLocks noChangeArrowheads="1"/>
                </p:cNvSpPr>
                <p:nvPr/>
              </p:nvSpPr>
              <p:spPr bwMode="auto">
                <a:xfrm>
                  <a:off x="816" y="1008"/>
                  <a:ext cx="215" cy="217"/>
                </a:xfrm>
                <a:prstGeom prst="ellipse">
                  <a:avLst/>
                </a:prstGeom>
                <a:solidFill>
                  <a:srgbClr val="FFFF99"/>
                </a:solidFill>
                <a:ln w="19050">
                  <a:solidFill>
                    <a:schemeClr val="tx2"/>
                  </a:solidFill>
                  <a:round/>
                  <a:tailEnd type="none" w="sm" len="sm"/>
                </a:ln>
              </p:spPr>
              <p:txBody>
                <a:bodyPr wrap="none" lIns="45720" rIns="45720" anchor="ctr"/>
                <a:lstStyle/>
                <a:p>
                  <a:pPr algn="ctr"/>
                  <a:r>
                    <a:rPr lang="en-US">
                      <a:latin typeface="Courier New" panose="02070309020205020404" charset="0"/>
                    </a:rPr>
                    <a:t>+</a:t>
                  </a:r>
                </a:p>
              </p:txBody>
            </p:sp>
            <p:sp>
              <p:nvSpPr>
                <p:cNvPr id="41035" name="Line 246"/>
                <p:cNvSpPr>
                  <a:spLocks noChangeShapeType="1"/>
                </p:cNvSpPr>
                <p:nvPr/>
              </p:nvSpPr>
              <p:spPr bwMode="auto">
                <a:xfrm>
                  <a:off x="720" y="864"/>
                  <a:ext cx="144"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36" name="Line 247"/>
                <p:cNvSpPr>
                  <a:spLocks noChangeShapeType="1"/>
                </p:cNvSpPr>
                <p:nvPr/>
              </p:nvSpPr>
              <p:spPr bwMode="auto">
                <a:xfrm flipV="1">
                  <a:off x="720" y="1200"/>
                  <a:ext cx="144" cy="192"/>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37" name="Line 248"/>
                <p:cNvSpPr>
                  <a:spLocks noChangeShapeType="1"/>
                </p:cNvSpPr>
                <p:nvPr/>
              </p:nvSpPr>
              <p:spPr bwMode="auto">
                <a:xfrm rot="5400000" flipV="1">
                  <a:off x="984" y="1224"/>
                  <a:ext cx="192"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grpSp>
          <p:grpSp>
            <p:nvGrpSpPr>
              <p:cNvPr id="41021" name="Group 249"/>
              <p:cNvGrpSpPr/>
              <p:nvPr/>
            </p:nvGrpSpPr>
            <p:grpSpPr bwMode="auto">
              <a:xfrm>
                <a:off x="2832" y="864"/>
                <a:ext cx="432" cy="528"/>
                <a:chOff x="720" y="864"/>
                <a:chExt cx="432" cy="528"/>
              </a:xfrm>
            </p:grpSpPr>
            <p:sp>
              <p:nvSpPr>
                <p:cNvPr id="41030" name="Oval 250"/>
                <p:cNvSpPr>
                  <a:spLocks noChangeArrowheads="1"/>
                </p:cNvSpPr>
                <p:nvPr/>
              </p:nvSpPr>
              <p:spPr bwMode="auto">
                <a:xfrm>
                  <a:off x="816" y="1008"/>
                  <a:ext cx="215" cy="217"/>
                </a:xfrm>
                <a:prstGeom prst="ellipse">
                  <a:avLst/>
                </a:prstGeom>
                <a:solidFill>
                  <a:srgbClr val="FFFF99"/>
                </a:solidFill>
                <a:ln w="19050">
                  <a:solidFill>
                    <a:schemeClr val="tx2"/>
                  </a:solidFill>
                  <a:round/>
                  <a:tailEnd type="none" w="sm" len="sm"/>
                </a:ln>
              </p:spPr>
              <p:txBody>
                <a:bodyPr wrap="none" lIns="45720" rIns="45720" anchor="ctr"/>
                <a:lstStyle/>
                <a:p>
                  <a:pPr algn="ctr"/>
                  <a:r>
                    <a:rPr lang="en-US">
                      <a:latin typeface="Courier New" panose="02070309020205020404" charset="0"/>
                    </a:rPr>
                    <a:t>+</a:t>
                  </a:r>
                </a:p>
              </p:txBody>
            </p:sp>
            <p:sp>
              <p:nvSpPr>
                <p:cNvPr id="41031" name="Line 251"/>
                <p:cNvSpPr>
                  <a:spLocks noChangeShapeType="1"/>
                </p:cNvSpPr>
                <p:nvPr/>
              </p:nvSpPr>
              <p:spPr bwMode="auto">
                <a:xfrm>
                  <a:off x="720" y="864"/>
                  <a:ext cx="144"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32" name="Line 252"/>
                <p:cNvSpPr>
                  <a:spLocks noChangeShapeType="1"/>
                </p:cNvSpPr>
                <p:nvPr/>
              </p:nvSpPr>
              <p:spPr bwMode="auto">
                <a:xfrm flipV="1">
                  <a:off x="720" y="1200"/>
                  <a:ext cx="144" cy="192"/>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33" name="Line 253"/>
                <p:cNvSpPr>
                  <a:spLocks noChangeShapeType="1"/>
                </p:cNvSpPr>
                <p:nvPr/>
              </p:nvSpPr>
              <p:spPr bwMode="auto">
                <a:xfrm rot="5400000" flipV="1">
                  <a:off x="984" y="1224"/>
                  <a:ext cx="192"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grpSp>
          <p:grpSp>
            <p:nvGrpSpPr>
              <p:cNvPr id="41022" name="Group 254"/>
              <p:cNvGrpSpPr/>
              <p:nvPr/>
            </p:nvGrpSpPr>
            <p:grpSpPr bwMode="auto">
              <a:xfrm>
                <a:off x="3984" y="864"/>
                <a:ext cx="432" cy="528"/>
                <a:chOff x="720" y="864"/>
                <a:chExt cx="432" cy="528"/>
              </a:xfrm>
            </p:grpSpPr>
            <p:sp>
              <p:nvSpPr>
                <p:cNvPr id="41026" name="Oval 255"/>
                <p:cNvSpPr>
                  <a:spLocks noChangeArrowheads="1"/>
                </p:cNvSpPr>
                <p:nvPr/>
              </p:nvSpPr>
              <p:spPr bwMode="auto">
                <a:xfrm>
                  <a:off x="816" y="1008"/>
                  <a:ext cx="215" cy="217"/>
                </a:xfrm>
                <a:prstGeom prst="ellipse">
                  <a:avLst/>
                </a:prstGeom>
                <a:solidFill>
                  <a:srgbClr val="FFFF99"/>
                </a:solidFill>
                <a:ln w="19050">
                  <a:solidFill>
                    <a:schemeClr val="tx2"/>
                  </a:solidFill>
                  <a:round/>
                  <a:tailEnd type="none" w="sm" len="sm"/>
                </a:ln>
              </p:spPr>
              <p:txBody>
                <a:bodyPr wrap="none" lIns="45720" rIns="45720" anchor="ctr"/>
                <a:lstStyle/>
                <a:p>
                  <a:pPr algn="ctr"/>
                  <a:r>
                    <a:rPr lang="en-US">
                      <a:latin typeface="Courier New" panose="02070309020205020404" charset="0"/>
                    </a:rPr>
                    <a:t>+</a:t>
                  </a:r>
                </a:p>
              </p:txBody>
            </p:sp>
            <p:sp>
              <p:nvSpPr>
                <p:cNvPr id="41027" name="Line 256"/>
                <p:cNvSpPr>
                  <a:spLocks noChangeShapeType="1"/>
                </p:cNvSpPr>
                <p:nvPr/>
              </p:nvSpPr>
              <p:spPr bwMode="auto">
                <a:xfrm>
                  <a:off x="720" y="864"/>
                  <a:ext cx="144"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28" name="Line 257"/>
                <p:cNvSpPr>
                  <a:spLocks noChangeShapeType="1"/>
                </p:cNvSpPr>
                <p:nvPr/>
              </p:nvSpPr>
              <p:spPr bwMode="auto">
                <a:xfrm flipV="1">
                  <a:off x="720" y="1200"/>
                  <a:ext cx="144" cy="192"/>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1029" name="Line 258"/>
                <p:cNvSpPr>
                  <a:spLocks noChangeShapeType="1"/>
                </p:cNvSpPr>
                <p:nvPr/>
              </p:nvSpPr>
              <p:spPr bwMode="auto">
                <a:xfrm rot="5400000" flipV="1">
                  <a:off x="984" y="1224"/>
                  <a:ext cx="192"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grpSp>
          <p:sp>
            <p:nvSpPr>
              <p:cNvPr id="41023" name="Text Box 259"/>
              <p:cNvSpPr txBox="1">
                <a:spLocks noChangeArrowheads="1"/>
              </p:cNvSpPr>
              <p:nvPr/>
            </p:nvSpPr>
            <p:spPr bwMode="auto">
              <a:xfrm>
                <a:off x="4819" y="673"/>
                <a:ext cx="5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a:latin typeface="Courier New" panose="02070309020205020404" charset="0"/>
                  </a:rPr>
                  <a:t>%xmm0</a:t>
                </a:r>
              </a:p>
            </p:txBody>
          </p:sp>
          <p:sp>
            <p:nvSpPr>
              <p:cNvPr id="41024" name="Text Box 260"/>
              <p:cNvSpPr txBox="1">
                <a:spLocks noChangeArrowheads="1"/>
              </p:cNvSpPr>
              <p:nvPr/>
            </p:nvSpPr>
            <p:spPr bwMode="auto">
              <a:xfrm>
                <a:off x="4840" y="1370"/>
                <a:ext cx="54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a:latin typeface="Courier New" panose="02070309020205020404" charset="0"/>
                  </a:rPr>
                  <a:t>%xmm1</a:t>
                </a:r>
              </a:p>
            </p:txBody>
          </p:sp>
          <p:sp>
            <p:nvSpPr>
              <p:cNvPr id="41025" name="Text Box 261"/>
              <p:cNvSpPr txBox="1">
                <a:spLocks noChangeArrowheads="1"/>
              </p:cNvSpPr>
              <p:nvPr/>
            </p:nvSpPr>
            <p:spPr bwMode="auto">
              <a:xfrm>
                <a:off x="4032" y="432"/>
                <a:ext cx="17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err="1">
                    <a:latin typeface="Courier New" panose="02070309020205020404" charset="0"/>
                  </a:rPr>
                  <a:t>addps</a:t>
                </a:r>
                <a:r>
                  <a:rPr lang="en-US" sz="2000" dirty="0">
                    <a:latin typeface="Courier New" panose="02070309020205020404" charset="0"/>
                  </a:rPr>
                  <a:t> %xmm0,%xmm1</a:t>
                </a:r>
              </a:p>
            </p:txBody>
          </p:sp>
        </p:grpSp>
        <p:grpSp>
          <p:nvGrpSpPr>
            <p:cNvPr id="6" name="Group 2"/>
            <p:cNvGrpSpPr/>
            <p:nvPr/>
          </p:nvGrpSpPr>
          <p:grpSpPr>
            <a:xfrm>
              <a:off x="228600" y="4924191"/>
              <a:ext cx="8881060" cy="1889185"/>
              <a:chOff x="228600" y="4924191"/>
              <a:chExt cx="8881060" cy="1889185"/>
            </a:xfrm>
          </p:grpSpPr>
          <p:grpSp>
            <p:nvGrpSpPr>
              <p:cNvPr id="40966" name="Group 264"/>
              <p:cNvGrpSpPr/>
              <p:nvPr/>
            </p:nvGrpSpPr>
            <p:grpSpPr bwMode="auto">
              <a:xfrm>
                <a:off x="228600" y="5305192"/>
                <a:ext cx="7315200" cy="304800"/>
                <a:chOff x="768" y="864"/>
                <a:chExt cx="4608" cy="192"/>
              </a:xfrm>
            </p:grpSpPr>
            <p:sp>
              <p:nvSpPr>
                <p:cNvPr id="41001" name="Rectangle 265"/>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2" name="Rectangle 266"/>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3" name="Rectangle 267"/>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4" name="Rectangle 268"/>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5" name="Rectangle 269"/>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6" name="Rectangle 270"/>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7" name="Rectangle 271"/>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8" name="Rectangle 272"/>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9" name="Rectangle 273"/>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10" name="Rectangle 274"/>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11" name="Rectangle 275"/>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12" name="Rectangle 276"/>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13" name="Rectangle 277"/>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14" name="Rectangle 278"/>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15" name="Rectangle 279"/>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16" name="Rectangle 280"/>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40967" name="Rectangle 281"/>
              <p:cNvSpPr>
                <a:spLocks noChangeArrowheads="1"/>
              </p:cNvSpPr>
              <p:nvPr/>
            </p:nvSpPr>
            <p:spPr bwMode="auto">
              <a:xfrm>
                <a:off x="228600" y="5305191"/>
                <a:ext cx="36576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nvGrpSpPr>
              <p:cNvPr id="40969" name="Group 286"/>
              <p:cNvGrpSpPr/>
              <p:nvPr/>
            </p:nvGrpSpPr>
            <p:grpSpPr bwMode="auto">
              <a:xfrm>
                <a:off x="228600" y="6448192"/>
                <a:ext cx="7315200" cy="304800"/>
                <a:chOff x="768" y="864"/>
                <a:chExt cx="4608" cy="192"/>
              </a:xfrm>
            </p:grpSpPr>
            <p:sp>
              <p:nvSpPr>
                <p:cNvPr id="40985" name="Rectangle 287"/>
                <p:cNvSpPr>
                  <a:spLocks noChangeArrowheads="1"/>
                </p:cNvSpPr>
                <p:nvPr/>
              </p:nvSpPr>
              <p:spPr bwMode="auto">
                <a:xfrm>
                  <a:off x="76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86" name="Rectangle 288"/>
                <p:cNvSpPr>
                  <a:spLocks noChangeArrowheads="1"/>
                </p:cNvSpPr>
                <p:nvPr/>
              </p:nvSpPr>
              <p:spPr bwMode="auto">
                <a:xfrm>
                  <a:off x="105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87" name="Rectangle 289"/>
                <p:cNvSpPr>
                  <a:spLocks noChangeArrowheads="1"/>
                </p:cNvSpPr>
                <p:nvPr/>
              </p:nvSpPr>
              <p:spPr bwMode="auto">
                <a:xfrm>
                  <a:off x="134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88" name="Rectangle 290"/>
                <p:cNvSpPr>
                  <a:spLocks noChangeArrowheads="1"/>
                </p:cNvSpPr>
                <p:nvPr/>
              </p:nvSpPr>
              <p:spPr bwMode="auto">
                <a:xfrm>
                  <a:off x="163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89" name="Rectangle 291"/>
                <p:cNvSpPr>
                  <a:spLocks noChangeArrowheads="1"/>
                </p:cNvSpPr>
                <p:nvPr/>
              </p:nvSpPr>
              <p:spPr bwMode="auto">
                <a:xfrm>
                  <a:off x="192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0" name="Rectangle 292"/>
                <p:cNvSpPr>
                  <a:spLocks noChangeArrowheads="1"/>
                </p:cNvSpPr>
                <p:nvPr/>
              </p:nvSpPr>
              <p:spPr bwMode="auto">
                <a:xfrm>
                  <a:off x="220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1" name="Rectangle 293"/>
                <p:cNvSpPr>
                  <a:spLocks noChangeArrowheads="1"/>
                </p:cNvSpPr>
                <p:nvPr/>
              </p:nvSpPr>
              <p:spPr bwMode="auto">
                <a:xfrm>
                  <a:off x="249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2" name="Rectangle 294"/>
                <p:cNvSpPr>
                  <a:spLocks noChangeArrowheads="1"/>
                </p:cNvSpPr>
                <p:nvPr/>
              </p:nvSpPr>
              <p:spPr bwMode="auto">
                <a:xfrm>
                  <a:off x="278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3" name="Rectangle 295"/>
                <p:cNvSpPr>
                  <a:spLocks noChangeArrowheads="1"/>
                </p:cNvSpPr>
                <p:nvPr/>
              </p:nvSpPr>
              <p:spPr bwMode="auto">
                <a:xfrm>
                  <a:off x="307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4" name="Rectangle 296"/>
                <p:cNvSpPr>
                  <a:spLocks noChangeArrowheads="1"/>
                </p:cNvSpPr>
                <p:nvPr/>
              </p:nvSpPr>
              <p:spPr bwMode="auto">
                <a:xfrm>
                  <a:off x="336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5" name="Rectangle 297"/>
                <p:cNvSpPr>
                  <a:spLocks noChangeArrowheads="1"/>
                </p:cNvSpPr>
                <p:nvPr/>
              </p:nvSpPr>
              <p:spPr bwMode="auto">
                <a:xfrm>
                  <a:off x="364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6" name="Rectangle 298"/>
                <p:cNvSpPr>
                  <a:spLocks noChangeArrowheads="1"/>
                </p:cNvSpPr>
                <p:nvPr/>
              </p:nvSpPr>
              <p:spPr bwMode="auto">
                <a:xfrm>
                  <a:off x="3936"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7" name="Rectangle 299"/>
                <p:cNvSpPr>
                  <a:spLocks noChangeArrowheads="1"/>
                </p:cNvSpPr>
                <p:nvPr/>
              </p:nvSpPr>
              <p:spPr bwMode="auto">
                <a:xfrm>
                  <a:off x="4224"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8" name="Rectangle 300"/>
                <p:cNvSpPr>
                  <a:spLocks noChangeArrowheads="1"/>
                </p:cNvSpPr>
                <p:nvPr/>
              </p:nvSpPr>
              <p:spPr bwMode="auto">
                <a:xfrm>
                  <a:off x="4512"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0999" name="Rectangle 301"/>
                <p:cNvSpPr>
                  <a:spLocks noChangeArrowheads="1"/>
                </p:cNvSpPr>
                <p:nvPr/>
              </p:nvSpPr>
              <p:spPr bwMode="auto">
                <a:xfrm>
                  <a:off x="4800"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sp>
              <p:nvSpPr>
                <p:cNvPr id="41000" name="Rectangle 302"/>
                <p:cNvSpPr>
                  <a:spLocks noChangeArrowheads="1"/>
                </p:cNvSpPr>
                <p:nvPr/>
              </p:nvSpPr>
              <p:spPr bwMode="auto">
                <a:xfrm>
                  <a:off x="5088" y="864"/>
                  <a:ext cx="288" cy="192"/>
                </a:xfrm>
                <a:prstGeom prst="rect">
                  <a:avLst/>
                </a:prstGeom>
                <a:solidFill>
                  <a:srgbClr val="CCECFF"/>
                </a:solidFill>
                <a:ln w="6350">
                  <a:solidFill>
                    <a:schemeClr val="tx2"/>
                  </a:solidFill>
                  <a:miter lim="800000"/>
                  <a:tailEnd type="none" w="sm" len="sm"/>
                </a:ln>
              </p:spPr>
              <p:txBody>
                <a:bodyPr wrap="none" lIns="45720" rIns="45720" anchor="ctr">
                  <a:spAutoFit/>
                </a:bodyPr>
                <a:lstStyle/>
                <a:p>
                  <a:endParaRPr lang="en-US"/>
                </a:p>
              </p:txBody>
            </p:sp>
          </p:grpSp>
          <p:sp>
            <p:nvSpPr>
              <p:cNvPr id="40970" name="Rectangle 303"/>
              <p:cNvSpPr>
                <a:spLocks noChangeArrowheads="1"/>
              </p:cNvSpPr>
              <p:nvPr/>
            </p:nvSpPr>
            <p:spPr bwMode="auto">
              <a:xfrm>
                <a:off x="228600" y="6448191"/>
                <a:ext cx="3657600" cy="304800"/>
              </a:xfrm>
              <a:prstGeom prst="rect">
                <a:avLst/>
              </a:prstGeom>
              <a:noFill/>
              <a:ln w="28575">
                <a:solidFill>
                  <a:schemeClr val="tx2"/>
                </a:solidFill>
                <a:miter lim="800000"/>
                <a:tailEnd type="none" w="sm" len="sm"/>
              </a:ln>
              <a:extLst>
                <a:ext uri="{909E8E84-426E-40DD-AFC4-6F175D3DCCD1}">
                  <a14:hiddenFill xmlns:a14="http://schemas.microsoft.com/office/drawing/2010/main">
                    <a:solidFill>
                      <a:srgbClr val="FFFFFF"/>
                    </a:solidFill>
                  </a14:hiddenFill>
                </a:ext>
              </a:extLst>
            </p:spPr>
            <p:txBody>
              <a:bodyPr lIns="45720" rIns="45720" anchor="ctr">
                <a:spAutoFit/>
              </a:bodyPr>
              <a:lstStyle/>
              <a:p>
                <a:endParaRPr lang="en-US"/>
              </a:p>
            </p:txBody>
          </p:sp>
          <p:grpSp>
            <p:nvGrpSpPr>
              <p:cNvPr id="40972" name="Group 335"/>
              <p:cNvGrpSpPr/>
              <p:nvPr/>
            </p:nvGrpSpPr>
            <p:grpSpPr bwMode="auto">
              <a:xfrm>
                <a:off x="1752600" y="5609991"/>
                <a:ext cx="685800" cy="838200"/>
                <a:chOff x="528" y="3408"/>
                <a:chExt cx="432" cy="528"/>
              </a:xfrm>
            </p:grpSpPr>
            <p:sp>
              <p:nvSpPr>
                <p:cNvPr id="40981" name="Oval 308"/>
                <p:cNvSpPr>
                  <a:spLocks noChangeArrowheads="1"/>
                </p:cNvSpPr>
                <p:nvPr/>
              </p:nvSpPr>
              <p:spPr bwMode="auto">
                <a:xfrm>
                  <a:off x="624" y="3552"/>
                  <a:ext cx="215" cy="217"/>
                </a:xfrm>
                <a:prstGeom prst="ellipse">
                  <a:avLst/>
                </a:prstGeom>
                <a:solidFill>
                  <a:srgbClr val="FFFF99"/>
                </a:solidFill>
                <a:ln w="19050">
                  <a:solidFill>
                    <a:schemeClr val="tx2"/>
                  </a:solidFill>
                  <a:round/>
                  <a:tailEnd type="none" w="sm" len="sm"/>
                </a:ln>
              </p:spPr>
              <p:txBody>
                <a:bodyPr wrap="none" lIns="45720" rIns="45720" anchor="ctr"/>
                <a:lstStyle/>
                <a:p>
                  <a:pPr algn="ctr"/>
                  <a:r>
                    <a:rPr lang="en-US">
                      <a:latin typeface="Courier New" panose="02070309020205020404" charset="0"/>
                    </a:rPr>
                    <a:t>+</a:t>
                  </a:r>
                </a:p>
              </p:txBody>
            </p:sp>
            <p:sp>
              <p:nvSpPr>
                <p:cNvPr id="40982" name="Line 309"/>
                <p:cNvSpPr>
                  <a:spLocks noChangeShapeType="1"/>
                </p:cNvSpPr>
                <p:nvPr/>
              </p:nvSpPr>
              <p:spPr bwMode="auto">
                <a:xfrm>
                  <a:off x="528" y="3408"/>
                  <a:ext cx="144"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0983" name="Line 310"/>
                <p:cNvSpPr>
                  <a:spLocks noChangeShapeType="1"/>
                </p:cNvSpPr>
                <p:nvPr/>
              </p:nvSpPr>
              <p:spPr bwMode="auto">
                <a:xfrm flipV="1">
                  <a:off x="528" y="3744"/>
                  <a:ext cx="144" cy="192"/>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sp>
              <p:nvSpPr>
                <p:cNvPr id="40984" name="Line 311"/>
                <p:cNvSpPr>
                  <a:spLocks noChangeShapeType="1"/>
                </p:cNvSpPr>
                <p:nvPr/>
              </p:nvSpPr>
              <p:spPr bwMode="auto">
                <a:xfrm rot="5400000" flipV="1">
                  <a:off x="792" y="3768"/>
                  <a:ext cx="192" cy="144"/>
                </a:xfrm>
                <a:prstGeom prst="line">
                  <a:avLst/>
                </a:prstGeom>
                <a:noFill/>
                <a:ln w="19050">
                  <a:solidFill>
                    <a:schemeClr val="tx2"/>
                  </a:solidFill>
                  <a:round/>
                  <a:tailEnd type="triangle" w="lg" len="med"/>
                </a:ln>
                <a:extLst>
                  <a:ext uri="{909E8E84-426E-40DD-AFC4-6F175D3DCCD1}">
                    <a14:hiddenFill xmlns:a14="http://schemas.microsoft.com/office/drawing/2010/main">
                      <a:noFill/>
                    </a14:hiddenFill>
                  </a:ext>
                </a:extLst>
              </p:spPr>
              <p:txBody>
                <a:bodyPr lIns="45720" rIns="45720" anchor="ctr">
                  <a:spAutoFit/>
                </a:bodyPr>
                <a:lstStyle/>
                <a:p>
                  <a:endParaRPr lang="en-US"/>
                </a:p>
              </p:txBody>
            </p:sp>
          </p:grpSp>
          <p:sp>
            <p:nvSpPr>
              <p:cNvPr id="40974" name="Text Box 327"/>
              <p:cNvSpPr txBox="1">
                <a:spLocks noChangeArrowheads="1"/>
              </p:cNvSpPr>
              <p:nvPr/>
            </p:nvSpPr>
            <p:spPr bwMode="auto">
              <a:xfrm>
                <a:off x="7650163" y="5306779"/>
                <a:ext cx="861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a:latin typeface="Courier New" panose="02070309020205020404" charset="0"/>
                  </a:rPr>
                  <a:t>%xmm0</a:t>
                </a:r>
              </a:p>
            </p:txBody>
          </p:sp>
          <p:sp>
            <p:nvSpPr>
              <p:cNvPr id="40975" name="Text Box 328"/>
              <p:cNvSpPr txBox="1">
                <a:spLocks noChangeArrowheads="1"/>
              </p:cNvSpPr>
              <p:nvPr/>
            </p:nvSpPr>
            <p:spPr bwMode="auto">
              <a:xfrm>
                <a:off x="7683500" y="6413266"/>
                <a:ext cx="861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a:latin typeface="Courier New" panose="02070309020205020404" charset="0"/>
                  </a:rPr>
                  <a:t>%xmm1</a:t>
                </a:r>
              </a:p>
            </p:txBody>
          </p:sp>
          <p:sp>
            <p:nvSpPr>
              <p:cNvPr id="40976" name="Text Box 329"/>
              <p:cNvSpPr txBox="1">
                <a:spLocks noChangeArrowheads="1"/>
              </p:cNvSpPr>
              <p:nvPr/>
            </p:nvSpPr>
            <p:spPr bwMode="auto">
              <a:xfrm>
                <a:off x="6400800" y="4924191"/>
                <a:ext cx="27088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sm" len="sm"/>
                  </a14:hiddenLine>
                </a:ext>
              </a:extLst>
            </p:spPr>
            <p:txBody>
              <a:bodyPr wrap="none" lIns="45720" rIns="45720">
                <a:spAutoFit/>
              </a:bodyPr>
              <a:lstStyle>
                <a:lvl1pPr>
                  <a:defRPr b="1">
                    <a:solidFill>
                      <a:schemeClr val="tx1"/>
                    </a:solidFill>
                    <a:latin typeface="Helvetica" charset="0"/>
                    <a:ea typeface="MS PGothic" panose="020B0600070205080204" pitchFamily="-96" charset="-128"/>
                  </a:defRPr>
                </a:lvl1pPr>
                <a:lvl2pPr marL="742950" indent="-285750">
                  <a:defRPr b="1">
                    <a:solidFill>
                      <a:schemeClr val="tx1"/>
                    </a:solidFill>
                    <a:latin typeface="Helvetica" charset="0"/>
                    <a:ea typeface="MS PGothic" panose="020B0600070205080204" pitchFamily="-96" charset="-128"/>
                  </a:defRPr>
                </a:lvl2pPr>
                <a:lvl3pPr marL="1143000" indent="-228600">
                  <a:defRPr b="1">
                    <a:solidFill>
                      <a:schemeClr val="tx1"/>
                    </a:solidFill>
                    <a:latin typeface="Helvetica" charset="0"/>
                    <a:ea typeface="MS PGothic" panose="020B0600070205080204" pitchFamily="-96" charset="-128"/>
                  </a:defRPr>
                </a:lvl3pPr>
                <a:lvl4pPr marL="1600200" indent="-228600">
                  <a:defRPr b="1">
                    <a:solidFill>
                      <a:schemeClr val="tx1"/>
                    </a:solidFill>
                    <a:latin typeface="Helvetica" charset="0"/>
                    <a:ea typeface="MS PGothic" panose="020B0600070205080204" pitchFamily="-96" charset="-128"/>
                  </a:defRPr>
                </a:lvl4pPr>
                <a:lvl5pPr marL="2057400" indent="-228600">
                  <a:defRPr b="1">
                    <a:solidFill>
                      <a:schemeClr val="tx1"/>
                    </a:solidFill>
                    <a:latin typeface="Helvetica" charset="0"/>
                    <a:ea typeface="MS PGothic" panose="020B0600070205080204" pitchFamily="-96" charset="-128"/>
                  </a:defRPr>
                </a:lvl5pPr>
                <a:lvl6pPr marL="25146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6pPr>
                <a:lvl7pPr marL="29718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7pPr>
                <a:lvl8pPr marL="34290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8pPr>
                <a:lvl9pPr marL="3886200" indent="-228600" eaLnBrk="0" fontAlgn="base" hangingPunct="0">
                  <a:lnSpc>
                    <a:spcPct val="90000"/>
                  </a:lnSpc>
                  <a:spcBef>
                    <a:spcPct val="0"/>
                  </a:spcBef>
                  <a:spcAft>
                    <a:spcPct val="0"/>
                  </a:spcAft>
                  <a:defRPr b="1">
                    <a:solidFill>
                      <a:schemeClr val="tx1"/>
                    </a:solidFill>
                    <a:latin typeface="Helvetica" charset="0"/>
                    <a:ea typeface="MS PGothic" panose="020B0600070205080204" pitchFamily="-96" charset="-128"/>
                  </a:defRPr>
                </a:lvl9pPr>
              </a:lstStyle>
              <a:p>
                <a:r>
                  <a:rPr lang="en-US" sz="2000" dirty="0" err="1">
                    <a:latin typeface="Courier New" panose="02070309020205020404" charset="0"/>
                  </a:rPr>
                  <a:t>addsd</a:t>
                </a:r>
                <a:r>
                  <a:rPr lang="en-US" sz="2000" dirty="0">
                    <a:latin typeface="Courier New" panose="02070309020205020404" charset="0"/>
                  </a:rPr>
                  <a:t> %xmm0,%xmm1</a:t>
                </a:r>
              </a:p>
            </p:txBody>
          </p:sp>
        </p:grpSp>
      </p:gr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944245" y="866775"/>
            <a:ext cx="4674870" cy="5527675"/>
          </a:xfrm>
          <a:prstGeom prst="rect">
            <a:avLst/>
          </a:prstGeom>
        </p:spPr>
      </p:pic>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2604770"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媒体寄存器</a:t>
            </a:r>
          </a:p>
        </p:txBody>
      </p:sp>
      <p:sp>
        <p:nvSpPr>
          <p:cNvPr id="6" name="云形标注 5"/>
          <p:cNvSpPr/>
          <p:nvPr/>
        </p:nvSpPr>
        <p:spPr>
          <a:xfrm>
            <a:off x="5791200" y="1771650"/>
            <a:ext cx="3306445" cy="1934845"/>
          </a:xfrm>
          <a:prstGeom prst="cloudCallout">
            <a:avLst>
              <a:gd name="adj1" fmla="val -49566"/>
              <a:gd name="adj2" fmla="val 9501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用于存放浮点数据，每个</a:t>
            </a:r>
            <a:r>
              <a:rPr lang="en-US" altLang="zh-CN"/>
              <a:t>YMM</a:t>
            </a:r>
            <a:r>
              <a:rPr lang="zh-CN" altLang="en-US"/>
              <a:t>寄存器保存</a:t>
            </a:r>
            <a:r>
              <a:rPr lang="en-US" altLang="zh-CN"/>
              <a:t>332</a:t>
            </a:r>
            <a:r>
              <a:rPr lang="zh-CN" altLang="en-US"/>
              <a:t>个字节。低</a:t>
            </a:r>
            <a:r>
              <a:rPr lang="en-US" altLang="zh-CN"/>
              <a:t>16</a:t>
            </a:r>
            <a:r>
              <a:rPr lang="zh-CN" altLang="en-US"/>
              <a:t>字节可以作为</a:t>
            </a:r>
            <a:r>
              <a:rPr lang="en-US" altLang="zh-CN"/>
              <a:t>XMM</a:t>
            </a:r>
            <a:r>
              <a:rPr lang="zh-CN" altLang="en-US"/>
              <a:t>寄存器来访问。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3" name="椭圆 2"/>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3810" y="60960"/>
            <a:ext cx="2604770"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ym typeface="+mn-ea"/>
              </a:rPr>
              <a:t>FP</a:t>
            </a:r>
            <a:r>
              <a:rPr lang="zh-CN" altLang="en-US" sz="3200" dirty="0">
                <a:sym typeface="+mn-ea"/>
              </a:rPr>
              <a:t>基础</a:t>
            </a:r>
            <a:endParaRPr lang="zh-CN" altLang="en-US" sz="3200" dirty="0">
              <a:ea typeface="+mj-ea"/>
              <a:sym typeface="+mn-ea"/>
            </a:endParaRPr>
          </a:p>
        </p:txBody>
      </p:sp>
      <p:sp>
        <p:nvSpPr>
          <p:cNvPr id="7" name="Content Placeholder 2"/>
          <p:cNvSpPr>
            <a:spLocks noGrp="1"/>
          </p:cNvSpPr>
          <p:nvPr/>
        </p:nvSpPr>
        <p:spPr>
          <a:xfrm>
            <a:off x="396875" y="1362075"/>
            <a:ext cx="7896225" cy="1634877"/>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E86914"/>
              </a:buClr>
            </a:pPr>
            <a:r>
              <a:rPr lang="zh-CN" altLang="en-US" dirty="0">
                <a:ea typeface="宋体" panose="02010600030101010101" pitchFamily="2" charset="-122"/>
              </a:rPr>
              <a:t>参数在</a:t>
            </a:r>
            <a:r>
              <a:rPr lang="en-US" dirty="0"/>
              <a:t> </a:t>
            </a:r>
            <a:r>
              <a:rPr lang="en-US" dirty="0">
                <a:latin typeface="Courier New" panose="02070309020205020404"/>
                <a:cs typeface="Courier New" panose="02070309020205020404"/>
              </a:rPr>
              <a:t>%xmm0</a:t>
            </a:r>
            <a:r>
              <a:rPr lang="en-US" dirty="0"/>
              <a:t>, </a:t>
            </a:r>
            <a:r>
              <a:rPr lang="en-US" dirty="0">
                <a:latin typeface="Courier New" panose="02070309020205020404"/>
                <a:cs typeface="Courier New" panose="02070309020205020404"/>
              </a:rPr>
              <a:t>%xmm1</a:t>
            </a:r>
            <a:r>
              <a:rPr lang="en-US" dirty="0"/>
              <a:t>, ...</a:t>
            </a:r>
            <a:r>
              <a:rPr lang="zh-CN" altLang="en-US" dirty="0">
                <a:ea typeface="宋体" panose="02010600030101010101" pitchFamily="2" charset="-122"/>
              </a:rPr>
              <a:t>传递</a:t>
            </a:r>
          </a:p>
          <a:p>
            <a:pPr>
              <a:buClr>
                <a:srgbClr val="E86914"/>
              </a:buClr>
            </a:pPr>
            <a:r>
              <a:rPr lang="zh-CN" altLang="en-US" dirty="0">
                <a:ea typeface="宋体" panose="02010600030101010101" pitchFamily="2" charset="-122"/>
              </a:rPr>
              <a:t>返回结果在</a:t>
            </a:r>
            <a:r>
              <a:rPr lang="en-US" dirty="0"/>
              <a:t> </a:t>
            </a:r>
            <a:r>
              <a:rPr lang="en-US" dirty="0">
                <a:latin typeface="Courier New" panose="02070309020205020404"/>
                <a:cs typeface="Courier New" panose="02070309020205020404"/>
              </a:rPr>
              <a:t>%xmm0</a:t>
            </a:r>
            <a:endParaRPr lang="en-US" dirty="0"/>
          </a:p>
          <a:p>
            <a:pPr>
              <a:buClr>
                <a:srgbClr val="E86914"/>
              </a:buClr>
            </a:pPr>
            <a:r>
              <a:rPr lang="zh-CN" altLang="en-US" dirty="0">
                <a:ea typeface="宋体" panose="02010600030101010101" pitchFamily="2" charset="-122"/>
              </a:rPr>
              <a:t>所有的 </a:t>
            </a:r>
            <a:r>
              <a:rPr lang="en-US" dirty="0"/>
              <a:t>XMM </a:t>
            </a:r>
            <a:r>
              <a:rPr lang="zh-CN" altLang="en-US" dirty="0">
                <a:ea typeface="宋体" panose="02010600030101010101" pitchFamily="2" charset="-122"/>
              </a:rPr>
              <a:t>寄存器都是由调用者保存</a:t>
            </a:r>
            <a:endParaRPr lang="en-US" dirty="0"/>
          </a:p>
        </p:txBody>
      </p:sp>
      <p:sp>
        <p:nvSpPr>
          <p:cNvPr id="8" name="Rectangle 4"/>
          <p:cNvSpPr>
            <a:spLocks noChangeArrowheads="1"/>
          </p:cNvSpPr>
          <p:nvPr/>
        </p:nvSpPr>
        <p:spPr bwMode="auto">
          <a:xfrm>
            <a:off x="211867" y="2780928"/>
            <a:ext cx="4360133" cy="1197764"/>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a:latin typeface="Courier New" panose="02070309020205020404" charset="0"/>
              </a:rPr>
              <a:t>float </a:t>
            </a:r>
            <a:r>
              <a:rPr lang="en-US" sz="1800" dirty="0" err="1">
                <a:latin typeface="Courier New" panose="02070309020205020404" charset="0"/>
              </a:rPr>
              <a:t>fadd</a:t>
            </a:r>
            <a:r>
              <a:rPr lang="en-US" sz="1800" dirty="0">
                <a:latin typeface="Courier New" panose="02070309020205020404" charset="0"/>
              </a:rPr>
              <a:t>(float x, float y)</a:t>
            </a:r>
          </a:p>
          <a:p>
            <a:pPr eaLnBrk="0" hangingPunct="0"/>
            <a:r>
              <a:rPr lang="en-US" sz="1800" dirty="0">
                <a:latin typeface="Courier New" panose="02070309020205020404" charset="0"/>
              </a:rPr>
              <a:t>{</a:t>
            </a:r>
          </a:p>
          <a:p>
            <a:pPr eaLnBrk="0" hangingPunct="0"/>
            <a:r>
              <a:rPr lang="en-US" sz="1800" dirty="0">
                <a:latin typeface="Courier New" panose="02070309020205020404" charset="0"/>
              </a:rPr>
              <a:t>    return x + y;</a:t>
            </a:r>
          </a:p>
          <a:p>
            <a:pPr eaLnBrk="0" hangingPunct="0"/>
            <a:r>
              <a:rPr lang="en-US" sz="1800" dirty="0">
                <a:latin typeface="Courier New" panose="02070309020205020404" charset="0"/>
              </a:rPr>
              <a:t>}</a:t>
            </a:r>
          </a:p>
        </p:txBody>
      </p:sp>
      <p:sp>
        <p:nvSpPr>
          <p:cNvPr id="9" name="Rectangle 5"/>
          <p:cNvSpPr>
            <a:spLocks noChangeArrowheads="1"/>
          </p:cNvSpPr>
          <p:nvPr/>
        </p:nvSpPr>
        <p:spPr bwMode="auto">
          <a:xfrm>
            <a:off x="4675059" y="2774036"/>
            <a:ext cx="4432141" cy="1197764"/>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a:latin typeface="Courier New" panose="02070309020205020404" charset="0"/>
              </a:rPr>
              <a:t>double </a:t>
            </a:r>
            <a:r>
              <a:rPr lang="en-US" sz="1800" dirty="0" err="1">
                <a:latin typeface="Courier New" panose="02070309020205020404" charset="0"/>
              </a:rPr>
              <a:t>dadd</a:t>
            </a:r>
            <a:r>
              <a:rPr lang="en-US" sz="1800" dirty="0">
                <a:latin typeface="Courier New" panose="02070309020205020404" charset="0"/>
              </a:rPr>
              <a:t>(double x, double y)</a:t>
            </a:r>
          </a:p>
          <a:p>
            <a:pPr eaLnBrk="0" hangingPunct="0"/>
            <a:r>
              <a:rPr lang="en-US" sz="1800" dirty="0">
                <a:latin typeface="Courier New" panose="02070309020205020404" charset="0"/>
              </a:rPr>
              <a:t>{</a:t>
            </a:r>
          </a:p>
          <a:p>
            <a:pPr eaLnBrk="0" hangingPunct="0"/>
            <a:r>
              <a:rPr lang="en-US" sz="1800" dirty="0">
                <a:latin typeface="Courier New" panose="02070309020205020404" charset="0"/>
              </a:rPr>
              <a:t>    return x + y;</a:t>
            </a:r>
          </a:p>
          <a:p>
            <a:pPr eaLnBrk="0" hangingPunct="0"/>
            <a:r>
              <a:rPr lang="en-US" sz="1800" dirty="0">
                <a:latin typeface="Courier New" panose="02070309020205020404" charset="0"/>
              </a:rPr>
              <a:t>}</a:t>
            </a:r>
          </a:p>
        </p:txBody>
      </p:sp>
      <p:sp>
        <p:nvSpPr>
          <p:cNvPr id="10" name="Rectangle 6"/>
          <p:cNvSpPr>
            <a:spLocks noChangeArrowheads="1"/>
          </p:cNvSpPr>
          <p:nvPr/>
        </p:nvSpPr>
        <p:spPr bwMode="auto">
          <a:xfrm>
            <a:off x="211867" y="4293096"/>
            <a:ext cx="4360133" cy="920765"/>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a:latin typeface="Courier New" panose="02070309020205020404" charset="0"/>
              </a:rPr>
              <a:t>  # x in %xmm0, y in %xmm1</a:t>
            </a:r>
          </a:p>
          <a:p>
            <a:pPr eaLnBrk="0" hangingPunct="0"/>
            <a:r>
              <a:rPr lang="en-US" sz="1800" dirty="0">
                <a:latin typeface="Courier New" panose="02070309020205020404" charset="0"/>
              </a:rPr>
              <a:t>  </a:t>
            </a:r>
            <a:r>
              <a:rPr lang="en-US" sz="1800" dirty="0" err="1">
                <a:latin typeface="Courier New" panose="02070309020205020404" charset="0"/>
              </a:rPr>
              <a:t>addss</a:t>
            </a:r>
            <a:r>
              <a:rPr lang="en-US" sz="1800" dirty="0">
                <a:latin typeface="Courier New" panose="02070309020205020404" charset="0"/>
              </a:rPr>
              <a:t>   %xmm1, %xmm0</a:t>
            </a:r>
          </a:p>
          <a:p>
            <a:pPr eaLnBrk="0" hangingPunct="0"/>
            <a:r>
              <a:rPr lang="en-US" sz="1800" dirty="0">
                <a:latin typeface="Courier New" panose="02070309020205020404" charset="0"/>
              </a:rPr>
              <a:t>  ret</a:t>
            </a:r>
          </a:p>
        </p:txBody>
      </p:sp>
      <p:sp>
        <p:nvSpPr>
          <p:cNvPr id="11" name="Rectangle 7"/>
          <p:cNvSpPr>
            <a:spLocks noChangeArrowheads="1"/>
          </p:cNvSpPr>
          <p:nvPr/>
        </p:nvSpPr>
        <p:spPr bwMode="auto">
          <a:xfrm>
            <a:off x="4675059" y="4293096"/>
            <a:ext cx="4360133" cy="920765"/>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a:latin typeface="Courier New" panose="02070309020205020404" charset="0"/>
              </a:rPr>
              <a:t> # x in %xmm0, y in %xmm1   </a:t>
            </a:r>
          </a:p>
          <a:p>
            <a:pPr eaLnBrk="0" hangingPunct="0"/>
            <a:r>
              <a:rPr lang="en-US" sz="1800" dirty="0">
                <a:latin typeface="Courier New" panose="02070309020205020404" charset="0"/>
              </a:rPr>
              <a:t>  </a:t>
            </a:r>
            <a:r>
              <a:rPr lang="en-US" sz="1800" dirty="0" err="1">
                <a:latin typeface="Courier New" panose="02070309020205020404" charset="0"/>
              </a:rPr>
              <a:t>addsd</a:t>
            </a:r>
            <a:r>
              <a:rPr lang="en-US" sz="1800" dirty="0">
                <a:latin typeface="Courier New" panose="02070309020205020404" charset="0"/>
              </a:rPr>
              <a:t>   %xmm1, %xmm0</a:t>
            </a:r>
          </a:p>
          <a:p>
            <a:pPr eaLnBrk="0" hangingPunct="0"/>
            <a:r>
              <a:rPr lang="en-US" sz="1800" dirty="0">
                <a:latin typeface="Courier New" panose="02070309020205020404" charset="0"/>
              </a:rPr>
              <a:t>  ret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3" name="椭圆 2"/>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3810" y="60960"/>
            <a:ext cx="293306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ym typeface="+mn-ea"/>
              </a:rPr>
              <a:t>FP</a:t>
            </a:r>
            <a:r>
              <a:rPr lang="zh-CN" altLang="en-US" sz="3200" dirty="0">
                <a:sym typeface="+mn-ea"/>
              </a:rPr>
              <a:t>内存引用</a:t>
            </a:r>
            <a:endParaRPr lang="zh-CN" altLang="en-US" sz="3200" dirty="0">
              <a:ea typeface="+mj-ea"/>
              <a:sym typeface="+mn-ea"/>
            </a:endParaRPr>
          </a:p>
        </p:txBody>
      </p:sp>
      <p:sp>
        <p:nvSpPr>
          <p:cNvPr id="7" name="Content Placeholder 2"/>
          <p:cNvSpPr>
            <a:spLocks noGrp="1"/>
          </p:cNvSpPr>
          <p:nvPr/>
        </p:nvSpPr>
        <p:spPr>
          <a:xfrm>
            <a:off x="344170" y="1166495"/>
            <a:ext cx="7896225" cy="1634877"/>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chemeClr val="tx1"/>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chemeClr val="tx1"/>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chemeClr val="tx1"/>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a:lstStyle>
          <a:p>
            <a:pPr>
              <a:buClr>
                <a:srgbClr val="E86914"/>
              </a:buClr>
            </a:pPr>
            <a:r>
              <a:rPr dirty="0">
                <a:latin typeface="+mj-ea"/>
                <a:ea typeface="+mj-ea"/>
              </a:rPr>
              <a:t>整数（和指针）参数</a:t>
            </a:r>
            <a:r>
              <a:rPr dirty="0">
                <a:latin typeface="+mj-ea"/>
                <a:ea typeface="+mj-ea"/>
                <a:sym typeface="+mn-ea"/>
              </a:rPr>
              <a:t>在常规寄存器中传递</a:t>
            </a:r>
            <a:endParaRPr dirty="0">
              <a:latin typeface="+mj-ea"/>
              <a:ea typeface="+mj-ea"/>
            </a:endParaRPr>
          </a:p>
          <a:p>
            <a:pPr>
              <a:buClr>
                <a:srgbClr val="E86914"/>
              </a:buClr>
            </a:pPr>
            <a:r>
              <a:rPr lang="en-US" dirty="0">
                <a:latin typeface="+mj-ea"/>
                <a:ea typeface="+mj-ea"/>
              </a:rPr>
              <a:t>FP</a:t>
            </a:r>
            <a:r>
              <a:rPr dirty="0">
                <a:latin typeface="+mj-ea"/>
                <a:ea typeface="+mj-ea"/>
              </a:rPr>
              <a:t>值在XMM寄存器</a:t>
            </a:r>
            <a:r>
              <a:rPr lang="zh-CN" dirty="0">
                <a:latin typeface="+mj-ea"/>
                <a:ea typeface="+mj-ea"/>
              </a:rPr>
              <a:t>传递</a:t>
            </a:r>
          </a:p>
          <a:p>
            <a:pPr>
              <a:buClr>
                <a:srgbClr val="E86914"/>
              </a:buClr>
            </a:pPr>
            <a:r>
              <a:rPr lang="en-US" dirty="0">
                <a:latin typeface="+mj-ea"/>
                <a:ea typeface="+mj-ea"/>
              </a:rPr>
              <a:t>XMM</a:t>
            </a:r>
            <a:r>
              <a:rPr lang="zh-CN" altLang="en-US" dirty="0">
                <a:latin typeface="+mj-ea"/>
                <a:ea typeface="+mj-ea"/>
              </a:rPr>
              <a:t>寄存器和内存之间，</a:t>
            </a:r>
            <a:r>
              <a:rPr lang="en-US" dirty="0">
                <a:latin typeface="+mj-ea"/>
                <a:ea typeface="+mj-ea"/>
                <a:sym typeface="+mn-ea"/>
              </a:rPr>
              <a:t>XMM</a:t>
            </a:r>
            <a:r>
              <a:rPr lang="zh-CN" altLang="en-US" dirty="0">
                <a:latin typeface="+mj-ea"/>
                <a:ea typeface="+mj-ea"/>
                <a:sym typeface="+mn-ea"/>
              </a:rPr>
              <a:t>寄存器之间的</a:t>
            </a:r>
            <a:r>
              <a:rPr lang="en-US" altLang="zh-CN" dirty="0">
                <a:latin typeface="+mj-ea"/>
                <a:ea typeface="+mj-ea"/>
                <a:sym typeface="+mn-ea"/>
              </a:rPr>
              <a:t>mov</a:t>
            </a:r>
            <a:r>
              <a:rPr lang="zh-CN" altLang="en-US" dirty="0">
                <a:latin typeface="+mj-ea"/>
                <a:ea typeface="+mj-ea"/>
                <a:sym typeface="+mn-ea"/>
              </a:rPr>
              <a:t>指令是不同的</a:t>
            </a:r>
          </a:p>
        </p:txBody>
      </p:sp>
      <p:sp>
        <p:nvSpPr>
          <p:cNvPr id="5" name="Rectangle 4"/>
          <p:cNvSpPr>
            <a:spLocks noChangeArrowheads="1"/>
          </p:cNvSpPr>
          <p:nvPr/>
        </p:nvSpPr>
        <p:spPr bwMode="auto">
          <a:xfrm>
            <a:off x="427767" y="2933576"/>
            <a:ext cx="4792181" cy="1751762"/>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ro-RO" sz="1800" dirty="0">
                <a:latin typeface="Courier New" panose="02070309020205020404" charset="0"/>
              </a:rPr>
              <a:t>double dincr(double *p, double v)</a:t>
            </a:r>
          </a:p>
          <a:p>
            <a:pPr eaLnBrk="0" hangingPunct="0"/>
            <a:r>
              <a:rPr lang="ro-RO" sz="1800" dirty="0">
                <a:latin typeface="Courier New" panose="02070309020205020404" charset="0"/>
              </a:rPr>
              <a:t>{</a:t>
            </a:r>
          </a:p>
          <a:p>
            <a:pPr eaLnBrk="0" hangingPunct="0"/>
            <a:r>
              <a:rPr lang="ro-RO" sz="1800" dirty="0">
                <a:latin typeface="Courier New" panose="02070309020205020404" charset="0"/>
              </a:rPr>
              <a:t>    double x = *p;</a:t>
            </a:r>
          </a:p>
          <a:p>
            <a:pPr eaLnBrk="0" hangingPunct="0"/>
            <a:r>
              <a:rPr lang="ro-RO" sz="1800" dirty="0">
                <a:latin typeface="Courier New" panose="02070309020205020404" charset="0"/>
              </a:rPr>
              <a:t>    *p = x + v;</a:t>
            </a:r>
          </a:p>
          <a:p>
            <a:pPr eaLnBrk="0" hangingPunct="0"/>
            <a:r>
              <a:rPr lang="ro-RO" sz="1800" dirty="0">
                <a:latin typeface="Courier New" panose="02070309020205020404" charset="0"/>
              </a:rPr>
              <a:t>    return x;</a:t>
            </a:r>
          </a:p>
          <a:p>
            <a:pPr eaLnBrk="0" hangingPunct="0"/>
            <a:r>
              <a:rPr lang="ro-RO" sz="1800" dirty="0">
                <a:latin typeface="Courier New" panose="02070309020205020404" charset="0"/>
              </a:rPr>
              <a:t>}</a:t>
            </a:r>
          </a:p>
        </p:txBody>
      </p:sp>
      <p:sp>
        <p:nvSpPr>
          <p:cNvPr id="6" name="Rectangle 6"/>
          <p:cNvSpPr>
            <a:spLocks noChangeArrowheads="1"/>
          </p:cNvSpPr>
          <p:nvPr/>
        </p:nvSpPr>
        <p:spPr bwMode="auto">
          <a:xfrm>
            <a:off x="427767" y="4766861"/>
            <a:ext cx="6304349" cy="1751762"/>
          </a:xfrm>
          <a:prstGeom prst="rect">
            <a:avLst/>
          </a:prstGeom>
          <a:solidFill>
            <a:srgbClr val="F6F5BD"/>
          </a:solidFill>
          <a:ln w="12700">
            <a:solidFill>
              <a:schemeClr val="tx1"/>
            </a:solidFill>
            <a:miter lim="800000"/>
          </a:ln>
        </p:spPr>
        <p:txBody>
          <a:bodyPr wrap="square" lIns="90487" tIns="44450" rIns="90487" bIns="44450">
            <a:spAutoFit/>
          </a:bodyPr>
          <a:lstStyle/>
          <a:p>
            <a:pPr eaLnBrk="0" hangingPunct="0"/>
            <a:r>
              <a:rPr lang="en-US" sz="1800" dirty="0">
                <a:latin typeface="Courier New" panose="02070309020205020404" charset="0"/>
              </a:rPr>
              <a:t>  # p in %</a:t>
            </a:r>
            <a:r>
              <a:rPr lang="en-US" sz="1800" dirty="0" err="1">
                <a:latin typeface="Courier New" panose="02070309020205020404" charset="0"/>
              </a:rPr>
              <a:t>rdi</a:t>
            </a:r>
            <a:r>
              <a:rPr lang="en-US" sz="1800" dirty="0">
                <a:latin typeface="Courier New" panose="02070309020205020404" charset="0"/>
              </a:rPr>
              <a:t>, v in %xmm0</a:t>
            </a:r>
          </a:p>
          <a:p>
            <a:pPr eaLnBrk="0" hangingPunct="0"/>
            <a:r>
              <a:rPr lang="en-US" sz="1800" dirty="0">
                <a:latin typeface="Courier New" panose="02070309020205020404" charset="0"/>
              </a:rPr>
              <a:t>  </a:t>
            </a:r>
            <a:r>
              <a:rPr lang="en-US" sz="1800" dirty="0" err="1">
                <a:latin typeface="Courier New" panose="02070309020205020404" charset="0"/>
              </a:rPr>
              <a:t>movapd</a:t>
            </a:r>
            <a:r>
              <a:rPr lang="en-US" sz="1800" dirty="0">
                <a:latin typeface="Courier New" panose="02070309020205020404" charset="0"/>
              </a:rPr>
              <a:t>  %xmm0, %xmm1   # Copy v</a:t>
            </a:r>
          </a:p>
          <a:p>
            <a:pPr eaLnBrk="0" hangingPunct="0"/>
            <a:r>
              <a:rPr lang="en-US" sz="1800" dirty="0">
                <a:latin typeface="Courier New" panose="02070309020205020404" charset="0"/>
              </a:rPr>
              <a:t>  </a:t>
            </a:r>
            <a:r>
              <a:rPr lang="en-US" sz="1800" dirty="0" err="1">
                <a:latin typeface="Courier New" panose="02070309020205020404" charset="0"/>
              </a:rPr>
              <a:t>movsd</a:t>
            </a:r>
            <a:r>
              <a:rPr lang="en-US" sz="1800" dirty="0">
                <a:latin typeface="Courier New" panose="02070309020205020404" charset="0"/>
              </a:rPr>
              <a:t>   (%</a:t>
            </a:r>
            <a:r>
              <a:rPr lang="en-US" sz="1800" dirty="0" err="1">
                <a:latin typeface="Courier New" panose="02070309020205020404" charset="0"/>
              </a:rPr>
              <a:t>rdi</a:t>
            </a:r>
            <a:r>
              <a:rPr lang="en-US" sz="1800" dirty="0">
                <a:latin typeface="Courier New" panose="02070309020205020404" charset="0"/>
              </a:rPr>
              <a:t>), %xmm0  # x = *p</a:t>
            </a:r>
          </a:p>
          <a:p>
            <a:pPr eaLnBrk="0" hangingPunct="0"/>
            <a:r>
              <a:rPr lang="en-US" sz="1800" dirty="0">
                <a:latin typeface="Courier New" panose="02070309020205020404" charset="0"/>
              </a:rPr>
              <a:t>  </a:t>
            </a:r>
            <a:r>
              <a:rPr lang="en-US" sz="1800" dirty="0" err="1">
                <a:latin typeface="Courier New" panose="02070309020205020404" charset="0"/>
              </a:rPr>
              <a:t>addsd</a:t>
            </a:r>
            <a:r>
              <a:rPr lang="en-US" sz="1800" dirty="0">
                <a:latin typeface="Courier New" panose="02070309020205020404" charset="0"/>
              </a:rPr>
              <a:t>   %xmm0, %xmm1   # t = x + v</a:t>
            </a:r>
          </a:p>
          <a:p>
            <a:pPr eaLnBrk="0" hangingPunct="0"/>
            <a:r>
              <a:rPr lang="en-US" sz="1800" dirty="0">
                <a:latin typeface="Courier New" panose="02070309020205020404" charset="0"/>
              </a:rPr>
              <a:t>  </a:t>
            </a:r>
            <a:r>
              <a:rPr lang="en-US" sz="1800" dirty="0" err="1">
                <a:latin typeface="Courier New" panose="02070309020205020404" charset="0"/>
              </a:rPr>
              <a:t>movsd</a:t>
            </a:r>
            <a:r>
              <a:rPr lang="en-US" sz="1800" dirty="0">
                <a:latin typeface="Courier New" panose="02070309020205020404" charset="0"/>
              </a:rPr>
              <a:t>   %xmm1, (%</a:t>
            </a:r>
            <a:r>
              <a:rPr lang="en-US" sz="1800" dirty="0" err="1">
                <a:latin typeface="Courier New" panose="02070309020205020404" charset="0"/>
              </a:rPr>
              <a:t>rdi</a:t>
            </a:r>
            <a:r>
              <a:rPr lang="en-US" sz="1800" dirty="0">
                <a:latin typeface="Courier New" panose="02070309020205020404" charset="0"/>
              </a:rPr>
              <a:t>)  # *p = t</a:t>
            </a:r>
          </a:p>
          <a:p>
            <a:pPr eaLnBrk="0" hangingPunct="0"/>
            <a:r>
              <a:rPr lang="en-US" sz="1800" dirty="0">
                <a:latin typeface="Courier New" panose="02070309020205020404" charset="0"/>
              </a:rPr>
              <a:t>  ret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2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334073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浮点传送指令</a:t>
            </a:r>
          </a:p>
        </p:txBody>
      </p:sp>
      <p:pic>
        <p:nvPicPr>
          <p:cNvPr id="7" name="图片 6"/>
          <p:cNvPicPr>
            <a:picLocks noChangeAspect="1"/>
          </p:cNvPicPr>
          <p:nvPr/>
        </p:nvPicPr>
        <p:blipFill>
          <a:blip r:embed="rId2"/>
          <a:stretch>
            <a:fillRect/>
          </a:stretch>
        </p:blipFill>
        <p:spPr>
          <a:xfrm>
            <a:off x="0" y="1125855"/>
            <a:ext cx="9036050" cy="2414270"/>
          </a:xfrm>
          <a:prstGeom prst="rect">
            <a:avLst/>
          </a:prstGeom>
        </p:spPr>
      </p:pic>
      <p:pic>
        <p:nvPicPr>
          <p:cNvPr id="8" name="图片 7"/>
          <p:cNvPicPr>
            <a:picLocks noChangeAspect="1"/>
          </p:cNvPicPr>
          <p:nvPr/>
        </p:nvPicPr>
        <p:blipFill>
          <a:blip r:embed="rId3"/>
          <a:stretch>
            <a:fillRect/>
          </a:stretch>
        </p:blipFill>
        <p:spPr>
          <a:xfrm>
            <a:off x="180975" y="3940810"/>
            <a:ext cx="5228590" cy="1266825"/>
          </a:xfrm>
          <a:prstGeom prst="rect">
            <a:avLst/>
          </a:prstGeom>
        </p:spPr>
      </p:pic>
      <p:pic>
        <p:nvPicPr>
          <p:cNvPr id="9" name="图片 8"/>
          <p:cNvPicPr>
            <a:picLocks noChangeAspect="1"/>
          </p:cNvPicPr>
          <p:nvPr/>
        </p:nvPicPr>
        <p:blipFill>
          <a:blip r:embed="rId4"/>
          <a:stretch>
            <a:fillRect/>
          </a:stretch>
        </p:blipFill>
        <p:spPr>
          <a:xfrm>
            <a:off x="3829050" y="4669155"/>
            <a:ext cx="4933315" cy="1704975"/>
          </a:xfrm>
          <a:prstGeom prst="rect">
            <a:avLst/>
          </a:prstGeom>
        </p:spPr>
      </p:pic>
      <p:sp>
        <p:nvSpPr>
          <p:cNvPr id="10" name="右箭头 9"/>
          <p:cNvSpPr/>
          <p:nvPr/>
        </p:nvSpPr>
        <p:spPr>
          <a:xfrm>
            <a:off x="2488565" y="5062855"/>
            <a:ext cx="855980" cy="464820"/>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汇编</a:t>
            </a:r>
          </a:p>
        </p:txBody>
      </p:sp>
      <p:sp>
        <p:nvSpPr>
          <p:cNvPr id="11" name="右箭头 10"/>
          <p:cNvSpPr/>
          <p:nvPr/>
        </p:nvSpPr>
        <p:spPr>
          <a:xfrm>
            <a:off x="3810" y="3448050"/>
            <a:ext cx="1790065" cy="556895"/>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vmovaps</a:t>
            </a:r>
            <a:r>
              <a:rPr lang="zh-CN" altLang="en-US"/>
              <a:t>例子：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334073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浮点传送指令</a:t>
            </a:r>
          </a:p>
        </p:txBody>
      </p:sp>
      <p:pic>
        <p:nvPicPr>
          <p:cNvPr id="2" name="图片 1"/>
          <p:cNvPicPr>
            <a:picLocks noChangeAspect="1"/>
          </p:cNvPicPr>
          <p:nvPr/>
        </p:nvPicPr>
        <p:blipFill>
          <a:blip r:embed="rId2"/>
          <a:stretch>
            <a:fillRect/>
          </a:stretch>
        </p:blipFill>
        <p:spPr>
          <a:xfrm>
            <a:off x="0" y="1209040"/>
            <a:ext cx="9028430" cy="1676400"/>
          </a:xfrm>
          <a:prstGeom prst="rect">
            <a:avLst/>
          </a:prstGeom>
        </p:spPr>
      </p:pic>
      <p:pic>
        <p:nvPicPr>
          <p:cNvPr id="6" name="图片 5"/>
          <p:cNvPicPr>
            <a:picLocks noChangeAspect="1"/>
          </p:cNvPicPr>
          <p:nvPr/>
        </p:nvPicPr>
        <p:blipFill>
          <a:blip r:embed="rId3"/>
          <a:stretch>
            <a:fillRect/>
          </a:stretch>
        </p:blipFill>
        <p:spPr>
          <a:xfrm>
            <a:off x="62230" y="3442335"/>
            <a:ext cx="9018905" cy="1657350"/>
          </a:xfrm>
          <a:prstGeom prst="rect">
            <a:avLst/>
          </a:prstGeom>
        </p:spPr>
      </p:pic>
      <p:sp>
        <p:nvSpPr>
          <p:cNvPr id="12" name="文本框 11"/>
          <p:cNvSpPr txBox="1"/>
          <p:nvPr/>
        </p:nvSpPr>
        <p:spPr>
          <a:xfrm>
            <a:off x="3032760" y="2894965"/>
            <a:ext cx="2922270" cy="368300"/>
          </a:xfrm>
          <a:prstGeom prst="rect">
            <a:avLst/>
          </a:prstGeom>
          <a:noFill/>
        </p:spPr>
        <p:txBody>
          <a:bodyPr wrap="square" rtlCol="0">
            <a:spAutoFit/>
          </a:bodyPr>
          <a:lstStyle/>
          <a:p>
            <a:r>
              <a:rPr lang="zh-CN" altLang="en-US"/>
              <a:t>双操作数浮点转换指令</a:t>
            </a:r>
          </a:p>
        </p:txBody>
      </p:sp>
      <p:sp>
        <p:nvSpPr>
          <p:cNvPr id="13" name="文本框 12"/>
          <p:cNvSpPr txBox="1"/>
          <p:nvPr/>
        </p:nvSpPr>
        <p:spPr>
          <a:xfrm>
            <a:off x="3007360" y="5155565"/>
            <a:ext cx="2922270" cy="368300"/>
          </a:xfrm>
          <a:prstGeom prst="rect">
            <a:avLst/>
          </a:prstGeom>
          <a:noFill/>
        </p:spPr>
        <p:txBody>
          <a:bodyPr wrap="square" rtlCol="0">
            <a:spAutoFit/>
          </a:bodyPr>
          <a:lstStyle/>
          <a:p>
            <a:r>
              <a:rPr lang="zh-CN" altLang="en-US"/>
              <a:t>三操作数浮点转换指令</a:t>
            </a: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334073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浮点运算操作</a:t>
            </a:r>
          </a:p>
        </p:txBody>
      </p:sp>
      <p:pic>
        <p:nvPicPr>
          <p:cNvPr id="7" name="图片 6"/>
          <p:cNvPicPr>
            <a:picLocks noChangeAspect="1"/>
          </p:cNvPicPr>
          <p:nvPr/>
        </p:nvPicPr>
        <p:blipFill>
          <a:blip r:embed="rId2"/>
          <a:stretch>
            <a:fillRect/>
          </a:stretch>
        </p:blipFill>
        <p:spPr>
          <a:xfrm>
            <a:off x="76835" y="1558290"/>
            <a:ext cx="8990330" cy="2713990"/>
          </a:xfrm>
          <a:prstGeom prst="rect">
            <a:avLst/>
          </a:prstGeom>
        </p:spPr>
      </p:pic>
      <p:sp>
        <p:nvSpPr>
          <p:cNvPr id="8" name="云形标注 7"/>
          <p:cNvSpPr/>
          <p:nvPr/>
        </p:nvSpPr>
        <p:spPr>
          <a:xfrm>
            <a:off x="4460875" y="60960"/>
            <a:ext cx="4606290" cy="1497330"/>
          </a:xfrm>
          <a:prstGeom prst="cloud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该表格描述了一组执行算术运算的标量</a:t>
            </a:r>
            <a:r>
              <a:rPr lang="en-US" altLang="zh-CN"/>
              <a:t>AVX2</a:t>
            </a:r>
            <a:r>
              <a:rPr lang="zh-CN" altLang="en-US"/>
              <a:t>浮点指令。这些指令有一个或两个源操作数和一个目的操作数。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334073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浮点运算操作</a:t>
            </a:r>
          </a:p>
        </p:txBody>
      </p:sp>
      <p:pic>
        <p:nvPicPr>
          <p:cNvPr id="2" name="图片 1"/>
          <p:cNvPicPr>
            <a:picLocks noChangeAspect="1"/>
          </p:cNvPicPr>
          <p:nvPr/>
        </p:nvPicPr>
        <p:blipFill>
          <a:blip r:embed="rId2"/>
          <a:stretch>
            <a:fillRect/>
          </a:stretch>
        </p:blipFill>
        <p:spPr>
          <a:xfrm>
            <a:off x="259715" y="2883535"/>
            <a:ext cx="6781165" cy="2933065"/>
          </a:xfrm>
          <a:prstGeom prst="rect">
            <a:avLst/>
          </a:prstGeom>
        </p:spPr>
      </p:pic>
      <p:pic>
        <p:nvPicPr>
          <p:cNvPr id="6" name="图片 5"/>
          <p:cNvPicPr>
            <a:picLocks noChangeAspect="1"/>
          </p:cNvPicPr>
          <p:nvPr/>
        </p:nvPicPr>
        <p:blipFill>
          <a:blip r:embed="rId3"/>
          <a:stretch>
            <a:fillRect/>
          </a:stretch>
        </p:blipFill>
        <p:spPr>
          <a:xfrm>
            <a:off x="916940" y="1404620"/>
            <a:ext cx="5466715" cy="1200150"/>
          </a:xfrm>
          <a:prstGeom prst="rect">
            <a:avLst/>
          </a:prstGeom>
        </p:spPr>
      </p:pic>
      <p:sp>
        <p:nvSpPr>
          <p:cNvPr id="9" name="云形标注 8"/>
          <p:cNvSpPr/>
          <p:nvPr/>
        </p:nvSpPr>
        <p:spPr>
          <a:xfrm>
            <a:off x="6557645" y="1033780"/>
            <a:ext cx="1776730" cy="1570990"/>
          </a:xfrm>
          <a:prstGeom prst="cloud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3</a:t>
            </a:r>
            <a:r>
              <a:rPr lang="zh-CN" altLang="en-US" dirty="0"/>
              <a:t>个浮点参数。</a:t>
            </a:r>
          </a:p>
        </p:txBody>
      </p:sp>
      <p:sp>
        <p:nvSpPr>
          <p:cNvPr id="10" name="下箭头 9"/>
          <p:cNvSpPr/>
          <p:nvPr/>
        </p:nvSpPr>
        <p:spPr>
          <a:xfrm>
            <a:off x="3545840" y="2245360"/>
            <a:ext cx="525780" cy="718185"/>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汇编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bldLvl="0" animBg="1"/>
    </p:bldLst>
  </p:timing>
</p:sld>
</file>

<file path=ppt/slides/slide2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334073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浮点运算操作</a:t>
            </a:r>
          </a:p>
        </p:txBody>
      </p:sp>
      <p:sp>
        <p:nvSpPr>
          <p:cNvPr id="9" name="云形标注 8"/>
          <p:cNvSpPr/>
          <p:nvPr/>
        </p:nvSpPr>
        <p:spPr>
          <a:xfrm>
            <a:off x="6557645" y="1033780"/>
            <a:ext cx="1776730" cy="1570990"/>
          </a:xfrm>
          <a:prstGeom prst="cloudCallou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4</a:t>
            </a:r>
            <a:r>
              <a:rPr lang="zh-CN" altLang="en-US"/>
              <a:t>个浮点参数。</a:t>
            </a:r>
          </a:p>
        </p:txBody>
      </p:sp>
      <p:pic>
        <p:nvPicPr>
          <p:cNvPr id="7" name="图片 6"/>
          <p:cNvPicPr>
            <a:picLocks noChangeAspect="1"/>
          </p:cNvPicPr>
          <p:nvPr/>
        </p:nvPicPr>
        <p:blipFill>
          <a:blip r:embed="rId2"/>
          <a:stretch>
            <a:fillRect/>
          </a:stretch>
        </p:blipFill>
        <p:spPr>
          <a:xfrm>
            <a:off x="241935" y="1490345"/>
            <a:ext cx="6000115" cy="1114425"/>
          </a:xfrm>
          <a:prstGeom prst="rect">
            <a:avLst/>
          </a:prstGeom>
        </p:spPr>
      </p:pic>
      <p:pic>
        <p:nvPicPr>
          <p:cNvPr id="8" name="图片 7"/>
          <p:cNvPicPr>
            <a:picLocks noChangeAspect="1"/>
          </p:cNvPicPr>
          <p:nvPr/>
        </p:nvPicPr>
        <p:blipFill>
          <a:blip r:embed="rId3"/>
          <a:stretch>
            <a:fillRect/>
          </a:stretch>
        </p:blipFill>
        <p:spPr>
          <a:xfrm>
            <a:off x="641985" y="3209290"/>
            <a:ext cx="5600065" cy="2571115"/>
          </a:xfrm>
          <a:prstGeom prst="rect">
            <a:avLst/>
          </a:prstGeom>
        </p:spPr>
      </p:pic>
      <p:sp>
        <p:nvSpPr>
          <p:cNvPr id="2" name="下箭头 1"/>
          <p:cNvSpPr/>
          <p:nvPr/>
        </p:nvSpPr>
        <p:spPr>
          <a:xfrm>
            <a:off x="3545840" y="2245360"/>
            <a:ext cx="525780" cy="718185"/>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汇编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bldLvl="0" animBg="1"/>
    </p:bldLst>
  </p:timing>
</p:sld>
</file>

<file path=ppt/slides/slide2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矩形 1"/>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3" name="椭圆 2"/>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4" name="右箭头 3"/>
          <p:cNvSpPr/>
          <p:nvPr/>
        </p:nvSpPr>
        <p:spPr>
          <a:xfrm>
            <a:off x="3810" y="60960"/>
            <a:ext cx="406463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ym typeface="+mn-ea"/>
              </a:rPr>
              <a:t>FP</a:t>
            </a:r>
            <a:r>
              <a:rPr lang="zh-CN" altLang="en-US" sz="3200" dirty="0">
                <a:sym typeface="+mn-ea"/>
              </a:rPr>
              <a:t>代码的其他方面</a:t>
            </a:r>
            <a:endParaRPr lang="zh-CN" altLang="en-US" sz="3200" dirty="0">
              <a:ea typeface="+mj-ea"/>
              <a:sym typeface="+mn-ea"/>
            </a:endParaRPr>
          </a:p>
        </p:txBody>
      </p:sp>
      <p:sp>
        <p:nvSpPr>
          <p:cNvPr id="8" name="Content Placeholder 2"/>
          <p:cNvSpPr>
            <a:spLocks noGrp="1"/>
          </p:cNvSpPr>
          <p:nvPr/>
        </p:nvSpPr>
        <p:spPr>
          <a:xfrm>
            <a:off x="396875" y="1362075"/>
            <a:ext cx="8221663" cy="4972050"/>
          </a:xfrm>
          <a:prstGeom prst="rect">
            <a:avLst/>
          </a:prstGeom>
          <a:noFill/>
          <a:ln w="9525">
            <a:noFill/>
            <a:miter lim="800000"/>
          </a:ln>
        </p:spPr>
        <p:txBody>
          <a:bodyPr vert="horz" wrap="square" lIns="91440" tIns="45720" rIns="91440" bIns="45720" numCol="1" anchor="t" anchorCtr="0" compatLnSpc="1"/>
          <a:lstStyle>
            <a:lvl1pPr marL="342900" indent="-342900" algn="l" rtl="0" fontAlgn="base">
              <a:spcBef>
                <a:spcPct val="20000"/>
              </a:spcBef>
              <a:spcAft>
                <a:spcPct val="0"/>
              </a:spcAft>
              <a:buClr>
                <a:srgbClr val="990000"/>
              </a:buClr>
              <a:buSzPct val="60000"/>
              <a:buFont typeface="Wingdings 2" panose="05020102010507070707" pitchFamily="18" charset="2"/>
              <a:buChar char="¢"/>
              <a:defRPr sz="2400" b="1">
                <a:solidFill>
                  <a:srgbClr val="000000"/>
                </a:solidFill>
                <a:latin typeface="Calibri" panose="020F0502020204030204" charset="0"/>
                <a:ea typeface="MS PGothic" panose="020B0600070205080204" pitchFamily="-96" charset="-128"/>
                <a:cs typeface="MS PGothic" panose="020B0600070205080204" pitchFamily="-96" charset="-128"/>
              </a:defRPr>
            </a:lvl1pPr>
            <a:lvl2pPr marL="742950" indent="-285750" algn="l" rtl="0" fontAlgn="base">
              <a:spcBef>
                <a:spcPct val="20000"/>
              </a:spcBef>
              <a:spcAft>
                <a:spcPct val="0"/>
              </a:spcAft>
              <a:buClr>
                <a:srgbClr val="990000"/>
              </a:buClr>
              <a:buSzPct val="110000"/>
              <a:buFont typeface="Wingdings" panose="05000000000000000000" pitchFamily="2" charset="2"/>
              <a:buChar char="§"/>
              <a:defRPr sz="2000">
                <a:solidFill>
                  <a:srgbClr val="000000"/>
                </a:solidFill>
                <a:latin typeface="Calibri" panose="020F0502020204030204" charset="0"/>
                <a:ea typeface="MS PGothic" panose="020B0600070205080204" pitchFamily="-96" charset="-128"/>
              </a:defRPr>
            </a:lvl2pPr>
            <a:lvl3pPr marL="1143000" indent="-228600" algn="l" rtl="0" fontAlgn="base">
              <a:spcBef>
                <a:spcPct val="20000"/>
              </a:spcBef>
              <a:spcAft>
                <a:spcPct val="0"/>
              </a:spcAft>
              <a:buSzPct val="80000"/>
              <a:buFont typeface="Wingdings" panose="05000000000000000000" pitchFamily="2" charset="2"/>
              <a:buChar char="§"/>
              <a:defRPr sz="2000">
                <a:solidFill>
                  <a:srgbClr val="000000"/>
                </a:solidFill>
                <a:latin typeface="Calibri" panose="020F0502020204030204" charset="0"/>
                <a:ea typeface="MS PGothic" panose="020B0600070205080204" pitchFamily="-96" charset="-128"/>
              </a:defRPr>
            </a:lvl3pPr>
            <a:lvl4pPr marL="1600200" indent="-228600" algn="l" rtl="0" fontAlgn="base">
              <a:spcBef>
                <a:spcPct val="20000"/>
              </a:spcBef>
              <a:spcAft>
                <a:spcPct val="0"/>
              </a:spcAft>
              <a:buChar char="–"/>
              <a:defRPr sz="2000">
                <a:solidFill>
                  <a:srgbClr val="000000"/>
                </a:solidFill>
                <a:latin typeface="Calibri" panose="020F0502020204030204" charset="0"/>
                <a:ea typeface="MS PGothic" panose="020B0600070205080204" pitchFamily="-96" charset="-128"/>
              </a:defRPr>
            </a:lvl4pPr>
            <a:lvl5pPr marL="2057400" indent="-228600" algn="l" rtl="0" fontAlgn="base">
              <a:spcBef>
                <a:spcPct val="20000"/>
              </a:spcBef>
              <a:spcAft>
                <a:spcPct val="0"/>
              </a:spcAft>
              <a:buChar char="»"/>
              <a:defRPr sz="2000">
                <a:solidFill>
                  <a:srgbClr val="000000"/>
                </a:solidFill>
                <a:latin typeface="Calibri" panose="020F0502020204030204" charset="0"/>
                <a:ea typeface="MS PGothic" panose="020B0600070205080204" pitchFamily="-96" charset="-128"/>
              </a:defRPr>
            </a:lvl5pPr>
            <a:lvl6pPr marL="2514600" indent="-228600" algn="l" rtl="0" eaLnBrk="1" fontAlgn="base" hangingPunct="1">
              <a:spcBef>
                <a:spcPct val="20000"/>
              </a:spcBef>
              <a:spcAft>
                <a:spcPct val="0"/>
              </a:spcAft>
              <a:buChar char="»"/>
              <a:defRPr sz="2000">
                <a:solidFill>
                  <a:srgbClr val="000000"/>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rgbClr val="000000"/>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rgbClr val="000000"/>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rgbClr val="000000"/>
                </a:solidFill>
                <a:latin typeface="Arial" panose="020B0604020202020204" pitchFamily="34" charset="0"/>
              </a:defRPr>
            </a:lvl9pPr>
          </a:lstStyle>
          <a:p>
            <a:pPr>
              <a:buClr>
                <a:srgbClr val="E86914"/>
              </a:buClr>
            </a:pPr>
            <a:r>
              <a:rPr lang="en-US" dirty="0">
                <a:latin typeface="微软雅黑" panose="020B0503020204020204" charset="-122"/>
                <a:ea typeface="微软雅黑" panose="020B0503020204020204" charset="-122"/>
              </a:rPr>
              <a:t>大量的指令</a:t>
            </a:r>
          </a:p>
          <a:p>
            <a:pPr lvl="1">
              <a:buClr>
                <a:srgbClr val="0D0D0D"/>
              </a:buClr>
            </a:pPr>
            <a:r>
              <a:rPr lang="en-US" dirty="0">
                <a:latin typeface="微软雅黑" panose="020B0503020204020204" charset="-122"/>
                <a:ea typeface="微软雅黑" panose="020B0503020204020204" charset="-122"/>
              </a:rPr>
              <a:t>不同的操作，不同的格式，…</a:t>
            </a:r>
          </a:p>
          <a:p>
            <a:pPr>
              <a:buClr>
                <a:srgbClr val="E86914"/>
              </a:buClr>
            </a:pPr>
            <a:r>
              <a:rPr lang="en-US" dirty="0">
                <a:latin typeface="微软雅黑" panose="020B0503020204020204" charset="-122"/>
                <a:ea typeface="微软雅黑" panose="020B0503020204020204" charset="-122"/>
              </a:rPr>
              <a:t>浮点数的比较</a:t>
            </a:r>
          </a:p>
          <a:p>
            <a:pPr lvl="1">
              <a:buClr>
                <a:srgbClr val="0D0D0D"/>
              </a:buClr>
            </a:pPr>
            <a:r>
              <a:rPr lang="zh-CN" altLang="en-US" dirty="0">
                <a:latin typeface="微软雅黑" panose="020B0503020204020204" charset="-122"/>
                <a:ea typeface="微软雅黑" panose="020B0503020204020204" charset="-122"/>
              </a:rPr>
              <a:t>指令</a:t>
            </a:r>
            <a:r>
              <a:rPr lang="en-US" dirty="0">
                <a:latin typeface="微软雅黑" panose="020B0503020204020204" charset="-122"/>
                <a:ea typeface="微软雅黑" panose="020B0503020204020204" charset="-122"/>
              </a:rPr>
              <a:t> </a:t>
            </a:r>
            <a:r>
              <a:rPr lang="en-US" b="1" dirty="0" err="1">
                <a:latin typeface="微软雅黑" panose="020B0503020204020204" charset="-122"/>
                <a:ea typeface="微软雅黑" panose="020B0503020204020204" charset="-122"/>
                <a:cs typeface="Courier New" panose="02070309020205020404"/>
              </a:rPr>
              <a:t>ucomiss</a:t>
            </a:r>
            <a:r>
              <a:rPr lang="en-US"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和</a:t>
            </a:r>
            <a:r>
              <a:rPr lang="en-US" dirty="0">
                <a:latin typeface="微软雅黑" panose="020B0503020204020204" charset="-122"/>
                <a:ea typeface="微软雅黑" panose="020B0503020204020204" charset="-122"/>
              </a:rPr>
              <a:t> </a:t>
            </a:r>
            <a:r>
              <a:rPr lang="en-US" b="1" dirty="0" err="1">
                <a:latin typeface="微软雅黑" panose="020B0503020204020204" charset="-122"/>
                <a:ea typeface="微软雅黑" panose="020B0503020204020204" charset="-122"/>
                <a:cs typeface="Courier New" panose="02070309020205020404"/>
              </a:rPr>
              <a:t>ucomisd</a:t>
            </a:r>
            <a:endParaRPr lang="en-US" b="1" dirty="0">
              <a:latin typeface="微软雅黑" panose="020B0503020204020204" charset="-122"/>
              <a:ea typeface="微软雅黑" panose="020B0503020204020204" charset="-122"/>
              <a:cs typeface="Courier New" panose="02070309020205020404"/>
            </a:endParaRPr>
          </a:p>
          <a:p>
            <a:pPr lvl="1">
              <a:buClr>
                <a:srgbClr val="0D0D0D"/>
              </a:buClr>
            </a:pPr>
            <a:r>
              <a:rPr lang="zh-CN" altLang="en-US" dirty="0">
                <a:latin typeface="微软雅黑" panose="020B0503020204020204" charset="-122"/>
                <a:ea typeface="微软雅黑" panose="020B0503020204020204" charset="-122"/>
              </a:rPr>
              <a:t>设置</a:t>
            </a:r>
            <a:r>
              <a:rPr lang="en-US"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条件码</a:t>
            </a:r>
            <a:r>
              <a:rPr lang="en-US" dirty="0">
                <a:latin typeface="微软雅黑" panose="020B0503020204020204" charset="-122"/>
                <a:ea typeface="微软雅黑" panose="020B0503020204020204" charset="-122"/>
              </a:rPr>
              <a:t>CF, ZF, </a:t>
            </a:r>
            <a:r>
              <a:rPr lang="zh-CN" altLang="en-US" dirty="0">
                <a:latin typeface="微软雅黑" panose="020B0503020204020204" charset="-122"/>
                <a:ea typeface="微软雅黑" panose="020B0503020204020204" charset="-122"/>
              </a:rPr>
              <a:t>和</a:t>
            </a:r>
            <a:r>
              <a:rPr lang="en-US" dirty="0">
                <a:latin typeface="微软雅黑" panose="020B0503020204020204" charset="-122"/>
                <a:ea typeface="微软雅黑" panose="020B0503020204020204" charset="-122"/>
              </a:rPr>
              <a:t> PF</a:t>
            </a:r>
          </a:p>
          <a:p>
            <a:pPr>
              <a:buClr>
                <a:srgbClr val="E86914"/>
              </a:buClr>
            </a:pPr>
            <a:r>
              <a:rPr lang="zh-CN" altLang="en-US" dirty="0">
                <a:latin typeface="微软雅黑" panose="020B0503020204020204" charset="-122"/>
                <a:ea typeface="微软雅黑" panose="020B0503020204020204" charset="-122"/>
              </a:rPr>
              <a:t>使用常数值</a:t>
            </a:r>
          </a:p>
          <a:p>
            <a:pPr lvl="1">
              <a:buClr>
                <a:srgbClr val="0D0D0D"/>
              </a:buClr>
            </a:pPr>
            <a:r>
              <a:rPr lang="zh-CN" altLang="en-US" b="1" dirty="0" err="1">
                <a:latin typeface="微软雅黑" panose="020B0503020204020204" charset="-122"/>
                <a:ea typeface="微软雅黑" panose="020B0503020204020204" charset="-122"/>
                <a:cs typeface="Courier New" panose="02070309020205020404"/>
              </a:rPr>
              <a:t>用指令</a:t>
            </a:r>
            <a:r>
              <a:rPr lang="en-US" b="1" dirty="0" err="1">
                <a:latin typeface="微软雅黑" panose="020B0503020204020204" charset="-122"/>
                <a:ea typeface="微软雅黑" panose="020B0503020204020204" charset="-122"/>
                <a:cs typeface="Courier New" panose="02070309020205020404"/>
              </a:rPr>
              <a:t>xorpd</a:t>
            </a:r>
            <a:r>
              <a:rPr lang="en-US" b="1" dirty="0">
                <a:latin typeface="微软雅黑" panose="020B0503020204020204" charset="-122"/>
                <a:ea typeface="微软雅黑" panose="020B0503020204020204" charset="-122"/>
                <a:cs typeface="Courier New" panose="02070309020205020404"/>
              </a:rPr>
              <a:t> %xmm0, %xmm0</a:t>
            </a:r>
            <a:r>
              <a:rPr lang="zh-CN" altLang="en-US" b="1" dirty="0">
                <a:latin typeface="微软雅黑" panose="020B0503020204020204" charset="-122"/>
                <a:ea typeface="微软雅黑" panose="020B0503020204020204" charset="-122"/>
                <a:cs typeface="Courier New" panose="02070309020205020404"/>
              </a:rPr>
              <a:t>设置</a:t>
            </a:r>
            <a:r>
              <a:rPr lang="en-US" dirty="0">
                <a:latin typeface="微软雅黑" panose="020B0503020204020204" charset="-122"/>
                <a:ea typeface="微软雅黑" panose="020B0503020204020204" charset="-122"/>
                <a:sym typeface="+mn-ea"/>
              </a:rPr>
              <a:t>XMM0 </a:t>
            </a:r>
            <a:r>
              <a:rPr lang="zh-CN" altLang="en-US" dirty="0">
                <a:latin typeface="微软雅黑" panose="020B0503020204020204" charset="-122"/>
                <a:ea typeface="微软雅黑" panose="020B0503020204020204" charset="-122"/>
                <a:sym typeface="+mn-ea"/>
              </a:rPr>
              <a:t>寄存器为</a:t>
            </a:r>
            <a:r>
              <a:rPr lang="en-US" altLang="zh-CN" dirty="0">
                <a:latin typeface="微软雅黑" panose="020B0503020204020204" charset="-122"/>
                <a:ea typeface="微软雅黑" panose="020B0503020204020204" charset="-122"/>
                <a:sym typeface="+mn-ea"/>
              </a:rPr>
              <a:t>0</a:t>
            </a:r>
            <a:endParaRPr lang="en-US" b="1" dirty="0">
              <a:latin typeface="微软雅黑" panose="020B0503020204020204" charset="-122"/>
              <a:ea typeface="微软雅黑" panose="020B0503020204020204" charset="-122"/>
              <a:cs typeface="Courier New" panose="02070309020205020404"/>
            </a:endParaRPr>
          </a:p>
          <a:p>
            <a:pPr lvl="1">
              <a:buClr>
                <a:srgbClr val="0D0D0D"/>
              </a:buClr>
            </a:pPr>
            <a:r>
              <a:rPr lang="en-US" dirty="0">
                <a:latin typeface="微软雅黑" panose="020B0503020204020204" charset="-122"/>
                <a:ea typeface="微软雅黑" panose="020B0503020204020204" charset="-122"/>
              </a:rPr>
              <a:t>其他从内存加载</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 calcmode="lin" valueType="num">
                                      <p:cBhvr additive="base">
                                        <p:cTn id="7"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anim calcmode="lin" valueType="num">
                                      <p:cBhvr additive="base">
                                        <p:cTn id="13"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 calcmode="lin" valueType="num">
                                      <p:cBhvr additive="base">
                                        <p:cTn id="1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anim calcmode="lin" valueType="num">
                                      <p:cBhvr additive="base">
                                        <p:cTn id="23" dur="500" fill="hold"/>
                                        <p:tgtEl>
                                          <p:spTgt spid="8">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8">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xEl>
                                              <p:pRg st="7" end="7"/>
                                            </p:txEl>
                                          </p:spTgt>
                                        </p:tgtEl>
                                        <p:attrNameLst>
                                          <p:attrName>style.visibility</p:attrName>
                                        </p:attrNameLst>
                                      </p:cBhvr>
                                      <p:to>
                                        <p:strVal val="visible"/>
                                      </p:to>
                                    </p:set>
                                    <p:anim calcmode="lin" valueType="num">
                                      <p:cBhvr additive="base">
                                        <p:cTn id="27" dur="500" fill="hold"/>
                                        <p:tgtEl>
                                          <p:spTgt spid="8">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4340860"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定义和使用浮点常数</a:t>
            </a:r>
          </a:p>
        </p:txBody>
      </p:sp>
      <p:pic>
        <p:nvPicPr>
          <p:cNvPr id="2" name="图片 1"/>
          <p:cNvPicPr>
            <a:picLocks noChangeAspect="1"/>
          </p:cNvPicPr>
          <p:nvPr/>
        </p:nvPicPr>
        <p:blipFill>
          <a:blip r:embed="rId2"/>
          <a:stretch>
            <a:fillRect/>
          </a:stretch>
        </p:blipFill>
        <p:spPr>
          <a:xfrm>
            <a:off x="554990" y="1468120"/>
            <a:ext cx="4510405" cy="1539240"/>
          </a:xfrm>
          <a:prstGeom prst="rect">
            <a:avLst/>
          </a:prstGeom>
        </p:spPr>
      </p:pic>
      <p:pic>
        <p:nvPicPr>
          <p:cNvPr id="6" name="图片 5"/>
          <p:cNvPicPr>
            <a:picLocks noChangeAspect="1"/>
          </p:cNvPicPr>
          <p:nvPr/>
        </p:nvPicPr>
        <p:blipFill>
          <a:blip r:embed="rId3"/>
          <a:stretch>
            <a:fillRect/>
          </a:stretch>
        </p:blipFill>
        <p:spPr>
          <a:xfrm>
            <a:off x="554990" y="3192145"/>
            <a:ext cx="7257415" cy="3237865"/>
          </a:xfrm>
          <a:prstGeom prst="rect">
            <a:avLst/>
          </a:prstGeom>
        </p:spPr>
      </p:pic>
      <p:sp>
        <p:nvSpPr>
          <p:cNvPr id="10" name="下箭头 9"/>
          <p:cNvSpPr/>
          <p:nvPr/>
        </p:nvSpPr>
        <p:spPr>
          <a:xfrm>
            <a:off x="3622040" y="2526665"/>
            <a:ext cx="539115" cy="665480"/>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汇编</a:t>
            </a:r>
          </a:p>
        </p:txBody>
      </p:sp>
      <p:sp>
        <p:nvSpPr>
          <p:cNvPr id="11" name="文本框 10"/>
          <p:cNvSpPr txBox="1"/>
          <p:nvPr/>
        </p:nvSpPr>
        <p:spPr>
          <a:xfrm>
            <a:off x="5478145" y="512445"/>
            <a:ext cx="2934970" cy="2999740"/>
          </a:xfrm>
          <a:prstGeom prst="rect">
            <a:avLst/>
          </a:prstGeom>
          <a:noFill/>
        </p:spPr>
        <p:txBody>
          <a:bodyPr wrap="square" rtlCol="0">
            <a:spAutoFit/>
          </a:bodyPr>
          <a:lstStyle/>
          <a:p>
            <a:pPr marL="285750" indent="-285750" fontAlgn="auto">
              <a:lnSpc>
                <a:spcPct val="150000"/>
              </a:lnSpc>
              <a:buFont typeface="Wingdings" panose="05000000000000000000" charset="0"/>
              <a:buChar char=""/>
            </a:pPr>
            <a:r>
              <a:rPr lang="en-US" altLang="zh-CN"/>
              <a:t>AVX</a:t>
            </a:r>
            <a:r>
              <a:rPr lang="zh-CN" altLang="en-US"/>
              <a:t>浮点操作不能以立即数作为操作数。</a:t>
            </a:r>
          </a:p>
          <a:p>
            <a:pPr marL="285750" indent="-285750" fontAlgn="auto">
              <a:lnSpc>
                <a:spcPct val="150000"/>
              </a:lnSpc>
              <a:buFont typeface="Wingdings" panose="05000000000000000000" charset="0"/>
              <a:buChar char=""/>
            </a:pPr>
            <a:r>
              <a:rPr lang="zh-CN" altLang="en-US"/>
              <a:t>编译器必须为所有的参量值分配和初始化存储空间。</a:t>
            </a:r>
          </a:p>
          <a:p>
            <a:pPr marL="285750" indent="-285750" fontAlgn="auto">
              <a:lnSpc>
                <a:spcPct val="150000"/>
              </a:lnSpc>
              <a:buFont typeface="Wingdings" panose="05000000000000000000" charset="0"/>
              <a:buChar char=""/>
            </a:pPr>
            <a:r>
              <a:rPr lang="zh-CN" altLang="en-US"/>
              <a:t>代码把这些值从内存读入。</a:t>
            </a:r>
          </a:p>
        </p:txBody>
      </p:sp>
      <p:sp>
        <p:nvSpPr>
          <p:cNvPr id="12" name="矩形 11"/>
          <p:cNvSpPr/>
          <p:nvPr/>
        </p:nvSpPr>
        <p:spPr>
          <a:xfrm>
            <a:off x="384175" y="4777105"/>
            <a:ext cx="1802765" cy="2895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371475" y="5539105"/>
            <a:ext cx="1802765" cy="28956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additive="base">
                                        <p:cTn id="23" dur="500" fill="hold"/>
                                        <p:tgtEl>
                                          <p:spTgt spid="13"/>
                                        </p:tgtEl>
                                        <p:attrNameLst>
                                          <p:attrName>ppt_x</p:attrName>
                                        </p:attrNameLst>
                                      </p:cBhvr>
                                      <p:tavLst>
                                        <p:tav tm="0">
                                          <p:val>
                                            <p:strVal val="#ppt_x"/>
                                          </p:val>
                                        </p:tav>
                                        <p:tav tm="100000">
                                          <p:val>
                                            <p:strVal val="#ppt_x"/>
                                          </p:val>
                                        </p:tav>
                                      </p:tavLst>
                                    </p:anim>
                                    <p:anim calcmode="lin" valueType="num">
                                      <p:cBhvr additive="base">
                                        <p:cTn id="2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1">
                                            <p:txEl>
                                              <p:pRg st="0" end="0"/>
                                            </p:txEl>
                                          </p:spTgt>
                                        </p:tgtEl>
                                        <p:attrNameLst>
                                          <p:attrName>style.visibility</p:attrName>
                                        </p:attrNameLst>
                                      </p:cBhvr>
                                      <p:to>
                                        <p:strVal val="visible"/>
                                      </p:to>
                                    </p:set>
                                    <p:anim calcmode="lin" valueType="num">
                                      <p:cBhvr additive="base">
                                        <p:cTn id="29" dur="500" fill="hold"/>
                                        <p:tgtEl>
                                          <p:spTgt spid="11">
                                            <p:txEl>
                                              <p:pRg st="0" end="0"/>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1">
                                            <p:txEl>
                                              <p:pRg st="1" end="1"/>
                                            </p:txEl>
                                          </p:spTgt>
                                        </p:tgtEl>
                                        <p:attrNameLst>
                                          <p:attrName>style.visibility</p:attrName>
                                        </p:attrNameLst>
                                      </p:cBhvr>
                                      <p:to>
                                        <p:strVal val="visible"/>
                                      </p:to>
                                    </p:set>
                                    <p:anim calcmode="lin" valueType="num">
                                      <p:cBhvr additive="base">
                                        <p:cTn id="35" dur="500" fill="hold"/>
                                        <p:tgtEl>
                                          <p:spTgt spid="11">
                                            <p:txEl>
                                              <p:pRg st="1" end="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11">
                                            <p:txEl>
                                              <p:pRg st="2" end="2"/>
                                            </p:txEl>
                                          </p:spTgt>
                                        </p:tgtEl>
                                        <p:attrNameLst>
                                          <p:attrName>style.visibility</p:attrName>
                                        </p:attrNameLst>
                                      </p:cBhvr>
                                      <p:to>
                                        <p:strVal val="visible"/>
                                      </p:to>
                                    </p:set>
                                    <p:anim calcmode="lin" valueType="num">
                                      <p:cBhvr additive="base">
                                        <p:cTn id="41" dur="500" fill="hold"/>
                                        <p:tgtEl>
                                          <p:spTgt spid="11">
                                            <p:txEl>
                                              <p:pRg st="2" end="2"/>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2" grpId="0" animBg="1"/>
      <p:bldP spid="13" grpId="0" animBg="1"/>
    </p:bldLst>
  </p:timing>
</p:sld>
</file>

<file path=ppt/slides/slide2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543369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在浮点代码中使用位级操作</a:t>
            </a:r>
          </a:p>
        </p:txBody>
      </p:sp>
      <p:pic>
        <p:nvPicPr>
          <p:cNvPr id="7" name="图片 6"/>
          <p:cNvPicPr>
            <a:picLocks noChangeAspect="1"/>
          </p:cNvPicPr>
          <p:nvPr/>
        </p:nvPicPr>
        <p:blipFill>
          <a:blip r:embed="rId2"/>
          <a:stretch>
            <a:fillRect/>
          </a:stretch>
        </p:blipFill>
        <p:spPr>
          <a:xfrm>
            <a:off x="3810" y="1134110"/>
            <a:ext cx="9066530" cy="1114425"/>
          </a:xfrm>
          <a:prstGeom prst="rect">
            <a:avLst/>
          </a:prstGeom>
        </p:spPr>
      </p:pic>
      <p:sp>
        <p:nvSpPr>
          <p:cNvPr id="8" name="文本框 7"/>
          <p:cNvSpPr txBox="1"/>
          <p:nvPr/>
        </p:nvSpPr>
        <p:spPr>
          <a:xfrm>
            <a:off x="3171190" y="2248535"/>
            <a:ext cx="3343910" cy="368300"/>
          </a:xfrm>
          <a:prstGeom prst="rect">
            <a:avLst/>
          </a:prstGeom>
          <a:noFill/>
        </p:spPr>
        <p:txBody>
          <a:bodyPr wrap="square" rtlCol="0">
            <a:spAutoFit/>
          </a:bodyPr>
          <a:lstStyle/>
          <a:p>
            <a:r>
              <a:rPr lang="zh-CN" altLang="en-US"/>
              <a:t>对封装数据的位级操作</a:t>
            </a:r>
          </a:p>
        </p:txBody>
      </p:sp>
      <p:pic>
        <p:nvPicPr>
          <p:cNvPr id="9" name="图片 8"/>
          <p:cNvPicPr>
            <a:picLocks noChangeAspect="1"/>
          </p:cNvPicPr>
          <p:nvPr/>
        </p:nvPicPr>
        <p:blipFill>
          <a:blip r:embed="rId3"/>
          <a:stretch>
            <a:fillRect/>
          </a:stretch>
        </p:blipFill>
        <p:spPr>
          <a:xfrm>
            <a:off x="3810" y="3032760"/>
            <a:ext cx="4957445" cy="1214755"/>
          </a:xfrm>
          <a:prstGeom prst="rect">
            <a:avLst/>
          </a:prstGeom>
        </p:spPr>
      </p:pic>
      <p:pic>
        <p:nvPicPr>
          <p:cNvPr id="14" name="图片 13"/>
          <p:cNvPicPr>
            <a:picLocks noChangeAspect="1"/>
          </p:cNvPicPr>
          <p:nvPr/>
        </p:nvPicPr>
        <p:blipFill>
          <a:blip r:embed="rId4"/>
          <a:stretch>
            <a:fillRect/>
          </a:stretch>
        </p:blipFill>
        <p:spPr>
          <a:xfrm>
            <a:off x="5307965" y="2911475"/>
            <a:ext cx="3371215" cy="3904615"/>
          </a:xfrm>
          <a:prstGeom prst="rect">
            <a:avLst/>
          </a:prstGeom>
        </p:spPr>
      </p:pic>
      <p:sp>
        <p:nvSpPr>
          <p:cNvPr id="15" name="右箭头 14"/>
          <p:cNvSpPr/>
          <p:nvPr/>
        </p:nvSpPr>
        <p:spPr>
          <a:xfrm rot="1680000">
            <a:off x="3566795" y="4247515"/>
            <a:ext cx="1224280" cy="700405"/>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anim calcmode="lin" valueType="num">
                                      <p:cBhvr additive="base">
                                        <p:cTn id="13" dur="500" fill="hold"/>
                                        <p:tgtEl>
                                          <p:spTgt spid="15"/>
                                        </p:tgtEl>
                                        <p:attrNameLst>
                                          <p:attrName>ppt_x</p:attrName>
                                        </p:attrNameLst>
                                      </p:cBhvr>
                                      <p:tavLst>
                                        <p:tav tm="0">
                                          <p:val>
                                            <p:strVal val="#ppt_x"/>
                                          </p:val>
                                        </p:tav>
                                        <p:tav tm="100000">
                                          <p:val>
                                            <p:strVal val="#ppt_x"/>
                                          </p:val>
                                        </p:tav>
                                      </p:tavLst>
                                    </p:anim>
                                    <p:anim calcmode="lin" valueType="num">
                                      <p:cBhvr additive="base">
                                        <p:cTn id="14" dur="500" fill="hold"/>
                                        <p:tgtEl>
                                          <p:spTgt spid="15"/>
                                        </p:tgtEl>
                                        <p:attrNameLst>
                                          <p:attrName>ppt_y</p:attrName>
                                        </p:attrNameLst>
                                      </p:cBhvr>
                                      <p:tavLst>
                                        <p:tav tm="0">
                                          <p:val>
                                            <p:strVal val="1+#ppt_h/2"/>
                                          </p:val>
                                        </p:tav>
                                        <p:tav tm="100000">
                                          <p:val>
                                            <p:strVal val="#ppt_y"/>
                                          </p:val>
                                        </p:tav>
                                      </p:tavLst>
                                    </p:anim>
                                  </p:childTnLst>
                                </p:cTn>
                              </p:par>
                              <p:par>
                                <p:cTn id="15" presetID="4" presetClass="entr" presetSubtype="16"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box(in)">
                                      <p:cBhvr>
                                        <p:cTn id="17" dur="2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2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386778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浮点比较操作</a:t>
            </a:r>
          </a:p>
        </p:txBody>
      </p:sp>
      <p:pic>
        <p:nvPicPr>
          <p:cNvPr id="2" name="图片 1"/>
          <p:cNvPicPr>
            <a:picLocks noChangeAspect="1"/>
          </p:cNvPicPr>
          <p:nvPr/>
        </p:nvPicPr>
        <p:blipFill>
          <a:blip r:embed="rId2"/>
          <a:stretch>
            <a:fillRect/>
          </a:stretch>
        </p:blipFill>
        <p:spPr>
          <a:xfrm>
            <a:off x="12700" y="1151890"/>
            <a:ext cx="9133205" cy="1390650"/>
          </a:xfrm>
          <a:prstGeom prst="rect">
            <a:avLst/>
          </a:prstGeom>
        </p:spPr>
      </p:pic>
      <p:pic>
        <p:nvPicPr>
          <p:cNvPr id="6" name="图片 5"/>
          <p:cNvPicPr>
            <a:picLocks noChangeAspect="1"/>
          </p:cNvPicPr>
          <p:nvPr/>
        </p:nvPicPr>
        <p:blipFill>
          <a:blip r:embed="rId3"/>
          <a:stretch>
            <a:fillRect/>
          </a:stretch>
        </p:blipFill>
        <p:spPr>
          <a:xfrm>
            <a:off x="4765675" y="2542540"/>
            <a:ext cx="4209415" cy="1266825"/>
          </a:xfrm>
          <a:prstGeom prst="rect">
            <a:avLst/>
          </a:prstGeom>
        </p:spPr>
      </p:pic>
      <p:sp>
        <p:nvSpPr>
          <p:cNvPr id="10" name="文本框 9"/>
          <p:cNvSpPr txBox="1"/>
          <p:nvPr/>
        </p:nvSpPr>
        <p:spPr>
          <a:xfrm>
            <a:off x="274320" y="2618105"/>
            <a:ext cx="4081145" cy="3692525"/>
          </a:xfrm>
          <a:prstGeom prst="rect">
            <a:avLst/>
          </a:prstGeom>
          <a:noFill/>
        </p:spPr>
        <p:txBody>
          <a:bodyPr wrap="square" rtlCol="0">
            <a:spAutoFit/>
          </a:bodyPr>
          <a:lstStyle/>
          <a:p>
            <a:pPr marL="285750" indent="-285750">
              <a:buFont typeface="Wingdings" panose="05000000000000000000" charset="0"/>
              <a:buChar char=""/>
            </a:pPr>
            <a:r>
              <a:rPr lang="zh-CN" altLang="en-US"/>
              <a:t>浮点比较指令设置</a:t>
            </a:r>
            <a:r>
              <a:rPr lang="en-US" altLang="zh-CN"/>
              <a:t>3</a:t>
            </a:r>
            <a:r>
              <a:rPr lang="zh-CN" altLang="en-US"/>
              <a:t>个条件码。设置条件如右图所示：</a:t>
            </a:r>
          </a:p>
          <a:p>
            <a:pPr marL="285750" indent="-285750">
              <a:buFont typeface="Wingdings" panose="05000000000000000000" charset="0"/>
              <a:buChar char=""/>
            </a:pPr>
            <a:endParaRPr lang="zh-CN" altLang="en-US"/>
          </a:p>
          <a:p>
            <a:pPr marL="285750" indent="-285750">
              <a:buFont typeface="Wingdings" panose="05000000000000000000" charset="0"/>
              <a:buChar char=""/>
            </a:pPr>
            <a:r>
              <a:rPr lang="zh-CN" altLang="en-US"/>
              <a:t>当任一操作数为</a:t>
            </a:r>
            <a:r>
              <a:rPr lang="en-US" altLang="zh-CN"/>
              <a:t>NaN</a:t>
            </a:r>
            <a:r>
              <a:rPr lang="zh-CN" altLang="en-US"/>
              <a:t>时，就会出现无序的情况。可通过奇偶标志位发现这种情况。</a:t>
            </a:r>
          </a:p>
          <a:p>
            <a:pPr marL="285750" indent="-285750">
              <a:buFont typeface="Wingdings" panose="05000000000000000000" charset="0"/>
              <a:buChar char=""/>
            </a:pPr>
            <a:r>
              <a:rPr lang="zh-CN" altLang="en-US"/>
              <a:t>浮点比较得到一个无序的结果，</a:t>
            </a:r>
            <a:r>
              <a:rPr lang="en-US" altLang="zh-CN"/>
              <a:t>jp</a:t>
            </a:r>
            <a:r>
              <a:rPr lang="zh-CN" altLang="en-US"/>
              <a:t>跳转。</a:t>
            </a:r>
          </a:p>
          <a:p>
            <a:pPr marL="285750" indent="-285750">
              <a:buFont typeface="Wingdings" panose="05000000000000000000" charset="0"/>
              <a:buChar char=""/>
            </a:pPr>
            <a:r>
              <a:rPr lang="zh-CN" altLang="en-US"/>
              <a:t>进位和零标志位的值都和对应的无符号比较一样：当两个操作数相等时，设置</a:t>
            </a:r>
            <a:r>
              <a:rPr lang="en-US" altLang="zh-CN"/>
              <a:t>ZF</a:t>
            </a:r>
            <a:r>
              <a:rPr lang="zh-CN" altLang="en-US"/>
              <a:t>；当</a:t>
            </a:r>
            <a:r>
              <a:rPr lang="en-US" altLang="zh-CN"/>
              <a:t>S2&lt;S1</a:t>
            </a:r>
            <a:r>
              <a:rPr lang="zh-CN" altLang="en-US"/>
              <a:t>是，设置</a:t>
            </a:r>
            <a:r>
              <a:rPr lang="en-US" altLang="zh-CN"/>
              <a:t>CF</a:t>
            </a:r>
            <a:r>
              <a:rPr lang="zh-CN" altLang="en-US"/>
              <a:t>。</a:t>
            </a:r>
          </a:p>
          <a:p>
            <a:pPr marL="285750" indent="-285750">
              <a:buFont typeface="Wingdings" panose="05000000000000000000" charset="0"/>
              <a:buChar char=""/>
            </a:pPr>
            <a:r>
              <a:rPr lang="en-US" altLang="zh-CN"/>
              <a:t>ja</a:t>
            </a:r>
            <a:r>
              <a:rPr lang="zh-CN" altLang="en-US"/>
              <a:t>和</a:t>
            </a:r>
            <a:r>
              <a:rPr lang="en-US" altLang="zh-CN"/>
              <a:t>jb</a:t>
            </a:r>
            <a:r>
              <a:rPr lang="zh-CN" altLang="en-US"/>
              <a:t>根据标志位的各种组合进行条件跳转。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4" end="4"/>
                                            </p:txEl>
                                          </p:spTgt>
                                        </p:tgtEl>
                                        <p:attrNameLst>
                                          <p:attrName>style.visibility</p:attrName>
                                        </p:attrNameLst>
                                      </p:cBhvr>
                                      <p:to>
                                        <p:strVal val="visible"/>
                                      </p:to>
                                    </p:set>
                                    <p:anim calcmode="lin" valueType="num">
                                      <p:cBhvr additive="base">
                                        <p:cTn id="25"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anim calcmode="lin" valueType="num">
                                      <p:cBhvr additive="base">
                                        <p:cTn id="31"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矩形 2"/>
          <p:cNvSpPr/>
          <p:nvPr/>
        </p:nvSpPr>
        <p:spPr>
          <a:xfrm>
            <a:off x="0" y="-11758"/>
            <a:ext cx="1336040" cy="252730"/>
          </a:xfrm>
          <a:prstGeom prst="rect">
            <a:avLst/>
          </a:prstGeom>
        </p:spPr>
        <p:txBody>
          <a:bodyPr wrap="none">
            <a:spAutoFit/>
          </a:bodyPr>
          <a:lstStyle/>
          <a:p>
            <a:pPr algn="l"/>
            <a:r>
              <a:rPr lang="en-US" altLang="zh-CN" sz="1050" b="1" dirty="0"/>
              <a:t>PART SIX </a:t>
            </a:r>
            <a:r>
              <a:rPr lang="zh-CN" altLang="en-US" sz="1050" dirty="0">
                <a:latin typeface="+mn-ea"/>
                <a:cs typeface="+mn-ea"/>
                <a:sym typeface="+mn-ea"/>
              </a:rPr>
              <a:t>浮点代码</a:t>
            </a:r>
            <a:endParaRPr lang="zh-CN" altLang="en-US" sz="1050" b="1" dirty="0"/>
          </a:p>
        </p:txBody>
      </p:sp>
      <p:sp>
        <p:nvSpPr>
          <p:cNvPr id="4" name="椭圆 3"/>
          <p:cNvSpPr/>
          <p:nvPr/>
        </p:nvSpPr>
        <p:spPr>
          <a:xfrm>
            <a:off x="1366956" y="61155"/>
            <a:ext cx="98188" cy="85006"/>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3300"/>
          </a:p>
        </p:txBody>
      </p:sp>
      <p:sp>
        <p:nvSpPr>
          <p:cNvPr id="5" name="右箭头 4"/>
          <p:cNvSpPr/>
          <p:nvPr/>
        </p:nvSpPr>
        <p:spPr>
          <a:xfrm>
            <a:off x="3810" y="60960"/>
            <a:ext cx="3867785" cy="972820"/>
          </a:xfrm>
          <a:prstGeom prst="rightArrow">
            <a:avLst/>
          </a:prstGeom>
          <a:solidFill>
            <a:srgbClr val="E8691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ea typeface="+mj-ea"/>
                <a:sym typeface="+mn-ea"/>
              </a:rPr>
              <a:t>浮点比较操作</a:t>
            </a:r>
          </a:p>
        </p:txBody>
      </p:sp>
      <p:pic>
        <p:nvPicPr>
          <p:cNvPr id="7" name="图片 6"/>
          <p:cNvPicPr>
            <a:picLocks noChangeAspect="1"/>
          </p:cNvPicPr>
          <p:nvPr/>
        </p:nvPicPr>
        <p:blipFill>
          <a:blip r:embed="rId2"/>
          <a:stretch>
            <a:fillRect/>
          </a:stretch>
        </p:blipFill>
        <p:spPr>
          <a:xfrm>
            <a:off x="226695" y="1033780"/>
            <a:ext cx="4609465" cy="3685540"/>
          </a:xfrm>
          <a:prstGeom prst="rect">
            <a:avLst/>
          </a:prstGeom>
        </p:spPr>
      </p:pic>
      <p:pic>
        <p:nvPicPr>
          <p:cNvPr id="8" name="图片 7"/>
          <p:cNvPicPr>
            <a:picLocks noChangeAspect="1"/>
          </p:cNvPicPr>
          <p:nvPr/>
        </p:nvPicPr>
        <p:blipFill>
          <a:blip r:embed="rId3"/>
          <a:stretch>
            <a:fillRect/>
          </a:stretch>
        </p:blipFill>
        <p:spPr>
          <a:xfrm>
            <a:off x="2907665" y="2691765"/>
            <a:ext cx="6229350" cy="3983990"/>
          </a:xfrm>
          <a:prstGeom prst="rect">
            <a:avLst/>
          </a:prstGeom>
        </p:spPr>
      </p:pic>
      <p:sp>
        <p:nvSpPr>
          <p:cNvPr id="9" name="右箭头 8"/>
          <p:cNvSpPr/>
          <p:nvPr/>
        </p:nvSpPr>
        <p:spPr>
          <a:xfrm rot="1440000">
            <a:off x="1733550" y="4816475"/>
            <a:ext cx="1174115" cy="671195"/>
          </a:xfrm>
          <a:prstGeom prs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a:t>汇编</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4" presetClass="entr" presetSubtype="16"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ox(in)">
                                      <p:cBhvr>
                                        <p:cTn id="1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353820" y="2627558"/>
            <a:ext cx="6436360" cy="645160"/>
          </a:xfrm>
          <a:prstGeom prst="rect">
            <a:avLst/>
          </a:prstGeom>
        </p:spPr>
        <p:txBody>
          <a:bodyPr wrap="none">
            <a:spAutoFit/>
          </a:bodyPr>
          <a:lstStyle/>
          <a:p>
            <a:pPr algn="ctr"/>
            <a:r>
              <a:rPr lang="en-US" altLang="zh-CN" sz="3600" b="1" dirty="0"/>
              <a:t>THANK YOU FOR WATCHING</a:t>
            </a:r>
          </a:p>
        </p:txBody>
      </p:sp>
    </p:spTree>
  </p:cSld>
  <p:clrMapOvr>
    <a:masterClrMapping/>
  </p:clrMapOvr>
  <p:transition spd="slow">
    <p:push dir="u"/>
  </p:transition>
</p:sld>
</file>

<file path=ppt/theme/theme1.xml><?xml version="1.0" encoding="utf-8"?>
<a:theme xmlns:a="http://schemas.openxmlformats.org/drawingml/2006/main" name="清风素材 https://12sc.taobao.com">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6">
      <a:majorFont>
        <a:latin typeface="Segoe UI"/>
        <a:ea typeface="宋体"/>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清风素材 https://12sc.taobao.com/">
  <a:themeElements>
    <a:clrScheme name="自定义 75">
      <a:dk1>
        <a:srgbClr val="000000"/>
      </a:dk1>
      <a:lt1>
        <a:srgbClr val="FFFFFF"/>
      </a:lt1>
      <a:dk2>
        <a:srgbClr val="000000"/>
      </a:dk2>
      <a:lt2>
        <a:srgbClr val="FFFDFD"/>
      </a:lt2>
      <a:accent1>
        <a:srgbClr val="D078A5"/>
      </a:accent1>
      <a:accent2>
        <a:srgbClr val="7E4460"/>
      </a:accent2>
      <a:accent3>
        <a:srgbClr val="F3D06C"/>
      </a:accent3>
      <a:accent4>
        <a:srgbClr val="F4445A"/>
      </a:accent4>
      <a:accent5>
        <a:srgbClr val="E4DBCD"/>
      </a:accent5>
      <a:accent6>
        <a:srgbClr val="515151"/>
      </a:accent6>
      <a:hlink>
        <a:srgbClr val="0563C1"/>
      </a:hlink>
      <a:folHlink>
        <a:srgbClr val="954F72"/>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535</TotalTime>
  <Words>25973</Words>
  <Application>Microsoft Office PowerPoint</Application>
  <PresentationFormat>全屏显示(4:3)</PresentationFormat>
  <Paragraphs>5901</Paragraphs>
  <Slides>257</Slides>
  <Notes>11</Notes>
  <HiddenSlides>16</HiddenSlides>
  <MMClips>0</MMClips>
  <ScaleCrop>false</ScaleCrop>
  <HeadingPairs>
    <vt:vector size="8" baseType="variant">
      <vt:variant>
        <vt:lpstr>已用的字体</vt:lpstr>
      </vt:variant>
      <vt:variant>
        <vt:i4>27</vt:i4>
      </vt:variant>
      <vt:variant>
        <vt:lpstr>主题</vt:lpstr>
      </vt:variant>
      <vt:variant>
        <vt:i4>2</vt:i4>
      </vt:variant>
      <vt:variant>
        <vt:lpstr>嵌入 OLE 服务器</vt:lpstr>
      </vt:variant>
      <vt:variant>
        <vt:i4>1</vt:i4>
      </vt:variant>
      <vt:variant>
        <vt:lpstr>幻灯片标题</vt:lpstr>
      </vt:variant>
      <vt:variant>
        <vt:i4>257</vt:i4>
      </vt:variant>
    </vt:vector>
  </HeadingPairs>
  <TitlesOfParts>
    <vt:vector size="287" baseType="lpstr">
      <vt:lpstr>Courier</vt:lpstr>
      <vt:lpstr>Gill Sans</vt:lpstr>
      <vt:lpstr>StoneSans</vt:lpstr>
      <vt:lpstr>Watford DB</vt:lpstr>
      <vt:lpstr>ZztexMono-Italic</vt:lpstr>
      <vt:lpstr>ZztexMono-Regular</vt:lpstr>
      <vt:lpstr>黑体</vt:lpstr>
      <vt:lpstr>宋体</vt:lpstr>
      <vt:lpstr>微软雅黑</vt:lpstr>
      <vt:lpstr>Arial</vt:lpstr>
      <vt:lpstr>Arial Black</vt:lpstr>
      <vt:lpstr>Arial Narrow</vt:lpstr>
      <vt:lpstr>Arial Narrow Bold</vt:lpstr>
      <vt:lpstr>Calibri</vt:lpstr>
      <vt:lpstr>Calibri Bold</vt:lpstr>
      <vt:lpstr>Calibri Bold Italic</vt:lpstr>
      <vt:lpstr>Calibri Italic</vt:lpstr>
      <vt:lpstr>Century Gothic</vt:lpstr>
      <vt:lpstr>Courier New</vt:lpstr>
      <vt:lpstr>Courier New Bold</vt:lpstr>
      <vt:lpstr>Courier New Bold Italic</vt:lpstr>
      <vt:lpstr>Segoe UI</vt:lpstr>
      <vt:lpstr>Segoe UI Light</vt:lpstr>
      <vt:lpstr>Times</vt:lpstr>
      <vt:lpstr>Times New Roman</vt:lpstr>
      <vt:lpstr>Wingdings</vt:lpstr>
      <vt:lpstr>Wingdings 2</vt:lpstr>
      <vt:lpstr>清风素材 https://12sc.taobao.com</vt:lpstr>
      <vt:lpstr>清风素材 https://12sc.taobao.com/</vt:lpstr>
      <vt:lpstr>Worksheet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历史：IA-32保护模式下的寻址方式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例子: incr</vt:lpstr>
      <vt:lpstr>例子: 调用incr #1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寄存器保存习惯</vt:lpstr>
      <vt:lpstr>寄存器保存习惯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Senyi</Manager>
  <Company>szu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Senyi</dc:creator>
  <cp:lastModifiedBy>王锦鸿</cp:lastModifiedBy>
  <cp:revision>134</cp:revision>
  <dcterms:created xsi:type="dcterms:W3CDTF">2015-08-18T02:51:00Z</dcterms:created>
  <dcterms:modified xsi:type="dcterms:W3CDTF">2024-06-27T12:13:57Z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2052-10.1.0.7224</vt:lpwstr>
  </property>
</Properties>
</file>