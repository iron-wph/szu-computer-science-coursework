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6" r:id="rId1"/>
    <p:sldMasterId id="2147483680" r:id="rId2"/>
  </p:sldMasterIdLst>
  <p:notesMasterIdLst>
    <p:notesMasterId r:id="rId57"/>
  </p:notesMasterIdLst>
  <p:sldIdLst>
    <p:sldId id="318" r:id="rId3"/>
    <p:sldId id="257" r:id="rId4"/>
    <p:sldId id="311" r:id="rId5"/>
    <p:sldId id="312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</p:sldIdLst>
  <p:sldSz cx="9144000" cy="6858000" type="screen4x3"/>
  <p:notesSz cx="9144000" cy="6858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133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presProps" Target="presProps.xml"/><Relationship Id="rId5" Type="http://schemas.openxmlformats.org/officeDocument/2006/relationships/slide" Target="slides/slide3.xml"/><Relationship Id="rId61" Type="http://schemas.openxmlformats.org/officeDocument/2006/relationships/tableStyles" Target="tableStyles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viewProps" Target="view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BAAD67-5980-437B-8B70-F40621AFE14F}" type="datetimeFigureOut">
              <a:rPr lang="zh-CN" altLang="en-US" smtClean="0"/>
              <a:t>2024/6/28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1FF85A-4F35-487D-82C6-A10282DF95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17083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85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endParaRPr lang="en-US" altLang="zh-CN"/>
          </a:p>
        </p:txBody>
      </p:sp>
      <p:sp>
        <p:nvSpPr>
          <p:cNvPr id="10854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9pPr>
          </a:lstStyle>
          <a:p>
            <a:fld id="{3254ACBC-4265-4342-B7A4-FEA7391F64F0}" type="slidenum">
              <a:rPr lang="en-US" altLang="zh-CN" sz="1200" b="0" smtClean="0">
                <a:latin typeface="Times New Roman" pitchFamily="18" charset="0"/>
              </a:rPr>
              <a:pPr/>
              <a:t>3</a:t>
            </a:fld>
            <a:endParaRPr lang="en-US" altLang="zh-CN" sz="1200" b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Text Box 1"/>
          <p:cNvSpPr txBox="1">
            <a:spLocks noChangeArrowheads="1"/>
          </p:cNvSpPr>
          <p:nvPr/>
        </p:nvSpPr>
        <p:spPr bwMode="auto">
          <a:xfrm>
            <a:off x="1544542" y="518978"/>
            <a:ext cx="6054918" cy="256195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9pPr>
          </a:lstStyle>
          <a:p>
            <a:endParaRPr lang="en-US" altLang="zh-CN"/>
          </a:p>
        </p:txBody>
      </p:sp>
      <p:sp>
        <p:nvSpPr>
          <p:cNvPr id="111619" name="Rectangle 2"/>
          <p:cNvSpPr>
            <a:spLocks noGrp="1" noChangeArrowheads="1"/>
          </p:cNvSpPr>
          <p:nvPr>
            <p:ph type="body"/>
          </p:nvPr>
        </p:nvSpPr>
        <p:spPr>
          <a:xfrm>
            <a:off x="1220525" y="3258090"/>
            <a:ext cx="6704938" cy="308661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5088" tIns="47544" rIns="95088" bIns="47544" anchor="ctr">
            <a:prstTxWarp prst="textNoShape">
              <a:avLst/>
            </a:prstTxWarp>
          </a:bodyPr>
          <a:lstStyle/>
          <a:p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708012"/>
            <a:ext cx="7772400" cy="1470025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886200"/>
            <a:ext cx="7677492" cy="1752600"/>
          </a:xfrm>
        </p:spPr>
        <p:txBody>
          <a:bodyPr/>
          <a:lstStyle>
            <a:lvl1pPr marL="0" indent="0" algn="l">
              <a:buNone/>
              <a:defRPr sz="2000" b="0">
                <a:latin typeface="Calibri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968959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018" y="435678"/>
            <a:ext cx="7592093" cy="76200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085196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latin typeface="Calibri" pitchFamily="34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50455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8175" y="1362075"/>
            <a:ext cx="3871913" cy="4972050"/>
          </a:xfrm>
        </p:spPr>
        <p:txBody>
          <a:bodyPr/>
          <a:lstStyle>
            <a:lvl1pPr>
              <a:defRPr sz="2800">
                <a:latin typeface="Calibri" pitchFamily="34" charset="0"/>
              </a:defRPr>
            </a:lvl1pPr>
            <a:lvl2pPr>
              <a:defRPr sz="2400">
                <a:latin typeface="Calibri" pitchFamily="34" charset="0"/>
              </a:defRPr>
            </a:lvl2pPr>
            <a:lvl3pPr>
              <a:defRPr sz="2000">
                <a:latin typeface="Calibri" pitchFamily="34" charset="0"/>
              </a:defRPr>
            </a:lvl3pPr>
            <a:lvl4pPr>
              <a:defRPr sz="1800">
                <a:latin typeface="Calibri" pitchFamily="34" charset="0"/>
              </a:defRPr>
            </a:lvl4pPr>
            <a:lvl5pPr>
              <a:defRPr sz="1800">
                <a:latin typeface="Calibri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2488" y="1362075"/>
            <a:ext cx="3871912" cy="4972050"/>
          </a:xfrm>
        </p:spPr>
        <p:txBody>
          <a:bodyPr/>
          <a:lstStyle>
            <a:lvl1pPr>
              <a:defRPr sz="2800">
                <a:latin typeface="Calibri" pitchFamily="34" charset="0"/>
              </a:defRPr>
            </a:lvl1pPr>
            <a:lvl2pPr>
              <a:defRPr sz="2400">
                <a:latin typeface="Calibri" pitchFamily="34" charset="0"/>
              </a:defRPr>
            </a:lvl2pPr>
            <a:lvl3pPr>
              <a:defRPr sz="2000">
                <a:latin typeface="Calibri" pitchFamily="34" charset="0"/>
              </a:defRPr>
            </a:lvl3pPr>
            <a:lvl4pPr>
              <a:defRPr sz="1800">
                <a:latin typeface="Calibri" pitchFamily="34" charset="0"/>
              </a:defRPr>
            </a:lvl4pPr>
            <a:lvl5pPr>
              <a:defRPr sz="1800">
                <a:latin typeface="Calibri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19840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latin typeface="Calibri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>
                <a:latin typeface="Calibri" pitchFamily="34" charset="0"/>
              </a:defRPr>
            </a:lvl1pPr>
            <a:lvl2pPr>
              <a:defRPr sz="2000">
                <a:latin typeface="Calibri" pitchFamily="34" charset="0"/>
              </a:defRPr>
            </a:lvl2pPr>
            <a:lvl3pPr>
              <a:defRPr sz="1800">
                <a:latin typeface="Calibri" pitchFamily="34" charset="0"/>
              </a:defRPr>
            </a:lvl3pPr>
            <a:lvl4pPr>
              <a:defRPr sz="1600">
                <a:latin typeface="Calibri" pitchFamily="34" charset="0"/>
              </a:defRPr>
            </a:lvl4pPr>
            <a:lvl5pPr>
              <a:defRPr sz="1600">
                <a:latin typeface="Calibri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latin typeface="Calibri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>
                <a:latin typeface="Calibri" pitchFamily="34" charset="0"/>
              </a:defRPr>
            </a:lvl1pPr>
            <a:lvl2pPr>
              <a:defRPr sz="2000">
                <a:latin typeface="Calibri" pitchFamily="34" charset="0"/>
              </a:defRPr>
            </a:lvl2pPr>
            <a:lvl3pPr>
              <a:defRPr sz="1800">
                <a:latin typeface="Calibri" pitchFamily="34" charset="0"/>
              </a:defRPr>
            </a:lvl3pPr>
            <a:lvl4pPr>
              <a:defRPr sz="1600">
                <a:latin typeface="Calibri" pitchFamily="34" charset="0"/>
              </a:defRPr>
            </a:lvl4pPr>
            <a:lvl5pPr>
              <a:defRPr sz="1600">
                <a:latin typeface="Calibri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47860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762" y="445070"/>
            <a:ext cx="7591425" cy="76200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25423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4296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latin typeface="Calibri" pitchFamily="34" charset="0"/>
              </a:defRPr>
            </a:lvl1pPr>
            <a:lvl2pPr>
              <a:defRPr sz="2800">
                <a:latin typeface="Calibri" pitchFamily="34" charset="0"/>
              </a:defRPr>
            </a:lvl2pPr>
            <a:lvl3pPr>
              <a:defRPr sz="2400">
                <a:latin typeface="Calibri" pitchFamily="34" charset="0"/>
              </a:defRPr>
            </a:lvl3pPr>
            <a:lvl4pPr>
              <a:defRPr sz="2000">
                <a:latin typeface="Calibri" pitchFamily="34" charset="0"/>
              </a:defRPr>
            </a:lvl4pPr>
            <a:lvl5pPr>
              <a:defRPr sz="2000">
                <a:latin typeface="Calibri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>
                <a:latin typeface="Calibri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34628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>
                <a:latin typeface="Calibri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>
                <a:latin typeface="Calibri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924040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219781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58013" y="228600"/>
            <a:ext cx="2185987" cy="6105525"/>
          </a:xfrm>
        </p:spPr>
        <p:txBody>
          <a:bodyPr vert="eaVert"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96875" y="228600"/>
            <a:ext cx="6408738" cy="6105525"/>
          </a:xfrm>
        </p:spPr>
        <p:txBody>
          <a:bodyPr vert="eaVert"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283713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875" y="228600"/>
            <a:ext cx="8747125" cy="76200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8175" y="1362075"/>
            <a:ext cx="3871913" cy="497205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62488" y="1362075"/>
            <a:ext cx="3871912" cy="2409825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62488" y="3924300"/>
            <a:ext cx="3871912" cy="2409825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446358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875" y="228600"/>
            <a:ext cx="8747125" cy="76200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38175" y="1362075"/>
            <a:ext cx="3871913" cy="497205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2488" y="1362075"/>
            <a:ext cx="3871912" cy="497205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93738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35299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50"/>
            <a:ext cx="9152483" cy="6851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4091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50"/>
            <a:ext cx="9152483" cy="6851650"/>
          </a:xfrm>
          <a:prstGeom prst="rect">
            <a:avLst/>
          </a:prstGeom>
        </p:spPr>
      </p:pic>
      <p:sp>
        <p:nvSpPr>
          <p:cNvPr id="3" name="等腰三角形 2"/>
          <p:cNvSpPr/>
          <p:nvPr userDrawn="1"/>
        </p:nvSpPr>
        <p:spPr>
          <a:xfrm>
            <a:off x="8483" y="2805698"/>
            <a:ext cx="9144000" cy="4052303"/>
          </a:xfrm>
          <a:prstGeom prst="triangle">
            <a:avLst>
              <a:gd name="adj" fmla="val 100000"/>
            </a:avLst>
          </a:prstGeom>
          <a:solidFill>
            <a:schemeClr val="accent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ea typeface="微软雅黑" panose="020B0503020204020204" pitchFamily="34" charset="-122"/>
            </a:endParaRPr>
          </a:p>
        </p:txBody>
      </p:sp>
      <p:sp>
        <p:nvSpPr>
          <p:cNvPr id="4" name="等腰三角形 3"/>
          <p:cNvSpPr/>
          <p:nvPr userDrawn="1"/>
        </p:nvSpPr>
        <p:spPr>
          <a:xfrm>
            <a:off x="0" y="1"/>
            <a:ext cx="9144000" cy="6857999"/>
          </a:xfrm>
          <a:prstGeom prst="triangle">
            <a:avLst>
              <a:gd name="adj" fmla="val 0"/>
            </a:avLst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972175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标题幻灯片">
    <p:bg>
      <p:bgPr>
        <a:solidFill>
          <a:schemeClr val="accent2">
            <a:lumMod val="50000"/>
            <a:alpha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等腰三角形 1"/>
          <p:cNvSpPr/>
          <p:nvPr userDrawn="1"/>
        </p:nvSpPr>
        <p:spPr>
          <a:xfrm>
            <a:off x="8483" y="2805698"/>
            <a:ext cx="9144000" cy="4052303"/>
          </a:xfrm>
          <a:prstGeom prst="triangle">
            <a:avLst>
              <a:gd name="adj" fmla="val 100000"/>
            </a:avLst>
          </a:prstGeom>
          <a:solidFill>
            <a:schemeClr val="accent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ea typeface="微软雅黑" panose="020B0503020204020204" pitchFamily="34" charset="-122"/>
            </a:endParaRPr>
          </a:p>
        </p:txBody>
      </p:sp>
      <p:sp>
        <p:nvSpPr>
          <p:cNvPr id="3" name="等腰三角形 2"/>
          <p:cNvSpPr/>
          <p:nvPr userDrawn="1"/>
        </p:nvSpPr>
        <p:spPr>
          <a:xfrm>
            <a:off x="0" y="1"/>
            <a:ext cx="9144000" cy="6857999"/>
          </a:xfrm>
          <a:prstGeom prst="triangle">
            <a:avLst>
              <a:gd name="adj" fmla="val 0"/>
            </a:avLst>
          </a:prstGeom>
          <a:solidFill>
            <a:schemeClr val="accent2">
              <a:lumMod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2575876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标题幻灯片">
    <p:bg>
      <p:bgPr>
        <a:pattFill prst="dotGrid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0" y="133741"/>
            <a:ext cx="9144000" cy="597160"/>
          </a:xfrm>
          <a:prstGeom prst="rect">
            <a:avLst/>
          </a:prstGeom>
          <a:solidFill>
            <a:schemeClr val="accent2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0" dirty="0"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 userDrawn="1"/>
        </p:nvSpPr>
        <p:spPr>
          <a:xfrm>
            <a:off x="0" y="6120883"/>
            <a:ext cx="9144000" cy="597160"/>
          </a:xfrm>
          <a:prstGeom prst="rect">
            <a:avLst/>
          </a:prstGeom>
          <a:solidFill>
            <a:schemeClr val="accent2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0" dirty="0"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2813422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标题幻灯片">
    <p:bg>
      <p:bgPr>
        <a:pattFill prst="dotGrid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1" y="133741"/>
            <a:ext cx="312821" cy="597160"/>
          </a:xfrm>
          <a:prstGeom prst="rect">
            <a:avLst/>
          </a:prstGeom>
          <a:solidFill>
            <a:schemeClr val="accent2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0" dirty="0"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 userDrawn="1"/>
        </p:nvSpPr>
        <p:spPr>
          <a:xfrm>
            <a:off x="445168" y="133741"/>
            <a:ext cx="8698832" cy="597160"/>
          </a:xfrm>
          <a:prstGeom prst="rect">
            <a:avLst/>
          </a:prstGeom>
          <a:solidFill>
            <a:schemeClr val="bg1">
              <a:alpha val="85098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0" dirty="0"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139673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  <a:t>2024/6/28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99592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74650" y="371475"/>
            <a:ext cx="7591425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96875" y="1362075"/>
            <a:ext cx="7896225" cy="4972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1028" name="Rectangle 8"/>
          <p:cNvSpPr>
            <a:spLocks noChangeArrowheads="1"/>
          </p:cNvSpPr>
          <p:nvPr/>
        </p:nvSpPr>
        <p:spPr bwMode="auto">
          <a:xfrm>
            <a:off x="0" y="0"/>
            <a:ext cx="9144000" cy="228600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txBody>
          <a:bodyPr wrap="none" anchor="ctr"/>
          <a:lstStyle>
            <a:lvl1pPr eaLnBrk="0" hangingPunct="0"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 b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29" name="Text Box 5"/>
          <p:cNvSpPr txBox="1">
            <a:spLocks noChangeArrowheads="1"/>
          </p:cNvSpPr>
          <p:nvPr/>
        </p:nvSpPr>
        <p:spPr bwMode="auto">
          <a:xfrm>
            <a:off x="7270750" y="-26988"/>
            <a:ext cx="1936750" cy="276226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200" dirty="0">
                <a:solidFill>
                  <a:srgbClr val="FFFFFF"/>
                </a:solidFill>
                <a:latin typeface="Times New Roman" pitchFamily="18" charset="0"/>
                <a:ea typeface="宋体" pitchFamily="2" charset="-122"/>
              </a:rPr>
              <a:t>Shenzhen University</a:t>
            </a:r>
          </a:p>
        </p:txBody>
      </p:sp>
      <p:sp>
        <p:nvSpPr>
          <p:cNvPr id="1030" name="Rectangle 5"/>
          <p:cNvSpPr>
            <a:spLocks noChangeArrowheads="1"/>
          </p:cNvSpPr>
          <p:nvPr/>
        </p:nvSpPr>
        <p:spPr bwMode="auto">
          <a:xfrm>
            <a:off x="8831263" y="6611938"/>
            <a:ext cx="312737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E3DE8C20-FF95-4B18-90DC-C6B5F890F76A}" type="slidenum">
              <a:rPr lang="en-US" altLang="zh-CN" sz="1000" b="1">
                <a:solidFill>
                  <a:srgbClr val="000000"/>
                </a:solidFill>
                <a:ea typeface="ＭＳ Ｐゴシック" pitchFamily="34" charset="-128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 sz="1000" b="1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1031" name="TextBox 8"/>
          <p:cNvSpPr txBox="1">
            <a:spLocks noChangeArrowheads="1"/>
          </p:cNvSpPr>
          <p:nvPr/>
        </p:nvSpPr>
        <p:spPr bwMode="auto">
          <a:xfrm>
            <a:off x="-15875" y="6629400"/>
            <a:ext cx="4649788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000" b="0">
                <a:solidFill>
                  <a:srgbClr val="000000"/>
                </a:solidFill>
                <a:latin typeface="Calibri" pitchFamily="34" charset="0"/>
                <a:ea typeface="宋体" pitchFamily="2" charset="-122"/>
              </a:rPr>
              <a:t>Bryant and O’Hallaron, Computer Systems: A Programmer’s Perspective, Third Edition</a:t>
            </a:r>
          </a:p>
        </p:txBody>
      </p:sp>
    </p:spTree>
    <p:extLst>
      <p:ext uri="{BB962C8B-B14F-4D97-AF65-F5344CB8AC3E}">
        <p14:creationId xmlns:p14="http://schemas.microsoft.com/office/powerpoint/2010/main" val="2047104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</p:sldLayoutIdLst>
  <p:txStyles>
    <p:titleStyle>
      <a:lvl1pPr marL="119063" indent="-119063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itchFamily="34" charset="0"/>
          <a:ea typeface="+mj-ea"/>
          <a:cs typeface="+mj-cs"/>
        </a:defRPr>
      </a:lvl1pPr>
      <a:lvl2pPr marL="119063" indent="-119063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itchFamily="34" charset="0"/>
        </a:defRPr>
      </a:lvl2pPr>
      <a:lvl3pPr marL="119063" indent="-119063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itchFamily="34" charset="0"/>
        </a:defRPr>
      </a:lvl3pPr>
      <a:lvl4pPr marL="119063" indent="-119063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itchFamily="34" charset="0"/>
        </a:defRPr>
      </a:lvl4pPr>
      <a:lvl5pPr marL="119063" indent="-119063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itchFamily="34" charset="0"/>
        </a:defRPr>
      </a:lvl5pPr>
      <a:lvl6pPr marL="57658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6pPr>
      <a:lvl7pPr marL="103378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7pPr>
      <a:lvl8pPr marL="149098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8pPr>
      <a:lvl9pPr marL="194818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990000"/>
        </a:buClr>
        <a:buSzPct val="60000"/>
        <a:buFont typeface="Wingdings 2" pitchFamily="18" charset="2"/>
        <a:buChar char="¢"/>
        <a:defRPr sz="2400" b="1">
          <a:solidFill>
            <a:schemeClr val="tx1"/>
          </a:solidFill>
          <a:latin typeface="Calibri" pitchFamily="34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990000"/>
        </a:buClr>
        <a:buSzPct val="110000"/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SzPct val="80000"/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Calibri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Calibri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0313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7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38.png"/><Relationship Id="rId18" Type="http://schemas.openxmlformats.org/officeDocument/2006/relationships/image" Target="../media/image4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12" Type="http://schemas.openxmlformats.org/officeDocument/2006/relationships/image" Target="../media/image37.png"/><Relationship Id="rId17" Type="http://schemas.openxmlformats.org/officeDocument/2006/relationships/image" Target="../media/image42.png"/><Relationship Id="rId2" Type="http://schemas.openxmlformats.org/officeDocument/2006/relationships/image" Target="../media/image27.png"/><Relationship Id="rId16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5" Type="http://schemas.openxmlformats.org/officeDocument/2006/relationships/image" Target="../media/image40.png"/><Relationship Id="rId10" Type="http://schemas.openxmlformats.org/officeDocument/2006/relationships/image" Target="../media/image35.png"/><Relationship Id="rId19" Type="http://schemas.openxmlformats.org/officeDocument/2006/relationships/image" Target="../media/image44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Relationship Id="rId14" Type="http://schemas.openxmlformats.org/officeDocument/2006/relationships/image" Target="../media/image39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622616" y="1386595"/>
            <a:ext cx="38779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685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7E4460">
                    <a:lumMod val="50000"/>
                  </a:srgbClr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计算机与软件学院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-23227" y="2069909"/>
            <a:ext cx="9167227" cy="923330"/>
          </a:xfrm>
          <a:prstGeom prst="rect">
            <a:avLst/>
          </a:prstGeom>
          <a:solidFill>
            <a:schemeClr val="accent2">
              <a:alpha val="9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400" b="1" i="0" u="none" strike="noStrike" kern="1200" cap="none" spc="0" normalizeH="0" baseline="0" noProof="0" dirty="0">
                <a:ln>
                  <a:noFill/>
                </a:ln>
                <a:solidFill>
                  <a:srgbClr val="2B2E30"/>
                </a:solidFill>
                <a:effectLst/>
                <a:uLnTx/>
                <a:uFillTx/>
                <a:latin typeface="Century Gothic"/>
                <a:ea typeface="宋体" panose="02010600030101010101" pitchFamily="2" charset="-122"/>
                <a:cs typeface="+mn-cs"/>
                <a:sym typeface="+mn-ea"/>
              </a:rPr>
              <a:t>Chapter 6-2.</a:t>
            </a:r>
            <a:r>
              <a: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2B2E30"/>
                </a:solidFill>
                <a:effectLst/>
                <a:uLnTx/>
                <a:uFillTx/>
                <a:latin typeface="Century Gothic"/>
                <a:ea typeface="宋体" panose="02010600030101010101" pitchFamily="2" charset="-122"/>
                <a:cs typeface="+mn-cs"/>
                <a:sym typeface="+mn-ea"/>
              </a:rPr>
              <a:t>高速缓存存储器</a:t>
            </a:r>
            <a:endParaRPr kumimoji="0" lang="en-US" altLang="zh-CN" sz="5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122753" y="2993239"/>
            <a:ext cx="2877711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685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100" b="1" i="0" u="none" strike="noStrike" kern="1200" cap="none" spc="0" normalizeH="0" baseline="0" noProof="0" dirty="0">
                <a:ln>
                  <a:noFill/>
                </a:ln>
                <a:solidFill>
                  <a:srgbClr val="7E4460">
                    <a:lumMod val="50000"/>
                  </a:srgbClr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《</a:t>
            </a:r>
            <a:r>
              <a:rPr kumimoji="1" lang="zh-CN" alt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7E4460">
                    <a:lumMod val="50000"/>
                  </a:srgbClr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计算机系统（二）</a:t>
            </a:r>
            <a:r>
              <a:rPr kumimoji="1" lang="en-US" altLang="zh-CN" sz="2100" b="1" i="0" u="none" strike="noStrike" kern="1200" cap="none" spc="0" normalizeH="0" baseline="0" noProof="0" dirty="0">
                <a:ln>
                  <a:noFill/>
                </a:ln>
                <a:solidFill>
                  <a:srgbClr val="7E4460">
                    <a:lumMod val="50000"/>
                  </a:srgbClr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微软雅黑" panose="020B0503020204020204" pitchFamily="34" charset="-122"/>
              </a:rPr>
              <a:t>》</a:t>
            </a:r>
            <a:endParaRPr kumimoji="1" lang="zh-CN" altLang="en-US" sz="2100" b="1" i="0" u="none" strike="noStrike" kern="1200" cap="none" spc="0" normalizeH="0" baseline="0" noProof="0" dirty="0">
              <a:ln>
                <a:noFill/>
              </a:ln>
              <a:solidFill>
                <a:srgbClr val="7E4460">
                  <a:lumMod val="50000"/>
                </a:srgbClr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57018" y="394767"/>
            <a:ext cx="7592093" cy="843822"/>
          </a:xfrm>
          <a:prstGeom prst="rect">
            <a:avLst/>
          </a:prstGeom>
        </p:spPr>
        <p:txBody>
          <a:bodyPr vert="horz" wrap="square" lIns="0" tIns="287021" rIns="0" bIns="0" rtlCol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lang="zh-CN" altLang="en-US" dirty="0">
                <a:ea typeface="宋体" pitchFamily="2" charset="-122"/>
              </a:rPr>
              <a:t>高速缓存存储器</a:t>
            </a:r>
            <a:endParaRPr spc="-5" dirty="0"/>
          </a:p>
        </p:txBody>
      </p:sp>
      <p:sp>
        <p:nvSpPr>
          <p:cNvPr id="4" name="object 4"/>
          <p:cNvSpPr txBox="1"/>
          <p:nvPr/>
        </p:nvSpPr>
        <p:spPr>
          <a:xfrm>
            <a:off x="475615" y="1464183"/>
            <a:ext cx="5775325" cy="19312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990000"/>
              </a:buClr>
              <a:buSzPct val="60416"/>
              <a:buFont typeface="Wingdings 2"/>
              <a:buChar char=""/>
              <a:tabLst>
                <a:tab pos="355600" algn="l"/>
              </a:tabLst>
            </a:pPr>
            <a:r>
              <a:rPr lang="zh-CN" altLang="en-US" sz="2400" b="1" dirty="0">
                <a:latin typeface="Calibri"/>
                <a:cs typeface="Calibri"/>
              </a:rPr>
              <a:t>高速缓存的结构和操作</a:t>
            </a:r>
            <a:endParaRPr sz="24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Clr>
                <a:srgbClr val="990000"/>
              </a:buClr>
              <a:buSzPct val="60416"/>
              <a:buFont typeface="Wingdings 2"/>
              <a:buChar char=""/>
              <a:tabLst>
                <a:tab pos="355600" algn="l"/>
              </a:tabLst>
            </a:pPr>
            <a:r>
              <a:rPr lang="zh-CN" altLang="en-US" sz="2400" b="1" dirty="0">
                <a:solidFill>
                  <a:srgbClr val="C0C0C0"/>
                </a:solidFill>
                <a:latin typeface="Calibri"/>
                <a:cs typeface="Calibri"/>
              </a:rPr>
              <a:t>高速缓存对性能的影响</a:t>
            </a:r>
            <a:endParaRPr sz="2400" dirty="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505"/>
              </a:spcBef>
              <a:buClr>
                <a:srgbClr val="990000"/>
              </a:buClr>
              <a:buSzPct val="110000"/>
              <a:buFont typeface="Wingdings"/>
              <a:buChar char=""/>
              <a:tabLst>
                <a:tab pos="756920" algn="l"/>
              </a:tabLst>
            </a:pPr>
            <a:r>
              <a:rPr lang="zh-CN" altLang="en-US" sz="2000" spc="-5" dirty="0">
                <a:solidFill>
                  <a:srgbClr val="C0C0C0"/>
                </a:solidFill>
                <a:latin typeface="Calibri"/>
                <a:cs typeface="Calibri"/>
              </a:rPr>
              <a:t>存储器山</a:t>
            </a:r>
            <a:endParaRPr sz="2000" dirty="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lr>
                <a:srgbClr val="990000"/>
              </a:buClr>
              <a:buSzPct val="110000"/>
              <a:buFont typeface="Wingdings"/>
              <a:buChar char=""/>
              <a:tabLst>
                <a:tab pos="756920" algn="l"/>
              </a:tabLst>
            </a:pPr>
            <a:r>
              <a:rPr lang="zh-CN" altLang="en-US" sz="2000" spc="-5" dirty="0">
                <a:solidFill>
                  <a:srgbClr val="C0C0C0"/>
                </a:solidFill>
                <a:latin typeface="Calibri"/>
                <a:cs typeface="Calibri"/>
              </a:rPr>
              <a:t>重新排列循环以提高空间局部性</a:t>
            </a:r>
            <a:endParaRPr sz="2000" dirty="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lr>
                <a:srgbClr val="990000"/>
              </a:buClr>
              <a:buSzPct val="110000"/>
              <a:buFont typeface="Wingdings"/>
              <a:buChar char=""/>
              <a:tabLst>
                <a:tab pos="756920" algn="l"/>
              </a:tabLst>
            </a:pPr>
            <a:r>
              <a:rPr lang="zh-CN" altLang="en-US" sz="2000" spc="-5" dirty="0">
                <a:solidFill>
                  <a:srgbClr val="C0C0C0"/>
                </a:solidFill>
                <a:latin typeface="Calibri"/>
                <a:cs typeface="Calibri"/>
              </a:rPr>
              <a:t>使用分块以提高时间局部性</a:t>
            </a:r>
            <a:endParaRPr sz="2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tle 1"/>
          <p:cNvSpPr>
            <a:spLocks noGrp="1"/>
          </p:cNvSpPr>
          <p:nvPr>
            <p:ph type="title"/>
          </p:nvPr>
        </p:nvSpPr>
        <p:spPr>
          <a:xfrm>
            <a:off x="357188" y="434975"/>
            <a:ext cx="8177212" cy="762000"/>
          </a:xfrm>
        </p:spPr>
        <p:txBody>
          <a:bodyPr/>
          <a:lstStyle/>
          <a:p>
            <a:pPr eaLnBrk="1" hangingPunct="1"/>
            <a:r>
              <a:rPr lang="zh-CN" altLang="en-US">
                <a:ea typeface="宋体" pitchFamily="2" charset="-122"/>
              </a:rPr>
              <a:t>局部性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defTabSz="0" eaLnBrk="1" hangingPunct="1">
              <a:tabLst>
                <a:tab pos="384175" algn="l"/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zh-CN" altLang="en-US">
                <a:solidFill>
                  <a:srgbClr val="C00000"/>
                </a:solidFill>
                <a:ea typeface="宋体" pitchFamily="2" charset="-122"/>
              </a:rPr>
              <a:t>局部性原理</a:t>
            </a:r>
            <a:r>
              <a:rPr lang="en-US" altLang="zh-CN">
                <a:solidFill>
                  <a:srgbClr val="C00000"/>
                </a:solidFill>
                <a:ea typeface="宋体" pitchFamily="2" charset="-122"/>
              </a:rPr>
              <a:t>:</a:t>
            </a:r>
            <a:r>
              <a:rPr lang="en-US" altLang="zh-CN">
                <a:ea typeface="宋体" pitchFamily="2" charset="-122"/>
              </a:rPr>
              <a:t> </a:t>
            </a:r>
            <a:r>
              <a:rPr lang="zh-CN" altLang="en-US">
                <a:ea typeface="宋体" pitchFamily="2" charset="-122"/>
              </a:rPr>
              <a:t>程序倾向于使用最近一段时间，距离其较近地址的数据和指令。</a:t>
            </a:r>
            <a:endParaRPr lang="en-GB" altLang="zh-CN">
              <a:ea typeface="宋体" pitchFamily="2" charset="-122"/>
            </a:endParaRPr>
          </a:p>
          <a:p>
            <a:pPr defTabSz="0" eaLnBrk="1" hangingPunct="1">
              <a:tabLst>
                <a:tab pos="384175" algn="l"/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 altLang="zh-CN">
              <a:solidFill>
                <a:srgbClr val="C00000"/>
              </a:solidFill>
              <a:ea typeface="宋体" pitchFamily="2" charset="-122"/>
            </a:endParaRPr>
          </a:p>
          <a:p>
            <a:pPr defTabSz="0" eaLnBrk="1" hangingPunct="1">
              <a:tabLst>
                <a:tab pos="384175" algn="l"/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zh-CN" altLang="en-GB">
                <a:solidFill>
                  <a:srgbClr val="C00000"/>
                </a:solidFill>
                <a:ea typeface="宋体" pitchFamily="2" charset="-122"/>
              </a:rPr>
              <a:t>时间局部性</a:t>
            </a:r>
            <a:r>
              <a:rPr lang="en-GB" altLang="zh-CN">
                <a:solidFill>
                  <a:srgbClr val="C00000"/>
                </a:solidFill>
                <a:ea typeface="宋体" pitchFamily="2" charset="-122"/>
              </a:rPr>
              <a:t>:  </a:t>
            </a:r>
          </a:p>
          <a:p>
            <a:pPr lvl="1" defTabSz="0" eaLnBrk="1" hangingPunct="1">
              <a:tabLst>
                <a:tab pos="384175" algn="l"/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zh-CN" altLang="en-GB">
                <a:ea typeface="宋体" pitchFamily="2" charset="-122"/>
              </a:rPr>
              <a:t>最近被访问的数据或指令</a:t>
            </a:r>
          </a:p>
          <a:p>
            <a:pPr lvl="1" defTabSz="0" eaLnBrk="1" hangingPunct="1">
              <a:buFont typeface="Wingdings" pitchFamily="2" charset="2"/>
              <a:buNone/>
              <a:tabLst>
                <a:tab pos="384175" algn="l"/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zh-CN" altLang="en-GB">
                <a:ea typeface="宋体" pitchFamily="2" charset="-122"/>
              </a:rPr>
              <a:t>在未来可能还会被访问</a:t>
            </a:r>
          </a:p>
          <a:p>
            <a:pPr defTabSz="0" eaLnBrk="1" hangingPunct="1">
              <a:tabLst>
                <a:tab pos="384175" algn="l"/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 altLang="zh-CN">
              <a:solidFill>
                <a:srgbClr val="C00000"/>
              </a:solidFill>
              <a:ea typeface="宋体" pitchFamily="2" charset="-122"/>
            </a:endParaRPr>
          </a:p>
          <a:p>
            <a:pPr defTabSz="0" eaLnBrk="1" hangingPunct="1">
              <a:tabLst>
                <a:tab pos="384175" algn="l"/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zh-CN" altLang="en-GB">
                <a:solidFill>
                  <a:srgbClr val="C00000"/>
                </a:solidFill>
                <a:ea typeface="宋体" pitchFamily="2" charset="-122"/>
              </a:rPr>
              <a:t>空间局部性</a:t>
            </a:r>
            <a:r>
              <a:rPr lang="en-GB" altLang="zh-CN">
                <a:solidFill>
                  <a:srgbClr val="C00000"/>
                </a:solidFill>
                <a:ea typeface="宋体" pitchFamily="2" charset="-122"/>
              </a:rPr>
              <a:t>:  </a:t>
            </a:r>
          </a:p>
          <a:p>
            <a:pPr lvl="1" defTabSz="0" eaLnBrk="1" hangingPunct="1">
              <a:tabLst>
                <a:tab pos="384175" algn="l"/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zh-CN" altLang="en-GB">
                <a:ea typeface="宋体" pitchFamily="2" charset="-122"/>
              </a:rPr>
              <a:t>当前访问地址附近的区域在不久</a:t>
            </a:r>
          </a:p>
          <a:p>
            <a:pPr lvl="1" defTabSz="0" eaLnBrk="1" hangingPunct="1">
              <a:buFont typeface="Wingdings" pitchFamily="2" charset="2"/>
              <a:buNone/>
              <a:tabLst>
                <a:tab pos="384175" algn="l"/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zh-CN" altLang="en-GB">
                <a:ea typeface="宋体" pitchFamily="2" charset="-122"/>
              </a:rPr>
              <a:t>还有可能被访问</a:t>
            </a:r>
          </a:p>
          <a:p>
            <a:pPr defTabSz="0" eaLnBrk="1" hangingPunct="1">
              <a:buFont typeface="Wingdings 2" pitchFamily="18" charset="2"/>
              <a:buNone/>
              <a:tabLst>
                <a:tab pos="384175" algn="l"/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zh-CN" altLang="en-US">
              <a:ea typeface="宋体" pitchFamily="2" charset="-122"/>
            </a:endParaRPr>
          </a:p>
          <a:p>
            <a:pPr defTabSz="0" eaLnBrk="1" hangingPunct="1">
              <a:tabLst>
                <a:tab pos="384175" algn="l"/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US" altLang="zh-CN">
              <a:ea typeface="宋体" pitchFamily="2" charset="-122"/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6096000" y="3124200"/>
            <a:ext cx="1905000" cy="304800"/>
          </a:xfrm>
          <a:prstGeom prst="rect">
            <a:avLst/>
          </a:prstGeom>
          <a:solidFill>
            <a:schemeClr val="bg1"/>
          </a:solidFill>
          <a:ln w="28575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anchor="ctr" anchorCtr="1"/>
          <a:lstStyle/>
          <a:p>
            <a:pPr algn="ctr"/>
            <a:endParaRPr lang="en-US" altLang="zh-CN" sz="1800">
              <a:latin typeface="Calibri" pitchFamily="34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6489700" y="3124200"/>
            <a:ext cx="381000" cy="304800"/>
          </a:xfrm>
          <a:prstGeom prst="rect">
            <a:avLst/>
          </a:prstGeom>
          <a:solidFill>
            <a:srgbClr val="FF9999"/>
          </a:solidFill>
          <a:ln w="28575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anchor="ctr" anchorCtr="1"/>
          <a:lstStyle/>
          <a:p>
            <a:pPr algn="ctr"/>
            <a:endParaRPr lang="en-US" altLang="zh-CN" sz="1800">
              <a:latin typeface="Calibri" pitchFamily="34" charset="0"/>
            </a:endParaRPr>
          </a:p>
        </p:txBody>
      </p:sp>
      <p:sp>
        <p:nvSpPr>
          <p:cNvPr id="6" name="Freeform 5"/>
          <p:cNvSpPr>
            <a:spLocks/>
          </p:cNvSpPr>
          <p:nvPr/>
        </p:nvSpPr>
        <p:spPr bwMode="auto">
          <a:xfrm>
            <a:off x="6319838" y="2614613"/>
            <a:ext cx="627062" cy="433387"/>
          </a:xfrm>
          <a:custGeom>
            <a:avLst/>
            <a:gdLst>
              <a:gd name="T0" fmla="*/ 286887 w 627844"/>
              <a:gd name="T1" fmla="*/ 431372 h 433589"/>
              <a:gd name="T2" fmla="*/ 45522 w 627844"/>
              <a:gd name="T3" fmla="*/ 72606 h 433589"/>
              <a:gd name="T4" fmla="*/ 560014 w 627844"/>
              <a:gd name="T5" fmla="*/ 59793 h 433589"/>
              <a:gd name="T6" fmla="*/ 401218 w 627844"/>
              <a:gd name="T7" fmla="*/ 431372 h 433589"/>
              <a:gd name="T8" fmla="*/ 0 60000 65536"/>
              <a:gd name="T9" fmla="*/ 0 60000 65536"/>
              <a:gd name="T10" fmla="*/ 0 60000 65536"/>
              <a:gd name="T11" fmla="*/ 0 60000 65536"/>
              <a:gd name="T12" fmla="*/ 0 w 627844"/>
              <a:gd name="T13" fmla="*/ 0 h 433589"/>
              <a:gd name="T14" fmla="*/ 627844 w 627844"/>
              <a:gd name="T15" fmla="*/ 433589 h 43358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27844" h="433589">
                <a:moveTo>
                  <a:pt x="290847" y="433589"/>
                </a:moveTo>
                <a:cubicBezTo>
                  <a:pt x="145423" y="284408"/>
                  <a:pt x="0" y="135228"/>
                  <a:pt x="46149" y="72980"/>
                </a:cubicBezTo>
                <a:cubicBezTo>
                  <a:pt x="92298" y="10732"/>
                  <a:pt x="507642" y="0"/>
                  <a:pt x="567743" y="60101"/>
                </a:cubicBezTo>
                <a:cubicBezTo>
                  <a:pt x="627844" y="120202"/>
                  <a:pt x="517300" y="276895"/>
                  <a:pt x="406757" y="433589"/>
                </a:cubicBezTo>
              </a:path>
            </a:pathLst>
          </a:cu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6102350" y="4616450"/>
            <a:ext cx="1905000" cy="304800"/>
          </a:xfrm>
          <a:prstGeom prst="rect">
            <a:avLst/>
          </a:prstGeom>
          <a:solidFill>
            <a:schemeClr val="bg1"/>
          </a:solidFill>
          <a:ln w="28575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anchor="ctr" anchorCtr="1"/>
          <a:lstStyle/>
          <a:p>
            <a:pPr algn="ctr"/>
            <a:endParaRPr lang="en-US" altLang="zh-CN" sz="1800">
              <a:latin typeface="Calibri" pitchFamily="34" charset="0"/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6496050" y="4616450"/>
            <a:ext cx="381000" cy="304800"/>
          </a:xfrm>
          <a:prstGeom prst="rect">
            <a:avLst/>
          </a:prstGeom>
          <a:solidFill>
            <a:srgbClr val="FF9999"/>
          </a:solidFill>
          <a:ln w="28575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anchor="ctr" anchorCtr="1"/>
          <a:lstStyle/>
          <a:p>
            <a:pPr algn="ctr"/>
            <a:endParaRPr lang="en-US" altLang="zh-CN" sz="1800">
              <a:latin typeface="Calibri" pitchFamily="34" charset="0"/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6870700" y="4616450"/>
            <a:ext cx="381000" cy="304800"/>
          </a:xfrm>
          <a:prstGeom prst="rect">
            <a:avLst/>
          </a:prstGeom>
          <a:solidFill>
            <a:srgbClr val="FF9999"/>
          </a:solidFill>
          <a:ln w="28575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anchor="ctr" anchorCtr="1"/>
          <a:lstStyle/>
          <a:p>
            <a:pPr algn="ctr"/>
            <a:endParaRPr lang="en-US" altLang="zh-CN" sz="1800">
              <a:latin typeface="Calibri" pitchFamily="34" charset="0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>
            <a:off x="6416675" y="4186238"/>
            <a:ext cx="841375" cy="360362"/>
          </a:xfrm>
          <a:custGeom>
            <a:avLst/>
            <a:gdLst>
              <a:gd name="T0" fmla="*/ 200574 w 841420"/>
              <a:gd name="T1" fmla="*/ 362132 h 359535"/>
              <a:gd name="T2" fmla="*/ 91170 w 841420"/>
              <a:gd name="T3" fmla="*/ 58337 h 359535"/>
              <a:gd name="T4" fmla="*/ 747608 w 841420"/>
              <a:gd name="T5" fmla="*/ 51733 h 359535"/>
              <a:gd name="T6" fmla="*/ 651071 w 841420"/>
              <a:gd name="T7" fmla="*/ 368737 h 359535"/>
              <a:gd name="T8" fmla="*/ 0 60000 65536"/>
              <a:gd name="T9" fmla="*/ 0 60000 65536"/>
              <a:gd name="T10" fmla="*/ 0 60000 65536"/>
              <a:gd name="T11" fmla="*/ 0 60000 65536"/>
              <a:gd name="T12" fmla="*/ 0 w 841420"/>
              <a:gd name="T13" fmla="*/ 0 h 359535"/>
              <a:gd name="T14" fmla="*/ 841420 w 841420"/>
              <a:gd name="T15" fmla="*/ 359535 h 35953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41420" h="359535">
                <a:moveTo>
                  <a:pt x="200695" y="353095"/>
                </a:moveTo>
                <a:cubicBezTo>
                  <a:pt x="100347" y="230209"/>
                  <a:pt x="0" y="107323"/>
                  <a:pt x="91225" y="56881"/>
                </a:cubicBezTo>
                <a:cubicBezTo>
                  <a:pt x="182450" y="6439"/>
                  <a:pt x="654676" y="0"/>
                  <a:pt x="748048" y="50442"/>
                </a:cubicBezTo>
                <a:cubicBezTo>
                  <a:pt x="841420" y="100884"/>
                  <a:pt x="746438" y="230209"/>
                  <a:pt x="651456" y="359535"/>
                </a:cubicBezTo>
              </a:path>
            </a:pathLst>
          </a:cu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1169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10" grpId="0" animBg="1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1"/>
          <p:cNvSpPr>
            <a:spLocks noGrp="1" noChangeArrowheads="1"/>
          </p:cNvSpPr>
          <p:nvPr>
            <p:ph type="title"/>
          </p:nvPr>
        </p:nvSpPr>
        <p:spPr>
          <a:xfrm>
            <a:off x="61913" y="247650"/>
            <a:ext cx="8716962" cy="782638"/>
          </a:xfrm>
        </p:spPr>
        <p:txBody>
          <a:bodyPr>
            <a:normAutofit fontScale="90000"/>
          </a:bodyPr>
          <a:lstStyle/>
          <a:p>
            <a:pPr marL="119380" indent="-119380" defTabSz="-635" eaLnBrk="1" hangingPunct="1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zh-CN" altLang="en-GB" dirty="0">
                <a:latin typeface="Arial"/>
                <a:ea typeface="宋体" charset="0"/>
                <a:cs typeface="Arial"/>
              </a:rPr>
              <a:t>存储器</a:t>
            </a:r>
            <a:br>
              <a:rPr lang="zh-CN" altLang="en-GB" dirty="0">
                <a:latin typeface="Arial"/>
                <a:ea typeface="宋体" charset="0"/>
                <a:cs typeface="Arial"/>
              </a:rPr>
            </a:br>
            <a:r>
              <a:rPr lang="zh-CN" altLang="en-GB" dirty="0">
                <a:latin typeface="Arial"/>
                <a:ea typeface="宋体" charset="0"/>
                <a:cs typeface="Arial"/>
              </a:rPr>
              <a:t>层次结构举例</a:t>
            </a:r>
          </a:p>
        </p:txBody>
      </p:sp>
      <p:sp>
        <p:nvSpPr>
          <p:cNvPr id="151" name="AutoShape 195"/>
          <p:cNvSpPr>
            <a:spLocks noChangeAspect="1" noChangeArrowheads="1"/>
          </p:cNvSpPr>
          <p:nvPr/>
        </p:nvSpPr>
        <p:spPr bwMode="auto">
          <a:xfrm>
            <a:off x="552450" y="342900"/>
            <a:ext cx="6902450" cy="6456363"/>
          </a:xfrm>
          <a:prstGeom prst="triangle">
            <a:avLst>
              <a:gd name="adj" fmla="val 50000"/>
            </a:avLst>
          </a:prstGeom>
          <a:gradFill flip="none" rotWithShape="1">
            <a:gsLst>
              <a:gs pos="0">
                <a:schemeClr val="accent6">
                  <a:lumMod val="20000"/>
                  <a:lumOff val="80000"/>
                  <a:alpha val="7000"/>
                </a:schemeClr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16140000" scaled="0"/>
            <a:tileRect/>
          </a:gradFill>
          <a:ln w="12700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en-US" altLang="zh-CN" sz="1800" b="0">
              <a:solidFill>
                <a:srgbClr val="0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52" name="Text Box 196"/>
          <p:cNvSpPr txBox="1">
            <a:spLocks noChangeAspect="1" noChangeArrowheads="1"/>
          </p:cNvSpPr>
          <p:nvPr/>
        </p:nvSpPr>
        <p:spPr bwMode="auto">
          <a:xfrm>
            <a:off x="3621088" y="836613"/>
            <a:ext cx="869950" cy="36512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>
            <a:spAutoFit/>
          </a:bodyPr>
          <a:lstStyle/>
          <a:p>
            <a:pPr algn="ctr" ea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800" b="0" kern="0" dirty="0">
                <a:solidFill>
                  <a:sysClr val="windowText" lastClr="000000"/>
                </a:solidFill>
                <a:latin typeface="Arial"/>
                <a:ea typeface="宋体" charset="0"/>
                <a:cs typeface="Arial"/>
              </a:rPr>
              <a:t>寄存器</a:t>
            </a:r>
          </a:p>
        </p:txBody>
      </p:sp>
      <p:sp>
        <p:nvSpPr>
          <p:cNvPr id="153" name="Text Box 198"/>
          <p:cNvSpPr txBox="1">
            <a:spLocks noChangeAspect="1" noChangeArrowheads="1"/>
          </p:cNvSpPr>
          <p:nvPr/>
        </p:nvSpPr>
        <p:spPr bwMode="auto">
          <a:xfrm>
            <a:off x="3379788" y="1285875"/>
            <a:ext cx="1352550" cy="64135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>
            <a:spAutoFit/>
          </a:bodyPr>
          <a:lstStyle/>
          <a:p>
            <a:pPr algn="ctr" ea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b="0" kern="0">
                <a:solidFill>
                  <a:sysClr val="windowText" lastClr="000000"/>
                </a:solidFill>
                <a:latin typeface="Arial"/>
                <a:ea typeface="+mn-ea"/>
                <a:cs typeface="Arial"/>
              </a:rPr>
              <a:t>L1</a:t>
            </a:r>
            <a:r>
              <a:rPr lang="zh-CN" altLang="en-US" sz="1800" b="0" kern="0">
                <a:solidFill>
                  <a:sysClr val="windowText" lastClr="000000"/>
                </a:solidFill>
                <a:latin typeface="Arial"/>
                <a:ea typeface="宋体" charset="0"/>
                <a:cs typeface="Arial"/>
              </a:rPr>
              <a:t>高速缓存</a:t>
            </a:r>
          </a:p>
          <a:p>
            <a:pPr algn="ctr" ea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b="0" kern="0">
                <a:solidFill>
                  <a:sysClr val="windowText" lastClr="000000"/>
                </a:solidFill>
                <a:latin typeface="Arial"/>
                <a:ea typeface="+mn-ea"/>
                <a:cs typeface="Arial"/>
              </a:rPr>
              <a:t>(SRAM)</a:t>
            </a:r>
          </a:p>
        </p:txBody>
      </p:sp>
      <p:sp>
        <p:nvSpPr>
          <p:cNvPr id="154" name="Text Box 199"/>
          <p:cNvSpPr txBox="1">
            <a:spLocks noChangeAspect="1" noChangeArrowheads="1"/>
          </p:cNvSpPr>
          <p:nvPr/>
        </p:nvSpPr>
        <p:spPr bwMode="auto">
          <a:xfrm>
            <a:off x="3551238" y="3824288"/>
            <a:ext cx="1009650" cy="64135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>
            <a:spAutoFit/>
          </a:bodyPr>
          <a:lstStyle/>
          <a:p>
            <a:pPr algn="ctr" ea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800" b="0" kern="0" dirty="0">
                <a:solidFill>
                  <a:sysClr val="windowText" lastClr="000000"/>
                </a:solidFill>
                <a:latin typeface="Arial"/>
                <a:ea typeface="宋体" charset="0"/>
                <a:cs typeface="Arial"/>
              </a:rPr>
              <a:t>主存</a:t>
            </a:r>
          </a:p>
          <a:p>
            <a:pPr algn="ctr" ea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b="0" kern="0" dirty="0">
                <a:solidFill>
                  <a:sysClr val="windowText" lastClr="000000"/>
                </a:solidFill>
                <a:latin typeface="Arial"/>
                <a:ea typeface="+mn-ea"/>
                <a:cs typeface="Arial"/>
              </a:rPr>
              <a:t>(DRAM)</a:t>
            </a:r>
          </a:p>
        </p:txBody>
      </p:sp>
      <p:sp>
        <p:nvSpPr>
          <p:cNvPr id="58375" name="Text Box 200"/>
          <p:cNvSpPr txBox="1">
            <a:spLocks noChangeAspect="1" noChangeArrowheads="1"/>
          </p:cNvSpPr>
          <p:nvPr/>
        </p:nvSpPr>
        <p:spPr bwMode="auto">
          <a:xfrm>
            <a:off x="3278188" y="4849813"/>
            <a:ext cx="15557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zh-CN" altLang="en-US" sz="1800" b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本地二级存储</a:t>
            </a:r>
          </a:p>
          <a:p>
            <a:pPr algn="ctr" eaLnBrk="1" hangingPunct="1"/>
            <a:r>
              <a:rPr lang="en-US" altLang="zh-CN" sz="1800" b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(</a:t>
            </a:r>
            <a:r>
              <a:rPr lang="zh-CN" altLang="en-US" sz="1800" b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本地磁盘</a:t>
            </a:r>
            <a:r>
              <a:rPr lang="en-US" altLang="zh-CN" sz="1800" b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)</a:t>
            </a:r>
          </a:p>
        </p:txBody>
      </p:sp>
      <p:sp>
        <p:nvSpPr>
          <p:cNvPr id="156" name="Line 203"/>
          <p:cNvSpPr>
            <a:spLocks noChangeAspect="1" noChangeShapeType="1"/>
          </p:cNvSpPr>
          <p:nvPr/>
        </p:nvSpPr>
        <p:spPr bwMode="auto">
          <a:xfrm>
            <a:off x="3513138" y="1265238"/>
            <a:ext cx="98107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</a:ln>
          <a:effectLst/>
        </p:spPr>
        <p:txBody>
          <a:bodyPr wrap="none" anchor="ctr"/>
          <a:lstStyle/>
          <a:p>
            <a:pPr ea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800" b="0" kern="0">
              <a:solidFill>
                <a:sysClr val="windowText" lastClr="000000"/>
              </a:solidFill>
              <a:latin typeface="Arial"/>
              <a:ea typeface="+mn-ea"/>
              <a:cs typeface="Arial"/>
            </a:endParaRPr>
          </a:p>
        </p:txBody>
      </p:sp>
      <p:sp>
        <p:nvSpPr>
          <p:cNvPr id="157" name="Line 204"/>
          <p:cNvSpPr>
            <a:spLocks noChangeAspect="1" noChangeShapeType="1"/>
          </p:cNvSpPr>
          <p:nvPr/>
        </p:nvSpPr>
        <p:spPr bwMode="auto">
          <a:xfrm>
            <a:off x="3162300" y="1903413"/>
            <a:ext cx="1671638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</a:ln>
          <a:effectLst/>
        </p:spPr>
        <p:txBody>
          <a:bodyPr wrap="none" anchor="ctr"/>
          <a:lstStyle/>
          <a:p>
            <a:pPr ea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800" b="0" kern="0">
              <a:solidFill>
                <a:sysClr val="windowText" lastClr="000000"/>
              </a:solidFill>
              <a:latin typeface="Arial"/>
              <a:ea typeface="+mn-ea"/>
              <a:cs typeface="Arial"/>
            </a:endParaRPr>
          </a:p>
        </p:txBody>
      </p:sp>
      <p:sp>
        <p:nvSpPr>
          <p:cNvPr id="158" name="Line 205"/>
          <p:cNvSpPr>
            <a:spLocks noChangeAspect="1" noChangeShapeType="1"/>
          </p:cNvSpPr>
          <p:nvPr/>
        </p:nvSpPr>
        <p:spPr bwMode="auto">
          <a:xfrm>
            <a:off x="2779713" y="2655888"/>
            <a:ext cx="24479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</a:ln>
          <a:effectLst/>
        </p:spPr>
        <p:txBody>
          <a:bodyPr wrap="none" anchor="ctr"/>
          <a:lstStyle/>
          <a:p>
            <a:pPr ea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800" b="0" kern="0">
              <a:solidFill>
                <a:sysClr val="windowText" lastClr="000000"/>
              </a:solidFill>
              <a:latin typeface="Arial"/>
              <a:ea typeface="+mn-ea"/>
              <a:cs typeface="Arial"/>
            </a:endParaRPr>
          </a:p>
        </p:txBody>
      </p:sp>
      <p:sp>
        <p:nvSpPr>
          <p:cNvPr id="159" name="Line 222"/>
          <p:cNvSpPr>
            <a:spLocks noChangeAspect="1" noChangeShapeType="1"/>
          </p:cNvSpPr>
          <p:nvPr/>
        </p:nvSpPr>
        <p:spPr bwMode="auto">
          <a:xfrm>
            <a:off x="76200" y="3473450"/>
            <a:ext cx="0" cy="2344738"/>
          </a:xfrm>
          <a:prstGeom prst="line">
            <a:avLst/>
          </a:prstGeom>
          <a:noFill/>
          <a:ln w="38100">
            <a:solidFill>
              <a:schemeClr val="accent6">
                <a:lumMod val="75000"/>
              </a:schemeClr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pPr ea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800" b="0" kern="0">
              <a:solidFill>
                <a:sysClr val="windowText" lastClr="000000"/>
              </a:solidFill>
              <a:latin typeface="Arial"/>
              <a:ea typeface="+mn-ea"/>
              <a:cs typeface="Arial"/>
            </a:endParaRPr>
          </a:p>
        </p:txBody>
      </p:sp>
      <p:sp>
        <p:nvSpPr>
          <p:cNvPr id="58380" name="Text Box 223"/>
          <p:cNvSpPr txBox="1">
            <a:spLocks noChangeAspect="1" noChangeArrowheads="1"/>
          </p:cNvSpPr>
          <p:nvPr/>
        </p:nvSpPr>
        <p:spPr bwMode="auto">
          <a:xfrm>
            <a:off x="130175" y="3838575"/>
            <a:ext cx="995363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1600" b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更大</a:t>
            </a:r>
            <a:r>
              <a:rPr lang="en-US" altLang="zh-CN" sz="1600" b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,  </a:t>
            </a:r>
          </a:p>
          <a:p>
            <a:pPr eaLnBrk="1" hangingPunct="1"/>
            <a:r>
              <a:rPr lang="zh-CN" altLang="en-US" sz="1600" b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更慢</a:t>
            </a:r>
            <a:r>
              <a:rPr lang="en-US" altLang="zh-CN" sz="1600" b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, </a:t>
            </a:r>
          </a:p>
          <a:p>
            <a:pPr eaLnBrk="1" hangingPunct="1"/>
            <a:r>
              <a:rPr lang="zh-CN" altLang="en-US" sz="1600" b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更廉价 </a:t>
            </a:r>
          </a:p>
          <a:p>
            <a:pPr eaLnBrk="1" hangingPunct="1"/>
            <a:r>
              <a:rPr lang="en-US" altLang="zh-CN" sz="1600" b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(</a:t>
            </a:r>
            <a:r>
              <a:rPr lang="zh-CN" altLang="en-US" sz="1600" b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每字节</a:t>
            </a:r>
            <a:r>
              <a:rPr lang="en-US" altLang="zh-CN" sz="1600" b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)</a:t>
            </a:r>
          </a:p>
          <a:p>
            <a:pPr eaLnBrk="1" hangingPunct="1"/>
            <a:r>
              <a:rPr lang="zh-CN" altLang="en-US" sz="1600" b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的存储器</a:t>
            </a:r>
          </a:p>
        </p:txBody>
      </p:sp>
      <p:sp>
        <p:nvSpPr>
          <p:cNvPr id="161" name="Line 224"/>
          <p:cNvSpPr>
            <a:spLocks noChangeAspect="1" noChangeShapeType="1"/>
          </p:cNvSpPr>
          <p:nvPr/>
        </p:nvSpPr>
        <p:spPr bwMode="auto">
          <a:xfrm>
            <a:off x="2255838" y="3586163"/>
            <a:ext cx="3475037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</a:ln>
          <a:effectLst/>
        </p:spPr>
        <p:txBody>
          <a:bodyPr wrap="none" anchor="ctr"/>
          <a:lstStyle/>
          <a:p>
            <a:pPr ea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800" b="0" kern="0">
              <a:solidFill>
                <a:sysClr val="windowText" lastClr="000000"/>
              </a:solidFill>
              <a:latin typeface="Arial"/>
              <a:ea typeface="+mn-ea"/>
              <a:cs typeface="Arial"/>
            </a:endParaRPr>
          </a:p>
        </p:txBody>
      </p:sp>
      <p:sp>
        <p:nvSpPr>
          <p:cNvPr id="58382" name="Text Box 225"/>
          <p:cNvSpPr txBox="1">
            <a:spLocks noChangeAspect="1" noChangeArrowheads="1"/>
          </p:cNvSpPr>
          <p:nvPr/>
        </p:nvSpPr>
        <p:spPr bwMode="auto">
          <a:xfrm>
            <a:off x="2395538" y="5949950"/>
            <a:ext cx="33210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zh-CN" altLang="en-US" sz="1800" b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远程二级存储</a:t>
            </a:r>
          </a:p>
          <a:p>
            <a:pPr algn="ctr" eaLnBrk="1" hangingPunct="1"/>
            <a:r>
              <a:rPr lang="en-US" altLang="zh-CN" sz="1800" b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(</a:t>
            </a:r>
            <a:r>
              <a:rPr lang="zh-CN" altLang="en-US" sz="1800" b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分布式文件系统、</a:t>
            </a:r>
            <a:r>
              <a:rPr lang="en-US" altLang="zh-CN" sz="1800" b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Web</a:t>
            </a:r>
            <a:r>
              <a:rPr lang="zh-CN" altLang="en-US" sz="1800" b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服务器</a:t>
            </a:r>
            <a:r>
              <a:rPr lang="en-US" altLang="zh-CN" sz="1800" b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)</a:t>
            </a:r>
          </a:p>
        </p:txBody>
      </p:sp>
      <p:sp>
        <p:nvSpPr>
          <p:cNvPr id="165" name="Text Box 227"/>
          <p:cNvSpPr txBox="1">
            <a:spLocks noChangeAspect="1" noChangeArrowheads="1"/>
          </p:cNvSpPr>
          <p:nvPr/>
        </p:nvSpPr>
        <p:spPr bwMode="auto">
          <a:xfrm>
            <a:off x="7073900" y="5378450"/>
            <a:ext cx="2062163" cy="731838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>
            <a:spAutoFit/>
          </a:bodyPr>
          <a:lstStyle/>
          <a:p>
            <a:pPr ea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kern="0" dirty="0">
                <a:solidFill>
                  <a:srgbClr val="FF0000"/>
                </a:solidFill>
                <a:latin typeface="Arial"/>
                <a:ea typeface="宋体" charset="0"/>
                <a:cs typeface="Arial"/>
              </a:rPr>
              <a:t>本地磁盘保存着从远程网络服务器磁盘上取出的文件</a:t>
            </a:r>
          </a:p>
        </p:txBody>
      </p:sp>
      <p:sp>
        <p:nvSpPr>
          <p:cNvPr id="166" name="Line 235"/>
          <p:cNvSpPr>
            <a:spLocks noChangeAspect="1" noChangeShapeType="1"/>
          </p:cNvSpPr>
          <p:nvPr/>
        </p:nvSpPr>
        <p:spPr bwMode="auto">
          <a:xfrm>
            <a:off x="1708150" y="4632325"/>
            <a:ext cx="4576763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</a:ln>
          <a:effectLst/>
        </p:spPr>
        <p:txBody>
          <a:bodyPr wrap="none" anchor="ctr"/>
          <a:lstStyle/>
          <a:p>
            <a:pPr ea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800" b="0" kern="0">
              <a:solidFill>
                <a:sysClr val="windowText" lastClr="000000"/>
              </a:solidFill>
              <a:latin typeface="Arial"/>
              <a:ea typeface="+mn-ea"/>
              <a:cs typeface="Arial"/>
            </a:endParaRPr>
          </a:p>
        </p:txBody>
      </p:sp>
      <p:sp>
        <p:nvSpPr>
          <p:cNvPr id="58385" name="Text Box 236"/>
          <p:cNvSpPr txBox="1">
            <a:spLocks noChangeAspect="1" noChangeArrowheads="1"/>
          </p:cNvSpPr>
          <p:nvPr/>
        </p:nvSpPr>
        <p:spPr bwMode="auto">
          <a:xfrm>
            <a:off x="3316288" y="1951038"/>
            <a:ext cx="14795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800" b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L2 </a:t>
            </a:r>
            <a:r>
              <a:rPr lang="zh-CN" altLang="en-US" sz="1800" b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高速缓存 </a:t>
            </a:r>
          </a:p>
          <a:p>
            <a:pPr algn="ctr" eaLnBrk="1" hangingPunct="1"/>
            <a:r>
              <a:rPr lang="en-US" altLang="zh-CN" sz="1800" b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(SRAM)</a:t>
            </a:r>
          </a:p>
        </p:txBody>
      </p:sp>
      <p:sp>
        <p:nvSpPr>
          <p:cNvPr id="58386" name="Text Box 243"/>
          <p:cNvSpPr txBox="1">
            <a:spLocks noChangeAspect="1" noChangeArrowheads="1"/>
          </p:cNvSpPr>
          <p:nvPr/>
        </p:nvSpPr>
        <p:spPr bwMode="auto">
          <a:xfrm>
            <a:off x="4962525" y="1644650"/>
            <a:ext cx="2838450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40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L1 </a:t>
            </a:r>
            <a:r>
              <a:rPr lang="zh-CN" altLang="en-US" sz="140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高速缓存保存着从 </a:t>
            </a:r>
            <a:r>
              <a:rPr lang="en-US" altLang="zh-CN" sz="140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L2 </a:t>
            </a:r>
            <a:r>
              <a:rPr lang="zh-CN" altLang="en-US" sz="140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高速缓存取出的缓存行</a:t>
            </a:r>
            <a:r>
              <a:rPr lang="en-US" altLang="zh-CN" sz="140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.</a:t>
            </a:r>
          </a:p>
        </p:txBody>
      </p:sp>
      <p:sp>
        <p:nvSpPr>
          <p:cNvPr id="171" name="Text Box 233"/>
          <p:cNvSpPr txBox="1">
            <a:spLocks noChangeAspect="1" noChangeArrowheads="1"/>
          </p:cNvSpPr>
          <p:nvPr/>
        </p:nvSpPr>
        <p:spPr bwMode="auto">
          <a:xfrm>
            <a:off x="4573588" y="976313"/>
            <a:ext cx="2919412" cy="517525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>
            <a:spAutoFit/>
          </a:bodyPr>
          <a:lstStyle/>
          <a:p>
            <a:pPr ea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kern="0" dirty="0">
                <a:solidFill>
                  <a:srgbClr val="FF0000"/>
                </a:solidFill>
                <a:latin typeface="Arial"/>
                <a:ea typeface="+mn-ea"/>
                <a:cs typeface="Arial"/>
              </a:rPr>
              <a:t>CPU </a:t>
            </a:r>
            <a:r>
              <a:rPr lang="zh-CN" altLang="en-US" sz="1400" kern="0" dirty="0">
                <a:solidFill>
                  <a:srgbClr val="FF0000"/>
                </a:solidFill>
                <a:latin typeface="Arial"/>
                <a:ea typeface="宋体" charset="0"/>
                <a:cs typeface="Arial"/>
              </a:rPr>
              <a:t>寄存器保存着从高速缓存存储器取出的字</a:t>
            </a:r>
          </a:p>
        </p:txBody>
      </p:sp>
      <p:sp>
        <p:nvSpPr>
          <p:cNvPr id="58388" name="Text Box 231"/>
          <p:cNvSpPr txBox="1">
            <a:spLocks noChangeAspect="1" noChangeArrowheads="1"/>
          </p:cNvSpPr>
          <p:nvPr/>
        </p:nvSpPr>
        <p:spPr bwMode="auto">
          <a:xfrm>
            <a:off x="5365750" y="2406650"/>
            <a:ext cx="2628900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40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L2 </a:t>
            </a:r>
            <a:r>
              <a:rPr lang="zh-CN" altLang="en-US" sz="140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高速缓存保存着从</a:t>
            </a:r>
            <a:r>
              <a:rPr lang="en-US" altLang="zh-CN" sz="140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L3</a:t>
            </a:r>
            <a:r>
              <a:rPr lang="zh-CN" altLang="en-US" sz="140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高速缓存取出的缓存行 </a:t>
            </a:r>
          </a:p>
        </p:txBody>
      </p:sp>
      <p:sp>
        <p:nvSpPr>
          <p:cNvPr id="176" name="Text Box 247"/>
          <p:cNvSpPr txBox="1">
            <a:spLocks noChangeAspect="1" noChangeArrowheads="1"/>
          </p:cNvSpPr>
          <p:nvPr/>
        </p:nvSpPr>
        <p:spPr bwMode="auto">
          <a:xfrm>
            <a:off x="3235325" y="644525"/>
            <a:ext cx="530225" cy="3683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>
            <a:spAutoFit/>
          </a:bodyPr>
          <a:lstStyle/>
          <a:p>
            <a:pPr ea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kern="0" dirty="0">
                <a:solidFill>
                  <a:schemeClr val="accent6">
                    <a:lumMod val="75000"/>
                  </a:schemeClr>
                </a:solidFill>
                <a:latin typeface="Arial"/>
                <a:ea typeface="+mn-ea"/>
                <a:cs typeface="Arial"/>
              </a:rPr>
              <a:t>L0:</a:t>
            </a:r>
          </a:p>
        </p:txBody>
      </p:sp>
      <p:sp>
        <p:nvSpPr>
          <p:cNvPr id="177" name="Text Box 248"/>
          <p:cNvSpPr txBox="1">
            <a:spLocks noChangeAspect="1" noChangeArrowheads="1"/>
          </p:cNvSpPr>
          <p:nvPr/>
        </p:nvSpPr>
        <p:spPr bwMode="auto">
          <a:xfrm>
            <a:off x="2867025" y="1354138"/>
            <a:ext cx="530225" cy="3683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>
            <a:spAutoFit/>
          </a:bodyPr>
          <a:lstStyle/>
          <a:p>
            <a:pPr ea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kern="0" dirty="0">
                <a:solidFill>
                  <a:schemeClr val="accent6">
                    <a:lumMod val="75000"/>
                  </a:schemeClr>
                </a:solidFill>
                <a:latin typeface="Arial"/>
                <a:ea typeface="+mn-ea"/>
                <a:cs typeface="Arial"/>
              </a:rPr>
              <a:t>L1:</a:t>
            </a:r>
          </a:p>
        </p:txBody>
      </p:sp>
      <p:sp>
        <p:nvSpPr>
          <p:cNvPr id="178" name="Text Box 249"/>
          <p:cNvSpPr txBox="1">
            <a:spLocks noChangeAspect="1" noChangeArrowheads="1"/>
          </p:cNvSpPr>
          <p:nvPr/>
        </p:nvSpPr>
        <p:spPr bwMode="auto">
          <a:xfrm>
            <a:off x="2486025" y="2041525"/>
            <a:ext cx="530225" cy="3683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>
            <a:spAutoFit/>
          </a:bodyPr>
          <a:lstStyle/>
          <a:p>
            <a:pPr ea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kern="0">
                <a:solidFill>
                  <a:schemeClr val="accent6">
                    <a:lumMod val="75000"/>
                  </a:schemeClr>
                </a:solidFill>
                <a:latin typeface="Arial"/>
                <a:ea typeface="+mn-ea"/>
                <a:cs typeface="Arial"/>
              </a:rPr>
              <a:t>L2:</a:t>
            </a:r>
          </a:p>
        </p:txBody>
      </p:sp>
      <p:sp>
        <p:nvSpPr>
          <p:cNvPr id="179" name="Text Box 250"/>
          <p:cNvSpPr txBox="1">
            <a:spLocks noChangeAspect="1" noChangeArrowheads="1"/>
          </p:cNvSpPr>
          <p:nvPr/>
        </p:nvSpPr>
        <p:spPr bwMode="auto">
          <a:xfrm>
            <a:off x="2079625" y="2797175"/>
            <a:ext cx="530225" cy="3683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>
            <a:spAutoFit/>
          </a:bodyPr>
          <a:lstStyle/>
          <a:p>
            <a:pPr ea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kern="0">
                <a:solidFill>
                  <a:schemeClr val="accent6">
                    <a:lumMod val="75000"/>
                  </a:schemeClr>
                </a:solidFill>
                <a:latin typeface="Arial"/>
                <a:ea typeface="+mn-ea"/>
                <a:cs typeface="Arial"/>
              </a:rPr>
              <a:t>L3:</a:t>
            </a:r>
          </a:p>
        </p:txBody>
      </p:sp>
      <p:sp>
        <p:nvSpPr>
          <p:cNvPr id="180" name="Text Box 251"/>
          <p:cNvSpPr txBox="1">
            <a:spLocks noChangeAspect="1" noChangeArrowheads="1"/>
          </p:cNvSpPr>
          <p:nvPr/>
        </p:nvSpPr>
        <p:spPr bwMode="auto">
          <a:xfrm>
            <a:off x="1554163" y="3795713"/>
            <a:ext cx="530225" cy="3683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>
            <a:spAutoFit/>
          </a:bodyPr>
          <a:lstStyle/>
          <a:p>
            <a:pPr ea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kern="0">
                <a:solidFill>
                  <a:schemeClr val="accent6">
                    <a:lumMod val="75000"/>
                  </a:schemeClr>
                </a:solidFill>
                <a:latin typeface="Arial"/>
                <a:ea typeface="+mn-ea"/>
                <a:cs typeface="Arial"/>
              </a:rPr>
              <a:t>L4:</a:t>
            </a:r>
          </a:p>
        </p:txBody>
      </p:sp>
      <p:sp>
        <p:nvSpPr>
          <p:cNvPr id="181" name="Text Box 252"/>
          <p:cNvSpPr txBox="1">
            <a:spLocks noChangeAspect="1" noChangeArrowheads="1"/>
          </p:cNvSpPr>
          <p:nvPr/>
        </p:nvSpPr>
        <p:spPr bwMode="auto">
          <a:xfrm>
            <a:off x="933450" y="4913313"/>
            <a:ext cx="530225" cy="3683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>
            <a:spAutoFit/>
          </a:bodyPr>
          <a:lstStyle/>
          <a:p>
            <a:pPr ea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kern="0">
                <a:solidFill>
                  <a:schemeClr val="accent6">
                    <a:lumMod val="75000"/>
                  </a:schemeClr>
                </a:solidFill>
                <a:latin typeface="Arial"/>
                <a:ea typeface="+mn-ea"/>
                <a:cs typeface="Arial"/>
              </a:rPr>
              <a:t>L5:</a:t>
            </a:r>
          </a:p>
        </p:txBody>
      </p:sp>
      <p:sp>
        <p:nvSpPr>
          <p:cNvPr id="58395" name="Text Box 289"/>
          <p:cNvSpPr txBox="1">
            <a:spLocks noChangeAspect="1" noChangeArrowheads="1"/>
          </p:cNvSpPr>
          <p:nvPr/>
        </p:nvSpPr>
        <p:spPr bwMode="auto">
          <a:xfrm>
            <a:off x="130175" y="1390650"/>
            <a:ext cx="995363" cy="1309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1600" b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更小</a:t>
            </a:r>
            <a:r>
              <a:rPr lang="en-US" altLang="zh-CN" sz="1600" b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,</a:t>
            </a:r>
          </a:p>
          <a:p>
            <a:pPr eaLnBrk="1" hangingPunct="1"/>
            <a:r>
              <a:rPr lang="zh-CN" altLang="en-US" sz="1600" b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更快</a:t>
            </a:r>
            <a:r>
              <a:rPr lang="en-US" altLang="zh-CN" sz="1600" b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,</a:t>
            </a:r>
          </a:p>
          <a:p>
            <a:pPr eaLnBrk="1" hangingPunct="1"/>
            <a:r>
              <a:rPr lang="zh-CN" altLang="en-US" sz="1600" b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更贵</a:t>
            </a:r>
          </a:p>
          <a:p>
            <a:pPr eaLnBrk="1" hangingPunct="1"/>
            <a:r>
              <a:rPr lang="en-US" altLang="zh-CN" sz="1600" b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(</a:t>
            </a:r>
            <a:r>
              <a:rPr lang="zh-CN" altLang="en-US" sz="1600" b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每字节</a:t>
            </a:r>
            <a:r>
              <a:rPr lang="en-US" altLang="zh-CN" sz="1600" b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)</a:t>
            </a:r>
          </a:p>
          <a:p>
            <a:pPr eaLnBrk="1" hangingPunct="1"/>
            <a:r>
              <a:rPr lang="zh-CN" altLang="en-US" sz="1600" b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的存储器</a:t>
            </a:r>
          </a:p>
        </p:txBody>
      </p:sp>
      <p:sp>
        <p:nvSpPr>
          <p:cNvPr id="183" name="Line 291"/>
          <p:cNvSpPr>
            <a:spLocks noChangeShapeType="1"/>
          </p:cNvSpPr>
          <p:nvPr/>
        </p:nvSpPr>
        <p:spPr bwMode="auto">
          <a:xfrm flipH="1" flipV="1">
            <a:off x="90488" y="954088"/>
            <a:ext cx="0" cy="2154237"/>
          </a:xfrm>
          <a:prstGeom prst="line">
            <a:avLst/>
          </a:prstGeom>
          <a:noFill/>
          <a:ln w="38100">
            <a:solidFill>
              <a:schemeClr val="accent6">
                <a:lumMod val="75000"/>
              </a:schemeClr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pPr ea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600" b="0" kern="0">
              <a:solidFill>
                <a:sysClr val="windowText" lastClr="000000"/>
              </a:solidFill>
              <a:latin typeface="Arial"/>
              <a:ea typeface="+mn-ea"/>
              <a:cs typeface="Arial"/>
            </a:endParaRPr>
          </a:p>
        </p:txBody>
      </p:sp>
      <p:sp>
        <p:nvSpPr>
          <p:cNvPr id="184" name="Line 292"/>
          <p:cNvSpPr>
            <a:spLocks noChangeAspect="1" noChangeShapeType="1"/>
          </p:cNvSpPr>
          <p:nvPr/>
        </p:nvSpPr>
        <p:spPr bwMode="auto">
          <a:xfrm>
            <a:off x="1117600" y="5743575"/>
            <a:ext cx="57658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</a:ln>
          <a:effectLst/>
        </p:spPr>
        <p:txBody>
          <a:bodyPr wrap="none" anchor="ctr"/>
          <a:lstStyle/>
          <a:p>
            <a:pPr ea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800" b="0" kern="0">
              <a:solidFill>
                <a:sysClr val="windowText" lastClr="000000"/>
              </a:solidFill>
              <a:latin typeface="Arial"/>
              <a:ea typeface="+mn-ea"/>
              <a:cs typeface="Arial"/>
            </a:endParaRPr>
          </a:p>
        </p:txBody>
      </p:sp>
      <p:sp>
        <p:nvSpPr>
          <p:cNvPr id="58398" name="Text Box 293"/>
          <p:cNvSpPr txBox="1">
            <a:spLocks noChangeAspect="1" noChangeArrowheads="1"/>
          </p:cNvSpPr>
          <p:nvPr/>
        </p:nvSpPr>
        <p:spPr bwMode="auto">
          <a:xfrm>
            <a:off x="3316288" y="2782888"/>
            <a:ext cx="14795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1800" b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L3 </a:t>
            </a:r>
            <a:r>
              <a:rPr lang="zh-CN" altLang="en-US" sz="1800" b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高速缓存 </a:t>
            </a:r>
          </a:p>
          <a:p>
            <a:pPr algn="ctr" eaLnBrk="1" hangingPunct="1"/>
            <a:r>
              <a:rPr lang="en-US" altLang="zh-CN" sz="1800" b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(SRAM)</a:t>
            </a:r>
          </a:p>
        </p:txBody>
      </p:sp>
      <p:sp>
        <p:nvSpPr>
          <p:cNvPr id="187" name="Text Box 295"/>
          <p:cNvSpPr txBox="1">
            <a:spLocks noChangeAspect="1" noChangeArrowheads="1"/>
          </p:cNvSpPr>
          <p:nvPr/>
        </p:nvSpPr>
        <p:spPr bwMode="auto">
          <a:xfrm>
            <a:off x="5810250" y="3308350"/>
            <a:ext cx="2876550" cy="517525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>
            <a:spAutoFit/>
          </a:bodyPr>
          <a:lstStyle/>
          <a:p>
            <a:pPr ea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kern="0" dirty="0">
                <a:solidFill>
                  <a:srgbClr val="FF0000"/>
                </a:solidFill>
                <a:latin typeface="Arial"/>
                <a:ea typeface="+mn-ea"/>
                <a:cs typeface="Arial"/>
              </a:rPr>
              <a:t>L3 </a:t>
            </a:r>
            <a:r>
              <a:rPr lang="zh-CN" altLang="en-US" sz="1400" kern="0" dirty="0">
                <a:solidFill>
                  <a:srgbClr val="FF0000"/>
                </a:solidFill>
                <a:latin typeface="Arial"/>
                <a:ea typeface="宋体" charset="0"/>
                <a:cs typeface="Arial"/>
              </a:rPr>
              <a:t>高速缓存保存着从主存高速缓存取出的缓存行</a:t>
            </a:r>
          </a:p>
        </p:txBody>
      </p:sp>
      <p:sp>
        <p:nvSpPr>
          <p:cNvPr id="189" name="Text Box 297"/>
          <p:cNvSpPr txBox="1">
            <a:spLocks noChangeAspect="1" noChangeArrowheads="1"/>
          </p:cNvSpPr>
          <p:nvPr/>
        </p:nvSpPr>
        <p:spPr bwMode="auto">
          <a:xfrm>
            <a:off x="387350" y="5964238"/>
            <a:ext cx="530225" cy="3683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>
            <a:spAutoFit/>
          </a:bodyPr>
          <a:lstStyle/>
          <a:p>
            <a:pPr ea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kern="0">
                <a:solidFill>
                  <a:schemeClr val="accent6">
                    <a:lumMod val="75000"/>
                  </a:schemeClr>
                </a:solidFill>
                <a:latin typeface="Arial"/>
                <a:ea typeface="+mn-ea"/>
                <a:cs typeface="Arial"/>
              </a:rPr>
              <a:t>L6:</a:t>
            </a:r>
          </a:p>
        </p:txBody>
      </p:sp>
      <p:sp>
        <p:nvSpPr>
          <p:cNvPr id="234" name="Text Box 229"/>
          <p:cNvSpPr txBox="1">
            <a:spLocks noChangeAspect="1" noChangeArrowheads="1"/>
          </p:cNvSpPr>
          <p:nvPr/>
        </p:nvSpPr>
        <p:spPr bwMode="auto">
          <a:xfrm>
            <a:off x="6502400" y="4373563"/>
            <a:ext cx="2184400" cy="517525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>
            <a:spAutoFit/>
          </a:bodyPr>
          <a:lstStyle/>
          <a:p>
            <a:pPr ea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kern="0" dirty="0">
                <a:solidFill>
                  <a:srgbClr val="FF0000"/>
                </a:solidFill>
                <a:latin typeface="Arial"/>
                <a:ea typeface="宋体" charset="0"/>
                <a:cs typeface="Arial"/>
              </a:rPr>
              <a:t>主存保存着从本地磁盘取出的磁盘块</a:t>
            </a:r>
          </a:p>
        </p:txBody>
      </p:sp>
    </p:spTree>
    <p:extLst>
      <p:ext uri="{BB962C8B-B14F-4D97-AF65-F5344CB8AC3E}">
        <p14:creationId xmlns:p14="http://schemas.microsoft.com/office/powerpoint/2010/main" val="3488226533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3352800" y="2895600"/>
            <a:ext cx="685800" cy="1371600"/>
          </a:xfrm>
          <a:custGeom>
            <a:avLst/>
            <a:gdLst/>
            <a:ahLst/>
            <a:cxnLst/>
            <a:rect l="l" t="t" r="r" b="b"/>
            <a:pathLst>
              <a:path w="685800" h="1371600">
                <a:moveTo>
                  <a:pt x="685800" y="1028700"/>
                </a:moveTo>
                <a:lnTo>
                  <a:pt x="0" y="1028700"/>
                </a:lnTo>
                <a:lnTo>
                  <a:pt x="342900" y="1371600"/>
                </a:lnTo>
                <a:lnTo>
                  <a:pt x="685800" y="1028700"/>
                </a:lnTo>
                <a:close/>
              </a:path>
              <a:path w="685800" h="1371600">
                <a:moveTo>
                  <a:pt x="514350" y="342900"/>
                </a:moveTo>
                <a:lnTo>
                  <a:pt x="171450" y="342900"/>
                </a:lnTo>
                <a:lnTo>
                  <a:pt x="171450" y="1028700"/>
                </a:lnTo>
                <a:lnTo>
                  <a:pt x="514350" y="1028700"/>
                </a:lnTo>
                <a:lnTo>
                  <a:pt x="514350" y="342900"/>
                </a:lnTo>
                <a:close/>
              </a:path>
              <a:path w="685800" h="1371600">
                <a:moveTo>
                  <a:pt x="342900" y="0"/>
                </a:moveTo>
                <a:lnTo>
                  <a:pt x="0" y="342900"/>
                </a:lnTo>
                <a:lnTo>
                  <a:pt x="685800" y="342900"/>
                </a:lnTo>
                <a:lnTo>
                  <a:pt x="342900" y="0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74650" y="332235"/>
            <a:ext cx="7591425" cy="840480"/>
          </a:xfrm>
          <a:prstGeom prst="rect">
            <a:avLst/>
          </a:prstGeom>
        </p:spPr>
        <p:txBody>
          <a:bodyPr vert="horz" wrap="square" lIns="0" tIns="283712" rIns="0" bIns="0" rtlCol="0">
            <a:spAutoFit/>
          </a:bodyPr>
          <a:lstStyle/>
          <a:p>
            <a:pPr marL="13335">
              <a:lnSpc>
                <a:spcPct val="100000"/>
              </a:lnSpc>
            </a:pPr>
            <a:r>
              <a:rPr lang="zh-CN" altLang="en-US" dirty="0">
                <a:ea typeface="宋体" pitchFamily="2" charset="-122"/>
              </a:rPr>
              <a:t>高速缓存基本概念</a:t>
            </a:r>
            <a:endParaRPr spc="-10" dirty="0"/>
          </a:p>
        </p:txBody>
      </p:sp>
      <p:sp>
        <p:nvSpPr>
          <p:cNvPr id="5" name="object 5"/>
          <p:cNvSpPr/>
          <p:nvPr/>
        </p:nvSpPr>
        <p:spPr>
          <a:xfrm>
            <a:off x="1905000" y="4267200"/>
            <a:ext cx="3581400" cy="2057400"/>
          </a:xfrm>
          <a:custGeom>
            <a:avLst/>
            <a:gdLst/>
            <a:ahLst/>
            <a:cxnLst/>
            <a:rect l="l" t="t" r="r" b="b"/>
            <a:pathLst>
              <a:path w="3581400" h="2057400">
                <a:moveTo>
                  <a:pt x="0" y="0"/>
                </a:moveTo>
                <a:lnTo>
                  <a:pt x="3581400" y="0"/>
                </a:lnTo>
                <a:lnTo>
                  <a:pt x="3581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solidFill>
            <a:srgbClr val="DEDF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905000" y="4267200"/>
            <a:ext cx="3581400" cy="2057400"/>
          </a:xfrm>
          <a:custGeom>
            <a:avLst/>
            <a:gdLst/>
            <a:ahLst/>
            <a:cxnLst/>
            <a:rect l="l" t="t" r="r" b="b"/>
            <a:pathLst>
              <a:path w="3581400" h="2057400">
                <a:moveTo>
                  <a:pt x="0" y="0"/>
                </a:moveTo>
                <a:lnTo>
                  <a:pt x="3581400" y="0"/>
                </a:lnTo>
                <a:lnTo>
                  <a:pt x="3581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905000" y="2272385"/>
            <a:ext cx="3581400" cy="609600"/>
          </a:xfrm>
          <a:custGeom>
            <a:avLst/>
            <a:gdLst/>
            <a:ahLst/>
            <a:cxnLst/>
            <a:rect l="l" t="t" r="r" b="b"/>
            <a:pathLst>
              <a:path w="3581400" h="609600">
                <a:moveTo>
                  <a:pt x="0" y="0"/>
                </a:moveTo>
                <a:lnTo>
                  <a:pt x="3581400" y="0"/>
                </a:lnTo>
                <a:lnTo>
                  <a:pt x="35814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D6D6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905000" y="2272385"/>
            <a:ext cx="3581400" cy="609600"/>
          </a:xfrm>
          <a:custGeom>
            <a:avLst/>
            <a:gdLst/>
            <a:ahLst/>
            <a:cxnLst/>
            <a:rect l="l" t="t" r="r" b="b"/>
            <a:pathLst>
              <a:path w="3581400" h="609600">
                <a:moveTo>
                  <a:pt x="0" y="0"/>
                </a:moveTo>
                <a:lnTo>
                  <a:pt x="3581400" y="0"/>
                </a:lnTo>
                <a:lnTo>
                  <a:pt x="35814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057400" y="4800600"/>
            <a:ext cx="762000" cy="304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spc="-5" dirty="0"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733800" y="5181600"/>
            <a:ext cx="762000" cy="304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spc="-5" dirty="0">
                <a:latin typeface="Calibri"/>
                <a:cs typeface="Calibri"/>
              </a:rPr>
              <a:t>10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286000" y="6096000"/>
            <a:ext cx="3048000" cy="1905"/>
          </a:xfrm>
          <a:custGeom>
            <a:avLst/>
            <a:gdLst/>
            <a:ahLst/>
            <a:cxnLst/>
            <a:rect l="l" t="t" r="r" b="b"/>
            <a:pathLst>
              <a:path w="3048000" h="1904">
                <a:moveTo>
                  <a:pt x="0" y="0"/>
                </a:moveTo>
                <a:lnTo>
                  <a:pt x="3048000" y="1473"/>
                </a:lnTo>
              </a:path>
            </a:pathLst>
          </a:custGeom>
          <a:ln w="88900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057400" y="2424785"/>
            <a:ext cx="762000" cy="304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spc="-5" dirty="0">
                <a:latin typeface="Calibri"/>
                <a:cs typeface="Calibri"/>
              </a:rPr>
              <a:t>8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895600" y="2424785"/>
            <a:ext cx="762000" cy="304800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spc="-5" dirty="0">
                <a:latin typeface="Calibri"/>
                <a:cs typeface="Calibri"/>
              </a:rPr>
              <a:t>9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733800" y="2424785"/>
            <a:ext cx="762000" cy="304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spc="-5" dirty="0">
                <a:latin typeface="Calibri"/>
                <a:cs typeface="Calibri"/>
              </a:rPr>
              <a:t>14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572000" y="2424785"/>
            <a:ext cx="762000" cy="304800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spc="-5" dirty="0">
                <a:latin typeface="Calibri"/>
                <a:cs typeface="Calibri"/>
              </a:rPr>
              <a:t>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590800" y="3429000"/>
            <a:ext cx="762000" cy="304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spc="-5" dirty="0"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057400" y="2424785"/>
            <a:ext cx="762000" cy="304800"/>
          </a:xfrm>
          <a:prstGeom prst="rect">
            <a:avLst/>
          </a:prstGeom>
          <a:solidFill>
            <a:srgbClr val="FF9999"/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spc="-5" dirty="0"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590800" y="3429000"/>
            <a:ext cx="762000" cy="304800"/>
          </a:xfrm>
          <a:prstGeom prst="rect">
            <a:avLst/>
          </a:prstGeom>
          <a:solidFill>
            <a:srgbClr val="A9E39D"/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spc="-5" dirty="0">
                <a:latin typeface="Calibri"/>
                <a:cs typeface="Calibri"/>
              </a:rPr>
              <a:t>10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733800" y="2424785"/>
            <a:ext cx="762000" cy="304800"/>
          </a:xfrm>
          <a:prstGeom prst="rect">
            <a:avLst/>
          </a:prstGeom>
          <a:solidFill>
            <a:srgbClr val="A9E39D"/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spc="-5" dirty="0">
                <a:latin typeface="Calibri"/>
                <a:cs typeface="Calibri"/>
              </a:rPr>
              <a:t>10</a:t>
            </a:r>
            <a:endParaRPr sz="1800">
              <a:latin typeface="Calibri"/>
              <a:cs typeface="Calibri"/>
            </a:endParaRPr>
          </a:p>
        </p:txBody>
      </p:sp>
      <p:graphicFrame>
        <p:nvGraphicFramePr>
          <p:cNvPr id="12" name="object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1383209"/>
              </p:ext>
            </p:extLst>
          </p:nvPr>
        </p:nvGraphicFramePr>
        <p:xfrm>
          <a:off x="513656" y="4419600"/>
          <a:ext cx="4820343" cy="14706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913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</a:pP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9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A9E39D"/>
                    </a:solidFill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10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solidFill>
                      <a:srgbClr val="A9E39D"/>
                    </a:solidFill>
                  </a:tcPr>
                </a:tc>
                <a:tc>
                  <a:txBody>
                    <a:bodyPr/>
                    <a:lstStyle/>
                    <a:p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11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12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13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14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15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7" name="Text Box 22"/>
          <p:cNvSpPr txBox="1">
            <a:spLocks noChangeArrowheads="1"/>
          </p:cNvSpPr>
          <p:nvPr/>
        </p:nvSpPr>
        <p:spPr bwMode="auto">
          <a:xfrm>
            <a:off x="3943350" y="3236913"/>
            <a:ext cx="2838450" cy="569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>
            <a:lvl1pPr defTabSz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1pPr>
            <a:lvl2pPr marL="742950" indent="-285750" defTabSz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2pPr>
            <a:lvl3pPr marL="1143000" indent="-228600" defTabSz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3pPr>
            <a:lvl4pPr marL="1600200" indent="-228600" defTabSz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4pPr>
            <a:lvl5pPr marL="2057400" indent="-228600" defTabSz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5pPr>
            <a:lvl6pPr marL="2514600" indent="-228600" defTabSz="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6pPr>
            <a:lvl7pPr marL="2971800" indent="-228600" defTabSz="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7pPr>
            <a:lvl8pPr marL="3429000" indent="-228600" defTabSz="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8pPr>
            <a:lvl9pPr marL="3886200" indent="-228600" defTabSz="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9pPr>
          </a:lstStyle>
          <a:p>
            <a:pPr>
              <a:lnSpc>
                <a:spcPct val="98000"/>
              </a:lnSpc>
            </a:pPr>
            <a:r>
              <a:rPr lang="zh-CN" altLang="en-GB" sz="1600" dirty="0">
                <a:latin typeface="Calibri" pitchFamily="34" charset="0"/>
              </a:rPr>
              <a:t>数据以块大小为传输单元</a:t>
            </a:r>
          </a:p>
          <a:p>
            <a:pPr>
              <a:lnSpc>
                <a:spcPct val="98000"/>
              </a:lnSpc>
            </a:pPr>
            <a:r>
              <a:rPr lang="zh-CN" altLang="en-GB" sz="1600" dirty="0">
                <a:latin typeface="Calibri" pitchFamily="34" charset="0"/>
              </a:rPr>
              <a:t>在层与层之间拷贝</a:t>
            </a:r>
          </a:p>
        </p:txBody>
      </p:sp>
      <p:sp>
        <p:nvSpPr>
          <p:cNvPr id="28" name="TextBox 29"/>
          <p:cNvSpPr txBox="1">
            <a:spLocks noChangeArrowheads="1"/>
          </p:cNvSpPr>
          <p:nvPr/>
        </p:nvSpPr>
        <p:spPr bwMode="auto">
          <a:xfrm>
            <a:off x="357188" y="2287588"/>
            <a:ext cx="14017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9pPr>
          </a:lstStyle>
          <a:p>
            <a:r>
              <a:rPr lang="zh-CN" altLang="en-US" dirty="0">
                <a:latin typeface="Calibri" pitchFamily="34" charset="0"/>
              </a:rPr>
              <a:t>高速缓存</a:t>
            </a:r>
          </a:p>
        </p:txBody>
      </p:sp>
      <p:sp>
        <p:nvSpPr>
          <p:cNvPr id="29" name="TextBox 30"/>
          <p:cNvSpPr txBox="1">
            <a:spLocks noChangeArrowheads="1"/>
          </p:cNvSpPr>
          <p:nvPr/>
        </p:nvSpPr>
        <p:spPr bwMode="auto">
          <a:xfrm>
            <a:off x="457200" y="4343400"/>
            <a:ext cx="7921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9pPr>
          </a:lstStyle>
          <a:p>
            <a:r>
              <a:rPr lang="zh-CN" altLang="en-US">
                <a:latin typeface="Calibri" pitchFamily="34" charset="0"/>
              </a:rPr>
              <a:t>主存</a:t>
            </a:r>
          </a:p>
        </p:txBody>
      </p:sp>
      <p:sp>
        <p:nvSpPr>
          <p:cNvPr id="30" name="Text Box 29"/>
          <p:cNvSpPr txBox="1">
            <a:spLocks noChangeArrowheads="1"/>
          </p:cNvSpPr>
          <p:nvPr/>
        </p:nvSpPr>
        <p:spPr bwMode="auto">
          <a:xfrm>
            <a:off x="5562600" y="2287178"/>
            <a:ext cx="3588140" cy="577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 defTabSz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1pPr>
            <a:lvl2pPr marL="742950" indent="-285750" defTabSz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2pPr>
            <a:lvl3pPr marL="1143000" indent="-228600" defTabSz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3pPr>
            <a:lvl4pPr marL="1600200" indent="-228600" defTabSz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4pPr>
            <a:lvl5pPr marL="2057400" indent="-228600" defTabSz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5pPr>
            <a:lvl6pPr marL="2514600" indent="-228600" defTabSz="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6pPr>
            <a:lvl7pPr marL="2971800" indent="-228600" defTabSz="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7pPr>
            <a:lvl8pPr marL="3429000" indent="-228600" defTabSz="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8pPr>
            <a:lvl9pPr marL="3886200" indent="-228600" defTabSz="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9pPr>
          </a:lstStyle>
          <a:p>
            <a:pPr>
              <a:lnSpc>
                <a:spcPct val="98000"/>
              </a:lnSpc>
            </a:pPr>
            <a:r>
              <a:rPr lang="zh-CN" altLang="en-GB" sz="1600" dirty="0">
                <a:latin typeface="Calibri" pitchFamily="34" charset="0"/>
              </a:rPr>
              <a:t>第</a:t>
            </a:r>
            <a:r>
              <a:rPr lang="en-US" altLang="zh-CN" sz="1600" dirty="0">
                <a:latin typeface="Calibri" pitchFamily="34" charset="0"/>
              </a:rPr>
              <a:t>k</a:t>
            </a:r>
            <a:r>
              <a:rPr lang="zh-CN" altLang="en-US" sz="1600" dirty="0">
                <a:latin typeface="Calibri" pitchFamily="34" charset="0"/>
              </a:rPr>
              <a:t>层更小、更快、更昂贵的设备缓存</a:t>
            </a:r>
          </a:p>
          <a:p>
            <a:pPr>
              <a:lnSpc>
                <a:spcPct val="98000"/>
              </a:lnSpc>
            </a:pPr>
            <a:r>
              <a:rPr lang="zh-CN" altLang="en-US" sz="1600" dirty="0">
                <a:latin typeface="Calibri" pitchFamily="34" charset="0"/>
              </a:rPr>
              <a:t>着该块的一个子集</a:t>
            </a:r>
          </a:p>
        </p:txBody>
      </p:sp>
      <p:sp>
        <p:nvSpPr>
          <p:cNvPr id="31" name="Text Box 19"/>
          <p:cNvSpPr txBox="1">
            <a:spLocks noChangeArrowheads="1"/>
          </p:cNvSpPr>
          <p:nvPr/>
        </p:nvSpPr>
        <p:spPr bwMode="auto">
          <a:xfrm>
            <a:off x="5635625" y="4148138"/>
            <a:ext cx="2919413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 defTabSz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1pPr>
            <a:lvl2pPr marL="742950" indent="-285750" defTabSz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2pPr>
            <a:lvl3pPr marL="1143000" indent="-228600" defTabSz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3pPr>
            <a:lvl4pPr marL="1600200" indent="-228600" defTabSz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4pPr>
            <a:lvl5pPr marL="2057400" indent="-228600" defTabSz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5pPr>
            <a:lvl6pPr marL="2514600" indent="-228600" defTabSz="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6pPr>
            <a:lvl7pPr marL="2971800" indent="-228600" defTabSz="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7pPr>
            <a:lvl8pPr marL="3429000" indent="-228600" defTabSz="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8pPr>
            <a:lvl9pPr marL="3886200" indent="-228600" defTabSz="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9pPr>
          </a:lstStyle>
          <a:p>
            <a:pPr>
              <a:lnSpc>
                <a:spcPct val="98000"/>
              </a:lnSpc>
            </a:pPr>
            <a:r>
              <a:rPr lang="zh-CN" altLang="en-GB" sz="1600" dirty="0">
                <a:latin typeface="Calibri" pitchFamily="34" charset="0"/>
              </a:rPr>
              <a:t>第</a:t>
            </a:r>
            <a:r>
              <a:rPr lang="en-US" altLang="zh-CN" sz="1600" dirty="0">
                <a:latin typeface="Calibri" pitchFamily="34" charset="0"/>
              </a:rPr>
              <a:t>k+1</a:t>
            </a:r>
            <a:r>
              <a:rPr lang="zh-CN" altLang="en-US" sz="1600" dirty="0">
                <a:latin typeface="Calibri" pitchFamily="34" charset="0"/>
              </a:rPr>
              <a:t>层更大、更慢、更便宜的</a:t>
            </a:r>
          </a:p>
          <a:p>
            <a:pPr>
              <a:lnSpc>
                <a:spcPct val="98000"/>
              </a:lnSpc>
            </a:pPr>
            <a:r>
              <a:rPr lang="zh-CN" altLang="en-US" sz="1600" dirty="0">
                <a:latin typeface="Calibri" pitchFamily="34" charset="0"/>
              </a:rPr>
              <a:t>设备被划分成块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3352800" y="1295400"/>
            <a:ext cx="685800" cy="990600"/>
          </a:xfrm>
          <a:custGeom>
            <a:avLst/>
            <a:gdLst/>
            <a:ahLst/>
            <a:cxnLst/>
            <a:rect l="l" t="t" r="r" b="b"/>
            <a:pathLst>
              <a:path w="685800" h="990600">
                <a:moveTo>
                  <a:pt x="685800" y="647700"/>
                </a:moveTo>
                <a:lnTo>
                  <a:pt x="0" y="647700"/>
                </a:lnTo>
                <a:lnTo>
                  <a:pt x="342900" y="990600"/>
                </a:lnTo>
                <a:lnTo>
                  <a:pt x="685800" y="647700"/>
                </a:lnTo>
                <a:close/>
              </a:path>
              <a:path w="685800" h="990600">
                <a:moveTo>
                  <a:pt x="514350" y="342900"/>
                </a:moveTo>
                <a:lnTo>
                  <a:pt x="171450" y="342900"/>
                </a:lnTo>
                <a:lnTo>
                  <a:pt x="171450" y="647700"/>
                </a:lnTo>
                <a:lnTo>
                  <a:pt x="514350" y="647700"/>
                </a:lnTo>
                <a:lnTo>
                  <a:pt x="514350" y="342900"/>
                </a:lnTo>
                <a:close/>
              </a:path>
              <a:path w="685800" h="990600">
                <a:moveTo>
                  <a:pt x="342900" y="0"/>
                </a:moveTo>
                <a:lnTo>
                  <a:pt x="0" y="342900"/>
                </a:lnTo>
                <a:lnTo>
                  <a:pt x="685800" y="342900"/>
                </a:lnTo>
                <a:lnTo>
                  <a:pt x="342900" y="0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352800" y="2895600"/>
            <a:ext cx="685800" cy="1371600"/>
          </a:xfrm>
          <a:custGeom>
            <a:avLst/>
            <a:gdLst/>
            <a:ahLst/>
            <a:cxnLst/>
            <a:rect l="l" t="t" r="r" b="b"/>
            <a:pathLst>
              <a:path w="685800" h="1371600">
                <a:moveTo>
                  <a:pt x="685800" y="1028700"/>
                </a:moveTo>
                <a:lnTo>
                  <a:pt x="0" y="1028700"/>
                </a:lnTo>
                <a:lnTo>
                  <a:pt x="342900" y="1371600"/>
                </a:lnTo>
                <a:lnTo>
                  <a:pt x="685800" y="1028700"/>
                </a:lnTo>
                <a:close/>
              </a:path>
              <a:path w="685800" h="1371600">
                <a:moveTo>
                  <a:pt x="514350" y="342900"/>
                </a:moveTo>
                <a:lnTo>
                  <a:pt x="171450" y="342900"/>
                </a:lnTo>
                <a:lnTo>
                  <a:pt x="171450" y="1028700"/>
                </a:lnTo>
                <a:lnTo>
                  <a:pt x="514350" y="1028700"/>
                </a:lnTo>
                <a:lnTo>
                  <a:pt x="514350" y="342900"/>
                </a:lnTo>
                <a:close/>
              </a:path>
              <a:path w="685800" h="1371600">
                <a:moveTo>
                  <a:pt x="342900" y="0"/>
                </a:moveTo>
                <a:lnTo>
                  <a:pt x="0" y="342900"/>
                </a:lnTo>
                <a:lnTo>
                  <a:pt x="685800" y="342900"/>
                </a:lnTo>
                <a:lnTo>
                  <a:pt x="342900" y="0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74650" y="332235"/>
            <a:ext cx="7591425" cy="840480"/>
          </a:xfrm>
          <a:prstGeom prst="rect">
            <a:avLst/>
          </a:prstGeom>
        </p:spPr>
        <p:txBody>
          <a:bodyPr vert="horz" wrap="square" lIns="0" tIns="283712" rIns="0" bIns="0" rtlCol="0">
            <a:spAutoFit/>
          </a:bodyPr>
          <a:lstStyle/>
          <a:p>
            <a:pPr marL="13335">
              <a:lnSpc>
                <a:spcPct val="100000"/>
              </a:lnSpc>
            </a:pPr>
            <a:r>
              <a:rPr lang="zh-CN" altLang="en-US" dirty="0">
                <a:ea typeface="宋体" pitchFamily="2" charset="-122"/>
              </a:rPr>
              <a:t>基本高速缓存概念</a:t>
            </a:r>
            <a:r>
              <a:rPr lang="en-US" altLang="zh-CN" dirty="0">
                <a:ea typeface="宋体" pitchFamily="2" charset="-122"/>
              </a:rPr>
              <a:t>: </a:t>
            </a:r>
            <a:r>
              <a:rPr lang="zh-CN" altLang="en-US" dirty="0">
                <a:ea typeface="宋体" pitchFamily="2" charset="-122"/>
              </a:rPr>
              <a:t>命中</a:t>
            </a:r>
            <a:endParaRPr spc="-5" dirty="0"/>
          </a:p>
        </p:txBody>
      </p:sp>
      <p:sp>
        <p:nvSpPr>
          <p:cNvPr id="6" name="object 6"/>
          <p:cNvSpPr/>
          <p:nvPr/>
        </p:nvSpPr>
        <p:spPr>
          <a:xfrm>
            <a:off x="1905000" y="4267200"/>
            <a:ext cx="3581400" cy="2057400"/>
          </a:xfrm>
          <a:custGeom>
            <a:avLst/>
            <a:gdLst/>
            <a:ahLst/>
            <a:cxnLst/>
            <a:rect l="l" t="t" r="r" b="b"/>
            <a:pathLst>
              <a:path w="3581400" h="2057400">
                <a:moveTo>
                  <a:pt x="0" y="0"/>
                </a:moveTo>
                <a:lnTo>
                  <a:pt x="3581400" y="0"/>
                </a:lnTo>
                <a:lnTo>
                  <a:pt x="3581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solidFill>
            <a:srgbClr val="D6D6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905000" y="4267200"/>
            <a:ext cx="3581400" cy="2057400"/>
          </a:xfrm>
          <a:custGeom>
            <a:avLst/>
            <a:gdLst/>
            <a:ahLst/>
            <a:cxnLst/>
            <a:rect l="l" t="t" r="r" b="b"/>
            <a:pathLst>
              <a:path w="3581400" h="2057400">
                <a:moveTo>
                  <a:pt x="0" y="0"/>
                </a:moveTo>
                <a:lnTo>
                  <a:pt x="3581400" y="0"/>
                </a:lnTo>
                <a:lnTo>
                  <a:pt x="3581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905000" y="2272385"/>
            <a:ext cx="3581400" cy="609600"/>
          </a:xfrm>
          <a:custGeom>
            <a:avLst/>
            <a:gdLst/>
            <a:ahLst/>
            <a:cxnLst/>
            <a:rect l="l" t="t" r="r" b="b"/>
            <a:pathLst>
              <a:path w="3581400" h="609600">
                <a:moveTo>
                  <a:pt x="0" y="0"/>
                </a:moveTo>
                <a:lnTo>
                  <a:pt x="3581400" y="0"/>
                </a:lnTo>
                <a:lnTo>
                  <a:pt x="35814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D6D6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905000" y="2272385"/>
            <a:ext cx="3581400" cy="609600"/>
          </a:xfrm>
          <a:custGeom>
            <a:avLst/>
            <a:gdLst/>
            <a:ahLst/>
            <a:cxnLst/>
            <a:rect l="l" t="t" r="r" b="b"/>
            <a:pathLst>
              <a:path w="3581400" h="609600">
                <a:moveTo>
                  <a:pt x="0" y="0"/>
                </a:moveTo>
                <a:lnTo>
                  <a:pt x="3581400" y="0"/>
                </a:lnTo>
                <a:lnTo>
                  <a:pt x="35814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286000" y="6096000"/>
            <a:ext cx="3048000" cy="1905"/>
          </a:xfrm>
          <a:custGeom>
            <a:avLst/>
            <a:gdLst/>
            <a:ahLst/>
            <a:cxnLst/>
            <a:rect l="l" t="t" r="r" b="b"/>
            <a:pathLst>
              <a:path w="3048000" h="1904">
                <a:moveTo>
                  <a:pt x="0" y="0"/>
                </a:moveTo>
                <a:lnTo>
                  <a:pt x="3048000" y="1473"/>
                </a:lnTo>
              </a:path>
            </a:pathLst>
          </a:custGeom>
          <a:ln w="88900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733800" y="2424785"/>
            <a:ext cx="0" cy="304800"/>
          </a:xfrm>
          <a:custGeom>
            <a:avLst/>
            <a:gdLst/>
            <a:ahLst/>
            <a:cxnLst/>
            <a:rect l="l" t="t" r="r" b="b"/>
            <a:pathLst>
              <a:path h="304800">
                <a:moveTo>
                  <a:pt x="0" y="304800"/>
                </a:moveTo>
                <a:lnTo>
                  <a:pt x="0" y="0"/>
                </a:lnTo>
                <a:lnTo>
                  <a:pt x="0" y="3048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733800" y="2424785"/>
            <a:ext cx="762000" cy="304800"/>
          </a:xfrm>
          <a:custGeom>
            <a:avLst/>
            <a:gdLst/>
            <a:ahLst/>
            <a:cxnLst/>
            <a:rect l="l" t="t" r="r" b="b"/>
            <a:pathLst>
              <a:path w="762000" h="304800">
                <a:moveTo>
                  <a:pt x="0" y="0"/>
                </a:moveTo>
                <a:lnTo>
                  <a:pt x="762000" y="0"/>
                </a:lnTo>
                <a:lnTo>
                  <a:pt x="7620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057400" y="2424785"/>
            <a:ext cx="762000" cy="304800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spc="-5" dirty="0">
                <a:latin typeface="Calibri"/>
                <a:cs typeface="Calibri"/>
              </a:rPr>
              <a:t>8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895600" y="2424785"/>
            <a:ext cx="762000" cy="304800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spc="-5" dirty="0">
                <a:latin typeface="Calibri"/>
                <a:cs typeface="Calibri"/>
              </a:rPr>
              <a:t>9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733800" y="2425522"/>
            <a:ext cx="762000" cy="304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spc="-5" dirty="0">
                <a:latin typeface="Calibri"/>
                <a:cs typeface="Calibri"/>
              </a:rPr>
              <a:t>14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572000" y="2424785"/>
            <a:ext cx="762000" cy="304800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spc="-5" dirty="0">
                <a:latin typeface="Calibri"/>
                <a:cs typeface="Calibri"/>
              </a:rPr>
              <a:t>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082719" y="1691017"/>
            <a:ext cx="1013460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spc="-30" dirty="0">
                <a:latin typeface="Calibri"/>
                <a:cs typeface="Calibri"/>
              </a:rPr>
              <a:t>R</a:t>
            </a:r>
            <a:r>
              <a:rPr sz="1600" b="1" spc="-5" dirty="0">
                <a:latin typeface="Calibri"/>
                <a:cs typeface="Calibri"/>
              </a:rPr>
              <a:t>e</a:t>
            </a:r>
            <a:r>
              <a:rPr sz="1600" b="1" spc="-10" dirty="0">
                <a:latin typeface="Calibri"/>
                <a:cs typeface="Calibri"/>
              </a:rPr>
              <a:t>qu</a:t>
            </a:r>
            <a:r>
              <a:rPr sz="1600" b="1" spc="-5" dirty="0">
                <a:latin typeface="Calibri"/>
                <a:cs typeface="Calibri"/>
              </a:rPr>
              <a:t>e</a:t>
            </a:r>
            <a:r>
              <a:rPr sz="1600" b="1" spc="-20" dirty="0">
                <a:latin typeface="Calibri"/>
                <a:cs typeface="Calibri"/>
              </a:rPr>
              <a:t>s</a:t>
            </a:r>
            <a:r>
              <a:rPr sz="1600" b="1" spc="-10" dirty="0">
                <a:latin typeface="Calibri"/>
                <a:cs typeface="Calibri"/>
              </a:rPr>
              <a:t>t</a:t>
            </a:r>
            <a:r>
              <a:rPr sz="1600" b="1" spc="-5" dirty="0">
                <a:latin typeface="Calibri"/>
                <a:cs typeface="Calibri"/>
              </a:rPr>
              <a:t>:</a:t>
            </a:r>
            <a:r>
              <a:rPr sz="1600" b="1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14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3733800" y="2425522"/>
            <a:ext cx="762000" cy="304800"/>
          </a:xfrm>
          <a:custGeom>
            <a:avLst/>
            <a:gdLst/>
            <a:ahLst/>
            <a:cxnLst/>
            <a:rect l="l" t="t" r="r" b="b"/>
            <a:pathLst>
              <a:path w="762000" h="304800">
                <a:moveTo>
                  <a:pt x="0" y="0"/>
                </a:moveTo>
                <a:lnTo>
                  <a:pt x="762000" y="0"/>
                </a:lnTo>
                <a:lnTo>
                  <a:pt x="7620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FF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733800" y="2425522"/>
            <a:ext cx="762000" cy="304800"/>
          </a:xfrm>
          <a:custGeom>
            <a:avLst/>
            <a:gdLst/>
            <a:ahLst/>
            <a:cxnLst/>
            <a:rect l="l" t="t" r="r" b="b"/>
            <a:pathLst>
              <a:path w="762000" h="304800">
                <a:moveTo>
                  <a:pt x="0" y="0"/>
                </a:moveTo>
                <a:lnTo>
                  <a:pt x="762000" y="0"/>
                </a:lnTo>
                <a:lnTo>
                  <a:pt x="7620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3733800" y="2425153"/>
            <a:ext cx="762000" cy="304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spc="-5" dirty="0">
                <a:latin typeface="Calibri"/>
                <a:cs typeface="Calibri"/>
              </a:rPr>
              <a:t>14</a:t>
            </a:r>
            <a:endParaRPr sz="1800">
              <a:latin typeface="Calibri"/>
              <a:cs typeface="Calibri"/>
            </a:endParaRPr>
          </a:p>
        </p:txBody>
      </p:sp>
      <p:graphicFrame>
        <p:nvGraphicFramePr>
          <p:cNvPr id="13" name="object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5718304"/>
              </p:ext>
            </p:extLst>
          </p:nvPr>
        </p:nvGraphicFramePr>
        <p:xfrm>
          <a:off x="513656" y="4419600"/>
          <a:ext cx="4820343" cy="14706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913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</a:pPr>
                      <a:r>
                        <a:rPr lang="zh-CN" altLang="en-US" sz="2400" dirty="0">
                          <a:latin typeface="Calibri"/>
                          <a:cs typeface="Calibri"/>
                        </a:rPr>
                        <a:t>主存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1200"/>
                        </a:lnSpc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3810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B w="3810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1200"/>
                        </a:lnSpc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3810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B w="3810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1200"/>
                        </a:lnSpc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3810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B w="3810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1200"/>
                        </a:lnSpc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3810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1200"/>
                        </a:lnSpc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381000">
                      <a:solidFill>
                        <a:srgbClr val="000000"/>
                      </a:solidFill>
                      <a:prstDash val="solid"/>
                    </a:lnT>
                    <a:lnB w="3810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381000">
                      <a:solidFill>
                        <a:srgbClr val="000000"/>
                      </a:solidFill>
                      <a:prstDash val="solid"/>
                    </a:lnT>
                    <a:lnB w="3810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1200"/>
                        </a:lnSpc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381000">
                      <a:solidFill>
                        <a:srgbClr val="000000"/>
                      </a:solidFill>
                      <a:prstDash val="solid"/>
                    </a:lnT>
                    <a:lnB w="3810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381000">
                      <a:solidFill>
                        <a:srgbClr val="000000"/>
                      </a:solidFill>
                      <a:prstDash val="solid"/>
                    </a:lnT>
                    <a:lnB w="3810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1200"/>
                        </a:lnSpc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381000">
                      <a:solidFill>
                        <a:srgbClr val="000000"/>
                      </a:solidFill>
                      <a:prstDash val="solid"/>
                    </a:lnT>
                    <a:lnB w="3810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381000">
                      <a:solidFill>
                        <a:srgbClr val="000000"/>
                      </a:solidFill>
                      <a:prstDash val="solid"/>
                    </a:lnT>
                    <a:lnB w="3810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1200"/>
                        </a:lnSpc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381000">
                      <a:solidFill>
                        <a:srgbClr val="000000"/>
                      </a:solidFill>
                      <a:prstDash val="solid"/>
                    </a:lnT>
                    <a:lnB w="3810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1200"/>
                        </a:lnSpc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381000">
                      <a:solidFill>
                        <a:srgbClr val="000000"/>
                      </a:solidFill>
                      <a:prstDash val="solid"/>
                    </a:lnT>
                    <a:lnB w="3810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381000">
                      <a:solidFill>
                        <a:srgbClr val="000000"/>
                      </a:solidFill>
                      <a:prstDash val="solid"/>
                    </a:lnT>
                    <a:lnB w="3810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1200"/>
                        </a:lnSpc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9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381000">
                      <a:solidFill>
                        <a:srgbClr val="000000"/>
                      </a:solidFill>
                      <a:prstDash val="solid"/>
                    </a:lnT>
                    <a:lnB w="3810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381000">
                      <a:solidFill>
                        <a:srgbClr val="000000"/>
                      </a:solidFill>
                      <a:prstDash val="solid"/>
                    </a:lnT>
                    <a:lnB w="3810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1200"/>
                        </a:lnSpc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10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381000">
                      <a:solidFill>
                        <a:srgbClr val="000000"/>
                      </a:solidFill>
                      <a:prstDash val="solid"/>
                    </a:lnT>
                    <a:lnB w="3810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381000">
                      <a:solidFill>
                        <a:srgbClr val="000000"/>
                      </a:solidFill>
                      <a:prstDash val="solid"/>
                    </a:lnT>
                    <a:lnB w="3810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1200"/>
                        </a:lnSpc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11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381000">
                      <a:solidFill>
                        <a:srgbClr val="000000"/>
                      </a:solidFill>
                      <a:prstDash val="solid"/>
                    </a:lnT>
                    <a:lnB w="3810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12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3810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381000">
                      <a:solidFill>
                        <a:srgbClr val="000000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13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3810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381000">
                      <a:solidFill>
                        <a:srgbClr val="000000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14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3810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381000">
                      <a:solidFill>
                        <a:srgbClr val="000000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15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3810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7" name="TextBox 29"/>
          <p:cNvSpPr txBox="1">
            <a:spLocks noChangeArrowheads="1"/>
          </p:cNvSpPr>
          <p:nvPr/>
        </p:nvSpPr>
        <p:spPr bwMode="auto">
          <a:xfrm>
            <a:off x="503238" y="2286000"/>
            <a:ext cx="14017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9pPr>
          </a:lstStyle>
          <a:p>
            <a:r>
              <a:rPr lang="zh-CN" altLang="en-US" dirty="0">
                <a:latin typeface="Calibri" pitchFamily="34" charset="0"/>
              </a:rPr>
              <a:t>高速缓存</a:t>
            </a:r>
          </a:p>
        </p:txBody>
      </p:sp>
      <p:sp>
        <p:nvSpPr>
          <p:cNvPr id="28" name="Text Box 29"/>
          <p:cNvSpPr txBox="1">
            <a:spLocks noChangeArrowheads="1"/>
          </p:cNvSpPr>
          <p:nvPr/>
        </p:nvSpPr>
        <p:spPr bwMode="auto">
          <a:xfrm>
            <a:off x="5919788" y="1579563"/>
            <a:ext cx="2090737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 defTabSz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1pPr>
            <a:lvl2pPr marL="742950" indent="-285750" defTabSz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2pPr>
            <a:lvl3pPr marL="1143000" indent="-228600" defTabSz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3pPr>
            <a:lvl4pPr marL="1600200" indent="-228600" defTabSz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4pPr>
            <a:lvl5pPr marL="2057400" indent="-228600" defTabSz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5pPr>
            <a:lvl6pPr marL="2514600" indent="-228600" defTabSz="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6pPr>
            <a:lvl7pPr marL="2971800" indent="-228600" defTabSz="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7pPr>
            <a:lvl8pPr marL="3429000" indent="-228600" defTabSz="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8pPr>
            <a:lvl9pPr marL="3886200" indent="-228600" defTabSz="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9pPr>
          </a:lstStyle>
          <a:p>
            <a:pPr>
              <a:lnSpc>
                <a:spcPct val="98000"/>
              </a:lnSpc>
            </a:pPr>
            <a:r>
              <a:rPr lang="zh-CN" altLang="en-GB" sz="2000" i="1">
                <a:latin typeface="Calibri" pitchFamily="34" charset="0"/>
              </a:rPr>
              <a:t>需要块</a:t>
            </a:r>
            <a:r>
              <a:rPr lang="en-US" altLang="zh-CN" sz="2000" i="1">
                <a:latin typeface="Calibri" pitchFamily="34" charset="0"/>
              </a:rPr>
              <a:t>b</a:t>
            </a:r>
            <a:r>
              <a:rPr lang="zh-CN" altLang="en-US" sz="2000" i="1">
                <a:latin typeface="Calibri" pitchFamily="34" charset="0"/>
              </a:rPr>
              <a:t>中的数据</a:t>
            </a:r>
          </a:p>
        </p:txBody>
      </p:sp>
      <p:sp>
        <p:nvSpPr>
          <p:cNvPr id="29" name="Text Box 29"/>
          <p:cNvSpPr txBox="1">
            <a:spLocks noChangeArrowheads="1"/>
          </p:cNvSpPr>
          <p:nvPr/>
        </p:nvSpPr>
        <p:spPr bwMode="auto">
          <a:xfrm>
            <a:off x="5935663" y="2209800"/>
            <a:ext cx="2160587" cy="696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 defTabSz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1pPr>
            <a:lvl2pPr marL="742950" indent="-285750" defTabSz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2pPr>
            <a:lvl3pPr marL="1143000" indent="-228600" defTabSz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3pPr>
            <a:lvl4pPr marL="1600200" indent="-228600" defTabSz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4pPr>
            <a:lvl5pPr marL="2057400" indent="-228600" defTabSz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5pPr>
            <a:lvl6pPr marL="2514600" indent="-228600" defTabSz="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6pPr>
            <a:lvl7pPr marL="2971800" indent="-228600" defTabSz="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7pPr>
            <a:lvl8pPr marL="3429000" indent="-228600" defTabSz="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8pPr>
            <a:lvl9pPr marL="3886200" indent="-228600" defTabSz="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9pPr>
          </a:lstStyle>
          <a:p>
            <a:pPr>
              <a:lnSpc>
                <a:spcPct val="98000"/>
              </a:lnSpc>
            </a:pPr>
            <a:r>
              <a:rPr lang="zh-CN" altLang="en-GB" sz="2000" i="1" dirty="0">
                <a:latin typeface="Calibri" pitchFamily="34" charset="0"/>
              </a:rPr>
              <a:t>块</a:t>
            </a:r>
            <a:r>
              <a:rPr lang="en-US" altLang="zh-CN" sz="2000" i="1" dirty="0">
                <a:latin typeface="Calibri" pitchFamily="34" charset="0"/>
              </a:rPr>
              <a:t>b</a:t>
            </a:r>
            <a:r>
              <a:rPr lang="zh-CN" altLang="en-US" sz="2000" i="1" dirty="0">
                <a:latin typeface="Calibri" pitchFamily="34" charset="0"/>
              </a:rPr>
              <a:t>在高速缓存中</a:t>
            </a:r>
            <a:r>
              <a:rPr lang="en-GB" altLang="zh-CN" sz="2000" i="1" dirty="0">
                <a:latin typeface="Calibri" pitchFamily="34" charset="0"/>
              </a:rPr>
              <a:t>:</a:t>
            </a:r>
          </a:p>
          <a:p>
            <a:pPr>
              <a:lnSpc>
                <a:spcPct val="98000"/>
              </a:lnSpc>
            </a:pPr>
            <a:r>
              <a:rPr lang="zh-CN" altLang="en-GB" sz="2000" i="1" dirty="0">
                <a:solidFill>
                  <a:srgbClr val="C00000"/>
                </a:solidFill>
                <a:latin typeface="Calibri" pitchFamily="34" charset="0"/>
              </a:rPr>
              <a:t>命中</a:t>
            </a:r>
            <a:r>
              <a:rPr lang="en-GB" altLang="zh-CN" sz="2000" i="1" dirty="0">
                <a:solidFill>
                  <a:srgbClr val="C00000"/>
                </a:solidFill>
                <a:latin typeface="Calibri" pitchFamily="34" charset="0"/>
              </a:rPr>
              <a:t>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3352800" y="1295400"/>
            <a:ext cx="685800" cy="990600"/>
          </a:xfrm>
          <a:custGeom>
            <a:avLst/>
            <a:gdLst/>
            <a:ahLst/>
            <a:cxnLst/>
            <a:rect l="l" t="t" r="r" b="b"/>
            <a:pathLst>
              <a:path w="685800" h="990600">
                <a:moveTo>
                  <a:pt x="685800" y="647700"/>
                </a:moveTo>
                <a:lnTo>
                  <a:pt x="0" y="647700"/>
                </a:lnTo>
                <a:lnTo>
                  <a:pt x="342900" y="990600"/>
                </a:lnTo>
                <a:lnTo>
                  <a:pt x="685800" y="647700"/>
                </a:lnTo>
                <a:close/>
              </a:path>
              <a:path w="685800" h="990600">
                <a:moveTo>
                  <a:pt x="514350" y="342900"/>
                </a:moveTo>
                <a:lnTo>
                  <a:pt x="171450" y="342900"/>
                </a:lnTo>
                <a:lnTo>
                  <a:pt x="171450" y="647700"/>
                </a:lnTo>
                <a:lnTo>
                  <a:pt x="514350" y="647700"/>
                </a:lnTo>
                <a:lnTo>
                  <a:pt x="514350" y="342900"/>
                </a:lnTo>
                <a:close/>
              </a:path>
              <a:path w="685800" h="990600">
                <a:moveTo>
                  <a:pt x="342900" y="0"/>
                </a:moveTo>
                <a:lnTo>
                  <a:pt x="0" y="342900"/>
                </a:lnTo>
                <a:lnTo>
                  <a:pt x="685800" y="342900"/>
                </a:lnTo>
                <a:lnTo>
                  <a:pt x="342900" y="0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352800" y="2895600"/>
            <a:ext cx="685800" cy="1371600"/>
          </a:xfrm>
          <a:custGeom>
            <a:avLst/>
            <a:gdLst/>
            <a:ahLst/>
            <a:cxnLst/>
            <a:rect l="l" t="t" r="r" b="b"/>
            <a:pathLst>
              <a:path w="685800" h="1371600">
                <a:moveTo>
                  <a:pt x="685800" y="1028700"/>
                </a:moveTo>
                <a:lnTo>
                  <a:pt x="0" y="1028700"/>
                </a:lnTo>
                <a:lnTo>
                  <a:pt x="342900" y="1371600"/>
                </a:lnTo>
                <a:lnTo>
                  <a:pt x="685800" y="1028700"/>
                </a:lnTo>
                <a:close/>
              </a:path>
              <a:path w="685800" h="1371600">
                <a:moveTo>
                  <a:pt x="514350" y="342900"/>
                </a:moveTo>
                <a:lnTo>
                  <a:pt x="171450" y="342900"/>
                </a:lnTo>
                <a:lnTo>
                  <a:pt x="171450" y="1028700"/>
                </a:lnTo>
                <a:lnTo>
                  <a:pt x="514350" y="1028700"/>
                </a:lnTo>
                <a:lnTo>
                  <a:pt x="514350" y="342900"/>
                </a:lnTo>
                <a:close/>
              </a:path>
              <a:path w="685800" h="1371600">
                <a:moveTo>
                  <a:pt x="342900" y="0"/>
                </a:moveTo>
                <a:lnTo>
                  <a:pt x="0" y="342900"/>
                </a:lnTo>
                <a:lnTo>
                  <a:pt x="685800" y="342900"/>
                </a:lnTo>
                <a:lnTo>
                  <a:pt x="342900" y="0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74650" y="332235"/>
            <a:ext cx="7591425" cy="840480"/>
          </a:xfrm>
          <a:prstGeom prst="rect">
            <a:avLst/>
          </a:prstGeom>
        </p:spPr>
        <p:txBody>
          <a:bodyPr vert="horz" wrap="square" lIns="0" tIns="283712" rIns="0" bIns="0" rtlCol="0">
            <a:spAutoFit/>
          </a:bodyPr>
          <a:lstStyle/>
          <a:p>
            <a:pPr marL="13335">
              <a:lnSpc>
                <a:spcPct val="100000"/>
              </a:lnSpc>
            </a:pPr>
            <a:r>
              <a:rPr lang="zh-CN" altLang="en-US" dirty="0">
                <a:ea typeface="宋体" pitchFamily="2" charset="-122"/>
              </a:rPr>
              <a:t>基本高速缓存概念</a:t>
            </a:r>
            <a:r>
              <a:rPr lang="en-US" altLang="zh-CN" dirty="0">
                <a:ea typeface="宋体" pitchFamily="2" charset="-122"/>
              </a:rPr>
              <a:t>: </a:t>
            </a:r>
            <a:r>
              <a:rPr lang="zh-CN" altLang="en-US" dirty="0">
                <a:ea typeface="宋体" pitchFamily="2" charset="-122"/>
              </a:rPr>
              <a:t>不命中</a:t>
            </a:r>
            <a:endParaRPr spc="-5" dirty="0"/>
          </a:p>
        </p:txBody>
      </p:sp>
      <p:sp>
        <p:nvSpPr>
          <p:cNvPr id="6" name="object 6"/>
          <p:cNvSpPr/>
          <p:nvPr/>
        </p:nvSpPr>
        <p:spPr>
          <a:xfrm>
            <a:off x="1905000" y="4267200"/>
            <a:ext cx="3581400" cy="2057400"/>
          </a:xfrm>
          <a:custGeom>
            <a:avLst/>
            <a:gdLst/>
            <a:ahLst/>
            <a:cxnLst/>
            <a:rect l="l" t="t" r="r" b="b"/>
            <a:pathLst>
              <a:path w="3581400" h="2057400">
                <a:moveTo>
                  <a:pt x="0" y="0"/>
                </a:moveTo>
                <a:lnTo>
                  <a:pt x="3581400" y="0"/>
                </a:lnTo>
                <a:lnTo>
                  <a:pt x="3581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solidFill>
            <a:srgbClr val="D6D6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905000" y="4267200"/>
            <a:ext cx="3581400" cy="2057400"/>
          </a:xfrm>
          <a:custGeom>
            <a:avLst/>
            <a:gdLst/>
            <a:ahLst/>
            <a:cxnLst/>
            <a:rect l="l" t="t" r="r" b="b"/>
            <a:pathLst>
              <a:path w="3581400" h="2057400">
                <a:moveTo>
                  <a:pt x="0" y="0"/>
                </a:moveTo>
                <a:lnTo>
                  <a:pt x="3581400" y="0"/>
                </a:lnTo>
                <a:lnTo>
                  <a:pt x="3581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905000" y="2272385"/>
            <a:ext cx="3581400" cy="609600"/>
          </a:xfrm>
          <a:custGeom>
            <a:avLst/>
            <a:gdLst/>
            <a:ahLst/>
            <a:cxnLst/>
            <a:rect l="l" t="t" r="r" b="b"/>
            <a:pathLst>
              <a:path w="3581400" h="609600">
                <a:moveTo>
                  <a:pt x="0" y="0"/>
                </a:moveTo>
                <a:lnTo>
                  <a:pt x="3581400" y="0"/>
                </a:lnTo>
                <a:lnTo>
                  <a:pt x="35814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D6D6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905000" y="2272385"/>
            <a:ext cx="3581400" cy="609600"/>
          </a:xfrm>
          <a:custGeom>
            <a:avLst/>
            <a:gdLst/>
            <a:ahLst/>
            <a:cxnLst/>
            <a:rect l="l" t="t" r="r" b="b"/>
            <a:pathLst>
              <a:path w="3581400" h="609600">
                <a:moveTo>
                  <a:pt x="0" y="0"/>
                </a:moveTo>
                <a:lnTo>
                  <a:pt x="3581400" y="0"/>
                </a:lnTo>
                <a:lnTo>
                  <a:pt x="35814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057400" y="5562600"/>
            <a:ext cx="762000" cy="304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spc="-5" dirty="0">
                <a:latin typeface="Calibri"/>
                <a:cs typeface="Calibri"/>
              </a:rPr>
              <a:t>12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286000" y="6096000"/>
            <a:ext cx="3048000" cy="1905"/>
          </a:xfrm>
          <a:custGeom>
            <a:avLst/>
            <a:gdLst/>
            <a:ahLst/>
            <a:cxnLst/>
            <a:rect l="l" t="t" r="r" b="b"/>
            <a:pathLst>
              <a:path w="3048000" h="1904">
                <a:moveTo>
                  <a:pt x="0" y="0"/>
                </a:moveTo>
                <a:lnTo>
                  <a:pt x="3048000" y="1473"/>
                </a:lnTo>
              </a:path>
            </a:pathLst>
          </a:custGeom>
          <a:ln w="88900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895600" y="2424785"/>
            <a:ext cx="0" cy="304800"/>
          </a:xfrm>
          <a:custGeom>
            <a:avLst/>
            <a:gdLst/>
            <a:ahLst/>
            <a:cxnLst/>
            <a:rect l="l" t="t" r="r" b="b"/>
            <a:pathLst>
              <a:path h="304800">
                <a:moveTo>
                  <a:pt x="0" y="304800"/>
                </a:moveTo>
                <a:lnTo>
                  <a:pt x="0" y="0"/>
                </a:lnTo>
                <a:lnTo>
                  <a:pt x="0" y="3048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895600" y="2424785"/>
            <a:ext cx="762000" cy="304800"/>
          </a:xfrm>
          <a:custGeom>
            <a:avLst/>
            <a:gdLst/>
            <a:ahLst/>
            <a:cxnLst/>
            <a:rect l="l" t="t" r="r" b="b"/>
            <a:pathLst>
              <a:path w="762000" h="304800">
                <a:moveTo>
                  <a:pt x="0" y="0"/>
                </a:moveTo>
                <a:lnTo>
                  <a:pt x="762000" y="0"/>
                </a:lnTo>
                <a:lnTo>
                  <a:pt x="7620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2057400" y="2424785"/>
            <a:ext cx="762000" cy="304800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spc="-5" dirty="0">
                <a:latin typeface="Calibri"/>
                <a:cs typeface="Calibri"/>
              </a:rPr>
              <a:t>8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895600" y="2425522"/>
            <a:ext cx="762000" cy="304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spc="-5" dirty="0">
                <a:latin typeface="Calibri"/>
                <a:cs typeface="Calibri"/>
              </a:rPr>
              <a:t>9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733800" y="2424785"/>
            <a:ext cx="762000" cy="304800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spc="-5" dirty="0">
                <a:latin typeface="Calibri"/>
                <a:cs typeface="Calibri"/>
              </a:rPr>
              <a:t>14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572000" y="2424785"/>
            <a:ext cx="762000" cy="304800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spc="-5" dirty="0">
                <a:latin typeface="Calibri"/>
                <a:cs typeface="Calibri"/>
              </a:rPr>
              <a:t>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082719" y="1691017"/>
            <a:ext cx="1013460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spc="-30" dirty="0">
                <a:latin typeface="Calibri"/>
                <a:cs typeface="Calibri"/>
              </a:rPr>
              <a:t>R</a:t>
            </a:r>
            <a:r>
              <a:rPr sz="1600" b="1" spc="-5" dirty="0">
                <a:latin typeface="Calibri"/>
                <a:cs typeface="Calibri"/>
              </a:rPr>
              <a:t>e</a:t>
            </a:r>
            <a:r>
              <a:rPr sz="1600" b="1" spc="-10" dirty="0">
                <a:latin typeface="Calibri"/>
                <a:cs typeface="Calibri"/>
              </a:rPr>
              <a:t>qu</a:t>
            </a:r>
            <a:r>
              <a:rPr sz="1600" b="1" spc="-5" dirty="0">
                <a:latin typeface="Calibri"/>
                <a:cs typeface="Calibri"/>
              </a:rPr>
              <a:t>e</a:t>
            </a:r>
            <a:r>
              <a:rPr sz="1600" b="1" spc="-20" dirty="0">
                <a:latin typeface="Calibri"/>
                <a:cs typeface="Calibri"/>
              </a:rPr>
              <a:t>s</a:t>
            </a:r>
            <a:r>
              <a:rPr sz="1600" b="1" spc="-10" dirty="0">
                <a:latin typeface="Calibri"/>
                <a:cs typeface="Calibri"/>
              </a:rPr>
              <a:t>t</a:t>
            </a:r>
            <a:r>
              <a:rPr sz="1600" b="1" spc="-5" dirty="0">
                <a:latin typeface="Calibri"/>
                <a:cs typeface="Calibri"/>
              </a:rPr>
              <a:t>:</a:t>
            </a:r>
            <a:r>
              <a:rPr sz="1600" b="1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12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082718" y="3466746"/>
            <a:ext cx="1013460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spc="-30" dirty="0">
                <a:latin typeface="Calibri"/>
                <a:cs typeface="Calibri"/>
              </a:rPr>
              <a:t>R</a:t>
            </a:r>
            <a:r>
              <a:rPr sz="1600" b="1" spc="-5" dirty="0">
                <a:latin typeface="Calibri"/>
                <a:cs typeface="Calibri"/>
              </a:rPr>
              <a:t>e</a:t>
            </a:r>
            <a:r>
              <a:rPr sz="1600" b="1" spc="-10" dirty="0">
                <a:latin typeface="Calibri"/>
                <a:cs typeface="Calibri"/>
              </a:rPr>
              <a:t>qu</a:t>
            </a:r>
            <a:r>
              <a:rPr sz="1600" b="1" spc="-5" dirty="0">
                <a:latin typeface="Calibri"/>
                <a:cs typeface="Calibri"/>
              </a:rPr>
              <a:t>e</a:t>
            </a:r>
            <a:r>
              <a:rPr sz="1600" b="1" spc="-20" dirty="0">
                <a:latin typeface="Calibri"/>
                <a:cs typeface="Calibri"/>
              </a:rPr>
              <a:t>s</a:t>
            </a:r>
            <a:r>
              <a:rPr sz="1600" b="1" spc="-10" dirty="0">
                <a:latin typeface="Calibri"/>
                <a:cs typeface="Calibri"/>
              </a:rPr>
              <a:t>t</a:t>
            </a:r>
            <a:r>
              <a:rPr sz="1600" b="1" spc="-5" dirty="0">
                <a:latin typeface="Calibri"/>
                <a:cs typeface="Calibri"/>
              </a:rPr>
              <a:t>:</a:t>
            </a:r>
            <a:r>
              <a:rPr sz="1600" b="1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12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590800" y="3429000"/>
            <a:ext cx="762000" cy="304800"/>
          </a:xfrm>
          <a:prstGeom prst="rect">
            <a:avLst/>
          </a:prstGeom>
          <a:solidFill>
            <a:srgbClr val="FF9999"/>
          </a:solidFill>
          <a:ln w="2857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spc="-5" dirty="0">
                <a:latin typeface="Calibri"/>
                <a:cs typeface="Calibri"/>
              </a:rPr>
              <a:t>12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2895600" y="2425522"/>
            <a:ext cx="762000" cy="304800"/>
          </a:xfrm>
          <a:custGeom>
            <a:avLst/>
            <a:gdLst/>
            <a:ahLst/>
            <a:cxnLst/>
            <a:rect l="l" t="t" r="r" b="b"/>
            <a:pathLst>
              <a:path w="762000" h="304800">
                <a:moveTo>
                  <a:pt x="0" y="0"/>
                </a:moveTo>
                <a:lnTo>
                  <a:pt x="762000" y="0"/>
                </a:lnTo>
                <a:lnTo>
                  <a:pt x="7620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FF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895600" y="2425522"/>
            <a:ext cx="762000" cy="304800"/>
          </a:xfrm>
          <a:custGeom>
            <a:avLst/>
            <a:gdLst/>
            <a:ahLst/>
            <a:cxnLst/>
            <a:rect l="l" t="t" r="r" b="b"/>
            <a:pathLst>
              <a:path w="762000" h="304800">
                <a:moveTo>
                  <a:pt x="0" y="0"/>
                </a:moveTo>
                <a:lnTo>
                  <a:pt x="762000" y="0"/>
                </a:lnTo>
                <a:lnTo>
                  <a:pt x="7620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2895600" y="2425153"/>
            <a:ext cx="762000" cy="304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spc="-5" dirty="0">
                <a:latin typeface="Calibri"/>
                <a:cs typeface="Calibri"/>
              </a:rPr>
              <a:t>12</a:t>
            </a:r>
            <a:endParaRPr sz="1800">
              <a:latin typeface="Calibri"/>
              <a:cs typeface="Calibri"/>
            </a:endParaRPr>
          </a:p>
        </p:txBody>
      </p:sp>
      <p:graphicFrame>
        <p:nvGraphicFramePr>
          <p:cNvPr id="14" name="object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1349654"/>
              </p:ext>
            </p:extLst>
          </p:nvPr>
        </p:nvGraphicFramePr>
        <p:xfrm>
          <a:off x="513656" y="4419600"/>
          <a:ext cx="4820343" cy="14706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913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</a:pPr>
                      <a:r>
                        <a:rPr lang="zh-CN" altLang="en-US" sz="2400" dirty="0">
                          <a:latin typeface="Calibri"/>
                          <a:cs typeface="Calibri"/>
                        </a:rPr>
                        <a:t>主存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1200"/>
                        </a:lnSpc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3810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B w="3810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1200"/>
                        </a:lnSpc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3810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B w="3810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1200"/>
                        </a:lnSpc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3810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B w="3810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1200"/>
                        </a:lnSpc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3810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1200"/>
                        </a:lnSpc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381000">
                      <a:solidFill>
                        <a:srgbClr val="000000"/>
                      </a:solidFill>
                      <a:prstDash val="solid"/>
                    </a:lnT>
                    <a:lnB w="3810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381000">
                      <a:solidFill>
                        <a:srgbClr val="000000"/>
                      </a:solidFill>
                      <a:prstDash val="solid"/>
                    </a:lnT>
                    <a:lnB w="3810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1200"/>
                        </a:lnSpc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381000">
                      <a:solidFill>
                        <a:srgbClr val="000000"/>
                      </a:solidFill>
                      <a:prstDash val="solid"/>
                    </a:lnT>
                    <a:lnB w="3810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381000">
                      <a:solidFill>
                        <a:srgbClr val="000000"/>
                      </a:solidFill>
                      <a:prstDash val="solid"/>
                    </a:lnT>
                    <a:lnB w="3810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1200"/>
                        </a:lnSpc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381000">
                      <a:solidFill>
                        <a:srgbClr val="000000"/>
                      </a:solidFill>
                      <a:prstDash val="solid"/>
                    </a:lnT>
                    <a:lnB w="3810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381000">
                      <a:solidFill>
                        <a:srgbClr val="000000"/>
                      </a:solidFill>
                      <a:prstDash val="solid"/>
                    </a:lnT>
                    <a:lnB w="3810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1200"/>
                        </a:lnSpc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381000">
                      <a:solidFill>
                        <a:srgbClr val="000000"/>
                      </a:solidFill>
                      <a:prstDash val="solid"/>
                    </a:lnT>
                    <a:lnB w="3810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381000">
                      <a:solidFill>
                        <a:srgbClr val="000000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381000">
                      <a:solidFill>
                        <a:srgbClr val="000000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9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381000">
                      <a:solidFill>
                        <a:srgbClr val="000000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381000">
                      <a:solidFill>
                        <a:srgbClr val="000000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10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381000">
                      <a:solidFill>
                        <a:srgbClr val="000000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381000">
                      <a:solidFill>
                        <a:srgbClr val="000000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11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381000">
                      <a:solidFill>
                        <a:srgbClr val="000000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12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13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14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15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2" name="TextBox 29"/>
          <p:cNvSpPr txBox="1">
            <a:spLocks noChangeArrowheads="1"/>
          </p:cNvSpPr>
          <p:nvPr/>
        </p:nvSpPr>
        <p:spPr bwMode="auto">
          <a:xfrm>
            <a:off x="457200" y="2286000"/>
            <a:ext cx="14017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9pPr>
          </a:lstStyle>
          <a:p>
            <a:r>
              <a:rPr lang="zh-CN" altLang="en-US" dirty="0">
                <a:latin typeface="Calibri" pitchFamily="34" charset="0"/>
              </a:rPr>
              <a:t>高速缓存</a:t>
            </a:r>
          </a:p>
        </p:txBody>
      </p:sp>
      <p:sp>
        <p:nvSpPr>
          <p:cNvPr id="33" name="Text Box 29"/>
          <p:cNvSpPr txBox="1">
            <a:spLocks noChangeArrowheads="1"/>
          </p:cNvSpPr>
          <p:nvPr/>
        </p:nvSpPr>
        <p:spPr bwMode="auto">
          <a:xfrm>
            <a:off x="5919788" y="1579563"/>
            <a:ext cx="2090737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 defTabSz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1pPr>
            <a:lvl2pPr marL="742950" indent="-285750" defTabSz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2pPr>
            <a:lvl3pPr marL="1143000" indent="-228600" defTabSz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3pPr>
            <a:lvl4pPr marL="1600200" indent="-228600" defTabSz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4pPr>
            <a:lvl5pPr marL="2057400" indent="-228600" defTabSz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5pPr>
            <a:lvl6pPr marL="2514600" indent="-228600" defTabSz="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6pPr>
            <a:lvl7pPr marL="2971800" indent="-228600" defTabSz="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7pPr>
            <a:lvl8pPr marL="3429000" indent="-228600" defTabSz="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8pPr>
            <a:lvl9pPr marL="3886200" indent="-228600" defTabSz="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9pPr>
          </a:lstStyle>
          <a:p>
            <a:pPr>
              <a:lnSpc>
                <a:spcPct val="98000"/>
              </a:lnSpc>
            </a:pPr>
            <a:r>
              <a:rPr lang="zh-CN" altLang="en-GB" sz="2000" i="1">
                <a:latin typeface="Calibri" pitchFamily="34" charset="0"/>
                <a:sym typeface="+mn-ea"/>
              </a:rPr>
              <a:t>需要块</a:t>
            </a:r>
            <a:r>
              <a:rPr lang="en-US" altLang="zh-CN" sz="2000" i="1">
                <a:latin typeface="Calibri" pitchFamily="34" charset="0"/>
                <a:sym typeface="+mn-ea"/>
              </a:rPr>
              <a:t>b</a:t>
            </a:r>
            <a:r>
              <a:rPr lang="zh-CN" altLang="en-US" sz="2000" i="1">
                <a:latin typeface="Calibri" pitchFamily="34" charset="0"/>
                <a:sym typeface="+mn-ea"/>
              </a:rPr>
              <a:t>中的数据</a:t>
            </a:r>
            <a:endParaRPr lang="en-GB" altLang="zh-CN" sz="2000" i="1">
              <a:latin typeface="Calibri" pitchFamily="34" charset="0"/>
            </a:endParaRPr>
          </a:p>
        </p:txBody>
      </p:sp>
      <p:sp>
        <p:nvSpPr>
          <p:cNvPr id="34" name="Text Box 29"/>
          <p:cNvSpPr txBox="1">
            <a:spLocks noChangeArrowheads="1"/>
          </p:cNvSpPr>
          <p:nvPr/>
        </p:nvSpPr>
        <p:spPr bwMode="auto">
          <a:xfrm>
            <a:off x="5935663" y="2209800"/>
            <a:ext cx="2414587" cy="696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 defTabSz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1pPr>
            <a:lvl2pPr marL="742950" indent="-285750" defTabSz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2pPr>
            <a:lvl3pPr marL="1143000" indent="-228600" defTabSz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3pPr>
            <a:lvl4pPr marL="1600200" indent="-228600" defTabSz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4pPr>
            <a:lvl5pPr marL="2057400" indent="-228600" defTabSz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5pPr>
            <a:lvl6pPr marL="2514600" indent="-228600" defTabSz="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6pPr>
            <a:lvl7pPr marL="2971800" indent="-228600" defTabSz="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7pPr>
            <a:lvl8pPr marL="3429000" indent="-228600" defTabSz="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8pPr>
            <a:lvl9pPr marL="3886200" indent="-228600" defTabSz="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9pPr>
          </a:lstStyle>
          <a:p>
            <a:pPr>
              <a:lnSpc>
                <a:spcPct val="98000"/>
              </a:lnSpc>
            </a:pPr>
            <a:r>
              <a:rPr lang="zh-CN" altLang="en-GB" sz="2000" i="1">
                <a:latin typeface="Calibri" pitchFamily="34" charset="0"/>
                <a:sym typeface="+mn-ea"/>
              </a:rPr>
              <a:t>块</a:t>
            </a:r>
            <a:r>
              <a:rPr lang="en-US" altLang="zh-CN" sz="2000" i="1">
                <a:latin typeface="Calibri" pitchFamily="34" charset="0"/>
                <a:sym typeface="+mn-ea"/>
              </a:rPr>
              <a:t>b</a:t>
            </a:r>
            <a:r>
              <a:rPr lang="zh-CN" altLang="en-US" sz="2000" i="1">
                <a:latin typeface="Calibri" pitchFamily="34" charset="0"/>
                <a:sym typeface="+mn-ea"/>
              </a:rPr>
              <a:t>不在高速缓存中</a:t>
            </a:r>
            <a:r>
              <a:rPr lang="en-GB" altLang="zh-CN" sz="2000" i="1">
                <a:latin typeface="Calibri" pitchFamily="34" charset="0"/>
                <a:sym typeface="+mn-ea"/>
              </a:rPr>
              <a:t>:</a:t>
            </a:r>
            <a:endParaRPr lang="en-GB" altLang="zh-CN" sz="2000" i="1">
              <a:latin typeface="Calibri" pitchFamily="34" charset="0"/>
            </a:endParaRPr>
          </a:p>
          <a:p>
            <a:pPr>
              <a:lnSpc>
                <a:spcPct val="98000"/>
              </a:lnSpc>
            </a:pPr>
            <a:r>
              <a:rPr lang="zh-CN" altLang="en-GB" sz="2000" i="1">
                <a:solidFill>
                  <a:srgbClr val="C00000"/>
                </a:solidFill>
                <a:latin typeface="Calibri" pitchFamily="34" charset="0"/>
                <a:sym typeface="+mn-ea"/>
              </a:rPr>
              <a:t>不命中</a:t>
            </a:r>
            <a:r>
              <a:rPr lang="en-GB" altLang="zh-CN" sz="2000" i="1">
                <a:solidFill>
                  <a:srgbClr val="C00000"/>
                </a:solidFill>
                <a:latin typeface="Calibri" pitchFamily="34" charset="0"/>
                <a:sym typeface="+mn-ea"/>
              </a:rPr>
              <a:t>!</a:t>
            </a:r>
            <a:endParaRPr lang="en-GB" altLang="zh-CN" sz="2000" i="1">
              <a:solidFill>
                <a:srgbClr val="C00000"/>
              </a:solidFill>
              <a:latin typeface="Calibri" pitchFamily="34" charset="0"/>
            </a:endParaRPr>
          </a:p>
        </p:txBody>
      </p:sp>
      <p:sp>
        <p:nvSpPr>
          <p:cNvPr id="35" name="Text Box 29"/>
          <p:cNvSpPr txBox="1">
            <a:spLocks noChangeArrowheads="1"/>
          </p:cNvSpPr>
          <p:nvPr/>
        </p:nvSpPr>
        <p:spPr bwMode="auto">
          <a:xfrm>
            <a:off x="5919788" y="3390900"/>
            <a:ext cx="2090737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 defTabSz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1pPr>
            <a:lvl2pPr marL="742950" indent="-285750" defTabSz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2pPr>
            <a:lvl3pPr marL="1143000" indent="-228600" defTabSz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3pPr>
            <a:lvl4pPr marL="1600200" indent="-228600" defTabSz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4pPr>
            <a:lvl5pPr marL="2057400" indent="-228600" defTabSz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5pPr>
            <a:lvl6pPr marL="2514600" indent="-228600" defTabSz="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6pPr>
            <a:lvl7pPr marL="2971800" indent="-228600" defTabSz="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7pPr>
            <a:lvl8pPr marL="3429000" indent="-228600" defTabSz="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8pPr>
            <a:lvl9pPr marL="3886200" indent="-228600" defTabSz="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9pPr>
          </a:lstStyle>
          <a:p>
            <a:pPr>
              <a:lnSpc>
                <a:spcPct val="98000"/>
              </a:lnSpc>
            </a:pPr>
            <a:r>
              <a:rPr lang="zh-CN" altLang="en-GB" sz="2000" i="1">
                <a:latin typeface="Calibri" pitchFamily="34" charset="0"/>
              </a:rPr>
              <a:t>块</a:t>
            </a:r>
            <a:r>
              <a:rPr lang="en-US" altLang="zh-CN" sz="2000" i="1">
                <a:latin typeface="Calibri" pitchFamily="34" charset="0"/>
              </a:rPr>
              <a:t>b</a:t>
            </a:r>
            <a:r>
              <a:rPr lang="zh-CN" altLang="en-US" sz="2000" i="1">
                <a:latin typeface="Calibri" pitchFamily="34" charset="0"/>
              </a:rPr>
              <a:t>从主存中读取</a:t>
            </a:r>
          </a:p>
        </p:txBody>
      </p:sp>
      <p:sp>
        <p:nvSpPr>
          <p:cNvPr id="36" name="Text Box 29"/>
          <p:cNvSpPr txBox="1">
            <a:spLocks noChangeArrowheads="1"/>
          </p:cNvSpPr>
          <p:nvPr/>
        </p:nvSpPr>
        <p:spPr bwMode="auto">
          <a:xfrm>
            <a:off x="5943600" y="4332288"/>
            <a:ext cx="2598738" cy="1471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 defTabSz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1pPr>
            <a:lvl2pPr marL="742950" indent="-285750" defTabSz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2pPr>
            <a:lvl3pPr marL="1143000" indent="-228600" defTabSz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3pPr>
            <a:lvl4pPr marL="1600200" indent="-228600" defTabSz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4pPr>
            <a:lvl5pPr marL="2057400" indent="-228600" defTabSz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5pPr>
            <a:lvl6pPr marL="2514600" indent="-228600" defTabSz="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6pPr>
            <a:lvl7pPr marL="2971800" indent="-228600" defTabSz="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7pPr>
            <a:lvl8pPr marL="3429000" indent="-228600" defTabSz="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8pPr>
            <a:lvl9pPr marL="3886200" indent="-228600" defTabSz="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b="1">
                <a:solidFill>
                  <a:schemeClr val="tx1"/>
                </a:solidFill>
                <a:latin typeface="Arial Narrow" pitchFamily="34" charset="0"/>
                <a:ea typeface="宋体" pitchFamily="2" charset="-122"/>
              </a:defRPr>
            </a:lvl9pPr>
          </a:lstStyle>
          <a:p>
            <a:pPr>
              <a:lnSpc>
                <a:spcPct val="98000"/>
              </a:lnSpc>
            </a:pPr>
            <a:r>
              <a:rPr lang="zh-CN" altLang="en-GB" sz="2000" i="1">
                <a:latin typeface="Calibri" pitchFamily="34" charset="0"/>
              </a:rPr>
              <a:t>块</a:t>
            </a:r>
            <a:r>
              <a:rPr lang="en-US" altLang="zh-CN" sz="2000" i="1">
                <a:latin typeface="Calibri" pitchFamily="34" charset="0"/>
              </a:rPr>
              <a:t>b</a:t>
            </a:r>
            <a:r>
              <a:rPr lang="zh-CN" altLang="en-US" sz="2000" i="1">
                <a:latin typeface="Calibri" pitchFamily="34" charset="0"/>
              </a:rPr>
              <a:t>存储在高速缓存中</a:t>
            </a:r>
          </a:p>
          <a:p>
            <a:pPr>
              <a:lnSpc>
                <a:spcPct val="98000"/>
              </a:lnSpc>
              <a:buFont typeface="Arial" pitchFamily="34" charset="0"/>
              <a:buChar char="•"/>
            </a:pPr>
            <a:r>
              <a:rPr lang="zh-CN" altLang="en-GB" sz="1800" b="0">
                <a:solidFill>
                  <a:srgbClr val="C00000"/>
                </a:solidFill>
                <a:latin typeface="Calibri" pitchFamily="34" charset="0"/>
              </a:rPr>
              <a:t>替换策略</a:t>
            </a:r>
            <a:r>
              <a:rPr lang="en-GB" altLang="zh-CN" sz="1800" b="0">
                <a:solidFill>
                  <a:srgbClr val="C00000"/>
                </a:solidFill>
                <a:latin typeface="Calibri" pitchFamily="34" charset="0"/>
              </a:rPr>
              <a:t>:</a:t>
            </a:r>
            <a:br>
              <a:rPr lang="en-GB" altLang="zh-CN" sz="1800" b="0">
                <a:latin typeface="Calibri" pitchFamily="34" charset="0"/>
              </a:rPr>
            </a:br>
            <a:r>
              <a:rPr lang="zh-CN" altLang="en-GB" sz="1800" b="0">
                <a:latin typeface="Calibri" pitchFamily="34" charset="0"/>
              </a:rPr>
              <a:t>决定块</a:t>
            </a:r>
            <a:r>
              <a:rPr lang="en-US" altLang="zh-CN" sz="1800" b="0">
                <a:latin typeface="Calibri" pitchFamily="34" charset="0"/>
              </a:rPr>
              <a:t>b</a:t>
            </a:r>
            <a:r>
              <a:rPr lang="zh-CN" altLang="en-US" sz="1800" b="0">
                <a:latin typeface="Calibri" pitchFamily="34" charset="0"/>
              </a:rPr>
              <a:t>去向</a:t>
            </a:r>
          </a:p>
          <a:p>
            <a:pPr>
              <a:lnSpc>
                <a:spcPct val="98000"/>
              </a:lnSpc>
              <a:buFont typeface="Arial" pitchFamily="34" charset="0"/>
              <a:buChar char="•"/>
            </a:pPr>
            <a:r>
              <a:rPr lang="zh-CN" altLang="en-GB" sz="1800" b="0">
                <a:solidFill>
                  <a:srgbClr val="C00000"/>
                </a:solidFill>
                <a:latin typeface="Calibri" pitchFamily="34" charset="0"/>
              </a:rPr>
              <a:t>替换策略</a:t>
            </a:r>
            <a:r>
              <a:rPr lang="en-GB" altLang="zh-CN" sz="1800" b="0">
                <a:solidFill>
                  <a:srgbClr val="C00000"/>
                </a:solidFill>
                <a:latin typeface="Calibri" pitchFamily="34" charset="0"/>
              </a:rPr>
              <a:t>:</a:t>
            </a:r>
            <a:br>
              <a:rPr lang="en-GB" altLang="zh-CN" sz="1800" b="0">
                <a:solidFill>
                  <a:srgbClr val="C00000"/>
                </a:solidFill>
                <a:latin typeface="Calibri" pitchFamily="34" charset="0"/>
              </a:rPr>
            </a:br>
            <a:r>
              <a:rPr lang="zh-CN" altLang="en-GB" sz="1800" b="0">
                <a:latin typeface="Calibri" pitchFamily="34" charset="0"/>
              </a:rPr>
              <a:t>决定哪一块被换出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4" grpId="0"/>
      <p:bldP spid="3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57018" y="539679"/>
            <a:ext cx="7592093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1445" marR="5080" indent="-119380">
              <a:lnSpc>
                <a:spcPct val="100000"/>
              </a:lnSpc>
            </a:pPr>
            <a:r>
              <a:rPr lang="zh-CN" altLang="en-US" dirty="0">
                <a:ea typeface="宋体" pitchFamily="2" charset="-122"/>
              </a:rPr>
              <a:t>基本高速缓存概念</a:t>
            </a:r>
            <a:r>
              <a:rPr lang="en-US" altLang="zh-CN" dirty="0">
                <a:ea typeface="宋体" pitchFamily="2" charset="-122"/>
              </a:rPr>
              <a:t>:</a:t>
            </a:r>
            <a:r>
              <a:rPr spc="-5" dirty="0"/>
              <a:t> </a:t>
            </a:r>
            <a:r>
              <a:rPr lang="zh-CN" altLang="en-US" spc="-5" dirty="0"/>
              <a:t>多类缓存不命中</a:t>
            </a:r>
            <a:endParaRPr spc="-5" dirty="0"/>
          </a:p>
        </p:txBody>
      </p:sp>
      <p:sp>
        <p:nvSpPr>
          <p:cNvPr id="4" name="object 4"/>
          <p:cNvSpPr txBox="1">
            <a:spLocks noGrp="1"/>
          </p:cNvSpPr>
          <p:nvPr>
            <p:ph idx="1"/>
          </p:nvPr>
        </p:nvSpPr>
        <p:spPr>
          <a:xfrm>
            <a:off x="396875" y="1362075"/>
            <a:ext cx="7896225" cy="41088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17525">
              <a:buFont typeface="Wingdings" pitchFamily="2" charset="2"/>
              <a:buChar char=""/>
              <a:tabLst>
                <a:tab pos="517525" algn="l"/>
              </a:tabLst>
            </a:pPr>
            <a:r>
              <a:rPr lang="zh-CN" altLang="en-US" dirty="0">
                <a:ea typeface="宋体" pitchFamily="2" charset="-122"/>
              </a:rPr>
              <a:t>冷不命中</a:t>
            </a:r>
            <a:r>
              <a:rPr lang="zh-CN" altLang="zh-CN" dirty="0"/>
              <a:t>(</a:t>
            </a:r>
            <a:r>
              <a:rPr lang="zh-CN" altLang="en-US" dirty="0">
                <a:ea typeface="宋体" pitchFamily="2" charset="-122"/>
              </a:rPr>
              <a:t>或强制性不命中</a:t>
            </a:r>
            <a:r>
              <a:rPr lang="zh-CN" altLang="zh-CN" dirty="0"/>
              <a:t>) </a:t>
            </a:r>
          </a:p>
          <a:p>
            <a:pPr marL="918210" lvl="1" indent="-286385">
              <a:lnSpc>
                <a:spcPct val="100000"/>
              </a:lnSpc>
              <a:spcBef>
                <a:spcPts val="505"/>
              </a:spcBef>
              <a:buClr>
                <a:srgbClr val="990000"/>
              </a:buClr>
              <a:buSzPct val="110000"/>
              <a:buFont typeface="Wingdings"/>
              <a:buChar char=""/>
              <a:tabLst>
                <a:tab pos="918844" algn="l"/>
              </a:tabLst>
            </a:pPr>
            <a:r>
              <a:rPr lang="zh-CN" altLang="en-US" sz="2000" dirty="0">
                <a:latin typeface="Calibri"/>
                <a:cs typeface="Calibri"/>
              </a:rPr>
              <a:t>缓存为空时发生冷不命中</a:t>
            </a:r>
            <a:r>
              <a:rPr sz="2000" dirty="0">
                <a:latin typeface="Calibri"/>
                <a:cs typeface="Calibri"/>
              </a:rPr>
              <a:t>.</a:t>
            </a:r>
          </a:p>
          <a:p>
            <a:pPr marL="517525">
              <a:spcBef>
                <a:spcPts val="550"/>
              </a:spcBef>
              <a:buSzPct val="58000"/>
              <a:buFont typeface="Wingdings" pitchFamily="2" charset="2"/>
              <a:buChar char=""/>
              <a:tabLst>
                <a:tab pos="517525" algn="l"/>
              </a:tabLst>
            </a:pPr>
            <a:r>
              <a:rPr lang="zh-CN" altLang="en-US" dirty="0">
                <a:ea typeface="宋体" pitchFamily="2" charset="-122"/>
              </a:rPr>
              <a:t>冲突不命中</a:t>
            </a:r>
            <a:endParaRPr lang="zh-CN" altLang="zh-CN" dirty="0">
              <a:ea typeface="宋体" pitchFamily="2" charset="-122"/>
            </a:endParaRPr>
          </a:p>
          <a:p>
            <a:pPr marL="917575" lvl="1">
              <a:spcBef>
                <a:spcPts val="500"/>
              </a:spcBef>
              <a:buFont typeface="Wingdings" pitchFamily="2" charset="2"/>
              <a:buChar char=""/>
              <a:tabLst>
                <a:tab pos="517525" algn="l"/>
              </a:tabLst>
            </a:pPr>
            <a:r>
              <a:rPr lang="zh-CN" altLang="en-US" dirty="0">
                <a:ea typeface="宋体" pitchFamily="2" charset="-122"/>
              </a:rPr>
              <a:t>大多数高速缓存将第</a:t>
            </a:r>
            <a:r>
              <a:rPr lang="en-US" altLang="zh-CN" dirty="0">
                <a:ea typeface="宋体" pitchFamily="2" charset="-122"/>
              </a:rPr>
              <a:t>k+1</a:t>
            </a:r>
            <a:r>
              <a:rPr lang="zh-CN" altLang="en-US" dirty="0">
                <a:ea typeface="宋体" pitchFamily="2" charset="-122"/>
              </a:rPr>
              <a:t>层的某个块限制放置在第</a:t>
            </a:r>
            <a:r>
              <a:rPr lang="en-US" altLang="zh-CN" dirty="0">
                <a:ea typeface="宋体" pitchFamily="2" charset="-122"/>
              </a:rPr>
              <a:t>k</a:t>
            </a:r>
            <a:r>
              <a:rPr lang="zh-CN" altLang="en-US" dirty="0">
                <a:ea typeface="宋体" pitchFamily="2" charset="-122"/>
              </a:rPr>
              <a:t>层块的一个小的子集中（有时只是一个块）</a:t>
            </a:r>
            <a:endParaRPr lang="zh-CN" altLang="zh-CN" dirty="0">
              <a:ea typeface="宋体" pitchFamily="2" charset="-122"/>
            </a:endParaRPr>
          </a:p>
          <a:p>
            <a:pPr marL="1317625" lvl="2">
              <a:spcBef>
                <a:spcPts val="475"/>
              </a:spcBef>
              <a:buFont typeface="Wingdings" pitchFamily="2" charset="2"/>
              <a:buChar char=""/>
              <a:tabLst>
                <a:tab pos="517525" algn="l"/>
              </a:tabLst>
            </a:pPr>
            <a:r>
              <a:rPr lang="zh-CN" altLang="en-US" dirty="0">
                <a:ea typeface="宋体" pitchFamily="2" charset="-122"/>
              </a:rPr>
              <a:t>例如，第</a:t>
            </a:r>
            <a:r>
              <a:rPr lang="en-US" altLang="zh-CN" dirty="0">
                <a:ea typeface="宋体" pitchFamily="2" charset="-122"/>
              </a:rPr>
              <a:t>k+1</a:t>
            </a:r>
            <a:r>
              <a:rPr lang="zh-CN" altLang="en-US" dirty="0">
                <a:ea typeface="宋体" pitchFamily="2" charset="-122"/>
              </a:rPr>
              <a:t>层的块</a:t>
            </a:r>
            <a:r>
              <a:rPr lang="en-US" altLang="zh-CN" dirty="0">
                <a:ea typeface="宋体" pitchFamily="2" charset="-122"/>
              </a:rPr>
              <a:t>i</a:t>
            </a:r>
            <a:r>
              <a:rPr lang="zh-CN" altLang="en-US" dirty="0">
                <a:ea typeface="宋体" pitchFamily="2" charset="-122"/>
              </a:rPr>
              <a:t>必须放置在第</a:t>
            </a:r>
            <a:r>
              <a:rPr lang="en-US" altLang="zh-CN" dirty="0">
                <a:ea typeface="宋体" pitchFamily="2" charset="-122"/>
              </a:rPr>
              <a:t>k</a:t>
            </a:r>
            <a:r>
              <a:rPr lang="zh-CN" altLang="en-US" dirty="0">
                <a:ea typeface="宋体" pitchFamily="2" charset="-122"/>
              </a:rPr>
              <a:t>层的块（</a:t>
            </a:r>
            <a:r>
              <a:rPr lang="en-US" altLang="zh-CN" dirty="0">
                <a:ea typeface="宋体" pitchFamily="2" charset="-122"/>
              </a:rPr>
              <a:t>I mod 4</a:t>
            </a:r>
            <a:r>
              <a:rPr lang="zh-CN" altLang="en-US" dirty="0">
                <a:ea typeface="宋体" pitchFamily="2" charset="-122"/>
              </a:rPr>
              <a:t>）中</a:t>
            </a:r>
            <a:endParaRPr lang="zh-CN" altLang="zh-CN" dirty="0">
              <a:ea typeface="宋体" pitchFamily="2" charset="-122"/>
            </a:endParaRPr>
          </a:p>
          <a:p>
            <a:pPr marL="917575" lvl="1">
              <a:spcBef>
                <a:spcPts val="475"/>
              </a:spcBef>
              <a:buFont typeface="Wingdings" pitchFamily="2" charset="2"/>
              <a:buChar char=""/>
              <a:tabLst>
                <a:tab pos="517525" algn="l"/>
              </a:tabLst>
            </a:pPr>
            <a:r>
              <a:rPr lang="zh-CN" altLang="en-US" dirty="0">
                <a:ea typeface="宋体" pitchFamily="2" charset="-122"/>
              </a:rPr>
              <a:t>当第</a:t>
            </a:r>
            <a:r>
              <a:rPr lang="en-US" altLang="zh-CN" dirty="0">
                <a:ea typeface="宋体" pitchFamily="2" charset="-122"/>
              </a:rPr>
              <a:t>k</a:t>
            </a:r>
            <a:r>
              <a:rPr lang="zh-CN" altLang="en-US" dirty="0">
                <a:ea typeface="宋体" pitchFamily="2" charset="-122"/>
              </a:rPr>
              <a:t>层的缓存足够大，但多个数据对象映射到同一个缓存块中时发生冲突不命中</a:t>
            </a:r>
            <a:endParaRPr lang="zh-CN" altLang="zh-CN" dirty="0">
              <a:ea typeface="宋体" pitchFamily="2" charset="-122"/>
            </a:endParaRPr>
          </a:p>
          <a:p>
            <a:pPr marL="1317625" lvl="2">
              <a:spcBef>
                <a:spcPts val="475"/>
              </a:spcBef>
              <a:buFont typeface="Wingdings" pitchFamily="2" charset="2"/>
              <a:buChar char=""/>
              <a:tabLst>
                <a:tab pos="517525" algn="l"/>
              </a:tabLst>
            </a:pPr>
            <a:r>
              <a:rPr lang="zh-CN" altLang="en-US" dirty="0">
                <a:ea typeface="宋体" pitchFamily="2" charset="-122"/>
              </a:rPr>
              <a:t>例如，每次引用块</a:t>
            </a:r>
            <a:r>
              <a:rPr lang="zh-CN" altLang="zh-CN" dirty="0">
                <a:ea typeface="Calibri" pitchFamily="34" charset="0"/>
                <a:cs typeface="Calibri" pitchFamily="34" charset="0"/>
              </a:rPr>
              <a:t>0, 8, 0, 8, 0, 8, ... </a:t>
            </a:r>
            <a:r>
              <a:rPr lang="zh-CN" altLang="en-US" dirty="0">
                <a:ea typeface="宋体" pitchFamily="2" charset="-122"/>
              </a:rPr>
              <a:t>都会错过</a:t>
            </a:r>
            <a:endParaRPr sz="2000" dirty="0">
              <a:latin typeface="Calibri"/>
              <a:cs typeface="Calibri"/>
            </a:endParaRPr>
          </a:p>
          <a:p>
            <a:pPr marL="517525">
              <a:spcBef>
                <a:spcPts val="550"/>
              </a:spcBef>
              <a:buSzPct val="58000"/>
              <a:buFont typeface="Wingdings" pitchFamily="2" charset="2"/>
              <a:buChar char=""/>
              <a:tabLst>
                <a:tab pos="517525" algn="l"/>
              </a:tabLst>
            </a:pPr>
            <a:r>
              <a:rPr lang="zh-CN" altLang="en-US" dirty="0">
                <a:ea typeface="宋体" pitchFamily="2" charset="-122"/>
              </a:rPr>
              <a:t>容量不命中</a:t>
            </a:r>
            <a:endParaRPr lang="zh-CN" altLang="zh-CN" dirty="0">
              <a:ea typeface="宋体" pitchFamily="2" charset="-122"/>
            </a:endParaRPr>
          </a:p>
          <a:p>
            <a:pPr marL="917575" lvl="1">
              <a:spcBef>
                <a:spcPts val="500"/>
              </a:spcBef>
              <a:buFont typeface="Wingdings" pitchFamily="2" charset="2"/>
              <a:buChar char=""/>
              <a:tabLst>
                <a:tab pos="517525" algn="l"/>
              </a:tabLst>
            </a:pPr>
            <a:r>
              <a:rPr lang="zh-CN" altLang="en-US" dirty="0">
                <a:ea typeface="宋体" pitchFamily="2" charset="-122"/>
              </a:rPr>
              <a:t>当一组活动缓存块（工作集）大于缓存时发生</a:t>
            </a:r>
            <a:endParaRPr lang="zh-CN" altLang="zh-CN" dirty="0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1196975" y="4279900"/>
            <a:ext cx="3380104" cy="2197100"/>
          </a:xfrm>
          <a:custGeom>
            <a:avLst/>
            <a:gdLst/>
            <a:ahLst/>
            <a:cxnLst/>
            <a:rect l="l" t="t" r="r" b="b"/>
            <a:pathLst>
              <a:path w="3380104" h="2197100">
                <a:moveTo>
                  <a:pt x="0" y="0"/>
                </a:moveTo>
                <a:lnTo>
                  <a:pt x="3379787" y="0"/>
                </a:lnTo>
                <a:lnTo>
                  <a:pt x="3379787" y="2197100"/>
                </a:lnTo>
                <a:lnTo>
                  <a:pt x="0" y="2197100"/>
                </a:lnTo>
                <a:lnTo>
                  <a:pt x="0" y="0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196975" y="4279900"/>
            <a:ext cx="3380104" cy="2197100"/>
          </a:xfrm>
          <a:custGeom>
            <a:avLst/>
            <a:gdLst/>
            <a:ahLst/>
            <a:cxnLst/>
            <a:rect l="l" t="t" r="r" b="b"/>
            <a:pathLst>
              <a:path w="3380104" h="2197100">
                <a:moveTo>
                  <a:pt x="0" y="0"/>
                </a:moveTo>
                <a:lnTo>
                  <a:pt x="3379787" y="0"/>
                </a:lnTo>
                <a:lnTo>
                  <a:pt x="3379787" y="2197100"/>
                </a:lnTo>
                <a:lnTo>
                  <a:pt x="0" y="21971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57018" y="394767"/>
            <a:ext cx="7592093" cy="843822"/>
          </a:xfrm>
          <a:prstGeom prst="rect">
            <a:avLst/>
          </a:prstGeom>
        </p:spPr>
        <p:txBody>
          <a:bodyPr vert="horz" wrap="square" lIns="0" tIns="287021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zh-CN" altLang="en-US" spc="-5" dirty="0"/>
              <a:t>高速缓存存储器</a:t>
            </a:r>
            <a:endParaRPr spc="-5" dirty="0"/>
          </a:p>
        </p:txBody>
      </p:sp>
      <p:sp>
        <p:nvSpPr>
          <p:cNvPr id="6" name="object 6"/>
          <p:cNvSpPr txBox="1"/>
          <p:nvPr/>
        </p:nvSpPr>
        <p:spPr>
          <a:xfrm>
            <a:off x="475615" y="1464183"/>
            <a:ext cx="7333615" cy="1977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buClr>
                <a:srgbClr val="990000"/>
              </a:buClr>
              <a:buSzPct val="60416"/>
              <a:buFont typeface="Wingdings 2"/>
              <a:buChar char=""/>
              <a:tabLst>
                <a:tab pos="355600" algn="l"/>
              </a:tabLst>
            </a:pPr>
            <a:r>
              <a:rPr lang="zh-CN" altLang="en-US" sz="2400" b="1" dirty="0">
                <a:solidFill>
                  <a:srgbClr val="C00000"/>
                </a:solidFill>
                <a:latin typeface="Calibri"/>
                <a:cs typeface="Calibri"/>
              </a:rPr>
              <a:t>高速缓存存储器</a:t>
            </a:r>
            <a:r>
              <a:rPr lang="zh-CN" altLang="en-US" sz="2400" b="1" dirty="0">
                <a:latin typeface="Calibri"/>
                <a:cs typeface="Calibri"/>
              </a:rPr>
              <a:t>是一个小的基于</a:t>
            </a:r>
            <a:r>
              <a:rPr lang="en-US" altLang="zh-CN" sz="2400" b="1" dirty="0">
                <a:latin typeface="Calibri"/>
                <a:cs typeface="Calibri"/>
              </a:rPr>
              <a:t>SRAM</a:t>
            </a:r>
            <a:r>
              <a:rPr sz="2400" b="1" spc="-15" dirty="0">
                <a:latin typeface="Calibri"/>
                <a:cs typeface="Calibri"/>
              </a:rPr>
              <a:t> </a:t>
            </a:r>
            <a:r>
              <a:rPr lang="zh-CN" altLang="en-US" sz="2400" b="1" spc="-15" dirty="0">
                <a:latin typeface="Calibri"/>
                <a:cs typeface="Calibri"/>
              </a:rPr>
              <a:t>的高速缓存存储器，通过硬件自动管理</a:t>
            </a:r>
            <a:endParaRPr sz="2400" dirty="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505"/>
              </a:spcBef>
              <a:buClr>
                <a:srgbClr val="990000"/>
              </a:buClr>
              <a:buSzPct val="110000"/>
              <a:buFont typeface="Wingdings"/>
              <a:buChar char=""/>
              <a:tabLst>
                <a:tab pos="756920" algn="l"/>
              </a:tabLst>
            </a:pPr>
            <a:r>
              <a:rPr lang="zh-CN" altLang="en-US" sz="2000" spc="-5" dirty="0">
                <a:latin typeface="Calibri"/>
                <a:cs typeface="Calibri"/>
              </a:rPr>
              <a:t>保持主存的频繁访问块的访问速度</a:t>
            </a:r>
            <a:endParaRPr sz="20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45"/>
              </a:spcBef>
              <a:buClr>
                <a:srgbClr val="990000"/>
              </a:buClr>
              <a:buSzPct val="60416"/>
              <a:buFont typeface="Wingdings 2"/>
              <a:buChar char=""/>
              <a:tabLst>
                <a:tab pos="355600" algn="l"/>
              </a:tabLst>
            </a:pPr>
            <a:r>
              <a:rPr lang="en-US" altLang="zh-CN" sz="2400" b="1" dirty="0">
                <a:latin typeface="Calibri"/>
                <a:cs typeface="Calibri"/>
              </a:rPr>
              <a:t>CPU</a:t>
            </a:r>
            <a:r>
              <a:rPr lang="zh-CN" altLang="en-US" sz="2400" b="1" dirty="0">
                <a:latin typeface="Calibri"/>
                <a:cs typeface="Calibri"/>
              </a:rPr>
              <a:t>首先在缓存中查找数据</a:t>
            </a:r>
            <a:endParaRPr lang="en-US" altLang="zh-CN" sz="2400" b="1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45"/>
              </a:spcBef>
              <a:buClr>
                <a:srgbClr val="990000"/>
              </a:buClr>
              <a:buSzPct val="60416"/>
              <a:buFont typeface="Wingdings 2"/>
              <a:buChar char=""/>
              <a:tabLst>
                <a:tab pos="355600" algn="l"/>
              </a:tabLst>
            </a:pPr>
            <a:r>
              <a:rPr lang="zh-CN" altLang="en-US" sz="2400" b="1" dirty="0">
                <a:latin typeface="Calibri"/>
                <a:cs typeface="Calibri"/>
              </a:rPr>
              <a:t>典型的系统结构</a:t>
            </a:r>
            <a:r>
              <a:rPr sz="2400" b="1" spc="-5" dirty="0">
                <a:latin typeface="Calibri"/>
                <a:cs typeface="Calibri"/>
              </a:rPr>
              <a:t>: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258050" y="5653087"/>
            <a:ext cx="819150" cy="738664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8895" marR="39370" indent="135255">
              <a:lnSpc>
                <a:spcPct val="100000"/>
              </a:lnSpc>
            </a:pPr>
            <a:r>
              <a:rPr lang="zh-CN" altLang="en-US" sz="1600" dirty="0">
                <a:latin typeface="Calibri"/>
                <a:cs typeface="Calibri"/>
              </a:rPr>
              <a:t>主存</a:t>
            </a:r>
            <a:endParaRPr lang="en-US" altLang="zh-CN" sz="1600" dirty="0">
              <a:latin typeface="Calibri"/>
              <a:cs typeface="Calibri"/>
            </a:endParaRPr>
          </a:p>
          <a:p>
            <a:pPr marL="48895" marR="39370" indent="135255">
              <a:lnSpc>
                <a:spcPct val="100000"/>
              </a:lnSpc>
            </a:pPr>
            <a:endParaRPr lang="en-US" sz="1600" dirty="0">
              <a:latin typeface="Calibri"/>
              <a:cs typeface="Calibri"/>
            </a:endParaRPr>
          </a:p>
          <a:p>
            <a:pPr marL="48895" marR="39370" indent="135255">
              <a:lnSpc>
                <a:spcPct val="100000"/>
              </a:lnSpc>
            </a:pPr>
            <a:endParaRPr sz="1600" dirty="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884862" y="5789606"/>
            <a:ext cx="1344930" cy="481330"/>
          </a:xfrm>
          <a:custGeom>
            <a:avLst/>
            <a:gdLst/>
            <a:ahLst/>
            <a:cxnLst/>
            <a:rect l="l" t="t" r="r" b="b"/>
            <a:pathLst>
              <a:path w="1344929" h="481329">
                <a:moveTo>
                  <a:pt x="0" y="240512"/>
                </a:moveTo>
                <a:lnTo>
                  <a:pt x="268922" y="0"/>
                </a:lnTo>
                <a:lnTo>
                  <a:pt x="268922" y="120256"/>
                </a:lnTo>
                <a:lnTo>
                  <a:pt x="1075690" y="120256"/>
                </a:lnTo>
                <a:lnTo>
                  <a:pt x="1075690" y="0"/>
                </a:lnTo>
                <a:lnTo>
                  <a:pt x="1344612" y="240512"/>
                </a:lnTo>
                <a:lnTo>
                  <a:pt x="1075690" y="481012"/>
                </a:lnTo>
                <a:lnTo>
                  <a:pt x="1075690" y="360768"/>
                </a:lnTo>
                <a:lnTo>
                  <a:pt x="268922" y="360768"/>
                </a:lnTo>
                <a:lnTo>
                  <a:pt x="268922" y="481012"/>
                </a:lnTo>
                <a:lnTo>
                  <a:pt x="0" y="240512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060950" y="5818187"/>
            <a:ext cx="819150" cy="492443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35890" marR="127635" indent="127635" algn="ctr">
              <a:lnSpc>
                <a:spcPct val="100000"/>
              </a:lnSpc>
            </a:pPr>
            <a:r>
              <a:rPr sz="1600" b="1" spc="-15" dirty="0">
                <a:latin typeface="Calibri"/>
                <a:cs typeface="Calibri"/>
              </a:rPr>
              <a:t>I</a:t>
            </a:r>
            <a:r>
              <a:rPr sz="1600" b="1" spc="-10" dirty="0">
                <a:latin typeface="Calibri"/>
                <a:cs typeface="Calibri"/>
              </a:rPr>
              <a:t>/</a:t>
            </a:r>
            <a:r>
              <a:rPr sz="1600" b="1" spc="-5" dirty="0">
                <a:latin typeface="Calibri"/>
                <a:cs typeface="Calibri"/>
              </a:rPr>
              <a:t>O </a:t>
            </a:r>
            <a:r>
              <a:rPr lang="zh-CN" altLang="en-US" sz="1600" b="1" spc="-5" dirty="0">
                <a:latin typeface="Calibri"/>
                <a:cs typeface="Calibri"/>
              </a:rPr>
              <a:t>桥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49375" y="5818187"/>
            <a:ext cx="2374900" cy="492443"/>
          </a:xfrm>
          <a:prstGeom prst="rect">
            <a:avLst/>
          </a:prstGeom>
          <a:solidFill>
            <a:srgbClr val="E7E7E7"/>
          </a:solidFill>
          <a:ln w="127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32460">
              <a:lnSpc>
                <a:spcPct val="100000"/>
              </a:lnSpc>
            </a:pPr>
            <a:r>
              <a:rPr lang="zh-CN" altLang="en-US" sz="1600" dirty="0">
                <a:latin typeface="Calibri"/>
                <a:cs typeface="Calibri"/>
              </a:rPr>
              <a:t>总线接口</a:t>
            </a:r>
            <a:endParaRPr lang="en-US" altLang="zh-CN" sz="1600" dirty="0">
              <a:latin typeface="Calibri"/>
              <a:cs typeface="Calibri"/>
            </a:endParaRPr>
          </a:p>
          <a:p>
            <a:pPr marL="632460">
              <a:lnSpc>
                <a:spcPct val="100000"/>
              </a:lnSpc>
            </a:pPr>
            <a:endParaRPr sz="1600" dirty="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559175" y="4622800"/>
            <a:ext cx="400050" cy="342900"/>
          </a:xfrm>
          <a:custGeom>
            <a:avLst/>
            <a:gdLst/>
            <a:ahLst/>
            <a:cxnLst/>
            <a:rect l="l" t="t" r="r" b="b"/>
            <a:pathLst>
              <a:path w="400050" h="342900">
                <a:moveTo>
                  <a:pt x="0" y="85725"/>
                </a:moveTo>
                <a:lnTo>
                  <a:pt x="300037" y="85725"/>
                </a:lnTo>
                <a:lnTo>
                  <a:pt x="300037" y="0"/>
                </a:lnTo>
                <a:lnTo>
                  <a:pt x="400050" y="171450"/>
                </a:lnTo>
                <a:lnTo>
                  <a:pt x="300037" y="342900"/>
                </a:lnTo>
                <a:lnTo>
                  <a:pt x="300037" y="257175"/>
                </a:lnTo>
                <a:lnTo>
                  <a:pt x="0" y="257175"/>
                </a:lnTo>
                <a:lnTo>
                  <a:pt x="0" y="85725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478212" y="4965703"/>
            <a:ext cx="400050" cy="344805"/>
          </a:xfrm>
          <a:custGeom>
            <a:avLst/>
            <a:gdLst/>
            <a:ahLst/>
            <a:cxnLst/>
            <a:rect l="l" t="t" r="r" b="b"/>
            <a:pathLst>
              <a:path w="400050" h="344804">
                <a:moveTo>
                  <a:pt x="400050" y="86118"/>
                </a:moveTo>
                <a:lnTo>
                  <a:pt x="100012" y="86118"/>
                </a:lnTo>
                <a:lnTo>
                  <a:pt x="100012" y="0"/>
                </a:lnTo>
                <a:lnTo>
                  <a:pt x="0" y="172237"/>
                </a:lnTo>
                <a:lnTo>
                  <a:pt x="100012" y="344487"/>
                </a:lnTo>
                <a:lnTo>
                  <a:pt x="100012" y="258356"/>
                </a:lnTo>
                <a:lnTo>
                  <a:pt x="400050" y="258356"/>
                </a:lnTo>
                <a:lnTo>
                  <a:pt x="400050" y="86118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959225" y="4486275"/>
            <a:ext cx="479425" cy="960755"/>
          </a:xfrm>
          <a:prstGeom prst="rect">
            <a:avLst/>
          </a:prstGeom>
          <a:solidFill>
            <a:srgbClr val="E7E7E7"/>
          </a:solidFill>
          <a:ln w="127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5405">
              <a:lnSpc>
                <a:spcPct val="100000"/>
              </a:lnSpc>
            </a:pPr>
            <a:r>
              <a:rPr sz="1600" b="1" spc="-5" dirty="0">
                <a:latin typeface="Calibri"/>
                <a:cs typeface="Calibri"/>
              </a:rPr>
              <a:t>A</a:t>
            </a:r>
            <a:r>
              <a:rPr sz="1600" b="1" spc="-45" dirty="0">
                <a:latin typeface="Calibri"/>
                <a:cs typeface="Calibri"/>
              </a:rPr>
              <a:t>L</a:t>
            </a:r>
            <a:r>
              <a:rPr sz="1600" b="1" spc="-5" dirty="0">
                <a:latin typeface="Calibri"/>
                <a:cs typeface="Calibri"/>
              </a:rPr>
              <a:t>U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677777" y="4390177"/>
            <a:ext cx="1070310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zh-CN" altLang="en-US" sz="1600" dirty="0">
                <a:latin typeface="Calibri"/>
                <a:cs typeface="Calibri"/>
              </a:rPr>
              <a:t>寄存器文件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928937" y="5378450"/>
            <a:ext cx="549275" cy="411480"/>
          </a:xfrm>
          <a:custGeom>
            <a:avLst/>
            <a:gdLst/>
            <a:ahLst/>
            <a:cxnLst/>
            <a:rect l="l" t="t" r="r" b="b"/>
            <a:pathLst>
              <a:path w="549275" h="411479">
                <a:moveTo>
                  <a:pt x="0" y="82232"/>
                </a:moveTo>
                <a:lnTo>
                  <a:pt x="274637" y="0"/>
                </a:lnTo>
                <a:lnTo>
                  <a:pt x="549275" y="82232"/>
                </a:lnTo>
                <a:lnTo>
                  <a:pt x="411949" y="82232"/>
                </a:lnTo>
                <a:lnTo>
                  <a:pt x="411949" y="328929"/>
                </a:lnTo>
                <a:lnTo>
                  <a:pt x="549275" y="328929"/>
                </a:lnTo>
                <a:lnTo>
                  <a:pt x="274637" y="411162"/>
                </a:lnTo>
                <a:lnTo>
                  <a:pt x="0" y="328929"/>
                </a:lnTo>
                <a:lnTo>
                  <a:pt x="137325" y="328929"/>
                </a:lnTo>
                <a:lnTo>
                  <a:pt x="137325" y="82232"/>
                </a:lnTo>
                <a:lnTo>
                  <a:pt x="0" y="82232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254855" y="4061522"/>
            <a:ext cx="872395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spc="-15" dirty="0">
                <a:latin typeface="Calibri"/>
                <a:cs typeface="Calibri"/>
              </a:rPr>
              <a:t>C</a:t>
            </a:r>
            <a:r>
              <a:rPr sz="1600" b="1" spc="-5" dirty="0">
                <a:latin typeface="Calibri"/>
                <a:cs typeface="Calibri"/>
              </a:rPr>
              <a:t>PU</a:t>
            </a:r>
            <a:r>
              <a:rPr sz="1600" b="1" spc="10" dirty="0">
                <a:latin typeface="Calibri"/>
                <a:cs typeface="Calibri"/>
              </a:rPr>
              <a:t> </a:t>
            </a:r>
            <a:r>
              <a:rPr lang="zh-CN" altLang="en-US" sz="1600" b="1" spc="10" dirty="0">
                <a:latin typeface="Calibri"/>
                <a:cs typeface="Calibri"/>
              </a:rPr>
              <a:t>芯片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735279" y="5228420"/>
            <a:ext cx="970280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zh-CN" altLang="en-US" sz="1600" dirty="0">
                <a:latin typeface="Calibri"/>
                <a:cs typeface="Calibri"/>
              </a:rPr>
              <a:t>系统总线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491482" y="5446712"/>
            <a:ext cx="566420" cy="377825"/>
          </a:xfrm>
          <a:custGeom>
            <a:avLst/>
            <a:gdLst/>
            <a:ahLst/>
            <a:cxnLst/>
            <a:rect l="l" t="t" r="r" b="b"/>
            <a:pathLst>
              <a:path w="566420" h="377825">
                <a:moveTo>
                  <a:pt x="566293" y="0"/>
                </a:moveTo>
                <a:lnTo>
                  <a:pt x="0" y="377532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438648" y="5785490"/>
            <a:ext cx="85090" cy="74295"/>
          </a:xfrm>
          <a:custGeom>
            <a:avLst/>
            <a:gdLst/>
            <a:ahLst/>
            <a:cxnLst/>
            <a:rect l="l" t="t" r="r" b="b"/>
            <a:pathLst>
              <a:path w="85089" h="74295">
                <a:moveTo>
                  <a:pt x="42265" y="0"/>
                </a:moveTo>
                <a:lnTo>
                  <a:pt x="0" y="73977"/>
                </a:lnTo>
                <a:lnTo>
                  <a:pt x="84531" y="63398"/>
                </a:lnTo>
                <a:lnTo>
                  <a:pt x="4226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6016369" y="5228335"/>
            <a:ext cx="1093470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zh-CN" altLang="en-US" sz="1600" dirty="0">
                <a:latin typeface="Calibri"/>
                <a:cs typeface="Calibri"/>
              </a:rPr>
              <a:t>内存总线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6530973" y="5446712"/>
            <a:ext cx="0" cy="349250"/>
          </a:xfrm>
          <a:custGeom>
            <a:avLst/>
            <a:gdLst/>
            <a:ahLst/>
            <a:cxnLst/>
            <a:rect l="l" t="t" r="r" b="b"/>
            <a:pathLst>
              <a:path h="349250">
                <a:moveTo>
                  <a:pt x="0" y="0"/>
                </a:moveTo>
                <a:lnTo>
                  <a:pt x="0" y="34925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6492878" y="5783263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76200" y="0"/>
                </a:moveTo>
                <a:lnTo>
                  <a:pt x="0" y="0"/>
                </a:ln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1349375" y="4719637"/>
            <a:ext cx="1066800" cy="492443"/>
          </a:xfrm>
          <a:prstGeom prst="rect">
            <a:avLst/>
          </a:prstGeom>
          <a:solidFill>
            <a:srgbClr val="F1C7C7"/>
          </a:solidFill>
          <a:ln w="127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70815" marR="165100" indent="80645" algn="ctr">
              <a:lnSpc>
                <a:spcPct val="100000"/>
              </a:lnSpc>
            </a:pPr>
            <a:r>
              <a:rPr lang="zh-CN" altLang="en-US" sz="1600" dirty="0">
                <a:latin typeface="Calibri"/>
                <a:cs typeface="Calibri"/>
              </a:rPr>
              <a:t>高速</a:t>
            </a:r>
            <a:endParaRPr lang="en-US" altLang="zh-CN" sz="1600" dirty="0">
              <a:latin typeface="Calibri"/>
              <a:cs typeface="Calibri"/>
            </a:endParaRPr>
          </a:p>
          <a:p>
            <a:pPr marL="170815" marR="165100" indent="80645" algn="ctr">
              <a:lnSpc>
                <a:spcPct val="100000"/>
              </a:lnSpc>
            </a:pPr>
            <a:r>
              <a:rPr lang="zh-CN" altLang="en-US" sz="1600" dirty="0">
                <a:latin typeface="Calibri"/>
                <a:cs typeface="Calibri"/>
              </a:rPr>
              <a:t>缓存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577975" y="5240336"/>
            <a:ext cx="549275" cy="549275"/>
          </a:xfrm>
          <a:custGeom>
            <a:avLst/>
            <a:gdLst/>
            <a:ahLst/>
            <a:cxnLst/>
            <a:rect l="l" t="t" r="r" b="b"/>
            <a:pathLst>
              <a:path w="549275" h="549275">
                <a:moveTo>
                  <a:pt x="0" y="109854"/>
                </a:moveTo>
                <a:lnTo>
                  <a:pt x="274637" y="0"/>
                </a:lnTo>
                <a:lnTo>
                  <a:pt x="549275" y="109854"/>
                </a:lnTo>
                <a:lnTo>
                  <a:pt x="411949" y="109854"/>
                </a:lnTo>
                <a:lnTo>
                  <a:pt x="411949" y="439419"/>
                </a:lnTo>
                <a:lnTo>
                  <a:pt x="549275" y="439419"/>
                </a:lnTo>
                <a:lnTo>
                  <a:pt x="274637" y="549274"/>
                </a:lnTo>
                <a:lnTo>
                  <a:pt x="0" y="439419"/>
                </a:lnTo>
                <a:lnTo>
                  <a:pt x="137325" y="439419"/>
                </a:lnTo>
                <a:lnTo>
                  <a:pt x="137325" y="109854"/>
                </a:lnTo>
                <a:lnTo>
                  <a:pt x="0" y="109854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441575" y="4767256"/>
            <a:ext cx="400050" cy="344805"/>
          </a:xfrm>
          <a:custGeom>
            <a:avLst/>
            <a:gdLst/>
            <a:ahLst/>
            <a:cxnLst/>
            <a:rect l="l" t="t" r="r" b="b"/>
            <a:pathLst>
              <a:path w="400050" h="344804">
                <a:moveTo>
                  <a:pt x="400050" y="172250"/>
                </a:moveTo>
                <a:lnTo>
                  <a:pt x="320040" y="0"/>
                </a:lnTo>
                <a:lnTo>
                  <a:pt x="320040" y="86131"/>
                </a:lnTo>
                <a:lnTo>
                  <a:pt x="80010" y="86131"/>
                </a:lnTo>
                <a:lnTo>
                  <a:pt x="80010" y="0"/>
                </a:lnTo>
                <a:lnTo>
                  <a:pt x="0" y="172250"/>
                </a:lnTo>
                <a:lnTo>
                  <a:pt x="80010" y="344500"/>
                </a:lnTo>
                <a:lnTo>
                  <a:pt x="80010" y="258368"/>
                </a:lnTo>
                <a:lnTo>
                  <a:pt x="320040" y="258368"/>
                </a:lnTo>
                <a:lnTo>
                  <a:pt x="320040" y="344500"/>
                </a:lnTo>
                <a:lnTo>
                  <a:pt x="400050" y="17225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3748087" y="5789606"/>
            <a:ext cx="1310005" cy="481330"/>
          </a:xfrm>
          <a:custGeom>
            <a:avLst/>
            <a:gdLst/>
            <a:ahLst/>
            <a:cxnLst/>
            <a:rect l="l" t="t" r="r" b="b"/>
            <a:pathLst>
              <a:path w="1310004" h="481329">
                <a:moveTo>
                  <a:pt x="261937" y="0"/>
                </a:moveTo>
                <a:lnTo>
                  <a:pt x="0" y="240512"/>
                </a:lnTo>
                <a:lnTo>
                  <a:pt x="261937" y="481012"/>
                </a:lnTo>
                <a:lnTo>
                  <a:pt x="261937" y="360768"/>
                </a:lnTo>
                <a:lnTo>
                  <a:pt x="1178711" y="360768"/>
                </a:lnTo>
                <a:lnTo>
                  <a:pt x="1309687" y="240512"/>
                </a:lnTo>
                <a:lnTo>
                  <a:pt x="1178718" y="120256"/>
                </a:lnTo>
                <a:lnTo>
                  <a:pt x="261937" y="120256"/>
                </a:lnTo>
                <a:lnTo>
                  <a:pt x="261937" y="0"/>
                </a:lnTo>
                <a:close/>
              </a:path>
              <a:path w="1310004" h="481329">
                <a:moveTo>
                  <a:pt x="1178711" y="360768"/>
                </a:moveTo>
                <a:lnTo>
                  <a:pt x="1047750" y="360768"/>
                </a:lnTo>
                <a:lnTo>
                  <a:pt x="1047750" y="481012"/>
                </a:lnTo>
                <a:lnTo>
                  <a:pt x="1178711" y="360768"/>
                </a:lnTo>
                <a:close/>
              </a:path>
              <a:path w="1310004" h="481329">
                <a:moveTo>
                  <a:pt x="1047750" y="0"/>
                </a:moveTo>
                <a:lnTo>
                  <a:pt x="1047750" y="120256"/>
                </a:lnTo>
                <a:lnTo>
                  <a:pt x="1178718" y="120256"/>
                </a:lnTo>
                <a:lnTo>
                  <a:pt x="10477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3748087" y="5789606"/>
            <a:ext cx="1310005" cy="481330"/>
          </a:xfrm>
          <a:custGeom>
            <a:avLst/>
            <a:gdLst/>
            <a:ahLst/>
            <a:cxnLst/>
            <a:rect l="l" t="t" r="r" b="b"/>
            <a:pathLst>
              <a:path w="1310004" h="481329">
                <a:moveTo>
                  <a:pt x="0" y="240512"/>
                </a:moveTo>
                <a:lnTo>
                  <a:pt x="261937" y="0"/>
                </a:lnTo>
                <a:lnTo>
                  <a:pt x="261937" y="120256"/>
                </a:lnTo>
                <a:lnTo>
                  <a:pt x="1047750" y="120256"/>
                </a:lnTo>
                <a:lnTo>
                  <a:pt x="1047750" y="0"/>
                </a:lnTo>
                <a:lnTo>
                  <a:pt x="1309687" y="240512"/>
                </a:lnTo>
                <a:lnTo>
                  <a:pt x="1047750" y="481012"/>
                </a:lnTo>
                <a:lnTo>
                  <a:pt x="1047750" y="360768"/>
                </a:lnTo>
                <a:lnTo>
                  <a:pt x="261937" y="360768"/>
                </a:lnTo>
                <a:lnTo>
                  <a:pt x="261937" y="481012"/>
                </a:lnTo>
                <a:lnTo>
                  <a:pt x="0" y="240512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2855912" y="4616450"/>
          <a:ext cx="615950" cy="1219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15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8112">
                <a:tc>
                  <a:txBody>
                    <a:bodyPr/>
                    <a:lstStyle/>
                    <a:p>
                      <a:endParaRPr sz="16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6525">
                <a:tc>
                  <a:txBody>
                    <a:bodyPr/>
                    <a:lstStyle/>
                    <a:p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8112">
                <a:tc>
                  <a:txBody>
                    <a:bodyPr/>
                    <a:lstStyle/>
                    <a:p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6525">
                <a:tc>
                  <a:txBody>
                    <a:bodyPr/>
                    <a:lstStyle/>
                    <a:p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8112">
                <a:tc>
                  <a:txBody>
                    <a:bodyPr/>
                    <a:lstStyle/>
                    <a:p>
                      <a:endParaRPr sz="16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74650" y="297222"/>
            <a:ext cx="7591425" cy="9105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8595">
              <a:lnSpc>
                <a:spcPts val="2845"/>
              </a:lnSpc>
            </a:pPr>
            <a:r>
              <a:rPr lang="zh-CN" altLang="en-US" sz="2400" dirty="0">
                <a:solidFill>
                  <a:srgbClr val="606060"/>
                </a:solidFill>
              </a:rPr>
              <a:t>重读第</a:t>
            </a:r>
            <a:r>
              <a:rPr lang="en-US" altLang="zh-CN" sz="2400" dirty="0">
                <a:solidFill>
                  <a:srgbClr val="606060"/>
                </a:solidFill>
              </a:rPr>
              <a:t>10</a:t>
            </a:r>
            <a:r>
              <a:rPr lang="zh-CN" altLang="en-US" sz="2400" dirty="0">
                <a:solidFill>
                  <a:srgbClr val="606060"/>
                </a:solidFill>
              </a:rPr>
              <a:t>讲</a:t>
            </a:r>
            <a:r>
              <a:rPr sz="2400" spc="-5" dirty="0">
                <a:solidFill>
                  <a:srgbClr val="606060"/>
                </a:solidFill>
              </a:rPr>
              <a:t>:</a:t>
            </a:r>
            <a:endParaRPr sz="2400" dirty="0"/>
          </a:p>
          <a:p>
            <a:pPr marL="188595">
              <a:lnSpc>
                <a:spcPts val="4285"/>
              </a:lnSpc>
            </a:pPr>
            <a:r>
              <a:rPr lang="zh-CN" altLang="en-US" dirty="0"/>
              <a:t>现代 </a:t>
            </a:r>
            <a:r>
              <a:rPr dirty="0"/>
              <a:t>CPU</a:t>
            </a:r>
            <a:r>
              <a:rPr spc="-20" dirty="0"/>
              <a:t> </a:t>
            </a:r>
            <a:r>
              <a:rPr lang="zh-CN" altLang="en-US" spc="-20" dirty="0"/>
              <a:t>设计</a:t>
            </a:r>
            <a:endParaRPr spc="-5" dirty="0"/>
          </a:p>
        </p:txBody>
      </p:sp>
      <p:sp>
        <p:nvSpPr>
          <p:cNvPr id="4" name="object 4"/>
          <p:cNvSpPr/>
          <p:nvPr/>
        </p:nvSpPr>
        <p:spPr>
          <a:xfrm>
            <a:off x="1542033" y="3505200"/>
            <a:ext cx="6510655" cy="3048000"/>
          </a:xfrm>
          <a:custGeom>
            <a:avLst/>
            <a:gdLst/>
            <a:ahLst/>
            <a:cxnLst/>
            <a:rect l="l" t="t" r="r" b="b"/>
            <a:pathLst>
              <a:path w="6510655" h="3048000">
                <a:moveTo>
                  <a:pt x="0" y="0"/>
                </a:moveTo>
                <a:lnTo>
                  <a:pt x="6510337" y="0"/>
                </a:lnTo>
                <a:lnTo>
                  <a:pt x="6510337" y="3048000"/>
                </a:lnTo>
                <a:lnTo>
                  <a:pt x="0" y="3048000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542033" y="3505200"/>
            <a:ext cx="6510655" cy="3048000"/>
          </a:xfrm>
          <a:custGeom>
            <a:avLst/>
            <a:gdLst/>
            <a:ahLst/>
            <a:cxnLst/>
            <a:rect l="l" t="t" r="r" b="b"/>
            <a:pathLst>
              <a:path w="6510655" h="3048000">
                <a:moveTo>
                  <a:pt x="0" y="0"/>
                </a:moveTo>
                <a:lnTo>
                  <a:pt x="6510337" y="0"/>
                </a:lnTo>
                <a:lnTo>
                  <a:pt x="6510337" y="3048000"/>
                </a:lnTo>
                <a:lnTo>
                  <a:pt x="0" y="3048000"/>
                </a:lnTo>
                <a:lnTo>
                  <a:pt x="0" y="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620780" y="6185408"/>
            <a:ext cx="124333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i="1" dirty="0">
                <a:solidFill>
                  <a:srgbClr val="808080"/>
                </a:solidFill>
                <a:latin typeface="Calibri"/>
                <a:cs typeface="Calibri"/>
              </a:rPr>
              <a:t>E</a:t>
            </a:r>
            <a:r>
              <a:rPr sz="2400" b="1" i="1" spc="-50" dirty="0">
                <a:solidFill>
                  <a:srgbClr val="808080"/>
                </a:solidFill>
                <a:latin typeface="Calibri"/>
                <a:cs typeface="Calibri"/>
              </a:rPr>
              <a:t>x</a:t>
            </a:r>
            <a:r>
              <a:rPr sz="2400" b="1" i="1" spc="-5" dirty="0">
                <a:solidFill>
                  <a:srgbClr val="808080"/>
                </a:solidFill>
                <a:latin typeface="Calibri"/>
                <a:cs typeface="Calibri"/>
              </a:rPr>
              <a:t>e</a:t>
            </a:r>
            <a:r>
              <a:rPr sz="2400" b="1" i="1" spc="-10" dirty="0">
                <a:solidFill>
                  <a:srgbClr val="808080"/>
                </a:solidFill>
                <a:latin typeface="Calibri"/>
                <a:cs typeface="Calibri"/>
              </a:rPr>
              <a:t>cution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057400" y="3900157"/>
            <a:ext cx="5706110" cy="762000"/>
          </a:xfrm>
          <a:custGeom>
            <a:avLst/>
            <a:gdLst/>
            <a:ahLst/>
            <a:cxnLst/>
            <a:rect l="l" t="t" r="r" b="b"/>
            <a:pathLst>
              <a:path w="5706109" h="762000">
                <a:moveTo>
                  <a:pt x="0" y="0"/>
                </a:moveTo>
                <a:lnTo>
                  <a:pt x="5706046" y="0"/>
                </a:lnTo>
                <a:lnTo>
                  <a:pt x="5706046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057400" y="3900157"/>
            <a:ext cx="5706110" cy="762000"/>
          </a:xfrm>
          <a:custGeom>
            <a:avLst/>
            <a:gdLst/>
            <a:ahLst/>
            <a:cxnLst/>
            <a:rect l="l" t="t" r="r" b="b"/>
            <a:pathLst>
              <a:path w="5706109" h="762000">
                <a:moveTo>
                  <a:pt x="0" y="0"/>
                </a:moveTo>
                <a:lnTo>
                  <a:pt x="5706046" y="0"/>
                </a:lnTo>
                <a:lnTo>
                  <a:pt x="5706046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880352" y="4087485"/>
            <a:ext cx="803910" cy="417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dirty="0">
                <a:latin typeface="Calibri"/>
                <a:cs typeface="Calibri"/>
              </a:rPr>
              <a:t>Func</a:t>
            </a:r>
            <a:r>
              <a:rPr sz="1400" b="1" spc="5" dirty="0">
                <a:latin typeface="Calibri"/>
                <a:cs typeface="Calibri"/>
              </a:rPr>
              <a:t>t</a:t>
            </a:r>
            <a:r>
              <a:rPr sz="1400" b="1" dirty="0">
                <a:latin typeface="Calibri"/>
                <a:cs typeface="Calibri"/>
              </a:rPr>
              <a:t>ion</a:t>
            </a:r>
            <a:r>
              <a:rPr sz="1400" b="1" spc="-10" dirty="0">
                <a:latin typeface="Calibri"/>
                <a:cs typeface="Calibri"/>
              </a:rPr>
              <a:t>a</a:t>
            </a:r>
            <a:r>
              <a:rPr sz="1400" b="1" dirty="0">
                <a:latin typeface="Calibri"/>
                <a:cs typeface="Calibri"/>
              </a:rPr>
              <a:t>l</a:t>
            </a:r>
            <a:endParaRPr sz="1400">
              <a:latin typeface="Calibri"/>
              <a:cs typeface="Calibri"/>
            </a:endParaRPr>
          </a:p>
          <a:p>
            <a:pPr marL="400685">
              <a:lnSpc>
                <a:spcPct val="100000"/>
              </a:lnSpc>
            </a:pPr>
            <a:r>
              <a:rPr sz="1400" b="1" spc="-5" dirty="0">
                <a:latin typeface="Calibri"/>
                <a:cs typeface="Calibri"/>
              </a:rPr>
              <a:t>U</a:t>
            </a:r>
            <a:r>
              <a:rPr sz="1400" b="1" dirty="0">
                <a:latin typeface="Calibri"/>
                <a:cs typeface="Calibri"/>
              </a:rPr>
              <a:t>ni</a:t>
            </a:r>
            <a:r>
              <a:rPr sz="1400" b="1" spc="5" dirty="0">
                <a:latin typeface="Calibri"/>
                <a:cs typeface="Calibri"/>
              </a:rPr>
              <a:t>t</a:t>
            </a:r>
            <a:r>
              <a:rPr sz="1400" b="1" dirty="0">
                <a:latin typeface="Calibri"/>
                <a:cs typeface="Calibri"/>
              </a:rPr>
              <a:t>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542033" y="1219200"/>
            <a:ext cx="6510655" cy="1905000"/>
          </a:xfrm>
          <a:custGeom>
            <a:avLst/>
            <a:gdLst/>
            <a:ahLst/>
            <a:cxnLst/>
            <a:rect l="l" t="t" r="r" b="b"/>
            <a:pathLst>
              <a:path w="6510655" h="1905000">
                <a:moveTo>
                  <a:pt x="0" y="0"/>
                </a:moveTo>
                <a:lnTo>
                  <a:pt x="6510337" y="0"/>
                </a:lnTo>
                <a:lnTo>
                  <a:pt x="6510337" y="1905000"/>
                </a:lnTo>
                <a:lnTo>
                  <a:pt x="0" y="1905000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542033" y="1219200"/>
            <a:ext cx="6510655" cy="1905000"/>
          </a:xfrm>
          <a:custGeom>
            <a:avLst/>
            <a:gdLst/>
            <a:ahLst/>
            <a:cxnLst/>
            <a:rect l="l" t="t" r="r" b="b"/>
            <a:pathLst>
              <a:path w="6510655" h="1905000">
                <a:moveTo>
                  <a:pt x="0" y="0"/>
                </a:moveTo>
                <a:lnTo>
                  <a:pt x="6510337" y="0"/>
                </a:lnTo>
                <a:lnTo>
                  <a:pt x="6510337" y="1905000"/>
                </a:lnTo>
                <a:lnTo>
                  <a:pt x="0" y="1905000"/>
                </a:lnTo>
                <a:lnTo>
                  <a:pt x="0" y="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620780" y="1308608"/>
            <a:ext cx="237553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i="1" spc="-5" dirty="0">
                <a:solidFill>
                  <a:srgbClr val="808080"/>
                </a:solidFill>
                <a:latin typeface="Calibri"/>
                <a:cs typeface="Calibri"/>
              </a:rPr>
              <a:t>In</a:t>
            </a:r>
            <a:r>
              <a:rPr sz="2400" b="1" i="1" spc="-25" dirty="0">
                <a:solidFill>
                  <a:srgbClr val="808080"/>
                </a:solidFill>
                <a:latin typeface="Calibri"/>
                <a:cs typeface="Calibri"/>
              </a:rPr>
              <a:t>s</a:t>
            </a:r>
            <a:r>
              <a:rPr sz="2400" b="1" i="1" spc="-10" dirty="0">
                <a:solidFill>
                  <a:srgbClr val="808080"/>
                </a:solidFill>
                <a:latin typeface="Calibri"/>
                <a:cs typeface="Calibri"/>
              </a:rPr>
              <a:t>tructio</a:t>
            </a:r>
            <a:r>
              <a:rPr sz="2400" b="1" i="1" dirty="0">
                <a:solidFill>
                  <a:srgbClr val="808080"/>
                </a:solidFill>
                <a:latin typeface="Calibri"/>
                <a:cs typeface="Calibri"/>
              </a:rPr>
              <a:t>n</a:t>
            </a:r>
            <a:r>
              <a:rPr sz="2400" b="1" i="1" spc="25" dirty="0">
                <a:solidFill>
                  <a:srgbClr val="808080"/>
                </a:solidFill>
                <a:latin typeface="Calibri"/>
                <a:cs typeface="Calibri"/>
              </a:rPr>
              <a:t> </a:t>
            </a:r>
            <a:r>
              <a:rPr sz="2400" b="1" i="1" spc="-5" dirty="0">
                <a:solidFill>
                  <a:srgbClr val="808080"/>
                </a:solidFill>
                <a:latin typeface="Calibri"/>
                <a:cs typeface="Calibri"/>
              </a:rPr>
              <a:t>C</a:t>
            </a:r>
            <a:r>
              <a:rPr sz="2400" b="1" i="1" spc="-10" dirty="0">
                <a:solidFill>
                  <a:srgbClr val="808080"/>
                </a:solidFill>
                <a:latin typeface="Calibri"/>
                <a:cs typeface="Calibri"/>
              </a:rPr>
              <a:t>o</a:t>
            </a:r>
            <a:r>
              <a:rPr sz="2400" b="1" i="1" spc="-30" dirty="0">
                <a:solidFill>
                  <a:srgbClr val="808080"/>
                </a:solidFill>
                <a:latin typeface="Calibri"/>
                <a:cs typeface="Calibri"/>
              </a:rPr>
              <a:t>n</a:t>
            </a:r>
            <a:r>
              <a:rPr sz="2400" b="1" i="1" spc="-10" dirty="0">
                <a:solidFill>
                  <a:srgbClr val="808080"/>
                </a:solidFill>
                <a:latin typeface="Calibri"/>
                <a:cs typeface="Calibri"/>
              </a:rPr>
              <a:t>trol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216721" y="4038600"/>
            <a:ext cx="676275" cy="457200"/>
          </a:xfrm>
          <a:custGeom>
            <a:avLst/>
            <a:gdLst/>
            <a:ahLst/>
            <a:cxnLst/>
            <a:rect l="l" t="t" r="r" b="b"/>
            <a:pathLst>
              <a:path w="676275" h="457200">
                <a:moveTo>
                  <a:pt x="0" y="0"/>
                </a:moveTo>
                <a:lnTo>
                  <a:pt x="676275" y="0"/>
                </a:lnTo>
                <a:lnTo>
                  <a:pt x="676275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F1C7C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216721" y="4038600"/>
            <a:ext cx="676275" cy="457200"/>
          </a:xfrm>
          <a:custGeom>
            <a:avLst/>
            <a:gdLst/>
            <a:ahLst/>
            <a:cxnLst/>
            <a:rect l="l" t="t" r="r" b="b"/>
            <a:pathLst>
              <a:path w="676275" h="457200">
                <a:moveTo>
                  <a:pt x="0" y="0"/>
                </a:moveTo>
                <a:lnTo>
                  <a:pt x="676275" y="0"/>
                </a:lnTo>
                <a:lnTo>
                  <a:pt x="676275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302821" y="4038600"/>
            <a:ext cx="676275" cy="457200"/>
          </a:xfrm>
          <a:custGeom>
            <a:avLst/>
            <a:gdLst/>
            <a:ahLst/>
            <a:cxnLst/>
            <a:rect l="l" t="t" r="r" b="b"/>
            <a:pathLst>
              <a:path w="676275" h="457200">
                <a:moveTo>
                  <a:pt x="0" y="0"/>
                </a:moveTo>
                <a:lnTo>
                  <a:pt x="676275" y="0"/>
                </a:lnTo>
                <a:lnTo>
                  <a:pt x="676275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F1C7C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302821" y="4038600"/>
            <a:ext cx="676275" cy="457200"/>
          </a:xfrm>
          <a:custGeom>
            <a:avLst/>
            <a:gdLst/>
            <a:ahLst/>
            <a:cxnLst/>
            <a:rect l="l" t="t" r="r" b="b"/>
            <a:pathLst>
              <a:path w="676275" h="457200">
                <a:moveTo>
                  <a:pt x="0" y="0"/>
                </a:moveTo>
                <a:lnTo>
                  <a:pt x="676275" y="0"/>
                </a:lnTo>
                <a:lnTo>
                  <a:pt x="676275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074346" y="4038600"/>
            <a:ext cx="676275" cy="457200"/>
          </a:xfrm>
          <a:custGeom>
            <a:avLst/>
            <a:gdLst/>
            <a:ahLst/>
            <a:cxnLst/>
            <a:rect l="l" t="t" r="r" b="b"/>
            <a:pathLst>
              <a:path w="676275" h="457200">
                <a:moveTo>
                  <a:pt x="0" y="0"/>
                </a:moveTo>
                <a:lnTo>
                  <a:pt x="676275" y="0"/>
                </a:lnTo>
                <a:lnTo>
                  <a:pt x="676275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F1C7C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074346" y="4038600"/>
            <a:ext cx="676275" cy="457200"/>
          </a:xfrm>
          <a:custGeom>
            <a:avLst/>
            <a:gdLst/>
            <a:ahLst/>
            <a:cxnLst/>
            <a:rect l="l" t="t" r="r" b="b"/>
            <a:pathLst>
              <a:path w="676275" h="457200">
                <a:moveTo>
                  <a:pt x="0" y="0"/>
                </a:moveTo>
                <a:lnTo>
                  <a:pt x="676275" y="0"/>
                </a:lnTo>
                <a:lnTo>
                  <a:pt x="676275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460109" y="1676400"/>
            <a:ext cx="1303655" cy="1143000"/>
          </a:xfrm>
          <a:custGeom>
            <a:avLst/>
            <a:gdLst/>
            <a:ahLst/>
            <a:cxnLst/>
            <a:rect l="l" t="t" r="r" b="b"/>
            <a:pathLst>
              <a:path w="1303654" h="1143000">
                <a:moveTo>
                  <a:pt x="0" y="0"/>
                </a:moveTo>
                <a:lnTo>
                  <a:pt x="1303337" y="0"/>
                </a:lnTo>
                <a:lnTo>
                  <a:pt x="1303337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solidFill>
            <a:srgbClr val="F1C7C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460109" y="1676400"/>
            <a:ext cx="1303655" cy="1143000"/>
          </a:xfrm>
          <a:custGeom>
            <a:avLst/>
            <a:gdLst/>
            <a:ahLst/>
            <a:cxnLst/>
            <a:rect l="l" t="t" r="r" b="b"/>
            <a:pathLst>
              <a:path w="1303654" h="1143000">
                <a:moveTo>
                  <a:pt x="0" y="0"/>
                </a:moveTo>
                <a:lnTo>
                  <a:pt x="1303337" y="0"/>
                </a:lnTo>
                <a:lnTo>
                  <a:pt x="1303337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5302821" y="5562600"/>
            <a:ext cx="1447800" cy="609600"/>
          </a:xfrm>
          <a:custGeom>
            <a:avLst/>
            <a:gdLst/>
            <a:ahLst/>
            <a:cxnLst/>
            <a:rect l="l" t="t" r="r" b="b"/>
            <a:pathLst>
              <a:path w="1447800" h="609600">
                <a:moveTo>
                  <a:pt x="0" y="0"/>
                </a:moveTo>
                <a:lnTo>
                  <a:pt x="1447800" y="0"/>
                </a:lnTo>
                <a:lnTo>
                  <a:pt x="14478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8C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5302821" y="5562600"/>
            <a:ext cx="1447800" cy="609600"/>
          </a:xfrm>
          <a:custGeom>
            <a:avLst/>
            <a:gdLst/>
            <a:ahLst/>
            <a:cxnLst/>
            <a:rect l="l" t="t" r="r" b="b"/>
            <a:pathLst>
              <a:path w="1447800" h="609600">
                <a:moveTo>
                  <a:pt x="0" y="0"/>
                </a:moveTo>
                <a:lnTo>
                  <a:pt x="1447800" y="0"/>
                </a:lnTo>
                <a:lnTo>
                  <a:pt x="14478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242371" y="2286000"/>
            <a:ext cx="1157605" cy="533400"/>
          </a:xfrm>
          <a:custGeom>
            <a:avLst/>
            <a:gdLst/>
            <a:ahLst/>
            <a:cxnLst/>
            <a:rect l="l" t="t" r="r" b="b"/>
            <a:pathLst>
              <a:path w="1157604" h="533400">
                <a:moveTo>
                  <a:pt x="0" y="0"/>
                </a:moveTo>
                <a:lnTo>
                  <a:pt x="1157287" y="0"/>
                </a:lnTo>
                <a:lnTo>
                  <a:pt x="1157287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F1C7C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242371" y="2286000"/>
            <a:ext cx="1157605" cy="533400"/>
          </a:xfrm>
          <a:custGeom>
            <a:avLst/>
            <a:gdLst/>
            <a:ahLst/>
            <a:cxnLst/>
            <a:rect l="l" t="t" r="r" b="b"/>
            <a:pathLst>
              <a:path w="1157604" h="533400">
                <a:moveTo>
                  <a:pt x="0" y="0"/>
                </a:moveTo>
                <a:lnTo>
                  <a:pt x="1157287" y="0"/>
                </a:lnTo>
                <a:lnTo>
                  <a:pt x="1157287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374391" y="1905264"/>
            <a:ext cx="85725" cy="85725"/>
          </a:xfrm>
          <a:custGeom>
            <a:avLst/>
            <a:gdLst/>
            <a:ahLst/>
            <a:cxnLst/>
            <a:rect l="l" t="t" r="r" b="b"/>
            <a:pathLst>
              <a:path w="85725" h="85725">
                <a:moveTo>
                  <a:pt x="0" y="0"/>
                </a:moveTo>
                <a:lnTo>
                  <a:pt x="0" y="85725"/>
                </a:lnTo>
                <a:lnTo>
                  <a:pt x="85725" y="4286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471101" y="2562880"/>
            <a:ext cx="989330" cy="0"/>
          </a:xfrm>
          <a:custGeom>
            <a:avLst/>
            <a:gdLst/>
            <a:ahLst/>
            <a:cxnLst/>
            <a:rect l="l" t="t" r="r" b="b"/>
            <a:pathLst>
              <a:path w="989329">
                <a:moveTo>
                  <a:pt x="989012" y="0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399662" y="2520014"/>
            <a:ext cx="85725" cy="85725"/>
          </a:xfrm>
          <a:custGeom>
            <a:avLst/>
            <a:gdLst/>
            <a:ahLst/>
            <a:cxnLst/>
            <a:rect l="l" t="t" r="r" b="b"/>
            <a:pathLst>
              <a:path w="85725" h="85725">
                <a:moveTo>
                  <a:pt x="85725" y="0"/>
                </a:moveTo>
                <a:lnTo>
                  <a:pt x="0" y="42862"/>
                </a:lnTo>
                <a:lnTo>
                  <a:pt x="85725" y="85725"/>
                </a:lnTo>
                <a:lnTo>
                  <a:pt x="857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820226" y="2819400"/>
            <a:ext cx="0" cy="919480"/>
          </a:xfrm>
          <a:custGeom>
            <a:avLst/>
            <a:gdLst/>
            <a:ahLst/>
            <a:cxnLst/>
            <a:rect l="l" t="t" r="r" b="b"/>
            <a:pathLst>
              <a:path h="919479">
                <a:moveTo>
                  <a:pt x="0" y="0"/>
                </a:moveTo>
                <a:lnTo>
                  <a:pt x="0" y="919162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4777369" y="3724277"/>
            <a:ext cx="85725" cy="85725"/>
          </a:xfrm>
          <a:custGeom>
            <a:avLst/>
            <a:gdLst/>
            <a:ahLst/>
            <a:cxnLst/>
            <a:rect l="l" t="t" r="r" b="b"/>
            <a:pathLst>
              <a:path w="85725" h="85725">
                <a:moveTo>
                  <a:pt x="85725" y="0"/>
                </a:moveTo>
                <a:lnTo>
                  <a:pt x="0" y="0"/>
                </a:lnTo>
                <a:lnTo>
                  <a:pt x="42862" y="85725"/>
                </a:lnTo>
                <a:lnTo>
                  <a:pt x="857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2313564" y="1752600"/>
            <a:ext cx="1857375" cy="2286000"/>
          </a:xfrm>
          <a:custGeom>
            <a:avLst/>
            <a:gdLst/>
            <a:ahLst/>
            <a:cxnLst/>
            <a:rect l="l" t="t" r="r" b="b"/>
            <a:pathLst>
              <a:path w="1857375" h="2286000">
                <a:moveTo>
                  <a:pt x="1857375" y="0"/>
                </a:moveTo>
                <a:lnTo>
                  <a:pt x="0" y="0"/>
                </a:lnTo>
                <a:lnTo>
                  <a:pt x="0" y="2286000"/>
                </a:lnTo>
              </a:path>
            </a:pathLst>
          </a:custGeom>
          <a:ln w="28575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156650" y="1709733"/>
            <a:ext cx="85725" cy="85725"/>
          </a:xfrm>
          <a:custGeom>
            <a:avLst/>
            <a:gdLst/>
            <a:ahLst/>
            <a:cxnLst/>
            <a:rect l="l" t="t" r="r" b="b"/>
            <a:pathLst>
              <a:path w="85725" h="85725">
                <a:moveTo>
                  <a:pt x="0" y="0"/>
                </a:moveTo>
                <a:lnTo>
                  <a:pt x="0" y="85725"/>
                </a:lnTo>
                <a:lnTo>
                  <a:pt x="85725" y="4286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5496501" y="4495800"/>
            <a:ext cx="0" cy="995680"/>
          </a:xfrm>
          <a:custGeom>
            <a:avLst/>
            <a:gdLst/>
            <a:ahLst/>
            <a:cxnLst/>
            <a:rect l="l" t="t" r="r" b="b"/>
            <a:pathLst>
              <a:path h="995679">
                <a:moveTo>
                  <a:pt x="0" y="0"/>
                </a:moveTo>
                <a:lnTo>
                  <a:pt x="0" y="995362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5453642" y="5476876"/>
            <a:ext cx="85725" cy="85725"/>
          </a:xfrm>
          <a:custGeom>
            <a:avLst/>
            <a:gdLst/>
            <a:ahLst/>
            <a:cxnLst/>
            <a:rect l="l" t="t" r="r" b="b"/>
            <a:pathLst>
              <a:path w="85725" h="85725">
                <a:moveTo>
                  <a:pt x="85725" y="0"/>
                </a:moveTo>
                <a:lnTo>
                  <a:pt x="0" y="0"/>
                </a:lnTo>
                <a:lnTo>
                  <a:pt x="42862" y="85725"/>
                </a:lnTo>
                <a:lnTo>
                  <a:pt x="857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5787015" y="4567237"/>
            <a:ext cx="0" cy="995680"/>
          </a:xfrm>
          <a:custGeom>
            <a:avLst/>
            <a:gdLst/>
            <a:ahLst/>
            <a:cxnLst/>
            <a:rect l="l" t="t" r="r" b="b"/>
            <a:pathLst>
              <a:path h="995679">
                <a:moveTo>
                  <a:pt x="0" y="995362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5744155" y="4495797"/>
            <a:ext cx="85725" cy="85725"/>
          </a:xfrm>
          <a:custGeom>
            <a:avLst/>
            <a:gdLst/>
            <a:ahLst/>
            <a:cxnLst/>
            <a:rect l="l" t="t" r="r" b="b"/>
            <a:pathLst>
              <a:path w="85725" h="85725">
                <a:moveTo>
                  <a:pt x="42862" y="0"/>
                </a:moveTo>
                <a:lnTo>
                  <a:pt x="0" y="85725"/>
                </a:lnTo>
                <a:lnTo>
                  <a:pt x="85725" y="85725"/>
                </a:lnTo>
                <a:lnTo>
                  <a:pt x="4286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6268026" y="4495800"/>
            <a:ext cx="0" cy="995680"/>
          </a:xfrm>
          <a:custGeom>
            <a:avLst/>
            <a:gdLst/>
            <a:ahLst/>
            <a:cxnLst/>
            <a:rect l="l" t="t" r="r" b="b"/>
            <a:pathLst>
              <a:path h="995679">
                <a:moveTo>
                  <a:pt x="0" y="0"/>
                </a:moveTo>
                <a:lnTo>
                  <a:pt x="0" y="995362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6225167" y="5476877"/>
            <a:ext cx="85725" cy="85725"/>
          </a:xfrm>
          <a:custGeom>
            <a:avLst/>
            <a:gdLst/>
            <a:ahLst/>
            <a:cxnLst/>
            <a:rect l="l" t="t" r="r" b="b"/>
            <a:pathLst>
              <a:path w="85725" h="85725">
                <a:moveTo>
                  <a:pt x="85725" y="0"/>
                </a:moveTo>
                <a:lnTo>
                  <a:pt x="0" y="0"/>
                </a:lnTo>
                <a:lnTo>
                  <a:pt x="42862" y="85725"/>
                </a:lnTo>
                <a:lnTo>
                  <a:pt x="857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6556951" y="4495800"/>
            <a:ext cx="0" cy="995680"/>
          </a:xfrm>
          <a:custGeom>
            <a:avLst/>
            <a:gdLst/>
            <a:ahLst/>
            <a:cxnLst/>
            <a:rect l="l" t="t" r="r" b="b"/>
            <a:pathLst>
              <a:path h="995679">
                <a:moveTo>
                  <a:pt x="0" y="0"/>
                </a:moveTo>
                <a:lnTo>
                  <a:pt x="0" y="995362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6514093" y="5476877"/>
            <a:ext cx="85725" cy="85725"/>
          </a:xfrm>
          <a:custGeom>
            <a:avLst/>
            <a:gdLst/>
            <a:ahLst/>
            <a:cxnLst/>
            <a:rect l="l" t="t" r="r" b="b"/>
            <a:pathLst>
              <a:path w="85725" h="85725">
                <a:moveTo>
                  <a:pt x="85725" y="0"/>
                </a:moveTo>
                <a:lnTo>
                  <a:pt x="0" y="0"/>
                </a:lnTo>
                <a:lnTo>
                  <a:pt x="42862" y="85725"/>
                </a:lnTo>
                <a:lnTo>
                  <a:pt x="857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2543175" y="3810000"/>
            <a:ext cx="0" cy="157480"/>
          </a:xfrm>
          <a:custGeom>
            <a:avLst/>
            <a:gdLst/>
            <a:ahLst/>
            <a:cxnLst/>
            <a:rect l="l" t="t" r="r" b="b"/>
            <a:pathLst>
              <a:path h="157479">
                <a:moveTo>
                  <a:pt x="0" y="0"/>
                </a:moveTo>
                <a:lnTo>
                  <a:pt x="0" y="157162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2500317" y="3952876"/>
            <a:ext cx="85725" cy="85725"/>
          </a:xfrm>
          <a:custGeom>
            <a:avLst/>
            <a:gdLst/>
            <a:ahLst/>
            <a:cxnLst/>
            <a:rect l="l" t="t" r="r" b="b"/>
            <a:pathLst>
              <a:path w="85725" h="85725">
                <a:moveTo>
                  <a:pt x="85725" y="0"/>
                </a:moveTo>
                <a:lnTo>
                  <a:pt x="0" y="0"/>
                </a:lnTo>
                <a:lnTo>
                  <a:pt x="42862" y="85725"/>
                </a:lnTo>
                <a:lnTo>
                  <a:pt x="857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4087811" y="3810000"/>
            <a:ext cx="0" cy="157480"/>
          </a:xfrm>
          <a:custGeom>
            <a:avLst/>
            <a:gdLst/>
            <a:ahLst/>
            <a:cxnLst/>
            <a:rect l="l" t="t" r="r" b="b"/>
            <a:pathLst>
              <a:path h="157479">
                <a:moveTo>
                  <a:pt x="0" y="0"/>
                </a:moveTo>
                <a:lnTo>
                  <a:pt x="0" y="157162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4044953" y="3952876"/>
            <a:ext cx="85725" cy="85725"/>
          </a:xfrm>
          <a:custGeom>
            <a:avLst/>
            <a:gdLst/>
            <a:ahLst/>
            <a:cxnLst/>
            <a:rect l="l" t="t" r="r" b="b"/>
            <a:pathLst>
              <a:path w="85725" h="85725">
                <a:moveTo>
                  <a:pt x="85725" y="0"/>
                </a:moveTo>
                <a:lnTo>
                  <a:pt x="0" y="0"/>
                </a:lnTo>
                <a:lnTo>
                  <a:pt x="42862" y="85725"/>
                </a:lnTo>
                <a:lnTo>
                  <a:pt x="857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4857750" y="3810000"/>
            <a:ext cx="0" cy="157480"/>
          </a:xfrm>
          <a:custGeom>
            <a:avLst/>
            <a:gdLst/>
            <a:ahLst/>
            <a:cxnLst/>
            <a:rect l="l" t="t" r="r" b="b"/>
            <a:pathLst>
              <a:path h="157479">
                <a:moveTo>
                  <a:pt x="0" y="0"/>
                </a:moveTo>
                <a:lnTo>
                  <a:pt x="0" y="157162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4814892" y="3952876"/>
            <a:ext cx="85725" cy="85725"/>
          </a:xfrm>
          <a:custGeom>
            <a:avLst/>
            <a:gdLst/>
            <a:ahLst/>
            <a:cxnLst/>
            <a:rect l="l" t="t" r="r" b="b"/>
            <a:pathLst>
              <a:path w="85725" h="85725">
                <a:moveTo>
                  <a:pt x="85725" y="0"/>
                </a:moveTo>
                <a:lnTo>
                  <a:pt x="0" y="0"/>
                </a:lnTo>
                <a:lnTo>
                  <a:pt x="42862" y="85725"/>
                </a:lnTo>
                <a:lnTo>
                  <a:pt x="857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5630861" y="3810000"/>
            <a:ext cx="0" cy="157480"/>
          </a:xfrm>
          <a:custGeom>
            <a:avLst/>
            <a:gdLst/>
            <a:ahLst/>
            <a:cxnLst/>
            <a:rect l="l" t="t" r="r" b="b"/>
            <a:pathLst>
              <a:path h="157479">
                <a:moveTo>
                  <a:pt x="0" y="0"/>
                </a:moveTo>
                <a:lnTo>
                  <a:pt x="0" y="157162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5588003" y="3952876"/>
            <a:ext cx="85725" cy="85725"/>
          </a:xfrm>
          <a:custGeom>
            <a:avLst/>
            <a:gdLst/>
            <a:ahLst/>
            <a:cxnLst/>
            <a:rect l="l" t="t" r="r" b="b"/>
            <a:pathLst>
              <a:path w="85725" h="85725">
                <a:moveTo>
                  <a:pt x="85725" y="0"/>
                </a:moveTo>
                <a:lnTo>
                  <a:pt x="0" y="0"/>
                </a:lnTo>
                <a:lnTo>
                  <a:pt x="42862" y="85725"/>
                </a:lnTo>
                <a:lnTo>
                  <a:pt x="857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6400800" y="3810000"/>
            <a:ext cx="0" cy="157480"/>
          </a:xfrm>
          <a:custGeom>
            <a:avLst/>
            <a:gdLst/>
            <a:ahLst/>
            <a:cxnLst/>
            <a:rect l="l" t="t" r="r" b="b"/>
            <a:pathLst>
              <a:path h="157479">
                <a:moveTo>
                  <a:pt x="0" y="0"/>
                </a:moveTo>
                <a:lnTo>
                  <a:pt x="0" y="157162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6357942" y="3952876"/>
            <a:ext cx="85725" cy="85725"/>
          </a:xfrm>
          <a:custGeom>
            <a:avLst/>
            <a:gdLst/>
            <a:ahLst/>
            <a:cxnLst/>
            <a:rect l="l" t="t" r="r" b="b"/>
            <a:pathLst>
              <a:path w="85725" h="85725">
                <a:moveTo>
                  <a:pt x="85725" y="0"/>
                </a:moveTo>
                <a:lnTo>
                  <a:pt x="0" y="0"/>
                </a:lnTo>
                <a:lnTo>
                  <a:pt x="42862" y="85725"/>
                </a:lnTo>
                <a:lnTo>
                  <a:pt x="857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2543175" y="3810000"/>
            <a:ext cx="3857625" cy="0"/>
          </a:xfrm>
          <a:custGeom>
            <a:avLst/>
            <a:gdLst/>
            <a:ahLst/>
            <a:cxnLst/>
            <a:rect l="l" t="t" r="r" b="b"/>
            <a:pathLst>
              <a:path w="3857625">
                <a:moveTo>
                  <a:pt x="0" y="0"/>
                </a:moveTo>
                <a:lnTo>
                  <a:pt x="3857625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 txBox="1"/>
          <p:nvPr/>
        </p:nvSpPr>
        <p:spPr>
          <a:xfrm>
            <a:off x="2285401" y="4038600"/>
            <a:ext cx="1377950" cy="457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852805" algn="l"/>
              </a:tabLst>
            </a:pPr>
            <a:r>
              <a:rPr sz="1400" b="1" spc="5" dirty="0">
                <a:solidFill>
                  <a:srgbClr val="FFFFFF"/>
                </a:solidFill>
                <a:latin typeface="Calibri"/>
                <a:cs typeface="Calibri"/>
              </a:rPr>
              <a:t>B</a:t>
            </a:r>
            <a:r>
              <a:rPr sz="1400" b="1" spc="-3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anch	A</a:t>
            </a:r>
            <a:r>
              <a:rPr sz="1400" b="1" spc="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400" b="1" spc="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3759771" y="4038600"/>
            <a:ext cx="676275" cy="457200"/>
          </a:xfrm>
          <a:prstGeom prst="rect">
            <a:avLst/>
          </a:prstGeom>
          <a:solidFill>
            <a:srgbClr val="F1C7C7"/>
          </a:solidFill>
          <a:ln w="952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44780">
              <a:lnSpc>
                <a:spcPct val="100000"/>
              </a:lnSpc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400" b="1" spc="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400" b="1" spc="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4532884" y="4038600"/>
            <a:ext cx="675005" cy="457200"/>
          </a:xfrm>
          <a:prstGeom prst="rect">
            <a:avLst/>
          </a:prstGeom>
          <a:solidFill>
            <a:srgbClr val="F1C7C7"/>
          </a:solidFill>
          <a:ln w="952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44780">
              <a:lnSpc>
                <a:spcPct val="100000"/>
              </a:lnSpc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400" b="1" spc="5" dirty="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400" b="1" spc="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5450781" y="4180204"/>
            <a:ext cx="38036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L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oad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6202494" y="4180204"/>
            <a:ext cx="417830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spc="-5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re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6694809" y="2054225"/>
            <a:ext cx="834390" cy="417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4945" marR="5080" indent="-182880">
              <a:lnSpc>
                <a:spcPct val="100000"/>
              </a:lnSpc>
            </a:pPr>
            <a:r>
              <a:rPr sz="1400" b="1" spc="-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1400" b="1" spc="5" dirty="0">
                <a:solidFill>
                  <a:srgbClr val="FFFFFF"/>
                </a:solidFill>
                <a:latin typeface="Calibri"/>
                <a:cs typeface="Calibri"/>
              </a:rPr>
              <a:t>tr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uc</a:t>
            </a:r>
            <a:r>
              <a:rPr sz="1400" b="1" spc="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ion Cache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5792181" y="5673725"/>
            <a:ext cx="469265" cy="417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46990">
              <a:lnSpc>
                <a:spcPct val="100000"/>
              </a:lnSpc>
            </a:pP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at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a Cache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4403920" y="2359025"/>
            <a:ext cx="834390" cy="4171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7160" marR="5080" indent="-125095">
              <a:lnSpc>
                <a:spcPct val="100000"/>
              </a:lnSpc>
            </a:pPr>
            <a:r>
              <a:rPr sz="1400" b="1" spc="-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sz="1400" b="1" spc="5" dirty="0">
                <a:solidFill>
                  <a:srgbClr val="FFFFFF"/>
                </a:solidFill>
                <a:latin typeface="Calibri"/>
                <a:cs typeface="Calibri"/>
              </a:rPr>
              <a:t>tr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uc</a:t>
            </a:r>
            <a:r>
              <a:rPr sz="1400" b="1" spc="5" dirty="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ion De</a:t>
            </a:r>
            <a:r>
              <a:rPr sz="1400" b="1" spc="-15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1400" b="1" dirty="0">
                <a:solidFill>
                  <a:srgbClr val="FFFFFF"/>
                </a:solidFill>
                <a:latin typeface="Calibri"/>
                <a:cs typeface="Calibri"/>
              </a:rPr>
              <a:t>ode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5490742" y="2351494"/>
            <a:ext cx="906144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spc="-5" dirty="0">
                <a:latin typeface="Calibri"/>
                <a:cs typeface="Calibri"/>
              </a:rPr>
              <a:t>I</a:t>
            </a:r>
            <a:r>
              <a:rPr sz="1400" b="1" dirty="0">
                <a:latin typeface="Calibri"/>
                <a:cs typeface="Calibri"/>
              </a:rPr>
              <a:t>n</a:t>
            </a:r>
            <a:r>
              <a:rPr sz="1400" b="1" spc="-10" dirty="0">
                <a:latin typeface="Calibri"/>
                <a:cs typeface="Calibri"/>
              </a:rPr>
              <a:t>s</a:t>
            </a:r>
            <a:r>
              <a:rPr sz="1400" b="1" spc="5" dirty="0">
                <a:latin typeface="Calibri"/>
                <a:cs typeface="Calibri"/>
              </a:rPr>
              <a:t>tr</a:t>
            </a:r>
            <a:r>
              <a:rPr sz="1400" b="1" dirty="0">
                <a:latin typeface="Calibri"/>
                <a:cs typeface="Calibri"/>
              </a:rPr>
              <a:t>uc</a:t>
            </a:r>
            <a:r>
              <a:rPr sz="1400" b="1" spc="5" dirty="0">
                <a:latin typeface="Calibri"/>
                <a:cs typeface="Calibri"/>
              </a:rPr>
              <a:t>t</a:t>
            </a:r>
            <a:r>
              <a:rPr sz="1400" b="1" dirty="0">
                <a:latin typeface="Calibri"/>
                <a:cs typeface="Calibri"/>
              </a:rPr>
              <a:t>ions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4881285" y="2881960"/>
            <a:ext cx="848360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spc="-5" dirty="0">
                <a:latin typeface="Calibri"/>
                <a:cs typeface="Calibri"/>
              </a:rPr>
              <a:t>O</a:t>
            </a:r>
            <a:r>
              <a:rPr sz="1400" b="1" dirty="0">
                <a:latin typeface="Calibri"/>
                <a:cs typeface="Calibri"/>
              </a:rPr>
              <a:t>pe</a:t>
            </a:r>
            <a:r>
              <a:rPr sz="1400" b="1" spc="-35" dirty="0">
                <a:latin typeface="Calibri"/>
                <a:cs typeface="Calibri"/>
              </a:rPr>
              <a:t>r</a:t>
            </a:r>
            <a:r>
              <a:rPr sz="1400" b="1" spc="-10" dirty="0">
                <a:latin typeface="Calibri"/>
                <a:cs typeface="Calibri"/>
              </a:rPr>
              <a:t>a</a:t>
            </a:r>
            <a:r>
              <a:rPr sz="1400" b="1" spc="5" dirty="0">
                <a:latin typeface="Calibri"/>
                <a:cs typeface="Calibri"/>
              </a:rPr>
              <a:t>t</a:t>
            </a:r>
            <a:r>
              <a:rPr sz="1400" b="1" dirty="0">
                <a:latin typeface="Calibri"/>
                <a:cs typeface="Calibri"/>
              </a:rPr>
              <a:t>ions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2364646" y="3231622"/>
            <a:ext cx="112331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spc="-5" dirty="0">
                <a:latin typeface="Calibri"/>
                <a:cs typeface="Calibri"/>
              </a:rPr>
              <a:t>P</a:t>
            </a:r>
            <a:r>
              <a:rPr sz="1400" b="1" spc="-10" dirty="0">
                <a:latin typeface="Calibri"/>
                <a:cs typeface="Calibri"/>
              </a:rPr>
              <a:t>r</a:t>
            </a:r>
            <a:r>
              <a:rPr sz="1400" b="1" dirty="0">
                <a:latin typeface="Calibri"/>
                <a:cs typeface="Calibri"/>
              </a:rPr>
              <a:t>edic</a:t>
            </a:r>
            <a:r>
              <a:rPr sz="1400" b="1" spc="5" dirty="0">
                <a:latin typeface="Calibri"/>
                <a:cs typeface="Calibri"/>
              </a:rPr>
              <a:t>t</a:t>
            </a:r>
            <a:r>
              <a:rPr sz="1400" b="1" dirty="0">
                <a:latin typeface="Calibri"/>
                <a:cs typeface="Calibri"/>
              </a:rPr>
              <a:t>ion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spc="-5" dirty="0">
                <a:latin typeface="Calibri"/>
                <a:cs typeface="Calibri"/>
              </a:rPr>
              <a:t>O</a:t>
            </a:r>
            <a:r>
              <a:rPr sz="1400" b="1" dirty="0">
                <a:latin typeface="Calibri"/>
                <a:cs typeface="Calibri"/>
              </a:rPr>
              <a:t>K?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6596454" y="5297201"/>
            <a:ext cx="27432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-10" dirty="0">
                <a:latin typeface="Calibri"/>
                <a:cs typeface="Calibri"/>
              </a:rPr>
              <a:t>D</a:t>
            </a:r>
            <a:r>
              <a:rPr sz="1000" b="1" spc="-5" dirty="0">
                <a:latin typeface="Calibri"/>
                <a:cs typeface="Calibri"/>
              </a:rPr>
              <a:t>ata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5816758" y="5068504"/>
            <a:ext cx="434340" cy="398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115570">
              <a:lnSpc>
                <a:spcPct val="161600"/>
              </a:lnSpc>
            </a:pPr>
            <a:r>
              <a:rPr sz="1000" b="1" spc="-10" dirty="0">
                <a:latin typeface="Calibri"/>
                <a:cs typeface="Calibri"/>
              </a:rPr>
              <a:t>A</a:t>
            </a:r>
            <a:r>
              <a:rPr sz="1000" b="1" dirty="0">
                <a:latin typeface="Calibri"/>
                <a:cs typeface="Calibri"/>
              </a:rPr>
              <a:t>ddr</a:t>
            </a:r>
            <a:r>
              <a:rPr sz="1000" b="1" spc="-5" dirty="0">
                <a:latin typeface="Calibri"/>
                <a:cs typeface="Calibri"/>
              </a:rPr>
              <a:t>. </a:t>
            </a:r>
            <a:r>
              <a:rPr sz="1000" b="1" spc="-10" dirty="0">
                <a:latin typeface="Calibri"/>
                <a:cs typeface="Calibri"/>
              </a:rPr>
              <a:t>D</a:t>
            </a:r>
            <a:r>
              <a:rPr sz="1000" b="1" spc="-5" dirty="0">
                <a:latin typeface="Calibri"/>
                <a:cs typeface="Calibri"/>
              </a:rPr>
              <a:t>ata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5163932" y="5068504"/>
            <a:ext cx="31877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b="1" spc="-10" dirty="0">
                <a:latin typeface="Calibri"/>
                <a:cs typeface="Calibri"/>
              </a:rPr>
              <a:t>A</a:t>
            </a:r>
            <a:r>
              <a:rPr sz="1000" b="1" dirty="0">
                <a:latin typeface="Calibri"/>
                <a:cs typeface="Calibri"/>
              </a:rPr>
              <a:t>ddr</a:t>
            </a:r>
            <a:r>
              <a:rPr sz="1000" b="1" spc="-5" dirty="0">
                <a:latin typeface="Calibri"/>
                <a:cs typeface="Calibri"/>
              </a:rPr>
              <a:t>.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66" name="object 66"/>
          <p:cNvSpPr/>
          <p:nvPr/>
        </p:nvSpPr>
        <p:spPr>
          <a:xfrm>
            <a:off x="3314700" y="3810000"/>
            <a:ext cx="0" cy="157480"/>
          </a:xfrm>
          <a:custGeom>
            <a:avLst/>
            <a:gdLst/>
            <a:ahLst/>
            <a:cxnLst/>
            <a:rect l="l" t="t" r="r" b="b"/>
            <a:pathLst>
              <a:path h="157479">
                <a:moveTo>
                  <a:pt x="0" y="0"/>
                </a:moveTo>
                <a:lnTo>
                  <a:pt x="0" y="157162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3271842" y="3952876"/>
            <a:ext cx="85725" cy="85725"/>
          </a:xfrm>
          <a:custGeom>
            <a:avLst/>
            <a:gdLst/>
            <a:ahLst/>
            <a:cxnLst/>
            <a:rect l="l" t="t" r="r" b="b"/>
            <a:pathLst>
              <a:path w="85725" h="85725">
                <a:moveTo>
                  <a:pt x="85725" y="0"/>
                </a:moveTo>
                <a:lnTo>
                  <a:pt x="0" y="0"/>
                </a:lnTo>
                <a:lnTo>
                  <a:pt x="42862" y="85725"/>
                </a:lnTo>
                <a:lnTo>
                  <a:pt x="857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1735715" y="4876800"/>
            <a:ext cx="5215255" cy="0"/>
          </a:xfrm>
          <a:custGeom>
            <a:avLst/>
            <a:gdLst/>
            <a:ahLst/>
            <a:cxnLst/>
            <a:rect l="l" t="t" r="r" b="b"/>
            <a:pathLst>
              <a:path w="5215255">
                <a:moveTo>
                  <a:pt x="0" y="0"/>
                </a:moveTo>
                <a:lnTo>
                  <a:pt x="5214696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2507240" y="4567237"/>
            <a:ext cx="0" cy="238125"/>
          </a:xfrm>
          <a:custGeom>
            <a:avLst/>
            <a:gdLst/>
            <a:ahLst/>
            <a:cxnLst/>
            <a:rect l="l" t="t" r="r" b="b"/>
            <a:pathLst>
              <a:path h="238125">
                <a:moveTo>
                  <a:pt x="0" y="0"/>
                </a:moveTo>
                <a:lnTo>
                  <a:pt x="0" y="238125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2464382" y="4791076"/>
            <a:ext cx="85725" cy="85725"/>
          </a:xfrm>
          <a:custGeom>
            <a:avLst/>
            <a:gdLst/>
            <a:ahLst/>
            <a:cxnLst/>
            <a:rect l="l" t="t" r="r" b="b"/>
            <a:pathLst>
              <a:path w="85725" h="85725">
                <a:moveTo>
                  <a:pt x="85725" y="0"/>
                </a:moveTo>
                <a:lnTo>
                  <a:pt x="0" y="0"/>
                </a:lnTo>
                <a:lnTo>
                  <a:pt x="42862" y="85725"/>
                </a:lnTo>
                <a:lnTo>
                  <a:pt x="857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2464381" y="4495802"/>
            <a:ext cx="85725" cy="85725"/>
          </a:xfrm>
          <a:custGeom>
            <a:avLst/>
            <a:gdLst/>
            <a:ahLst/>
            <a:cxnLst/>
            <a:rect l="l" t="t" r="r" b="b"/>
            <a:pathLst>
              <a:path w="85725" h="85725">
                <a:moveTo>
                  <a:pt x="42862" y="0"/>
                </a:moveTo>
                <a:lnTo>
                  <a:pt x="0" y="85725"/>
                </a:lnTo>
                <a:lnTo>
                  <a:pt x="85725" y="85725"/>
                </a:lnTo>
                <a:lnTo>
                  <a:pt x="4286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4050290" y="4567237"/>
            <a:ext cx="0" cy="238125"/>
          </a:xfrm>
          <a:custGeom>
            <a:avLst/>
            <a:gdLst/>
            <a:ahLst/>
            <a:cxnLst/>
            <a:rect l="l" t="t" r="r" b="b"/>
            <a:pathLst>
              <a:path h="238125">
                <a:moveTo>
                  <a:pt x="0" y="0"/>
                </a:moveTo>
                <a:lnTo>
                  <a:pt x="0" y="238125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4007431" y="4791076"/>
            <a:ext cx="85725" cy="85725"/>
          </a:xfrm>
          <a:custGeom>
            <a:avLst/>
            <a:gdLst/>
            <a:ahLst/>
            <a:cxnLst/>
            <a:rect l="l" t="t" r="r" b="b"/>
            <a:pathLst>
              <a:path w="85725" h="85725">
                <a:moveTo>
                  <a:pt x="85725" y="0"/>
                </a:moveTo>
                <a:lnTo>
                  <a:pt x="0" y="0"/>
                </a:lnTo>
                <a:lnTo>
                  <a:pt x="42862" y="85725"/>
                </a:lnTo>
                <a:lnTo>
                  <a:pt x="857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4007431" y="4495802"/>
            <a:ext cx="85725" cy="85725"/>
          </a:xfrm>
          <a:custGeom>
            <a:avLst/>
            <a:gdLst/>
            <a:ahLst/>
            <a:cxnLst/>
            <a:rect l="l" t="t" r="r" b="b"/>
            <a:pathLst>
              <a:path w="85725" h="85725">
                <a:moveTo>
                  <a:pt x="42862" y="0"/>
                </a:moveTo>
                <a:lnTo>
                  <a:pt x="0" y="85725"/>
                </a:lnTo>
                <a:lnTo>
                  <a:pt x="85725" y="85725"/>
                </a:lnTo>
                <a:lnTo>
                  <a:pt x="4286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4821815" y="4567237"/>
            <a:ext cx="0" cy="238125"/>
          </a:xfrm>
          <a:custGeom>
            <a:avLst/>
            <a:gdLst/>
            <a:ahLst/>
            <a:cxnLst/>
            <a:rect l="l" t="t" r="r" b="b"/>
            <a:pathLst>
              <a:path h="238125">
                <a:moveTo>
                  <a:pt x="0" y="0"/>
                </a:moveTo>
                <a:lnTo>
                  <a:pt x="0" y="238125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4778956" y="4791076"/>
            <a:ext cx="85725" cy="85725"/>
          </a:xfrm>
          <a:custGeom>
            <a:avLst/>
            <a:gdLst/>
            <a:ahLst/>
            <a:cxnLst/>
            <a:rect l="l" t="t" r="r" b="b"/>
            <a:pathLst>
              <a:path w="85725" h="85725">
                <a:moveTo>
                  <a:pt x="85725" y="0"/>
                </a:moveTo>
                <a:lnTo>
                  <a:pt x="0" y="0"/>
                </a:lnTo>
                <a:lnTo>
                  <a:pt x="42862" y="85725"/>
                </a:lnTo>
                <a:lnTo>
                  <a:pt x="857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4778956" y="4495802"/>
            <a:ext cx="85725" cy="85725"/>
          </a:xfrm>
          <a:custGeom>
            <a:avLst/>
            <a:gdLst/>
            <a:ahLst/>
            <a:cxnLst/>
            <a:rect l="l" t="t" r="r" b="b"/>
            <a:pathLst>
              <a:path w="85725" h="85725">
                <a:moveTo>
                  <a:pt x="42862" y="0"/>
                </a:moveTo>
                <a:lnTo>
                  <a:pt x="0" y="85725"/>
                </a:lnTo>
                <a:lnTo>
                  <a:pt x="85725" y="85725"/>
                </a:lnTo>
                <a:lnTo>
                  <a:pt x="4286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5593340" y="4567237"/>
            <a:ext cx="0" cy="238125"/>
          </a:xfrm>
          <a:custGeom>
            <a:avLst/>
            <a:gdLst/>
            <a:ahLst/>
            <a:cxnLst/>
            <a:rect l="l" t="t" r="r" b="b"/>
            <a:pathLst>
              <a:path h="238125">
                <a:moveTo>
                  <a:pt x="0" y="0"/>
                </a:moveTo>
                <a:lnTo>
                  <a:pt x="0" y="238125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5550481" y="4791076"/>
            <a:ext cx="85725" cy="85725"/>
          </a:xfrm>
          <a:custGeom>
            <a:avLst/>
            <a:gdLst/>
            <a:ahLst/>
            <a:cxnLst/>
            <a:rect l="l" t="t" r="r" b="b"/>
            <a:pathLst>
              <a:path w="85725" h="85725">
                <a:moveTo>
                  <a:pt x="85725" y="0"/>
                </a:moveTo>
                <a:lnTo>
                  <a:pt x="0" y="0"/>
                </a:lnTo>
                <a:lnTo>
                  <a:pt x="42862" y="85725"/>
                </a:lnTo>
                <a:lnTo>
                  <a:pt x="857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5550481" y="4495802"/>
            <a:ext cx="85725" cy="85725"/>
          </a:xfrm>
          <a:custGeom>
            <a:avLst/>
            <a:gdLst/>
            <a:ahLst/>
            <a:cxnLst/>
            <a:rect l="l" t="t" r="r" b="b"/>
            <a:pathLst>
              <a:path w="85725" h="85725">
                <a:moveTo>
                  <a:pt x="42862" y="0"/>
                </a:moveTo>
                <a:lnTo>
                  <a:pt x="0" y="85725"/>
                </a:lnTo>
                <a:lnTo>
                  <a:pt x="85725" y="85725"/>
                </a:lnTo>
                <a:lnTo>
                  <a:pt x="4286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6364864" y="4567237"/>
            <a:ext cx="0" cy="238125"/>
          </a:xfrm>
          <a:custGeom>
            <a:avLst/>
            <a:gdLst/>
            <a:ahLst/>
            <a:cxnLst/>
            <a:rect l="l" t="t" r="r" b="b"/>
            <a:pathLst>
              <a:path h="238125">
                <a:moveTo>
                  <a:pt x="0" y="0"/>
                </a:moveTo>
                <a:lnTo>
                  <a:pt x="0" y="238125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6322006" y="4791076"/>
            <a:ext cx="85725" cy="85725"/>
          </a:xfrm>
          <a:custGeom>
            <a:avLst/>
            <a:gdLst/>
            <a:ahLst/>
            <a:cxnLst/>
            <a:rect l="l" t="t" r="r" b="b"/>
            <a:pathLst>
              <a:path w="85725" h="85725">
                <a:moveTo>
                  <a:pt x="85725" y="0"/>
                </a:moveTo>
                <a:lnTo>
                  <a:pt x="0" y="0"/>
                </a:lnTo>
                <a:lnTo>
                  <a:pt x="42862" y="85725"/>
                </a:lnTo>
                <a:lnTo>
                  <a:pt x="857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6322006" y="4495802"/>
            <a:ext cx="85725" cy="85725"/>
          </a:xfrm>
          <a:custGeom>
            <a:avLst/>
            <a:gdLst/>
            <a:ahLst/>
            <a:cxnLst/>
            <a:rect l="l" t="t" r="r" b="b"/>
            <a:pathLst>
              <a:path w="85725" h="85725">
                <a:moveTo>
                  <a:pt x="42862" y="0"/>
                </a:moveTo>
                <a:lnTo>
                  <a:pt x="0" y="85725"/>
                </a:lnTo>
                <a:lnTo>
                  <a:pt x="85725" y="85725"/>
                </a:lnTo>
                <a:lnTo>
                  <a:pt x="4286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3278765" y="4567237"/>
            <a:ext cx="0" cy="238125"/>
          </a:xfrm>
          <a:custGeom>
            <a:avLst/>
            <a:gdLst/>
            <a:ahLst/>
            <a:cxnLst/>
            <a:rect l="l" t="t" r="r" b="b"/>
            <a:pathLst>
              <a:path h="238125">
                <a:moveTo>
                  <a:pt x="0" y="0"/>
                </a:moveTo>
                <a:lnTo>
                  <a:pt x="0" y="238125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3235906" y="4791076"/>
            <a:ext cx="85725" cy="85725"/>
          </a:xfrm>
          <a:custGeom>
            <a:avLst/>
            <a:gdLst/>
            <a:ahLst/>
            <a:cxnLst/>
            <a:rect l="l" t="t" r="r" b="b"/>
            <a:pathLst>
              <a:path w="85725" h="85725">
                <a:moveTo>
                  <a:pt x="85725" y="0"/>
                </a:moveTo>
                <a:lnTo>
                  <a:pt x="0" y="0"/>
                </a:lnTo>
                <a:lnTo>
                  <a:pt x="42862" y="85725"/>
                </a:lnTo>
                <a:lnTo>
                  <a:pt x="857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3235906" y="4495802"/>
            <a:ext cx="85725" cy="85725"/>
          </a:xfrm>
          <a:custGeom>
            <a:avLst/>
            <a:gdLst/>
            <a:ahLst/>
            <a:cxnLst/>
            <a:rect l="l" t="t" r="r" b="b"/>
            <a:pathLst>
              <a:path w="85725" h="85725">
                <a:moveTo>
                  <a:pt x="42862" y="0"/>
                </a:moveTo>
                <a:lnTo>
                  <a:pt x="0" y="85725"/>
                </a:lnTo>
                <a:lnTo>
                  <a:pt x="85725" y="85725"/>
                </a:lnTo>
                <a:lnTo>
                  <a:pt x="4286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 txBox="1"/>
          <p:nvPr/>
        </p:nvSpPr>
        <p:spPr>
          <a:xfrm>
            <a:off x="2874905" y="4894579"/>
            <a:ext cx="1344930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spc="-5" dirty="0">
                <a:latin typeface="Calibri"/>
                <a:cs typeface="Calibri"/>
              </a:rPr>
              <a:t>O</a:t>
            </a:r>
            <a:r>
              <a:rPr sz="1400" b="1" dirty="0">
                <a:latin typeface="Calibri"/>
                <a:cs typeface="Calibri"/>
              </a:rPr>
              <a:t>pe</a:t>
            </a:r>
            <a:r>
              <a:rPr sz="1400" b="1" spc="-35" dirty="0">
                <a:latin typeface="Calibri"/>
                <a:cs typeface="Calibri"/>
              </a:rPr>
              <a:t>r</a:t>
            </a:r>
            <a:r>
              <a:rPr sz="1400" b="1" spc="-10" dirty="0">
                <a:latin typeface="Calibri"/>
                <a:cs typeface="Calibri"/>
              </a:rPr>
              <a:t>a</a:t>
            </a:r>
            <a:r>
              <a:rPr sz="1400" b="1" spc="5" dirty="0">
                <a:latin typeface="Calibri"/>
                <a:cs typeface="Calibri"/>
              </a:rPr>
              <a:t>t</a:t>
            </a:r>
            <a:r>
              <a:rPr sz="1400" b="1" dirty="0">
                <a:latin typeface="Calibri"/>
                <a:cs typeface="Calibri"/>
              </a:rPr>
              <a:t>ion</a:t>
            </a:r>
            <a:r>
              <a:rPr sz="1400" b="1" spc="-40" dirty="0">
                <a:latin typeface="Calibri"/>
                <a:cs typeface="Calibri"/>
              </a:rPr>
              <a:t> </a:t>
            </a:r>
            <a:r>
              <a:rPr sz="1400" b="1" spc="-25" dirty="0">
                <a:latin typeface="Calibri"/>
                <a:cs typeface="Calibri"/>
              </a:rPr>
              <a:t>R</a:t>
            </a:r>
            <a:r>
              <a:rPr sz="1400" b="1" dirty="0">
                <a:latin typeface="Calibri"/>
                <a:cs typeface="Calibri"/>
              </a:rPr>
              <a:t>esul</a:t>
            </a:r>
            <a:r>
              <a:rPr sz="1400" b="1" spc="5" dirty="0">
                <a:latin typeface="Calibri"/>
                <a:cs typeface="Calibri"/>
              </a:rPr>
              <a:t>t</a:t>
            </a:r>
            <a:r>
              <a:rPr sz="1400" b="1" dirty="0">
                <a:latin typeface="Calibri"/>
                <a:cs typeface="Calibri"/>
              </a:rPr>
              <a:t>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88" name="object 88"/>
          <p:cNvSpPr/>
          <p:nvPr/>
        </p:nvSpPr>
        <p:spPr>
          <a:xfrm>
            <a:off x="2313565" y="2209800"/>
            <a:ext cx="411480" cy="0"/>
          </a:xfrm>
          <a:custGeom>
            <a:avLst/>
            <a:gdLst/>
            <a:ahLst/>
            <a:cxnLst/>
            <a:rect l="l" t="t" r="r" b="b"/>
            <a:pathLst>
              <a:path w="411480">
                <a:moveTo>
                  <a:pt x="0" y="0"/>
                </a:moveTo>
                <a:lnTo>
                  <a:pt x="411162" y="0"/>
                </a:lnTo>
              </a:path>
            </a:pathLst>
          </a:custGeom>
          <a:ln w="28575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2710441" y="2166934"/>
            <a:ext cx="85725" cy="85725"/>
          </a:xfrm>
          <a:custGeom>
            <a:avLst/>
            <a:gdLst/>
            <a:ahLst/>
            <a:cxnLst/>
            <a:rect l="l" t="t" r="r" b="b"/>
            <a:pathLst>
              <a:path w="85725" h="85725">
                <a:moveTo>
                  <a:pt x="0" y="0"/>
                </a:moveTo>
                <a:lnTo>
                  <a:pt x="0" y="85725"/>
                </a:lnTo>
                <a:lnTo>
                  <a:pt x="85725" y="4286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1904993" y="2667000"/>
            <a:ext cx="828040" cy="2209800"/>
          </a:xfrm>
          <a:custGeom>
            <a:avLst/>
            <a:gdLst/>
            <a:ahLst/>
            <a:cxnLst/>
            <a:rect l="l" t="t" r="r" b="b"/>
            <a:pathLst>
              <a:path w="828039" h="2209800">
                <a:moveTo>
                  <a:pt x="827671" y="0"/>
                </a:moveTo>
                <a:lnTo>
                  <a:pt x="0" y="0"/>
                </a:lnTo>
                <a:lnTo>
                  <a:pt x="0" y="220980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2719962" y="2628896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0" y="76200"/>
                </a:lnTo>
                <a:lnTo>
                  <a:pt x="7620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 txBox="1"/>
          <p:nvPr/>
        </p:nvSpPr>
        <p:spPr>
          <a:xfrm>
            <a:off x="545083" y="3224504"/>
            <a:ext cx="1277620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spc="-25" dirty="0">
                <a:latin typeface="Calibri"/>
                <a:cs typeface="Calibri"/>
              </a:rPr>
              <a:t>R</a:t>
            </a:r>
            <a:r>
              <a:rPr sz="1400" b="1" dirty="0">
                <a:latin typeface="Calibri"/>
                <a:cs typeface="Calibri"/>
              </a:rPr>
              <a:t>e</a:t>
            </a:r>
            <a:r>
              <a:rPr sz="1400" b="1" spc="-10" dirty="0">
                <a:latin typeface="Calibri"/>
                <a:cs typeface="Calibri"/>
              </a:rPr>
              <a:t>g</a:t>
            </a:r>
            <a:r>
              <a:rPr sz="1400" b="1" dirty="0">
                <a:latin typeface="Calibri"/>
                <a:cs typeface="Calibri"/>
              </a:rPr>
              <a:t>i</a:t>
            </a:r>
            <a:r>
              <a:rPr sz="1400" b="1" spc="-10" dirty="0">
                <a:latin typeface="Calibri"/>
                <a:cs typeface="Calibri"/>
              </a:rPr>
              <a:t>st</a:t>
            </a:r>
            <a:r>
              <a:rPr sz="1400" b="1" dirty="0">
                <a:latin typeface="Calibri"/>
                <a:cs typeface="Calibri"/>
              </a:rPr>
              <a:t>er</a:t>
            </a:r>
            <a:r>
              <a:rPr sz="1400" b="1" spc="-40" dirty="0">
                <a:latin typeface="Calibri"/>
                <a:cs typeface="Calibri"/>
              </a:rPr>
              <a:t> </a:t>
            </a:r>
            <a:r>
              <a:rPr sz="1400" b="1" spc="-5" dirty="0">
                <a:latin typeface="Calibri"/>
                <a:cs typeface="Calibri"/>
              </a:rPr>
              <a:t>U</a:t>
            </a:r>
            <a:r>
              <a:rPr sz="1400" b="1" dirty="0">
                <a:latin typeface="Calibri"/>
                <a:cs typeface="Calibri"/>
              </a:rPr>
              <a:t>pd</a:t>
            </a:r>
            <a:r>
              <a:rPr sz="1400" b="1" spc="-10" dirty="0">
                <a:latin typeface="Calibri"/>
                <a:cs typeface="Calibri"/>
              </a:rPr>
              <a:t>at</a:t>
            </a:r>
            <a:r>
              <a:rPr sz="1400" b="1" dirty="0">
                <a:latin typeface="Calibri"/>
                <a:cs typeface="Calibri"/>
              </a:rPr>
              <a:t>es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94" name="object 94"/>
          <p:cNvSpPr/>
          <p:nvPr/>
        </p:nvSpPr>
        <p:spPr>
          <a:xfrm>
            <a:off x="4156654" y="2471734"/>
            <a:ext cx="85725" cy="85725"/>
          </a:xfrm>
          <a:custGeom>
            <a:avLst/>
            <a:gdLst/>
            <a:ahLst/>
            <a:cxnLst/>
            <a:rect l="l" t="t" r="r" b="b"/>
            <a:pathLst>
              <a:path w="85725" h="85725">
                <a:moveTo>
                  <a:pt x="0" y="0"/>
                </a:moveTo>
                <a:lnTo>
                  <a:pt x="0" y="85725"/>
                </a:lnTo>
                <a:lnTo>
                  <a:pt x="85725" y="4286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3856614" y="2890837"/>
            <a:ext cx="963930" cy="157480"/>
          </a:xfrm>
          <a:custGeom>
            <a:avLst/>
            <a:gdLst/>
            <a:ahLst/>
            <a:cxnLst/>
            <a:rect l="l" t="t" r="r" b="b"/>
            <a:pathLst>
              <a:path w="963929" h="157480">
                <a:moveTo>
                  <a:pt x="963612" y="157162"/>
                </a:moveTo>
                <a:lnTo>
                  <a:pt x="0" y="157162"/>
                </a:ln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3813760" y="2819403"/>
            <a:ext cx="85725" cy="85725"/>
          </a:xfrm>
          <a:custGeom>
            <a:avLst/>
            <a:gdLst/>
            <a:ahLst/>
            <a:cxnLst/>
            <a:rect l="l" t="t" r="r" b="b"/>
            <a:pathLst>
              <a:path w="85725" h="85725">
                <a:moveTo>
                  <a:pt x="42849" y="0"/>
                </a:moveTo>
                <a:lnTo>
                  <a:pt x="0" y="85725"/>
                </a:lnTo>
                <a:lnTo>
                  <a:pt x="85725" y="85712"/>
                </a:lnTo>
                <a:lnTo>
                  <a:pt x="4284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58" name="object 58"/>
          <p:cNvGraphicFramePr>
            <a:graphicFrameLocks noGrp="1"/>
          </p:cNvGraphicFramePr>
          <p:nvPr/>
        </p:nvGraphicFramePr>
        <p:xfrm>
          <a:off x="4237609" y="1671637"/>
          <a:ext cx="2146304" cy="5333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572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0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1730">
                <a:tc rowSpan="2">
                  <a:txBody>
                    <a:bodyPr/>
                    <a:lstStyle/>
                    <a:p>
                      <a:pPr marL="298450" marR="290830" indent="75565">
                        <a:lnSpc>
                          <a:spcPct val="100000"/>
                        </a:lnSpc>
                      </a:pPr>
                      <a:r>
                        <a:rPr sz="14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</a:t>
                      </a:r>
                      <a:r>
                        <a:rPr sz="1400" b="1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</a:t>
                      </a:r>
                      <a:r>
                        <a:rPr sz="14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ch Co</a:t>
                      </a:r>
                      <a:r>
                        <a:rPr sz="14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</a:t>
                      </a:r>
                      <a:r>
                        <a:rPr sz="1400" b="1" spc="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</a:t>
                      </a:r>
                      <a:r>
                        <a:rPr sz="14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1C7C7"/>
                    </a:solidFill>
                  </a:tcPr>
                </a:tc>
                <a:tc>
                  <a:txBody>
                    <a:bodyPr/>
                    <a:lstStyle/>
                    <a:p>
                      <a:pPr marL="202565">
                        <a:lnSpc>
                          <a:spcPct val="100000"/>
                        </a:lnSpc>
                      </a:pPr>
                      <a:r>
                        <a:rPr sz="1400" b="1" dirty="0">
                          <a:latin typeface="Calibri"/>
                          <a:cs typeface="Calibri"/>
                        </a:rPr>
                        <a:t>Add</a:t>
                      </a:r>
                      <a:r>
                        <a:rPr sz="1400" b="1" spc="-10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1400" b="1" dirty="0">
                          <a:latin typeface="Calibri"/>
                          <a:cs typeface="Calibri"/>
                        </a:rPr>
                        <a:t>ess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166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1C7C7"/>
                    </a:solidFill>
                  </a:tcPr>
                </a:tc>
                <a:tc>
                  <a:txBody>
                    <a:bodyPr/>
                    <a:lstStyle/>
                    <a:p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2" name="object 92"/>
          <p:cNvGraphicFramePr>
            <a:graphicFrameLocks noGrp="1"/>
          </p:cNvGraphicFramePr>
          <p:nvPr/>
        </p:nvGraphicFramePr>
        <p:xfrm>
          <a:off x="2791396" y="1824037"/>
          <a:ext cx="1374779" cy="1127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3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99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3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74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 gridSpan="3">
                  <a:txBody>
                    <a:bodyPr/>
                    <a:lstStyle/>
                    <a:p>
                      <a:pPr marL="414655" marR="149860" indent="-259079">
                        <a:lnSpc>
                          <a:spcPct val="100000"/>
                        </a:lnSpc>
                      </a:pPr>
                      <a:r>
                        <a:rPr sz="14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</a:t>
                      </a:r>
                      <a:r>
                        <a:rPr sz="1400" b="1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</a:t>
                      </a:r>
                      <a:r>
                        <a:rPr sz="1400" b="1" spc="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</a:t>
                      </a:r>
                      <a:r>
                        <a:rPr sz="14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</a:t>
                      </a:r>
                      <a:r>
                        <a:rPr sz="14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</a:t>
                      </a:r>
                      <a:r>
                        <a:rPr sz="14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 </a:t>
                      </a:r>
                      <a:r>
                        <a:rPr sz="14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U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nit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solidFill>
                      <a:srgbClr val="F1C7C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 rowSpan="3">
                  <a:txBody>
                    <a:bodyPr/>
                    <a:lstStyle/>
                    <a:p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1C7C7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250190" marR="71755" indent="-169545">
                        <a:lnSpc>
                          <a:spcPct val="100000"/>
                        </a:lnSpc>
                      </a:pPr>
                      <a:r>
                        <a:rPr sz="14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</a:t>
                      </a:r>
                      <a:r>
                        <a:rPr sz="14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g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</a:t>
                      </a:r>
                      <a:r>
                        <a:rPr sz="14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er File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1C7C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1C7C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808080"/>
                    </a:solidFill>
                  </a:tcPr>
                </a:tc>
                <a:tc rowSpan="2">
                  <a:txBody>
                    <a:bodyPr/>
                    <a:lstStyle/>
                    <a:p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1C7C7"/>
                    </a:solidFill>
                  </a:tcPr>
                </a:tc>
                <a:tc rowSpan="2">
                  <a:txBody>
                    <a:bodyPr/>
                    <a:lstStyle/>
                    <a:p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1C7C7"/>
                    </a:solidFill>
                  </a:tcPr>
                </a:tc>
                <a:tc>
                  <a:txBody>
                    <a:bodyPr/>
                    <a:lstStyle/>
                    <a:p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1C7C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1C7C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57018" y="431591"/>
            <a:ext cx="7592093" cy="770174"/>
          </a:xfrm>
          <a:prstGeom prst="rect">
            <a:avLst/>
          </a:prstGeom>
        </p:spPr>
        <p:txBody>
          <a:bodyPr vert="horz" wrap="square" lIns="0" tIns="214086" rIns="0" bIns="0" rtlCol="0">
            <a:spAutoFit/>
          </a:bodyPr>
          <a:lstStyle/>
          <a:p>
            <a:pPr marL="188595">
              <a:lnSpc>
                <a:spcPct val="100000"/>
              </a:lnSpc>
            </a:pPr>
            <a:r>
              <a:rPr lang="zh-CN" altLang="en-US" spc="-10" dirty="0"/>
              <a:t>它看起来如何</a:t>
            </a:r>
            <a:endParaRPr dirty="0"/>
          </a:p>
        </p:txBody>
      </p:sp>
      <p:sp>
        <p:nvSpPr>
          <p:cNvPr id="4" name="object 4"/>
          <p:cNvSpPr/>
          <p:nvPr/>
        </p:nvSpPr>
        <p:spPr>
          <a:xfrm>
            <a:off x="4473664" y="1143000"/>
            <a:ext cx="4479898" cy="160489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05002" y="1676400"/>
            <a:ext cx="1233701" cy="28955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13819" y="4427160"/>
            <a:ext cx="2969895" cy="6546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i="1" spc="-5" dirty="0">
                <a:latin typeface="Calibri"/>
                <a:cs typeface="Calibri"/>
              </a:rPr>
              <a:t>Sou</a:t>
            </a:r>
            <a:r>
              <a:rPr sz="1200" i="1" spc="-10" dirty="0">
                <a:latin typeface="Calibri"/>
                <a:cs typeface="Calibri"/>
              </a:rPr>
              <a:t>r</a:t>
            </a:r>
            <a:r>
              <a:rPr sz="1200" i="1" spc="-15" dirty="0">
                <a:latin typeface="Calibri"/>
                <a:cs typeface="Calibri"/>
              </a:rPr>
              <a:t>c</a:t>
            </a:r>
            <a:r>
              <a:rPr sz="1200" i="1" spc="-5" dirty="0">
                <a:latin typeface="Calibri"/>
                <a:cs typeface="Calibri"/>
              </a:rPr>
              <a:t>e:</a:t>
            </a:r>
            <a:r>
              <a:rPr sz="1200" i="1" spc="5" dirty="0">
                <a:latin typeface="Calibri"/>
                <a:cs typeface="Calibri"/>
              </a:rPr>
              <a:t> D</a:t>
            </a:r>
            <a:r>
              <a:rPr sz="1200" i="1" spc="-5" dirty="0">
                <a:latin typeface="Calibri"/>
                <a:cs typeface="Calibri"/>
              </a:rPr>
              <a:t>e</a:t>
            </a:r>
            <a:r>
              <a:rPr sz="1200" i="1" dirty="0">
                <a:latin typeface="Calibri"/>
                <a:cs typeface="Calibri"/>
              </a:rPr>
              <a:t>ll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 marL="1664970">
              <a:lnSpc>
                <a:spcPct val="100000"/>
              </a:lnSpc>
              <a:spcBef>
                <a:spcPts val="930"/>
              </a:spcBef>
            </a:pPr>
            <a:r>
              <a:rPr sz="1200" i="1" spc="-5" dirty="0">
                <a:latin typeface="Calibri"/>
                <a:cs typeface="Calibri"/>
              </a:rPr>
              <a:t>Sour</a:t>
            </a:r>
            <a:r>
              <a:rPr sz="1200" i="1" spc="-10" dirty="0">
                <a:latin typeface="Calibri"/>
                <a:cs typeface="Calibri"/>
              </a:rPr>
              <a:t>c</a:t>
            </a:r>
            <a:r>
              <a:rPr sz="1200" i="1" spc="-5" dirty="0">
                <a:latin typeface="Calibri"/>
                <a:cs typeface="Calibri"/>
              </a:rPr>
              <a:t>e:</a:t>
            </a:r>
            <a:r>
              <a:rPr sz="1200" i="1" spc="5" dirty="0">
                <a:latin typeface="Calibri"/>
                <a:cs typeface="Calibri"/>
              </a:rPr>
              <a:t> </a:t>
            </a:r>
            <a:r>
              <a:rPr sz="1200" i="1" spc="-5" dirty="0">
                <a:latin typeface="Calibri"/>
                <a:cs typeface="Calibri"/>
              </a:rPr>
              <a:t>P</a:t>
            </a:r>
            <a:r>
              <a:rPr sz="1200" i="1" dirty="0">
                <a:latin typeface="Calibri"/>
                <a:cs typeface="Calibri"/>
              </a:rPr>
              <a:t>C </a:t>
            </a:r>
            <a:r>
              <a:rPr sz="1200" i="1" spc="5" dirty="0">
                <a:latin typeface="Calibri"/>
                <a:cs typeface="Calibri"/>
              </a:rPr>
              <a:t>M</a:t>
            </a:r>
            <a:r>
              <a:rPr sz="1200" i="1" spc="-5" dirty="0">
                <a:latin typeface="Calibri"/>
                <a:cs typeface="Calibri"/>
              </a:rPr>
              <a:t>aga</a:t>
            </a:r>
            <a:r>
              <a:rPr sz="1200" i="1" spc="5" dirty="0">
                <a:latin typeface="Calibri"/>
                <a:cs typeface="Calibri"/>
              </a:rPr>
              <a:t>z</a:t>
            </a:r>
            <a:r>
              <a:rPr sz="1200" i="1" dirty="0">
                <a:latin typeface="Calibri"/>
                <a:cs typeface="Calibri"/>
              </a:rPr>
              <a:t>i</a:t>
            </a:r>
            <a:r>
              <a:rPr sz="1200" i="1" spc="-10" dirty="0">
                <a:latin typeface="Calibri"/>
                <a:cs typeface="Calibri"/>
              </a:rPr>
              <a:t>ne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59740" y="1412744"/>
            <a:ext cx="1103630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5" dirty="0">
                <a:solidFill>
                  <a:srgbClr val="3E3E3E"/>
                </a:solidFill>
                <a:latin typeface="Calibri"/>
                <a:cs typeface="Calibri"/>
              </a:rPr>
              <a:t>De</a:t>
            </a:r>
            <a:r>
              <a:rPr sz="1800" b="1" spc="-5" dirty="0">
                <a:solidFill>
                  <a:srgbClr val="3E3E3E"/>
                </a:solidFill>
                <a:latin typeface="Calibri"/>
                <a:cs typeface="Calibri"/>
              </a:rPr>
              <a:t>s</a:t>
            </a:r>
            <a:r>
              <a:rPr sz="1800" b="1" spc="-20" dirty="0">
                <a:solidFill>
                  <a:srgbClr val="3E3E3E"/>
                </a:solidFill>
                <a:latin typeface="Calibri"/>
                <a:cs typeface="Calibri"/>
              </a:rPr>
              <a:t>kt</a:t>
            </a:r>
            <a:r>
              <a:rPr sz="1800" b="1" spc="-5" dirty="0">
                <a:solidFill>
                  <a:srgbClr val="3E3E3E"/>
                </a:solidFill>
                <a:latin typeface="Calibri"/>
                <a:cs typeface="Calibri"/>
              </a:rPr>
              <a:t>op </a:t>
            </a:r>
            <a:r>
              <a:rPr sz="1800" b="1" dirty="0">
                <a:solidFill>
                  <a:srgbClr val="3E3E3E"/>
                </a:solidFill>
                <a:latin typeface="Calibri"/>
                <a:cs typeface="Calibri"/>
              </a:rPr>
              <a:t>PC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437570" y="4173047"/>
            <a:ext cx="2291582" cy="21221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019800" y="2768780"/>
            <a:ext cx="900430" cy="1343025"/>
          </a:xfrm>
          <a:custGeom>
            <a:avLst/>
            <a:gdLst/>
            <a:ahLst/>
            <a:cxnLst/>
            <a:rect l="l" t="t" r="r" b="b"/>
            <a:pathLst>
              <a:path w="900429" h="1343025">
                <a:moveTo>
                  <a:pt x="0" y="1343025"/>
                </a:moveTo>
                <a:lnTo>
                  <a:pt x="900391" y="0"/>
                </a:lnTo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840852" y="2768776"/>
            <a:ext cx="79375" cy="88265"/>
          </a:xfrm>
          <a:custGeom>
            <a:avLst/>
            <a:gdLst/>
            <a:ahLst/>
            <a:cxnLst/>
            <a:rect l="l" t="t" r="r" b="b"/>
            <a:pathLst>
              <a:path w="79375" h="88264">
                <a:moveTo>
                  <a:pt x="73837" y="88049"/>
                </a:moveTo>
                <a:lnTo>
                  <a:pt x="79349" y="0"/>
                </a:lnTo>
                <a:lnTo>
                  <a:pt x="0" y="38544"/>
                </a:lnTo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775784" y="3533637"/>
            <a:ext cx="2070096" cy="49682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534400" y="2822105"/>
            <a:ext cx="142240" cy="302260"/>
          </a:xfrm>
          <a:custGeom>
            <a:avLst/>
            <a:gdLst/>
            <a:ahLst/>
            <a:cxnLst/>
            <a:rect l="l" t="t" r="r" b="b"/>
            <a:pathLst>
              <a:path w="142240" h="302260">
                <a:moveTo>
                  <a:pt x="0" y="302094"/>
                </a:moveTo>
                <a:lnTo>
                  <a:pt x="141719" y="0"/>
                </a:lnTo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603524" y="2822108"/>
            <a:ext cx="80645" cy="88265"/>
          </a:xfrm>
          <a:custGeom>
            <a:avLst/>
            <a:gdLst/>
            <a:ahLst/>
            <a:cxnLst/>
            <a:rect l="l" t="t" r="r" b="b"/>
            <a:pathLst>
              <a:path w="80645" h="88264">
                <a:moveTo>
                  <a:pt x="80479" y="87858"/>
                </a:moveTo>
                <a:lnTo>
                  <a:pt x="72593" y="0"/>
                </a:lnTo>
                <a:lnTo>
                  <a:pt x="0" y="50101"/>
                </a:lnTo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055545" y="3457642"/>
            <a:ext cx="1552574" cy="155257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2179478" y="6054538"/>
            <a:ext cx="3041650" cy="4356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i="1" spc="-5" dirty="0">
                <a:latin typeface="Calibri"/>
                <a:cs typeface="Calibri"/>
              </a:rPr>
              <a:t>Sou</a:t>
            </a:r>
            <a:r>
              <a:rPr sz="1200" i="1" spc="-10" dirty="0">
                <a:latin typeface="Calibri"/>
                <a:cs typeface="Calibri"/>
              </a:rPr>
              <a:t>r</a:t>
            </a:r>
            <a:r>
              <a:rPr sz="1200" i="1" spc="-15" dirty="0">
                <a:latin typeface="Calibri"/>
                <a:cs typeface="Calibri"/>
              </a:rPr>
              <a:t>c</a:t>
            </a:r>
            <a:r>
              <a:rPr sz="1200" i="1" spc="-5" dirty="0">
                <a:latin typeface="Calibri"/>
                <a:cs typeface="Calibri"/>
              </a:rPr>
              <a:t>e:</a:t>
            </a:r>
            <a:r>
              <a:rPr sz="1200" i="1" spc="5" dirty="0">
                <a:latin typeface="Calibri"/>
                <a:cs typeface="Calibri"/>
              </a:rPr>
              <a:t> </a:t>
            </a:r>
            <a:r>
              <a:rPr sz="1200" i="1" spc="-10" dirty="0">
                <a:latin typeface="Calibri"/>
                <a:cs typeface="Calibri"/>
              </a:rPr>
              <a:t>t</a:t>
            </a:r>
            <a:r>
              <a:rPr sz="1200" i="1" spc="-5" dirty="0">
                <a:latin typeface="Calibri"/>
                <a:cs typeface="Calibri"/>
              </a:rPr>
              <a:t>e</a:t>
            </a:r>
            <a:r>
              <a:rPr sz="1200" i="1" dirty="0">
                <a:latin typeface="Calibri"/>
                <a:cs typeface="Calibri"/>
              </a:rPr>
              <a:t>c</a:t>
            </a:r>
            <a:r>
              <a:rPr sz="1200" i="1" spc="-5" dirty="0">
                <a:latin typeface="Calibri"/>
                <a:cs typeface="Calibri"/>
              </a:rPr>
              <a:t>h</a:t>
            </a:r>
            <a:r>
              <a:rPr sz="1200" i="1" spc="-10" dirty="0">
                <a:latin typeface="Calibri"/>
                <a:cs typeface="Calibri"/>
              </a:rPr>
              <a:t>r</a:t>
            </a:r>
            <a:r>
              <a:rPr sz="1200" i="1" spc="-5" dirty="0">
                <a:latin typeface="Calibri"/>
                <a:cs typeface="Calibri"/>
              </a:rPr>
              <a:t>epor</a:t>
            </a:r>
            <a:r>
              <a:rPr sz="1200" i="1" spc="5" dirty="0">
                <a:latin typeface="Calibri"/>
                <a:cs typeface="Calibri"/>
              </a:rPr>
              <a:t>t</a:t>
            </a:r>
            <a:r>
              <a:rPr sz="1200" i="1" spc="-5" dirty="0">
                <a:latin typeface="Calibri"/>
                <a:cs typeface="Calibri"/>
              </a:rPr>
              <a:t>.</a:t>
            </a:r>
            <a:r>
              <a:rPr sz="1200" i="1" spc="-10" dirty="0">
                <a:latin typeface="Calibri"/>
                <a:cs typeface="Calibri"/>
              </a:rPr>
              <a:t>c</a:t>
            </a:r>
            <a:r>
              <a:rPr sz="1200" i="1" spc="-5" dirty="0">
                <a:latin typeface="Calibri"/>
                <a:cs typeface="Calibri"/>
              </a:rPr>
              <a:t>om</a:t>
            </a:r>
            <a:endParaRPr sz="1200">
              <a:latin typeface="Calibri"/>
              <a:cs typeface="Calibri"/>
            </a:endParaRPr>
          </a:p>
          <a:p>
            <a:pPr marR="5080" algn="r">
              <a:lnSpc>
                <a:spcPct val="100000"/>
              </a:lnSpc>
              <a:spcBef>
                <a:spcPts val="590"/>
              </a:spcBef>
            </a:pPr>
            <a:r>
              <a:rPr sz="1200" i="1" spc="-5" dirty="0">
                <a:latin typeface="Calibri"/>
                <a:cs typeface="Calibri"/>
              </a:rPr>
              <a:t>Sou</a:t>
            </a:r>
            <a:r>
              <a:rPr sz="1200" i="1" spc="-10" dirty="0">
                <a:latin typeface="Calibri"/>
                <a:cs typeface="Calibri"/>
              </a:rPr>
              <a:t>r</a:t>
            </a:r>
            <a:r>
              <a:rPr sz="1200" i="1" spc="-15" dirty="0">
                <a:latin typeface="Calibri"/>
                <a:cs typeface="Calibri"/>
              </a:rPr>
              <a:t>c</a:t>
            </a:r>
            <a:r>
              <a:rPr sz="1200" i="1" spc="-5" dirty="0">
                <a:latin typeface="Calibri"/>
                <a:cs typeface="Calibri"/>
              </a:rPr>
              <a:t>e:</a:t>
            </a:r>
            <a:r>
              <a:rPr sz="1200" i="1" spc="5" dirty="0">
                <a:latin typeface="Calibri"/>
                <a:cs typeface="Calibri"/>
              </a:rPr>
              <a:t> D</a:t>
            </a:r>
            <a:r>
              <a:rPr sz="1200" i="1" spc="-5" dirty="0">
                <a:latin typeface="Calibri"/>
                <a:cs typeface="Calibri"/>
              </a:rPr>
              <a:t>e</a:t>
            </a:r>
            <a:r>
              <a:rPr sz="1200" i="1" dirty="0">
                <a:latin typeface="Calibri"/>
                <a:cs typeface="Calibri"/>
              </a:rPr>
              <a:t>ll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440109" y="3880878"/>
            <a:ext cx="130683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5" dirty="0">
                <a:solidFill>
                  <a:srgbClr val="3E3E3E"/>
                </a:solidFill>
                <a:latin typeface="Calibri"/>
                <a:cs typeface="Calibri"/>
              </a:rPr>
              <a:t>Mot</a:t>
            </a:r>
            <a:r>
              <a:rPr sz="1800" b="1" spc="5" dirty="0">
                <a:solidFill>
                  <a:srgbClr val="3E3E3E"/>
                </a:solidFill>
                <a:latin typeface="Calibri"/>
                <a:cs typeface="Calibri"/>
              </a:rPr>
              <a:t>he</a:t>
            </a:r>
            <a:r>
              <a:rPr sz="1800" b="1" spc="-5" dirty="0">
                <a:solidFill>
                  <a:srgbClr val="3E3E3E"/>
                </a:solidFill>
                <a:latin typeface="Calibri"/>
                <a:cs typeface="Calibri"/>
              </a:rPr>
              <a:t>r</a:t>
            </a:r>
            <a:r>
              <a:rPr sz="1800" b="1" dirty="0">
                <a:solidFill>
                  <a:srgbClr val="3E3E3E"/>
                </a:solidFill>
                <a:latin typeface="Calibri"/>
                <a:cs typeface="Calibri"/>
              </a:rPr>
              <a:t>b</a:t>
            </a:r>
            <a:r>
              <a:rPr sz="1800" b="1" spc="-15" dirty="0">
                <a:solidFill>
                  <a:srgbClr val="3E3E3E"/>
                </a:solidFill>
                <a:latin typeface="Calibri"/>
                <a:cs typeface="Calibri"/>
              </a:rPr>
              <a:t>o</a:t>
            </a:r>
            <a:r>
              <a:rPr sz="1800" b="1" spc="-10" dirty="0">
                <a:solidFill>
                  <a:srgbClr val="3E3E3E"/>
                </a:solidFill>
                <a:latin typeface="Calibri"/>
                <a:cs typeface="Calibri"/>
              </a:rPr>
              <a:t>a</a:t>
            </a:r>
            <a:r>
              <a:rPr sz="1800" b="1" spc="-30" dirty="0">
                <a:solidFill>
                  <a:srgbClr val="3E3E3E"/>
                </a:solidFill>
                <a:latin typeface="Calibri"/>
                <a:cs typeface="Calibri"/>
              </a:rPr>
              <a:t>r</a:t>
            </a:r>
            <a:r>
              <a:rPr sz="1800" b="1" spc="-5" dirty="0">
                <a:solidFill>
                  <a:srgbClr val="3E3E3E"/>
                </a:solidFill>
                <a:latin typeface="Calibri"/>
                <a:cs typeface="Calibri"/>
              </a:rPr>
              <a:t>d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784340" y="4035281"/>
            <a:ext cx="75120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i="1" spc="-5" dirty="0">
                <a:latin typeface="Calibri"/>
                <a:cs typeface="Calibri"/>
              </a:rPr>
              <a:t>Sou</a:t>
            </a:r>
            <a:r>
              <a:rPr sz="1200" i="1" spc="-10" dirty="0">
                <a:latin typeface="Calibri"/>
                <a:cs typeface="Calibri"/>
              </a:rPr>
              <a:t>r</a:t>
            </a:r>
            <a:r>
              <a:rPr sz="1200" i="1" spc="-15" dirty="0">
                <a:latin typeface="Calibri"/>
                <a:cs typeface="Calibri"/>
              </a:rPr>
              <a:t>c</a:t>
            </a:r>
            <a:r>
              <a:rPr sz="1200" i="1" spc="-5" dirty="0">
                <a:latin typeface="Calibri"/>
                <a:cs typeface="Calibri"/>
              </a:rPr>
              <a:t>e:</a:t>
            </a:r>
            <a:r>
              <a:rPr sz="1200" i="1" spc="5" dirty="0">
                <a:latin typeface="Calibri"/>
                <a:cs typeface="Calibri"/>
              </a:rPr>
              <a:t> D</a:t>
            </a:r>
            <a:r>
              <a:rPr sz="1200" i="1" spc="-5" dirty="0">
                <a:latin typeface="Calibri"/>
                <a:cs typeface="Calibri"/>
              </a:rPr>
              <a:t>e</a:t>
            </a:r>
            <a:r>
              <a:rPr sz="1200" i="1" dirty="0">
                <a:latin typeface="Calibri"/>
                <a:cs typeface="Calibri"/>
              </a:rPr>
              <a:t>ll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802909" y="3233219"/>
            <a:ext cx="217233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5" dirty="0">
                <a:solidFill>
                  <a:srgbClr val="3E3E3E"/>
                </a:solidFill>
                <a:latin typeface="Calibri"/>
                <a:cs typeface="Calibri"/>
              </a:rPr>
              <a:t>M</a:t>
            </a:r>
            <a:r>
              <a:rPr sz="1800" b="1" spc="-10" dirty="0">
                <a:solidFill>
                  <a:srgbClr val="3E3E3E"/>
                </a:solidFill>
                <a:latin typeface="Calibri"/>
                <a:cs typeface="Calibri"/>
              </a:rPr>
              <a:t>a</a:t>
            </a:r>
            <a:r>
              <a:rPr sz="1800" b="1" spc="-5" dirty="0">
                <a:solidFill>
                  <a:srgbClr val="3E3E3E"/>
                </a:solidFill>
                <a:latin typeface="Calibri"/>
                <a:cs typeface="Calibri"/>
              </a:rPr>
              <a:t>in m</a:t>
            </a:r>
            <a:r>
              <a:rPr sz="1800" b="1" spc="5" dirty="0">
                <a:solidFill>
                  <a:srgbClr val="3E3E3E"/>
                </a:solidFill>
                <a:latin typeface="Calibri"/>
                <a:cs typeface="Calibri"/>
              </a:rPr>
              <a:t>e</a:t>
            </a:r>
            <a:r>
              <a:rPr sz="1800" b="1" spc="-5" dirty="0">
                <a:solidFill>
                  <a:srgbClr val="3E3E3E"/>
                </a:solidFill>
                <a:latin typeface="Calibri"/>
                <a:cs typeface="Calibri"/>
              </a:rPr>
              <a:t>m</a:t>
            </a:r>
            <a:r>
              <a:rPr sz="1800" b="1" dirty="0">
                <a:solidFill>
                  <a:srgbClr val="3E3E3E"/>
                </a:solidFill>
                <a:latin typeface="Calibri"/>
                <a:cs typeface="Calibri"/>
              </a:rPr>
              <a:t>o</a:t>
            </a:r>
            <a:r>
              <a:rPr sz="1800" b="1" spc="5" dirty="0">
                <a:solidFill>
                  <a:srgbClr val="3E3E3E"/>
                </a:solidFill>
                <a:latin typeface="Calibri"/>
                <a:cs typeface="Calibri"/>
              </a:rPr>
              <a:t>r</a:t>
            </a:r>
            <a:r>
              <a:rPr sz="1800" b="1" spc="-5" dirty="0">
                <a:solidFill>
                  <a:srgbClr val="3E3E3E"/>
                </a:solidFill>
                <a:latin typeface="Calibri"/>
                <a:cs typeface="Calibri"/>
              </a:rPr>
              <a:t>y</a:t>
            </a:r>
            <a:r>
              <a:rPr sz="1800" b="1" spc="-2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800" b="1" spc="-5" dirty="0">
                <a:solidFill>
                  <a:srgbClr val="3E3E3E"/>
                </a:solidFill>
                <a:latin typeface="Calibri"/>
                <a:cs typeface="Calibri"/>
              </a:rPr>
              <a:t>(</a:t>
            </a:r>
            <a:r>
              <a:rPr sz="1800" b="1" spc="5" dirty="0">
                <a:solidFill>
                  <a:srgbClr val="3E3E3E"/>
                </a:solidFill>
                <a:latin typeface="Calibri"/>
                <a:cs typeface="Calibri"/>
              </a:rPr>
              <a:t>D</a:t>
            </a:r>
            <a:r>
              <a:rPr sz="1800" b="1" spc="-10" dirty="0">
                <a:solidFill>
                  <a:srgbClr val="3E3E3E"/>
                </a:solidFill>
                <a:latin typeface="Calibri"/>
                <a:cs typeface="Calibri"/>
              </a:rPr>
              <a:t>R</a:t>
            </a:r>
            <a:r>
              <a:rPr sz="1800" b="1" dirty="0">
                <a:solidFill>
                  <a:srgbClr val="3E3E3E"/>
                </a:solidFill>
                <a:latin typeface="Calibri"/>
                <a:cs typeface="Calibri"/>
              </a:rPr>
              <a:t>A</a:t>
            </a:r>
            <a:r>
              <a:rPr sz="1800" b="1" spc="-5" dirty="0">
                <a:solidFill>
                  <a:srgbClr val="3E3E3E"/>
                </a:solidFill>
                <a:latin typeface="Calibri"/>
                <a:cs typeface="Calibri"/>
              </a:rPr>
              <a:t>M)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181674" y="3233219"/>
            <a:ext cx="1751964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5" dirty="0">
                <a:solidFill>
                  <a:srgbClr val="3E3E3E"/>
                </a:solidFill>
                <a:latin typeface="Calibri"/>
                <a:cs typeface="Calibri"/>
              </a:rPr>
              <a:t>C</a:t>
            </a:r>
            <a:r>
              <a:rPr sz="1800" b="1" dirty="0">
                <a:solidFill>
                  <a:srgbClr val="3E3E3E"/>
                </a:solidFill>
                <a:latin typeface="Calibri"/>
                <a:cs typeface="Calibri"/>
              </a:rPr>
              <a:t>PU</a:t>
            </a:r>
            <a:r>
              <a:rPr sz="1800" b="1" spc="1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800" b="1" spc="-5" dirty="0">
                <a:solidFill>
                  <a:srgbClr val="3E3E3E"/>
                </a:solidFill>
                <a:latin typeface="Calibri"/>
                <a:cs typeface="Calibri"/>
              </a:rPr>
              <a:t>(I</a:t>
            </a:r>
            <a:r>
              <a:rPr sz="1800" b="1" spc="-15" dirty="0">
                <a:solidFill>
                  <a:srgbClr val="3E3E3E"/>
                </a:solidFill>
                <a:latin typeface="Calibri"/>
                <a:cs typeface="Calibri"/>
              </a:rPr>
              <a:t>n</a:t>
            </a:r>
            <a:r>
              <a:rPr sz="1800" b="1" spc="-30" dirty="0">
                <a:solidFill>
                  <a:srgbClr val="3E3E3E"/>
                </a:solidFill>
                <a:latin typeface="Calibri"/>
                <a:cs typeface="Calibri"/>
              </a:rPr>
              <a:t>t</a:t>
            </a:r>
            <a:r>
              <a:rPr sz="1800" b="1" spc="5" dirty="0">
                <a:solidFill>
                  <a:srgbClr val="3E3E3E"/>
                </a:solidFill>
                <a:latin typeface="Calibri"/>
                <a:cs typeface="Calibri"/>
              </a:rPr>
              <a:t>e</a:t>
            </a:r>
            <a:r>
              <a:rPr sz="1800" b="1" spc="-5" dirty="0">
                <a:solidFill>
                  <a:srgbClr val="3E3E3E"/>
                </a:solidFill>
                <a:latin typeface="Calibri"/>
                <a:cs typeface="Calibri"/>
              </a:rPr>
              <a:t>l</a:t>
            </a:r>
            <a:r>
              <a:rPr sz="1800" b="1" spc="-3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800" b="1" spc="-5" dirty="0">
                <a:solidFill>
                  <a:srgbClr val="3E3E3E"/>
                </a:solidFill>
                <a:latin typeface="Calibri"/>
                <a:cs typeface="Calibri"/>
              </a:rPr>
              <a:t>Co</a:t>
            </a:r>
            <a:r>
              <a:rPr sz="1800" b="1" spc="-30" dirty="0">
                <a:solidFill>
                  <a:srgbClr val="3E3E3E"/>
                </a:solidFill>
                <a:latin typeface="Calibri"/>
                <a:cs typeface="Calibri"/>
              </a:rPr>
              <a:t>r</a:t>
            </a:r>
            <a:r>
              <a:rPr sz="1800" b="1" dirty="0">
                <a:solidFill>
                  <a:srgbClr val="3E3E3E"/>
                </a:solidFill>
                <a:latin typeface="Calibri"/>
                <a:cs typeface="Calibri"/>
              </a:rPr>
              <a:t>e</a:t>
            </a:r>
            <a:r>
              <a:rPr sz="1800" b="1" spc="-5" dirty="0">
                <a:solidFill>
                  <a:srgbClr val="3E3E3E"/>
                </a:solidFill>
                <a:latin typeface="Calibri"/>
                <a:cs typeface="Calibri"/>
              </a:rPr>
              <a:t> i</a:t>
            </a:r>
            <a:r>
              <a:rPr sz="1800" b="1" spc="-10" dirty="0">
                <a:solidFill>
                  <a:srgbClr val="3E3E3E"/>
                </a:solidFill>
                <a:latin typeface="Calibri"/>
                <a:cs typeface="Calibri"/>
              </a:rPr>
              <a:t>7</a:t>
            </a:r>
            <a:r>
              <a:rPr sz="1800" b="1" spc="-5" dirty="0">
                <a:solidFill>
                  <a:srgbClr val="3E3E3E"/>
                </a:solidFill>
                <a:latin typeface="Calibri"/>
                <a:cs typeface="Calibri"/>
              </a:rPr>
              <a:t>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066756" y="2073468"/>
            <a:ext cx="1305560" cy="1085215"/>
          </a:xfrm>
          <a:custGeom>
            <a:avLst/>
            <a:gdLst/>
            <a:ahLst/>
            <a:cxnLst/>
            <a:rect l="l" t="t" r="r" b="b"/>
            <a:pathLst>
              <a:path w="1305560" h="1085214">
                <a:moveTo>
                  <a:pt x="0" y="1084821"/>
                </a:moveTo>
                <a:lnTo>
                  <a:pt x="1305356" y="0"/>
                </a:lnTo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285100" y="2073470"/>
            <a:ext cx="86995" cy="83185"/>
          </a:xfrm>
          <a:custGeom>
            <a:avLst/>
            <a:gdLst/>
            <a:ahLst/>
            <a:cxnLst/>
            <a:rect l="l" t="t" r="r" b="b"/>
            <a:pathLst>
              <a:path w="86995" h="83185">
                <a:moveTo>
                  <a:pt x="56819" y="82892"/>
                </a:moveTo>
                <a:lnTo>
                  <a:pt x="87007" y="0"/>
                </a:lnTo>
                <a:lnTo>
                  <a:pt x="0" y="14528"/>
                </a:lnTo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133600" y="5214226"/>
            <a:ext cx="1964624" cy="80485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4800" y="268287"/>
            <a:ext cx="7592093" cy="762000"/>
          </a:xfrm>
          <a:prstGeom prst="rect">
            <a:avLst/>
          </a:prstGeom>
        </p:spPr>
        <p:txBody>
          <a:bodyPr vert="horz" wrap="square" lIns="0" tIns="201386" rIns="0" bIns="0" rtlCol="0">
            <a:spAutoFit/>
          </a:bodyPr>
          <a:lstStyle/>
          <a:p>
            <a:pPr marL="188595">
              <a:lnSpc>
                <a:spcPct val="100000"/>
              </a:lnSpc>
            </a:pPr>
            <a:r>
              <a:rPr lang="zh-CN" altLang="en-US" dirty="0"/>
              <a:t>它看起来是什么样子（续）</a:t>
            </a:r>
            <a:endParaRPr spc="-5" dirty="0"/>
          </a:p>
        </p:txBody>
      </p:sp>
      <p:sp>
        <p:nvSpPr>
          <p:cNvPr id="4" name="object 4"/>
          <p:cNvSpPr/>
          <p:nvPr/>
        </p:nvSpPr>
        <p:spPr>
          <a:xfrm>
            <a:off x="304800" y="1030287"/>
            <a:ext cx="5575298" cy="55593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958840" y="4418329"/>
            <a:ext cx="2779395" cy="14744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5800" marR="371475">
              <a:lnSpc>
                <a:spcPct val="100000"/>
              </a:lnSpc>
            </a:pPr>
            <a:r>
              <a:rPr sz="1800" b="1" spc="-5" dirty="0">
                <a:solidFill>
                  <a:srgbClr val="3E3E3E"/>
                </a:solidFill>
                <a:latin typeface="Calibri"/>
                <a:cs typeface="Calibri"/>
              </a:rPr>
              <a:t>I</a:t>
            </a:r>
            <a:r>
              <a:rPr sz="1800" b="1" spc="-15" dirty="0">
                <a:solidFill>
                  <a:srgbClr val="3E3E3E"/>
                </a:solidFill>
                <a:latin typeface="Calibri"/>
                <a:cs typeface="Calibri"/>
              </a:rPr>
              <a:t>n</a:t>
            </a:r>
            <a:r>
              <a:rPr sz="1800" b="1" spc="-30" dirty="0">
                <a:solidFill>
                  <a:srgbClr val="3E3E3E"/>
                </a:solidFill>
                <a:latin typeface="Calibri"/>
                <a:cs typeface="Calibri"/>
              </a:rPr>
              <a:t>t</a:t>
            </a:r>
            <a:r>
              <a:rPr sz="1800" b="1" spc="5" dirty="0">
                <a:solidFill>
                  <a:srgbClr val="3E3E3E"/>
                </a:solidFill>
                <a:latin typeface="Calibri"/>
                <a:cs typeface="Calibri"/>
              </a:rPr>
              <a:t>e</a:t>
            </a:r>
            <a:r>
              <a:rPr sz="1800" b="1" spc="-5" dirty="0">
                <a:solidFill>
                  <a:srgbClr val="3E3E3E"/>
                </a:solidFill>
                <a:latin typeface="Calibri"/>
                <a:cs typeface="Calibri"/>
              </a:rPr>
              <a:t>l</a:t>
            </a:r>
            <a:r>
              <a:rPr sz="1800" b="1" spc="-3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800" b="1" spc="-5" dirty="0">
                <a:solidFill>
                  <a:srgbClr val="3E3E3E"/>
                </a:solidFill>
                <a:latin typeface="Calibri"/>
                <a:cs typeface="Calibri"/>
              </a:rPr>
              <a:t>S</a:t>
            </a:r>
            <a:r>
              <a:rPr sz="1800" b="1" spc="-10" dirty="0">
                <a:solidFill>
                  <a:srgbClr val="3E3E3E"/>
                </a:solidFill>
                <a:latin typeface="Calibri"/>
                <a:cs typeface="Calibri"/>
              </a:rPr>
              <a:t>a</a:t>
            </a:r>
            <a:r>
              <a:rPr sz="1800" b="1" dirty="0">
                <a:solidFill>
                  <a:srgbClr val="3E3E3E"/>
                </a:solidFill>
                <a:latin typeface="Calibri"/>
                <a:cs typeface="Calibri"/>
              </a:rPr>
              <a:t>nd</a:t>
            </a:r>
            <a:r>
              <a:rPr sz="1800" b="1" spc="-5" dirty="0">
                <a:solidFill>
                  <a:srgbClr val="3E3E3E"/>
                </a:solidFill>
                <a:latin typeface="Calibri"/>
                <a:cs typeface="Calibri"/>
              </a:rPr>
              <a:t>y</a:t>
            </a:r>
            <a:r>
              <a:rPr sz="1800" b="1" spc="-1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3E3E3E"/>
                </a:solidFill>
                <a:latin typeface="Calibri"/>
                <a:cs typeface="Calibri"/>
              </a:rPr>
              <a:t>B</a:t>
            </a:r>
            <a:r>
              <a:rPr sz="1800" b="1" spc="-5" dirty="0">
                <a:solidFill>
                  <a:srgbClr val="3E3E3E"/>
                </a:solidFill>
                <a:latin typeface="Calibri"/>
                <a:cs typeface="Calibri"/>
              </a:rPr>
              <a:t>ri</a:t>
            </a:r>
            <a:r>
              <a:rPr sz="1800" b="1" dirty="0">
                <a:solidFill>
                  <a:srgbClr val="3E3E3E"/>
                </a:solidFill>
                <a:latin typeface="Calibri"/>
                <a:cs typeface="Calibri"/>
              </a:rPr>
              <a:t>d</a:t>
            </a:r>
            <a:r>
              <a:rPr sz="1800" b="1" spc="-30" dirty="0">
                <a:solidFill>
                  <a:srgbClr val="3E3E3E"/>
                </a:solidFill>
                <a:latin typeface="Calibri"/>
                <a:cs typeface="Calibri"/>
              </a:rPr>
              <a:t>g</a:t>
            </a:r>
            <a:r>
              <a:rPr sz="1800" b="1" dirty="0">
                <a:solidFill>
                  <a:srgbClr val="3E3E3E"/>
                </a:solidFill>
                <a:latin typeface="Calibri"/>
                <a:cs typeface="Calibri"/>
              </a:rPr>
              <a:t>e P</a:t>
            </a:r>
            <a:r>
              <a:rPr sz="1800" b="1" spc="-30" dirty="0">
                <a:solidFill>
                  <a:srgbClr val="3E3E3E"/>
                </a:solidFill>
                <a:latin typeface="Calibri"/>
                <a:cs typeface="Calibri"/>
              </a:rPr>
              <a:t>r</a:t>
            </a:r>
            <a:r>
              <a:rPr sz="1800" b="1" spc="-5" dirty="0">
                <a:solidFill>
                  <a:srgbClr val="3E3E3E"/>
                </a:solidFill>
                <a:latin typeface="Calibri"/>
                <a:cs typeface="Calibri"/>
              </a:rPr>
              <a:t>o</a:t>
            </a:r>
            <a:r>
              <a:rPr sz="1800" b="1" dirty="0">
                <a:solidFill>
                  <a:srgbClr val="3E3E3E"/>
                </a:solidFill>
                <a:latin typeface="Calibri"/>
                <a:cs typeface="Calibri"/>
              </a:rPr>
              <a:t>c</a:t>
            </a:r>
            <a:r>
              <a:rPr sz="1800" b="1" spc="5" dirty="0">
                <a:solidFill>
                  <a:srgbClr val="3E3E3E"/>
                </a:solidFill>
                <a:latin typeface="Calibri"/>
                <a:cs typeface="Calibri"/>
              </a:rPr>
              <a:t>e</a:t>
            </a:r>
            <a:r>
              <a:rPr sz="1800" b="1" spc="-5" dirty="0">
                <a:solidFill>
                  <a:srgbClr val="3E3E3E"/>
                </a:solidFill>
                <a:latin typeface="Calibri"/>
                <a:cs typeface="Calibri"/>
              </a:rPr>
              <a:t>ss</a:t>
            </a:r>
            <a:r>
              <a:rPr sz="1800" b="1" spc="-15" dirty="0">
                <a:solidFill>
                  <a:srgbClr val="3E3E3E"/>
                </a:solidFill>
                <a:latin typeface="Calibri"/>
                <a:cs typeface="Calibri"/>
              </a:rPr>
              <a:t>o</a:t>
            </a:r>
            <a:r>
              <a:rPr sz="1800" b="1" dirty="0">
                <a:solidFill>
                  <a:srgbClr val="3E3E3E"/>
                </a:solidFill>
                <a:latin typeface="Calibri"/>
                <a:cs typeface="Calibri"/>
              </a:rPr>
              <a:t>r</a:t>
            </a:r>
            <a:r>
              <a:rPr sz="1800" b="1" spc="-3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800" b="1" spc="5" dirty="0">
                <a:solidFill>
                  <a:srgbClr val="3E3E3E"/>
                </a:solidFill>
                <a:latin typeface="Calibri"/>
                <a:cs typeface="Calibri"/>
              </a:rPr>
              <a:t>D</a:t>
            </a:r>
            <a:r>
              <a:rPr sz="1800" b="1" dirty="0">
                <a:solidFill>
                  <a:srgbClr val="3E3E3E"/>
                </a:solidFill>
                <a:latin typeface="Calibri"/>
                <a:cs typeface="Calibri"/>
              </a:rPr>
              <a:t>ie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2"/>
              </a:spcBef>
            </a:pPr>
            <a:endParaRPr sz="145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sz="1600" b="1" spc="-10" dirty="0">
                <a:latin typeface="Calibri"/>
                <a:cs typeface="Calibri"/>
              </a:rPr>
              <a:t>L1</a:t>
            </a:r>
            <a:r>
              <a:rPr sz="1600" b="1" spc="-5" dirty="0">
                <a:latin typeface="Calibri"/>
                <a:cs typeface="Calibri"/>
              </a:rPr>
              <a:t>:</a:t>
            </a:r>
            <a:r>
              <a:rPr sz="1600" b="1" spc="10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32</a:t>
            </a:r>
            <a:r>
              <a:rPr sz="1600" b="1" spc="-5" dirty="0">
                <a:latin typeface="Calibri"/>
                <a:cs typeface="Calibri"/>
              </a:rPr>
              <a:t>KB</a:t>
            </a:r>
            <a:r>
              <a:rPr sz="1600" b="1" spc="15" dirty="0">
                <a:latin typeface="Calibri"/>
                <a:cs typeface="Calibri"/>
              </a:rPr>
              <a:t> </a:t>
            </a:r>
            <a:r>
              <a:rPr sz="1600" b="1" spc="-15" dirty="0">
                <a:latin typeface="Calibri"/>
                <a:cs typeface="Calibri"/>
              </a:rPr>
              <a:t>I</a:t>
            </a:r>
            <a:r>
              <a:rPr sz="1600" b="1" spc="-10" dirty="0">
                <a:latin typeface="Calibri"/>
                <a:cs typeface="Calibri"/>
              </a:rPr>
              <a:t>n</a:t>
            </a:r>
            <a:r>
              <a:rPr sz="1600" b="1" spc="-20" dirty="0">
                <a:latin typeface="Calibri"/>
                <a:cs typeface="Calibri"/>
              </a:rPr>
              <a:t>s</a:t>
            </a:r>
            <a:r>
              <a:rPr sz="1600" b="1" spc="-10" dirty="0">
                <a:latin typeface="Calibri"/>
                <a:cs typeface="Calibri"/>
              </a:rPr>
              <a:t>tru</a:t>
            </a:r>
            <a:r>
              <a:rPr sz="1600" b="1" spc="-5" dirty="0">
                <a:latin typeface="Calibri"/>
                <a:cs typeface="Calibri"/>
              </a:rPr>
              <a:t>c</a:t>
            </a:r>
            <a:r>
              <a:rPr sz="1600" b="1" spc="-10" dirty="0">
                <a:latin typeface="Calibri"/>
                <a:cs typeface="Calibri"/>
              </a:rPr>
              <a:t>t</a:t>
            </a:r>
            <a:r>
              <a:rPr sz="1600" b="1" spc="-5" dirty="0">
                <a:latin typeface="Calibri"/>
                <a:cs typeface="Calibri"/>
              </a:rPr>
              <a:t>i</a:t>
            </a:r>
            <a:r>
              <a:rPr sz="1600" b="1" dirty="0">
                <a:latin typeface="Calibri"/>
                <a:cs typeface="Calibri"/>
              </a:rPr>
              <a:t>o</a:t>
            </a:r>
            <a:r>
              <a:rPr sz="1600" b="1" spc="-5" dirty="0">
                <a:latin typeface="Calibri"/>
                <a:cs typeface="Calibri"/>
              </a:rPr>
              <a:t>n</a:t>
            </a:r>
            <a:r>
              <a:rPr sz="1600" b="1" spc="30" dirty="0">
                <a:latin typeface="Calibri"/>
                <a:cs typeface="Calibri"/>
              </a:rPr>
              <a:t> </a:t>
            </a:r>
            <a:r>
              <a:rPr sz="1600" b="1" spc="-5" dirty="0">
                <a:latin typeface="Calibri"/>
                <a:cs typeface="Calibri"/>
              </a:rPr>
              <a:t>+</a:t>
            </a:r>
            <a:r>
              <a:rPr sz="1600" b="1" spc="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32</a:t>
            </a:r>
            <a:r>
              <a:rPr sz="1600" b="1" spc="-5" dirty="0">
                <a:latin typeface="Calibri"/>
                <a:cs typeface="Calibri"/>
              </a:rPr>
              <a:t>KB</a:t>
            </a:r>
            <a:r>
              <a:rPr sz="1600" b="1" spc="15" dirty="0">
                <a:latin typeface="Calibri"/>
                <a:cs typeface="Calibri"/>
              </a:rPr>
              <a:t> </a:t>
            </a:r>
            <a:r>
              <a:rPr sz="1600" b="1" spc="-5" dirty="0">
                <a:latin typeface="Calibri"/>
                <a:cs typeface="Calibri"/>
              </a:rPr>
              <a:t>D</a:t>
            </a:r>
            <a:r>
              <a:rPr sz="1600" b="1" spc="-15" dirty="0">
                <a:latin typeface="Calibri"/>
                <a:cs typeface="Calibri"/>
              </a:rPr>
              <a:t>a</a:t>
            </a:r>
            <a:r>
              <a:rPr sz="1600" b="1" spc="-20" dirty="0">
                <a:latin typeface="Calibri"/>
                <a:cs typeface="Calibri"/>
              </a:rPr>
              <a:t>t</a:t>
            </a:r>
            <a:r>
              <a:rPr sz="1600" b="1" spc="-5" dirty="0">
                <a:latin typeface="Calibri"/>
                <a:cs typeface="Calibri"/>
              </a:rPr>
              <a:t>a </a:t>
            </a:r>
            <a:r>
              <a:rPr sz="1600" b="1" spc="-10" dirty="0">
                <a:latin typeface="Calibri"/>
                <a:cs typeface="Calibri"/>
              </a:rPr>
              <a:t>L2</a:t>
            </a:r>
            <a:r>
              <a:rPr sz="1600" b="1" spc="-5" dirty="0">
                <a:latin typeface="Calibri"/>
                <a:cs typeface="Calibri"/>
              </a:rPr>
              <a:t>:</a:t>
            </a:r>
            <a:r>
              <a:rPr sz="1600" b="1" spc="10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256</a:t>
            </a:r>
            <a:r>
              <a:rPr sz="1600" b="1" spc="-5" dirty="0">
                <a:latin typeface="Calibri"/>
                <a:cs typeface="Calibri"/>
              </a:rPr>
              <a:t>KB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600" b="1" spc="-10" dirty="0">
                <a:latin typeface="Calibri"/>
                <a:cs typeface="Calibri"/>
              </a:rPr>
              <a:t>L3</a:t>
            </a:r>
            <a:r>
              <a:rPr sz="1600" b="1" spc="-5" dirty="0">
                <a:latin typeface="Calibri"/>
                <a:cs typeface="Calibri"/>
              </a:rPr>
              <a:t>:</a:t>
            </a:r>
            <a:r>
              <a:rPr sz="1600" b="1" spc="10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3–20M</a:t>
            </a:r>
            <a:r>
              <a:rPr sz="1600" b="1" spc="-5" dirty="0">
                <a:latin typeface="Calibri"/>
                <a:cs typeface="Calibri"/>
              </a:rPr>
              <a:t>B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57018" y="394767"/>
            <a:ext cx="7592093" cy="843822"/>
          </a:xfrm>
          <a:prstGeom prst="rect">
            <a:avLst/>
          </a:prstGeom>
        </p:spPr>
        <p:txBody>
          <a:bodyPr vert="horz" wrap="square" lIns="0" tIns="287021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zh-CN" altLang="en-US" spc="-15" dirty="0"/>
              <a:t>高速缓存</a:t>
            </a:r>
            <a:r>
              <a:rPr spc="-15" dirty="0"/>
              <a:t>(</a:t>
            </a:r>
            <a:r>
              <a:rPr spc="-5" dirty="0"/>
              <a:t>S,</a:t>
            </a:r>
            <a:r>
              <a:rPr spc="10" dirty="0"/>
              <a:t> </a:t>
            </a:r>
            <a:r>
              <a:rPr spc="-10" dirty="0"/>
              <a:t>E</a:t>
            </a:r>
            <a:r>
              <a:rPr spc="-5" dirty="0"/>
              <a:t>,</a:t>
            </a:r>
            <a:r>
              <a:rPr spc="-15" dirty="0"/>
              <a:t> </a:t>
            </a:r>
            <a:r>
              <a:rPr spc="-10" dirty="0"/>
              <a:t>B</a:t>
            </a:r>
            <a:r>
              <a:rPr spc="-5" dirty="0"/>
              <a:t>)</a:t>
            </a:r>
            <a:r>
              <a:rPr lang="zh-CN" altLang="en-US" spc="-5" dirty="0"/>
              <a:t>的通用组织</a:t>
            </a:r>
            <a:endParaRPr spc="-5" dirty="0"/>
          </a:p>
        </p:txBody>
      </p:sp>
      <p:sp>
        <p:nvSpPr>
          <p:cNvPr id="4" name="object 4"/>
          <p:cNvSpPr/>
          <p:nvPr/>
        </p:nvSpPr>
        <p:spPr>
          <a:xfrm>
            <a:off x="1905000" y="1716584"/>
            <a:ext cx="4648200" cy="226060"/>
          </a:xfrm>
          <a:custGeom>
            <a:avLst/>
            <a:gdLst/>
            <a:ahLst/>
            <a:cxnLst/>
            <a:rect l="l" t="t" r="r" b="b"/>
            <a:pathLst>
              <a:path w="4648200" h="226060">
                <a:moveTo>
                  <a:pt x="0" y="225980"/>
                </a:moveTo>
                <a:lnTo>
                  <a:pt x="13114" y="182057"/>
                </a:lnTo>
                <a:lnTo>
                  <a:pt x="48931" y="146021"/>
                </a:lnTo>
                <a:lnTo>
                  <a:pt x="87512" y="126290"/>
                </a:lnTo>
                <a:lnTo>
                  <a:pt x="133657" y="114466"/>
                </a:lnTo>
                <a:lnTo>
                  <a:pt x="2152650" y="111680"/>
                </a:lnTo>
                <a:lnTo>
                  <a:pt x="2169940" y="111106"/>
                </a:lnTo>
                <a:lnTo>
                  <a:pt x="2218532" y="102938"/>
                </a:lnTo>
                <a:lnTo>
                  <a:pt x="2260471" y="86256"/>
                </a:lnTo>
                <a:lnTo>
                  <a:pt x="2293525" y="62548"/>
                </a:lnTo>
                <a:lnTo>
                  <a:pt x="2319921" y="22577"/>
                </a:lnTo>
                <a:lnTo>
                  <a:pt x="2324055" y="0"/>
                </a:lnTo>
                <a:lnTo>
                  <a:pt x="2324936" y="11147"/>
                </a:lnTo>
                <a:lnTo>
                  <a:pt x="2344498" y="52379"/>
                </a:lnTo>
                <a:lnTo>
                  <a:pt x="2373651" y="78097"/>
                </a:lnTo>
                <a:lnTo>
                  <a:pt x="2412688" y="97555"/>
                </a:lnTo>
                <a:lnTo>
                  <a:pt x="2459335" y="109132"/>
                </a:lnTo>
                <a:lnTo>
                  <a:pt x="4476750" y="111680"/>
                </a:lnTo>
                <a:lnTo>
                  <a:pt x="4494040" y="112254"/>
                </a:lnTo>
                <a:lnTo>
                  <a:pt x="4542632" y="120423"/>
                </a:lnTo>
                <a:lnTo>
                  <a:pt x="4584571" y="137105"/>
                </a:lnTo>
                <a:lnTo>
                  <a:pt x="4617625" y="160813"/>
                </a:lnTo>
                <a:lnTo>
                  <a:pt x="4644021" y="200784"/>
                </a:lnTo>
                <a:lnTo>
                  <a:pt x="4646912" y="211902"/>
                </a:lnTo>
                <a:lnTo>
                  <a:pt x="4648155" y="223361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905000" y="2079002"/>
            <a:ext cx="4648200" cy="492759"/>
          </a:xfrm>
          <a:custGeom>
            <a:avLst/>
            <a:gdLst/>
            <a:ahLst/>
            <a:cxnLst/>
            <a:rect l="l" t="t" r="r" b="b"/>
            <a:pathLst>
              <a:path w="4648200" h="492760">
                <a:moveTo>
                  <a:pt x="0" y="0"/>
                </a:moveTo>
                <a:lnTo>
                  <a:pt x="4648200" y="0"/>
                </a:lnTo>
                <a:lnTo>
                  <a:pt x="4648200" y="492480"/>
                </a:lnTo>
                <a:lnTo>
                  <a:pt x="0" y="492480"/>
                </a:lnTo>
                <a:lnTo>
                  <a:pt x="0" y="0"/>
                </a:lnTo>
                <a:close/>
              </a:path>
            </a:pathLst>
          </a:custGeom>
          <a:solidFill>
            <a:srgbClr val="D6D6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052027" y="2174519"/>
            <a:ext cx="1187450" cy="312420"/>
          </a:xfrm>
          <a:custGeom>
            <a:avLst/>
            <a:gdLst/>
            <a:ahLst/>
            <a:cxnLst/>
            <a:rect l="l" t="t" r="r" b="b"/>
            <a:pathLst>
              <a:path w="1187450" h="312419">
                <a:moveTo>
                  <a:pt x="0" y="0"/>
                </a:moveTo>
                <a:lnTo>
                  <a:pt x="1187005" y="0"/>
                </a:lnTo>
                <a:lnTo>
                  <a:pt x="1187005" y="312369"/>
                </a:lnTo>
                <a:lnTo>
                  <a:pt x="0" y="312369"/>
                </a:lnTo>
                <a:lnTo>
                  <a:pt x="0" y="0"/>
                </a:lnTo>
                <a:close/>
              </a:path>
            </a:pathLst>
          </a:custGeom>
          <a:solidFill>
            <a:srgbClr val="ADAD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052027" y="2174519"/>
            <a:ext cx="1187450" cy="312420"/>
          </a:xfrm>
          <a:custGeom>
            <a:avLst/>
            <a:gdLst/>
            <a:ahLst/>
            <a:cxnLst/>
            <a:rect l="l" t="t" r="r" b="b"/>
            <a:pathLst>
              <a:path w="1187450" h="312419">
                <a:moveTo>
                  <a:pt x="0" y="0"/>
                </a:moveTo>
                <a:lnTo>
                  <a:pt x="1187005" y="0"/>
                </a:lnTo>
                <a:lnTo>
                  <a:pt x="1187005" y="312369"/>
                </a:lnTo>
                <a:lnTo>
                  <a:pt x="0" y="312369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315233" y="2174519"/>
            <a:ext cx="1187450" cy="312420"/>
          </a:xfrm>
          <a:custGeom>
            <a:avLst/>
            <a:gdLst/>
            <a:ahLst/>
            <a:cxnLst/>
            <a:rect l="l" t="t" r="r" b="b"/>
            <a:pathLst>
              <a:path w="1187450" h="312419">
                <a:moveTo>
                  <a:pt x="0" y="0"/>
                </a:moveTo>
                <a:lnTo>
                  <a:pt x="1187005" y="0"/>
                </a:lnTo>
                <a:lnTo>
                  <a:pt x="1187005" y="312369"/>
                </a:lnTo>
                <a:lnTo>
                  <a:pt x="0" y="312369"/>
                </a:lnTo>
                <a:lnTo>
                  <a:pt x="0" y="0"/>
                </a:lnTo>
                <a:close/>
              </a:path>
            </a:pathLst>
          </a:custGeom>
          <a:solidFill>
            <a:srgbClr val="ADAD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315233" y="2174519"/>
            <a:ext cx="1187450" cy="312420"/>
          </a:xfrm>
          <a:custGeom>
            <a:avLst/>
            <a:gdLst/>
            <a:ahLst/>
            <a:cxnLst/>
            <a:rect l="l" t="t" r="r" b="b"/>
            <a:pathLst>
              <a:path w="1187450" h="312419">
                <a:moveTo>
                  <a:pt x="0" y="0"/>
                </a:moveTo>
                <a:lnTo>
                  <a:pt x="1187005" y="0"/>
                </a:lnTo>
                <a:lnTo>
                  <a:pt x="1187005" y="312369"/>
                </a:lnTo>
                <a:lnTo>
                  <a:pt x="0" y="312369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578972" y="2339376"/>
            <a:ext cx="641350" cy="0"/>
          </a:xfrm>
          <a:custGeom>
            <a:avLst/>
            <a:gdLst/>
            <a:ahLst/>
            <a:cxnLst/>
            <a:rect l="l" t="t" r="r" b="b"/>
            <a:pathLst>
              <a:path w="641350">
                <a:moveTo>
                  <a:pt x="0" y="0"/>
                </a:moveTo>
                <a:lnTo>
                  <a:pt x="641261" y="0"/>
                </a:lnTo>
              </a:path>
            </a:pathLst>
          </a:custGeom>
          <a:ln w="76200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220233" y="2174519"/>
            <a:ext cx="1187450" cy="312420"/>
          </a:xfrm>
          <a:custGeom>
            <a:avLst/>
            <a:gdLst/>
            <a:ahLst/>
            <a:cxnLst/>
            <a:rect l="l" t="t" r="r" b="b"/>
            <a:pathLst>
              <a:path w="1187450" h="312419">
                <a:moveTo>
                  <a:pt x="0" y="0"/>
                </a:moveTo>
                <a:lnTo>
                  <a:pt x="1187005" y="0"/>
                </a:lnTo>
                <a:lnTo>
                  <a:pt x="1187005" y="312369"/>
                </a:lnTo>
                <a:lnTo>
                  <a:pt x="0" y="312369"/>
                </a:lnTo>
                <a:lnTo>
                  <a:pt x="0" y="0"/>
                </a:lnTo>
                <a:close/>
              </a:path>
            </a:pathLst>
          </a:custGeom>
          <a:solidFill>
            <a:srgbClr val="ADAD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220233" y="2174519"/>
            <a:ext cx="1187450" cy="312420"/>
          </a:xfrm>
          <a:custGeom>
            <a:avLst/>
            <a:gdLst/>
            <a:ahLst/>
            <a:cxnLst/>
            <a:rect l="l" t="t" r="r" b="b"/>
            <a:pathLst>
              <a:path w="1187450" h="312419">
                <a:moveTo>
                  <a:pt x="0" y="0"/>
                </a:moveTo>
                <a:lnTo>
                  <a:pt x="1187005" y="0"/>
                </a:lnTo>
                <a:lnTo>
                  <a:pt x="1187005" y="312369"/>
                </a:lnTo>
                <a:lnTo>
                  <a:pt x="0" y="312369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133600" y="4019283"/>
            <a:ext cx="4267200" cy="11430"/>
          </a:xfrm>
          <a:custGeom>
            <a:avLst/>
            <a:gdLst/>
            <a:ahLst/>
            <a:cxnLst/>
            <a:rect l="l" t="t" r="r" b="b"/>
            <a:pathLst>
              <a:path w="4267200" h="11429">
                <a:moveTo>
                  <a:pt x="0" y="0"/>
                </a:moveTo>
                <a:lnTo>
                  <a:pt x="4267200" y="11112"/>
                </a:lnTo>
              </a:path>
            </a:pathLst>
          </a:custGeom>
          <a:ln w="76200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526619" y="2067781"/>
            <a:ext cx="226060" cy="2733040"/>
          </a:xfrm>
          <a:custGeom>
            <a:avLst/>
            <a:gdLst/>
            <a:ahLst/>
            <a:cxnLst/>
            <a:rect l="l" t="t" r="r" b="b"/>
            <a:pathLst>
              <a:path w="226060" h="2733040">
                <a:moveTo>
                  <a:pt x="225980" y="2732818"/>
                </a:moveTo>
                <a:lnTo>
                  <a:pt x="182057" y="2719703"/>
                </a:lnTo>
                <a:lnTo>
                  <a:pt x="146021" y="2683886"/>
                </a:lnTo>
                <a:lnTo>
                  <a:pt x="126290" y="2645305"/>
                </a:lnTo>
                <a:lnTo>
                  <a:pt x="114466" y="2599160"/>
                </a:lnTo>
                <a:lnTo>
                  <a:pt x="111680" y="1537836"/>
                </a:lnTo>
                <a:lnTo>
                  <a:pt x="111106" y="1520546"/>
                </a:lnTo>
                <a:lnTo>
                  <a:pt x="102938" y="1471954"/>
                </a:lnTo>
                <a:lnTo>
                  <a:pt x="86256" y="1430015"/>
                </a:lnTo>
                <a:lnTo>
                  <a:pt x="62548" y="1396961"/>
                </a:lnTo>
                <a:lnTo>
                  <a:pt x="22577" y="1370565"/>
                </a:lnTo>
                <a:lnTo>
                  <a:pt x="0" y="1366431"/>
                </a:lnTo>
                <a:lnTo>
                  <a:pt x="11147" y="1365550"/>
                </a:lnTo>
                <a:lnTo>
                  <a:pt x="52379" y="1345988"/>
                </a:lnTo>
                <a:lnTo>
                  <a:pt x="78097" y="1316835"/>
                </a:lnTo>
                <a:lnTo>
                  <a:pt x="97555" y="1277798"/>
                </a:lnTo>
                <a:lnTo>
                  <a:pt x="109132" y="1231151"/>
                </a:lnTo>
                <a:lnTo>
                  <a:pt x="111680" y="171405"/>
                </a:lnTo>
                <a:lnTo>
                  <a:pt x="112254" y="154115"/>
                </a:lnTo>
                <a:lnTo>
                  <a:pt x="120423" y="105523"/>
                </a:lnTo>
                <a:lnTo>
                  <a:pt x="137105" y="63584"/>
                </a:lnTo>
                <a:lnTo>
                  <a:pt x="160813" y="30530"/>
                </a:lnTo>
                <a:lnTo>
                  <a:pt x="200784" y="4134"/>
                </a:lnTo>
                <a:lnTo>
                  <a:pt x="211902" y="1243"/>
                </a:lnTo>
                <a:lnTo>
                  <a:pt x="223361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615756" y="2070355"/>
            <a:ext cx="534670" cy="93345"/>
          </a:xfrm>
          <a:custGeom>
            <a:avLst/>
            <a:gdLst/>
            <a:ahLst/>
            <a:cxnLst/>
            <a:rect l="l" t="t" r="r" b="b"/>
            <a:pathLst>
              <a:path w="534670" h="93344">
                <a:moveTo>
                  <a:pt x="0" y="93243"/>
                </a:moveTo>
                <a:lnTo>
                  <a:pt x="534238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553201" y="2123884"/>
            <a:ext cx="81915" cy="75565"/>
          </a:xfrm>
          <a:custGeom>
            <a:avLst/>
            <a:gdLst/>
            <a:ahLst/>
            <a:cxnLst/>
            <a:rect l="l" t="t" r="r" b="b"/>
            <a:pathLst>
              <a:path w="81915" h="75564">
                <a:moveTo>
                  <a:pt x="68516" y="0"/>
                </a:moveTo>
                <a:lnTo>
                  <a:pt x="0" y="50634"/>
                </a:lnTo>
                <a:lnTo>
                  <a:pt x="81610" y="75069"/>
                </a:lnTo>
                <a:lnTo>
                  <a:pt x="6851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158784" y="2348089"/>
            <a:ext cx="852169" cy="129539"/>
          </a:xfrm>
          <a:custGeom>
            <a:avLst/>
            <a:gdLst/>
            <a:ahLst/>
            <a:cxnLst/>
            <a:rect l="l" t="t" r="r" b="b"/>
            <a:pathLst>
              <a:path w="852170" h="129539">
                <a:moveTo>
                  <a:pt x="0" y="0"/>
                </a:moveTo>
                <a:lnTo>
                  <a:pt x="851611" y="128943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096006" y="2312320"/>
            <a:ext cx="81280" cy="75565"/>
          </a:xfrm>
          <a:custGeom>
            <a:avLst/>
            <a:gdLst/>
            <a:ahLst/>
            <a:cxnLst/>
            <a:rect l="l" t="t" r="r" b="b"/>
            <a:pathLst>
              <a:path w="81279" h="75564">
                <a:moveTo>
                  <a:pt x="81038" y="0"/>
                </a:moveTo>
                <a:lnTo>
                  <a:pt x="0" y="26263"/>
                </a:lnTo>
                <a:lnTo>
                  <a:pt x="69634" y="75336"/>
                </a:lnTo>
                <a:lnTo>
                  <a:pt x="8103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3433343" y="1420833"/>
            <a:ext cx="3573779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zh-CN" altLang="en-US" sz="1800" b="1" spc="-5" dirty="0">
                <a:latin typeface="Calibri"/>
                <a:cs typeface="Calibri"/>
              </a:rPr>
              <a:t>每组有</a:t>
            </a:r>
            <a:r>
              <a:rPr sz="1800" b="1" spc="-5" dirty="0">
                <a:latin typeface="Calibri"/>
                <a:cs typeface="Calibri"/>
              </a:rPr>
              <a:t>E =</a:t>
            </a:r>
            <a:r>
              <a:rPr sz="1800" b="1" spc="1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2</a:t>
            </a:r>
            <a:r>
              <a:rPr sz="1800" b="1" baseline="25462" dirty="0">
                <a:latin typeface="Calibri"/>
                <a:cs typeface="Calibri"/>
              </a:rPr>
              <a:t>e</a:t>
            </a:r>
            <a:r>
              <a:rPr sz="1800" b="1" spc="195" baseline="25462" dirty="0">
                <a:latin typeface="Calibri"/>
                <a:cs typeface="Calibri"/>
              </a:rPr>
              <a:t> </a:t>
            </a:r>
            <a:r>
              <a:rPr lang="zh-CN" altLang="en-US" sz="1800" b="1" spc="195" baseline="25462" dirty="0">
                <a:latin typeface="Calibri"/>
                <a:cs typeface="Calibri"/>
              </a:rPr>
              <a:t>行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06145" y="3307905"/>
            <a:ext cx="958215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5" dirty="0">
                <a:latin typeface="Calibri"/>
                <a:cs typeface="Calibri"/>
              </a:rPr>
              <a:t>S =</a:t>
            </a:r>
            <a:r>
              <a:rPr sz="1800" b="1" spc="1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2</a:t>
            </a:r>
            <a:r>
              <a:rPr sz="1800" b="1" baseline="25462" dirty="0">
                <a:latin typeface="Calibri"/>
                <a:cs typeface="Calibri"/>
              </a:rPr>
              <a:t>s </a:t>
            </a:r>
            <a:r>
              <a:rPr sz="1800" b="1" spc="-202" baseline="25462" dirty="0">
                <a:latin typeface="Calibri"/>
                <a:cs typeface="Calibri"/>
              </a:rPr>
              <a:t> </a:t>
            </a:r>
            <a:r>
              <a:rPr lang="zh-CN" altLang="en-US" sz="1800" b="1" spc="-202" baseline="25462" dirty="0">
                <a:latin typeface="Calibri"/>
                <a:cs typeface="Calibri"/>
              </a:rPr>
              <a:t>组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905000" y="2647683"/>
            <a:ext cx="4648200" cy="492759"/>
          </a:xfrm>
          <a:custGeom>
            <a:avLst/>
            <a:gdLst/>
            <a:ahLst/>
            <a:cxnLst/>
            <a:rect l="l" t="t" r="r" b="b"/>
            <a:pathLst>
              <a:path w="4648200" h="492760">
                <a:moveTo>
                  <a:pt x="0" y="0"/>
                </a:moveTo>
                <a:lnTo>
                  <a:pt x="4648200" y="0"/>
                </a:lnTo>
                <a:lnTo>
                  <a:pt x="4648200" y="492480"/>
                </a:lnTo>
                <a:lnTo>
                  <a:pt x="0" y="492480"/>
                </a:lnTo>
                <a:lnTo>
                  <a:pt x="0" y="0"/>
                </a:lnTo>
                <a:close/>
              </a:path>
            </a:pathLst>
          </a:custGeom>
          <a:solidFill>
            <a:srgbClr val="D6D6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052027" y="2743200"/>
            <a:ext cx="1187450" cy="312420"/>
          </a:xfrm>
          <a:custGeom>
            <a:avLst/>
            <a:gdLst/>
            <a:ahLst/>
            <a:cxnLst/>
            <a:rect l="l" t="t" r="r" b="b"/>
            <a:pathLst>
              <a:path w="1187450" h="312419">
                <a:moveTo>
                  <a:pt x="0" y="0"/>
                </a:moveTo>
                <a:lnTo>
                  <a:pt x="1187005" y="0"/>
                </a:lnTo>
                <a:lnTo>
                  <a:pt x="1187005" y="312369"/>
                </a:lnTo>
                <a:lnTo>
                  <a:pt x="0" y="312369"/>
                </a:lnTo>
                <a:lnTo>
                  <a:pt x="0" y="0"/>
                </a:lnTo>
                <a:close/>
              </a:path>
            </a:pathLst>
          </a:custGeom>
          <a:solidFill>
            <a:srgbClr val="ADAD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052027" y="2743200"/>
            <a:ext cx="1187450" cy="312420"/>
          </a:xfrm>
          <a:custGeom>
            <a:avLst/>
            <a:gdLst/>
            <a:ahLst/>
            <a:cxnLst/>
            <a:rect l="l" t="t" r="r" b="b"/>
            <a:pathLst>
              <a:path w="1187450" h="312419">
                <a:moveTo>
                  <a:pt x="0" y="0"/>
                </a:moveTo>
                <a:lnTo>
                  <a:pt x="1187005" y="0"/>
                </a:lnTo>
                <a:lnTo>
                  <a:pt x="1187005" y="312369"/>
                </a:lnTo>
                <a:lnTo>
                  <a:pt x="0" y="312369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315233" y="2743200"/>
            <a:ext cx="1187450" cy="312420"/>
          </a:xfrm>
          <a:custGeom>
            <a:avLst/>
            <a:gdLst/>
            <a:ahLst/>
            <a:cxnLst/>
            <a:rect l="l" t="t" r="r" b="b"/>
            <a:pathLst>
              <a:path w="1187450" h="312419">
                <a:moveTo>
                  <a:pt x="0" y="0"/>
                </a:moveTo>
                <a:lnTo>
                  <a:pt x="1187005" y="0"/>
                </a:lnTo>
                <a:lnTo>
                  <a:pt x="1187005" y="312369"/>
                </a:lnTo>
                <a:lnTo>
                  <a:pt x="0" y="312369"/>
                </a:lnTo>
                <a:lnTo>
                  <a:pt x="0" y="0"/>
                </a:lnTo>
                <a:close/>
              </a:path>
            </a:pathLst>
          </a:custGeom>
          <a:solidFill>
            <a:srgbClr val="ADAD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315233" y="2743200"/>
            <a:ext cx="1187450" cy="312420"/>
          </a:xfrm>
          <a:custGeom>
            <a:avLst/>
            <a:gdLst/>
            <a:ahLst/>
            <a:cxnLst/>
            <a:rect l="l" t="t" r="r" b="b"/>
            <a:pathLst>
              <a:path w="1187450" h="312419">
                <a:moveTo>
                  <a:pt x="0" y="0"/>
                </a:moveTo>
                <a:lnTo>
                  <a:pt x="1187005" y="0"/>
                </a:lnTo>
                <a:lnTo>
                  <a:pt x="1187005" y="312369"/>
                </a:lnTo>
                <a:lnTo>
                  <a:pt x="0" y="312369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578972" y="2908061"/>
            <a:ext cx="641350" cy="0"/>
          </a:xfrm>
          <a:custGeom>
            <a:avLst/>
            <a:gdLst/>
            <a:ahLst/>
            <a:cxnLst/>
            <a:rect l="l" t="t" r="r" b="b"/>
            <a:pathLst>
              <a:path w="641350">
                <a:moveTo>
                  <a:pt x="0" y="0"/>
                </a:moveTo>
                <a:lnTo>
                  <a:pt x="641261" y="0"/>
                </a:lnTo>
              </a:path>
            </a:pathLst>
          </a:custGeom>
          <a:ln w="76200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220233" y="2743200"/>
            <a:ext cx="1187450" cy="312420"/>
          </a:xfrm>
          <a:custGeom>
            <a:avLst/>
            <a:gdLst/>
            <a:ahLst/>
            <a:cxnLst/>
            <a:rect l="l" t="t" r="r" b="b"/>
            <a:pathLst>
              <a:path w="1187450" h="312419">
                <a:moveTo>
                  <a:pt x="0" y="0"/>
                </a:moveTo>
                <a:lnTo>
                  <a:pt x="1187005" y="0"/>
                </a:lnTo>
                <a:lnTo>
                  <a:pt x="1187005" y="312369"/>
                </a:lnTo>
                <a:lnTo>
                  <a:pt x="0" y="312369"/>
                </a:lnTo>
                <a:lnTo>
                  <a:pt x="0" y="0"/>
                </a:lnTo>
                <a:close/>
              </a:path>
            </a:pathLst>
          </a:custGeom>
          <a:solidFill>
            <a:srgbClr val="ADAD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5220233" y="2743200"/>
            <a:ext cx="1187450" cy="312420"/>
          </a:xfrm>
          <a:custGeom>
            <a:avLst/>
            <a:gdLst/>
            <a:ahLst/>
            <a:cxnLst/>
            <a:rect l="l" t="t" r="r" b="b"/>
            <a:pathLst>
              <a:path w="1187450" h="312419">
                <a:moveTo>
                  <a:pt x="0" y="0"/>
                </a:moveTo>
                <a:lnTo>
                  <a:pt x="1187005" y="0"/>
                </a:lnTo>
                <a:lnTo>
                  <a:pt x="1187005" y="312369"/>
                </a:lnTo>
                <a:lnTo>
                  <a:pt x="0" y="312369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905000" y="3222002"/>
            <a:ext cx="4648200" cy="492759"/>
          </a:xfrm>
          <a:custGeom>
            <a:avLst/>
            <a:gdLst/>
            <a:ahLst/>
            <a:cxnLst/>
            <a:rect l="l" t="t" r="r" b="b"/>
            <a:pathLst>
              <a:path w="4648200" h="492760">
                <a:moveTo>
                  <a:pt x="0" y="0"/>
                </a:moveTo>
                <a:lnTo>
                  <a:pt x="4648200" y="0"/>
                </a:lnTo>
                <a:lnTo>
                  <a:pt x="4648200" y="492480"/>
                </a:lnTo>
                <a:lnTo>
                  <a:pt x="0" y="492480"/>
                </a:lnTo>
                <a:lnTo>
                  <a:pt x="0" y="0"/>
                </a:lnTo>
                <a:close/>
              </a:path>
            </a:pathLst>
          </a:custGeom>
          <a:solidFill>
            <a:srgbClr val="D6D6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2052027" y="3317519"/>
            <a:ext cx="1187450" cy="312420"/>
          </a:xfrm>
          <a:custGeom>
            <a:avLst/>
            <a:gdLst/>
            <a:ahLst/>
            <a:cxnLst/>
            <a:rect l="l" t="t" r="r" b="b"/>
            <a:pathLst>
              <a:path w="1187450" h="312420">
                <a:moveTo>
                  <a:pt x="0" y="0"/>
                </a:moveTo>
                <a:lnTo>
                  <a:pt x="1187005" y="0"/>
                </a:lnTo>
                <a:lnTo>
                  <a:pt x="1187005" y="312369"/>
                </a:lnTo>
                <a:lnTo>
                  <a:pt x="0" y="312369"/>
                </a:lnTo>
                <a:lnTo>
                  <a:pt x="0" y="0"/>
                </a:lnTo>
                <a:close/>
              </a:path>
            </a:pathLst>
          </a:custGeom>
          <a:solidFill>
            <a:srgbClr val="ADAD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2052027" y="3317519"/>
            <a:ext cx="1187450" cy="312420"/>
          </a:xfrm>
          <a:custGeom>
            <a:avLst/>
            <a:gdLst/>
            <a:ahLst/>
            <a:cxnLst/>
            <a:rect l="l" t="t" r="r" b="b"/>
            <a:pathLst>
              <a:path w="1187450" h="312420">
                <a:moveTo>
                  <a:pt x="0" y="0"/>
                </a:moveTo>
                <a:lnTo>
                  <a:pt x="1187005" y="0"/>
                </a:lnTo>
                <a:lnTo>
                  <a:pt x="1187005" y="312369"/>
                </a:lnTo>
                <a:lnTo>
                  <a:pt x="0" y="312369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3315233" y="3317519"/>
            <a:ext cx="1187450" cy="312420"/>
          </a:xfrm>
          <a:custGeom>
            <a:avLst/>
            <a:gdLst/>
            <a:ahLst/>
            <a:cxnLst/>
            <a:rect l="l" t="t" r="r" b="b"/>
            <a:pathLst>
              <a:path w="1187450" h="312420">
                <a:moveTo>
                  <a:pt x="0" y="0"/>
                </a:moveTo>
                <a:lnTo>
                  <a:pt x="1187005" y="0"/>
                </a:lnTo>
                <a:lnTo>
                  <a:pt x="1187005" y="312369"/>
                </a:lnTo>
                <a:lnTo>
                  <a:pt x="0" y="312369"/>
                </a:lnTo>
                <a:lnTo>
                  <a:pt x="0" y="0"/>
                </a:lnTo>
                <a:close/>
              </a:path>
            </a:pathLst>
          </a:custGeom>
          <a:solidFill>
            <a:srgbClr val="ADAD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3315233" y="3317519"/>
            <a:ext cx="1187450" cy="312420"/>
          </a:xfrm>
          <a:custGeom>
            <a:avLst/>
            <a:gdLst/>
            <a:ahLst/>
            <a:cxnLst/>
            <a:rect l="l" t="t" r="r" b="b"/>
            <a:pathLst>
              <a:path w="1187450" h="312420">
                <a:moveTo>
                  <a:pt x="0" y="0"/>
                </a:moveTo>
                <a:lnTo>
                  <a:pt x="1187005" y="0"/>
                </a:lnTo>
                <a:lnTo>
                  <a:pt x="1187005" y="312369"/>
                </a:lnTo>
                <a:lnTo>
                  <a:pt x="0" y="312369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4578972" y="3482376"/>
            <a:ext cx="641350" cy="0"/>
          </a:xfrm>
          <a:custGeom>
            <a:avLst/>
            <a:gdLst/>
            <a:ahLst/>
            <a:cxnLst/>
            <a:rect l="l" t="t" r="r" b="b"/>
            <a:pathLst>
              <a:path w="641350">
                <a:moveTo>
                  <a:pt x="0" y="0"/>
                </a:moveTo>
                <a:lnTo>
                  <a:pt x="641261" y="0"/>
                </a:lnTo>
              </a:path>
            </a:pathLst>
          </a:custGeom>
          <a:ln w="76200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5220233" y="3317519"/>
            <a:ext cx="1187450" cy="312420"/>
          </a:xfrm>
          <a:custGeom>
            <a:avLst/>
            <a:gdLst/>
            <a:ahLst/>
            <a:cxnLst/>
            <a:rect l="l" t="t" r="r" b="b"/>
            <a:pathLst>
              <a:path w="1187450" h="312420">
                <a:moveTo>
                  <a:pt x="0" y="0"/>
                </a:moveTo>
                <a:lnTo>
                  <a:pt x="1187005" y="0"/>
                </a:lnTo>
                <a:lnTo>
                  <a:pt x="1187005" y="312369"/>
                </a:lnTo>
                <a:lnTo>
                  <a:pt x="0" y="312369"/>
                </a:lnTo>
                <a:lnTo>
                  <a:pt x="0" y="0"/>
                </a:lnTo>
                <a:close/>
              </a:path>
            </a:pathLst>
          </a:custGeom>
          <a:solidFill>
            <a:srgbClr val="ADAD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5220233" y="3317519"/>
            <a:ext cx="1187450" cy="312420"/>
          </a:xfrm>
          <a:custGeom>
            <a:avLst/>
            <a:gdLst/>
            <a:ahLst/>
            <a:cxnLst/>
            <a:rect l="l" t="t" r="r" b="b"/>
            <a:pathLst>
              <a:path w="1187450" h="312420">
                <a:moveTo>
                  <a:pt x="0" y="0"/>
                </a:moveTo>
                <a:lnTo>
                  <a:pt x="1187005" y="0"/>
                </a:lnTo>
                <a:lnTo>
                  <a:pt x="1187005" y="312369"/>
                </a:lnTo>
                <a:lnTo>
                  <a:pt x="0" y="312369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905000" y="4288802"/>
            <a:ext cx="4648200" cy="492759"/>
          </a:xfrm>
          <a:custGeom>
            <a:avLst/>
            <a:gdLst/>
            <a:ahLst/>
            <a:cxnLst/>
            <a:rect l="l" t="t" r="r" b="b"/>
            <a:pathLst>
              <a:path w="4648200" h="492760">
                <a:moveTo>
                  <a:pt x="0" y="0"/>
                </a:moveTo>
                <a:lnTo>
                  <a:pt x="4648200" y="0"/>
                </a:lnTo>
                <a:lnTo>
                  <a:pt x="4648200" y="492480"/>
                </a:lnTo>
                <a:lnTo>
                  <a:pt x="0" y="492480"/>
                </a:lnTo>
                <a:lnTo>
                  <a:pt x="0" y="0"/>
                </a:lnTo>
                <a:close/>
              </a:path>
            </a:pathLst>
          </a:custGeom>
          <a:solidFill>
            <a:srgbClr val="D6D6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2052027" y="4384319"/>
            <a:ext cx="1187450" cy="312420"/>
          </a:xfrm>
          <a:custGeom>
            <a:avLst/>
            <a:gdLst/>
            <a:ahLst/>
            <a:cxnLst/>
            <a:rect l="l" t="t" r="r" b="b"/>
            <a:pathLst>
              <a:path w="1187450" h="312420">
                <a:moveTo>
                  <a:pt x="0" y="0"/>
                </a:moveTo>
                <a:lnTo>
                  <a:pt x="1187005" y="0"/>
                </a:lnTo>
                <a:lnTo>
                  <a:pt x="1187005" y="312369"/>
                </a:lnTo>
                <a:lnTo>
                  <a:pt x="0" y="312369"/>
                </a:lnTo>
                <a:lnTo>
                  <a:pt x="0" y="0"/>
                </a:lnTo>
                <a:close/>
              </a:path>
            </a:pathLst>
          </a:custGeom>
          <a:solidFill>
            <a:srgbClr val="ADAD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2052027" y="4384319"/>
            <a:ext cx="1187450" cy="312420"/>
          </a:xfrm>
          <a:custGeom>
            <a:avLst/>
            <a:gdLst/>
            <a:ahLst/>
            <a:cxnLst/>
            <a:rect l="l" t="t" r="r" b="b"/>
            <a:pathLst>
              <a:path w="1187450" h="312420">
                <a:moveTo>
                  <a:pt x="0" y="0"/>
                </a:moveTo>
                <a:lnTo>
                  <a:pt x="1187005" y="0"/>
                </a:lnTo>
                <a:lnTo>
                  <a:pt x="1187005" y="312369"/>
                </a:lnTo>
                <a:lnTo>
                  <a:pt x="0" y="312369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3315233" y="4384319"/>
            <a:ext cx="1187450" cy="312420"/>
          </a:xfrm>
          <a:custGeom>
            <a:avLst/>
            <a:gdLst/>
            <a:ahLst/>
            <a:cxnLst/>
            <a:rect l="l" t="t" r="r" b="b"/>
            <a:pathLst>
              <a:path w="1187450" h="312420">
                <a:moveTo>
                  <a:pt x="0" y="0"/>
                </a:moveTo>
                <a:lnTo>
                  <a:pt x="1187005" y="0"/>
                </a:lnTo>
                <a:lnTo>
                  <a:pt x="1187005" y="312369"/>
                </a:lnTo>
                <a:lnTo>
                  <a:pt x="0" y="312369"/>
                </a:lnTo>
                <a:lnTo>
                  <a:pt x="0" y="0"/>
                </a:lnTo>
                <a:close/>
              </a:path>
            </a:pathLst>
          </a:custGeom>
          <a:solidFill>
            <a:srgbClr val="ADAD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3315233" y="4384319"/>
            <a:ext cx="1187450" cy="312420"/>
          </a:xfrm>
          <a:custGeom>
            <a:avLst/>
            <a:gdLst/>
            <a:ahLst/>
            <a:cxnLst/>
            <a:rect l="l" t="t" r="r" b="b"/>
            <a:pathLst>
              <a:path w="1187450" h="312420">
                <a:moveTo>
                  <a:pt x="0" y="0"/>
                </a:moveTo>
                <a:lnTo>
                  <a:pt x="1187005" y="0"/>
                </a:lnTo>
                <a:lnTo>
                  <a:pt x="1187005" y="312369"/>
                </a:lnTo>
                <a:lnTo>
                  <a:pt x="0" y="312369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4578972" y="4549176"/>
            <a:ext cx="641350" cy="0"/>
          </a:xfrm>
          <a:custGeom>
            <a:avLst/>
            <a:gdLst/>
            <a:ahLst/>
            <a:cxnLst/>
            <a:rect l="l" t="t" r="r" b="b"/>
            <a:pathLst>
              <a:path w="641350">
                <a:moveTo>
                  <a:pt x="0" y="0"/>
                </a:moveTo>
                <a:lnTo>
                  <a:pt x="641261" y="0"/>
                </a:lnTo>
              </a:path>
            </a:pathLst>
          </a:custGeom>
          <a:ln w="76200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5220233" y="4384319"/>
            <a:ext cx="1187450" cy="312420"/>
          </a:xfrm>
          <a:custGeom>
            <a:avLst/>
            <a:gdLst/>
            <a:ahLst/>
            <a:cxnLst/>
            <a:rect l="l" t="t" r="r" b="b"/>
            <a:pathLst>
              <a:path w="1187450" h="312420">
                <a:moveTo>
                  <a:pt x="0" y="0"/>
                </a:moveTo>
                <a:lnTo>
                  <a:pt x="1187005" y="0"/>
                </a:lnTo>
                <a:lnTo>
                  <a:pt x="1187005" y="312369"/>
                </a:lnTo>
                <a:lnTo>
                  <a:pt x="0" y="312369"/>
                </a:lnTo>
                <a:lnTo>
                  <a:pt x="0" y="0"/>
                </a:lnTo>
                <a:close/>
              </a:path>
            </a:pathLst>
          </a:custGeom>
          <a:solidFill>
            <a:srgbClr val="ADAD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5220233" y="4384319"/>
            <a:ext cx="1187450" cy="312420"/>
          </a:xfrm>
          <a:custGeom>
            <a:avLst/>
            <a:gdLst/>
            <a:ahLst/>
            <a:cxnLst/>
            <a:rect l="l" t="t" r="r" b="b"/>
            <a:pathLst>
              <a:path w="1187450" h="312420">
                <a:moveTo>
                  <a:pt x="0" y="0"/>
                </a:moveTo>
                <a:lnTo>
                  <a:pt x="1187005" y="0"/>
                </a:lnTo>
                <a:lnTo>
                  <a:pt x="1187005" y="312369"/>
                </a:lnTo>
                <a:lnTo>
                  <a:pt x="0" y="312369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2146823" y="4709566"/>
            <a:ext cx="3523615" cy="866140"/>
          </a:xfrm>
          <a:custGeom>
            <a:avLst/>
            <a:gdLst/>
            <a:ahLst/>
            <a:cxnLst/>
            <a:rect l="l" t="t" r="r" b="b"/>
            <a:pathLst>
              <a:path w="3523615" h="866139">
                <a:moveTo>
                  <a:pt x="2353932" y="0"/>
                </a:moveTo>
                <a:lnTo>
                  <a:pt x="1169517" y="0"/>
                </a:lnTo>
                <a:lnTo>
                  <a:pt x="0" y="865911"/>
                </a:lnTo>
                <a:lnTo>
                  <a:pt x="3523449" y="865911"/>
                </a:lnTo>
                <a:lnTo>
                  <a:pt x="2353932" y="0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2146823" y="4709566"/>
            <a:ext cx="3523615" cy="866140"/>
          </a:xfrm>
          <a:custGeom>
            <a:avLst/>
            <a:gdLst/>
            <a:ahLst/>
            <a:cxnLst/>
            <a:rect l="l" t="t" r="r" b="b"/>
            <a:pathLst>
              <a:path w="3523615" h="866139">
                <a:moveTo>
                  <a:pt x="0" y="865911"/>
                </a:moveTo>
                <a:lnTo>
                  <a:pt x="1169517" y="0"/>
                </a:lnTo>
                <a:lnTo>
                  <a:pt x="2353932" y="0"/>
                </a:lnTo>
                <a:lnTo>
                  <a:pt x="3523449" y="865911"/>
                </a:lnTo>
                <a:lnTo>
                  <a:pt x="0" y="86591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2146820" y="5575477"/>
            <a:ext cx="3523615" cy="533400"/>
          </a:xfrm>
          <a:custGeom>
            <a:avLst/>
            <a:gdLst/>
            <a:ahLst/>
            <a:cxnLst/>
            <a:rect l="l" t="t" r="r" b="b"/>
            <a:pathLst>
              <a:path w="3523615" h="533400">
                <a:moveTo>
                  <a:pt x="0" y="0"/>
                </a:moveTo>
                <a:lnTo>
                  <a:pt x="3523449" y="0"/>
                </a:lnTo>
                <a:lnTo>
                  <a:pt x="3523449" y="533399"/>
                </a:lnTo>
                <a:lnTo>
                  <a:pt x="0" y="533399"/>
                </a:lnTo>
                <a:lnTo>
                  <a:pt x="0" y="0"/>
                </a:lnTo>
                <a:close/>
              </a:path>
            </a:pathLst>
          </a:custGeom>
          <a:solidFill>
            <a:srgbClr val="ADAD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2146820" y="5575477"/>
            <a:ext cx="3523615" cy="533400"/>
          </a:xfrm>
          <a:custGeom>
            <a:avLst/>
            <a:gdLst/>
            <a:ahLst/>
            <a:cxnLst/>
            <a:rect l="l" t="t" r="r" b="b"/>
            <a:pathLst>
              <a:path w="3523615" h="533400">
                <a:moveTo>
                  <a:pt x="0" y="0"/>
                </a:moveTo>
                <a:lnTo>
                  <a:pt x="3523449" y="0"/>
                </a:lnTo>
                <a:lnTo>
                  <a:pt x="3523449" y="533399"/>
                </a:lnTo>
                <a:lnTo>
                  <a:pt x="0" y="533399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 txBox="1"/>
          <p:nvPr/>
        </p:nvSpPr>
        <p:spPr>
          <a:xfrm>
            <a:off x="2742476" y="5689777"/>
            <a:ext cx="718185" cy="304800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10820">
              <a:lnSpc>
                <a:spcPct val="100000"/>
              </a:lnSpc>
            </a:pPr>
            <a:r>
              <a:rPr sz="1600" b="1" spc="-20" dirty="0">
                <a:latin typeface="Calibri"/>
                <a:cs typeface="Calibri"/>
              </a:rPr>
              <a:t>t</a:t>
            </a:r>
            <a:r>
              <a:rPr sz="1600" b="1" spc="-5" dirty="0">
                <a:latin typeface="Calibri"/>
                <a:cs typeface="Calibri"/>
              </a:rPr>
              <a:t>ag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2273465" y="5702122"/>
            <a:ext cx="273050" cy="304800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4295">
              <a:lnSpc>
                <a:spcPct val="100000"/>
              </a:lnSpc>
            </a:pPr>
            <a:r>
              <a:rPr sz="1600" b="1" spc="-5" dirty="0">
                <a:latin typeface="Calibri"/>
                <a:cs typeface="Calibri"/>
              </a:rPr>
              <a:t>v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3657945" y="6171666"/>
            <a:ext cx="1905000" cy="228600"/>
          </a:xfrm>
          <a:custGeom>
            <a:avLst/>
            <a:gdLst/>
            <a:ahLst/>
            <a:cxnLst/>
            <a:rect l="l" t="t" r="r" b="b"/>
            <a:pathLst>
              <a:path w="1905000" h="228600">
                <a:moveTo>
                  <a:pt x="0" y="0"/>
                </a:moveTo>
                <a:lnTo>
                  <a:pt x="15962" y="36129"/>
                </a:lnTo>
                <a:lnTo>
                  <a:pt x="46911" y="60210"/>
                </a:lnTo>
                <a:lnTo>
                  <a:pt x="91708" y="80824"/>
                </a:lnTo>
                <a:lnTo>
                  <a:pt x="128192" y="92248"/>
                </a:lnTo>
                <a:lnTo>
                  <a:pt x="169220" y="101543"/>
                </a:lnTo>
                <a:lnTo>
                  <a:pt x="214146" y="108473"/>
                </a:lnTo>
                <a:lnTo>
                  <a:pt x="262327" y="112804"/>
                </a:lnTo>
                <a:lnTo>
                  <a:pt x="313118" y="114300"/>
                </a:lnTo>
                <a:lnTo>
                  <a:pt x="639381" y="114300"/>
                </a:lnTo>
                <a:lnTo>
                  <a:pt x="665062" y="114678"/>
                </a:lnTo>
                <a:lnTo>
                  <a:pt x="714629" y="117621"/>
                </a:lnTo>
                <a:lnTo>
                  <a:pt x="761263" y="123281"/>
                </a:lnTo>
                <a:lnTo>
                  <a:pt x="804321" y="131423"/>
                </a:lnTo>
                <a:lnTo>
                  <a:pt x="843157" y="141812"/>
                </a:lnTo>
                <a:lnTo>
                  <a:pt x="892087" y="161093"/>
                </a:lnTo>
                <a:lnTo>
                  <a:pt x="927894" y="184106"/>
                </a:lnTo>
                <a:lnTo>
                  <a:pt x="951462" y="219224"/>
                </a:lnTo>
                <a:lnTo>
                  <a:pt x="952500" y="228600"/>
                </a:lnTo>
                <a:lnTo>
                  <a:pt x="953537" y="219224"/>
                </a:lnTo>
                <a:lnTo>
                  <a:pt x="977105" y="184106"/>
                </a:lnTo>
                <a:lnTo>
                  <a:pt x="1012912" y="161093"/>
                </a:lnTo>
                <a:lnTo>
                  <a:pt x="1061842" y="141812"/>
                </a:lnTo>
                <a:lnTo>
                  <a:pt x="1100678" y="131423"/>
                </a:lnTo>
                <a:lnTo>
                  <a:pt x="1143736" y="123281"/>
                </a:lnTo>
                <a:lnTo>
                  <a:pt x="1190370" y="117621"/>
                </a:lnTo>
                <a:lnTo>
                  <a:pt x="1239937" y="114678"/>
                </a:lnTo>
                <a:lnTo>
                  <a:pt x="1265618" y="114300"/>
                </a:lnTo>
                <a:lnTo>
                  <a:pt x="1591881" y="114300"/>
                </a:lnTo>
                <a:lnTo>
                  <a:pt x="1617562" y="113921"/>
                </a:lnTo>
                <a:lnTo>
                  <a:pt x="1667129" y="110978"/>
                </a:lnTo>
                <a:lnTo>
                  <a:pt x="1713763" y="105318"/>
                </a:lnTo>
                <a:lnTo>
                  <a:pt x="1756821" y="97176"/>
                </a:lnTo>
                <a:lnTo>
                  <a:pt x="1795657" y="86787"/>
                </a:lnTo>
                <a:lnTo>
                  <a:pt x="1844587" y="67506"/>
                </a:lnTo>
                <a:lnTo>
                  <a:pt x="1880394" y="44493"/>
                </a:lnTo>
                <a:lnTo>
                  <a:pt x="1903962" y="9375"/>
                </a:lnTo>
                <a:lnTo>
                  <a:pt x="19050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 txBox="1"/>
          <p:nvPr/>
        </p:nvSpPr>
        <p:spPr>
          <a:xfrm>
            <a:off x="3704386" y="6438400"/>
            <a:ext cx="3641090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zh-CN" altLang="en-US" b="1" spc="-179" baseline="25462" dirty="0">
                <a:latin typeface="Calibri"/>
                <a:cs typeface="Calibri"/>
              </a:rPr>
              <a:t>每个高速缓存块有  </a:t>
            </a:r>
            <a:r>
              <a:rPr sz="1800" b="1" spc="-5" dirty="0">
                <a:latin typeface="Calibri"/>
                <a:cs typeface="Calibri"/>
              </a:rPr>
              <a:t>B</a:t>
            </a:r>
            <a:r>
              <a:rPr sz="1800" b="1" spc="1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=</a:t>
            </a:r>
            <a:r>
              <a:rPr sz="1800" b="1" spc="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2</a:t>
            </a:r>
            <a:r>
              <a:rPr sz="1800" b="1" spc="-7" baseline="25462" dirty="0">
                <a:latin typeface="Calibri"/>
                <a:cs typeface="Calibri"/>
              </a:rPr>
              <a:t>b</a:t>
            </a:r>
            <a:r>
              <a:rPr sz="1800" b="1" baseline="25462" dirty="0">
                <a:latin typeface="Calibri"/>
                <a:cs typeface="Calibri"/>
              </a:rPr>
              <a:t> </a:t>
            </a:r>
            <a:r>
              <a:rPr sz="1800" b="1" spc="-179" baseline="25462" dirty="0">
                <a:latin typeface="Calibri"/>
                <a:cs typeface="Calibri"/>
              </a:rPr>
              <a:t> </a:t>
            </a:r>
            <a:r>
              <a:rPr lang="zh-CN" altLang="en-US" sz="1800" b="1" spc="-179" baseline="25462" dirty="0">
                <a:latin typeface="Calibri"/>
                <a:cs typeface="Calibri"/>
              </a:rPr>
              <a:t>字节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6174740" y="5202009"/>
            <a:ext cx="2884170" cy="7386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zh-CN" altLang="en-US" sz="2400" b="1" i="1" spc="-5" dirty="0">
                <a:solidFill>
                  <a:srgbClr val="C00000"/>
                </a:solidFill>
                <a:latin typeface="Calibri"/>
                <a:cs typeface="Calibri"/>
              </a:rPr>
              <a:t>高速缓存大小</a:t>
            </a:r>
            <a:r>
              <a:rPr sz="2400" b="1" i="1" spc="-5" dirty="0">
                <a:solidFill>
                  <a:srgbClr val="C00000"/>
                </a:solidFill>
                <a:latin typeface="Calibri"/>
                <a:cs typeface="Calibri"/>
              </a:rPr>
              <a:t>:</a:t>
            </a:r>
            <a:endParaRPr sz="2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b="1" i="1" spc="-5" dirty="0">
                <a:latin typeface="Calibri"/>
                <a:cs typeface="Calibri"/>
              </a:rPr>
              <a:t>C = </a:t>
            </a:r>
            <a:r>
              <a:rPr sz="2400" b="1" i="1" dirty="0">
                <a:latin typeface="Calibri"/>
                <a:cs typeface="Calibri"/>
              </a:rPr>
              <a:t>S</a:t>
            </a:r>
            <a:r>
              <a:rPr sz="2400" b="1" i="1" spc="-2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x</a:t>
            </a:r>
            <a:r>
              <a:rPr sz="2400" b="1" i="1" spc="-5" dirty="0">
                <a:latin typeface="Calibri"/>
                <a:cs typeface="Calibri"/>
              </a:rPr>
              <a:t> E</a:t>
            </a:r>
            <a:r>
              <a:rPr sz="2400" b="1" i="1" spc="-1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x</a:t>
            </a:r>
            <a:r>
              <a:rPr sz="2400" b="1" i="1" spc="-5" dirty="0">
                <a:latin typeface="Calibri"/>
                <a:cs typeface="Calibri"/>
              </a:rPr>
              <a:t> B </a:t>
            </a:r>
            <a:r>
              <a:rPr lang="zh-CN" altLang="en-US" sz="2400" b="1" i="1" spc="-5" dirty="0">
                <a:latin typeface="Calibri"/>
                <a:cs typeface="Calibri"/>
              </a:rPr>
              <a:t>数据字节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2022027" y="6411197"/>
            <a:ext cx="788035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zh-CN" altLang="en-US" sz="1800" dirty="0">
                <a:latin typeface="Calibri"/>
                <a:cs typeface="Calibri"/>
              </a:rPr>
              <a:t>有效位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2436812" y="6070422"/>
            <a:ext cx="1270" cy="241300"/>
          </a:xfrm>
          <a:custGeom>
            <a:avLst/>
            <a:gdLst/>
            <a:ahLst/>
            <a:cxnLst/>
            <a:rect l="l" t="t" r="r" b="b"/>
            <a:pathLst>
              <a:path w="1269" h="241300">
                <a:moveTo>
                  <a:pt x="0" y="241300"/>
                </a:moveTo>
                <a:lnTo>
                  <a:pt x="1257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2399900" y="6006923"/>
            <a:ext cx="76200" cy="76835"/>
          </a:xfrm>
          <a:custGeom>
            <a:avLst/>
            <a:gdLst/>
            <a:ahLst/>
            <a:cxnLst/>
            <a:rect l="l" t="t" r="r" b="b"/>
            <a:pathLst>
              <a:path w="76200" h="76835">
                <a:moveTo>
                  <a:pt x="38506" y="0"/>
                </a:moveTo>
                <a:lnTo>
                  <a:pt x="0" y="75996"/>
                </a:lnTo>
                <a:lnTo>
                  <a:pt x="76200" y="76403"/>
                </a:lnTo>
                <a:lnTo>
                  <a:pt x="3850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9" name="object 49"/>
          <p:cNvGraphicFramePr>
            <a:graphicFrameLocks noGrp="1"/>
          </p:cNvGraphicFramePr>
          <p:nvPr/>
        </p:nvGraphicFramePr>
        <p:xfrm>
          <a:off x="3645065" y="5689777"/>
          <a:ext cx="1904997" cy="4724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26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1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66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1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52400">
                <a:tc rowSpan="2"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1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79375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2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B w="39687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</a:pPr>
                      <a:r>
                        <a:rPr sz="1500" b="1" spc="-5" dirty="0">
                          <a:latin typeface="Calibri"/>
                          <a:cs typeface="Calibri"/>
                        </a:rPr>
                        <a:t>B-</a:t>
                      </a:r>
                      <a:r>
                        <a:rPr sz="1500" b="1" dirty="0">
                          <a:latin typeface="Calibri"/>
                          <a:cs typeface="Calibri"/>
                        </a:rPr>
                        <a:t>1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24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sz="15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T w="39687">
                      <a:solidFill>
                        <a:srgbClr val="000000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0" name="TextBox 59"/>
          <p:cNvSpPr txBox="1"/>
          <p:nvPr/>
        </p:nvSpPr>
        <p:spPr>
          <a:xfrm>
            <a:off x="7223125" y="1832936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 dirty="0">
                <a:latin typeface="Calibri" pitchFamily="34" charset="0"/>
              </a:rPr>
              <a:t>组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150426" y="2413986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 dirty="0">
                <a:latin typeface="Calibri" pitchFamily="34" charset="0"/>
              </a:rPr>
              <a:t>行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35758" y="615002"/>
            <a:ext cx="2955396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zh-CN" altLang="en-US" sz="3600" b="1" dirty="0">
                <a:latin typeface="Calibri"/>
                <a:cs typeface="Calibri"/>
              </a:rPr>
              <a:t>读取高速缓存</a:t>
            </a:r>
            <a:endParaRPr sz="3600" b="1" dirty="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553867" y="1716584"/>
            <a:ext cx="4237355" cy="226060"/>
          </a:xfrm>
          <a:custGeom>
            <a:avLst/>
            <a:gdLst/>
            <a:ahLst/>
            <a:cxnLst/>
            <a:rect l="l" t="t" r="r" b="b"/>
            <a:pathLst>
              <a:path w="4237355" h="226060">
                <a:moveTo>
                  <a:pt x="0" y="225980"/>
                </a:moveTo>
                <a:lnTo>
                  <a:pt x="13114" y="182057"/>
                </a:lnTo>
                <a:lnTo>
                  <a:pt x="48931" y="146021"/>
                </a:lnTo>
                <a:lnTo>
                  <a:pt x="87512" y="126290"/>
                </a:lnTo>
                <a:lnTo>
                  <a:pt x="133657" y="114466"/>
                </a:lnTo>
                <a:lnTo>
                  <a:pt x="1947214" y="111680"/>
                </a:lnTo>
                <a:lnTo>
                  <a:pt x="1964505" y="111106"/>
                </a:lnTo>
                <a:lnTo>
                  <a:pt x="2013097" y="102938"/>
                </a:lnTo>
                <a:lnTo>
                  <a:pt x="2055036" y="86256"/>
                </a:lnTo>
                <a:lnTo>
                  <a:pt x="2088090" y="62548"/>
                </a:lnTo>
                <a:lnTo>
                  <a:pt x="2114486" y="22577"/>
                </a:lnTo>
                <a:lnTo>
                  <a:pt x="2118620" y="0"/>
                </a:lnTo>
                <a:lnTo>
                  <a:pt x="2119501" y="11147"/>
                </a:lnTo>
                <a:lnTo>
                  <a:pt x="2139062" y="52379"/>
                </a:lnTo>
                <a:lnTo>
                  <a:pt x="2168215" y="78097"/>
                </a:lnTo>
                <a:lnTo>
                  <a:pt x="2207253" y="97555"/>
                </a:lnTo>
                <a:lnTo>
                  <a:pt x="2253899" y="109132"/>
                </a:lnTo>
                <a:lnTo>
                  <a:pt x="4065879" y="111680"/>
                </a:lnTo>
                <a:lnTo>
                  <a:pt x="4083169" y="112254"/>
                </a:lnTo>
                <a:lnTo>
                  <a:pt x="4131762" y="120423"/>
                </a:lnTo>
                <a:lnTo>
                  <a:pt x="4173700" y="137105"/>
                </a:lnTo>
                <a:lnTo>
                  <a:pt x="4206755" y="160813"/>
                </a:lnTo>
                <a:lnTo>
                  <a:pt x="4233150" y="200784"/>
                </a:lnTo>
                <a:lnTo>
                  <a:pt x="4236042" y="211902"/>
                </a:lnTo>
                <a:lnTo>
                  <a:pt x="4237285" y="223361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553870" y="2079002"/>
            <a:ext cx="4237355" cy="492759"/>
          </a:xfrm>
          <a:custGeom>
            <a:avLst/>
            <a:gdLst/>
            <a:ahLst/>
            <a:cxnLst/>
            <a:rect l="l" t="t" r="r" b="b"/>
            <a:pathLst>
              <a:path w="4237355" h="492760">
                <a:moveTo>
                  <a:pt x="0" y="0"/>
                </a:moveTo>
                <a:lnTo>
                  <a:pt x="4237329" y="0"/>
                </a:lnTo>
                <a:lnTo>
                  <a:pt x="4237329" y="492480"/>
                </a:lnTo>
                <a:lnTo>
                  <a:pt x="0" y="492480"/>
                </a:lnTo>
                <a:lnTo>
                  <a:pt x="0" y="0"/>
                </a:lnTo>
                <a:close/>
              </a:path>
            </a:pathLst>
          </a:custGeom>
          <a:solidFill>
            <a:srgbClr val="D6D6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687906" y="2174519"/>
            <a:ext cx="1082675" cy="312420"/>
          </a:xfrm>
          <a:custGeom>
            <a:avLst/>
            <a:gdLst/>
            <a:ahLst/>
            <a:cxnLst/>
            <a:rect l="l" t="t" r="r" b="b"/>
            <a:pathLst>
              <a:path w="1082675" h="312419">
                <a:moveTo>
                  <a:pt x="0" y="0"/>
                </a:moveTo>
                <a:lnTo>
                  <a:pt x="1082078" y="0"/>
                </a:lnTo>
                <a:lnTo>
                  <a:pt x="1082078" y="312369"/>
                </a:lnTo>
                <a:lnTo>
                  <a:pt x="0" y="312369"/>
                </a:lnTo>
                <a:lnTo>
                  <a:pt x="0" y="0"/>
                </a:lnTo>
                <a:close/>
              </a:path>
            </a:pathLst>
          </a:custGeom>
          <a:solidFill>
            <a:srgbClr val="ADAD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687906" y="2174519"/>
            <a:ext cx="1082675" cy="312420"/>
          </a:xfrm>
          <a:custGeom>
            <a:avLst/>
            <a:gdLst/>
            <a:ahLst/>
            <a:cxnLst/>
            <a:rect l="l" t="t" r="r" b="b"/>
            <a:pathLst>
              <a:path w="1082675" h="312419">
                <a:moveTo>
                  <a:pt x="0" y="0"/>
                </a:moveTo>
                <a:lnTo>
                  <a:pt x="1082078" y="0"/>
                </a:lnTo>
                <a:lnTo>
                  <a:pt x="1082078" y="312369"/>
                </a:lnTo>
                <a:lnTo>
                  <a:pt x="0" y="312369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839440" y="2174519"/>
            <a:ext cx="1082675" cy="312420"/>
          </a:xfrm>
          <a:custGeom>
            <a:avLst/>
            <a:gdLst/>
            <a:ahLst/>
            <a:cxnLst/>
            <a:rect l="l" t="t" r="r" b="b"/>
            <a:pathLst>
              <a:path w="1082675" h="312419">
                <a:moveTo>
                  <a:pt x="0" y="0"/>
                </a:moveTo>
                <a:lnTo>
                  <a:pt x="1082078" y="0"/>
                </a:lnTo>
                <a:lnTo>
                  <a:pt x="1082078" y="312369"/>
                </a:lnTo>
                <a:lnTo>
                  <a:pt x="0" y="312369"/>
                </a:lnTo>
                <a:lnTo>
                  <a:pt x="0" y="0"/>
                </a:lnTo>
                <a:close/>
              </a:path>
            </a:pathLst>
          </a:custGeom>
          <a:solidFill>
            <a:srgbClr val="ADAD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839440" y="2174519"/>
            <a:ext cx="1082675" cy="312420"/>
          </a:xfrm>
          <a:custGeom>
            <a:avLst/>
            <a:gdLst/>
            <a:ahLst/>
            <a:cxnLst/>
            <a:rect l="l" t="t" r="r" b="b"/>
            <a:pathLst>
              <a:path w="1082675" h="312419">
                <a:moveTo>
                  <a:pt x="0" y="0"/>
                </a:moveTo>
                <a:lnTo>
                  <a:pt x="1082078" y="0"/>
                </a:lnTo>
                <a:lnTo>
                  <a:pt x="1082078" y="312369"/>
                </a:lnTo>
                <a:lnTo>
                  <a:pt x="0" y="312369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576064" y="2174519"/>
            <a:ext cx="1082675" cy="312420"/>
          </a:xfrm>
          <a:custGeom>
            <a:avLst/>
            <a:gdLst/>
            <a:ahLst/>
            <a:cxnLst/>
            <a:rect l="l" t="t" r="r" b="b"/>
            <a:pathLst>
              <a:path w="1082675" h="312419">
                <a:moveTo>
                  <a:pt x="0" y="0"/>
                </a:moveTo>
                <a:lnTo>
                  <a:pt x="1082078" y="0"/>
                </a:lnTo>
                <a:lnTo>
                  <a:pt x="1082078" y="312369"/>
                </a:lnTo>
                <a:lnTo>
                  <a:pt x="0" y="312369"/>
                </a:lnTo>
                <a:lnTo>
                  <a:pt x="0" y="0"/>
                </a:lnTo>
                <a:close/>
              </a:path>
            </a:pathLst>
          </a:custGeom>
          <a:solidFill>
            <a:srgbClr val="ADAD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576064" y="2174519"/>
            <a:ext cx="1082675" cy="312420"/>
          </a:xfrm>
          <a:custGeom>
            <a:avLst/>
            <a:gdLst/>
            <a:ahLst/>
            <a:cxnLst/>
            <a:rect l="l" t="t" r="r" b="b"/>
            <a:pathLst>
              <a:path w="1082675" h="312419">
                <a:moveTo>
                  <a:pt x="0" y="0"/>
                </a:moveTo>
                <a:lnTo>
                  <a:pt x="1082078" y="0"/>
                </a:lnTo>
                <a:lnTo>
                  <a:pt x="1082078" y="312369"/>
                </a:lnTo>
                <a:lnTo>
                  <a:pt x="0" y="312369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026212" y="2338583"/>
            <a:ext cx="556260" cy="1905"/>
          </a:xfrm>
          <a:custGeom>
            <a:avLst/>
            <a:gdLst/>
            <a:ahLst/>
            <a:cxnLst/>
            <a:rect l="l" t="t" r="r" b="b"/>
            <a:pathLst>
              <a:path w="556260" h="1905">
                <a:moveTo>
                  <a:pt x="0" y="0"/>
                </a:moveTo>
                <a:lnTo>
                  <a:pt x="555713" y="1587"/>
                </a:lnTo>
              </a:path>
            </a:pathLst>
          </a:custGeom>
          <a:ln w="76200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782466" y="4019283"/>
            <a:ext cx="3876040" cy="10160"/>
          </a:xfrm>
          <a:custGeom>
            <a:avLst/>
            <a:gdLst/>
            <a:ahLst/>
            <a:cxnLst/>
            <a:rect l="l" t="t" r="r" b="b"/>
            <a:pathLst>
              <a:path w="3876040" h="10160">
                <a:moveTo>
                  <a:pt x="0" y="0"/>
                </a:moveTo>
                <a:lnTo>
                  <a:pt x="3875671" y="10096"/>
                </a:lnTo>
              </a:path>
            </a:pathLst>
          </a:custGeom>
          <a:ln w="76200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175485" y="2067781"/>
            <a:ext cx="226060" cy="2733040"/>
          </a:xfrm>
          <a:custGeom>
            <a:avLst/>
            <a:gdLst/>
            <a:ahLst/>
            <a:cxnLst/>
            <a:rect l="l" t="t" r="r" b="b"/>
            <a:pathLst>
              <a:path w="226059" h="2733040">
                <a:moveTo>
                  <a:pt x="225980" y="2732818"/>
                </a:moveTo>
                <a:lnTo>
                  <a:pt x="182057" y="2719703"/>
                </a:lnTo>
                <a:lnTo>
                  <a:pt x="146021" y="2683886"/>
                </a:lnTo>
                <a:lnTo>
                  <a:pt x="126290" y="2645305"/>
                </a:lnTo>
                <a:lnTo>
                  <a:pt x="114466" y="2599160"/>
                </a:lnTo>
                <a:lnTo>
                  <a:pt x="111680" y="1537836"/>
                </a:lnTo>
                <a:lnTo>
                  <a:pt x="111106" y="1520546"/>
                </a:lnTo>
                <a:lnTo>
                  <a:pt x="102938" y="1471954"/>
                </a:lnTo>
                <a:lnTo>
                  <a:pt x="86256" y="1430015"/>
                </a:lnTo>
                <a:lnTo>
                  <a:pt x="62548" y="1396961"/>
                </a:lnTo>
                <a:lnTo>
                  <a:pt x="22577" y="1370565"/>
                </a:lnTo>
                <a:lnTo>
                  <a:pt x="0" y="1366431"/>
                </a:lnTo>
                <a:lnTo>
                  <a:pt x="11147" y="1365550"/>
                </a:lnTo>
                <a:lnTo>
                  <a:pt x="52379" y="1345988"/>
                </a:lnTo>
                <a:lnTo>
                  <a:pt x="78097" y="1316835"/>
                </a:lnTo>
                <a:lnTo>
                  <a:pt x="97555" y="1277798"/>
                </a:lnTo>
                <a:lnTo>
                  <a:pt x="109132" y="1231151"/>
                </a:lnTo>
                <a:lnTo>
                  <a:pt x="111680" y="171405"/>
                </a:lnTo>
                <a:lnTo>
                  <a:pt x="112254" y="154115"/>
                </a:lnTo>
                <a:lnTo>
                  <a:pt x="120423" y="105523"/>
                </a:lnTo>
                <a:lnTo>
                  <a:pt x="137105" y="63584"/>
                </a:lnTo>
                <a:lnTo>
                  <a:pt x="160813" y="30530"/>
                </a:lnTo>
                <a:lnTo>
                  <a:pt x="200784" y="4134"/>
                </a:lnTo>
                <a:lnTo>
                  <a:pt x="211902" y="1243"/>
                </a:lnTo>
                <a:lnTo>
                  <a:pt x="223361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553870" y="2647683"/>
            <a:ext cx="4237355" cy="492759"/>
          </a:xfrm>
          <a:custGeom>
            <a:avLst/>
            <a:gdLst/>
            <a:ahLst/>
            <a:cxnLst/>
            <a:rect l="l" t="t" r="r" b="b"/>
            <a:pathLst>
              <a:path w="4237355" h="492760">
                <a:moveTo>
                  <a:pt x="0" y="0"/>
                </a:moveTo>
                <a:lnTo>
                  <a:pt x="4237329" y="0"/>
                </a:lnTo>
                <a:lnTo>
                  <a:pt x="4237329" y="492480"/>
                </a:lnTo>
                <a:lnTo>
                  <a:pt x="0" y="492480"/>
                </a:lnTo>
                <a:lnTo>
                  <a:pt x="0" y="0"/>
                </a:lnTo>
                <a:close/>
              </a:path>
            </a:pathLst>
          </a:custGeom>
          <a:solidFill>
            <a:srgbClr val="D6D6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687906" y="2743200"/>
            <a:ext cx="1082675" cy="312420"/>
          </a:xfrm>
          <a:custGeom>
            <a:avLst/>
            <a:gdLst/>
            <a:ahLst/>
            <a:cxnLst/>
            <a:rect l="l" t="t" r="r" b="b"/>
            <a:pathLst>
              <a:path w="1082675" h="312419">
                <a:moveTo>
                  <a:pt x="0" y="0"/>
                </a:moveTo>
                <a:lnTo>
                  <a:pt x="1082078" y="0"/>
                </a:lnTo>
                <a:lnTo>
                  <a:pt x="1082078" y="312369"/>
                </a:lnTo>
                <a:lnTo>
                  <a:pt x="0" y="312369"/>
                </a:lnTo>
                <a:lnTo>
                  <a:pt x="0" y="0"/>
                </a:lnTo>
                <a:close/>
              </a:path>
            </a:pathLst>
          </a:custGeom>
          <a:solidFill>
            <a:srgbClr val="ADAD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687906" y="2743200"/>
            <a:ext cx="1082675" cy="312420"/>
          </a:xfrm>
          <a:custGeom>
            <a:avLst/>
            <a:gdLst/>
            <a:ahLst/>
            <a:cxnLst/>
            <a:rect l="l" t="t" r="r" b="b"/>
            <a:pathLst>
              <a:path w="1082675" h="312419">
                <a:moveTo>
                  <a:pt x="0" y="0"/>
                </a:moveTo>
                <a:lnTo>
                  <a:pt x="1082078" y="0"/>
                </a:lnTo>
                <a:lnTo>
                  <a:pt x="1082078" y="312369"/>
                </a:lnTo>
                <a:lnTo>
                  <a:pt x="0" y="312369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839440" y="2743200"/>
            <a:ext cx="1082675" cy="312420"/>
          </a:xfrm>
          <a:custGeom>
            <a:avLst/>
            <a:gdLst/>
            <a:ahLst/>
            <a:cxnLst/>
            <a:rect l="l" t="t" r="r" b="b"/>
            <a:pathLst>
              <a:path w="1082675" h="312419">
                <a:moveTo>
                  <a:pt x="0" y="0"/>
                </a:moveTo>
                <a:lnTo>
                  <a:pt x="1082078" y="0"/>
                </a:lnTo>
                <a:lnTo>
                  <a:pt x="1082078" y="312369"/>
                </a:lnTo>
                <a:lnTo>
                  <a:pt x="0" y="312369"/>
                </a:lnTo>
                <a:lnTo>
                  <a:pt x="0" y="0"/>
                </a:lnTo>
                <a:close/>
              </a:path>
            </a:pathLst>
          </a:custGeom>
          <a:solidFill>
            <a:srgbClr val="ADAD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839440" y="2743200"/>
            <a:ext cx="1082675" cy="312420"/>
          </a:xfrm>
          <a:custGeom>
            <a:avLst/>
            <a:gdLst/>
            <a:ahLst/>
            <a:cxnLst/>
            <a:rect l="l" t="t" r="r" b="b"/>
            <a:pathLst>
              <a:path w="1082675" h="312419">
                <a:moveTo>
                  <a:pt x="0" y="0"/>
                </a:moveTo>
                <a:lnTo>
                  <a:pt x="1082078" y="0"/>
                </a:lnTo>
                <a:lnTo>
                  <a:pt x="1082078" y="312369"/>
                </a:lnTo>
                <a:lnTo>
                  <a:pt x="0" y="312369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576064" y="2743200"/>
            <a:ext cx="1082675" cy="312420"/>
          </a:xfrm>
          <a:custGeom>
            <a:avLst/>
            <a:gdLst/>
            <a:ahLst/>
            <a:cxnLst/>
            <a:rect l="l" t="t" r="r" b="b"/>
            <a:pathLst>
              <a:path w="1082675" h="312419">
                <a:moveTo>
                  <a:pt x="0" y="0"/>
                </a:moveTo>
                <a:lnTo>
                  <a:pt x="1082078" y="0"/>
                </a:lnTo>
                <a:lnTo>
                  <a:pt x="1082078" y="312369"/>
                </a:lnTo>
                <a:lnTo>
                  <a:pt x="0" y="312369"/>
                </a:lnTo>
                <a:lnTo>
                  <a:pt x="0" y="0"/>
                </a:lnTo>
                <a:close/>
              </a:path>
            </a:pathLst>
          </a:custGeom>
          <a:solidFill>
            <a:srgbClr val="ADAD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576064" y="2743200"/>
            <a:ext cx="1082675" cy="312420"/>
          </a:xfrm>
          <a:custGeom>
            <a:avLst/>
            <a:gdLst/>
            <a:ahLst/>
            <a:cxnLst/>
            <a:rect l="l" t="t" r="r" b="b"/>
            <a:pathLst>
              <a:path w="1082675" h="312419">
                <a:moveTo>
                  <a:pt x="0" y="0"/>
                </a:moveTo>
                <a:lnTo>
                  <a:pt x="1082078" y="0"/>
                </a:lnTo>
                <a:lnTo>
                  <a:pt x="1082078" y="312369"/>
                </a:lnTo>
                <a:lnTo>
                  <a:pt x="0" y="312369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026212" y="2907267"/>
            <a:ext cx="556260" cy="1905"/>
          </a:xfrm>
          <a:custGeom>
            <a:avLst/>
            <a:gdLst/>
            <a:ahLst/>
            <a:cxnLst/>
            <a:rect l="l" t="t" r="r" b="b"/>
            <a:pathLst>
              <a:path w="556260" h="1905">
                <a:moveTo>
                  <a:pt x="0" y="0"/>
                </a:moveTo>
                <a:lnTo>
                  <a:pt x="555713" y="1587"/>
                </a:lnTo>
              </a:path>
            </a:pathLst>
          </a:custGeom>
          <a:ln w="76200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553870" y="3222002"/>
            <a:ext cx="4237355" cy="492759"/>
          </a:xfrm>
          <a:custGeom>
            <a:avLst/>
            <a:gdLst/>
            <a:ahLst/>
            <a:cxnLst/>
            <a:rect l="l" t="t" r="r" b="b"/>
            <a:pathLst>
              <a:path w="4237355" h="492760">
                <a:moveTo>
                  <a:pt x="0" y="0"/>
                </a:moveTo>
                <a:lnTo>
                  <a:pt x="4237329" y="0"/>
                </a:lnTo>
                <a:lnTo>
                  <a:pt x="4237329" y="492480"/>
                </a:lnTo>
                <a:lnTo>
                  <a:pt x="0" y="492480"/>
                </a:lnTo>
                <a:lnTo>
                  <a:pt x="0" y="0"/>
                </a:lnTo>
                <a:close/>
              </a:path>
            </a:pathLst>
          </a:custGeom>
          <a:solidFill>
            <a:srgbClr val="D6D6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687906" y="3317519"/>
            <a:ext cx="1082675" cy="312420"/>
          </a:xfrm>
          <a:custGeom>
            <a:avLst/>
            <a:gdLst/>
            <a:ahLst/>
            <a:cxnLst/>
            <a:rect l="l" t="t" r="r" b="b"/>
            <a:pathLst>
              <a:path w="1082675" h="312420">
                <a:moveTo>
                  <a:pt x="0" y="0"/>
                </a:moveTo>
                <a:lnTo>
                  <a:pt x="1082078" y="0"/>
                </a:lnTo>
                <a:lnTo>
                  <a:pt x="1082078" y="312369"/>
                </a:lnTo>
                <a:lnTo>
                  <a:pt x="0" y="312369"/>
                </a:lnTo>
                <a:lnTo>
                  <a:pt x="0" y="0"/>
                </a:lnTo>
                <a:close/>
              </a:path>
            </a:pathLst>
          </a:custGeom>
          <a:solidFill>
            <a:srgbClr val="ADAD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687906" y="3317519"/>
            <a:ext cx="1082675" cy="312420"/>
          </a:xfrm>
          <a:custGeom>
            <a:avLst/>
            <a:gdLst/>
            <a:ahLst/>
            <a:cxnLst/>
            <a:rect l="l" t="t" r="r" b="b"/>
            <a:pathLst>
              <a:path w="1082675" h="312420">
                <a:moveTo>
                  <a:pt x="0" y="0"/>
                </a:moveTo>
                <a:lnTo>
                  <a:pt x="1082078" y="0"/>
                </a:lnTo>
                <a:lnTo>
                  <a:pt x="1082078" y="312369"/>
                </a:lnTo>
                <a:lnTo>
                  <a:pt x="0" y="312369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2839440" y="3317519"/>
            <a:ext cx="1082675" cy="312420"/>
          </a:xfrm>
          <a:custGeom>
            <a:avLst/>
            <a:gdLst/>
            <a:ahLst/>
            <a:cxnLst/>
            <a:rect l="l" t="t" r="r" b="b"/>
            <a:pathLst>
              <a:path w="1082675" h="312420">
                <a:moveTo>
                  <a:pt x="0" y="0"/>
                </a:moveTo>
                <a:lnTo>
                  <a:pt x="1082078" y="0"/>
                </a:lnTo>
                <a:lnTo>
                  <a:pt x="1082078" y="312369"/>
                </a:lnTo>
                <a:lnTo>
                  <a:pt x="0" y="312369"/>
                </a:lnTo>
                <a:lnTo>
                  <a:pt x="0" y="0"/>
                </a:lnTo>
                <a:close/>
              </a:path>
            </a:pathLst>
          </a:custGeom>
          <a:solidFill>
            <a:srgbClr val="ADAD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2839440" y="3317519"/>
            <a:ext cx="1082675" cy="312420"/>
          </a:xfrm>
          <a:custGeom>
            <a:avLst/>
            <a:gdLst/>
            <a:ahLst/>
            <a:cxnLst/>
            <a:rect l="l" t="t" r="r" b="b"/>
            <a:pathLst>
              <a:path w="1082675" h="312420">
                <a:moveTo>
                  <a:pt x="0" y="0"/>
                </a:moveTo>
                <a:lnTo>
                  <a:pt x="1082078" y="0"/>
                </a:lnTo>
                <a:lnTo>
                  <a:pt x="1082078" y="312369"/>
                </a:lnTo>
                <a:lnTo>
                  <a:pt x="0" y="312369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576064" y="3317519"/>
            <a:ext cx="1082675" cy="312420"/>
          </a:xfrm>
          <a:custGeom>
            <a:avLst/>
            <a:gdLst/>
            <a:ahLst/>
            <a:cxnLst/>
            <a:rect l="l" t="t" r="r" b="b"/>
            <a:pathLst>
              <a:path w="1082675" h="312420">
                <a:moveTo>
                  <a:pt x="0" y="0"/>
                </a:moveTo>
                <a:lnTo>
                  <a:pt x="1082078" y="0"/>
                </a:lnTo>
                <a:lnTo>
                  <a:pt x="1082078" y="312369"/>
                </a:lnTo>
                <a:lnTo>
                  <a:pt x="0" y="312369"/>
                </a:lnTo>
                <a:lnTo>
                  <a:pt x="0" y="0"/>
                </a:lnTo>
                <a:close/>
              </a:path>
            </a:pathLst>
          </a:custGeom>
          <a:solidFill>
            <a:srgbClr val="ADAD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576064" y="3317519"/>
            <a:ext cx="1082675" cy="312420"/>
          </a:xfrm>
          <a:custGeom>
            <a:avLst/>
            <a:gdLst/>
            <a:ahLst/>
            <a:cxnLst/>
            <a:rect l="l" t="t" r="r" b="b"/>
            <a:pathLst>
              <a:path w="1082675" h="312420">
                <a:moveTo>
                  <a:pt x="0" y="0"/>
                </a:moveTo>
                <a:lnTo>
                  <a:pt x="1082078" y="0"/>
                </a:lnTo>
                <a:lnTo>
                  <a:pt x="1082078" y="312369"/>
                </a:lnTo>
                <a:lnTo>
                  <a:pt x="0" y="312369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026212" y="3481583"/>
            <a:ext cx="556260" cy="1905"/>
          </a:xfrm>
          <a:custGeom>
            <a:avLst/>
            <a:gdLst/>
            <a:ahLst/>
            <a:cxnLst/>
            <a:rect l="l" t="t" r="r" b="b"/>
            <a:pathLst>
              <a:path w="556260" h="1904">
                <a:moveTo>
                  <a:pt x="0" y="0"/>
                </a:moveTo>
                <a:lnTo>
                  <a:pt x="555713" y="1587"/>
                </a:lnTo>
              </a:path>
            </a:pathLst>
          </a:custGeom>
          <a:ln w="76200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553870" y="4288802"/>
            <a:ext cx="4237355" cy="492759"/>
          </a:xfrm>
          <a:custGeom>
            <a:avLst/>
            <a:gdLst/>
            <a:ahLst/>
            <a:cxnLst/>
            <a:rect l="l" t="t" r="r" b="b"/>
            <a:pathLst>
              <a:path w="4237355" h="492760">
                <a:moveTo>
                  <a:pt x="0" y="0"/>
                </a:moveTo>
                <a:lnTo>
                  <a:pt x="4237329" y="0"/>
                </a:lnTo>
                <a:lnTo>
                  <a:pt x="4237329" y="492480"/>
                </a:lnTo>
                <a:lnTo>
                  <a:pt x="0" y="492480"/>
                </a:lnTo>
                <a:lnTo>
                  <a:pt x="0" y="0"/>
                </a:lnTo>
                <a:close/>
              </a:path>
            </a:pathLst>
          </a:custGeom>
          <a:solidFill>
            <a:srgbClr val="D6D6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687906" y="4384319"/>
            <a:ext cx="1082675" cy="312420"/>
          </a:xfrm>
          <a:custGeom>
            <a:avLst/>
            <a:gdLst/>
            <a:ahLst/>
            <a:cxnLst/>
            <a:rect l="l" t="t" r="r" b="b"/>
            <a:pathLst>
              <a:path w="1082675" h="312420">
                <a:moveTo>
                  <a:pt x="0" y="0"/>
                </a:moveTo>
                <a:lnTo>
                  <a:pt x="1082078" y="0"/>
                </a:lnTo>
                <a:lnTo>
                  <a:pt x="1082078" y="312369"/>
                </a:lnTo>
                <a:lnTo>
                  <a:pt x="0" y="312369"/>
                </a:lnTo>
                <a:lnTo>
                  <a:pt x="0" y="0"/>
                </a:lnTo>
                <a:close/>
              </a:path>
            </a:pathLst>
          </a:custGeom>
          <a:solidFill>
            <a:srgbClr val="ADAD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687906" y="4384319"/>
            <a:ext cx="1082675" cy="312420"/>
          </a:xfrm>
          <a:custGeom>
            <a:avLst/>
            <a:gdLst/>
            <a:ahLst/>
            <a:cxnLst/>
            <a:rect l="l" t="t" r="r" b="b"/>
            <a:pathLst>
              <a:path w="1082675" h="312420">
                <a:moveTo>
                  <a:pt x="0" y="0"/>
                </a:moveTo>
                <a:lnTo>
                  <a:pt x="1082078" y="0"/>
                </a:lnTo>
                <a:lnTo>
                  <a:pt x="1082078" y="312369"/>
                </a:lnTo>
                <a:lnTo>
                  <a:pt x="0" y="312369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2839440" y="4384319"/>
            <a:ext cx="1082675" cy="312420"/>
          </a:xfrm>
          <a:custGeom>
            <a:avLst/>
            <a:gdLst/>
            <a:ahLst/>
            <a:cxnLst/>
            <a:rect l="l" t="t" r="r" b="b"/>
            <a:pathLst>
              <a:path w="1082675" h="312420">
                <a:moveTo>
                  <a:pt x="0" y="0"/>
                </a:moveTo>
                <a:lnTo>
                  <a:pt x="1082078" y="0"/>
                </a:lnTo>
                <a:lnTo>
                  <a:pt x="1082078" y="312369"/>
                </a:lnTo>
                <a:lnTo>
                  <a:pt x="0" y="312369"/>
                </a:lnTo>
                <a:lnTo>
                  <a:pt x="0" y="0"/>
                </a:lnTo>
                <a:close/>
              </a:path>
            </a:pathLst>
          </a:custGeom>
          <a:solidFill>
            <a:srgbClr val="ADAD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2839440" y="4384319"/>
            <a:ext cx="1082675" cy="312420"/>
          </a:xfrm>
          <a:custGeom>
            <a:avLst/>
            <a:gdLst/>
            <a:ahLst/>
            <a:cxnLst/>
            <a:rect l="l" t="t" r="r" b="b"/>
            <a:pathLst>
              <a:path w="1082675" h="312420">
                <a:moveTo>
                  <a:pt x="0" y="0"/>
                </a:moveTo>
                <a:lnTo>
                  <a:pt x="1082078" y="0"/>
                </a:lnTo>
                <a:lnTo>
                  <a:pt x="1082078" y="312369"/>
                </a:lnTo>
                <a:lnTo>
                  <a:pt x="0" y="312369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4576064" y="4384319"/>
            <a:ext cx="1082675" cy="312420"/>
          </a:xfrm>
          <a:custGeom>
            <a:avLst/>
            <a:gdLst/>
            <a:ahLst/>
            <a:cxnLst/>
            <a:rect l="l" t="t" r="r" b="b"/>
            <a:pathLst>
              <a:path w="1082675" h="312420">
                <a:moveTo>
                  <a:pt x="0" y="0"/>
                </a:moveTo>
                <a:lnTo>
                  <a:pt x="1082078" y="0"/>
                </a:lnTo>
                <a:lnTo>
                  <a:pt x="1082078" y="312369"/>
                </a:lnTo>
                <a:lnTo>
                  <a:pt x="0" y="312369"/>
                </a:lnTo>
                <a:lnTo>
                  <a:pt x="0" y="0"/>
                </a:lnTo>
                <a:close/>
              </a:path>
            </a:pathLst>
          </a:custGeom>
          <a:solidFill>
            <a:srgbClr val="ADAD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4576064" y="4384319"/>
            <a:ext cx="1082675" cy="312420"/>
          </a:xfrm>
          <a:custGeom>
            <a:avLst/>
            <a:gdLst/>
            <a:ahLst/>
            <a:cxnLst/>
            <a:rect l="l" t="t" r="r" b="b"/>
            <a:pathLst>
              <a:path w="1082675" h="312420">
                <a:moveTo>
                  <a:pt x="0" y="0"/>
                </a:moveTo>
                <a:lnTo>
                  <a:pt x="1082078" y="0"/>
                </a:lnTo>
                <a:lnTo>
                  <a:pt x="1082078" y="312369"/>
                </a:lnTo>
                <a:lnTo>
                  <a:pt x="0" y="312369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4026212" y="4548383"/>
            <a:ext cx="556260" cy="1905"/>
          </a:xfrm>
          <a:custGeom>
            <a:avLst/>
            <a:gdLst/>
            <a:ahLst/>
            <a:cxnLst/>
            <a:rect l="l" t="t" r="r" b="b"/>
            <a:pathLst>
              <a:path w="556260" h="1904">
                <a:moveTo>
                  <a:pt x="0" y="0"/>
                </a:moveTo>
                <a:lnTo>
                  <a:pt x="555713" y="1587"/>
                </a:lnTo>
              </a:path>
            </a:pathLst>
          </a:custGeom>
          <a:ln w="76200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1619863" y="4709566"/>
            <a:ext cx="3523615" cy="866140"/>
          </a:xfrm>
          <a:custGeom>
            <a:avLst/>
            <a:gdLst/>
            <a:ahLst/>
            <a:cxnLst/>
            <a:rect l="l" t="t" r="r" b="b"/>
            <a:pathLst>
              <a:path w="3523615" h="866139">
                <a:moveTo>
                  <a:pt x="2295982" y="0"/>
                </a:moveTo>
                <a:lnTo>
                  <a:pt x="1227467" y="0"/>
                </a:lnTo>
                <a:lnTo>
                  <a:pt x="0" y="865911"/>
                </a:lnTo>
                <a:lnTo>
                  <a:pt x="3523449" y="865911"/>
                </a:lnTo>
                <a:lnTo>
                  <a:pt x="2295982" y="0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1619863" y="4709566"/>
            <a:ext cx="3523615" cy="866140"/>
          </a:xfrm>
          <a:custGeom>
            <a:avLst/>
            <a:gdLst/>
            <a:ahLst/>
            <a:cxnLst/>
            <a:rect l="l" t="t" r="r" b="b"/>
            <a:pathLst>
              <a:path w="3523615" h="866139">
                <a:moveTo>
                  <a:pt x="0" y="865911"/>
                </a:moveTo>
                <a:lnTo>
                  <a:pt x="1227467" y="0"/>
                </a:lnTo>
                <a:lnTo>
                  <a:pt x="2295982" y="0"/>
                </a:lnTo>
                <a:lnTo>
                  <a:pt x="3523449" y="865911"/>
                </a:lnTo>
                <a:lnTo>
                  <a:pt x="0" y="865911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1619859" y="5575477"/>
            <a:ext cx="3523615" cy="533400"/>
          </a:xfrm>
          <a:custGeom>
            <a:avLst/>
            <a:gdLst/>
            <a:ahLst/>
            <a:cxnLst/>
            <a:rect l="l" t="t" r="r" b="b"/>
            <a:pathLst>
              <a:path w="3523615" h="533400">
                <a:moveTo>
                  <a:pt x="0" y="0"/>
                </a:moveTo>
                <a:lnTo>
                  <a:pt x="3523449" y="0"/>
                </a:lnTo>
                <a:lnTo>
                  <a:pt x="3523449" y="533399"/>
                </a:lnTo>
                <a:lnTo>
                  <a:pt x="0" y="533399"/>
                </a:lnTo>
                <a:lnTo>
                  <a:pt x="0" y="0"/>
                </a:lnTo>
                <a:close/>
              </a:path>
            </a:pathLst>
          </a:custGeom>
          <a:solidFill>
            <a:srgbClr val="ADAD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1619859" y="5575477"/>
            <a:ext cx="3523615" cy="533400"/>
          </a:xfrm>
          <a:custGeom>
            <a:avLst/>
            <a:gdLst/>
            <a:ahLst/>
            <a:cxnLst/>
            <a:rect l="l" t="t" r="r" b="b"/>
            <a:pathLst>
              <a:path w="3523615" h="533400">
                <a:moveTo>
                  <a:pt x="0" y="0"/>
                </a:moveTo>
                <a:lnTo>
                  <a:pt x="3523449" y="0"/>
                </a:lnTo>
                <a:lnTo>
                  <a:pt x="3523449" y="533399"/>
                </a:lnTo>
                <a:lnTo>
                  <a:pt x="0" y="533399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3118104" y="5689777"/>
            <a:ext cx="273050" cy="304800"/>
          </a:xfrm>
          <a:custGeom>
            <a:avLst/>
            <a:gdLst/>
            <a:ahLst/>
            <a:cxnLst/>
            <a:rect l="l" t="t" r="r" b="b"/>
            <a:pathLst>
              <a:path w="273050" h="304800">
                <a:moveTo>
                  <a:pt x="0" y="0"/>
                </a:moveTo>
                <a:lnTo>
                  <a:pt x="272605" y="0"/>
                </a:lnTo>
                <a:lnTo>
                  <a:pt x="272605" y="304799"/>
                </a:lnTo>
                <a:lnTo>
                  <a:pt x="0" y="3047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3118104" y="5689777"/>
            <a:ext cx="273050" cy="304800"/>
          </a:xfrm>
          <a:custGeom>
            <a:avLst/>
            <a:gdLst/>
            <a:ahLst/>
            <a:cxnLst/>
            <a:rect l="l" t="t" r="r" b="b"/>
            <a:pathLst>
              <a:path w="273050" h="304800">
                <a:moveTo>
                  <a:pt x="0" y="0"/>
                </a:moveTo>
                <a:lnTo>
                  <a:pt x="272605" y="0"/>
                </a:lnTo>
                <a:lnTo>
                  <a:pt x="272605" y="304799"/>
                </a:lnTo>
                <a:lnTo>
                  <a:pt x="0" y="304799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3390709" y="5689777"/>
            <a:ext cx="273050" cy="304800"/>
          </a:xfrm>
          <a:custGeom>
            <a:avLst/>
            <a:gdLst/>
            <a:ahLst/>
            <a:cxnLst/>
            <a:rect l="l" t="t" r="r" b="b"/>
            <a:pathLst>
              <a:path w="273050" h="304800">
                <a:moveTo>
                  <a:pt x="0" y="0"/>
                </a:moveTo>
                <a:lnTo>
                  <a:pt x="272605" y="0"/>
                </a:lnTo>
                <a:lnTo>
                  <a:pt x="272605" y="304799"/>
                </a:lnTo>
                <a:lnTo>
                  <a:pt x="0" y="3047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3390709" y="5689777"/>
            <a:ext cx="273050" cy="304800"/>
          </a:xfrm>
          <a:custGeom>
            <a:avLst/>
            <a:gdLst/>
            <a:ahLst/>
            <a:cxnLst/>
            <a:rect l="l" t="t" r="r" b="b"/>
            <a:pathLst>
              <a:path w="273050" h="304800">
                <a:moveTo>
                  <a:pt x="0" y="0"/>
                </a:moveTo>
                <a:lnTo>
                  <a:pt x="272605" y="0"/>
                </a:lnTo>
                <a:lnTo>
                  <a:pt x="272605" y="304799"/>
                </a:lnTo>
                <a:lnTo>
                  <a:pt x="0" y="304799"/>
                </a:lnTo>
                <a:lnTo>
                  <a:pt x="0" y="0"/>
                </a:lnTo>
                <a:close/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3651503" y="5689777"/>
            <a:ext cx="273050" cy="304800"/>
          </a:xfrm>
          <a:custGeom>
            <a:avLst/>
            <a:gdLst/>
            <a:ahLst/>
            <a:cxnLst/>
            <a:rect l="l" t="t" r="r" b="b"/>
            <a:pathLst>
              <a:path w="273050" h="304800">
                <a:moveTo>
                  <a:pt x="0" y="0"/>
                </a:moveTo>
                <a:lnTo>
                  <a:pt x="272605" y="0"/>
                </a:lnTo>
                <a:lnTo>
                  <a:pt x="272605" y="304799"/>
                </a:lnTo>
                <a:lnTo>
                  <a:pt x="0" y="3047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3651503" y="5689777"/>
            <a:ext cx="273050" cy="304800"/>
          </a:xfrm>
          <a:custGeom>
            <a:avLst/>
            <a:gdLst/>
            <a:ahLst/>
            <a:cxnLst/>
            <a:rect l="l" t="t" r="r" b="b"/>
            <a:pathLst>
              <a:path w="273050" h="304800">
                <a:moveTo>
                  <a:pt x="0" y="0"/>
                </a:moveTo>
                <a:lnTo>
                  <a:pt x="272605" y="0"/>
                </a:lnTo>
                <a:lnTo>
                  <a:pt x="272605" y="304799"/>
                </a:lnTo>
                <a:lnTo>
                  <a:pt x="0" y="304799"/>
                </a:lnTo>
                <a:lnTo>
                  <a:pt x="0" y="0"/>
                </a:lnTo>
                <a:close/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 txBox="1"/>
          <p:nvPr/>
        </p:nvSpPr>
        <p:spPr>
          <a:xfrm>
            <a:off x="3191131" y="5746038"/>
            <a:ext cx="661670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85115" algn="l"/>
                <a:tab pos="545465" algn="l"/>
              </a:tabLst>
            </a:pPr>
            <a:r>
              <a:rPr sz="1600" b="1" spc="-5" dirty="0">
                <a:latin typeface="Calibri"/>
                <a:cs typeface="Calibri"/>
              </a:rPr>
              <a:t>0	1	2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4565903" y="5689777"/>
            <a:ext cx="457200" cy="304800"/>
          </a:xfrm>
          <a:custGeom>
            <a:avLst/>
            <a:gdLst/>
            <a:ahLst/>
            <a:cxnLst/>
            <a:rect l="l" t="t" r="r" b="b"/>
            <a:pathLst>
              <a:path w="457200" h="304800">
                <a:moveTo>
                  <a:pt x="0" y="0"/>
                </a:moveTo>
                <a:lnTo>
                  <a:pt x="457200" y="0"/>
                </a:lnTo>
                <a:lnTo>
                  <a:pt x="457200" y="304799"/>
                </a:lnTo>
                <a:lnTo>
                  <a:pt x="0" y="3047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4565903" y="5689777"/>
            <a:ext cx="457200" cy="304800"/>
          </a:xfrm>
          <a:custGeom>
            <a:avLst/>
            <a:gdLst/>
            <a:ahLst/>
            <a:cxnLst/>
            <a:rect l="l" t="t" r="r" b="b"/>
            <a:pathLst>
              <a:path w="457200" h="304800">
                <a:moveTo>
                  <a:pt x="0" y="0"/>
                </a:moveTo>
                <a:lnTo>
                  <a:pt x="457200" y="0"/>
                </a:lnTo>
                <a:lnTo>
                  <a:pt x="457200" y="304799"/>
                </a:lnTo>
                <a:lnTo>
                  <a:pt x="0" y="304799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 txBox="1"/>
          <p:nvPr/>
        </p:nvSpPr>
        <p:spPr>
          <a:xfrm>
            <a:off x="4651409" y="5739180"/>
            <a:ext cx="287020" cy="21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b="1" spc="-10" dirty="0">
                <a:latin typeface="Calibri"/>
                <a:cs typeface="Calibri"/>
              </a:rPr>
              <a:t>B</a:t>
            </a:r>
            <a:r>
              <a:rPr sz="1500" b="1" spc="-5" dirty="0">
                <a:latin typeface="Calibri"/>
                <a:cs typeface="Calibri"/>
              </a:rPr>
              <a:t>-1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3924109" y="5689777"/>
            <a:ext cx="641985" cy="304800"/>
          </a:xfrm>
          <a:custGeom>
            <a:avLst/>
            <a:gdLst/>
            <a:ahLst/>
            <a:cxnLst/>
            <a:rect l="l" t="t" r="r" b="b"/>
            <a:pathLst>
              <a:path w="641985" h="304800">
                <a:moveTo>
                  <a:pt x="0" y="0"/>
                </a:moveTo>
                <a:lnTo>
                  <a:pt x="641794" y="0"/>
                </a:lnTo>
                <a:lnTo>
                  <a:pt x="641794" y="304799"/>
                </a:lnTo>
                <a:lnTo>
                  <a:pt x="0" y="3047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3924109" y="5689777"/>
            <a:ext cx="641985" cy="304800"/>
          </a:xfrm>
          <a:custGeom>
            <a:avLst/>
            <a:gdLst/>
            <a:ahLst/>
            <a:cxnLst/>
            <a:rect l="l" t="t" r="r" b="b"/>
            <a:pathLst>
              <a:path w="641985" h="304800">
                <a:moveTo>
                  <a:pt x="0" y="0"/>
                </a:moveTo>
                <a:lnTo>
                  <a:pt x="641794" y="0"/>
                </a:lnTo>
                <a:lnTo>
                  <a:pt x="641794" y="304799"/>
                </a:lnTo>
                <a:lnTo>
                  <a:pt x="0" y="304799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4058263" y="5841384"/>
            <a:ext cx="457200" cy="1905"/>
          </a:xfrm>
          <a:custGeom>
            <a:avLst/>
            <a:gdLst/>
            <a:ahLst/>
            <a:cxnLst/>
            <a:rect l="l" t="t" r="r" b="b"/>
            <a:pathLst>
              <a:path w="457200" h="1904">
                <a:moveTo>
                  <a:pt x="0" y="0"/>
                </a:moveTo>
                <a:lnTo>
                  <a:pt x="457200" y="1587"/>
                </a:lnTo>
              </a:path>
            </a:pathLst>
          </a:custGeom>
          <a:ln w="38100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 txBox="1"/>
          <p:nvPr/>
        </p:nvSpPr>
        <p:spPr>
          <a:xfrm>
            <a:off x="2215514" y="5689777"/>
            <a:ext cx="718185" cy="304800"/>
          </a:xfrm>
          <a:prstGeom prst="rect">
            <a:avLst/>
          </a:prstGeom>
          <a:solidFill>
            <a:srgbClr val="FF9999"/>
          </a:solidFill>
          <a:ln w="2857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20345">
              <a:lnSpc>
                <a:spcPct val="100000"/>
              </a:lnSpc>
            </a:pPr>
            <a:r>
              <a:rPr sz="1500" b="1" spc="-25" dirty="0">
                <a:latin typeface="Calibri"/>
                <a:cs typeface="Calibri"/>
              </a:rPr>
              <a:t>t</a:t>
            </a:r>
            <a:r>
              <a:rPr sz="1500" b="1" spc="-5" dirty="0">
                <a:latin typeface="Calibri"/>
                <a:cs typeface="Calibri"/>
              </a:rPr>
              <a:t>a</a:t>
            </a:r>
            <a:r>
              <a:rPr sz="1500" b="1" dirty="0">
                <a:latin typeface="Calibri"/>
                <a:cs typeface="Calibri"/>
              </a:rPr>
              <a:t>g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1746504" y="5689777"/>
            <a:ext cx="273050" cy="304800"/>
          </a:xfrm>
          <a:custGeom>
            <a:avLst/>
            <a:gdLst/>
            <a:ahLst/>
            <a:cxnLst/>
            <a:rect l="l" t="t" r="r" b="b"/>
            <a:pathLst>
              <a:path w="273050" h="304800">
                <a:moveTo>
                  <a:pt x="0" y="0"/>
                </a:moveTo>
                <a:lnTo>
                  <a:pt x="272605" y="0"/>
                </a:lnTo>
                <a:lnTo>
                  <a:pt x="272605" y="304799"/>
                </a:lnTo>
                <a:lnTo>
                  <a:pt x="0" y="3047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1746504" y="5689777"/>
            <a:ext cx="273050" cy="304800"/>
          </a:xfrm>
          <a:custGeom>
            <a:avLst/>
            <a:gdLst/>
            <a:ahLst/>
            <a:cxnLst/>
            <a:rect l="l" t="t" r="r" b="b"/>
            <a:pathLst>
              <a:path w="273050" h="304800">
                <a:moveTo>
                  <a:pt x="0" y="0"/>
                </a:moveTo>
                <a:lnTo>
                  <a:pt x="272605" y="0"/>
                </a:lnTo>
                <a:lnTo>
                  <a:pt x="272605" y="304799"/>
                </a:lnTo>
                <a:lnTo>
                  <a:pt x="0" y="304799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 txBox="1"/>
          <p:nvPr/>
        </p:nvSpPr>
        <p:spPr>
          <a:xfrm>
            <a:off x="1822579" y="5746038"/>
            <a:ext cx="121920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spc="-5" dirty="0">
                <a:latin typeface="Calibri"/>
                <a:cs typeface="Calibri"/>
              </a:rPr>
              <a:t>v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2019112" y="5986395"/>
            <a:ext cx="1905" cy="304800"/>
          </a:xfrm>
          <a:custGeom>
            <a:avLst/>
            <a:gdLst/>
            <a:ahLst/>
            <a:cxnLst/>
            <a:rect l="l" t="t" r="r" b="b"/>
            <a:pathLst>
              <a:path w="1905" h="304800">
                <a:moveTo>
                  <a:pt x="0" y="304800"/>
                </a:moveTo>
                <a:lnTo>
                  <a:pt x="1587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3130983" y="6171666"/>
            <a:ext cx="1905000" cy="228600"/>
          </a:xfrm>
          <a:custGeom>
            <a:avLst/>
            <a:gdLst/>
            <a:ahLst/>
            <a:cxnLst/>
            <a:rect l="l" t="t" r="r" b="b"/>
            <a:pathLst>
              <a:path w="1905000" h="228600">
                <a:moveTo>
                  <a:pt x="0" y="0"/>
                </a:moveTo>
                <a:lnTo>
                  <a:pt x="15962" y="36129"/>
                </a:lnTo>
                <a:lnTo>
                  <a:pt x="46911" y="60210"/>
                </a:lnTo>
                <a:lnTo>
                  <a:pt x="91708" y="80824"/>
                </a:lnTo>
                <a:lnTo>
                  <a:pt x="128192" y="92248"/>
                </a:lnTo>
                <a:lnTo>
                  <a:pt x="169220" y="101543"/>
                </a:lnTo>
                <a:lnTo>
                  <a:pt x="214146" y="108473"/>
                </a:lnTo>
                <a:lnTo>
                  <a:pt x="262327" y="112804"/>
                </a:lnTo>
                <a:lnTo>
                  <a:pt x="313118" y="114300"/>
                </a:lnTo>
                <a:lnTo>
                  <a:pt x="639381" y="114300"/>
                </a:lnTo>
                <a:lnTo>
                  <a:pt x="665062" y="114678"/>
                </a:lnTo>
                <a:lnTo>
                  <a:pt x="714629" y="117621"/>
                </a:lnTo>
                <a:lnTo>
                  <a:pt x="761263" y="123281"/>
                </a:lnTo>
                <a:lnTo>
                  <a:pt x="804321" y="131423"/>
                </a:lnTo>
                <a:lnTo>
                  <a:pt x="843157" y="141812"/>
                </a:lnTo>
                <a:lnTo>
                  <a:pt x="892087" y="161093"/>
                </a:lnTo>
                <a:lnTo>
                  <a:pt x="927894" y="184106"/>
                </a:lnTo>
                <a:lnTo>
                  <a:pt x="951462" y="219224"/>
                </a:lnTo>
                <a:lnTo>
                  <a:pt x="952500" y="228600"/>
                </a:lnTo>
                <a:lnTo>
                  <a:pt x="953537" y="219224"/>
                </a:lnTo>
                <a:lnTo>
                  <a:pt x="977105" y="184106"/>
                </a:lnTo>
                <a:lnTo>
                  <a:pt x="1012912" y="161093"/>
                </a:lnTo>
                <a:lnTo>
                  <a:pt x="1061842" y="141812"/>
                </a:lnTo>
                <a:lnTo>
                  <a:pt x="1100678" y="131423"/>
                </a:lnTo>
                <a:lnTo>
                  <a:pt x="1143736" y="123281"/>
                </a:lnTo>
                <a:lnTo>
                  <a:pt x="1190370" y="117621"/>
                </a:lnTo>
                <a:lnTo>
                  <a:pt x="1239937" y="114678"/>
                </a:lnTo>
                <a:lnTo>
                  <a:pt x="1265618" y="114300"/>
                </a:lnTo>
                <a:lnTo>
                  <a:pt x="1591881" y="114300"/>
                </a:lnTo>
                <a:lnTo>
                  <a:pt x="1617562" y="113921"/>
                </a:lnTo>
                <a:lnTo>
                  <a:pt x="1667129" y="110978"/>
                </a:lnTo>
                <a:lnTo>
                  <a:pt x="1713763" y="105318"/>
                </a:lnTo>
                <a:lnTo>
                  <a:pt x="1756821" y="97176"/>
                </a:lnTo>
                <a:lnTo>
                  <a:pt x="1795657" y="86787"/>
                </a:lnTo>
                <a:lnTo>
                  <a:pt x="1844587" y="67506"/>
                </a:lnTo>
                <a:lnTo>
                  <a:pt x="1880394" y="44493"/>
                </a:lnTo>
                <a:lnTo>
                  <a:pt x="1903962" y="9375"/>
                </a:lnTo>
                <a:lnTo>
                  <a:pt x="19050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 txBox="1"/>
          <p:nvPr/>
        </p:nvSpPr>
        <p:spPr>
          <a:xfrm>
            <a:off x="6327140" y="2588319"/>
            <a:ext cx="1639570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altLang="zh-CN" b="1" dirty="0">
                <a:latin typeface="Calibri"/>
                <a:cs typeface="Calibri"/>
              </a:rPr>
              <a:t>word</a:t>
            </a:r>
            <a:r>
              <a:rPr lang="zh-CN" altLang="en-US" sz="1800" b="1" dirty="0">
                <a:latin typeface="Calibri"/>
                <a:cs typeface="Calibri"/>
              </a:rPr>
              <a:t>地址</a:t>
            </a:r>
            <a:r>
              <a:rPr sz="1800" b="1" dirty="0">
                <a:latin typeface="Calibri"/>
                <a:cs typeface="Calibri"/>
              </a:rPr>
              <a:t>: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67" name="object 67"/>
          <p:cNvSpPr/>
          <p:nvPr/>
        </p:nvSpPr>
        <p:spPr>
          <a:xfrm>
            <a:off x="6337479" y="3203216"/>
            <a:ext cx="990600" cy="226060"/>
          </a:xfrm>
          <a:custGeom>
            <a:avLst/>
            <a:gdLst/>
            <a:ahLst/>
            <a:cxnLst/>
            <a:rect l="l" t="t" r="r" b="b"/>
            <a:pathLst>
              <a:path w="990600" h="226060">
                <a:moveTo>
                  <a:pt x="0" y="0"/>
                </a:moveTo>
                <a:lnTo>
                  <a:pt x="13114" y="43923"/>
                </a:lnTo>
                <a:lnTo>
                  <a:pt x="48931" y="79959"/>
                </a:lnTo>
                <a:lnTo>
                  <a:pt x="87512" y="99690"/>
                </a:lnTo>
                <a:lnTo>
                  <a:pt x="133657" y="111514"/>
                </a:lnTo>
                <a:lnTo>
                  <a:pt x="323850" y="114300"/>
                </a:lnTo>
                <a:lnTo>
                  <a:pt x="341140" y="114873"/>
                </a:lnTo>
                <a:lnTo>
                  <a:pt x="389732" y="123042"/>
                </a:lnTo>
                <a:lnTo>
                  <a:pt x="431671" y="139724"/>
                </a:lnTo>
                <a:lnTo>
                  <a:pt x="464725" y="163432"/>
                </a:lnTo>
                <a:lnTo>
                  <a:pt x="491121" y="203403"/>
                </a:lnTo>
                <a:lnTo>
                  <a:pt x="495255" y="225980"/>
                </a:lnTo>
                <a:lnTo>
                  <a:pt x="496136" y="214833"/>
                </a:lnTo>
                <a:lnTo>
                  <a:pt x="515698" y="173601"/>
                </a:lnTo>
                <a:lnTo>
                  <a:pt x="544851" y="147882"/>
                </a:lnTo>
                <a:lnTo>
                  <a:pt x="583888" y="128425"/>
                </a:lnTo>
                <a:lnTo>
                  <a:pt x="630535" y="116848"/>
                </a:lnTo>
                <a:lnTo>
                  <a:pt x="819150" y="114300"/>
                </a:lnTo>
                <a:lnTo>
                  <a:pt x="836440" y="113726"/>
                </a:lnTo>
                <a:lnTo>
                  <a:pt x="885032" y="105557"/>
                </a:lnTo>
                <a:lnTo>
                  <a:pt x="926971" y="88875"/>
                </a:lnTo>
                <a:lnTo>
                  <a:pt x="960025" y="65167"/>
                </a:lnTo>
                <a:lnTo>
                  <a:pt x="986421" y="25196"/>
                </a:lnTo>
                <a:lnTo>
                  <a:pt x="989312" y="14077"/>
                </a:lnTo>
                <a:lnTo>
                  <a:pt x="990555" y="2619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7328080" y="3200401"/>
            <a:ext cx="762000" cy="226060"/>
          </a:xfrm>
          <a:custGeom>
            <a:avLst/>
            <a:gdLst/>
            <a:ahLst/>
            <a:cxnLst/>
            <a:rect l="l" t="t" r="r" b="b"/>
            <a:pathLst>
              <a:path w="762000" h="226060">
                <a:moveTo>
                  <a:pt x="0" y="0"/>
                </a:moveTo>
                <a:lnTo>
                  <a:pt x="13114" y="43923"/>
                </a:lnTo>
                <a:lnTo>
                  <a:pt x="48931" y="79959"/>
                </a:lnTo>
                <a:lnTo>
                  <a:pt x="87512" y="99690"/>
                </a:lnTo>
                <a:lnTo>
                  <a:pt x="133657" y="111514"/>
                </a:lnTo>
                <a:lnTo>
                  <a:pt x="209550" y="114300"/>
                </a:lnTo>
                <a:lnTo>
                  <a:pt x="226840" y="114873"/>
                </a:lnTo>
                <a:lnTo>
                  <a:pt x="275432" y="123042"/>
                </a:lnTo>
                <a:lnTo>
                  <a:pt x="317371" y="139724"/>
                </a:lnTo>
                <a:lnTo>
                  <a:pt x="350425" y="163432"/>
                </a:lnTo>
                <a:lnTo>
                  <a:pt x="376821" y="203403"/>
                </a:lnTo>
                <a:lnTo>
                  <a:pt x="380955" y="225980"/>
                </a:lnTo>
                <a:lnTo>
                  <a:pt x="381836" y="214833"/>
                </a:lnTo>
                <a:lnTo>
                  <a:pt x="401398" y="173601"/>
                </a:lnTo>
                <a:lnTo>
                  <a:pt x="430551" y="147882"/>
                </a:lnTo>
                <a:lnTo>
                  <a:pt x="469588" y="128425"/>
                </a:lnTo>
                <a:lnTo>
                  <a:pt x="516235" y="116848"/>
                </a:lnTo>
                <a:lnTo>
                  <a:pt x="590550" y="114300"/>
                </a:lnTo>
                <a:lnTo>
                  <a:pt x="607840" y="113726"/>
                </a:lnTo>
                <a:lnTo>
                  <a:pt x="656432" y="105557"/>
                </a:lnTo>
                <a:lnTo>
                  <a:pt x="698371" y="88875"/>
                </a:lnTo>
                <a:lnTo>
                  <a:pt x="731425" y="65167"/>
                </a:lnTo>
                <a:lnTo>
                  <a:pt x="757821" y="25196"/>
                </a:lnTo>
                <a:lnTo>
                  <a:pt x="760712" y="14077"/>
                </a:lnTo>
                <a:lnTo>
                  <a:pt x="761955" y="2619"/>
                </a:lnTo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8090077" y="3200401"/>
            <a:ext cx="609600" cy="228600"/>
          </a:xfrm>
          <a:custGeom>
            <a:avLst/>
            <a:gdLst/>
            <a:ahLst/>
            <a:cxnLst/>
            <a:rect l="l" t="t" r="r" b="b"/>
            <a:pathLst>
              <a:path w="609600" h="228600">
                <a:moveTo>
                  <a:pt x="0" y="0"/>
                </a:moveTo>
                <a:lnTo>
                  <a:pt x="13565" y="47209"/>
                </a:lnTo>
                <a:lnTo>
                  <a:pt x="39265" y="76583"/>
                </a:lnTo>
                <a:lnTo>
                  <a:pt x="75483" y="98695"/>
                </a:lnTo>
                <a:lnTo>
                  <a:pt x="119708" y="111663"/>
                </a:lnTo>
                <a:lnTo>
                  <a:pt x="169004" y="114970"/>
                </a:lnTo>
                <a:lnTo>
                  <a:pt x="185091" y="116936"/>
                </a:lnTo>
                <a:lnTo>
                  <a:pt x="229316" y="129904"/>
                </a:lnTo>
                <a:lnTo>
                  <a:pt x="265534" y="152016"/>
                </a:lnTo>
                <a:lnTo>
                  <a:pt x="291234" y="181390"/>
                </a:lnTo>
                <a:lnTo>
                  <a:pt x="304800" y="228600"/>
                </a:lnTo>
                <a:lnTo>
                  <a:pt x="305694" y="216144"/>
                </a:lnTo>
                <a:lnTo>
                  <a:pt x="325608" y="170908"/>
                </a:lnTo>
                <a:lnTo>
                  <a:pt x="355093" y="143745"/>
                </a:lnTo>
                <a:lnTo>
                  <a:pt x="394259" y="124472"/>
                </a:lnTo>
                <a:lnTo>
                  <a:pt x="440595" y="114970"/>
                </a:lnTo>
                <a:lnTo>
                  <a:pt x="473804" y="113629"/>
                </a:lnTo>
                <a:lnTo>
                  <a:pt x="489891" y="111663"/>
                </a:lnTo>
                <a:lnTo>
                  <a:pt x="534116" y="98695"/>
                </a:lnTo>
                <a:lnTo>
                  <a:pt x="570334" y="76583"/>
                </a:lnTo>
                <a:lnTo>
                  <a:pt x="596034" y="47209"/>
                </a:lnTo>
                <a:lnTo>
                  <a:pt x="608705" y="12455"/>
                </a:lnTo>
                <a:lnTo>
                  <a:pt x="6096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 txBox="1"/>
          <p:nvPr/>
        </p:nvSpPr>
        <p:spPr>
          <a:xfrm>
            <a:off x="6596072" y="3446405"/>
            <a:ext cx="473413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zh-CN" altLang="en-US" sz="1800" dirty="0">
                <a:latin typeface="Calibri"/>
                <a:cs typeface="Calibri"/>
              </a:rPr>
              <a:t>标记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7440693" y="3439464"/>
            <a:ext cx="546735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116839">
              <a:lnSpc>
                <a:spcPct val="100000"/>
              </a:lnSpc>
            </a:pPr>
            <a:r>
              <a:rPr lang="zh-CN" altLang="en-US" sz="1800" dirty="0">
                <a:latin typeface="Calibri"/>
                <a:cs typeface="Calibri"/>
              </a:rPr>
              <a:t>组索引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8115292" y="3439464"/>
            <a:ext cx="575310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19050" algn="ctr">
              <a:lnSpc>
                <a:spcPct val="100000"/>
              </a:lnSpc>
            </a:pPr>
            <a:r>
              <a:rPr lang="zh-CN" altLang="en-US" sz="1800" dirty="0">
                <a:latin typeface="Calibri"/>
                <a:cs typeface="Calibri"/>
              </a:rPr>
              <a:t>块偏移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73" name="object 73"/>
          <p:cNvSpPr/>
          <p:nvPr/>
        </p:nvSpPr>
        <p:spPr>
          <a:xfrm>
            <a:off x="5791201" y="4010798"/>
            <a:ext cx="1922145" cy="524510"/>
          </a:xfrm>
          <a:custGeom>
            <a:avLst/>
            <a:gdLst/>
            <a:ahLst/>
            <a:cxnLst/>
            <a:rect l="l" t="t" r="r" b="b"/>
            <a:pathLst>
              <a:path w="1922145" h="524510">
                <a:moveTo>
                  <a:pt x="1921700" y="0"/>
                </a:moveTo>
                <a:lnTo>
                  <a:pt x="1921700" y="524243"/>
                </a:lnTo>
                <a:lnTo>
                  <a:pt x="0" y="524243"/>
                </a:lnTo>
              </a:path>
            </a:pathLst>
          </a:custGeom>
          <a:ln w="25400">
            <a:solidFill>
              <a:srgbClr val="2626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3787804" y="4010798"/>
            <a:ext cx="4615180" cy="1679575"/>
          </a:xfrm>
          <a:custGeom>
            <a:avLst/>
            <a:gdLst/>
            <a:ahLst/>
            <a:cxnLst/>
            <a:rect l="l" t="t" r="r" b="b"/>
            <a:pathLst>
              <a:path w="4615180" h="1679575">
                <a:moveTo>
                  <a:pt x="4614722" y="0"/>
                </a:moveTo>
                <a:lnTo>
                  <a:pt x="4614722" y="1071308"/>
                </a:lnTo>
                <a:lnTo>
                  <a:pt x="0" y="1071308"/>
                </a:lnTo>
                <a:lnTo>
                  <a:pt x="0" y="1678978"/>
                </a:lnTo>
              </a:path>
            </a:pathLst>
          </a:custGeom>
          <a:ln w="25400">
            <a:solidFill>
              <a:srgbClr val="2626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 txBox="1"/>
          <p:nvPr/>
        </p:nvSpPr>
        <p:spPr>
          <a:xfrm>
            <a:off x="6550037" y="5120360"/>
            <a:ext cx="1841500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zh-CN" altLang="en-US" sz="1400" b="1" dirty="0">
                <a:solidFill>
                  <a:srgbClr val="262699"/>
                </a:solidFill>
                <a:latin typeface="Calibri"/>
                <a:cs typeface="Calibri"/>
              </a:rPr>
              <a:t>数据从这个偏移开始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6311010" y="531672"/>
            <a:ext cx="2416175" cy="1661993"/>
          </a:xfrm>
          <a:prstGeom prst="rect">
            <a:avLst/>
          </a:prstGeom>
          <a:solidFill>
            <a:srgbClr val="E7E7E7"/>
          </a:solidFill>
        </p:spPr>
        <p:txBody>
          <a:bodyPr vert="horz" wrap="square" lIns="0" tIns="0" rIns="0" bIns="0" rtlCol="0">
            <a:spAutoFit/>
          </a:bodyPr>
          <a:lstStyle/>
          <a:p>
            <a:pPr marL="207010" indent="-115570">
              <a:lnSpc>
                <a:spcPct val="100000"/>
              </a:lnSpc>
              <a:buFont typeface="Arial"/>
              <a:buChar char="•"/>
              <a:tabLst>
                <a:tab pos="207645" algn="l"/>
              </a:tabLst>
            </a:pPr>
            <a:r>
              <a:rPr lang="zh-CN" altLang="en-US" b="1" i="1" spc="-15" dirty="0">
                <a:solidFill>
                  <a:srgbClr val="C00000"/>
                </a:solidFill>
                <a:latin typeface="Calibri"/>
                <a:cs typeface="Calibri"/>
              </a:rPr>
              <a:t>定位集</a:t>
            </a:r>
            <a:endParaRPr lang="en-US" altLang="zh-CN" b="1" i="1" spc="-15" dirty="0">
              <a:solidFill>
                <a:srgbClr val="C00000"/>
              </a:solidFill>
              <a:latin typeface="Calibri"/>
              <a:cs typeface="Calibri"/>
            </a:endParaRPr>
          </a:p>
          <a:p>
            <a:pPr marL="207010" indent="-115570">
              <a:lnSpc>
                <a:spcPct val="100000"/>
              </a:lnSpc>
              <a:buFont typeface="Arial"/>
              <a:buChar char="•"/>
              <a:tabLst>
                <a:tab pos="207645" algn="l"/>
              </a:tabLst>
            </a:pPr>
            <a:r>
              <a:rPr lang="zh-CN" altLang="en-US" b="1" i="1" spc="-15" dirty="0">
                <a:solidFill>
                  <a:srgbClr val="C00000"/>
                </a:solidFill>
                <a:latin typeface="Calibri"/>
                <a:cs typeface="Calibri"/>
              </a:rPr>
              <a:t>检查集合中的任何行是否具有匹配标记</a:t>
            </a:r>
            <a:endParaRPr lang="en-US" altLang="zh-CN" b="1" i="1" spc="-15" dirty="0">
              <a:solidFill>
                <a:srgbClr val="C00000"/>
              </a:solidFill>
              <a:latin typeface="Calibri"/>
              <a:cs typeface="Calibri"/>
            </a:endParaRPr>
          </a:p>
          <a:p>
            <a:pPr marL="207010" indent="-115570">
              <a:lnSpc>
                <a:spcPct val="100000"/>
              </a:lnSpc>
              <a:buFont typeface="Arial"/>
              <a:buChar char="•"/>
              <a:tabLst>
                <a:tab pos="207645" algn="l"/>
              </a:tabLst>
            </a:pPr>
            <a:r>
              <a:rPr lang="zh-CN" altLang="en-US" b="1" i="1" spc="-15" dirty="0">
                <a:solidFill>
                  <a:srgbClr val="C00000"/>
                </a:solidFill>
                <a:latin typeface="Calibri"/>
                <a:cs typeface="Calibri"/>
              </a:rPr>
              <a:t>是</a:t>
            </a:r>
            <a:r>
              <a:rPr lang="en-US" altLang="zh-CN" b="1" i="1" spc="-15" dirty="0">
                <a:solidFill>
                  <a:srgbClr val="C00000"/>
                </a:solidFill>
                <a:latin typeface="Calibri"/>
                <a:cs typeface="Calibri"/>
              </a:rPr>
              <a:t>+</a:t>
            </a:r>
            <a:r>
              <a:rPr lang="zh-CN" altLang="en-US" b="1" i="1" spc="-15" dirty="0">
                <a:solidFill>
                  <a:srgbClr val="C00000"/>
                </a:solidFill>
                <a:latin typeface="Calibri"/>
                <a:cs typeface="Calibri"/>
              </a:rPr>
              <a:t>行有效：命中</a:t>
            </a:r>
            <a:endParaRPr lang="en-US" altLang="zh-CN" b="1" i="1" spc="-15" dirty="0">
              <a:solidFill>
                <a:srgbClr val="C00000"/>
              </a:solidFill>
              <a:latin typeface="Calibri"/>
              <a:cs typeface="Calibri"/>
            </a:endParaRPr>
          </a:p>
          <a:p>
            <a:pPr marL="207010" indent="-115570">
              <a:lnSpc>
                <a:spcPct val="100000"/>
              </a:lnSpc>
              <a:buFont typeface="Arial"/>
              <a:buChar char="•"/>
              <a:tabLst>
                <a:tab pos="207645" algn="l"/>
              </a:tabLst>
            </a:pPr>
            <a:r>
              <a:rPr lang="zh-CN" altLang="en-US" b="1" i="1" spc="-15" dirty="0">
                <a:solidFill>
                  <a:srgbClr val="C00000"/>
                </a:solidFill>
                <a:latin typeface="Calibri"/>
                <a:cs typeface="Calibri"/>
              </a:rPr>
              <a:t>从偏移量开始定位数据</a:t>
            </a:r>
            <a:endParaRPr sz="1800" dirty="0">
              <a:latin typeface="Calibri"/>
              <a:cs typeface="Calibri"/>
            </a:endParaRPr>
          </a:p>
        </p:txBody>
      </p:sp>
      <p:graphicFrame>
        <p:nvGraphicFramePr>
          <p:cNvPr id="65" name="object 65"/>
          <p:cNvGraphicFramePr>
            <a:graphicFrameLocks noGrp="1"/>
          </p:cNvGraphicFramePr>
          <p:nvPr/>
        </p:nvGraphicFramePr>
        <p:xfrm>
          <a:off x="6331127" y="2846997"/>
          <a:ext cx="2438400" cy="27085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0852">
                <a:tc>
                  <a:txBody>
                    <a:bodyPr/>
                    <a:lstStyle/>
                    <a:p>
                      <a:pPr marL="276225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t</a:t>
                      </a:r>
                      <a:r>
                        <a:rPr sz="1600" b="1" spc="-5" dirty="0">
                          <a:latin typeface="Calibri"/>
                          <a:cs typeface="Calibri"/>
                        </a:rPr>
                        <a:t> b</a:t>
                      </a:r>
                      <a:r>
                        <a:rPr sz="1600" b="1" dirty="0">
                          <a:latin typeface="Calibri"/>
                          <a:cs typeface="Calibri"/>
                        </a:rPr>
                        <a:t>i</a:t>
                      </a:r>
                      <a:r>
                        <a:rPr sz="1600" b="1" spc="-5" dirty="0">
                          <a:latin typeface="Calibri"/>
                          <a:cs typeface="Calibri"/>
                        </a:rPr>
                        <a:t>ts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marL="155575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s</a:t>
                      </a:r>
                      <a:r>
                        <a:rPr sz="1600" b="1" spc="-5" dirty="0">
                          <a:latin typeface="Calibri"/>
                          <a:cs typeface="Calibri"/>
                        </a:rPr>
                        <a:t> b</a:t>
                      </a:r>
                      <a:r>
                        <a:rPr sz="1600" b="1" dirty="0">
                          <a:latin typeface="Calibri"/>
                          <a:cs typeface="Calibri"/>
                        </a:rPr>
                        <a:t>i</a:t>
                      </a:r>
                      <a:r>
                        <a:rPr sz="1600" b="1" spc="-5" dirty="0">
                          <a:latin typeface="Calibri"/>
                          <a:cs typeface="Calibri"/>
                        </a:rPr>
                        <a:t>t</a:t>
                      </a:r>
                      <a:r>
                        <a:rPr sz="1600" b="1" dirty="0">
                          <a:latin typeface="Calibri"/>
                          <a:cs typeface="Calibri"/>
                        </a:rPr>
                        <a:t>s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b</a:t>
                      </a:r>
                      <a:r>
                        <a:rPr sz="1600" b="1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5" dirty="0">
                          <a:latin typeface="Calibri"/>
                          <a:cs typeface="Calibri"/>
                        </a:rPr>
                        <a:t>b</a:t>
                      </a:r>
                      <a:r>
                        <a:rPr sz="1600" b="1" dirty="0">
                          <a:latin typeface="Calibri"/>
                          <a:cs typeface="Calibri"/>
                        </a:rPr>
                        <a:t>i</a:t>
                      </a:r>
                      <a:r>
                        <a:rPr sz="1600" b="1" spc="-5" dirty="0">
                          <a:latin typeface="Calibri"/>
                          <a:cs typeface="Calibri"/>
                        </a:rPr>
                        <a:t>t</a:t>
                      </a:r>
                      <a:r>
                        <a:rPr sz="1600" b="1" dirty="0">
                          <a:latin typeface="Calibri"/>
                          <a:cs typeface="Calibri"/>
                        </a:rPr>
                        <a:t>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9" name="object 19"/>
          <p:cNvSpPr txBox="1"/>
          <p:nvPr/>
        </p:nvSpPr>
        <p:spPr>
          <a:xfrm>
            <a:off x="2933699" y="1408924"/>
            <a:ext cx="3573779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zh-CN" altLang="en-US" sz="1800" b="1" spc="-5" dirty="0">
                <a:latin typeface="Calibri"/>
                <a:cs typeface="Calibri"/>
              </a:rPr>
              <a:t>每组有</a:t>
            </a:r>
            <a:r>
              <a:rPr sz="1800" b="1" spc="-5" dirty="0">
                <a:latin typeface="Calibri"/>
                <a:cs typeface="Calibri"/>
              </a:rPr>
              <a:t>E =</a:t>
            </a:r>
            <a:r>
              <a:rPr sz="1800" b="1" spc="1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2</a:t>
            </a:r>
            <a:r>
              <a:rPr sz="1800" b="1" baseline="25462" dirty="0">
                <a:latin typeface="Calibri"/>
                <a:cs typeface="Calibri"/>
              </a:rPr>
              <a:t>e</a:t>
            </a:r>
            <a:r>
              <a:rPr sz="1800" b="1" spc="195" baseline="25462" dirty="0">
                <a:latin typeface="Calibri"/>
                <a:cs typeface="Calibri"/>
              </a:rPr>
              <a:t> </a:t>
            </a:r>
            <a:r>
              <a:rPr lang="zh-CN" altLang="en-US" sz="1800" b="1" spc="195" baseline="25462" dirty="0">
                <a:latin typeface="Calibri"/>
                <a:cs typeface="Calibri"/>
              </a:rPr>
              <a:t>行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80" name="object 20"/>
          <p:cNvSpPr txBox="1"/>
          <p:nvPr/>
        </p:nvSpPr>
        <p:spPr>
          <a:xfrm>
            <a:off x="410358" y="3307905"/>
            <a:ext cx="958215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5" dirty="0">
                <a:latin typeface="Calibri"/>
                <a:cs typeface="Calibri"/>
              </a:rPr>
              <a:t>S =</a:t>
            </a:r>
            <a:r>
              <a:rPr sz="1800" b="1" spc="1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2</a:t>
            </a:r>
            <a:r>
              <a:rPr sz="1800" b="1" baseline="25462" dirty="0">
                <a:latin typeface="Calibri"/>
                <a:cs typeface="Calibri"/>
              </a:rPr>
              <a:t>s </a:t>
            </a:r>
            <a:r>
              <a:rPr sz="1800" b="1" spc="-202" baseline="25462" dirty="0">
                <a:latin typeface="Calibri"/>
                <a:cs typeface="Calibri"/>
              </a:rPr>
              <a:t> </a:t>
            </a:r>
            <a:r>
              <a:rPr lang="zh-CN" altLang="en-US" sz="1800" b="1" spc="-202" baseline="25462" dirty="0">
                <a:latin typeface="Calibri"/>
                <a:cs typeface="Calibri"/>
              </a:rPr>
              <a:t>组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81" name="object 55"/>
          <p:cNvSpPr txBox="1"/>
          <p:nvPr/>
        </p:nvSpPr>
        <p:spPr>
          <a:xfrm>
            <a:off x="1746504" y="6385263"/>
            <a:ext cx="788035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zh-CN" altLang="en-US" sz="1800" dirty="0">
                <a:latin typeface="Calibri"/>
                <a:cs typeface="Calibri"/>
              </a:rPr>
              <a:t>有效位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82" name="object 53"/>
          <p:cNvSpPr txBox="1"/>
          <p:nvPr/>
        </p:nvSpPr>
        <p:spPr>
          <a:xfrm>
            <a:off x="3079866" y="6437900"/>
            <a:ext cx="3641090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zh-CN" altLang="en-US" b="1" spc="-179" baseline="25462" dirty="0">
                <a:latin typeface="Calibri"/>
                <a:cs typeface="Calibri"/>
              </a:rPr>
              <a:t>每个高速缓存块有  </a:t>
            </a:r>
            <a:r>
              <a:rPr sz="1800" b="1" spc="-5" dirty="0">
                <a:latin typeface="Calibri"/>
                <a:cs typeface="Calibri"/>
              </a:rPr>
              <a:t>B</a:t>
            </a:r>
            <a:r>
              <a:rPr sz="1800" b="1" spc="1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=</a:t>
            </a:r>
            <a:r>
              <a:rPr sz="1800" b="1" spc="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2</a:t>
            </a:r>
            <a:r>
              <a:rPr sz="1800" b="1" spc="-7" baseline="25462" dirty="0">
                <a:latin typeface="Calibri"/>
                <a:cs typeface="Calibri"/>
              </a:rPr>
              <a:t>b</a:t>
            </a:r>
            <a:r>
              <a:rPr sz="1800" b="1" baseline="25462" dirty="0">
                <a:latin typeface="Calibri"/>
                <a:cs typeface="Calibri"/>
              </a:rPr>
              <a:t> </a:t>
            </a:r>
            <a:r>
              <a:rPr sz="1800" b="1" spc="-179" baseline="25462" dirty="0">
                <a:latin typeface="Calibri"/>
                <a:cs typeface="Calibri"/>
              </a:rPr>
              <a:t> </a:t>
            </a:r>
            <a:r>
              <a:rPr lang="zh-CN" altLang="en-US" sz="1800" b="1" spc="-179" baseline="25462" dirty="0">
                <a:latin typeface="Calibri"/>
                <a:cs typeface="Calibri"/>
              </a:rPr>
              <a:t>字节</a:t>
            </a:r>
            <a:endParaRPr sz="1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74650" y="330564"/>
            <a:ext cx="7591425" cy="843822"/>
          </a:xfrm>
          <a:prstGeom prst="rect">
            <a:avLst/>
          </a:prstGeom>
        </p:spPr>
        <p:txBody>
          <a:bodyPr vert="horz" wrap="square" lIns="0" tIns="287021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zh-CN" altLang="en-US" dirty="0"/>
              <a:t>例子</a:t>
            </a:r>
            <a:r>
              <a:rPr dirty="0"/>
              <a:t>:</a:t>
            </a:r>
            <a:r>
              <a:rPr spc="-20" dirty="0"/>
              <a:t> </a:t>
            </a:r>
            <a:r>
              <a:rPr lang="zh-CN" altLang="en-US" spc="-20" dirty="0"/>
              <a:t>直接映射高级缓存</a:t>
            </a:r>
            <a:r>
              <a:rPr spc="-15" dirty="0"/>
              <a:t>(</a:t>
            </a:r>
            <a:r>
              <a:rPr spc="-5" dirty="0"/>
              <a:t>E</a:t>
            </a:r>
            <a:r>
              <a:rPr spc="10" dirty="0"/>
              <a:t> </a:t>
            </a:r>
            <a:r>
              <a:rPr dirty="0"/>
              <a:t>=</a:t>
            </a:r>
            <a:r>
              <a:rPr spc="-20" dirty="0"/>
              <a:t> </a:t>
            </a:r>
            <a:r>
              <a:rPr spc="-5" dirty="0"/>
              <a:t>1)</a:t>
            </a:r>
          </a:p>
        </p:txBody>
      </p:sp>
      <p:sp>
        <p:nvSpPr>
          <p:cNvPr id="4" name="object 4"/>
          <p:cNvSpPr/>
          <p:nvPr/>
        </p:nvSpPr>
        <p:spPr>
          <a:xfrm>
            <a:off x="1175485" y="2448781"/>
            <a:ext cx="226060" cy="2961640"/>
          </a:xfrm>
          <a:custGeom>
            <a:avLst/>
            <a:gdLst/>
            <a:ahLst/>
            <a:cxnLst/>
            <a:rect l="l" t="t" r="r" b="b"/>
            <a:pathLst>
              <a:path w="226059" h="2961640">
                <a:moveTo>
                  <a:pt x="225980" y="2961418"/>
                </a:moveTo>
                <a:lnTo>
                  <a:pt x="182057" y="2948303"/>
                </a:lnTo>
                <a:lnTo>
                  <a:pt x="146021" y="2912486"/>
                </a:lnTo>
                <a:lnTo>
                  <a:pt x="126290" y="2873905"/>
                </a:lnTo>
                <a:lnTo>
                  <a:pt x="114466" y="2827760"/>
                </a:lnTo>
                <a:lnTo>
                  <a:pt x="111680" y="1652136"/>
                </a:lnTo>
                <a:lnTo>
                  <a:pt x="111106" y="1634846"/>
                </a:lnTo>
                <a:lnTo>
                  <a:pt x="102938" y="1586254"/>
                </a:lnTo>
                <a:lnTo>
                  <a:pt x="86256" y="1544315"/>
                </a:lnTo>
                <a:lnTo>
                  <a:pt x="62548" y="1511261"/>
                </a:lnTo>
                <a:lnTo>
                  <a:pt x="22577" y="1484865"/>
                </a:lnTo>
                <a:lnTo>
                  <a:pt x="0" y="1480731"/>
                </a:lnTo>
                <a:lnTo>
                  <a:pt x="11147" y="1479850"/>
                </a:lnTo>
                <a:lnTo>
                  <a:pt x="52379" y="1460288"/>
                </a:lnTo>
                <a:lnTo>
                  <a:pt x="78097" y="1431135"/>
                </a:lnTo>
                <a:lnTo>
                  <a:pt x="97555" y="1392098"/>
                </a:lnTo>
                <a:lnTo>
                  <a:pt x="109132" y="1345451"/>
                </a:lnTo>
                <a:lnTo>
                  <a:pt x="111680" y="171405"/>
                </a:lnTo>
                <a:lnTo>
                  <a:pt x="112254" y="154115"/>
                </a:lnTo>
                <a:lnTo>
                  <a:pt x="120423" y="105523"/>
                </a:lnTo>
                <a:lnTo>
                  <a:pt x="137105" y="63584"/>
                </a:lnTo>
                <a:lnTo>
                  <a:pt x="160813" y="30530"/>
                </a:lnTo>
                <a:lnTo>
                  <a:pt x="200784" y="4134"/>
                </a:lnTo>
                <a:lnTo>
                  <a:pt x="211902" y="1243"/>
                </a:lnTo>
                <a:lnTo>
                  <a:pt x="223361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54939" y="3688904"/>
            <a:ext cx="958215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5" dirty="0">
                <a:latin typeface="Calibri"/>
                <a:cs typeface="Calibri"/>
              </a:rPr>
              <a:t>S =</a:t>
            </a:r>
            <a:r>
              <a:rPr sz="1800" b="1" spc="1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2</a:t>
            </a:r>
            <a:r>
              <a:rPr sz="1800" b="1" baseline="25462" dirty="0">
                <a:latin typeface="Calibri"/>
                <a:cs typeface="Calibri"/>
              </a:rPr>
              <a:t>s </a:t>
            </a:r>
            <a:r>
              <a:rPr sz="1800" b="1" spc="-202" baseline="25462" dirty="0">
                <a:latin typeface="Calibri"/>
                <a:cs typeface="Calibri"/>
              </a:rPr>
              <a:t> </a:t>
            </a:r>
            <a:r>
              <a:rPr lang="zh-CN" altLang="en-US" sz="1800" b="1" spc="-202" baseline="25462" dirty="0">
                <a:latin typeface="Calibri"/>
                <a:cs typeface="Calibri"/>
              </a:rPr>
              <a:t>组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905001" y="4640061"/>
            <a:ext cx="3124200" cy="8255"/>
          </a:xfrm>
          <a:custGeom>
            <a:avLst/>
            <a:gdLst/>
            <a:ahLst/>
            <a:cxnLst/>
            <a:rect l="l" t="t" r="r" b="b"/>
            <a:pathLst>
              <a:path w="3124200" h="8254">
                <a:moveTo>
                  <a:pt x="0" y="0"/>
                </a:moveTo>
                <a:lnTo>
                  <a:pt x="3124200" y="8140"/>
                </a:lnTo>
              </a:path>
            </a:pathLst>
          </a:custGeom>
          <a:ln w="76200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59740" y="1242297"/>
            <a:ext cx="3274060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lang="zh-CN" altLang="en-US" sz="1800" b="1" spc="-5" dirty="0">
                <a:latin typeface="Calibri"/>
                <a:cs typeface="Calibri"/>
              </a:rPr>
              <a:t>直接映射</a:t>
            </a:r>
            <a:r>
              <a:rPr sz="1800" b="1" spc="-5" dirty="0">
                <a:latin typeface="Calibri"/>
                <a:cs typeface="Calibri"/>
              </a:rPr>
              <a:t>: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lang="zh-CN" altLang="en-US" sz="1800" b="1" spc="-30" dirty="0">
                <a:latin typeface="Calibri"/>
                <a:cs typeface="Calibri"/>
              </a:rPr>
              <a:t>每组一行</a:t>
            </a:r>
            <a:endParaRPr lang="en-US" altLang="zh-CN" sz="1800" b="1" spc="-30" dirty="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lang="zh-CN" altLang="en-US" sz="1800" b="1" spc="-5" dirty="0">
                <a:latin typeface="Calibri"/>
                <a:cs typeface="Calibri"/>
              </a:rPr>
              <a:t>假定</a:t>
            </a:r>
            <a:r>
              <a:rPr sz="1800" b="1" spc="-5" dirty="0">
                <a:latin typeface="Calibri"/>
                <a:cs typeface="Calibri"/>
              </a:rPr>
              <a:t>: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lang="zh-CN" altLang="en-US" sz="1800" b="1" spc="-30" dirty="0">
                <a:latin typeface="Calibri"/>
                <a:cs typeface="Calibri"/>
              </a:rPr>
              <a:t>高速缓存块大小为 </a:t>
            </a:r>
            <a:r>
              <a:rPr sz="1800" b="1" spc="-5" dirty="0">
                <a:latin typeface="Calibri"/>
                <a:cs typeface="Calibri"/>
              </a:rPr>
              <a:t>8</a:t>
            </a:r>
            <a:r>
              <a:rPr lang="zh-CN" altLang="en-US" b="1" spc="-5" dirty="0">
                <a:latin typeface="Calibri"/>
                <a:cs typeface="Calibri"/>
              </a:rPr>
              <a:t>个</a:t>
            </a:r>
            <a:r>
              <a:rPr lang="zh-CN" altLang="en-US" b="1" dirty="0">
                <a:latin typeface="Calibri"/>
                <a:cs typeface="Calibri"/>
              </a:rPr>
              <a:t>字节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261277" y="2702166"/>
            <a:ext cx="990600" cy="271145"/>
          </a:xfrm>
          <a:custGeom>
            <a:avLst/>
            <a:gdLst/>
            <a:ahLst/>
            <a:cxnLst/>
            <a:rect l="l" t="t" r="r" b="b"/>
            <a:pathLst>
              <a:path w="990600" h="271144">
                <a:moveTo>
                  <a:pt x="0" y="0"/>
                </a:moveTo>
                <a:lnTo>
                  <a:pt x="990600" y="0"/>
                </a:lnTo>
                <a:lnTo>
                  <a:pt x="990600" y="270852"/>
                </a:lnTo>
                <a:lnTo>
                  <a:pt x="0" y="270852"/>
                </a:lnTo>
                <a:lnTo>
                  <a:pt x="0" y="0"/>
                </a:lnTo>
                <a:close/>
              </a:path>
            </a:pathLst>
          </a:custGeom>
          <a:solidFill>
            <a:srgbClr val="FF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261277" y="2702166"/>
            <a:ext cx="990600" cy="271145"/>
          </a:xfrm>
          <a:custGeom>
            <a:avLst/>
            <a:gdLst/>
            <a:ahLst/>
            <a:cxnLst/>
            <a:rect l="l" t="t" r="r" b="b"/>
            <a:pathLst>
              <a:path w="990600" h="271144">
                <a:moveTo>
                  <a:pt x="0" y="0"/>
                </a:moveTo>
                <a:lnTo>
                  <a:pt x="990600" y="0"/>
                </a:lnTo>
                <a:lnTo>
                  <a:pt x="990600" y="270852"/>
                </a:lnTo>
                <a:lnTo>
                  <a:pt x="0" y="270852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251877" y="2702166"/>
            <a:ext cx="762000" cy="271145"/>
          </a:xfrm>
          <a:custGeom>
            <a:avLst/>
            <a:gdLst/>
            <a:ahLst/>
            <a:cxnLst/>
            <a:rect l="l" t="t" r="r" b="b"/>
            <a:pathLst>
              <a:path w="762000" h="271144">
                <a:moveTo>
                  <a:pt x="0" y="0"/>
                </a:moveTo>
                <a:lnTo>
                  <a:pt x="762000" y="0"/>
                </a:lnTo>
                <a:lnTo>
                  <a:pt x="762000" y="270852"/>
                </a:lnTo>
                <a:lnTo>
                  <a:pt x="0" y="270852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013877" y="2702166"/>
            <a:ext cx="520700" cy="271145"/>
          </a:xfrm>
          <a:custGeom>
            <a:avLst/>
            <a:gdLst/>
            <a:ahLst/>
            <a:cxnLst/>
            <a:rect l="l" t="t" r="r" b="b"/>
            <a:pathLst>
              <a:path w="520700" h="271144">
                <a:moveTo>
                  <a:pt x="0" y="0"/>
                </a:moveTo>
                <a:lnTo>
                  <a:pt x="520522" y="0"/>
                </a:lnTo>
                <a:lnTo>
                  <a:pt x="520522" y="270852"/>
                </a:lnTo>
                <a:lnTo>
                  <a:pt x="0" y="270852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524000" y="3810000"/>
            <a:ext cx="3848735" cy="533400"/>
          </a:xfrm>
          <a:custGeom>
            <a:avLst/>
            <a:gdLst/>
            <a:ahLst/>
            <a:cxnLst/>
            <a:rect l="l" t="t" r="r" b="b"/>
            <a:pathLst>
              <a:path w="3848735" h="533400">
                <a:moveTo>
                  <a:pt x="0" y="0"/>
                </a:moveTo>
                <a:lnTo>
                  <a:pt x="3848290" y="0"/>
                </a:lnTo>
                <a:lnTo>
                  <a:pt x="384829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ADAD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524000" y="3810000"/>
            <a:ext cx="3848735" cy="533400"/>
          </a:xfrm>
          <a:custGeom>
            <a:avLst/>
            <a:gdLst/>
            <a:ahLst/>
            <a:cxnLst/>
            <a:rect l="l" t="t" r="r" b="b"/>
            <a:pathLst>
              <a:path w="3848735" h="533400">
                <a:moveTo>
                  <a:pt x="0" y="0"/>
                </a:moveTo>
                <a:lnTo>
                  <a:pt x="3848290" y="0"/>
                </a:lnTo>
                <a:lnTo>
                  <a:pt x="384829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524000" y="3124200"/>
            <a:ext cx="3848735" cy="533400"/>
          </a:xfrm>
          <a:custGeom>
            <a:avLst/>
            <a:gdLst/>
            <a:ahLst/>
            <a:cxnLst/>
            <a:rect l="l" t="t" r="r" b="b"/>
            <a:pathLst>
              <a:path w="3848735" h="533400">
                <a:moveTo>
                  <a:pt x="0" y="0"/>
                </a:moveTo>
                <a:lnTo>
                  <a:pt x="3848290" y="0"/>
                </a:lnTo>
                <a:lnTo>
                  <a:pt x="384829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ADAD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524000" y="3124200"/>
            <a:ext cx="3848735" cy="533400"/>
          </a:xfrm>
          <a:custGeom>
            <a:avLst/>
            <a:gdLst/>
            <a:ahLst/>
            <a:cxnLst/>
            <a:rect l="l" t="t" r="r" b="b"/>
            <a:pathLst>
              <a:path w="3848735" h="533400">
                <a:moveTo>
                  <a:pt x="0" y="0"/>
                </a:moveTo>
                <a:lnTo>
                  <a:pt x="3848290" y="0"/>
                </a:lnTo>
                <a:lnTo>
                  <a:pt x="384829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524000" y="2438400"/>
            <a:ext cx="3848735" cy="533400"/>
          </a:xfrm>
          <a:custGeom>
            <a:avLst/>
            <a:gdLst/>
            <a:ahLst/>
            <a:cxnLst/>
            <a:rect l="l" t="t" r="r" b="b"/>
            <a:pathLst>
              <a:path w="3848735" h="533400">
                <a:moveTo>
                  <a:pt x="0" y="0"/>
                </a:moveTo>
                <a:lnTo>
                  <a:pt x="3848290" y="0"/>
                </a:lnTo>
                <a:lnTo>
                  <a:pt x="384829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ADAD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524000" y="2438400"/>
            <a:ext cx="3848735" cy="533400"/>
          </a:xfrm>
          <a:custGeom>
            <a:avLst/>
            <a:gdLst/>
            <a:ahLst/>
            <a:cxnLst/>
            <a:rect l="l" t="t" r="r" b="b"/>
            <a:pathLst>
              <a:path w="3848735" h="533400">
                <a:moveTo>
                  <a:pt x="0" y="0"/>
                </a:moveTo>
                <a:lnTo>
                  <a:pt x="3848290" y="0"/>
                </a:lnTo>
                <a:lnTo>
                  <a:pt x="384829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524000" y="4876800"/>
            <a:ext cx="3848735" cy="533400"/>
          </a:xfrm>
          <a:custGeom>
            <a:avLst/>
            <a:gdLst/>
            <a:ahLst/>
            <a:cxnLst/>
            <a:rect l="l" t="t" r="r" b="b"/>
            <a:pathLst>
              <a:path w="3848735" h="533400">
                <a:moveTo>
                  <a:pt x="0" y="0"/>
                </a:moveTo>
                <a:lnTo>
                  <a:pt x="3848290" y="0"/>
                </a:lnTo>
                <a:lnTo>
                  <a:pt x="384829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ADAD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524000" y="4876800"/>
            <a:ext cx="3848735" cy="533400"/>
          </a:xfrm>
          <a:custGeom>
            <a:avLst/>
            <a:gdLst/>
            <a:ahLst/>
            <a:cxnLst/>
            <a:rect l="l" t="t" r="r" b="b"/>
            <a:pathLst>
              <a:path w="3848735" h="533400">
                <a:moveTo>
                  <a:pt x="0" y="0"/>
                </a:moveTo>
                <a:lnTo>
                  <a:pt x="3848290" y="0"/>
                </a:lnTo>
                <a:lnTo>
                  <a:pt x="384829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372290" y="2973010"/>
            <a:ext cx="2260600" cy="418465"/>
          </a:xfrm>
          <a:custGeom>
            <a:avLst/>
            <a:gdLst/>
            <a:ahLst/>
            <a:cxnLst/>
            <a:rect l="l" t="t" r="r" b="b"/>
            <a:pathLst>
              <a:path w="2260600" h="418464">
                <a:moveTo>
                  <a:pt x="2260587" y="0"/>
                </a:moveTo>
                <a:lnTo>
                  <a:pt x="2260587" y="417893"/>
                </a:lnTo>
                <a:lnTo>
                  <a:pt x="0" y="417893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6250940" y="2437129"/>
            <a:ext cx="2189480" cy="12849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1800" b="1" spc="-5" dirty="0" err="1">
                <a:latin typeface="Calibri"/>
                <a:cs typeface="Calibri"/>
              </a:rPr>
              <a:t>int</a:t>
            </a:r>
            <a:r>
              <a:rPr lang="zh-CN" altLang="en-US" sz="1800" b="1" spc="-5" dirty="0">
                <a:latin typeface="Calibri"/>
                <a:cs typeface="Calibri"/>
              </a:rPr>
              <a:t>地址</a:t>
            </a:r>
            <a:r>
              <a:rPr sz="1800" b="1" spc="-5" dirty="0">
                <a:latin typeface="Calibri"/>
                <a:cs typeface="Calibri"/>
              </a:rPr>
              <a:t>:</a:t>
            </a:r>
            <a:endParaRPr sz="1800" dirty="0">
              <a:latin typeface="Calibri"/>
              <a:cs typeface="Calibri"/>
            </a:endParaRPr>
          </a:p>
          <a:p>
            <a:pPr marL="715645" indent="-422909">
              <a:lnSpc>
                <a:spcPct val="100000"/>
              </a:lnSpc>
              <a:spcBef>
                <a:spcPts val="280"/>
              </a:spcBef>
              <a:tabLst>
                <a:tab pos="1155065" algn="l"/>
                <a:tab pos="1870075" algn="l"/>
              </a:tabLst>
            </a:pPr>
            <a:r>
              <a:rPr sz="1600" b="1" spc="-5" dirty="0">
                <a:latin typeface="Calibri"/>
                <a:cs typeface="Calibri"/>
              </a:rPr>
              <a:t>t </a:t>
            </a:r>
            <a:r>
              <a:rPr sz="1600" b="1" spc="-10" dirty="0">
                <a:latin typeface="Calibri"/>
                <a:cs typeface="Calibri"/>
              </a:rPr>
              <a:t>b</a:t>
            </a:r>
            <a:r>
              <a:rPr sz="1600" b="1" spc="-5" dirty="0">
                <a:latin typeface="Calibri"/>
                <a:cs typeface="Calibri"/>
              </a:rPr>
              <a:t>i</a:t>
            </a:r>
            <a:r>
              <a:rPr sz="1600" b="1" spc="-10" dirty="0">
                <a:latin typeface="Calibri"/>
                <a:cs typeface="Calibri"/>
              </a:rPr>
              <a:t>t</a:t>
            </a:r>
            <a:r>
              <a:rPr sz="1600" b="1" spc="-5" dirty="0">
                <a:latin typeface="Calibri"/>
                <a:cs typeface="Calibri"/>
              </a:rPr>
              <a:t>s</a:t>
            </a:r>
            <a:r>
              <a:rPr sz="1600" b="1" dirty="0">
                <a:latin typeface="Calibri"/>
                <a:cs typeface="Calibri"/>
              </a:rPr>
              <a:t>	</a:t>
            </a:r>
            <a:r>
              <a:rPr lang="en-US" sz="1600" b="1" dirty="0">
                <a:latin typeface="Calibri"/>
                <a:cs typeface="Calibri"/>
              </a:rPr>
              <a:t>	</a:t>
            </a:r>
            <a:r>
              <a:rPr sz="1600" b="1" spc="-10" dirty="0">
                <a:latin typeface="Calibri"/>
                <a:cs typeface="Calibri"/>
              </a:rPr>
              <a:t>0</a:t>
            </a:r>
            <a:r>
              <a:rPr sz="1600" b="1" spc="-5" dirty="0">
                <a:latin typeface="Calibri"/>
                <a:cs typeface="Calibri"/>
              </a:rPr>
              <a:t>…</a:t>
            </a:r>
            <a:r>
              <a:rPr sz="1600" b="1" spc="-10" dirty="0">
                <a:latin typeface="Calibri"/>
                <a:cs typeface="Calibri"/>
              </a:rPr>
              <a:t>0</a:t>
            </a:r>
            <a:r>
              <a:rPr sz="1600" b="1" spc="-5" dirty="0">
                <a:latin typeface="Calibri"/>
                <a:cs typeface="Calibri"/>
              </a:rPr>
              <a:t>1</a:t>
            </a:r>
            <a:r>
              <a:rPr sz="1600" b="1" dirty="0">
                <a:latin typeface="Calibri"/>
                <a:cs typeface="Calibri"/>
              </a:rPr>
              <a:t>	</a:t>
            </a:r>
            <a:r>
              <a:rPr sz="1600" b="1" spc="-10" dirty="0">
                <a:latin typeface="Calibri"/>
                <a:cs typeface="Calibri"/>
              </a:rPr>
              <a:t>100</a:t>
            </a:r>
            <a:endParaRPr sz="1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4"/>
              </a:spcBef>
            </a:pPr>
            <a:endParaRPr sz="1300" dirty="0">
              <a:latin typeface="Times New Roman"/>
              <a:cs typeface="Times New Roman"/>
            </a:endParaRPr>
          </a:p>
          <a:p>
            <a:pPr marL="715645">
              <a:lnSpc>
                <a:spcPct val="100000"/>
              </a:lnSpc>
            </a:pPr>
            <a:r>
              <a:rPr lang="zh-CN" altLang="en-US" b="1" spc="-10" dirty="0">
                <a:latin typeface="Calibri"/>
                <a:cs typeface="Calibri"/>
              </a:rPr>
              <a:t>选择的组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119655" y="3924300"/>
            <a:ext cx="718185" cy="304800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10820">
              <a:lnSpc>
                <a:spcPct val="100000"/>
              </a:lnSpc>
            </a:pPr>
            <a:r>
              <a:rPr sz="1600" b="1" spc="-20" dirty="0">
                <a:latin typeface="Calibri"/>
                <a:cs typeface="Calibri"/>
              </a:rPr>
              <a:t>t</a:t>
            </a:r>
            <a:r>
              <a:rPr sz="1600" b="1" spc="-5" dirty="0">
                <a:latin typeface="Calibri"/>
                <a:cs typeface="Calibri"/>
              </a:rPr>
              <a:t>ag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650644" y="3924300"/>
            <a:ext cx="273050" cy="304800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4295">
              <a:lnSpc>
                <a:spcPct val="100000"/>
              </a:lnSpc>
            </a:pPr>
            <a:r>
              <a:rPr sz="1600" b="1" spc="-5" dirty="0">
                <a:latin typeface="Calibri"/>
                <a:cs typeface="Calibri"/>
              </a:rPr>
              <a:t>v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119655" y="3238500"/>
            <a:ext cx="718185" cy="304800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10820">
              <a:lnSpc>
                <a:spcPct val="100000"/>
              </a:lnSpc>
            </a:pPr>
            <a:r>
              <a:rPr sz="1600" b="1" spc="-20" dirty="0">
                <a:latin typeface="Calibri"/>
                <a:cs typeface="Calibri"/>
              </a:rPr>
              <a:t>t</a:t>
            </a:r>
            <a:r>
              <a:rPr sz="1600" b="1" spc="-5" dirty="0">
                <a:latin typeface="Calibri"/>
                <a:cs typeface="Calibri"/>
              </a:rPr>
              <a:t>ag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650644" y="3238500"/>
            <a:ext cx="273050" cy="304800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4295">
              <a:lnSpc>
                <a:spcPct val="100000"/>
              </a:lnSpc>
            </a:pPr>
            <a:r>
              <a:rPr sz="1600" b="1" spc="-5" dirty="0">
                <a:latin typeface="Calibri"/>
                <a:cs typeface="Calibri"/>
              </a:rPr>
              <a:t>v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119655" y="2552700"/>
            <a:ext cx="718185" cy="304800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10820">
              <a:lnSpc>
                <a:spcPct val="100000"/>
              </a:lnSpc>
            </a:pPr>
            <a:r>
              <a:rPr sz="1600" b="1" spc="-20" dirty="0">
                <a:latin typeface="Calibri"/>
                <a:cs typeface="Calibri"/>
              </a:rPr>
              <a:t>t</a:t>
            </a:r>
            <a:r>
              <a:rPr sz="1600" b="1" spc="-5" dirty="0">
                <a:latin typeface="Calibri"/>
                <a:cs typeface="Calibri"/>
              </a:rPr>
              <a:t>ag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650644" y="2552700"/>
            <a:ext cx="273050" cy="304800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4295">
              <a:lnSpc>
                <a:spcPct val="100000"/>
              </a:lnSpc>
            </a:pPr>
            <a:r>
              <a:rPr sz="1600" b="1" spc="-5" dirty="0">
                <a:latin typeface="Calibri"/>
                <a:cs typeface="Calibri"/>
              </a:rPr>
              <a:t>v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119655" y="4991100"/>
            <a:ext cx="718185" cy="304800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19710">
              <a:lnSpc>
                <a:spcPct val="100000"/>
              </a:lnSpc>
            </a:pPr>
            <a:r>
              <a:rPr sz="1500" b="1" spc="-25" dirty="0">
                <a:latin typeface="Calibri"/>
                <a:cs typeface="Calibri"/>
              </a:rPr>
              <a:t>t</a:t>
            </a:r>
            <a:r>
              <a:rPr sz="1500" b="1" spc="-5" dirty="0">
                <a:latin typeface="Calibri"/>
                <a:cs typeface="Calibri"/>
              </a:rPr>
              <a:t>a</a:t>
            </a:r>
            <a:r>
              <a:rPr sz="1500" b="1" dirty="0">
                <a:latin typeface="Calibri"/>
                <a:cs typeface="Calibri"/>
              </a:rPr>
              <a:t>g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650644" y="4991100"/>
            <a:ext cx="273050" cy="304800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4295">
              <a:lnSpc>
                <a:spcPct val="100000"/>
              </a:lnSpc>
            </a:pPr>
            <a:r>
              <a:rPr sz="1600" b="1" spc="-5" dirty="0">
                <a:latin typeface="Calibri"/>
                <a:cs typeface="Calibri"/>
              </a:rPr>
              <a:t>v</a:t>
            </a:r>
            <a:endParaRPr sz="1600">
              <a:latin typeface="Calibri"/>
              <a:cs typeface="Calibri"/>
            </a:endParaRPr>
          </a:p>
        </p:txBody>
      </p:sp>
      <p:graphicFrame>
        <p:nvGraphicFramePr>
          <p:cNvPr id="22" name="object 22"/>
          <p:cNvGraphicFramePr>
            <a:graphicFrameLocks noGrp="1"/>
          </p:cNvGraphicFramePr>
          <p:nvPr/>
        </p:nvGraphicFramePr>
        <p:xfrm>
          <a:off x="3022244" y="3924300"/>
          <a:ext cx="2248087" cy="304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26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70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3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28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192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915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9192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1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9375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2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3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4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5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6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7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5" name="object 25"/>
          <p:cNvGraphicFramePr>
            <a:graphicFrameLocks noGrp="1"/>
          </p:cNvGraphicFramePr>
          <p:nvPr/>
        </p:nvGraphicFramePr>
        <p:xfrm>
          <a:off x="3022244" y="3238500"/>
          <a:ext cx="2248087" cy="304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26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70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3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28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192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915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9192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1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9375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2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3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4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5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6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7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8" name="object 28"/>
          <p:cNvGraphicFramePr>
            <a:graphicFrameLocks noGrp="1"/>
          </p:cNvGraphicFramePr>
          <p:nvPr/>
        </p:nvGraphicFramePr>
        <p:xfrm>
          <a:off x="3022244" y="2552700"/>
          <a:ext cx="2248087" cy="304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26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70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3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28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192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915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9192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1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9375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2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3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4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5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6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7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1" name="object 31"/>
          <p:cNvGraphicFramePr>
            <a:graphicFrameLocks noGrp="1"/>
          </p:cNvGraphicFramePr>
          <p:nvPr/>
        </p:nvGraphicFramePr>
        <p:xfrm>
          <a:off x="3022244" y="4991100"/>
          <a:ext cx="2248087" cy="304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26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70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3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28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192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915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9192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1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9375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2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3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4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5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6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7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6261277" y="2702166"/>
            <a:ext cx="990600" cy="271145"/>
          </a:xfrm>
          <a:custGeom>
            <a:avLst/>
            <a:gdLst/>
            <a:ahLst/>
            <a:cxnLst/>
            <a:rect l="l" t="t" r="r" b="b"/>
            <a:pathLst>
              <a:path w="990600" h="271144">
                <a:moveTo>
                  <a:pt x="0" y="0"/>
                </a:moveTo>
                <a:lnTo>
                  <a:pt x="990600" y="0"/>
                </a:lnTo>
                <a:lnTo>
                  <a:pt x="990600" y="270852"/>
                </a:lnTo>
                <a:lnTo>
                  <a:pt x="0" y="270852"/>
                </a:lnTo>
                <a:lnTo>
                  <a:pt x="0" y="0"/>
                </a:lnTo>
                <a:close/>
              </a:path>
            </a:pathLst>
          </a:custGeom>
          <a:solidFill>
            <a:srgbClr val="FF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261277" y="2702166"/>
            <a:ext cx="990600" cy="271145"/>
          </a:xfrm>
          <a:custGeom>
            <a:avLst/>
            <a:gdLst/>
            <a:ahLst/>
            <a:cxnLst/>
            <a:rect l="l" t="t" r="r" b="b"/>
            <a:pathLst>
              <a:path w="990600" h="271144">
                <a:moveTo>
                  <a:pt x="0" y="0"/>
                </a:moveTo>
                <a:lnTo>
                  <a:pt x="990600" y="0"/>
                </a:lnTo>
                <a:lnTo>
                  <a:pt x="990600" y="270852"/>
                </a:lnTo>
                <a:lnTo>
                  <a:pt x="0" y="270852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251877" y="2702166"/>
            <a:ext cx="762000" cy="271145"/>
          </a:xfrm>
          <a:custGeom>
            <a:avLst/>
            <a:gdLst/>
            <a:ahLst/>
            <a:cxnLst/>
            <a:rect l="l" t="t" r="r" b="b"/>
            <a:pathLst>
              <a:path w="762000" h="271144">
                <a:moveTo>
                  <a:pt x="0" y="0"/>
                </a:moveTo>
                <a:lnTo>
                  <a:pt x="762000" y="0"/>
                </a:lnTo>
                <a:lnTo>
                  <a:pt x="762000" y="270852"/>
                </a:lnTo>
                <a:lnTo>
                  <a:pt x="0" y="270852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013877" y="2702166"/>
            <a:ext cx="520700" cy="271145"/>
          </a:xfrm>
          <a:custGeom>
            <a:avLst/>
            <a:gdLst/>
            <a:ahLst/>
            <a:cxnLst/>
            <a:rect l="l" t="t" r="r" b="b"/>
            <a:pathLst>
              <a:path w="520700" h="271144">
                <a:moveTo>
                  <a:pt x="0" y="0"/>
                </a:moveTo>
                <a:lnTo>
                  <a:pt x="520522" y="0"/>
                </a:lnTo>
                <a:lnTo>
                  <a:pt x="520522" y="270852"/>
                </a:lnTo>
                <a:lnTo>
                  <a:pt x="0" y="270852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250940" y="2437129"/>
            <a:ext cx="2189480" cy="5616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1800" b="1" spc="-5" dirty="0" err="1">
                <a:latin typeface="Calibri"/>
                <a:cs typeface="Calibri"/>
              </a:rPr>
              <a:t>int</a:t>
            </a:r>
            <a:r>
              <a:rPr lang="zh-CN" altLang="en-US" sz="1800" b="1" spc="-5" dirty="0">
                <a:latin typeface="Calibri"/>
                <a:cs typeface="Calibri"/>
              </a:rPr>
              <a:t>地址</a:t>
            </a:r>
            <a:r>
              <a:rPr sz="1800" b="1" spc="-5" dirty="0">
                <a:latin typeface="Calibri"/>
                <a:cs typeface="Calibri"/>
              </a:rPr>
              <a:t>:</a:t>
            </a:r>
            <a:endParaRPr sz="1800" dirty="0">
              <a:latin typeface="Calibri"/>
              <a:cs typeface="Calibri"/>
            </a:endParaRPr>
          </a:p>
          <a:p>
            <a:pPr marL="292735">
              <a:lnSpc>
                <a:spcPct val="100000"/>
              </a:lnSpc>
              <a:spcBef>
                <a:spcPts val="280"/>
              </a:spcBef>
              <a:tabLst>
                <a:tab pos="1155065" algn="l"/>
                <a:tab pos="1870075" algn="l"/>
              </a:tabLst>
            </a:pPr>
            <a:r>
              <a:rPr sz="1600" b="1" spc="-5" dirty="0">
                <a:latin typeface="Calibri"/>
                <a:cs typeface="Calibri"/>
              </a:rPr>
              <a:t>t </a:t>
            </a:r>
            <a:r>
              <a:rPr sz="1600" b="1" spc="-10" dirty="0">
                <a:latin typeface="Calibri"/>
                <a:cs typeface="Calibri"/>
              </a:rPr>
              <a:t>b</a:t>
            </a:r>
            <a:r>
              <a:rPr sz="1600" b="1" spc="-5" dirty="0">
                <a:latin typeface="Calibri"/>
                <a:cs typeface="Calibri"/>
              </a:rPr>
              <a:t>i</a:t>
            </a:r>
            <a:r>
              <a:rPr sz="1600" b="1" spc="-10" dirty="0">
                <a:latin typeface="Calibri"/>
                <a:cs typeface="Calibri"/>
              </a:rPr>
              <a:t>t</a:t>
            </a:r>
            <a:r>
              <a:rPr sz="1600" b="1" spc="-5" dirty="0">
                <a:latin typeface="Calibri"/>
                <a:cs typeface="Calibri"/>
              </a:rPr>
              <a:t>s</a:t>
            </a:r>
            <a:r>
              <a:rPr sz="1600" b="1" dirty="0">
                <a:latin typeface="Calibri"/>
                <a:cs typeface="Calibri"/>
              </a:rPr>
              <a:t>	</a:t>
            </a:r>
            <a:r>
              <a:rPr sz="1600" b="1" spc="-10" dirty="0">
                <a:latin typeface="Calibri"/>
                <a:cs typeface="Calibri"/>
              </a:rPr>
              <a:t>0</a:t>
            </a:r>
            <a:r>
              <a:rPr sz="1600" b="1" spc="-5" dirty="0">
                <a:latin typeface="Calibri"/>
                <a:cs typeface="Calibri"/>
              </a:rPr>
              <a:t>…</a:t>
            </a:r>
            <a:r>
              <a:rPr sz="1600" b="1" spc="-10" dirty="0">
                <a:latin typeface="Calibri"/>
                <a:cs typeface="Calibri"/>
              </a:rPr>
              <a:t>0</a:t>
            </a:r>
            <a:r>
              <a:rPr sz="1600" b="1" spc="-5" dirty="0">
                <a:latin typeface="Calibri"/>
                <a:cs typeface="Calibri"/>
              </a:rPr>
              <a:t>1</a:t>
            </a:r>
            <a:r>
              <a:rPr sz="1600" b="1" dirty="0">
                <a:latin typeface="Calibri"/>
                <a:cs typeface="Calibri"/>
              </a:rPr>
              <a:t>	</a:t>
            </a:r>
            <a:r>
              <a:rPr sz="1600" b="1" spc="-10" dirty="0">
                <a:latin typeface="Calibri"/>
                <a:cs typeface="Calibri"/>
              </a:rPr>
              <a:t>100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524000" y="3124200"/>
            <a:ext cx="3848735" cy="533400"/>
          </a:xfrm>
          <a:custGeom>
            <a:avLst/>
            <a:gdLst/>
            <a:ahLst/>
            <a:cxnLst/>
            <a:rect l="l" t="t" r="r" b="b"/>
            <a:pathLst>
              <a:path w="3848735" h="533400">
                <a:moveTo>
                  <a:pt x="0" y="0"/>
                </a:moveTo>
                <a:lnTo>
                  <a:pt x="3848290" y="0"/>
                </a:lnTo>
                <a:lnTo>
                  <a:pt x="384829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ADAD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524000" y="3124200"/>
            <a:ext cx="3848735" cy="533400"/>
          </a:xfrm>
          <a:custGeom>
            <a:avLst/>
            <a:gdLst/>
            <a:ahLst/>
            <a:cxnLst/>
            <a:rect l="l" t="t" r="r" b="b"/>
            <a:pathLst>
              <a:path w="3848735" h="533400">
                <a:moveTo>
                  <a:pt x="0" y="0"/>
                </a:moveTo>
                <a:lnTo>
                  <a:pt x="3848290" y="0"/>
                </a:lnTo>
                <a:lnTo>
                  <a:pt x="384829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022244" y="3238500"/>
            <a:ext cx="273050" cy="304800"/>
          </a:xfrm>
          <a:custGeom>
            <a:avLst/>
            <a:gdLst/>
            <a:ahLst/>
            <a:cxnLst/>
            <a:rect l="l" t="t" r="r" b="b"/>
            <a:pathLst>
              <a:path w="273050" h="304800">
                <a:moveTo>
                  <a:pt x="0" y="0"/>
                </a:moveTo>
                <a:lnTo>
                  <a:pt x="272605" y="0"/>
                </a:lnTo>
                <a:lnTo>
                  <a:pt x="272605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022244" y="3238500"/>
            <a:ext cx="273050" cy="304800"/>
          </a:xfrm>
          <a:custGeom>
            <a:avLst/>
            <a:gdLst/>
            <a:ahLst/>
            <a:cxnLst/>
            <a:rect l="l" t="t" r="r" b="b"/>
            <a:pathLst>
              <a:path w="273050" h="304800">
                <a:moveTo>
                  <a:pt x="0" y="0"/>
                </a:moveTo>
                <a:lnTo>
                  <a:pt x="272605" y="0"/>
                </a:lnTo>
                <a:lnTo>
                  <a:pt x="272605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294850" y="3238500"/>
            <a:ext cx="273050" cy="304800"/>
          </a:xfrm>
          <a:custGeom>
            <a:avLst/>
            <a:gdLst/>
            <a:ahLst/>
            <a:cxnLst/>
            <a:rect l="l" t="t" r="r" b="b"/>
            <a:pathLst>
              <a:path w="273050" h="304800">
                <a:moveTo>
                  <a:pt x="0" y="0"/>
                </a:moveTo>
                <a:lnTo>
                  <a:pt x="272605" y="0"/>
                </a:lnTo>
                <a:lnTo>
                  <a:pt x="272605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294850" y="3238500"/>
            <a:ext cx="273050" cy="304800"/>
          </a:xfrm>
          <a:custGeom>
            <a:avLst/>
            <a:gdLst/>
            <a:ahLst/>
            <a:cxnLst/>
            <a:rect l="l" t="t" r="r" b="b"/>
            <a:pathLst>
              <a:path w="273050" h="304800">
                <a:moveTo>
                  <a:pt x="0" y="0"/>
                </a:moveTo>
                <a:lnTo>
                  <a:pt x="272605" y="0"/>
                </a:lnTo>
                <a:lnTo>
                  <a:pt x="272605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555644" y="3238500"/>
            <a:ext cx="273050" cy="304800"/>
          </a:xfrm>
          <a:custGeom>
            <a:avLst/>
            <a:gdLst/>
            <a:ahLst/>
            <a:cxnLst/>
            <a:rect l="l" t="t" r="r" b="b"/>
            <a:pathLst>
              <a:path w="273050" h="304800">
                <a:moveTo>
                  <a:pt x="0" y="0"/>
                </a:moveTo>
                <a:lnTo>
                  <a:pt x="272605" y="0"/>
                </a:lnTo>
                <a:lnTo>
                  <a:pt x="272605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555644" y="3238500"/>
            <a:ext cx="273050" cy="304800"/>
          </a:xfrm>
          <a:custGeom>
            <a:avLst/>
            <a:gdLst/>
            <a:ahLst/>
            <a:cxnLst/>
            <a:rect l="l" t="t" r="r" b="b"/>
            <a:pathLst>
              <a:path w="273050" h="304800">
                <a:moveTo>
                  <a:pt x="0" y="0"/>
                </a:moveTo>
                <a:lnTo>
                  <a:pt x="272605" y="0"/>
                </a:lnTo>
                <a:lnTo>
                  <a:pt x="272605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977688" y="3238500"/>
            <a:ext cx="292735" cy="304800"/>
          </a:xfrm>
          <a:custGeom>
            <a:avLst/>
            <a:gdLst/>
            <a:ahLst/>
            <a:cxnLst/>
            <a:rect l="l" t="t" r="r" b="b"/>
            <a:pathLst>
              <a:path w="292735" h="304800">
                <a:moveTo>
                  <a:pt x="0" y="0"/>
                </a:moveTo>
                <a:lnTo>
                  <a:pt x="292646" y="0"/>
                </a:lnTo>
                <a:lnTo>
                  <a:pt x="292646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977688" y="3238500"/>
            <a:ext cx="292735" cy="304800"/>
          </a:xfrm>
          <a:custGeom>
            <a:avLst/>
            <a:gdLst/>
            <a:ahLst/>
            <a:cxnLst/>
            <a:rect l="l" t="t" r="r" b="b"/>
            <a:pathLst>
              <a:path w="292735" h="304800">
                <a:moveTo>
                  <a:pt x="0" y="0"/>
                </a:moveTo>
                <a:lnTo>
                  <a:pt x="292646" y="0"/>
                </a:lnTo>
                <a:lnTo>
                  <a:pt x="292646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119655" y="3238500"/>
            <a:ext cx="718185" cy="3810"/>
          </a:xfrm>
          <a:custGeom>
            <a:avLst/>
            <a:gdLst/>
            <a:ahLst/>
            <a:cxnLst/>
            <a:rect l="l" t="t" r="r" b="b"/>
            <a:pathLst>
              <a:path w="718185" h="3810">
                <a:moveTo>
                  <a:pt x="0" y="3594"/>
                </a:moveTo>
                <a:lnTo>
                  <a:pt x="717994" y="3594"/>
                </a:lnTo>
                <a:lnTo>
                  <a:pt x="717994" y="0"/>
                </a:lnTo>
                <a:lnTo>
                  <a:pt x="0" y="0"/>
                </a:lnTo>
                <a:lnTo>
                  <a:pt x="0" y="359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119655" y="3238500"/>
            <a:ext cx="718185" cy="304800"/>
          </a:xfrm>
          <a:custGeom>
            <a:avLst/>
            <a:gdLst/>
            <a:ahLst/>
            <a:cxnLst/>
            <a:rect l="l" t="t" r="r" b="b"/>
            <a:pathLst>
              <a:path w="718185" h="304800">
                <a:moveTo>
                  <a:pt x="0" y="0"/>
                </a:moveTo>
                <a:lnTo>
                  <a:pt x="717994" y="0"/>
                </a:lnTo>
                <a:lnTo>
                  <a:pt x="717994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650644" y="3238500"/>
            <a:ext cx="273050" cy="304800"/>
          </a:xfrm>
          <a:custGeom>
            <a:avLst/>
            <a:gdLst/>
            <a:ahLst/>
            <a:cxnLst/>
            <a:rect l="l" t="t" r="r" b="b"/>
            <a:pathLst>
              <a:path w="273050" h="304800">
                <a:moveTo>
                  <a:pt x="0" y="0"/>
                </a:moveTo>
                <a:lnTo>
                  <a:pt x="272605" y="0"/>
                </a:lnTo>
                <a:lnTo>
                  <a:pt x="272605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650644" y="3238500"/>
            <a:ext cx="273050" cy="304800"/>
          </a:xfrm>
          <a:custGeom>
            <a:avLst/>
            <a:gdLst/>
            <a:ahLst/>
            <a:cxnLst/>
            <a:rect l="l" t="t" r="r" b="b"/>
            <a:pathLst>
              <a:path w="273050" h="304800">
                <a:moveTo>
                  <a:pt x="0" y="0"/>
                </a:moveTo>
                <a:lnTo>
                  <a:pt x="272605" y="0"/>
                </a:lnTo>
                <a:lnTo>
                  <a:pt x="272605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828973" y="3238500"/>
            <a:ext cx="273050" cy="304800"/>
          </a:xfrm>
          <a:custGeom>
            <a:avLst/>
            <a:gdLst/>
            <a:ahLst/>
            <a:cxnLst/>
            <a:rect l="l" t="t" r="r" b="b"/>
            <a:pathLst>
              <a:path w="273050" h="304800">
                <a:moveTo>
                  <a:pt x="0" y="0"/>
                </a:moveTo>
                <a:lnTo>
                  <a:pt x="272605" y="0"/>
                </a:lnTo>
                <a:lnTo>
                  <a:pt x="272605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828973" y="3238500"/>
            <a:ext cx="273050" cy="304800"/>
          </a:xfrm>
          <a:custGeom>
            <a:avLst/>
            <a:gdLst/>
            <a:ahLst/>
            <a:cxnLst/>
            <a:rect l="l" t="t" r="r" b="b"/>
            <a:pathLst>
              <a:path w="273050" h="304800">
                <a:moveTo>
                  <a:pt x="0" y="0"/>
                </a:moveTo>
                <a:lnTo>
                  <a:pt x="272605" y="0"/>
                </a:lnTo>
                <a:lnTo>
                  <a:pt x="272605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686490" y="3238500"/>
            <a:ext cx="292735" cy="304800"/>
          </a:xfrm>
          <a:custGeom>
            <a:avLst/>
            <a:gdLst/>
            <a:ahLst/>
            <a:cxnLst/>
            <a:rect l="l" t="t" r="r" b="b"/>
            <a:pathLst>
              <a:path w="292735" h="304800">
                <a:moveTo>
                  <a:pt x="0" y="0"/>
                </a:moveTo>
                <a:lnTo>
                  <a:pt x="292646" y="0"/>
                </a:lnTo>
                <a:lnTo>
                  <a:pt x="292646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686490" y="3238500"/>
            <a:ext cx="292735" cy="304800"/>
          </a:xfrm>
          <a:custGeom>
            <a:avLst/>
            <a:gdLst/>
            <a:ahLst/>
            <a:cxnLst/>
            <a:rect l="l" t="t" r="r" b="b"/>
            <a:pathLst>
              <a:path w="292735" h="304800">
                <a:moveTo>
                  <a:pt x="0" y="0"/>
                </a:moveTo>
                <a:lnTo>
                  <a:pt x="292646" y="0"/>
                </a:lnTo>
                <a:lnTo>
                  <a:pt x="292646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394568" y="3238500"/>
            <a:ext cx="292735" cy="304800"/>
          </a:xfrm>
          <a:custGeom>
            <a:avLst/>
            <a:gdLst/>
            <a:ahLst/>
            <a:cxnLst/>
            <a:rect l="l" t="t" r="r" b="b"/>
            <a:pathLst>
              <a:path w="292735" h="304800">
                <a:moveTo>
                  <a:pt x="0" y="0"/>
                </a:moveTo>
                <a:lnTo>
                  <a:pt x="292646" y="0"/>
                </a:lnTo>
                <a:lnTo>
                  <a:pt x="292646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4394568" y="3238500"/>
            <a:ext cx="292735" cy="304800"/>
          </a:xfrm>
          <a:custGeom>
            <a:avLst/>
            <a:gdLst/>
            <a:ahLst/>
            <a:cxnLst/>
            <a:rect l="l" t="t" r="r" b="b"/>
            <a:pathLst>
              <a:path w="292735" h="304800">
                <a:moveTo>
                  <a:pt x="0" y="0"/>
                </a:moveTo>
                <a:lnTo>
                  <a:pt x="292646" y="0"/>
                </a:lnTo>
                <a:lnTo>
                  <a:pt x="292646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102646" y="3238500"/>
            <a:ext cx="292735" cy="304800"/>
          </a:xfrm>
          <a:custGeom>
            <a:avLst/>
            <a:gdLst/>
            <a:ahLst/>
            <a:cxnLst/>
            <a:rect l="l" t="t" r="r" b="b"/>
            <a:pathLst>
              <a:path w="292735" h="304800">
                <a:moveTo>
                  <a:pt x="0" y="0"/>
                </a:moveTo>
                <a:lnTo>
                  <a:pt x="292646" y="0"/>
                </a:lnTo>
                <a:lnTo>
                  <a:pt x="292646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102646" y="3238500"/>
            <a:ext cx="292735" cy="304800"/>
          </a:xfrm>
          <a:custGeom>
            <a:avLst/>
            <a:gdLst/>
            <a:ahLst/>
            <a:cxnLst/>
            <a:rect l="l" t="t" r="r" b="b"/>
            <a:pathLst>
              <a:path w="292735" h="304800">
                <a:moveTo>
                  <a:pt x="0" y="0"/>
                </a:moveTo>
                <a:lnTo>
                  <a:pt x="292646" y="0"/>
                </a:lnTo>
                <a:lnTo>
                  <a:pt x="292646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3095266" y="3294760"/>
            <a:ext cx="2092325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85115" algn="l"/>
                <a:tab pos="545465" algn="l"/>
                <a:tab pos="819150" algn="l"/>
                <a:tab pos="1101725" algn="l"/>
                <a:tab pos="1393190" algn="l"/>
                <a:tab pos="1685289" algn="l"/>
                <a:tab pos="1976755" algn="l"/>
              </a:tabLst>
            </a:pPr>
            <a:r>
              <a:rPr sz="1600" b="1" spc="-5" dirty="0">
                <a:latin typeface="Calibri"/>
                <a:cs typeface="Calibri"/>
              </a:rPr>
              <a:t>0	1	2	3	4	5	6	7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124976" y="3242094"/>
            <a:ext cx="718185" cy="304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9710">
              <a:lnSpc>
                <a:spcPct val="100000"/>
              </a:lnSpc>
            </a:pPr>
            <a:r>
              <a:rPr sz="1600" b="1" spc="-20" dirty="0">
                <a:latin typeface="Calibri"/>
                <a:cs typeface="Calibri"/>
              </a:rPr>
              <a:t>t</a:t>
            </a:r>
            <a:r>
              <a:rPr sz="1600" b="1" spc="-5" dirty="0">
                <a:latin typeface="Calibri"/>
                <a:cs typeface="Calibri"/>
              </a:rPr>
              <a:t>ag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726714" y="3294760"/>
            <a:ext cx="121920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spc="-5" dirty="0">
                <a:latin typeface="Calibri"/>
                <a:cs typeface="Calibri"/>
              </a:rPr>
              <a:t>v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5372290" y="2973010"/>
            <a:ext cx="2260600" cy="418465"/>
          </a:xfrm>
          <a:custGeom>
            <a:avLst/>
            <a:gdLst/>
            <a:ahLst/>
            <a:cxnLst/>
            <a:rect l="l" t="t" r="r" b="b"/>
            <a:pathLst>
              <a:path w="2260600" h="418464">
                <a:moveTo>
                  <a:pt x="2260587" y="0"/>
                </a:moveTo>
                <a:lnTo>
                  <a:pt x="2260587" y="417893"/>
                </a:lnTo>
                <a:lnTo>
                  <a:pt x="0" y="417893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2478647" y="2837586"/>
            <a:ext cx="3782695" cy="401320"/>
          </a:xfrm>
          <a:custGeom>
            <a:avLst/>
            <a:gdLst/>
            <a:ahLst/>
            <a:cxnLst/>
            <a:rect l="l" t="t" r="r" b="b"/>
            <a:pathLst>
              <a:path w="3782695" h="401319">
                <a:moveTo>
                  <a:pt x="3782631" y="0"/>
                </a:moveTo>
                <a:lnTo>
                  <a:pt x="0" y="0"/>
                </a:lnTo>
                <a:lnTo>
                  <a:pt x="0" y="400913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782138" y="2838380"/>
            <a:ext cx="1905" cy="401320"/>
          </a:xfrm>
          <a:custGeom>
            <a:avLst/>
            <a:gdLst/>
            <a:ahLst/>
            <a:cxnLst/>
            <a:rect l="l" t="t" r="r" b="b"/>
            <a:pathLst>
              <a:path w="1905" h="401319">
                <a:moveTo>
                  <a:pt x="1587" y="0"/>
                </a:moveTo>
                <a:lnTo>
                  <a:pt x="0" y="400913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2196298" y="2589529"/>
            <a:ext cx="2540000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63525" algn="l"/>
              </a:tabLst>
            </a:pPr>
            <a:r>
              <a:rPr sz="1800" b="1" dirty="0">
                <a:latin typeface="Calibri"/>
                <a:cs typeface="Calibri"/>
              </a:rPr>
              <a:t>+	</a:t>
            </a:r>
            <a:r>
              <a:rPr lang="zh-CN" altLang="en-US" sz="1800" b="1" dirty="0">
                <a:latin typeface="Calibri"/>
                <a:cs typeface="Calibri"/>
              </a:rPr>
              <a:t>匹配</a:t>
            </a:r>
            <a:r>
              <a:rPr sz="1800" b="1" spc="-5" dirty="0">
                <a:latin typeface="Calibri"/>
                <a:cs typeface="Calibri"/>
              </a:rPr>
              <a:t>:</a:t>
            </a:r>
            <a:r>
              <a:rPr sz="1800" b="1" spc="-20" dirty="0">
                <a:latin typeface="Calibri"/>
                <a:cs typeface="Calibri"/>
              </a:rPr>
              <a:t> </a:t>
            </a:r>
            <a:r>
              <a:rPr lang="zh-CN" altLang="en-US" sz="1800" b="1" spc="-20" dirty="0">
                <a:latin typeface="Calibri"/>
                <a:cs typeface="Calibri"/>
              </a:rPr>
              <a:t>假设 </a:t>
            </a:r>
            <a:r>
              <a:rPr sz="1800" b="1" spc="-30" dirty="0">
                <a:latin typeface="Calibri"/>
                <a:cs typeface="Calibri"/>
              </a:rPr>
              <a:t>y</a:t>
            </a:r>
            <a:r>
              <a:rPr sz="1800" b="1" spc="5" dirty="0">
                <a:latin typeface="Calibri"/>
                <a:cs typeface="Calibri"/>
              </a:rPr>
              <a:t>e</a:t>
            </a:r>
            <a:r>
              <a:rPr sz="1800" b="1" spc="-5" dirty="0">
                <a:latin typeface="Calibri"/>
                <a:cs typeface="Calibri"/>
              </a:rPr>
              <a:t>s</a:t>
            </a:r>
            <a:r>
              <a:rPr sz="1800" b="1" spc="-1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=</a:t>
            </a:r>
            <a:r>
              <a:rPr sz="1800" b="1" spc="1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h</a:t>
            </a:r>
            <a:r>
              <a:rPr sz="1800" b="1" spc="-5" dirty="0">
                <a:latin typeface="Calibri"/>
                <a:cs typeface="Calibri"/>
              </a:rPr>
              <a:t>it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481466" y="2589529"/>
            <a:ext cx="586105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zh-CN" altLang="en-US" sz="1800" b="1" dirty="0">
                <a:latin typeface="Calibri"/>
                <a:cs typeface="Calibri"/>
              </a:rPr>
              <a:t>有效</a:t>
            </a:r>
            <a:r>
              <a:rPr sz="1800" b="1" dirty="0">
                <a:latin typeface="Calibri"/>
                <a:cs typeface="Calibri"/>
              </a:rPr>
              <a:t>?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4248963" y="2973010"/>
            <a:ext cx="4025265" cy="998855"/>
          </a:xfrm>
          <a:custGeom>
            <a:avLst/>
            <a:gdLst/>
            <a:ahLst/>
            <a:cxnLst/>
            <a:rect l="l" t="t" r="r" b="b"/>
            <a:pathLst>
              <a:path w="4025265" h="998854">
                <a:moveTo>
                  <a:pt x="4025176" y="0"/>
                </a:moveTo>
                <a:lnTo>
                  <a:pt x="4025176" y="998512"/>
                </a:lnTo>
                <a:lnTo>
                  <a:pt x="0" y="998512"/>
                </a:lnTo>
                <a:lnTo>
                  <a:pt x="0" y="570293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5793740" y="4037329"/>
            <a:ext cx="1133475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zh-CN" altLang="en-US" sz="1800" dirty="0">
                <a:latin typeface="Calibri"/>
                <a:cs typeface="Calibri"/>
              </a:rPr>
              <a:t>块偏移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2124976" y="3242094"/>
            <a:ext cx="718185" cy="304800"/>
          </a:xfrm>
          <a:custGeom>
            <a:avLst/>
            <a:gdLst/>
            <a:ahLst/>
            <a:cxnLst/>
            <a:rect l="l" t="t" r="r" b="b"/>
            <a:pathLst>
              <a:path w="718185" h="304800">
                <a:moveTo>
                  <a:pt x="0" y="0"/>
                </a:moveTo>
                <a:lnTo>
                  <a:pt x="717994" y="0"/>
                </a:lnTo>
                <a:lnTo>
                  <a:pt x="717994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FF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2124976" y="3242094"/>
            <a:ext cx="718185" cy="304800"/>
          </a:xfrm>
          <a:custGeom>
            <a:avLst/>
            <a:gdLst/>
            <a:ahLst/>
            <a:cxnLst/>
            <a:rect l="l" t="t" r="r" b="b"/>
            <a:pathLst>
              <a:path w="718185" h="304800">
                <a:moveTo>
                  <a:pt x="0" y="0"/>
                </a:moveTo>
                <a:lnTo>
                  <a:pt x="717994" y="0"/>
                </a:lnTo>
                <a:lnTo>
                  <a:pt x="717994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2337762" y="3298356"/>
            <a:ext cx="290830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spc="-20" dirty="0">
                <a:latin typeface="Calibri"/>
                <a:cs typeface="Calibri"/>
              </a:rPr>
              <a:t>t</a:t>
            </a:r>
            <a:r>
              <a:rPr sz="1600" b="1" spc="-5" dirty="0">
                <a:latin typeface="Calibri"/>
                <a:cs typeface="Calibri"/>
              </a:rPr>
              <a:t>ag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0" name="object 3"/>
          <p:cNvSpPr txBox="1">
            <a:spLocks noGrp="1"/>
          </p:cNvSpPr>
          <p:nvPr>
            <p:ph type="title"/>
          </p:nvPr>
        </p:nvSpPr>
        <p:spPr>
          <a:xfrm>
            <a:off x="374650" y="330564"/>
            <a:ext cx="7591425" cy="843822"/>
          </a:xfrm>
          <a:prstGeom prst="rect">
            <a:avLst/>
          </a:prstGeom>
        </p:spPr>
        <p:txBody>
          <a:bodyPr vert="horz" wrap="square" lIns="0" tIns="287021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zh-CN" altLang="en-US" dirty="0"/>
              <a:t>例子</a:t>
            </a:r>
            <a:r>
              <a:rPr dirty="0"/>
              <a:t>:</a:t>
            </a:r>
            <a:r>
              <a:rPr spc="-20" dirty="0"/>
              <a:t> </a:t>
            </a:r>
            <a:r>
              <a:rPr lang="zh-CN" altLang="en-US" spc="-20" dirty="0"/>
              <a:t>直接映射高级缓存</a:t>
            </a:r>
            <a:r>
              <a:rPr spc="-15" dirty="0"/>
              <a:t>(</a:t>
            </a:r>
            <a:r>
              <a:rPr spc="-5" dirty="0"/>
              <a:t>E</a:t>
            </a:r>
            <a:r>
              <a:rPr spc="10" dirty="0"/>
              <a:t> </a:t>
            </a:r>
            <a:r>
              <a:rPr dirty="0"/>
              <a:t>=</a:t>
            </a:r>
            <a:r>
              <a:rPr spc="-20" dirty="0"/>
              <a:t> </a:t>
            </a:r>
            <a:r>
              <a:rPr spc="-5" dirty="0"/>
              <a:t>1)</a:t>
            </a:r>
          </a:p>
        </p:txBody>
      </p:sp>
      <p:sp>
        <p:nvSpPr>
          <p:cNvPr id="51" name="object 7"/>
          <p:cNvSpPr txBox="1"/>
          <p:nvPr/>
        </p:nvSpPr>
        <p:spPr>
          <a:xfrm>
            <a:off x="459740" y="1242297"/>
            <a:ext cx="3274060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lang="zh-CN" altLang="en-US" sz="1800" b="1" spc="-5" dirty="0">
                <a:latin typeface="Calibri"/>
                <a:cs typeface="Calibri"/>
              </a:rPr>
              <a:t>直接映射</a:t>
            </a:r>
            <a:r>
              <a:rPr sz="1800" b="1" spc="-5" dirty="0">
                <a:latin typeface="Calibri"/>
                <a:cs typeface="Calibri"/>
              </a:rPr>
              <a:t>: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lang="zh-CN" altLang="en-US" sz="1800" b="1" spc="-30" dirty="0">
                <a:latin typeface="Calibri"/>
                <a:cs typeface="Calibri"/>
              </a:rPr>
              <a:t>每组一行</a:t>
            </a:r>
            <a:endParaRPr lang="en-US" altLang="zh-CN" sz="1800" b="1" spc="-30" dirty="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lang="zh-CN" altLang="en-US" sz="1800" b="1" spc="-5" dirty="0">
                <a:latin typeface="Calibri"/>
                <a:cs typeface="Calibri"/>
              </a:rPr>
              <a:t>假定</a:t>
            </a:r>
            <a:r>
              <a:rPr sz="1800" b="1" spc="-5" dirty="0">
                <a:latin typeface="Calibri"/>
                <a:cs typeface="Calibri"/>
              </a:rPr>
              <a:t>: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lang="zh-CN" altLang="en-US" sz="1800" b="1" spc="-30" dirty="0">
                <a:latin typeface="Calibri"/>
                <a:cs typeface="Calibri"/>
              </a:rPr>
              <a:t>高速缓存块大小为 </a:t>
            </a:r>
            <a:r>
              <a:rPr sz="1800" b="1" spc="-5" dirty="0">
                <a:latin typeface="Calibri"/>
                <a:cs typeface="Calibri"/>
              </a:rPr>
              <a:t>8</a:t>
            </a:r>
            <a:r>
              <a:rPr lang="zh-CN" altLang="en-US" b="1" spc="-5" dirty="0">
                <a:latin typeface="Calibri"/>
                <a:cs typeface="Calibri"/>
              </a:rPr>
              <a:t>个</a:t>
            </a:r>
            <a:r>
              <a:rPr lang="zh-CN" altLang="en-US" b="1" dirty="0">
                <a:latin typeface="Calibri"/>
                <a:cs typeface="Calibri"/>
              </a:rPr>
              <a:t>字节</a:t>
            </a:r>
            <a:endParaRPr sz="1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6261277" y="2702166"/>
            <a:ext cx="990600" cy="271145"/>
          </a:xfrm>
          <a:custGeom>
            <a:avLst/>
            <a:gdLst/>
            <a:ahLst/>
            <a:cxnLst/>
            <a:rect l="l" t="t" r="r" b="b"/>
            <a:pathLst>
              <a:path w="990600" h="271144">
                <a:moveTo>
                  <a:pt x="0" y="0"/>
                </a:moveTo>
                <a:lnTo>
                  <a:pt x="990600" y="0"/>
                </a:lnTo>
                <a:lnTo>
                  <a:pt x="990600" y="270852"/>
                </a:lnTo>
                <a:lnTo>
                  <a:pt x="0" y="270852"/>
                </a:lnTo>
                <a:lnTo>
                  <a:pt x="0" y="0"/>
                </a:lnTo>
                <a:close/>
              </a:path>
            </a:pathLst>
          </a:custGeom>
          <a:solidFill>
            <a:srgbClr val="FF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261277" y="2702166"/>
            <a:ext cx="990600" cy="271145"/>
          </a:xfrm>
          <a:custGeom>
            <a:avLst/>
            <a:gdLst/>
            <a:ahLst/>
            <a:cxnLst/>
            <a:rect l="l" t="t" r="r" b="b"/>
            <a:pathLst>
              <a:path w="990600" h="271144">
                <a:moveTo>
                  <a:pt x="0" y="0"/>
                </a:moveTo>
                <a:lnTo>
                  <a:pt x="990600" y="0"/>
                </a:lnTo>
                <a:lnTo>
                  <a:pt x="990600" y="270852"/>
                </a:lnTo>
                <a:lnTo>
                  <a:pt x="0" y="270852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251877" y="2702166"/>
            <a:ext cx="762000" cy="271145"/>
          </a:xfrm>
          <a:custGeom>
            <a:avLst/>
            <a:gdLst/>
            <a:ahLst/>
            <a:cxnLst/>
            <a:rect l="l" t="t" r="r" b="b"/>
            <a:pathLst>
              <a:path w="762000" h="271144">
                <a:moveTo>
                  <a:pt x="0" y="0"/>
                </a:moveTo>
                <a:lnTo>
                  <a:pt x="762000" y="0"/>
                </a:lnTo>
                <a:lnTo>
                  <a:pt x="762000" y="270852"/>
                </a:lnTo>
                <a:lnTo>
                  <a:pt x="0" y="270852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013877" y="2702166"/>
            <a:ext cx="520700" cy="271145"/>
          </a:xfrm>
          <a:custGeom>
            <a:avLst/>
            <a:gdLst/>
            <a:ahLst/>
            <a:cxnLst/>
            <a:rect l="l" t="t" r="r" b="b"/>
            <a:pathLst>
              <a:path w="520700" h="271144">
                <a:moveTo>
                  <a:pt x="0" y="0"/>
                </a:moveTo>
                <a:lnTo>
                  <a:pt x="520522" y="0"/>
                </a:lnTo>
                <a:lnTo>
                  <a:pt x="520522" y="270852"/>
                </a:lnTo>
                <a:lnTo>
                  <a:pt x="0" y="270852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250940" y="2437129"/>
            <a:ext cx="2189480" cy="5616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altLang="zh-CN" b="1" spc="-5" dirty="0" err="1">
                <a:latin typeface="Calibri"/>
                <a:cs typeface="Calibri"/>
              </a:rPr>
              <a:t>int</a:t>
            </a:r>
            <a:r>
              <a:rPr lang="zh-CN" altLang="en-US" b="1" spc="-5" dirty="0">
                <a:latin typeface="Calibri"/>
                <a:cs typeface="Calibri"/>
              </a:rPr>
              <a:t>地址</a:t>
            </a:r>
            <a:r>
              <a:rPr sz="1800" b="1" spc="-5" dirty="0">
                <a:latin typeface="Calibri"/>
                <a:cs typeface="Calibri"/>
              </a:rPr>
              <a:t>:</a:t>
            </a:r>
            <a:endParaRPr sz="1800" dirty="0">
              <a:latin typeface="Calibri"/>
              <a:cs typeface="Calibri"/>
            </a:endParaRPr>
          </a:p>
          <a:p>
            <a:pPr marL="292735">
              <a:lnSpc>
                <a:spcPct val="100000"/>
              </a:lnSpc>
              <a:spcBef>
                <a:spcPts val="280"/>
              </a:spcBef>
              <a:tabLst>
                <a:tab pos="1155065" algn="l"/>
                <a:tab pos="1870075" algn="l"/>
              </a:tabLst>
            </a:pPr>
            <a:r>
              <a:rPr sz="1600" b="1" spc="-5" dirty="0">
                <a:latin typeface="Calibri"/>
                <a:cs typeface="Calibri"/>
              </a:rPr>
              <a:t>t </a:t>
            </a:r>
            <a:r>
              <a:rPr sz="1600" b="1" spc="-10" dirty="0">
                <a:latin typeface="Calibri"/>
                <a:cs typeface="Calibri"/>
              </a:rPr>
              <a:t>b</a:t>
            </a:r>
            <a:r>
              <a:rPr sz="1600" b="1" spc="-5" dirty="0">
                <a:latin typeface="Calibri"/>
                <a:cs typeface="Calibri"/>
              </a:rPr>
              <a:t>i</a:t>
            </a:r>
            <a:r>
              <a:rPr sz="1600" b="1" spc="-10" dirty="0">
                <a:latin typeface="Calibri"/>
                <a:cs typeface="Calibri"/>
              </a:rPr>
              <a:t>t</a:t>
            </a:r>
            <a:r>
              <a:rPr sz="1600" b="1" spc="-5" dirty="0">
                <a:latin typeface="Calibri"/>
                <a:cs typeface="Calibri"/>
              </a:rPr>
              <a:t>s</a:t>
            </a:r>
            <a:r>
              <a:rPr sz="1600" b="1" dirty="0">
                <a:latin typeface="Calibri"/>
                <a:cs typeface="Calibri"/>
              </a:rPr>
              <a:t>	</a:t>
            </a:r>
            <a:r>
              <a:rPr sz="1600" b="1" spc="-10" dirty="0">
                <a:latin typeface="Calibri"/>
                <a:cs typeface="Calibri"/>
              </a:rPr>
              <a:t>0</a:t>
            </a:r>
            <a:r>
              <a:rPr sz="1600" b="1" spc="-5" dirty="0">
                <a:latin typeface="Calibri"/>
                <a:cs typeface="Calibri"/>
              </a:rPr>
              <a:t>…</a:t>
            </a:r>
            <a:r>
              <a:rPr sz="1600" b="1" spc="-10" dirty="0">
                <a:latin typeface="Calibri"/>
                <a:cs typeface="Calibri"/>
              </a:rPr>
              <a:t>0</a:t>
            </a:r>
            <a:r>
              <a:rPr sz="1600" b="1" spc="-5" dirty="0">
                <a:latin typeface="Calibri"/>
                <a:cs typeface="Calibri"/>
              </a:rPr>
              <a:t>1</a:t>
            </a:r>
            <a:r>
              <a:rPr sz="1600" b="1" dirty="0">
                <a:latin typeface="Calibri"/>
                <a:cs typeface="Calibri"/>
              </a:rPr>
              <a:t>	</a:t>
            </a:r>
            <a:r>
              <a:rPr sz="1600" b="1" spc="-10" dirty="0">
                <a:latin typeface="Calibri"/>
                <a:cs typeface="Calibri"/>
              </a:rPr>
              <a:t>100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524000" y="3124200"/>
            <a:ext cx="3848735" cy="533400"/>
          </a:xfrm>
          <a:custGeom>
            <a:avLst/>
            <a:gdLst/>
            <a:ahLst/>
            <a:cxnLst/>
            <a:rect l="l" t="t" r="r" b="b"/>
            <a:pathLst>
              <a:path w="3848735" h="533400">
                <a:moveTo>
                  <a:pt x="0" y="0"/>
                </a:moveTo>
                <a:lnTo>
                  <a:pt x="3848290" y="0"/>
                </a:lnTo>
                <a:lnTo>
                  <a:pt x="384829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ADAD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524000" y="3124200"/>
            <a:ext cx="3848735" cy="533400"/>
          </a:xfrm>
          <a:custGeom>
            <a:avLst/>
            <a:gdLst/>
            <a:ahLst/>
            <a:cxnLst/>
            <a:rect l="l" t="t" r="r" b="b"/>
            <a:pathLst>
              <a:path w="3848735" h="533400">
                <a:moveTo>
                  <a:pt x="0" y="0"/>
                </a:moveTo>
                <a:lnTo>
                  <a:pt x="3848290" y="0"/>
                </a:lnTo>
                <a:lnTo>
                  <a:pt x="384829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022244" y="3238500"/>
            <a:ext cx="273050" cy="304800"/>
          </a:xfrm>
          <a:custGeom>
            <a:avLst/>
            <a:gdLst/>
            <a:ahLst/>
            <a:cxnLst/>
            <a:rect l="l" t="t" r="r" b="b"/>
            <a:pathLst>
              <a:path w="273050" h="304800">
                <a:moveTo>
                  <a:pt x="0" y="0"/>
                </a:moveTo>
                <a:lnTo>
                  <a:pt x="272605" y="0"/>
                </a:lnTo>
                <a:lnTo>
                  <a:pt x="272605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022244" y="3238500"/>
            <a:ext cx="273050" cy="304800"/>
          </a:xfrm>
          <a:custGeom>
            <a:avLst/>
            <a:gdLst/>
            <a:ahLst/>
            <a:cxnLst/>
            <a:rect l="l" t="t" r="r" b="b"/>
            <a:pathLst>
              <a:path w="273050" h="304800">
                <a:moveTo>
                  <a:pt x="0" y="0"/>
                </a:moveTo>
                <a:lnTo>
                  <a:pt x="272605" y="0"/>
                </a:lnTo>
                <a:lnTo>
                  <a:pt x="272605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294850" y="3238500"/>
            <a:ext cx="273050" cy="304800"/>
          </a:xfrm>
          <a:custGeom>
            <a:avLst/>
            <a:gdLst/>
            <a:ahLst/>
            <a:cxnLst/>
            <a:rect l="l" t="t" r="r" b="b"/>
            <a:pathLst>
              <a:path w="273050" h="304800">
                <a:moveTo>
                  <a:pt x="0" y="0"/>
                </a:moveTo>
                <a:lnTo>
                  <a:pt x="272605" y="0"/>
                </a:lnTo>
                <a:lnTo>
                  <a:pt x="272605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294850" y="3238500"/>
            <a:ext cx="273050" cy="304800"/>
          </a:xfrm>
          <a:custGeom>
            <a:avLst/>
            <a:gdLst/>
            <a:ahLst/>
            <a:cxnLst/>
            <a:rect l="l" t="t" r="r" b="b"/>
            <a:pathLst>
              <a:path w="273050" h="304800">
                <a:moveTo>
                  <a:pt x="0" y="0"/>
                </a:moveTo>
                <a:lnTo>
                  <a:pt x="272605" y="0"/>
                </a:lnTo>
                <a:lnTo>
                  <a:pt x="272605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555644" y="3238500"/>
            <a:ext cx="273050" cy="304800"/>
          </a:xfrm>
          <a:custGeom>
            <a:avLst/>
            <a:gdLst/>
            <a:ahLst/>
            <a:cxnLst/>
            <a:rect l="l" t="t" r="r" b="b"/>
            <a:pathLst>
              <a:path w="273050" h="304800">
                <a:moveTo>
                  <a:pt x="0" y="0"/>
                </a:moveTo>
                <a:lnTo>
                  <a:pt x="272605" y="0"/>
                </a:lnTo>
                <a:lnTo>
                  <a:pt x="272605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555644" y="3238500"/>
            <a:ext cx="273050" cy="304800"/>
          </a:xfrm>
          <a:custGeom>
            <a:avLst/>
            <a:gdLst/>
            <a:ahLst/>
            <a:cxnLst/>
            <a:rect l="l" t="t" r="r" b="b"/>
            <a:pathLst>
              <a:path w="273050" h="304800">
                <a:moveTo>
                  <a:pt x="0" y="0"/>
                </a:moveTo>
                <a:lnTo>
                  <a:pt x="272605" y="0"/>
                </a:lnTo>
                <a:lnTo>
                  <a:pt x="272605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977688" y="3238500"/>
            <a:ext cx="292735" cy="304800"/>
          </a:xfrm>
          <a:custGeom>
            <a:avLst/>
            <a:gdLst/>
            <a:ahLst/>
            <a:cxnLst/>
            <a:rect l="l" t="t" r="r" b="b"/>
            <a:pathLst>
              <a:path w="292735" h="304800">
                <a:moveTo>
                  <a:pt x="0" y="0"/>
                </a:moveTo>
                <a:lnTo>
                  <a:pt x="292646" y="0"/>
                </a:lnTo>
                <a:lnTo>
                  <a:pt x="292646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A9E39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977688" y="3238500"/>
            <a:ext cx="292735" cy="304800"/>
          </a:xfrm>
          <a:custGeom>
            <a:avLst/>
            <a:gdLst/>
            <a:ahLst/>
            <a:cxnLst/>
            <a:rect l="l" t="t" r="r" b="b"/>
            <a:pathLst>
              <a:path w="292735" h="304800">
                <a:moveTo>
                  <a:pt x="0" y="0"/>
                </a:moveTo>
                <a:lnTo>
                  <a:pt x="292646" y="0"/>
                </a:lnTo>
                <a:lnTo>
                  <a:pt x="292646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119655" y="3238500"/>
            <a:ext cx="718185" cy="304800"/>
          </a:xfrm>
          <a:custGeom>
            <a:avLst/>
            <a:gdLst/>
            <a:ahLst/>
            <a:cxnLst/>
            <a:rect l="l" t="t" r="r" b="b"/>
            <a:pathLst>
              <a:path w="718185" h="304800">
                <a:moveTo>
                  <a:pt x="0" y="0"/>
                </a:moveTo>
                <a:lnTo>
                  <a:pt x="717994" y="0"/>
                </a:lnTo>
                <a:lnTo>
                  <a:pt x="717994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FF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119655" y="3238500"/>
            <a:ext cx="718185" cy="304800"/>
          </a:xfrm>
          <a:custGeom>
            <a:avLst/>
            <a:gdLst/>
            <a:ahLst/>
            <a:cxnLst/>
            <a:rect l="l" t="t" r="r" b="b"/>
            <a:pathLst>
              <a:path w="718185" h="304800">
                <a:moveTo>
                  <a:pt x="0" y="0"/>
                </a:moveTo>
                <a:lnTo>
                  <a:pt x="717994" y="0"/>
                </a:lnTo>
                <a:lnTo>
                  <a:pt x="717994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650644" y="3238500"/>
            <a:ext cx="273050" cy="304800"/>
          </a:xfrm>
          <a:custGeom>
            <a:avLst/>
            <a:gdLst/>
            <a:ahLst/>
            <a:cxnLst/>
            <a:rect l="l" t="t" r="r" b="b"/>
            <a:pathLst>
              <a:path w="273050" h="304800">
                <a:moveTo>
                  <a:pt x="0" y="0"/>
                </a:moveTo>
                <a:lnTo>
                  <a:pt x="272605" y="0"/>
                </a:lnTo>
                <a:lnTo>
                  <a:pt x="272605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650644" y="3238500"/>
            <a:ext cx="273050" cy="304800"/>
          </a:xfrm>
          <a:custGeom>
            <a:avLst/>
            <a:gdLst/>
            <a:ahLst/>
            <a:cxnLst/>
            <a:rect l="l" t="t" r="r" b="b"/>
            <a:pathLst>
              <a:path w="273050" h="304800">
                <a:moveTo>
                  <a:pt x="0" y="0"/>
                </a:moveTo>
                <a:lnTo>
                  <a:pt x="272605" y="0"/>
                </a:lnTo>
                <a:lnTo>
                  <a:pt x="272605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828973" y="3238500"/>
            <a:ext cx="273050" cy="304800"/>
          </a:xfrm>
          <a:custGeom>
            <a:avLst/>
            <a:gdLst/>
            <a:ahLst/>
            <a:cxnLst/>
            <a:rect l="l" t="t" r="r" b="b"/>
            <a:pathLst>
              <a:path w="273050" h="304800">
                <a:moveTo>
                  <a:pt x="0" y="0"/>
                </a:moveTo>
                <a:lnTo>
                  <a:pt x="272605" y="0"/>
                </a:lnTo>
                <a:lnTo>
                  <a:pt x="272605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828973" y="3238500"/>
            <a:ext cx="273050" cy="304800"/>
          </a:xfrm>
          <a:custGeom>
            <a:avLst/>
            <a:gdLst/>
            <a:ahLst/>
            <a:cxnLst/>
            <a:rect l="l" t="t" r="r" b="b"/>
            <a:pathLst>
              <a:path w="273050" h="304800">
                <a:moveTo>
                  <a:pt x="0" y="0"/>
                </a:moveTo>
                <a:lnTo>
                  <a:pt x="272605" y="0"/>
                </a:lnTo>
                <a:lnTo>
                  <a:pt x="272605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686490" y="3238500"/>
            <a:ext cx="292735" cy="304800"/>
          </a:xfrm>
          <a:custGeom>
            <a:avLst/>
            <a:gdLst/>
            <a:ahLst/>
            <a:cxnLst/>
            <a:rect l="l" t="t" r="r" b="b"/>
            <a:pathLst>
              <a:path w="292735" h="304800">
                <a:moveTo>
                  <a:pt x="0" y="0"/>
                </a:moveTo>
                <a:lnTo>
                  <a:pt x="292646" y="0"/>
                </a:lnTo>
                <a:lnTo>
                  <a:pt x="292646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A9E39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686490" y="3238500"/>
            <a:ext cx="292735" cy="304800"/>
          </a:xfrm>
          <a:custGeom>
            <a:avLst/>
            <a:gdLst/>
            <a:ahLst/>
            <a:cxnLst/>
            <a:rect l="l" t="t" r="r" b="b"/>
            <a:pathLst>
              <a:path w="292735" h="304800">
                <a:moveTo>
                  <a:pt x="0" y="0"/>
                </a:moveTo>
                <a:lnTo>
                  <a:pt x="292646" y="0"/>
                </a:lnTo>
                <a:lnTo>
                  <a:pt x="292646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394568" y="3238500"/>
            <a:ext cx="292735" cy="304800"/>
          </a:xfrm>
          <a:custGeom>
            <a:avLst/>
            <a:gdLst/>
            <a:ahLst/>
            <a:cxnLst/>
            <a:rect l="l" t="t" r="r" b="b"/>
            <a:pathLst>
              <a:path w="292735" h="304800">
                <a:moveTo>
                  <a:pt x="0" y="0"/>
                </a:moveTo>
                <a:lnTo>
                  <a:pt x="292646" y="0"/>
                </a:lnTo>
                <a:lnTo>
                  <a:pt x="292646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A9E39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4394568" y="3238500"/>
            <a:ext cx="292735" cy="304800"/>
          </a:xfrm>
          <a:custGeom>
            <a:avLst/>
            <a:gdLst/>
            <a:ahLst/>
            <a:cxnLst/>
            <a:rect l="l" t="t" r="r" b="b"/>
            <a:pathLst>
              <a:path w="292735" h="304800">
                <a:moveTo>
                  <a:pt x="0" y="0"/>
                </a:moveTo>
                <a:lnTo>
                  <a:pt x="292646" y="0"/>
                </a:lnTo>
                <a:lnTo>
                  <a:pt x="292646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102646" y="3238500"/>
            <a:ext cx="292735" cy="304800"/>
          </a:xfrm>
          <a:custGeom>
            <a:avLst/>
            <a:gdLst/>
            <a:ahLst/>
            <a:cxnLst/>
            <a:rect l="l" t="t" r="r" b="b"/>
            <a:pathLst>
              <a:path w="292735" h="304800">
                <a:moveTo>
                  <a:pt x="0" y="0"/>
                </a:moveTo>
                <a:lnTo>
                  <a:pt x="292646" y="0"/>
                </a:lnTo>
                <a:lnTo>
                  <a:pt x="292646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A9E39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102646" y="3238500"/>
            <a:ext cx="292735" cy="304800"/>
          </a:xfrm>
          <a:custGeom>
            <a:avLst/>
            <a:gdLst/>
            <a:ahLst/>
            <a:cxnLst/>
            <a:rect l="l" t="t" r="r" b="b"/>
            <a:pathLst>
              <a:path w="292735" h="304800">
                <a:moveTo>
                  <a:pt x="0" y="0"/>
                </a:moveTo>
                <a:lnTo>
                  <a:pt x="292646" y="0"/>
                </a:lnTo>
                <a:lnTo>
                  <a:pt x="292646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3095266" y="3294760"/>
            <a:ext cx="2092325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85115" algn="l"/>
                <a:tab pos="545465" algn="l"/>
                <a:tab pos="819150" algn="l"/>
                <a:tab pos="1101725" algn="l"/>
                <a:tab pos="1393190" algn="l"/>
                <a:tab pos="1685289" algn="l"/>
                <a:tab pos="1976755" algn="l"/>
              </a:tabLst>
            </a:pPr>
            <a:r>
              <a:rPr sz="1600" b="1" spc="-5" dirty="0">
                <a:latin typeface="Calibri"/>
                <a:cs typeface="Calibri"/>
              </a:rPr>
              <a:t>0	1	2	3	4	5	6	7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332441" y="3294760"/>
            <a:ext cx="290830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spc="-20" dirty="0">
                <a:latin typeface="Calibri"/>
                <a:cs typeface="Calibri"/>
              </a:rPr>
              <a:t>t</a:t>
            </a:r>
            <a:r>
              <a:rPr sz="1600" b="1" spc="-5" dirty="0">
                <a:latin typeface="Calibri"/>
                <a:cs typeface="Calibri"/>
              </a:rPr>
              <a:t>ag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726714" y="3294760"/>
            <a:ext cx="121920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spc="-5" dirty="0">
                <a:latin typeface="Calibri"/>
                <a:cs typeface="Calibri"/>
              </a:rPr>
              <a:t>v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5372290" y="2973010"/>
            <a:ext cx="2260600" cy="418465"/>
          </a:xfrm>
          <a:custGeom>
            <a:avLst/>
            <a:gdLst/>
            <a:ahLst/>
            <a:cxnLst/>
            <a:rect l="l" t="t" r="r" b="b"/>
            <a:pathLst>
              <a:path w="2260600" h="418464">
                <a:moveTo>
                  <a:pt x="2260587" y="0"/>
                </a:moveTo>
                <a:lnTo>
                  <a:pt x="2260587" y="417893"/>
                </a:lnTo>
                <a:lnTo>
                  <a:pt x="0" y="417893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2478647" y="2837586"/>
            <a:ext cx="3782695" cy="401320"/>
          </a:xfrm>
          <a:custGeom>
            <a:avLst/>
            <a:gdLst/>
            <a:ahLst/>
            <a:cxnLst/>
            <a:rect l="l" t="t" r="r" b="b"/>
            <a:pathLst>
              <a:path w="3782695" h="401319">
                <a:moveTo>
                  <a:pt x="3782631" y="0"/>
                </a:moveTo>
                <a:lnTo>
                  <a:pt x="0" y="0"/>
                </a:lnTo>
                <a:lnTo>
                  <a:pt x="0" y="400913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782138" y="2838380"/>
            <a:ext cx="1905" cy="401320"/>
          </a:xfrm>
          <a:custGeom>
            <a:avLst/>
            <a:gdLst/>
            <a:ahLst/>
            <a:cxnLst/>
            <a:rect l="l" t="t" r="r" b="b"/>
            <a:pathLst>
              <a:path w="1905" h="401319">
                <a:moveTo>
                  <a:pt x="1587" y="0"/>
                </a:moveTo>
                <a:lnTo>
                  <a:pt x="0" y="400913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4248963" y="2973010"/>
            <a:ext cx="4025265" cy="998855"/>
          </a:xfrm>
          <a:custGeom>
            <a:avLst/>
            <a:gdLst/>
            <a:ahLst/>
            <a:cxnLst/>
            <a:rect l="l" t="t" r="r" b="b"/>
            <a:pathLst>
              <a:path w="4025265" h="998854">
                <a:moveTo>
                  <a:pt x="4025176" y="0"/>
                </a:moveTo>
                <a:lnTo>
                  <a:pt x="4025176" y="998512"/>
                </a:lnTo>
                <a:lnTo>
                  <a:pt x="0" y="998512"/>
                </a:lnTo>
                <a:lnTo>
                  <a:pt x="0" y="570293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4330520" y="3581402"/>
            <a:ext cx="734060" cy="1066800"/>
          </a:xfrm>
          <a:custGeom>
            <a:avLst/>
            <a:gdLst/>
            <a:ahLst/>
            <a:cxnLst/>
            <a:rect l="l" t="t" r="r" b="b"/>
            <a:pathLst>
              <a:path w="734060" h="1066800">
                <a:moveTo>
                  <a:pt x="550240" y="366826"/>
                </a:moveTo>
                <a:lnTo>
                  <a:pt x="183413" y="366826"/>
                </a:lnTo>
                <a:lnTo>
                  <a:pt x="183413" y="1066799"/>
                </a:lnTo>
                <a:lnTo>
                  <a:pt x="550240" y="1066799"/>
                </a:lnTo>
                <a:lnTo>
                  <a:pt x="550240" y="366826"/>
                </a:lnTo>
                <a:close/>
              </a:path>
              <a:path w="734060" h="1066800">
                <a:moveTo>
                  <a:pt x="366826" y="0"/>
                </a:moveTo>
                <a:lnTo>
                  <a:pt x="0" y="366826"/>
                </a:lnTo>
                <a:lnTo>
                  <a:pt x="733653" y="366826"/>
                </a:lnTo>
                <a:lnTo>
                  <a:pt x="366826" y="0"/>
                </a:lnTo>
                <a:close/>
              </a:path>
            </a:pathLst>
          </a:custGeom>
          <a:solidFill>
            <a:srgbClr val="A7A8A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3619395" y="4037338"/>
            <a:ext cx="3307715" cy="9977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indent="2174240">
              <a:lnSpc>
                <a:spcPct val="100000"/>
              </a:lnSpc>
            </a:pPr>
            <a:r>
              <a:rPr lang="zh-CN" altLang="en-US" sz="1800" b="1" spc="-25" dirty="0">
                <a:latin typeface="Calibri"/>
                <a:cs typeface="Calibri"/>
              </a:rPr>
              <a:t>        块偏移</a:t>
            </a:r>
            <a:endParaRPr sz="1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60"/>
              </a:spcBef>
            </a:pPr>
            <a:r>
              <a:rPr sz="1800" b="1" spc="-5" dirty="0">
                <a:latin typeface="Calibri"/>
                <a:cs typeface="Calibri"/>
              </a:rPr>
              <a:t>i</a:t>
            </a:r>
            <a:r>
              <a:rPr sz="1800" b="1" spc="-15" dirty="0">
                <a:latin typeface="Calibri"/>
                <a:cs typeface="Calibri"/>
              </a:rPr>
              <a:t>n</a:t>
            </a:r>
            <a:r>
              <a:rPr sz="1800" b="1" spc="-5" dirty="0">
                <a:latin typeface="Calibri"/>
                <a:cs typeface="Calibri"/>
              </a:rPr>
              <a:t>t</a:t>
            </a:r>
            <a:r>
              <a:rPr sz="1800" b="1" spc="-15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(4</a:t>
            </a:r>
            <a:r>
              <a:rPr lang="zh-CN" altLang="en-US" b="1" spc="-5" dirty="0">
                <a:latin typeface="Calibri"/>
                <a:cs typeface="Calibri"/>
              </a:rPr>
              <a:t>个</a:t>
            </a:r>
            <a:r>
              <a:rPr lang="zh-CN" altLang="en-US" b="1" dirty="0">
                <a:latin typeface="Calibri"/>
                <a:cs typeface="Calibri"/>
              </a:rPr>
              <a:t>字节</a:t>
            </a:r>
            <a:r>
              <a:rPr sz="1800" b="1" spc="-5" dirty="0">
                <a:latin typeface="Calibri"/>
                <a:cs typeface="Calibri"/>
              </a:rPr>
              <a:t>)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lang="zh-CN" altLang="en-US" sz="1800" b="1" spc="-25" dirty="0">
                <a:latin typeface="Calibri"/>
                <a:cs typeface="Calibri"/>
              </a:rPr>
              <a:t>在这里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535940" y="5804408"/>
            <a:ext cx="6596380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zh-CN" altLang="en-US" sz="2400" b="1" spc="-5" dirty="0">
                <a:solidFill>
                  <a:srgbClr val="C00000"/>
                </a:solidFill>
                <a:latin typeface="Calibri"/>
                <a:cs typeface="Calibri"/>
              </a:rPr>
              <a:t>如果标记不匹配</a:t>
            </a:r>
            <a:r>
              <a:rPr sz="2400" b="1" spc="-5" dirty="0">
                <a:solidFill>
                  <a:srgbClr val="C00000"/>
                </a:solidFill>
                <a:latin typeface="Calibri"/>
                <a:cs typeface="Calibri"/>
              </a:rPr>
              <a:t>: </a:t>
            </a:r>
            <a:r>
              <a:rPr lang="zh-CN" altLang="en-US" sz="2400" b="1" spc="-20" dirty="0">
                <a:latin typeface="Calibri"/>
                <a:cs typeface="Calibri"/>
              </a:rPr>
              <a:t>旧的行被驱逐并替换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47" name="object 3"/>
          <p:cNvSpPr txBox="1">
            <a:spLocks noGrp="1"/>
          </p:cNvSpPr>
          <p:nvPr>
            <p:ph type="title"/>
          </p:nvPr>
        </p:nvSpPr>
        <p:spPr>
          <a:xfrm>
            <a:off x="374650" y="330564"/>
            <a:ext cx="7591425" cy="843822"/>
          </a:xfrm>
          <a:prstGeom prst="rect">
            <a:avLst/>
          </a:prstGeom>
        </p:spPr>
        <p:txBody>
          <a:bodyPr vert="horz" wrap="square" lIns="0" tIns="287021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zh-CN" altLang="en-US" dirty="0"/>
              <a:t>例子</a:t>
            </a:r>
            <a:r>
              <a:rPr dirty="0"/>
              <a:t>:</a:t>
            </a:r>
            <a:r>
              <a:rPr spc="-20" dirty="0"/>
              <a:t> </a:t>
            </a:r>
            <a:r>
              <a:rPr lang="zh-CN" altLang="en-US" spc="-20" dirty="0"/>
              <a:t>直接映射高级缓存</a:t>
            </a:r>
            <a:r>
              <a:rPr spc="-15" dirty="0"/>
              <a:t>(</a:t>
            </a:r>
            <a:r>
              <a:rPr spc="-5" dirty="0"/>
              <a:t>E</a:t>
            </a:r>
            <a:r>
              <a:rPr spc="10" dirty="0"/>
              <a:t> </a:t>
            </a:r>
            <a:r>
              <a:rPr dirty="0"/>
              <a:t>=</a:t>
            </a:r>
            <a:r>
              <a:rPr spc="-20" dirty="0"/>
              <a:t> </a:t>
            </a:r>
            <a:r>
              <a:rPr spc="-5" dirty="0"/>
              <a:t>1)</a:t>
            </a:r>
          </a:p>
        </p:txBody>
      </p:sp>
      <p:sp>
        <p:nvSpPr>
          <p:cNvPr id="48" name="object 7"/>
          <p:cNvSpPr txBox="1"/>
          <p:nvPr/>
        </p:nvSpPr>
        <p:spPr>
          <a:xfrm>
            <a:off x="459740" y="1242297"/>
            <a:ext cx="3274060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lang="zh-CN" altLang="en-US" sz="1800" b="1" spc="-5" dirty="0">
                <a:latin typeface="Calibri"/>
                <a:cs typeface="Calibri"/>
              </a:rPr>
              <a:t>直接映射</a:t>
            </a:r>
            <a:r>
              <a:rPr sz="1800" b="1" spc="-5" dirty="0">
                <a:latin typeface="Calibri"/>
                <a:cs typeface="Calibri"/>
              </a:rPr>
              <a:t>: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lang="zh-CN" altLang="en-US" sz="1800" b="1" spc="-30" dirty="0">
                <a:latin typeface="Calibri"/>
                <a:cs typeface="Calibri"/>
              </a:rPr>
              <a:t>每组一行</a:t>
            </a:r>
            <a:endParaRPr lang="en-US" altLang="zh-CN" sz="1800" b="1" spc="-30" dirty="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lang="zh-CN" altLang="en-US" sz="1800" b="1" spc="-5" dirty="0">
                <a:latin typeface="Calibri"/>
                <a:cs typeface="Calibri"/>
              </a:rPr>
              <a:t>假定</a:t>
            </a:r>
            <a:r>
              <a:rPr sz="1800" b="1" spc="-5" dirty="0">
                <a:latin typeface="Calibri"/>
                <a:cs typeface="Calibri"/>
              </a:rPr>
              <a:t>: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lang="zh-CN" altLang="en-US" sz="1800" b="1" spc="-30" dirty="0">
                <a:latin typeface="Calibri"/>
                <a:cs typeface="Calibri"/>
              </a:rPr>
              <a:t>高速缓存块大小为 </a:t>
            </a:r>
            <a:r>
              <a:rPr sz="1800" b="1" spc="-5" dirty="0">
                <a:latin typeface="Calibri"/>
                <a:cs typeface="Calibri"/>
              </a:rPr>
              <a:t>8</a:t>
            </a:r>
            <a:r>
              <a:rPr lang="zh-CN" altLang="en-US" b="1" spc="-5" dirty="0">
                <a:latin typeface="Calibri"/>
                <a:cs typeface="Calibri"/>
              </a:rPr>
              <a:t>个</a:t>
            </a:r>
            <a:r>
              <a:rPr lang="zh-CN" altLang="en-US" b="1" dirty="0">
                <a:latin typeface="Calibri"/>
                <a:cs typeface="Calibri"/>
              </a:rPr>
              <a:t>字节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49" name="object 38"/>
          <p:cNvSpPr txBox="1"/>
          <p:nvPr/>
        </p:nvSpPr>
        <p:spPr>
          <a:xfrm>
            <a:off x="2196298" y="2589529"/>
            <a:ext cx="2540000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63525" algn="l"/>
              </a:tabLst>
            </a:pPr>
            <a:r>
              <a:rPr sz="1800" b="1" dirty="0">
                <a:latin typeface="Calibri"/>
                <a:cs typeface="Calibri"/>
              </a:rPr>
              <a:t>+	</a:t>
            </a:r>
            <a:r>
              <a:rPr lang="zh-CN" altLang="en-US" sz="1800" b="1" dirty="0">
                <a:latin typeface="Calibri"/>
                <a:cs typeface="Calibri"/>
              </a:rPr>
              <a:t>匹配</a:t>
            </a:r>
            <a:r>
              <a:rPr sz="1800" b="1" spc="-5" dirty="0">
                <a:latin typeface="Calibri"/>
                <a:cs typeface="Calibri"/>
              </a:rPr>
              <a:t>:</a:t>
            </a:r>
            <a:r>
              <a:rPr sz="1800" b="1" spc="-20" dirty="0">
                <a:latin typeface="Calibri"/>
                <a:cs typeface="Calibri"/>
              </a:rPr>
              <a:t> </a:t>
            </a:r>
            <a:r>
              <a:rPr lang="zh-CN" altLang="en-US" sz="1800" b="1" spc="-20" dirty="0">
                <a:latin typeface="Calibri"/>
                <a:cs typeface="Calibri"/>
              </a:rPr>
              <a:t>假设 </a:t>
            </a:r>
            <a:r>
              <a:rPr sz="1800" b="1" spc="-30" dirty="0">
                <a:latin typeface="Calibri"/>
                <a:cs typeface="Calibri"/>
              </a:rPr>
              <a:t>y</a:t>
            </a:r>
            <a:r>
              <a:rPr sz="1800" b="1" spc="5" dirty="0">
                <a:latin typeface="Calibri"/>
                <a:cs typeface="Calibri"/>
              </a:rPr>
              <a:t>e</a:t>
            </a:r>
            <a:r>
              <a:rPr sz="1800" b="1" spc="-5" dirty="0">
                <a:latin typeface="Calibri"/>
                <a:cs typeface="Calibri"/>
              </a:rPr>
              <a:t>s</a:t>
            </a:r>
            <a:r>
              <a:rPr sz="1800" b="1" spc="-1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=</a:t>
            </a:r>
            <a:r>
              <a:rPr sz="1800" b="1" spc="1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h</a:t>
            </a:r>
            <a:r>
              <a:rPr sz="1800" b="1" spc="-5" dirty="0">
                <a:latin typeface="Calibri"/>
                <a:cs typeface="Calibri"/>
              </a:rPr>
              <a:t>it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50" name="object 39"/>
          <p:cNvSpPr txBox="1"/>
          <p:nvPr/>
        </p:nvSpPr>
        <p:spPr>
          <a:xfrm>
            <a:off x="1481466" y="2589529"/>
            <a:ext cx="586105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zh-CN" altLang="en-US" sz="1800" b="1" dirty="0">
                <a:latin typeface="Calibri"/>
                <a:cs typeface="Calibri"/>
              </a:rPr>
              <a:t>有效</a:t>
            </a:r>
            <a:r>
              <a:rPr sz="1800" b="1" dirty="0">
                <a:latin typeface="Calibri"/>
                <a:cs typeface="Calibri"/>
              </a:rPr>
              <a:t>?</a:t>
            </a:r>
            <a:endParaRPr sz="1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57018" y="401179"/>
            <a:ext cx="7592093" cy="830998"/>
          </a:xfrm>
          <a:prstGeom prst="rect">
            <a:avLst/>
          </a:prstGeom>
        </p:spPr>
        <p:txBody>
          <a:bodyPr vert="horz" wrap="square" lIns="0" tIns="274321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zh-CN" altLang="en-US" spc="-5" dirty="0"/>
              <a:t>直接映射高速缓存仿真</a:t>
            </a:r>
            <a:endParaRPr spc="-5" dirty="0"/>
          </a:p>
        </p:txBody>
      </p:sp>
      <p:sp>
        <p:nvSpPr>
          <p:cNvPr id="4" name="object 4"/>
          <p:cNvSpPr txBox="1"/>
          <p:nvPr/>
        </p:nvSpPr>
        <p:spPr>
          <a:xfrm>
            <a:off x="3289300" y="1470379"/>
            <a:ext cx="4867275" cy="6155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2000" dirty="0">
                <a:latin typeface="Calibri"/>
                <a:cs typeface="Calibri"/>
              </a:rPr>
              <a:t>M</a:t>
            </a:r>
            <a:r>
              <a:rPr sz="2000" spc="-5" dirty="0">
                <a:latin typeface="Calibri"/>
                <a:cs typeface="Calibri"/>
              </a:rPr>
              <a:t>=</a:t>
            </a:r>
            <a:r>
              <a:rPr sz="2000" dirty="0">
                <a:latin typeface="Calibri"/>
                <a:cs typeface="Calibri"/>
              </a:rPr>
              <a:t>16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lang="zh-CN" altLang="en-US" sz="2000" spc="-10" dirty="0">
                <a:latin typeface="Calibri"/>
                <a:cs typeface="Calibri"/>
              </a:rPr>
              <a:t>位</a:t>
            </a:r>
            <a:r>
              <a:rPr sz="2000" dirty="0">
                <a:latin typeface="Calibri"/>
                <a:cs typeface="Calibri"/>
              </a:rPr>
              <a:t> (</a:t>
            </a:r>
            <a:r>
              <a:rPr lang="zh-CN" altLang="en-US" sz="2000" dirty="0">
                <a:latin typeface="Calibri"/>
                <a:cs typeface="Calibri"/>
              </a:rPr>
              <a:t>地址是</a:t>
            </a:r>
            <a:r>
              <a:rPr lang="en-US" altLang="zh-CN" sz="2000" dirty="0">
                <a:latin typeface="Calibri"/>
                <a:cs typeface="Calibri"/>
              </a:rPr>
              <a:t>4</a:t>
            </a:r>
            <a:r>
              <a:rPr lang="zh-CN" altLang="en-US" sz="2000" dirty="0">
                <a:latin typeface="Calibri"/>
                <a:cs typeface="Calibri"/>
              </a:rPr>
              <a:t>位的</a:t>
            </a:r>
            <a:r>
              <a:rPr sz="2000" dirty="0">
                <a:latin typeface="Calibri"/>
                <a:cs typeface="Calibri"/>
              </a:rPr>
              <a:t>),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</a:t>
            </a:r>
            <a:r>
              <a:rPr sz="2000" spc="-5" dirty="0">
                <a:latin typeface="Calibri"/>
                <a:cs typeface="Calibri"/>
              </a:rPr>
              <a:t>=</a:t>
            </a:r>
            <a:r>
              <a:rPr sz="2000" dirty="0">
                <a:latin typeface="Calibri"/>
                <a:cs typeface="Calibri"/>
              </a:rPr>
              <a:t>2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lang="zh-CN" altLang="en-US" sz="2000" spc="-5" dirty="0">
                <a:latin typeface="Calibri"/>
                <a:cs typeface="Calibri"/>
              </a:rPr>
              <a:t>字节</a:t>
            </a:r>
            <a:r>
              <a:rPr lang="en-US" altLang="zh-CN" sz="2000" spc="-5" dirty="0">
                <a:latin typeface="Calibri"/>
                <a:cs typeface="Calibri"/>
              </a:rPr>
              <a:t>/</a:t>
            </a:r>
            <a:r>
              <a:rPr lang="zh-CN" altLang="en-US" sz="2000" spc="-5" dirty="0">
                <a:latin typeface="Calibri"/>
                <a:cs typeface="Calibri"/>
              </a:rPr>
              <a:t>块</a:t>
            </a:r>
            <a:r>
              <a:rPr sz="2000" dirty="0">
                <a:latin typeface="Calibri"/>
                <a:cs typeface="Calibri"/>
              </a:rPr>
              <a:t>, S</a:t>
            </a:r>
            <a:r>
              <a:rPr sz="2000" spc="-5" dirty="0">
                <a:latin typeface="Calibri"/>
                <a:cs typeface="Calibri"/>
              </a:rPr>
              <a:t>=</a:t>
            </a:r>
            <a:r>
              <a:rPr sz="2000" dirty="0">
                <a:latin typeface="Calibri"/>
                <a:cs typeface="Calibri"/>
              </a:rPr>
              <a:t>4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lang="zh-CN" altLang="en-US" sz="2000" spc="-5" dirty="0">
                <a:latin typeface="Calibri"/>
                <a:cs typeface="Calibri"/>
              </a:rPr>
              <a:t>组</a:t>
            </a:r>
            <a:r>
              <a:rPr sz="2000" dirty="0">
                <a:latin typeface="Calibri"/>
                <a:cs typeface="Calibri"/>
              </a:rPr>
              <a:t>,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5" dirty="0">
                <a:latin typeface="Calibri"/>
                <a:cs typeface="Calibri"/>
              </a:rPr>
              <a:t>E</a:t>
            </a:r>
            <a:r>
              <a:rPr sz="2000" spc="-5" dirty="0">
                <a:latin typeface="Calibri"/>
                <a:cs typeface="Calibri"/>
              </a:rPr>
              <a:t>=</a:t>
            </a:r>
            <a:r>
              <a:rPr sz="2000" dirty="0">
                <a:latin typeface="Calibri"/>
                <a:cs typeface="Calibri"/>
              </a:rPr>
              <a:t>1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lang="zh-CN" altLang="en-US" sz="2000" spc="-5" dirty="0">
                <a:latin typeface="Calibri"/>
                <a:cs typeface="Calibri"/>
              </a:rPr>
              <a:t>块</a:t>
            </a:r>
            <a:r>
              <a:rPr lang="en-US" altLang="zh-CN" sz="2000" spc="-5" dirty="0">
                <a:latin typeface="Calibri"/>
                <a:cs typeface="Calibri"/>
              </a:rPr>
              <a:t>/</a:t>
            </a:r>
            <a:r>
              <a:rPr lang="zh-CN" altLang="en-US" sz="2000" spc="-5" dirty="0">
                <a:latin typeface="Calibri"/>
                <a:cs typeface="Calibri"/>
              </a:rPr>
              <a:t>组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745739" y="2689981"/>
            <a:ext cx="4789170" cy="37343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55625">
              <a:lnSpc>
                <a:spcPts val="2260"/>
              </a:lnSpc>
            </a:pPr>
            <a:r>
              <a:rPr lang="zh-CN" altLang="en-US" sz="2000" spc="5" dirty="0">
                <a:latin typeface="Calibri"/>
                <a:cs typeface="Calibri"/>
              </a:rPr>
              <a:t>地址跟踪</a:t>
            </a:r>
            <a:r>
              <a:rPr sz="2000" spc="5" dirty="0">
                <a:latin typeface="Calibri"/>
                <a:cs typeface="Calibri"/>
              </a:rPr>
              <a:t>(</a:t>
            </a:r>
            <a:r>
              <a:rPr lang="zh-CN" altLang="en-US" sz="2000" spc="5" dirty="0">
                <a:latin typeface="Calibri"/>
                <a:cs typeface="Calibri"/>
              </a:rPr>
              <a:t>每次读取一个字节</a:t>
            </a:r>
            <a:r>
              <a:rPr sz="2000" dirty="0">
                <a:latin typeface="Calibri"/>
                <a:cs typeface="Calibri"/>
              </a:rPr>
              <a:t>):</a:t>
            </a:r>
          </a:p>
          <a:p>
            <a:pPr marL="3674745" algn="ctr">
              <a:lnSpc>
                <a:spcPts val="2260"/>
              </a:lnSpc>
            </a:pPr>
            <a:r>
              <a:rPr sz="2000" spc="-5" dirty="0">
                <a:latin typeface="Calibri"/>
                <a:cs typeface="Calibri"/>
              </a:rPr>
              <a:t>miss</a:t>
            </a:r>
            <a:endParaRPr sz="2000" dirty="0">
              <a:latin typeface="Calibri"/>
              <a:cs typeface="Calibri"/>
            </a:endParaRPr>
          </a:p>
          <a:p>
            <a:pPr marL="4002404" marR="319405" indent="-635" algn="ctr">
              <a:lnSpc>
                <a:spcPct val="100000"/>
              </a:lnSpc>
            </a:pPr>
            <a:r>
              <a:rPr sz="2000" dirty="0">
                <a:latin typeface="Calibri"/>
                <a:cs typeface="Calibri"/>
              </a:rPr>
              <a:t>h</a:t>
            </a:r>
            <a:r>
              <a:rPr sz="2000" spc="-5" dirty="0">
                <a:latin typeface="Calibri"/>
                <a:cs typeface="Calibri"/>
              </a:rPr>
              <a:t>i</a:t>
            </a:r>
            <a:r>
              <a:rPr sz="2000" dirty="0">
                <a:latin typeface="Calibri"/>
                <a:cs typeface="Calibri"/>
              </a:rPr>
              <a:t>t </a:t>
            </a:r>
            <a:r>
              <a:rPr sz="2000" spc="-5" dirty="0">
                <a:latin typeface="Calibri"/>
                <a:cs typeface="Calibri"/>
              </a:rPr>
              <a:t>miss miss miss</a:t>
            </a:r>
            <a:endParaRPr sz="2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8"/>
              </a:spcBef>
            </a:pPr>
            <a:endParaRPr sz="2150" dirty="0">
              <a:latin typeface="Times New Roman"/>
              <a:cs typeface="Times New Roman"/>
            </a:endParaRPr>
          </a:p>
          <a:p>
            <a:pPr marL="846455">
              <a:lnSpc>
                <a:spcPct val="100000"/>
              </a:lnSpc>
              <a:tabLst>
                <a:tab pos="1323975" algn="l"/>
                <a:tab pos="2281555" algn="l"/>
              </a:tabLst>
            </a:pPr>
            <a:r>
              <a:rPr sz="2000" dirty="0">
                <a:latin typeface="Calibri"/>
                <a:cs typeface="Calibri"/>
              </a:rPr>
              <a:t>v	</a:t>
            </a:r>
            <a:r>
              <a:rPr sz="2000" spc="-165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2000" dirty="0">
                <a:solidFill>
                  <a:srgbClr val="C00000"/>
                </a:solidFill>
                <a:latin typeface="Calibri"/>
                <a:cs typeface="Calibri"/>
              </a:rPr>
              <a:t>ag	</a:t>
            </a:r>
            <a:r>
              <a:rPr sz="2000" dirty="0">
                <a:latin typeface="Calibri"/>
                <a:cs typeface="Calibri"/>
              </a:rPr>
              <a:t>B</a:t>
            </a:r>
            <a:r>
              <a:rPr sz="2000" spc="-5" dirty="0">
                <a:latin typeface="Calibri"/>
                <a:cs typeface="Calibri"/>
              </a:rPr>
              <a:t>lo</a:t>
            </a:r>
            <a:r>
              <a:rPr sz="2000" dirty="0">
                <a:latin typeface="Calibri"/>
                <a:cs typeface="Calibri"/>
              </a:rPr>
              <a:t>ck</a:t>
            </a:r>
          </a:p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sz="1800" b="1" spc="-5" dirty="0">
                <a:solidFill>
                  <a:srgbClr val="0070C0"/>
                </a:solidFill>
                <a:latin typeface="Calibri"/>
                <a:cs typeface="Calibri"/>
              </a:rPr>
              <a:t>S</a:t>
            </a:r>
            <a:r>
              <a:rPr sz="1800" b="1" spc="-10" dirty="0">
                <a:solidFill>
                  <a:srgbClr val="0070C0"/>
                </a:solidFill>
                <a:latin typeface="Calibri"/>
                <a:cs typeface="Calibri"/>
              </a:rPr>
              <a:t>e</a:t>
            </a:r>
            <a:r>
              <a:rPr sz="1800" b="1" dirty="0">
                <a:solidFill>
                  <a:srgbClr val="0070C0"/>
                </a:solidFill>
                <a:latin typeface="Calibri"/>
                <a:cs typeface="Calibri"/>
              </a:rPr>
              <a:t>t</a:t>
            </a:r>
            <a:r>
              <a:rPr sz="1800" b="1" spc="-1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1800" b="1" spc="-5" dirty="0">
                <a:solidFill>
                  <a:srgbClr val="0070C0"/>
                </a:solidFill>
                <a:latin typeface="Calibri"/>
                <a:cs typeface="Calibri"/>
              </a:rPr>
              <a:t>0</a:t>
            </a:r>
            <a:endParaRPr sz="18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44"/>
              </a:spcBef>
            </a:pPr>
            <a:r>
              <a:rPr sz="1800" b="1" spc="-5" dirty="0">
                <a:solidFill>
                  <a:srgbClr val="0070C0"/>
                </a:solidFill>
                <a:latin typeface="Calibri"/>
                <a:cs typeface="Calibri"/>
              </a:rPr>
              <a:t>S</a:t>
            </a:r>
            <a:r>
              <a:rPr sz="1800" b="1" spc="-10" dirty="0">
                <a:solidFill>
                  <a:srgbClr val="0070C0"/>
                </a:solidFill>
                <a:latin typeface="Calibri"/>
                <a:cs typeface="Calibri"/>
              </a:rPr>
              <a:t>e</a:t>
            </a:r>
            <a:r>
              <a:rPr sz="1800" b="1" dirty="0">
                <a:solidFill>
                  <a:srgbClr val="0070C0"/>
                </a:solidFill>
                <a:latin typeface="Calibri"/>
                <a:cs typeface="Calibri"/>
              </a:rPr>
              <a:t>t</a:t>
            </a:r>
            <a:r>
              <a:rPr sz="1800" b="1" spc="-1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1800" b="1" spc="-5" dirty="0">
                <a:solidFill>
                  <a:srgbClr val="0070C0"/>
                </a:solidFill>
                <a:latin typeface="Calibri"/>
                <a:cs typeface="Calibri"/>
              </a:rPr>
              <a:t>1</a:t>
            </a:r>
            <a:endParaRPr sz="18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44"/>
              </a:spcBef>
            </a:pPr>
            <a:r>
              <a:rPr sz="1800" b="1" spc="-5" dirty="0">
                <a:solidFill>
                  <a:srgbClr val="0070C0"/>
                </a:solidFill>
                <a:latin typeface="Calibri"/>
                <a:cs typeface="Calibri"/>
              </a:rPr>
              <a:t>S</a:t>
            </a:r>
            <a:r>
              <a:rPr sz="1800" b="1" spc="-10" dirty="0">
                <a:solidFill>
                  <a:srgbClr val="0070C0"/>
                </a:solidFill>
                <a:latin typeface="Calibri"/>
                <a:cs typeface="Calibri"/>
              </a:rPr>
              <a:t>e</a:t>
            </a:r>
            <a:r>
              <a:rPr sz="1800" b="1" dirty="0">
                <a:solidFill>
                  <a:srgbClr val="0070C0"/>
                </a:solidFill>
                <a:latin typeface="Calibri"/>
                <a:cs typeface="Calibri"/>
              </a:rPr>
              <a:t>t</a:t>
            </a:r>
            <a:r>
              <a:rPr sz="1800" b="1" spc="-1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1800" b="1" spc="-5" dirty="0">
                <a:solidFill>
                  <a:srgbClr val="0070C0"/>
                </a:solidFill>
                <a:latin typeface="Calibri"/>
                <a:cs typeface="Calibri"/>
              </a:rPr>
              <a:t>2</a:t>
            </a:r>
            <a:endParaRPr sz="18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44"/>
              </a:spcBef>
            </a:pPr>
            <a:r>
              <a:rPr sz="1800" b="1" spc="-5" dirty="0">
                <a:solidFill>
                  <a:srgbClr val="0070C0"/>
                </a:solidFill>
                <a:latin typeface="Calibri"/>
                <a:cs typeface="Calibri"/>
              </a:rPr>
              <a:t>S</a:t>
            </a:r>
            <a:r>
              <a:rPr sz="1800" b="1" spc="-10" dirty="0">
                <a:solidFill>
                  <a:srgbClr val="0070C0"/>
                </a:solidFill>
                <a:latin typeface="Calibri"/>
                <a:cs typeface="Calibri"/>
              </a:rPr>
              <a:t>e</a:t>
            </a:r>
            <a:r>
              <a:rPr sz="1800" b="1" dirty="0">
                <a:solidFill>
                  <a:srgbClr val="0070C0"/>
                </a:solidFill>
                <a:latin typeface="Calibri"/>
                <a:cs typeface="Calibri"/>
              </a:rPr>
              <a:t>t</a:t>
            </a:r>
            <a:r>
              <a:rPr sz="1800" b="1" spc="-1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1800" b="1" spc="-5" dirty="0">
                <a:solidFill>
                  <a:srgbClr val="0070C0"/>
                </a:solidFill>
                <a:latin typeface="Calibri"/>
                <a:cs typeface="Calibri"/>
              </a:rPr>
              <a:t>3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61979" y="1374088"/>
            <a:ext cx="1783080" cy="28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640715" algn="l"/>
                <a:tab pos="1380490" algn="l"/>
              </a:tabLst>
            </a:pPr>
            <a:r>
              <a:rPr sz="2000" dirty="0">
                <a:latin typeface="Calibri"/>
                <a:cs typeface="Calibri"/>
              </a:rPr>
              <a:t>t</a:t>
            </a:r>
            <a:r>
              <a:rPr sz="2000" spc="-5" dirty="0">
                <a:latin typeface="Calibri"/>
                <a:cs typeface="Calibri"/>
              </a:rPr>
              <a:t>=</a:t>
            </a:r>
            <a:r>
              <a:rPr sz="2000" dirty="0">
                <a:latin typeface="Calibri"/>
                <a:cs typeface="Calibri"/>
              </a:rPr>
              <a:t>1	</a:t>
            </a:r>
            <a:r>
              <a:rPr sz="2000" spc="-5" dirty="0">
                <a:latin typeface="Calibri"/>
                <a:cs typeface="Calibri"/>
              </a:rPr>
              <a:t>s=</a:t>
            </a:r>
            <a:r>
              <a:rPr sz="2000" dirty="0">
                <a:latin typeface="Calibri"/>
                <a:cs typeface="Calibri"/>
              </a:rPr>
              <a:t>2	b</a:t>
            </a:r>
            <a:r>
              <a:rPr sz="2000" spc="-5" dirty="0">
                <a:latin typeface="Calibri"/>
                <a:cs typeface="Calibri"/>
              </a:rPr>
              <a:t>=1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352800" y="5140325"/>
            <a:ext cx="557530" cy="3067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dirty="0">
                <a:latin typeface="Calibri"/>
                <a:cs typeface="Calibri"/>
              </a:rPr>
              <a:t>0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927475" y="5140325"/>
            <a:ext cx="652780" cy="3067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dirty="0">
                <a:latin typeface="Calibri"/>
                <a:cs typeface="Calibri"/>
              </a:rPr>
              <a:t>?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595812" y="5140325"/>
            <a:ext cx="1419225" cy="3067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" algn="ctr">
              <a:lnSpc>
                <a:spcPct val="100000"/>
              </a:lnSpc>
            </a:pPr>
            <a:r>
              <a:rPr sz="2000" dirty="0">
                <a:latin typeface="Calibri"/>
                <a:cs typeface="Calibri"/>
              </a:rPr>
              <a:t>?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352800" y="5140325"/>
            <a:ext cx="557530" cy="3067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dirty="0">
                <a:latin typeface="Calibri"/>
                <a:cs typeface="Calibri"/>
              </a:rPr>
              <a:t>1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927475" y="5140325"/>
            <a:ext cx="652780" cy="3067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dirty="0">
                <a:latin typeface="Calibri"/>
                <a:cs typeface="Calibri"/>
              </a:rPr>
              <a:t>0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595812" y="5140325"/>
            <a:ext cx="1419225" cy="3067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3695">
              <a:lnSpc>
                <a:spcPct val="100000"/>
              </a:lnSpc>
            </a:pPr>
            <a:r>
              <a:rPr sz="2000" dirty="0">
                <a:latin typeface="Calibri"/>
                <a:cs typeface="Calibri"/>
              </a:rPr>
              <a:t>M</a:t>
            </a:r>
            <a:r>
              <a:rPr sz="2000" spc="-5" dirty="0">
                <a:latin typeface="Calibri"/>
                <a:cs typeface="Calibri"/>
              </a:rPr>
              <a:t>[</a:t>
            </a:r>
            <a:r>
              <a:rPr sz="2000" spc="5" dirty="0">
                <a:latin typeface="Calibri"/>
                <a:cs typeface="Calibri"/>
              </a:rPr>
              <a:t>0</a:t>
            </a:r>
            <a:r>
              <a:rPr sz="2000" spc="-5" dirty="0">
                <a:latin typeface="Calibri"/>
                <a:cs typeface="Calibri"/>
              </a:rPr>
              <a:t>-</a:t>
            </a:r>
            <a:r>
              <a:rPr sz="2000" dirty="0">
                <a:latin typeface="Calibri"/>
                <a:cs typeface="Calibri"/>
              </a:rPr>
              <a:t>1]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352800" y="5140325"/>
            <a:ext cx="557530" cy="3067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dirty="0">
                <a:latin typeface="Calibri"/>
                <a:cs typeface="Calibri"/>
              </a:rPr>
              <a:t>1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927475" y="5140325"/>
            <a:ext cx="652780" cy="3067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dirty="0">
                <a:latin typeface="Calibri"/>
                <a:cs typeface="Calibri"/>
              </a:rPr>
              <a:t>1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595812" y="5140325"/>
            <a:ext cx="1419225" cy="3067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3695">
              <a:lnSpc>
                <a:spcPct val="100000"/>
              </a:lnSpc>
            </a:pPr>
            <a:r>
              <a:rPr sz="2000" dirty="0">
                <a:latin typeface="Calibri"/>
                <a:cs typeface="Calibri"/>
              </a:rPr>
              <a:t>M</a:t>
            </a:r>
            <a:r>
              <a:rPr sz="2000" spc="-5" dirty="0">
                <a:latin typeface="Calibri"/>
                <a:cs typeface="Calibri"/>
              </a:rPr>
              <a:t>[</a:t>
            </a:r>
            <a:r>
              <a:rPr sz="2000" spc="5" dirty="0">
                <a:latin typeface="Calibri"/>
                <a:cs typeface="Calibri"/>
              </a:rPr>
              <a:t>8</a:t>
            </a:r>
            <a:r>
              <a:rPr sz="2000" spc="-5" dirty="0">
                <a:latin typeface="Calibri"/>
                <a:cs typeface="Calibri"/>
              </a:rPr>
              <a:t>-</a:t>
            </a:r>
            <a:r>
              <a:rPr sz="2000" dirty="0">
                <a:latin typeface="Calibri"/>
                <a:cs typeface="Calibri"/>
              </a:rPr>
              <a:t>9]</a:t>
            </a:r>
            <a:endParaRPr sz="2000">
              <a:latin typeface="Calibri"/>
              <a:cs typeface="Calibri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4181522" y="3007079"/>
          <a:ext cx="1817925" cy="158292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66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1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0228">
                <a:tc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Calibri"/>
                          <a:cs typeface="Calibri"/>
                        </a:rPr>
                        <a:t>0</a:t>
                      </a:r>
                      <a:endParaRPr sz="2000" dirty="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92430">
                        <a:lnSpc>
                          <a:spcPct val="100000"/>
                        </a:lnSpc>
                      </a:pPr>
                      <a:r>
                        <a:rPr sz="2000" b="1" spc="-5" dirty="0">
                          <a:latin typeface="Calibri"/>
                          <a:cs typeface="Calibri"/>
                        </a:rPr>
                        <a:t>[</a:t>
                      </a:r>
                      <a:r>
                        <a:rPr sz="2000" b="1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0</a:t>
                      </a:r>
                      <a:r>
                        <a:rPr sz="2000" b="1" u="heavy" dirty="0">
                          <a:solidFill>
                            <a:srgbClr val="0070C0"/>
                          </a:solidFill>
                          <a:latin typeface="Calibri"/>
                          <a:cs typeface="Calibri"/>
                        </a:rPr>
                        <a:t>00</a:t>
                      </a:r>
                      <a:r>
                        <a:rPr sz="2000" b="1" dirty="0">
                          <a:solidFill>
                            <a:srgbClr val="008000"/>
                          </a:solidFill>
                          <a:latin typeface="Calibri"/>
                          <a:cs typeface="Calibri"/>
                        </a:rPr>
                        <a:t>0</a:t>
                      </a:r>
                      <a:r>
                        <a:rPr sz="1950" b="1" spc="-7" baseline="-21367" dirty="0">
                          <a:latin typeface="Calibri"/>
                          <a:cs typeface="Calibri"/>
                        </a:rPr>
                        <a:t>2</a:t>
                      </a:r>
                      <a:r>
                        <a:rPr sz="2000" b="1" spc="-5" dirty="0">
                          <a:latin typeface="Calibri"/>
                          <a:cs typeface="Calibri"/>
                        </a:rPr>
                        <a:t>]</a:t>
                      </a:r>
                      <a:r>
                        <a:rPr sz="2000" b="1" dirty="0">
                          <a:latin typeface="Calibri"/>
                          <a:cs typeface="Calibri"/>
                        </a:rPr>
                        <a:t>,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799">
                <a:tc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Calibri"/>
                          <a:cs typeface="Calibri"/>
                        </a:rPr>
                        <a:t>1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92430">
                        <a:lnSpc>
                          <a:spcPct val="100000"/>
                        </a:lnSpc>
                      </a:pPr>
                      <a:r>
                        <a:rPr sz="2000" b="1" spc="-5" dirty="0">
                          <a:latin typeface="Calibri"/>
                          <a:cs typeface="Calibri"/>
                        </a:rPr>
                        <a:t>[</a:t>
                      </a:r>
                      <a:r>
                        <a:rPr sz="2000" b="1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0</a:t>
                      </a:r>
                      <a:r>
                        <a:rPr sz="2000" b="1" u="heavy" dirty="0">
                          <a:solidFill>
                            <a:srgbClr val="0070C0"/>
                          </a:solidFill>
                          <a:latin typeface="Calibri"/>
                          <a:cs typeface="Calibri"/>
                        </a:rPr>
                        <a:t>00</a:t>
                      </a:r>
                      <a:r>
                        <a:rPr sz="2000" b="1" dirty="0">
                          <a:solidFill>
                            <a:srgbClr val="008000"/>
                          </a:solidFill>
                          <a:latin typeface="Calibri"/>
                          <a:cs typeface="Calibri"/>
                        </a:rPr>
                        <a:t>1</a:t>
                      </a:r>
                      <a:r>
                        <a:rPr sz="1950" b="1" spc="-7" baseline="-21367" dirty="0">
                          <a:latin typeface="Calibri"/>
                          <a:cs typeface="Calibri"/>
                        </a:rPr>
                        <a:t>2</a:t>
                      </a:r>
                      <a:r>
                        <a:rPr sz="2000" b="1" spc="-5" dirty="0">
                          <a:latin typeface="Calibri"/>
                          <a:cs typeface="Calibri"/>
                        </a:rPr>
                        <a:t>]</a:t>
                      </a:r>
                      <a:r>
                        <a:rPr sz="2000" b="1" dirty="0">
                          <a:latin typeface="Calibri"/>
                          <a:cs typeface="Calibri"/>
                        </a:rPr>
                        <a:t>,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799">
                <a:tc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Calibri"/>
                          <a:cs typeface="Calibri"/>
                        </a:rPr>
                        <a:t>7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92430">
                        <a:lnSpc>
                          <a:spcPct val="100000"/>
                        </a:lnSpc>
                      </a:pPr>
                      <a:r>
                        <a:rPr sz="2000" b="1" spc="-5" dirty="0">
                          <a:latin typeface="Calibri"/>
                          <a:cs typeface="Calibri"/>
                        </a:rPr>
                        <a:t>[</a:t>
                      </a:r>
                      <a:r>
                        <a:rPr sz="2000" b="1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0</a:t>
                      </a:r>
                      <a:r>
                        <a:rPr sz="2000" b="1" u="heavy" dirty="0">
                          <a:solidFill>
                            <a:srgbClr val="0070C0"/>
                          </a:solidFill>
                          <a:latin typeface="Calibri"/>
                          <a:cs typeface="Calibri"/>
                        </a:rPr>
                        <a:t>11</a:t>
                      </a:r>
                      <a:r>
                        <a:rPr sz="2000" b="1" dirty="0">
                          <a:solidFill>
                            <a:srgbClr val="008000"/>
                          </a:solidFill>
                          <a:latin typeface="Calibri"/>
                          <a:cs typeface="Calibri"/>
                        </a:rPr>
                        <a:t>1</a:t>
                      </a:r>
                      <a:r>
                        <a:rPr sz="1950" b="1" spc="-7" baseline="-21367" dirty="0">
                          <a:latin typeface="Calibri"/>
                          <a:cs typeface="Calibri"/>
                        </a:rPr>
                        <a:t>2</a:t>
                      </a:r>
                      <a:r>
                        <a:rPr sz="2000" b="1" spc="-5" dirty="0">
                          <a:latin typeface="Calibri"/>
                          <a:cs typeface="Calibri"/>
                        </a:rPr>
                        <a:t>]</a:t>
                      </a:r>
                      <a:r>
                        <a:rPr sz="2000" b="1" dirty="0">
                          <a:latin typeface="Calibri"/>
                          <a:cs typeface="Calibri"/>
                        </a:rPr>
                        <a:t>,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Calibri"/>
                          <a:cs typeface="Calibri"/>
                        </a:rPr>
                        <a:t>8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92430">
                        <a:lnSpc>
                          <a:spcPct val="100000"/>
                        </a:lnSpc>
                      </a:pPr>
                      <a:r>
                        <a:rPr sz="2000" b="1" spc="-5" dirty="0">
                          <a:latin typeface="Calibri"/>
                          <a:cs typeface="Calibri"/>
                        </a:rPr>
                        <a:t>[</a:t>
                      </a:r>
                      <a:r>
                        <a:rPr sz="2000" b="1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1</a:t>
                      </a:r>
                      <a:r>
                        <a:rPr sz="2000" b="1" u="heavy" dirty="0">
                          <a:solidFill>
                            <a:srgbClr val="0070C0"/>
                          </a:solidFill>
                          <a:latin typeface="Calibri"/>
                          <a:cs typeface="Calibri"/>
                        </a:rPr>
                        <a:t>00</a:t>
                      </a:r>
                      <a:r>
                        <a:rPr sz="2000" b="1" dirty="0">
                          <a:solidFill>
                            <a:srgbClr val="008000"/>
                          </a:solidFill>
                          <a:latin typeface="Calibri"/>
                          <a:cs typeface="Calibri"/>
                        </a:rPr>
                        <a:t>0</a:t>
                      </a:r>
                      <a:r>
                        <a:rPr sz="1950" b="1" spc="-7" baseline="-21367" dirty="0">
                          <a:latin typeface="Calibri"/>
                          <a:cs typeface="Calibri"/>
                        </a:rPr>
                        <a:t>2</a:t>
                      </a:r>
                      <a:r>
                        <a:rPr sz="2000" b="1" spc="-5" dirty="0">
                          <a:latin typeface="Calibri"/>
                          <a:cs typeface="Calibri"/>
                        </a:rPr>
                        <a:t>]</a:t>
                      </a:r>
                      <a:r>
                        <a:rPr sz="2000" b="1" dirty="0">
                          <a:latin typeface="Calibri"/>
                          <a:cs typeface="Calibri"/>
                        </a:rPr>
                        <a:t>,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3728">
                <a:tc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Calibri"/>
                          <a:cs typeface="Calibri"/>
                        </a:rPr>
                        <a:t>0</a:t>
                      </a:r>
                      <a:endParaRPr sz="2000" dirty="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92430">
                        <a:lnSpc>
                          <a:spcPct val="100000"/>
                        </a:lnSpc>
                      </a:pPr>
                      <a:r>
                        <a:rPr sz="2000" b="1" spc="-5" dirty="0">
                          <a:latin typeface="Calibri"/>
                          <a:cs typeface="Calibri"/>
                        </a:rPr>
                        <a:t>[</a:t>
                      </a:r>
                      <a:r>
                        <a:rPr sz="2000" b="1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0</a:t>
                      </a:r>
                      <a:r>
                        <a:rPr sz="2000" b="1" u="heavy" dirty="0">
                          <a:solidFill>
                            <a:srgbClr val="0070C0"/>
                          </a:solidFill>
                          <a:latin typeface="Calibri"/>
                          <a:cs typeface="Calibri"/>
                        </a:rPr>
                        <a:t>00</a:t>
                      </a:r>
                      <a:r>
                        <a:rPr sz="2000" b="1" dirty="0">
                          <a:solidFill>
                            <a:srgbClr val="008000"/>
                          </a:solidFill>
                          <a:latin typeface="Calibri"/>
                          <a:cs typeface="Calibri"/>
                        </a:rPr>
                        <a:t>0</a:t>
                      </a:r>
                      <a:r>
                        <a:rPr sz="1950" b="1" spc="-7" baseline="-21367" dirty="0">
                          <a:latin typeface="Calibri"/>
                          <a:cs typeface="Calibri"/>
                        </a:rPr>
                        <a:t>2</a:t>
                      </a:r>
                      <a:r>
                        <a:rPr sz="2000" b="1" dirty="0">
                          <a:latin typeface="Calibri"/>
                          <a:cs typeface="Calibri"/>
                        </a:rPr>
                        <a:t>]</a:t>
                      </a:r>
                      <a:endParaRPr sz="2000" dirty="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458787" y="1627390"/>
          <a:ext cx="2136774" cy="304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04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67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96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000" b="1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x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6987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6695">
                        <a:lnSpc>
                          <a:spcPct val="100000"/>
                        </a:lnSpc>
                      </a:pPr>
                      <a:r>
                        <a:rPr sz="2000" b="1" dirty="0">
                          <a:solidFill>
                            <a:srgbClr val="0070C0"/>
                          </a:solidFill>
                          <a:latin typeface="Calibri"/>
                          <a:cs typeface="Calibri"/>
                        </a:rPr>
                        <a:t>xx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6987">
                      <a:solidFill>
                        <a:srgbClr val="000000"/>
                      </a:solidFill>
                      <a:prstDash val="solid"/>
                    </a:lnL>
                    <a:lnR w="254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000" b="1" dirty="0">
                          <a:solidFill>
                            <a:srgbClr val="008000"/>
                          </a:solidFill>
                          <a:latin typeface="Calibri"/>
                          <a:cs typeface="Calibri"/>
                        </a:rPr>
                        <a:t>x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54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3346450" y="5132387"/>
          <a:ext cx="2662236" cy="12620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59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91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71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638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1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30162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ED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30162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EDFF5"/>
                    </a:solidFill>
                  </a:tcPr>
                </a:tc>
                <a:tc>
                  <a:txBody>
                    <a:bodyPr/>
                    <a:lstStyle/>
                    <a:p>
                      <a:pPr marL="347345">
                        <a:lnSpc>
                          <a:spcPct val="100000"/>
                        </a:lnSpc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M</a:t>
                      </a:r>
                      <a:r>
                        <a:rPr sz="2000" spc="-5" dirty="0">
                          <a:latin typeface="Calibri"/>
                          <a:cs typeface="Calibri"/>
                        </a:rPr>
                        <a:t>[</a:t>
                      </a:r>
                      <a:r>
                        <a:rPr sz="2000" spc="5" dirty="0">
                          <a:latin typeface="Calibri"/>
                          <a:cs typeface="Calibri"/>
                        </a:rPr>
                        <a:t>0</a:t>
                      </a:r>
                      <a:r>
                        <a:rPr sz="2000" spc="-5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1]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ED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912">
                <a:tc>
                  <a:txBody>
                    <a:bodyPr/>
                    <a:lstStyle/>
                    <a:p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30162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0">
                      <a:solidFill>
                        <a:srgbClr val="000000"/>
                      </a:solidFill>
                      <a:prstDash val="solid"/>
                    </a:lnB>
                    <a:solidFill>
                      <a:srgbClr val="DEDFF5"/>
                    </a:solidFill>
                  </a:tcPr>
                </a:tc>
                <a:tc>
                  <a:txBody>
                    <a:bodyPr/>
                    <a:lstStyle/>
                    <a:p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30162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0">
                      <a:solidFill>
                        <a:srgbClr val="000000"/>
                      </a:solidFill>
                      <a:prstDash val="solid"/>
                    </a:lnB>
                    <a:solidFill>
                      <a:srgbClr val="DEDFF5"/>
                    </a:solidFill>
                  </a:tcPr>
                </a:tc>
                <a:tc>
                  <a:txBody>
                    <a:bodyPr/>
                    <a:lstStyle/>
                    <a:p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1750">
                      <a:solidFill>
                        <a:srgbClr val="000000"/>
                      </a:solidFill>
                      <a:prstDash val="solid"/>
                    </a:lnB>
                    <a:solidFill>
                      <a:srgbClr val="DED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643">
                <a:tc>
                  <a:txBody>
                    <a:bodyPr/>
                    <a:lstStyle/>
                    <a:p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30162">
                      <a:solidFill>
                        <a:srgbClr val="000000"/>
                      </a:solidFill>
                      <a:prstDash val="solid"/>
                    </a:lnR>
                    <a:lnT w="31750">
                      <a:solidFill>
                        <a:srgbClr val="000000"/>
                      </a:solidFill>
                      <a:prstDash val="solid"/>
                    </a:lnT>
                    <a:lnB w="33337">
                      <a:solidFill>
                        <a:srgbClr val="000000"/>
                      </a:solidFill>
                      <a:prstDash val="solid"/>
                    </a:lnB>
                    <a:solidFill>
                      <a:srgbClr val="DEDFF5"/>
                    </a:solidFill>
                  </a:tcPr>
                </a:tc>
                <a:tc>
                  <a:txBody>
                    <a:bodyPr/>
                    <a:lstStyle/>
                    <a:p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30162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1750">
                      <a:solidFill>
                        <a:srgbClr val="000000"/>
                      </a:solidFill>
                      <a:prstDash val="solid"/>
                    </a:lnT>
                    <a:lnB w="33337">
                      <a:solidFill>
                        <a:srgbClr val="000000"/>
                      </a:solidFill>
                      <a:prstDash val="solid"/>
                    </a:lnB>
                    <a:solidFill>
                      <a:srgbClr val="DEDFF5"/>
                    </a:solidFill>
                  </a:tcPr>
                </a:tc>
                <a:tc>
                  <a:txBody>
                    <a:bodyPr/>
                    <a:lstStyle/>
                    <a:p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1750">
                      <a:solidFill>
                        <a:srgbClr val="000000"/>
                      </a:solidFill>
                      <a:prstDash val="solid"/>
                    </a:lnT>
                    <a:lnB w="33337">
                      <a:solidFill>
                        <a:srgbClr val="000000"/>
                      </a:solidFill>
                      <a:prstDash val="solid"/>
                    </a:lnB>
                    <a:solidFill>
                      <a:srgbClr val="DED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511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1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30162">
                      <a:solidFill>
                        <a:srgbClr val="000000"/>
                      </a:solidFill>
                      <a:prstDash val="solid"/>
                    </a:lnR>
                    <a:lnT w="33337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ED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30162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3337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EDFF5"/>
                    </a:solidFill>
                  </a:tcPr>
                </a:tc>
                <a:tc>
                  <a:txBody>
                    <a:bodyPr/>
                    <a:lstStyle/>
                    <a:p>
                      <a:pPr marL="347345">
                        <a:lnSpc>
                          <a:spcPct val="100000"/>
                        </a:lnSpc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M</a:t>
                      </a:r>
                      <a:r>
                        <a:rPr sz="2000" spc="-5" dirty="0">
                          <a:latin typeface="Calibri"/>
                          <a:cs typeface="Calibri"/>
                        </a:rPr>
                        <a:t>[</a:t>
                      </a:r>
                      <a:r>
                        <a:rPr sz="2000" spc="5" dirty="0">
                          <a:latin typeface="Calibri"/>
                          <a:cs typeface="Calibri"/>
                        </a:rPr>
                        <a:t>6</a:t>
                      </a:r>
                      <a:r>
                        <a:rPr sz="2000" spc="-5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7]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3337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ED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61082" y="273877"/>
            <a:ext cx="7591425" cy="843822"/>
          </a:xfrm>
          <a:prstGeom prst="rect">
            <a:avLst/>
          </a:prstGeom>
        </p:spPr>
        <p:txBody>
          <a:bodyPr vert="horz" wrap="square" lIns="0" tIns="287021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" dirty="0"/>
              <a:t>E</a:t>
            </a:r>
            <a:r>
              <a:rPr lang="en-US" dirty="0"/>
              <a:t> </a:t>
            </a:r>
            <a:r>
              <a:rPr lang="zh-CN" altLang="en-US" dirty="0"/>
              <a:t>路组相联高速缓存</a:t>
            </a:r>
            <a:r>
              <a:rPr spc="-15" dirty="0"/>
              <a:t> (</a:t>
            </a:r>
            <a:r>
              <a:rPr spc="-10" dirty="0"/>
              <a:t> </a:t>
            </a:r>
            <a:r>
              <a:rPr spc="-5" dirty="0"/>
              <a:t>E </a:t>
            </a:r>
            <a:r>
              <a:rPr dirty="0"/>
              <a:t>=</a:t>
            </a:r>
            <a:r>
              <a:rPr spc="-5" dirty="0"/>
              <a:t> 2)</a:t>
            </a:r>
          </a:p>
        </p:txBody>
      </p:sp>
      <p:sp>
        <p:nvSpPr>
          <p:cNvPr id="4" name="object 4"/>
          <p:cNvSpPr/>
          <p:nvPr/>
        </p:nvSpPr>
        <p:spPr>
          <a:xfrm>
            <a:off x="990600" y="4800600"/>
            <a:ext cx="6598920" cy="17780"/>
          </a:xfrm>
          <a:custGeom>
            <a:avLst/>
            <a:gdLst/>
            <a:ahLst/>
            <a:cxnLst/>
            <a:rect l="l" t="t" r="r" b="b"/>
            <a:pathLst>
              <a:path w="6598920" h="17779">
                <a:moveTo>
                  <a:pt x="0" y="0"/>
                </a:moveTo>
                <a:lnTo>
                  <a:pt x="6598920" y="17183"/>
                </a:lnTo>
              </a:path>
            </a:pathLst>
          </a:custGeom>
          <a:ln w="76200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59740" y="1117699"/>
            <a:ext cx="3274060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5" dirty="0">
                <a:latin typeface="Calibri"/>
                <a:cs typeface="Calibri"/>
              </a:rPr>
              <a:t>E </a:t>
            </a:r>
            <a:r>
              <a:rPr sz="1800" b="1" dirty="0">
                <a:latin typeface="Calibri"/>
                <a:cs typeface="Calibri"/>
              </a:rPr>
              <a:t>=</a:t>
            </a:r>
            <a:r>
              <a:rPr sz="1800" b="1" spc="1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2</a:t>
            </a:r>
            <a:r>
              <a:rPr sz="1800" b="1" spc="-5" dirty="0">
                <a:latin typeface="Calibri"/>
                <a:cs typeface="Calibri"/>
              </a:rPr>
              <a:t>:</a:t>
            </a:r>
            <a:r>
              <a:rPr sz="1800" b="1" spc="5" dirty="0">
                <a:latin typeface="Calibri"/>
                <a:cs typeface="Calibri"/>
              </a:rPr>
              <a:t> </a:t>
            </a:r>
            <a:r>
              <a:rPr lang="zh-CN" altLang="en-US" sz="1800" b="1" spc="5" dirty="0">
                <a:latin typeface="Calibri"/>
                <a:cs typeface="Calibri"/>
              </a:rPr>
              <a:t>每组两行</a:t>
            </a:r>
            <a:endParaRPr lang="en-US" altLang="zh-CN" sz="1800" b="1" spc="5" dirty="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lang="zh-CN" altLang="en-US" b="1" spc="-5" dirty="0">
                <a:latin typeface="Calibri"/>
                <a:cs typeface="Calibri"/>
              </a:rPr>
              <a:t>假定</a:t>
            </a:r>
            <a:r>
              <a:rPr lang="en-US" altLang="zh-CN" b="1" spc="-5" dirty="0">
                <a:latin typeface="Calibri"/>
                <a:cs typeface="Calibri"/>
              </a:rPr>
              <a:t>:</a:t>
            </a:r>
            <a:r>
              <a:rPr lang="zh-CN" altLang="en-US" b="1" spc="-30" dirty="0">
                <a:latin typeface="Calibri"/>
                <a:cs typeface="Calibri"/>
              </a:rPr>
              <a:t> 高速缓存块大小为 </a:t>
            </a:r>
            <a:r>
              <a:rPr lang="en-US" altLang="zh-CN" b="1" spc="-5" dirty="0">
                <a:latin typeface="Calibri"/>
                <a:cs typeface="Calibri"/>
              </a:rPr>
              <a:t>8</a:t>
            </a:r>
            <a:r>
              <a:rPr lang="zh-CN" altLang="en-US" b="1" spc="-5" dirty="0">
                <a:latin typeface="Calibri"/>
                <a:cs typeface="Calibri"/>
              </a:rPr>
              <a:t>个</a:t>
            </a:r>
            <a:r>
              <a:rPr lang="zh-CN" altLang="en-US" b="1" dirty="0">
                <a:latin typeface="Calibri"/>
                <a:cs typeface="Calibri"/>
              </a:rPr>
              <a:t>字节</a:t>
            </a:r>
            <a:endParaRPr lang="zh-CN" altLang="en-US" dirty="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794677" y="1862747"/>
            <a:ext cx="990600" cy="271145"/>
          </a:xfrm>
          <a:custGeom>
            <a:avLst/>
            <a:gdLst/>
            <a:ahLst/>
            <a:cxnLst/>
            <a:rect l="l" t="t" r="r" b="b"/>
            <a:pathLst>
              <a:path w="990600" h="271144">
                <a:moveTo>
                  <a:pt x="0" y="0"/>
                </a:moveTo>
                <a:lnTo>
                  <a:pt x="990600" y="0"/>
                </a:lnTo>
                <a:lnTo>
                  <a:pt x="990600" y="270852"/>
                </a:lnTo>
                <a:lnTo>
                  <a:pt x="0" y="270852"/>
                </a:lnTo>
                <a:lnTo>
                  <a:pt x="0" y="0"/>
                </a:lnTo>
                <a:close/>
              </a:path>
            </a:pathLst>
          </a:custGeom>
          <a:solidFill>
            <a:srgbClr val="FF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794677" y="1862747"/>
            <a:ext cx="990600" cy="271145"/>
          </a:xfrm>
          <a:custGeom>
            <a:avLst/>
            <a:gdLst/>
            <a:ahLst/>
            <a:cxnLst/>
            <a:rect l="l" t="t" r="r" b="b"/>
            <a:pathLst>
              <a:path w="990600" h="271144">
                <a:moveTo>
                  <a:pt x="0" y="0"/>
                </a:moveTo>
                <a:lnTo>
                  <a:pt x="990600" y="0"/>
                </a:lnTo>
                <a:lnTo>
                  <a:pt x="990600" y="270852"/>
                </a:lnTo>
                <a:lnTo>
                  <a:pt x="0" y="270852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785277" y="1862747"/>
            <a:ext cx="762000" cy="271145"/>
          </a:xfrm>
          <a:custGeom>
            <a:avLst/>
            <a:gdLst/>
            <a:ahLst/>
            <a:cxnLst/>
            <a:rect l="l" t="t" r="r" b="b"/>
            <a:pathLst>
              <a:path w="762000" h="271144">
                <a:moveTo>
                  <a:pt x="0" y="0"/>
                </a:moveTo>
                <a:lnTo>
                  <a:pt x="762000" y="0"/>
                </a:lnTo>
                <a:lnTo>
                  <a:pt x="762000" y="270852"/>
                </a:lnTo>
                <a:lnTo>
                  <a:pt x="0" y="270852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547277" y="1862747"/>
            <a:ext cx="520700" cy="271145"/>
          </a:xfrm>
          <a:custGeom>
            <a:avLst/>
            <a:gdLst/>
            <a:ahLst/>
            <a:cxnLst/>
            <a:rect l="l" t="t" r="r" b="b"/>
            <a:pathLst>
              <a:path w="520700" h="271144">
                <a:moveTo>
                  <a:pt x="0" y="0"/>
                </a:moveTo>
                <a:lnTo>
                  <a:pt x="520522" y="0"/>
                </a:lnTo>
                <a:lnTo>
                  <a:pt x="520522" y="270852"/>
                </a:lnTo>
                <a:lnTo>
                  <a:pt x="0" y="270852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7064552" y="1902037"/>
            <a:ext cx="1909445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875030" algn="l"/>
                <a:tab pos="1589405" algn="l"/>
              </a:tabLst>
            </a:pPr>
            <a:r>
              <a:rPr sz="1600" b="1" spc="-5" dirty="0">
                <a:latin typeface="Calibri"/>
                <a:cs typeface="Calibri"/>
              </a:rPr>
              <a:t>t </a:t>
            </a:r>
            <a:r>
              <a:rPr sz="1600" b="1" spc="-10" dirty="0">
                <a:latin typeface="Calibri"/>
                <a:cs typeface="Calibri"/>
              </a:rPr>
              <a:t>b</a:t>
            </a:r>
            <a:r>
              <a:rPr sz="1600" b="1" spc="-5" dirty="0">
                <a:latin typeface="Calibri"/>
                <a:cs typeface="Calibri"/>
              </a:rPr>
              <a:t>i</a:t>
            </a:r>
            <a:r>
              <a:rPr sz="1600" b="1" spc="-10" dirty="0">
                <a:latin typeface="Calibri"/>
                <a:cs typeface="Calibri"/>
              </a:rPr>
              <a:t>t</a:t>
            </a:r>
            <a:r>
              <a:rPr sz="1600" b="1" spc="-5" dirty="0">
                <a:latin typeface="Calibri"/>
                <a:cs typeface="Calibri"/>
              </a:rPr>
              <a:t>s</a:t>
            </a:r>
            <a:r>
              <a:rPr sz="1600" b="1" dirty="0">
                <a:latin typeface="Calibri"/>
                <a:cs typeface="Calibri"/>
              </a:rPr>
              <a:t>	</a:t>
            </a:r>
            <a:r>
              <a:rPr sz="1600" b="1" spc="-10" dirty="0">
                <a:latin typeface="Calibri"/>
                <a:cs typeface="Calibri"/>
              </a:rPr>
              <a:t>0</a:t>
            </a:r>
            <a:r>
              <a:rPr sz="1600" b="1" spc="-5" dirty="0">
                <a:latin typeface="Calibri"/>
                <a:cs typeface="Calibri"/>
              </a:rPr>
              <a:t>…</a:t>
            </a:r>
            <a:r>
              <a:rPr sz="1600" b="1" spc="-10" dirty="0">
                <a:latin typeface="Calibri"/>
                <a:cs typeface="Calibri"/>
              </a:rPr>
              <a:t>0</a:t>
            </a:r>
            <a:r>
              <a:rPr sz="1600" b="1" spc="-5" dirty="0">
                <a:latin typeface="Calibri"/>
                <a:cs typeface="Calibri"/>
              </a:rPr>
              <a:t>1</a:t>
            </a:r>
            <a:r>
              <a:rPr sz="1600" b="1" dirty="0">
                <a:latin typeface="Calibri"/>
                <a:cs typeface="Calibri"/>
              </a:rPr>
              <a:t>	</a:t>
            </a:r>
            <a:r>
              <a:rPr sz="1600" b="1" spc="-10" dirty="0">
                <a:latin typeface="Calibri"/>
                <a:cs typeface="Calibri"/>
              </a:rPr>
              <a:t>100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784340" y="1597719"/>
            <a:ext cx="1951355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5" dirty="0">
                <a:latin typeface="Calibri"/>
                <a:cs typeface="Calibri"/>
              </a:rPr>
              <a:t>s</a:t>
            </a:r>
            <a:r>
              <a:rPr sz="1800" b="1" dirty="0">
                <a:latin typeface="Calibri"/>
                <a:cs typeface="Calibri"/>
              </a:rPr>
              <a:t>h</a:t>
            </a:r>
            <a:r>
              <a:rPr sz="1800" b="1" spc="-5" dirty="0">
                <a:latin typeface="Calibri"/>
                <a:cs typeface="Calibri"/>
              </a:rPr>
              <a:t>ort</a:t>
            </a:r>
            <a:r>
              <a:rPr sz="1800" b="1" spc="-15" dirty="0">
                <a:latin typeface="Calibri"/>
                <a:cs typeface="Calibri"/>
              </a:rPr>
              <a:t> </a:t>
            </a:r>
            <a:r>
              <a:rPr sz="1800" b="1" spc="-5" dirty="0" err="1">
                <a:latin typeface="Calibri"/>
                <a:cs typeface="Calibri"/>
              </a:rPr>
              <a:t>i</a:t>
            </a:r>
            <a:r>
              <a:rPr sz="1800" b="1" spc="-15" dirty="0" err="1">
                <a:latin typeface="Calibri"/>
                <a:cs typeface="Calibri"/>
              </a:rPr>
              <a:t>n</a:t>
            </a:r>
            <a:r>
              <a:rPr sz="1800" b="1" spc="-5" dirty="0" err="1">
                <a:latin typeface="Calibri"/>
                <a:cs typeface="Calibri"/>
              </a:rPr>
              <a:t>t</a:t>
            </a:r>
            <a:r>
              <a:rPr lang="zh-CN" altLang="en-US" sz="1800" b="1" spc="-5" dirty="0">
                <a:latin typeface="Calibri"/>
                <a:cs typeface="Calibri"/>
              </a:rPr>
              <a:t>地址</a:t>
            </a:r>
            <a:r>
              <a:rPr sz="1800" b="1" spc="-5" dirty="0">
                <a:latin typeface="Calibri"/>
                <a:cs typeface="Calibri"/>
              </a:rPr>
              <a:t>: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85800" y="2514600"/>
            <a:ext cx="7086600" cy="613410"/>
          </a:xfrm>
          <a:custGeom>
            <a:avLst/>
            <a:gdLst/>
            <a:ahLst/>
            <a:cxnLst/>
            <a:rect l="l" t="t" r="r" b="b"/>
            <a:pathLst>
              <a:path w="7086600" h="613410">
                <a:moveTo>
                  <a:pt x="0" y="0"/>
                </a:moveTo>
                <a:lnTo>
                  <a:pt x="7086600" y="0"/>
                </a:lnTo>
                <a:lnTo>
                  <a:pt x="7086600" y="612838"/>
                </a:lnTo>
                <a:lnTo>
                  <a:pt x="0" y="612838"/>
                </a:lnTo>
                <a:lnTo>
                  <a:pt x="0" y="0"/>
                </a:lnTo>
                <a:close/>
              </a:path>
            </a:pathLst>
          </a:custGeom>
          <a:solidFill>
            <a:srgbClr val="D6D6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35202" y="2590800"/>
            <a:ext cx="3322320" cy="461009"/>
          </a:xfrm>
          <a:custGeom>
            <a:avLst/>
            <a:gdLst/>
            <a:ahLst/>
            <a:cxnLst/>
            <a:rect l="l" t="t" r="r" b="b"/>
            <a:pathLst>
              <a:path w="3322320" h="461010">
                <a:moveTo>
                  <a:pt x="0" y="0"/>
                </a:moveTo>
                <a:lnTo>
                  <a:pt x="3321926" y="0"/>
                </a:lnTo>
                <a:lnTo>
                  <a:pt x="3321926" y="460438"/>
                </a:lnTo>
                <a:lnTo>
                  <a:pt x="0" y="460438"/>
                </a:lnTo>
                <a:lnTo>
                  <a:pt x="0" y="0"/>
                </a:lnTo>
                <a:close/>
              </a:path>
            </a:pathLst>
          </a:custGeom>
          <a:solidFill>
            <a:srgbClr val="ADAD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835202" y="2590800"/>
            <a:ext cx="3322320" cy="461009"/>
          </a:xfrm>
          <a:custGeom>
            <a:avLst/>
            <a:gdLst/>
            <a:ahLst/>
            <a:cxnLst/>
            <a:rect l="l" t="t" r="r" b="b"/>
            <a:pathLst>
              <a:path w="3322320" h="461010">
                <a:moveTo>
                  <a:pt x="0" y="0"/>
                </a:moveTo>
                <a:lnTo>
                  <a:pt x="3321926" y="0"/>
                </a:lnTo>
                <a:lnTo>
                  <a:pt x="3321926" y="460438"/>
                </a:lnTo>
                <a:lnTo>
                  <a:pt x="0" y="460438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944524" y="2689466"/>
            <a:ext cx="235585" cy="263525"/>
          </a:xfrm>
          <a:custGeom>
            <a:avLst/>
            <a:gdLst/>
            <a:ahLst/>
            <a:cxnLst/>
            <a:rect l="l" t="t" r="r" b="b"/>
            <a:pathLst>
              <a:path w="235584" h="263525">
                <a:moveTo>
                  <a:pt x="0" y="0"/>
                </a:moveTo>
                <a:lnTo>
                  <a:pt x="235318" y="0"/>
                </a:lnTo>
                <a:lnTo>
                  <a:pt x="235318" y="263105"/>
                </a:lnTo>
                <a:lnTo>
                  <a:pt x="0" y="2631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944524" y="2689466"/>
            <a:ext cx="235585" cy="263525"/>
          </a:xfrm>
          <a:custGeom>
            <a:avLst/>
            <a:gdLst/>
            <a:ahLst/>
            <a:cxnLst/>
            <a:rect l="l" t="t" r="r" b="b"/>
            <a:pathLst>
              <a:path w="235584" h="263525">
                <a:moveTo>
                  <a:pt x="0" y="0"/>
                </a:moveTo>
                <a:lnTo>
                  <a:pt x="235318" y="0"/>
                </a:lnTo>
                <a:lnTo>
                  <a:pt x="235318" y="263105"/>
                </a:lnTo>
                <a:lnTo>
                  <a:pt x="0" y="263105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349387" y="2689466"/>
            <a:ext cx="620395" cy="263525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61925">
              <a:lnSpc>
                <a:spcPct val="100000"/>
              </a:lnSpc>
            </a:pPr>
            <a:r>
              <a:rPr sz="1600" b="1" spc="-20" dirty="0">
                <a:latin typeface="Calibri"/>
                <a:cs typeface="Calibri"/>
              </a:rPr>
              <a:t>t</a:t>
            </a:r>
            <a:r>
              <a:rPr sz="1600" b="1" spc="-5" dirty="0">
                <a:latin typeface="Calibri"/>
                <a:cs typeface="Calibri"/>
              </a:rPr>
              <a:t>ag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001767" y="2724885"/>
            <a:ext cx="121920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spc="-5" dirty="0">
                <a:latin typeface="Calibri"/>
                <a:cs typeface="Calibri"/>
              </a:rPr>
              <a:t>v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309529" y="2594051"/>
            <a:ext cx="3322320" cy="461009"/>
          </a:xfrm>
          <a:custGeom>
            <a:avLst/>
            <a:gdLst/>
            <a:ahLst/>
            <a:cxnLst/>
            <a:rect l="l" t="t" r="r" b="b"/>
            <a:pathLst>
              <a:path w="3322320" h="461010">
                <a:moveTo>
                  <a:pt x="0" y="0"/>
                </a:moveTo>
                <a:lnTo>
                  <a:pt x="3321926" y="0"/>
                </a:lnTo>
                <a:lnTo>
                  <a:pt x="3321926" y="460438"/>
                </a:lnTo>
                <a:lnTo>
                  <a:pt x="0" y="460438"/>
                </a:lnTo>
                <a:lnTo>
                  <a:pt x="0" y="0"/>
                </a:lnTo>
                <a:close/>
              </a:path>
            </a:pathLst>
          </a:custGeom>
          <a:solidFill>
            <a:srgbClr val="ADAD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309529" y="2594051"/>
            <a:ext cx="3322320" cy="461009"/>
          </a:xfrm>
          <a:custGeom>
            <a:avLst/>
            <a:gdLst/>
            <a:ahLst/>
            <a:cxnLst/>
            <a:rect l="l" t="t" r="r" b="b"/>
            <a:pathLst>
              <a:path w="3322320" h="461010">
                <a:moveTo>
                  <a:pt x="0" y="0"/>
                </a:moveTo>
                <a:lnTo>
                  <a:pt x="3321926" y="0"/>
                </a:lnTo>
                <a:lnTo>
                  <a:pt x="3321926" y="460438"/>
                </a:lnTo>
                <a:lnTo>
                  <a:pt x="0" y="460438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418850" y="2692717"/>
            <a:ext cx="235585" cy="263525"/>
          </a:xfrm>
          <a:custGeom>
            <a:avLst/>
            <a:gdLst/>
            <a:ahLst/>
            <a:cxnLst/>
            <a:rect l="l" t="t" r="r" b="b"/>
            <a:pathLst>
              <a:path w="235585" h="263525">
                <a:moveTo>
                  <a:pt x="0" y="0"/>
                </a:moveTo>
                <a:lnTo>
                  <a:pt x="235318" y="0"/>
                </a:lnTo>
                <a:lnTo>
                  <a:pt x="235318" y="263105"/>
                </a:lnTo>
                <a:lnTo>
                  <a:pt x="0" y="2631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418850" y="2692717"/>
            <a:ext cx="235585" cy="263525"/>
          </a:xfrm>
          <a:custGeom>
            <a:avLst/>
            <a:gdLst/>
            <a:ahLst/>
            <a:cxnLst/>
            <a:rect l="l" t="t" r="r" b="b"/>
            <a:pathLst>
              <a:path w="235585" h="263525">
                <a:moveTo>
                  <a:pt x="0" y="0"/>
                </a:moveTo>
                <a:lnTo>
                  <a:pt x="235318" y="0"/>
                </a:lnTo>
                <a:lnTo>
                  <a:pt x="235318" y="263105"/>
                </a:lnTo>
                <a:lnTo>
                  <a:pt x="0" y="263105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4823714" y="2692717"/>
            <a:ext cx="620395" cy="263525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61925">
              <a:lnSpc>
                <a:spcPct val="100000"/>
              </a:lnSpc>
            </a:pPr>
            <a:r>
              <a:rPr sz="1600" b="1" spc="-20" dirty="0">
                <a:latin typeface="Calibri"/>
                <a:cs typeface="Calibri"/>
              </a:rPr>
              <a:t>t</a:t>
            </a:r>
            <a:r>
              <a:rPr sz="1600" b="1" spc="-5" dirty="0">
                <a:latin typeface="Calibri"/>
                <a:cs typeface="Calibri"/>
              </a:rPr>
              <a:t>ag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476095" y="2728127"/>
            <a:ext cx="121920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spc="-5" dirty="0">
                <a:latin typeface="Calibri"/>
                <a:cs typeface="Calibri"/>
              </a:rPr>
              <a:t>v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685800" y="3200400"/>
            <a:ext cx="7086600" cy="613410"/>
          </a:xfrm>
          <a:custGeom>
            <a:avLst/>
            <a:gdLst/>
            <a:ahLst/>
            <a:cxnLst/>
            <a:rect l="l" t="t" r="r" b="b"/>
            <a:pathLst>
              <a:path w="7086600" h="613410">
                <a:moveTo>
                  <a:pt x="0" y="0"/>
                </a:moveTo>
                <a:lnTo>
                  <a:pt x="7086600" y="0"/>
                </a:lnTo>
                <a:lnTo>
                  <a:pt x="7086600" y="612838"/>
                </a:lnTo>
                <a:lnTo>
                  <a:pt x="0" y="612838"/>
                </a:lnTo>
                <a:lnTo>
                  <a:pt x="0" y="0"/>
                </a:lnTo>
                <a:close/>
              </a:path>
            </a:pathLst>
          </a:custGeom>
          <a:solidFill>
            <a:srgbClr val="D6D6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835202" y="3276600"/>
            <a:ext cx="3322320" cy="461009"/>
          </a:xfrm>
          <a:custGeom>
            <a:avLst/>
            <a:gdLst/>
            <a:ahLst/>
            <a:cxnLst/>
            <a:rect l="l" t="t" r="r" b="b"/>
            <a:pathLst>
              <a:path w="3322320" h="461010">
                <a:moveTo>
                  <a:pt x="0" y="0"/>
                </a:moveTo>
                <a:lnTo>
                  <a:pt x="3321926" y="0"/>
                </a:lnTo>
                <a:lnTo>
                  <a:pt x="3321926" y="460438"/>
                </a:lnTo>
                <a:lnTo>
                  <a:pt x="0" y="460438"/>
                </a:lnTo>
                <a:lnTo>
                  <a:pt x="0" y="0"/>
                </a:lnTo>
                <a:close/>
              </a:path>
            </a:pathLst>
          </a:custGeom>
          <a:solidFill>
            <a:srgbClr val="ADAD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835202" y="3276600"/>
            <a:ext cx="3322320" cy="461009"/>
          </a:xfrm>
          <a:custGeom>
            <a:avLst/>
            <a:gdLst/>
            <a:ahLst/>
            <a:cxnLst/>
            <a:rect l="l" t="t" r="r" b="b"/>
            <a:pathLst>
              <a:path w="3322320" h="461010">
                <a:moveTo>
                  <a:pt x="0" y="0"/>
                </a:moveTo>
                <a:lnTo>
                  <a:pt x="3321926" y="0"/>
                </a:lnTo>
                <a:lnTo>
                  <a:pt x="3321926" y="460438"/>
                </a:lnTo>
                <a:lnTo>
                  <a:pt x="0" y="460438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944524" y="3375266"/>
            <a:ext cx="235585" cy="263525"/>
          </a:xfrm>
          <a:custGeom>
            <a:avLst/>
            <a:gdLst/>
            <a:ahLst/>
            <a:cxnLst/>
            <a:rect l="l" t="t" r="r" b="b"/>
            <a:pathLst>
              <a:path w="235584" h="263525">
                <a:moveTo>
                  <a:pt x="0" y="0"/>
                </a:moveTo>
                <a:lnTo>
                  <a:pt x="235318" y="0"/>
                </a:lnTo>
                <a:lnTo>
                  <a:pt x="235318" y="263105"/>
                </a:lnTo>
                <a:lnTo>
                  <a:pt x="0" y="2631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944524" y="3375266"/>
            <a:ext cx="235585" cy="263525"/>
          </a:xfrm>
          <a:custGeom>
            <a:avLst/>
            <a:gdLst/>
            <a:ahLst/>
            <a:cxnLst/>
            <a:rect l="l" t="t" r="r" b="b"/>
            <a:pathLst>
              <a:path w="235584" h="263525">
                <a:moveTo>
                  <a:pt x="0" y="0"/>
                </a:moveTo>
                <a:lnTo>
                  <a:pt x="235318" y="0"/>
                </a:lnTo>
                <a:lnTo>
                  <a:pt x="235318" y="263105"/>
                </a:lnTo>
                <a:lnTo>
                  <a:pt x="0" y="263105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1349387" y="3375266"/>
            <a:ext cx="620395" cy="263525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61925">
              <a:lnSpc>
                <a:spcPct val="100000"/>
              </a:lnSpc>
            </a:pPr>
            <a:r>
              <a:rPr sz="1600" b="1" spc="-20" dirty="0">
                <a:latin typeface="Calibri"/>
                <a:cs typeface="Calibri"/>
              </a:rPr>
              <a:t>t</a:t>
            </a:r>
            <a:r>
              <a:rPr sz="1600" b="1" spc="-5" dirty="0">
                <a:latin typeface="Calibri"/>
                <a:cs typeface="Calibri"/>
              </a:rPr>
              <a:t>ag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001767" y="3410685"/>
            <a:ext cx="121920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spc="-5" dirty="0">
                <a:latin typeface="Calibri"/>
                <a:cs typeface="Calibri"/>
              </a:rPr>
              <a:t>v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4309529" y="3279851"/>
            <a:ext cx="3322320" cy="461009"/>
          </a:xfrm>
          <a:custGeom>
            <a:avLst/>
            <a:gdLst/>
            <a:ahLst/>
            <a:cxnLst/>
            <a:rect l="l" t="t" r="r" b="b"/>
            <a:pathLst>
              <a:path w="3322320" h="461010">
                <a:moveTo>
                  <a:pt x="0" y="0"/>
                </a:moveTo>
                <a:lnTo>
                  <a:pt x="3321926" y="0"/>
                </a:lnTo>
                <a:lnTo>
                  <a:pt x="3321926" y="460438"/>
                </a:lnTo>
                <a:lnTo>
                  <a:pt x="0" y="460438"/>
                </a:lnTo>
                <a:lnTo>
                  <a:pt x="0" y="0"/>
                </a:lnTo>
                <a:close/>
              </a:path>
            </a:pathLst>
          </a:custGeom>
          <a:solidFill>
            <a:srgbClr val="ADAD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4309529" y="3279851"/>
            <a:ext cx="3322320" cy="461009"/>
          </a:xfrm>
          <a:custGeom>
            <a:avLst/>
            <a:gdLst/>
            <a:ahLst/>
            <a:cxnLst/>
            <a:rect l="l" t="t" r="r" b="b"/>
            <a:pathLst>
              <a:path w="3322320" h="461010">
                <a:moveTo>
                  <a:pt x="0" y="0"/>
                </a:moveTo>
                <a:lnTo>
                  <a:pt x="3321926" y="0"/>
                </a:lnTo>
                <a:lnTo>
                  <a:pt x="3321926" y="460438"/>
                </a:lnTo>
                <a:lnTo>
                  <a:pt x="0" y="460438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4418850" y="3378517"/>
            <a:ext cx="235585" cy="263525"/>
          </a:xfrm>
          <a:custGeom>
            <a:avLst/>
            <a:gdLst/>
            <a:ahLst/>
            <a:cxnLst/>
            <a:rect l="l" t="t" r="r" b="b"/>
            <a:pathLst>
              <a:path w="235585" h="263525">
                <a:moveTo>
                  <a:pt x="0" y="0"/>
                </a:moveTo>
                <a:lnTo>
                  <a:pt x="235318" y="0"/>
                </a:lnTo>
                <a:lnTo>
                  <a:pt x="235318" y="263105"/>
                </a:lnTo>
                <a:lnTo>
                  <a:pt x="0" y="2631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4418850" y="3378517"/>
            <a:ext cx="235585" cy="263525"/>
          </a:xfrm>
          <a:custGeom>
            <a:avLst/>
            <a:gdLst/>
            <a:ahLst/>
            <a:cxnLst/>
            <a:rect l="l" t="t" r="r" b="b"/>
            <a:pathLst>
              <a:path w="235585" h="263525">
                <a:moveTo>
                  <a:pt x="0" y="0"/>
                </a:moveTo>
                <a:lnTo>
                  <a:pt x="235318" y="0"/>
                </a:lnTo>
                <a:lnTo>
                  <a:pt x="235318" y="263105"/>
                </a:lnTo>
                <a:lnTo>
                  <a:pt x="0" y="263105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4823714" y="3378517"/>
            <a:ext cx="620395" cy="263525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61925">
              <a:lnSpc>
                <a:spcPct val="100000"/>
              </a:lnSpc>
            </a:pPr>
            <a:r>
              <a:rPr sz="1600" b="1" spc="-20" dirty="0">
                <a:latin typeface="Calibri"/>
                <a:cs typeface="Calibri"/>
              </a:rPr>
              <a:t>t</a:t>
            </a:r>
            <a:r>
              <a:rPr sz="1600" b="1" spc="-5" dirty="0">
                <a:latin typeface="Calibri"/>
                <a:cs typeface="Calibri"/>
              </a:rPr>
              <a:t>ag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4476095" y="3413927"/>
            <a:ext cx="121920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spc="-5" dirty="0">
                <a:latin typeface="Calibri"/>
                <a:cs typeface="Calibri"/>
              </a:rPr>
              <a:t>v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685800" y="3886200"/>
            <a:ext cx="7086600" cy="613410"/>
          </a:xfrm>
          <a:custGeom>
            <a:avLst/>
            <a:gdLst/>
            <a:ahLst/>
            <a:cxnLst/>
            <a:rect l="l" t="t" r="r" b="b"/>
            <a:pathLst>
              <a:path w="7086600" h="613410">
                <a:moveTo>
                  <a:pt x="0" y="0"/>
                </a:moveTo>
                <a:lnTo>
                  <a:pt x="7086600" y="0"/>
                </a:lnTo>
                <a:lnTo>
                  <a:pt x="7086600" y="612838"/>
                </a:lnTo>
                <a:lnTo>
                  <a:pt x="0" y="612838"/>
                </a:lnTo>
                <a:lnTo>
                  <a:pt x="0" y="0"/>
                </a:lnTo>
                <a:close/>
              </a:path>
            </a:pathLst>
          </a:custGeom>
          <a:solidFill>
            <a:srgbClr val="D6D6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835202" y="3962400"/>
            <a:ext cx="3322320" cy="461009"/>
          </a:xfrm>
          <a:custGeom>
            <a:avLst/>
            <a:gdLst/>
            <a:ahLst/>
            <a:cxnLst/>
            <a:rect l="l" t="t" r="r" b="b"/>
            <a:pathLst>
              <a:path w="3322320" h="461010">
                <a:moveTo>
                  <a:pt x="0" y="0"/>
                </a:moveTo>
                <a:lnTo>
                  <a:pt x="3321926" y="0"/>
                </a:lnTo>
                <a:lnTo>
                  <a:pt x="3321926" y="460438"/>
                </a:lnTo>
                <a:lnTo>
                  <a:pt x="0" y="460438"/>
                </a:lnTo>
                <a:lnTo>
                  <a:pt x="0" y="0"/>
                </a:lnTo>
                <a:close/>
              </a:path>
            </a:pathLst>
          </a:custGeom>
          <a:solidFill>
            <a:srgbClr val="ADAD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835202" y="3962400"/>
            <a:ext cx="3322320" cy="461009"/>
          </a:xfrm>
          <a:custGeom>
            <a:avLst/>
            <a:gdLst/>
            <a:ahLst/>
            <a:cxnLst/>
            <a:rect l="l" t="t" r="r" b="b"/>
            <a:pathLst>
              <a:path w="3322320" h="461010">
                <a:moveTo>
                  <a:pt x="0" y="0"/>
                </a:moveTo>
                <a:lnTo>
                  <a:pt x="3321926" y="0"/>
                </a:lnTo>
                <a:lnTo>
                  <a:pt x="3321926" y="460438"/>
                </a:lnTo>
                <a:lnTo>
                  <a:pt x="0" y="460438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944524" y="4061066"/>
            <a:ext cx="235585" cy="263525"/>
          </a:xfrm>
          <a:custGeom>
            <a:avLst/>
            <a:gdLst/>
            <a:ahLst/>
            <a:cxnLst/>
            <a:rect l="l" t="t" r="r" b="b"/>
            <a:pathLst>
              <a:path w="235584" h="263525">
                <a:moveTo>
                  <a:pt x="0" y="0"/>
                </a:moveTo>
                <a:lnTo>
                  <a:pt x="235318" y="0"/>
                </a:lnTo>
                <a:lnTo>
                  <a:pt x="235318" y="263105"/>
                </a:lnTo>
                <a:lnTo>
                  <a:pt x="0" y="2631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944524" y="4061066"/>
            <a:ext cx="235585" cy="263525"/>
          </a:xfrm>
          <a:custGeom>
            <a:avLst/>
            <a:gdLst/>
            <a:ahLst/>
            <a:cxnLst/>
            <a:rect l="l" t="t" r="r" b="b"/>
            <a:pathLst>
              <a:path w="235584" h="263525">
                <a:moveTo>
                  <a:pt x="0" y="0"/>
                </a:moveTo>
                <a:lnTo>
                  <a:pt x="235318" y="0"/>
                </a:lnTo>
                <a:lnTo>
                  <a:pt x="235318" y="263105"/>
                </a:lnTo>
                <a:lnTo>
                  <a:pt x="0" y="263105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1349387" y="4061066"/>
            <a:ext cx="620395" cy="263525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61925">
              <a:lnSpc>
                <a:spcPct val="100000"/>
              </a:lnSpc>
            </a:pPr>
            <a:r>
              <a:rPr sz="1600" b="1" spc="-20" dirty="0">
                <a:latin typeface="Calibri"/>
                <a:cs typeface="Calibri"/>
              </a:rPr>
              <a:t>t</a:t>
            </a:r>
            <a:r>
              <a:rPr sz="1600" b="1" spc="-5" dirty="0">
                <a:latin typeface="Calibri"/>
                <a:cs typeface="Calibri"/>
              </a:rPr>
              <a:t>ag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1001767" y="4096485"/>
            <a:ext cx="121920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spc="-5" dirty="0">
                <a:latin typeface="Calibri"/>
                <a:cs typeface="Calibri"/>
              </a:rPr>
              <a:t>v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4309529" y="3965651"/>
            <a:ext cx="3322320" cy="461009"/>
          </a:xfrm>
          <a:custGeom>
            <a:avLst/>
            <a:gdLst/>
            <a:ahLst/>
            <a:cxnLst/>
            <a:rect l="l" t="t" r="r" b="b"/>
            <a:pathLst>
              <a:path w="3322320" h="461010">
                <a:moveTo>
                  <a:pt x="0" y="0"/>
                </a:moveTo>
                <a:lnTo>
                  <a:pt x="3321926" y="0"/>
                </a:lnTo>
                <a:lnTo>
                  <a:pt x="3321926" y="460438"/>
                </a:lnTo>
                <a:lnTo>
                  <a:pt x="0" y="460438"/>
                </a:lnTo>
                <a:lnTo>
                  <a:pt x="0" y="0"/>
                </a:lnTo>
                <a:close/>
              </a:path>
            </a:pathLst>
          </a:custGeom>
          <a:solidFill>
            <a:srgbClr val="ADAD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4309529" y="3965651"/>
            <a:ext cx="3322320" cy="461009"/>
          </a:xfrm>
          <a:custGeom>
            <a:avLst/>
            <a:gdLst/>
            <a:ahLst/>
            <a:cxnLst/>
            <a:rect l="l" t="t" r="r" b="b"/>
            <a:pathLst>
              <a:path w="3322320" h="461010">
                <a:moveTo>
                  <a:pt x="0" y="0"/>
                </a:moveTo>
                <a:lnTo>
                  <a:pt x="3321926" y="0"/>
                </a:lnTo>
                <a:lnTo>
                  <a:pt x="3321926" y="460438"/>
                </a:lnTo>
                <a:lnTo>
                  <a:pt x="0" y="460438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4418850" y="4064317"/>
            <a:ext cx="235585" cy="263525"/>
          </a:xfrm>
          <a:custGeom>
            <a:avLst/>
            <a:gdLst/>
            <a:ahLst/>
            <a:cxnLst/>
            <a:rect l="l" t="t" r="r" b="b"/>
            <a:pathLst>
              <a:path w="235585" h="263525">
                <a:moveTo>
                  <a:pt x="0" y="0"/>
                </a:moveTo>
                <a:lnTo>
                  <a:pt x="235318" y="0"/>
                </a:lnTo>
                <a:lnTo>
                  <a:pt x="235318" y="263105"/>
                </a:lnTo>
                <a:lnTo>
                  <a:pt x="0" y="2631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4418850" y="4064317"/>
            <a:ext cx="235585" cy="263525"/>
          </a:xfrm>
          <a:custGeom>
            <a:avLst/>
            <a:gdLst/>
            <a:ahLst/>
            <a:cxnLst/>
            <a:rect l="l" t="t" r="r" b="b"/>
            <a:pathLst>
              <a:path w="235585" h="263525">
                <a:moveTo>
                  <a:pt x="0" y="0"/>
                </a:moveTo>
                <a:lnTo>
                  <a:pt x="235318" y="0"/>
                </a:lnTo>
                <a:lnTo>
                  <a:pt x="235318" y="263105"/>
                </a:lnTo>
                <a:lnTo>
                  <a:pt x="0" y="263105"/>
                </a:lnTo>
                <a:lnTo>
                  <a:pt x="0" y="0"/>
                </a:lnTo>
                <a:close/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 txBox="1"/>
          <p:nvPr/>
        </p:nvSpPr>
        <p:spPr>
          <a:xfrm>
            <a:off x="4823714" y="4064317"/>
            <a:ext cx="620395" cy="263525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61925">
              <a:lnSpc>
                <a:spcPct val="100000"/>
              </a:lnSpc>
            </a:pPr>
            <a:r>
              <a:rPr sz="1600" b="1" spc="-20" dirty="0">
                <a:latin typeface="Calibri"/>
                <a:cs typeface="Calibri"/>
              </a:rPr>
              <a:t>t</a:t>
            </a:r>
            <a:r>
              <a:rPr sz="1600" b="1" spc="-5" dirty="0">
                <a:latin typeface="Calibri"/>
                <a:cs typeface="Calibri"/>
              </a:rPr>
              <a:t>ag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4476095" y="4099727"/>
            <a:ext cx="121920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spc="-5" dirty="0">
                <a:latin typeface="Calibri"/>
                <a:cs typeface="Calibri"/>
              </a:rPr>
              <a:t>v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685800" y="5102161"/>
            <a:ext cx="7086600" cy="613410"/>
          </a:xfrm>
          <a:custGeom>
            <a:avLst/>
            <a:gdLst/>
            <a:ahLst/>
            <a:cxnLst/>
            <a:rect l="l" t="t" r="r" b="b"/>
            <a:pathLst>
              <a:path w="7086600" h="613410">
                <a:moveTo>
                  <a:pt x="0" y="0"/>
                </a:moveTo>
                <a:lnTo>
                  <a:pt x="7086600" y="0"/>
                </a:lnTo>
                <a:lnTo>
                  <a:pt x="7086600" y="612838"/>
                </a:lnTo>
                <a:lnTo>
                  <a:pt x="0" y="612838"/>
                </a:lnTo>
                <a:lnTo>
                  <a:pt x="0" y="0"/>
                </a:lnTo>
                <a:close/>
              </a:path>
            </a:pathLst>
          </a:custGeom>
          <a:solidFill>
            <a:srgbClr val="D6D6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835202" y="5178361"/>
            <a:ext cx="3322320" cy="461009"/>
          </a:xfrm>
          <a:custGeom>
            <a:avLst/>
            <a:gdLst/>
            <a:ahLst/>
            <a:cxnLst/>
            <a:rect l="l" t="t" r="r" b="b"/>
            <a:pathLst>
              <a:path w="3322320" h="461010">
                <a:moveTo>
                  <a:pt x="0" y="0"/>
                </a:moveTo>
                <a:lnTo>
                  <a:pt x="3321926" y="0"/>
                </a:lnTo>
                <a:lnTo>
                  <a:pt x="3321926" y="460438"/>
                </a:lnTo>
                <a:lnTo>
                  <a:pt x="0" y="460438"/>
                </a:lnTo>
                <a:lnTo>
                  <a:pt x="0" y="0"/>
                </a:lnTo>
                <a:close/>
              </a:path>
            </a:pathLst>
          </a:custGeom>
          <a:solidFill>
            <a:srgbClr val="ADAD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835202" y="5178361"/>
            <a:ext cx="3322320" cy="461009"/>
          </a:xfrm>
          <a:custGeom>
            <a:avLst/>
            <a:gdLst/>
            <a:ahLst/>
            <a:cxnLst/>
            <a:rect l="l" t="t" r="r" b="b"/>
            <a:pathLst>
              <a:path w="3322320" h="461010">
                <a:moveTo>
                  <a:pt x="0" y="0"/>
                </a:moveTo>
                <a:lnTo>
                  <a:pt x="3321926" y="0"/>
                </a:lnTo>
                <a:lnTo>
                  <a:pt x="3321926" y="460438"/>
                </a:lnTo>
                <a:lnTo>
                  <a:pt x="0" y="460438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944524" y="5277027"/>
            <a:ext cx="235585" cy="263525"/>
          </a:xfrm>
          <a:custGeom>
            <a:avLst/>
            <a:gdLst/>
            <a:ahLst/>
            <a:cxnLst/>
            <a:rect l="l" t="t" r="r" b="b"/>
            <a:pathLst>
              <a:path w="235584" h="263525">
                <a:moveTo>
                  <a:pt x="0" y="0"/>
                </a:moveTo>
                <a:lnTo>
                  <a:pt x="235318" y="0"/>
                </a:lnTo>
                <a:lnTo>
                  <a:pt x="235318" y="263105"/>
                </a:lnTo>
                <a:lnTo>
                  <a:pt x="0" y="2631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944524" y="5277027"/>
            <a:ext cx="235585" cy="263525"/>
          </a:xfrm>
          <a:custGeom>
            <a:avLst/>
            <a:gdLst/>
            <a:ahLst/>
            <a:cxnLst/>
            <a:rect l="l" t="t" r="r" b="b"/>
            <a:pathLst>
              <a:path w="235584" h="263525">
                <a:moveTo>
                  <a:pt x="0" y="0"/>
                </a:moveTo>
                <a:lnTo>
                  <a:pt x="235318" y="0"/>
                </a:lnTo>
                <a:lnTo>
                  <a:pt x="235318" y="263105"/>
                </a:lnTo>
                <a:lnTo>
                  <a:pt x="0" y="263105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 txBox="1"/>
          <p:nvPr/>
        </p:nvSpPr>
        <p:spPr>
          <a:xfrm>
            <a:off x="1349387" y="5277027"/>
            <a:ext cx="620395" cy="263525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61925">
              <a:lnSpc>
                <a:spcPct val="100000"/>
              </a:lnSpc>
            </a:pPr>
            <a:r>
              <a:rPr sz="1600" b="1" spc="-20" dirty="0">
                <a:latin typeface="Calibri"/>
                <a:cs typeface="Calibri"/>
              </a:rPr>
              <a:t>t</a:t>
            </a:r>
            <a:r>
              <a:rPr sz="1600" b="1" spc="-5" dirty="0">
                <a:latin typeface="Calibri"/>
                <a:cs typeface="Calibri"/>
              </a:rPr>
              <a:t>ag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1001767" y="5312441"/>
            <a:ext cx="121920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spc="-5" dirty="0">
                <a:latin typeface="Calibri"/>
                <a:cs typeface="Calibri"/>
              </a:rPr>
              <a:t>v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65" name="object 65"/>
          <p:cNvSpPr/>
          <p:nvPr/>
        </p:nvSpPr>
        <p:spPr>
          <a:xfrm>
            <a:off x="4309529" y="5181600"/>
            <a:ext cx="3322320" cy="461009"/>
          </a:xfrm>
          <a:custGeom>
            <a:avLst/>
            <a:gdLst/>
            <a:ahLst/>
            <a:cxnLst/>
            <a:rect l="l" t="t" r="r" b="b"/>
            <a:pathLst>
              <a:path w="3322320" h="461010">
                <a:moveTo>
                  <a:pt x="0" y="0"/>
                </a:moveTo>
                <a:lnTo>
                  <a:pt x="3321926" y="0"/>
                </a:lnTo>
                <a:lnTo>
                  <a:pt x="3321926" y="460438"/>
                </a:lnTo>
                <a:lnTo>
                  <a:pt x="0" y="460438"/>
                </a:lnTo>
                <a:lnTo>
                  <a:pt x="0" y="0"/>
                </a:lnTo>
                <a:close/>
              </a:path>
            </a:pathLst>
          </a:custGeom>
          <a:solidFill>
            <a:srgbClr val="ADAD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4309529" y="5181600"/>
            <a:ext cx="3322320" cy="461009"/>
          </a:xfrm>
          <a:custGeom>
            <a:avLst/>
            <a:gdLst/>
            <a:ahLst/>
            <a:cxnLst/>
            <a:rect l="l" t="t" r="r" b="b"/>
            <a:pathLst>
              <a:path w="3322320" h="461010">
                <a:moveTo>
                  <a:pt x="0" y="0"/>
                </a:moveTo>
                <a:lnTo>
                  <a:pt x="3321926" y="0"/>
                </a:lnTo>
                <a:lnTo>
                  <a:pt x="3321926" y="460438"/>
                </a:lnTo>
                <a:lnTo>
                  <a:pt x="0" y="460438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4418850" y="5280266"/>
            <a:ext cx="235585" cy="263525"/>
          </a:xfrm>
          <a:custGeom>
            <a:avLst/>
            <a:gdLst/>
            <a:ahLst/>
            <a:cxnLst/>
            <a:rect l="l" t="t" r="r" b="b"/>
            <a:pathLst>
              <a:path w="235585" h="263525">
                <a:moveTo>
                  <a:pt x="0" y="0"/>
                </a:moveTo>
                <a:lnTo>
                  <a:pt x="235318" y="0"/>
                </a:lnTo>
                <a:lnTo>
                  <a:pt x="235318" y="263105"/>
                </a:lnTo>
                <a:lnTo>
                  <a:pt x="0" y="2631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4418850" y="5280266"/>
            <a:ext cx="235585" cy="263525"/>
          </a:xfrm>
          <a:custGeom>
            <a:avLst/>
            <a:gdLst/>
            <a:ahLst/>
            <a:cxnLst/>
            <a:rect l="l" t="t" r="r" b="b"/>
            <a:pathLst>
              <a:path w="235585" h="263525">
                <a:moveTo>
                  <a:pt x="0" y="0"/>
                </a:moveTo>
                <a:lnTo>
                  <a:pt x="235318" y="0"/>
                </a:lnTo>
                <a:lnTo>
                  <a:pt x="235318" y="263105"/>
                </a:lnTo>
                <a:lnTo>
                  <a:pt x="0" y="263105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 txBox="1"/>
          <p:nvPr/>
        </p:nvSpPr>
        <p:spPr>
          <a:xfrm>
            <a:off x="4823714" y="5280266"/>
            <a:ext cx="620395" cy="263525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61925">
              <a:lnSpc>
                <a:spcPct val="100000"/>
              </a:lnSpc>
            </a:pPr>
            <a:r>
              <a:rPr sz="1600" b="1" spc="-20" dirty="0">
                <a:latin typeface="Calibri"/>
                <a:cs typeface="Calibri"/>
              </a:rPr>
              <a:t>t</a:t>
            </a:r>
            <a:r>
              <a:rPr sz="1600" b="1" spc="-5" dirty="0">
                <a:latin typeface="Calibri"/>
                <a:cs typeface="Calibri"/>
              </a:rPr>
              <a:t>ag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4476095" y="5315685"/>
            <a:ext cx="121920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spc="-5" dirty="0">
                <a:latin typeface="Calibri"/>
                <a:cs typeface="Calibri"/>
              </a:rPr>
              <a:t>v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72" name="object 72"/>
          <p:cNvSpPr/>
          <p:nvPr/>
        </p:nvSpPr>
        <p:spPr>
          <a:xfrm>
            <a:off x="7772400" y="2133600"/>
            <a:ext cx="394335" cy="1373505"/>
          </a:xfrm>
          <a:custGeom>
            <a:avLst/>
            <a:gdLst/>
            <a:ahLst/>
            <a:cxnLst/>
            <a:rect l="l" t="t" r="r" b="b"/>
            <a:pathLst>
              <a:path w="394334" h="1373504">
                <a:moveTo>
                  <a:pt x="393877" y="0"/>
                </a:moveTo>
                <a:lnTo>
                  <a:pt x="393877" y="1373225"/>
                </a:lnTo>
                <a:lnTo>
                  <a:pt x="0" y="1373225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 txBox="1"/>
          <p:nvPr/>
        </p:nvSpPr>
        <p:spPr>
          <a:xfrm>
            <a:off x="7969567" y="3541058"/>
            <a:ext cx="1098410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lang="zh-CN" altLang="en-US" sz="1800" dirty="0">
                <a:latin typeface="Calibri"/>
                <a:cs typeface="Calibri"/>
              </a:rPr>
              <a:t>选择的组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74" name="object 74"/>
          <p:cNvSpPr/>
          <p:nvPr/>
        </p:nvSpPr>
        <p:spPr>
          <a:xfrm>
            <a:off x="705618" y="2262431"/>
            <a:ext cx="7063105" cy="226060"/>
          </a:xfrm>
          <a:custGeom>
            <a:avLst/>
            <a:gdLst/>
            <a:ahLst/>
            <a:cxnLst/>
            <a:rect l="l" t="t" r="r" b="b"/>
            <a:pathLst>
              <a:path w="7063105" h="226060">
                <a:moveTo>
                  <a:pt x="0" y="225980"/>
                </a:moveTo>
                <a:lnTo>
                  <a:pt x="13114" y="182057"/>
                </a:lnTo>
                <a:lnTo>
                  <a:pt x="48931" y="146021"/>
                </a:lnTo>
                <a:lnTo>
                  <a:pt x="87512" y="126290"/>
                </a:lnTo>
                <a:lnTo>
                  <a:pt x="133657" y="114466"/>
                </a:lnTo>
                <a:lnTo>
                  <a:pt x="3360051" y="111680"/>
                </a:lnTo>
                <a:lnTo>
                  <a:pt x="3377341" y="111106"/>
                </a:lnTo>
                <a:lnTo>
                  <a:pt x="3425934" y="102938"/>
                </a:lnTo>
                <a:lnTo>
                  <a:pt x="3467872" y="86256"/>
                </a:lnTo>
                <a:lnTo>
                  <a:pt x="3500927" y="62548"/>
                </a:lnTo>
                <a:lnTo>
                  <a:pt x="3527322" y="22577"/>
                </a:lnTo>
                <a:lnTo>
                  <a:pt x="3531457" y="0"/>
                </a:lnTo>
                <a:lnTo>
                  <a:pt x="3532338" y="11147"/>
                </a:lnTo>
                <a:lnTo>
                  <a:pt x="3551899" y="52379"/>
                </a:lnTo>
                <a:lnTo>
                  <a:pt x="3581052" y="78097"/>
                </a:lnTo>
                <a:lnTo>
                  <a:pt x="3620090" y="97555"/>
                </a:lnTo>
                <a:lnTo>
                  <a:pt x="3666736" y="109132"/>
                </a:lnTo>
                <a:lnTo>
                  <a:pt x="6891540" y="111680"/>
                </a:lnTo>
                <a:lnTo>
                  <a:pt x="6908830" y="112254"/>
                </a:lnTo>
                <a:lnTo>
                  <a:pt x="6957423" y="120423"/>
                </a:lnTo>
                <a:lnTo>
                  <a:pt x="6999361" y="137105"/>
                </a:lnTo>
                <a:lnTo>
                  <a:pt x="7032416" y="160813"/>
                </a:lnTo>
                <a:lnTo>
                  <a:pt x="7058811" y="200784"/>
                </a:lnTo>
                <a:lnTo>
                  <a:pt x="7061703" y="211902"/>
                </a:lnTo>
                <a:lnTo>
                  <a:pt x="7062946" y="223361"/>
                </a:lnTo>
              </a:path>
            </a:pathLst>
          </a:custGeom>
          <a:ln w="25400">
            <a:solidFill>
              <a:srgbClr val="81818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377391" y="2561481"/>
            <a:ext cx="226060" cy="3154045"/>
          </a:xfrm>
          <a:custGeom>
            <a:avLst/>
            <a:gdLst/>
            <a:ahLst/>
            <a:cxnLst/>
            <a:rect l="l" t="t" r="r" b="b"/>
            <a:pathLst>
              <a:path w="226059" h="3154045">
                <a:moveTo>
                  <a:pt x="225980" y="3153518"/>
                </a:moveTo>
                <a:lnTo>
                  <a:pt x="182057" y="3140403"/>
                </a:lnTo>
                <a:lnTo>
                  <a:pt x="146021" y="3104586"/>
                </a:lnTo>
                <a:lnTo>
                  <a:pt x="126290" y="3066005"/>
                </a:lnTo>
                <a:lnTo>
                  <a:pt x="114466" y="3019860"/>
                </a:lnTo>
                <a:lnTo>
                  <a:pt x="111680" y="1748187"/>
                </a:lnTo>
                <a:lnTo>
                  <a:pt x="111106" y="1730896"/>
                </a:lnTo>
                <a:lnTo>
                  <a:pt x="102938" y="1682304"/>
                </a:lnTo>
                <a:lnTo>
                  <a:pt x="86256" y="1640365"/>
                </a:lnTo>
                <a:lnTo>
                  <a:pt x="62548" y="1607311"/>
                </a:lnTo>
                <a:lnTo>
                  <a:pt x="22577" y="1580915"/>
                </a:lnTo>
                <a:lnTo>
                  <a:pt x="0" y="1576781"/>
                </a:lnTo>
                <a:lnTo>
                  <a:pt x="11147" y="1575900"/>
                </a:lnTo>
                <a:lnTo>
                  <a:pt x="52379" y="1556339"/>
                </a:lnTo>
                <a:lnTo>
                  <a:pt x="78097" y="1527185"/>
                </a:lnTo>
                <a:lnTo>
                  <a:pt x="97555" y="1488148"/>
                </a:lnTo>
                <a:lnTo>
                  <a:pt x="109132" y="1441501"/>
                </a:lnTo>
                <a:lnTo>
                  <a:pt x="111680" y="171405"/>
                </a:lnTo>
                <a:lnTo>
                  <a:pt x="112254" y="154115"/>
                </a:lnTo>
                <a:lnTo>
                  <a:pt x="120423" y="105523"/>
                </a:lnTo>
                <a:lnTo>
                  <a:pt x="137105" y="63584"/>
                </a:lnTo>
                <a:lnTo>
                  <a:pt x="160813" y="30530"/>
                </a:lnTo>
                <a:lnTo>
                  <a:pt x="200784" y="4134"/>
                </a:lnTo>
                <a:lnTo>
                  <a:pt x="211902" y="1243"/>
                </a:lnTo>
                <a:lnTo>
                  <a:pt x="223361" y="0"/>
                </a:lnTo>
              </a:path>
            </a:pathLst>
          </a:custGeom>
          <a:ln w="25400">
            <a:solidFill>
              <a:srgbClr val="81818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 txBox="1"/>
          <p:nvPr/>
        </p:nvSpPr>
        <p:spPr>
          <a:xfrm>
            <a:off x="3733800" y="1877837"/>
            <a:ext cx="1339850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zh-CN" altLang="en-US" b="1" spc="-5" dirty="0">
                <a:solidFill>
                  <a:srgbClr val="606060"/>
                </a:solidFill>
                <a:latin typeface="Calibri"/>
                <a:cs typeface="Calibri"/>
              </a:rPr>
              <a:t>每组两行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37072" y="3774329"/>
            <a:ext cx="280987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1800" b="1" spc="-5" dirty="0">
                <a:solidFill>
                  <a:srgbClr val="606060"/>
                </a:solidFill>
                <a:latin typeface="Calibri"/>
                <a:cs typeface="Calibri"/>
              </a:rPr>
              <a:t> </a:t>
            </a:r>
            <a:r>
              <a:rPr sz="1800" b="1" spc="-5" dirty="0">
                <a:solidFill>
                  <a:srgbClr val="606060"/>
                </a:solidFill>
                <a:latin typeface="Calibri"/>
                <a:cs typeface="Calibri"/>
              </a:rPr>
              <a:t>S </a:t>
            </a:r>
            <a:endParaRPr lang="en-US" sz="1800" b="1" spc="-5" dirty="0">
              <a:solidFill>
                <a:srgbClr val="606060"/>
              </a:solidFill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lang="zh-CN" altLang="en-US" sz="1800" b="1" spc="-5" dirty="0">
                <a:solidFill>
                  <a:srgbClr val="606060"/>
                </a:solidFill>
                <a:latin typeface="Calibri"/>
                <a:cs typeface="Calibri"/>
              </a:rPr>
              <a:t>组</a:t>
            </a:r>
            <a:endParaRPr sz="1800" dirty="0">
              <a:latin typeface="Calibri"/>
              <a:cs typeface="Calibri"/>
            </a:endParaRPr>
          </a:p>
        </p:txBody>
      </p:sp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2128520" y="2689466"/>
          <a:ext cx="1940594" cy="2631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53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05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60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27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5199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5168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5199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63105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1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2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3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4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5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6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7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4" name="object 24"/>
          <p:cNvGraphicFramePr>
            <a:graphicFrameLocks noGrp="1"/>
          </p:cNvGraphicFramePr>
          <p:nvPr/>
        </p:nvGraphicFramePr>
        <p:xfrm>
          <a:off x="5602846" y="2692717"/>
          <a:ext cx="1940595" cy="2631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53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05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60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27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5199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516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519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63105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1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2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3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4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5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6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7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2" name="object 32"/>
          <p:cNvGraphicFramePr>
            <a:graphicFrameLocks noGrp="1"/>
          </p:cNvGraphicFramePr>
          <p:nvPr/>
        </p:nvGraphicFramePr>
        <p:xfrm>
          <a:off x="2128520" y="3375266"/>
          <a:ext cx="1940594" cy="2631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53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05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60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27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5199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5168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5199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63105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1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2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3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4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5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6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7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9" name="object 39"/>
          <p:cNvGraphicFramePr>
            <a:graphicFrameLocks noGrp="1"/>
          </p:cNvGraphicFramePr>
          <p:nvPr/>
        </p:nvGraphicFramePr>
        <p:xfrm>
          <a:off x="5602846" y="3378517"/>
          <a:ext cx="1940595" cy="2631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53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05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60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27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5199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516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519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63105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1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2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3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4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5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6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7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" name="object 47"/>
          <p:cNvGraphicFramePr>
            <a:graphicFrameLocks noGrp="1"/>
          </p:cNvGraphicFramePr>
          <p:nvPr/>
        </p:nvGraphicFramePr>
        <p:xfrm>
          <a:off x="2128520" y="4061066"/>
          <a:ext cx="1940594" cy="2631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53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05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60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27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5199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5168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5199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63105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1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2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3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4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5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6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7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4" name="object 54"/>
          <p:cNvGraphicFramePr>
            <a:graphicFrameLocks noGrp="1"/>
          </p:cNvGraphicFramePr>
          <p:nvPr/>
        </p:nvGraphicFramePr>
        <p:xfrm>
          <a:off x="5602846" y="4064317"/>
          <a:ext cx="1940595" cy="2631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53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05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60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27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5199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516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519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63105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1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2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3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4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5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6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7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2" name="object 62"/>
          <p:cNvGraphicFramePr>
            <a:graphicFrameLocks noGrp="1"/>
          </p:cNvGraphicFramePr>
          <p:nvPr/>
        </p:nvGraphicFramePr>
        <p:xfrm>
          <a:off x="2128520" y="5277027"/>
          <a:ext cx="1940594" cy="2631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53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05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60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27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5199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5168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5199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63105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1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2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3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4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5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6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7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9" name="object 69"/>
          <p:cNvGraphicFramePr>
            <a:graphicFrameLocks noGrp="1"/>
          </p:cNvGraphicFramePr>
          <p:nvPr/>
        </p:nvGraphicFramePr>
        <p:xfrm>
          <a:off x="5602846" y="5280266"/>
          <a:ext cx="1940595" cy="2631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53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05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60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27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5199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516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519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63105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1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2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3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4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5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6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7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46710" y="264395"/>
            <a:ext cx="7591425" cy="853304"/>
          </a:xfrm>
          <a:prstGeom prst="rect">
            <a:avLst/>
          </a:prstGeom>
        </p:spPr>
        <p:txBody>
          <a:bodyPr vert="horz" wrap="square" lIns="0" tIns="296412" rIns="0" bIns="0" rtlCol="0">
            <a:spAutoFit/>
          </a:bodyPr>
          <a:lstStyle/>
          <a:p>
            <a:pPr marL="13335">
              <a:lnSpc>
                <a:spcPct val="100000"/>
              </a:lnSpc>
            </a:pPr>
            <a:r>
              <a:rPr lang="en-US" altLang="zh-CN" spc="-10" dirty="0"/>
              <a:t>E</a:t>
            </a:r>
            <a:r>
              <a:rPr lang="en-US" altLang="zh-CN" dirty="0"/>
              <a:t> </a:t>
            </a:r>
            <a:r>
              <a:rPr lang="zh-CN" altLang="en-US" dirty="0"/>
              <a:t>路组相联高速缓存</a:t>
            </a:r>
            <a:r>
              <a:rPr lang="zh-CN" altLang="en-US" spc="-15" dirty="0"/>
              <a:t> </a:t>
            </a:r>
            <a:r>
              <a:rPr lang="en-US" altLang="zh-CN" spc="-15" dirty="0"/>
              <a:t>(</a:t>
            </a:r>
            <a:r>
              <a:rPr lang="zh-CN" altLang="en-US" spc="-10" dirty="0"/>
              <a:t> </a:t>
            </a:r>
            <a:r>
              <a:rPr lang="en-US" altLang="zh-CN" spc="-5" dirty="0"/>
              <a:t>E </a:t>
            </a:r>
            <a:r>
              <a:rPr lang="en-US" altLang="zh-CN" dirty="0"/>
              <a:t>=</a:t>
            </a:r>
            <a:r>
              <a:rPr lang="en-US" altLang="zh-CN" spc="-5" dirty="0"/>
              <a:t> 2)</a:t>
            </a:r>
            <a:endParaRPr spc="-5" dirty="0"/>
          </a:p>
        </p:txBody>
      </p:sp>
      <p:sp>
        <p:nvSpPr>
          <p:cNvPr id="6" name="object 6"/>
          <p:cNvSpPr/>
          <p:nvPr/>
        </p:nvSpPr>
        <p:spPr>
          <a:xfrm>
            <a:off x="6566077" y="1862747"/>
            <a:ext cx="990600" cy="271145"/>
          </a:xfrm>
          <a:custGeom>
            <a:avLst/>
            <a:gdLst/>
            <a:ahLst/>
            <a:cxnLst/>
            <a:rect l="l" t="t" r="r" b="b"/>
            <a:pathLst>
              <a:path w="990600" h="271144">
                <a:moveTo>
                  <a:pt x="0" y="0"/>
                </a:moveTo>
                <a:lnTo>
                  <a:pt x="990600" y="0"/>
                </a:lnTo>
                <a:lnTo>
                  <a:pt x="990600" y="270852"/>
                </a:lnTo>
                <a:lnTo>
                  <a:pt x="0" y="270852"/>
                </a:lnTo>
                <a:lnTo>
                  <a:pt x="0" y="0"/>
                </a:lnTo>
                <a:close/>
              </a:path>
            </a:pathLst>
          </a:custGeom>
          <a:solidFill>
            <a:srgbClr val="FF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566077" y="1862747"/>
            <a:ext cx="990600" cy="271145"/>
          </a:xfrm>
          <a:custGeom>
            <a:avLst/>
            <a:gdLst/>
            <a:ahLst/>
            <a:cxnLst/>
            <a:rect l="l" t="t" r="r" b="b"/>
            <a:pathLst>
              <a:path w="990600" h="271144">
                <a:moveTo>
                  <a:pt x="0" y="0"/>
                </a:moveTo>
                <a:lnTo>
                  <a:pt x="990600" y="0"/>
                </a:lnTo>
                <a:lnTo>
                  <a:pt x="990600" y="270852"/>
                </a:lnTo>
                <a:lnTo>
                  <a:pt x="0" y="270852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556677" y="1862747"/>
            <a:ext cx="762000" cy="271145"/>
          </a:xfrm>
          <a:custGeom>
            <a:avLst/>
            <a:gdLst/>
            <a:ahLst/>
            <a:cxnLst/>
            <a:rect l="l" t="t" r="r" b="b"/>
            <a:pathLst>
              <a:path w="762000" h="271144">
                <a:moveTo>
                  <a:pt x="0" y="0"/>
                </a:moveTo>
                <a:lnTo>
                  <a:pt x="762000" y="0"/>
                </a:lnTo>
                <a:lnTo>
                  <a:pt x="762000" y="270852"/>
                </a:lnTo>
                <a:lnTo>
                  <a:pt x="0" y="270852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318677" y="1862747"/>
            <a:ext cx="520700" cy="271145"/>
          </a:xfrm>
          <a:custGeom>
            <a:avLst/>
            <a:gdLst/>
            <a:ahLst/>
            <a:cxnLst/>
            <a:rect l="l" t="t" r="r" b="b"/>
            <a:pathLst>
              <a:path w="520700" h="271144">
                <a:moveTo>
                  <a:pt x="0" y="0"/>
                </a:moveTo>
                <a:lnTo>
                  <a:pt x="520522" y="0"/>
                </a:lnTo>
                <a:lnTo>
                  <a:pt x="520522" y="270852"/>
                </a:lnTo>
                <a:lnTo>
                  <a:pt x="0" y="270852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566561" y="1597718"/>
            <a:ext cx="2189480" cy="5616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altLang="zh-CN" b="1" spc="-5" dirty="0">
                <a:latin typeface="Calibri"/>
                <a:cs typeface="Calibri"/>
              </a:rPr>
              <a:t>s</a:t>
            </a:r>
            <a:r>
              <a:rPr lang="en-US" altLang="zh-CN" b="1" dirty="0">
                <a:latin typeface="Calibri"/>
                <a:cs typeface="Calibri"/>
              </a:rPr>
              <a:t>h</a:t>
            </a:r>
            <a:r>
              <a:rPr lang="en-US" altLang="zh-CN" b="1" spc="-5" dirty="0">
                <a:latin typeface="Calibri"/>
                <a:cs typeface="Calibri"/>
              </a:rPr>
              <a:t>ort</a:t>
            </a:r>
            <a:r>
              <a:rPr lang="en-US" altLang="zh-CN" b="1" spc="-15" dirty="0">
                <a:latin typeface="Calibri"/>
                <a:cs typeface="Calibri"/>
              </a:rPr>
              <a:t> </a:t>
            </a:r>
            <a:r>
              <a:rPr lang="en-US" altLang="zh-CN" b="1" spc="-5" dirty="0" err="1">
                <a:latin typeface="Calibri"/>
                <a:cs typeface="Calibri"/>
              </a:rPr>
              <a:t>i</a:t>
            </a:r>
            <a:r>
              <a:rPr lang="en-US" altLang="zh-CN" b="1" spc="-15" dirty="0" err="1">
                <a:latin typeface="Calibri"/>
                <a:cs typeface="Calibri"/>
              </a:rPr>
              <a:t>n</a:t>
            </a:r>
            <a:r>
              <a:rPr lang="en-US" altLang="zh-CN" b="1" spc="-5" dirty="0" err="1">
                <a:latin typeface="Calibri"/>
                <a:cs typeface="Calibri"/>
              </a:rPr>
              <a:t>t</a:t>
            </a:r>
            <a:r>
              <a:rPr lang="zh-CN" altLang="en-US" b="1" spc="-5" dirty="0">
                <a:latin typeface="Calibri"/>
                <a:cs typeface="Calibri"/>
              </a:rPr>
              <a:t>地址</a:t>
            </a:r>
            <a:r>
              <a:rPr sz="1800" b="1" spc="-5" dirty="0">
                <a:latin typeface="Calibri"/>
                <a:cs typeface="Calibri"/>
              </a:rPr>
              <a:t>:</a:t>
            </a:r>
            <a:endParaRPr sz="1800" dirty="0">
              <a:latin typeface="Calibri"/>
              <a:cs typeface="Calibri"/>
            </a:endParaRPr>
          </a:p>
          <a:p>
            <a:pPr marL="292735">
              <a:lnSpc>
                <a:spcPct val="100000"/>
              </a:lnSpc>
              <a:spcBef>
                <a:spcPts val="280"/>
              </a:spcBef>
              <a:tabLst>
                <a:tab pos="1155065" algn="l"/>
                <a:tab pos="1870075" algn="l"/>
              </a:tabLst>
            </a:pPr>
            <a:r>
              <a:rPr sz="1600" b="1" spc="-5" dirty="0">
                <a:latin typeface="Calibri"/>
                <a:cs typeface="Calibri"/>
              </a:rPr>
              <a:t>t </a:t>
            </a:r>
            <a:r>
              <a:rPr sz="1600" b="1" spc="-10" dirty="0">
                <a:latin typeface="Calibri"/>
                <a:cs typeface="Calibri"/>
              </a:rPr>
              <a:t>b</a:t>
            </a:r>
            <a:r>
              <a:rPr sz="1600" b="1" spc="-5" dirty="0">
                <a:latin typeface="Calibri"/>
                <a:cs typeface="Calibri"/>
              </a:rPr>
              <a:t>i</a:t>
            </a:r>
            <a:r>
              <a:rPr sz="1600" b="1" spc="-10" dirty="0">
                <a:latin typeface="Calibri"/>
                <a:cs typeface="Calibri"/>
              </a:rPr>
              <a:t>t</a:t>
            </a:r>
            <a:r>
              <a:rPr sz="1600" b="1" spc="-5" dirty="0">
                <a:latin typeface="Calibri"/>
                <a:cs typeface="Calibri"/>
              </a:rPr>
              <a:t>s</a:t>
            </a:r>
            <a:r>
              <a:rPr sz="1600" b="1" dirty="0">
                <a:latin typeface="Calibri"/>
                <a:cs typeface="Calibri"/>
              </a:rPr>
              <a:t>	</a:t>
            </a:r>
            <a:r>
              <a:rPr sz="1600" b="1" spc="-10" dirty="0">
                <a:latin typeface="Calibri"/>
                <a:cs typeface="Calibri"/>
              </a:rPr>
              <a:t>0</a:t>
            </a:r>
            <a:r>
              <a:rPr sz="1600" b="1" spc="-5" dirty="0">
                <a:latin typeface="Calibri"/>
                <a:cs typeface="Calibri"/>
              </a:rPr>
              <a:t>…</a:t>
            </a:r>
            <a:r>
              <a:rPr sz="1600" b="1" spc="-10" dirty="0">
                <a:latin typeface="Calibri"/>
                <a:cs typeface="Calibri"/>
              </a:rPr>
              <a:t>0</a:t>
            </a:r>
            <a:r>
              <a:rPr sz="1600" b="1" spc="-5" dirty="0">
                <a:latin typeface="Calibri"/>
                <a:cs typeface="Calibri"/>
              </a:rPr>
              <a:t>1</a:t>
            </a:r>
            <a:r>
              <a:rPr sz="1600" b="1" dirty="0">
                <a:latin typeface="Calibri"/>
                <a:cs typeface="Calibri"/>
              </a:rPr>
              <a:t>	</a:t>
            </a:r>
            <a:r>
              <a:rPr sz="1600" b="1" spc="-10" dirty="0">
                <a:latin typeface="Calibri"/>
                <a:cs typeface="Calibri"/>
              </a:rPr>
              <a:t>100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57200" y="3200400"/>
            <a:ext cx="7086600" cy="613410"/>
          </a:xfrm>
          <a:custGeom>
            <a:avLst/>
            <a:gdLst/>
            <a:ahLst/>
            <a:cxnLst/>
            <a:rect l="l" t="t" r="r" b="b"/>
            <a:pathLst>
              <a:path w="7086600" h="613410">
                <a:moveTo>
                  <a:pt x="0" y="0"/>
                </a:moveTo>
                <a:lnTo>
                  <a:pt x="7086600" y="0"/>
                </a:lnTo>
                <a:lnTo>
                  <a:pt x="7086600" y="612838"/>
                </a:lnTo>
                <a:lnTo>
                  <a:pt x="0" y="612838"/>
                </a:lnTo>
                <a:lnTo>
                  <a:pt x="0" y="0"/>
                </a:lnTo>
                <a:close/>
              </a:path>
            </a:pathLst>
          </a:custGeom>
          <a:solidFill>
            <a:srgbClr val="D6D6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06602" y="3276600"/>
            <a:ext cx="3322320" cy="461009"/>
          </a:xfrm>
          <a:custGeom>
            <a:avLst/>
            <a:gdLst/>
            <a:ahLst/>
            <a:cxnLst/>
            <a:rect l="l" t="t" r="r" b="b"/>
            <a:pathLst>
              <a:path w="3322320" h="461010">
                <a:moveTo>
                  <a:pt x="0" y="0"/>
                </a:moveTo>
                <a:lnTo>
                  <a:pt x="3321926" y="0"/>
                </a:lnTo>
                <a:lnTo>
                  <a:pt x="3321926" y="460438"/>
                </a:lnTo>
                <a:lnTo>
                  <a:pt x="0" y="460438"/>
                </a:lnTo>
                <a:lnTo>
                  <a:pt x="0" y="0"/>
                </a:lnTo>
                <a:close/>
              </a:path>
            </a:pathLst>
          </a:custGeom>
          <a:solidFill>
            <a:srgbClr val="ADAD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06602" y="3276600"/>
            <a:ext cx="3322320" cy="461009"/>
          </a:xfrm>
          <a:custGeom>
            <a:avLst/>
            <a:gdLst/>
            <a:ahLst/>
            <a:cxnLst/>
            <a:rect l="l" t="t" r="r" b="b"/>
            <a:pathLst>
              <a:path w="3322320" h="461010">
                <a:moveTo>
                  <a:pt x="0" y="0"/>
                </a:moveTo>
                <a:lnTo>
                  <a:pt x="3321926" y="0"/>
                </a:lnTo>
                <a:lnTo>
                  <a:pt x="3321926" y="460438"/>
                </a:lnTo>
                <a:lnTo>
                  <a:pt x="0" y="460438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899920" y="3375266"/>
            <a:ext cx="235585" cy="263525"/>
          </a:xfrm>
          <a:custGeom>
            <a:avLst/>
            <a:gdLst/>
            <a:ahLst/>
            <a:cxnLst/>
            <a:rect l="l" t="t" r="r" b="b"/>
            <a:pathLst>
              <a:path w="235585" h="263525">
                <a:moveTo>
                  <a:pt x="0" y="0"/>
                </a:moveTo>
                <a:lnTo>
                  <a:pt x="235318" y="0"/>
                </a:lnTo>
                <a:lnTo>
                  <a:pt x="235318" y="263105"/>
                </a:lnTo>
                <a:lnTo>
                  <a:pt x="0" y="2631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899920" y="3375266"/>
            <a:ext cx="235585" cy="263525"/>
          </a:xfrm>
          <a:custGeom>
            <a:avLst/>
            <a:gdLst/>
            <a:ahLst/>
            <a:cxnLst/>
            <a:rect l="l" t="t" r="r" b="b"/>
            <a:pathLst>
              <a:path w="235585" h="263525">
                <a:moveTo>
                  <a:pt x="0" y="0"/>
                </a:moveTo>
                <a:lnTo>
                  <a:pt x="235318" y="0"/>
                </a:lnTo>
                <a:lnTo>
                  <a:pt x="235318" y="263105"/>
                </a:lnTo>
                <a:lnTo>
                  <a:pt x="0" y="263105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135238" y="3375266"/>
            <a:ext cx="235585" cy="263525"/>
          </a:xfrm>
          <a:custGeom>
            <a:avLst/>
            <a:gdLst/>
            <a:ahLst/>
            <a:cxnLst/>
            <a:rect l="l" t="t" r="r" b="b"/>
            <a:pathLst>
              <a:path w="235585" h="263525">
                <a:moveTo>
                  <a:pt x="0" y="0"/>
                </a:moveTo>
                <a:lnTo>
                  <a:pt x="235318" y="0"/>
                </a:lnTo>
                <a:lnTo>
                  <a:pt x="235318" y="263105"/>
                </a:lnTo>
                <a:lnTo>
                  <a:pt x="0" y="2631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135238" y="3375266"/>
            <a:ext cx="235585" cy="263525"/>
          </a:xfrm>
          <a:custGeom>
            <a:avLst/>
            <a:gdLst/>
            <a:ahLst/>
            <a:cxnLst/>
            <a:rect l="l" t="t" r="r" b="b"/>
            <a:pathLst>
              <a:path w="235585" h="263525">
                <a:moveTo>
                  <a:pt x="0" y="0"/>
                </a:moveTo>
                <a:lnTo>
                  <a:pt x="235318" y="0"/>
                </a:lnTo>
                <a:lnTo>
                  <a:pt x="235318" y="263105"/>
                </a:lnTo>
                <a:lnTo>
                  <a:pt x="0" y="263105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360371" y="3375266"/>
            <a:ext cx="235585" cy="263525"/>
          </a:xfrm>
          <a:custGeom>
            <a:avLst/>
            <a:gdLst/>
            <a:ahLst/>
            <a:cxnLst/>
            <a:rect l="l" t="t" r="r" b="b"/>
            <a:pathLst>
              <a:path w="235585" h="263525">
                <a:moveTo>
                  <a:pt x="0" y="0"/>
                </a:moveTo>
                <a:lnTo>
                  <a:pt x="235318" y="0"/>
                </a:lnTo>
                <a:lnTo>
                  <a:pt x="235318" y="263105"/>
                </a:lnTo>
                <a:lnTo>
                  <a:pt x="0" y="2631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360371" y="3375266"/>
            <a:ext cx="235585" cy="263525"/>
          </a:xfrm>
          <a:custGeom>
            <a:avLst/>
            <a:gdLst/>
            <a:ahLst/>
            <a:cxnLst/>
            <a:rect l="l" t="t" r="r" b="b"/>
            <a:pathLst>
              <a:path w="235585" h="263525">
                <a:moveTo>
                  <a:pt x="0" y="0"/>
                </a:moveTo>
                <a:lnTo>
                  <a:pt x="235318" y="0"/>
                </a:lnTo>
                <a:lnTo>
                  <a:pt x="235318" y="263105"/>
                </a:lnTo>
                <a:lnTo>
                  <a:pt x="0" y="263105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587902" y="3375266"/>
            <a:ext cx="252729" cy="263525"/>
          </a:xfrm>
          <a:custGeom>
            <a:avLst/>
            <a:gdLst/>
            <a:ahLst/>
            <a:cxnLst/>
            <a:rect l="l" t="t" r="r" b="b"/>
            <a:pathLst>
              <a:path w="252729" h="263525">
                <a:moveTo>
                  <a:pt x="0" y="0"/>
                </a:moveTo>
                <a:lnTo>
                  <a:pt x="252615" y="0"/>
                </a:lnTo>
                <a:lnTo>
                  <a:pt x="252615" y="263105"/>
                </a:lnTo>
                <a:lnTo>
                  <a:pt x="0" y="2631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587902" y="3375266"/>
            <a:ext cx="252729" cy="263525"/>
          </a:xfrm>
          <a:custGeom>
            <a:avLst/>
            <a:gdLst/>
            <a:ahLst/>
            <a:cxnLst/>
            <a:rect l="l" t="t" r="r" b="b"/>
            <a:pathLst>
              <a:path w="252729" h="263525">
                <a:moveTo>
                  <a:pt x="0" y="0"/>
                </a:moveTo>
                <a:lnTo>
                  <a:pt x="252615" y="0"/>
                </a:lnTo>
                <a:lnTo>
                  <a:pt x="252615" y="263105"/>
                </a:lnTo>
                <a:lnTo>
                  <a:pt x="0" y="263105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120787" y="3375266"/>
            <a:ext cx="3810" cy="263525"/>
          </a:xfrm>
          <a:custGeom>
            <a:avLst/>
            <a:gdLst/>
            <a:ahLst/>
            <a:cxnLst/>
            <a:rect l="l" t="t" r="r" b="b"/>
            <a:pathLst>
              <a:path w="3809" h="263525">
                <a:moveTo>
                  <a:pt x="0" y="263105"/>
                </a:moveTo>
                <a:lnTo>
                  <a:pt x="3403" y="263105"/>
                </a:lnTo>
                <a:lnTo>
                  <a:pt x="3403" y="0"/>
                </a:lnTo>
                <a:lnTo>
                  <a:pt x="0" y="0"/>
                </a:lnTo>
                <a:lnTo>
                  <a:pt x="0" y="26310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120787" y="3375266"/>
            <a:ext cx="620395" cy="263525"/>
          </a:xfrm>
          <a:custGeom>
            <a:avLst/>
            <a:gdLst/>
            <a:ahLst/>
            <a:cxnLst/>
            <a:rect l="l" t="t" r="r" b="b"/>
            <a:pathLst>
              <a:path w="620394" h="263525">
                <a:moveTo>
                  <a:pt x="0" y="0"/>
                </a:moveTo>
                <a:lnTo>
                  <a:pt x="619785" y="0"/>
                </a:lnTo>
                <a:lnTo>
                  <a:pt x="619785" y="263105"/>
                </a:lnTo>
                <a:lnTo>
                  <a:pt x="0" y="263105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715924" y="3375266"/>
            <a:ext cx="235585" cy="263525"/>
          </a:xfrm>
          <a:custGeom>
            <a:avLst/>
            <a:gdLst/>
            <a:ahLst/>
            <a:cxnLst/>
            <a:rect l="l" t="t" r="r" b="b"/>
            <a:pathLst>
              <a:path w="235584" h="263525">
                <a:moveTo>
                  <a:pt x="0" y="0"/>
                </a:moveTo>
                <a:lnTo>
                  <a:pt x="235318" y="0"/>
                </a:lnTo>
                <a:lnTo>
                  <a:pt x="235318" y="263105"/>
                </a:lnTo>
                <a:lnTo>
                  <a:pt x="0" y="2631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715924" y="3375266"/>
            <a:ext cx="235585" cy="263525"/>
          </a:xfrm>
          <a:custGeom>
            <a:avLst/>
            <a:gdLst/>
            <a:ahLst/>
            <a:cxnLst/>
            <a:rect l="l" t="t" r="r" b="b"/>
            <a:pathLst>
              <a:path w="235584" h="263525">
                <a:moveTo>
                  <a:pt x="0" y="0"/>
                </a:moveTo>
                <a:lnTo>
                  <a:pt x="235318" y="0"/>
                </a:lnTo>
                <a:lnTo>
                  <a:pt x="235318" y="263105"/>
                </a:lnTo>
                <a:lnTo>
                  <a:pt x="0" y="263105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596311" y="3375266"/>
            <a:ext cx="235585" cy="263525"/>
          </a:xfrm>
          <a:custGeom>
            <a:avLst/>
            <a:gdLst/>
            <a:ahLst/>
            <a:cxnLst/>
            <a:rect l="l" t="t" r="r" b="b"/>
            <a:pathLst>
              <a:path w="235585" h="263525">
                <a:moveTo>
                  <a:pt x="0" y="0"/>
                </a:moveTo>
                <a:lnTo>
                  <a:pt x="235318" y="0"/>
                </a:lnTo>
                <a:lnTo>
                  <a:pt x="235318" y="263105"/>
                </a:lnTo>
                <a:lnTo>
                  <a:pt x="0" y="2631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596311" y="3375266"/>
            <a:ext cx="235585" cy="263525"/>
          </a:xfrm>
          <a:custGeom>
            <a:avLst/>
            <a:gdLst/>
            <a:ahLst/>
            <a:cxnLst/>
            <a:rect l="l" t="t" r="r" b="b"/>
            <a:pathLst>
              <a:path w="235585" h="263525">
                <a:moveTo>
                  <a:pt x="0" y="0"/>
                </a:moveTo>
                <a:lnTo>
                  <a:pt x="235318" y="0"/>
                </a:lnTo>
                <a:lnTo>
                  <a:pt x="235318" y="263105"/>
                </a:lnTo>
                <a:lnTo>
                  <a:pt x="0" y="263105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3336531" y="3375266"/>
            <a:ext cx="252729" cy="263525"/>
          </a:xfrm>
          <a:custGeom>
            <a:avLst/>
            <a:gdLst/>
            <a:ahLst/>
            <a:cxnLst/>
            <a:rect l="l" t="t" r="r" b="b"/>
            <a:pathLst>
              <a:path w="252729" h="263525">
                <a:moveTo>
                  <a:pt x="0" y="0"/>
                </a:moveTo>
                <a:lnTo>
                  <a:pt x="252615" y="0"/>
                </a:lnTo>
                <a:lnTo>
                  <a:pt x="252615" y="263105"/>
                </a:lnTo>
                <a:lnTo>
                  <a:pt x="0" y="2631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336531" y="3375266"/>
            <a:ext cx="252729" cy="263525"/>
          </a:xfrm>
          <a:custGeom>
            <a:avLst/>
            <a:gdLst/>
            <a:ahLst/>
            <a:cxnLst/>
            <a:rect l="l" t="t" r="r" b="b"/>
            <a:pathLst>
              <a:path w="252729" h="263525">
                <a:moveTo>
                  <a:pt x="0" y="0"/>
                </a:moveTo>
                <a:lnTo>
                  <a:pt x="252615" y="0"/>
                </a:lnTo>
                <a:lnTo>
                  <a:pt x="252615" y="263105"/>
                </a:lnTo>
                <a:lnTo>
                  <a:pt x="0" y="263105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3084537" y="3375266"/>
            <a:ext cx="252729" cy="263525"/>
          </a:xfrm>
          <a:custGeom>
            <a:avLst/>
            <a:gdLst/>
            <a:ahLst/>
            <a:cxnLst/>
            <a:rect l="l" t="t" r="r" b="b"/>
            <a:pathLst>
              <a:path w="252729" h="263525">
                <a:moveTo>
                  <a:pt x="0" y="0"/>
                </a:moveTo>
                <a:lnTo>
                  <a:pt x="252615" y="0"/>
                </a:lnTo>
                <a:lnTo>
                  <a:pt x="252615" y="263105"/>
                </a:lnTo>
                <a:lnTo>
                  <a:pt x="0" y="2631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3084537" y="3375266"/>
            <a:ext cx="252729" cy="263525"/>
          </a:xfrm>
          <a:custGeom>
            <a:avLst/>
            <a:gdLst/>
            <a:ahLst/>
            <a:cxnLst/>
            <a:rect l="l" t="t" r="r" b="b"/>
            <a:pathLst>
              <a:path w="252729" h="263525">
                <a:moveTo>
                  <a:pt x="0" y="0"/>
                </a:moveTo>
                <a:lnTo>
                  <a:pt x="252615" y="0"/>
                </a:lnTo>
                <a:lnTo>
                  <a:pt x="252615" y="263105"/>
                </a:lnTo>
                <a:lnTo>
                  <a:pt x="0" y="263105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2832544" y="3375266"/>
            <a:ext cx="252729" cy="263525"/>
          </a:xfrm>
          <a:custGeom>
            <a:avLst/>
            <a:gdLst/>
            <a:ahLst/>
            <a:cxnLst/>
            <a:rect l="l" t="t" r="r" b="b"/>
            <a:pathLst>
              <a:path w="252730" h="263525">
                <a:moveTo>
                  <a:pt x="0" y="0"/>
                </a:moveTo>
                <a:lnTo>
                  <a:pt x="252615" y="0"/>
                </a:lnTo>
                <a:lnTo>
                  <a:pt x="252615" y="263105"/>
                </a:lnTo>
                <a:lnTo>
                  <a:pt x="0" y="2631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2832544" y="3375266"/>
            <a:ext cx="252729" cy="263525"/>
          </a:xfrm>
          <a:custGeom>
            <a:avLst/>
            <a:gdLst/>
            <a:ahLst/>
            <a:cxnLst/>
            <a:rect l="l" t="t" r="r" b="b"/>
            <a:pathLst>
              <a:path w="252730" h="263525">
                <a:moveTo>
                  <a:pt x="0" y="0"/>
                </a:moveTo>
                <a:lnTo>
                  <a:pt x="252615" y="0"/>
                </a:lnTo>
                <a:lnTo>
                  <a:pt x="252615" y="263105"/>
                </a:lnTo>
                <a:lnTo>
                  <a:pt x="0" y="263105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1954115" y="3410685"/>
            <a:ext cx="1824989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47650" algn="l"/>
                <a:tab pos="708660" algn="l"/>
                <a:tab pos="953135" algn="l"/>
                <a:tab pos="1205230" algn="l"/>
                <a:tab pos="1457325" algn="l"/>
                <a:tab pos="1708785" algn="l"/>
              </a:tabLst>
            </a:pPr>
            <a:r>
              <a:rPr sz="1600" b="1" spc="-5" dirty="0">
                <a:latin typeface="Calibri"/>
                <a:cs typeface="Calibri"/>
              </a:rPr>
              <a:t>0	1  </a:t>
            </a:r>
            <a:r>
              <a:rPr sz="1600" b="1" spc="-125" dirty="0">
                <a:latin typeface="Calibri"/>
                <a:cs typeface="Calibri"/>
              </a:rPr>
              <a:t> </a:t>
            </a:r>
            <a:r>
              <a:rPr sz="1600" b="1" spc="-5" dirty="0">
                <a:latin typeface="Calibri"/>
                <a:cs typeface="Calibri"/>
              </a:rPr>
              <a:t>2</a:t>
            </a:r>
            <a:r>
              <a:rPr sz="1600" b="1" dirty="0">
                <a:latin typeface="Calibri"/>
                <a:cs typeface="Calibri"/>
              </a:rPr>
              <a:t>	</a:t>
            </a:r>
            <a:r>
              <a:rPr sz="1600" b="1" spc="-5" dirty="0">
                <a:latin typeface="Calibri"/>
                <a:cs typeface="Calibri"/>
              </a:rPr>
              <a:t>3</a:t>
            </a:r>
            <a:r>
              <a:rPr sz="1600" b="1" dirty="0">
                <a:latin typeface="Calibri"/>
                <a:cs typeface="Calibri"/>
              </a:rPr>
              <a:t>	</a:t>
            </a:r>
            <a:r>
              <a:rPr sz="1600" b="1" spc="-5" dirty="0">
                <a:latin typeface="Calibri"/>
                <a:cs typeface="Calibri"/>
              </a:rPr>
              <a:t>4</a:t>
            </a:r>
            <a:r>
              <a:rPr sz="1600" b="1" dirty="0">
                <a:latin typeface="Calibri"/>
                <a:cs typeface="Calibri"/>
              </a:rPr>
              <a:t>	</a:t>
            </a:r>
            <a:r>
              <a:rPr sz="1600" b="1" spc="-5" dirty="0">
                <a:latin typeface="Calibri"/>
                <a:cs typeface="Calibri"/>
              </a:rPr>
              <a:t>5</a:t>
            </a:r>
            <a:r>
              <a:rPr sz="1600" b="1" dirty="0">
                <a:latin typeface="Calibri"/>
                <a:cs typeface="Calibri"/>
              </a:rPr>
              <a:t>	</a:t>
            </a:r>
            <a:r>
              <a:rPr sz="1600" b="1" spc="-5" dirty="0">
                <a:latin typeface="Calibri"/>
                <a:cs typeface="Calibri"/>
              </a:rPr>
              <a:t>6</a:t>
            </a:r>
            <a:r>
              <a:rPr sz="1600" b="1" dirty="0">
                <a:latin typeface="Calibri"/>
                <a:cs typeface="Calibri"/>
              </a:rPr>
              <a:t>	</a:t>
            </a:r>
            <a:r>
              <a:rPr sz="1600" b="1" spc="-5" dirty="0">
                <a:latin typeface="Calibri"/>
                <a:cs typeface="Calibri"/>
              </a:rPr>
              <a:t>7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124191" y="3377234"/>
            <a:ext cx="620395" cy="2635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3355">
              <a:lnSpc>
                <a:spcPct val="100000"/>
              </a:lnSpc>
            </a:pPr>
            <a:r>
              <a:rPr sz="1600" b="1" spc="-20" dirty="0">
                <a:latin typeface="Calibri"/>
                <a:cs typeface="Calibri"/>
              </a:rPr>
              <a:t>t</a:t>
            </a:r>
            <a:r>
              <a:rPr sz="1600" b="1" spc="-5" dirty="0">
                <a:latin typeface="Calibri"/>
                <a:cs typeface="Calibri"/>
              </a:rPr>
              <a:t>ag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73167" y="3410685"/>
            <a:ext cx="121920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spc="-5" dirty="0">
                <a:latin typeface="Calibri"/>
                <a:cs typeface="Calibri"/>
              </a:rPr>
              <a:t>v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4080929" y="3279851"/>
            <a:ext cx="3322320" cy="461009"/>
          </a:xfrm>
          <a:custGeom>
            <a:avLst/>
            <a:gdLst/>
            <a:ahLst/>
            <a:cxnLst/>
            <a:rect l="l" t="t" r="r" b="b"/>
            <a:pathLst>
              <a:path w="3322320" h="461010">
                <a:moveTo>
                  <a:pt x="0" y="0"/>
                </a:moveTo>
                <a:lnTo>
                  <a:pt x="3321926" y="0"/>
                </a:lnTo>
                <a:lnTo>
                  <a:pt x="3321926" y="460438"/>
                </a:lnTo>
                <a:lnTo>
                  <a:pt x="0" y="460438"/>
                </a:lnTo>
                <a:lnTo>
                  <a:pt x="0" y="0"/>
                </a:lnTo>
                <a:close/>
              </a:path>
            </a:pathLst>
          </a:custGeom>
          <a:solidFill>
            <a:srgbClr val="ADAD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4080929" y="3279851"/>
            <a:ext cx="3322320" cy="461009"/>
          </a:xfrm>
          <a:custGeom>
            <a:avLst/>
            <a:gdLst/>
            <a:ahLst/>
            <a:cxnLst/>
            <a:rect l="l" t="t" r="r" b="b"/>
            <a:pathLst>
              <a:path w="3322320" h="461010">
                <a:moveTo>
                  <a:pt x="0" y="0"/>
                </a:moveTo>
                <a:lnTo>
                  <a:pt x="3321926" y="0"/>
                </a:lnTo>
                <a:lnTo>
                  <a:pt x="3321926" y="460438"/>
                </a:lnTo>
                <a:lnTo>
                  <a:pt x="0" y="460438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4595114" y="3378517"/>
            <a:ext cx="620395" cy="263525"/>
          </a:xfrm>
          <a:custGeom>
            <a:avLst/>
            <a:gdLst/>
            <a:ahLst/>
            <a:cxnLst/>
            <a:rect l="l" t="t" r="r" b="b"/>
            <a:pathLst>
              <a:path w="620395" h="263525">
                <a:moveTo>
                  <a:pt x="0" y="0"/>
                </a:moveTo>
                <a:lnTo>
                  <a:pt x="619785" y="0"/>
                </a:lnTo>
                <a:lnTo>
                  <a:pt x="619785" y="263105"/>
                </a:lnTo>
                <a:lnTo>
                  <a:pt x="0" y="2631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4595114" y="3378517"/>
            <a:ext cx="620395" cy="263525"/>
          </a:xfrm>
          <a:custGeom>
            <a:avLst/>
            <a:gdLst/>
            <a:ahLst/>
            <a:cxnLst/>
            <a:rect l="l" t="t" r="r" b="b"/>
            <a:pathLst>
              <a:path w="620395" h="263525">
                <a:moveTo>
                  <a:pt x="0" y="0"/>
                </a:moveTo>
                <a:lnTo>
                  <a:pt x="619785" y="0"/>
                </a:lnTo>
                <a:lnTo>
                  <a:pt x="619785" y="263105"/>
                </a:lnTo>
                <a:lnTo>
                  <a:pt x="0" y="263105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4759246" y="3413927"/>
            <a:ext cx="290830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spc="-20" dirty="0">
                <a:latin typeface="Calibri"/>
                <a:cs typeface="Calibri"/>
              </a:rPr>
              <a:t>t</a:t>
            </a:r>
            <a:r>
              <a:rPr sz="1600" b="1" spc="-5" dirty="0">
                <a:latin typeface="Calibri"/>
                <a:cs typeface="Calibri"/>
              </a:rPr>
              <a:t>ag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4190250" y="3378517"/>
            <a:ext cx="235585" cy="263525"/>
          </a:xfrm>
          <a:custGeom>
            <a:avLst/>
            <a:gdLst/>
            <a:ahLst/>
            <a:cxnLst/>
            <a:rect l="l" t="t" r="r" b="b"/>
            <a:pathLst>
              <a:path w="235585" h="263525">
                <a:moveTo>
                  <a:pt x="0" y="0"/>
                </a:moveTo>
                <a:lnTo>
                  <a:pt x="235318" y="0"/>
                </a:lnTo>
                <a:lnTo>
                  <a:pt x="235318" y="263105"/>
                </a:lnTo>
                <a:lnTo>
                  <a:pt x="0" y="2631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4190250" y="3378517"/>
            <a:ext cx="235585" cy="263525"/>
          </a:xfrm>
          <a:custGeom>
            <a:avLst/>
            <a:gdLst/>
            <a:ahLst/>
            <a:cxnLst/>
            <a:rect l="l" t="t" r="r" b="b"/>
            <a:pathLst>
              <a:path w="235585" h="263525">
                <a:moveTo>
                  <a:pt x="0" y="0"/>
                </a:moveTo>
                <a:lnTo>
                  <a:pt x="235318" y="0"/>
                </a:lnTo>
                <a:lnTo>
                  <a:pt x="235318" y="263105"/>
                </a:lnTo>
                <a:lnTo>
                  <a:pt x="0" y="263105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4247495" y="3413927"/>
            <a:ext cx="121920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spc="-5" dirty="0">
                <a:latin typeface="Calibri"/>
                <a:cs typeface="Calibri"/>
              </a:rPr>
              <a:t>v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7543800" y="2133600"/>
            <a:ext cx="394335" cy="1373505"/>
          </a:xfrm>
          <a:custGeom>
            <a:avLst/>
            <a:gdLst/>
            <a:ahLst/>
            <a:cxnLst/>
            <a:rect l="l" t="t" r="r" b="b"/>
            <a:pathLst>
              <a:path w="394334" h="1373504">
                <a:moveTo>
                  <a:pt x="393877" y="0"/>
                </a:moveTo>
                <a:lnTo>
                  <a:pt x="393877" y="1373225"/>
                </a:lnTo>
                <a:lnTo>
                  <a:pt x="0" y="1373225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4905007" y="1998176"/>
            <a:ext cx="1661160" cy="1380490"/>
          </a:xfrm>
          <a:custGeom>
            <a:avLst/>
            <a:gdLst/>
            <a:ahLst/>
            <a:cxnLst/>
            <a:rect l="l" t="t" r="r" b="b"/>
            <a:pathLst>
              <a:path w="1661159" h="1380489">
                <a:moveTo>
                  <a:pt x="1661071" y="0"/>
                </a:moveTo>
                <a:lnTo>
                  <a:pt x="0" y="0"/>
                </a:lnTo>
                <a:lnTo>
                  <a:pt x="0" y="1380337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1430681" y="1998174"/>
            <a:ext cx="5135880" cy="1377315"/>
          </a:xfrm>
          <a:custGeom>
            <a:avLst/>
            <a:gdLst/>
            <a:ahLst/>
            <a:cxnLst/>
            <a:rect l="l" t="t" r="r" b="b"/>
            <a:pathLst>
              <a:path w="5135880" h="1377314">
                <a:moveTo>
                  <a:pt x="5135397" y="0"/>
                </a:moveTo>
                <a:lnTo>
                  <a:pt x="0" y="0"/>
                </a:lnTo>
                <a:lnTo>
                  <a:pt x="0" y="1377099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 txBox="1"/>
          <p:nvPr/>
        </p:nvSpPr>
        <p:spPr>
          <a:xfrm>
            <a:off x="3337266" y="2056129"/>
            <a:ext cx="1527469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zh-CN" altLang="en-US" sz="1800" dirty="0">
                <a:latin typeface="Calibri"/>
                <a:cs typeface="Calibri"/>
              </a:rPr>
              <a:t>两者进行比较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836612" y="2971800"/>
            <a:ext cx="1905" cy="401320"/>
          </a:xfrm>
          <a:custGeom>
            <a:avLst/>
            <a:gdLst/>
            <a:ahLst/>
            <a:cxnLst/>
            <a:rect l="l" t="t" r="r" b="b"/>
            <a:pathLst>
              <a:path w="1905" h="401320">
                <a:moveTo>
                  <a:pt x="1587" y="0"/>
                </a:moveTo>
                <a:lnTo>
                  <a:pt x="0" y="400913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 txBox="1"/>
          <p:nvPr/>
        </p:nvSpPr>
        <p:spPr>
          <a:xfrm>
            <a:off x="535940" y="2703036"/>
            <a:ext cx="801370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zh-CN" altLang="en-US" sz="1800" b="1" dirty="0">
                <a:latin typeface="Calibri"/>
                <a:cs typeface="Calibri"/>
              </a:rPr>
              <a:t>有效</a:t>
            </a:r>
            <a:r>
              <a:rPr sz="1800" b="1" dirty="0">
                <a:latin typeface="Calibri"/>
                <a:cs typeface="Calibri"/>
              </a:rPr>
              <a:t>? </a:t>
            </a:r>
            <a:r>
              <a:rPr sz="1800" b="1" spc="-2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+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1497431" y="2716523"/>
            <a:ext cx="1520825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zh-CN" altLang="en-US" sz="1800" b="1" spc="-5" dirty="0">
                <a:latin typeface="Calibri"/>
                <a:cs typeface="Calibri"/>
              </a:rPr>
              <a:t>匹配</a:t>
            </a:r>
            <a:r>
              <a:rPr sz="1800" b="1" spc="-5" dirty="0">
                <a:latin typeface="Calibri"/>
                <a:cs typeface="Calibri"/>
              </a:rPr>
              <a:t>:</a:t>
            </a:r>
            <a:r>
              <a:rPr sz="1800" b="1" spc="-20" dirty="0">
                <a:latin typeface="Calibri"/>
                <a:cs typeface="Calibri"/>
              </a:rPr>
              <a:t> </a:t>
            </a:r>
            <a:r>
              <a:rPr sz="1800" b="1" spc="-30" dirty="0">
                <a:latin typeface="Calibri"/>
                <a:cs typeface="Calibri"/>
              </a:rPr>
              <a:t>y</a:t>
            </a:r>
            <a:r>
              <a:rPr sz="1800" b="1" spc="5" dirty="0">
                <a:latin typeface="Calibri"/>
                <a:cs typeface="Calibri"/>
              </a:rPr>
              <a:t>e</a:t>
            </a:r>
            <a:r>
              <a:rPr sz="1800" b="1" spc="-5" dirty="0">
                <a:latin typeface="Calibri"/>
                <a:cs typeface="Calibri"/>
              </a:rPr>
              <a:t>s</a:t>
            </a:r>
            <a:r>
              <a:rPr sz="1800" b="1" spc="-1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=</a:t>
            </a:r>
            <a:r>
              <a:rPr sz="1800" b="1" spc="1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h</a:t>
            </a:r>
            <a:r>
              <a:rPr sz="1800" b="1" spc="-5" dirty="0">
                <a:latin typeface="Calibri"/>
                <a:cs typeface="Calibri"/>
              </a:rPr>
              <a:t>it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2958859" y="2133598"/>
            <a:ext cx="5620385" cy="2233295"/>
          </a:xfrm>
          <a:custGeom>
            <a:avLst/>
            <a:gdLst/>
            <a:ahLst/>
            <a:cxnLst/>
            <a:rect l="l" t="t" r="r" b="b"/>
            <a:pathLst>
              <a:path w="5620384" h="2233295">
                <a:moveTo>
                  <a:pt x="5620080" y="0"/>
                </a:moveTo>
                <a:lnTo>
                  <a:pt x="5620080" y="2232914"/>
                </a:lnTo>
                <a:lnTo>
                  <a:pt x="0" y="2232914"/>
                </a:lnTo>
                <a:lnTo>
                  <a:pt x="0" y="1504784"/>
                </a:lnTo>
              </a:path>
            </a:pathLst>
          </a:custGeom>
          <a:ln w="253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 txBox="1"/>
          <p:nvPr/>
        </p:nvSpPr>
        <p:spPr>
          <a:xfrm>
            <a:off x="5184140" y="4429997"/>
            <a:ext cx="1133475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zh-CN" altLang="en-US" sz="1800" dirty="0">
                <a:latin typeface="Calibri"/>
                <a:cs typeface="Calibri"/>
              </a:rPr>
              <a:t>块偏移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1124191" y="3377234"/>
            <a:ext cx="620395" cy="263525"/>
          </a:xfrm>
          <a:custGeom>
            <a:avLst/>
            <a:gdLst/>
            <a:ahLst/>
            <a:cxnLst/>
            <a:rect l="l" t="t" r="r" b="b"/>
            <a:pathLst>
              <a:path w="620394" h="263525">
                <a:moveTo>
                  <a:pt x="0" y="0"/>
                </a:moveTo>
                <a:lnTo>
                  <a:pt x="619785" y="0"/>
                </a:lnTo>
                <a:lnTo>
                  <a:pt x="619785" y="263105"/>
                </a:lnTo>
                <a:lnTo>
                  <a:pt x="0" y="263105"/>
                </a:lnTo>
                <a:lnTo>
                  <a:pt x="0" y="0"/>
                </a:lnTo>
                <a:close/>
              </a:path>
            </a:pathLst>
          </a:custGeom>
          <a:solidFill>
            <a:srgbClr val="FF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1124178" y="3377234"/>
            <a:ext cx="620395" cy="263525"/>
          </a:xfrm>
          <a:custGeom>
            <a:avLst/>
            <a:gdLst/>
            <a:ahLst/>
            <a:cxnLst/>
            <a:rect l="l" t="t" r="r" b="b"/>
            <a:pathLst>
              <a:path w="620394" h="263525">
                <a:moveTo>
                  <a:pt x="0" y="0"/>
                </a:moveTo>
                <a:lnTo>
                  <a:pt x="619785" y="0"/>
                </a:lnTo>
                <a:lnTo>
                  <a:pt x="619785" y="263105"/>
                </a:lnTo>
                <a:lnTo>
                  <a:pt x="0" y="263105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 txBox="1"/>
          <p:nvPr/>
        </p:nvSpPr>
        <p:spPr>
          <a:xfrm>
            <a:off x="1288314" y="3412653"/>
            <a:ext cx="290830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spc="-20" dirty="0">
                <a:latin typeface="Calibri"/>
                <a:cs typeface="Calibri"/>
              </a:rPr>
              <a:t>t</a:t>
            </a:r>
            <a:r>
              <a:rPr sz="1600" b="1" spc="-5" dirty="0">
                <a:latin typeface="Calibri"/>
                <a:cs typeface="Calibri"/>
              </a:rPr>
              <a:t>ag</a:t>
            </a:r>
            <a:endParaRPr sz="1600">
              <a:latin typeface="Calibri"/>
              <a:cs typeface="Calibri"/>
            </a:endParaRPr>
          </a:p>
        </p:txBody>
      </p:sp>
      <p:graphicFrame>
        <p:nvGraphicFramePr>
          <p:cNvPr id="44" name="object 44"/>
          <p:cNvGraphicFramePr>
            <a:graphicFrameLocks noGrp="1"/>
          </p:cNvGraphicFramePr>
          <p:nvPr/>
        </p:nvGraphicFramePr>
        <p:xfrm>
          <a:off x="5374246" y="3378517"/>
          <a:ext cx="1940594" cy="2631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53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05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60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27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5199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516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519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63105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1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2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3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4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5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6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7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8" name="object 5"/>
          <p:cNvSpPr txBox="1"/>
          <p:nvPr/>
        </p:nvSpPr>
        <p:spPr>
          <a:xfrm>
            <a:off x="459740" y="1117699"/>
            <a:ext cx="3274060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5" dirty="0">
                <a:latin typeface="Calibri"/>
                <a:cs typeface="Calibri"/>
              </a:rPr>
              <a:t>E </a:t>
            </a:r>
            <a:r>
              <a:rPr sz="1800" b="1" dirty="0">
                <a:latin typeface="Calibri"/>
                <a:cs typeface="Calibri"/>
              </a:rPr>
              <a:t>=</a:t>
            </a:r>
            <a:r>
              <a:rPr sz="1800" b="1" spc="1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2</a:t>
            </a:r>
            <a:r>
              <a:rPr sz="1800" b="1" spc="-5" dirty="0">
                <a:latin typeface="Calibri"/>
                <a:cs typeface="Calibri"/>
              </a:rPr>
              <a:t>:</a:t>
            </a:r>
            <a:r>
              <a:rPr sz="1800" b="1" spc="5" dirty="0">
                <a:latin typeface="Calibri"/>
                <a:cs typeface="Calibri"/>
              </a:rPr>
              <a:t> </a:t>
            </a:r>
            <a:r>
              <a:rPr lang="zh-CN" altLang="en-US" sz="1800" b="1" spc="5" dirty="0">
                <a:latin typeface="Calibri"/>
                <a:cs typeface="Calibri"/>
              </a:rPr>
              <a:t>每组两行</a:t>
            </a:r>
            <a:endParaRPr lang="en-US" altLang="zh-CN" sz="1800" b="1" spc="5" dirty="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lang="zh-CN" altLang="en-US" b="1" spc="-5" dirty="0">
                <a:latin typeface="Calibri"/>
                <a:cs typeface="Calibri"/>
              </a:rPr>
              <a:t>假定</a:t>
            </a:r>
            <a:r>
              <a:rPr lang="en-US" altLang="zh-CN" b="1" spc="-5" dirty="0">
                <a:latin typeface="Calibri"/>
                <a:cs typeface="Calibri"/>
              </a:rPr>
              <a:t>:</a:t>
            </a:r>
            <a:r>
              <a:rPr lang="zh-CN" altLang="en-US" b="1" spc="-30" dirty="0">
                <a:latin typeface="Calibri"/>
                <a:cs typeface="Calibri"/>
              </a:rPr>
              <a:t> 高速缓存块大小为 </a:t>
            </a:r>
            <a:r>
              <a:rPr lang="en-US" altLang="zh-CN" b="1" spc="-5" dirty="0">
                <a:latin typeface="Calibri"/>
                <a:cs typeface="Calibri"/>
              </a:rPr>
              <a:t>8</a:t>
            </a:r>
            <a:r>
              <a:rPr lang="zh-CN" altLang="en-US" b="1" spc="-5" dirty="0">
                <a:latin typeface="Calibri"/>
                <a:cs typeface="Calibri"/>
              </a:rPr>
              <a:t>个</a:t>
            </a:r>
            <a:r>
              <a:rPr lang="zh-CN" altLang="en-US" b="1" dirty="0">
                <a:latin typeface="Calibri"/>
                <a:cs typeface="Calibri"/>
              </a:rPr>
              <a:t>字节</a:t>
            </a:r>
            <a:endParaRPr lang="zh-CN" altLang="en-US" dirty="0">
              <a:latin typeface="Calibri"/>
              <a:cs typeface="Calibri"/>
            </a:endParaRPr>
          </a:p>
        </p:txBody>
      </p:sp>
      <p:sp>
        <p:nvSpPr>
          <p:cNvPr id="59" name="object 52"/>
          <p:cNvSpPr txBox="1"/>
          <p:nvPr/>
        </p:nvSpPr>
        <p:spPr>
          <a:xfrm>
            <a:off x="1649831" y="2868923"/>
            <a:ext cx="1520825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zh-CN" altLang="en-US" sz="1800" b="1" spc="-5" dirty="0">
                <a:latin typeface="Calibri"/>
                <a:cs typeface="Calibri"/>
              </a:rPr>
              <a:t>匹配</a:t>
            </a:r>
            <a:r>
              <a:rPr sz="1800" b="1" spc="-5" dirty="0">
                <a:latin typeface="Calibri"/>
                <a:cs typeface="Calibri"/>
              </a:rPr>
              <a:t>:</a:t>
            </a:r>
            <a:r>
              <a:rPr sz="1800" b="1" spc="-20" dirty="0">
                <a:latin typeface="Calibri"/>
                <a:cs typeface="Calibri"/>
              </a:rPr>
              <a:t> </a:t>
            </a:r>
            <a:r>
              <a:rPr sz="1800" b="1" spc="-30" dirty="0">
                <a:latin typeface="Calibri"/>
                <a:cs typeface="Calibri"/>
              </a:rPr>
              <a:t>y</a:t>
            </a:r>
            <a:r>
              <a:rPr sz="1800" b="1" spc="5" dirty="0">
                <a:latin typeface="Calibri"/>
                <a:cs typeface="Calibri"/>
              </a:rPr>
              <a:t>e</a:t>
            </a:r>
            <a:r>
              <a:rPr sz="1800" b="1" spc="-5" dirty="0">
                <a:latin typeface="Calibri"/>
                <a:cs typeface="Calibri"/>
              </a:rPr>
              <a:t>s</a:t>
            </a:r>
            <a:r>
              <a:rPr sz="1800" b="1" spc="-1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=</a:t>
            </a:r>
            <a:r>
              <a:rPr sz="1800" b="1" spc="1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h</a:t>
            </a:r>
            <a:r>
              <a:rPr sz="1800" b="1" spc="-5" dirty="0">
                <a:latin typeface="Calibri"/>
                <a:cs typeface="Calibri"/>
              </a:rPr>
              <a:t>it</a:t>
            </a:r>
            <a:endParaRPr sz="1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/>
          <p:nvPr/>
        </p:nvSpPr>
        <p:spPr>
          <a:xfrm>
            <a:off x="6566077" y="1862747"/>
            <a:ext cx="990600" cy="271145"/>
          </a:xfrm>
          <a:custGeom>
            <a:avLst/>
            <a:gdLst/>
            <a:ahLst/>
            <a:cxnLst/>
            <a:rect l="l" t="t" r="r" b="b"/>
            <a:pathLst>
              <a:path w="990600" h="271144">
                <a:moveTo>
                  <a:pt x="0" y="0"/>
                </a:moveTo>
                <a:lnTo>
                  <a:pt x="990600" y="0"/>
                </a:lnTo>
                <a:lnTo>
                  <a:pt x="990600" y="270852"/>
                </a:lnTo>
                <a:lnTo>
                  <a:pt x="0" y="270852"/>
                </a:lnTo>
                <a:lnTo>
                  <a:pt x="0" y="0"/>
                </a:lnTo>
                <a:close/>
              </a:path>
            </a:pathLst>
          </a:custGeom>
          <a:solidFill>
            <a:srgbClr val="FF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566077" y="1862747"/>
            <a:ext cx="990600" cy="271145"/>
          </a:xfrm>
          <a:custGeom>
            <a:avLst/>
            <a:gdLst/>
            <a:ahLst/>
            <a:cxnLst/>
            <a:rect l="l" t="t" r="r" b="b"/>
            <a:pathLst>
              <a:path w="990600" h="271144">
                <a:moveTo>
                  <a:pt x="0" y="0"/>
                </a:moveTo>
                <a:lnTo>
                  <a:pt x="990600" y="0"/>
                </a:lnTo>
                <a:lnTo>
                  <a:pt x="990600" y="270852"/>
                </a:lnTo>
                <a:lnTo>
                  <a:pt x="0" y="270852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556677" y="1862747"/>
            <a:ext cx="762000" cy="271145"/>
          </a:xfrm>
          <a:custGeom>
            <a:avLst/>
            <a:gdLst/>
            <a:ahLst/>
            <a:cxnLst/>
            <a:rect l="l" t="t" r="r" b="b"/>
            <a:pathLst>
              <a:path w="762000" h="271144">
                <a:moveTo>
                  <a:pt x="0" y="0"/>
                </a:moveTo>
                <a:lnTo>
                  <a:pt x="762000" y="0"/>
                </a:lnTo>
                <a:lnTo>
                  <a:pt x="762000" y="270852"/>
                </a:lnTo>
                <a:lnTo>
                  <a:pt x="0" y="270852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318677" y="1862747"/>
            <a:ext cx="520700" cy="271145"/>
          </a:xfrm>
          <a:custGeom>
            <a:avLst/>
            <a:gdLst/>
            <a:ahLst/>
            <a:cxnLst/>
            <a:rect l="l" t="t" r="r" b="b"/>
            <a:pathLst>
              <a:path w="520700" h="271144">
                <a:moveTo>
                  <a:pt x="0" y="0"/>
                </a:moveTo>
                <a:lnTo>
                  <a:pt x="520522" y="0"/>
                </a:lnTo>
                <a:lnTo>
                  <a:pt x="520522" y="270852"/>
                </a:lnTo>
                <a:lnTo>
                  <a:pt x="0" y="270852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555740" y="1597719"/>
            <a:ext cx="2189480" cy="5616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altLang="zh-CN" b="1" spc="-5" dirty="0">
                <a:latin typeface="Calibri"/>
                <a:cs typeface="Calibri"/>
              </a:rPr>
              <a:t>s</a:t>
            </a:r>
            <a:r>
              <a:rPr lang="en-US" altLang="zh-CN" b="1" dirty="0">
                <a:latin typeface="Calibri"/>
                <a:cs typeface="Calibri"/>
              </a:rPr>
              <a:t>h</a:t>
            </a:r>
            <a:r>
              <a:rPr lang="en-US" altLang="zh-CN" b="1" spc="-5" dirty="0">
                <a:latin typeface="Calibri"/>
                <a:cs typeface="Calibri"/>
              </a:rPr>
              <a:t>ort</a:t>
            </a:r>
            <a:r>
              <a:rPr lang="en-US" altLang="zh-CN" b="1" spc="-15" dirty="0">
                <a:latin typeface="Calibri"/>
                <a:cs typeface="Calibri"/>
              </a:rPr>
              <a:t> </a:t>
            </a:r>
            <a:r>
              <a:rPr lang="en-US" altLang="zh-CN" b="1" spc="-5" dirty="0" err="1">
                <a:latin typeface="Calibri"/>
                <a:cs typeface="Calibri"/>
              </a:rPr>
              <a:t>i</a:t>
            </a:r>
            <a:r>
              <a:rPr lang="en-US" altLang="zh-CN" b="1" spc="-15" dirty="0" err="1">
                <a:latin typeface="Calibri"/>
                <a:cs typeface="Calibri"/>
              </a:rPr>
              <a:t>n</a:t>
            </a:r>
            <a:r>
              <a:rPr lang="en-US" altLang="zh-CN" b="1" spc="-5" dirty="0" err="1">
                <a:latin typeface="Calibri"/>
                <a:cs typeface="Calibri"/>
              </a:rPr>
              <a:t>t</a:t>
            </a:r>
            <a:r>
              <a:rPr lang="zh-CN" altLang="en-US" b="1" spc="-5" dirty="0">
                <a:latin typeface="Calibri"/>
                <a:cs typeface="Calibri"/>
              </a:rPr>
              <a:t>地址</a:t>
            </a:r>
            <a:r>
              <a:rPr sz="1800" b="1" spc="-5" dirty="0">
                <a:latin typeface="Calibri"/>
                <a:cs typeface="Calibri"/>
              </a:rPr>
              <a:t>:</a:t>
            </a:r>
            <a:endParaRPr sz="1800" dirty="0">
              <a:latin typeface="Calibri"/>
              <a:cs typeface="Calibri"/>
            </a:endParaRPr>
          </a:p>
          <a:p>
            <a:pPr marL="292735">
              <a:lnSpc>
                <a:spcPct val="100000"/>
              </a:lnSpc>
              <a:spcBef>
                <a:spcPts val="280"/>
              </a:spcBef>
              <a:tabLst>
                <a:tab pos="1155065" algn="l"/>
                <a:tab pos="1870075" algn="l"/>
              </a:tabLst>
            </a:pPr>
            <a:r>
              <a:rPr sz="1600" b="1" spc="-5" dirty="0">
                <a:latin typeface="Calibri"/>
                <a:cs typeface="Calibri"/>
              </a:rPr>
              <a:t>t </a:t>
            </a:r>
            <a:r>
              <a:rPr sz="1600" b="1" spc="-10" dirty="0">
                <a:latin typeface="Calibri"/>
                <a:cs typeface="Calibri"/>
              </a:rPr>
              <a:t>b</a:t>
            </a:r>
            <a:r>
              <a:rPr sz="1600" b="1" spc="-5" dirty="0">
                <a:latin typeface="Calibri"/>
                <a:cs typeface="Calibri"/>
              </a:rPr>
              <a:t>i</a:t>
            </a:r>
            <a:r>
              <a:rPr sz="1600" b="1" spc="-10" dirty="0">
                <a:latin typeface="Calibri"/>
                <a:cs typeface="Calibri"/>
              </a:rPr>
              <a:t>t</a:t>
            </a:r>
            <a:r>
              <a:rPr sz="1600" b="1" spc="-5" dirty="0">
                <a:latin typeface="Calibri"/>
                <a:cs typeface="Calibri"/>
              </a:rPr>
              <a:t>s</a:t>
            </a:r>
            <a:r>
              <a:rPr sz="1600" b="1" dirty="0">
                <a:latin typeface="Calibri"/>
                <a:cs typeface="Calibri"/>
              </a:rPr>
              <a:t>	</a:t>
            </a:r>
            <a:r>
              <a:rPr sz="1600" b="1" spc="-10" dirty="0">
                <a:latin typeface="Calibri"/>
                <a:cs typeface="Calibri"/>
              </a:rPr>
              <a:t>0</a:t>
            </a:r>
            <a:r>
              <a:rPr sz="1600" b="1" spc="-5" dirty="0">
                <a:latin typeface="Calibri"/>
                <a:cs typeface="Calibri"/>
              </a:rPr>
              <a:t>…</a:t>
            </a:r>
            <a:r>
              <a:rPr sz="1600" b="1" spc="-10" dirty="0">
                <a:latin typeface="Calibri"/>
                <a:cs typeface="Calibri"/>
              </a:rPr>
              <a:t>0</a:t>
            </a:r>
            <a:r>
              <a:rPr sz="1600" b="1" spc="-5" dirty="0">
                <a:latin typeface="Calibri"/>
                <a:cs typeface="Calibri"/>
              </a:rPr>
              <a:t>1</a:t>
            </a:r>
            <a:r>
              <a:rPr sz="1600" b="1" dirty="0">
                <a:latin typeface="Calibri"/>
                <a:cs typeface="Calibri"/>
              </a:rPr>
              <a:t>	</a:t>
            </a:r>
            <a:r>
              <a:rPr sz="1600" b="1" spc="-10" dirty="0">
                <a:latin typeface="Calibri"/>
                <a:cs typeface="Calibri"/>
              </a:rPr>
              <a:t>100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57200" y="3200400"/>
            <a:ext cx="7086600" cy="613410"/>
          </a:xfrm>
          <a:custGeom>
            <a:avLst/>
            <a:gdLst/>
            <a:ahLst/>
            <a:cxnLst/>
            <a:rect l="l" t="t" r="r" b="b"/>
            <a:pathLst>
              <a:path w="7086600" h="613410">
                <a:moveTo>
                  <a:pt x="0" y="0"/>
                </a:moveTo>
                <a:lnTo>
                  <a:pt x="7086600" y="0"/>
                </a:lnTo>
                <a:lnTo>
                  <a:pt x="7086600" y="612838"/>
                </a:lnTo>
                <a:lnTo>
                  <a:pt x="0" y="612838"/>
                </a:lnTo>
                <a:lnTo>
                  <a:pt x="0" y="0"/>
                </a:lnTo>
                <a:close/>
              </a:path>
            </a:pathLst>
          </a:custGeom>
          <a:solidFill>
            <a:srgbClr val="D6D6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06602" y="3276600"/>
            <a:ext cx="3322320" cy="461009"/>
          </a:xfrm>
          <a:custGeom>
            <a:avLst/>
            <a:gdLst/>
            <a:ahLst/>
            <a:cxnLst/>
            <a:rect l="l" t="t" r="r" b="b"/>
            <a:pathLst>
              <a:path w="3322320" h="461010">
                <a:moveTo>
                  <a:pt x="0" y="0"/>
                </a:moveTo>
                <a:lnTo>
                  <a:pt x="3321926" y="0"/>
                </a:lnTo>
                <a:lnTo>
                  <a:pt x="3321926" y="460438"/>
                </a:lnTo>
                <a:lnTo>
                  <a:pt x="0" y="460438"/>
                </a:lnTo>
                <a:lnTo>
                  <a:pt x="0" y="0"/>
                </a:lnTo>
                <a:close/>
              </a:path>
            </a:pathLst>
          </a:custGeom>
          <a:solidFill>
            <a:srgbClr val="ADAD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06602" y="3276600"/>
            <a:ext cx="3322320" cy="461009"/>
          </a:xfrm>
          <a:custGeom>
            <a:avLst/>
            <a:gdLst/>
            <a:ahLst/>
            <a:cxnLst/>
            <a:rect l="l" t="t" r="r" b="b"/>
            <a:pathLst>
              <a:path w="3322320" h="461010">
                <a:moveTo>
                  <a:pt x="0" y="0"/>
                </a:moveTo>
                <a:lnTo>
                  <a:pt x="3321926" y="0"/>
                </a:lnTo>
                <a:lnTo>
                  <a:pt x="3321926" y="460438"/>
                </a:lnTo>
                <a:lnTo>
                  <a:pt x="0" y="460438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899920" y="3375266"/>
            <a:ext cx="235585" cy="263525"/>
          </a:xfrm>
          <a:custGeom>
            <a:avLst/>
            <a:gdLst/>
            <a:ahLst/>
            <a:cxnLst/>
            <a:rect l="l" t="t" r="r" b="b"/>
            <a:pathLst>
              <a:path w="235585" h="263525">
                <a:moveTo>
                  <a:pt x="0" y="0"/>
                </a:moveTo>
                <a:lnTo>
                  <a:pt x="235318" y="0"/>
                </a:lnTo>
                <a:lnTo>
                  <a:pt x="235318" y="263105"/>
                </a:lnTo>
                <a:lnTo>
                  <a:pt x="0" y="2631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899920" y="3375266"/>
            <a:ext cx="235585" cy="263525"/>
          </a:xfrm>
          <a:custGeom>
            <a:avLst/>
            <a:gdLst/>
            <a:ahLst/>
            <a:cxnLst/>
            <a:rect l="l" t="t" r="r" b="b"/>
            <a:pathLst>
              <a:path w="235585" h="263525">
                <a:moveTo>
                  <a:pt x="0" y="0"/>
                </a:moveTo>
                <a:lnTo>
                  <a:pt x="235318" y="0"/>
                </a:lnTo>
                <a:lnTo>
                  <a:pt x="235318" y="263105"/>
                </a:lnTo>
                <a:lnTo>
                  <a:pt x="0" y="263105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135238" y="3375266"/>
            <a:ext cx="235585" cy="263525"/>
          </a:xfrm>
          <a:custGeom>
            <a:avLst/>
            <a:gdLst/>
            <a:ahLst/>
            <a:cxnLst/>
            <a:rect l="l" t="t" r="r" b="b"/>
            <a:pathLst>
              <a:path w="235585" h="263525">
                <a:moveTo>
                  <a:pt x="0" y="0"/>
                </a:moveTo>
                <a:lnTo>
                  <a:pt x="235318" y="0"/>
                </a:lnTo>
                <a:lnTo>
                  <a:pt x="235318" y="263105"/>
                </a:lnTo>
                <a:lnTo>
                  <a:pt x="0" y="2631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135238" y="3375266"/>
            <a:ext cx="235585" cy="263525"/>
          </a:xfrm>
          <a:custGeom>
            <a:avLst/>
            <a:gdLst/>
            <a:ahLst/>
            <a:cxnLst/>
            <a:rect l="l" t="t" r="r" b="b"/>
            <a:pathLst>
              <a:path w="235585" h="263525">
                <a:moveTo>
                  <a:pt x="0" y="0"/>
                </a:moveTo>
                <a:lnTo>
                  <a:pt x="235318" y="0"/>
                </a:lnTo>
                <a:lnTo>
                  <a:pt x="235318" y="263105"/>
                </a:lnTo>
                <a:lnTo>
                  <a:pt x="0" y="263105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360371" y="3375266"/>
            <a:ext cx="235585" cy="263525"/>
          </a:xfrm>
          <a:custGeom>
            <a:avLst/>
            <a:gdLst/>
            <a:ahLst/>
            <a:cxnLst/>
            <a:rect l="l" t="t" r="r" b="b"/>
            <a:pathLst>
              <a:path w="235585" h="263525">
                <a:moveTo>
                  <a:pt x="0" y="0"/>
                </a:moveTo>
                <a:lnTo>
                  <a:pt x="235318" y="0"/>
                </a:lnTo>
                <a:lnTo>
                  <a:pt x="235318" y="263105"/>
                </a:lnTo>
                <a:lnTo>
                  <a:pt x="0" y="2631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360371" y="3375266"/>
            <a:ext cx="235585" cy="263525"/>
          </a:xfrm>
          <a:custGeom>
            <a:avLst/>
            <a:gdLst/>
            <a:ahLst/>
            <a:cxnLst/>
            <a:rect l="l" t="t" r="r" b="b"/>
            <a:pathLst>
              <a:path w="235585" h="263525">
                <a:moveTo>
                  <a:pt x="0" y="0"/>
                </a:moveTo>
                <a:lnTo>
                  <a:pt x="235318" y="0"/>
                </a:lnTo>
                <a:lnTo>
                  <a:pt x="235318" y="263105"/>
                </a:lnTo>
                <a:lnTo>
                  <a:pt x="0" y="263105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587902" y="3375266"/>
            <a:ext cx="252729" cy="263525"/>
          </a:xfrm>
          <a:custGeom>
            <a:avLst/>
            <a:gdLst/>
            <a:ahLst/>
            <a:cxnLst/>
            <a:rect l="l" t="t" r="r" b="b"/>
            <a:pathLst>
              <a:path w="252729" h="263525">
                <a:moveTo>
                  <a:pt x="0" y="0"/>
                </a:moveTo>
                <a:lnTo>
                  <a:pt x="252615" y="0"/>
                </a:lnTo>
                <a:lnTo>
                  <a:pt x="252615" y="263105"/>
                </a:lnTo>
                <a:lnTo>
                  <a:pt x="0" y="2631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587902" y="3375266"/>
            <a:ext cx="252729" cy="263525"/>
          </a:xfrm>
          <a:custGeom>
            <a:avLst/>
            <a:gdLst/>
            <a:ahLst/>
            <a:cxnLst/>
            <a:rect l="l" t="t" r="r" b="b"/>
            <a:pathLst>
              <a:path w="252729" h="263525">
                <a:moveTo>
                  <a:pt x="0" y="0"/>
                </a:moveTo>
                <a:lnTo>
                  <a:pt x="252615" y="0"/>
                </a:lnTo>
                <a:lnTo>
                  <a:pt x="252615" y="263105"/>
                </a:lnTo>
                <a:lnTo>
                  <a:pt x="0" y="263105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120787" y="3375266"/>
            <a:ext cx="620395" cy="263525"/>
          </a:xfrm>
          <a:custGeom>
            <a:avLst/>
            <a:gdLst/>
            <a:ahLst/>
            <a:cxnLst/>
            <a:rect l="l" t="t" r="r" b="b"/>
            <a:pathLst>
              <a:path w="620394" h="263525">
                <a:moveTo>
                  <a:pt x="0" y="0"/>
                </a:moveTo>
                <a:lnTo>
                  <a:pt x="619785" y="0"/>
                </a:lnTo>
                <a:lnTo>
                  <a:pt x="619785" y="263105"/>
                </a:lnTo>
                <a:lnTo>
                  <a:pt x="0" y="263105"/>
                </a:lnTo>
                <a:lnTo>
                  <a:pt x="0" y="0"/>
                </a:lnTo>
                <a:close/>
              </a:path>
            </a:pathLst>
          </a:custGeom>
          <a:solidFill>
            <a:srgbClr val="FF99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120787" y="3375266"/>
            <a:ext cx="620395" cy="263525"/>
          </a:xfrm>
          <a:custGeom>
            <a:avLst/>
            <a:gdLst/>
            <a:ahLst/>
            <a:cxnLst/>
            <a:rect l="l" t="t" r="r" b="b"/>
            <a:pathLst>
              <a:path w="620394" h="263525">
                <a:moveTo>
                  <a:pt x="0" y="0"/>
                </a:moveTo>
                <a:lnTo>
                  <a:pt x="619785" y="0"/>
                </a:lnTo>
                <a:lnTo>
                  <a:pt x="619785" y="263105"/>
                </a:lnTo>
                <a:lnTo>
                  <a:pt x="0" y="263105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715924" y="3375266"/>
            <a:ext cx="235585" cy="263525"/>
          </a:xfrm>
          <a:custGeom>
            <a:avLst/>
            <a:gdLst/>
            <a:ahLst/>
            <a:cxnLst/>
            <a:rect l="l" t="t" r="r" b="b"/>
            <a:pathLst>
              <a:path w="235584" h="263525">
                <a:moveTo>
                  <a:pt x="0" y="0"/>
                </a:moveTo>
                <a:lnTo>
                  <a:pt x="235318" y="0"/>
                </a:lnTo>
                <a:lnTo>
                  <a:pt x="235318" y="263105"/>
                </a:lnTo>
                <a:lnTo>
                  <a:pt x="0" y="2631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715924" y="3375266"/>
            <a:ext cx="235585" cy="263525"/>
          </a:xfrm>
          <a:custGeom>
            <a:avLst/>
            <a:gdLst/>
            <a:ahLst/>
            <a:cxnLst/>
            <a:rect l="l" t="t" r="r" b="b"/>
            <a:pathLst>
              <a:path w="235584" h="263525">
                <a:moveTo>
                  <a:pt x="0" y="0"/>
                </a:moveTo>
                <a:lnTo>
                  <a:pt x="235318" y="0"/>
                </a:lnTo>
                <a:lnTo>
                  <a:pt x="235318" y="263105"/>
                </a:lnTo>
                <a:lnTo>
                  <a:pt x="0" y="263105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596311" y="3375266"/>
            <a:ext cx="235585" cy="263525"/>
          </a:xfrm>
          <a:custGeom>
            <a:avLst/>
            <a:gdLst/>
            <a:ahLst/>
            <a:cxnLst/>
            <a:rect l="l" t="t" r="r" b="b"/>
            <a:pathLst>
              <a:path w="235585" h="263525">
                <a:moveTo>
                  <a:pt x="0" y="0"/>
                </a:moveTo>
                <a:lnTo>
                  <a:pt x="235318" y="0"/>
                </a:lnTo>
                <a:lnTo>
                  <a:pt x="235318" y="263105"/>
                </a:lnTo>
                <a:lnTo>
                  <a:pt x="0" y="2631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596311" y="3375266"/>
            <a:ext cx="235585" cy="263525"/>
          </a:xfrm>
          <a:custGeom>
            <a:avLst/>
            <a:gdLst/>
            <a:ahLst/>
            <a:cxnLst/>
            <a:rect l="l" t="t" r="r" b="b"/>
            <a:pathLst>
              <a:path w="235585" h="263525">
                <a:moveTo>
                  <a:pt x="0" y="0"/>
                </a:moveTo>
                <a:lnTo>
                  <a:pt x="235318" y="0"/>
                </a:lnTo>
                <a:lnTo>
                  <a:pt x="235318" y="263105"/>
                </a:lnTo>
                <a:lnTo>
                  <a:pt x="0" y="263105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3336531" y="3375266"/>
            <a:ext cx="252729" cy="263525"/>
          </a:xfrm>
          <a:custGeom>
            <a:avLst/>
            <a:gdLst/>
            <a:ahLst/>
            <a:cxnLst/>
            <a:rect l="l" t="t" r="r" b="b"/>
            <a:pathLst>
              <a:path w="252729" h="263525">
                <a:moveTo>
                  <a:pt x="0" y="0"/>
                </a:moveTo>
                <a:lnTo>
                  <a:pt x="252615" y="0"/>
                </a:lnTo>
                <a:lnTo>
                  <a:pt x="252615" y="263105"/>
                </a:lnTo>
                <a:lnTo>
                  <a:pt x="0" y="2631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336531" y="3375266"/>
            <a:ext cx="252729" cy="263525"/>
          </a:xfrm>
          <a:custGeom>
            <a:avLst/>
            <a:gdLst/>
            <a:ahLst/>
            <a:cxnLst/>
            <a:rect l="l" t="t" r="r" b="b"/>
            <a:pathLst>
              <a:path w="252729" h="263525">
                <a:moveTo>
                  <a:pt x="0" y="0"/>
                </a:moveTo>
                <a:lnTo>
                  <a:pt x="252615" y="0"/>
                </a:lnTo>
                <a:lnTo>
                  <a:pt x="252615" y="263105"/>
                </a:lnTo>
                <a:lnTo>
                  <a:pt x="0" y="263105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3084537" y="3375266"/>
            <a:ext cx="252729" cy="263525"/>
          </a:xfrm>
          <a:custGeom>
            <a:avLst/>
            <a:gdLst/>
            <a:ahLst/>
            <a:cxnLst/>
            <a:rect l="l" t="t" r="r" b="b"/>
            <a:pathLst>
              <a:path w="252729" h="263525">
                <a:moveTo>
                  <a:pt x="0" y="0"/>
                </a:moveTo>
                <a:lnTo>
                  <a:pt x="252615" y="0"/>
                </a:lnTo>
                <a:lnTo>
                  <a:pt x="252615" y="263105"/>
                </a:lnTo>
                <a:lnTo>
                  <a:pt x="0" y="263105"/>
                </a:lnTo>
                <a:lnTo>
                  <a:pt x="0" y="0"/>
                </a:lnTo>
                <a:close/>
              </a:path>
            </a:pathLst>
          </a:custGeom>
          <a:solidFill>
            <a:srgbClr val="A9E39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3084537" y="3375266"/>
            <a:ext cx="252729" cy="263525"/>
          </a:xfrm>
          <a:custGeom>
            <a:avLst/>
            <a:gdLst/>
            <a:ahLst/>
            <a:cxnLst/>
            <a:rect l="l" t="t" r="r" b="b"/>
            <a:pathLst>
              <a:path w="252729" h="263525">
                <a:moveTo>
                  <a:pt x="0" y="0"/>
                </a:moveTo>
                <a:lnTo>
                  <a:pt x="252615" y="0"/>
                </a:lnTo>
                <a:lnTo>
                  <a:pt x="252615" y="263105"/>
                </a:lnTo>
                <a:lnTo>
                  <a:pt x="0" y="263105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2832544" y="3375266"/>
            <a:ext cx="252729" cy="263525"/>
          </a:xfrm>
          <a:custGeom>
            <a:avLst/>
            <a:gdLst/>
            <a:ahLst/>
            <a:cxnLst/>
            <a:rect l="l" t="t" r="r" b="b"/>
            <a:pathLst>
              <a:path w="252730" h="263525">
                <a:moveTo>
                  <a:pt x="0" y="0"/>
                </a:moveTo>
                <a:lnTo>
                  <a:pt x="252615" y="0"/>
                </a:lnTo>
                <a:lnTo>
                  <a:pt x="252615" y="263105"/>
                </a:lnTo>
                <a:lnTo>
                  <a:pt x="0" y="263105"/>
                </a:lnTo>
                <a:lnTo>
                  <a:pt x="0" y="0"/>
                </a:lnTo>
                <a:close/>
              </a:path>
            </a:pathLst>
          </a:custGeom>
          <a:solidFill>
            <a:srgbClr val="A9E39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2832544" y="3375266"/>
            <a:ext cx="252729" cy="263525"/>
          </a:xfrm>
          <a:custGeom>
            <a:avLst/>
            <a:gdLst/>
            <a:ahLst/>
            <a:cxnLst/>
            <a:rect l="l" t="t" r="r" b="b"/>
            <a:pathLst>
              <a:path w="252730" h="263525">
                <a:moveTo>
                  <a:pt x="0" y="0"/>
                </a:moveTo>
                <a:lnTo>
                  <a:pt x="252615" y="0"/>
                </a:lnTo>
                <a:lnTo>
                  <a:pt x="252615" y="263105"/>
                </a:lnTo>
                <a:lnTo>
                  <a:pt x="0" y="263105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1954115" y="3410685"/>
            <a:ext cx="1824989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47650" algn="l"/>
                <a:tab pos="708660" algn="l"/>
                <a:tab pos="953135" algn="l"/>
                <a:tab pos="1205230" algn="l"/>
                <a:tab pos="1457325" algn="l"/>
                <a:tab pos="1708785" algn="l"/>
              </a:tabLst>
            </a:pPr>
            <a:r>
              <a:rPr sz="1600" b="1" spc="-5" dirty="0">
                <a:latin typeface="Calibri"/>
                <a:cs typeface="Calibri"/>
              </a:rPr>
              <a:t>0	1  </a:t>
            </a:r>
            <a:r>
              <a:rPr sz="1600" b="1" spc="-125" dirty="0">
                <a:latin typeface="Calibri"/>
                <a:cs typeface="Calibri"/>
              </a:rPr>
              <a:t> </a:t>
            </a:r>
            <a:r>
              <a:rPr sz="1600" b="1" spc="-5" dirty="0">
                <a:latin typeface="Calibri"/>
                <a:cs typeface="Calibri"/>
              </a:rPr>
              <a:t>2</a:t>
            </a:r>
            <a:r>
              <a:rPr sz="1600" b="1" dirty="0">
                <a:latin typeface="Calibri"/>
                <a:cs typeface="Calibri"/>
              </a:rPr>
              <a:t>	</a:t>
            </a:r>
            <a:r>
              <a:rPr sz="1600" b="1" spc="-5" dirty="0">
                <a:latin typeface="Calibri"/>
                <a:cs typeface="Calibri"/>
              </a:rPr>
              <a:t>3</a:t>
            </a:r>
            <a:r>
              <a:rPr sz="1600" b="1" dirty="0">
                <a:latin typeface="Calibri"/>
                <a:cs typeface="Calibri"/>
              </a:rPr>
              <a:t>	</a:t>
            </a:r>
            <a:r>
              <a:rPr sz="1600" b="1" spc="-5" dirty="0">
                <a:latin typeface="Calibri"/>
                <a:cs typeface="Calibri"/>
              </a:rPr>
              <a:t>4</a:t>
            </a:r>
            <a:r>
              <a:rPr sz="1600" b="1" dirty="0">
                <a:latin typeface="Calibri"/>
                <a:cs typeface="Calibri"/>
              </a:rPr>
              <a:t>	</a:t>
            </a:r>
            <a:r>
              <a:rPr sz="1600" b="1" spc="-5" dirty="0">
                <a:latin typeface="Calibri"/>
                <a:cs typeface="Calibri"/>
              </a:rPr>
              <a:t>5</a:t>
            </a:r>
            <a:r>
              <a:rPr sz="1600" b="1" dirty="0">
                <a:latin typeface="Calibri"/>
                <a:cs typeface="Calibri"/>
              </a:rPr>
              <a:t>	</a:t>
            </a:r>
            <a:r>
              <a:rPr sz="1600" b="1" spc="-5" dirty="0">
                <a:latin typeface="Calibri"/>
                <a:cs typeface="Calibri"/>
              </a:rPr>
              <a:t>6</a:t>
            </a:r>
            <a:r>
              <a:rPr sz="1600" b="1" dirty="0">
                <a:latin typeface="Calibri"/>
                <a:cs typeface="Calibri"/>
              </a:rPr>
              <a:t>	</a:t>
            </a:r>
            <a:r>
              <a:rPr sz="1600" b="1" spc="-5" dirty="0">
                <a:latin typeface="Calibri"/>
                <a:cs typeface="Calibri"/>
              </a:rPr>
              <a:t>7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284917" y="3410685"/>
            <a:ext cx="290830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spc="-20" dirty="0">
                <a:latin typeface="Calibri"/>
                <a:cs typeface="Calibri"/>
              </a:rPr>
              <a:t>t</a:t>
            </a:r>
            <a:r>
              <a:rPr sz="1600" b="1" spc="-5" dirty="0">
                <a:latin typeface="Calibri"/>
                <a:cs typeface="Calibri"/>
              </a:rPr>
              <a:t>ag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73167" y="3410685"/>
            <a:ext cx="121920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spc="-5" dirty="0">
                <a:latin typeface="Calibri"/>
                <a:cs typeface="Calibri"/>
              </a:rPr>
              <a:t>v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4080929" y="3279851"/>
            <a:ext cx="3322320" cy="461009"/>
          </a:xfrm>
          <a:custGeom>
            <a:avLst/>
            <a:gdLst/>
            <a:ahLst/>
            <a:cxnLst/>
            <a:rect l="l" t="t" r="r" b="b"/>
            <a:pathLst>
              <a:path w="3322320" h="461010">
                <a:moveTo>
                  <a:pt x="0" y="0"/>
                </a:moveTo>
                <a:lnTo>
                  <a:pt x="3321926" y="0"/>
                </a:lnTo>
                <a:lnTo>
                  <a:pt x="3321926" y="460438"/>
                </a:lnTo>
                <a:lnTo>
                  <a:pt x="0" y="460438"/>
                </a:lnTo>
                <a:lnTo>
                  <a:pt x="0" y="0"/>
                </a:lnTo>
                <a:close/>
              </a:path>
            </a:pathLst>
          </a:custGeom>
          <a:solidFill>
            <a:srgbClr val="ADAD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4080929" y="3279851"/>
            <a:ext cx="3322320" cy="461009"/>
          </a:xfrm>
          <a:custGeom>
            <a:avLst/>
            <a:gdLst/>
            <a:ahLst/>
            <a:cxnLst/>
            <a:rect l="l" t="t" r="r" b="b"/>
            <a:pathLst>
              <a:path w="3322320" h="461010">
                <a:moveTo>
                  <a:pt x="0" y="0"/>
                </a:moveTo>
                <a:lnTo>
                  <a:pt x="3321926" y="0"/>
                </a:lnTo>
                <a:lnTo>
                  <a:pt x="3321926" y="460438"/>
                </a:lnTo>
                <a:lnTo>
                  <a:pt x="0" y="460438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4595114" y="3378517"/>
            <a:ext cx="620395" cy="263525"/>
          </a:xfrm>
          <a:custGeom>
            <a:avLst/>
            <a:gdLst/>
            <a:ahLst/>
            <a:cxnLst/>
            <a:rect l="l" t="t" r="r" b="b"/>
            <a:pathLst>
              <a:path w="620395" h="263525">
                <a:moveTo>
                  <a:pt x="0" y="0"/>
                </a:moveTo>
                <a:lnTo>
                  <a:pt x="619785" y="0"/>
                </a:lnTo>
                <a:lnTo>
                  <a:pt x="619785" y="263105"/>
                </a:lnTo>
                <a:lnTo>
                  <a:pt x="0" y="2631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4595114" y="3378517"/>
            <a:ext cx="620395" cy="263525"/>
          </a:xfrm>
          <a:custGeom>
            <a:avLst/>
            <a:gdLst/>
            <a:ahLst/>
            <a:cxnLst/>
            <a:rect l="l" t="t" r="r" b="b"/>
            <a:pathLst>
              <a:path w="620395" h="263525">
                <a:moveTo>
                  <a:pt x="0" y="0"/>
                </a:moveTo>
                <a:lnTo>
                  <a:pt x="619785" y="0"/>
                </a:lnTo>
                <a:lnTo>
                  <a:pt x="619785" y="263105"/>
                </a:lnTo>
                <a:lnTo>
                  <a:pt x="0" y="263105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4759246" y="3413927"/>
            <a:ext cx="290830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spc="-20" dirty="0">
                <a:latin typeface="Calibri"/>
                <a:cs typeface="Calibri"/>
              </a:rPr>
              <a:t>t</a:t>
            </a:r>
            <a:r>
              <a:rPr sz="1600" b="1" spc="-5" dirty="0">
                <a:latin typeface="Calibri"/>
                <a:cs typeface="Calibri"/>
              </a:rPr>
              <a:t>ag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4190250" y="3378517"/>
            <a:ext cx="235585" cy="263525"/>
          </a:xfrm>
          <a:custGeom>
            <a:avLst/>
            <a:gdLst/>
            <a:ahLst/>
            <a:cxnLst/>
            <a:rect l="l" t="t" r="r" b="b"/>
            <a:pathLst>
              <a:path w="235585" h="263525">
                <a:moveTo>
                  <a:pt x="0" y="0"/>
                </a:moveTo>
                <a:lnTo>
                  <a:pt x="235318" y="0"/>
                </a:lnTo>
                <a:lnTo>
                  <a:pt x="235318" y="263105"/>
                </a:lnTo>
                <a:lnTo>
                  <a:pt x="0" y="2631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4190250" y="3378517"/>
            <a:ext cx="235585" cy="263525"/>
          </a:xfrm>
          <a:custGeom>
            <a:avLst/>
            <a:gdLst/>
            <a:ahLst/>
            <a:cxnLst/>
            <a:rect l="l" t="t" r="r" b="b"/>
            <a:pathLst>
              <a:path w="235585" h="263525">
                <a:moveTo>
                  <a:pt x="0" y="0"/>
                </a:moveTo>
                <a:lnTo>
                  <a:pt x="235318" y="0"/>
                </a:lnTo>
                <a:lnTo>
                  <a:pt x="235318" y="263105"/>
                </a:lnTo>
                <a:lnTo>
                  <a:pt x="0" y="263105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4247495" y="3413927"/>
            <a:ext cx="121920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spc="-5" dirty="0">
                <a:latin typeface="Calibri"/>
                <a:cs typeface="Calibri"/>
              </a:rPr>
              <a:t>v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7543800" y="2133600"/>
            <a:ext cx="394335" cy="1373505"/>
          </a:xfrm>
          <a:custGeom>
            <a:avLst/>
            <a:gdLst/>
            <a:ahLst/>
            <a:cxnLst/>
            <a:rect l="l" t="t" r="r" b="b"/>
            <a:pathLst>
              <a:path w="394334" h="1373504">
                <a:moveTo>
                  <a:pt x="393877" y="0"/>
                </a:moveTo>
                <a:lnTo>
                  <a:pt x="393877" y="1373225"/>
                </a:lnTo>
                <a:lnTo>
                  <a:pt x="0" y="1373225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4905007" y="1998176"/>
            <a:ext cx="1661160" cy="1380490"/>
          </a:xfrm>
          <a:custGeom>
            <a:avLst/>
            <a:gdLst/>
            <a:ahLst/>
            <a:cxnLst/>
            <a:rect l="l" t="t" r="r" b="b"/>
            <a:pathLst>
              <a:path w="1661159" h="1380489">
                <a:moveTo>
                  <a:pt x="1661071" y="0"/>
                </a:moveTo>
                <a:lnTo>
                  <a:pt x="0" y="0"/>
                </a:lnTo>
                <a:lnTo>
                  <a:pt x="0" y="1380337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1430681" y="1998174"/>
            <a:ext cx="5135880" cy="1377315"/>
          </a:xfrm>
          <a:custGeom>
            <a:avLst/>
            <a:gdLst/>
            <a:ahLst/>
            <a:cxnLst/>
            <a:rect l="l" t="t" r="r" b="b"/>
            <a:pathLst>
              <a:path w="5135880" h="1377314">
                <a:moveTo>
                  <a:pt x="5135397" y="0"/>
                </a:moveTo>
                <a:lnTo>
                  <a:pt x="0" y="0"/>
                </a:lnTo>
                <a:lnTo>
                  <a:pt x="0" y="1377099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836612" y="2971800"/>
            <a:ext cx="1905" cy="401320"/>
          </a:xfrm>
          <a:custGeom>
            <a:avLst/>
            <a:gdLst/>
            <a:ahLst/>
            <a:cxnLst/>
            <a:rect l="l" t="t" r="r" b="b"/>
            <a:pathLst>
              <a:path w="1905" h="401320">
                <a:moveTo>
                  <a:pt x="1587" y="0"/>
                </a:moveTo>
                <a:lnTo>
                  <a:pt x="0" y="400913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2958859" y="2133598"/>
            <a:ext cx="5620385" cy="2233295"/>
          </a:xfrm>
          <a:custGeom>
            <a:avLst/>
            <a:gdLst/>
            <a:ahLst/>
            <a:cxnLst/>
            <a:rect l="l" t="t" r="r" b="b"/>
            <a:pathLst>
              <a:path w="5620384" h="2233295">
                <a:moveTo>
                  <a:pt x="5620080" y="0"/>
                </a:moveTo>
                <a:lnTo>
                  <a:pt x="5620080" y="2232914"/>
                </a:lnTo>
                <a:lnTo>
                  <a:pt x="0" y="2232914"/>
                </a:lnTo>
                <a:lnTo>
                  <a:pt x="0" y="1504784"/>
                </a:lnTo>
              </a:path>
            </a:pathLst>
          </a:custGeom>
          <a:ln w="253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2717407" y="3733802"/>
            <a:ext cx="734060" cy="1066800"/>
          </a:xfrm>
          <a:custGeom>
            <a:avLst/>
            <a:gdLst/>
            <a:ahLst/>
            <a:cxnLst/>
            <a:rect l="l" t="t" r="r" b="b"/>
            <a:pathLst>
              <a:path w="734060" h="1066800">
                <a:moveTo>
                  <a:pt x="550240" y="366826"/>
                </a:moveTo>
                <a:lnTo>
                  <a:pt x="183413" y="366826"/>
                </a:lnTo>
                <a:lnTo>
                  <a:pt x="183413" y="1066799"/>
                </a:lnTo>
                <a:lnTo>
                  <a:pt x="550240" y="1066799"/>
                </a:lnTo>
                <a:lnTo>
                  <a:pt x="550240" y="366826"/>
                </a:lnTo>
                <a:close/>
              </a:path>
              <a:path w="734060" h="1066800">
                <a:moveTo>
                  <a:pt x="366826" y="0"/>
                </a:moveTo>
                <a:lnTo>
                  <a:pt x="0" y="366826"/>
                </a:lnTo>
                <a:lnTo>
                  <a:pt x="733653" y="366826"/>
                </a:lnTo>
                <a:lnTo>
                  <a:pt x="366826" y="0"/>
                </a:lnTo>
                <a:close/>
              </a:path>
            </a:pathLst>
          </a:custGeom>
          <a:solidFill>
            <a:srgbClr val="A7A8A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 txBox="1"/>
          <p:nvPr/>
        </p:nvSpPr>
        <p:spPr>
          <a:xfrm>
            <a:off x="535940" y="4429997"/>
            <a:ext cx="7717790" cy="20954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60900">
              <a:lnSpc>
                <a:spcPct val="100000"/>
              </a:lnSpc>
            </a:pPr>
            <a:endParaRPr sz="1800" dirty="0">
              <a:latin typeface="Calibri"/>
              <a:cs typeface="Calibri"/>
            </a:endParaRPr>
          </a:p>
          <a:p>
            <a:pPr marL="1358265">
              <a:lnSpc>
                <a:spcPct val="100000"/>
              </a:lnSpc>
              <a:spcBef>
                <a:spcPts val="1440"/>
              </a:spcBef>
            </a:pPr>
            <a:r>
              <a:rPr lang="zh-CN" altLang="en-US" sz="1800" b="1" spc="-5" dirty="0">
                <a:latin typeface="Calibri"/>
                <a:cs typeface="Calibri"/>
              </a:rPr>
              <a:t>这里 </a:t>
            </a:r>
            <a:r>
              <a:rPr sz="1800" b="1" spc="-5" dirty="0">
                <a:latin typeface="Calibri"/>
                <a:cs typeface="Calibri"/>
              </a:rPr>
              <a:t>s</a:t>
            </a:r>
            <a:r>
              <a:rPr sz="1800" b="1" dirty="0">
                <a:latin typeface="Calibri"/>
                <a:cs typeface="Calibri"/>
              </a:rPr>
              <a:t>h</a:t>
            </a:r>
            <a:r>
              <a:rPr sz="1800" b="1" spc="-5" dirty="0">
                <a:latin typeface="Calibri"/>
                <a:cs typeface="Calibri"/>
              </a:rPr>
              <a:t>or</a:t>
            </a:r>
            <a:r>
              <a:rPr sz="1800" b="1" dirty="0">
                <a:latin typeface="Calibri"/>
                <a:cs typeface="Calibri"/>
              </a:rPr>
              <a:t>t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spc="-5" dirty="0" err="1">
                <a:latin typeface="Calibri"/>
                <a:cs typeface="Calibri"/>
              </a:rPr>
              <a:t>i</a:t>
            </a:r>
            <a:r>
              <a:rPr sz="1800" b="1" spc="-15" dirty="0" err="1">
                <a:latin typeface="Calibri"/>
                <a:cs typeface="Calibri"/>
              </a:rPr>
              <a:t>n</a:t>
            </a:r>
            <a:r>
              <a:rPr sz="1800" b="1" spc="-5" dirty="0" err="1">
                <a:latin typeface="Calibri"/>
                <a:cs typeface="Calibri"/>
              </a:rPr>
              <a:t>t</a:t>
            </a:r>
            <a:r>
              <a:rPr sz="1800" b="1" spc="-15" dirty="0">
                <a:latin typeface="Calibri"/>
                <a:cs typeface="Calibri"/>
              </a:rPr>
              <a:t> </a:t>
            </a:r>
            <a:r>
              <a:rPr lang="zh-CN" altLang="en-US" sz="1800" b="1" spc="-15" dirty="0">
                <a:latin typeface="Calibri"/>
                <a:cs typeface="Calibri"/>
              </a:rPr>
              <a:t>为</a:t>
            </a:r>
            <a:r>
              <a:rPr sz="1800" b="1" spc="-5" dirty="0">
                <a:latin typeface="Calibri"/>
                <a:cs typeface="Calibri"/>
              </a:rPr>
              <a:t>2</a:t>
            </a:r>
            <a:r>
              <a:rPr sz="1800" b="1" dirty="0">
                <a:latin typeface="Calibri"/>
                <a:cs typeface="Calibri"/>
              </a:rPr>
              <a:t> </a:t>
            </a:r>
            <a:r>
              <a:rPr lang="zh-CN" altLang="en-US" sz="1800" b="1" dirty="0">
                <a:latin typeface="Calibri"/>
                <a:cs typeface="Calibri"/>
              </a:rPr>
              <a:t>个字节</a:t>
            </a:r>
            <a:endParaRPr sz="1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"/>
              </a:spcBef>
            </a:pPr>
            <a:endParaRPr sz="16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lang="zh-CN" altLang="en-US" sz="2400" b="1" dirty="0">
                <a:solidFill>
                  <a:srgbClr val="C00000"/>
                </a:solidFill>
                <a:latin typeface="Calibri"/>
                <a:cs typeface="Calibri"/>
              </a:rPr>
              <a:t>不匹配</a:t>
            </a:r>
            <a:r>
              <a:rPr sz="2400" b="1" spc="-5" dirty="0">
                <a:solidFill>
                  <a:srgbClr val="C00000"/>
                </a:solidFill>
                <a:latin typeface="Calibri"/>
                <a:cs typeface="Calibri"/>
              </a:rPr>
              <a:t>:</a:t>
            </a:r>
            <a:endParaRPr sz="24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buFont typeface="Arial"/>
              <a:buChar char="•"/>
              <a:tabLst>
                <a:tab pos="241300" algn="l"/>
              </a:tabLst>
            </a:pPr>
            <a:r>
              <a:rPr lang="zh-CN" altLang="en-US" sz="2400" b="1" spc="-30" dirty="0">
                <a:latin typeface="Calibri"/>
                <a:cs typeface="Calibri"/>
              </a:rPr>
              <a:t>选择组中的一行用于驱逐和替换</a:t>
            </a:r>
            <a:endParaRPr sz="24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buFont typeface="Arial"/>
              <a:buChar char="•"/>
              <a:tabLst>
                <a:tab pos="241300" algn="l"/>
              </a:tabLst>
            </a:pPr>
            <a:r>
              <a:rPr lang="zh-CN" altLang="en-US" sz="2400" b="1" spc="-5" dirty="0">
                <a:latin typeface="Calibri"/>
                <a:cs typeface="Calibri"/>
              </a:rPr>
              <a:t>替换策略</a:t>
            </a:r>
            <a:r>
              <a:rPr sz="2400" b="1" spc="-5" dirty="0">
                <a:latin typeface="Calibri"/>
                <a:cs typeface="Calibri"/>
              </a:rPr>
              <a:t>:</a:t>
            </a:r>
            <a:r>
              <a:rPr sz="2400" b="1" spc="-20" dirty="0">
                <a:latin typeface="Calibri"/>
                <a:cs typeface="Calibri"/>
              </a:rPr>
              <a:t> </a:t>
            </a:r>
            <a:r>
              <a:rPr lang="zh-CN" altLang="en-US" sz="2400" b="1" spc="-20" dirty="0">
                <a:latin typeface="Calibri"/>
                <a:cs typeface="Calibri"/>
              </a:rPr>
              <a:t>随机</a:t>
            </a:r>
            <a:r>
              <a:rPr sz="2400" b="1" dirty="0">
                <a:latin typeface="Calibri"/>
                <a:cs typeface="Calibri"/>
              </a:rPr>
              <a:t>,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lang="zh-CN" altLang="en-US" sz="2400" b="1" spc="-25" dirty="0">
                <a:latin typeface="Calibri"/>
                <a:cs typeface="Calibri"/>
              </a:rPr>
              <a:t>最近最少使用</a:t>
            </a:r>
            <a:r>
              <a:rPr sz="2400" b="1" spc="-10" dirty="0">
                <a:latin typeface="Calibri"/>
                <a:cs typeface="Calibri"/>
              </a:rPr>
              <a:t>(</a:t>
            </a:r>
            <a:r>
              <a:rPr sz="2400" b="1" dirty="0">
                <a:latin typeface="Calibri"/>
                <a:cs typeface="Calibri"/>
              </a:rPr>
              <a:t>LRU</a:t>
            </a:r>
            <a:r>
              <a:rPr sz="2400" b="1" spc="-10" dirty="0">
                <a:latin typeface="Calibri"/>
                <a:cs typeface="Calibri"/>
              </a:rPr>
              <a:t>)</a:t>
            </a:r>
            <a:r>
              <a:rPr sz="2400" b="1" spc="-5" dirty="0">
                <a:latin typeface="Calibri"/>
                <a:cs typeface="Calibri"/>
              </a:rPr>
              <a:t>,</a:t>
            </a:r>
            <a:r>
              <a:rPr sz="2400" b="1" spc="-1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…</a:t>
            </a:r>
            <a:endParaRPr sz="2400" dirty="0">
              <a:latin typeface="Calibri"/>
              <a:cs typeface="Calibri"/>
            </a:endParaRPr>
          </a:p>
        </p:txBody>
      </p:sp>
      <p:graphicFrame>
        <p:nvGraphicFramePr>
          <p:cNvPr id="44" name="object 44"/>
          <p:cNvGraphicFramePr>
            <a:graphicFrameLocks noGrp="1"/>
          </p:cNvGraphicFramePr>
          <p:nvPr/>
        </p:nvGraphicFramePr>
        <p:xfrm>
          <a:off x="5374246" y="3378517"/>
          <a:ext cx="1940594" cy="2631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53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05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60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27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5199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516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519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63105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1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2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3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4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5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6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Calibri"/>
                          <a:cs typeface="Calibri"/>
                        </a:rPr>
                        <a:t>7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6" name="object 3"/>
          <p:cNvSpPr txBox="1">
            <a:spLocks noGrp="1"/>
          </p:cNvSpPr>
          <p:nvPr>
            <p:ph type="title"/>
          </p:nvPr>
        </p:nvSpPr>
        <p:spPr>
          <a:xfrm>
            <a:off x="346710" y="264395"/>
            <a:ext cx="7591425" cy="853304"/>
          </a:xfrm>
          <a:prstGeom prst="rect">
            <a:avLst/>
          </a:prstGeom>
        </p:spPr>
        <p:txBody>
          <a:bodyPr vert="horz" wrap="square" lIns="0" tIns="296412" rIns="0" bIns="0" rtlCol="0">
            <a:spAutoFit/>
          </a:bodyPr>
          <a:lstStyle/>
          <a:p>
            <a:pPr marL="13335">
              <a:lnSpc>
                <a:spcPct val="100000"/>
              </a:lnSpc>
            </a:pPr>
            <a:r>
              <a:rPr lang="en-US" altLang="zh-CN" spc="-10" dirty="0"/>
              <a:t>E</a:t>
            </a:r>
            <a:r>
              <a:rPr lang="en-US" altLang="zh-CN" dirty="0"/>
              <a:t> </a:t>
            </a:r>
            <a:r>
              <a:rPr lang="zh-CN" altLang="en-US" dirty="0"/>
              <a:t>路组相联高速缓存</a:t>
            </a:r>
            <a:r>
              <a:rPr lang="zh-CN" altLang="en-US" spc="-15" dirty="0"/>
              <a:t> </a:t>
            </a:r>
            <a:r>
              <a:rPr lang="en-US" altLang="zh-CN" spc="-15" dirty="0"/>
              <a:t>(</a:t>
            </a:r>
            <a:r>
              <a:rPr lang="zh-CN" altLang="en-US" spc="-10" dirty="0"/>
              <a:t> </a:t>
            </a:r>
            <a:r>
              <a:rPr lang="en-US" altLang="zh-CN" spc="-5" dirty="0"/>
              <a:t>E </a:t>
            </a:r>
            <a:r>
              <a:rPr lang="en-US" altLang="zh-CN" dirty="0"/>
              <a:t>=</a:t>
            </a:r>
            <a:r>
              <a:rPr lang="en-US" altLang="zh-CN" spc="-5" dirty="0"/>
              <a:t> 2)</a:t>
            </a:r>
            <a:endParaRPr spc="-5" dirty="0"/>
          </a:p>
        </p:txBody>
      </p:sp>
      <p:sp>
        <p:nvSpPr>
          <p:cNvPr id="57" name="object 5"/>
          <p:cNvSpPr txBox="1"/>
          <p:nvPr/>
        </p:nvSpPr>
        <p:spPr>
          <a:xfrm>
            <a:off x="459740" y="1117699"/>
            <a:ext cx="3274060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5" dirty="0">
                <a:latin typeface="Calibri"/>
                <a:cs typeface="Calibri"/>
              </a:rPr>
              <a:t>E </a:t>
            </a:r>
            <a:r>
              <a:rPr sz="1800" b="1" dirty="0">
                <a:latin typeface="Calibri"/>
                <a:cs typeface="Calibri"/>
              </a:rPr>
              <a:t>=</a:t>
            </a:r>
            <a:r>
              <a:rPr sz="1800" b="1" spc="1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2</a:t>
            </a:r>
            <a:r>
              <a:rPr sz="1800" b="1" spc="-5" dirty="0">
                <a:latin typeface="Calibri"/>
                <a:cs typeface="Calibri"/>
              </a:rPr>
              <a:t>:</a:t>
            </a:r>
            <a:r>
              <a:rPr sz="1800" b="1" spc="5" dirty="0">
                <a:latin typeface="Calibri"/>
                <a:cs typeface="Calibri"/>
              </a:rPr>
              <a:t> </a:t>
            </a:r>
            <a:r>
              <a:rPr lang="zh-CN" altLang="en-US" sz="1800" b="1" spc="5" dirty="0">
                <a:latin typeface="Calibri"/>
                <a:cs typeface="Calibri"/>
              </a:rPr>
              <a:t>每组两行</a:t>
            </a:r>
            <a:endParaRPr lang="en-US" altLang="zh-CN" sz="1800" b="1" spc="5" dirty="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lang="zh-CN" altLang="en-US" b="1" spc="-5" dirty="0">
                <a:latin typeface="Calibri"/>
                <a:cs typeface="Calibri"/>
              </a:rPr>
              <a:t>假定</a:t>
            </a:r>
            <a:r>
              <a:rPr lang="en-US" altLang="zh-CN" b="1" spc="-5" dirty="0">
                <a:latin typeface="Calibri"/>
                <a:cs typeface="Calibri"/>
              </a:rPr>
              <a:t>:</a:t>
            </a:r>
            <a:r>
              <a:rPr lang="zh-CN" altLang="en-US" b="1" spc="-30" dirty="0">
                <a:latin typeface="Calibri"/>
                <a:cs typeface="Calibri"/>
              </a:rPr>
              <a:t> 高速缓存块大小为 </a:t>
            </a:r>
            <a:r>
              <a:rPr lang="en-US" altLang="zh-CN" b="1" spc="-5" dirty="0">
                <a:latin typeface="Calibri"/>
                <a:cs typeface="Calibri"/>
              </a:rPr>
              <a:t>8</a:t>
            </a:r>
            <a:r>
              <a:rPr lang="zh-CN" altLang="en-US" b="1" spc="-5" dirty="0">
                <a:latin typeface="Calibri"/>
                <a:cs typeface="Calibri"/>
              </a:rPr>
              <a:t>个</a:t>
            </a:r>
            <a:r>
              <a:rPr lang="zh-CN" altLang="en-US" b="1" dirty="0">
                <a:latin typeface="Calibri"/>
                <a:cs typeface="Calibri"/>
              </a:rPr>
              <a:t>字节</a:t>
            </a:r>
            <a:endParaRPr lang="zh-CN" altLang="en-US" dirty="0">
              <a:latin typeface="Calibri"/>
              <a:cs typeface="Calibri"/>
            </a:endParaRPr>
          </a:p>
        </p:txBody>
      </p:sp>
      <p:sp>
        <p:nvSpPr>
          <p:cNvPr id="59" name="object 51"/>
          <p:cNvSpPr txBox="1"/>
          <p:nvPr/>
        </p:nvSpPr>
        <p:spPr>
          <a:xfrm>
            <a:off x="535940" y="2703036"/>
            <a:ext cx="801370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zh-CN" altLang="en-US" sz="1800" b="1" dirty="0">
                <a:latin typeface="Calibri"/>
                <a:cs typeface="Calibri"/>
              </a:rPr>
              <a:t>有效</a:t>
            </a:r>
            <a:r>
              <a:rPr sz="1800" b="1" dirty="0">
                <a:latin typeface="Calibri"/>
                <a:cs typeface="Calibri"/>
              </a:rPr>
              <a:t>? </a:t>
            </a:r>
            <a:r>
              <a:rPr sz="1800" b="1" spc="-2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+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60" name="object 52"/>
          <p:cNvSpPr txBox="1"/>
          <p:nvPr/>
        </p:nvSpPr>
        <p:spPr>
          <a:xfrm>
            <a:off x="1497431" y="2716523"/>
            <a:ext cx="1520825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zh-CN" altLang="en-US" sz="1800" b="1" spc="-5" dirty="0">
                <a:latin typeface="Calibri"/>
                <a:cs typeface="Calibri"/>
              </a:rPr>
              <a:t>匹配</a:t>
            </a:r>
            <a:r>
              <a:rPr sz="1800" b="1" spc="-5" dirty="0">
                <a:latin typeface="Calibri"/>
                <a:cs typeface="Calibri"/>
              </a:rPr>
              <a:t>:</a:t>
            </a:r>
            <a:r>
              <a:rPr sz="1800" b="1" spc="-20" dirty="0">
                <a:latin typeface="Calibri"/>
                <a:cs typeface="Calibri"/>
              </a:rPr>
              <a:t> </a:t>
            </a:r>
            <a:r>
              <a:rPr sz="1800" b="1" spc="-30" dirty="0">
                <a:latin typeface="Calibri"/>
                <a:cs typeface="Calibri"/>
              </a:rPr>
              <a:t>y</a:t>
            </a:r>
            <a:r>
              <a:rPr sz="1800" b="1" spc="5" dirty="0">
                <a:latin typeface="Calibri"/>
                <a:cs typeface="Calibri"/>
              </a:rPr>
              <a:t>e</a:t>
            </a:r>
            <a:r>
              <a:rPr sz="1800" b="1" spc="-5" dirty="0">
                <a:latin typeface="Calibri"/>
                <a:cs typeface="Calibri"/>
              </a:rPr>
              <a:t>s</a:t>
            </a:r>
            <a:r>
              <a:rPr sz="1800" b="1" spc="-1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=</a:t>
            </a:r>
            <a:r>
              <a:rPr sz="1800" b="1" spc="1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h</a:t>
            </a:r>
            <a:r>
              <a:rPr sz="1800" b="1" spc="-5" dirty="0">
                <a:latin typeface="Calibri"/>
                <a:cs typeface="Calibri"/>
              </a:rPr>
              <a:t>it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62" name="object 49"/>
          <p:cNvSpPr txBox="1"/>
          <p:nvPr/>
        </p:nvSpPr>
        <p:spPr>
          <a:xfrm>
            <a:off x="3337266" y="2056129"/>
            <a:ext cx="1527469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zh-CN" altLang="en-US" sz="1800" dirty="0">
                <a:latin typeface="Calibri"/>
                <a:cs typeface="Calibri"/>
              </a:rPr>
              <a:t>两者进行比较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63" name="object 54"/>
          <p:cNvSpPr txBox="1"/>
          <p:nvPr/>
        </p:nvSpPr>
        <p:spPr>
          <a:xfrm>
            <a:off x="5184140" y="4429997"/>
            <a:ext cx="1133475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zh-CN" altLang="en-US" sz="1800" dirty="0">
                <a:latin typeface="Calibri"/>
                <a:cs typeface="Calibri"/>
              </a:rPr>
              <a:t>块偏移</a:t>
            </a:r>
            <a:endParaRPr sz="1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3289299" y="2385537"/>
            <a:ext cx="4244975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zh-CN" altLang="en-US" sz="2000" spc="5" dirty="0">
                <a:latin typeface="Calibri"/>
                <a:cs typeface="Calibri"/>
              </a:rPr>
              <a:t>地址跟踪</a:t>
            </a:r>
            <a:r>
              <a:rPr lang="en-US" altLang="zh-CN" sz="2000" spc="5" dirty="0">
                <a:latin typeface="Calibri"/>
                <a:cs typeface="Calibri"/>
              </a:rPr>
              <a:t>(</a:t>
            </a:r>
            <a:r>
              <a:rPr lang="zh-CN" altLang="en-US" sz="2000" spc="5" dirty="0">
                <a:latin typeface="Calibri"/>
                <a:cs typeface="Calibri"/>
              </a:rPr>
              <a:t>每次读取一个字节</a:t>
            </a:r>
            <a:r>
              <a:rPr sz="2000" dirty="0">
                <a:latin typeface="Calibri"/>
                <a:cs typeface="Calibri"/>
              </a:rPr>
              <a:t>):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203747" y="2760763"/>
            <a:ext cx="154940" cy="1499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dirty="0">
                <a:latin typeface="Calibri"/>
                <a:cs typeface="Calibri"/>
              </a:rPr>
              <a:t>0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latin typeface="Calibri"/>
                <a:cs typeface="Calibri"/>
              </a:rPr>
              <a:t>1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latin typeface="Calibri"/>
                <a:cs typeface="Calibri"/>
              </a:rPr>
              <a:t>7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latin typeface="Calibri"/>
                <a:cs typeface="Calibri"/>
              </a:rPr>
              <a:t>8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latin typeface="Calibri"/>
                <a:cs typeface="Calibri"/>
              </a:rPr>
              <a:t>0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174750" y="1841500"/>
            <a:ext cx="703580" cy="285750"/>
          </a:xfrm>
          <a:custGeom>
            <a:avLst/>
            <a:gdLst/>
            <a:ahLst/>
            <a:cxnLst/>
            <a:rect l="l" t="t" r="r" b="b"/>
            <a:pathLst>
              <a:path w="703580" h="285750">
                <a:moveTo>
                  <a:pt x="0" y="0"/>
                </a:moveTo>
                <a:lnTo>
                  <a:pt x="703262" y="0"/>
                </a:lnTo>
                <a:lnTo>
                  <a:pt x="703262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890712" y="1841500"/>
            <a:ext cx="703580" cy="285750"/>
          </a:xfrm>
          <a:custGeom>
            <a:avLst/>
            <a:gdLst/>
            <a:ahLst/>
            <a:cxnLst/>
            <a:rect l="l" t="t" r="r" b="b"/>
            <a:pathLst>
              <a:path w="703580" h="285750">
                <a:moveTo>
                  <a:pt x="0" y="0"/>
                </a:moveTo>
                <a:lnTo>
                  <a:pt x="703262" y="0"/>
                </a:lnTo>
                <a:lnTo>
                  <a:pt x="703262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357018" y="401179"/>
            <a:ext cx="7592093" cy="830998"/>
          </a:xfrm>
          <a:prstGeom prst="rect">
            <a:avLst/>
          </a:prstGeom>
        </p:spPr>
        <p:txBody>
          <a:bodyPr vert="horz" wrap="square" lIns="0" tIns="274321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pc="-5" dirty="0"/>
              <a:t>2</a:t>
            </a:r>
            <a:r>
              <a:rPr lang="zh-CN" altLang="en-US" spc="-5" dirty="0"/>
              <a:t>路组相联高速缓存仿真</a:t>
            </a:r>
            <a:endParaRPr spc="-5" dirty="0"/>
          </a:p>
        </p:txBody>
      </p:sp>
      <p:sp>
        <p:nvSpPr>
          <p:cNvPr id="11" name="object 11"/>
          <p:cNvSpPr txBox="1"/>
          <p:nvPr/>
        </p:nvSpPr>
        <p:spPr>
          <a:xfrm>
            <a:off x="5118194" y="2760763"/>
            <a:ext cx="967740" cy="2073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5" dirty="0">
                <a:latin typeface="Calibri"/>
                <a:cs typeface="Calibri"/>
              </a:rPr>
              <a:t>[</a:t>
            </a:r>
            <a:r>
              <a:rPr sz="2000" b="1" dirty="0">
                <a:solidFill>
                  <a:srgbClr val="C00000"/>
                </a:solidFill>
                <a:latin typeface="Calibri"/>
                <a:cs typeface="Calibri"/>
              </a:rPr>
              <a:t>00</a:t>
            </a:r>
            <a:r>
              <a:rPr sz="2000" b="1" u="heavy" dirty="0">
                <a:solidFill>
                  <a:srgbClr val="0070C0"/>
                </a:solidFill>
                <a:latin typeface="Calibri"/>
                <a:cs typeface="Calibri"/>
              </a:rPr>
              <a:t>0</a:t>
            </a:r>
            <a:r>
              <a:rPr sz="2000" b="1" dirty="0">
                <a:solidFill>
                  <a:srgbClr val="008000"/>
                </a:solidFill>
                <a:latin typeface="Calibri"/>
                <a:cs typeface="Calibri"/>
              </a:rPr>
              <a:t>0</a:t>
            </a:r>
            <a:r>
              <a:rPr sz="1950" b="1" spc="15" baseline="-21367" dirty="0">
                <a:latin typeface="Calibri"/>
                <a:cs typeface="Calibri"/>
              </a:rPr>
              <a:t>2</a:t>
            </a:r>
            <a:r>
              <a:rPr sz="2000" b="1" spc="-5" dirty="0">
                <a:latin typeface="Calibri"/>
                <a:cs typeface="Calibri"/>
              </a:rPr>
              <a:t>]</a:t>
            </a:r>
            <a:r>
              <a:rPr sz="2000" b="1" dirty="0">
                <a:latin typeface="Calibri"/>
                <a:cs typeface="Calibri"/>
              </a:rPr>
              <a:t>,</a:t>
            </a:r>
            <a:endParaRPr sz="20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000" b="1" spc="-5" dirty="0">
                <a:latin typeface="Calibri"/>
                <a:cs typeface="Calibri"/>
              </a:rPr>
              <a:t>[</a:t>
            </a:r>
            <a:r>
              <a:rPr sz="2000" b="1" dirty="0">
                <a:solidFill>
                  <a:srgbClr val="C00000"/>
                </a:solidFill>
                <a:latin typeface="Calibri"/>
                <a:cs typeface="Calibri"/>
              </a:rPr>
              <a:t>00</a:t>
            </a:r>
            <a:r>
              <a:rPr sz="2000" b="1" u="heavy" dirty="0">
                <a:solidFill>
                  <a:srgbClr val="0070C0"/>
                </a:solidFill>
                <a:latin typeface="Calibri"/>
                <a:cs typeface="Calibri"/>
              </a:rPr>
              <a:t>0</a:t>
            </a:r>
            <a:r>
              <a:rPr sz="2000" b="1" dirty="0">
                <a:solidFill>
                  <a:srgbClr val="008000"/>
                </a:solidFill>
                <a:latin typeface="Calibri"/>
                <a:cs typeface="Calibri"/>
              </a:rPr>
              <a:t>1</a:t>
            </a:r>
            <a:r>
              <a:rPr sz="1950" b="1" spc="15" baseline="-21367" dirty="0">
                <a:latin typeface="Calibri"/>
                <a:cs typeface="Calibri"/>
              </a:rPr>
              <a:t>2</a:t>
            </a:r>
            <a:r>
              <a:rPr sz="2000" b="1" spc="-5" dirty="0">
                <a:latin typeface="Calibri"/>
                <a:cs typeface="Calibri"/>
              </a:rPr>
              <a:t>]</a:t>
            </a:r>
            <a:r>
              <a:rPr sz="2000" b="1" dirty="0">
                <a:latin typeface="Calibri"/>
                <a:cs typeface="Calibri"/>
              </a:rPr>
              <a:t>,</a:t>
            </a:r>
            <a:endParaRPr sz="20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000" b="1" spc="-5" dirty="0">
                <a:latin typeface="Calibri"/>
                <a:cs typeface="Calibri"/>
              </a:rPr>
              <a:t>[</a:t>
            </a:r>
            <a:r>
              <a:rPr sz="2000" b="1" dirty="0">
                <a:solidFill>
                  <a:srgbClr val="C00000"/>
                </a:solidFill>
                <a:latin typeface="Calibri"/>
                <a:cs typeface="Calibri"/>
              </a:rPr>
              <a:t>01</a:t>
            </a:r>
            <a:r>
              <a:rPr sz="2000" b="1" u="heavy" dirty="0">
                <a:solidFill>
                  <a:srgbClr val="0070C0"/>
                </a:solidFill>
                <a:latin typeface="Calibri"/>
                <a:cs typeface="Calibri"/>
              </a:rPr>
              <a:t>1</a:t>
            </a:r>
            <a:r>
              <a:rPr sz="2000" b="1" dirty="0">
                <a:solidFill>
                  <a:srgbClr val="008000"/>
                </a:solidFill>
                <a:latin typeface="Calibri"/>
                <a:cs typeface="Calibri"/>
              </a:rPr>
              <a:t>1</a:t>
            </a:r>
            <a:r>
              <a:rPr sz="1950" b="1" spc="15" baseline="-21367" dirty="0">
                <a:latin typeface="Calibri"/>
                <a:cs typeface="Calibri"/>
              </a:rPr>
              <a:t>2</a:t>
            </a:r>
            <a:r>
              <a:rPr sz="2000" b="1" spc="-5" dirty="0">
                <a:latin typeface="Calibri"/>
                <a:cs typeface="Calibri"/>
              </a:rPr>
              <a:t>]</a:t>
            </a:r>
            <a:r>
              <a:rPr sz="2000" b="1" dirty="0">
                <a:latin typeface="Calibri"/>
                <a:cs typeface="Calibri"/>
              </a:rPr>
              <a:t>,</a:t>
            </a:r>
            <a:endParaRPr sz="20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000" b="1" spc="-5" dirty="0">
                <a:latin typeface="Calibri"/>
                <a:cs typeface="Calibri"/>
              </a:rPr>
              <a:t>[</a:t>
            </a:r>
            <a:r>
              <a:rPr sz="2000" b="1" dirty="0">
                <a:solidFill>
                  <a:srgbClr val="C00000"/>
                </a:solidFill>
                <a:latin typeface="Calibri"/>
                <a:cs typeface="Calibri"/>
              </a:rPr>
              <a:t>10</a:t>
            </a:r>
            <a:r>
              <a:rPr sz="2000" b="1" u="heavy" dirty="0">
                <a:solidFill>
                  <a:srgbClr val="0070C0"/>
                </a:solidFill>
                <a:latin typeface="Calibri"/>
                <a:cs typeface="Calibri"/>
              </a:rPr>
              <a:t>0</a:t>
            </a:r>
            <a:r>
              <a:rPr sz="2000" b="1" dirty="0">
                <a:solidFill>
                  <a:srgbClr val="008000"/>
                </a:solidFill>
                <a:latin typeface="Calibri"/>
                <a:cs typeface="Calibri"/>
              </a:rPr>
              <a:t>0</a:t>
            </a:r>
            <a:r>
              <a:rPr sz="1950" b="1" spc="15" baseline="-21367" dirty="0">
                <a:latin typeface="Calibri"/>
                <a:cs typeface="Calibri"/>
              </a:rPr>
              <a:t>2</a:t>
            </a:r>
            <a:r>
              <a:rPr sz="2000" b="1" spc="-5" dirty="0">
                <a:latin typeface="Calibri"/>
                <a:cs typeface="Calibri"/>
              </a:rPr>
              <a:t>]</a:t>
            </a:r>
            <a:r>
              <a:rPr sz="2000" b="1" dirty="0">
                <a:latin typeface="Calibri"/>
                <a:cs typeface="Calibri"/>
              </a:rPr>
              <a:t>,</a:t>
            </a:r>
            <a:endParaRPr sz="20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000" b="1" spc="-5" dirty="0">
                <a:latin typeface="Calibri"/>
                <a:cs typeface="Calibri"/>
              </a:rPr>
              <a:t>[</a:t>
            </a:r>
            <a:r>
              <a:rPr sz="2000" b="1" dirty="0">
                <a:solidFill>
                  <a:srgbClr val="C00000"/>
                </a:solidFill>
                <a:latin typeface="Calibri"/>
                <a:cs typeface="Calibri"/>
              </a:rPr>
              <a:t>00</a:t>
            </a:r>
            <a:r>
              <a:rPr sz="2000" b="1" u="heavy" dirty="0">
                <a:solidFill>
                  <a:srgbClr val="0070C0"/>
                </a:solidFill>
                <a:latin typeface="Calibri"/>
                <a:cs typeface="Calibri"/>
              </a:rPr>
              <a:t>0</a:t>
            </a:r>
            <a:r>
              <a:rPr sz="2000" b="1" dirty="0">
                <a:solidFill>
                  <a:srgbClr val="008000"/>
                </a:solidFill>
                <a:latin typeface="Calibri"/>
                <a:cs typeface="Calibri"/>
              </a:rPr>
              <a:t>0</a:t>
            </a:r>
            <a:r>
              <a:rPr sz="1950" b="1" spc="15" baseline="-21367" dirty="0">
                <a:latin typeface="Calibri"/>
                <a:cs typeface="Calibri"/>
              </a:rPr>
              <a:t>2</a:t>
            </a:r>
            <a:r>
              <a:rPr sz="2000" b="1" dirty="0">
                <a:latin typeface="Calibri"/>
                <a:cs typeface="Calibri"/>
              </a:rPr>
              <a:t>]</a:t>
            </a:r>
            <a:endParaRPr sz="2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7"/>
              </a:spcBef>
            </a:pPr>
            <a:endParaRPr sz="1800" dirty="0">
              <a:latin typeface="Times New Roman"/>
              <a:cs typeface="Times New Roman"/>
            </a:endParaRPr>
          </a:p>
          <a:p>
            <a:pPr marL="382270">
              <a:lnSpc>
                <a:spcPct val="100000"/>
              </a:lnSpc>
            </a:pPr>
            <a:r>
              <a:rPr sz="2000" b="1" dirty="0">
                <a:latin typeface="Calibri"/>
                <a:cs typeface="Calibri"/>
              </a:rPr>
              <a:t>B</a:t>
            </a:r>
            <a:r>
              <a:rPr sz="2000" b="1" spc="-5" dirty="0">
                <a:latin typeface="Calibri"/>
                <a:cs typeface="Calibri"/>
              </a:rPr>
              <a:t>l</a:t>
            </a:r>
            <a:r>
              <a:rPr sz="2000" b="1" dirty="0">
                <a:latin typeface="Calibri"/>
                <a:cs typeface="Calibri"/>
              </a:rPr>
              <a:t>ock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54159" y="1586179"/>
            <a:ext cx="1783080" cy="28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640715" algn="l"/>
                <a:tab pos="1380490" algn="l"/>
              </a:tabLst>
            </a:pPr>
            <a:r>
              <a:rPr sz="2000" dirty="0">
                <a:latin typeface="Calibri"/>
                <a:cs typeface="Calibri"/>
              </a:rPr>
              <a:t>t</a:t>
            </a:r>
            <a:r>
              <a:rPr sz="2000" spc="-5" dirty="0">
                <a:latin typeface="Calibri"/>
                <a:cs typeface="Calibri"/>
              </a:rPr>
              <a:t>=</a:t>
            </a:r>
            <a:r>
              <a:rPr sz="2000" dirty="0">
                <a:latin typeface="Calibri"/>
                <a:cs typeface="Calibri"/>
              </a:rPr>
              <a:t>2	</a:t>
            </a:r>
            <a:r>
              <a:rPr sz="2000" spc="-5" dirty="0">
                <a:latin typeface="Calibri"/>
                <a:cs typeface="Calibri"/>
              </a:rPr>
              <a:t>s=</a:t>
            </a:r>
            <a:r>
              <a:rPr sz="2000" dirty="0">
                <a:latin typeface="Calibri"/>
                <a:cs typeface="Calibri"/>
              </a:rPr>
              <a:t>1	b</a:t>
            </a:r>
            <a:r>
              <a:rPr sz="2000" spc="-5" dirty="0">
                <a:latin typeface="Calibri"/>
                <a:cs typeface="Calibri"/>
              </a:rPr>
              <a:t>=1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922712" y="4860869"/>
            <a:ext cx="557530" cy="3067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0170">
              <a:lnSpc>
                <a:spcPct val="100000"/>
              </a:lnSpc>
            </a:pPr>
            <a:r>
              <a:rPr sz="2000" dirty="0">
                <a:latin typeface="Calibri"/>
                <a:cs typeface="Calibri"/>
              </a:rPr>
              <a:t>0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497387" y="4860869"/>
            <a:ext cx="652780" cy="3067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0170">
              <a:lnSpc>
                <a:spcPct val="100000"/>
              </a:lnSpc>
            </a:pPr>
            <a:r>
              <a:rPr sz="2000" dirty="0">
                <a:latin typeface="Calibri"/>
                <a:cs typeface="Calibri"/>
              </a:rPr>
              <a:t>?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165725" y="4860869"/>
            <a:ext cx="1419225" cy="3067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0170">
              <a:lnSpc>
                <a:spcPct val="100000"/>
              </a:lnSpc>
            </a:pPr>
            <a:r>
              <a:rPr sz="2000" dirty="0">
                <a:latin typeface="Calibri"/>
                <a:cs typeface="Calibri"/>
              </a:rPr>
              <a:t>?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149635" y="4553646"/>
            <a:ext cx="854710" cy="28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90220" algn="l"/>
              </a:tabLst>
            </a:pPr>
            <a:r>
              <a:rPr sz="2000" b="1" dirty="0">
                <a:latin typeface="Calibri"/>
                <a:cs typeface="Calibri"/>
              </a:rPr>
              <a:t>v	</a:t>
            </a:r>
            <a:r>
              <a:rPr sz="2000" b="1" spc="-155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2000" b="1" spc="-10" dirty="0">
                <a:solidFill>
                  <a:srgbClr val="C00000"/>
                </a:solidFill>
                <a:latin typeface="Calibri"/>
                <a:cs typeface="Calibri"/>
              </a:rPr>
              <a:t>ag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922712" y="5164082"/>
            <a:ext cx="557530" cy="3067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0805">
              <a:lnSpc>
                <a:spcPct val="100000"/>
              </a:lnSpc>
            </a:pPr>
            <a:r>
              <a:rPr sz="2000" dirty="0">
                <a:latin typeface="Calibri"/>
                <a:cs typeface="Calibri"/>
              </a:rPr>
              <a:t>0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922712" y="5672082"/>
            <a:ext cx="557530" cy="3067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0805">
              <a:lnSpc>
                <a:spcPct val="100000"/>
              </a:lnSpc>
            </a:pPr>
            <a:r>
              <a:rPr sz="2000" dirty="0">
                <a:latin typeface="Calibri"/>
                <a:cs typeface="Calibri"/>
              </a:rPr>
              <a:t>0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735691" y="2725626"/>
            <a:ext cx="484505" cy="1486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-635" algn="ctr">
              <a:lnSpc>
                <a:spcPct val="98900"/>
              </a:lnSpc>
            </a:pPr>
            <a:r>
              <a:rPr sz="2000" spc="-5" dirty="0">
                <a:latin typeface="Calibri"/>
                <a:cs typeface="Calibri"/>
              </a:rPr>
              <a:t>miss </a:t>
            </a:r>
            <a:r>
              <a:rPr sz="2000" dirty="0">
                <a:latin typeface="Calibri"/>
                <a:cs typeface="Calibri"/>
              </a:rPr>
              <a:t>h</a:t>
            </a:r>
            <a:r>
              <a:rPr sz="2000" spc="-5" dirty="0">
                <a:latin typeface="Calibri"/>
                <a:cs typeface="Calibri"/>
              </a:rPr>
              <a:t>it miss miss </a:t>
            </a:r>
            <a:r>
              <a:rPr sz="2000" dirty="0">
                <a:latin typeface="Calibri"/>
                <a:cs typeface="Calibri"/>
              </a:rPr>
              <a:t>h</a:t>
            </a:r>
            <a:r>
              <a:rPr sz="2000" spc="-5" dirty="0">
                <a:latin typeface="Calibri"/>
                <a:cs typeface="Calibri"/>
              </a:rPr>
              <a:t>it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305784" y="5007236"/>
            <a:ext cx="493395" cy="11042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5" dirty="0">
                <a:solidFill>
                  <a:srgbClr val="0070C0"/>
                </a:solidFill>
                <a:latin typeface="Calibri"/>
                <a:cs typeface="Calibri"/>
              </a:rPr>
              <a:t>S</a:t>
            </a:r>
            <a:r>
              <a:rPr sz="1800" b="1" spc="-10" dirty="0">
                <a:solidFill>
                  <a:srgbClr val="0070C0"/>
                </a:solidFill>
                <a:latin typeface="Calibri"/>
                <a:cs typeface="Calibri"/>
              </a:rPr>
              <a:t>e</a:t>
            </a:r>
            <a:r>
              <a:rPr sz="1800" b="1" dirty="0">
                <a:solidFill>
                  <a:srgbClr val="0070C0"/>
                </a:solidFill>
                <a:latin typeface="Calibri"/>
                <a:cs typeface="Calibri"/>
              </a:rPr>
              <a:t>t</a:t>
            </a:r>
            <a:r>
              <a:rPr sz="1800" b="1" spc="-1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1800" b="1" spc="-5" dirty="0">
                <a:solidFill>
                  <a:srgbClr val="0070C0"/>
                </a:solidFill>
                <a:latin typeface="Calibri"/>
                <a:cs typeface="Calibri"/>
              </a:rPr>
              <a:t>0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7"/>
              </a:spcBef>
            </a:pPr>
            <a:endParaRPr sz="2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b="1" spc="-5" dirty="0">
                <a:solidFill>
                  <a:srgbClr val="0070C0"/>
                </a:solidFill>
                <a:latin typeface="Calibri"/>
                <a:cs typeface="Calibri"/>
              </a:rPr>
              <a:t>S</a:t>
            </a:r>
            <a:r>
              <a:rPr sz="1800" b="1" spc="-10" dirty="0">
                <a:solidFill>
                  <a:srgbClr val="0070C0"/>
                </a:solidFill>
                <a:latin typeface="Calibri"/>
                <a:cs typeface="Calibri"/>
              </a:rPr>
              <a:t>e</a:t>
            </a:r>
            <a:r>
              <a:rPr sz="1800" b="1" dirty="0">
                <a:solidFill>
                  <a:srgbClr val="0070C0"/>
                </a:solidFill>
                <a:latin typeface="Calibri"/>
                <a:cs typeface="Calibri"/>
              </a:rPr>
              <a:t>t</a:t>
            </a:r>
            <a:r>
              <a:rPr sz="1800" b="1" spc="-1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1800" b="1" spc="-5" dirty="0">
                <a:solidFill>
                  <a:srgbClr val="0070C0"/>
                </a:solidFill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0579283"/>
              </p:ext>
            </p:extLst>
          </p:nvPr>
        </p:nvGraphicFramePr>
        <p:xfrm>
          <a:off x="3894137" y="4852932"/>
          <a:ext cx="2662236" cy="112433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59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91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71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4444">
                <a:tc>
                  <a:txBody>
                    <a:bodyPr/>
                    <a:lstStyle/>
                    <a:p>
                      <a:endParaRPr sz="20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30162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  <a:solidFill>
                      <a:srgbClr val="DEDFF5"/>
                    </a:solidFill>
                  </a:tcPr>
                </a:tc>
                <a:tc>
                  <a:txBody>
                    <a:bodyPr/>
                    <a:lstStyle/>
                    <a:p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30162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  <a:solidFill>
                      <a:srgbClr val="DEDFF5"/>
                    </a:solidFill>
                  </a:tcPr>
                </a:tc>
                <a:tc>
                  <a:txBody>
                    <a:bodyPr/>
                    <a:lstStyle/>
                    <a:p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  <a:solidFill>
                      <a:srgbClr val="DED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942"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1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30162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EDFF5"/>
                    </a:solidFill>
                  </a:tcPr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ct val="100000"/>
                        </a:lnSpc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00</a:t>
                      </a:r>
                    </a:p>
                  </a:txBody>
                  <a:tcPr marL="0" marR="0" marT="0" marB="0">
                    <a:lnL w="30162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EDFF5"/>
                    </a:solidFill>
                  </a:tcPr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ct val="100000"/>
                        </a:lnSpc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M</a:t>
                      </a:r>
                      <a:r>
                        <a:rPr sz="2000" spc="-5" dirty="0">
                          <a:latin typeface="Calibri"/>
                          <a:cs typeface="Calibri"/>
                        </a:rPr>
                        <a:t>[</a:t>
                      </a:r>
                      <a:r>
                        <a:rPr sz="2000" spc="5" dirty="0">
                          <a:latin typeface="Calibri"/>
                          <a:cs typeface="Calibri"/>
                        </a:rPr>
                        <a:t>0</a:t>
                      </a:r>
                      <a:r>
                        <a:rPr sz="2000" spc="-5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1]</a:t>
                      </a: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ED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5605">
                <a:tc>
                  <a:txBody>
                    <a:bodyPr/>
                    <a:lstStyle/>
                    <a:p>
                      <a:pPr marL="61594">
                        <a:lnSpc>
                          <a:spcPts val="1450"/>
                        </a:lnSpc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1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30162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  <a:solidFill>
                      <a:srgbClr val="DEDFF5"/>
                    </a:solidFill>
                  </a:tcPr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ts val="1450"/>
                        </a:lnSpc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10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30162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  <a:solidFill>
                      <a:srgbClr val="DEDFF5"/>
                    </a:solidFill>
                  </a:tcPr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ts val="1450"/>
                        </a:lnSpc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M</a:t>
                      </a:r>
                      <a:r>
                        <a:rPr sz="2000" spc="-5" dirty="0">
                          <a:latin typeface="Calibri"/>
                          <a:cs typeface="Calibri"/>
                        </a:rPr>
                        <a:t>[</a:t>
                      </a:r>
                      <a:r>
                        <a:rPr sz="2000" spc="5" dirty="0">
                          <a:latin typeface="Calibri"/>
                          <a:cs typeface="Calibri"/>
                        </a:rPr>
                        <a:t>8</a:t>
                      </a:r>
                      <a:r>
                        <a:rPr sz="2000" spc="-5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9]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  <a:solidFill>
                      <a:srgbClr val="DED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9988">
                <a:tc>
                  <a:txBody>
                    <a:bodyPr/>
                    <a:lstStyle/>
                    <a:p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30162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EDFF5"/>
                    </a:solidFill>
                  </a:tcPr>
                </a:tc>
                <a:tc>
                  <a:txBody>
                    <a:bodyPr/>
                    <a:lstStyle/>
                    <a:p>
                      <a:endParaRPr sz="20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30162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EDFF5"/>
                    </a:solidFill>
                  </a:tcPr>
                </a:tc>
                <a:tc>
                  <a:txBody>
                    <a:bodyPr/>
                    <a:lstStyle/>
                    <a:p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ED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9" name="object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41480"/>
              </p:ext>
            </p:extLst>
          </p:nvPr>
        </p:nvGraphicFramePr>
        <p:xfrm>
          <a:off x="3894137" y="5667319"/>
          <a:ext cx="2662236" cy="1219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59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91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71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7619">
                <a:tc>
                  <a:txBody>
                    <a:bodyPr/>
                    <a:lstStyle/>
                    <a:p>
                      <a:endParaRPr sz="20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30162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  <a:solidFill>
                      <a:srgbClr val="DEDFF5"/>
                    </a:solidFill>
                  </a:tcPr>
                </a:tc>
                <a:tc>
                  <a:txBody>
                    <a:bodyPr/>
                    <a:lstStyle/>
                    <a:p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30162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  <a:solidFill>
                      <a:srgbClr val="DEDFF5"/>
                    </a:solidFill>
                  </a:tcPr>
                </a:tc>
                <a:tc>
                  <a:txBody>
                    <a:bodyPr/>
                    <a:lstStyle/>
                    <a:p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  <a:solidFill>
                      <a:srgbClr val="DED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7498"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1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30162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33337">
                      <a:solidFill>
                        <a:srgbClr val="000000"/>
                      </a:solidFill>
                      <a:prstDash val="solid"/>
                    </a:lnB>
                    <a:solidFill>
                      <a:srgbClr val="DEDFF5"/>
                    </a:solidFill>
                  </a:tcPr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ct val="100000"/>
                        </a:lnSpc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01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30162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33337">
                      <a:solidFill>
                        <a:srgbClr val="000000"/>
                      </a:solidFill>
                      <a:prstDash val="solid"/>
                    </a:lnB>
                    <a:solidFill>
                      <a:srgbClr val="DEDFF5"/>
                    </a:solidFill>
                  </a:tcPr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ct val="100000"/>
                        </a:lnSpc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M</a:t>
                      </a:r>
                      <a:r>
                        <a:rPr sz="2000" spc="-5" dirty="0">
                          <a:latin typeface="Calibri"/>
                          <a:cs typeface="Calibri"/>
                        </a:rPr>
                        <a:t>[</a:t>
                      </a:r>
                      <a:r>
                        <a:rPr sz="2000" spc="5" dirty="0">
                          <a:latin typeface="Calibri"/>
                          <a:cs typeface="Calibri"/>
                        </a:rPr>
                        <a:t>6</a:t>
                      </a:r>
                      <a:r>
                        <a:rPr sz="2000" spc="-5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7]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33337">
                      <a:solidFill>
                        <a:srgbClr val="000000"/>
                      </a:solidFill>
                      <a:prstDash val="solid"/>
                    </a:lnB>
                    <a:solidFill>
                      <a:srgbClr val="DED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049">
                <a:tc>
                  <a:txBody>
                    <a:bodyPr/>
                    <a:lstStyle/>
                    <a:p>
                      <a:pPr marL="62230">
                        <a:lnSpc>
                          <a:spcPts val="1595"/>
                        </a:lnSpc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57150">
                      <a:solidFill>
                        <a:srgbClr val="000000"/>
                      </a:solidFill>
                      <a:prstDash val="solid"/>
                    </a:lnL>
                    <a:lnR w="30162">
                      <a:solidFill>
                        <a:srgbClr val="000000"/>
                      </a:solidFill>
                      <a:prstDash val="solid"/>
                    </a:lnR>
                    <a:lnT w="33337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  <a:solidFill>
                      <a:srgbClr val="DEDFF5"/>
                    </a:solidFill>
                  </a:tcPr>
                </a:tc>
                <a:tc>
                  <a:txBody>
                    <a:bodyPr/>
                    <a:lstStyle/>
                    <a:p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30162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3337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  <a:solidFill>
                      <a:srgbClr val="DEDFF5"/>
                    </a:solidFill>
                  </a:tcPr>
                </a:tc>
                <a:tc>
                  <a:txBody>
                    <a:bodyPr/>
                    <a:lstStyle/>
                    <a:p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57150">
                      <a:solidFill>
                        <a:srgbClr val="000000"/>
                      </a:solidFill>
                      <a:prstDash val="solid"/>
                    </a:lnR>
                    <a:lnT w="33337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000000"/>
                      </a:solidFill>
                      <a:prstDash val="solid"/>
                    </a:lnB>
                    <a:solidFill>
                      <a:srgbClr val="DED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5069">
                <a:tc>
                  <a:txBody>
                    <a:bodyPr/>
                    <a:lstStyle/>
                    <a:p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30162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EDFF5"/>
                    </a:solidFill>
                  </a:tcPr>
                </a:tc>
                <a:tc>
                  <a:txBody>
                    <a:bodyPr/>
                    <a:lstStyle/>
                    <a:p>
                      <a:endParaRPr sz="20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30162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EDFF5"/>
                    </a:solidFill>
                  </a:tcPr>
                </a:tc>
                <a:tc>
                  <a:txBody>
                    <a:bodyPr/>
                    <a:lstStyle/>
                    <a:p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ED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450850" y="1835150"/>
          <a:ext cx="2136774" cy="304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04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67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96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226695">
                        <a:lnSpc>
                          <a:spcPct val="100000"/>
                        </a:lnSpc>
                      </a:pPr>
                      <a:r>
                        <a:rPr sz="2000" b="1" dirty="0">
                          <a:solidFill>
                            <a:srgbClr val="C00000"/>
                          </a:solidFill>
                          <a:latin typeface="Calibri"/>
                          <a:cs typeface="Calibri"/>
                        </a:rPr>
                        <a:t>xx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6987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000" b="1" dirty="0">
                          <a:solidFill>
                            <a:srgbClr val="0070C0"/>
                          </a:solidFill>
                          <a:latin typeface="Calibri"/>
                          <a:cs typeface="Calibri"/>
                        </a:rPr>
                        <a:t>x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6987">
                      <a:solidFill>
                        <a:srgbClr val="000000"/>
                      </a:solidFill>
                      <a:prstDash val="solid"/>
                    </a:lnL>
                    <a:lnR w="254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000" b="1" dirty="0">
                          <a:solidFill>
                            <a:srgbClr val="008000"/>
                          </a:solidFill>
                          <a:latin typeface="Calibri"/>
                          <a:cs typeface="Calibri"/>
                        </a:rPr>
                        <a:t>x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54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2" name="object 4"/>
          <p:cNvSpPr txBox="1"/>
          <p:nvPr/>
        </p:nvSpPr>
        <p:spPr>
          <a:xfrm>
            <a:off x="3289300" y="1470379"/>
            <a:ext cx="4867275" cy="6155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2000" dirty="0">
                <a:latin typeface="Calibri"/>
                <a:cs typeface="Calibri"/>
              </a:rPr>
              <a:t>M</a:t>
            </a:r>
            <a:r>
              <a:rPr sz="2000" spc="-5" dirty="0">
                <a:latin typeface="Calibri"/>
                <a:cs typeface="Calibri"/>
              </a:rPr>
              <a:t>=</a:t>
            </a:r>
            <a:r>
              <a:rPr sz="2000" dirty="0">
                <a:latin typeface="Calibri"/>
                <a:cs typeface="Calibri"/>
              </a:rPr>
              <a:t>16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lang="zh-CN" altLang="en-US" sz="2000" spc="-10" dirty="0">
                <a:latin typeface="Calibri"/>
                <a:cs typeface="Calibri"/>
              </a:rPr>
              <a:t>位</a:t>
            </a:r>
            <a:r>
              <a:rPr sz="2000" dirty="0">
                <a:latin typeface="Calibri"/>
                <a:cs typeface="Calibri"/>
              </a:rPr>
              <a:t> (</a:t>
            </a:r>
            <a:r>
              <a:rPr lang="zh-CN" altLang="en-US" sz="2000" dirty="0">
                <a:latin typeface="Calibri"/>
                <a:cs typeface="Calibri"/>
              </a:rPr>
              <a:t>地址是</a:t>
            </a:r>
            <a:r>
              <a:rPr lang="en-US" altLang="zh-CN" sz="2000" dirty="0">
                <a:latin typeface="Calibri"/>
                <a:cs typeface="Calibri"/>
              </a:rPr>
              <a:t>4</a:t>
            </a:r>
            <a:r>
              <a:rPr lang="zh-CN" altLang="en-US" sz="2000" dirty="0">
                <a:latin typeface="Calibri"/>
                <a:cs typeface="Calibri"/>
              </a:rPr>
              <a:t>位的</a:t>
            </a:r>
            <a:r>
              <a:rPr sz="2000" dirty="0">
                <a:latin typeface="Calibri"/>
                <a:cs typeface="Calibri"/>
              </a:rPr>
              <a:t>),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</a:t>
            </a:r>
            <a:r>
              <a:rPr sz="2000" spc="-5" dirty="0">
                <a:latin typeface="Calibri"/>
                <a:cs typeface="Calibri"/>
              </a:rPr>
              <a:t>=</a:t>
            </a:r>
            <a:r>
              <a:rPr sz="2000" dirty="0">
                <a:latin typeface="Calibri"/>
                <a:cs typeface="Calibri"/>
              </a:rPr>
              <a:t>2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lang="zh-CN" altLang="en-US" sz="2000" spc="-5" dirty="0">
                <a:latin typeface="Calibri"/>
                <a:cs typeface="Calibri"/>
              </a:rPr>
              <a:t>字节</a:t>
            </a:r>
            <a:r>
              <a:rPr lang="en-US" altLang="zh-CN" sz="2000" spc="-5" dirty="0">
                <a:latin typeface="Calibri"/>
                <a:cs typeface="Calibri"/>
              </a:rPr>
              <a:t>/</a:t>
            </a:r>
            <a:r>
              <a:rPr lang="zh-CN" altLang="en-US" sz="2000" spc="-5" dirty="0">
                <a:latin typeface="Calibri"/>
                <a:cs typeface="Calibri"/>
              </a:rPr>
              <a:t>块</a:t>
            </a:r>
            <a:r>
              <a:rPr sz="2000" dirty="0">
                <a:latin typeface="Calibri"/>
                <a:cs typeface="Calibri"/>
              </a:rPr>
              <a:t>, S</a:t>
            </a:r>
            <a:r>
              <a:rPr sz="2000" spc="-5" dirty="0">
                <a:latin typeface="Calibri"/>
                <a:cs typeface="Calibri"/>
              </a:rPr>
              <a:t>=</a:t>
            </a:r>
            <a:r>
              <a:rPr lang="en-US" sz="2000" dirty="0">
                <a:latin typeface="Calibri"/>
                <a:cs typeface="Calibri"/>
              </a:rPr>
              <a:t>2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lang="zh-CN" altLang="en-US" sz="2000" spc="-5" dirty="0">
                <a:latin typeface="Calibri"/>
                <a:cs typeface="Calibri"/>
              </a:rPr>
              <a:t>组</a:t>
            </a:r>
            <a:r>
              <a:rPr sz="2000" dirty="0">
                <a:latin typeface="Calibri"/>
                <a:cs typeface="Calibri"/>
              </a:rPr>
              <a:t>,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5" dirty="0">
                <a:latin typeface="Calibri"/>
                <a:cs typeface="Calibri"/>
              </a:rPr>
              <a:t>E</a:t>
            </a:r>
            <a:r>
              <a:rPr sz="2000" spc="-5" dirty="0">
                <a:latin typeface="Calibri"/>
                <a:cs typeface="Calibri"/>
              </a:rPr>
              <a:t>=</a:t>
            </a:r>
            <a:r>
              <a:rPr lang="en-US" sz="2000" dirty="0">
                <a:latin typeface="Calibri"/>
                <a:cs typeface="Calibri"/>
              </a:rPr>
              <a:t>2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lang="zh-CN" altLang="en-US" sz="2000" spc="-5" dirty="0">
                <a:latin typeface="Calibri"/>
                <a:cs typeface="Calibri"/>
              </a:rPr>
              <a:t>块</a:t>
            </a:r>
            <a:r>
              <a:rPr lang="en-US" altLang="zh-CN" sz="2000" spc="-5" dirty="0">
                <a:latin typeface="Calibri"/>
                <a:cs typeface="Calibri"/>
              </a:rPr>
              <a:t>/</a:t>
            </a:r>
            <a:r>
              <a:rPr lang="zh-CN" altLang="en-US" sz="2000" spc="-5" dirty="0">
                <a:latin typeface="Calibri"/>
                <a:cs typeface="Calibri"/>
              </a:rPr>
              <a:t>组</a:t>
            </a:r>
            <a:endParaRPr sz="2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57018" y="452990"/>
            <a:ext cx="7592093" cy="727376"/>
          </a:xfrm>
          <a:prstGeom prst="rect">
            <a:avLst/>
          </a:prstGeom>
        </p:spPr>
        <p:txBody>
          <a:bodyPr vert="horz" wrap="square" lIns="0" tIns="171701" rIns="0" bIns="0" rtlCol="0">
            <a:spAutoFit/>
          </a:bodyPr>
          <a:lstStyle/>
          <a:p>
            <a:pPr marL="60325">
              <a:lnSpc>
                <a:spcPct val="100000"/>
              </a:lnSpc>
            </a:pPr>
            <a:r>
              <a:rPr lang="zh-CN" altLang="en-US" dirty="0"/>
              <a:t>有关写的问题</a:t>
            </a:r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533273" y="1321456"/>
            <a:ext cx="8140065" cy="5324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990000"/>
              </a:buClr>
              <a:buSzPct val="58333"/>
              <a:buFont typeface="Wingdings 2"/>
              <a:buChar char=""/>
              <a:tabLst>
                <a:tab pos="355600" algn="l"/>
              </a:tabLst>
            </a:pPr>
            <a:r>
              <a:rPr lang="zh-CN" altLang="en-US" sz="2400" b="1" spc="-10" dirty="0">
                <a:latin typeface="Calibri"/>
                <a:cs typeface="Calibri"/>
              </a:rPr>
              <a:t>存在多个数据副本</a:t>
            </a:r>
            <a:r>
              <a:rPr sz="2400" b="1" spc="-10" dirty="0">
                <a:latin typeface="Calibri"/>
                <a:cs typeface="Calibri"/>
              </a:rPr>
              <a:t>:</a:t>
            </a:r>
            <a:endParaRPr sz="2400" dirty="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505"/>
              </a:spcBef>
              <a:buClr>
                <a:srgbClr val="990000"/>
              </a:buClr>
              <a:buSzPct val="110000"/>
              <a:buFont typeface="Wingdings"/>
              <a:buChar char=""/>
              <a:tabLst>
                <a:tab pos="756920" algn="l"/>
              </a:tabLst>
            </a:pPr>
            <a:r>
              <a:rPr sz="2000" spc="-5" dirty="0">
                <a:latin typeface="Calibri"/>
                <a:cs typeface="Calibri"/>
              </a:rPr>
              <a:t>L</a:t>
            </a:r>
            <a:r>
              <a:rPr sz="2000" dirty="0">
                <a:latin typeface="Calibri"/>
                <a:cs typeface="Calibri"/>
              </a:rPr>
              <a:t>1,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L</a:t>
            </a:r>
            <a:r>
              <a:rPr sz="2000" dirty="0">
                <a:latin typeface="Calibri"/>
                <a:cs typeface="Calibri"/>
              </a:rPr>
              <a:t>2,</a:t>
            </a:r>
            <a:r>
              <a:rPr sz="2000" spc="-5" dirty="0">
                <a:latin typeface="Calibri"/>
                <a:cs typeface="Calibri"/>
              </a:rPr>
              <a:t> L</a:t>
            </a:r>
            <a:r>
              <a:rPr sz="2000" dirty="0">
                <a:latin typeface="Calibri"/>
                <a:cs typeface="Calibri"/>
              </a:rPr>
              <a:t>3,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lang="zh-CN" altLang="en-US" sz="2000" spc="-20" dirty="0">
                <a:latin typeface="Calibri"/>
                <a:cs typeface="Calibri"/>
              </a:rPr>
              <a:t>主存，磁盘</a:t>
            </a:r>
            <a:endParaRPr sz="20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45"/>
              </a:spcBef>
              <a:buClr>
                <a:srgbClr val="990000"/>
              </a:buClr>
              <a:buSzPct val="60416"/>
              <a:buFont typeface="Wingdings 2"/>
              <a:buChar char=""/>
              <a:tabLst>
                <a:tab pos="355600" algn="l"/>
              </a:tabLst>
            </a:pPr>
            <a:r>
              <a:rPr lang="zh-CN" altLang="en-US" sz="2400" b="1" spc="-5" dirty="0">
                <a:latin typeface="Calibri"/>
                <a:cs typeface="Calibri"/>
              </a:rPr>
              <a:t>处理写命中</a:t>
            </a:r>
            <a:endParaRPr sz="2400" dirty="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505"/>
              </a:spcBef>
              <a:buClr>
                <a:srgbClr val="990000"/>
              </a:buClr>
              <a:buSzPct val="110000"/>
              <a:buFont typeface="Wingdings"/>
              <a:buChar char=""/>
              <a:tabLst>
                <a:tab pos="756920" algn="l"/>
              </a:tabLst>
            </a:pPr>
            <a:r>
              <a:rPr lang="zh-CN" altLang="en-US" sz="2000" dirty="0">
                <a:solidFill>
                  <a:srgbClr val="FF0000"/>
                </a:solidFill>
                <a:latin typeface="Calibri"/>
                <a:cs typeface="Calibri"/>
              </a:rPr>
              <a:t>直写</a:t>
            </a:r>
            <a:r>
              <a:rPr sz="2000" dirty="0">
                <a:latin typeface="Calibri"/>
                <a:cs typeface="Calibri"/>
              </a:rPr>
              <a:t>(</a:t>
            </a:r>
            <a:r>
              <a:rPr lang="zh-CN" altLang="en-US" sz="2000" dirty="0">
                <a:latin typeface="Calibri"/>
                <a:cs typeface="Calibri"/>
              </a:rPr>
              <a:t>立即写入内存</a:t>
            </a:r>
            <a:r>
              <a:rPr sz="2000" dirty="0">
                <a:latin typeface="Calibri"/>
                <a:cs typeface="Calibri"/>
              </a:rPr>
              <a:t>)</a:t>
            </a: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lr>
                <a:srgbClr val="990000"/>
              </a:buClr>
              <a:buSzPct val="110000"/>
              <a:buFont typeface="Wingdings"/>
              <a:buChar char=""/>
              <a:tabLst>
                <a:tab pos="756920" algn="l"/>
              </a:tabLst>
            </a:pPr>
            <a:r>
              <a:rPr lang="zh-CN" altLang="en-US" sz="2000" spc="5" dirty="0">
                <a:solidFill>
                  <a:srgbClr val="C00000"/>
                </a:solidFill>
                <a:latin typeface="Calibri"/>
                <a:cs typeface="Calibri"/>
              </a:rPr>
              <a:t>写回</a:t>
            </a:r>
            <a:r>
              <a:rPr sz="2000" spc="-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</a:t>
            </a:r>
            <a:r>
              <a:rPr lang="zh-CN" altLang="en-US" sz="2000" dirty="0">
                <a:latin typeface="Calibri"/>
                <a:cs typeface="Calibri"/>
              </a:rPr>
              <a:t>推迟写入内存直到替换算法要驱逐这个更新过的块</a:t>
            </a:r>
            <a:r>
              <a:rPr sz="2000" spc="-5" dirty="0">
                <a:latin typeface="Calibri"/>
                <a:cs typeface="Calibri"/>
              </a:rPr>
              <a:t>)</a:t>
            </a:r>
            <a:endParaRPr sz="2000" dirty="0">
              <a:latin typeface="Calibri"/>
              <a:cs typeface="Calibri"/>
            </a:endParaRPr>
          </a:p>
          <a:p>
            <a:pPr marL="1155700" lvl="2" indent="-228600">
              <a:lnSpc>
                <a:spcPct val="100000"/>
              </a:lnSpc>
              <a:spcBef>
                <a:spcPts val="480"/>
              </a:spcBef>
              <a:buSzPct val="80000"/>
              <a:buFont typeface="Wingdings"/>
              <a:buChar char=""/>
              <a:tabLst>
                <a:tab pos="1155700" algn="l"/>
              </a:tabLst>
            </a:pPr>
            <a:r>
              <a:rPr lang="zh-CN" altLang="en-US" sz="2000" dirty="0">
                <a:latin typeface="Calibri"/>
                <a:cs typeface="Calibri"/>
              </a:rPr>
              <a:t>需要一个额外的修改位</a:t>
            </a:r>
            <a:endParaRPr sz="20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45"/>
              </a:spcBef>
              <a:buClr>
                <a:srgbClr val="990000"/>
              </a:buClr>
              <a:buSzPct val="58333"/>
              <a:buFont typeface="Wingdings 2"/>
              <a:buChar char=""/>
              <a:tabLst>
                <a:tab pos="355600" algn="l"/>
              </a:tabLst>
            </a:pPr>
            <a:r>
              <a:rPr lang="zh-CN" altLang="en-US" sz="2400" b="1" dirty="0">
                <a:latin typeface="Calibri"/>
                <a:cs typeface="Calibri"/>
              </a:rPr>
              <a:t>处理写不命中</a:t>
            </a:r>
            <a:endParaRPr sz="2400" dirty="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505"/>
              </a:spcBef>
              <a:buClr>
                <a:srgbClr val="990000"/>
              </a:buClr>
              <a:buSzPct val="110000"/>
              <a:buFont typeface="Wingdings"/>
              <a:buChar char=""/>
              <a:tabLst>
                <a:tab pos="756920" algn="l"/>
              </a:tabLst>
            </a:pPr>
            <a:r>
              <a:rPr lang="zh-CN" altLang="en-US" sz="2000" spc="5" dirty="0">
                <a:solidFill>
                  <a:srgbClr val="C00000"/>
                </a:solidFill>
                <a:latin typeface="Calibri"/>
                <a:cs typeface="Calibri"/>
              </a:rPr>
              <a:t>写分配</a:t>
            </a:r>
            <a:r>
              <a:rPr sz="2000" spc="1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</a:t>
            </a:r>
            <a:r>
              <a:rPr lang="zh-CN" altLang="en-US" sz="2000" dirty="0">
                <a:latin typeface="Calibri"/>
                <a:cs typeface="Calibri"/>
              </a:rPr>
              <a:t>加载相应的低一层的块到高速缓存中，然后更新这个高速缓存块</a:t>
            </a:r>
            <a:r>
              <a:rPr sz="2000" dirty="0">
                <a:latin typeface="Calibri"/>
                <a:cs typeface="Calibri"/>
              </a:rPr>
              <a:t>)</a:t>
            </a:r>
          </a:p>
          <a:p>
            <a:pPr marL="1155700" lvl="2" indent="-228600">
              <a:lnSpc>
                <a:spcPct val="100000"/>
              </a:lnSpc>
              <a:spcBef>
                <a:spcPts val="480"/>
              </a:spcBef>
              <a:buSzPct val="80000"/>
              <a:buFont typeface="Wingdings"/>
              <a:buChar char=""/>
              <a:tabLst>
                <a:tab pos="1155700" algn="l"/>
              </a:tabLst>
            </a:pPr>
            <a:r>
              <a:rPr lang="zh-CN" altLang="en-US" sz="2000" spc="-5" dirty="0">
                <a:latin typeface="Calibri"/>
                <a:cs typeface="Calibri"/>
              </a:rPr>
              <a:t>在利用写的空间局部性上很好</a:t>
            </a:r>
            <a:endParaRPr sz="2000" dirty="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lr>
                <a:srgbClr val="990000"/>
              </a:buClr>
              <a:buSzPct val="110000"/>
              <a:buFont typeface="Wingdings"/>
              <a:buChar char=""/>
              <a:tabLst>
                <a:tab pos="756920" algn="l"/>
              </a:tabLst>
            </a:pPr>
            <a:r>
              <a:rPr lang="zh-CN" altLang="en-US" sz="2000" dirty="0">
                <a:solidFill>
                  <a:srgbClr val="C00000"/>
                </a:solidFill>
                <a:latin typeface="Calibri"/>
                <a:cs typeface="Calibri"/>
              </a:rPr>
              <a:t>非</a:t>
            </a:r>
            <a:r>
              <a:rPr lang="zh-CN" altLang="en-US" sz="2000" spc="5" dirty="0">
                <a:solidFill>
                  <a:srgbClr val="C00000"/>
                </a:solidFill>
                <a:latin typeface="Calibri"/>
                <a:cs typeface="Calibri"/>
              </a:rPr>
              <a:t>写分配</a:t>
            </a:r>
            <a:r>
              <a:rPr lang="zh-CN" altLang="en-US" sz="2000" spc="1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</a:t>
            </a:r>
            <a:r>
              <a:rPr lang="zh-CN" altLang="en-US" sz="2000" dirty="0">
                <a:latin typeface="Calibri"/>
                <a:cs typeface="Calibri"/>
              </a:rPr>
              <a:t>直接写入到内存，不加载到缓存中</a:t>
            </a:r>
            <a:r>
              <a:rPr sz="2000" dirty="0">
                <a:latin typeface="Calibri"/>
                <a:cs typeface="Calibri"/>
              </a:rPr>
              <a:t>)</a:t>
            </a:r>
          </a:p>
          <a:p>
            <a:pPr marL="355600" indent="-342900">
              <a:lnSpc>
                <a:spcPct val="100000"/>
              </a:lnSpc>
              <a:spcBef>
                <a:spcPts val="545"/>
              </a:spcBef>
              <a:buClr>
                <a:srgbClr val="990000"/>
              </a:buClr>
              <a:buSzPct val="58333"/>
              <a:buFont typeface="Wingdings 2"/>
              <a:buChar char=""/>
              <a:tabLst>
                <a:tab pos="355600" algn="l"/>
              </a:tabLst>
            </a:pPr>
            <a:r>
              <a:rPr lang="zh-CN" altLang="en-US" sz="2400" b="1" spc="-5" dirty="0">
                <a:latin typeface="Calibri"/>
                <a:cs typeface="Calibri"/>
              </a:rPr>
              <a:t>通常的模型</a:t>
            </a:r>
            <a:endParaRPr sz="2400" dirty="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505"/>
              </a:spcBef>
              <a:buClr>
                <a:srgbClr val="990000"/>
              </a:buClr>
              <a:buSzPct val="110000"/>
              <a:buFont typeface="Wingdings"/>
              <a:buChar char=""/>
              <a:tabLst>
                <a:tab pos="756920" algn="l"/>
              </a:tabLst>
            </a:pPr>
            <a:r>
              <a:rPr lang="zh-CN" altLang="en-US" sz="2000" spc="-15" dirty="0">
                <a:latin typeface="Calibri"/>
                <a:cs typeface="Calibri"/>
              </a:rPr>
              <a:t>直写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+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lang="zh-CN" altLang="en-US" sz="2000" spc="-10" dirty="0">
                <a:latin typeface="Calibri"/>
                <a:cs typeface="Calibri"/>
              </a:rPr>
              <a:t>非写分配</a:t>
            </a:r>
            <a:endParaRPr sz="2000" dirty="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lr>
                <a:srgbClr val="990000"/>
              </a:buClr>
              <a:buSzPct val="110000"/>
              <a:buFont typeface="Wingdings"/>
              <a:buChar char=""/>
              <a:tabLst>
                <a:tab pos="756920" algn="l"/>
              </a:tabLst>
            </a:pPr>
            <a:r>
              <a:rPr lang="zh-CN" altLang="en-US" sz="2000" b="1" spc="-5" dirty="0">
                <a:latin typeface="Calibri"/>
                <a:cs typeface="Calibri"/>
              </a:rPr>
              <a:t>写回</a:t>
            </a:r>
            <a:r>
              <a:rPr sz="2000" b="1" spc="-1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+ </a:t>
            </a:r>
            <a:r>
              <a:rPr lang="zh-CN" altLang="en-US" sz="2000" b="1" dirty="0">
                <a:latin typeface="Calibri"/>
                <a:cs typeface="Calibri"/>
              </a:rPr>
              <a:t>写分配</a:t>
            </a:r>
            <a:endParaRPr sz="2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228600" y="1676400"/>
            <a:ext cx="6172200" cy="3886200"/>
          </a:xfrm>
          <a:custGeom>
            <a:avLst/>
            <a:gdLst/>
            <a:ahLst/>
            <a:cxnLst/>
            <a:rect l="l" t="t" r="r" b="b"/>
            <a:pathLst>
              <a:path w="6172200" h="3886200">
                <a:moveTo>
                  <a:pt x="0" y="0"/>
                </a:moveTo>
                <a:lnTo>
                  <a:pt x="6172200" y="0"/>
                </a:lnTo>
                <a:lnTo>
                  <a:pt x="6172200" y="3886200"/>
                </a:lnTo>
                <a:lnTo>
                  <a:pt x="0" y="3886200"/>
                </a:lnTo>
                <a:lnTo>
                  <a:pt x="0" y="0"/>
                </a:lnTo>
                <a:close/>
              </a:path>
            </a:pathLst>
          </a:custGeom>
          <a:solidFill>
            <a:srgbClr val="D5F1C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28600" y="1676400"/>
            <a:ext cx="6172200" cy="3886200"/>
          </a:xfrm>
          <a:custGeom>
            <a:avLst/>
            <a:gdLst/>
            <a:ahLst/>
            <a:cxnLst/>
            <a:rect l="l" t="t" r="r" b="b"/>
            <a:pathLst>
              <a:path w="6172200" h="3886200">
                <a:moveTo>
                  <a:pt x="0" y="0"/>
                </a:moveTo>
                <a:lnTo>
                  <a:pt x="6172200" y="0"/>
                </a:lnTo>
                <a:lnTo>
                  <a:pt x="6172200" y="3886200"/>
                </a:lnTo>
                <a:lnTo>
                  <a:pt x="0" y="38862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81000" y="1981200"/>
            <a:ext cx="2122805" cy="2438400"/>
          </a:xfrm>
          <a:custGeom>
            <a:avLst/>
            <a:gdLst/>
            <a:ahLst/>
            <a:cxnLst/>
            <a:rect l="l" t="t" r="r" b="b"/>
            <a:pathLst>
              <a:path w="2122805" h="2438400">
                <a:moveTo>
                  <a:pt x="0" y="0"/>
                </a:moveTo>
                <a:lnTo>
                  <a:pt x="2122487" y="0"/>
                </a:lnTo>
                <a:lnTo>
                  <a:pt x="2122487" y="2438400"/>
                </a:lnTo>
                <a:lnTo>
                  <a:pt x="0" y="2438400"/>
                </a:lnTo>
                <a:lnTo>
                  <a:pt x="0" y="0"/>
                </a:lnTo>
                <a:close/>
              </a:path>
            </a:pathLst>
          </a:custGeom>
          <a:solidFill>
            <a:srgbClr val="F6F5B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81000" y="1981200"/>
            <a:ext cx="2122805" cy="2438400"/>
          </a:xfrm>
          <a:custGeom>
            <a:avLst/>
            <a:gdLst/>
            <a:ahLst/>
            <a:cxnLst/>
            <a:rect l="l" t="t" r="r" b="b"/>
            <a:pathLst>
              <a:path w="2122805" h="2438400">
                <a:moveTo>
                  <a:pt x="0" y="0"/>
                </a:moveTo>
                <a:lnTo>
                  <a:pt x="2122487" y="0"/>
                </a:lnTo>
                <a:lnTo>
                  <a:pt x="2122487" y="2438400"/>
                </a:lnTo>
                <a:lnTo>
                  <a:pt x="0" y="24384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114800" y="1981200"/>
            <a:ext cx="2122805" cy="2438400"/>
          </a:xfrm>
          <a:custGeom>
            <a:avLst/>
            <a:gdLst/>
            <a:ahLst/>
            <a:cxnLst/>
            <a:rect l="l" t="t" r="r" b="b"/>
            <a:pathLst>
              <a:path w="2122804" h="2438400">
                <a:moveTo>
                  <a:pt x="0" y="0"/>
                </a:moveTo>
                <a:lnTo>
                  <a:pt x="2122487" y="0"/>
                </a:lnTo>
                <a:lnTo>
                  <a:pt x="2122487" y="2438400"/>
                </a:lnTo>
                <a:lnTo>
                  <a:pt x="0" y="2438400"/>
                </a:lnTo>
                <a:lnTo>
                  <a:pt x="0" y="0"/>
                </a:lnTo>
                <a:close/>
              </a:path>
            </a:pathLst>
          </a:custGeom>
          <a:solidFill>
            <a:srgbClr val="F6F5B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114800" y="1981200"/>
            <a:ext cx="2122805" cy="2438400"/>
          </a:xfrm>
          <a:custGeom>
            <a:avLst/>
            <a:gdLst/>
            <a:ahLst/>
            <a:cxnLst/>
            <a:rect l="l" t="t" r="r" b="b"/>
            <a:pathLst>
              <a:path w="2122804" h="2438400">
                <a:moveTo>
                  <a:pt x="0" y="0"/>
                </a:moveTo>
                <a:lnTo>
                  <a:pt x="2122487" y="0"/>
                </a:lnTo>
                <a:lnTo>
                  <a:pt x="2122487" y="2438400"/>
                </a:lnTo>
                <a:lnTo>
                  <a:pt x="0" y="24384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374650" y="330564"/>
            <a:ext cx="7591425" cy="843822"/>
          </a:xfrm>
          <a:prstGeom prst="rect">
            <a:avLst/>
          </a:prstGeom>
        </p:spPr>
        <p:txBody>
          <a:bodyPr vert="horz" wrap="square" lIns="0" tIns="287021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Intel</a:t>
            </a:r>
            <a:r>
              <a:rPr spc="15" dirty="0"/>
              <a:t> </a:t>
            </a:r>
            <a:r>
              <a:rPr dirty="0"/>
              <a:t>C</a:t>
            </a:r>
            <a:r>
              <a:rPr spc="-10" dirty="0"/>
              <a:t>o</a:t>
            </a:r>
            <a:r>
              <a:rPr dirty="0"/>
              <a:t>re</a:t>
            </a:r>
            <a:r>
              <a:rPr spc="-25" dirty="0"/>
              <a:t> </a:t>
            </a:r>
            <a:r>
              <a:rPr spc="-5" dirty="0"/>
              <a:t>i7</a:t>
            </a:r>
            <a:r>
              <a:rPr dirty="0"/>
              <a:t> </a:t>
            </a:r>
            <a:r>
              <a:rPr lang="zh-CN" altLang="en-US" dirty="0"/>
              <a:t>的高速缓存层次结构</a:t>
            </a:r>
            <a:endParaRPr spc="-5" dirty="0"/>
          </a:p>
        </p:txBody>
      </p:sp>
      <p:sp>
        <p:nvSpPr>
          <p:cNvPr id="10" name="object 10"/>
          <p:cNvSpPr/>
          <p:nvPr/>
        </p:nvSpPr>
        <p:spPr>
          <a:xfrm>
            <a:off x="546100" y="2133600"/>
            <a:ext cx="977900" cy="304800"/>
          </a:xfrm>
          <a:custGeom>
            <a:avLst/>
            <a:gdLst/>
            <a:ahLst/>
            <a:cxnLst/>
            <a:rect l="l" t="t" r="r" b="b"/>
            <a:pathLst>
              <a:path w="977900" h="304800">
                <a:moveTo>
                  <a:pt x="0" y="0"/>
                </a:moveTo>
                <a:lnTo>
                  <a:pt x="977900" y="0"/>
                </a:lnTo>
                <a:lnTo>
                  <a:pt x="9779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46100" y="2133600"/>
            <a:ext cx="977900" cy="304800"/>
          </a:xfrm>
          <a:custGeom>
            <a:avLst/>
            <a:gdLst/>
            <a:ahLst/>
            <a:cxnLst/>
            <a:rect l="l" t="t" r="r" b="b"/>
            <a:pathLst>
              <a:path w="977900" h="304800">
                <a:moveTo>
                  <a:pt x="0" y="0"/>
                </a:moveTo>
                <a:lnTo>
                  <a:pt x="977900" y="0"/>
                </a:lnTo>
                <a:lnTo>
                  <a:pt x="9779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88962" y="2781300"/>
            <a:ext cx="782955" cy="571500"/>
          </a:xfrm>
          <a:custGeom>
            <a:avLst/>
            <a:gdLst/>
            <a:ahLst/>
            <a:cxnLst/>
            <a:rect l="l" t="t" r="r" b="b"/>
            <a:pathLst>
              <a:path w="782955" h="571500">
                <a:moveTo>
                  <a:pt x="0" y="0"/>
                </a:moveTo>
                <a:lnTo>
                  <a:pt x="782637" y="0"/>
                </a:lnTo>
                <a:lnTo>
                  <a:pt x="782637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F1C7C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88962" y="2781300"/>
            <a:ext cx="782955" cy="571500"/>
          </a:xfrm>
          <a:custGeom>
            <a:avLst/>
            <a:gdLst/>
            <a:ahLst/>
            <a:cxnLst/>
            <a:rect l="l" t="t" r="r" b="b"/>
            <a:pathLst>
              <a:path w="782955" h="571500">
                <a:moveTo>
                  <a:pt x="0" y="0"/>
                </a:moveTo>
                <a:lnTo>
                  <a:pt x="782637" y="0"/>
                </a:lnTo>
                <a:lnTo>
                  <a:pt x="782637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524000" y="2781300"/>
            <a:ext cx="795655" cy="571500"/>
          </a:xfrm>
          <a:custGeom>
            <a:avLst/>
            <a:gdLst/>
            <a:ahLst/>
            <a:cxnLst/>
            <a:rect l="l" t="t" r="r" b="b"/>
            <a:pathLst>
              <a:path w="795655" h="571500">
                <a:moveTo>
                  <a:pt x="0" y="0"/>
                </a:moveTo>
                <a:lnTo>
                  <a:pt x="795337" y="0"/>
                </a:lnTo>
                <a:lnTo>
                  <a:pt x="795337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DEDF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524000" y="2781300"/>
            <a:ext cx="795655" cy="571500"/>
          </a:xfrm>
          <a:custGeom>
            <a:avLst/>
            <a:gdLst/>
            <a:ahLst/>
            <a:cxnLst/>
            <a:rect l="l" t="t" r="r" b="b"/>
            <a:pathLst>
              <a:path w="795655" h="571500">
                <a:moveTo>
                  <a:pt x="0" y="0"/>
                </a:moveTo>
                <a:lnTo>
                  <a:pt x="795337" y="0"/>
                </a:lnTo>
                <a:lnTo>
                  <a:pt x="795337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574260" y="2821939"/>
            <a:ext cx="694055" cy="5283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46990" algn="ctr">
              <a:lnSpc>
                <a:spcPct val="100000"/>
              </a:lnSpc>
            </a:pPr>
            <a:r>
              <a:rPr sz="1800" b="1" spc="-15" dirty="0">
                <a:latin typeface="Calibri"/>
                <a:cs typeface="Calibri"/>
              </a:rPr>
              <a:t>L1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800" b="1" spc="-5" dirty="0">
                <a:latin typeface="Calibri"/>
                <a:cs typeface="Calibri"/>
              </a:rPr>
              <a:t>i</a:t>
            </a:r>
            <a:r>
              <a:rPr sz="1800" b="1" dirty="0">
                <a:latin typeface="Calibri"/>
                <a:cs typeface="Calibri"/>
              </a:rPr>
              <a:t>-</a:t>
            </a:r>
            <a:r>
              <a:rPr sz="1800" b="1" spc="-10" dirty="0">
                <a:latin typeface="Calibri"/>
                <a:cs typeface="Calibri"/>
              </a:rPr>
              <a:t>c</a:t>
            </a:r>
            <a:r>
              <a:rPr sz="1800" b="1" spc="-5" dirty="0">
                <a:latin typeface="Calibri"/>
                <a:cs typeface="Calibri"/>
              </a:rPr>
              <a:t>a</a:t>
            </a:r>
            <a:r>
              <a:rPr sz="1800" b="1" dirty="0">
                <a:latin typeface="Calibri"/>
                <a:cs typeface="Calibri"/>
              </a:rPr>
              <a:t>che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09600" y="3695700"/>
            <a:ext cx="1710055" cy="571500"/>
          </a:xfrm>
          <a:custGeom>
            <a:avLst/>
            <a:gdLst/>
            <a:ahLst/>
            <a:cxnLst/>
            <a:rect l="l" t="t" r="r" b="b"/>
            <a:pathLst>
              <a:path w="1710055" h="571500">
                <a:moveTo>
                  <a:pt x="0" y="0"/>
                </a:moveTo>
                <a:lnTo>
                  <a:pt x="1709737" y="0"/>
                </a:lnTo>
                <a:lnTo>
                  <a:pt x="1709737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F1C7C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09600" y="3695700"/>
            <a:ext cx="1710055" cy="571500"/>
          </a:xfrm>
          <a:custGeom>
            <a:avLst/>
            <a:gdLst/>
            <a:ahLst/>
            <a:cxnLst/>
            <a:rect l="l" t="t" r="r" b="b"/>
            <a:pathLst>
              <a:path w="1710055" h="571500">
                <a:moveTo>
                  <a:pt x="0" y="0"/>
                </a:moveTo>
                <a:lnTo>
                  <a:pt x="1709737" y="0"/>
                </a:lnTo>
                <a:lnTo>
                  <a:pt x="1709737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688815" y="3723501"/>
            <a:ext cx="1630839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15" dirty="0">
                <a:latin typeface="Calibri"/>
                <a:cs typeface="Calibri"/>
              </a:rPr>
              <a:t>L</a:t>
            </a:r>
            <a:r>
              <a:rPr sz="1800" b="1" spc="-5" dirty="0">
                <a:latin typeface="Calibri"/>
                <a:cs typeface="Calibri"/>
              </a:rPr>
              <a:t>2</a:t>
            </a:r>
            <a:r>
              <a:rPr sz="1800" b="1" spc="10" dirty="0">
                <a:latin typeface="Calibri"/>
                <a:cs typeface="Calibri"/>
              </a:rPr>
              <a:t> </a:t>
            </a:r>
            <a:r>
              <a:rPr lang="zh-CN" altLang="en-US" b="1" spc="10" dirty="0">
                <a:latin typeface="Calibri"/>
                <a:cs typeface="Calibri"/>
              </a:rPr>
              <a:t>统一的高速缓存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066800" y="2438400"/>
            <a:ext cx="0" cy="342900"/>
          </a:xfrm>
          <a:custGeom>
            <a:avLst/>
            <a:gdLst/>
            <a:ahLst/>
            <a:cxnLst/>
            <a:rect l="l" t="t" r="r" b="b"/>
            <a:pathLst>
              <a:path h="342900">
                <a:moveTo>
                  <a:pt x="0" y="0"/>
                </a:moveTo>
                <a:lnTo>
                  <a:pt x="0" y="3429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066800" y="3352800"/>
            <a:ext cx="0" cy="342900"/>
          </a:xfrm>
          <a:custGeom>
            <a:avLst/>
            <a:gdLst/>
            <a:ahLst/>
            <a:cxnLst/>
            <a:rect l="l" t="t" r="r" b="b"/>
            <a:pathLst>
              <a:path h="342900">
                <a:moveTo>
                  <a:pt x="0" y="0"/>
                </a:moveTo>
                <a:lnTo>
                  <a:pt x="0" y="3429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905000" y="3352800"/>
            <a:ext cx="0" cy="342900"/>
          </a:xfrm>
          <a:custGeom>
            <a:avLst/>
            <a:gdLst/>
            <a:ahLst/>
            <a:cxnLst/>
            <a:rect l="l" t="t" r="r" b="b"/>
            <a:pathLst>
              <a:path h="342900">
                <a:moveTo>
                  <a:pt x="0" y="0"/>
                </a:moveTo>
                <a:lnTo>
                  <a:pt x="0" y="3429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279900" y="2133600"/>
            <a:ext cx="977900" cy="304800"/>
          </a:xfrm>
          <a:custGeom>
            <a:avLst/>
            <a:gdLst/>
            <a:ahLst/>
            <a:cxnLst/>
            <a:rect l="l" t="t" r="r" b="b"/>
            <a:pathLst>
              <a:path w="977900" h="304800">
                <a:moveTo>
                  <a:pt x="0" y="0"/>
                </a:moveTo>
                <a:lnTo>
                  <a:pt x="977900" y="0"/>
                </a:lnTo>
                <a:lnTo>
                  <a:pt x="9779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279900" y="2133600"/>
            <a:ext cx="977900" cy="304800"/>
          </a:xfrm>
          <a:custGeom>
            <a:avLst/>
            <a:gdLst/>
            <a:ahLst/>
            <a:cxnLst/>
            <a:rect l="l" t="t" r="r" b="b"/>
            <a:pathLst>
              <a:path w="977900" h="304800">
                <a:moveTo>
                  <a:pt x="0" y="0"/>
                </a:moveTo>
                <a:lnTo>
                  <a:pt x="977900" y="0"/>
                </a:lnTo>
                <a:lnTo>
                  <a:pt x="9779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322762" y="2781300"/>
            <a:ext cx="782955" cy="571500"/>
          </a:xfrm>
          <a:custGeom>
            <a:avLst/>
            <a:gdLst/>
            <a:ahLst/>
            <a:cxnLst/>
            <a:rect l="l" t="t" r="r" b="b"/>
            <a:pathLst>
              <a:path w="782954" h="571500">
                <a:moveTo>
                  <a:pt x="0" y="0"/>
                </a:moveTo>
                <a:lnTo>
                  <a:pt x="782637" y="0"/>
                </a:lnTo>
                <a:lnTo>
                  <a:pt x="782637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F1C7C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322762" y="2781300"/>
            <a:ext cx="782955" cy="571500"/>
          </a:xfrm>
          <a:custGeom>
            <a:avLst/>
            <a:gdLst/>
            <a:ahLst/>
            <a:cxnLst/>
            <a:rect l="l" t="t" r="r" b="b"/>
            <a:pathLst>
              <a:path w="782954" h="571500">
                <a:moveTo>
                  <a:pt x="0" y="0"/>
                </a:moveTo>
                <a:lnTo>
                  <a:pt x="782637" y="0"/>
                </a:lnTo>
                <a:lnTo>
                  <a:pt x="782637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4334922" y="2821939"/>
            <a:ext cx="761365" cy="5283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165" algn="ctr">
              <a:lnSpc>
                <a:spcPct val="100000"/>
              </a:lnSpc>
            </a:pPr>
            <a:r>
              <a:rPr sz="1800" b="1" spc="-15" dirty="0">
                <a:latin typeface="Calibri"/>
                <a:cs typeface="Calibri"/>
              </a:rPr>
              <a:t>L1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800" b="1" dirty="0">
                <a:latin typeface="Calibri"/>
                <a:cs typeface="Calibri"/>
              </a:rPr>
              <a:t>d-</a:t>
            </a:r>
            <a:r>
              <a:rPr sz="1800" b="1" spc="-10" dirty="0">
                <a:latin typeface="Calibri"/>
                <a:cs typeface="Calibri"/>
              </a:rPr>
              <a:t>c</a:t>
            </a:r>
            <a:r>
              <a:rPr sz="1800" b="1" spc="-5" dirty="0">
                <a:latin typeface="Calibri"/>
                <a:cs typeface="Calibri"/>
              </a:rPr>
              <a:t>a</a:t>
            </a:r>
            <a:r>
              <a:rPr sz="1800" b="1" dirty="0">
                <a:latin typeface="Calibri"/>
                <a:cs typeface="Calibri"/>
              </a:rPr>
              <a:t>che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5257800" y="2781300"/>
            <a:ext cx="795655" cy="571500"/>
          </a:xfrm>
          <a:custGeom>
            <a:avLst/>
            <a:gdLst/>
            <a:ahLst/>
            <a:cxnLst/>
            <a:rect l="l" t="t" r="r" b="b"/>
            <a:pathLst>
              <a:path w="795654" h="571500">
                <a:moveTo>
                  <a:pt x="0" y="0"/>
                </a:moveTo>
                <a:lnTo>
                  <a:pt x="795337" y="0"/>
                </a:lnTo>
                <a:lnTo>
                  <a:pt x="795337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DEDF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5257800" y="2781300"/>
            <a:ext cx="795655" cy="571500"/>
          </a:xfrm>
          <a:custGeom>
            <a:avLst/>
            <a:gdLst/>
            <a:ahLst/>
            <a:cxnLst/>
            <a:rect l="l" t="t" r="r" b="b"/>
            <a:pathLst>
              <a:path w="795654" h="571500">
                <a:moveTo>
                  <a:pt x="0" y="0"/>
                </a:moveTo>
                <a:lnTo>
                  <a:pt x="795337" y="0"/>
                </a:lnTo>
                <a:lnTo>
                  <a:pt x="795337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5308060" y="2821939"/>
            <a:ext cx="694055" cy="5283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46990" algn="ctr">
              <a:lnSpc>
                <a:spcPct val="100000"/>
              </a:lnSpc>
            </a:pPr>
            <a:r>
              <a:rPr sz="1800" b="1" spc="-15" dirty="0">
                <a:latin typeface="Calibri"/>
                <a:cs typeface="Calibri"/>
              </a:rPr>
              <a:t>L1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800" b="1" spc="-5" dirty="0">
                <a:latin typeface="Calibri"/>
                <a:cs typeface="Calibri"/>
              </a:rPr>
              <a:t>i</a:t>
            </a:r>
            <a:r>
              <a:rPr sz="1800" b="1" dirty="0">
                <a:latin typeface="Calibri"/>
                <a:cs typeface="Calibri"/>
              </a:rPr>
              <a:t>-</a:t>
            </a:r>
            <a:r>
              <a:rPr sz="1800" b="1" spc="-10" dirty="0">
                <a:latin typeface="Calibri"/>
                <a:cs typeface="Calibri"/>
              </a:rPr>
              <a:t>c</a:t>
            </a:r>
            <a:r>
              <a:rPr sz="1800" b="1" spc="-5" dirty="0">
                <a:latin typeface="Calibri"/>
                <a:cs typeface="Calibri"/>
              </a:rPr>
              <a:t>a</a:t>
            </a:r>
            <a:r>
              <a:rPr sz="1800" b="1" dirty="0">
                <a:latin typeface="Calibri"/>
                <a:cs typeface="Calibri"/>
              </a:rPr>
              <a:t>che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4343400" y="3695700"/>
            <a:ext cx="1710055" cy="571500"/>
          </a:xfrm>
          <a:custGeom>
            <a:avLst/>
            <a:gdLst/>
            <a:ahLst/>
            <a:cxnLst/>
            <a:rect l="l" t="t" r="r" b="b"/>
            <a:pathLst>
              <a:path w="1710054" h="571500">
                <a:moveTo>
                  <a:pt x="0" y="0"/>
                </a:moveTo>
                <a:lnTo>
                  <a:pt x="1709737" y="0"/>
                </a:lnTo>
                <a:lnTo>
                  <a:pt x="1709737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F1C7C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343400" y="3695700"/>
            <a:ext cx="1710055" cy="571500"/>
          </a:xfrm>
          <a:custGeom>
            <a:avLst/>
            <a:gdLst/>
            <a:ahLst/>
            <a:cxnLst/>
            <a:rect l="l" t="t" r="r" b="b"/>
            <a:pathLst>
              <a:path w="1710054" h="571500">
                <a:moveTo>
                  <a:pt x="0" y="0"/>
                </a:moveTo>
                <a:lnTo>
                  <a:pt x="1709737" y="0"/>
                </a:lnTo>
                <a:lnTo>
                  <a:pt x="1709737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4800600" y="2438400"/>
            <a:ext cx="0" cy="342900"/>
          </a:xfrm>
          <a:custGeom>
            <a:avLst/>
            <a:gdLst/>
            <a:ahLst/>
            <a:cxnLst/>
            <a:rect l="l" t="t" r="r" b="b"/>
            <a:pathLst>
              <a:path h="342900">
                <a:moveTo>
                  <a:pt x="0" y="0"/>
                </a:moveTo>
                <a:lnTo>
                  <a:pt x="0" y="3429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4800600" y="3352800"/>
            <a:ext cx="0" cy="342900"/>
          </a:xfrm>
          <a:custGeom>
            <a:avLst/>
            <a:gdLst/>
            <a:ahLst/>
            <a:cxnLst/>
            <a:rect l="l" t="t" r="r" b="b"/>
            <a:pathLst>
              <a:path h="342900">
                <a:moveTo>
                  <a:pt x="0" y="0"/>
                </a:moveTo>
                <a:lnTo>
                  <a:pt x="0" y="3429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5638800" y="3352800"/>
            <a:ext cx="0" cy="342900"/>
          </a:xfrm>
          <a:custGeom>
            <a:avLst/>
            <a:gdLst/>
            <a:ahLst/>
            <a:cxnLst/>
            <a:rect l="l" t="t" r="r" b="b"/>
            <a:pathLst>
              <a:path h="342900">
                <a:moveTo>
                  <a:pt x="0" y="0"/>
                </a:moveTo>
                <a:lnTo>
                  <a:pt x="0" y="3429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3157886" y="3101831"/>
            <a:ext cx="351155" cy="482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b="1" dirty="0">
                <a:latin typeface="Calibri"/>
                <a:cs typeface="Calibri"/>
              </a:rPr>
              <a:t>…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1447800" y="4267200"/>
            <a:ext cx="0" cy="533400"/>
          </a:xfrm>
          <a:custGeom>
            <a:avLst/>
            <a:gdLst/>
            <a:ahLst/>
            <a:cxnLst/>
            <a:rect l="l" t="t" r="r" b="b"/>
            <a:pathLst>
              <a:path h="533400">
                <a:moveTo>
                  <a:pt x="0" y="0"/>
                </a:moveTo>
                <a:lnTo>
                  <a:pt x="0" y="5334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5181600" y="4267200"/>
            <a:ext cx="0" cy="533400"/>
          </a:xfrm>
          <a:custGeom>
            <a:avLst/>
            <a:gdLst/>
            <a:ahLst/>
            <a:cxnLst/>
            <a:rect l="l" t="t" r="r" b="b"/>
            <a:pathLst>
              <a:path h="533400">
                <a:moveTo>
                  <a:pt x="0" y="0"/>
                </a:moveTo>
                <a:lnTo>
                  <a:pt x="0" y="5334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1098550" y="4800600"/>
            <a:ext cx="4387850" cy="571500"/>
          </a:xfrm>
          <a:custGeom>
            <a:avLst/>
            <a:gdLst/>
            <a:ahLst/>
            <a:cxnLst/>
            <a:rect l="l" t="t" r="r" b="b"/>
            <a:pathLst>
              <a:path w="4387850" h="571500">
                <a:moveTo>
                  <a:pt x="0" y="0"/>
                </a:moveTo>
                <a:lnTo>
                  <a:pt x="4387850" y="0"/>
                </a:lnTo>
                <a:lnTo>
                  <a:pt x="438785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F1C7C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1098550" y="4800600"/>
            <a:ext cx="4387850" cy="571500"/>
          </a:xfrm>
          <a:custGeom>
            <a:avLst/>
            <a:gdLst/>
            <a:ahLst/>
            <a:cxnLst/>
            <a:rect l="l" t="t" r="r" b="b"/>
            <a:pathLst>
              <a:path w="4387850" h="571500">
                <a:moveTo>
                  <a:pt x="0" y="0"/>
                </a:moveTo>
                <a:lnTo>
                  <a:pt x="4387850" y="0"/>
                </a:lnTo>
                <a:lnTo>
                  <a:pt x="438785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2036660" y="4830802"/>
            <a:ext cx="2670379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184150" algn="ctr"/>
            <a:r>
              <a:rPr sz="1800" b="1" spc="-15" dirty="0">
                <a:latin typeface="Calibri"/>
                <a:cs typeface="Calibri"/>
              </a:rPr>
              <a:t>L</a:t>
            </a:r>
            <a:r>
              <a:rPr sz="1800" b="1" spc="-5" dirty="0">
                <a:latin typeface="Calibri"/>
                <a:cs typeface="Calibri"/>
              </a:rPr>
              <a:t>3</a:t>
            </a:r>
            <a:r>
              <a:rPr lang="zh-CN" altLang="en-US" b="1" spc="10" dirty="0">
                <a:latin typeface="Calibri"/>
                <a:cs typeface="Calibri"/>
              </a:rPr>
              <a:t>统一的高速缓存</a:t>
            </a:r>
            <a:endParaRPr lang="zh-CN" altLang="en-US" dirty="0">
              <a:latin typeface="Calibri"/>
              <a:cs typeface="Calibri"/>
            </a:endParaRPr>
          </a:p>
          <a:p>
            <a:pPr marL="12700" marR="5080" indent="184150" algn="ctr">
              <a:lnSpc>
                <a:spcPct val="100000"/>
              </a:lnSpc>
            </a:pPr>
            <a:r>
              <a:rPr sz="1800" b="1" spc="-5" dirty="0">
                <a:latin typeface="Calibri"/>
                <a:cs typeface="Calibri"/>
              </a:rPr>
              <a:t>(</a:t>
            </a:r>
            <a:r>
              <a:rPr lang="zh-CN" altLang="en-US" sz="1800" b="1" spc="-5" dirty="0">
                <a:latin typeface="Calibri"/>
                <a:cs typeface="Calibri"/>
              </a:rPr>
              <a:t>所有的核共享</a:t>
            </a:r>
            <a:r>
              <a:rPr sz="1800" b="1" spc="-5" dirty="0">
                <a:latin typeface="Calibri"/>
                <a:cs typeface="Calibri"/>
              </a:rPr>
              <a:t>)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228600" y="6057900"/>
            <a:ext cx="6172200" cy="571500"/>
          </a:xfrm>
          <a:custGeom>
            <a:avLst/>
            <a:gdLst/>
            <a:ahLst/>
            <a:cxnLst/>
            <a:rect l="l" t="t" r="r" b="b"/>
            <a:pathLst>
              <a:path w="6172200" h="571500">
                <a:moveTo>
                  <a:pt x="0" y="0"/>
                </a:moveTo>
                <a:lnTo>
                  <a:pt x="6172200" y="0"/>
                </a:lnTo>
                <a:lnTo>
                  <a:pt x="61722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D5F1C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228600" y="6057900"/>
            <a:ext cx="6172200" cy="571500"/>
          </a:xfrm>
          <a:custGeom>
            <a:avLst/>
            <a:gdLst/>
            <a:ahLst/>
            <a:cxnLst/>
            <a:rect l="l" t="t" r="r" b="b"/>
            <a:pathLst>
              <a:path w="6172200" h="571500">
                <a:moveTo>
                  <a:pt x="0" y="0"/>
                </a:moveTo>
                <a:lnTo>
                  <a:pt x="6172200" y="0"/>
                </a:lnTo>
                <a:lnTo>
                  <a:pt x="61722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2700655" y="6235700"/>
            <a:ext cx="1369695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lang="zh-CN" altLang="en-US" sz="1800" dirty="0">
                <a:latin typeface="Calibri"/>
                <a:cs typeface="Calibri"/>
              </a:rPr>
              <a:t>主存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3371850" y="5372100"/>
            <a:ext cx="0" cy="685800"/>
          </a:xfrm>
          <a:custGeom>
            <a:avLst/>
            <a:gdLst/>
            <a:ahLst/>
            <a:cxnLst/>
            <a:rect l="l" t="t" r="r" b="b"/>
            <a:pathLst>
              <a:path h="685800">
                <a:moveTo>
                  <a:pt x="0" y="0"/>
                </a:moveTo>
                <a:lnTo>
                  <a:pt x="0" y="6858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231140" y="1383030"/>
            <a:ext cx="4770755" cy="10874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zh-CN" altLang="en-US" sz="1800" b="1" dirty="0">
                <a:latin typeface="Calibri"/>
                <a:cs typeface="Calibri"/>
              </a:rPr>
              <a:t>处理器封装</a:t>
            </a:r>
            <a:endParaRPr sz="1800" dirty="0">
              <a:latin typeface="Calibri"/>
              <a:cs typeface="Calibri"/>
            </a:endParaRPr>
          </a:p>
          <a:p>
            <a:pPr marL="165100">
              <a:lnSpc>
                <a:spcPct val="100000"/>
              </a:lnSpc>
              <a:spcBef>
                <a:spcPts val="840"/>
              </a:spcBef>
              <a:tabLst>
                <a:tab pos="3898265" algn="l"/>
              </a:tabLst>
            </a:pPr>
            <a:r>
              <a:rPr lang="zh-CN" altLang="en-US" sz="1800" b="1" spc="-5" dirty="0">
                <a:latin typeface="Calibri"/>
                <a:cs typeface="Calibri"/>
              </a:rPr>
              <a:t>核</a:t>
            </a:r>
            <a:r>
              <a:rPr sz="1800" b="1" spc="-5" dirty="0">
                <a:latin typeface="Calibri"/>
                <a:cs typeface="Calibri"/>
              </a:rPr>
              <a:t>0</a:t>
            </a:r>
            <a:r>
              <a:rPr sz="1800" b="1" dirty="0">
                <a:latin typeface="Calibri"/>
                <a:cs typeface="Calibri"/>
              </a:rPr>
              <a:t>	</a:t>
            </a:r>
            <a:r>
              <a:rPr lang="zh-CN" altLang="en-US" sz="1800" b="1" dirty="0">
                <a:latin typeface="Calibri"/>
                <a:cs typeface="Calibri"/>
              </a:rPr>
              <a:t>核</a:t>
            </a:r>
            <a:r>
              <a:rPr sz="1800" b="1" spc="-5" dirty="0">
                <a:latin typeface="Calibri"/>
                <a:cs typeface="Calibri"/>
              </a:rPr>
              <a:t>3</a:t>
            </a:r>
            <a:endParaRPr sz="1800" dirty="0">
              <a:latin typeface="Calibri"/>
              <a:cs typeface="Calibri"/>
            </a:endParaRPr>
          </a:p>
          <a:p>
            <a:pPr marL="583565">
              <a:lnSpc>
                <a:spcPct val="100000"/>
              </a:lnSpc>
              <a:spcBef>
                <a:spcPts val="1200"/>
              </a:spcBef>
              <a:tabLst>
                <a:tab pos="4317365" algn="l"/>
              </a:tabLst>
            </a:pPr>
            <a:r>
              <a:rPr sz="1800" b="1" spc="-30" dirty="0">
                <a:latin typeface="Calibri"/>
                <a:cs typeface="Calibri"/>
              </a:rPr>
              <a:t>R</a:t>
            </a:r>
            <a:r>
              <a:rPr sz="1800" b="1" spc="5" dirty="0">
                <a:latin typeface="Calibri"/>
                <a:cs typeface="Calibri"/>
              </a:rPr>
              <a:t>e</a:t>
            </a:r>
            <a:r>
              <a:rPr sz="1800" b="1" spc="-5" dirty="0">
                <a:latin typeface="Calibri"/>
                <a:cs typeface="Calibri"/>
              </a:rPr>
              <a:t>gs</a:t>
            </a:r>
            <a:r>
              <a:rPr sz="1800" b="1" dirty="0">
                <a:latin typeface="Calibri"/>
                <a:cs typeface="Calibri"/>
              </a:rPr>
              <a:t>	</a:t>
            </a:r>
            <a:r>
              <a:rPr sz="1800" b="1" spc="-30" dirty="0">
                <a:latin typeface="Calibri"/>
                <a:cs typeface="Calibri"/>
              </a:rPr>
              <a:t>R</a:t>
            </a:r>
            <a:r>
              <a:rPr sz="1800" b="1" spc="5" dirty="0">
                <a:latin typeface="Calibri"/>
                <a:cs typeface="Calibri"/>
              </a:rPr>
              <a:t>e</a:t>
            </a:r>
            <a:r>
              <a:rPr sz="1800" b="1" spc="-5" dirty="0">
                <a:latin typeface="Calibri"/>
                <a:cs typeface="Calibri"/>
              </a:rPr>
              <a:t>gs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601122" y="2821939"/>
            <a:ext cx="761365" cy="5283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165" algn="ctr">
              <a:lnSpc>
                <a:spcPct val="100000"/>
              </a:lnSpc>
            </a:pPr>
            <a:r>
              <a:rPr sz="1800" b="1" spc="-15" dirty="0">
                <a:latin typeface="Calibri"/>
                <a:cs typeface="Calibri"/>
              </a:rPr>
              <a:t>L1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800" b="1" dirty="0">
                <a:latin typeface="Calibri"/>
                <a:cs typeface="Calibri"/>
              </a:rPr>
              <a:t>d-</a:t>
            </a:r>
            <a:r>
              <a:rPr sz="1800" b="1" spc="-10" dirty="0">
                <a:latin typeface="Calibri"/>
                <a:cs typeface="Calibri"/>
              </a:rPr>
              <a:t>c</a:t>
            </a:r>
            <a:r>
              <a:rPr sz="1800" b="1" spc="-5" dirty="0">
                <a:latin typeface="Calibri"/>
                <a:cs typeface="Calibri"/>
              </a:rPr>
              <a:t>a</a:t>
            </a:r>
            <a:r>
              <a:rPr sz="1800" b="1" dirty="0">
                <a:latin typeface="Calibri"/>
                <a:cs typeface="Calibri"/>
              </a:rPr>
              <a:t>che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6631940" y="1751406"/>
            <a:ext cx="2214880" cy="802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spc="-15" dirty="0">
                <a:latin typeface="Calibri"/>
                <a:cs typeface="Calibri"/>
              </a:rPr>
              <a:t>L</a:t>
            </a:r>
            <a:r>
              <a:rPr sz="1800" b="1" spc="-5" dirty="0">
                <a:latin typeface="Calibri"/>
                <a:cs typeface="Calibri"/>
              </a:rPr>
              <a:t>1</a:t>
            </a:r>
            <a:r>
              <a:rPr sz="1800" b="1" spc="10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i</a:t>
            </a:r>
            <a:r>
              <a:rPr sz="1800" b="1" dirty="0">
                <a:latin typeface="Calibri"/>
                <a:cs typeface="Calibri"/>
              </a:rPr>
              <a:t>-</a:t>
            </a:r>
            <a:r>
              <a:rPr sz="1800" b="1" spc="-10" dirty="0">
                <a:latin typeface="Calibri"/>
                <a:cs typeface="Calibri"/>
              </a:rPr>
              <a:t>ca</a:t>
            </a:r>
            <a:r>
              <a:rPr sz="1800" b="1" dirty="0">
                <a:latin typeface="Calibri"/>
                <a:cs typeface="Calibri"/>
              </a:rPr>
              <a:t>c</a:t>
            </a:r>
            <a:r>
              <a:rPr sz="1800" b="1" spc="5" dirty="0">
                <a:latin typeface="Calibri"/>
                <a:cs typeface="Calibri"/>
              </a:rPr>
              <a:t>h</a:t>
            </a:r>
            <a:r>
              <a:rPr sz="1800" b="1" dirty="0">
                <a:latin typeface="Calibri"/>
                <a:cs typeface="Calibri"/>
              </a:rPr>
              <a:t>e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a</a:t>
            </a:r>
            <a:r>
              <a:rPr sz="1800" b="1" dirty="0">
                <a:latin typeface="Calibri"/>
                <a:cs typeface="Calibri"/>
              </a:rPr>
              <a:t>n</a:t>
            </a:r>
            <a:r>
              <a:rPr sz="1800" b="1" spc="-5" dirty="0">
                <a:latin typeface="Calibri"/>
                <a:cs typeface="Calibri"/>
              </a:rPr>
              <a:t>d</a:t>
            </a:r>
            <a:r>
              <a:rPr sz="1800" b="1" spc="-1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d-</a:t>
            </a:r>
            <a:r>
              <a:rPr sz="1800" b="1" spc="-10" dirty="0">
                <a:latin typeface="Calibri"/>
                <a:cs typeface="Calibri"/>
              </a:rPr>
              <a:t>c</a:t>
            </a:r>
            <a:r>
              <a:rPr sz="1800" b="1" spc="-5" dirty="0">
                <a:latin typeface="Calibri"/>
                <a:cs typeface="Calibri"/>
              </a:rPr>
              <a:t>a</a:t>
            </a:r>
            <a:r>
              <a:rPr sz="1800" b="1" dirty="0">
                <a:latin typeface="Calibri"/>
                <a:cs typeface="Calibri"/>
              </a:rPr>
              <a:t>ch</a:t>
            </a:r>
            <a:r>
              <a:rPr sz="1800" b="1" spc="-10" dirty="0">
                <a:latin typeface="Calibri"/>
                <a:cs typeface="Calibri"/>
              </a:rPr>
              <a:t>e</a:t>
            </a:r>
            <a:r>
              <a:rPr sz="1800" b="1" spc="-5" dirty="0">
                <a:latin typeface="Calibri"/>
                <a:cs typeface="Calibri"/>
              </a:rPr>
              <a:t>:</a:t>
            </a:r>
            <a:endParaRPr sz="18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</a:pPr>
            <a:r>
              <a:rPr sz="1800" spc="-5" dirty="0">
                <a:latin typeface="Calibri"/>
                <a:cs typeface="Calibri"/>
              </a:rPr>
              <a:t>32 K</a:t>
            </a:r>
            <a:r>
              <a:rPr sz="1800" spc="-25" dirty="0">
                <a:latin typeface="Calibri"/>
                <a:cs typeface="Calibri"/>
              </a:rPr>
              <a:t>B</a:t>
            </a:r>
            <a:r>
              <a:rPr sz="1800" spc="-5" dirty="0">
                <a:latin typeface="Calibri"/>
                <a:cs typeface="Calibri"/>
              </a:rPr>
              <a:t>,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8-</a:t>
            </a:r>
            <a:r>
              <a:rPr sz="1800" spc="-35" dirty="0">
                <a:latin typeface="Calibri"/>
                <a:cs typeface="Calibri"/>
              </a:rPr>
              <a:t>wa</a:t>
            </a:r>
            <a:r>
              <a:rPr sz="1800" spc="-140" dirty="0">
                <a:latin typeface="Calibri"/>
                <a:cs typeface="Calibri"/>
              </a:rPr>
              <a:t>y,</a:t>
            </a:r>
            <a:endParaRPr sz="18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</a:pPr>
            <a:r>
              <a:rPr sz="1800" spc="-5" dirty="0">
                <a:latin typeface="Calibri"/>
                <a:cs typeface="Calibri"/>
              </a:rPr>
              <a:t>A</a:t>
            </a:r>
            <a:r>
              <a:rPr sz="1800" spc="-15" dirty="0">
                <a:latin typeface="Calibri"/>
                <a:cs typeface="Calibri"/>
              </a:rPr>
              <a:t>cc</a:t>
            </a:r>
            <a:r>
              <a:rPr sz="1800" spc="-5" dirty="0">
                <a:latin typeface="Calibri"/>
                <a:cs typeface="Calibri"/>
              </a:rPr>
              <a:t>e</a:t>
            </a:r>
            <a:r>
              <a:rPr sz="1800" dirty="0">
                <a:latin typeface="Calibri"/>
                <a:cs typeface="Calibri"/>
              </a:rPr>
              <a:t>ss</a:t>
            </a:r>
            <a:r>
              <a:rPr sz="1800" spc="-5" dirty="0">
                <a:latin typeface="Calibri"/>
                <a:cs typeface="Calibri"/>
              </a:rPr>
              <a:t>: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4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c</a:t>
            </a:r>
            <a:r>
              <a:rPr sz="1800" spc="-30" dirty="0">
                <a:latin typeface="Calibri"/>
                <a:cs typeface="Calibri"/>
              </a:rPr>
              <a:t>y</a:t>
            </a:r>
            <a:r>
              <a:rPr sz="1800" spc="-10" dirty="0">
                <a:latin typeface="Calibri"/>
                <a:cs typeface="Calibri"/>
              </a:rPr>
              <a:t>c</a:t>
            </a:r>
            <a:r>
              <a:rPr sz="1800" spc="-5" dirty="0">
                <a:latin typeface="Calibri"/>
                <a:cs typeface="Calibri"/>
              </a:rPr>
              <a:t>le</a:t>
            </a:r>
            <a:r>
              <a:rPr sz="1800" dirty="0">
                <a:latin typeface="Calibri"/>
                <a:cs typeface="Calibri"/>
              </a:rPr>
              <a:t>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6632168" y="2848686"/>
            <a:ext cx="2349500" cy="8309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1800" b="1" spc="-15" dirty="0">
                <a:latin typeface="Calibri"/>
                <a:cs typeface="Calibri"/>
              </a:rPr>
              <a:t>L</a:t>
            </a:r>
            <a:r>
              <a:rPr sz="1800" b="1" spc="-5" dirty="0">
                <a:latin typeface="Calibri"/>
                <a:cs typeface="Calibri"/>
              </a:rPr>
              <a:t>2</a:t>
            </a:r>
            <a:r>
              <a:rPr lang="zh-CN" altLang="en-US" b="1" spc="10" dirty="0">
                <a:latin typeface="Calibri"/>
                <a:cs typeface="Calibri"/>
              </a:rPr>
              <a:t>统一的高速缓存</a:t>
            </a:r>
            <a:r>
              <a:rPr sz="1800" b="1" spc="-10" dirty="0">
                <a:latin typeface="Calibri"/>
                <a:cs typeface="Calibri"/>
              </a:rPr>
              <a:t>:</a:t>
            </a:r>
            <a:endParaRPr sz="1800" dirty="0">
              <a:latin typeface="Calibri"/>
              <a:cs typeface="Calibri"/>
            </a:endParaRPr>
          </a:p>
          <a:p>
            <a:pPr marL="521334">
              <a:lnSpc>
                <a:spcPct val="100000"/>
              </a:lnSpc>
            </a:pPr>
            <a:r>
              <a:rPr sz="1800" spc="-5" dirty="0">
                <a:latin typeface="Calibri"/>
                <a:cs typeface="Calibri"/>
              </a:rPr>
              <a:t>256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K</a:t>
            </a:r>
            <a:r>
              <a:rPr sz="1800" spc="-25" dirty="0">
                <a:latin typeface="Calibri"/>
                <a:cs typeface="Calibri"/>
              </a:rPr>
              <a:t>B</a:t>
            </a:r>
            <a:r>
              <a:rPr sz="1800" spc="-5" dirty="0">
                <a:latin typeface="Calibri"/>
                <a:cs typeface="Calibri"/>
              </a:rPr>
              <a:t>, 8-</a:t>
            </a:r>
            <a:r>
              <a:rPr sz="1800" spc="-35" dirty="0">
                <a:latin typeface="Calibri"/>
                <a:cs typeface="Calibri"/>
              </a:rPr>
              <a:t>wa</a:t>
            </a:r>
            <a:r>
              <a:rPr sz="1800" spc="-140" dirty="0">
                <a:latin typeface="Calibri"/>
                <a:cs typeface="Calibri"/>
              </a:rPr>
              <a:t>y,</a:t>
            </a:r>
            <a:endParaRPr sz="1800" dirty="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</a:pPr>
            <a:r>
              <a:rPr sz="1800" spc="-5" dirty="0">
                <a:latin typeface="Calibri"/>
                <a:cs typeface="Calibri"/>
              </a:rPr>
              <a:t>A</a:t>
            </a:r>
            <a:r>
              <a:rPr sz="1800" spc="-15" dirty="0">
                <a:latin typeface="Calibri"/>
                <a:cs typeface="Calibri"/>
              </a:rPr>
              <a:t>cc</a:t>
            </a:r>
            <a:r>
              <a:rPr sz="1800" spc="-5" dirty="0">
                <a:latin typeface="Calibri"/>
                <a:cs typeface="Calibri"/>
              </a:rPr>
              <a:t>e</a:t>
            </a:r>
            <a:r>
              <a:rPr sz="1800" dirty="0">
                <a:latin typeface="Calibri"/>
                <a:cs typeface="Calibri"/>
              </a:rPr>
              <a:t>ss</a:t>
            </a:r>
            <a:r>
              <a:rPr sz="1800" spc="-5" dirty="0">
                <a:latin typeface="Calibri"/>
                <a:cs typeface="Calibri"/>
              </a:rPr>
              <a:t>: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1</a:t>
            </a:r>
            <a:r>
              <a:rPr sz="1800" spc="-5" dirty="0">
                <a:latin typeface="Calibri"/>
                <a:cs typeface="Calibri"/>
              </a:rPr>
              <a:t>0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c</a:t>
            </a:r>
            <a:r>
              <a:rPr sz="1800" spc="-30" dirty="0">
                <a:latin typeface="Calibri"/>
                <a:cs typeface="Calibri"/>
              </a:rPr>
              <a:t>y</a:t>
            </a:r>
            <a:r>
              <a:rPr sz="1800" spc="-10" dirty="0">
                <a:latin typeface="Calibri"/>
                <a:cs typeface="Calibri"/>
              </a:rPr>
              <a:t>cl</a:t>
            </a:r>
            <a:r>
              <a:rPr sz="1800" spc="-5" dirty="0">
                <a:latin typeface="Calibri"/>
                <a:cs typeface="Calibri"/>
              </a:rPr>
              <a:t>e</a:t>
            </a:r>
            <a:r>
              <a:rPr sz="1800" dirty="0">
                <a:latin typeface="Calibri"/>
                <a:cs typeface="Calibri"/>
              </a:rPr>
              <a:t>s</a:t>
            </a:r>
          </a:p>
        </p:txBody>
      </p:sp>
      <p:sp>
        <p:nvSpPr>
          <p:cNvPr id="51" name="object 51"/>
          <p:cNvSpPr txBox="1"/>
          <p:nvPr/>
        </p:nvSpPr>
        <p:spPr>
          <a:xfrm>
            <a:off x="6632168" y="3945966"/>
            <a:ext cx="2349500" cy="8309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15" dirty="0">
                <a:latin typeface="Calibri"/>
                <a:cs typeface="Calibri"/>
              </a:rPr>
              <a:t>L</a:t>
            </a:r>
            <a:r>
              <a:rPr sz="1800" b="1" spc="-5" dirty="0">
                <a:latin typeface="Calibri"/>
                <a:cs typeface="Calibri"/>
              </a:rPr>
              <a:t>3</a:t>
            </a:r>
            <a:r>
              <a:rPr lang="zh-CN" altLang="en-US" b="1" spc="10" dirty="0">
                <a:latin typeface="Calibri"/>
                <a:cs typeface="Calibri"/>
              </a:rPr>
              <a:t>统一的高速缓存</a:t>
            </a:r>
            <a:r>
              <a:rPr sz="1800" b="1" spc="-10" dirty="0">
                <a:latin typeface="Calibri"/>
                <a:cs typeface="Calibri"/>
              </a:rPr>
              <a:t>:</a:t>
            </a:r>
            <a:endParaRPr sz="1800" dirty="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</a:pPr>
            <a:r>
              <a:rPr sz="1800" spc="-5" dirty="0">
                <a:latin typeface="Calibri"/>
                <a:cs typeface="Calibri"/>
              </a:rPr>
              <a:t>8 M</a:t>
            </a:r>
            <a:r>
              <a:rPr sz="1800" spc="-25" dirty="0">
                <a:latin typeface="Calibri"/>
                <a:cs typeface="Calibri"/>
              </a:rPr>
              <a:t>B</a:t>
            </a:r>
            <a:r>
              <a:rPr sz="1800" spc="-5" dirty="0">
                <a:latin typeface="Calibri"/>
                <a:cs typeface="Calibri"/>
              </a:rPr>
              <a:t>,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16-</a:t>
            </a:r>
            <a:r>
              <a:rPr sz="1800" spc="-35" dirty="0">
                <a:latin typeface="Calibri"/>
                <a:cs typeface="Calibri"/>
              </a:rPr>
              <a:t>wa</a:t>
            </a:r>
            <a:r>
              <a:rPr sz="1800" spc="-140" dirty="0">
                <a:latin typeface="Calibri"/>
                <a:cs typeface="Calibri"/>
              </a:rPr>
              <a:t>y,</a:t>
            </a:r>
            <a:endParaRPr sz="1800" dirty="0">
              <a:latin typeface="Calibri"/>
              <a:cs typeface="Calibri"/>
            </a:endParaRPr>
          </a:p>
          <a:p>
            <a:pPr marL="469265">
              <a:lnSpc>
                <a:spcPct val="100000"/>
              </a:lnSpc>
            </a:pPr>
            <a:r>
              <a:rPr sz="1800" spc="-5" dirty="0">
                <a:latin typeface="Calibri"/>
                <a:cs typeface="Calibri"/>
              </a:rPr>
              <a:t>A</a:t>
            </a:r>
            <a:r>
              <a:rPr sz="1800" spc="-15" dirty="0">
                <a:latin typeface="Calibri"/>
                <a:cs typeface="Calibri"/>
              </a:rPr>
              <a:t>cc</a:t>
            </a:r>
            <a:r>
              <a:rPr sz="1800" spc="-5" dirty="0">
                <a:latin typeface="Calibri"/>
                <a:cs typeface="Calibri"/>
              </a:rPr>
              <a:t>ess: </a:t>
            </a:r>
            <a:r>
              <a:rPr sz="1800" spc="-10" dirty="0">
                <a:latin typeface="Calibri"/>
                <a:cs typeface="Calibri"/>
              </a:rPr>
              <a:t>40</a:t>
            </a:r>
            <a:r>
              <a:rPr sz="1800" dirty="0">
                <a:latin typeface="Calibri"/>
                <a:cs typeface="Calibri"/>
              </a:rPr>
              <a:t>-</a:t>
            </a:r>
            <a:r>
              <a:rPr sz="1800" spc="-10" dirty="0">
                <a:latin typeface="Calibri"/>
                <a:cs typeface="Calibri"/>
              </a:rPr>
              <a:t>7</a:t>
            </a:r>
            <a:r>
              <a:rPr sz="1800" spc="-5" dirty="0">
                <a:latin typeface="Calibri"/>
                <a:cs typeface="Calibri"/>
              </a:rPr>
              <a:t>5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c</a:t>
            </a:r>
            <a:r>
              <a:rPr sz="1800" spc="-30" dirty="0">
                <a:latin typeface="Calibri"/>
                <a:cs typeface="Calibri"/>
              </a:rPr>
              <a:t>y</a:t>
            </a:r>
            <a:r>
              <a:rPr sz="1800" spc="-10" dirty="0">
                <a:latin typeface="Calibri"/>
                <a:cs typeface="Calibri"/>
              </a:rPr>
              <a:t>c</a:t>
            </a:r>
            <a:r>
              <a:rPr sz="1800" spc="-5" dirty="0">
                <a:latin typeface="Calibri"/>
                <a:cs typeface="Calibri"/>
              </a:rPr>
              <a:t>le</a:t>
            </a:r>
            <a:r>
              <a:rPr sz="1800" dirty="0">
                <a:latin typeface="Calibri"/>
                <a:cs typeface="Calibri"/>
              </a:rPr>
              <a:t>s</a:t>
            </a:r>
          </a:p>
        </p:txBody>
      </p:sp>
      <p:sp>
        <p:nvSpPr>
          <p:cNvPr id="52" name="object 52"/>
          <p:cNvSpPr txBox="1"/>
          <p:nvPr/>
        </p:nvSpPr>
        <p:spPr>
          <a:xfrm>
            <a:off x="6632168" y="5043246"/>
            <a:ext cx="2153920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lang="zh-CN" altLang="en-US" sz="1800" spc="-5" dirty="0">
                <a:latin typeface="Calibri"/>
                <a:cs typeface="Calibri"/>
              </a:rPr>
              <a:t>块大小</a:t>
            </a:r>
            <a:r>
              <a:rPr sz="1800" spc="-5" dirty="0">
                <a:latin typeface="Calibri"/>
                <a:cs typeface="Calibri"/>
              </a:rPr>
              <a:t>: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6</a:t>
            </a:r>
            <a:r>
              <a:rPr sz="1800" spc="-5" dirty="0">
                <a:latin typeface="Calibri"/>
                <a:cs typeface="Calibri"/>
              </a:rPr>
              <a:t>4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b</a:t>
            </a:r>
            <a:r>
              <a:rPr sz="1800" spc="0" dirty="0">
                <a:latin typeface="Calibri"/>
                <a:cs typeface="Calibri"/>
              </a:rPr>
              <a:t>y</a:t>
            </a:r>
            <a:r>
              <a:rPr sz="1800" spc="-30" dirty="0">
                <a:latin typeface="Calibri"/>
                <a:cs typeface="Calibri"/>
              </a:rPr>
              <a:t>t</a:t>
            </a:r>
            <a:r>
              <a:rPr sz="1800" spc="-5" dirty="0">
                <a:latin typeface="Calibri"/>
                <a:cs typeface="Calibri"/>
              </a:rPr>
              <a:t>e</a:t>
            </a:r>
            <a:r>
              <a:rPr sz="1800" dirty="0">
                <a:latin typeface="Calibri"/>
                <a:cs typeface="Calibri"/>
              </a:rPr>
              <a:t>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35" dirty="0">
                <a:latin typeface="Calibri"/>
                <a:cs typeface="Calibri"/>
              </a:rPr>
              <a:t>f</a:t>
            </a:r>
            <a:r>
              <a:rPr sz="1800" spc="-5" dirty="0">
                <a:latin typeface="Calibri"/>
                <a:cs typeface="Calibri"/>
              </a:rPr>
              <a:t>or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5" dirty="0">
                <a:latin typeface="Calibri"/>
                <a:cs typeface="Calibri"/>
              </a:rPr>
              <a:t>l</a:t>
            </a:r>
            <a:r>
              <a:rPr sz="1800" dirty="0">
                <a:latin typeface="Calibri"/>
                <a:cs typeface="Calibri"/>
              </a:rPr>
              <a:t>l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c</a:t>
            </a:r>
            <a:r>
              <a:rPr sz="1800" spc="-5" dirty="0">
                <a:latin typeface="Calibri"/>
                <a:cs typeface="Calibri"/>
              </a:rPr>
              <a:t>a</a:t>
            </a:r>
            <a:r>
              <a:rPr sz="1800" spc="-15" dirty="0">
                <a:latin typeface="Calibri"/>
                <a:cs typeface="Calibri"/>
              </a:rPr>
              <a:t>c</a:t>
            </a:r>
            <a:r>
              <a:rPr sz="1800" dirty="0">
                <a:latin typeface="Calibri"/>
                <a:cs typeface="Calibri"/>
              </a:rPr>
              <a:t>h</a:t>
            </a:r>
            <a:r>
              <a:rPr sz="1800" spc="-5" dirty="0">
                <a:latin typeface="Calibri"/>
                <a:cs typeface="Calibri"/>
              </a:rPr>
              <a:t>e</a:t>
            </a:r>
            <a:r>
              <a:rPr sz="1800" dirty="0">
                <a:latin typeface="Calibri"/>
                <a:cs typeface="Calibri"/>
              </a:rPr>
              <a:t>s.</a:t>
            </a:r>
          </a:p>
        </p:txBody>
      </p:sp>
      <p:sp>
        <p:nvSpPr>
          <p:cNvPr id="53" name="object 19"/>
          <p:cNvSpPr txBox="1"/>
          <p:nvPr/>
        </p:nvSpPr>
        <p:spPr>
          <a:xfrm>
            <a:off x="4383007" y="3710801"/>
            <a:ext cx="1630839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15" dirty="0">
                <a:latin typeface="Calibri"/>
                <a:cs typeface="Calibri"/>
              </a:rPr>
              <a:t>L</a:t>
            </a:r>
            <a:r>
              <a:rPr lang="en-US" b="1" spc="-5" dirty="0">
                <a:latin typeface="Calibri"/>
                <a:cs typeface="Calibri"/>
              </a:rPr>
              <a:t>2</a:t>
            </a:r>
            <a:r>
              <a:rPr sz="1800" b="1" spc="10" dirty="0">
                <a:latin typeface="Calibri"/>
                <a:cs typeface="Calibri"/>
              </a:rPr>
              <a:t> </a:t>
            </a:r>
            <a:r>
              <a:rPr lang="zh-CN" altLang="en-US" b="1" spc="10" dirty="0">
                <a:latin typeface="Calibri"/>
                <a:cs typeface="Calibri"/>
              </a:rPr>
              <a:t>统一的高速缓存</a:t>
            </a:r>
            <a:endParaRPr sz="1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357759" y="4112069"/>
            <a:ext cx="2690495" cy="2441575"/>
          </a:xfrm>
          <a:custGeom>
            <a:avLst/>
            <a:gdLst/>
            <a:ahLst/>
            <a:cxnLst/>
            <a:rect l="l" t="t" r="r" b="b"/>
            <a:pathLst>
              <a:path w="2690495" h="2441575">
                <a:moveTo>
                  <a:pt x="0" y="0"/>
                </a:moveTo>
                <a:lnTo>
                  <a:pt x="2690241" y="0"/>
                </a:lnTo>
                <a:lnTo>
                  <a:pt x="2690241" y="2441143"/>
                </a:lnTo>
                <a:lnTo>
                  <a:pt x="0" y="2441143"/>
                </a:lnTo>
                <a:lnTo>
                  <a:pt x="0" y="0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200107" y="4800600"/>
            <a:ext cx="5791835" cy="1752600"/>
          </a:xfrm>
          <a:custGeom>
            <a:avLst/>
            <a:gdLst/>
            <a:ahLst/>
            <a:cxnLst/>
            <a:rect l="l" t="t" r="r" b="b"/>
            <a:pathLst>
              <a:path w="5791834" h="1752600">
                <a:moveTo>
                  <a:pt x="0" y="0"/>
                </a:moveTo>
                <a:lnTo>
                  <a:pt x="5791492" y="0"/>
                </a:lnTo>
                <a:lnTo>
                  <a:pt x="5791492" y="1752600"/>
                </a:lnTo>
                <a:lnTo>
                  <a:pt x="0" y="1752600"/>
                </a:lnTo>
                <a:lnTo>
                  <a:pt x="0" y="0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57018" y="396438"/>
            <a:ext cx="7592093" cy="840480"/>
          </a:xfrm>
          <a:prstGeom prst="rect">
            <a:avLst/>
          </a:prstGeom>
        </p:spPr>
        <p:txBody>
          <a:bodyPr vert="horz" wrap="square" lIns="0" tIns="283712" rIns="0" bIns="0" rtlCol="0">
            <a:spAutoFit/>
          </a:bodyPr>
          <a:lstStyle/>
          <a:p>
            <a:pPr marL="13335">
              <a:lnSpc>
                <a:spcPct val="100000"/>
              </a:lnSpc>
            </a:pPr>
            <a:r>
              <a:rPr lang="zh-CN" altLang="en-US" dirty="0"/>
              <a:t>例子</a:t>
            </a:r>
            <a:r>
              <a:rPr dirty="0"/>
              <a:t>:</a:t>
            </a:r>
            <a:r>
              <a:rPr spc="-20" dirty="0"/>
              <a:t> </a:t>
            </a:r>
            <a:r>
              <a:rPr dirty="0"/>
              <a:t>C</a:t>
            </a:r>
            <a:r>
              <a:rPr spc="-10" dirty="0"/>
              <a:t>o</a:t>
            </a:r>
            <a:r>
              <a:rPr dirty="0"/>
              <a:t>re</a:t>
            </a:r>
            <a:r>
              <a:rPr spc="-15" dirty="0"/>
              <a:t> </a:t>
            </a:r>
            <a:r>
              <a:rPr spc="-5" dirty="0"/>
              <a:t>i7</a:t>
            </a:r>
            <a:r>
              <a:rPr dirty="0"/>
              <a:t> </a:t>
            </a:r>
            <a:r>
              <a:rPr spc="-5" dirty="0"/>
              <a:t>L1</a:t>
            </a:r>
            <a:r>
              <a:rPr dirty="0"/>
              <a:t> </a:t>
            </a:r>
            <a:r>
              <a:rPr spc="-5" dirty="0"/>
              <a:t>Data</a:t>
            </a:r>
            <a:r>
              <a:rPr dirty="0"/>
              <a:t> C</a:t>
            </a:r>
            <a:r>
              <a:rPr spc="-10" dirty="0"/>
              <a:t>a</a:t>
            </a:r>
            <a:r>
              <a:rPr spc="5" dirty="0"/>
              <a:t>c</a:t>
            </a:r>
            <a:r>
              <a:rPr dirty="0"/>
              <a:t>he</a:t>
            </a:r>
          </a:p>
        </p:txBody>
      </p:sp>
      <p:sp>
        <p:nvSpPr>
          <p:cNvPr id="6" name="object 6"/>
          <p:cNvSpPr/>
          <p:nvPr/>
        </p:nvSpPr>
        <p:spPr>
          <a:xfrm>
            <a:off x="357759" y="1188161"/>
            <a:ext cx="7338059" cy="2871470"/>
          </a:xfrm>
          <a:custGeom>
            <a:avLst/>
            <a:gdLst/>
            <a:ahLst/>
            <a:cxnLst/>
            <a:rect l="l" t="t" r="r" b="b"/>
            <a:pathLst>
              <a:path w="7338059" h="2871470">
                <a:moveTo>
                  <a:pt x="0" y="0"/>
                </a:moveTo>
                <a:lnTo>
                  <a:pt x="7337526" y="0"/>
                </a:lnTo>
                <a:lnTo>
                  <a:pt x="7337526" y="2871431"/>
                </a:lnTo>
                <a:lnTo>
                  <a:pt x="0" y="2871431"/>
                </a:lnTo>
                <a:lnTo>
                  <a:pt x="0" y="0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048000" y="1188162"/>
            <a:ext cx="4648199" cy="287143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57504" y="5535294"/>
            <a:ext cx="2690495" cy="8309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7965" marR="710565">
              <a:lnSpc>
                <a:spcPct val="100000"/>
              </a:lnSpc>
            </a:pPr>
            <a:r>
              <a:rPr sz="1800" b="1" spc="-10" dirty="0">
                <a:latin typeface="Calibri"/>
                <a:cs typeface="Calibri"/>
              </a:rPr>
              <a:t>B</a:t>
            </a:r>
            <a:r>
              <a:rPr sz="1800" b="1" spc="-5" dirty="0">
                <a:latin typeface="Calibri"/>
                <a:cs typeface="Calibri"/>
              </a:rPr>
              <a:t>lo</a:t>
            </a:r>
            <a:r>
              <a:rPr sz="1800" b="1" dirty="0">
                <a:latin typeface="Calibri"/>
                <a:cs typeface="Calibri"/>
              </a:rPr>
              <a:t>ck</a:t>
            </a:r>
            <a:r>
              <a:rPr sz="1800" b="1" spc="-15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o</a:t>
            </a:r>
            <a:r>
              <a:rPr sz="1800" b="1" spc="-10" dirty="0">
                <a:latin typeface="Calibri"/>
                <a:cs typeface="Calibri"/>
              </a:rPr>
              <a:t>f</a:t>
            </a:r>
            <a:r>
              <a:rPr sz="1800" b="1" spc="-20" dirty="0">
                <a:latin typeface="Calibri"/>
                <a:cs typeface="Calibri"/>
              </a:rPr>
              <a:t>f</a:t>
            </a:r>
            <a:r>
              <a:rPr sz="1800" b="1" spc="-5" dirty="0">
                <a:latin typeface="Calibri"/>
                <a:cs typeface="Calibri"/>
              </a:rPr>
              <a:t>s</a:t>
            </a:r>
            <a:r>
              <a:rPr sz="1800" b="1" spc="-10" dirty="0">
                <a:latin typeface="Calibri"/>
                <a:cs typeface="Calibri"/>
              </a:rPr>
              <a:t>e</a:t>
            </a:r>
            <a:r>
              <a:rPr sz="1800" b="1" spc="-5" dirty="0">
                <a:latin typeface="Calibri"/>
                <a:cs typeface="Calibri"/>
              </a:rPr>
              <a:t>t:</a:t>
            </a:r>
            <a:r>
              <a:rPr sz="1800" b="1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. b</a:t>
            </a:r>
            <a:r>
              <a:rPr sz="1800" b="1" spc="-5" dirty="0">
                <a:latin typeface="Calibri"/>
                <a:cs typeface="Calibri"/>
              </a:rPr>
              <a:t>its S</a:t>
            </a:r>
            <a:r>
              <a:rPr sz="1800" b="1" spc="-10" dirty="0">
                <a:latin typeface="Calibri"/>
                <a:cs typeface="Calibri"/>
              </a:rPr>
              <a:t>e</a:t>
            </a:r>
            <a:r>
              <a:rPr sz="1800" b="1" spc="-5" dirty="0">
                <a:latin typeface="Calibri"/>
                <a:cs typeface="Calibri"/>
              </a:rPr>
              <a:t>t</a:t>
            </a:r>
            <a:r>
              <a:rPr sz="1800" b="1" spc="-15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i</a:t>
            </a:r>
            <a:r>
              <a:rPr sz="1800" b="1" dirty="0">
                <a:latin typeface="Calibri"/>
                <a:cs typeface="Calibri"/>
              </a:rPr>
              <a:t>nd</a:t>
            </a:r>
            <a:r>
              <a:rPr sz="1800" b="1" spc="-20" dirty="0">
                <a:latin typeface="Calibri"/>
                <a:cs typeface="Calibri"/>
              </a:rPr>
              <a:t>e</a:t>
            </a:r>
            <a:r>
              <a:rPr sz="1800" b="1" dirty="0">
                <a:latin typeface="Calibri"/>
                <a:cs typeface="Calibri"/>
              </a:rPr>
              <a:t>x: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. b</a:t>
            </a:r>
            <a:r>
              <a:rPr sz="1800" b="1" spc="-5" dirty="0">
                <a:latin typeface="Calibri"/>
                <a:cs typeface="Calibri"/>
              </a:rPr>
              <a:t>i</a:t>
            </a:r>
            <a:r>
              <a:rPr sz="1800" b="1" spc="-10" dirty="0">
                <a:latin typeface="Calibri"/>
                <a:cs typeface="Calibri"/>
              </a:rPr>
              <a:t>t</a:t>
            </a:r>
            <a:r>
              <a:rPr sz="1800" b="1" spc="-5" dirty="0">
                <a:latin typeface="Calibri"/>
                <a:cs typeface="Calibri"/>
              </a:rPr>
              <a:t>s</a:t>
            </a:r>
            <a:r>
              <a:rPr sz="1800" b="1" dirty="0">
                <a:latin typeface="Calibri"/>
                <a:cs typeface="Calibri"/>
              </a:rPr>
              <a:t> </a:t>
            </a:r>
            <a:r>
              <a:rPr sz="1800" b="1" spc="-140" dirty="0">
                <a:latin typeface="Calibri"/>
                <a:cs typeface="Calibri"/>
              </a:rPr>
              <a:t>T</a:t>
            </a:r>
            <a:r>
              <a:rPr sz="1800" b="1" spc="-10" dirty="0">
                <a:latin typeface="Calibri"/>
                <a:cs typeface="Calibri"/>
              </a:rPr>
              <a:t>a</a:t>
            </a:r>
            <a:r>
              <a:rPr sz="1800" b="1" spc="-5" dirty="0">
                <a:latin typeface="Calibri"/>
                <a:cs typeface="Calibri"/>
              </a:rPr>
              <a:t>g: </a:t>
            </a:r>
            <a:r>
              <a:rPr sz="1800" b="1" dirty="0">
                <a:latin typeface="Calibri"/>
                <a:cs typeface="Calibri"/>
              </a:rPr>
              <a:t>. b</a:t>
            </a:r>
            <a:r>
              <a:rPr sz="1800" b="1" spc="-5" dirty="0">
                <a:latin typeface="Calibri"/>
                <a:cs typeface="Calibri"/>
              </a:rPr>
              <a:t>its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33398" y="4190998"/>
            <a:ext cx="2044519" cy="126559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291542" y="5040629"/>
            <a:ext cx="2458720" cy="5405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10"/>
              </a:lnSpc>
            </a:pPr>
            <a:r>
              <a:rPr lang="zh-CN" altLang="en-US" sz="1800" b="1" spc="-5" dirty="0">
                <a:latin typeface="Calibri"/>
                <a:cs typeface="Calibri"/>
              </a:rPr>
              <a:t>栈地址</a:t>
            </a:r>
            <a:r>
              <a:rPr sz="1800" b="1" spc="-5" dirty="0">
                <a:latin typeface="Calibri"/>
                <a:cs typeface="Calibri"/>
              </a:rPr>
              <a:t>:</a:t>
            </a:r>
            <a:endParaRPr sz="1800" dirty="0">
              <a:latin typeface="Calibri"/>
              <a:cs typeface="Calibri"/>
            </a:endParaRPr>
          </a:p>
          <a:p>
            <a:pPr>
              <a:lnSpc>
                <a:spcPts val="2110"/>
              </a:lnSpc>
            </a:pPr>
            <a:r>
              <a:rPr sz="1800" b="1" dirty="0">
                <a:solidFill>
                  <a:srgbClr val="C00000"/>
                </a:solidFill>
                <a:latin typeface="Courier New"/>
                <a:cs typeface="Courier New"/>
              </a:rPr>
              <a:t>0x</a:t>
            </a:r>
            <a:r>
              <a:rPr sz="1800" b="1" spc="-15" dirty="0">
                <a:solidFill>
                  <a:srgbClr val="C00000"/>
                </a:solidFill>
                <a:latin typeface="Courier New"/>
                <a:cs typeface="Courier New"/>
              </a:rPr>
              <a:t>0</a:t>
            </a:r>
            <a:r>
              <a:rPr sz="1800" b="1" dirty="0">
                <a:solidFill>
                  <a:srgbClr val="C00000"/>
                </a:solidFill>
                <a:latin typeface="Courier New"/>
                <a:cs typeface="Courier New"/>
              </a:rPr>
              <a:t>0</a:t>
            </a:r>
            <a:r>
              <a:rPr sz="1800" b="1" spc="-15" dirty="0">
                <a:solidFill>
                  <a:srgbClr val="C00000"/>
                </a:solidFill>
                <a:latin typeface="Courier New"/>
                <a:cs typeface="Courier New"/>
              </a:rPr>
              <a:t>0</a:t>
            </a:r>
            <a:r>
              <a:rPr sz="1800" b="1" dirty="0">
                <a:solidFill>
                  <a:srgbClr val="C00000"/>
                </a:solidFill>
                <a:latin typeface="Courier New"/>
                <a:cs typeface="Courier New"/>
              </a:rPr>
              <a:t>07</a:t>
            </a:r>
            <a:r>
              <a:rPr sz="1800" b="1" spc="-15" dirty="0">
                <a:solidFill>
                  <a:srgbClr val="C00000"/>
                </a:solidFill>
                <a:latin typeface="Courier New"/>
                <a:cs typeface="Courier New"/>
              </a:rPr>
              <a:t>f</a:t>
            </a:r>
            <a:r>
              <a:rPr sz="1800" b="1" dirty="0">
                <a:solidFill>
                  <a:srgbClr val="C00000"/>
                </a:solidFill>
                <a:latin typeface="Courier New"/>
                <a:cs typeface="Courier New"/>
              </a:rPr>
              <a:t>7</a:t>
            </a:r>
            <a:r>
              <a:rPr sz="1800" b="1" spc="-15" dirty="0">
                <a:solidFill>
                  <a:srgbClr val="C00000"/>
                </a:solidFill>
                <a:latin typeface="Courier New"/>
                <a:cs typeface="Courier New"/>
              </a:rPr>
              <a:t>26</a:t>
            </a:r>
            <a:r>
              <a:rPr sz="1800" b="1" dirty="0">
                <a:solidFill>
                  <a:srgbClr val="C00000"/>
                </a:solidFill>
                <a:latin typeface="Courier New"/>
                <a:cs typeface="Courier New"/>
              </a:rPr>
              <a:t>2a</a:t>
            </a:r>
            <a:r>
              <a:rPr sz="1800" b="1" spc="-15" dirty="0">
                <a:solidFill>
                  <a:srgbClr val="C00000"/>
                </a:solidFill>
                <a:latin typeface="Courier New"/>
                <a:cs typeface="Courier New"/>
              </a:rPr>
              <a:t>1</a:t>
            </a:r>
            <a:r>
              <a:rPr sz="1800" b="1" dirty="0">
                <a:solidFill>
                  <a:srgbClr val="C00000"/>
                </a:solidFill>
                <a:latin typeface="Courier New"/>
                <a:cs typeface="Courier New"/>
              </a:rPr>
              <a:t>e</a:t>
            </a:r>
            <a:r>
              <a:rPr sz="1800" b="1" spc="-15" dirty="0">
                <a:solidFill>
                  <a:srgbClr val="C00000"/>
                </a:solidFill>
                <a:latin typeface="Courier New"/>
                <a:cs typeface="Courier New"/>
              </a:rPr>
              <a:t>0</a:t>
            </a:r>
            <a:r>
              <a:rPr sz="1800" b="1" dirty="0">
                <a:solidFill>
                  <a:srgbClr val="C00000"/>
                </a:solidFill>
                <a:latin typeface="Courier New"/>
                <a:cs typeface="Courier New"/>
              </a:rPr>
              <a:t>10</a:t>
            </a:r>
            <a:endParaRPr sz="1800" dirty="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378557" y="5031485"/>
            <a:ext cx="1177925" cy="8309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1800" b="1" spc="-5" dirty="0">
                <a:solidFill>
                  <a:srgbClr val="C00000"/>
                </a:solidFill>
                <a:latin typeface="Calibri"/>
                <a:cs typeface="Calibri"/>
              </a:rPr>
              <a:t>块偏移</a:t>
            </a:r>
            <a:r>
              <a:rPr sz="1800" b="1" spc="-5" dirty="0">
                <a:solidFill>
                  <a:srgbClr val="C00000"/>
                </a:solidFill>
                <a:latin typeface="Calibri"/>
                <a:cs typeface="Calibri"/>
              </a:rPr>
              <a:t>: </a:t>
            </a:r>
            <a:endParaRPr lang="en-US" sz="1800" b="1" spc="-5" dirty="0">
              <a:solidFill>
                <a:srgbClr val="C00000"/>
              </a:solidFill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lang="zh-CN" altLang="en-US" sz="1800" b="1" spc="-5" dirty="0">
                <a:solidFill>
                  <a:srgbClr val="C00000"/>
                </a:solidFill>
                <a:latin typeface="Calibri"/>
                <a:cs typeface="Calibri"/>
              </a:rPr>
              <a:t>组索引</a:t>
            </a:r>
            <a:r>
              <a:rPr sz="1800" b="1" spc="-5" dirty="0">
                <a:solidFill>
                  <a:srgbClr val="C00000"/>
                </a:solidFill>
                <a:latin typeface="Calibri"/>
                <a:cs typeface="Calibri"/>
              </a:rPr>
              <a:t>: </a:t>
            </a:r>
            <a:endParaRPr lang="en-US" sz="1800" b="1" spc="-5" dirty="0">
              <a:solidFill>
                <a:srgbClr val="C00000"/>
              </a:solidFill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lang="zh-CN" altLang="en-US" sz="1800" b="1" spc="-5" dirty="0">
                <a:solidFill>
                  <a:srgbClr val="C00000"/>
                </a:solidFill>
                <a:latin typeface="Calibri"/>
                <a:cs typeface="Calibri"/>
              </a:rPr>
              <a:t>标记</a:t>
            </a:r>
            <a:r>
              <a:rPr sz="1800" b="1" spc="-5" dirty="0">
                <a:solidFill>
                  <a:srgbClr val="C00000"/>
                </a:solidFill>
                <a:latin typeface="Calibri"/>
                <a:cs typeface="Calibri"/>
              </a:rPr>
              <a:t>: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178324" y="5034934"/>
            <a:ext cx="547370" cy="777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1800" b="1" dirty="0">
                <a:solidFill>
                  <a:srgbClr val="C00000"/>
                </a:solidFill>
                <a:latin typeface="Courier New"/>
                <a:cs typeface="Courier New"/>
              </a:rPr>
              <a:t>0x</a:t>
            </a:r>
            <a:r>
              <a:rPr sz="1800" b="1" spc="-15" dirty="0">
                <a:solidFill>
                  <a:srgbClr val="C00000"/>
                </a:solidFill>
                <a:latin typeface="Courier New"/>
                <a:cs typeface="Courier New"/>
              </a:rPr>
              <a:t>?</a:t>
            </a:r>
            <a:r>
              <a:rPr sz="1800" b="1" dirty="0">
                <a:solidFill>
                  <a:srgbClr val="C00000"/>
                </a:solidFill>
                <a:latin typeface="Courier New"/>
                <a:cs typeface="Courier New"/>
              </a:rPr>
              <a:t>?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1800" b="1" dirty="0">
                <a:solidFill>
                  <a:srgbClr val="C00000"/>
                </a:solidFill>
                <a:latin typeface="Courier New"/>
                <a:cs typeface="Courier New"/>
              </a:rPr>
              <a:t>0</a:t>
            </a:r>
            <a:r>
              <a:rPr sz="1800" b="1" spc="-15" dirty="0">
                <a:solidFill>
                  <a:srgbClr val="C00000"/>
                </a:solidFill>
                <a:latin typeface="Courier New"/>
                <a:cs typeface="Courier New"/>
              </a:rPr>
              <a:t>x</a:t>
            </a:r>
            <a:r>
              <a:rPr sz="1800" b="1" dirty="0">
                <a:solidFill>
                  <a:srgbClr val="C00000"/>
                </a:solidFill>
                <a:latin typeface="Courier New"/>
                <a:cs typeface="Courier New"/>
              </a:rPr>
              <a:t>??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1800" b="1" dirty="0">
                <a:solidFill>
                  <a:srgbClr val="C00000"/>
                </a:solidFill>
                <a:latin typeface="Courier New"/>
                <a:cs typeface="Courier New"/>
              </a:rPr>
              <a:t>0x</a:t>
            </a:r>
            <a:r>
              <a:rPr sz="1800" b="1" spc="-15" dirty="0">
                <a:solidFill>
                  <a:srgbClr val="C00000"/>
                </a:solidFill>
                <a:latin typeface="Courier New"/>
                <a:cs typeface="Courier New"/>
              </a:rPr>
              <a:t>?</a:t>
            </a:r>
            <a:r>
              <a:rPr sz="1800" b="1" dirty="0">
                <a:solidFill>
                  <a:srgbClr val="C00000"/>
                </a:solidFill>
                <a:latin typeface="Courier New"/>
                <a:cs typeface="Courier New"/>
              </a:rPr>
              <a:t>?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771489" y="750887"/>
            <a:ext cx="1372510" cy="344011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57759" y="1188161"/>
            <a:ext cx="7338059" cy="21621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7965" marR="4530725">
              <a:lnSpc>
                <a:spcPct val="100000"/>
              </a:lnSpc>
            </a:pPr>
            <a:r>
              <a:rPr sz="1800" b="1" spc="-5" dirty="0">
                <a:solidFill>
                  <a:srgbClr val="C00000"/>
                </a:solidFill>
                <a:latin typeface="Calibri"/>
                <a:cs typeface="Calibri"/>
              </a:rPr>
              <a:t>32 </a:t>
            </a:r>
            <a:r>
              <a:rPr sz="1800" b="1" spc="-5" dirty="0" err="1">
                <a:solidFill>
                  <a:srgbClr val="C00000"/>
                </a:solidFill>
                <a:latin typeface="Calibri"/>
                <a:cs typeface="Calibri"/>
              </a:rPr>
              <a:t>kB</a:t>
            </a:r>
            <a:r>
              <a:rPr sz="1800" b="1" spc="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spc="-5" dirty="0">
                <a:solidFill>
                  <a:srgbClr val="C00000"/>
                </a:solidFill>
                <a:latin typeface="Calibri"/>
                <a:cs typeface="Calibri"/>
              </a:rPr>
              <a:t>8</a:t>
            </a:r>
            <a:r>
              <a:rPr lang="zh-CN" altLang="en-US" sz="1800" b="1" spc="-5" dirty="0">
                <a:solidFill>
                  <a:srgbClr val="C00000"/>
                </a:solidFill>
                <a:latin typeface="Calibri"/>
                <a:cs typeface="Calibri"/>
              </a:rPr>
              <a:t>路组相联</a:t>
            </a:r>
            <a:endParaRPr lang="en-US" altLang="zh-CN" sz="1800" b="1" spc="-5" dirty="0">
              <a:solidFill>
                <a:srgbClr val="C00000"/>
              </a:solidFill>
              <a:latin typeface="Calibri"/>
              <a:cs typeface="Calibri"/>
            </a:endParaRPr>
          </a:p>
          <a:p>
            <a:pPr marL="227965" marR="4530725">
              <a:lnSpc>
                <a:spcPct val="100000"/>
              </a:lnSpc>
            </a:pP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6</a:t>
            </a:r>
            <a:r>
              <a:rPr sz="1800" b="1" spc="-5" dirty="0">
                <a:solidFill>
                  <a:srgbClr val="C00000"/>
                </a:solidFill>
                <a:latin typeface="Calibri"/>
                <a:cs typeface="Calibri"/>
              </a:rPr>
              <a:t>4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lang="zh-CN" altLang="en-US" sz="1800" b="1" dirty="0">
                <a:solidFill>
                  <a:srgbClr val="C00000"/>
                </a:solidFill>
                <a:latin typeface="Calibri"/>
                <a:cs typeface="Calibri"/>
              </a:rPr>
              <a:t>字节</a:t>
            </a:r>
            <a:r>
              <a:rPr lang="en-US" altLang="zh-CN" sz="1800" b="1" dirty="0">
                <a:solidFill>
                  <a:srgbClr val="C00000"/>
                </a:solidFill>
                <a:latin typeface="Calibri"/>
                <a:cs typeface="Calibri"/>
              </a:rPr>
              <a:t>/</a:t>
            </a:r>
            <a:r>
              <a:rPr lang="zh-CN" altLang="en-US" sz="1800" b="1" dirty="0">
                <a:solidFill>
                  <a:srgbClr val="C00000"/>
                </a:solidFill>
                <a:latin typeface="Calibri"/>
                <a:cs typeface="Calibri"/>
              </a:rPr>
              <a:t>块</a:t>
            </a:r>
            <a:endParaRPr sz="1800" dirty="0">
              <a:latin typeface="Calibri"/>
              <a:cs typeface="Calibri"/>
            </a:endParaRPr>
          </a:p>
          <a:p>
            <a:pPr marL="227965">
              <a:lnSpc>
                <a:spcPct val="100000"/>
              </a:lnSpc>
            </a:pPr>
            <a:r>
              <a:rPr sz="1800" b="1" spc="-5" dirty="0">
                <a:solidFill>
                  <a:srgbClr val="C00000"/>
                </a:solidFill>
                <a:latin typeface="Calibri"/>
                <a:cs typeface="Calibri"/>
              </a:rPr>
              <a:t>47</a:t>
            </a:r>
            <a:r>
              <a:rPr lang="zh-CN" altLang="en-US" b="1" spc="-5" dirty="0">
                <a:solidFill>
                  <a:srgbClr val="C00000"/>
                </a:solidFill>
                <a:latin typeface="Calibri"/>
                <a:cs typeface="Calibri"/>
              </a:rPr>
              <a:t>位地址范围</a:t>
            </a:r>
            <a:endParaRPr sz="1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7"/>
              </a:spcBef>
            </a:pPr>
            <a:endParaRPr sz="1450" dirty="0">
              <a:latin typeface="Times New Roman"/>
              <a:cs typeface="Times New Roman"/>
            </a:endParaRPr>
          </a:p>
          <a:p>
            <a:pPr marL="227965">
              <a:lnSpc>
                <a:spcPct val="100000"/>
              </a:lnSpc>
            </a:pPr>
            <a:r>
              <a:rPr sz="1800" b="1" spc="-5" dirty="0">
                <a:latin typeface="Calibri"/>
                <a:cs typeface="Calibri"/>
              </a:rPr>
              <a:t>B</a:t>
            </a:r>
            <a:r>
              <a:rPr sz="1800" b="1" spc="1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=</a:t>
            </a:r>
            <a:endParaRPr sz="1800" dirty="0">
              <a:latin typeface="Calibri"/>
              <a:cs typeface="Calibri"/>
            </a:endParaRPr>
          </a:p>
          <a:p>
            <a:pPr marL="227965">
              <a:lnSpc>
                <a:spcPct val="100000"/>
              </a:lnSpc>
              <a:tabLst>
                <a:tab pos="712470" algn="l"/>
              </a:tabLst>
            </a:pPr>
            <a:r>
              <a:rPr sz="1800" b="1" spc="-5" dirty="0">
                <a:latin typeface="Calibri"/>
                <a:cs typeface="Calibri"/>
              </a:rPr>
              <a:t>S =	,</a:t>
            </a:r>
            <a:r>
              <a:rPr sz="1800" b="1" spc="5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s</a:t>
            </a:r>
            <a:r>
              <a:rPr sz="1800" b="1" spc="-1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=</a:t>
            </a:r>
            <a:endParaRPr sz="1800" dirty="0">
              <a:latin typeface="Calibri"/>
              <a:cs typeface="Calibri"/>
            </a:endParaRPr>
          </a:p>
          <a:p>
            <a:pPr marL="227965" marR="6222365">
              <a:lnSpc>
                <a:spcPct val="100000"/>
              </a:lnSpc>
              <a:tabLst>
                <a:tab pos="715645" algn="l"/>
              </a:tabLst>
            </a:pPr>
            <a:r>
              <a:rPr sz="1800" b="1" spc="-5" dirty="0">
                <a:latin typeface="Calibri"/>
                <a:cs typeface="Calibri"/>
              </a:rPr>
              <a:t>E </a:t>
            </a:r>
            <a:r>
              <a:rPr sz="1800" b="1" dirty="0">
                <a:latin typeface="Calibri"/>
                <a:cs typeface="Calibri"/>
              </a:rPr>
              <a:t>=	</a:t>
            </a:r>
            <a:r>
              <a:rPr sz="1800" b="1" spc="-5" dirty="0">
                <a:latin typeface="Calibri"/>
                <a:cs typeface="Calibri"/>
              </a:rPr>
              <a:t>,</a:t>
            </a:r>
            <a:r>
              <a:rPr sz="1800" b="1" spc="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e</a:t>
            </a:r>
            <a:r>
              <a:rPr sz="1800" b="1" spc="-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= C</a:t>
            </a:r>
            <a:r>
              <a:rPr sz="1800" b="1" spc="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=</a:t>
            </a:r>
            <a:endParaRPr sz="1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357759" y="4112069"/>
            <a:ext cx="2690495" cy="2441575"/>
          </a:xfrm>
          <a:custGeom>
            <a:avLst/>
            <a:gdLst/>
            <a:ahLst/>
            <a:cxnLst/>
            <a:rect l="l" t="t" r="r" b="b"/>
            <a:pathLst>
              <a:path w="2690495" h="2441575">
                <a:moveTo>
                  <a:pt x="0" y="0"/>
                </a:moveTo>
                <a:lnTo>
                  <a:pt x="2690241" y="0"/>
                </a:lnTo>
                <a:lnTo>
                  <a:pt x="2690241" y="2441143"/>
                </a:lnTo>
                <a:lnTo>
                  <a:pt x="0" y="2441143"/>
                </a:lnTo>
                <a:lnTo>
                  <a:pt x="0" y="0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200107" y="4800600"/>
            <a:ext cx="5791835" cy="1752600"/>
          </a:xfrm>
          <a:custGeom>
            <a:avLst/>
            <a:gdLst/>
            <a:ahLst/>
            <a:cxnLst/>
            <a:rect l="l" t="t" r="r" b="b"/>
            <a:pathLst>
              <a:path w="5791834" h="1752600">
                <a:moveTo>
                  <a:pt x="0" y="0"/>
                </a:moveTo>
                <a:lnTo>
                  <a:pt x="5791492" y="0"/>
                </a:lnTo>
                <a:lnTo>
                  <a:pt x="5791492" y="1752600"/>
                </a:lnTo>
                <a:lnTo>
                  <a:pt x="0" y="1752600"/>
                </a:lnTo>
                <a:lnTo>
                  <a:pt x="0" y="0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57018" y="396438"/>
            <a:ext cx="7592093" cy="840480"/>
          </a:xfrm>
          <a:prstGeom prst="rect">
            <a:avLst/>
          </a:prstGeom>
        </p:spPr>
        <p:txBody>
          <a:bodyPr vert="horz" wrap="square" lIns="0" tIns="283712" rIns="0" bIns="0" rtlCol="0">
            <a:spAutoFit/>
          </a:bodyPr>
          <a:lstStyle/>
          <a:p>
            <a:pPr marL="13335">
              <a:lnSpc>
                <a:spcPct val="100000"/>
              </a:lnSpc>
            </a:pPr>
            <a:r>
              <a:rPr lang="zh-CN" altLang="en-US" dirty="0"/>
              <a:t>例子</a:t>
            </a:r>
            <a:r>
              <a:rPr dirty="0"/>
              <a:t>:</a:t>
            </a:r>
            <a:r>
              <a:rPr spc="-20" dirty="0"/>
              <a:t> </a:t>
            </a:r>
            <a:r>
              <a:rPr dirty="0"/>
              <a:t>C</a:t>
            </a:r>
            <a:r>
              <a:rPr spc="-10" dirty="0"/>
              <a:t>o</a:t>
            </a:r>
            <a:r>
              <a:rPr dirty="0"/>
              <a:t>re</a:t>
            </a:r>
            <a:r>
              <a:rPr spc="-15" dirty="0"/>
              <a:t> </a:t>
            </a:r>
            <a:r>
              <a:rPr spc="-5" dirty="0"/>
              <a:t>i7</a:t>
            </a:r>
            <a:r>
              <a:rPr dirty="0"/>
              <a:t> </a:t>
            </a:r>
            <a:r>
              <a:rPr spc="-5" dirty="0"/>
              <a:t>L1</a:t>
            </a:r>
            <a:r>
              <a:rPr dirty="0"/>
              <a:t> </a:t>
            </a:r>
            <a:r>
              <a:rPr spc="-5" dirty="0"/>
              <a:t>Data</a:t>
            </a:r>
            <a:r>
              <a:rPr dirty="0"/>
              <a:t> C</a:t>
            </a:r>
            <a:r>
              <a:rPr spc="-10" dirty="0"/>
              <a:t>a</a:t>
            </a:r>
            <a:r>
              <a:rPr spc="5" dirty="0"/>
              <a:t>c</a:t>
            </a:r>
            <a:r>
              <a:rPr dirty="0"/>
              <a:t>he</a:t>
            </a:r>
          </a:p>
        </p:txBody>
      </p:sp>
      <p:sp>
        <p:nvSpPr>
          <p:cNvPr id="6" name="object 6"/>
          <p:cNvSpPr/>
          <p:nvPr/>
        </p:nvSpPr>
        <p:spPr>
          <a:xfrm>
            <a:off x="357759" y="1188161"/>
            <a:ext cx="7338059" cy="2871470"/>
          </a:xfrm>
          <a:custGeom>
            <a:avLst/>
            <a:gdLst/>
            <a:ahLst/>
            <a:cxnLst/>
            <a:rect l="l" t="t" r="r" b="b"/>
            <a:pathLst>
              <a:path w="7338059" h="2871470">
                <a:moveTo>
                  <a:pt x="0" y="0"/>
                </a:moveTo>
                <a:lnTo>
                  <a:pt x="7337526" y="0"/>
                </a:lnTo>
                <a:lnTo>
                  <a:pt x="7337526" y="2871431"/>
                </a:lnTo>
                <a:lnTo>
                  <a:pt x="0" y="2871431"/>
                </a:lnTo>
                <a:lnTo>
                  <a:pt x="0" y="0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048000" y="1188162"/>
            <a:ext cx="4648199" cy="287143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09612" y="4164202"/>
            <a:ext cx="2044519" cy="126559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771489" y="750887"/>
            <a:ext cx="1372510" cy="344011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57759" y="1188161"/>
            <a:ext cx="7338059" cy="20800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7965" marR="4530725">
              <a:lnSpc>
                <a:spcPct val="100000"/>
              </a:lnSpc>
            </a:pPr>
            <a:r>
              <a:rPr lang="en-US" altLang="zh-CN" b="1" spc="-5" dirty="0">
                <a:solidFill>
                  <a:srgbClr val="C00000"/>
                </a:solidFill>
                <a:latin typeface="Calibri"/>
                <a:cs typeface="Calibri"/>
              </a:rPr>
              <a:t>32 </a:t>
            </a:r>
            <a:r>
              <a:rPr lang="en-US" altLang="zh-CN" b="1" spc="-5" dirty="0" err="1">
                <a:solidFill>
                  <a:srgbClr val="C00000"/>
                </a:solidFill>
                <a:latin typeface="Calibri"/>
                <a:cs typeface="Calibri"/>
              </a:rPr>
              <a:t>kB</a:t>
            </a:r>
            <a:r>
              <a:rPr lang="zh-CN" altLang="en-US" b="1" spc="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lang="en-US" altLang="zh-CN" b="1" spc="-5" dirty="0">
                <a:solidFill>
                  <a:srgbClr val="C00000"/>
                </a:solidFill>
                <a:latin typeface="Calibri"/>
                <a:cs typeface="Calibri"/>
              </a:rPr>
              <a:t>8</a:t>
            </a:r>
            <a:r>
              <a:rPr lang="zh-CN" altLang="en-US" b="1" spc="-5" dirty="0">
                <a:solidFill>
                  <a:srgbClr val="C00000"/>
                </a:solidFill>
                <a:latin typeface="Calibri"/>
                <a:cs typeface="Calibri"/>
              </a:rPr>
              <a:t>路组相联</a:t>
            </a:r>
          </a:p>
          <a:p>
            <a:pPr marL="227965" marR="4530725">
              <a:lnSpc>
                <a:spcPct val="100000"/>
              </a:lnSpc>
            </a:pPr>
            <a:r>
              <a:rPr lang="en-US" altLang="zh-CN" b="1" spc="-10" dirty="0">
                <a:solidFill>
                  <a:srgbClr val="C00000"/>
                </a:solidFill>
                <a:latin typeface="Calibri"/>
                <a:cs typeface="Calibri"/>
              </a:rPr>
              <a:t>6</a:t>
            </a:r>
            <a:r>
              <a:rPr lang="en-US" altLang="zh-CN" b="1" spc="-5" dirty="0">
                <a:solidFill>
                  <a:srgbClr val="C00000"/>
                </a:solidFill>
                <a:latin typeface="Calibri"/>
                <a:cs typeface="Calibri"/>
              </a:rPr>
              <a:t>4</a:t>
            </a:r>
            <a:r>
              <a:rPr lang="zh-CN" altLang="en-US" b="1" dirty="0">
                <a:solidFill>
                  <a:srgbClr val="C00000"/>
                </a:solidFill>
                <a:latin typeface="Calibri"/>
                <a:cs typeface="Calibri"/>
              </a:rPr>
              <a:t> 字节</a:t>
            </a:r>
            <a:r>
              <a:rPr lang="en-US" altLang="zh-CN" b="1" dirty="0">
                <a:solidFill>
                  <a:srgbClr val="C00000"/>
                </a:solidFill>
                <a:latin typeface="Calibri"/>
                <a:cs typeface="Calibri"/>
              </a:rPr>
              <a:t>/</a:t>
            </a:r>
            <a:r>
              <a:rPr lang="zh-CN" altLang="en-US" b="1" dirty="0">
                <a:solidFill>
                  <a:srgbClr val="C00000"/>
                </a:solidFill>
                <a:latin typeface="Calibri"/>
                <a:cs typeface="Calibri"/>
              </a:rPr>
              <a:t>块</a:t>
            </a:r>
            <a:endParaRPr lang="zh-CN" altLang="en-US" dirty="0">
              <a:latin typeface="Calibri"/>
              <a:cs typeface="Calibri"/>
            </a:endParaRPr>
          </a:p>
          <a:p>
            <a:pPr marL="227965">
              <a:lnSpc>
                <a:spcPct val="100000"/>
              </a:lnSpc>
            </a:pPr>
            <a:r>
              <a:rPr lang="en-US" altLang="zh-CN" b="1" spc="-5" dirty="0">
                <a:solidFill>
                  <a:srgbClr val="C00000"/>
                </a:solidFill>
                <a:latin typeface="Calibri"/>
                <a:cs typeface="Calibri"/>
              </a:rPr>
              <a:t>47</a:t>
            </a:r>
            <a:r>
              <a:rPr lang="zh-CN" altLang="en-US" b="1" spc="-5" dirty="0">
                <a:solidFill>
                  <a:srgbClr val="C00000"/>
                </a:solidFill>
                <a:latin typeface="Calibri"/>
                <a:cs typeface="Calibri"/>
              </a:rPr>
              <a:t>位地址范围</a:t>
            </a:r>
            <a:endParaRPr lang="zh-CN" altLang="en-US" dirty="0">
              <a:latin typeface="Calibri"/>
              <a:cs typeface="Calibri"/>
            </a:endParaRPr>
          </a:p>
          <a:p>
            <a:pPr marL="227965">
              <a:lnSpc>
                <a:spcPct val="100000"/>
              </a:lnSpc>
              <a:spcBef>
                <a:spcPts val="1095"/>
              </a:spcBef>
            </a:pPr>
            <a:r>
              <a:rPr sz="1800" b="1" spc="-5" dirty="0">
                <a:latin typeface="Calibri"/>
                <a:cs typeface="Calibri"/>
              </a:rPr>
              <a:t>B</a:t>
            </a:r>
            <a:r>
              <a:rPr sz="1800" b="1" spc="1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=</a:t>
            </a:r>
            <a:r>
              <a:rPr sz="1800" b="1" spc="5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64</a:t>
            </a:r>
            <a:endParaRPr sz="1800" dirty="0">
              <a:latin typeface="Calibri"/>
              <a:cs typeface="Calibri"/>
            </a:endParaRPr>
          </a:p>
          <a:p>
            <a:pPr marL="227965">
              <a:lnSpc>
                <a:spcPct val="100000"/>
              </a:lnSpc>
            </a:pPr>
            <a:r>
              <a:rPr sz="1800" b="1" spc="-5" dirty="0">
                <a:latin typeface="Calibri"/>
                <a:cs typeface="Calibri"/>
              </a:rPr>
              <a:t>S =</a:t>
            </a:r>
            <a:r>
              <a:rPr sz="1800" b="1" spc="15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64,</a:t>
            </a:r>
            <a:r>
              <a:rPr sz="1800" b="1" spc="5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s</a:t>
            </a:r>
            <a:r>
              <a:rPr sz="1800" b="1" spc="-1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=</a:t>
            </a:r>
            <a:r>
              <a:rPr sz="1800" b="1" spc="15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6</a:t>
            </a:r>
            <a:endParaRPr sz="1800" dirty="0">
              <a:latin typeface="Calibri"/>
              <a:cs typeface="Calibri"/>
            </a:endParaRPr>
          </a:p>
          <a:p>
            <a:pPr marL="227965">
              <a:lnSpc>
                <a:spcPct val="100000"/>
              </a:lnSpc>
            </a:pPr>
            <a:r>
              <a:rPr sz="1800" b="1" spc="-5" dirty="0">
                <a:latin typeface="Calibri"/>
                <a:cs typeface="Calibri"/>
              </a:rPr>
              <a:t>E </a:t>
            </a:r>
            <a:r>
              <a:rPr sz="1800" b="1" dirty="0">
                <a:latin typeface="Calibri"/>
                <a:cs typeface="Calibri"/>
              </a:rPr>
              <a:t>=</a:t>
            </a:r>
            <a:r>
              <a:rPr sz="1800" b="1" spc="1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8</a:t>
            </a:r>
            <a:r>
              <a:rPr sz="1800" b="1" spc="-5" dirty="0">
                <a:latin typeface="Calibri"/>
                <a:cs typeface="Calibri"/>
              </a:rPr>
              <a:t>,</a:t>
            </a:r>
            <a:r>
              <a:rPr sz="1800" b="1" spc="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e</a:t>
            </a:r>
            <a:r>
              <a:rPr sz="1800" b="1" spc="-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=</a:t>
            </a:r>
            <a:r>
              <a:rPr sz="1800" b="1" spc="5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3</a:t>
            </a:r>
            <a:endParaRPr sz="1800" dirty="0">
              <a:latin typeface="Calibri"/>
              <a:cs typeface="Calibri"/>
            </a:endParaRPr>
          </a:p>
          <a:p>
            <a:pPr marL="227965">
              <a:lnSpc>
                <a:spcPct val="100000"/>
              </a:lnSpc>
            </a:pPr>
            <a:r>
              <a:rPr sz="1800" b="1" dirty="0">
                <a:latin typeface="Calibri"/>
                <a:cs typeface="Calibri"/>
              </a:rPr>
              <a:t>C</a:t>
            </a:r>
            <a:r>
              <a:rPr sz="1800" b="1" spc="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=</a:t>
            </a:r>
            <a:r>
              <a:rPr sz="1800" b="1" spc="5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64</a:t>
            </a:r>
            <a:r>
              <a:rPr sz="1800" b="1" dirty="0">
                <a:latin typeface="Calibri"/>
                <a:cs typeface="Calibri"/>
              </a:rPr>
              <a:t> x </a:t>
            </a:r>
            <a:r>
              <a:rPr sz="1800" b="1" spc="-5" dirty="0">
                <a:latin typeface="Calibri"/>
                <a:cs typeface="Calibri"/>
              </a:rPr>
              <a:t>64</a:t>
            </a:r>
            <a:r>
              <a:rPr sz="1800" b="1" spc="1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x </a:t>
            </a:r>
            <a:r>
              <a:rPr sz="1800" b="1" spc="-5" dirty="0">
                <a:latin typeface="Calibri"/>
                <a:cs typeface="Calibri"/>
              </a:rPr>
              <a:t>8</a:t>
            </a:r>
            <a:r>
              <a:rPr sz="1800" b="1" dirty="0">
                <a:latin typeface="Calibri"/>
                <a:cs typeface="Calibri"/>
              </a:rPr>
              <a:t> =</a:t>
            </a:r>
            <a:r>
              <a:rPr sz="1800" b="1" spc="15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32,768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57759" y="5502137"/>
            <a:ext cx="2690495" cy="8309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7965" marR="654050">
              <a:lnSpc>
                <a:spcPct val="100000"/>
              </a:lnSpc>
            </a:pPr>
            <a:r>
              <a:rPr sz="1800" b="1" spc="-10" dirty="0">
                <a:latin typeface="Calibri"/>
                <a:cs typeface="Calibri"/>
              </a:rPr>
              <a:t>B</a:t>
            </a:r>
            <a:r>
              <a:rPr sz="1800" b="1" spc="-5" dirty="0">
                <a:latin typeface="Calibri"/>
                <a:cs typeface="Calibri"/>
              </a:rPr>
              <a:t>lo</a:t>
            </a:r>
            <a:r>
              <a:rPr sz="1800" b="1" dirty="0">
                <a:latin typeface="Calibri"/>
                <a:cs typeface="Calibri"/>
              </a:rPr>
              <a:t>ck</a:t>
            </a:r>
            <a:r>
              <a:rPr sz="1800" b="1" spc="-15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o</a:t>
            </a:r>
            <a:r>
              <a:rPr sz="1800" b="1" spc="-10" dirty="0">
                <a:latin typeface="Calibri"/>
                <a:cs typeface="Calibri"/>
              </a:rPr>
              <a:t>f</a:t>
            </a:r>
            <a:r>
              <a:rPr sz="1800" b="1" spc="-20" dirty="0">
                <a:latin typeface="Calibri"/>
                <a:cs typeface="Calibri"/>
              </a:rPr>
              <a:t>f</a:t>
            </a:r>
            <a:r>
              <a:rPr sz="1800" b="1" spc="-5" dirty="0">
                <a:latin typeface="Calibri"/>
                <a:cs typeface="Calibri"/>
              </a:rPr>
              <a:t>s</a:t>
            </a:r>
            <a:r>
              <a:rPr sz="1800" b="1" spc="-10" dirty="0">
                <a:latin typeface="Calibri"/>
                <a:cs typeface="Calibri"/>
              </a:rPr>
              <a:t>e</a:t>
            </a:r>
            <a:r>
              <a:rPr sz="1800" b="1" spc="-5" dirty="0">
                <a:latin typeface="Calibri"/>
                <a:cs typeface="Calibri"/>
              </a:rPr>
              <a:t>t:</a:t>
            </a:r>
            <a:r>
              <a:rPr sz="1800" b="1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 6</a:t>
            </a:r>
            <a:r>
              <a:rPr sz="1800" b="1" spc="1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b</a:t>
            </a:r>
            <a:r>
              <a:rPr sz="1800" b="1" spc="-5" dirty="0">
                <a:latin typeface="Calibri"/>
                <a:cs typeface="Calibri"/>
              </a:rPr>
              <a:t>its S</a:t>
            </a:r>
            <a:r>
              <a:rPr sz="1800" b="1" spc="-10" dirty="0">
                <a:latin typeface="Calibri"/>
                <a:cs typeface="Calibri"/>
              </a:rPr>
              <a:t>e</a:t>
            </a:r>
            <a:r>
              <a:rPr sz="1800" b="1" spc="-5" dirty="0">
                <a:latin typeface="Calibri"/>
                <a:cs typeface="Calibri"/>
              </a:rPr>
              <a:t>t</a:t>
            </a:r>
            <a:r>
              <a:rPr sz="1800" b="1" spc="-15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i</a:t>
            </a:r>
            <a:r>
              <a:rPr sz="1800" b="1" dirty="0">
                <a:latin typeface="Calibri"/>
                <a:cs typeface="Calibri"/>
              </a:rPr>
              <a:t>nd</a:t>
            </a:r>
            <a:r>
              <a:rPr sz="1800" b="1" spc="-20" dirty="0">
                <a:latin typeface="Calibri"/>
                <a:cs typeface="Calibri"/>
              </a:rPr>
              <a:t>e</a:t>
            </a:r>
            <a:r>
              <a:rPr sz="1800" b="1" dirty="0">
                <a:latin typeface="Calibri"/>
                <a:cs typeface="Calibri"/>
              </a:rPr>
              <a:t>x: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6</a:t>
            </a:r>
            <a:r>
              <a:rPr sz="1800" b="1" dirty="0">
                <a:latin typeface="Calibri"/>
                <a:cs typeface="Calibri"/>
              </a:rPr>
              <a:t> b</a:t>
            </a:r>
            <a:r>
              <a:rPr sz="1800" b="1" spc="-5" dirty="0">
                <a:latin typeface="Calibri"/>
                <a:cs typeface="Calibri"/>
              </a:rPr>
              <a:t>i</a:t>
            </a:r>
            <a:r>
              <a:rPr sz="1800" b="1" spc="-10" dirty="0">
                <a:latin typeface="Calibri"/>
                <a:cs typeface="Calibri"/>
              </a:rPr>
              <a:t>t</a:t>
            </a:r>
            <a:r>
              <a:rPr sz="1800" b="1" spc="-5" dirty="0">
                <a:latin typeface="Calibri"/>
                <a:cs typeface="Calibri"/>
              </a:rPr>
              <a:t>s</a:t>
            </a:r>
            <a:r>
              <a:rPr sz="1800" b="1" dirty="0">
                <a:latin typeface="Calibri"/>
                <a:cs typeface="Calibri"/>
              </a:rPr>
              <a:t> </a:t>
            </a:r>
            <a:r>
              <a:rPr sz="1800" b="1" spc="-140" dirty="0">
                <a:latin typeface="Calibri"/>
                <a:cs typeface="Calibri"/>
              </a:rPr>
              <a:t>T</a:t>
            </a:r>
            <a:r>
              <a:rPr sz="1800" b="1" spc="-10" dirty="0">
                <a:latin typeface="Calibri"/>
                <a:cs typeface="Calibri"/>
              </a:rPr>
              <a:t>a</a:t>
            </a:r>
            <a:r>
              <a:rPr sz="1800" b="1" spc="-5" dirty="0">
                <a:latin typeface="Calibri"/>
                <a:cs typeface="Calibri"/>
              </a:rPr>
              <a:t>g: 35</a:t>
            </a:r>
            <a:r>
              <a:rPr sz="1800" b="1" spc="1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b</a:t>
            </a:r>
            <a:r>
              <a:rPr sz="1800" b="1" spc="-5" dirty="0">
                <a:latin typeface="Calibri"/>
                <a:cs typeface="Calibri"/>
              </a:rPr>
              <a:t>its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291542" y="5040629"/>
            <a:ext cx="2458720" cy="5386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10"/>
              </a:lnSpc>
            </a:pPr>
            <a:r>
              <a:rPr lang="zh-CN" altLang="en-US" b="1" spc="-5" dirty="0">
                <a:latin typeface="Calibri"/>
                <a:cs typeface="Calibri"/>
              </a:rPr>
              <a:t>栈地址</a:t>
            </a:r>
            <a:r>
              <a:rPr sz="1800" b="1" spc="-5" dirty="0">
                <a:latin typeface="Calibri"/>
                <a:cs typeface="Calibri"/>
              </a:rPr>
              <a:t>:</a:t>
            </a:r>
            <a:endParaRPr sz="1800" dirty="0">
              <a:latin typeface="Calibri"/>
              <a:cs typeface="Calibri"/>
            </a:endParaRPr>
          </a:p>
          <a:p>
            <a:pPr>
              <a:lnSpc>
                <a:spcPts val="2110"/>
              </a:lnSpc>
            </a:pPr>
            <a:r>
              <a:rPr sz="1800" b="1" dirty="0">
                <a:solidFill>
                  <a:srgbClr val="C00000"/>
                </a:solidFill>
                <a:latin typeface="Courier New"/>
                <a:cs typeface="Courier New"/>
              </a:rPr>
              <a:t>0x</a:t>
            </a:r>
            <a:r>
              <a:rPr sz="1800" b="1" spc="-15" dirty="0">
                <a:solidFill>
                  <a:srgbClr val="C00000"/>
                </a:solidFill>
                <a:latin typeface="Courier New"/>
                <a:cs typeface="Courier New"/>
              </a:rPr>
              <a:t>0</a:t>
            </a:r>
            <a:r>
              <a:rPr sz="1800" b="1" dirty="0">
                <a:solidFill>
                  <a:srgbClr val="C00000"/>
                </a:solidFill>
                <a:latin typeface="Courier New"/>
                <a:cs typeface="Courier New"/>
              </a:rPr>
              <a:t>0</a:t>
            </a:r>
            <a:r>
              <a:rPr sz="1800" b="1" spc="-15" dirty="0">
                <a:solidFill>
                  <a:srgbClr val="C00000"/>
                </a:solidFill>
                <a:latin typeface="Courier New"/>
                <a:cs typeface="Courier New"/>
              </a:rPr>
              <a:t>0</a:t>
            </a:r>
            <a:r>
              <a:rPr sz="1800" b="1" dirty="0">
                <a:solidFill>
                  <a:srgbClr val="C00000"/>
                </a:solidFill>
                <a:latin typeface="Courier New"/>
                <a:cs typeface="Courier New"/>
              </a:rPr>
              <a:t>07</a:t>
            </a:r>
            <a:r>
              <a:rPr sz="1800" b="1" spc="-15" dirty="0">
                <a:solidFill>
                  <a:srgbClr val="C00000"/>
                </a:solidFill>
                <a:latin typeface="Courier New"/>
                <a:cs typeface="Courier New"/>
              </a:rPr>
              <a:t>f</a:t>
            </a:r>
            <a:r>
              <a:rPr sz="1800" b="1" dirty="0">
                <a:solidFill>
                  <a:srgbClr val="C00000"/>
                </a:solidFill>
                <a:latin typeface="Courier New"/>
                <a:cs typeface="Courier New"/>
              </a:rPr>
              <a:t>7</a:t>
            </a:r>
            <a:r>
              <a:rPr sz="1800" b="1" spc="-15" dirty="0">
                <a:solidFill>
                  <a:srgbClr val="C00000"/>
                </a:solidFill>
                <a:latin typeface="Courier New"/>
                <a:cs typeface="Courier New"/>
              </a:rPr>
              <a:t>26</a:t>
            </a:r>
            <a:r>
              <a:rPr sz="1800" b="1" dirty="0">
                <a:solidFill>
                  <a:srgbClr val="C00000"/>
                </a:solidFill>
                <a:latin typeface="Courier New"/>
                <a:cs typeface="Courier New"/>
              </a:rPr>
              <a:t>2a</a:t>
            </a:r>
            <a:r>
              <a:rPr sz="1800" b="1" spc="-15" dirty="0">
                <a:solidFill>
                  <a:srgbClr val="C00000"/>
                </a:solidFill>
                <a:latin typeface="Courier New"/>
                <a:cs typeface="Courier New"/>
              </a:rPr>
              <a:t>1</a:t>
            </a:r>
            <a:r>
              <a:rPr sz="1800" b="1" dirty="0">
                <a:solidFill>
                  <a:srgbClr val="C00000"/>
                </a:solidFill>
                <a:latin typeface="Courier New"/>
                <a:cs typeface="Courier New"/>
              </a:rPr>
              <a:t>e</a:t>
            </a:r>
            <a:r>
              <a:rPr sz="1800" b="1" u="heavy" spc="-15" dirty="0">
                <a:solidFill>
                  <a:srgbClr val="C00000"/>
                </a:solidFill>
                <a:latin typeface="Courier New"/>
                <a:cs typeface="Courier New"/>
              </a:rPr>
              <a:t>0</a:t>
            </a:r>
            <a:r>
              <a:rPr sz="1800" b="1" u="heavy" dirty="0">
                <a:solidFill>
                  <a:srgbClr val="C00000"/>
                </a:solidFill>
                <a:latin typeface="Courier New"/>
                <a:cs typeface="Courier New"/>
              </a:rPr>
              <a:t>10</a:t>
            </a:r>
            <a:endParaRPr sz="1800" dirty="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378394" y="5031485"/>
            <a:ext cx="1177925" cy="8309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b="1" spc="-5" dirty="0">
                <a:solidFill>
                  <a:srgbClr val="C00000"/>
                </a:solidFill>
                <a:latin typeface="Calibri"/>
                <a:cs typeface="Calibri"/>
              </a:rPr>
              <a:t>块偏移</a:t>
            </a:r>
            <a:r>
              <a:rPr lang="en-US" altLang="zh-CN" b="1" spc="-5" dirty="0">
                <a:solidFill>
                  <a:srgbClr val="C00000"/>
                </a:solidFill>
                <a:latin typeface="Calibri"/>
                <a:cs typeface="Calibri"/>
              </a:rPr>
              <a:t>: </a:t>
            </a:r>
            <a:endParaRPr lang="zh-CN" altLang="en-US" b="1" spc="-5" dirty="0">
              <a:solidFill>
                <a:srgbClr val="C00000"/>
              </a:solidFill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lang="zh-CN" altLang="en-US" b="1" spc="-5" dirty="0">
                <a:solidFill>
                  <a:srgbClr val="C00000"/>
                </a:solidFill>
                <a:latin typeface="Calibri"/>
                <a:cs typeface="Calibri"/>
              </a:rPr>
              <a:t>组索引</a:t>
            </a:r>
            <a:r>
              <a:rPr lang="en-US" altLang="zh-CN" b="1" spc="-5" dirty="0">
                <a:solidFill>
                  <a:srgbClr val="C00000"/>
                </a:solidFill>
                <a:latin typeface="Calibri"/>
                <a:cs typeface="Calibri"/>
              </a:rPr>
              <a:t>: </a:t>
            </a:r>
            <a:endParaRPr lang="zh-CN" altLang="en-US" b="1" spc="-5" dirty="0">
              <a:solidFill>
                <a:srgbClr val="C00000"/>
              </a:solidFill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lang="zh-CN" altLang="en-US" b="1" spc="-5" dirty="0">
                <a:solidFill>
                  <a:srgbClr val="C00000"/>
                </a:solidFill>
                <a:latin typeface="Calibri"/>
                <a:cs typeface="Calibri"/>
              </a:rPr>
              <a:t>标记</a:t>
            </a:r>
            <a:r>
              <a:rPr lang="en-US" altLang="zh-CN" b="1" spc="-5" dirty="0">
                <a:solidFill>
                  <a:srgbClr val="C00000"/>
                </a:solidFill>
                <a:latin typeface="Calibri"/>
                <a:cs typeface="Calibri"/>
              </a:rPr>
              <a:t>:</a:t>
            </a:r>
            <a:endParaRPr lang="zh-CN" altLang="en-US" dirty="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178162" y="5034934"/>
            <a:ext cx="547370" cy="502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1800" b="1" dirty="0">
                <a:solidFill>
                  <a:srgbClr val="0070C0"/>
                </a:solidFill>
                <a:latin typeface="Courier New"/>
                <a:cs typeface="Courier New"/>
              </a:rPr>
              <a:t>0x</a:t>
            </a:r>
            <a:r>
              <a:rPr sz="1800" b="1" spc="-15" dirty="0">
                <a:solidFill>
                  <a:srgbClr val="0070C0"/>
                </a:solidFill>
                <a:latin typeface="Courier New"/>
                <a:cs typeface="Courier New"/>
              </a:rPr>
              <a:t>1</a:t>
            </a:r>
            <a:r>
              <a:rPr sz="1800" b="1" dirty="0">
                <a:solidFill>
                  <a:srgbClr val="0070C0"/>
                </a:solidFill>
                <a:latin typeface="Courier New"/>
                <a:cs typeface="Courier New"/>
              </a:rPr>
              <a:t>0</a:t>
            </a:r>
            <a:endParaRPr sz="1800">
              <a:latin typeface="Courier New"/>
              <a:cs typeface="Courier New"/>
            </a:endParaRPr>
          </a:p>
          <a:p>
            <a:pPr marL="137160">
              <a:lnSpc>
                <a:spcPct val="100000"/>
              </a:lnSpc>
            </a:pPr>
            <a:r>
              <a:rPr sz="1800" b="1" dirty="0">
                <a:solidFill>
                  <a:srgbClr val="00B050"/>
                </a:solidFill>
                <a:latin typeface="Courier New"/>
                <a:cs typeface="Courier New"/>
              </a:rPr>
              <a:t>0</a:t>
            </a:r>
            <a:r>
              <a:rPr sz="1800" b="1" spc="-15" dirty="0">
                <a:solidFill>
                  <a:srgbClr val="00B050"/>
                </a:solidFill>
                <a:latin typeface="Courier New"/>
                <a:cs typeface="Courier New"/>
              </a:rPr>
              <a:t>x0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378394" y="5580126"/>
            <a:ext cx="2347595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  <a:tabLst>
                <a:tab pos="843915" algn="l"/>
              </a:tabLst>
            </a:pP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	</a:t>
            </a:r>
            <a:r>
              <a:rPr sz="1800" b="1" dirty="0">
                <a:solidFill>
                  <a:srgbClr val="C00000"/>
                </a:solidFill>
                <a:latin typeface="Courier New"/>
                <a:cs typeface="Courier New"/>
              </a:rPr>
              <a:t>0x</a:t>
            </a:r>
            <a:r>
              <a:rPr sz="1800" b="1" spc="-15" dirty="0">
                <a:solidFill>
                  <a:srgbClr val="C00000"/>
                </a:solidFill>
                <a:latin typeface="Courier New"/>
                <a:cs typeface="Courier New"/>
              </a:rPr>
              <a:t>7</a:t>
            </a:r>
            <a:r>
              <a:rPr sz="1800" b="1" dirty="0">
                <a:solidFill>
                  <a:srgbClr val="C00000"/>
                </a:solidFill>
                <a:latin typeface="Courier New"/>
                <a:cs typeface="Courier New"/>
              </a:rPr>
              <a:t>f</a:t>
            </a:r>
            <a:r>
              <a:rPr sz="1800" b="1" spc="-15" dirty="0">
                <a:solidFill>
                  <a:srgbClr val="C00000"/>
                </a:solidFill>
                <a:latin typeface="Courier New"/>
                <a:cs typeface="Courier New"/>
              </a:rPr>
              <a:t>7</a:t>
            </a:r>
            <a:r>
              <a:rPr sz="1800" b="1" dirty="0">
                <a:solidFill>
                  <a:srgbClr val="C00000"/>
                </a:solidFill>
                <a:latin typeface="Courier New"/>
                <a:cs typeface="Courier New"/>
              </a:rPr>
              <a:t>26</a:t>
            </a:r>
            <a:r>
              <a:rPr sz="1800" b="1" spc="-15" dirty="0">
                <a:solidFill>
                  <a:srgbClr val="C00000"/>
                </a:solidFill>
                <a:latin typeface="Courier New"/>
                <a:cs typeface="Courier New"/>
              </a:rPr>
              <a:t>2</a:t>
            </a:r>
            <a:r>
              <a:rPr sz="1800" b="1" dirty="0">
                <a:solidFill>
                  <a:srgbClr val="C00000"/>
                </a:solidFill>
                <a:latin typeface="Courier New"/>
                <a:cs typeface="Courier New"/>
              </a:rPr>
              <a:t>a</a:t>
            </a:r>
            <a:r>
              <a:rPr sz="1800" b="1" spc="-15" dirty="0">
                <a:solidFill>
                  <a:srgbClr val="C00000"/>
                </a:solidFill>
                <a:latin typeface="Courier New"/>
                <a:cs typeface="Courier New"/>
              </a:rPr>
              <a:t>1</a:t>
            </a:r>
            <a:r>
              <a:rPr sz="1800" b="1" dirty="0">
                <a:solidFill>
                  <a:srgbClr val="C00000"/>
                </a:solidFill>
                <a:latin typeface="Courier New"/>
                <a:cs typeface="Courier New"/>
              </a:rPr>
              <a:t>e</a:t>
            </a:r>
            <a:endParaRPr sz="1800" dirty="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084482" y="6110342"/>
            <a:ext cx="1912620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1800" b="1" dirty="0">
                <a:solidFill>
                  <a:srgbClr val="00B050"/>
                </a:solidFill>
                <a:latin typeface="Courier New"/>
                <a:cs typeface="Courier New"/>
              </a:rPr>
              <a:t>00</a:t>
            </a:r>
            <a:r>
              <a:rPr sz="1800" b="1" spc="-15" dirty="0">
                <a:solidFill>
                  <a:srgbClr val="00B050"/>
                </a:solidFill>
                <a:latin typeface="Courier New"/>
                <a:cs typeface="Courier New"/>
              </a:rPr>
              <a:t>0</a:t>
            </a:r>
            <a:r>
              <a:rPr sz="1800" b="1" dirty="0">
                <a:solidFill>
                  <a:srgbClr val="00B050"/>
                </a:solidFill>
                <a:latin typeface="Courier New"/>
                <a:cs typeface="Courier New"/>
              </a:rPr>
              <a:t>0</a:t>
            </a:r>
            <a:r>
              <a:rPr sz="1800" b="1" spc="-15" dirty="0">
                <a:solidFill>
                  <a:srgbClr val="00B05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00B050"/>
                </a:solidFill>
                <a:latin typeface="Courier New"/>
                <a:cs typeface="Courier New"/>
              </a:rPr>
              <a:t>00</a:t>
            </a:r>
            <a:r>
              <a:rPr sz="1800" b="1" spc="-15" dirty="0">
                <a:solidFill>
                  <a:srgbClr val="0070C0"/>
                </a:solidFill>
                <a:latin typeface="Courier New"/>
                <a:cs typeface="Courier New"/>
              </a:rPr>
              <a:t>0</a:t>
            </a:r>
            <a:r>
              <a:rPr sz="1800" b="1" dirty="0">
                <a:solidFill>
                  <a:srgbClr val="0070C0"/>
                </a:solidFill>
                <a:latin typeface="Courier New"/>
                <a:cs typeface="Courier New"/>
              </a:rPr>
              <a:t>1</a:t>
            </a:r>
            <a:r>
              <a:rPr sz="1800" b="1" spc="-15" dirty="0">
                <a:solidFill>
                  <a:srgbClr val="0070C0"/>
                </a:solidFill>
                <a:latin typeface="Courier New"/>
                <a:cs typeface="Courier New"/>
              </a:rPr>
              <a:t> 0</a:t>
            </a:r>
            <a:r>
              <a:rPr sz="1800" b="1" dirty="0">
                <a:solidFill>
                  <a:srgbClr val="0070C0"/>
                </a:solidFill>
                <a:latin typeface="Courier New"/>
                <a:cs typeface="Courier New"/>
              </a:rPr>
              <a:t>000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114800" y="5557314"/>
            <a:ext cx="1219200" cy="533400"/>
          </a:xfrm>
          <a:custGeom>
            <a:avLst/>
            <a:gdLst/>
            <a:ahLst/>
            <a:cxnLst/>
            <a:rect l="l" t="t" r="r" b="b"/>
            <a:pathLst>
              <a:path w="1219200" h="533400">
                <a:moveTo>
                  <a:pt x="0" y="533400"/>
                </a:moveTo>
                <a:lnTo>
                  <a:pt x="1219200" y="0"/>
                </a:lnTo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770055" y="5562600"/>
            <a:ext cx="152400" cy="533400"/>
          </a:xfrm>
          <a:custGeom>
            <a:avLst/>
            <a:gdLst/>
            <a:ahLst/>
            <a:cxnLst/>
            <a:rect l="l" t="t" r="r" b="b"/>
            <a:pathLst>
              <a:path w="152400" h="533400">
                <a:moveTo>
                  <a:pt x="152400" y="533400"/>
                </a:moveTo>
                <a:lnTo>
                  <a:pt x="0" y="0"/>
                </a:lnTo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57018" y="394767"/>
            <a:ext cx="7592093" cy="843822"/>
          </a:xfrm>
          <a:prstGeom prst="rect">
            <a:avLst/>
          </a:prstGeom>
        </p:spPr>
        <p:txBody>
          <a:bodyPr vert="horz" wrap="square" lIns="0" tIns="287021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zh-CN" altLang="en-US" spc="-5" dirty="0"/>
              <a:t>高速缓存参数的性能影响</a:t>
            </a:r>
            <a:endParaRPr spc="-5" dirty="0"/>
          </a:p>
        </p:txBody>
      </p:sp>
      <p:sp>
        <p:nvSpPr>
          <p:cNvPr id="4" name="object 4"/>
          <p:cNvSpPr txBox="1"/>
          <p:nvPr/>
        </p:nvSpPr>
        <p:spPr>
          <a:xfrm>
            <a:off x="475615" y="1427225"/>
            <a:ext cx="7582534" cy="48628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990000"/>
              </a:buClr>
              <a:buSzPct val="59090"/>
              <a:buFont typeface="Wingdings 2"/>
              <a:buChar char=""/>
              <a:tabLst>
                <a:tab pos="355600" algn="l"/>
              </a:tabLst>
            </a:pPr>
            <a:r>
              <a:rPr lang="zh-CN" altLang="en-US" sz="2200" b="1" spc="5" dirty="0">
                <a:latin typeface="Calibri"/>
                <a:cs typeface="Calibri"/>
              </a:rPr>
              <a:t>不命中率</a:t>
            </a:r>
            <a:endParaRPr sz="2200" dirty="0">
              <a:latin typeface="Calibri"/>
              <a:cs typeface="Calibri"/>
            </a:endParaRPr>
          </a:p>
          <a:p>
            <a:pPr marL="756285" lvl="1" indent="-286385">
              <a:lnSpc>
                <a:spcPts val="2165"/>
              </a:lnSpc>
              <a:spcBef>
                <a:spcPts val="240"/>
              </a:spcBef>
              <a:buClr>
                <a:srgbClr val="990000"/>
              </a:buClr>
              <a:buSzPct val="107894"/>
              <a:buFont typeface="Wingdings"/>
              <a:buChar char=""/>
              <a:tabLst>
                <a:tab pos="756920" algn="l"/>
              </a:tabLst>
            </a:pPr>
            <a:r>
              <a:rPr lang="zh-CN" altLang="en-US" sz="1900" spc="-5" dirty="0">
                <a:latin typeface="Calibri"/>
                <a:cs typeface="Calibri"/>
              </a:rPr>
              <a:t>内存引用不命中的比率</a:t>
            </a:r>
            <a:r>
              <a:rPr sz="1900" spc="-5" dirty="0">
                <a:latin typeface="Calibri"/>
                <a:cs typeface="Calibri"/>
              </a:rPr>
              <a:t>(</a:t>
            </a:r>
            <a:r>
              <a:rPr lang="zh-CN" altLang="en-US" sz="1900" spc="-5" dirty="0">
                <a:latin typeface="Calibri"/>
                <a:cs typeface="Calibri"/>
              </a:rPr>
              <a:t>不命中数量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/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lang="zh-CN" altLang="en-US" sz="1900" dirty="0">
                <a:latin typeface="Calibri"/>
                <a:cs typeface="Calibri"/>
              </a:rPr>
              <a:t>引用数量</a:t>
            </a:r>
            <a:r>
              <a:rPr sz="1900" spc="-5" dirty="0">
                <a:latin typeface="Calibri"/>
                <a:cs typeface="Calibri"/>
              </a:rPr>
              <a:t>)</a:t>
            </a:r>
            <a:endParaRPr sz="1900" dirty="0">
              <a:latin typeface="Calibri"/>
              <a:cs typeface="Calibri"/>
            </a:endParaRPr>
          </a:p>
          <a:p>
            <a:pPr marL="756285">
              <a:lnSpc>
                <a:spcPts val="2165"/>
              </a:lnSpc>
            </a:pPr>
            <a:r>
              <a:rPr sz="1900" spc="-5" dirty="0">
                <a:latin typeface="Calibri"/>
                <a:cs typeface="Calibri"/>
              </a:rPr>
              <a:t>=</a:t>
            </a:r>
            <a:r>
              <a:rPr sz="1900" spc="5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1</a:t>
            </a:r>
            <a:r>
              <a:rPr sz="1900" spc="-10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–</a:t>
            </a:r>
            <a:r>
              <a:rPr sz="1900" spc="5" dirty="0">
                <a:latin typeface="Calibri"/>
                <a:cs typeface="Calibri"/>
              </a:rPr>
              <a:t> </a:t>
            </a:r>
            <a:r>
              <a:rPr lang="zh-CN" altLang="en-US" sz="1900" spc="5" dirty="0">
                <a:latin typeface="Calibri"/>
                <a:cs typeface="Calibri"/>
              </a:rPr>
              <a:t>命中率</a:t>
            </a:r>
            <a:endParaRPr sz="1900" dirty="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225"/>
              </a:spcBef>
              <a:buClr>
                <a:srgbClr val="990000"/>
              </a:buClr>
              <a:buSzPct val="107894"/>
              <a:buFont typeface="Wingdings"/>
              <a:buChar char=""/>
              <a:tabLst>
                <a:tab pos="756920" algn="l"/>
              </a:tabLst>
            </a:pPr>
            <a:r>
              <a:rPr lang="zh-CN" altLang="en-US" sz="1900" spc="-5" dirty="0">
                <a:latin typeface="Calibri"/>
                <a:cs typeface="Calibri"/>
              </a:rPr>
              <a:t>通常大小</a:t>
            </a:r>
            <a:r>
              <a:rPr sz="1900" spc="-5" dirty="0">
                <a:latin typeface="Calibri"/>
                <a:cs typeface="Calibri"/>
              </a:rPr>
              <a:t>(</a:t>
            </a:r>
            <a:r>
              <a:rPr lang="zh-CN" altLang="en-US" sz="1900" spc="-5" dirty="0">
                <a:latin typeface="Calibri"/>
                <a:cs typeface="Calibri"/>
              </a:rPr>
              <a:t>百分比</a:t>
            </a:r>
            <a:r>
              <a:rPr sz="1900" spc="-5" dirty="0">
                <a:latin typeface="Calibri"/>
                <a:cs typeface="Calibri"/>
              </a:rPr>
              <a:t>):</a:t>
            </a:r>
            <a:endParaRPr sz="1900" dirty="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  <a:spcBef>
                <a:spcPts val="225"/>
              </a:spcBef>
              <a:tabLst>
                <a:tab pos="1155065" algn="l"/>
              </a:tabLst>
            </a:pPr>
            <a:r>
              <a:rPr sz="1500" spc="10" dirty="0">
                <a:latin typeface="Wingdings"/>
                <a:cs typeface="Wingdings"/>
              </a:rPr>
              <a:t></a:t>
            </a:r>
            <a:r>
              <a:rPr sz="1500" spc="10" dirty="0">
                <a:latin typeface="Times New Roman"/>
                <a:cs typeface="Times New Roman"/>
              </a:rPr>
              <a:t>	</a:t>
            </a:r>
            <a:r>
              <a:rPr lang="en-US" altLang="zh-CN" sz="1900" spc="-5" dirty="0">
                <a:latin typeface="Calibri"/>
                <a:cs typeface="Calibri"/>
              </a:rPr>
              <a:t> L1</a:t>
            </a:r>
            <a:r>
              <a:rPr lang="zh-CN" altLang="en-US" sz="1900" spc="-5" dirty="0">
                <a:latin typeface="Calibri"/>
                <a:cs typeface="Calibri"/>
              </a:rPr>
              <a:t>的</a:t>
            </a:r>
            <a:r>
              <a:rPr lang="en-US" altLang="zh-CN" sz="1900" spc="-5" dirty="0">
                <a:latin typeface="Calibri"/>
                <a:cs typeface="Calibri"/>
              </a:rPr>
              <a:t>3-10% </a:t>
            </a:r>
            <a:endParaRPr sz="1900" dirty="0">
              <a:latin typeface="Calibri"/>
              <a:cs typeface="Calibri"/>
            </a:endParaRPr>
          </a:p>
          <a:p>
            <a:pPr marL="1155700" lvl="2" indent="-228600">
              <a:lnSpc>
                <a:spcPct val="100000"/>
              </a:lnSpc>
              <a:spcBef>
                <a:spcPts val="225"/>
              </a:spcBef>
              <a:buSzPct val="78947"/>
              <a:buFont typeface="Wingdings"/>
              <a:buChar char=""/>
              <a:tabLst>
                <a:tab pos="1155700" algn="l"/>
              </a:tabLst>
            </a:pPr>
            <a:r>
              <a:rPr lang="zh-CN" altLang="en-US" sz="1900" spc="-5" dirty="0">
                <a:latin typeface="Calibri"/>
                <a:cs typeface="Calibri"/>
              </a:rPr>
              <a:t>取决于大小等因素，对于</a:t>
            </a:r>
            <a:r>
              <a:rPr lang="en-US" altLang="zh-CN" sz="1900" spc="-5" dirty="0">
                <a:latin typeface="Calibri"/>
                <a:cs typeface="Calibri"/>
              </a:rPr>
              <a:t>L2</a:t>
            </a:r>
            <a:r>
              <a:rPr lang="zh-CN" altLang="en-US" sz="1900" spc="-5" dirty="0">
                <a:latin typeface="Calibri"/>
                <a:cs typeface="Calibri"/>
              </a:rPr>
              <a:t>可以很小（例如＜</a:t>
            </a:r>
            <a:r>
              <a:rPr lang="en-US" altLang="zh-CN" sz="1900" spc="-5" dirty="0">
                <a:latin typeface="Calibri"/>
                <a:cs typeface="Calibri"/>
              </a:rPr>
              <a:t>1%</a:t>
            </a:r>
            <a:r>
              <a:rPr lang="zh-CN" altLang="en-US" sz="1900" spc="-5" dirty="0">
                <a:latin typeface="Calibri"/>
                <a:cs typeface="Calibri"/>
              </a:rPr>
              <a:t>）</a:t>
            </a:r>
            <a:endParaRPr sz="19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250"/>
              </a:spcBef>
              <a:buClr>
                <a:srgbClr val="990000"/>
              </a:buClr>
              <a:buSzPct val="59090"/>
              <a:buFont typeface="Wingdings 2"/>
              <a:buChar char=""/>
              <a:tabLst>
                <a:tab pos="355600" algn="l"/>
              </a:tabLst>
            </a:pPr>
            <a:r>
              <a:rPr lang="zh-CN" altLang="en-US" sz="2200" b="1" spc="-5" dirty="0">
                <a:latin typeface="Calibri"/>
                <a:cs typeface="Calibri"/>
              </a:rPr>
              <a:t>命中时间</a:t>
            </a:r>
            <a:endParaRPr sz="2200" dirty="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240"/>
              </a:spcBef>
              <a:buClr>
                <a:srgbClr val="990000"/>
              </a:buClr>
              <a:buSzPct val="107894"/>
              <a:buFont typeface="Wingdings"/>
              <a:buChar char=""/>
              <a:tabLst>
                <a:tab pos="756920" algn="l"/>
              </a:tabLst>
            </a:pPr>
            <a:r>
              <a:rPr lang="zh-CN" altLang="en-US" sz="1900" spc="-10" dirty="0">
                <a:latin typeface="Calibri"/>
                <a:cs typeface="Calibri"/>
              </a:rPr>
              <a:t>从高速缓存传送一个字到</a:t>
            </a:r>
            <a:r>
              <a:rPr lang="en-US" altLang="zh-CN" sz="1900" spc="-10" dirty="0">
                <a:latin typeface="Calibri"/>
                <a:cs typeface="Calibri"/>
              </a:rPr>
              <a:t>CPU</a:t>
            </a:r>
            <a:r>
              <a:rPr lang="zh-CN" altLang="en-US" sz="1900" spc="-10" dirty="0">
                <a:latin typeface="Calibri"/>
                <a:cs typeface="Calibri"/>
              </a:rPr>
              <a:t>的时间</a:t>
            </a:r>
            <a:endParaRPr sz="1900" dirty="0">
              <a:latin typeface="Calibri"/>
              <a:cs typeface="Calibri"/>
            </a:endParaRPr>
          </a:p>
          <a:p>
            <a:pPr marL="1155700" lvl="2" indent="-228600">
              <a:lnSpc>
                <a:spcPct val="100000"/>
              </a:lnSpc>
              <a:spcBef>
                <a:spcPts val="225"/>
              </a:spcBef>
              <a:buSzPct val="78947"/>
              <a:buFont typeface="Wingdings"/>
              <a:buChar char=""/>
              <a:tabLst>
                <a:tab pos="1155700" algn="l"/>
              </a:tabLst>
            </a:pPr>
            <a:r>
              <a:rPr lang="zh-CN" altLang="en-US" sz="1900" spc="-5" dirty="0">
                <a:latin typeface="Calibri"/>
                <a:cs typeface="Calibri"/>
              </a:rPr>
              <a:t>包括组选择、行确认和字选择的时间</a:t>
            </a:r>
            <a:endParaRPr sz="1900" dirty="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225"/>
              </a:spcBef>
              <a:buClr>
                <a:srgbClr val="990000"/>
              </a:buClr>
              <a:buSzPct val="107894"/>
              <a:buFont typeface="Wingdings"/>
              <a:buChar char=""/>
              <a:tabLst>
                <a:tab pos="756920" algn="l"/>
              </a:tabLst>
            </a:pPr>
            <a:r>
              <a:rPr lang="zh-CN" altLang="en-US" sz="1900" spc="-5" dirty="0">
                <a:latin typeface="Calibri"/>
                <a:cs typeface="Calibri"/>
              </a:rPr>
              <a:t>通常大小</a:t>
            </a:r>
            <a:r>
              <a:rPr sz="1900" spc="-5" dirty="0">
                <a:latin typeface="Calibri"/>
                <a:cs typeface="Calibri"/>
              </a:rPr>
              <a:t>:</a:t>
            </a:r>
            <a:endParaRPr sz="1900" dirty="0">
              <a:latin typeface="Calibri"/>
              <a:cs typeface="Calibri"/>
            </a:endParaRPr>
          </a:p>
          <a:p>
            <a:pPr marL="1155700" lvl="2" indent="-228600">
              <a:lnSpc>
                <a:spcPct val="100000"/>
              </a:lnSpc>
              <a:spcBef>
                <a:spcPts val="225"/>
              </a:spcBef>
              <a:buSzPct val="78947"/>
              <a:buFont typeface="Wingdings"/>
              <a:buChar char=""/>
              <a:tabLst>
                <a:tab pos="1155700" algn="l"/>
              </a:tabLst>
            </a:pPr>
            <a:r>
              <a:rPr sz="1900" spc="-15" dirty="0">
                <a:latin typeface="Calibri"/>
                <a:cs typeface="Calibri"/>
              </a:rPr>
              <a:t>L</a:t>
            </a:r>
            <a:r>
              <a:rPr sz="1900" spc="-5" dirty="0">
                <a:latin typeface="Calibri"/>
                <a:cs typeface="Calibri"/>
              </a:rPr>
              <a:t>1</a:t>
            </a:r>
            <a:r>
              <a:rPr lang="zh-CN" altLang="en-US" sz="1900" spc="-5" dirty="0">
                <a:latin typeface="Calibri"/>
                <a:cs typeface="Calibri"/>
              </a:rPr>
              <a:t>的</a:t>
            </a:r>
            <a:r>
              <a:rPr lang="en-US" altLang="zh-CN" sz="1900" spc="-5" dirty="0">
                <a:latin typeface="Calibri"/>
                <a:cs typeface="Calibri"/>
              </a:rPr>
              <a:t>4</a:t>
            </a:r>
            <a:r>
              <a:rPr lang="zh-CN" altLang="en-US" sz="1900" spc="-5" dirty="0">
                <a:latin typeface="Calibri"/>
                <a:cs typeface="Calibri"/>
              </a:rPr>
              <a:t>个时钟周期</a:t>
            </a:r>
            <a:endParaRPr sz="1900" dirty="0">
              <a:latin typeface="Calibri"/>
              <a:cs typeface="Calibri"/>
            </a:endParaRPr>
          </a:p>
          <a:p>
            <a:pPr marL="1155700" lvl="2" indent="-228600">
              <a:spcBef>
                <a:spcPts val="225"/>
              </a:spcBef>
              <a:buSzPct val="78947"/>
              <a:buFont typeface="Wingdings"/>
              <a:buChar char=""/>
              <a:tabLst>
                <a:tab pos="1155700" algn="l"/>
              </a:tabLst>
            </a:pPr>
            <a:r>
              <a:rPr sz="1900" spc="-15" dirty="0">
                <a:latin typeface="Calibri"/>
                <a:cs typeface="Calibri"/>
              </a:rPr>
              <a:t>L</a:t>
            </a:r>
            <a:r>
              <a:rPr sz="1900" spc="-5" dirty="0">
                <a:latin typeface="Calibri"/>
                <a:cs typeface="Calibri"/>
              </a:rPr>
              <a:t>2</a:t>
            </a:r>
            <a:r>
              <a:rPr lang="zh-CN" altLang="en-US" sz="1900" spc="-5" dirty="0">
                <a:latin typeface="Calibri"/>
                <a:cs typeface="Calibri"/>
              </a:rPr>
              <a:t>的</a:t>
            </a:r>
            <a:r>
              <a:rPr lang="en-US" altLang="zh-CN" sz="1900" spc="-5" dirty="0">
                <a:latin typeface="Calibri"/>
                <a:cs typeface="Calibri"/>
              </a:rPr>
              <a:t>10</a:t>
            </a:r>
            <a:r>
              <a:rPr lang="zh-CN" altLang="en-US" sz="1900" spc="-5" dirty="0">
                <a:latin typeface="Calibri"/>
                <a:cs typeface="Calibri"/>
              </a:rPr>
              <a:t>个时钟周期</a:t>
            </a:r>
            <a:endParaRPr sz="19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250"/>
              </a:spcBef>
              <a:buClr>
                <a:srgbClr val="990000"/>
              </a:buClr>
              <a:buSzPct val="59090"/>
              <a:buFont typeface="Wingdings 2"/>
              <a:buChar char=""/>
              <a:tabLst>
                <a:tab pos="355600" algn="l"/>
              </a:tabLst>
            </a:pPr>
            <a:r>
              <a:rPr lang="zh-CN" altLang="en-US" sz="2200" b="1" spc="-10" dirty="0">
                <a:latin typeface="Calibri"/>
                <a:cs typeface="Calibri"/>
              </a:rPr>
              <a:t>不命中处罚</a:t>
            </a:r>
            <a:endParaRPr sz="2200" dirty="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240"/>
              </a:spcBef>
              <a:buClr>
                <a:srgbClr val="990000"/>
              </a:buClr>
              <a:buSzPct val="107894"/>
              <a:buFont typeface="Wingdings"/>
              <a:buChar char=""/>
              <a:tabLst>
                <a:tab pos="756920" algn="l"/>
              </a:tabLst>
            </a:pPr>
            <a:r>
              <a:rPr lang="zh-CN" altLang="en-US" sz="1900" spc="-10" dirty="0">
                <a:latin typeface="Calibri"/>
                <a:cs typeface="Calibri"/>
              </a:rPr>
              <a:t>由于不命中所需要的额外时间</a:t>
            </a:r>
            <a:endParaRPr sz="1900" dirty="0">
              <a:latin typeface="Calibri"/>
              <a:cs typeface="Calibri"/>
            </a:endParaRPr>
          </a:p>
          <a:p>
            <a:pPr marL="1155700" lvl="2" indent="-228600">
              <a:lnSpc>
                <a:spcPct val="100000"/>
              </a:lnSpc>
              <a:spcBef>
                <a:spcPts val="225"/>
              </a:spcBef>
              <a:buSzPct val="78947"/>
              <a:buFont typeface="Wingdings"/>
              <a:buChar char=""/>
              <a:tabLst>
                <a:tab pos="1155700" algn="l"/>
              </a:tabLst>
            </a:pPr>
            <a:r>
              <a:rPr lang="zh-CN" altLang="en-US" sz="1900" spc="-10" dirty="0">
                <a:latin typeface="Calibri"/>
                <a:cs typeface="Calibri"/>
              </a:rPr>
              <a:t>通常是主存的</a:t>
            </a:r>
            <a:r>
              <a:rPr sz="1900" spc="-10" dirty="0">
                <a:latin typeface="Calibri"/>
                <a:cs typeface="Calibri"/>
              </a:rPr>
              <a:t>5</a:t>
            </a:r>
            <a:r>
              <a:rPr sz="1900" spc="-5" dirty="0">
                <a:latin typeface="Calibri"/>
                <a:cs typeface="Calibri"/>
              </a:rPr>
              <a:t>0</a:t>
            </a:r>
            <a:r>
              <a:rPr sz="1900" spc="-10" dirty="0">
                <a:latin typeface="Calibri"/>
                <a:cs typeface="Calibri"/>
              </a:rPr>
              <a:t>-20</a:t>
            </a:r>
            <a:r>
              <a:rPr sz="1900" spc="-5" dirty="0">
                <a:latin typeface="Calibri"/>
                <a:cs typeface="Calibri"/>
              </a:rPr>
              <a:t>0</a:t>
            </a:r>
            <a:r>
              <a:rPr sz="1900" spc="10" dirty="0">
                <a:latin typeface="Calibri"/>
                <a:cs typeface="Calibri"/>
              </a:rPr>
              <a:t> </a:t>
            </a:r>
            <a:r>
              <a:rPr lang="zh-CN" altLang="en-US" sz="1900" spc="10" dirty="0">
                <a:latin typeface="Calibri"/>
                <a:cs typeface="Calibri"/>
              </a:rPr>
              <a:t>个周期</a:t>
            </a:r>
            <a:r>
              <a:rPr sz="1900" spc="5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(</a:t>
            </a:r>
            <a:r>
              <a:rPr lang="zh-CN" altLang="en-US" sz="1900" spc="-5" dirty="0">
                <a:latin typeface="Calibri"/>
                <a:cs typeface="Calibri"/>
              </a:rPr>
              <a:t>增加的趋势</a:t>
            </a:r>
            <a:r>
              <a:rPr sz="1900" spc="-15" dirty="0">
                <a:latin typeface="Calibri"/>
                <a:cs typeface="Calibri"/>
              </a:rPr>
              <a:t>!</a:t>
            </a:r>
            <a:r>
              <a:rPr sz="1900" spc="-5" dirty="0">
                <a:latin typeface="Calibri"/>
                <a:cs typeface="Calibri"/>
              </a:rPr>
              <a:t>)</a:t>
            </a:r>
            <a:endParaRPr sz="19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57018" y="363350"/>
            <a:ext cx="7592093" cy="906657"/>
          </a:xfrm>
          <a:prstGeom prst="rect">
            <a:avLst/>
          </a:prstGeom>
        </p:spPr>
        <p:txBody>
          <a:bodyPr vert="horz" wrap="square" lIns="0" tIns="349249" rIns="0" bIns="0" rtlCol="0">
            <a:spAutoFit/>
          </a:bodyPr>
          <a:lstStyle/>
          <a:p>
            <a:pPr marL="11430">
              <a:lnSpc>
                <a:spcPct val="100000"/>
              </a:lnSpc>
            </a:pPr>
            <a:r>
              <a:rPr lang="zh-CN" altLang="en-US" spc="-5" dirty="0"/>
              <a:t>考虑这些数字</a:t>
            </a:r>
            <a:endParaRPr spc="-5" dirty="0"/>
          </a:p>
        </p:txBody>
      </p:sp>
      <p:sp>
        <p:nvSpPr>
          <p:cNvPr id="4" name="object 4"/>
          <p:cNvSpPr txBox="1"/>
          <p:nvPr/>
        </p:nvSpPr>
        <p:spPr>
          <a:xfrm>
            <a:off x="474662" y="1462913"/>
            <a:ext cx="7018655" cy="45807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990000"/>
              </a:buClr>
              <a:buSzPct val="60416"/>
              <a:buFont typeface="Wingdings 2"/>
              <a:buChar char=""/>
              <a:tabLst>
                <a:tab pos="355600" algn="l"/>
              </a:tabLst>
            </a:pPr>
            <a:r>
              <a:rPr lang="zh-CN" altLang="en-US" sz="2400" b="1" dirty="0">
                <a:latin typeface="Calibri"/>
                <a:cs typeface="Calibri"/>
              </a:rPr>
              <a:t>命中和不命中间的巨大差异</a:t>
            </a:r>
            <a:endParaRPr sz="2400" dirty="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465"/>
              </a:spcBef>
              <a:buClr>
                <a:srgbClr val="990000"/>
              </a:buClr>
              <a:buSzPct val="108333"/>
              <a:buFont typeface="Wingdings"/>
              <a:buChar char=""/>
              <a:tabLst>
                <a:tab pos="756920" algn="l"/>
              </a:tabLst>
            </a:pPr>
            <a:r>
              <a:rPr lang="zh-CN" altLang="en-US" sz="1800" spc="-5" dirty="0">
                <a:latin typeface="Calibri"/>
                <a:cs typeface="Calibri"/>
              </a:rPr>
              <a:t>如果仅仅是</a:t>
            </a:r>
            <a:r>
              <a:rPr lang="en-US" altLang="zh-CN" sz="1800" spc="-5" dirty="0">
                <a:latin typeface="Calibri"/>
                <a:cs typeface="Calibri"/>
              </a:rPr>
              <a:t>L1</a:t>
            </a:r>
            <a:r>
              <a:rPr lang="zh-CN" altLang="en-US" sz="1800" spc="-5" dirty="0">
                <a:latin typeface="Calibri"/>
                <a:cs typeface="Calibri"/>
              </a:rPr>
              <a:t>和主存，差异可能是</a:t>
            </a:r>
            <a:r>
              <a:rPr lang="en-US" altLang="zh-CN" sz="1800" spc="-5" dirty="0">
                <a:latin typeface="Calibri"/>
                <a:cs typeface="Calibri"/>
              </a:rPr>
              <a:t>100</a:t>
            </a:r>
            <a:r>
              <a:rPr lang="zh-CN" altLang="en-US" sz="1800" spc="-5" dirty="0">
                <a:latin typeface="Calibri"/>
                <a:cs typeface="Calibri"/>
              </a:rPr>
              <a:t>倍。</a:t>
            </a:r>
            <a:endParaRPr sz="1800" dirty="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buClr>
                <a:srgbClr val="990000"/>
              </a:buClr>
              <a:buFont typeface="Wingdings"/>
              <a:buChar char=""/>
            </a:pPr>
            <a:endParaRPr sz="20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695"/>
              </a:spcBef>
              <a:buClr>
                <a:srgbClr val="990000"/>
              </a:buClr>
              <a:buSzPct val="60416"/>
              <a:buFont typeface="Wingdings 2"/>
              <a:buChar char=""/>
              <a:tabLst>
                <a:tab pos="355600" algn="l"/>
              </a:tabLst>
            </a:pPr>
            <a:r>
              <a:rPr lang="zh-CN" altLang="en-US" sz="2400" b="1" spc="-5" dirty="0">
                <a:latin typeface="Calibri"/>
                <a:cs typeface="Calibri"/>
              </a:rPr>
              <a:t>你会相信</a:t>
            </a:r>
            <a:r>
              <a:rPr lang="en-US" altLang="zh-CN" sz="2400" b="1" spc="-5" dirty="0">
                <a:latin typeface="Calibri"/>
                <a:cs typeface="Calibri"/>
              </a:rPr>
              <a:t>99%</a:t>
            </a:r>
            <a:r>
              <a:rPr lang="zh-CN" altLang="en-US" sz="2400" b="1" spc="-5" dirty="0">
                <a:latin typeface="Calibri"/>
                <a:cs typeface="Calibri"/>
              </a:rPr>
              <a:t>的命中是</a:t>
            </a:r>
            <a:r>
              <a:rPr lang="en-US" altLang="zh-CN" sz="2400" b="1" spc="-5" dirty="0">
                <a:latin typeface="Calibri"/>
                <a:cs typeface="Calibri"/>
              </a:rPr>
              <a:t>97%</a:t>
            </a:r>
            <a:r>
              <a:rPr lang="zh-CN" altLang="en-US" sz="2400" b="1" spc="-5" dirty="0">
                <a:latin typeface="Calibri"/>
                <a:cs typeface="Calibri"/>
              </a:rPr>
              <a:t>的两倍吗？</a:t>
            </a:r>
            <a:endParaRPr sz="2400" dirty="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465"/>
              </a:spcBef>
              <a:buClr>
                <a:srgbClr val="990000"/>
              </a:buClr>
              <a:buSzPct val="108333"/>
              <a:buFont typeface="Wingdings"/>
              <a:buChar char=""/>
              <a:tabLst>
                <a:tab pos="756920" algn="l"/>
              </a:tabLst>
            </a:pPr>
            <a:r>
              <a:rPr lang="zh-CN" altLang="en-US" dirty="0">
                <a:latin typeface="Calibri"/>
                <a:cs typeface="Calibri"/>
              </a:rPr>
              <a:t>考虑：</a:t>
            </a:r>
            <a:endParaRPr sz="1800" dirty="0">
              <a:latin typeface="Calibri"/>
              <a:cs typeface="Calibri"/>
            </a:endParaRPr>
          </a:p>
          <a:p>
            <a:pPr marL="756285" marR="3845560">
              <a:lnSpc>
                <a:spcPct val="100000"/>
              </a:lnSpc>
            </a:pPr>
            <a:r>
              <a:rPr lang="en-US" altLang="zh-CN" dirty="0">
                <a:latin typeface="Calibri"/>
                <a:cs typeface="Calibri"/>
              </a:rPr>
              <a:t>1</a:t>
            </a:r>
            <a:r>
              <a:rPr lang="zh-CN" altLang="en-US" dirty="0">
                <a:latin typeface="Calibri"/>
                <a:cs typeface="Calibri"/>
              </a:rPr>
              <a:t>周期缓存命中时间</a:t>
            </a:r>
            <a:endParaRPr lang="en-US" altLang="zh-CN" spc="-5" dirty="0">
              <a:latin typeface="Calibri"/>
              <a:cs typeface="Calibri"/>
            </a:endParaRPr>
          </a:p>
          <a:p>
            <a:pPr marL="756285" marR="3845560">
              <a:lnSpc>
                <a:spcPct val="100000"/>
              </a:lnSpc>
            </a:pPr>
            <a:r>
              <a:rPr lang="en-US" altLang="zh-CN" dirty="0">
                <a:latin typeface="Calibri"/>
                <a:cs typeface="Calibri"/>
              </a:rPr>
              <a:t>100</a:t>
            </a:r>
            <a:r>
              <a:rPr lang="zh-CN" altLang="en-US" dirty="0">
                <a:latin typeface="Calibri"/>
                <a:cs typeface="Calibri"/>
              </a:rPr>
              <a:t>个周期的不命中处惩</a:t>
            </a:r>
            <a:endParaRPr lang="en-US" altLang="zh-CN" dirty="0">
              <a:latin typeface="Calibri"/>
              <a:cs typeface="Calibri"/>
            </a:endParaRPr>
          </a:p>
          <a:p>
            <a:pPr marL="756285" marR="3845560">
              <a:lnSpc>
                <a:spcPct val="100000"/>
              </a:lnSpc>
            </a:pPr>
            <a:endParaRPr sz="2600" dirty="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buClr>
                <a:srgbClr val="990000"/>
              </a:buClr>
              <a:buSzPct val="108333"/>
              <a:buFont typeface="Wingdings"/>
              <a:buChar char=""/>
              <a:tabLst>
                <a:tab pos="756920" algn="l"/>
              </a:tabLst>
            </a:pPr>
            <a:r>
              <a:rPr lang="zh-CN" altLang="en-US" spc="-5" dirty="0">
                <a:latin typeface="Calibri"/>
                <a:cs typeface="Calibri"/>
              </a:rPr>
              <a:t>平均访问时间</a:t>
            </a:r>
            <a:r>
              <a:rPr sz="1800" spc="-5" dirty="0">
                <a:latin typeface="Calibri"/>
                <a:cs typeface="Calibri"/>
              </a:rPr>
              <a:t>:</a:t>
            </a:r>
            <a:endParaRPr sz="1800" dirty="0">
              <a:latin typeface="Calibri"/>
              <a:cs typeface="Calibri"/>
            </a:endParaRPr>
          </a:p>
          <a:p>
            <a:pPr marL="807720">
              <a:lnSpc>
                <a:spcPct val="100000"/>
              </a:lnSpc>
              <a:spcBef>
                <a:spcPts val="430"/>
              </a:spcBef>
            </a:pPr>
            <a:r>
              <a:rPr sz="1800" spc="-5" dirty="0">
                <a:latin typeface="Calibri"/>
                <a:cs typeface="Calibri"/>
              </a:rPr>
              <a:t>97%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lang="zh-CN" altLang="en-US" sz="1800" spc="10" dirty="0">
                <a:latin typeface="Calibri"/>
                <a:cs typeface="Calibri"/>
              </a:rPr>
              <a:t>命中</a:t>
            </a:r>
            <a:r>
              <a:rPr sz="1800" spc="-5" dirty="0">
                <a:latin typeface="Calibri"/>
                <a:cs typeface="Calibri"/>
              </a:rPr>
              <a:t>: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1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c</a:t>
            </a:r>
            <a:r>
              <a:rPr sz="1800" spc="-5" dirty="0">
                <a:latin typeface="Calibri"/>
                <a:cs typeface="Calibri"/>
              </a:rPr>
              <a:t>y</a:t>
            </a:r>
            <a:r>
              <a:rPr sz="1800" spc="-15" dirty="0">
                <a:latin typeface="Calibri"/>
                <a:cs typeface="Calibri"/>
              </a:rPr>
              <a:t>c</a:t>
            </a:r>
            <a:r>
              <a:rPr sz="1800" spc="-10" dirty="0">
                <a:latin typeface="Calibri"/>
                <a:cs typeface="Calibri"/>
              </a:rPr>
              <a:t>l</a:t>
            </a:r>
            <a:r>
              <a:rPr sz="1800" spc="-5" dirty="0">
                <a:latin typeface="Calibri"/>
                <a:cs typeface="Calibri"/>
              </a:rPr>
              <a:t>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+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0.</a:t>
            </a:r>
            <a:r>
              <a:rPr sz="1800" spc="-5" dirty="0">
                <a:latin typeface="Calibri"/>
                <a:cs typeface="Calibri"/>
              </a:rPr>
              <a:t>03</a:t>
            </a:r>
            <a:r>
              <a:rPr sz="1800" dirty="0">
                <a:latin typeface="Calibri"/>
                <a:cs typeface="Calibri"/>
              </a:rPr>
              <a:t> x </a:t>
            </a:r>
            <a:r>
              <a:rPr sz="1800" spc="-5" dirty="0">
                <a:latin typeface="Calibri"/>
                <a:cs typeface="Calibri"/>
              </a:rPr>
              <a:t>100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c</a:t>
            </a:r>
            <a:r>
              <a:rPr sz="1800" spc="-5" dirty="0">
                <a:latin typeface="Calibri"/>
                <a:cs typeface="Calibri"/>
              </a:rPr>
              <a:t>y</a:t>
            </a:r>
            <a:r>
              <a:rPr sz="1800" spc="-15" dirty="0">
                <a:latin typeface="Calibri"/>
                <a:cs typeface="Calibri"/>
              </a:rPr>
              <a:t>c</a:t>
            </a:r>
            <a:r>
              <a:rPr sz="1800" spc="-5" dirty="0">
                <a:latin typeface="Calibri"/>
                <a:cs typeface="Calibri"/>
              </a:rPr>
              <a:t>le</a:t>
            </a:r>
            <a:r>
              <a:rPr sz="1800" dirty="0">
                <a:latin typeface="Calibri"/>
                <a:cs typeface="Calibri"/>
              </a:rPr>
              <a:t>s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b="1" spc="-5" dirty="0">
                <a:solidFill>
                  <a:srgbClr val="C00000"/>
                </a:solidFill>
                <a:latin typeface="Calibri"/>
                <a:cs typeface="Calibri"/>
              </a:rPr>
              <a:t>4</a:t>
            </a:r>
            <a:r>
              <a:rPr sz="1800" b="1" spc="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c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y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c</a:t>
            </a:r>
            <a:r>
              <a:rPr sz="1800" b="1" spc="-5" dirty="0">
                <a:solidFill>
                  <a:srgbClr val="C00000"/>
                </a:solidFill>
                <a:latin typeface="Calibri"/>
                <a:cs typeface="Calibri"/>
              </a:rPr>
              <a:t>l</a:t>
            </a:r>
            <a:r>
              <a:rPr sz="1800" b="1" spc="5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1800" b="1" spc="-5" dirty="0">
                <a:solidFill>
                  <a:srgbClr val="C00000"/>
                </a:solidFill>
                <a:latin typeface="Calibri"/>
                <a:cs typeface="Calibri"/>
              </a:rPr>
              <a:t>s</a:t>
            </a:r>
            <a:endParaRPr sz="1800" dirty="0">
              <a:latin typeface="Calibri"/>
              <a:cs typeface="Calibri"/>
            </a:endParaRPr>
          </a:p>
          <a:p>
            <a:pPr marL="807720">
              <a:lnSpc>
                <a:spcPct val="100000"/>
              </a:lnSpc>
              <a:spcBef>
                <a:spcPts val="430"/>
              </a:spcBef>
            </a:pPr>
            <a:r>
              <a:rPr sz="1800" spc="-5" dirty="0">
                <a:latin typeface="Calibri"/>
                <a:cs typeface="Calibri"/>
              </a:rPr>
              <a:t>99%</a:t>
            </a:r>
            <a:r>
              <a:rPr lang="en-US" sz="1800" spc="-5" dirty="0">
                <a:latin typeface="Calibri"/>
                <a:cs typeface="Calibri"/>
              </a:rPr>
              <a:t> </a:t>
            </a:r>
            <a:r>
              <a:rPr lang="zh-CN" altLang="en-US" spc="10" dirty="0">
                <a:latin typeface="Calibri"/>
                <a:cs typeface="Calibri"/>
              </a:rPr>
              <a:t>命中</a:t>
            </a:r>
            <a:r>
              <a:rPr sz="1800" spc="-5" dirty="0">
                <a:latin typeface="Calibri"/>
                <a:cs typeface="Calibri"/>
              </a:rPr>
              <a:t>: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1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c</a:t>
            </a:r>
            <a:r>
              <a:rPr sz="1800" spc="-5" dirty="0">
                <a:latin typeface="Calibri"/>
                <a:cs typeface="Calibri"/>
              </a:rPr>
              <a:t>y</a:t>
            </a:r>
            <a:r>
              <a:rPr sz="1800" spc="-15" dirty="0">
                <a:latin typeface="Calibri"/>
                <a:cs typeface="Calibri"/>
              </a:rPr>
              <a:t>c</a:t>
            </a:r>
            <a:r>
              <a:rPr sz="1800" spc="-10" dirty="0">
                <a:latin typeface="Calibri"/>
                <a:cs typeface="Calibri"/>
              </a:rPr>
              <a:t>l</a:t>
            </a:r>
            <a:r>
              <a:rPr sz="1800" spc="-5" dirty="0">
                <a:latin typeface="Calibri"/>
                <a:cs typeface="Calibri"/>
              </a:rPr>
              <a:t>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+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0.</a:t>
            </a:r>
            <a:r>
              <a:rPr sz="1800" spc="-5" dirty="0">
                <a:latin typeface="Calibri"/>
                <a:cs typeface="Calibri"/>
              </a:rPr>
              <a:t>01</a:t>
            </a:r>
            <a:r>
              <a:rPr sz="1800" dirty="0">
                <a:latin typeface="Calibri"/>
                <a:cs typeface="Calibri"/>
              </a:rPr>
              <a:t> x </a:t>
            </a:r>
            <a:r>
              <a:rPr sz="1800" spc="-5" dirty="0">
                <a:latin typeface="Calibri"/>
                <a:cs typeface="Calibri"/>
              </a:rPr>
              <a:t>100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c</a:t>
            </a:r>
            <a:r>
              <a:rPr sz="1800" spc="-5" dirty="0">
                <a:latin typeface="Calibri"/>
                <a:cs typeface="Calibri"/>
              </a:rPr>
              <a:t>y</a:t>
            </a:r>
            <a:r>
              <a:rPr sz="1800" spc="-15" dirty="0">
                <a:latin typeface="Calibri"/>
                <a:cs typeface="Calibri"/>
              </a:rPr>
              <a:t>c</a:t>
            </a:r>
            <a:r>
              <a:rPr sz="1800" spc="-5" dirty="0">
                <a:latin typeface="Calibri"/>
                <a:cs typeface="Calibri"/>
              </a:rPr>
              <a:t>le</a:t>
            </a:r>
            <a:r>
              <a:rPr sz="1800" dirty="0">
                <a:latin typeface="Calibri"/>
                <a:cs typeface="Calibri"/>
              </a:rPr>
              <a:t>s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 </a:t>
            </a:r>
            <a:r>
              <a:rPr sz="1800" b="1" spc="-5" dirty="0">
                <a:solidFill>
                  <a:srgbClr val="C00000"/>
                </a:solidFill>
                <a:latin typeface="Calibri"/>
                <a:cs typeface="Calibri"/>
              </a:rPr>
              <a:t>2</a:t>
            </a:r>
            <a:r>
              <a:rPr sz="1800" b="1" spc="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c</a:t>
            </a:r>
            <a:r>
              <a:rPr sz="1800" b="1" spc="-10" dirty="0">
                <a:solidFill>
                  <a:srgbClr val="C00000"/>
                </a:solidFill>
                <a:latin typeface="Calibri"/>
                <a:cs typeface="Calibri"/>
              </a:rPr>
              <a:t>y</a:t>
            </a:r>
            <a:r>
              <a:rPr sz="1800" b="1" dirty="0">
                <a:solidFill>
                  <a:srgbClr val="C00000"/>
                </a:solidFill>
                <a:latin typeface="Calibri"/>
                <a:cs typeface="Calibri"/>
              </a:rPr>
              <a:t>c</a:t>
            </a:r>
            <a:r>
              <a:rPr sz="1800" b="1" spc="-5" dirty="0">
                <a:solidFill>
                  <a:srgbClr val="C00000"/>
                </a:solidFill>
                <a:latin typeface="Calibri"/>
                <a:cs typeface="Calibri"/>
              </a:rPr>
              <a:t>l</a:t>
            </a:r>
            <a:r>
              <a:rPr sz="1800" b="1" spc="5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1800" b="1" spc="-5" dirty="0">
                <a:solidFill>
                  <a:srgbClr val="C00000"/>
                </a:solidFill>
                <a:latin typeface="Calibri"/>
                <a:cs typeface="Calibri"/>
              </a:rPr>
              <a:t>s</a:t>
            </a:r>
            <a:endParaRPr sz="1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6"/>
              </a:spcBef>
            </a:pPr>
            <a:endParaRPr sz="245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Clr>
                <a:srgbClr val="990000"/>
              </a:buClr>
              <a:buSzPct val="58333"/>
              <a:buFont typeface="Wingdings 2"/>
              <a:buChar char=""/>
              <a:tabLst>
                <a:tab pos="355600" algn="l"/>
              </a:tabLst>
            </a:pPr>
            <a:r>
              <a:rPr lang="zh-CN" altLang="en-US" sz="2400" b="1" spc="-5" dirty="0">
                <a:solidFill>
                  <a:srgbClr val="C00000"/>
                </a:solidFill>
                <a:latin typeface="Calibri"/>
                <a:cs typeface="Calibri"/>
              </a:rPr>
              <a:t>这就是为什么使用“不命中率”代替“命中率”的原因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57018" y="394767"/>
            <a:ext cx="7592093" cy="843822"/>
          </a:xfrm>
          <a:prstGeom prst="rect">
            <a:avLst/>
          </a:prstGeom>
        </p:spPr>
        <p:txBody>
          <a:bodyPr vert="horz" wrap="square" lIns="0" tIns="287021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zh-CN" altLang="en-US" dirty="0"/>
              <a:t>编写高速缓存友好的代码</a:t>
            </a:r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475615" y="1464183"/>
            <a:ext cx="7116445" cy="23083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990000"/>
              </a:buClr>
              <a:buSzPct val="60416"/>
              <a:buFont typeface="Wingdings 2"/>
              <a:buChar char=""/>
              <a:tabLst>
                <a:tab pos="355600" algn="l"/>
              </a:tabLst>
            </a:pPr>
            <a:r>
              <a:rPr lang="zh-CN" altLang="en-US" sz="2400" b="1" spc="-10" dirty="0">
                <a:latin typeface="Calibri"/>
                <a:cs typeface="Calibri"/>
              </a:rPr>
              <a:t>让最常见的情况运行得快</a:t>
            </a:r>
            <a:endParaRPr sz="2400" dirty="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505"/>
              </a:spcBef>
              <a:buClr>
                <a:srgbClr val="990000"/>
              </a:buClr>
              <a:buSzPct val="110000"/>
              <a:buFont typeface="Wingdings"/>
              <a:buChar char=""/>
              <a:tabLst>
                <a:tab pos="756920" algn="l"/>
              </a:tabLst>
            </a:pPr>
            <a:r>
              <a:rPr lang="zh-CN" altLang="en-US" sz="2000" dirty="0">
                <a:latin typeface="Calibri"/>
                <a:cs typeface="Calibri"/>
              </a:rPr>
              <a:t>集中在核心函数里的循环上</a:t>
            </a:r>
            <a:endParaRPr sz="2000" dirty="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35"/>
              </a:spcBef>
              <a:buClr>
                <a:srgbClr val="990000"/>
              </a:buClr>
              <a:buFont typeface="Wingdings"/>
              <a:buChar char=""/>
            </a:pPr>
            <a:endParaRPr sz="295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Clr>
                <a:srgbClr val="990000"/>
              </a:buClr>
              <a:buSzPct val="60416"/>
              <a:buFont typeface="Wingdings 2"/>
              <a:buChar char=""/>
              <a:tabLst>
                <a:tab pos="355600" algn="l"/>
              </a:tabLst>
            </a:pPr>
            <a:r>
              <a:rPr lang="zh-CN" altLang="en-US" sz="2400" b="1" spc="-10" dirty="0">
                <a:latin typeface="Calibri"/>
                <a:cs typeface="Calibri"/>
              </a:rPr>
              <a:t>尽量减少每个循环内部的缓存不命中数量</a:t>
            </a:r>
            <a:endParaRPr sz="2400" dirty="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505"/>
              </a:spcBef>
              <a:buClr>
                <a:srgbClr val="990000"/>
              </a:buClr>
              <a:buSzPct val="110000"/>
              <a:buFont typeface="Wingdings"/>
              <a:buChar char=""/>
              <a:tabLst>
                <a:tab pos="756920" algn="l"/>
              </a:tabLst>
            </a:pPr>
            <a:r>
              <a:rPr lang="zh-CN" altLang="en-US" sz="2000" spc="-30" dirty="0">
                <a:latin typeface="Calibri"/>
                <a:cs typeface="Calibri"/>
              </a:rPr>
              <a:t>对局部变量的反复引用是好的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</a:t>
            </a:r>
            <a:r>
              <a:rPr lang="zh-CN" altLang="en-US" sz="2000" dirty="0">
                <a:solidFill>
                  <a:srgbClr val="FF0000"/>
                </a:solidFill>
                <a:latin typeface="Calibri"/>
                <a:cs typeface="Calibri"/>
              </a:rPr>
              <a:t>时间局部性</a:t>
            </a:r>
            <a:r>
              <a:rPr sz="2000" dirty="0">
                <a:latin typeface="Calibri"/>
                <a:cs typeface="Calibri"/>
              </a:rPr>
              <a:t>)</a:t>
            </a: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lr>
                <a:srgbClr val="990000"/>
              </a:buClr>
              <a:buSzPct val="110000"/>
              <a:buFont typeface="Wingdings"/>
              <a:buChar char=""/>
              <a:tabLst>
                <a:tab pos="756920" algn="l"/>
              </a:tabLst>
            </a:pPr>
            <a:r>
              <a:rPr lang="zh-CN" altLang="en-US" sz="2000" dirty="0">
                <a:latin typeface="Calibri"/>
                <a:cs typeface="Calibri"/>
              </a:rPr>
              <a:t>步长为</a:t>
            </a:r>
            <a:r>
              <a:rPr lang="en-US" altLang="zh-CN" sz="2000" dirty="0">
                <a:latin typeface="Calibri"/>
                <a:cs typeface="Calibri"/>
              </a:rPr>
              <a:t>1</a:t>
            </a:r>
            <a:r>
              <a:rPr lang="zh-CN" altLang="en-US" sz="2000" dirty="0">
                <a:latin typeface="Calibri"/>
                <a:cs typeface="Calibri"/>
              </a:rPr>
              <a:t>的引用模式是好的</a:t>
            </a:r>
            <a:r>
              <a:rPr sz="2000" dirty="0">
                <a:latin typeface="Calibri"/>
                <a:cs typeface="Calibri"/>
              </a:rPr>
              <a:t>(</a:t>
            </a:r>
            <a:r>
              <a:rPr lang="zh-CN" altLang="en-US" sz="2000" dirty="0">
                <a:solidFill>
                  <a:srgbClr val="FF0000"/>
                </a:solidFill>
                <a:latin typeface="Calibri"/>
                <a:cs typeface="Calibri"/>
              </a:rPr>
              <a:t>空间局部性</a:t>
            </a:r>
            <a:r>
              <a:rPr sz="2000" dirty="0">
                <a:latin typeface="Calibri"/>
                <a:cs typeface="Calibri"/>
              </a:rPr>
              <a:t>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75616" y="4899533"/>
            <a:ext cx="8171180" cy="8617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lang="zh-CN" altLang="en-US" sz="2800" b="1" spc="-60" dirty="0">
                <a:latin typeface="Calibri"/>
                <a:cs typeface="Calibri"/>
              </a:rPr>
              <a:t>关键思想：通过对高速缓冲存储器的理解来量化局部性的定性概念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475615" y="1464183"/>
            <a:ext cx="5361940" cy="19312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990000"/>
              </a:buClr>
              <a:buSzPct val="60416"/>
              <a:buFont typeface="Wingdings 2"/>
              <a:buChar char=""/>
              <a:tabLst>
                <a:tab pos="355600" algn="l"/>
              </a:tabLst>
            </a:pPr>
            <a:r>
              <a:rPr lang="zh-CN" altLang="en-US" sz="2400" b="1" dirty="0">
                <a:solidFill>
                  <a:srgbClr val="C0C0C0"/>
                </a:solidFill>
                <a:latin typeface="Calibri"/>
                <a:cs typeface="Calibri"/>
              </a:rPr>
              <a:t>高速缓存的结构和操作</a:t>
            </a:r>
            <a:endParaRPr sz="24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Clr>
                <a:srgbClr val="990000"/>
              </a:buClr>
              <a:buSzPct val="60416"/>
              <a:buFont typeface="Wingdings 2"/>
              <a:buChar char=""/>
              <a:tabLst>
                <a:tab pos="355600" algn="l"/>
              </a:tabLst>
            </a:pPr>
            <a:r>
              <a:rPr lang="zh-CN" altLang="en-US" sz="2400" b="1" spc="-10" dirty="0">
                <a:latin typeface="Calibri"/>
                <a:cs typeface="Calibri"/>
              </a:rPr>
              <a:t>高速缓存对性能的影响</a:t>
            </a:r>
          </a:p>
          <a:p>
            <a:pPr marL="756285" lvl="1" indent="-286385">
              <a:lnSpc>
                <a:spcPct val="100000"/>
              </a:lnSpc>
              <a:spcBef>
                <a:spcPts val="505"/>
              </a:spcBef>
              <a:buClr>
                <a:srgbClr val="990000"/>
              </a:buClr>
              <a:buSzPct val="110000"/>
              <a:buFont typeface="Wingdings"/>
              <a:buChar char=""/>
              <a:tabLst>
                <a:tab pos="756920" algn="l"/>
              </a:tabLst>
            </a:pPr>
            <a:r>
              <a:rPr lang="zh-CN" altLang="en-US" sz="2000" spc="-5" dirty="0">
                <a:latin typeface="Calibri"/>
                <a:cs typeface="Calibri"/>
              </a:rPr>
              <a:t>存储器山</a:t>
            </a: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lr>
                <a:srgbClr val="990000"/>
              </a:buClr>
              <a:buSzPct val="110000"/>
              <a:buFont typeface="Wingdings"/>
              <a:buChar char=""/>
              <a:tabLst>
                <a:tab pos="756920" algn="l"/>
              </a:tabLst>
            </a:pPr>
            <a:r>
              <a:rPr lang="zh-CN" altLang="en-US" sz="2000" dirty="0">
                <a:solidFill>
                  <a:srgbClr val="C0C0C0"/>
                </a:solidFill>
                <a:latin typeface="Calibri"/>
                <a:cs typeface="Calibri"/>
              </a:rPr>
              <a:t>重新排列循环以提高空间局部性</a:t>
            </a: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lr>
                <a:srgbClr val="990000"/>
              </a:buClr>
              <a:buSzPct val="110000"/>
              <a:buFont typeface="Wingdings"/>
              <a:buChar char=""/>
              <a:tabLst>
                <a:tab pos="756920" algn="l"/>
              </a:tabLst>
            </a:pPr>
            <a:r>
              <a:rPr lang="zh-CN" altLang="en-US" sz="2000" dirty="0">
                <a:solidFill>
                  <a:srgbClr val="C0C0C0"/>
                </a:solidFill>
                <a:latin typeface="Calibri"/>
                <a:cs typeface="Calibri"/>
              </a:rPr>
              <a:t>使用分块以提高时间局部性</a:t>
            </a:r>
          </a:p>
        </p:txBody>
      </p:sp>
      <p:sp>
        <p:nvSpPr>
          <p:cNvPr id="5" name="object 3"/>
          <p:cNvSpPr txBox="1">
            <a:spLocks noGrp="1"/>
          </p:cNvSpPr>
          <p:nvPr>
            <p:ph type="title"/>
          </p:nvPr>
        </p:nvSpPr>
        <p:spPr>
          <a:xfrm>
            <a:off x="357018" y="394767"/>
            <a:ext cx="7592093" cy="843822"/>
          </a:xfrm>
          <a:prstGeom prst="rect">
            <a:avLst/>
          </a:prstGeom>
        </p:spPr>
        <p:txBody>
          <a:bodyPr vert="horz" wrap="square" lIns="0" tIns="287021" rIns="0" bIns="0" rtlCol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lang="zh-CN" altLang="en-US" dirty="0">
                <a:ea typeface="宋体" pitchFamily="2" charset="-122"/>
              </a:rPr>
              <a:t>高速缓存存储器</a:t>
            </a:r>
            <a:endParaRPr spc="-5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57018" y="394767"/>
            <a:ext cx="7592093" cy="843822"/>
          </a:xfrm>
          <a:prstGeom prst="rect">
            <a:avLst/>
          </a:prstGeom>
        </p:spPr>
        <p:txBody>
          <a:bodyPr vert="horz" wrap="square" lIns="0" tIns="287021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zh-CN" altLang="en-US" spc="5" dirty="0"/>
              <a:t>存储器山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75615" y="1464183"/>
            <a:ext cx="6945630" cy="23852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990000"/>
              </a:buClr>
              <a:buSzPct val="60416"/>
              <a:buFont typeface="Wingdings 2"/>
              <a:buChar char=""/>
              <a:tabLst>
                <a:tab pos="355600" algn="l"/>
              </a:tabLst>
            </a:pPr>
            <a:r>
              <a:rPr lang="zh-CN" altLang="en-US" sz="2400" b="1" spc="-5" dirty="0">
                <a:latin typeface="Calibri"/>
                <a:cs typeface="Calibri"/>
              </a:rPr>
              <a:t>吞吐量</a:t>
            </a:r>
            <a:r>
              <a:rPr sz="2400" b="1" spc="-5" dirty="0">
                <a:latin typeface="Calibri"/>
                <a:cs typeface="Calibri"/>
              </a:rPr>
              <a:t>(</a:t>
            </a:r>
            <a:r>
              <a:rPr lang="zh-CN" altLang="en-US" sz="2400" b="1" spc="-5" dirty="0">
                <a:latin typeface="Calibri"/>
                <a:cs typeface="Calibri"/>
              </a:rPr>
              <a:t>读带宽</a:t>
            </a:r>
            <a:r>
              <a:rPr sz="2400" b="1" spc="-10" dirty="0">
                <a:latin typeface="Calibri"/>
                <a:cs typeface="Calibri"/>
              </a:rPr>
              <a:t>)</a:t>
            </a:r>
            <a:endParaRPr sz="2400" dirty="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505"/>
              </a:spcBef>
              <a:buClr>
                <a:srgbClr val="990000"/>
              </a:buClr>
              <a:buSzPct val="110000"/>
              <a:buFont typeface="Wingdings"/>
              <a:buChar char=""/>
              <a:tabLst>
                <a:tab pos="756920" algn="l"/>
              </a:tabLst>
            </a:pPr>
            <a:r>
              <a:rPr lang="zh-CN" altLang="en-US" sz="2000" dirty="0">
                <a:latin typeface="Calibri"/>
                <a:cs typeface="Calibri"/>
              </a:rPr>
              <a:t>以兆字节每秒为单位</a:t>
            </a:r>
            <a:r>
              <a:rPr sz="2000" dirty="0">
                <a:latin typeface="Calibri"/>
                <a:cs typeface="Calibri"/>
              </a:rPr>
              <a:t>(MB/</a:t>
            </a:r>
            <a:r>
              <a:rPr sz="2000" spc="-5" dirty="0">
                <a:latin typeface="Calibri"/>
                <a:cs typeface="Calibri"/>
              </a:rPr>
              <a:t>s</a:t>
            </a:r>
            <a:r>
              <a:rPr sz="2000" dirty="0">
                <a:latin typeface="Calibri"/>
                <a:cs typeface="Calibri"/>
              </a:rPr>
              <a:t>)</a:t>
            </a:r>
          </a:p>
          <a:p>
            <a:pPr lvl="1">
              <a:lnSpc>
                <a:spcPct val="100000"/>
              </a:lnSpc>
              <a:buClr>
                <a:srgbClr val="990000"/>
              </a:buClr>
              <a:buFont typeface="Wingdings"/>
              <a:buChar char=""/>
            </a:pPr>
            <a:endParaRPr sz="2300" dirty="0">
              <a:latin typeface="Times New Roman"/>
              <a:cs typeface="Times New Roman"/>
            </a:endParaRPr>
          </a:p>
          <a:p>
            <a:pPr marL="355600" marR="41275" indent="-342900">
              <a:lnSpc>
                <a:spcPct val="100000"/>
              </a:lnSpc>
              <a:spcBef>
                <a:spcPts val="1360"/>
              </a:spcBef>
              <a:buClr>
                <a:srgbClr val="990000"/>
              </a:buClr>
              <a:buSzPct val="58333"/>
              <a:buFont typeface="Wingdings 2"/>
              <a:buChar char=""/>
              <a:tabLst>
                <a:tab pos="355600" algn="l"/>
              </a:tabLst>
            </a:pPr>
            <a:r>
              <a:rPr lang="zh-CN" altLang="en-US" sz="2400" b="1" dirty="0">
                <a:solidFill>
                  <a:srgbClr val="C00000"/>
                </a:solidFill>
                <a:latin typeface="Calibri"/>
                <a:cs typeface="Calibri"/>
              </a:rPr>
              <a:t>存储器山</a:t>
            </a:r>
            <a:r>
              <a:rPr sz="2400" b="1" spc="-5" dirty="0">
                <a:solidFill>
                  <a:srgbClr val="C00000"/>
                </a:solidFill>
                <a:latin typeface="Calibri"/>
                <a:cs typeface="Calibri"/>
              </a:rPr>
              <a:t>:</a:t>
            </a:r>
            <a:r>
              <a:rPr sz="2400" b="1" spc="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lang="zh-CN" altLang="en-US" sz="2400" b="1" spc="-5" dirty="0">
                <a:latin typeface="Calibri"/>
                <a:cs typeface="Calibri"/>
              </a:rPr>
              <a:t>使用一个空间和时间局部性的函数测量读取吞吐量</a:t>
            </a:r>
            <a:endParaRPr sz="2400" dirty="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505"/>
              </a:spcBef>
              <a:buClr>
                <a:srgbClr val="990000"/>
              </a:buClr>
              <a:buSzPct val="110000"/>
              <a:buFont typeface="Wingdings"/>
              <a:buChar char=""/>
              <a:tabLst>
                <a:tab pos="756920" algn="l"/>
              </a:tabLst>
            </a:pPr>
            <a:r>
              <a:rPr lang="zh-CN" altLang="en-US" sz="2000" dirty="0">
                <a:latin typeface="Calibri"/>
                <a:cs typeface="Calibri"/>
              </a:rPr>
              <a:t>以紧凑的方式表征存储系统的性能</a:t>
            </a:r>
            <a:endParaRPr sz="2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75432" y="762012"/>
            <a:ext cx="6319520" cy="6094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1000" spc="-10" dirty="0">
                <a:latin typeface="Calibri"/>
                <a:cs typeface="Calibri"/>
              </a:rPr>
              <a:t>B</a:t>
            </a:r>
            <a:r>
              <a:rPr sz="1000" spc="-5" dirty="0">
                <a:latin typeface="Calibri"/>
                <a:cs typeface="Calibri"/>
              </a:rPr>
              <a:t>r</a:t>
            </a:r>
            <a:r>
              <a:rPr sz="1000" dirty="0">
                <a:latin typeface="Calibri"/>
                <a:cs typeface="Calibri"/>
              </a:rPr>
              <a:t>y</a:t>
            </a:r>
            <a:r>
              <a:rPr sz="1000" spc="-5" dirty="0">
                <a:latin typeface="Calibri"/>
                <a:cs typeface="Calibri"/>
              </a:rPr>
              <a:t>ant</a:t>
            </a:r>
            <a:r>
              <a:rPr sz="1000" dirty="0">
                <a:latin typeface="Calibri"/>
                <a:cs typeface="Calibri"/>
              </a:rPr>
              <a:t> </a:t>
            </a:r>
            <a:r>
              <a:rPr sz="1000" spc="-5" dirty="0">
                <a:latin typeface="Calibri"/>
                <a:cs typeface="Calibri"/>
              </a:rPr>
              <a:t>and O’Ha</a:t>
            </a:r>
            <a:r>
              <a:rPr sz="1000" spc="-10" dirty="0">
                <a:latin typeface="Calibri"/>
                <a:cs typeface="Calibri"/>
              </a:rPr>
              <a:t>ll</a:t>
            </a:r>
            <a:r>
              <a:rPr sz="1000" spc="-5" dirty="0">
                <a:latin typeface="Calibri"/>
                <a:cs typeface="Calibri"/>
              </a:rPr>
              <a:t>aron,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C</a:t>
            </a:r>
            <a:r>
              <a:rPr sz="1000" spc="-5" dirty="0">
                <a:latin typeface="Calibri"/>
                <a:cs typeface="Calibri"/>
              </a:rPr>
              <a:t>o</a:t>
            </a:r>
            <a:r>
              <a:rPr sz="1000" spc="-10" dirty="0">
                <a:latin typeface="Calibri"/>
                <a:cs typeface="Calibri"/>
              </a:rPr>
              <a:t>m</a:t>
            </a:r>
            <a:r>
              <a:rPr sz="1000" spc="-5" dirty="0">
                <a:latin typeface="Calibri"/>
                <a:cs typeface="Calibri"/>
              </a:rPr>
              <a:t>put</a:t>
            </a:r>
            <a:r>
              <a:rPr sz="1000" spc="-10" dirty="0">
                <a:latin typeface="Calibri"/>
                <a:cs typeface="Calibri"/>
              </a:rPr>
              <a:t>e</a:t>
            </a:r>
            <a:r>
              <a:rPr sz="1000" spc="-5" dirty="0">
                <a:latin typeface="Calibri"/>
                <a:cs typeface="Calibri"/>
              </a:rPr>
              <a:t>r</a:t>
            </a:r>
            <a:r>
              <a:rPr sz="1000" spc="10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S</a:t>
            </a:r>
            <a:r>
              <a:rPr sz="1000" dirty="0">
                <a:latin typeface="Calibri"/>
                <a:cs typeface="Calibri"/>
              </a:rPr>
              <a:t>y</a:t>
            </a:r>
            <a:r>
              <a:rPr sz="1000" spc="-15" dirty="0">
                <a:latin typeface="Calibri"/>
                <a:cs typeface="Calibri"/>
              </a:rPr>
              <a:t>s</a:t>
            </a:r>
            <a:r>
              <a:rPr sz="1000" spc="-5" dirty="0">
                <a:latin typeface="Calibri"/>
                <a:cs typeface="Calibri"/>
              </a:rPr>
              <a:t>t</a:t>
            </a:r>
            <a:r>
              <a:rPr sz="1000" spc="-10" dirty="0">
                <a:latin typeface="Calibri"/>
                <a:cs typeface="Calibri"/>
              </a:rPr>
              <a:t>em</a:t>
            </a:r>
            <a:r>
              <a:rPr sz="1000" spc="-15" dirty="0">
                <a:latin typeface="Calibri"/>
                <a:cs typeface="Calibri"/>
              </a:rPr>
              <a:t>s</a:t>
            </a:r>
            <a:r>
              <a:rPr sz="1000" spc="-5" dirty="0">
                <a:latin typeface="Calibri"/>
                <a:cs typeface="Calibri"/>
              </a:rPr>
              <a:t>:</a:t>
            </a:r>
            <a:r>
              <a:rPr sz="1000" spc="20" dirty="0">
                <a:latin typeface="Calibri"/>
                <a:cs typeface="Calibri"/>
              </a:rPr>
              <a:t> </a:t>
            </a:r>
            <a:r>
              <a:rPr sz="1000" spc="-5" dirty="0">
                <a:latin typeface="Calibri"/>
                <a:cs typeface="Calibri"/>
              </a:rPr>
              <a:t>A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spc="-5" dirty="0">
                <a:latin typeface="Calibri"/>
                <a:cs typeface="Calibri"/>
              </a:rPr>
              <a:t>Pro</a:t>
            </a:r>
            <a:r>
              <a:rPr sz="1000" spc="-10" dirty="0">
                <a:latin typeface="Calibri"/>
                <a:cs typeface="Calibri"/>
              </a:rPr>
              <a:t>g</a:t>
            </a:r>
            <a:r>
              <a:rPr sz="1000" spc="-5" dirty="0">
                <a:latin typeface="Calibri"/>
                <a:cs typeface="Calibri"/>
              </a:rPr>
              <a:t>ra</a:t>
            </a:r>
            <a:r>
              <a:rPr sz="1000" spc="-10" dirty="0">
                <a:latin typeface="Calibri"/>
                <a:cs typeface="Calibri"/>
              </a:rPr>
              <a:t>mme</a:t>
            </a:r>
            <a:r>
              <a:rPr sz="1000" spc="-5" dirty="0">
                <a:latin typeface="Calibri"/>
                <a:cs typeface="Calibri"/>
              </a:rPr>
              <a:t>r’s</a:t>
            </a:r>
            <a:r>
              <a:rPr sz="1000" spc="20" dirty="0">
                <a:latin typeface="Calibri"/>
                <a:cs typeface="Calibri"/>
              </a:rPr>
              <a:t> </a:t>
            </a:r>
            <a:r>
              <a:rPr sz="1000" spc="-5" dirty="0">
                <a:latin typeface="Calibri"/>
                <a:cs typeface="Calibri"/>
              </a:rPr>
              <a:t>P</a:t>
            </a:r>
            <a:r>
              <a:rPr sz="1000" spc="-10" dirty="0">
                <a:latin typeface="Calibri"/>
                <a:cs typeface="Calibri"/>
              </a:rPr>
              <a:t>e</a:t>
            </a:r>
            <a:r>
              <a:rPr sz="1000" spc="-5" dirty="0">
                <a:latin typeface="Calibri"/>
                <a:cs typeface="Calibri"/>
              </a:rPr>
              <a:t>r</a:t>
            </a:r>
            <a:r>
              <a:rPr sz="1000" spc="-15" dirty="0">
                <a:latin typeface="Calibri"/>
                <a:cs typeface="Calibri"/>
              </a:rPr>
              <a:t>s</a:t>
            </a:r>
            <a:r>
              <a:rPr sz="1000" spc="-5" dirty="0">
                <a:latin typeface="Calibri"/>
                <a:cs typeface="Calibri"/>
              </a:rPr>
              <a:t>p</a:t>
            </a:r>
            <a:r>
              <a:rPr sz="1000" spc="-10" dirty="0">
                <a:latin typeface="Calibri"/>
                <a:cs typeface="Calibri"/>
              </a:rPr>
              <a:t>ec</a:t>
            </a:r>
            <a:r>
              <a:rPr sz="1000" spc="-5" dirty="0">
                <a:latin typeface="Calibri"/>
                <a:cs typeface="Calibri"/>
              </a:rPr>
              <a:t>t</a:t>
            </a:r>
            <a:r>
              <a:rPr sz="1000" spc="-10" dirty="0">
                <a:latin typeface="Calibri"/>
                <a:cs typeface="Calibri"/>
              </a:rPr>
              <a:t>i</a:t>
            </a:r>
            <a:r>
              <a:rPr sz="1000" spc="-15" dirty="0">
                <a:latin typeface="Calibri"/>
                <a:cs typeface="Calibri"/>
              </a:rPr>
              <a:t>v</a:t>
            </a:r>
            <a:r>
              <a:rPr sz="1000" spc="-10" dirty="0">
                <a:latin typeface="Calibri"/>
                <a:cs typeface="Calibri"/>
              </a:rPr>
              <a:t>e</a:t>
            </a:r>
            <a:r>
              <a:rPr sz="1000" spc="-5" dirty="0">
                <a:latin typeface="Calibri"/>
                <a:cs typeface="Calibri"/>
              </a:rPr>
              <a:t>,</a:t>
            </a:r>
            <a:r>
              <a:rPr sz="1000" spc="40" dirty="0">
                <a:latin typeface="Calibri"/>
                <a:cs typeface="Calibri"/>
              </a:rPr>
              <a:t> </a:t>
            </a:r>
            <a:r>
              <a:rPr sz="1000" spc="-15" dirty="0">
                <a:latin typeface="Calibri"/>
                <a:cs typeface="Calibri"/>
              </a:rPr>
              <a:t>T</a:t>
            </a:r>
            <a:r>
              <a:rPr sz="1000" spc="-5" dirty="0">
                <a:latin typeface="Calibri"/>
                <a:cs typeface="Calibri"/>
              </a:rPr>
              <a:t>h</a:t>
            </a:r>
            <a:r>
              <a:rPr sz="1000" spc="-10" dirty="0">
                <a:latin typeface="Calibri"/>
                <a:cs typeface="Calibri"/>
              </a:rPr>
              <a:t>i</a:t>
            </a:r>
            <a:r>
              <a:rPr sz="1000" spc="-5" dirty="0">
                <a:latin typeface="Calibri"/>
                <a:cs typeface="Calibri"/>
              </a:rPr>
              <a:t>rd</a:t>
            </a:r>
            <a:r>
              <a:rPr sz="1000" spc="-1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E</a:t>
            </a:r>
            <a:r>
              <a:rPr sz="1000" spc="-5" dirty="0">
                <a:latin typeface="Calibri"/>
                <a:cs typeface="Calibri"/>
              </a:rPr>
              <a:t>d</a:t>
            </a:r>
            <a:r>
              <a:rPr sz="1000" spc="-10" dirty="0">
                <a:latin typeface="Calibri"/>
                <a:cs typeface="Calibri"/>
              </a:rPr>
              <a:t>i</a:t>
            </a:r>
            <a:r>
              <a:rPr sz="1000" spc="-5" dirty="0">
                <a:latin typeface="Calibri"/>
                <a:cs typeface="Calibri"/>
              </a:rPr>
              <a:t>t</a:t>
            </a:r>
            <a:r>
              <a:rPr sz="1000" spc="-10" dirty="0">
                <a:latin typeface="Calibri"/>
                <a:cs typeface="Calibri"/>
              </a:rPr>
              <a:t>i</a:t>
            </a:r>
            <a:r>
              <a:rPr sz="1000" spc="-5" dirty="0">
                <a:latin typeface="Calibri"/>
                <a:cs typeface="Calibri"/>
              </a:rPr>
              <a:t>on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6200" y="762012"/>
            <a:ext cx="6318885" cy="6094095"/>
          </a:xfrm>
          <a:custGeom>
            <a:avLst/>
            <a:gdLst/>
            <a:ahLst/>
            <a:cxnLst/>
            <a:rect l="l" t="t" r="r" b="b"/>
            <a:pathLst>
              <a:path w="6318885" h="6094095">
                <a:moveTo>
                  <a:pt x="0" y="6093968"/>
                </a:moveTo>
                <a:lnTo>
                  <a:pt x="6318389" y="6093968"/>
                </a:lnTo>
                <a:lnTo>
                  <a:pt x="6318389" y="0"/>
                </a:lnTo>
                <a:lnTo>
                  <a:pt x="0" y="0"/>
                </a:lnTo>
                <a:lnTo>
                  <a:pt x="0" y="6093968"/>
                </a:lnTo>
                <a:close/>
              </a:path>
            </a:pathLst>
          </a:custGeom>
          <a:solidFill>
            <a:srgbClr val="F6F5B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6200" y="762000"/>
            <a:ext cx="6318885" cy="6094095"/>
          </a:xfrm>
          <a:custGeom>
            <a:avLst/>
            <a:gdLst/>
            <a:ahLst/>
            <a:cxnLst/>
            <a:rect l="l" t="t" r="r" b="b"/>
            <a:pathLst>
              <a:path w="6318885" h="6094095">
                <a:moveTo>
                  <a:pt x="0" y="0"/>
                </a:moveTo>
                <a:lnTo>
                  <a:pt x="6318389" y="0"/>
                </a:lnTo>
                <a:lnTo>
                  <a:pt x="6318389" y="6093980"/>
                </a:lnTo>
                <a:lnTo>
                  <a:pt x="0" y="609398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54939" y="216432"/>
            <a:ext cx="6296025" cy="8617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zh-CN" altLang="en-US" spc="-5" dirty="0"/>
              <a:t>存储器山</a:t>
            </a:r>
            <a:r>
              <a:rPr lang="en-US" altLang="zh-CN" spc="-5" dirty="0"/>
              <a:t>test</a:t>
            </a:r>
            <a:r>
              <a:rPr lang="zh-CN" altLang="en-US" spc="-5" dirty="0"/>
              <a:t>程序</a:t>
            </a:r>
            <a:endParaRPr spc="-5" dirty="0"/>
          </a:p>
          <a:p>
            <a:pPr marL="12700">
              <a:lnSpc>
                <a:spcPct val="100000"/>
              </a:lnSpc>
              <a:spcBef>
                <a:spcPts val="645"/>
              </a:spcBef>
              <a:tabLst>
                <a:tab pos="2526665" algn="l"/>
              </a:tabLst>
            </a:pPr>
            <a:r>
              <a:rPr sz="1500" dirty="0">
                <a:solidFill>
                  <a:srgbClr val="2D961E"/>
                </a:solidFill>
                <a:latin typeface="Courier New"/>
                <a:cs typeface="Courier New"/>
              </a:rPr>
              <a:t>long </a:t>
            </a:r>
            <a:r>
              <a:rPr sz="1500" dirty="0">
                <a:solidFill>
                  <a:srgbClr val="C1651C"/>
                </a:solidFill>
                <a:latin typeface="Courier New"/>
                <a:cs typeface="Courier New"/>
              </a:rPr>
              <a:t>data</a:t>
            </a:r>
            <a:r>
              <a:rPr sz="1500" dirty="0">
                <a:latin typeface="Courier New"/>
                <a:cs typeface="Courier New"/>
              </a:rPr>
              <a:t>[MAXELEMS];	</a:t>
            </a:r>
            <a:r>
              <a:rPr sz="1500" dirty="0">
                <a:solidFill>
                  <a:srgbClr val="CB2418"/>
                </a:solidFill>
                <a:latin typeface="Courier New"/>
                <a:cs typeface="Courier New"/>
              </a:rPr>
              <a:t>/* Global array to traverse */</a:t>
            </a:r>
            <a:endParaRPr sz="1500" dirty="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4939" y="1279858"/>
            <a:ext cx="5511800" cy="1130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b="1" dirty="0">
                <a:solidFill>
                  <a:srgbClr val="9D0003"/>
                </a:solidFill>
                <a:latin typeface="Courier New"/>
                <a:cs typeface="Courier New"/>
              </a:rPr>
              <a:t>/* test - Iterate over first "elems" elements of</a:t>
            </a:r>
            <a:endParaRPr sz="1500">
              <a:latin typeface="Courier New"/>
              <a:cs typeface="Courier New"/>
            </a:endParaRPr>
          </a:p>
          <a:p>
            <a:pPr marL="127000">
              <a:lnSpc>
                <a:spcPct val="100000"/>
              </a:lnSpc>
            </a:pPr>
            <a:r>
              <a:rPr sz="1500" b="1" dirty="0">
                <a:solidFill>
                  <a:srgbClr val="9D0003"/>
                </a:solidFill>
                <a:latin typeface="Courier New"/>
                <a:cs typeface="Courier New"/>
              </a:rPr>
              <a:t>*</a:t>
            </a:r>
            <a:endParaRPr sz="1500">
              <a:latin typeface="Courier New"/>
              <a:cs typeface="Courier New"/>
            </a:endParaRPr>
          </a:p>
          <a:p>
            <a:pPr marL="127000">
              <a:lnSpc>
                <a:spcPct val="100000"/>
              </a:lnSpc>
            </a:pPr>
            <a:r>
              <a:rPr sz="1500" b="1" dirty="0">
                <a:solidFill>
                  <a:srgbClr val="9D0003"/>
                </a:solidFill>
                <a:latin typeface="Courier New"/>
                <a:cs typeface="Courier New"/>
              </a:rPr>
              <a:t>*</a:t>
            </a:r>
            <a:endParaRPr sz="1500">
              <a:latin typeface="Courier New"/>
              <a:cs typeface="Courier New"/>
            </a:endParaRPr>
          </a:p>
          <a:p>
            <a:pPr marL="12700" marR="5148580" indent="114300">
              <a:lnSpc>
                <a:spcPct val="100000"/>
              </a:lnSpc>
            </a:pPr>
            <a:r>
              <a:rPr sz="1500" b="1" dirty="0">
                <a:solidFill>
                  <a:srgbClr val="9D0003"/>
                </a:solidFill>
                <a:latin typeface="Courier New"/>
                <a:cs typeface="Courier New"/>
              </a:rPr>
              <a:t>*/ </a:t>
            </a:r>
            <a:r>
              <a:rPr sz="1500" b="1" dirty="0">
                <a:solidFill>
                  <a:srgbClr val="2D961E"/>
                </a:solidFill>
                <a:latin typeface="Courier New"/>
                <a:cs typeface="Courier New"/>
              </a:rPr>
              <a:t>int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12140" y="1508458"/>
            <a:ext cx="5626100" cy="901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98500" marR="5080">
              <a:lnSpc>
                <a:spcPct val="100000"/>
              </a:lnSpc>
            </a:pPr>
            <a:r>
              <a:rPr sz="1500" b="1" dirty="0">
                <a:solidFill>
                  <a:srgbClr val="9D0003"/>
                </a:solidFill>
                <a:latin typeface="Courier New"/>
                <a:cs typeface="Courier New"/>
              </a:rPr>
              <a:t>array "data" with stride of "stride", using using 4x4 loop unrolling.</a:t>
            </a:r>
            <a:endParaRPr sz="15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1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500" b="1" dirty="0">
                <a:solidFill>
                  <a:srgbClr val="4A00FF"/>
                </a:solidFill>
                <a:latin typeface="Courier New"/>
                <a:cs typeface="Courier New"/>
              </a:rPr>
              <a:t>test</a:t>
            </a:r>
            <a:r>
              <a:rPr sz="1500" b="1" dirty="0">
                <a:latin typeface="Courier New"/>
                <a:cs typeface="Courier New"/>
              </a:rPr>
              <a:t>(</a:t>
            </a:r>
            <a:r>
              <a:rPr sz="1500" b="1" dirty="0">
                <a:solidFill>
                  <a:srgbClr val="2D961E"/>
                </a:solidFill>
                <a:latin typeface="Courier New"/>
                <a:cs typeface="Courier New"/>
              </a:rPr>
              <a:t>int </a:t>
            </a:r>
            <a:r>
              <a:rPr sz="1500" b="1" dirty="0">
                <a:solidFill>
                  <a:srgbClr val="C1651C"/>
                </a:solidFill>
                <a:latin typeface="Courier New"/>
                <a:cs typeface="Courier New"/>
              </a:rPr>
              <a:t>elems</a:t>
            </a:r>
            <a:r>
              <a:rPr sz="1500" b="1" dirty="0">
                <a:latin typeface="Courier New"/>
                <a:cs typeface="Courier New"/>
              </a:rPr>
              <a:t>, </a:t>
            </a:r>
            <a:r>
              <a:rPr sz="1500" b="1" dirty="0">
                <a:solidFill>
                  <a:srgbClr val="2D961E"/>
                </a:solidFill>
                <a:latin typeface="Courier New"/>
                <a:cs typeface="Courier New"/>
              </a:rPr>
              <a:t>int </a:t>
            </a:r>
            <a:r>
              <a:rPr sz="1500" b="1" dirty="0">
                <a:solidFill>
                  <a:srgbClr val="C1651C"/>
                </a:solidFill>
                <a:latin typeface="Courier New"/>
                <a:cs typeface="Courier New"/>
              </a:rPr>
              <a:t>stride</a:t>
            </a:r>
            <a:r>
              <a:rPr sz="1500" b="1" dirty="0">
                <a:latin typeface="Courier New"/>
                <a:cs typeface="Courier New"/>
              </a:rPr>
              <a:t>) {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12140" y="2422858"/>
            <a:ext cx="482600" cy="673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</a:pPr>
            <a:r>
              <a:rPr sz="1500" b="1" dirty="0">
                <a:solidFill>
                  <a:srgbClr val="2D961E"/>
                </a:solidFill>
                <a:latin typeface="Courier New"/>
                <a:cs typeface="Courier New"/>
              </a:rPr>
              <a:t>long long long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83640" y="2422858"/>
            <a:ext cx="5054600" cy="673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1500" b="1" dirty="0">
                <a:solidFill>
                  <a:srgbClr val="C1651C"/>
                </a:solidFill>
                <a:latin typeface="Courier New"/>
                <a:cs typeface="Courier New"/>
              </a:rPr>
              <a:t>i</a:t>
            </a:r>
            <a:r>
              <a:rPr sz="1500" b="1" dirty="0">
                <a:latin typeface="Courier New"/>
                <a:cs typeface="Courier New"/>
              </a:rPr>
              <a:t>, </a:t>
            </a:r>
            <a:r>
              <a:rPr sz="1500" b="1" dirty="0">
                <a:solidFill>
                  <a:srgbClr val="C1651C"/>
                </a:solidFill>
                <a:latin typeface="Courier New"/>
                <a:cs typeface="Courier New"/>
              </a:rPr>
              <a:t>sx2</a:t>
            </a:r>
            <a:r>
              <a:rPr sz="1500" b="1" dirty="0">
                <a:latin typeface="Courier New"/>
                <a:cs typeface="Courier New"/>
              </a:rPr>
              <a:t>=stride*2, </a:t>
            </a:r>
            <a:r>
              <a:rPr sz="1500" b="1" dirty="0">
                <a:solidFill>
                  <a:srgbClr val="C1651C"/>
                </a:solidFill>
                <a:latin typeface="Courier New"/>
                <a:cs typeface="Courier New"/>
              </a:rPr>
              <a:t>sx3</a:t>
            </a:r>
            <a:r>
              <a:rPr sz="1500" b="1" dirty="0">
                <a:latin typeface="Courier New"/>
                <a:cs typeface="Courier New"/>
              </a:rPr>
              <a:t>=stride*3, </a:t>
            </a:r>
            <a:r>
              <a:rPr sz="1500" b="1" dirty="0">
                <a:solidFill>
                  <a:srgbClr val="C1651C"/>
                </a:solidFill>
                <a:latin typeface="Courier New"/>
                <a:cs typeface="Courier New"/>
              </a:rPr>
              <a:t>sx4</a:t>
            </a:r>
            <a:r>
              <a:rPr sz="1500" b="1" dirty="0">
                <a:latin typeface="Courier New"/>
                <a:cs typeface="Courier New"/>
              </a:rPr>
              <a:t>=stride*4; </a:t>
            </a:r>
            <a:r>
              <a:rPr sz="1500" b="1" dirty="0">
                <a:solidFill>
                  <a:srgbClr val="C1651C"/>
                </a:solidFill>
                <a:latin typeface="Courier New"/>
                <a:cs typeface="Courier New"/>
              </a:rPr>
              <a:t>acc0 </a:t>
            </a:r>
            <a:r>
              <a:rPr sz="1500" b="1" dirty="0">
                <a:latin typeface="Courier New"/>
                <a:cs typeface="Courier New"/>
              </a:rPr>
              <a:t>= 0, </a:t>
            </a:r>
            <a:r>
              <a:rPr sz="1500" b="1" dirty="0">
                <a:solidFill>
                  <a:srgbClr val="C1651C"/>
                </a:solidFill>
                <a:latin typeface="Courier New"/>
                <a:cs typeface="Courier New"/>
              </a:rPr>
              <a:t>acc1 </a:t>
            </a:r>
            <a:r>
              <a:rPr sz="1500" b="1" dirty="0">
                <a:latin typeface="Courier New"/>
                <a:cs typeface="Courier New"/>
              </a:rPr>
              <a:t>= 0, </a:t>
            </a:r>
            <a:r>
              <a:rPr sz="1500" b="1" dirty="0">
                <a:solidFill>
                  <a:srgbClr val="C1651C"/>
                </a:solidFill>
                <a:latin typeface="Courier New"/>
                <a:cs typeface="Courier New"/>
              </a:rPr>
              <a:t>acc2 </a:t>
            </a:r>
            <a:r>
              <a:rPr sz="1500" b="1" dirty="0">
                <a:latin typeface="Courier New"/>
                <a:cs typeface="Courier New"/>
              </a:rPr>
              <a:t>= 0, </a:t>
            </a:r>
            <a:r>
              <a:rPr sz="1500" b="1" dirty="0">
                <a:solidFill>
                  <a:srgbClr val="C1651C"/>
                </a:solidFill>
                <a:latin typeface="Courier New"/>
                <a:cs typeface="Courier New"/>
              </a:rPr>
              <a:t>acc3 </a:t>
            </a:r>
            <a:r>
              <a:rPr sz="1500" b="1" dirty="0">
                <a:latin typeface="Courier New"/>
                <a:cs typeface="Courier New"/>
              </a:rPr>
              <a:t>= 0; </a:t>
            </a:r>
            <a:r>
              <a:rPr sz="1500" b="1" dirty="0">
                <a:solidFill>
                  <a:srgbClr val="C1651C"/>
                </a:solidFill>
                <a:latin typeface="Courier New"/>
                <a:cs typeface="Courier New"/>
              </a:rPr>
              <a:t>length </a:t>
            </a:r>
            <a:r>
              <a:rPr sz="1500" b="1" dirty="0">
                <a:latin typeface="Courier New"/>
                <a:cs typeface="Courier New"/>
              </a:rPr>
              <a:t>= elems, </a:t>
            </a:r>
            <a:r>
              <a:rPr sz="1500" b="1" dirty="0">
                <a:solidFill>
                  <a:srgbClr val="C1651C"/>
                </a:solidFill>
                <a:latin typeface="Courier New"/>
                <a:cs typeface="Courier New"/>
              </a:rPr>
              <a:t>limit </a:t>
            </a:r>
            <a:r>
              <a:rPr sz="1500" b="1" dirty="0">
                <a:latin typeface="Courier New"/>
                <a:cs typeface="Courier New"/>
              </a:rPr>
              <a:t>= length - sx4;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12140" y="3337259"/>
            <a:ext cx="3911600" cy="21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b="1" dirty="0">
                <a:solidFill>
                  <a:srgbClr val="CB2418"/>
                </a:solidFill>
                <a:latin typeface="Courier New"/>
                <a:cs typeface="Courier New"/>
              </a:rPr>
              <a:t>/* Combine 4 elements at a time */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12140" y="3565859"/>
            <a:ext cx="3911600" cy="1358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9900" marR="5080" indent="-457200">
              <a:lnSpc>
                <a:spcPct val="100000"/>
              </a:lnSpc>
            </a:pPr>
            <a:r>
              <a:rPr sz="1500" b="1" dirty="0">
                <a:solidFill>
                  <a:srgbClr val="C200FF"/>
                </a:solidFill>
                <a:latin typeface="Courier New"/>
                <a:cs typeface="Courier New"/>
              </a:rPr>
              <a:t>for </a:t>
            </a:r>
            <a:r>
              <a:rPr sz="1500" b="1" dirty="0">
                <a:latin typeface="Courier New"/>
                <a:cs typeface="Courier New"/>
              </a:rPr>
              <a:t>(i = 0; i &lt; limit; i += sx4) { acc0</a:t>
            </a:r>
            <a:endParaRPr sz="1500">
              <a:latin typeface="Courier New"/>
              <a:cs typeface="Courier New"/>
            </a:endParaRPr>
          </a:p>
          <a:p>
            <a:pPr marL="469900" marR="2976880" algn="just">
              <a:lnSpc>
                <a:spcPct val="100000"/>
              </a:lnSpc>
            </a:pPr>
            <a:r>
              <a:rPr sz="1500" b="1" dirty="0">
                <a:latin typeface="Courier New"/>
                <a:cs typeface="Courier New"/>
              </a:rPr>
              <a:t>acc1 acc2 acc3</a:t>
            </a:r>
            <a:endParaRPr sz="15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500" b="1" dirty="0">
                <a:latin typeface="Courier New"/>
                <a:cs typeface="Courier New"/>
              </a:rPr>
              <a:t>}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640840" y="3794459"/>
            <a:ext cx="711200" cy="901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b="1" dirty="0">
                <a:latin typeface="Courier New"/>
                <a:cs typeface="Courier New"/>
              </a:rPr>
              <a:t>= acc0</a:t>
            </a:r>
            <a:endParaRPr sz="15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500" b="1" dirty="0">
                <a:latin typeface="Courier New"/>
                <a:cs typeface="Courier New"/>
              </a:rPr>
              <a:t>= acc1</a:t>
            </a:r>
            <a:endParaRPr sz="15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500" b="1" dirty="0">
                <a:latin typeface="Courier New"/>
                <a:cs typeface="Courier New"/>
              </a:rPr>
              <a:t>= acc2</a:t>
            </a:r>
            <a:endParaRPr sz="15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500" b="1" dirty="0">
                <a:latin typeface="Courier New"/>
                <a:cs typeface="Courier New"/>
              </a:rPr>
              <a:t>= acc3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440940" y="3794459"/>
            <a:ext cx="1968500" cy="901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b="1" dirty="0">
                <a:latin typeface="Courier New"/>
                <a:cs typeface="Courier New"/>
              </a:rPr>
              <a:t>+ data[i];</a:t>
            </a:r>
            <a:endParaRPr sz="15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500" b="1" dirty="0">
                <a:latin typeface="Courier New"/>
                <a:cs typeface="Courier New"/>
              </a:rPr>
              <a:t>+ data[i+stride];</a:t>
            </a:r>
            <a:endParaRPr sz="15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500" b="1" dirty="0">
                <a:latin typeface="Courier New"/>
                <a:cs typeface="Courier New"/>
              </a:rPr>
              <a:t>+ data[i+sx2];</a:t>
            </a:r>
            <a:endParaRPr sz="15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500" b="1" dirty="0">
                <a:latin typeface="Courier New"/>
                <a:cs typeface="Courier New"/>
              </a:rPr>
              <a:t>+ data[i+sx3];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12140" y="5166059"/>
            <a:ext cx="4025900" cy="673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1500" b="1" dirty="0">
                <a:solidFill>
                  <a:srgbClr val="CB2418"/>
                </a:solidFill>
                <a:latin typeface="Courier New"/>
                <a:cs typeface="Courier New"/>
              </a:rPr>
              <a:t>/* Finish any remaining elements */ </a:t>
            </a:r>
            <a:r>
              <a:rPr sz="1500" b="1" dirty="0">
                <a:solidFill>
                  <a:srgbClr val="C200FF"/>
                </a:solidFill>
                <a:latin typeface="Courier New"/>
                <a:cs typeface="Courier New"/>
              </a:rPr>
              <a:t>for </a:t>
            </a:r>
            <a:r>
              <a:rPr sz="1500" b="1" dirty="0">
                <a:latin typeface="Courier New"/>
                <a:cs typeface="Courier New"/>
              </a:rPr>
              <a:t>(; i &lt; length; i++) {</a:t>
            </a:r>
            <a:endParaRPr sz="150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</a:pPr>
            <a:r>
              <a:rPr sz="1500" b="1" dirty="0">
                <a:latin typeface="Courier New"/>
                <a:cs typeface="Courier New"/>
              </a:rPr>
              <a:t>acc0 = acc0 + data[i];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12140" y="5851859"/>
            <a:ext cx="1739900" cy="444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b="1" dirty="0">
                <a:latin typeface="Courier New"/>
                <a:cs typeface="Courier New"/>
              </a:rPr>
              <a:t>}</a:t>
            </a:r>
            <a:endParaRPr sz="15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500" b="1" dirty="0">
                <a:solidFill>
                  <a:srgbClr val="C200FF"/>
                </a:solidFill>
                <a:latin typeface="Courier New"/>
                <a:cs typeface="Courier New"/>
              </a:rPr>
              <a:t>return </a:t>
            </a:r>
            <a:r>
              <a:rPr sz="1500" b="1" dirty="0">
                <a:latin typeface="Courier New"/>
                <a:cs typeface="Courier New"/>
              </a:rPr>
              <a:t>((acc0 +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440940" y="6080459"/>
            <a:ext cx="3838575" cy="553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b="1" dirty="0">
                <a:latin typeface="Courier New"/>
                <a:cs typeface="Courier New"/>
              </a:rPr>
              <a:t>acc1) + (acc2 + acc3));</a:t>
            </a:r>
            <a:endParaRPr sz="1500">
              <a:latin typeface="Courier New"/>
              <a:cs typeface="Courier New"/>
            </a:endParaRPr>
          </a:p>
          <a:p>
            <a:pPr marL="1229995">
              <a:lnSpc>
                <a:spcPct val="100000"/>
              </a:lnSpc>
              <a:spcBef>
                <a:spcPts val="475"/>
              </a:spcBef>
            </a:pPr>
            <a:r>
              <a:rPr sz="1800" b="1" i="1" dirty="0">
                <a:solidFill>
                  <a:srgbClr val="808080"/>
                </a:solidFill>
                <a:latin typeface="Courier New"/>
                <a:cs typeface="Courier New"/>
              </a:rPr>
              <a:t>mo</a:t>
            </a:r>
            <a:r>
              <a:rPr sz="1800" b="1" i="1" spc="-15" dirty="0">
                <a:solidFill>
                  <a:srgbClr val="808080"/>
                </a:solidFill>
                <a:latin typeface="Courier New"/>
                <a:cs typeface="Courier New"/>
              </a:rPr>
              <a:t>u</a:t>
            </a:r>
            <a:r>
              <a:rPr sz="1800" b="1" i="1" dirty="0">
                <a:solidFill>
                  <a:srgbClr val="808080"/>
                </a:solidFill>
                <a:latin typeface="Courier New"/>
                <a:cs typeface="Courier New"/>
              </a:rPr>
              <a:t>n</a:t>
            </a:r>
            <a:r>
              <a:rPr sz="1800" b="1" i="1" spc="-15" dirty="0">
                <a:solidFill>
                  <a:srgbClr val="808080"/>
                </a:solidFill>
                <a:latin typeface="Courier New"/>
                <a:cs typeface="Courier New"/>
              </a:rPr>
              <a:t>t</a:t>
            </a:r>
            <a:r>
              <a:rPr sz="1800" b="1" i="1" dirty="0">
                <a:solidFill>
                  <a:srgbClr val="808080"/>
                </a:solidFill>
                <a:latin typeface="Courier New"/>
                <a:cs typeface="Courier New"/>
              </a:rPr>
              <a:t>ai</a:t>
            </a:r>
            <a:r>
              <a:rPr sz="1800" b="1" i="1" spc="-15" dirty="0">
                <a:solidFill>
                  <a:srgbClr val="808080"/>
                </a:solidFill>
                <a:latin typeface="Courier New"/>
                <a:cs typeface="Courier New"/>
              </a:rPr>
              <a:t>n</a:t>
            </a:r>
            <a:r>
              <a:rPr sz="1800" b="1" i="1" dirty="0">
                <a:solidFill>
                  <a:srgbClr val="808080"/>
                </a:solidFill>
                <a:latin typeface="Courier New"/>
                <a:cs typeface="Courier New"/>
              </a:rPr>
              <a:t>/</a:t>
            </a:r>
            <a:r>
              <a:rPr sz="1800" b="1" i="1" spc="-15" dirty="0">
                <a:solidFill>
                  <a:srgbClr val="808080"/>
                </a:solidFill>
                <a:latin typeface="Courier New"/>
                <a:cs typeface="Courier New"/>
              </a:rPr>
              <a:t>mo</a:t>
            </a:r>
            <a:r>
              <a:rPr sz="1800" b="1" i="1" dirty="0">
                <a:solidFill>
                  <a:srgbClr val="808080"/>
                </a:solidFill>
                <a:latin typeface="Courier New"/>
                <a:cs typeface="Courier New"/>
              </a:rPr>
              <a:t>un</a:t>
            </a:r>
            <a:r>
              <a:rPr sz="1800" b="1" i="1" spc="-15" dirty="0">
                <a:solidFill>
                  <a:srgbClr val="808080"/>
                </a:solidFill>
                <a:latin typeface="Courier New"/>
                <a:cs typeface="Courier New"/>
              </a:rPr>
              <a:t>t</a:t>
            </a:r>
            <a:r>
              <a:rPr sz="1800" b="1" i="1" dirty="0">
                <a:solidFill>
                  <a:srgbClr val="808080"/>
                </a:solidFill>
                <a:latin typeface="Courier New"/>
                <a:cs typeface="Courier New"/>
              </a:rPr>
              <a:t>a</a:t>
            </a:r>
            <a:r>
              <a:rPr sz="1800" b="1" i="1" spc="-15" dirty="0">
                <a:solidFill>
                  <a:srgbClr val="808080"/>
                </a:solidFill>
                <a:latin typeface="Courier New"/>
                <a:cs typeface="Courier New"/>
              </a:rPr>
              <a:t>i</a:t>
            </a:r>
            <a:r>
              <a:rPr sz="1800" b="1" i="1" dirty="0">
                <a:solidFill>
                  <a:srgbClr val="808080"/>
                </a:solidFill>
                <a:latin typeface="Courier New"/>
                <a:cs typeface="Courier New"/>
              </a:rPr>
              <a:t>n.c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54939" y="6309059"/>
            <a:ext cx="139700" cy="21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b="1" dirty="0">
                <a:latin typeface="Courier New"/>
                <a:cs typeface="Courier New"/>
              </a:rPr>
              <a:t>}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555513" y="1513586"/>
            <a:ext cx="2299970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</a:pPr>
            <a:r>
              <a:rPr lang="zh-CN" altLang="en-US" b="1" spc="-5" dirty="0">
                <a:latin typeface="Calibri"/>
                <a:cs typeface="Courier New"/>
              </a:rPr>
              <a:t>以多种</a:t>
            </a:r>
            <a:r>
              <a:rPr lang="en-US" altLang="zh-CN" b="1" spc="-5" dirty="0" err="1">
                <a:latin typeface="Calibri"/>
                <a:cs typeface="Courier New"/>
              </a:rPr>
              <a:t>elems</a:t>
            </a:r>
            <a:r>
              <a:rPr lang="zh-CN" altLang="en-US" b="1" spc="-5" dirty="0">
                <a:latin typeface="Calibri"/>
                <a:cs typeface="Courier New"/>
              </a:rPr>
              <a:t>和</a:t>
            </a:r>
            <a:r>
              <a:rPr lang="en-US" altLang="zh-CN" b="1" spc="-5" dirty="0">
                <a:latin typeface="Calibri"/>
                <a:cs typeface="Courier New"/>
              </a:rPr>
              <a:t>stride</a:t>
            </a:r>
            <a:r>
              <a:rPr lang="zh-CN" altLang="en-US" b="1" spc="-5" dirty="0">
                <a:latin typeface="Calibri"/>
                <a:cs typeface="Courier New"/>
              </a:rPr>
              <a:t>值的组合调用</a:t>
            </a:r>
            <a:r>
              <a:rPr lang="en-US" altLang="zh-CN" b="1" spc="-5" dirty="0">
                <a:latin typeface="Calibri"/>
                <a:cs typeface="Courier New"/>
              </a:rPr>
              <a:t>test</a:t>
            </a:r>
            <a:r>
              <a:rPr lang="zh-CN" altLang="en-US" b="1" spc="-5" dirty="0">
                <a:latin typeface="Calibri"/>
                <a:cs typeface="Courier New"/>
              </a:rPr>
              <a:t>函数</a:t>
            </a:r>
            <a:r>
              <a:rPr sz="1800" b="1" dirty="0">
                <a:latin typeface="Courier New"/>
                <a:cs typeface="Courier New"/>
              </a:rPr>
              <a:t>.</a:t>
            </a:r>
            <a:endParaRPr sz="1800" dirty="0">
              <a:latin typeface="Courier New"/>
              <a:cs typeface="Courier New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555513" y="2610866"/>
            <a:ext cx="1974850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zh-CN" altLang="en-US" sz="1800" b="1" dirty="0">
                <a:latin typeface="Courier New"/>
                <a:cs typeface="Courier New"/>
              </a:rPr>
              <a:t>对每一个</a:t>
            </a:r>
            <a:r>
              <a:rPr sz="1800" b="1" dirty="0" err="1">
                <a:latin typeface="Courier New"/>
                <a:cs typeface="Courier New"/>
              </a:rPr>
              <a:t>elems</a:t>
            </a:r>
            <a:r>
              <a:rPr sz="1800" b="1" spc="-700" dirty="0">
                <a:latin typeface="Courier New"/>
                <a:cs typeface="Courier New"/>
              </a:rPr>
              <a:t> </a:t>
            </a:r>
            <a:r>
              <a:rPr lang="zh-CN" altLang="en-US" b="1" spc="-10" dirty="0">
                <a:latin typeface="Calibri"/>
                <a:cs typeface="Courier New"/>
              </a:rPr>
              <a:t>和</a:t>
            </a:r>
            <a:endParaRPr sz="18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latin typeface="Courier New"/>
                <a:cs typeface="Courier New"/>
              </a:rPr>
              <a:t>stride</a:t>
            </a:r>
            <a:r>
              <a:rPr sz="1800" b="1" spc="-5" dirty="0">
                <a:latin typeface="Calibri"/>
                <a:cs typeface="Calibri"/>
              </a:rPr>
              <a:t>: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555512" y="3433826"/>
            <a:ext cx="2310765" cy="5706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3299"/>
              </a:lnSpc>
            </a:pPr>
            <a:r>
              <a:rPr sz="1800" b="1" dirty="0">
                <a:latin typeface="Calibri"/>
                <a:cs typeface="Calibri"/>
              </a:rPr>
              <a:t>1. </a:t>
            </a:r>
            <a:r>
              <a:rPr lang="zh-CN" altLang="en-US" sz="1800" b="1" dirty="0">
                <a:latin typeface="Calibri"/>
                <a:cs typeface="Calibri"/>
              </a:rPr>
              <a:t>调用一次</a:t>
            </a:r>
            <a:r>
              <a:rPr sz="1800" b="1" spc="-15" dirty="0">
                <a:latin typeface="Calibri"/>
                <a:cs typeface="Calibri"/>
              </a:rPr>
              <a:t> </a:t>
            </a:r>
            <a:r>
              <a:rPr sz="1800" b="1" dirty="0">
                <a:latin typeface="Courier New"/>
                <a:cs typeface="Courier New"/>
              </a:rPr>
              <a:t>test</a:t>
            </a:r>
            <a:r>
              <a:rPr lang="zh-CN" altLang="en-US" sz="1800" b="1" dirty="0">
                <a:latin typeface="Courier New"/>
                <a:cs typeface="Courier New"/>
              </a:rPr>
              <a:t>函数去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lang="zh-CN" altLang="en-US" sz="1800" b="1" spc="-30" dirty="0">
                <a:latin typeface="Calibri"/>
                <a:cs typeface="Calibri"/>
              </a:rPr>
              <a:t>预热高速缓存</a:t>
            </a:r>
            <a:r>
              <a:rPr lang="zh-CN" altLang="en-US" b="1" dirty="0">
                <a:latin typeface="Calibri"/>
                <a:cs typeface="Calibri"/>
              </a:rPr>
              <a:t>；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555513" y="4256785"/>
            <a:ext cx="2512287" cy="5650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1699"/>
              </a:lnSpc>
            </a:pPr>
            <a:r>
              <a:rPr sz="1800" b="1" dirty="0">
                <a:latin typeface="Calibri"/>
                <a:cs typeface="Calibri"/>
              </a:rPr>
              <a:t>2. </a:t>
            </a:r>
            <a:r>
              <a:rPr lang="zh-CN" altLang="en-US" sz="1800" b="1" dirty="0">
                <a:latin typeface="Calibri"/>
                <a:cs typeface="Calibri"/>
              </a:rPr>
              <a:t>再次调用</a:t>
            </a:r>
            <a:r>
              <a:rPr sz="1800" b="1" spc="-15" dirty="0">
                <a:latin typeface="Calibri"/>
                <a:cs typeface="Calibri"/>
              </a:rPr>
              <a:t> </a:t>
            </a:r>
            <a:r>
              <a:rPr sz="1800" b="1" dirty="0">
                <a:latin typeface="Courier New"/>
                <a:cs typeface="Courier New"/>
              </a:rPr>
              <a:t>test</a:t>
            </a:r>
            <a:r>
              <a:rPr lang="zh-CN" altLang="en-US" sz="1800" b="1" dirty="0">
                <a:latin typeface="Courier New"/>
                <a:cs typeface="Courier New"/>
              </a:rPr>
              <a:t>函数，测量读吞吐量</a:t>
            </a:r>
            <a:r>
              <a:rPr sz="1800" b="1" spc="-5" dirty="0">
                <a:latin typeface="Calibri"/>
                <a:cs typeface="Calibri"/>
              </a:rPr>
              <a:t>(M</a:t>
            </a:r>
            <a:r>
              <a:rPr sz="1800" b="1" spc="-10" dirty="0">
                <a:latin typeface="Calibri"/>
                <a:cs typeface="Calibri"/>
              </a:rPr>
              <a:t>B</a:t>
            </a:r>
            <a:r>
              <a:rPr sz="1800" b="1" spc="-60" dirty="0">
                <a:latin typeface="Calibri"/>
                <a:cs typeface="Calibri"/>
              </a:rPr>
              <a:t>/</a:t>
            </a:r>
            <a:r>
              <a:rPr sz="1800" b="1" spc="-5" dirty="0">
                <a:latin typeface="Calibri"/>
                <a:cs typeface="Calibri"/>
              </a:rPr>
              <a:t>s)</a:t>
            </a:r>
            <a:endParaRPr sz="1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1386840" y="1040892"/>
            <a:ext cx="5999987" cy="53720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173473" y="6033515"/>
            <a:ext cx="0" cy="46355"/>
          </a:xfrm>
          <a:custGeom>
            <a:avLst/>
            <a:gdLst/>
            <a:ahLst/>
            <a:cxnLst/>
            <a:rect l="l" t="t" r="r" b="b"/>
            <a:pathLst>
              <a:path h="46354">
                <a:moveTo>
                  <a:pt x="0" y="0"/>
                </a:moveTo>
                <a:lnTo>
                  <a:pt x="0" y="46101"/>
                </a:lnTo>
              </a:path>
            </a:pathLst>
          </a:custGeom>
          <a:ln w="9525">
            <a:solidFill>
              <a:srgbClr val="87878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440173" y="5935979"/>
            <a:ext cx="0" cy="47625"/>
          </a:xfrm>
          <a:custGeom>
            <a:avLst/>
            <a:gdLst/>
            <a:ahLst/>
            <a:cxnLst/>
            <a:rect l="l" t="t" r="r" b="b"/>
            <a:pathLst>
              <a:path h="47625">
                <a:moveTo>
                  <a:pt x="0" y="0"/>
                </a:moveTo>
                <a:lnTo>
                  <a:pt x="0" y="47244"/>
                </a:lnTo>
              </a:path>
            </a:pathLst>
          </a:custGeom>
          <a:ln w="9525">
            <a:solidFill>
              <a:srgbClr val="87878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699253" y="5841491"/>
            <a:ext cx="0" cy="47625"/>
          </a:xfrm>
          <a:custGeom>
            <a:avLst/>
            <a:gdLst/>
            <a:ahLst/>
            <a:cxnLst/>
            <a:rect l="l" t="t" r="r" b="b"/>
            <a:pathLst>
              <a:path h="47625">
                <a:moveTo>
                  <a:pt x="0" y="0"/>
                </a:moveTo>
                <a:lnTo>
                  <a:pt x="0" y="47244"/>
                </a:lnTo>
              </a:path>
            </a:pathLst>
          </a:custGeom>
          <a:ln w="9525">
            <a:solidFill>
              <a:srgbClr val="87878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953761" y="5750052"/>
            <a:ext cx="0" cy="45720"/>
          </a:xfrm>
          <a:custGeom>
            <a:avLst/>
            <a:gdLst/>
            <a:ahLst/>
            <a:cxnLst/>
            <a:rect l="l" t="t" r="r" b="b"/>
            <a:pathLst>
              <a:path h="45720">
                <a:moveTo>
                  <a:pt x="0" y="0"/>
                </a:moveTo>
                <a:lnTo>
                  <a:pt x="0" y="45720"/>
                </a:lnTo>
              </a:path>
            </a:pathLst>
          </a:custGeom>
          <a:ln w="9525">
            <a:solidFill>
              <a:srgbClr val="87878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200650" y="5660135"/>
            <a:ext cx="0" cy="45720"/>
          </a:xfrm>
          <a:custGeom>
            <a:avLst/>
            <a:gdLst/>
            <a:ahLst/>
            <a:cxnLst/>
            <a:rect l="l" t="t" r="r" b="b"/>
            <a:pathLst>
              <a:path h="45720">
                <a:moveTo>
                  <a:pt x="0" y="0"/>
                </a:moveTo>
                <a:lnTo>
                  <a:pt x="0" y="45719"/>
                </a:lnTo>
              </a:path>
            </a:pathLst>
          </a:custGeom>
          <a:ln w="9525">
            <a:solidFill>
              <a:srgbClr val="87878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441441" y="5571744"/>
            <a:ext cx="0" cy="45720"/>
          </a:xfrm>
          <a:custGeom>
            <a:avLst/>
            <a:gdLst/>
            <a:ahLst/>
            <a:cxnLst/>
            <a:rect l="l" t="t" r="r" b="b"/>
            <a:pathLst>
              <a:path h="45720">
                <a:moveTo>
                  <a:pt x="0" y="0"/>
                </a:moveTo>
                <a:lnTo>
                  <a:pt x="0" y="45719"/>
                </a:lnTo>
              </a:path>
            </a:pathLst>
          </a:custGeom>
          <a:ln w="9525">
            <a:solidFill>
              <a:srgbClr val="87878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677661" y="5486400"/>
            <a:ext cx="0" cy="45720"/>
          </a:xfrm>
          <a:custGeom>
            <a:avLst/>
            <a:gdLst/>
            <a:ahLst/>
            <a:cxnLst/>
            <a:rect l="l" t="t" r="r" b="b"/>
            <a:pathLst>
              <a:path h="45720">
                <a:moveTo>
                  <a:pt x="0" y="0"/>
                </a:moveTo>
                <a:lnTo>
                  <a:pt x="0" y="45720"/>
                </a:lnTo>
              </a:path>
            </a:pathLst>
          </a:custGeom>
          <a:ln w="9525">
            <a:solidFill>
              <a:srgbClr val="87878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907785" y="5402579"/>
            <a:ext cx="0" cy="45720"/>
          </a:xfrm>
          <a:custGeom>
            <a:avLst/>
            <a:gdLst/>
            <a:ahLst/>
            <a:cxnLst/>
            <a:rect l="l" t="t" r="r" b="b"/>
            <a:pathLst>
              <a:path h="45720">
                <a:moveTo>
                  <a:pt x="0" y="0"/>
                </a:moveTo>
                <a:lnTo>
                  <a:pt x="0" y="45720"/>
                </a:lnTo>
              </a:path>
            </a:pathLst>
          </a:custGeom>
          <a:ln w="9525">
            <a:solidFill>
              <a:srgbClr val="87878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131814" y="5320284"/>
            <a:ext cx="0" cy="45720"/>
          </a:xfrm>
          <a:custGeom>
            <a:avLst/>
            <a:gdLst/>
            <a:ahLst/>
            <a:cxnLst/>
            <a:rect l="l" t="t" r="r" b="b"/>
            <a:pathLst>
              <a:path h="45720">
                <a:moveTo>
                  <a:pt x="0" y="0"/>
                </a:moveTo>
                <a:lnTo>
                  <a:pt x="0" y="45719"/>
                </a:lnTo>
              </a:path>
            </a:pathLst>
          </a:custGeom>
          <a:ln w="9525">
            <a:solidFill>
              <a:srgbClr val="87878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352794" y="5239511"/>
            <a:ext cx="0" cy="47625"/>
          </a:xfrm>
          <a:custGeom>
            <a:avLst/>
            <a:gdLst/>
            <a:ahLst/>
            <a:cxnLst/>
            <a:rect l="l" t="t" r="r" b="b"/>
            <a:pathLst>
              <a:path h="47625">
                <a:moveTo>
                  <a:pt x="0" y="0"/>
                </a:moveTo>
                <a:lnTo>
                  <a:pt x="0" y="47243"/>
                </a:lnTo>
              </a:path>
            </a:pathLst>
          </a:custGeom>
          <a:ln w="9525">
            <a:solidFill>
              <a:srgbClr val="87878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566154" y="5161788"/>
            <a:ext cx="0" cy="45720"/>
          </a:xfrm>
          <a:custGeom>
            <a:avLst/>
            <a:gdLst/>
            <a:ahLst/>
            <a:cxnLst/>
            <a:rect l="l" t="t" r="r" b="b"/>
            <a:pathLst>
              <a:path h="45720">
                <a:moveTo>
                  <a:pt x="0" y="0"/>
                </a:moveTo>
                <a:lnTo>
                  <a:pt x="0" y="45719"/>
                </a:lnTo>
              </a:path>
            </a:pathLst>
          </a:custGeom>
          <a:ln w="9525">
            <a:solidFill>
              <a:srgbClr val="87878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776466" y="5085588"/>
            <a:ext cx="0" cy="45720"/>
          </a:xfrm>
          <a:custGeom>
            <a:avLst/>
            <a:gdLst/>
            <a:ahLst/>
            <a:cxnLst/>
            <a:rect l="l" t="t" r="r" b="b"/>
            <a:pathLst>
              <a:path h="45720">
                <a:moveTo>
                  <a:pt x="0" y="0"/>
                </a:moveTo>
                <a:lnTo>
                  <a:pt x="0" y="45719"/>
                </a:lnTo>
              </a:path>
            </a:pathLst>
          </a:custGeom>
          <a:ln w="9525">
            <a:solidFill>
              <a:srgbClr val="87878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982206" y="5010911"/>
            <a:ext cx="0" cy="45720"/>
          </a:xfrm>
          <a:custGeom>
            <a:avLst/>
            <a:gdLst/>
            <a:ahLst/>
            <a:cxnLst/>
            <a:rect l="l" t="t" r="r" b="b"/>
            <a:pathLst>
              <a:path h="45720">
                <a:moveTo>
                  <a:pt x="0" y="0"/>
                </a:moveTo>
                <a:lnTo>
                  <a:pt x="0" y="45719"/>
                </a:lnTo>
              </a:path>
            </a:pathLst>
          </a:custGeom>
          <a:ln w="9525">
            <a:solidFill>
              <a:srgbClr val="87878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183449" y="4937759"/>
            <a:ext cx="0" cy="45720"/>
          </a:xfrm>
          <a:custGeom>
            <a:avLst/>
            <a:gdLst/>
            <a:ahLst/>
            <a:cxnLst/>
            <a:rect l="l" t="t" r="r" b="b"/>
            <a:pathLst>
              <a:path h="45720">
                <a:moveTo>
                  <a:pt x="0" y="0"/>
                </a:moveTo>
                <a:lnTo>
                  <a:pt x="0" y="45719"/>
                </a:lnTo>
              </a:path>
            </a:pathLst>
          </a:custGeom>
          <a:ln w="9525">
            <a:solidFill>
              <a:srgbClr val="87878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547619" y="5073879"/>
            <a:ext cx="46990" cy="0"/>
          </a:xfrm>
          <a:custGeom>
            <a:avLst/>
            <a:gdLst/>
            <a:ahLst/>
            <a:cxnLst/>
            <a:rect l="l" t="t" r="r" b="b"/>
            <a:pathLst>
              <a:path w="46990">
                <a:moveTo>
                  <a:pt x="46418" y="0"/>
                </a:moveTo>
                <a:lnTo>
                  <a:pt x="0" y="0"/>
                </a:lnTo>
              </a:path>
            </a:pathLst>
          </a:custGeom>
          <a:ln w="9525">
            <a:solidFill>
              <a:srgbClr val="87878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533903" y="4703065"/>
            <a:ext cx="45720" cy="0"/>
          </a:xfrm>
          <a:custGeom>
            <a:avLst/>
            <a:gdLst/>
            <a:ahLst/>
            <a:cxnLst/>
            <a:rect l="l" t="t" r="r" b="b"/>
            <a:pathLst>
              <a:path w="45719">
                <a:moveTo>
                  <a:pt x="45719" y="0"/>
                </a:moveTo>
                <a:lnTo>
                  <a:pt x="0" y="0"/>
                </a:lnTo>
              </a:path>
            </a:pathLst>
          </a:custGeom>
          <a:ln w="9525">
            <a:solidFill>
              <a:srgbClr val="87878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520187" y="4329685"/>
            <a:ext cx="45720" cy="0"/>
          </a:xfrm>
          <a:custGeom>
            <a:avLst/>
            <a:gdLst/>
            <a:ahLst/>
            <a:cxnLst/>
            <a:rect l="l" t="t" r="r" b="b"/>
            <a:pathLst>
              <a:path w="45719">
                <a:moveTo>
                  <a:pt x="45719" y="0"/>
                </a:moveTo>
                <a:lnTo>
                  <a:pt x="0" y="0"/>
                </a:lnTo>
              </a:path>
            </a:pathLst>
          </a:custGeom>
          <a:ln w="9525">
            <a:solidFill>
              <a:srgbClr val="87878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506471" y="3951733"/>
            <a:ext cx="45720" cy="0"/>
          </a:xfrm>
          <a:custGeom>
            <a:avLst/>
            <a:gdLst/>
            <a:ahLst/>
            <a:cxnLst/>
            <a:rect l="l" t="t" r="r" b="b"/>
            <a:pathLst>
              <a:path w="45719">
                <a:moveTo>
                  <a:pt x="45719" y="0"/>
                </a:moveTo>
                <a:lnTo>
                  <a:pt x="0" y="0"/>
                </a:lnTo>
              </a:path>
            </a:pathLst>
          </a:custGeom>
          <a:ln w="9525">
            <a:solidFill>
              <a:srgbClr val="87878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491231" y="3570733"/>
            <a:ext cx="47625" cy="0"/>
          </a:xfrm>
          <a:custGeom>
            <a:avLst/>
            <a:gdLst/>
            <a:ahLst/>
            <a:cxnLst/>
            <a:rect l="l" t="t" r="r" b="b"/>
            <a:pathLst>
              <a:path w="47625">
                <a:moveTo>
                  <a:pt x="47243" y="0"/>
                </a:moveTo>
                <a:lnTo>
                  <a:pt x="0" y="0"/>
                </a:lnTo>
              </a:path>
            </a:pathLst>
          </a:custGeom>
          <a:ln w="9525">
            <a:solidFill>
              <a:srgbClr val="87878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477515" y="3185161"/>
            <a:ext cx="45720" cy="0"/>
          </a:xfrm>
          <a:custGeom>
            <a:avLst/>
            <a:gdLst/>
            <a:ahLst/>
            <a:cxnLst/>
            <a:rect l="l" t="t" r="r" b="b"/>
            <a:pathLst>
              <a:path w="45719">
                <a:moveTo>
                  <a:pt x="45719" y="0"/>
                </a:moveTo>
                <a:lnTo>
                  <a:pt x="0" y="0"/>
                </a:lnTo>
              </a:path>
            </a:pathLst>
          </a:custGeom>
          <a:ln w="9525">
            <a:solidFill>
              <a:srgbClr val="87878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462275" y="2796541"/>
            <a:ext cx="47625" cy="0"/>
          </a:xfrm>
          <a:custGeom>
            <a:avLst/>
            <a:gdLst/>
            <a:ahLst/>
            <a:cxnLst/>
            <a:rect l="l" t="t" r="r" b="b"/>
            <a:pathLst>
              <a:path w="47625">
                <a:moveTo>
                  <a:pt x="47244" y="0"/>
                </a:moveTo>
                <a:lnTo>
                  <a:pt x="0" y="0"/>
                </a:lnTo>
              </a:path>
            </a:pathLst>
          </a:custGeom>
          <a:ln w="9525">
            <a:solidFill>
              <a:srgbClr val="87878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448559" y="2403349"/>
            <a:ext cx="45720" cy="0"/>
          </a:xfrm>
          <a:custGeom>
            <a:avLst/>
            <a:gdLst/>
            <a:ahLst/>
            <a:cxnLst/>
            <a:rect l="l" t="t" r="r" b="b"/>
            <a:pathLst>
              <a:path w="45719">
                <a:moveTo>
                  <a:pt x="45719" y="0"/>
                </a:moveTo>
                <a:lnTo>
                  <a:pt x="0" y="0"/>
                </a:lnTo>
              </a:path>
            </a:pathLst>
          </a:custGeom>
          <a:ln w="9525">
            <a:solidFill>
              <a:srgbClr val="87878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433319" y="2005585"/>
            <a:ext cx="45720" cy="0"/>
          </a:xfrm>
          <a:custGeom>
            <a:avLst/>
            <a:gdLst/>
            <a:ahLst/>
            <a:cxnLst/>
            <a:rect l="l" t="t" r="r" b="b"/>
            <a:pathLst>
              <a:path w="45719">
                <a:moveTo>
                  <a:pt x="45720" y="0"/>
                </a:moveTo>
                <a:lnTo>
                  <a:pt x="0" y="0"/>
                </a:lnTo>
              </a:path>
            </a:pathLst>
          </a:custGeom>
          <a:ln w="9525">
            <a:solidFill>
              <a:srgbClr val="87878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593341" y="5074920"/>
            <a:ext cx="0" cy="45720"/>
          </a:xfrm>
          <a:custGeom>
            <a:avLst/>
            <a:gdLst/>
            <a:ahLst/>
            <a:cxnLst/>
            <a:rect l="l" t="t" r="r" b="b"/>
            <a:pathLst>
              <a:path h="45720">
                <a:moveTo>
                  <a:pt x="0" y="0"/>
                </a:moveTo>
                <a:lnTo>
                  <a:pt x="0" y="45719"/>
                </a:lnTo>
              </a:path>
            </a:pathLst>
          </a:custGeom>
          <a:ln w="9525">
            <a:solidFill>
              <a:srgbClr val="87878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802129" y="5151120"/>
            <a:ext cx="0" cy="47625"/>
          </a:xfrm>
          <a:custGeom>
            <a:avLst/>
            <a:gdLst/>
            <a:ahLst/>
            <a:cxnLst/>
            <a:rect l="l" t="t" r="r" b="b"/>
            <a:pathLst>
              <a:path h="47625">
                <a:moveTo>
                  <a:pt x="0" y="0"/>
                </a:moveTo>
                <a:lnTo>
                  <a:pt x="0" y="47243"/>
                </a:lnTo>
              </a:path>
            </a:pathLst>
          </a:custGeom>
          <a:ln w="9525">
            <a:solidFill>
              <a:srgbClr val="87878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2013966" y="5230367"/>
            <a:ext cx="0" cy="45720"/>
          </a:xfrm>
          <a:custGeom>
            <a:avLst/>
            <a:gdLst/>
            <a:ahLst/>
            <a:cxnLst/>
            <a:rect l="l" t="t" r="r" b="b"/>
            <a:pathLst>
              <a:path h="45720">
                <a:moveTo>
                  <a:pt x="0" y="0"/>
                </a:moveTo>
                <a:lnTo>
                  <a:pt x="0" y="45719"/>
                </a:lnTo>
              </a:path>
            </a:pathLst>
          </a:custGeom>
          <a:ln w="9525">
            <a:solidFill>
              <a:srgbClr val="87878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2231898" y="5311140"/>
            <a:ext cx="0" cy="47625"/>
          </a:xfrm>
          <a:custGeom>
            <a:avLst/>
            <a:gdLst/>
            <a:ahLst/>
            <a:cxnLst/>
            <a:rect l="l" t="t" r="r" b="b"/>
            <a:pathLst>
              <a:path h="47625">
                <a:moveTo>
                  <a:pt x="0" y="0"/>
                </a:moveTo>
                <a:lnTo>
                  <a:pt x="0" y="47244"/>
                </a:lnTo>
              </a:path>
            </a:pathLst>
          </a:custGeom>
          <a:ln w="9525">
            <a:solidFill>
              <a:srgbClr val="87878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2454401" y="5394959"/>
            <a:ext cx="0" cy="45720"/>
          </a:xfrm>
          <a:custGeom>
            <a:avLst/>
            <a:gdLst/>
            <a:ahLst/>
            <a:cxnLst/>
            <a:rect l="l" t="t" r="r" b="b"/>
            <a:pathLst>
              <a:path h="45720">
                <a:moveTo>
                  <a:pt x="0" y="0"/>
                </a:moveTo>
                <a:lnTo>
                  <a:pt x="0" y="45719"/>
                </a:lnTo>
              </a:path>
            </a:pathLst>
          </a:custGeom>
          <a:ln w="9525">
            <a:solidFill>
              <a:srgbClr val="87878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2683001" y="5478779"/>
            <a:ext cx="0" cy="47625"/>
          </a:xfrm>
          <a:custGeom>
            <a:avLst/>
            <a:gdLst/>
            <a:ahLst/>
            <a:cxnLst/>
            <a:rect l="l" t="t" r="r" b="b"/>
            <a:pathLst>
              <a:path h="47625">
                <a:moveTo>
                  <a:pt x="0" y="0"/>
                </a:moveTo>
                <a:lnTo>
                  <a:pt x="0" y="47244"/>
                </a:lnTo>
              </a:path>
            </a:pathLst>
          </a:custGeom>
          <a:ln w="9525">
            <a:solidFill>
              <a:srgbClr val="87878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2916173" y="5565647"/>
            <a:ext cx="0" cy="45720"/>
          </a:xfrm>
          <a:custGeom>
            <a:avLst/>
            <a:gdLst/>
            <a:ahLst/>
            <a:cxnLst/>
            <a:rect l="l" t="t" r="r" b="b"/>
            <a:pathLst>
              <a:path h="45720">
                <a:moveTo>
                  <a:pt x="0" y="0"/>
                </a:moveTo>
                <a:lnTo>
                  <a:pt x="0" y="45719"/>
                </a:lnTo>
              </a:path>
            </a:pathLst>
          </a:custGeom>
          <a:ln w="9525">
            <a:solidFill>
              <a:srgbClr val="87878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3155442" y="5655564"/>
            <a:ext cx="0" cy="45720"/>
          </a:xfrm>
          <a:custGeom>
            <a:avLst/>
            <a:gdLst/>
            <a:ahLst/>
            <a:cxnLst/>
            <a:rect l="l" t="t" r="r" b="b"/>
            <a:pathLst>
              <a:path h="45720">
                <a:moveTo>
                  <a:pt x="0" y="0"/>
                </a:moveTo>
                <a:lnTo>
                  <a:pt x="0" y="45720"/>
                </a:lnTo>
              </a:path>
            </a:pathLst>
          </a:custGeom>
          <a:ln w="9525">
            <a:solidFill>
              <a:srgbClr val="87878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3400805" y="5745479"/>
            <a:ext cx="0" cy="47625"/>
          </a:xfrm>
          <a:custGeom>
            <a:avLst/>
            <a:gdLst/>
            <a:ahLst/>
            <a:cxnLst/>
            <a:rect l="l" t="t" r="r" b="b"/>
            <a:pathLst>
              <a:path h="47625">
                <a:moveTo>
                  <a:pt x="0" y="0"/>
                </a:moveTo>
                <a:lnTo>
                  <a:pt x="0" y="47244"/>
                </a:lnTo>
              </a:path>
            </a:pathLst>
          </a:custGeom>
          <a:ln w="9525">
            <a:solidFill>
              <a:srgbClr val="87878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3652265" y="5839967"/>
            <a:ext cx="0" cy="45720"/>
          </a:xfrm>
          <a:custGeom>
            <a:avLst/>
            <a:gdLst/>
            <a:ahLst/>
            <a:cxnLst/>
            <a:rect l="l" t="t" r="r" b="b"/>
            <a:pathLst>
              <a:path h="45720">
                <a:moveTo>
                  <a:pt x="0" y="0"/>
                </a:moveTo>
                <a:lnTo>
                  <a:pt x="0" y="45719"/>
                </a:lnTo>
              </a:path>
            </a:pathLst>
          </a:custGeom>
          <a:ln w="9525">
            <a:solidFill>
              <a:srgbClr val="87878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3909821" y="5935979"/>
            <a:ext cx="0" cy="45720"/>
          </a:xfrm>
          <a:custGeom>
            <a:avLst/>
            <a:gdLst/>
            <a:ahLst/>
            <a:cxnLst/>
            <a:rect l="l" t="t" r="r" b="b"/>
            <a:pathLst>
              <a:path h="45720">
                <a:moveTo>
                  <a:pt x="0" y="0"/>
                </a:moveTo>
                <a:lnTo>
                  <a:pt x="0" y="45720"/>
                </a:lnTo>
              </a:path>
            </a:pathLst>
          </a:custGeom>
          <a:ln w="9525">
            <a:solidFill>
              <a:srgbClr val="87878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4174096" y="6033515"/>
            <a:ext cx="0" cy="46355"/>
          </a:xfrm>
          <a:custGeom>
            <a:avLst/>
            <a:gdLst/>
            <a:ahLst/>
            <a:cxnLst/>
            <a:rect l="l" t="t" r="r" b="b"/>
            <a:pathLst>
              <a:path h="46354">
                <a:moveTo>
                  <a:pt x="0" y="0"/>
                </a:moveTo>
                <a:lnTo>
                  <a:pt x="0" y="46101"/>
                </a:lnTo>
              </a:path>
            </a:pathLst>
          </a:custGeom>
          <a:ln w="9525">
            <a:solidFill>
              <a:srgbClr val="87878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3774372" y="6075531"/>
            <a:ext cx="603885" cy="293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75"/>
              </a:lnSpc>
            </a:pPr>
            <a:r>
              <a:rPr sz="1200" dirty="0">
                <a:latin typeface="Arial"/>
                <a:cs typeface="Arial"/>
              </a:rPr>
              <a:t>s11</a:t>
            </a:r>
            <a:endParaRPr sz="1200">
              <a:latin typeface="Arial"/>
              <a:cs typeface="Arial"/>
            </a:endParaRPr>
          </a:p>
          <a:p>
            <a:pPr marL="208915">
              <a:lnSpc>
                <a:spcPts val="1175"/>
              </a:lnSpc>
            </a:pPr>
            <a:r>
              <a:rPr sz="1200" dirty="0">
                <a:latin typeface="Arial"/>
                <a:cs typeface="Arial"/>
              </a:rPr>
              <a:t>1</a:t>
            </a:r>
            <a:r>
              <a:rPr sz="1200" spc="-10" dirty="0">
                <a:latin typeface="Arial"/>
                <a:cs typeface="Arial"/>
              </a:rPr>
              <a:t>2</a:t>
            </a:r>
            <a:r>
              <a:rPr sz="1200" dirty="0">
                <a:latin typeface="Arial"/>
                <a:cs typeface="Arial"/>
              </a:rPr>
              <a:t>8m</a:t>
            </a:r>
            <a:endParaRPr sz="12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538912" y="5983771"/>
            <a:ext cx="32067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Arial"/>
                <a:cs typeface="Arial"/>
              </a:rPr>
              <a:t>3</a:t>
            </a:r>
            <a:r>
              <a:rPr sz="1200" spc="-10" dirty="0">
                <a:latin typeface="Arial"/>
                <a:cs typeface="Arial"/>
              </a:rPr>
              <a:t>2m</a:t>
            </a:r>
            <a:endParaRPr sz="12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081761" y="5785956"/>
            <a:ext cx="23876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Arial"/>
                <a:cs typeface="Arial"/>
              </a:rPr>
              <a:t>8m</a:t>
            </a:r>
            <a:endParaRPr sz="12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5558773" y="5612220"/>
            <a:ext cx="23876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Arial"/>
                <a:cs typeface="Arial"/>
              </a:rPr>
              <a:t>2m</a:t>
            </a:r>
            <a:endParaRPr sz="12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5954403" y="5468049"/>
            <a:ext cx="35687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Arial"/>
                <a:cs typeface="Arial"/>
              </a:rPr>
              <a:t>5</a:t>
            </a:r>
            <a:r>
              <a:rPr sz="1200" spc="-10" dirty="0">
                <a:latin typeface="Arial"/>
                <a:cs typeface="Arial"/>
              </a:rPr>
              <a:t>1</a:t>
            </a:r>
            <a:r>
              <a:rPr sz="1200" dirty="0">
                <a:latin typeface="Arial"/>
                <a:cs typeface="Arial"/>
              </a:rPr>
              <a:t>2k</a:t>
            </a:r>
            <a:endParaRPr sz="12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6389048" y="5309706"/>
            <a:ext cx="35687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Arial"/>
                <a:cs typeface="Arial"/>
              </a:rPr>
              <a:t>1</a:t>
            </a:r>
            <a:r>
              <a:rPr sz="1200" spc="-10" dirty="0">
                <a:latin typeface="Arial"/>
                <a:cs typeface="Arial"/>
              </a:rPr>
              <a:t>2</a:t>
            </a:r>
            <a:r>
              <a:rPr sz="1200" dirty="0">
                <a:latin typeface="Arial"/>
                <a:cs typeface="Arial"/>
              </a:rPr>
              <a:t>8k</a:t>
            </a:r>
            <a:endParaRPr sz="120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6847010" y="5142828"/>
            <a:ext cx="26987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Arial"/>
                <a:cs typeface="Arial"/>
              </a:rPr>
              <a:t>3</a:t>
            </a:r>
            <a:r>
              <a:rPr sz="1200" spc="-10" dirty="0">
                <a:latin typeface="Arial"/>
                <a:cs typeface="Arial"/>
              </a:rPr>
              <a:t>2k</a:t>
            </a:r>
            <a:endParaRPr sz="120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365100" y="4991099"/>
            <a:ext cx="110489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Arial"/>
                <a:cs typeface="Arial"/>
              </a:rPr>
              <a:t>0</a:t>
            </a:r>
            <a:endParaRPr sz="120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097028" y="4620919"/>
            <a:ext cx="36576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Arial"/>
                <a:cs typeface="Arial"/>
              </a:rPr>
              <a:t>2</a:t>
            </a:r>
            <a:r>
              <a:rPr sz="1200" spc="-10" dirty="0">
                <a:latin typeface="Arial"/>
                <a:cs typeface="Arial"/>
              </a:rPr>
              <a:t>0</a:t>
            </a:r>
            <a:r>
              <a:rPr sz="1200" dirty="0">
                <a:latin typeface="Arial"/>
                <a:cs typeface="Arial"/>
              </a:rPr>
              <a:t>00</a:t>
            </a:r>
            <a:endParaRPr sz="120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1083007" y="4247082"/>
            <a:ext cx="36576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Arial"/>
                <a:cs typeface="Arial"/>
              </a:rPr>
              <a:t>4</a:t>
            </a:r>
            <a:r>
              <a:rPr sz="1200" spc="-10" dirty="0">
                <a:latin typeface="Arial"/>
                <a:cs typeface="Arial"/>
              </a:rPr>
              <a:t>0</a:t>
            </a:r>
            <a:r>
              <a:rPr sz="1200" dirty="0">
                <a:latin typeface="Arial"/>
                <a:cs typeface="Arial"/>
              </a:rPr>
              <a:t>00</a:t>
            </a:r>
            <a:endParaRPr sz="120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1068834" y="3869435"/>
            <a:ext cx="36576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Arial"/>
                <a:cs typeface="Arial"/>
              </a:rPr>
              <a:t>6</a:t>
            </a:r>
            <a:r>
              <a:rPr sz="1200" spc="-10" dirty="0">
                <a:latin typeface="Arial"/>
                <a:cs typeface="Arial"/>
              </a:rPr>
              <a:t>0</a:t>
            </a:r>
            <a:r>
              <a:rPr sz="1200" dirty="0">
                <a:latin typeface="Arial"/>
                <a:cs typeface="Arial"/>
              </a:rPr>
              <a:t>00</a:t>
            </a:r>
            <a:endParaRPr sz="1200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1054661" y="3487977"/>
            <a:ext cx="36576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Arial"/>
                <a:cs typeface="Arial"/>
              </a:rPr>
              <a:t>8</a:t>
            </a:r>
            <a:r>
              <a:rPr sz="1200" spc="-10" dirty="0">
                <a:latin typeface="Arial"/>
                <a:cs typeface="Arial"/>
              </a:rPr>
              <a:t>0</a:t>
            </a:r>
            <a:r>
              <a:rPr sz="1200" dirty="0">
                <a:latin typeface="Arial"/>
                <a:cs typeface="Arial"/>
              </a:rPr>
              <a:t>00</a:t>
            </a:r>
            <a:endParaRPr sz="1200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940970" y="2713633"/>
            <a:ext cx="465455" cy="5670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Arial"/>
                <a:cs typeface="Arial"/>
              </a:rPr>
              <a:t>1</a:t>
            </a:r>
            <a:r>
              <a:rPr sz="1200" spc="-10" dirty="0">
                <a:latin typeface="Arial"/>
                <a:cs typeface="Arial"/>
              </a:rPr>
              <a:t>2</a:t>
            </a:r>
            <a:r>
              <a:rPr sz="1200" dirty="0">
                <a:latin typeface="Arial"/>
                <a:cs typeface="Arial"/>
              </a:rPr>
              <a:t>000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"/>
              </a:spcBef>
            </a:pPr>
            <a:endParaRPr sz="1400">
              <a:latin typeface="Times New Roman"/>
              <a:cs typeface="Times New Roman"/>
            </a:endParaRPr>
          </a:p>
          <a:p>
            <a:pPr marL="26670">
              <a:lnSpc>
                <a:spcPct val="100000"/>
              </a:lnSpc>
            </a:pPr>
            <a:r>
              <a:rPr sz="1200" dirty="0">
                <a:latin typeface="Arial"/>
                <a:cs typeface="Arial"/>
              </a:rPr>
              <a:t>1</a:t>
            </a:r>
            <a:r>
              <a:rPr sz="1200" spc="-10" dirty="0">
                <a:latin typeface="Arial"/>
                <a:cs typeface="Arial"/>
              </a:rPr>
              <a:t>0</a:t>
            </a:r>
            <a:r>
              <a:rPr sz="1200" dirty="0">
                <a:latin typeface="Arial"/>
                <a:cs typeface="Arial"/>
              </a:rPr>
              <a:t>000</a:t>
            </a:r>
            <a:endParaRPr sz="120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926340" y="2320441"/>
            <a:ext cx="45085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Arial"/>
                <a:cs typeface="Arial"/>
              </a:rPr>
              <a:t>1</a:t>
            </a:r>
            <a:r>
              <a:rPr sz="1200" spc="-10" dirty="0">
                <a:latin typeface="Arial"/>
                <a:cs typeface="Arial"/>
              </a:rPr>
              <a:t>4</a:t>
            </a:r>
            <a:r>
              <a:rPr sz="1200" dirty="0">
                <a:latin typeface="Arial"/>
                <a:cs typeface="Arial"/>
              </a:rPr>
              <a:t>000</a:t>
            </a:r>
            <a:endParaRPr sz="1200">
              <a:latin typeface="Arial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1500869" y="5198774"/>
            <a:ext cx="18669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Arial"/>
                <a:cs typeface="Arial"/>
              </a:rPr>
              <a:t>s1</a:t>
            </a:r>
            <a:endParaRPr sz="1200">
              <a:latin typeface="Arial"/>
              <a:cs typeface="Aria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1921493" y="5355137"/>
            <a:ext cx="18669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Arial"/>
                <a:cs typeface="Arial"/>
              </a:rPr>
              <a:t>s3</a:t>
            </a:r>
            <a:endParaRPr sz="1200">
              <a:latin typeface="Arial"/>
              <a:cs typeface="Aria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2361929" y="5518814"/>
            <a:ext cx="18669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Arial"/>
                <a:cs typeface="Arial"/>
              </a:rPr>
              <a:t>s5</a:t>
            </a:r>
            <a:endParaRPr sz="1200">
              <a:latin typeface="Arial"/>
              <a:cs typeface="Arial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2823549" y="5690417"/>
            <a:ext cx="18669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Arial"/>
                <a:cs typeface="Arial"/>
              </a:rPr>
              <a:t>s7</a:t>
            </a:r>
            <a:endParaRPr sz="1200">
              <a:latin typeface="Arial"/>
              <a:cs typeface="Arial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3307876" y="5870553"/>
            <a:ext cx="18669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dirty="0">
                <a:latin typeface="Arial"/>
                <a:cs typeface="Arial"/>
              </a:rPr>
              <a:t>s9</a:t>
            </a:r>
            <a:endParaRPr sz="1200">
              <a:latin typeface="Arial"/>
              <a:cs typeface="Arial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5841526" y="5890213"/>
            <a:ext cx="869315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zh-CN" altLang="en-US" sz="1200" b="1" spc="-5" dirty="0">
                <a:latin typeface="Arial"/>
                <a:cs typeface="Arial"/>
              </a:rPr>
              <a:t>大小</a:t>
            </a:r>
            <a:r>
              <a:rPr sz="1200" b="1" spc="-5" dirty="0">
                <a:latin typeface="Arial"/>
                <a:cs typeface="Arial"/>
              </a:rPr>
              <a:t>(</a:t>
            </a:r>
            <a:r>
              <a:rPr lang="zh-CN" altLang="en-US" sz="1200" b="1" spc="-5" dirty="0">
                <a:latin typeface="Arial"/>
                <a:cs typeface="Arial"/>
              </a:rPr>
              <a:t>字节</a:t>
            </a:r>
            <a:r>
              <a:rPr sz="1200" b="1" dirty="0">
                <a:latin typeface="Arial"/>
                <a:cs typeface="Arial"/>
              </a:rPr>
              <a:t>)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564127" y="2427272"/>
            <a:ext cx="184666" cy="176022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lang="zh-CN" altLang="en-US" sz="1200" b="1" spc="-5" dirty="0">
                <a:latin typeface="Arial"/>
                <a:cs typeface="Arial"/>
              </a:rPr>
              <a:t>读吞吐量</a:t>
            </a:r>
            <a:r>
              <a:rPr sz="1200" b="1" spc="-5" dirty="0">
                <a:latin typeface="Arial"/>
                <a:cs typeface="Arial"/>
              </a:rPr>
              <a:t>(MB</a:t>
            </a:r>
            <a:r>
              <a:rPr sz="1200" b="1" dirty="0">
                <a:latin typeface="Arial"/>
                <a:cs typeface="Arial"/>
              </a:rPr>
              <a:t>/</a:t>
            </a:r>
            <a:r>
              <a:rPr sz="1200" b="1" spc="5" dirty="0">
                <a:latin typeface="Arial"/>
                <a:cs typeface="Arial"/>
              </a:rPr>
              <a:t>s</a:t>
            </a:r>
            <a:r>
              <a:rPr sz="1200" b="1" dirty="0">
                <a:latin typeface="Arial"/>
                <a:cs typeface="Arial"/>
              </a:rPr>
              <a:t>)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1483549" y="5852036"/>
            <a:ext cx="1209675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zh-CN" altLang="en-US" sz="1200" b="1" spc="-5" dirty="0">
                <a:latin typeface="Arial"/>
                <a:cs typeface="Arial"/>
              </a:rPr>
              <a:t>步长</a:t>
            </a:r>
            <a:r>
              <a:rPr sz="1200" b="1" spc="-5" dirty="0">
                <a:latin typeface="Arial"/>
                <a:cs typeface="Arial"/>
              </a:rPr>
              <a:t>(</a:t>
            </a:r>
            <a:r>
              <a:rPr sz="1200" b="1" dirty="0">
                <a:latin typeface="Arial"/>
                <a:cs typeface="Arial"/>
              </a:rPr>
              <a:t>x8</a:t>
            </a:r>
            <a:r>
              <a:rPr sz="1200" b="1" spc="5" dirty="0">
                <a:latin typeface="Arial"/>
                <a:cs typeface="Arial"/>
              </a:rPr>
              <a:t> </a:t>
            </a:r>
            <a:r>
              <a:rPr lang="zh-CN" altLang="en-US" sz="1200" b="1" spc="5" dirty="0">
                <a:latin typeface="Arial"/>
                <a:cs typeface="Arial"/>
              </a:rPr>
              <a:t>字节</a:t>
            </a:r>
            <a:r>
              <a:rPr sz="1200" b="1" dirty="0">
                <a:latin typeface="Arial"/>
                <a:cs typeface="Arial"/>
              </a:rPr>
              <a:t>)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231140" y="4931115"/>
            <a:ext cx="911860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lang="zh-CN" altLang="en-US" sz="1600" b="1" i="1" dirty="0">
                <a:solidFill>
                  <a:srgbClr val="C00000"/>
                </a:solidFill>
                <a:latin typeface="Arial Narrow"/>
                <a:cs typeface="Arial Narrow"/>
              </a:rPr>
              <a:t>空间局部性的斜坡</a:t>
            </a:r>
            <a:endParaRPr sz="1600" b="1" i="1" dirty="0">
              <a:solidFill>
                <a:srgbClr val="C00000"/>
              </a:solidFill>
              <a:latin typeface="Arial Narrow"/>
              <a:cs typeface="Arial Narrow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1143000" y="2883402"/>
            <a:ext cx="3495040" cy="2269490"/>
          </a:xfrm>
          <a:custGeom>
            <a:avLst/>
            <a:gdLst/>
            <a:ahLst/>
            <a:cxnLst/>
            <a:rect l="l" t="t" r="r" b="b"/>
            <a:pathLst>
              <a:path w="3495040" h="2269490">
                <a:moveTo>
                  <a:pt x="0" y="2269210"/>
                </a:moveTo>
                <a:lnTo>
                  <a:pt x="3494659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4549545" y="2883400"/>
            <a:ext cx="88265" cy="79375"/>
          </a:xfrm>
          <a:custGeom>
            <a:avLst/>
            <a:gdLst/>
            <a:ahLst/>
            <a:cxnLst/>
            <a:rect l="l" t="t" r="r" b="b"/>
            <a:pathLst>
              <a:path w="88264" h="79375">
                <a:moveTo>
                  <a:pt x="48412" y="78778"/>
                </a:moveTo>
                <a:lnTo>
                  <a:pt x="88112" y="0"/>
                </a:lnTo>
                <a:lnTo>
                  <a:pt x="0" y="4216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1143000" y="4528967"/>
            <a:ext cx="1379220" cy="624205"/>
          </a:xfrm>
          <a:custGeom>
            <a:avLst/>
            <a:gdLst/>
            <a:ahLst/>
            <a:cxnLst/>
            <a:rect l="l" t="t" r="r" b="b"/>
            <a:pathLst>
              <a:path w="1379220" h="624204">
                <a:moveTo>
                  <a:pt x="0" y="623646"/>
                </a:moveTo>
                <a:lnTo>
                  <a:pt x="1379194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2434452" y="4519862"/>
            <a:ext cx="88265" cy="81280"/>
          </a:xfrm>
          <a:custGeom>
            <a:avLst/>
            <a:gdLst/>
            <a:ahLst/>
            <a:cxnLst/>
            <a:rect l="l" t="t" r="r" b="b"/>
            <a:pathLst>
              <a:path w="88264" h="81279">
                <a:moveTo>
                  <a:pt x="36626" y="81000"/>
                </a:moveTo>
                <a:lnTo>
                  <a:pt x="87744" y="9105"/>
                </a:lnTo>
                <a:lnTo>
                  <a:pt x="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1143000" y="3597511"/>
            <a:ext cx="2580640" cy="1555115"/>
          </a:xfrm>
          <a:custGeom>
            <a:avLst/>
            <a:gdLst/>
            <a:ahLst/>
            <a:cxnLst/>
            <a:rect l="l" t="t" r="r" b="b"/>
            <a:pathLst>
              <a:path w="2580640" h="1555114">
                <a:moveTo>
                  <a:pt x="0" y="1555102"/>
                </a:moveTo>
                <a:lnTo>
                  <a:pt x="258003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3634822" y="3597508"/>
            <a:ext cx="88265" cy="77470"/>
          </a:xfrm>
          <a:custGeom>
            <a:avLst/>
            <a:gdLst/>
            <a:ahLst/>
            <a:cxnLst/>
            <a:rect l="l" t="t" r="r" b="b"/>
            <a:pathLst>
              <a:path w="88264" h="77470">
                <a:moveTo>
                  <a:pt x="45897" y="77406"/>
                </a:moveTo>
                <a:lnTo>
                  <a:pt x="88214" y="0"/>
                </a:lnTo>
                <a:lnTo>
                  <a:pt x="0" y="127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 txBox="1"/>
          <p:nvPr/>
        </p:nvSpPr>
        <p:spPr>
          <a:xfrm>
            <a:off x="7242306" y="3472854"/>
            <a:ext cx="1139694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lang="zh-CN" altLang="en-US" sz="1600" b="1" i="1" spc="-10" dirty="0">
                <a:solidFill>
                  <a:srgbClr val="C00000"/>
                </a:solidFill>
                <a:latin typeface="Arial Narrow"/>
                <a:cs typeface="Arial Narrow"/>
              </a:rPr>
              <a:t>时间局部性山脊</a:t>
            </a:r>
            <a:endParaRPr sz="1600" dirty="0">
              <a:latin typeface="Arial Narrow"/>
              <a:cs typeface="Arial Narrow"/>
            </a:endParaRPr>
          </a:p>
        </p:txBody>
      </p:sp>
      <p:sp>
        <p:nvSpPr>
          <p:cNvPr id="69" name="object 69"/>
          <p:cNvSpPr/>
          <p:nvPr/>
        </p:nvSpPr>
        <p:spPr>
          <a:xfrm>
            <a:off x="5928728" y="2180056"/>
            <a:ext cx="470534" cy="462280"/>
          </a:xfrm>
          <a:custGeom>
            <a:avLst/>
            <a:gdLst/>
            <a:ahLst/>
            <a:cxnLst/>
            <a:rect l="l" t="t" r="r" b="b"/>
            <a:pathLst>
              <a:path w="470535" h="462280">
                <a:moveTo>
                  <a:pt x="0" y="0"/>
                </a:moveTo>
                <a:lnTo>
                  <a:pt x="470001" y="0"/>
                </a:lnTo>
                <a:lnTo>
                  <a:pt x="470001" y="461670"/>
                </a:lnTo>
                <a:lnTo>
                  <a:pt x="0" y="46167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3770147" y="5312955"/>
            <a:ext cx="847090" cy="365469"/>
          </a:xfrm>
          <a:custGeom>
            <a:avLst/>
            <a:gdLst/>
            <a:ahLst/>
            <a:cxnLst/>
            <a:rect l="l" t="t" r="r" b="b"/>
            <a:pathLst>
              <a:path w="847089" h="462279">
                <a:moveTo>
                  <a:pt x="0" y="0"/>
                </a:moveTo>
                <a:lnTo>
                  <a:pt x="846709" y="0"/>
                </a:lnTo>
                <a:lnTo>
                  <a:pt x="846709" y="461670"/>
                </a:lnTo>
                <a:lnTo>
                  <a:pt x="0" y="46167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5424652" y="3653193"/>
            <a:ext cx="470534" cy="462280"/>
          </a:xfrm>
          <a:custGeom>
            <a:avLst/>
            <a:gdLst/>
            <a:ahLst/>
            <a:cxnLst/>
            <a:rect l="l" t="t" r="r" b="b"/>
            <a:pathLst>
              <a:path w="470535" h="462279">
                <a:moveTo>
                  <a:pt x="0" y="0"/>
                </a:moveTo>
                <a:lnTo>
                  <a:pt x="470001" y="0"/>
                </a:lnTo>
                <a:lnTo>
                  <a:pt x="470001" y="461670"/>
                </a:lnTo>
                <a:lnTo>
                  <a:pt x="0" y="46167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5424652" y="3653193"/>
            <a:ext cx="470534" cy="462280"/>
          </a:xfrm>
          <a:custGeom>
            <a:avLst/>
            <a:gdLst/>
            <a:ahLst/>
            <a:cxnLst/>
            <a:rect l="l" t="t" r="r" b="b"/>
            <a:pathLst>
              <a:path w="470535" h="462279">
                <a:moveTo>
                  <a:pt x="0" y="0"/>
                </a:moveTo>
                <a:lnTo>
                  <a:pt x="470001" y="0"/>
                </a:lnTo>
                <a:lnTo>
                  <a:pt x="470001" y="461670"/>
                </a:lnTo>
                <a:lnTo>
                  <a:pt x="0" y="46167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 txBox="1"/>
          <p:nvPr/>
        </p:nvSpPr>
        <p:spPr>
          <a:xfrm>
            <a:off x="5505598" y="3744834"/>
            <a:ext cx="30797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-5" dirty="0">
                <a:latin typeface="Calibri"/>
                <a:cs typeface="Calibri"/>
              </a:rPr>
              <a:t>L2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4" name="object 74"/>
          <p:cNvSpPr/>
          <p:nvPr/>
        </p:nvSpPr>
        <p:spPr>
          <a:xfrm>
            <a:off x="4619650" y="4460735"/>
            <a:ext cx="470534" cy="462280"/>
          </a:xfrm>
          <a:custGeom>
            <a:avLst/>
            <a:gdLst/>
            <a:ahLst/>
            <a:cxnLst/>
            <a:rect l="l" t="t" r="r" b="b"/>
            <a:pathLst>
              <a:path w="470535" h="462279">
                <a:moveTo>
                  <a:pt x="0" y="0"/>
                </a:moveTo>
                <a:lnTo>
                  <a:pt x="470001" y="0"/>
                </a:lnTo>
                <a:lnTo>
                  <a:pt x="470001" y="461670"/>
                </a:lnTo>
                <a:lnTo>
                  <a:pt x="0" y="46167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6404717" y="2421942"/>
            <a:ext cx="759460" cy="1400810"/>
          </a:xfrm>
          <a:custGeom>
            <a:avLst/>
            <a:gdLst/>
            <a:ahLst/>
            <a:cxnLst/>
            <a:rect l="l" t="t" r="r" b="b"/>
            <a:pathLst>
              <a:path w="759459" h="1400810">
                <a:moveTo>
                  <a:pt x="758850" y="1400530"/>
                </a:moveTo>
                <a:lnTo>
                  <a:pt x="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6401937" y="2421935"/>
            <a:ext cx="78740" cy="88265"/>
          </a:xfrm>
          <a:custGeom>
            <a:avLst/>
            <a:gdLst/>
            <a:ahLst/>
            <a:cxnLst/>
            <a:rect l="l" t="t" r="r" b="b"/>
            <a:pathLst>
              <a:path w="78739" h="88264">
                <a:moveTo>
                  <a:pt x="0" y="88176"/>
                </a:moveTo>
                <a:lnTo>
                  <a:pt x="2781" y="0"/>
                </a:lnTo>
                <a:lnTo>
                  <a:pt x="78168" y="45834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5907208" y="3822471"/>
            <a:ext cx="1256665" cy="60960"/>
          </a:xfrm>
          <a:custGeom>
            <a:avLst/>
            <a:gdLst/>
            <a:ahLst/>
            <a:cxnLst/>
            <a:rect l="l" t="t" r="r" b="b"/>
            <a:pathLst>
              <a:path w="1256665" h="60960">
                <a:moveTo>
                  <a:pt x="1256360" y="0"/>
                </a:moveTo>
                <a:lnTo>
                  <a:pt x="0" y="60947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5907211" y="3835323"/>
            <a:ext cx="78740" cy="88900"/>
          </a:xfrm>
          <a:custGeom>
            <a:avLst/>
            <a:gdLst/>
            <a:ahLst/>
            <a:cxnLst/>
            <a:rect l="l" t="t" r="r" b="b"/>
            <a:pathLst>
              <a:path w="78739" h="88900">
                <a:moveTo>
                  <a:pt x="73952" y="0"/>
                </a:moveTo>
                <a:lnTo>
                  <a:pt x="0" y="48094"/>
                </a:lnTo>
                <a:lnTo>
                  <a:pt x="78270" y="88798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5101240" y="3822471"/>
            <a:ext cx="2062480" cy="864869"/>
          </a:xfrm>
          <a:custGeom>
            <a:avLst/>
            <a:gdLst/>
            <a:ahLst/>
            <a:cxnLst/>
            <a:rect l="l" t="t" r="r" b="b"/>
            <a:pathLst>
              <a:path w="2062479" h="864870">
                <a:moveTo>
                  <a:pt x="2062327" y="0"/>
                </a:moveTo>
                <a:lnTo>
                  <a:pt x="0" y="864247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5101239" y="4616263"/>
            <a:ext cx="87630" cy="82550"/>
          </a:xfrm>
          <a:custGeom>
            <a:avLst/>
            <a:gdLst/>
            <a:ahLst/>
            <a:cxnLst/>
            <a:rect l="l" t="t" r="r" b="b"/>
            <a:pathLst>
              <a:path w="87629" h="82550">
                <a:moveTo>
                  <a:pt x="53098" y="0"/>
                </a:moveTo>
                <a:lnTo>
                  <a:pt x="0" y="70446"/>
                </a:lnTo>
                <a:lnTo>
                  <a:pt x="87464" y="81991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4627276" y="3822471"/>
            <a:ext cx="2536825" cy="1714500"/>
          </a:xfrm>
          <a:custGeom>
            <a:avLst/>
            <a:gdLst/>
            <a:ahLst/>
            <a:cxnLst/>
            <a:rect l="l" t="t" r="r" b="b"/>
            <a:pathLst>
              <a:path w="2536825" h="1714500">
                <a:moveTo>
                  <a:pt x="2536291" y="0"/>
                </a:moveTo>
                <a:lnTo>
                  <a:pt x="0" y="1714271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4627271" y="5457245"/>
            <a:ext cx="88265" cy="80010"/>
          </a:xfrm>
          <a:custGeom>
            <a:avLst/>
            <a:gdLst/>
            <a:ahLst/>
            <a:cxnLst/>
            <a:rect l="l" t="t" r="r" b="b"/>
            <a:pathLst>
              <a:path w="88264" h="80010">
                <a:moveTo>
                  <a:pt x="38239" y="0"/>
                </a:moveTo>
                <a:lnTo>
                  <a:pt x="0" y="79501"/>
                </a:lnTo>
                <a:lnTo>
                  <a:pt x="88023" y="73647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 txBox="1"/>
          <p:nvPr/>
        </p:nvSpPr>
        <p:spPr>
          <a:xfrm>
            <a:off x="136237" y="615002"/>
            <a:ext cx="4739005" cy="16030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11785">
              <a:lnSpc>
                <a:spcPct val="100000"/>
              </a:lnSpc>
            </a:pPr>
            <a:r>
              <a:rPr lang="zh-CN" altLang="en-US" sz="3600" b="1" spc="-5" dirty="0">
                <a:latin typeface="Calibri"/>
                <a:cs typeface="Calibri"/>
              </a:rPr>
              <a:t>存储器山</a:t>
            </a:r>
            <a:endParaRPr sz="3600" dirty="0">
              <a:latin typeface="Calibri"/>
              <a:cs typeface="Calibri"/>
            </a:endParaRPr>
          </a:p>
          <a:p>
            <a:pPr marL="12700" marR="3811270">
              <a:lnSpc>
                <a:spcPct val="100000"/>
              </a:lnSpc>
              <a:spcBef>
                <a:spcPts val="2755"/>
              </a:spcBef>
            </a:pPr>
            <a:r>
              <a:rPr lang="zh-CN" altLang="en-US" sz="1600" b="1" i="1" spc="-5" dirty="0">
                <a:solidFill>
                  <a:srgbClr val="C00000"/>
                </a:solidFill>
                <a:latin typeface="Arial Narrow"/>
                <a:cs typeface="Arial Narrow"/>
              </a:rPr>
              <a:t> 硬件预取</a:t>
            </a:r>
            <a:r>
              <a:rPr lang="en-US" altLang="zh-CN" sz="1600" b="1" i="1" spc="-5" dirty="0">
                <a:solidFill>
                  <a:srgbClr val="C00000"/>
                </a:solidFill>
                <a:latin typeface="Arial Narrow"/>
                <a:cs typeface="Arial Narrow"/>
              </a:rPr>
              <a:t> 	</a:t>
            </a:r>
            <a:endParaRPr sz="1600" dirty="0">
              <a:latin typeface="Arial Narrow"/>
              <a:cs typeface="Arial Narrow"/>
            </a:endParaRPr>
          </a:p>
          <a:p>
            <a:pPr marL="787400">
              <a:lnSpc>
                <a:spcPct val="100000"/>
              </a:lnSpc>
              <a:spcBef>
                <a:spcPts val="55"/>
              </a:spcBef>
            </a:pPr>
            <a:r>
              <a:rPr sz="1200" dirty="0">
                <a:latin typeface="Arial"/>
                <a:cs typeface="Arial"/>
              </a:rPr>
              <a:t>1</a:t>
            </a:r>
            <a:r>
              <a:rPr sz="1200" spc="-10" dirty="0">
                <a:latin typeface="Arial"/>
                <a:cs typeface="Arial"/>
              </a:rPr>
              <a:t>6</a:t>
            </a:r>
            <a:r>
              <a:rPr sz="1200" dirty="0">
                <a:latin typeface="Arial"/>
                <a:cs typeface="Arial"/>
              </a:rPr>
              <a:t>000</a:t>
            </a:r>
          </a:p>
        </p:txBody>
      </p:sp>
      <p:sp>
        <p:nvSpPr>
          <p:cNvPr id="84" name="object 84"/>
          <p:cNvSpPr txBox="1"/>
          <p:nvPr/>
        </p:nvSpPr>
        <p:spPr>
          <a:xfrm>
            <a:off x="6982206" y="343592"/>
            <a:ext cx="2009394" cy="16619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5" dirty="0">
                <a:latin typeface="Calibri"/>
                <a:cs typeface="Calibri"/>
              </a:rPr>
              <a:t>Co</a:t>
            </a:r>
            <a:r>
              <a:rPr sz="1800" b="1" spc="-30" dirty="0">
                <a:latin typeface="Calibri"/>
                <a:cs typeface="Calibri"/>
              </a:rPr>
              <a:t>r</a:t>
            </a:r>
            <a:r>
              <a:rPr sz="1800" b="1" dirty="0">
                <a:latin typeface="Calibri"/>
                <a:cs typeface="Calibri"/>
              </a:rPr>
              <a:t>e</a:t>
            </a:r>
            <a:r>
              <a:rPr sz="1800" b="1" spc="-5" dirty="0">
                <a:latin typeface="Calibri"/>
                <a:cs typeface="Calibri"/>
              </a:rPr>
              <a:t> i7</a:t>
            </a:r>
            <a:r>
              <a:rPr sz="1800" b="1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H</a:t>
            </a:r>
            <a:r>
              <a:rPr sz="1800" b="1" spc="-10" dirty="0">
                <a:latin typeface="Calibri"/>
                <a:cs typeface="Calibri"/>
              </a:rPr>
              <a:t>a</a:t>
            </a:r>
            <a:r>
              <a:rPr sz="1800" b="1" spc="-20" dirty="0">
                <a:latin typeface="Calibri"/>
                <a:cs typeface="Calibri"/>
              </a:rPr>
              <a:t>s</a:t>
            </a:r>
            <a:r>
              <a:rPr sz="1800" b="1" spc="-10" dirty="0">
                <a:latin typeface="Calibri"/>
                <a:cs typeface="Calibri"/>
              </a:rPr>
              <a:t>w</a:t>
            </a:r>
            <a:r>
              <a:rPr sz="1800" b="1" spc="5" dirty="0">
                <a:latin typeface="Calibri"/>
                <a:cs typeface="Calibri"/>
              </a:rPr>
              <a:t>e</a:t>
            </a:r>
            <a:r>
              <a:rPr sz="1800" b="1" spc="-5" dirty="0">
                <a:latin typeface="Calibri"/>
                <a:cs typeface="Calibri"/>
              </a:rPr>
              <a:t>ll</a:t>
            </a:r>
            <a:endParaRPr sz="18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b="1" spc="-5" dirty="0">
                <a:latin typeface="Calibri"/>
                <a:cs typeface="Calibri"/>
              </a:rPr>
              <a:t>2.1 </a:t>
            </a:r>
            <a:r>
              <a:rPr sz="1800" b="1" spc="5" dirty="0">
                <a:latin typeface="Calibri"/>
                <a:cs typeface="Calibri"/>
              </a:rPr>
              <a:t>G</a:t>
            </a:r>
            <a:r>
              <a:rPr sz="1800" b="1" spc="-5" dirty="0">
                <a:latin typeface="Calibri"/>
                <a:cs typeface="Calibri"/>
              </a:rPr>
              <a:t>H</a:t>
            </a:r>
            <a:r>
              <a:rPr sz="1800" b="1" dirty="0">
                <a:latin typeface="Calibri"/>
                <a:cs typeface="Calibri"/>
              </a:rPr>
              <a:t>z</a:t>
            </a:r>
            <a:endParaRPr sz="1800" dirty="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sz="1800" b="1" spc="-5" dirty="0">
                <a:latin typeface="Calibri"/>
                <a:cs typeface="Calibri"/>
              </a:rPr>
              <a:t>32 KB</a:t>
            </a:r>
            <a:r>
              <a:rPr sz="1800" b="1" spc="10" dirty="0">
                <a:latin typeface="Calibri"/>
                <a:cs typeface="Calibri"/>
              </a:rPr>
              <a:t> </a:t>
            </a:r>
            <a:r>
              <a:rPr sz="1800" b="1" spc="-15" dirty="0">
                <a:latin typeface="Calibri"/>
                <a:cs typeface="Calibri"/>
              </a:rPr>
              <a:t>L</a:t>
            </a:r>
            <a:r>
              <a:rPr sz="1800" b="1" spc="-5" dirty="0">
                <a:latin typeface="Calibri"/>
                <a:cs typeface="Calibri"/>
              </a:rPr>
              <a:t>1</a:t>
            </a:r>
            <a:r>
              <a:rPr sz="1800" b="1" spc="10" dirty="0">
                <a:latin typeface="Calibri"/>
                <a:cs typeface="Calibri"/>
              </a:rPr>
              <a:t> </a:t>
            </a:r>
            <a:r>
              <a:rPr lang="zh-CN" altLang="en-US" sz="1800" b="1" spc="10" dirty="0">
                <a:latin typeface="Calibri"/>
                <a:cs typeface="Calibri"/>
              </a:rPr>
              <a:t>高速缓存</a:t>
            </a:r>
            <a:r>
              <a:rPr sz="1800" b="1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256</a:t>
            </a:r>
            <a:r>
              <a:rPr sz="1800" b="1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KB</a:t>
            </a:r>
            <a:r>
              <a:rPr sz="1800" b="1" spc="20" dirty="0">
                <a:latin typeface="Calibri"/>
                <a:cs typeface="Calibri"/>
              </a:rPr>
              <a:t> </a:t>
            </a:r>
            <a:r>
              <a:rPr sz="1800" b="1" spc="-15" dirty="0">
                <a:latin typeface="Calibri"/>
                <a:cs typeface="Calibri"/>
              </a:rPr>
              <a:t>L</a:t>
            </a:r>
            <a:r>
              <a:rPr sz="1800" b="1" spc="-5" dirty="0">
                <a:latin typeface="Calibri"/>
                <a:cs typeface="Calibri"/>
              </a:rPr>
              <a:t>2</a:t>
            </a:r>
            <a:r>
              <a:rPr lang="zh-CN" altLang="en-US" b="1" spc="10" dirty="0">
                <a:latin typeface="Calibri"/>
                <a:cs typeface="Calibri"/>
              </a:rPr>
              <a:t>高速缓存</a:t>
            </a:r>
            <a:endParaRPr lang="en-US" altLang="zh-CN" b="1" spc="10" dirty="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sz="1800" b="1" spc="-5" dirty="0">
                <a:latin typeface="Calibri"/>
                <a:cs typeface="Calibri"/>
              </a:rPr>
              <a:t>8</a:t>
            </a:r>
            <a:r>
              <a:rPr sz="1800" b="1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MB</a:t>
            </a:r>
            <a:r>
              <a:rPr sz="1800" b="1" spc="10" dirty="0">
                <a:latin typeface="Calibri"/>
                <a:cs typeface="Calibri"/>
              </a:rPr>
              <a:t> </a:t>
            </a:r>
            <a:r>
              <a:rPr sz="1800" b="1" spc="-15" dirty="0">
                <a:latin typeface="Calibri"/>
                <a:cs typeface="Calibri"/>
              </a:rPr>
              <a:t>L</a:t>
            </a:r>
            <a:r>
              <a:rPr sz="1800" b="1" spc="-5" dirty="0">
                <a:latin typeface="Calibri"/>
                <a:cs typeface="Calibri"/>
              </a:rPr>
              <a:t>3</a:t>
            </a:r>
            <a:r>
              <a:rPr lang="zh-CN" altLang="en-US" b="1" spc="10" dirty="0">
                <a:latin typeface="Calibri"/>
                <a:cs typeface="Calibri"/>
              </a:rPr>
              <a:t>高速缓存</a:t>
            </a:r>
            <a:endParaRPr lang="en-US" altLang="zh-CN" b="1" spc="10" dirty="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sz="1800" b="1" spc="-5" dirty="0">
                <a:latin typeface="Calibri"/>
                <a:cs typeface="Calibri"/>
              </a:rPr>
              <a:t>64</a:t>
            </a:r>
            <a:r>
              <a:rPr sz="1800" b="1" dirty="0">
                <a:latin typeface="Calibri"/>
                <a:cs typeface="Calibri"/>
              </a:rPr>
              <a:t> </a:t>
            </a:r>
            <a:r>
              <a:rPr sz="1800" b="1" spc="-5" dirty="0">
                <a:latin typeface="Calibri"/>
                <a:cs typeface="Calibri"/>
              </a:rPr>
              <a:t>B</a:t>
            </a:r>
            <a:r>
              <a:rPr sz="1800" b="1" spc="10" dirty="0">
                <a:latin typeface="Calibri"/>
                <a:cs typeface="Calibri"/>
              </a:rPr>
              <a:t> </a:t>
            </a:r>
            <a:r>
              <a:rPr lang="zh-CN" altLang="en-US" sz="1800" b="1" spc="10" dirty="0">
                <a:latin typeface="Calibri"/>
                <a:cs typeface="Calibri"/>
              </a:rPr>
              <a:t>块大小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5928728" y="2180056"/>
            <a:ext cx="470534" cy="46228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86995">
              <a:lnSpc>
                <a:spcPct val="100000"/>
              </a:lnSpc>
            </a:pPr>
            <a:r>
              <a:rPr sz="2400" spc="-5" dirty="0">
                <a:latin typeface="Calibri"/>
                <a:cs typeface="Calibri"/>
              </a:rPr>
              <a:t>L1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3770147" y="5312955"/>
            <a:ext cx="847090" cy="369332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88265" algn="ctr">
              <a:lnSpc>
                <a:spcPct val="100000"/>
              </a:lnSpc>
            </a:pPr>
            <a:r>
              <a:rPr lang="zh-CN" altLang="en-US" sz="2400" dirty="0">
                <a:latin typeface="Calibri"/>
                <a:cs typeface="Calibri"/>
              </a:rPr>
              <a:t>主存</a:t>
            </a:r>
            <a:endParaRPr lang="en-US" altLang="zh-CN" sz="2400" dirty="0">
              <a:latin typeface="Calibri"/>
              <a:cs typeface="Calibri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4619650" y="4460735"/>
            <a:ext cx="470534" cy="46228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86995">
              <a:lnSpc>
                <a:spcPct val="100000"/>
              </a:lnSpc>
            </a:pPr>
            <a:r>
              <a:rPr sz="2400" spc="-5" dirty="0">
                <a:latin typeface="Calibri"/>
                <a:cs typeface="Calibri"/>
              </a:rPr>
              <a:t>L3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88" name="object 88"/>
          <p:cNvSpPr/>
          <p:nvPr/>
        </p:nvSpPr>
        <p:spPr>
          <a:xfrm>
            <a:off x="1295400" y="1663988"/>
            <a:ext cx="2197735" cy="636905"/>
          </a:xfrm>
          <a:custGeom>
            <a:avLst/>
            <a:gdLst/>
            <a:ahLst/>
            <a:cxnLst/>
            <a:rect l="l" t="t" r="r" b="b"/>
            <a:pathLst>
              <a:path w="2197735" h="636905">
                <a:moveTo>
                  <a:pt x="0" y="0"/>
                </a:moveTo>
                <a:lnTo>
                  <a:pt x="2197722" y="636651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3407564" y="2236741"/>
            <a:ext cx="85725" cy="85725"/>
          </a:xfrm>
          <a:custGeom>
            <a:avLst/>
            <a:gdLst/>
            <a:ahLst/>
            <a:cxnLst/>
            <a:rect l="l" t="t" r="r" b="b"/>
            <a:pathLst>
              <a:path w="85725" h="85725">
                <a:moveTo>
                  <a:pt x="24739" y="0"/>
                </a:moveTo>
                <a:lnTo>
                  <a:pt x="85559" y="63906"/>
                </a:lnTo>
                <a:lnTo>
                  <a:pt x="0" y="85382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57018" y="394767"/>
            <a:ext cx="7592093" cy="843822"/>
          </a:xfrm>
          <a:prstGeom prst="rect">
            <a:avLst/>
          </a:prstGeom>
        </p:spPr>
        <p:txBody>
          <a:bodyPr vert="horz" wrap="square" lIns="0" tIns="287021" rIns="0" bIns="0" rtlCol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lang="zh-CN" altLang="en-US" dirty="0">
                <a:ea typeface="宋体" pitchFamily="2" charset="-122"/>
              </a:rPr>
              <a:t>高速缓存存储器</a:t>
            </a:r>
            <a:endParaRPr spc="-5" dirty="0"/>
          </a:p>
        </p:txBody>
      </p:sp>
      <p:sp>
        <p:nvSpPr>
          <p:cNvPr id="4" name="object 4"/>
          <p:cNvSpPr txBox="1"/>
          <p:nvPr/>
        </p:nvSpPr>
        <p:spPr>
          <a:xfrm>
            <a:off x="475615" y="1464183"/>
            <a:ext cx="5361940" cy="19312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990000"/>
              </a:buClr>
              <a:buSzPct val="60416"/>
              <a:buFont typeface="Wingdings 2"/>
              <a:buChar char=""/>
              <a:tabLst>
                <a:tab pos="355600" algn="l"/>
              </a:tabLst>
            </a:pPr>
            <a:r>
              <a:rPr lang="zh-CN" altLang="en-US" sz="2400" b="1" dirty="0">
                <a:solidFill>
                  <a:srgbClr val="A7A8A7"/>
                </a:solidFill>
                <a:latin typeface="Calibri"/>
                <a:cs typeface="Calibri"/>
              </a:rPr>
              <a:t>高速缓存的结构和操作</a:t>
            </a: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Clr>
                <a:srgbClr val="990000"/>
              </a:buClr>
              <a:buSzPct val="60416"/>
              <a:buFont typeface="Wingdings 2"/>
              <a:buChar char=""/>
              <a:tabLst>
                <a:tab pos="355600" algn="l"/>
              </a:tabLst>
            </a:pPr>
            <a:r>
              <a:rPr lang="zh-CN" altLang="en-US" sz="2400" b="1" spc="-10" dirty="0">
                <a:latin typeface="Calibri"/>
                <a:cs typeface="Calibri"/>
              </a:rPr>
              <a:t>高速缓存对性能的影响</a:t>
            </a:r>
          </a:p>
          <a:p>
            <a:pPr marL="756285" lvl="1" indent="-286385">
              <a:lnSpc>
                <a:spcPct val="100000"/>
              </a:lnSpc>
              <a:spcBef>
                <a:spcPts val="505"/>
              </a:spcBef>
              <a:buClr>
                <a:srgbClr val="990000"/>
              </a:buClr>
              <a:buSzPct val="110000"/>
              <a:buFont typeface="Wingdings"/>
              <a:buChar char=""/>
              <a:tabLst>
                <a:tab pos="756920" algn="l"/>
              </a:tabLst>
            </a:pPr>
            <a:r>
              <a:rPr lang="zh-CN" altLang="en-US" sz="2000" spc="-5" dirty="0">
                <a:solidFill>
                  <a:srgbClr val="A7A8A7"/>
                </a:solidFill>
                <a:latin typeface="Calibri"/>
                <a:cs typeface="Calibri"/>
              </a:rPr>
              <a:t>存储器山</a:t>
            </a:r>
          </a:p>
          <a:p>
            <a:pPr marL="756285" lvl="1" indent="-286385">
              <a:lnSpc>
                <a:spcPct val="100000"/>
              </a:lnSpc>
              <a:spcBef>
                <a:spcPts val="505"/>
              </a:spcBef>
              <a:buClr>
                <a:srgbClr val="990000"/>
              </a:buClr>
              <a:buSzPct val="110000"/>
              <a:buFont typeface="Wingdings"/>
              <a:buChar char=""/>
              <a:tabLst>
                <a:tab pos="756920" algn="l"/>
              </a:tabLst>
            </a:pPr>
            <a:r>
              <a:rPr lang="zh-CN" altLang="en-US" sz="2000" spc="-5" dirty="0">
                <a:latin typeface="Calibri"/>
                <a:cs typeface="Calibri"/>
              </a:rPr>
              <a:t>重新排列循环以提高空间局部性</a:t>
            </a:r>
          </a:p>
          <a:p>
            <a:pPr marL="756285" lvl="1" indent="-286385">
              <a:lnSpc>
                <a:spcPct val="100000"/>
              </a:lnSpc>
              <a:spcBef>
                <a:spcPts val="505"/>
              </a:spcBef>
              <a:buClr>
                <a:srgbClr val="990000"/>
              </a:buClr>
              <a:buSzPct val="110000"/>
              <a:buFont typeface="Wingdings"/>
              <a:buChar char=""/>
              <a:tabLst>
                <a:tab pos="756920" algn="l"/>
              </a:tabLst>
            </a:pPr>
            <a:r>
              <a:rPr lang="zh-CN" altLang="en-US" sz="2000" spc="-5" dirty="0">
                <a:solidFill>
                  <a:srgbClr val="A7A8A7"/>
                </a:solidFill>
                <a:latin typeface="Calibri"/>
                <a:cs typeface="Calibri"/>
              </a:rPr>
              <a:t>使用分块以提高时间局部性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74650" y="336976"/>
            <a:ext cx="7591425" cy="830998"/>
          </a:xfrm>
          <a:prstGeom prst="rect">
            <a:avLst/>
          </a:prstGeom>
        </p:spPr>
        <p:txBody>
          <a:bodyPr vert="horz" wrap="square" lIns="0" tIns="274321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zh-CN" altLang="en-US" dirty="0"/>
              <a:t>矩阵相乘问题</a:t>
            </a:r>
            <a:endParaRPr dirty="0"/>
          </a:p>
        </p:txBody>
      </p:sp>
      <p:sp>
        <p:nvSpPr>
          <p:cNvPr id="4" name="object 4"/>
          <p:cNvSpPr txBox="1">
            <a:spLocks noGrp="1"/>
          </p:cNvSpPr>
          <p:nvPr>
            <p:ph sz="half" idx="1"/>
          </p:nvPr>
        </p:nvSpPr>
        <p:spPr>
          <a:xfrm>
            <a:off x="638175" y="1362075"/>
            <a:ext cx="3871913" cy="327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990000"/>
              </a:buClr>
              <a:buSzPct val="60416"/>
              <a:buFont typeface="Wingdings 2"/>
              <a:buChar char=""/>
              <a:tabLst>
                <a:tab pos="355600" algn="l"/>
              </a:tabLst>
            </a:pPr>
            <a:r>
              <a:rPr lang="zh-CN" altLang="en-US" spc="-10" dirty="0"/>
              <a:t>描述</a:t>
            </a:r>
            <a:r>
              <a:rPr spc="-10" dirty="0"/>
              <a:t>:</a:t>
            </a:r>
          </a:p>
          <a:p>
            <a:pPr marL="756285" lvl="1" indent="-286385">
              <a:lnSpc>
                <a:spcPct val="100000"/>
              </a:lnSpc>
              <a:spcBef>
                <a:spcPts val="505"/>
              </a:spcBef>
              <a:buClr>
                <a:srgbClr val="990000"/>
              </a:buClr>
              <a:buSzPct val="110000"/>
              <a:buFont typeface="Wingdings"/>
              <a:buChar char=""/>
              <a:tabLst>
                <a:tab pos="756920" algn="l"/>
              </a:tabLst>
            </a:pPr>
            <a:r>
              <a:rPr lang="zh-CN" altLang="en-US" sz="2000" spc="-5" dirty="0">
                <a:latin typeface="Calibri"/>
                <a:cs typeface="Calibri"/>
              </a:rPr>
              <a:t>乘以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N</a:t>
            </a:r>
            <a:r>
              <a:rPr sz="2000" i="1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x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N</a:t>
            </a:r>
            <a:r>
              <a:rPr sz="2000" i="1" spc="-5" dirty="0">
                <a:latin typeface="Calibri"/>
                <a:cs typeface="Calibri"/>
              </a:rPr>
              <a:t> </a:t>
            </a:r>
            <a:r>
              <a:rPr lang="zh-CN" altLang="en-US" sz="2000" i="1" spc="-5" dirty="0">
                <a:latin typeface="Calibri"/>
                <a:cs typeface="Calibri"/>
              </a:rPr>
              <a:t>矩阵</a:t>
            </a:r>
            <a:endParaRPr sz="2000" dirty="0">
              <a:latin typeface="Calibri"/>
              <a:cs typeface="Calibri"/>
            </a:endParaRPr>
          </a:p>
          <a:p>
            <a:pPr marL="756285" marR="325120" lvl="1" indent="-286385">
              <a:lnSpc>
                <a:spcPct val="100499"/>
              </a:lnSpc>
              <a:spcBef>
                <a:spcPts val="465"/>
              </a:spcBef>
              <a:buClr>
                <a:srgbClr val="990000"/>
              </a:buClr>
              <a:buSzPct val="110000"/>
              <a:buFont typeface="Wingdings"/>
              <a:buChar char=""/>
              <a:tabLst>
                <a:tab pos="756920" algn="l"/>
              </a:tabLst>
            </a:pPr>
            <a:r>
              <a:rPr lang="zh-CN" altLang="en-US" sz="2000" dirty="0">
                <a:latin typeface="Calibri"/>
                <a:cs typeface="Calibri"/>
              </a:rPr>
              <a:t>矩阵元素是</a:t>
            </a:r>
            <a:r>
              <a:rPr sz="2000" dirty="0">
                <a:latin typeface="Calibri"/>
                <a:cs typeface="Calibri"/>
              </a:rPr>
              <a:t>d</a:t>
            </a:r>
            <a:r>
              <a:rPr sz="2000" spc="-5" dirty="0">
                <a:latin typeface="Calibri"/>
                <a:cs typeface="Calibri"/>
              </a:rPr>
              <a:t>o</a:t>
            </a:r>
            <a:r>
              <a:rPr sz="2000" dirty="0">
                <a:latin typeface="Calibri"/>
                <a:cs typeface="Calibri"/>
              </a:rPr>
              <a:t>ub</a:t>
            </a:r>
            <a:r>
              <a:rPr sz="2000" spc="-5" dirty="0">
                <a:latin typeface="Calibri"/>
                <a:cs typeface="Calibri"/>
              </a:rPr>
              <a:t>le</a:t>
            </a:r>
            <a:r>
              <a:rPr sz="2000" dirty="0">
                <a:latin typeface="Arial Narrow"/>
                <a:cs typeface="Arial Narrow"/>
              </a:rPr>
              <a:t>s</a:t>
            </a:r>
            <a:r>
              <a:rPr sz="2000" spc="-20" dirty="0">
                <a:latin typeface="Arial Narrow"/>
                <a:cs typeface="Arial Narrow"/>
              </a:rPr>
              <a:t> </a:t>
            </a:r>
            <a:r>
              <a:rPr lang="zh-CN" altLang="en-US" sz="2000" spc="-20" dirty="0">
                <a:latin typeface="Arial Narrow"/>
                <a:cs typeface="Arial Narrow"/>
              </a:rPr>
              <a:t>类型</a:t>
            </a:r>
            <a:r>
              <a:rPr sz="2000" dirty="0">
                <a:latin typeface="Calibri"/>
                <a:cs typeface="Calibri"/>
              </a:rPr>
              <a:t>(8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byt</a:t>
            </a:r>
            <a:r>
              <a:rPr sz="2000" spc="-5" dirty="0">
                <a:latin typeface="Calibri"/>
                <a:cs typeface="Calibri"/>
              </a:rPr>
              <a:t>es</a:t>
            </a:r>
            <a:r>
              <a:rPr sz="2000" dirty="0">
                <a:latin typeface="Calibri"/>
                <a:cs typeface="Calibri"/>
              </a:rPr>
              <a:t>)</a:t>
            </a:r>
          </a:p>
          <a:p>
            <a:pPr marL="756285" lvl="1" indent="-286385">
              <a:lnSpc>
                <a:spcPct val="100000"/>
              </a:lnSpc>
              <a:spcBef>
                <a:spcPts val="465"/>
              </a:spcBef>
              <a:buClr>
                <a:srgbClr val="990000"/>
              </a:buClr>
              <a:buSzPct val="110000"/>
              <a:buFont typeface="Wingdings"/>
              <a:buChar char=""/>
              <a:tabLst>
                <a:tab pos="756920" algn="l"/>
              </a:tabLst>
            </a:pPr>
            <a:r>
              <a:rPr lang="zh-CN" altLang="en-US" sz="2000" spc="5" dirty="0">
                <a:latin typeface="Calibri"/>
                <a:cs typeface="Calibri"/>
              </a:rPr>
              <a:t>共执行</a:t>
            </a:r>
            <a:r>
              <a:rPr sz="2000" spc="5" dirty="0">
                <a:latin typeface="Calibri"/>
                <a:cs typeface="Calibri"/>
              </a:rPr>
              <a:t>O</a:t>
            </a:r>
            <a:r>
              <a:rPr sz="2000" dirty="0">
                <a:latin typeface="Calibri"/>
                <a:cs typeface="Calibri"/>
              </a:rPr>
              <a:t>(</a:t>
            </a:r>
            <a:r>
              <a:rPr sz="2000" i="1" dirty="0">
                <a:latin typeface="Calibri"/>
                <a:cs typeface="Calibri"/>
              </a:rPr>
              <a:t>N</a:t>
            </a:r>
            <a:r>
              <a:rPr sz="1950" spc="15" baseline="25641" dirty="0">
                <a:latin typeface="Calibri"/>
                <a:cs typeface="Calibri"/>
              </a:rPr>
              <a:t>3</a:t>
            </a:r>
            <a:r>
              <a:rPr sz="2000" dirty="0">
                <a:latin typeface="Calibri"/>
                <a:cs typeface="Calibri"/>
              </a:rPr>
              <a:t>)</a:t>
            </a:r>
            <a:r>
              <a:rPr lang="zh-CN" altLang="en-US" sz="2000" dirty="0">
                <a:latin typeface="Calibri"/>
                <a:cs typeface="Calibri"/>
              </a:rPr>
              <a:t>个操作</a:t>
            </a:r>
            <a:endParaRPr sz="2000" dirty="0">
              <a:latin typeface="Calibri"/>
              <a:cs typeface="Calibri"/>
            </a:endParaRPr>
          </a:p>
          <a:p>
            <a:pPr marL="756285" marR="474345" lvl="1" indent="-286385">
              <a:lnSpc>
                <a:spcPct val="100000"/>
              </a:lnSpc>
              <a:spcBef>
                <a:spcPts val="480"/>
              </a:spcBef>
              <a:buClr>
                <a:srgbClr val="990000"/>
              </a:buClr>
              <a:buSzPct val="110000"/>
              <a:buFont typeface="Wingdings"/>
              <a:buChar char=""/>
              <a:tabLst>
                <a:tab pos="756920" algn="l"/>
              </a:tabLst>
            </a:pPr>
            <a:r>
              <a:rPr lang="zh-CN" altLang="en-US" sz="2000" dirty="0">
                <a:latin typeface="Calibri"/>
                <a:cs typeface="Calibri"/>
              </a:rPr>
              <a:t>每一个元素都要读</a:t>
            </a:r>
            <a:r>
              <a:rPr lang="en-US" altLang="zh-CN" sz="2000" dirty="0">
                <a:latin typeface="Calibri"/>
                <a:cs typeface="Calibri"/>
              </a:rPr>
              <a:t>n</a:t>
            </a:r>
            <a:r>
              <a:rPr lang="zh-CN" altLang="en-US" sz="2000" dirty="0">
                <a:latin typeface="Calibri"/>
                <a:cs typeface="Calibri"/>
              </a:rPr>
              <a:t>次</a:t>
            </a:r>
            <a:endParaRPr sz="2000" dirty="0">
              <a:latin typeface="Calibri"/>
              <a:cs typeface="Calibri"/>
            </a:endParaRPr>
          </a:p>
          <a:p>
            <a:pPr marL="756285" marR="180340" lvl="1" indent="-286385">
              <a:lnSpc>
                <a:spcPct val="100000"/>
              </a:lnSpc>
              <a:spcBef>
                <a:spcPts val="480"/>
              </a:spcBef>
              <a:buClr>
                <a:srgbClr val="990000"/>
              </a:buClr>
              <a:buSzPct val="110000"/>
              <a:buFont typeface="Wingdings"/>
              <a:buChar char=""/>
              <a:tabLst>
                <a:tab pos="756920" algn="l"/>
              </a:tabLst>
            </a:pPr>
            <a:r>
              <a:rPr lang="zh-CN" altLang="en-US" sz="2000" spc="-5" dirty="0">
                <a:latin typeface="Calibri"/>
                <a:cs typeface="Calibri"/>
              </a:rPr>
              <a:t>计算每一个元素都要求和</a:t>
            </a:r>
            <a:endParaRPr sz="2000" dirty="0">
              <a:latin typeface="Calibri"/>
              <a:cs typeface="Calibri"/>
            </a:endParaRPr>
          </a:p>
          <a:p>
            <a:pPr marL="1155700" marR="80010" lvl="2" indent="-228600">
              <a:lnSpc>
                <a:spcPct val="100000"/>
              </a:lnSpc>
              <a:spcBef>
                <a:spcPts val="480"/>
              </a:spcBef>
              <a:buSzPct val="80000"/>
              <a:buFont typeface="Wingdings"/>
              <a:buChar char=""/>
              <a:tabLst>
                <a:tab pos="1155700" algn="l"/>
              </a:tabLst>
            </a:pPr>
            <a:r>
              <a:rPr lang="zh-CN" altLang="en-US" sz="2000" dirty="0">
                <a:latin typeface="Calibri"/>
                <a:cs typeface="Calibri"/>
              </a:rPr>
              <a:t>但是可能保存到寄存器中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274820" y="1549908"/>
            <a:ext cx="4636007" cy="29794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233671" y="1461528"/>
            <a:ext cx="4773167" cy="313485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270375" y="1546225"/>
            <a:ext cx="4492625" cy="2834640"/>
          </a:xfrm>
          <a:custGeom>
            <a:avLst/>
            <a:gdLst/>
            <a:ahLst/>
            <a:cxnLst/>
            <a:rect l="l" t="t" r="r" b="b"/>
            <a:pathLst>
              <a:path w="4492625" h="2834640">
                <a:moveTo>
                  <a:pt x="0" y="0"/>
                </a:moveTo>
                <a:lnTo>
                  <a:pt x="4492625" y="0"/>
                </a:lnTo>
                <a:lnTo>
                  <a:pt x="4492625" y="2834360"/>
                </a:lnTo>
                <a:lnTo>
                  <a:pt x="0" y="2834360"/>
                </a:lnTo>
                <a:lnTo>
                  <a:pt x="0" y="0"/>
                </a:lnTo>
                <a:close/>
              </a:path>
            </a:pathLst>
          </a:custGeom>
          <a:solidFill>
            <a:srgbClr val="F6F5B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270375" y="1546225"/>
            <a:ext cx="4492625" cy="2834640"/>
          </a:xfrm>
          <a:custGeom>
            <a:avLst/>
            <a:gdLst/>
            <a:ahLst/>
            <a:cxnLst/>
            <a:rect l="l" t="t" r="r" b="b"/>
            <a:pathLst>
              <a:path w="4492625" h="2834640">
                <a:moveTo>
                  <a:pt x="0" y="0"/>
                </a:moveTo>
                <a:lnTo>
                  <a:pt x="4492625" y="0"/>
                </a:lnTo>
                <a:lnTo>
                  <a:pt x="4492625" y="2834360"/>
                </a:lnTo>
                <a:lnTo>
                  <a:pt x="0" y="283436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348161" y="1539513"/>
            <a:ext cx="125539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969644" algn="l"/>
              </a:tabLst>
            </a:pPr>
            <a:r>
              <a:rPr sz="1800" b="1" dirty="0">
                <a:latin typeface="Courier New"/>
                <a:cs typeface="Courier New"/>
              </a:rPr>
              <a:t>/*</a:t>
            </a:r>
            <a:r>
              <a:rPr sz="1800" b="1" spc="-1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i</a:t>
            </a:r>
            <a:r>
              <a:rPr sz="1800" b="1" spc="-15" dirty="0">
                <a:latin typeface="Courier New"/>
                <a:cs typeface="Courier New"/>
              </a:rPr>
              <a:t>j</a:t>
            </a:r>
            <a:r>
              <a:rPr sz="1800" b="1" dirty="0">
                <a:latin typeface="Courier New"/>
                <a:cs typeface="Courier New"/>
              </a:rPr>
              <a:t>k	</a:t>
            </a:r>
            <a:r>
              <a:rPr sz="1800" b="1" spc="-15" dirty="0">
                <a:latin typeface="Courier New"/>
                <a:cs typeface="Courier New"/>
              </a:rPr>
              <a:t>*</a:t>
            </a:r>
            <a:r>
              <a:rPr sz="1800" b="1" dirty="0">
                <a:latin typeface="Courier New"/>
                <a:cs typeface="Courier New"/>
              </a:rPr>
              <a:t>/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622481" y="3747789"/>
            <a:ext cx="16256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dirty="0"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348161" y="4063257"/>
            <a:ext cx="16256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dirty="0"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162800" y="1295400"/>
            <a:ext cx="1572895" cy="643890"/>
          </a:xfrm>
          <a:custGeom>
            <a:avLst/>
            <a:gdLst/>
            <a:ahLst/>
            <a:cxnLst/>
            <a:rect l="l" t="t" r="r" b="b"/>
            <a:pathLst>
              <a:path w="1572895" h="643889">
                <a:moveTo>
                  <a:pt x="0" y="0"/>
                </a:moveTo>
                <a:lnTo>
                  <a:pt x="1572285" y="0"/>
                </a:lnTo>
                <a:lnTo>
                  <a:pt x="1572285" y="643763"/>
                </a:lnTo>
                <a:lnTo>
                  <a:pt x="0" y="643763"/>
                </a:lnTo>
                <a:lnTo>
                  <a:pt x="0" y="0"/>
                </a:lnTo>
                <a:close/>
              </a:path>
            </a:pathLst>
          </a:custGeom>
          <a:solidFill>
            <a:srgbClr val="E7E7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411913" y="2628900"/>
            <a:ext cx="1384300" cy="0"/>
          </a:xfrm>
          <a:custGeom>
            <a:avLst/>
            <a:gdLst/>
            <a:ahLst/>
            <a:cxnLst/>
            <a:rect l="l" t="t" r="r" b="b"/>
            <a:pathLst>
              <a:path w="1384300">
                <a:moveTo>
                  <a:pt x="1384300" y="0"/>
                </a:moveTo>
                <a:lnTo>
                  <a:pt x="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348411" y="2590797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796214" y="1933575"/>
            <a:ext cx="228600" cy="676275"/>
          </a:xfrm>
          <a:custGeom>
            <a:avLst/>
            <a:gdLst/>
            <a:ahLst/>
            <a:cxnLst/>
            <a:rect l="l" t="t" r="r" b="b"/>
            <a:pathLst>
              <a:path w="228600" h="676275">
                <a:moveTo>
                  <a:pt x="228600" y="0"/>
                </a:moveTo>
                <a:lnTo>
                  <a:pt x="0" y="676008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4348161" y="1369060"/>
            <a:ext cx="4293235" cy="30156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170815" algn="r">
              <a:lnSpc>
                <a:spcPct val="100000"/>
              </a:lnSpc>
            </a:pPr>
            <a:r>
              <a:rPr lang="zh-CN" altLang="en-US" sz="1800" b="1" i="1" spc="-5" dirty="0">
                <a:solidFill>
                  <a:srgbClr val="C00000"/>
                </a:solidFill>
                <a:latin typeface="Calibri"/>
                <a:cs typeface="Calibri"/>
              </a:rPr>
              <a:t>变量</a:t>
            </a:r>
            <a:r>
              <a:rPr sz="1800" b="1" i="1" spc="-5" dirty="0">
                <a:solidFill>
                  <a:srgbClr val="C00000"/>
                </a:solidFill>
                <a:latin typeface="Calibri"/>
                <a:cs typeface="Calibri"/>
              </a:rPr>
              <a:t>sum</a:t>
            </a:r>
            <a:endParaRPr sz="1800" dirty="0">
              <a:latin typeface="Calibri"/>
              <a:cs typeface="Calibri"/>
            </a:endParaRPr>
          </a:p>
          <a:p>
            <a:pPr marR="5080" algn="r">
              <a:lnSpc>
                <a:spcPts val="1900"/>
              </a:lnSpc>
            </a:pPr>
            <a:r>
              <a:rPr lang="zh-CN" altLang="en-US" sz="1800" i="1" spc="-10" dirty="0">
                <a:solidFill>
                  <a:srgbClr val="C00000"/>
                </a:solidFill>
                <a:latin typeface="Calibri"/>
                <a:cs typeface="Calibri"/>
              </a:rPr>
              <a:t>保存在寄存器中</a:t>
            </a:r>
            <a:endParaRPr sz="1800" dirty="0">
              <a:latin typeface="Calibri"/>
              <a:cs typeface="Calibri"/>
            </a:endParaRPr>
          </a:p>
          <a:p>
            <a:pPr marL="287020" indent="-274320">
              <a:lnSpc>
                <a:spcPts val="1900"/>
              </a:lnSpc>
              <a:tabLst>
                <a:tab pos="2879090" algn="l"/>
              </a:tabLst>
            </a:pPr>
            <a:r>
              <a:rPr sz="1800" b="1" dirty="0">
                <a:latin typeface="Courier New"/>
                <a:cs typeface="Courier New"/>
              </a:rPr>
              <a:t>for</a:t>
            </a:r>
            <a:r>
              <a:rPr sz="1800" b="1" spc="-15" dirty="0">
                <a:latin typeface="Courier New"/>
                <a:cs typeface="Courier New"/>
              </a:rPr>
              <a:t> (</a:t>
            </a:r>
            <a:r>
              <a:rPr sz="1800" b="1" dirty="0">
                <a:latin typeface="Courier New"/>
                <a:cs typeface="Courier New"/>
              </a:rPr>
              <a:t>i=</a:t>
            </a:r>
            <a:r>
              <a:rPr sz="1800" b="1" spc="-15" dirty="0">
                <a:latin typeface="Courier New"/>
                <a:cs typeface="Courier New"/>
              </a:rPr>
              <a:t>0</a:t>
            </a:r>
            <a:r>
              <a:rPr sz="1800" b="1" dirty="0">
                <a:latin typeface="Courier New"/>
                <a:cs typeface="Courier New"/>
              </a:rPr>
              <a:t>;</a:t>
            </a:r>
            <a:r>
              <a:rPr sz="1800" b="1" spc="-15" dirty="0">
                <a:latin typeface="Courier New"/>
                <a:cs typeface="Courier New"/>
              </a:rPr>
              <a:t> i</a:t>
            </a:r>
            <a:r>
              <a:rPr sz="1800" b="1" dirty="0">
                <a:latin typeface="Courier New"/>
                <a:cs typeface="Courier New"/>
              </a:rPr>
              <a:t>&lt;n;</a:t>
            </a:r>
            <a:r>
              <a:rPr sz="1800" b="1" spc="-15" dirty="0">
                <a:latin typeface="Courier New"/>
                <a:cs typeface="Courier New"/>
              </a:rPr>
              <a:t> i</a:t>
            </a:r>
            <a:r>
              <a:rPr sz="1800" b="1" dirty="0">
                <a:latin typeface="Courier New"/>
                <a:cs typeface="Courier New"/>
              </a:rPr>
              <a:t>++)	{</a:t>
            </a:r>
            <a:endParaRPr sz="1800" dirty="0">
              <a:latin typeface="Courier New"/>
              <a:cs typeface="Courier New"/>
            </a:endParaRPr>
          </a:p>
          <a:p>
            <a:pPr marL="559435" marR="1134110" indent="-273050">
              <a:lnSpc>
                <a:spcPct val="114999"/>
              </a:lnSpc>
            </a:pPr>
            <a:r>
              <a:rPr sz="1800" b="1" spc="-15" dirty="0">
                <a:latin typeface="Courier New"/>
                <a:cs typeface="Courier New"/>
              </a:rPr>
              <a:t>f</a:t>
            </a:r>
            <a:r>
              <a:rPr sz="1800" b="1" dirty="0">
                <a:latin typeface="Courier New"/>
                <a:cs typeface="Courier New"/>
              </a:rPr>
              <a:t>or</a:t>
            </a:r>
            <a:r>
              <a:rPr sz="1800" b="1" spc="-1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(</a:t>
            </a:r>
            <a:r>
              <a:rPr sz="1800" b="1" spc="-15" dirty="0">
                <a:latin typeface="Courier New"/>
                <a:cs typeface="Courier New"/>
              </a:rPr>
              <a:t>j</a:t>
            </a:r>
            <a:r>
              <a:rPr sz="1800" b="1" dirty="0">
                <a:latin typeface="Courier New"/>
                <a:cs typeface="Courier New"/>
              </a:rPr>
              <a:t>=</a:t>
            </a:r>
            <a:r>
              <a:rPr sz="1800" b="1" spc="-15" dirty="0">
                <a:latin typeface="Courier New"/>
                <a:cs typeface="Courier New"/>
              </a:rPr>
              <a:t>0</a:t>
            </a:r>
            <a:r>
              <a:rPr sz="1800" b="1" dirty="0">
                <a:latin typeface="Courier New"/>
                <a:cs typeface="Courier New"/>
              </a:rPr>
              <a:t>;</a:t>
            </a:r>
            <a:r>
              <a:rPr sz="1800" b="1" spc="-1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j</a:t>
            </a:r>
            <a:r>
              <a:rPr sz="1800" b="1" spc="-15" dirty="0">
                <a:latin typeface="Courier New"/>
                <a:cs typeface="Courier New"/>
              </a:rPr>
              <a:t>&lt;</a:t>
            </a:r>
            <a:r>
              <a:rPr sz="1800" b="1" dirty="0">
                <a:latin typeface="Courier New"/>
                <a:cs typeface="Courier New"/>
              </a:rPr>
              <a:t>n;</a:t>
            </a:r>
            <a:r>
              <a:rPr sz="1800" b="1" spc="-1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j</a:t>
            </a:r>
            <a:r>
              <a:rPr sz="1800" b="1" spc="-15" dirty="0">
                <a:latin typeface="Courier New"/>
                <a:cs typeface="Courier New"/>
              </a:rPr>
              <a:t>+</a:t>
            </a:r>
            <a:r>
              <a:rPr sz="1800" b="1" dirty="0">
                <a:latin typeface="Courier New"/>
                <a:cs typeface="Courier New"/>
              </a:rPr>
              <a:t>+)</a:t>
            </a:r>
            <a:r>
              <a:rPr sz="1800" b="1" spc="-2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{ </a:t>
            </a:r>
            <a:r>
              <a:rPr sz="1800" b="1" spc="-15" dirty="0">
                <a:latin typeface="Courier New"/>
                <a:cs typeface="Courier New"/>
              </a:rPr>
              <a:t>s</a:t>
            </a:r>
            <a:r>
              <a:rPr sz="1800" b="1" dirty="0">
                <a:latin typeface="Courier New"/>
                <a:cs typeface="Courier New"/>
              </a:rPr>
              <a:t>um</a:t>
            </a:r>
            <a:r>
              <a:rPr sz="1800" b="1" spc="-1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=</a:t>
            </a:r>
            <a:r>
              <a:rPr sz="1800" b="1" spc="-15" dirty="0">
                <a:latin typeface="Courier New"/>
                <a:cs typeface="Courier New"/>
              </a:rPr>
              <a:t> 0</a:t>
            </a:r>
            <a:r>
              <a:rPr sz="1800" b="1" dirty="0">
                <a:latin typeface="Courier New"/>
                <a:cs typeface="Courier New"/>
              </a:rPr>
              <a:t>.0;</a:t>
            </a:r>
            <a:endParaRPr sz="1800" dirty="0">
              <a:latin typeface="Courier New"/>
              <a:cs typeface="Courier New"/>
            </a:endParaRPr>
          </a:p>
          <a:p>
            <a:pPr marL="559435">
              <a:lnSpc>
                <a:spcPct val="100000"/>
              </a:lnSpc>
              <a:spcBef>
                <a:spcPts val="320"/>
              </a:spcBef>
            </a:pPr>
            <a:r>
              <a:rPr sz="1800" b="1" spc="-15" dirty="0">
                <a:latin typeface="Courier New"/>
                <a:cs typeface="Courier New"/>
              </a:rPr>
              <a:t>f</a:t>
            </a:r>
            <a:r>
              <a:rPr sz="1800" b="1" dirty="0">
                <a:latin typeface="Courier New"/>
                <a:cs typeface="Courier New"/>
              </a:rPr>
              <a:t>or</a:t>
            </a:r>
            <a:r>
              <a:rPr sz="1800" b="1" spc="-1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(</a:t>
            </a:r>
            <a:r>
              <a:rPr sz="1800" b="1" spc="-15" dirty="0">
                <a:latin typeface="Courier New"/>
                <a:cs typeface="Courier New"/>
              </a:rPr>
              <a:t>k=</a:t>
            </a:r>
            <a:r>
              <a:rPr sz="1800" b="1" dirty="0">
                <a:latin typeface="Courier New"/>
                <a:cs typeface="Courier New"/>
              </a:rPr>
              <a:t>0;</a:t>
            </a:r>
            <a:r>
              <a:rPr sz="1800" b="1" spc="-1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k</a:t>
            </a:r>
            <a:r>
              <a:rPr sz="1800" b="1" spc="-15" dirty="0">
                <a:latin typeface="Courier New"/>
                <a:cs typeface="Courier New"/>
              </a:rPr>
              <a:t>&lt;</a:t>
            </a:r>
            <a:r>
              <a:rPr sz="1800" b="1" dirty="0">
                <a:latin typeface="Courier New"/>
                <a:cs typeface="Courier New"/>
              </a:rPr>
              <a:t>n;</a:t>
            </a:r>
            <a:r>
              <a:rPr sz="1800" b="1" spc="-1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k</a:t>
            </a:r>
            <a:r>
              <a:rPr sz="1800" b="1" spc="-15" dirty="0">
                <a:latin typeface="Courier New"/>
                <a:cs typeface="Courier New"/>
              </a:rPr>
              <a:t>++</a:t>
            </a:r>
            <a:r>
              <a:rPr sz="1800" b="1" dirty="0">
                <a:latin typeface="Courier New"/>
                <a:cs typeface="Courier New"/>
              </a:rPr>
              <a:t>)</a:t>
            </a:r>
            <a:endParaRPr sz="1800" dirty="0">
              <a:latin typeface="Courier New"/>
              <a:cs typeface="Courier New"/>
            </a:endParaRPr>
          </a:p>
          <a:p>
            <a:pPr marL="559435" marR="40640" indent="272415">
              <a:lnSpc>
                <a:spcPct val="114999"/>
              </a:lnSpc>
              <a:tabLst>
                <a:tab pos="1787525" algn="l"/>
              </a:tabLst>
            </a:pPr>
            <a:r>
              <a:rPr sz="1800" b="1" dirty="0">
                <a:latin typeface="Courier New"/>
                <a:cs typeface="Courier New"/>
              </a:rPr>
              <a:t>s</a:t>
            </a:r>
            <a:r>
              <a:rPr sz="1800" b="1" spc="-15" dirty="0">
                <a:latin typeface="Courier New"/>
                <a:cs typeface="Courier New"/>
              </a:rPr>
              <a:t>u</a:t>
            </a:r>
            <a:r>
              <a:rPr sz="1800" b="1" dirty="0">
                <a:latin typeface="Courier New"/>
                <a:cs typeface="Courier New"/>
              </a:rPr>
              <a:t>m</a:t>
            </a:r>
            <a:r>
              <a:rPr sz="1800" b="1" spc="-15" dirty="0">
                <a:latin typeface="Courier New"/>
                <a:cs typeface="Courier New"/>
              </a:rPr>
              <a:t> +</a:t>
            </a:r>
            <a:r>
              <a:rPr sz="1800" b="1" dirty="0">
                <a:latin typeface="Courier New"/>
                <a:cs typeface="Courier New"/>
              </a:rPr>
              <a:t>=	</a:t>
            </a:r>
            <a:r>
              <a:rPr sz="1800" b="1" spc="-15" dirty="0">
                <a:latin typeface="Courier New"/>
                <a:cs typeface="Courier New"/>
              </a:rPr>
              <a:t>a</a:t>
            </a:r>
            <a:r>
              <a:rPr sz="1800" b="1" dirty="0">
                <a:latin typeface="Courier New"/>
                <a:cs typeface="Courier New"/>
              </a:rPr>
              <a:t>[</a:t>
            </a:r>
            <a:r>
              <a:rPr sz="1800" b="1" spc="-15" dirty="0">
                <a:latin typeface="Courier New"/>
                <a:cs typeface="Courier New"/>
              </a:rPr>
              <a:t>i</a:t>
            </a:r>
            <a:r>
              <a:rPr sz="1800" b="1" dirty="0">
                <a:latin typeface="Courier New"/>
                <a:cs typeface="Courier New"/>
              </a:rPr>
              <a:t>][</a:t>
            </a:r>
            <a:r>
              <a:rPr sz="1800" b="1" spc="-15" dirty="0">
                <a:latin typeface="Courier New"/>
                <a:cs typeface="Courier New"/>
              </a:rPr>
              <a:t>k</a:t>
            </a:r>
            <a:r>
              <a:rPr sz="1800" b="1" dirty="0">
                <a:latin typeface="Courier New"/>
                <a:cs typeface="Courier New"/>
              </a:rPr>
              <a:t>]</a:t>
            </a:r>
            <a:r>
              <a:rPr sz="1800" b="1" spc="-1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*</a:t>
            </a:r>
            <a:r>
              <a:rPr sz="1800" b="1" spc="-1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b</a:t>
            </a:r>
            <a:r>
              <a:rPr sz="1800" b="1" spc="-15" dirty="0">
                <a:latin typeface="Courier New"/>
                <a:cs typeface="Courier New"/>
              </a:rPr>
              <a:t>[</a:t>
            </a:r>
            <a:r>
              <a:rPr sz="1800" b="1" dirty="0">
                <a:latin typeface="Courier New"/>
                <a:cs typeface="Courier New"/>
              </a:rPr>
              <a:t>k</a:t>
            </a:r>
            <a:r>
              <a:rPr sz="1800" b="1" spc="-15" dirty="0">
                <a:latin typeface="Courier New"/>
                <a:cs typeface="Courier New"/>
              </a:rPr>
              <a:t>]</a:t>
            </a:r>
            <a:r>
              <a:rPr sz="1800" b="1" dirty="0">
                <a:latin typeface="Courier New"/>
                <a:cs typeface="Courier New"/>
              </a:rPr>
              <a:t>[j</a:t>
            </a:r>
            <a:r>
              <a:rPr sz="1800" b="1" spc="-15" dirty="0">
                <a:latin typeface="Courier New"/>
                <a:cs typeface="Courier New"/>
              </a:rPr>
              <a:t>]</a:t>
            </a:r>
            <a:r>
              <a:rPr sz="1800" b="1" dirty="0">
                <a:latin typeface="Courier New"/>
                <a:cs typeface="Courier New"/>
              </a:rPr>
              <a:t>; </a:t>
            </a:r>
            <a:r>
              <a:rPr sz="1800" b="1" spc="-15" dirty="0">
                <a:latin typeface="Courier New"/>
                <a:cs typeface="Courier New"/>
              </a:rPr>
              <a:t>c</a:t>
            </a:r>
            <a:r>
              <a:rPr sz="1800" b="1" dirty="0">
                <a:latin typeface="Courier New"/>
                <a:cs typeface="Courier New"/>
              </a:rPr>
              <a:t>[i</a:t>
            </a:r>
            <a:r>
              <a:rPr sz="1800" b="1" spc="-15" dirty="0">
                <a:latin typeface="Courier New"/>
                <a:cs typeface="Courier New"/>
              </a:rPr>
              <a:t>]</a:t>
            </a:r>
            <a:r>
              <a:rPr sz="1800" b="1" dirty="0">
                <a:latin typeface="Courier New"/>
                <a:cs typeface="Courier New"/>
              </a:rPr>
              <a:t>[</a:t>
            </a:r>
            <a:r>
              <a:rPr sz="1800" b="1" spc="-15" dirty="0">
                <a:latin typeface="Courier New"/>
                <a:cs typeface="Courier New"/>
              </a:rPr>
              <a:t>j</a:t>
            </a:r>
            <a:r>
              <a:rPr sz="1800" b="1" dirty="0">
                <a:latin typeface="Courier New"/>
                <a:cs typeface="Courier New"/>
              </a:rPr>
              <a:t>]</a:t>
            </a:r>
            <a:r>
              <a:rPr sz="1800" b="1" spc="-1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=</a:t>
            </a:r>
            <a:r>
              <a:rPr sz="1800" b="1" spc="-1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s</a:t>
            </a:r>
            <a:r>
              <a:rPr sz="1800" b="1" spc="-15" dirty="0">
                <a:latin typeface="Courier New"/>
                <a:cs typeface="Courier New"/>
              </a:rPr>
              <a:t>u</a:t>
            </a:r>
            <a:r>
              <a:rPr sz="1800" b="1" dirty="0">
                <a:latin typeface="Courier New"/>
                <a:cs typeface="Courier New"/>
              </a:rPr>
              <a:t>m;</a:t>
            </a:r>
            <a:endParaRPr sz="18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9"/>
              </a:spcBef>
            </a:pPr>
            <a:endParaRPr sz="2500" dirty="0">
              <a:latin typeface="Times New Roman"/>
              <a:cs typeface="Times New Roman"/>
            </a:endParaRPr>
          </a:p>
          <a:p>
            <a:pPr marR="48895" algn="r">
              <a:lnSpc>
                <a:spcPct val="100000"/>
              </a:lnSpc>
            </a:pPr>
            <a:r>
              <a:rPr sz="1800" b="1" i="1" dirty="0">
                <a:solidFill>
                  <a:srgbClr val="808080"/>
                </a:solidFill>
                <a:latin typeface="Courier New"/>
                <a:cs typeface="Courier New"/>
              </a:rPr>
              <a:t>ma</a:t>
            </a:r>
            <a:r>
              <a:rPr sz="1800" b="1" i="1" spc="-15" dirty="0">
                <a:solidFill>
                  <a:srgbClr val="808080"/>
                </a:solidFill>
                <a:latin typeface="Courier New"/>
                <a:cs typeface="Courier New"/>
              </a:rPr>
              <a:t>t</a:t>
            </a:r>
            <a:r>
              <a:rPr sz="1800" b="1" i="1" dirty="0">
                <a:solidFill>
                  <a:srgbClr val="808080"/>
                </a:solidFill>
                <a:latin typeface="Courier New"/>
                <a:cs typeface="Courier New"/>
              </a:rPr>
              <a:t>m</a:t>
            </a:r>
            <a:r>
              <a:rPr sz="1800" b="1" i="1" spc="-15" dirty="0">
                <a:solidFill>
                  <a:srgbClr val="808080"/>
                </a:solidFill>
                <a:latin typeface="Courier New"/>
                <a:cs typeface="Courier New"/>
              </a:rPr>
              <a:t>u</a:t>
            </a:r>
            <a:r>
              <a:rPr sz="1800" b="1" i="1" dirty="0">
                <a:solidFill>
                  <a:srgbClr val="808080"/>
                </a:solidFill>
                <a:latin typeface="Courier New"/>
                <a:cs typeface="Courier New"/>
              </a:rPr>
              <a:t>lt</a:t>
            </a:r>
            <a:r>
              <a:rPr sz="1800" b="1" i="1" spc="-15" dirty="0">
                <a:solidFill>
                  <a:srgbClr val="808080"/>
                </a:solidFill>
                <a:latin typeface="Courier New"/>
                <a:cs typeface="Courier New"/>
              </a:rPr>
              <a:t>/</a:t>
            </a:r>
            <a:r>
              <a:rPr sz="1800" b="1" i="1" dirty="0">
                <a:solidFill>
                  <a:srgbClr val="808080"/>
                </a:solidFill>
                <a:latin typeface="Courier New"/>
                <a:cs typeface="Courier New"/>
              </a:rPr>
              <a:t>m</a:t>
            </a:r>
            <a:r>
              <a:rPr sz="1800" b="1" i="1" spc="-15" dirty="0">
                <a:solidFill>
                  <a:srgbClr val="808080"/>
                </a:solidFill>
                <a:latin typeface="Courier New"/>
                <a:cs typeface="Courier New"/>
              </a:rPr>
              <a:t>m.c</a:t>
            </a:r>
            <a:endParaRPr sz="18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57018" y="394767"/>
            <a:ext cx="7592093" cy="843822"/>
          </a:xfrm>
          <a:prstGeom prst="rect">
            <a:avLst/>
          </a:prstGeom>
        </p:spPr>
        <p:txBody>
          <a:bodyPr vert="horz" wrap="square" lIns="0" tIns="287021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zh-CN" altLang="en-US" dirty="0"/>
              <a:t>矩阵乘法的不命中率分析</a:t>
            </a:r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475615" y="1464183"/>
            <a:ext cx="6736651" cy="26622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990000"/>
              </a:buClr>
              <a:buSzPct val="60416"/>
              <a:buFont typeface="Wingdings 2"/>
              <a:buChar char=""/>
              <a:tabLst>
                <a:tab pos="355600" algn="l"/>
              </a:tabLst>
            </a:pPr>
            <a:r>
              <a:rPr lang="zh-CN" altLang="en-US" sz="2400" b="1" spc="-5" dirty="0">
                <a:latin typeface="Calibri"/>
                <a:cs typeface="Calibri"/>
              </a:rPr>
              <a:t>假设</a:t>
            </a:r>
            <a:r>
              <a:rPr sz="2400" b="1" spc="-5" dirty="0">
                <a:latin typeface="Calibri"/>
                <a:cs typeface="Calibri"/>
              </a:rPr>
              <a:t>:</a:t>
            </a:r>
            <a:endParaRPr sz="2400" dirty="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505"/>
              </a:spcBef>
              <a:buClr>
                <a:srgbClr val="990000"/>
              </a:buClr>
              <a:buSzPct val="110000"/>
              <a:buFont typeface="Wingdings"/>
              <a:buChar char=""/>
              <a:tabLst>
                <a:tab pos="756920" algn="l"/>
              </a:tabLst>
            </a:pPr>
            <a:r>
              <a:rPr lang="zh-CN" altLang="en-US" sz="2000" spc="10" dirty="0">
                <a:latin typeface="Calibri"/>
                <a:cs typeface="Calibri"/>
              </a:rPr>
              <a:t>块大小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=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32B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</a:t>
            </a:r>
            <a:r>
              <a:rPr lang="zh-CN" altLang="en-US" sz="2000" dirty="0">
                <a:latin typeface="Calibri"/>
                <a:cs typeface="Calibri"/>
              </a:rPr>
              <a:t>对四个</a:t>
            </a:r>
            <a:r>
              <a:rPr sz="2000" dirty="0">
                <a:latin typeface="Calibri"/>
                <a:cs typeface="Calibri"/>
              </a:rPr>
              <a:t>d</a:t>
            </a:r>
            <a:r>
              <a:rPr sz="2000" spc="-5" dirty="0">
                <a:latin typeface="Calibri"/>
                <a:cs typeface="Calibri"/>
              </a:rPr>
              <a:t>o</a:t>
            </a:r>
            <a:r>
              <a:rPr sz="2000" dirty="0">
                <a:latin typeface="Calibri"/>
                <a:cs typeface="Calibri"/>
              </a:rPr>
              <a:t>ub</a:t>
            </a:r>
            <a:r>
              <a:rPr sz="2000" spc="-5" dirty="0">
                <a:latin typeface="Calibri"/>
                <a:cs typeface="Calibri"/>
              </a:rPr>
              <a:t>le</a:t>
            </a:r>
            <a:r>
              <a:rPr lang="zh-CN" altLang="en-US" sz="2000" spc="-5" dirty="0">
                <a:latin typeface="Calibri"/>
                <a:cs typeface="Calibri"/>
              </a:rPr>
              <a:t>类型的数据来说足够大</a:t>
            </a:r>
            <a:r>
              <a:rPr sz="2000" dirty="0">
                <a:latin typeface="Calibri"/>
                <a:cs typeface="Calibri"/>
              </a:rPr>
              <a:t>)</a:t>
            </a: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lr>
                <a:srgbClr val="990000"/>
              </a:buClr>
              <a:buSzPct val="110000"/>
              <a:buFont typeface="Wingdings"/>
              <a:buChar char=""/>
              <a:tabLst>
                <a:tab pos="756920" algn="l"/>
              </a:tabLst>
            </a:pPr>
            <a:r>
              <a:rPr lang="zh-CN" altLang="en-US" sz="2000" dirty="0">
                <a:latin typeface="Calibri"/>
                <a:cs typeface="Calibri"/>
              </a:rPr>
              <a:t>矩阵维度</a:t>
            </a:r>
            <a:r>
              <a:rPr sz="2000" dirty="0">
                <a:latin typeface="Calibri"/>
                <a:cs typeface="Calibri"/>
              </a:rPr>
              <a:t>(N)</a:t>
            </a:r>
            <a:r>
              <a:rPr lang="zh-CN" altLang="en-US" sz="2000" dirty="0">
                <a:latin typeface="Calibri"/>
                <a:cs typeface="Calibri"/>
              </a:rPr>
              <a:t>非常大</a:t>
            </a:r>
            <a:endParaRPr sz="2000" dirty="0">
              <a:latin typeface="Calibri"/>
              <a:cs typeface="Calibri"/>
            </a:endParaRPr>
          </a:p>
          <a:p>
            <a:pPr marL="1155700" lvl="2" indent="-228600">
              <a:lnSpc>
                <a:spcPct val="100000"/>
              </a:lnSpc>
              <a:spcBef>
                <a:spcPts val="480"/>
              </a:spcBef>
              <a:buSzPct val="80000"/>
              <a:buFont typeface="Wingdings"/>
              <a:buChar char=""/>
              <a:tabLst>
                <a:tab pos="1155700" algn="l"/>
              </a:tabLst>
            </a:pPr>
            <a:r>
              <a:rPr sz="2000" dirty="0">
                <a:latin typeface="Calibri"/>
                <a:cs typeface="Calibri"/>
              </a:rPr>
              <a:t>1</a:t>
            </a:r>
            <a:r>
              <a:rPr sz="2000" spc="5" dirty="0">
                <a:latin typeface="Calibri"/>
                <a:cs typeface="Calibri"/>
              </a:rPr>
              <a:t>/</a:t>
            </a:r>
            <a:r>
              <a:rPr sz="2000" dirty="0">
                <a:latin typeface="Calibri"/>
                <a:cs typeface="Calibri"/>
              </a:rPr>
              <a:t>N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lang="zh-CN" altLang="en-US" sz="2000" spc="-20" dirty="0">
                <a:latin typeface="Calibri"/>
                <a:cs typeface="Calibri"/>
              </a:rPr>
              <a:t>近似当作</a:t>
            </a:r>
            <a:r>
              <a:rPr sz="2000" dirty="0">
                <a:latin typeface="Calibri"/>
                <a:cs typeface="Calibri"/>
              </a:rPr>
              <a:t> 0</a:t>
            </a:r>
            <a:r>
              <a:rPr sz="2000" spc="-5" dirty="0">
                <a:latin typeface="Calibri"/>
                <a:cs typeface="Calibri"/>
              </a:rPr>
              <a:t>.</a:t>
            </a:r>
            <a:r>
              <a:rPr sz="2000" dirty="0">
                <a:latin typeface="Calibri"/>
                <a:cs typeface="Calibri"/>
              </a:rPr>
              <a:t>0</a:t>
            </a: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lr>
                <a:srgbClr val="990000"/>
              </a:buClr>
              <a:buSzPct val="110000"/>
              <a:buFont typeface="Wingdings"/>
              <a:buChar char=""/>
              <a:tabLst>
                <a:tab pos="756920" algn="l"/>
              </a:tabLst>
            </a:pPr>
            <a:r>
              <a:rPr lang="zh-CN" altLang="en-US" sz="2000" spc="-5" dirty="0">
                <a:latin typeface="Calibri"/>
                <a:cs typeface="Calibri"/>
              </a:rPr>
              <a:t>多行不能够装进高速缓存中</a:t>
            </a:r>
            <a:endParaRPr sz="20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45"/>
              </a:spcBef>
              <a:buClr>
                <a:srgbClr val="990000"/>
              </a:buClr>
              <a:buSzPct val="58333"/>
              <a:buFont typeface="Wingdings 2"/>
              <a:buChar char=""/>
              <a:tabLst>
                <a:tab pos="355600" algn="l"/>
              </a:tabLst>
            </a:pPr>
            <a:r>
              <a:rPr lang="zh-CN" altLang="en-US" sz="2400" b="1" spc="-5" dirty="0">
                <a:latin typeface="Calibri"/>
                <a:cs typeface="Calibri"/>
              </a:rPr>
              <a:t>分析方法</a:t>
            </a:r>
            <a:r>
              <a:rPr sz="2400" b="1" spc="-5" dirty="0">
                <a:latin typeface="Calibri"/>
                <a:cs typeface="Calibri"/>
              </a:rPr>
              <a:t>:</a:t>
            </a:r>
            <a:endParaRPr sz="2400" dirty="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505"/>
              </a:spcBef>
              <a:buClr>
                <a:srgbClr val="990000"/>
              </a:buClr>
              <a:buSzPct val="110000"/>
              <a:buFont typeface="Wingdings"/>
              <a:buChar char=""/>
              <a:tabLst>
                <a:tab pos="756920" algn="l"/>
              </a:tabLst>
            </a:pPr>
            <a:r>
              <a:rPr lang="zh-CN" altLang="en-US" sz="2000" dirty="0">
                <a:latin typeface="Calibri"/>
                <a:cs typeface="Calibri"/>
              </a:rPr>
              <a:t>研究内部循环的访问模式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880319" y="5111750"/>
            <a:ext cx="908050" cy="742950"/>
          </a:xfrm>
          <a:custGeom>
            <a:avLst/>
            <a:gdLst/>
            <a:ahLst/>
            <a:cxnLst/>
            <a:rect l="l" t="t" r="r" b="b"/>
            <a:pathLst>
              <a:path w="908050" h="742950">
                <a:moveTo>
                  <a:pt x="0" y="0"/>
                </a:moveTo>
                <a:lnTo>
                  <a:pt x="908050" y="0"/>
                </a:lnTo>
                <a:lnTo>
                  <a:pt x="908050" y="742950"/>
                </a:lnTo>
                <a:lnTo>
                  <a:pt x="0" y="742950"/>
                </a:lnTo>
                <a:lnTo>
                  <a:pt x="0" y="0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880319" y="5111750"/>
            <a:ext cx="908050" cy="742950"/>
          </a:xfrm>
          <a:custGeom>
            <a:avLst/>
            <a:gdLst/>
            <a:ahLst/>
            <a:cxnLst/>
            <a:rect l="l" t="t" r="r" b="b"/>
            <a:pathLst>
              <a:path w="908050" h="742950">
                <a:moveTo>
                  <a:pt x="0" y="0"/>
                </a:moveTo>
                <a:lnTo>
                  <a:pt x="908050" y="0"/>
                </a:lnTo>
                <a:lnTo>
                  <a:pt x="908050" y="742950"/>
                </a:lnTo>
                <a:lnTo>
                  <a:pt x="0" y="74295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236807" y="6023646"/>
            <a:ext cx="22923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A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886671" y="4648200"/>
            <a:ext cx="673100" cy="0"/>
          </a:xfrm>
          <a:custGeom>
            <a:avLst/>
            <a:gdLst/>
            <a:ahLst/>
            <a:cxnLst/>
            <a:rect l="l" t="t" r="r" b="b"/>
            <a:pathLst>
              <a:path w="673100">
                <a:moveTo>
                  <a:pt x="0" y="0"/>
                </a:moveTo>
                <a:lnTo>
                  <a:pt x="6731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547072" y="4610097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0" y="76200"/>
                </a:lnTo>
                <a:lnTo>
                  <a:pt x="7620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089871" y="4727402"/>
            <a:ext cx="16256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dirty="0">
                <a:latin typeface="Courier New"/>
                <a:cs typeface="Courier New"/>
              </a:rPr>
              <a:t>k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492971" y="5130800"/>
            <a:ext cx="0" cy="673100"/>
          </a:xfrm>
          <a:custGeom>
            <a:avLst/>
            <a:gdLst/>
            <a:ahLst/>
            <a:cxnLst/>
            <a:rect l="l" t="t" r="r" b="b"/>
            <a:pathLst>
              <a:path h="673100">
                <a:moveTo>
                  <a:pt x="0" y="0"/>
                </a:moveTo>
                <a:lnTo>
                  <a:pt x="0" y="67310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454875" y="5791201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76200" y="0"/>
                </a:moveTo>
                <a:lnTo>
                  <a:pt x="0" y="0"/>
                </a:ln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3630494" y="5270330"/>
            <a:ext cx="16256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dirty="0">
                <a:latin typeface="Courier New"/>
                <a:cs typeface="Courier New"/>
              </a:rPr>
              <a:t>i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644361" y="6023646"/>
            <a:ext cx="22923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B</a:t>
            </a:r>
            <a:endParaRPr sz="240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956975" y="5118101"/>
            <a:ext cx="0" cy="673100"/>
          </a:xfrm>
          <a:custGeom>
            <a:avLst/>
            <a:gdLst/>
            <a:ahLst/>
            <a:cxnLst/>
            <a:rect l="l" t="t" r="r" b="b"/>
            <a:pathLst>
              <a:path h="673100">
                <a:moveTo>
                  <a:pt x="0" y="0"/>
                </a:moveTo>
                <a:lnTo>
                  <a:pt x="0" y="67310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918879" y="5778502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76200" y="0"/>
                </a:moveTo>
                <a:lnTo>
                  <a:pt x="0" y="0"/>
                </a:ln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6096675" y="5270330"/>
            <a:ext cx="16256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dirty="0">
                <a:latin typeface="Courier New"/>
                <a:cs typeface="Courier New"/>
              </a:rPr>
              <a:t>k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477675" y="4713116"/>
            <a:ext cx="16256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dirty="0">
                <a:latin typeface="Courier New"/>
                <a:cs typeface="Courier New"/>
              </a:rPr>
              <a:t>j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6304216" y="5111750"/>
            <a:ext cx="908050" cy="742950"/>
          </a:xfrm>
          <a:custGeom>
            <a:avLst/>
            <a:gdLst/>
            <a:ahLst/>
            <a:cxnLst/>
            <a:rect l="l" t="t" r="r" b="b"/>
            <a:pathLst>
              <a:path w="908050" h="742950">
                <a:moveTo>
                  <a:pt x="0" y="0"/>
                </a:moveTo>
                <a:lnTo>
                  <a:pt x="908050" y="0"/>
                </a:lnTo>
                <a:lnTo>
                  <a:pt x="908050" y="742950"/>
                </a:lnTo>
                <a:lnTo>
                  <a:pt x="0" y="742950"/>
                </a:lnTo>
                <a:lnTo>
                  <a:pt x="0" y="0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304216" y="5111750"/>
            <a:ext cx="908050" cy="742950"/>
          </a:xfrm>
          <a:custGeom>
            <a:avLst/>
            <a:gdLst/>
            <a:ahLst/>
            <a:cxnLst/>
            <a:rect l="l" t="t" r="r" b="b"/>
            <a:pathLst>
              <a:path w="908050" h="742950">
                <a:moveTo>
                  <a:pt x="0" y="0"/>
                </a:moveTo>
                <a:lnTo>
                  <a:pt x="908050" y="0"/>
                </a:lnTo>
                <a:lnTo>
                  <a:pt x="908050" y="742950"/>
                </a:lnTo>
                <a:lnTo>
                  <a:pt x="0" y="74295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304220" y="4648200"/>
            <a:ext cx="673100" cy="0"/>
          </a:xfrm>
          <a:custGeom>
            <a:avLst/>
            <a:gdLst/>
            <a:ahLst/>
            <a:cxnLst/>
            <a:rect l="l" t="t" r="r" b="b"/>
            <a:pathLst>
              <a:path w="673100">
                <a:moveTo>
                  <a:pt x="0" y="0"/>
                </a:moveTo>
                <a:lnTo>
                  <a:pt x="6731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6964621" y="4610097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0" y="76200"/>
                </a:lnTo>
                <a:lnTo>
                  <a:pt x="7620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1702686" y="5969669"/>
            <a:ext cx="24574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dirty="0">
                <a:latin typeface="Arial"/>
                <a:cs typeface="Arial"/>
              </a:rPr>
              <a:t>C</a:t>
            </a:r>
            <a:endParaRPr sz="2400">
              <a:latin typeface="Arial"/>
              <a:cs typeface="Aria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939100" y="5118100"/>
            <a:ext cx="0" cy="673100"/>
          </a:xfrm>
          <a:custGeom>
            <a:avLst/>
            <a:gdLst/>
            <a:ahLst/>
            <a:cxnLst/>
            <a:rect l="l" t="t" r="r" b="b"/>
            <a:pathLst>
              <a:path h="673100">
                <a:moveTo>
                  <a:pt x="0" y="0"/>
                </a:moveTo>
                <a:lnTo>
                  <a:pt x="0" y="67310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901004" y="5778501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76200" y="0"/>
                </a:moveTo>
                <a:lnTo>
                  <a:pt x="0" y="0"/>
                </a:ln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1078800" y="5270329"/>
            <a:ext cx="16256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dirty="0">
                <a:latin typeface="Courier New"/>
                <a:cs typeface="Courier New"/>
              </a:rPr>
              <a:t>i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536000" y="4713116"/>
            <a:ext cx="16256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dirty="0">
                <a:latin typeface="Courier New"/>
                <a:cs typeface="Courier New"/>
              </a:rPr>
              <a:t>j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332801" y="5053419"/>
            <a:ext cx="908050" cy="742950"/>
          </a:xfrm>
          <a:custGeom>
            <a:avLst/>
            <a:gdLst/>
            <a:ahLst/>
            <a:cxnLst/>
            <a:rect l="l" t="t" r="r" b="b"/>
            <a:pathLst>
              <a:path w="908050" h="742950">
                <a:moveTo>
                  <a:pt x="0" y="0"/>
                </a:moveTo>
                <a:lnTo>
                  <a:pt x="908050" y="0"/>
                </a:lnTo>
                <a:lnTo>
                  <a:pt x="908050" y="742949"/>
                </a:lnTo>
                <a:lnTo>
                  <a:pt x="0" y="742949"/>
                </a:lnTo>
                <a:lnTo>
                  <a:pt x="0" y="0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332801" y="5053419"/>
            <a:ext cx="908050" cy="742950"/>
          </a:xfrm>
          <a:custGeom>
            <a:avLst/>
            <a:gdLst/>
            <a:ahLst/>
            <a:cxnLst/>
            <a:rect l="l" t="t" r="r" b="b"/>
            <a:pathLst>
              <a:path w="908050" h="742950">
                <a:moveTo>
                  <a:pt x="0" y="0"/>
                </a:moveTo>
                <a:lnTo>
                  <a:pt x="908050" y="0"/>
                </a:lnTo>
                <a:lnTo>
                  <a:pt x="908050" y="742949"/>
                </a:lnTo>
                <a:lnTo>
                  <a:pt x="0" y="742949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332800" y="4662487"/>
            <a:ext cx="673100" cy="0"/>
          </a:xfrm>
          <a:custGeom>
            <a:avLst/>
            <a:gdLst/>
            <a:ahLst/>
            <a:cxnLst/>
            <a:rect l="l" t="t" r="r" b="b"/>
            <a:pathLst>
              <a:path w="673100">
                <a:moveTo>
                  <a:pt x="0" y="0"/>
                </a:moveTo>
                <a:lnTo>
                  <a:pt x="6731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993201" y="4624383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0" y="76200"/>
                </a:lnTo>
                <a:lnTo>
                  <a:pt x="7620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2669539" y="5076836"/>
            <a:ext cx="329565" cy="635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800" dirty="0">
                <a:latin typeface="Calibri"/>
                <a:cs typeface="Calibri"/>
              </a:rPr>
              <a:t>=</a:t>
            </a:r>
            <a:endParaRPr sz="48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183530" y="5076836"/>
            <a:ext cx="289560" cy="635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800" dirty="0">
                <a:latin typeface="Calibri"/>
                <a:cs typeface="Calibri"/>
              </a:rPr>
              <a:t>x</a:t>
            </a:r>
            <a:endParaRPr sz="4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57018" y="394767"/>
            <a:ext cx="7592093" cy="843822"/>
          </a:xfrm>
          <a:prstGeom prst="rect">
            <a:avLst/>
          </a:prstGeom>
        </p:spPr>
        <p:txBody>
          <a:bodyPr vert="horz" wrap="square" lIns="0" tIns="287021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zh-CN" altLang="en-US" spc="-5" dirty="0"/>
              <a:t>内存中</a:t>
            </a:r>
            <a:r>
              <a:rPr lang="en-US" altLang="zh-CN" spc="-5" dirty="0"/>
              <a:t>C</a:t>
            </a:r>
            <a:r>
              <a:rPr lang="zh-CN" altLang="en-US" spc="-5" dirty="0"/>
              <a:t>数组的布局（综述）</a:t>
            </a:r>
            <a:endParaRPr spc="-5" dirty="0"/>
          </a:p>
        </p:txBody>
      </p:sp>
      <p:sp>
        <p:nvSpPr>
          <p:cNvPr id="4" name="object 4"/>
          <p:cNvSpPr txBox="1"/>
          <p:nvPr/>
        </p:nvSpPr>
        <p:spPr>
          <a:xfrm>
            <a:off x="475615" y="1412366"/>
            <a:ext cx="6480175" cy="49911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990000"/>
              </a:buClr>
              <a:buSzPct val="58333"/>
              <a:buFont typeface="Wingdings 2"/>
              <a:buChar char=""/>
              <a:tabLst>
                <a:tab pos="355600" algn="l"/>
              </a:tabLst>
            </a:pPr>
            <a:r>
              <a:rPr lang="zh-CN" altLang="en-US" sz="2400" b="1" spc="5" dirty="0">
                <a:latin typeface="Calibri"/>
                <a:cs typeface="Calibri"/>
              </a:rPr>
              <a:t>按行主要顺序分配的</a:t>
            </a:r>
            <a:r>
              <a:rPr lang="en-US" altLang="zh-CN" sz="2400" b="1" spc="5" dirty="0">
                <a:latin typeface="Calibri"/>
                <a:cs typeface="Calibri"/>
              </a:rPr>
              <a:t>C</a:t>
            </a:r>
            <a:r>
              <a:rPr lang="zh-CN" altLang="en-US" sz="2400" b="1" spc="5" dirty="0">
                <a:latin typeface="Calibri"/>
                <a:cs typeface="Calibri"/>
              </a:rPr>
              <a:t>数组</a:t>
            </a:r>
            <a:endParaRPr sz="2400" dirty="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244"/>
              </a:spcBef>
              <a:buClr>
                <a:srgbClr val="990000"/>
              </a:buClr>
              <a:buSzPct val="110000"/>
              <a:buFont typeface="Wingdings"/>
              <a:buChar char=""/>
              <a:tabLst>
                <a:tab pos="756920" algn="l"/>
              </a:tabLst>
            </a:pPr>
            <a:r>
              <a:rPr lang="zh-CN" altLang="en-US" sz="2000" dirty="0">
                <a:latin typeface="Calibri"/>
                <a:cs typeface="Calibri"/>
              </a:rPr>
              <a:t>连续存储位置中的没一行</a:t>
            </a:r>
            <a:endParaRPr sz="20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140"/>
              </a:spcBef>
              <a:buClr>
                <a:srgbClr val="990000"/>
              </a:buClr>
              <a:buSzPct val="60416"/>
              <a:buFont typeface="Wingdings 2"/>
              <a:buChar char=""/>
              <a:tabLst>
                <a:tab pos="355600" algn="l"/>
              </a:tabLst>
            </a:pPr>
            <a:r>
              <a:rPr lang="zh-CN" altLang="en-US" sz="2400" b="1" spc="-5" dirty="0">
                <a:latin typeface="Calibri"/>
                <a:cs typeface="Calibri"/>
              </a:rPr>
              <a:t>在一行中逐步通过列</a:t>
            </a:r>
            <a:r>
              <a:rPr sz="2400" b="1" spc="-5" dirty="0">
                <a:latin typeface="Calibri"/>
                <a:cs typeface="Calibri"/>
              </a:rPr>
              <a:t>:</a:t>
            </a:r>
            <a:endParaRPr sz="2400" dirty="0">
              <a:latin typeface="Calibri"/>
              <a:cs typeface="Calibri"/>
            </a:endParaRPr>
          </a:p>
          <a:p>
            <a:pPr marL="927100" indent="-457834">
              <a:lnSpc>
                <a:spcPct val="100000"/>
              </a:lnSpc>
              <a:spcBef>
                <a:spcPts val="195"/>
              </a:spcBef>
              <a:tabLst>
                <a:tab pos="756285" algn="l"/>
              </a:tabLst>
            </a:pPr>
            <a:r>
              <a:rPr sz="2200" spc="-5" dirty="0">
                <a:solidFill>
                  <a:srgbClr val="990000"/>
                </a:solidFill>
                <a:latin typeface="Wingdings"/>
                <a:cs typeface="Wingdings"/>
              </a:rPr>
              <a:t></a:t>
            </a:r>
            <a:r>
              <a:rPr sz="2200" spc="-5" dirty="0">
                <a:solidFill>
                  <a:srgbClr val="990000"/>
                </a:solidFill>
                <a:latin typeface="Times New Roman"/>
                <a:cs typeface="Times New Roman"/>
              </a:rPr>
              <a:t>	</a:t>
            </a:r>
            <a:r>
              <a:rPr sz="2000" b="1" spc="-5" dirty="0">
                <a:latin typeface="Courier New"/>
                <a:cs typeface="Courier New"/>
              </a:rPr>
              <a:t>fo</a:t>
            </a:r>
            <a:r>
              <a:rPr sz="2000" b="1" dirty="0">
                <a:latin typeface="Courier New"/>
                <a:cs typeface="Courier New"/>
              </a:rPr>
              <a:t>r</a:t>
            </a:r>
            <a:r>
              <a:rPr sz="2000" b="1" spc="-5" dirty="0">
                <a:latin typeface="Courier New"/>
                <a:cs typeface="Courier New"/>
              </a:rPr>
              <a:t> (</a:t>
            </a:r>
            <a:r>
              <a:rPr sz="2000" b="1" dirty="0">
                <a:latin typeface="Courier New"/>
                <a:cs typeface="Courier New"/>
              </a:rPr>
              <a:t>i</a:t>
            </a:r>
            <a:r>
              <a:rPr sz="2000" b="1" spc="-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=</a:t>
            </a:r>
            <a:r>
              <a:rPr sz="2000" b="1" spc="-5" dirty="0">
                <a:latin typeface="Courier New"/>
                <a:cs typeface="Courier New"/>
              </a:rPr>
              <a:t> 0</a:t>
            </a:r>
            <a:r>
              <a:rPr sz="2000" b="1" dirty="0">
                <a:latin typeface="Courier New"/>
                <a:cs typeface="Courier New"/>
              </a:rPr>
              <a:t>;</a:t>
            </a:r>
            <a:r>
              <a:rPr sz="2000" b="1" spc="-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i</a:t>
            </a:r>
            <a:r>
              <a:rPr sz="2000" b="1" spc="-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&lt;</a:t>
            </a:r>
            <a:r>
              <a:rPr sz="2000" b="1" spc="-5" dirty="0">
                <a:latin typeface="Courier New"/>
                <a:cs typeface="Courier New"/>
              </a:rPr>
              <a:t> N</a:t>
            </a:r>
            <a:r>
              <a:rPr sz="2000" b="1" dirty="0">
                <a:latin typeface="Courier New"/>
                <a:cs typeface="Courier New"/>
              </a:rPr>
              <a:t>;</a:t>
            </a:r>
            <a:r>
              <a:rPr sz="2000" b="1" spc="-5" dirty="0">
                <a:latin typeface="Courier New"/>
                <a:cs typeface="Courier New"/>
              </a:rPr>
              <a:t> i++)</a:t>
            </a:r>
            <a:endParaRPr sz="2000" dirty="0">
              <a:latin typeface="Courier New"/>
              <a:cs typeface="Courier New"/>
            </a:endParaRPr>
          </a:p>
          <a:p>
            <a:pPr marL="927100">
              <a:lnSpc>
                <a:spcPct val="100000"/>
              </a:lnSpc>
              <a:spcBef>
                <a:spcPts val="370"/>
              </a:spcBef>
            </a:pPr>
            <a:r>
              <a:rPr sz="2000" b="1" spc="-5" dirty="0">
                <a:latin typeface="Courier New"/>
                <a:cs typeface="Courier New"/>
              </a:rPr>
              <a:t>su</a:t>
            </a:r>
            <a:r>
              <a:rPr sz="2000" b="1" dirty="0">
                <a:latin typeface="Courier New"/>
                <a:cs typeface="Courier New"/>
              </a:rPr>
              <a:t>m</a:t>
            </a:r>
            <a:r>
              <a:rPr sz="2000" b="1" spc="-5" dirty="0">
                <a:latin typeface="Courier New"/>
                <a:cs typeface="Courier New"/>
              </a:rPr>
              <a:t> +</a:t>
            </a:r>
            <a:r>
              <a:rPr sz="2000" b="1" dirty="0">
                <a:latin typeface="Courier New"/>
                <a:cs typeface="Courier New"/>
              </a:rPr>
              <a:t>=</a:t>
            </a:r>
            <a:r>
              <a:rPr sz="2000" b="1" spc="-5" dirty="0">
                <a:latin typeface="Courier New"/>
                <a:cs typeface="Courier New"/>
              </a:rPr>
              <a:t> a[0][i];</a:t>
            </a:r>
            <a:endParaRPr sz="2000" dirty="0">
              <a:latin typeface="Courier New"/>
              <a:cs typeface="Courier New"/>
            </a:endParaRPr>
          </a:p>
          <a:p>
            <a:pPr marL="756285" lvl="1" indent="-286385">
              <a:lnSpc>
                <a:spcPct val="100000"/>
              </a:lnSpc>
              <a:spcBef>
                <a:spcPts val="325"/>
              </a:spcBef>
              <a:buClr>
                <a:srgbClr val="990000"/>
              </a:buClr>
              <a:buSzPct val="110000"/>
              <a:buFont typeface="Wingdings"/>
              <a:buChar char=""/>
              <a:tabLst>
                <a:tab pos="756920" algn="l"/>
              </a:tabLst>
            </a:pPr>
            <a:r>
              <a:rPr lang="zh-CN" altLang="en-US" sz="2000" spc="-5" dirty="0">
                <a:latin typeface="Calibri"/>
                <a:cs typeface="Calibri"/>
              </a:rPr>
              <a:t>连续元素访问</a:t>
            </a:r>
            <a:endParaRPr sz="2000" dirty="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240"/>
              </a:spcBef>
              <a:buClr>
                <a:srgbClr val="990000"/>
              </a:buClr>
              <a:buSzPct val="110000"/>
              <a:buFont typeface="Wingdings"/>
              <a:buChar char=""/>
              <a:tabLst>
                <a:tab pos="756920" algn="l"/>
              </a:tabLst>
            </a:pPr>
            <a:r>
              <a:rPr lang="zh-CN" altLang="en-US" sz="2000" dirty="0">
                <a:highlight>
                  <a:srgbClr val="FFFF00"/>
                </a:highlight>
                <a:latin typeface="Calibri"/>
                <a:cs typeface="Calibri"/>
              </a:rPr>
              <a:t>如果块大小</a:t>
            </a:r>
            <a:r>
              <a:rPr sz="2000" dirty="0">
                <a:highlight>
                  <a:srgbClr val="FFFF00"/>
                </a:highlight>
                <a:latin typeface="Calibri"/>
                <a:cs typeface="Calibri"/>
              </a:rPr>
              <a:t>(B)</a:t>
            </a:r>
            <a:r>
              <a:rPr sz="2000" spc="-5" dirty="0"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sz="2000" dirty="0">
                <a:highlight>
                  <a:srgbClr val="FFFF00"/>
                </a:highlight>
                <a:latin typeface="Calibri"/>
                <a:cs typeface="Calibri"/>
              </a:rPr>
              <a:t>&gt; </a:t>
            </a:r>
            <a:r>
              <a:rPr sz="2000" spc="-5" dirty="0">
                <a:highlight>
                  <a:srgbClr val="FFFF00"/>
                </a:highlight>
                <a:latin typeface="Calibri"/>
                <a:cs typeface="Calibri"/>
              </a:rPr>
              <a:t>si</a:t>
            </a:r>
            <a:r>
              <a:rPr sz="2000" dirty="0">
                <a:highlight>
                  <a:srgbClr val="FFFF00"/>
                </a:highlight>
                <a:latin typeface="Calibri"/>
                <a:cs typeface="Calibri"/>
              </a:rPr>
              <a:t>z</a:t>
            </a:r>
            <a:r>
              <a:rPr sz="2000" spc="-5" dirty="0">
                <a:highlight>
                  <a:srgbClr val="FFFF00"/>
                </a:highlight>
                <a:latin typeface="Calibri"/>
                <a:cs typeface="Calibri"/>
              </a:rPr>
              <a:t>eo</a:t>
            </a:r>
            <a:r>
              <a:rPr sz="2000" dirty="0">
                <a:highlight>
                  <a:srgbClr val="FFFF00"/>
                </a:highlight>
                <a:latin typeface="Calibri"/>
                <a:cs typeface="Calibri"/>
              </a:rPr>
              <a:t>f(a</a:t>
            </a:r>
            <a:r>
              <a:rPr sz="1950" spc="-7" baseline="-21367" dirty="0">
                <a:highlight>
                  <a:srgbClr val="FFFF00"/>
                </a:highlight>
                <a:latin typeface="Calibri"/>
                <a:cs typeface="Calibri"/>
              </a:rPr>
              <a:t>i</a:t>
            </a:r>
            <a:r>
              <a:rPr sz="1950" spc="15" baseline="-21367" dirty="0">
                <a:highlight>
                  <a:srgbClr val="FFFF00"/>
                </a:highlight>
                <a:latin typeface="Calibri"/>
                <a:cs typeface="Calibri"/>
              </a:rPr>
              <a:t>j</a:t>
            </a:r>
            <a:r>
              <a:rPr sz="2000" dirty="0">
                <a:highlight>
                  <a:srgbClr val="FFFF00"/>
                </a:highlight>
                <a:latin typeface="Calibri"/>
                <a:cs typeface="Calibri"/>
              </a:rPr>
              <a:t>)</a:t>
            </a:r>
            <a:r>
              <a:rPr sz="2000" spc="5" dirty="0"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lang="zh-CN" altLang="en-US" sz="2000" spc="5" dirty="0">
                <a:highlight>
                  <a:srgbClr val="FFFF00"/>
                </a:highlight>
                <a:latin typeface="Calibri"/>
                <a:cs typeface="Calibri"/>
              </a:rPr>
              <a:t>字节</a:t>
            </a:r>
            <a:r>
              <a:rPr sz="2000" dirty="0">
                <a:latin typeface="Calibri"/>
                <a:cs typeface="Calibri"/>
              </a:rPr>
              <a:t>,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lang="zh-CN" altLang="en-US" sz="2000" spc="-5" dirty="0">
                <a:latin typeface="Calibri"/>
                <a:cs typeface="Calibri"/>
              </a:rPr>
              <a:t>则利用空间局部性</a:t>
            </a:r>
            <a:endParaRPr sz="2000" dirty="0">
              <a:latin typeface="Calibri"/>
              <a:cs typeface="Calibri"/>
            </a:endParaRPr>
          </a:p>
          <a:p>
            <a:pPr marL="1155700" lvl="2" indent="-228600">
              <a:lnSpc>
                <a:spcPct val="100000"/>
              </a:lnSpc>
              <a:spcBef>
                <a:spcPts val="405"/>
              </a:spcBef>
              <a:buSzPct val="80000"/>
              <a:buFont typeface="Wingdings"/>
              <a:buChar char=""/>
              <a:tabLst>
                <a:tab pos="1155700" algn="l"/>
              </a:tabLst>
            </a:pPr>
            <a:r>
              <a:rPr lang="zh-CN" altLang="en-US" sz="2000" dirty="0">
                <a:latin typeface="Calibri"/>
                <a:cs typeface="Calibri"/>
              </a:rPr>
              <a:t>不命中率 </a:t>
            </a:r>
            <a:r>
              <a:rPr sz="2000" dirty="0">
                <a:latin typeface="Calibri"/>
                <a:cs typeface="Calibri"/>
              </a:rPr>
              <a:t>= </a:t>
            </a:r>
            <a:r>
              <a:rPr sz="2000" spc="-5" dirty="0">
                <a:latin typeface="Calibri"/>
                <a:cs typeface="Calibri"/>
              </a:rPr>
              <a:t>si</a:t>
            </a:r>
            <a:r>
              <a:rPr sz="2000" dirty="0">
                <a:latin typeface="Calibri"/>
                <a:cs typeface="Calibri"/>
              </a:rPr>
              <a:t>z</a:t>
            </a:r>
            <a:r>
              <a:rPr sz="2000" spc="-5" dirty="0">
                <a:latin typeface="Calibri"/>
                <a:cs typeface="Calibri"/>
              </a:rPr>
              <a:t>eo</a:t>
            </a:r>
            <a:r>
              <a:rPr sz="2000" dirty="0">
                <a:latin typeface="Calibri"/>
                <a:cs typeface="Calibri"/>
              </a:rPr>
              <a:t>f(a</a:t>
            </a:r>
            <a:r>
              <a:rPr sz="1950" spc="-7" baseline="-21367" dirty="0">
                <a:latin typeface="Calibri"/>
                <a:cs typeface="Calibri"/>
              </a:rPr>
              <a:t>i</a:t>
            </a:r>
            <a:r>
              <a:rPr sz="1950" spc="15" baseline="-21367" dirty="0">
                <a:latin typeface="Calibri"/>
                <a:cs typeface="Calibri"/>
              </a:rPr>
              <a:t>j</a:t>
            </a:r>
            <a:r>
              <a:rPr sz="2000" dirty="0">
                <a:latin typeface="Calibri"/>
                <a:cs typeface="Calibri"/>
              </a:rPr>
              <a:t>)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/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</a:t>
            </a:r>
          </a:p>
          <a:p>
            <a:pPr marL="355600" indent="-342900">
              <a:lnSpc>
                <a:spcPct val="100000"/>
              </a:lnSpc>
              <a:spcBef>
                <a:spcPts val="140"/>
              </a:spcBef>
              <a:buClr>
                <a:srgbClr val="990000"/>
              </a:buClr>
              <a:buSzPct val="58333"/>
              <a:buFont typeface="Wingdings 2"/>
              <a:buChar char=""/>
              <a:tabLst>
                <a:tab pos="355600" algn="l"/>
              </a:tabLst>
            </a:pPr>
            <a:r>
              <a:rPr lang="zh-CN" altLang="en-US" sz="2400" b="1" spc="-10" dirty="0">
                <a:latin typeface="Calibri"/>
                <a:cs typeface="Calibri"/>
              </a:rPr>
              <a:t>在一列中逐步通过行</a:t>
            </a:r>
            <a:r>
              <a:rPr sz="2400" b="1" spc="-10" dirty="0">
                <a:latin typeface="Calibri"/>
                <a:cs typeface="Calibri"/>
              </a:rPr>
              <a:t>:</a:t>
            </a:r>
            <a:endParaRPr sz="2400" dirty="0">
              <a:latin typeface="Calibri"/>
              <a:cs typeface="Calibri"/>
            </a:endParaRPr>
          </a:p>
          <a:p>
            <a:pPr marL="927100" indent="-457834">
              <a:lnSpc>
                <a:spcPct val="100000"/>
              </a:lnSpc>
              <a:spcBef>
                <a:spcPts val="195"/>
              </a:spcBef>
              <a:tabLst>
                <a:tab pos="756285" algn="l"/>
              </a:tabLst>
            </a:pPr>
            <a:r>
              <a:rPr sz="2200" spc="-5" dirty="0">
                <a:solidFill>
                  <a:srgbClr val="990000"/>
                </a:solidFill>
                <a:latin typeface="Wingdings"/>
                <a:cs typeface="Wingdings"/>
              </a:rPr>
              <a:t></a:t>
            </a:r>
            <a:r>
              <a:rPr sz="2200" spc="-5" dirty="0">
                <a:solidFill>
                  <a:srgbClr val="990000"/>
                </a:solidFill>
                <a:latin typeface="Times New Roman"/>
                <a:cs typeface="Times New Roman"/>
              </a:rPr>
              <a:t>	</a:t>
            </a:r>
            <a:r>
              <a:rPr sz="2000" b="1" spc="-5" dirty="0">
                <a:latin typeface="Courier New"/>
                <a:cs typeface="Courier New"/>
              </a:rPr>
              <a:t>fo</a:t>
            </a:r>
            <a:r>
              <a:rPr sz="2000" b="1" dirty="0">
                <a:latin typeface="Courier New"/>
                <a:cs typeface="Courier New"/>
              </a:rPr>
              <a:t>r</a:t>
            </a:r>
            <a:r>
              <a:rPr sz="2000" b="1" spc="-5" dirty="0">
                <a:latin typeface="Courier New"/>
                <a:cs typeface="Courier New"/>
              </a:rPr>
              <a:t> (</a:t>
            </a:r>
            <a:r>
              <a:rPr sz="2000" b="1" dirty="0">
                <a:latin typeface="Courier New"/>
                <a:cs typeface="Courier New"/>
              </a:rPr>
              <a:t>i</a:t>
            </a:r>
            <a:r>
              <a:rPr sz="2000" b="1" spc="-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=</a:t>
            </a:r>
            <a:r>
              <a:rPr sz="2000" b="1" spc="-5" dirty="0">
                <a:latin typeface="Courier New"/>
                <a:cs typeface="Courier New"/>
              </a:rPr>
              <a:t> 0</a:t>
            </a:r>
            <a:r>
              <a:rPr sz="2000" b="1" dirty="0">
                <a:latin typeface="Courier New"/>
                <a:cs typeface="Courier New"/>
              </a:rPr>
              <a:t>;</a:t>
            </a:r>
            <a:r>
              <a:rPr sz="2000" b="1" spc="-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i</a:t>
            </a:r>
            <a:r>
              <a:rPr sz="2000" b="1" spc="-5" dirty="0">
                <a:latin typeface="Courier New"/>
                <a:cs typeface="Courier New"/>
              </a:rPr>
              <a:t> </a:t>
            </a:r>
            <a:r>
              <a:rPr sz="2000" b="1" dirty="0">
                <a:latin typeface="Courier New"/>
                <a:cs typeface="Courier New"/>
              </a:rPr>
              <a:t>&lt;</a:t>
            </a:r>
            <a:r>
              <a:rPr sz="2000" b="1" spc="-5" dirty="0">
                <a:latin typeface="Courier New"/>
                <a:cs typeface="Courier New"/>
              </a:rPr>
              <a:t> n</a:t>
            </a:r>
            <a:r>
              <a:rPr sz="2000" b="1" dirty="0">
                <a:latin typeface="Courier New"/>
                <a:cs typeface="Courier New"/>
              </a:rPr>
              <a:t>;</a:t>
            </a:r>
            <a:r>
              <a:rPr sz="2000" b="1" spc="-5" dirty="0">
                <a:latin typeface="Courier New"/>
                <a:cs typeface="Courier New"/>
              </a:rPr>
              <a:t> i++)</a:t>
            </a:r>
            <a:endParaRPr sz="2000" dirty="0">
              <a:latin typeface="Courier New"/>
              <a:cs typeface="Courier New"/>
            </a:endParaRPr>
          </a:p>
          <a:p>
            <a:pPr marL="927100">
              <a:lnSpc>
                <a:spcPct val="100000"/>
              </a:lnSpc>
              <a:spcBef>
                <a:spcPts val="370"/>
              </a:spcBef>
            </a:pPr>
            <a:r>
              <a:rPr sz="2000" b="1" spc="-5" dirty="0">
                <a:latin typeface="Courier New"/>
                <a:cs typeface="Courier New"/>
              </a:rPr>
              <a:t>su</a:t>
            </a:r>
            <a:r>
              <a:rPr sz="2000" b="1" dirty="0">
                <a:latin typeface="Courier New"/>
                <a:cs typeface="Courier New"/>
              </a:rPr>
              <a:t>m</a:t>
            </a:r>
            <a:r>
              <a:rPr sz="2000" b="1" spc="-5" dirty="0">
                <a:latin typeface="Courier New"/>
                <a:cs typeface="Courier New"/>
              </a:rPr>
              <a:t> +</a:t>
            </a:r>
            <a:r>
              <a:rPr sz="2000" b="1" dirty="0">
                <a:latin typeface="Courier New"/>
                <a:cs typeface="Courier New"/>
              </a:rPr>
              <a:t>=</a:t>
            </a:r>
            <a:r>
              <a:rPr sz="2000" b="1" spc="-5" dirty="0">
                <a:latin typeface="Courier New"/>
                <a:cs typeface="Courier New"/>
              </a:rPr>
              <a:t> a[i][0];</a:t>
            </a:r>
            <a:endParaRPr sz="2000" dirty="0">
              <a:latin typeface="Courier New"/>
              <a:cs typeface="Courier New"/>
            </a:endParaRPr>
          </a:p>
          <a:p>
            <a:pPr marL="756285" lvl="1" indent="-286385">
              <a:lnSpc>
                <a:spcPct val="100000"/>
              </a:lnSpc>
              <a:spcBef>
                <a:spcPts val="325"/>
              </a:spcBef>
              <a:buClr>
                <a:srgbClr val="990000"/>
              </a:buClr>
              <a:buSzPct val="110000"/>
              <a:buFont typeface="Wingdings"/>
              <a:buChar char=""/>
              <a:tabLst>
                <a:tab pos="756920" algn="l"/>
              </a:tabLst>
            </a:pPr>
            <a:r>
              <a:rPr lang="zh-CN" altLang="en-US" sz="2000" spc="-5" dirty="0">
                <a:latin typeface="Calibri"/>
                <a:cs typeface="Calibri"/>
              </a:rPr>
              <a:t>访问距离远的元素</a:t>
            </a:r>
            <a:endParaRPr sz="2000" dirty="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240"/>
              </a:spcBef>
              <a:buClr>
                <a:srgbClr val="990000"/>
              </a:buClr>
              <a:buSzPct val="110000"/>
              <a:buFont typeface="Wingdings"/>
              <a:buChar char=""/>
              <a:tabLst>
                <a:tab pos="756920" algn="l"/>
              </a:tabLst>
            </a:pPr>
            <a:r>
              <a:rPr lang="zh-CN" altLang="en-US" sz="2000" dirty="0">
                <a:latin typeface="Calibri"/>
                <a:cs typeface="Calibri"/>
              </a:rPr>
              <a:t>没有空间局部性</a:t>
            </a:r>
            <a:r>
              <a:rPr sz="2000" dirty="0">
                <a:latin typeface="Calibri"/>
                <a:cs typeface="Calibri"/>
              </a:rPr>
              <a:t>!</a:t>
            </a:r>
          </a:p>
          <a:p>
            <a:pPr marL="1155700" lvl="2" indent="-228600">
              <a:lnSpc>
                <a:spcPct val="100000"/>
              </a:lnSpc>
              <a:spcBef>
                <a:spcPts val="405"/>
              </a:spcBef>
              <a:buSzPct val="80000"/>
              <a:buFont typeface="Wingdings"/>
              <a:buChar char=""/>
              <a:tabLst>
                <a:tab pos="1155700" algn="l"/>
              </a:tabLst>
            </a:pPr>
            <a:r>
              <a:rPr lang="zh-CN" altLang="en-US" sz="2000" dirty="0">
                <a:latin typeface="Calibri"/>
                <a:cs typeface="Calibri"/>
              </a:rPr>
              <a:t>不命中率 </a:t>
            </a:r>
            <a:r>
              <a:rPr sz="2000" dirty="0">
                <a:latin typeface="Calibri"/>
                <a:cs typeface="Calibri"/>
              </a:rPr>
              <a:t>= 1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</a:t>
            </a:r>
            <a:r>
              <a:rPr sz="2000" spc="-5" dirty="0">
                <a:latin typeface="Calibri"/>
                <a:cs typeface="Calibri"/>
              </a:rPr>
              <a:t>i.e</a:t>
            </a:r>
            <a:r>
              <a:rPr sz="2000" dirty="0">
                <a:latin typeface="Calibri"/>
                <a:cs typeface="Calibri"/>
              </a:rPr>
              <a:t>.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100</a:t>
            </a:r>
            <a:r>
              <a:rPr sz="2000" spc="-5" dirty="0">
                <a:latin typeface="Calibri"/>
                <a:cs typeface="Calibri"/>
              </a:rPr>
              <a:t>%</a:t>
            </a:r>
            <a:r>
              <a:rPr sz="2000" dirty="0">
                <a:latin typeface="Calibri"/>
                <a:cs typeface="Calibri"/>
              </a:rPr>
              <a:t>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74650" y="346210"/>
            <a:ext cx="7591425" cy="812531"/>
          </a:xfrm>
          <a:prstGeom prst="rect">
            <a:avLst/>
          </a:prstGeom>
        </p:spPr>
        <p:txBody>
          <a:bodyPr vert="horz" wrap="square" lIns="0" tIns="256033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zh-CN" altLang="en-US" spc="-20" dirty="0"/>
              <a:t>矩阵乘法</a:t>
            </a:r>
            <a:r>
              <a:rPr spc="-20" dirty="0"/>
              <a:t>(</a:t>
            </a:r>
            <a:r>
              <a:rPr dirty="0">
                <a:latin typeface="Courier New"/>
                <a:cs typeface="Courier New"/>
              </a:rPr>
              <a:t>ijk</a:t>
            </a:r>
            <a:r>
              <a:rPr spc="-5" dirty="0"/>
              <a:t>)</a:t>
            </a:r>
          </a:p>
        </p:txBody>
      </p:sp>
      <p:sp>
        <p:nvSpPr>
          <p:cNvPr id="4" name="object 4"/>
          <p:cNvSpPr/>
          <p:nvPr/>
        </p:nvSpPr>
        <p:spPr>
          <a:xfrm>
            <a:off x="531876" y="1769364"/>
            <a:ext cx="4636007" cy="297789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90727" y="1679448"/>
            <a:ext cx="4773167" cy="313486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27050" y="1765300"/>
            <a:ext cx="4492625" cy="2834640"/>
          </a:xfrm>
          <a:custGeom>
            <a:avLst/>
            <a:gdLst/>
            <a:ahLst/>
            <a:cxnLst/>
            <a:rect l="l" t="t" r="r" b="b"/>
            <a:pathLst>
              <a:path w="4492625" h="2834640">
                <a:moveTo>
                  <a:pt x="0" y="0"/>
                </a:moveTo>
                <a:lnTo>
                  <a:pt x="4492625" y="0"/>
                </a:lnTo>
                <a:lnTo>
                  <a:pt x="4492625" y="2834360"/>
                </a:lnTo>
                <a:lnTo>
                  <a:pt x="0" y="2834360"/>
                </a:lnTo>
                <a:lnTo>
                  <a:pt x="0" y="0"/>
                </a:lnTo>
                <a:close/>
              </a:path>
            </a:pathLst>
          </a:custGeom>
          <a:solidFill>
            <a:srgbClr val="F6F5B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27050" y="1765300"/>
            <a:ext cx="4492625" cy="2834640"/>
          </a:xfrm>
          <a:custGeom>
            <a:avLst/>
            <a:gdLst/>
            <a:ahLst/>
            <a:cxnLst/>
            <a:rect l="l" t="t" r="r" b="b"/>
            <a:pathLst>
              <a:path w="4492625" h="2834640">
                <a:moveTo>
                  <a:pt x="0" y="0"/>
                </a:moveTo>
                <a:lnTo>
                  <a:pt x="4492625" y="0"/>
                </a:lnTo>
                <a:lnTo>
                  <a:pt x="4492625" y="2834360"/>
                </a:lnTo>
                <a:lnTo>
                  <a:pt x="0" y="283436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492750" y="2587625"/>
            <a:ext cx="596900" cy="520700"/>
          </a:xfrm>
          <a:custGeom>
            <a:avLst/>
            <a:gdLst/>
            <a:ahLst/>
            <a:cxnLst/>
            <a:rect l="l" t="t" r="r" b="b"/>
            <a:pathLst>
              <a:path w="596900" h="520700">
                <a:moveTo>
                  <a:pt x="0" y="0"/>
                </a:moveTo>
                <a:lnTo>
                  <a:pt x="596900" y="0"/>
                </a:lnTo>
                <a:lnTo>
                  <a:pt x="596900" y="520700"/>
                </a:lnTo>
                <a:lnTo>
                  <a:pt x="0" y="5207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711950" y="2587625"/>
            <a:ext cx="596900" cy="520700"/>
          </a:xfrm>
          <a:custGeom>
            <a:avLst/>
            <a:gdLst/>
            <a:ahLst/>
            <a:cxnLst/>
            <a:rect l="l" t="t" r="r" b="b"/>
            <a:pathLst>
              <a:path w="596900" h="520700">
                <a:moveTo>
                  <a:pt x="0" y="0"/>
                </a:moveTo>
                <a:lnTo>
                  <a:pt x="596900" y="0"/>
                </a:lnTo>
                <a:lnTo>
                  <a:pt x="596900" y="520700"/>
                </a:lnTo>
                <a:lnTo>
                  <a:pt x="0" y="5207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702300" y="3247263"/>
            <a:ext cx="172720" cy="28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dirty="0">
                <a:latin typeface="Calibri"/>
                <a:cs typeface="Calibri"/>
              </a:rPr>
              <a:t>A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921648" y="3247263"/>
            <a:ext cx="163830" cy="28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dirty="0">
                <a:latin typeface="Calibri"/>
                <a:cs typeface="Calibri"/>
              </a:rPr>
              <a:t>B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064643" y="3247263"/>
            <a:ext cx="161290" cy="28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dirty="0">
                <a:latin typeface="Calibri"/>
                <a:cs typeface="Calibri"/>
              </a:rPr>
              <a:t>C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934200" y="2593975"/>
            <a:ext cx="0" cy="508000"/>
          </a:xfrm>
          <a:custGeom>
            <a:avLst/>
            <a:gdLst/>
            <a:ahLst/>
            <a:cxnLst/>
            <a:rect l="l" t="t" r="r" b="b"/>
            <a:pathLst>
              <a:path h="508000">
                <a:moveTo>
                  <a:pt x="0" y="0"/>
                </a:moveTo>
                <a:lnTo>
                  <a:pt x="0" y="508000"/>
                </a:lnTo>
              </a:path>
            </a:pathLst>
          </a:custGeom>
          <a:ln w="5715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499100" y="2962275"/>
            <a:ext cx="584200" cy="0"/>
          </a:xfrm>
          <a:custGeom>
            <a:avLst/>
            <a:gdLst/>
            <a:ahLst/>
            <a:cxnLst/>
            <a:rect l="l" t="t" r="r" b="b"/>
            <a:pathLst>
              <a:path w="584200">
                <a:moveTo>
                  <a:pt x="0" y="0"/>
                </a:moveTo>
                <a:lnTo>
                  <a:pt x="584200" y="0"/>
                </a:lnTo>
              </a:path>
            </a:pathLst>
          </a:custGeom>
          <a:ln w="5715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6159500" y="2866263"/>
            <a:ext cx="428625" cy="28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dirty="0">
                <a:latin typeface="Calibri"/>
                <a:cs typeface="Calibri"/>
              </a:rPr>
              <a:t>(</a:t>
            </a:r>
            <a:r>
              <a:rPr sz="2000" spc="-5" dirty="0">
                <a:latin typeface="Calibri"/>
                <a:cs typeface="Calibri"/>
              </a:rPr>
              <a:t>i</a:t>
            </a:r>
            <a:r>
              <a:rPr sz="2000" dirty="0">
                <a:latin typeface="Calibri"/>
                <a:cs typeface="Calibri"/>
              </a:rPr>
              <a:t>,</a:t>
            </a:r>
            <a:r>
              <a:rPr sz="2000" spc="-5" dirty="0">
                <a:latin typeface="Calibri"/>
                <a:cs typeface="Calibri"/>
              </a:rPr>
              <a:t>*</a:t>
            </a:r>
            <a:r>
              <a:rPr sz="2000" dirty="0">
                <a:latin typeface="Calibri"/>
                <a:cs typeface="Calibri"/>
              </a:rPr>
              <a:t>)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013700" y="2924175"/>
            <a:ext cx="50800" cy="0"/>
          </a:xfrm>
          <a:custGeom>
            <a:avLst/>
            <a:gdLst/>
            <a:ahLst/>
            <a:cxnLst/>
            <a:rect l="l" t="t" r="r" b="b"/>
            <a:pathLst>
              <a:path w="50800">
                <a:moveTo>
                  <a:pt x="0" y="0"/>
                </a:moveTo>
                <a:lnTo>
                  <a:pt x="50800" y="0"/>
                </a:lnTo>
              </a:path>
            </a:pathLst>
          </a:custGeom>
          <a:ln w="508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8013700" y="2898775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50800" y="0"/>
                </a:lnTo>
                <a:lnTo>
                  <a:pt x="508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ln w="5715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5473658" y="1875666"/>
            <a:ext cx="1727200" cy="737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5" dirty="0">
                <a:latin typeface="Calibri"/>
                <a:cs typeface="Calibri"/>
              </a:rPr>
              <a:t>I</a:t>
            </a:r>
            <a:r>
              <a:rPr sz="2000" dirty="0">
                <a:latin typeface="Calibri"/>
                <a:cs typeface="Calibri"/>
              </a:rPr>
              <a:t>nn</a:t>
            </a:r>
            <a:r>
              <a:rPr sz="2000" spc="-5" dirty="0">
                <a:latin typeface="Calibri"/>
                <a:cs typeface="Calibri"/>
              </a:rPr>
              <a:t>e</a:t>
            </a:r>
            <a:r>
              <a:rPr sz="2000" dirty="0">
                <a:latin typeface="Calibri"/>
                <a:cs typeface="Calibri"/>
              </a:rPr>
              <a:t>r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loo</a:t>
            </a:r>
            <a:r>
              <a:rPr sz="2000" dirty="0">
                <a:latin typeface="Calibri"/>
                <a:cs typeface="Calibri"/>
              </a:rPr>
              <a:t>p:</a:t>
            </a:r>
          </a:p>
          <a:p>
            <a:pPr marR="5080" algn="r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latin typeface="Calibri"/>
                <a:cs typeface="Calibri"/>
              </a:rPr>
              <a:t>(</a:t>
            </a:r>
            <a:r>
              <a:rPr sz="2000" spc="-5" dirty="0">
                <a:latin typeface="Calibri"/>
                <a:cs typeface="Calibri"/>
              </a:rPr>
              <a:t>*</a:t>
            </a:r>
            <a:r>
              <a:rPr sz="2000" dirty="0">
                <a:latin typeface="Calibri"/>
                <a:cs typeface="Calibri"/>
              </a:rPr>
              <a:t>,j)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7854950" y="2587625"/>
            <a:ext cx="596900" cy="5207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ct val="100000"/>
              </a:lnSpc>
            </a:pPr>
            <a:r>
              <a:rPr sz="2000" dirty="0">
                <a:latin typeface="Calibri"/>
                <a:cs typeface="Calibri"/>
              </a:rPr>
              <a:t>(</a:t>
            </a:r>
            <a:r>
              <a:rPr sz="2000" spc="-5" dirty="0">
                <a:latin typeface="Calibri"/>
                <a:cs typeface="Calibri"/>
              </a:rPr>
              <a:t>i</a:t>
            </a:r>
            <a:r>
              <a:rPr sz="2000" dirty="0">
                <a:latin typeface="Calibri"/>
                <a:cs typeface="Calibri"/>
              </a:rPr>
              <a:t>,j)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511797" y="4334722"/>
            <a:ext cx="902335" cy="584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2000" spc="-5" dirty="0">
                <a:latin typeface="Calibri"/>
                <a:cs typeface="Calibri"/>
              </a:rPr>
              <a:t>Col</a:t>
            </a:r>
            <a:r>
              <a:rPr sz="2000" dirty="0">
                <a:latin typeface="Calibri"/>
                <a:cs typeface="Calibri"/>
              </a:rPr>
              <a:t>u</a:t>
            </a:r>
            <a:r>
              <a:rPr sz="2000" spc="-5" dirty="0">
                <a:latin typeface="Calibri"/>
                <a:cs typeface="Calibri"/>
              </a:rPr>
              <a:t>m</a:t>
            </a:r>
            <a:r>
              <a:rPr sz="2000" dirty="0">
                <a:latin typeface="Calibri"/>
                <a:cs typeface="Calibri"/>
              </a:rPr>
              <a:t>n- </a:t>
            </a:r>
            <a:r>
              <a:rPr sz="2000" spc="-5" dirty="0">
                <a:latin typeface="Calibri"/>
                <a:cs typeface="Calibri"/>
              </a:rPr>
              <a:t>wise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6991351" y="3656013"/>
            <a:ext cx="0" cy="563880"/>
          </a:xfrm>
          <a:custGeom>
            <a:avLst/>
            <a:gdLst/>
            <a:ahLst/>
            <a:cxnLst/>
            <a:rect l="l" t="t" r="r" b="b"/>
            <a:pathLst>
              <a:path h="563879">
                <a:moveTo>
                  <a:pt x="0" y="563562"/>
                </a:moveTo>
                <a:lnTo>
                  <a:pt x="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6953255" y="3592511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0" y="76199"/>
                </a:lnTo>
                <a:lnTo>
                  <a:pt x="76200" y="76199"/>
                </a:lnTo>
                <a:lnTo>
                  <a:pt x="381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5292725" y="4334700"/>
            <a:ext cx="1016000" cy="28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35" dirty="0">
                <a:latin typeface="Calibri"/>
                <a:cs typeface="Calibri"/>
              </a:rPr>
              <a:t>R</a:t>
            </a:r>
            <a:r>
              <a:rPr sz="2000" spc="-15" dirty="0">
                <a:latin typeface="Calibri"/>
                <a:cs typeface="Calibri"/>
              </a:rPr>
              <a:t>o</a:t>
            </a:r>
            <a:r>
              <a:rPr sz="2000" spc="-10" dirty="0">
                <a:latin typeface="Calibri"/>
                <a:cs typeface="Calibri"/>
              </a:rPr>
              <a:t>w</a:t>
            </a:r>
            <a:r>
              <a:rPr sz="2000" spc="-5" dirty="0">
                <a:latin typeface="Calibri"/>
                <a:cs typeface="Calibri"/>
              </a:rPr>
              <a:t>-wise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5772150" y="3656012"/>
            <a:ext cx="0" cy="563880"/>
          </a:xfrm>
          <a:custGeom>
            <a:avLst/>
            <a:gdLst/>
            <a:ahLst/>
            <a:cxnLst/>
            <a:rect l="l" t="t" r="r" b="b"/>
            <a:pathLst>
              <a:path h="563879">
                <a:moveTo>
                  <a:pt x="0" y="563562"/>
                </a:moveTo>
                <a:lnTo>
                  <a:pt x="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734053" y="3592511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0" y="76199"/>
                </a:lnTo>
                <a:lnTo>
                  <a:pt x="76200" y="76199"/>
                </a:lnTo>
                <a:lnTo>
                  <a:pt x="381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7886051" y="4334700"/>
            <a:ext cx="564515" cy="28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dirty="0">
                <a:latin typeface="Calibri"/>
                <a:cs typeface="Calibri"/>
              </a:rPr>
              <a:t>F</a:t>
            </a:r>
            <a:r>
              <a:rPr sz="2000" spc="-5" dirty="0">
                <a:latin typeface="Calibri"/>
                <a:cs typeface="Calibri"/>
              </a:rPr>
              <a:t>i</a:t>
            </a:r>
            <a:r>
              <a:rPr sz="2000" spc="-55" dirty="0">
                <a:latin typeface="Calibri"/>
                <a:cs typeface="Calibri"/>
              </a:rPr>
              <a:t>x</a:t>
            </a:r>
            <a:r>
              <a:rPr sz="2000" spc="-5" dirty="0">
                <a:latin typeface="Calibri"/>
                <a:cs typeface="Calibri"/>
              </a:rPr>
              <a:t>e</a:t>
            </a:r>
            <a:r>
              <a:rPr sz="2000" dirty="0">
                <a:latin typeface="Calibri"/>
                <a:cs typeface="Calibri"/>
              </a:rPr>
              <a:t>d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8147051" y="3656012"/>
            <a:ext cx="0" cy="563880"/>
          </a:xfrm>
          <a:custGeom>
            <a:avLst/>
            <a:gdLst/>
            <a:ahLst/>
            <a:cxnLst/>
            <a:rect l="l" t="t" r="r" b="b"/>
            <a:pathLst>
              <a:path h="563879">
                <a:moveTo>
                  <a:pt x="0" y="563562"/>
                </a:moveTo>
                <a:lnTo>
                  <a:pt x="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8108955" y="3592511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0" y="76199"/>
                </a:lnTo>
                <a:lnTo>
                  <a:pt x="76200" y="76199"/>
                </a:lnTo>
                <a:lnTo>
                  <a:pt x="381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368300" y="1771288"/>
            <a:ext cx="4479925" cy="3611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8920">
              <a:lnSpc>
                <a:spcPct val="100000"/>
              </a:lnSpc>
              <a:tabLst>
                <a:tab pos="1205865" algn="l"/>
              </a:tabLst>
            </a:pPr>
            <a:r>
              <a:rPr sz="1800" b="1" dirty="0">
                <a:latin typeface="Courier New"/>
                <a:cs typeface="Courier New"/>
              </a:rPr>
              <a:t>/*</a:t>
            </a:r>
            <a:r>
              <a:rPr sz="1800" b="1" spc="-1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i</a:t>
            </a:r>
            <a:r>
              <a:rPr sz="1800" b="1" spc="-15" dirty="0">
                <a:latin typeface="Courier New"/>
                <a:cs typeface="Courier New"/>
              </a:rPr>
              <a:t>j</a:t>
            </a:r>
            <a:r>
              <a:rPr sz="1800" b="1" dirty="0">
                <a:latin typeface="Courier New"/>
                <a:cs typeface="Courier New"/>
              </a:rPr>
              <a:t>k	</a:t>
            </a:r>
            <a:r>
              <a:rPr sz="1800" b="1" spc="-15" dirty="0">
                <a:latin typeface="Courier New"/>
                <a:cs typeface="Courier New"/>
              </a:rPr>
              <a:t>*/</a:t>
            </a:r>
            <a:endParaRPr sz="1800">
              <a:latin typeface="Courier New"/>
              <a:cs typeface="Courier New"/>
            </a:endParaRPr>
          </a:p>
          <a:p>
            <a:pPr marL="523240" marR="1083310" indent="-274955">
              <a:lnSpc>
                <a:spcPct val="114999"/>
              </a:lnSpc>
              <a:tabLst>
                <a:tab pos="3115310" algn="l"/>
              </a:tabLst>
            </a:pPr>
            <a:r>
              <a:rPr sz="1800" b="1" dirty="0">
                <a:latin typeface="Courier New"/>
                <a:cs typeface="Courier New"/>
              </a:rPr>
              <a:t>for</a:t>
            </a:r>
            <a:r>
              <a:rPr sz="1800" b="1" spc="-15" dirty="0">
                <a:latin typeface="Courier New"/>
                <a:cs typeface="Courier New"/>
              </a:rPr>
              <a:t> (</a:t>
            </a:r>
            <a:r>
              <a:rPr sz="1800" b="1" dirty="0">
                <a:latin typeface="Courier New"/>
                <a:cs typeface="Courier New"/>
              </a:rPr>
              <a:t>i=</a:t>
            </a:r>
            <a:r>
              <a:rPr sz="1800" b="1" spc="-15" dirty="0">
                <a:latin typeface="Courier New"/>
                <a:cs typeface="Courier New"/>
              </a:rPr>
              <a:t>0</a:t>
            </a:r>
            <a:r>
              <a:rPr sz="1800" b="1" dirty="0">
                <a:latin typeface="Courier New"/>
                <a:cs typeface="Courier New"/>
              </a:rPr>
              <a:t>;</a:t>
            </a:r>
            <a:r>
              <a:rPr sz="1800" b="1" spc="-15" dirty="0">
                <a:latin typeface="Courier New"/>
                <a:cs typeface="Courier New"/>
              </a:rPr>
              <a:t> i</a:t>
            </a:r>
            <a:r>
              <a:rPr sz="1800" b="1" dirty="0">
                <a:latin typeface="Courier New"/>
                <a:cs typeface="Courier New"/>
              </a:rPr>
              <a:t>&lt;n;</a:t>
            </a:r>
            <a:r>
              <a:rPr sz="1800" b="1" spc="-15" dirty="0">
                <a:latin typeface="Courier New"/>
                <a:cs typeface="Courier New"/>
              </a:rPr>
              <a:t> i</a:t>
            </a:r>
            <a:r>
              <a:rPr sz="1800" b="1" dirty="0">
                <a:latin typeface="Courier New"/>
                <a:cs typeface="Courier New"/>
              </a:rPr>
              <a:t>++)	{ </a:t>
            </a:r>
            <a:r>
              <a:rPr sz="1800" b="1" spc="-15" dirty="0">
                <a:latin typeface="Courier New"/>
                <a:cs typeface="Courier New"/>
              </a:rPr>
              <a:t>f</a:t>
            </a:r>
            <a:r>
              <a:rPr sz="1800" b="1" dirty="0">
                <a:latin typeface="Courier New"/>
                <a:cs typeface="Courier New"/>
              </a:rPr>
              <a:t>or</a:t>
            </a:r>
            <a:r>
              <a:rPr sz="1800" b="1" spc="-1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(</a:t>
            </a:r>
            <a:r>
              <a:rPr sz="1800" b="1" spc="-15" dirty="0">
                <a:latin typeface="Courier New"/>
                <a:cs typeface="Courier New"/>
              </a:rPr>
              <a:t>j</a:t>
            </a:r>
            <a:r>
              <a:rPr sz="1800" b="1" dirty="0">
                <a:latin typeface="Courier New"/>
                <a:cs typeface="Courier New"/>
              </a:rPr>
              <a:t>=</a:t>
            </a:r>
            <a:r>
              <a:rPr sz="1800" b="1" spc="-15" dirty="0">
                <a:latin typeface="Courier New"/>
                <a:cs typeface="Courier New"/>
              </a:rPr>
              <a:t>0</a:t>
            </a:r>
            <a:r>
              <a:rPr sz="1800" b="1" dirty="0">
                <a:latin typeface="Courier New"/>
                <a:cs typeface="Courier New"/>
              </a:rPr>
              <a:t>;</a:t>
            </a:r>
            <a:r>
              <a:rPr sz="1800" b="1" spc="-1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j</a:t>
            </a:r>
            <a:r>
              <a:rPr sz="1800" b="1" spc="-15" dirty="0">
                <a:latin typeface="Courier New"/>
                <a:cs typeface="Courier New"/>
              </a:rPr>
              <a:t>&lt;</a:t>
            </a:r>
            <a:r>
              <a:rPr sz="1800" b="1" dirty="0">
                <a:latin typeface="Courier New"/>
                <a:cs typeface="Courier New"/>
              </a:rPr>
              <a:t>n;</a:t>
            </a:r>
            <a:r>
              <a:rPr sz="1800" b="1" spc="-1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j</a:t>
            </a:r>
            <a:r>
              <a:rPr sz="1800" b="1" spc="-15" dirty="0">
                <a:latin typeface="Courier New"/>
                <a:cs typeface="Courier New"/>
              </a:rPr>
              <a:t>+</a:t>
            </a:r>
            <a:r>
              <a:rPr sz="1800" b="1" dirty="0">
                <a:latin typeface="Courier New"/>
                <a:cs typeface="Courier New"/>
              </a:rPr>
              <a:t>+)</a:t>
            </a:r>
            <a:r>
              <a:rPr sz="1800" b="1" spc="-3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  <a:p>
            <a:pPr marL="796290">
              <a:lnSpc>
                <a:spcPct val="100000"/>
              </a:lnSpc>
              <a:spcBef>
                <a:spcPts val="320"/>
              </a:spcBef>
            </a:pPr>
            <a:r>
              <a:rPr sz="1800" b="1" spc="-15" dirty="0">
                <a:latin typeface="Courier New"/>
                <a:cs typeface="Courier New"/>
              </a:rPr>
              <a:t>s</a:t>
            </a:r>
            <a:r>
              <a:rPr sz="1800" b="1" dirty="0">
                <a:latin typeface="Courier New"/>
                <a:cs typeface="Courier New"/>
              </a:rPr>
              <a:t>um</a:t>
            </a:r>
            <a:r>
              <a:rPr sz="1800" b="1" spc="-1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=</a:t>
            </a:r>
            <a:r>
              <a:rPr sz="1800" b="1" spc="-15" dirty="0">
                <a:latin typeface="Courier New"/>
                <a:cs typeface="Courier New"/>
              </a:rPr>
              <a:t> 0</a:t>
            </a:r>
            <a:r>
              <a:rPr sz="1800" b="1" dirty="0">
                <a:latin typeface="Courier New"/>
                <a:cs typeface="Courier New"/>
              </a:rPr>
              <a:t>.0;</a:t>
            </a:r>
            <a:endParaRPr sz="1800">
              <a:latin typeface="Courier New"/>
              <a:cs typeface="Courier New"/>
            </a:endParaRPr>
          </a:p>
          <a:p>
            <a:pPr marL="796290">
              <a:lnSpc>
                <a:spcPct val="100000"/>
              </a:lnSpc>
              <a:spcBef>
                <a:spcPts val="320"/>
              </a:spcBef>
            </a:pPr>
            <a:r>
              <a:rPr sz="1800" b="1" spc="-15" dirty="0">
                <a:latin typeface="Courier New"/>
                <a:cs typeface="Courier New"/>
              </a:rPr>
              <a:t>f</a:t>
            </a:r>
            <a:r>
              <a:rPr sz="1800" b="1" dirty="0">
                <a:latin typeface="Courier New"/>
                <a:cs typeface="Courier New"/>
              </a:rPr>
              <a:t>or</a:t>
            </a:r>
            <a:r>
              <a:rPr sz="1800" b="1" spc="-1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(</a:t>
            </a:r>
            <a:r>
              <a:rPr sz="1800" b="1" spc="-15" dirty="0">
                <a:latin typeface="Courier New"/>
                <a:cs typeface="Courier New"/>
              </a:rPr>
              <a:t>k=</a:t>
            </a:r>
            <a:r>
              <a:rPr sz="1800" b="1" dirty="0">
                <a:latin typeface="Courier New"/>
                <a:cs typeface="Courier New"/>
              </a:rPr>
              <a:t>0;</a:t>
            </a:r>
            <a:r>
              <a:rPr sz="1800" b="1" spc="-1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k</a:t>
            </a:r>
            <a:r>
              <a:rPr sz="1800" b="1" spc="-15" dirty="0">
                <a:latin typeface="Courier New"/>
                <a:cs typeface="Courier New"/>
              </a:rPr>
              <a:t>&lt;</a:t>
            </a:r>
            <a:r>
              <a:rPr sz="1800" b="1" dirty="0">
                <a:latin typeface="Courier New"/>
                <a:cs typeface="Courier New"/>
              </a:rPr>
              <a:t>n;</a:t>
            </a:r>
            <a:r>
              <a:rPr sz="1800" b="1" spc="-1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k</a:t>
            </a:r>
            <a:r>
              <a:rPr sz="1800" b="1" spc="-15" dirty="0">
                <a:latin typeface="Courier New"/>
                <a:cs typeface="Courier New"/>
              </a:rPr>
              <a:t>++)</a:t>
            </a:r>
            <a:endParaRPr sz="1800">
              <a:latin typeface="Courier New"/>
              <a:cs typeface="Courier New"/>
            </a:endParaRPr>
          </a:p>
          <a:p>
            <a:pPr marL="796290" indent="272415">
              <a:lnSpc>
                <a:spcPct val="114999"/>
              </a:lnSpc>
            </a:pPr>
            <a:r>
              <a:rPr sz="1800" b="1" dirty="0">
                <a:solidFill>
                  <a:srgbClr val="C00000"/>
                </a:solidFill>
                <a:latin typeface="Courier New"/>
                <a:cs typeface="Courier New"/>
              </a:rPr>
              <a:t>s</a:t>
            </a:r>
            <a:r>
              <a:rPr sz="1800" b="1" spc="-15" dirty="0">
                <a:solidFill>
                  <a:srgbClr val="C00000"/>
                </a:solidFill>
                <a:latin typeface="Courier New"/>
                <a:cs typeface="Courier New"/>
              </a:rPr>
              <a:t>u</a:t>
            </a:r>
            <a:r>
              <a:rPr sz="1800" b="1" dirty="0">
                <a:solidFill>
                  <a:srgbClr val="C00000"/>
                </a:solidFill>
                <a:latin typeface="Courier New"/>
                <a:cs typeface="Courier New"/>
              </a:rPr>
              <a:t>m</a:t>
            </a:r>
            <a:r>
              <a:rPr sz="1800" b="1" spc="-15" dirty="0">
                <a:solidFill>
                  <a:srgbClr val="C00000"/>
                </a:solidFill>
                <a:latin typeface="Courier New"/>
                <a:cs typeface="Courier New"/>
              </a:rPr>
              <a:t> +</a:t>
            </a:r>
            <a:r>
              <a:rPr sz="1800" b="1" dirty="0">
                <a:solidFill>
                  <a:srgbClr val="C00000"/>
                </a:solidFill>
                <a:latin typeface="Courier New"/>
                <a:cs typeface="Courier New"/>
              </a:rPr>
              <a:t>= </a:t>
            </a:r>
            <a:r>
              <a:rPr sz="1800" b="1" spc="-15" dirty="0">
                <a:solidFill>
                  <a:srgbClr val="C00000"/>
                </a:solidFill>
                <a:latin typeface="Courier New"/>
                <a:cs typeface="Courier New"/>
              </a:rPr>
              <a:t>a</a:t>
            </a:r>
            <a:r>
              <a:rPr sz="1800" b="1" dirty="0">
                <a:solidFill>
                  <a:srgbClr val="C00000"/>
                </a:solidFill>
                <a:latin typeface="Courier New"/>
                <a:cs typeface="Courier New"/>
              </a:rPr>
              <a:t>[</a:t>
            </a:r>
            <a:r>
              <a:rPr sz="1800" b="1" spc="-15" dirty="0">
                <a:solidFill>
                  <a:srgbClr val="C00000"/>
                </a:solidFill>
                <a:latin typeface="Courier New"/>
                <a:cs typeface="Courier New"/>
              </a:rPr>
              <a:t>i</a:t>
            </a:r>
            <a:r>
              <a:rPr sz="1800" b="1" dirty="0">
                <a:solidFill>
                  <a:srgbClr val="C00000"/>
                </a:solidFill>
                <a:latin typeface="Courier New"/>
                <a:cs typeface="Courier New"/>
              </a:rPr>
              <a:t>][</a:t>
            </a:r>
            <a:r>
              <a:rPr sz="1800" b="1" spc="-15" dirty="0">
                <a:solidFill>
                  <a:srgbClr val="C00000"/>
                </a:solidFill>
                <a:latin typeface="Courier New"/>
                <a:cs typeface="Courier New"/>
              </a:rPr>
              <a:t>k</a:t>
            </a:r>
            <a:r>
              <a:rPr sz="1800" b="1" dirty="0">
                <a:solidFill>
                  <a:srgbClr val="C00000"/>
                </a:solidFill>
                <a:latin typeface="Courier New"/>
                <a:cs typeface="Courier New"/>
              </a:rPr>
              <a:t>]</a:t>
            </a:r>
            <a:r>
              <a:rPr sz="1800" b="1" spc="-1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ourier New"/>
                <a:cs typeface="Courier New"/>
              </a:rPr>
              <a:t>*</a:t>
            </a:r>
            <a:r>
              <a:rPr sz="1800" b="1" spc="-1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ourier New"/>
                <a:cs typeface="Courier New"/>
              </a:rPr>
              <a:t>b</a:t>
            </a:r>
            <a:r>
              <a:rPr sz="1800" b="1" spc="-15" dirty="0">
                <a:solidFill>
                  <a:srgbClr val="C00000"/>
                </a:solidFill>
                <a:latin typeface="Courier New"/>
                <a:cs typeface="Courier New"/>
              </a:rPr>
              <a:t>[</a:t>
            </a:r>
            <a:r>
              <a:rPr sz="1800" b="1" dirty="0">
                <a:solidFill>
                  <a:srgbClr val="C00000"/>
                </a:solidFill>
                <a:latin typeface="Courier New"/>
                <a:cs typeface="Courier New"/>
              </a:rPr>
              <a:t>k</a:t>
            </a:r>
            <a:r>
              <a:rPr sz="1800" b="1" spc="-15" dirty="0">
                <a:solidFill>
                  <a:srgbClr val="C00000"/>
                </a:solidFill>
                <a:latin typeface="Courier New"/>
                <a:cs typeface="Courier New"/>
              </a:rPr>
              <a:t>]</a:t>
            </a:r>
            <a:r>
              <a:rPr sz="1800" b="1" dirty="0">
                <a:solidFill>
                  <a:srgbClr val="C00000"/>
                </a:solidFill>
                <a:latin typeface="Courier New"/>
                <a:cs typeface="Courier New"/>
              </a:rPr>
              <a:t>[j</a:t>
            </a:r>
            <a:r>
              <a:rPr sz="1800" b="1" spc="-15" dirty="0">
                <a:solidFill>
                  <a:srgbClr val="C00000"/>
                </a:solidFill>
                <a:latin typeface="Courier New"/>
                <a:cs typeface="Courier New"/>
              </a:rPr>
              <a:t>]; </a:t>
            </a:r>
            <a:r>
              <a:rPr sz="1800" b="1" spc="-15" dirty="0">
                <a:latin typeface="Courier New"/>
                <a:cs typeface="Courier New"/>
              </a:rPr>
              <a:t>c</a:t>
            </a:r>
            <a:r>
              <a:rPr sz="1800" b="1" dirty="0">
                <a:latin typeface="Courier New"/>
                <a:cs typeface="Courier New"/>
              </a:rPr>
              <a:t>[i</a:t>
            </a:r>
            <a:r>
              <a:rPr sz="1800" b="1" spc="-15" dirty="0">
                <a:latin typeface="Courier New"/>
                <a:cs typeface="Courier New"/>
              </a:rPr>
              <a:t>]</a:t>
            </a:r>
            <a:r>
              <a:rPr sz="1800" b="1" dirty="0">
                <a:latin typeface="Courier New"/>
                <a:cs typeface="Courier New"/>
              </a:rPr>
              <a:t>[</a:t>
            </a:r>
            <a:r>
              <a:rPr sz="1800" b="1" spc="-15" dirty="0">
                <a:latin typeface="Courier New"/>
                <a:cs typeface="Courier New"/>
              </a:rPr>
              <a:t>j</a:t>
            </a:r>
            <a:r>
              <a:rPr sz="1800" b="1" dirty="0">
                <a:latin typeface="Courier New"/>
                <a:cs typeface="Courier New"/>
              </a:rPr>
              <a:t>]</a:t>
            </a:r>
            <a:r>
              <a:rPr sz="1800" b="1" spc="-1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=</a:t>
            </a:r>
            <a:r>
              <a:rPr sz="1800" b="1" spc="-1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s</a:t>
            </a:r>
            <a:r>
              <a:rPr sz="1800" b="1" spc="-15" dirty="0">
                <a:latin typeface="Courier New"/>
                <a:cs typeface="Courier New"/>
              </a:rPr>
              <a:t>u</a:t>
            </a:r>
            <a:r>
              <a:rPr sz="1800" b="1" dirty="0">
                <a:latin typeface="Courier New"/>
                <a:cs typeface="Courier New"/>
              </a:rPr>
              <a:t>m;</a:t>
            </a:r>
            <a:endParaRPr sz="1800">
              <a:latin typeface="Courier New"/>
              <a:cs typeface="Courier New"/>
            </a:endParaRPr>
          </a:p>
          <a:p>
            <a:pPr marL="523240">
              <a:lnSpc>
                <a:spcPct val="100000"/>
              </a:lnSpc>
              <a:spcBef>
                <a:spcPts val="320"/>
              </a:spcBef>
            </a:pPr>
            <a:r>
              <a:rPr sz="1800" b="1" dirty="0"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  <a:p>
            <a:pPr marL="248920">
              <a:lnSpc>
                <a:spcPct val="100000"/>
              </a:lnSpc>
              <a:spcBef>
                <a:spcPts val="320"/>
              </a:spcBef>
              <a:tabLst>
                <a:tab pos="2842895" algn="l"/>
              </a:tabLst>
            </a:pPr>
            <a:r>
              <a:rPr sz="1800" b="1" dirty="0">
                <a:latin typeface="Courier New"/>
                <a:cs typeface="Courier New"/>
              </a:rPr>
              <a:t>}	</a:t>
            </a:r>
            <a:r>
              <a:rPr sz="2700" b="1" i="1" baseline="1543" dirty="0">
                <a:solidFill>
                  <a:srgbClr val="808080"/>
                </a:solidFill>
                <a:latin typeface="Courier New"/>
                <a:cs typeface="Courier New"/>
              </a:rPr>
              <a:t>ma</a:t>
            </a:r>
            <a:r>
              <a:rPr sz="2700" b="1" i="1" spc="-22" baseline="1543" dirty="0">
                <a:solidFill>
                  <a:srgbClr val="808080"/>
                </a:solidFill>
                <a:latin typeface="Courier New"/>
                <a:cs typeface="Courier New"/>
              </a:rPr>
              <a:t>t</a:t>
            </a:r>
            <a:r>
              <a:rPr sz="2700" b="1" i="1" baseline="1543" dirty="0">
                <a:solidFill>
                  <a:srgbClr val="808080"/>
                </a:solidFill>
                <a:latin typeface="Courier New"/>
                <a:cs typeface="Courier New"/>
              </a:rPr>
              <a:t>m</a:t>
            </a:r>
            <a:r>
              <a:rPr sz="2700" b="1" i="1" spc="-22" baseline="1543" dirty="0">
                <a:solidFill>
                  <a:srgbClr val="808080"/>
                </a:solidFill>
                <a:latin typeface="Courier New"/>
                <a:cs typeface="Courier New"/>
              </a:rPr>
              <a:t>u</a:t>
            </a:r>
            <a:r>
              <a:rPr sz="2700" b="1" i="1" baseline="1543" dirty="0">
                <a:solidFill>
                  <a:srgbClr val="808080"/>
                </a:solidFill>
                <a:latin typeface="Courier New"/>
                <a:cs typeface="Courier New"/>
              </a:rPr>
              <a:t>lt</a:t>
            </a:r>
            <a:r>
              <a:rPr sz="2700" b="1" i="1" spc="-22" baseline="1543" dirty="0">
                <a:solidFill>
                  <a:srgbClr val="808080"/>
                </a:solidFill>
                <a:latin typeface="Courier New"/>
                <a:cs typeface="Courier New"/>
              </a:rPr>
              <a:t>/</a:t>
            </a:r>
            <a:r>
              <a:rPr sz="2700" b="1" i="1" baseline="1543" dirty="0">
                <a:solidFill>
                  <a:srgbClr val="808080"/>
                </a:solidFill>
                <a:latin typeface="Courier New"/>
                <a:cs typeface="Courier New"/>
              </a:rPr>
              <a:t>m</a:t>
            </a:r>
            <a:r>
              <a:rPr sz="2700" b="1" i="1" spc="-22" baseline="1543" dirty="0">
                <a:solidFill>
                  <a:srgbClr val="808080"/>
                </a:solidFill>
                <a:latin typeface="Courier New"/>
                <a:cs typeface="Courier New"/>
              </a:rPr>
              <a:t>m.c</a:t>
            </a:r>
            <a:endParaRPr sz="2700" baseline="1543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2"/>
              </a:spcBef>
            </a:pPr>
            <a:endParaRPr sz="1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u="heavy" dirty="0">
                <a:latin typeface="Calibri"/>
                <a:cs typeface="Calibri"/>
              </a:rPr>
              <a:t>Mi</a:t>
            </a:r>
            <a:r>
              <a:rPr sz="2400" u="heavy" spc="-10" dirty="0">
                <a:latin typeface="Calibri"/>
                <a:cs typeface="Calibri"/>
              </a:rPr>
              <a:t>ss</a:t>
            </a:r>
            <a:r>
              <a:rPr sz="2400" u="heavy" dirty="0">
                <a:latin typeface="Calibri"/>
                <a:cs typeface="Calibri"/>
              </a:rPr>
              <a:t>es</a:t>
            </a:r>
            <a:r>
              <a:rPr sz="2400" u="heavy" spc="-10" dirty="0">
                <a:latin typeface="Calibri"/>
                <a:cs typeface="Calibri"/>
              </a:rPr>
              <a:t> </a:t>
            </a:r>
            <a:r>
              <a:rPr sz="2400" u="heavy" spc="-5" dirty="0">
                <a:latin typeface="Calibri"/>
                <a:cs typeface="Calibri"/>
              </a:rPr>
              <a:t>p</a:t>
            </a:r>
            <a:r>
              <a:rPr sz="2400" u="heavy" spc="5" dirty="0">
                <a:latin typeface="Calibri"/>
                <a:cs typeface="Calibri"/>
              </a:rPr>
              <a:t>e</a:t>
            </a:r>
            <a:r>
              <a:rPr sz="2400" u="heavy" spc="-5" dirty="0">
                <a:latin typeface="Calibri"/>
                <a:cs typeface="Calibri"/>
              </a:rPr>
              <a:t>r</a:t>
            </a:r>
            <a:r>
              <a:rPr sz="2400" u="heavy" dirty="0">
                <a:latin typeface="Calibri"/>
                <a:cs typeface="Calibri"/>
              </a:rPr>
              <a:t> i</a:t>
            </a:r>
            <a:r>
              <a:rPr sz="2400" u="heavy" spc="-5" dirty="0">
                <a:latin typeface="Calibri"/>
                <a:cs typeface="Calibri"/>
              </a:rPr>
              <a:t>nn</a:t>
            </a:r>
            <a:r>
              <a:rPr sz="2400" u="heavy" spc="5" dirty="0">
                <a:latin typeface="Calibri"/>
                <a:cs typeface="Calibri"/>
              </a:rPr>
              <a:t>e</a:t>
            </a:r>
            <a:r>
              <a:rPr sz="2400" u="heavy" spc="-5" dirty="0">
                <a:latin typeface="Calibri"/>
                <a:cs typeface="Calibri"/>
              </a:rPr>
              <a:t>r</a:t>
            </a:r>
            <a:r>
              <a:rPr sz="2400" u="heavy" spc="-15" dirty="0">
                <a:latin typeface="Calibri"/>
                <a:cs typeface="Calibri"/>
              </a:rPr>
              <a:t> </a:t>
            </a:r>
            <a:r>
              <a:rPr sz="2400" u="heavy" dirty="0">
                <a:latin typeface="Calibri"/>
                <a:cs typeface="Calibri"/>
              </a:rPr>
              <a:t>l</a:t>
            </a:r>
            <a:r>
              <a:rPr sz="2400" u="heavy" spc="-10" dirty="0">
                <a:latin typeface="Calibri"/>
                <a:cs typeface="Calibri"/>
              </a:rPr>
              <a:t>oo</a:t>
            </a:r>
            <a:r>
              <a:rPr sz="2400" u="heavy" dirty="0">
                <a:latin typeface="Calibri"/>
                <a:cs typeface="Calibri"/>
              </a:rPr>
              <a:t>p</a:t>
            </a:r>
            <a:r>
              <a:rPr sz="2400" u="heavy" spc="5" dirty="0">
                <a:latin typeface="Calibri"/>
                <a:cs typeface="Calibri"/>
              </a:rPr>
              <a:t> </a:t>
            </a:r>
            <a:r>
              <a:rPr sz="2400" u="heavy" dirty="0">
                <a:latin typeface="Calibri"/>
                <a:cs typeface="Calibri"/>
              </a:rPr>
              <a:t>i</a:t>
            </a:r>
            <a:r>
              <a:rPr sz="2400" u="heavy" spc="-25" dirty="0">
                <a:latin typeface="Calibri"/>
                <a:cs typeface="Calibri"/>
              </a:rPr>
              <a:t>t</a:t>
            </a:r>
            <a:r>
              <a:rPr sz="2400" u="heavy" dirty="0">
                <a:latin typeface="Calibri"/>
                <a:cs typeface="Calibri"/>
              </a:rPr>
              <a:t>e</a:t>
            </a:r>
            <a:r>
              <a:rPr sz="2400" u="heavy" spc="-50" dirty="0">
                <a:latin typeface="Calibri"/>
                <a:cs typeface="Calibri"/>
              </a:rPr>
              <a:t>r</a:t>
            </a:r>
            <a:r>
              <a:rPr sz="2400" u="heavy" spc="-25" dirty="0">
                <a:latin typeface="Calibri"/>
                <a:cs typeface="Calibri"/>
              </a:rPr>
              <a:t>a</a:t>
            </a:r>
            <a:r>
              <a:rPr sz="2400" u="heavy" dirty="0">
                <a:latin typeface="Calibri"/>
                <a:cs typeface="Calibri"/>
              </a:rPr>
              <a:t>ti</a:t>
            </a:r>
            <a:r>
              <a:rPr sz="2400" u="heavy" spc="-10" dirty="0">
                <a:latin typeface="Calibri"/>
                <a:cs typeface="Calibri"/>
              </a:rPr>
              <a:t>o</a:t>
            </a:r>
            <a:r>
              <a:rPr sz="2400" u="heavy" spc="-5" dirty="0">
                <a:latin typeface="Calibri"/>
                <a:cs typeface="Calibri"/>
              </a:rPr>
              <a:t>n: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072388" y="5418010"/>
            <a:ext cx="563880" cy="695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179705">
              <a:lnSpc>
                <a:spcPct val="100000"/>
              </a:lnSpc>
            </a:pPr>
            <a:r>
              <a:rPr sz="2400" u="heavy" spc="-5" dirty="0">
                <a:latin typeface="Calibri"/>
                <a:cs typeface="Calibri"/>
              </a:rPr>
              <a:t>A</a:t>
            </a:r>
            <a:r>
              <a:rPr sz="2400" spc="-5" dirty="0">
                <a:latin typeface="Calibri"/>
                <a:cs typeface="Calibri"/>
              </a:rPr>
              <a:t> 0.25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520188" y="5418010"/>
            <a:ext cx="410209" cy="695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109220">
              <a:lnSpc>
                <a:spcPct val="100000"/>
              </a:lnSpc>
            </a:pPr>
            <a:r>
              <a:rPr sz="2400" u="heavy" spc="-5" dirty="0">
                <a:latin typeface="Calibri"/>
                <a:cs typeface="Calibri"/>
              </a:rPr>
              <a:t>B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1.0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833876" y="5418010"/>
            <a:ext cx="410209" cy="695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111125">
              <a:lnSpc>
                <a:spcPct val="100000"/>
              </a:lnSpc>
            </a:pPr>
            <a:r>
              <a:rPr sz="2400" u="heavy" dirty="0">
                <a:latin typeface="Calibri"/>
                <a:cs typeface="Calibri"/>
              </a:rPr>
              <a:t>C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0.0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122227" y="6098375"/>
            <a:ext cx="374459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Arial Narrow"/>
                <a:cs typeface="Arial Narrow"/>
              </a:rPr>
              <a:t>B</a:t>
            </a:r>
            <a:r>
              <a:rPr sz="2400" b="1" dirty="0">
                <a:latin typeface="Arial Narrow"/>
                <a:cs typeface="Arial Narrow"/>
              </a:rPr>
              <a:t>l</a:t>
            </a:r>
            <a:r>
              <a:rPr sz="2400" b="1" spc="-5" dirty="0">
                <a:latin typeface="Arial Narrow"/>
                <a:cs typeface="Arial Narrow"/>
              </a:rPr>
              <a:t>oc</a:t>
            </a:r>
            <a:r>
              <a:rPr sz="2400" b="1" dirty="0">
                <a:latin typeface="Arial Narrow"/>
                <a:cs typeface="Arial Narrow"/>
              </a:rPr>
              <a:t>k</a:t>
            </a:r>
            <a:r>
              <a:rPr sz="2400" b="1" spc="25" dirty="0">
                <a:latin typeface="Arial Narrow"/>
                <a:cs typeface="Arial Narrow"/>
              </a:rPr>
              <a:t> </a:t>
            </a:r>
            <a:r>
              <a:rPr sz="2400" b="1" spc="-5" dirty="0">
                <a:latin typeface="Arial Narrow"/>
                <a:cs typeface="Arial Narrow"/>
              </a:rPr>
              <a:t>s</a:t>
            </a:r>
            <a:r>
              <a:rPr sz="2400" b="1" dirty="0">
                <a:latin typeface="Arial Narrow"/>
                <a:cs typeface="Arial Narrow"/>
              </a:rPr>
              <a:t>ize</a:t>
            </a:r>
            <a:r>
              <a:rPr sz="2400" b="1" spc="10" dirty="0">
                <a:latin typeface="Arial Narrow"/>
                <a:cs typeface="Arial Narrow"/>
              </a:rPr>
              <a:t> </a:t>
            </a:r>
            <a:r>
              <a:rPr sz="2400" b="1" dirty="0">
                <a:latin typeface="Arial Narrow"/>
                <a:cs typeface="Arial Narrow"/>
              </a:rPr>
              <a:t>=</a:t>
            </a:r>
            <a:r>
              <a:rPr sz="2400" b="1" spc="5" dirty="0">
                <a:latin typeface="Arial Narrow"/>
                <a:cs typeface="Arial Narrow"/>
              </a:rPr>
              <a:t> </a:t>
            </a:r>
            <a:r>
              <a:rPr sz="2400" b="1" spc="-5" dirty="0">
                <a:latin typeface="Arial Narrow"/>
                <a:cs typeface="Arial Narrow"/>
              </a:rPr>
              <a:t>32</a:t>
            </a:r>
            <a:r>
              <a:rPr sz="2400" b="1" dirty="0">
                <a:latin typeface="Arial Narrow"/>
                <a:cs typeface="Arial Narrow"/>
              </a:rPr>
              <a:t>B</a:t>
            </a:r>
            <a:r>
              <a:rPr sz="2400" b="1" spc="20" dirty="0">
                <a:latin typeface="Arial Narrow"/>
                <a:cs typeface="Arial Narrow"/>
              </a:rPr>
              <a:t> </a:t>
            </a:r>
            <a:r>
              <a:rPr sz="2400" b="1" dirty="0">
                <a:latin typeface="Arial Narrow"/>
                <a:cs typeface="Arial Narrow"/>
              </a:rPr>
              <a:t>(f</a:t>
            </a:r>
            <a:r>
              <a:rPr sz="2400" b="1" spc="-5" dirty="0">
                <a:latin typeface="Arial Narrow"/>
                <a:cs typeface="Arial Narrow"/>
              </a:rPr>
              <a:t>ou</a:t>
            </a:r>
            <a:r>
              <a:rPr sz="2400" b="1" dirty="0">
                <a:latin typeface="Arial Narrow"/>
                <a:cs typeface="Arial Narrow"/>
              </a:rPr>
              <a:t>r</a:t>
            </a:r>
            <a:r>
              <a:rPr sz="2400" b="1" spc="-30" dirty="0">
                <a:latin typeface="Arial Narrow"/>
                <a:cs typeface="Arial Narrow"/>
              </a:rPr>
              <a:t> </a:t>
            </a:r>
            <a:r>
              <a:rPr sz="2400" b="1" spc="-5" dirty="0">
                <a:latin typeface="Arial Narrow"/>
                <a:cs typeface="Arial Narrow"/>
              </a:rPr>
              <a:t>doub</a:t>
            </a:r>
            <a:r>
              <a:rPr sz="2400" b="1" dirty="0">
                <a:latin typeface="Arial Narrow"/>
                <a:cs typeface="Arial Narrow"/>
              </a:rPr>
              <a:t>l</a:t>
            </a:r>
            <a:r>
              <a:rPr sz="2400" b="1" spc="-5" dirty="0">
                <a:latin typeface="Arial Narrow"/>
                <a:cs typeface="Arial Narrow"/>
              </a:rPr>
              <a:t>es)</a:t>
            </a:r>
            <a:endParaRPr sz="24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74650" y="346210"/>
            <a:ext cx="7591425" cy="812531"/>
          </a:xfrm>
          <a:prstGeom prst="rect">
            <a:avLst/>
          </a:prstGeom>
        </p:spPr>
        <p:txBody>
          <a:bodyPr vert="horz" wrap="square" lIns="0" tIns="256033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zh-CN" altLang="en-US" spc="-20" dirty="0"/>
              <a:t>矩阵乘法</a:t>
            </a:r>
            <a:r>
              <a:rPr spc="-20" dirty="0"/>
              <a:t>(</a:t>
            </a:r>
            <a:r>
              <a:rPr dirty="0">
                <a:latin typeface="Courier New"/>
                <a:cs typeface="Courier New"/>
              </a:rPr>
              <a:t>jik</a:t>
            </a:r>
            <a:r>
              <a:rPr spc="-5" dirty="0"/>
              <a:t>)</a:t>
            </a:r>
          </a:p>
        </p:txBody>
      </p:sp>
      <p:sp>
        <p:nvSpPr>
          <p:cNvPr id="4" name="object 4"/>
          <p:cNvSpPr/>
          <p:nvPr/>
        </p:nvSpPr>
        <p:spPr>
          <a:xfrm>
            <a:off x="304800" y="1784604"/>
            <a:ext cx="4864607" cy="297789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63652" y="1694700"/>
            <a:ext cx="4773167" cy="313485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568950" y="2654300"/>
            <a:ext cx="596900" cy="520700"/>
          </a:xfrm>
          <a:custGeom>
            <a:avLst/>
            <a:gdLst/>
            <a:ahLst/>
            <a:cxnLst/>
            <a:rect l="l" t="t" r="r" b="b"/>
            <a:pathLst>
              <a:path w="596900" h="520700">
                <a:moveTo>
                  <a:pt x="0" y="0"/>
                </a:moveTo>
                <a:lnTo>
                  <a:pt x="596900" y="0"/>
                </a:lnTo>
                <a:lnTo>
                  <a:pt x="596900" y="520700"/>
                </a:lnTo>
                <a:lnTo>
                  <a:pt x="0" y="5207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788150" y="2654300"/>
            <a:ext cx="596900" cy="520700"/>
          </a:xfrm>
          <a:custGeom>
            <a:avLst/>
            <a:gdLst/>
            <a:ahLst/>
            <a:cxnLst/>
            <a:rect l="l" t="t" r="r" b="b"/>
            <a:pathLst>
              <a:path w="596900" h="520700">
                <a:moveTo>
                  <a:pt x="0" y="0"/>
                </a:moveTo>
                <a:lnTo>
                  <a:pt x="596900" y="0"/>
                </a:lnTo>
                <a:lnTo>
                  <a:pt x="596900" y="520700"/>
                </a:lnTo>
                <a:lnTo>
                  <a:pt x="0" y="5207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778500" y="3313938"/>
            <a:ext cx="172720" cy="28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dirty="0">
                <a:latin typeface="Calibri"/>
                <a:cs typeface="Calibri"/>
              </a:rPr>
              <a:t>A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997848" y="3313938"/>
            <a:ext cx="163830" cy="28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dirty="0">
                <a:latin typeface="Calibri"/>
                <a:cs typeface="Calibri"/>
              </a:rPr>
              <a:t>B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155096" y="3313938"/>
            <a:ext cx="161290" cy="28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dirty="0">
                <a:latin typeface="Calibri"/>
                <a:cs typeface="Calibri"/>
              </a:rPr>
              <a:t>C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010400" y="2660650"/>
            <a:ext cx="0" cy="508000"/>
          </a:xfrm>
          <a:custGeom>
            <a:avLst/>
            <a:gdLst/>
            <a:ahLst/>
            <a:cxnLst/>
            <a:rect l="l" t="t" r="r" b="b"/>
            <a:pathLst>
              <a:path h="508000">
                <a:moveTo>
                  <a:pt x="0" y="0"/>
                </a:moveTo>
                <a:lnTo>
                  <a:pt x="0" y="508000"/>
                </a:lnTo>
              </a:path>
            </a:pathLst>
          </a:custGeom>
          <a:ln w="5715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575300" y="3028950"/>
            <a:ext cx="584200" cy="0"/>
          </a:xfrm>
          <a:custGeom>
            <a:avLst/>
            <a:gdLst/>
            <a:ahLst/>
            <a:cxnLst/>
            <a:rect l="l" t="t" r="r" b="b"/>
            <a:pathLst>
              <a:path w="584200">
                <a:moveTo>
                  <a:pt x="0" y="0"/>
                </a:moveTo>
                <a:lnTo>
                  <a:pt x="584200" y="0"/>
                </a:lnTo>
              </a:path>
            </a:pathLst>
          </a:custGeom>
          <a:ln w="5715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6235700" y="2932938"/>
            <a:ext cx="428625" cy="28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dirty="0">
                <a:latin typeface="Calibri"/>
                <a:cs typeface="Calibri"/>
              </a:rPr>
              <a:t>(</a:t>
            </a:r>
            <a:r>
              <a:rPr sz="2000" spc="-5" dirty="0">
                <a:latin typeface="Calibri"/>
                <a:cs typeface="Calibri"/>
              </a:rPr>
              <a:t>i</a:t>
            </a:r>
            <a:r>
              <a:rPr sz="2000" dirty="0">
                <a:latin typeface="Calibri"/>
                <a:cs typeface="Calibri"/>
              </a:rPr>
              <a:t>,</a:t>
            </a:r>
            <a:r>
              <a:rPr sz="2000" spc="-5" dirty="0">
                <a:latin typeface="Calibri"/>
                <a:cs typeface="Calibri"/>
              </a:rPr>
              <a:t>*</a:t>
            </a:r>
            <a:r>
              <a:rPr sz="2000" dirty="0">
                <a:latin typeface="Calibri"/>
                <a:cs typeface="Calibri"/>
              </a:rPr>
              <a:t>)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089900" y="2990850"/>
            <a:ext cx="50800" cy="0"/>
          </a:xfrm>
          <a:custGeom>
            <a:avLst/>
            <a:gdLst/>
            <a:ahLst/>
            <a:cxnLst/>
            <a:rect l="l" t="t" r="r" b="b"/>
            <a:pathLst>
              <a:path w="50800">
                <a:moveTo>
                  <a:pt x="0" y="0"/>
                </a:moveTo>
                <a:lnTo>
                  <a:pt x="50800" y="0"/>
                </a:lnTo>
              </a:path>
            </a:pathLst>
          </a:custGeom>
          <a:ln w="508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8089900" y="2965450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50800" y="0"/>
                </a:lnTo>
                <a:lnTo>
                  <a:pt x="508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ln w="5715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5626211" y="1866243"/>
            <a:ext cx="1651000" cy="813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5" dirty="0">
                <a:latin typeface="Calibri"/>
                <a:cs typeface="Calibri"/>
              </a:rPr>
              <a:t>I</a:t>
            </a:r>
            <a:r>
              <a:rPr sz="2000" dirty="0">
                <a:latin typeface="Calibri"/>
                <a:cs typeface="Calibri"/>
              </a:rPr>
              <a:t>nn</a:t>
            </a:r>
            <a:r>
              <a:rPr sz="2000" spc="-5" dirty="0">
                <a:latin typeface="Calibri"/>
                <a:cs typeface="Calibri"/>
              </a:rPr>
              <a:t>e</a:t>
            </a:r>
            <a:r>
              <a:rPr sz="2000" dirty="0">
                <a:latin typeface="Calibri"/>
                <a:cs typeface="Calibri"/>
              </a:rPr>
              <a:t>r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loo</a:t>
            </a:r>
            <a:r>
              <a:rPr sz="2000" dirty="0">
                <a:latin typeface="Calibri"/>
                <a:cs typeface="Calibri"/>
              </a:rPr>
              <a:t>p:</a:t>
            </a:r>
            <a:endParaRPr sz="2000">
              <a:latin typeface="Calibri"/>
              <a:cs typeface="Calibri"/>
            </a:endParaRPr>
          </a:p>
          <a:p>
            <a:pPr marR="5080" algn="r">
              <a:lnSpc>
                <a:spcPct val="100000"/>
              </a:lnSpc>
              <a:spcBef>
                <a:spcPts val="1795"/>
              </a:spcBef>
            </a:pPr>
            <a:r>
              <a:rPr sz="2000" dirty="0">
                <a:latin typeface="Calibri"/>
                <a:cs typeface="Calibri"/>
              </a:rPr>
              <a:t>(</a:t>
            </a:r>
            <a:r>
              <a:rPr sz="2000" spc="-5" dirty="0">
                <a:latin typeface="Calibri"/>
                <a:cs typeface="Calibri"/>
              </a:rPr>
              <a:t>*</a:t>
            </a:r>
            <a:r>
              <a:rPr sz="2000" dirty="0">
                <a:latin typeface="Calibri"/>
                <a:cs typeface="Calibri"/>
              </a:rPr>
              <a:t>,j)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931150" y="2654300"/>
            <a:ext cx="596900" cy="5207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ct val="100000"/>
              </a:lnSpc>
            </a:pPr>
            <a:r>
              <a:rPr sz="2000" dirty="0">
                <a:latin typeface="Calibri"/>
                <a:cs typeface="Calibri"/>
              </a:rPr>
              <a:t>(</a:t>
            </a:r>
            <a:r>
              <a:rPr sz="2000" spc="-5" dirty="0">
                <a:latin typeface="Calibri"/>
                <a:cs typeface="Calibri"/>
              </a:rPr>
              <a:t>i</a:t>
            </a:r>
            <a:r>
              <a:rPr sz="2000" dirty="0">
                <a:latin typeface="Calibri"/>
                <a:cs typeface="Calibri"/>
              </a:rPr>
              <a:t>,j)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413951" y="4323772"/>
            <a:ext cx="1016000" cy="28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35" dirty="0">
                <a:latin typeface="Calibri"/>
                <a:cs typeface="Calibri"/>
              </a:rPr>
              <a:t>R</a:t>
            </a:r>
            <a:r>
              <a:rPr sz="2000" spc="-15" dirty="0">
                <a:latin typeface="Calibri"/>
                <a:cs typeface="Calibri"/>
              </a:rPr>
              <a:t>o</a:t>
            </a:r>
            <a:r>
              <a:rPr sz="2000" spc="-10" dirty="0">
                <a:latin typeface="Calibri"/>
                <a:cs typeface="Calibri"/>
              </a:rPr>
              <a:t>w</a:t>
            </a:r>
            <a:r>
              <a:rPr sz="2000" spc="-5" dirty="0">
                <a:latin typeface="Calibri"/>
                <a:cs typeface="Calibri"/>
              </a:rPr>
              <a:t>-wise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891212" y="3644900"/>
            <a:ext cx="0" cy="563880"/>
          </a:xfrm>
          <a:custGeom>
            <a:avLst/>
            <a:gdLst/>
            <a:ahLst/>
            <a:cxnLst/>
            <a:rect l="l" t="t" r="r" b="b"/>
            <a:pathLst>
              <a:path h="563879">
                <a:moveTo>
                  <a:pt x="0" y="563562"/>
                </a:moveTo>
                <a:lnTo>
                  <a:pt x="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853116" y="3581398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0" y="76199"/>
                </a:lnTo>
                <a:lnTo>
                  <a:pt x="76200" y="76199"/>
                </a:lnTo>
                <a:lnTo>
                  <a:pt x="381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6618527" y="4323588"/>
            <a:ext cx="902335" cy="584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7804" marR="5080" indent="-205740">
              <a:lnSpc>
                <a:spcPct val="100000"/>
              </a:lnSpc>
            </a:pPr>
            <a:r>
              <a:rPr sz="2000" spc="-5" dirty="0">
                <a:latin typeface="Calibri"/>
                <a:cs typeface="Calibri"/>
              </a:rPr>
              <a:t>Col</a:t>
            </a:r>
            <a:r>
              <a:rPr sz="2000" dirty="0">
                <a:latin typeface="Calibri"/>
                <a:cs typeface="Calibri"/>
              </a:rPr>
              <a:t>u</a:t>
            </a:r>
            <a:r>
              <a:rPr sz="2000" spc="-5" dirty="0">
                <a:latin typeface="Calibri"/>
                <a:cs typeface="Calibri"/>
              </a:rPr>
              <a:t>m</a:t>
            </a:r>
            <a:r>
              <a:rPr sz="2000" dirty="0">
                <a:latin typeface="Calibri"/>
                <a:cs typeface="Calibri"/>
              </a:rPr>
              <a:t>n- </a:t>
            </a:r>
            <a:r>
              <a:rPr sz="2000" spc="-5" dirty="0">
                <a:latin typeface="Calibri"/>
                <a:cs typeface="Calibri"/>
              </a:rPr>
              <a:t>wise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7092951" y="3644900"/>
            <a:ext cx="0" cy="563880"/>
          </a:xfrm>
          <a:custGeom>
            <a:avLst/>
            <a:gdLst/>
            <a:ahLst/>
            <a:cxnLst/>
            <a:rect l="l" t="t" r="r" b="b"/>
            <a:pathLst>
              <a:path h="563879">
                <a:moveTo>
                  <a:pt x="0" y="563562"/>
                </a:moveTo>
                <a:lnTo>
                  <a:pt x="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7054855" y="3581398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0" y="76199"/>
                </a:lnTo>
                <a:lnTo>
                  <a:pt x="76200" y="76199"/>
                </a:lnTo>
                <a:lnTo>
                  <a:pt x="381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7965497" y="4323588"/>
            <a:ext cx="564515" cy="28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dirty="0">
                <a:latin typeface="Calibri"/>
                <a:cs typeface="Calibri"/>
              </a:rPr>
              <a:t>F</a:t>
            </a:r>
            <a:r>
              <a:rPr sz="2000" spc="-5" dirty="0">
                <a:latin typeface="Calibri"/>
                <a:cs typeface="Calibri"/>
              </a:rPr>
              <a:t>i</a:t>
            </a:r>
            <a:r>
              <a:rPr sz="2000" spc="-55" dirty="0">
                <a:latin typeface="Calibri"/>
                <a:cs typeface="Calibri"/>
              </a:rPr>
              <a:t>x</a:t>
            </a:r>
            <a:r>
              <a:rPr sz="2000" spc="-5" dirty="0">
                <a:latin typeface="Calibri"/>
                <a:cs typeface="Calibri"/>
              </a:rPr>
              <a:t>e</a:t>
            </a:r>
            <a:r>
              <a:rPr sz="2000" dirty="0">
                <a:latin typeface="Calibri"/>
                <a:cs typeface="Calibri"/>
              </a:rPr>
              <a:t>d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8223251" y="3651250"/>
            <a:ext cx="0" cy="563880"/>
          </a:xfrm>
          <a:custGeom>
            <a:avLst/>
            <a:gdLst/>
            <a:ahLst/>
            <a:cxnLst/>
            <a:rect l="l" t="t" r="r" b="b"/>
            <a:pathLst>
              <a:path h="563879">
                <a:moveTo>
                  <a:pt x="0" y="563562"/>
                </a:moveTo>
                <a:lnTo>
                  <a:pt x="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8185155" y="3587748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0" y="76199"/>
                </a:lnTo>
                <a:lnTo>
                  <a:pt x="76200" y="76199"/>
                </a:lnTo>
                <a:lnTo>
                  <a:pt x="381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300037" y="1779587"/>
            <a:ext cx="4721225" cy="2834640"/>
          </a:xfrm>
          <a:prstGeom prst="rect">
            <a:avLst/>
          </a:prstGeom>
          <a:solidFill>
            <a:srgbClr val="F6F5BD"/>
          </a:solidFill>
          <a:ln w="127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83820">
              <a:lnSpc>
                <a:spcPct val="100000"/>
              </a:lnSpc>
              <a:tabLst>
                <a:tab pos="1040765" algn="l"/>
              </a:tabLst>
            </a:pPr>
            <a:r>
              <a:rPr sz="1800" b="1" dirty="0">
                <a:latin typeface="Courier New"/>
                <a:cs typeface="Courier New"/>
              </a:rPr>
              <a:t>/*</a:t>
            </a:r>
            <a:r>
              <a:rPr sz="1800" b="1" spc="-1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j</a:t>
            </a:r>
            <a:r>
              <a:rPr sz="1800" b="1" spc="-15" dirty="0">
                <a:latin typeface="Courier New"/>
                <a:cs typeface="Courier New"/>
              </a:rPr>
              <a:t>i</a:t>
            </a:r>
            <a:r>
              <a:rPr sz="1800" b="1" dirty="0">
                <a:latin typeface="Courier New"/>
                <a:cs typeface="Courier New"/>
              </a:rPr>
              <a:t>k	</a:t>
            </a:r>
            <a:r>
              <a:rPr sz="1800" b="1" spc="-15" dirty="0">
                <a:latin typeface="Courier New"/>
                <a:cs typeface="Courier New"/>
              </a:rPr>
              <a:t>*/</a:t>
            </a:r>
            <a:endParaRPr sz="1800">
              <a:latin typeface="Courier New"/>
              <a:cs typeface="Courier New"/>
            </a:endParaRPr>
          </a:p>
          <a:p>
            <a:pPr marL="358140" marR="1477645" indent="-274320">
              <a:lnSpc>
                <a:spcPct val="114999"/>
              </a:lnSpc>
            </a:pPr>
            <a:r>
              <a:rPr sz="1800" b="1" dirty="0">
                <a:latin typeface="Courier New"/>
                <a:cs typeface="Courier New"/>
              </a:rPr>
              <a:t>for</a:t>
            </a:r>
            <a:r>
              <a:rPr sz="1800" b="1" spc="-15" dirty="0">
                <a:latin typeface="Courier New"/>
                <a:cs typeface="Courier New"/>
              </a:rPr>
              <a:t> (</a:t>
            </a:r>
            <a:r>
              <a:rPr sz="1800" b="1" dirty="0">
                <a:latin typeface="Courier New"/>
                <a:cs typeface="Courier New"/>
              </a:rPr>
              <a:t>j=</a:t>
            </a:r>
            <a:r>
              <a:rPr sz="1800" b="1" spc="-15" dirty="0">
                <a:latin typeface="Courier New"/>
                <a:cs typeface="Courier New"/>
              </a:rPr>
              <a:t>0</a:t>
            </a:r>
            <a:r>
              <a:rPr sz="1800" b="1" dirty="0">
                <a:latin typeface="Courier New"/>
                <a:cs typeface="Courier New"/>
              </a:rPr>
              <a:t>;</a:t>
            </a:r>
            <a:r>
              <a:rPr sz="1800" b="1" spc="-15" dirty="0">
                <a:latin typeface="Courier New"/>
                <a:cs typeface="Courier New"/>
              </a:rPr>
              <a:t> j</a:t>
            </a:r>
            <a:r>
              <a:rPr sz="1800" b="1" dirty="0">
                <a:latin typeface="Courier New"/>
                <a:cs typeface="Courier New"/>
              </a:rPr>
              <a:t>&lt;n;</a:t>
            </a:r>
            <a:r>
              <a:rPr sz="1800" b="1" spc="-15" dirty="0">
                <a:latin typeface="Courier New"/>
                <a:cs typeface="Courier New"/>
              </a:rPr>
              <a:t> j</a:t>
            </a:r>
            <a:r>
              <a:rPr sz="1800" b="1" dirty="0">
                <a:latin typeface="Courier New"/>
                <a:cs typeface="Courier New"/>
              </a:rPr>
              <a:t>++)</a:t>
            </a:r>
            <a:r>
              <a:rPr sz="1800" b="1" spc="-1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{ </a:t>
            </a:r>
            <a:r>
              <a:rPr sz="1800" b="1" spc="-15" dirty="0">
                <a:latin typeface="Courier New"/>
                <a:cs typeface="Courier New"/>
              </a:rPr>
              <a:t>f</a:t>
            </a:r>
            <a:r>
              <a:rPr sz="1800" b="1" dirty="0">
                <a:latin typeface="Courier New"/>
                <a:cs typeface="Courier New"/>
              </a:rPr>
              <a:t>or</a:t>
            </a:r>
            <a:r>
              <a:rPr sz="1800" b="1" spc="-1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(</a:t>
            </a:r>
            <a:r>
              <a:rPr sz="1800" b="1" spc="-15" dirty="0">
                <a:latin typeface="Courier New"/>
                <a:cs typeface="Courier New"/>
              </a:rPr>
              <a:t>i</a:t>
            </a:r>
            <a:r>
              <a:rPr sz="1800" b="1" dirty="0">
                <a:latin typeface="Courier New"/>
                <a:cs typeface="Courier New"/>
              </a:rPr>
              <a:t>=</a:t>
            </a:r>
            <a:r>
              <a:rPr sz="1800" b="1" spc="-15" dirty="0">
                <a:latin typeface="Courier New"/>
                <a:cs typeface="Courier New"/>
              </a:rPr>
              <a:t>0</a:t>
            </a:r>
            <a:r>
              <a:rPr sz="1800" b="1" dirty="0">
                <a:latin typeface="Courier New"/>
                <a:cs typeface="Courier New"/>
              </a:rPr>
              <a:t>;</a:t>
            </a:r>
            <a:r>
              <a:rPr sz="1800" b="1" spc="-1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i</a:t>
            </a:r>
            <a:r>
              <a:rPr sz="1800" b="1" spc="-15" dirty="0">
                <a:latin typeface="Courier New"/>
                <a:cs typeface="Courier New"/>
              </a:rPr>
              <a:t>&lt;</a:t>
            </a:r>
            <a:r>
              <a:rPr sz="1800" b="1" dirty="0">
                <a:latin typeface="Courier New"/>
                <a:cs typeface="Courier New"/>
              </a:rPr>
              <a:t>n;</a:t>
            </a:r>
            <a:r>
              <a:rPr sz="1800" b="1" spc="-1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i</a:t>
            </a:r>
            <a:r>
              <a:rPr sz="1800" b="1" spc="-15" dirty="0">
                <a:latin typeface="Courier New"/>
                <a:cs typeface="Courier New"/>
              </a:rPr>
              <a:t>+</a:t>
            </a:r>
            <a:r>
              <a:rPr sz="1800" b="1" dirty="0">
                <a:latin typeface="Courier New"/>
                <a:cs typeface="Courier New"/>
              </a:rPr>
              <a:t>+)</a:t>
            </a:r>
            <a:r>
              <a:rPr sz="1800" b="1" spc="-2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  <a:p>
            <a:pPr marL="630555">
              <a:lnSpc>
                <a:spcPct val="100000"/>
              </a:lnSpc>
              <a:spcBef>
                <a:spcPts val="320"/>
              </a:spcBef>
            </a:pPr>
            <a:r>
              <a:rPr sz="1800" b="1" spc="-15" dirty="0">
                <a:latin typeface="Courier New"/>
                <a:cs typeface="Courier New"/>
              </a:rPr>
              <a:t>s</a:t>
            </a:r>
            <a:r>
              <a:rPr sz="1800" b="1" dirty="0">
                <a:latin typeface="Courier New"/>
                <a:cs typeface="Courier New"/>
              </a:rPr>
              <a:t>um</a:t>
            </a:r>
            <a:r>
              <a:rPr sz="1800" b="1" spc="-1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=</a:t>
            </a:r>
            <a:r>
              <a:rPr sz="1800" b="1" spc="-15" dirty="0">
                <a:latin typeface="Courier New"/>
                <a:cs typeface="Courier New"/>
              </a:rPr>
              <a:t> 0</a:t>
            </a:r>
            <a:r>
              <a:rPr sz="1800" b="1" dirty="0">
                <a:latin typeface="Courier New"/>
                <a:cs typeface="Courier New"/>
              </a:rPr>
              <a:t>.0;</a:t>
            </a:r>
            <a:endParaRPr sz="1800">
              <a:latin typeface="Courier New"/>
              <a:cs typeface="Courier New"/>
            </a:endParaRPr>
          </a:p>
          <a:p>
            <a:pPr marL="630555">
              <a:lnSpc>
                <a:spcPct val="100000"/>
              </a:lnSpc>
              <a:spcBef>
                <a:spcPts val="320"/>
              </a:spcBef>
            </a:pPr>
            <a:r>
              <a:rPr sz="1800" b="1" spc="-15" dirty="0">
                <a:latin typeface="Courier New"/>
                <a:cs typeface="Courier New"/>
              </a:rPr>
              <a:t>f</a:t>
            </a:r>
            <a:r>
              <a:rPr sz="1800" b="1" dirty="0">
                <a:latin typeface="Courier New"/>
                <a:cs typeface="Courier New"/>
              </a:rPr>
              <a:t>or</a:t>
            </a:r>
            <a:r>
              <a:rPr sz="1800" b="1" spc="-1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(</a:t>
            </a:r>
            <a:r>
              <a:rPr sz="1800" b="1" spc="-15" dirty="0">
                <a:latin typeface="Courier New"/>
                <a:cs typeface="Courier New"/>
              </a:rPr>
              <a:t>k=</a:t>
            </a:r>
            <a:r>
              <a:rPr sz="1800" b="1" dirty="0">
                <a:latin typeface="Courier New"/>
                <a:cs typeface="Courier New"/>
              </a:rPr>
              <a:t>0;</a:t>
            </a:r>
            <a:r>
              <a:rPr sz="1800" b="1" spc="-1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k</a:t>
            </a:r>
            <a:r>
              <a:rPr sz="1800" b="1" spc="-15" dirty="0">
                <a:latin typeface="Courier New"/>
                <a:cs typeface="Courier New"/>
              </a:rPr>
              <a:t>&lt;</a:t>
            </a:r>
            <a:r>
              <a:rPr sz="1800" b="1" dirty="0">
                <a:latin typeface="Courier New"/>
                <a:cs typeface="Courier New"/>
              </a:rPr>
              <a:t>n;</a:t>
            </a:r>
            <a:r>
              <a:rPr sz="1800" b="1" spc="-1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k</a:t>
            </a:r>
            <a:r>
              <a:rPr sz="1800" b="1" spc="-15" dirty="0">
                <a:latin typeface="Courier New"/>
                <a:cs typeface="Courier New"/>
              </a:rPr>
              <a:t>++</a:t>
            </a:r>
            <a:r>
              <a:rPr sz="1800" b="1" dirty="0">
                <a:latin typeface="Courier New"/>
                <a:cs typeface="Courier New"/>
              </a:rPr>
              <a:t>)</a:t>
            </a:r>
            <a:endParaRPr sz="1800">
              <a:latin typeface="Courier New"/>
              <a:cs typeface="Courier New"/>
            </a:endParaRPr>
          </a:p>
          <a:p>
            <a:pPr marL="630555" marR="384810" indent="272415">
              <a:lnSpc>
                <a:spcPct val="114999"/>
              </a:lnSpc>
              <a:tabLst>
                <a:tab pos="1858645" algn="l"/>
              </a:tabLst>
            </a:pPr>
            <a:r>
              <a:rPr sz="1800" b="1" dirty="0">
                <a:solidFill>
                  <a:srgbClr val="C00000"/>
                </a:solidFill>
                <a:latin typeface="Courier New"/>
                <a:cs typeface="Courier New"/>
              </a:rPr>
              <a:t>s</a:t>
            </a:r>
            <a:r>
              <a:rPr sz="1800" b="1" spc="-15" dirty="0">
                <a:solidFill>
                  <a:srgbClr val="C00000"/>
                </a:solidFill>
                <a:latin typeface="Courier New"/>
                <a:cs typeface="Courier New"/>
              </a:rPr>
              <a:t>u</a:t>
            </a:r>
            <a:r>
              <a:rPr sz="1800" b="1" dirty="0">
                <a:solidFill>
                  <a:srgbClr val="C00000"/>
                </a:solidFill>
                <a:latin typeface="Courier New"/>
                <a:cs typeface="Courier New"/>
              </a:rPr>
              <a:t>m</a:t>
            </a:r>
            <a:r>
              <a:rPr sz="1800" b="1" spc="-15" dirty="0">
                <a:solidFill>
                  <a:srgbClr val="C00000"/>
                </a:solidFill>
                <a:latin typeface="Courier New"/>
                <a:cs typeface="Courier New"/>
              </a:rPr>
              <a:t> +</a:t>
            </a:r>
            <a:r>
              <a:rPr sz="1800" b="1" dirty="0">
                <a:solidFill>
                  <a:srgbClr val="C00000"/>
                </a:solidFill>
                <a:latin typeface="Courier New"/>
                <a:cs typeface="Courier New"/>
              </a:rPr>
              <a:t>=	</a:t>
            </a:r>
            <a:r>
              <a:rPr sz="1800" b="1" spc="-15" dirty="0">
                <a:solidFill>
                  <a:srgbClr val="C00000"/>
                </a:solidFill>
                <a:latin typeface="Courier New"/>
                <a:cs typeface="Courier New"/>
              </a:rPr>
              <a:t>a</a:t>
            </a:r>
            <a:r>
              <a:rPr sz="1800" b="1" dirty="0">
                <a:solidFill>
                  <a:srgbClr val="C00000"/>
                </a:solidFill>
                <a:latin typeface="Courier New"/>
                <a:cs typeface="Courier New"/>
              </a:rPr>
              <a:t>[</a:t>
            </a:r>
            <a:r>
              <a:rPr sz="1800" b="1" spc="-15" dirty="0">
                <a:solidFill>
                  <a:srgbClr val="C00000"/>
                </a:solidFill>
                <a:latin typeface="Courier New"/>
                <a:cs typeface="Courier New"/>
              </a:rPr>
              <a:t>i</a:t>
            </a:r>
            <a:r>
              <a:rPr sz="1800" b="1" dirty="0">
                <a:solidFill>
                  <a:srgbClr val="C00000"/>
                </a:solidFill>
                <a:latin typeface="Courier New"/>
                <a:cs typeface="Courier New"/>
              </a:rPr>
              <a:t>][</a:t>
            </a:r>
            <a:r>
              <a:rPr sz="1800" b="1" spc="-15" dirty="0">
                <a:solidFill>
                  <a:srgbClr val="C00000"/>
                </a:solidFill>
                <a:latin typeface="Courier New"/>
                <a:cs typeface="Courier New"/>
              </a:rPr>
              <a:t>k</a:t>
            </a:r>
            <a:r>
              <a:rPr sz="1800" b="1" dirty="0">
                <a:solidFill>
                  <a:srgbClr val="C00000"/>
                </a:solidFill>
                <a:latin typeface="Courier New"/>
                <a:cs typeface="Courier New"/>
              </a:rPr>
              <a:t>]</a:t>
            </a:r>
            <a:r>
              <a:rPr sz="1800" b="1" spc="-1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ourier New"/>
                <a:cs typeface="Courier New"/>
              </a:rPr>
              <a:t>*</a:t>
            </a:r>
            <a:r>
              <a:rPr sz="1800" b="1" spc="-1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ourier New"/>
                <a:cs typeface="Courier New"/>
              </a:rPr>
              <a:t>b</a:t>
            </a:r>
            <a:r>
              <a:rPr sz="1800" b="1" spc="-15" dirty="0">
                <a:solidFill>
                  <a:srgbClr val="C00000"/>
                </a:solidFill>
                <a:latin typeface="Courier New"/>
                <a:cs typeface="Courier New"/>
              </a:rPr>
              <a:t>[</a:t>
            </a:r>
            <a:r>
              <a:rPr sz="1800" b="1" dirty="0">
                <a:solidFill>
                  <a:srgbClr val="C00000"/>
                </a:solidFill>
                <a:latin typeface="Courier New"/>
                <a:cs typeface="Courier New"/>
              </a:rPr>
              <a:t>k</a:t>
            </a:r>
            <a:r>
              <a:rPr sz="1800" b="1" spc="-15" dirty="0">
                <a:solidFill>
                  <a:srgbClr val="C00000"/>
                </a:solidFill>
                <a:latin typeface="Courier New"/>
                <a:cs typeface="Courier New"/>
              </a:rPr>
              <a:t>]</a:t>
            </a:r>
            <a:r>
              <a:rPr sz="1800" b="1" dirty="0">
                <a:solidFill>
                  <a:srgbClr val="C00000"/>
                </a:solidFill>
                <a:latin typeface="Courier New"/>
                <a:cs typeface="Courier New"/>
              </a:rPr>
              <a:t>[j</a:t>
            </a:r>
            <a:r>
              <a:rPr sz="1800" b="1" spc="-15" dirty="0">
                <a:solidFill>
                  <a:srgbClr val="C00000"/>
                </a:solidFill>
                <a:latin typeface="Courier New"/>
                <a:cs typeface="Courier New"/>
              </a:rPr>
              <a:t>]</a:t>
            </a:r>
            <a:r>
              <a:rPr sz="1800" b="1" dirty="0">
                <a:solidFill>
                  <a:srgbClr val="C00000"/>
                </a:solidFill>
                <a:latin typeface="Courier New"/>
                <a:cs typeface="Courier New"/>
              </a:rPr>
              <a:t>; </a:t>
            </a:r>
            <a:r>
              <a:rPr sz="1800" b="1" spc="-15" dirty="0">
                <a:latin typeface="Courier New"/>
                <a:cs typeface="Courier New"/>
              </a:rPr>
              <a:t>c</a:t>
            </a:r>
            <a:r>
              <a:rPr sz="1800" b="1" dirty="0">
                <a:latin typeface="Courier New"/>
                <a:cs typeface="Courier New"/>
              </a:rPr>
              <a:t>[i</a:t>
            </a:r>
            <a:r>
              <a:rPr sz="1800" b="1" spc="-15" dirty="0">
                <a:latin typeface="Courier New"/>
                <a:cs typeface="Courier New"/>
              </a:rPr>
              <a:t>]</a:t>
            </a:r>
            <a:r>
              <a:rPr sz="1800" b="1" dirty="0">
                <a:latin typeface="Courier New"/>
                <a:cs typeface="Courier New"/>
              </a:rPr>
              <a:t>[</a:t>
            </a:r>
            <a:r>
              <a:rPr sz="1800" b="1" spc="-15" dirty="0">
                <a:latin typeface="Courier New"/>
                <a:cs typeface="Courier New"/>
              </a:rPr>
              <a:t>j</a:t>
            </a:r>
            <a:r>
              <a:rPr sz="1800" b="1" dirty="0">
                <a:latin typeface="Courier New"/>
                <a:cs typeface="Courier New"/>
              </a:rPr>
              <a:t>]</a:t>
            </a:r>
            <a:r>
              <a:rPr sz="1800" b="1" spc="-1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=</a:t>
            </a:r>
            <a:r>
              <a:rPr sz="1800" b="1" spc="-1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s</a:t>
            </a:r>
            <a:r>
              <a:rPr sz="1800" b="1" spc="-15" dirty="0">
                <a:latin typeface="Courier New"/>
                <a:cs typeface="Courier New"/>
              </a:rPr>
              <a:t>um</a:t>
            </a:r>
            <a:endParaRPr sz="1800">
              <a:latin typeface="Courier New"/>
              <a:cs typeface="Courier New"/>
            </a:endParaRPr>
          </a:p>
          <a:p>
            <a:pPr marL="358140">
              <a:lnSpc>
                <a:spcPct val="100000"/>
              </a:lnSpc>
              <a:spcBef>
                <a:spcPts val="320"/>
              </a:spcBef>
            </a:pPr>
            <a:r>
              <a:rPr sz="1800" b="1" dirty="0"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  <a:p>
            <a:pPr marL="83820">
              <a:lnSpc>
                <a:spcPct val="100000"/>
              </a:lnSpc>
              <a:spcBef>
                <a:spcPts val="440"/>
              </a:spcBef>
              <a:tabLst>
                <a:tab pos="2906395" algn="l"/>
              </a:tabLst>
            </a:pPr>
            <a:r>
              <a:rPr sz="2700" b="1" baseline="3086" dirty="0">
                <a:latin typeface="Courier New"/>
                <a:cs typeface="Courier New"/>
              </a:rPr>
              <a:t>}	</a:t>
            </a:r>
            <a:r>
              <a:rPr sz="1800" b="1" i="1" dirty="0">
                <a:solidFill>
                  <a:srgbClr val="808080"/>
                </a:solidFill>
                <a:latin typeface="Courier New"/>
                <a:cs typeface="Courier New"/>
              </a:rPr>
              <a:t>ma</a:t>
            </a:r>
            <a:r>
              <a:rPr sz="1800" b="1" i="1" spc="-15" dirty="0">
                <a:solidFill>
                  <a:srgbClr val="808080"/>
                </a:solidFill>
                <a:latin typeface="Courier New"/>
                <a:cs typeface="Courier New"/>
              </a:rPr>
              <a:t>t</a:t>
            </a:r>
            <a:r>
              <a:rPr sz="1800" b="1" i="1" dirty="0">
                <a:solidFill>
                  <a:srgbClr val="808080"/>
                </a:solidFill>
                <a:latin typeface="Courier New"/>
                <a:cs typeface="Courier New"/>
              </a:rPr>
              <a:t>m</a:t>
            </a:r>
            <a:r>
              <a:rPr sz="1800" b="1" i="1" spc="-15" dirty="0">
                <a:solidFill>
                  <a:srgbClr val="808080"/>
                </a:solidFill>
                <a:latin typeface="Courier New"/>
                <a:cs typeface="Courier New"/>
              </a:rPr>
              <a:t>u</a:t>
            </a:r>
            <a:r>
              <a:rPr sz="1800" b="1" i="1" dirty="0">
                <a:solidFill>
                  <a:srgbClr val="808080"/>
                </a:solidFill>
                <a:latin typeface="Courier New"/>
                <a:cs typeface="Courier New"/>
              </a:rPr>
              <a:t>lt</a:t>
            </a:r>
            <a:r>
              <a:rPr sz="1800" b="1" i="1" spc="-15" dirty="0">
                <a:solidFill>
                  <a:srgbClr val="808080"/>
                </a:solidFill>
                <a:latin typeface="Courier New"/>
                <a:cs typeface="Courier New"/>
              </a:rPr>
              <a:t>/</a:t>
            </a:r>
            <a:r>
              <a:rPr sz="1800" b="1" i="1" dirty="0">
                <a:solidFill>
                  <a:srgbClr val="808080"/>
                </a:solidFill>
                <a:latin typeface="Courier New"/>
                <a:cs typeface="Courier New"/>
              </a:rPr>
              <a:t>m</a:t>
            </a:r>
            <a:r>
              <a:rPr sz="1800" b="1" i="1" spc="-15" dirty="0">
                <a:solidFill>
                  <a:srgbClr val="808080"/>
                </a:solidFill>
                <a:latin typeface="Courier New"/>
                <a:cs typeface="Courier New"/>
              </a:rPr>
              <a:t>m.c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22287" y="4957000"/>
            <a:ext cx="3897629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u="heavy" dirty="0">
                <a:latin typeface="Calibri"/>
                <a:cs typeface="Calibri"/>
              </a:rPr>
              <a:t>Mi</a:t>
            </a:r>
            <a:r>
              <a:rPr sz="2400" u="heavy" spc="-10" dirty="0">
                <a:latin typeface="Calibri"/>
                <a:cs typeface="Calibri"/>
              </a:rPr>
              <a:t>ss</a:t>
            </a:r>
            <a:r>
              <a:rPr sz="2400" u="heavy" dirty="0">
                <a:latin typeface="Calibri"/>
                <a:cs typeface="Calibri"/>
              </a:rPr>
              <a:t>es</a:t>
            </a:r>
            <a:r>
              <a:rPr sz="2400" u="heavy" spc="-10" dirty="0">
                <a:latin typeface="Calibri"/>
                <a:cs typeface="Calibri"/>
              </a:rPr>
              <a:t> </a:t>
            </a:r>
            <a:r>
              <a:rPr sz="2400" u="heavy" spc="-5" dirty="0">
                <a:latin typeface="Calibri"/>
                <a:cs typeface="Calibri"/>
              </a:rPr>
              <a:t>p</a:t>
            </a:r>
            <a:r>
              <a:rPr sz="2400" u="heavy" spc="5" dirty="0">
                <a:latin typeface="Calibri"/>
                <a:cs typeface="Calibri"/>
              </a:rPr>
              <a:t>e</a:t>
            </a:r>
            <a:r>
              <a:rPr sz="2400" u="heavy" spc="-5" dirty="0">
                <a:latin typeface="Calibri"/>
                <a:cs typeface="Calibri"/>
              </a:rPr>
              <a:t>r</a:t>
            </a:r>
            <a:r>
              <a:rPr sz="2400" u="heavy" dirty="0">
                <a:latin typeface="Calibri"/>
                <a:cs typeface="Calibri"/>
              </a:rPr>
              <a:t> i</a:t>
            </a:r>
            <a:r>
              <a:rPr sz="2400" u="heavy" spc="-5" dirty="0">
                <a:latin typeface="Calibri"/>
                <a:cs typeface="Calibri"/>
              </a:rPr>
              <a:t>nn</a:t>
            </a:r>
            <a:r>
              <a:rPr sz="2400" u="heavy" spc="5" dirty="0">
                <a:latin typeface="Calibri"/>
                <a:cs typeface="Calibri"/>
              </a:rPr>
              <a:t>e</a:t>
            </a:r>
            <a:r>
              <a:rPr sz="2400" u="heavy" spc="-5" dirty="0">
                <a:latin typeface="Calibri"/>
                <a:cs typeface="Calibri"/>
              </a:rPr>
              <a:t>r</a:t>
            </a:r>
            <a:r>
              <a:rPr sz="2400" u="heavy" spc="-15" dirty="0">
                <a:latin typeface="Calibri"/>
                <a:cs typeface="Calibri"/>
              </a:rPr>
              <a:t> </a:t>
            </a:r>
            <a:r>
              <a:rPr sz="2400" u="heavy" dirty="0">
                <a:latin typeface="Calibri"/>
                <a:cs typeface="Calibri"/>
              </a:rPr>
              <a:t>l</a:t>
            </a:r>
            <a:r>
              <a:rPr sz="2400" u="heavy" spc="-10" dirty="0">
                <a:latin typeface="Calibri"/>
                <a:cs typeface="Calibri"/>
              </a:rPr>
              <a:t>oo</a:t>
            </a:r>
            <a:r>
              <a:rPr sz="2400" u="heavy" dirty="0">
                <a:latin typeface="Calibri"/>
                <a:cs typeface="Calibri"/>
              </a:rPr>
              <a:t>p</a:t>
            </a:r>
            <a:r>
              <a:rPr sz="2400" u="heavy" spc="5" dirty="0">
                <a:latin typeface="Calibri"/>
                <a:cs typeface="Calibri"/>
              </a:rPr>
              <a:t> </a:t>
            </a:r>
            <a:r>
              <a:rPr sz="2400" u="heavy" dirty="0">
                <a:latin typeface="Calibri"/>
                <a:cs typeface="Calibri"/>
              </a:rPr>
              <a:t>i</a:t>
            </a:r>
            <a:r>
              <a:rPr sz="2400" u="heavy" spc="-25" dirty="0">
                <a:latin typeface="Calibri"/>
                <a:cs typeface="Calibri"/>
              </a:rPr>
              <a:t>t</a:t>
            </a:r>
            <a:r>
              <a:rPr sz="2400" u="heavy" dirty="0">
                <a:latin typeface="Calibri"/>
                <a:cs typeface="Calibri"/>
              </a:rPr>
              <a:t>e</a:t>
            </a:r>
            <a:r>
              <a:rPr sz="2400" u="heavy" spc="-50" dirty="0">
                <a:latin typeface="Calibri"/>
                <a:cs typeface="Calibri"/>
              </a:rPr>
              <a:t>r</a:t>
            </a:r>
            <a:r>
              <a:rPr sz="2400" u="heavy" spc="-25" dirty="0">
                <a:latin typeface="Calibri"/>
                <a:cs typeface="Calibri"/>
              </a:rPr>
              <a:t>a</a:t>
            </a:r>
            <a:r>
              <a:rPr sz="2400" u="heavy" dirty="0">
                <a:latin typeface="Calibri"/>
                <a:cs typeface="Calibri"/>
              </a:rPr>
              <a:t>ti</a:t>
            </a:r>
            <a:r>
              <a:rPr sz="2400" u="heavy" spc="-10" dirty="0">
                <a:latin typeface="Calibri"/>
                <a:cs typeface="Calibri"/>
              </a:rPr>
              <a:t>o</a:t>
            </a:r>
            <a:r>
              <a:rPr sz="2400" u="heavy" spc="-5" dirty="0">
                <a:latin typeface="Calibri"/>
                <a:cs typeface="Calibri"/>
              </a:rPr>
              <a:t>n: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226375" y="5322760"/>
            <a:ext cx="563880" cy="695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179705">
              <a:lnSpc>
                <a:spcPct val="100000"/>
              </a:lnSpc>
            </a:pPr>
            <a:r>
              <a:rPr sz="2400" u="heavy" spc="-5" dirty="0">
                <a:latin typeface="Calibri"/>
                <a:cs typeface="Calibri"/>
              </a:rPr>
              <a:t>A</a:t>
            </a:r>
            <a:r>
              <a:rPr sz="2400" spc="-5" dirty="0">
                <a:latin typeface="Calibri"/>
                <a:cs typeface="Calibri"/>
              </a:rPr>
              <a:t> 0.25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674175" y="5322760"/>
            <a:ext cx="410209" cy="695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109220">
              <a:lnSpc>
                <a:spcPct val="100000"/>
              </a:lnSpc>
            </a:pPr>
            <a:r>
              <a:rPr sz="2400" u="heavy" spc="-5" dirty="0">
                <a:latin typeface="Calibri"/>
                <a:cs typeface="Calibri"/>
              </a:rPr>
              <a:t>B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1.0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987863" y="5322760"/>
            <a:ext cx="410209" cy="695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111125">
              <a:lnSpc>
                <a:spcPct val="100000"/>
              </a:lnSpc>
            </a:pPr>
            <a:r>
              <a:rPr sz="2400" u="heavy" dirty="0">
                <a:latin typeface="Calibri"/>
                <a:cs typeface="Calibri"/>
              </a:rPr>
              <a:t>C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0.0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122227" y="6098375"/>
            <a:ext cx="374459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Arial Narrow"/>
                <a:cs typeface="Arial Narrow"/>
              </a:rPr>
              <a:t>B</a:t>
            </a:r>
            <a:r>
              <a:rPr sz="2400" b="1" dirty="0">
                <a:latin typeface="Arial Narrow"/>
                <a:cs typeface="Arial Narrow"/>
              </a:rPr>
              <a:t>l</a:t>
            </a:r>
            <a:r>
              <a:rPr sz="2400" b="1" spc="-5" dirty="0">
                <a:latin typeface="Arial Narrow"/>
                <a:cs typeface="Arial Narrow"/>
              </a:rPr>
              <a:t>oc</a:t>
            </a:r>
            <a:r>
              <a:rPr sz="2400" b="1" dirty="0">
                <a:latin typeface="Arial Narrow"/>
                <a:cs typeface="Arial Narrow"/>
              </a:rPr>
              <a:t>k</a:t>
            </a:r>
            <a:r>
              <a:rPr sz="2400" b="1" spc="25" dirty="0">
                <a:latin typeface="Arial Narrow"/>
                <a:cs typeface="Arial Narrow"/>
              </a:rPr>
              <a:t> </a:t>
            </a:r>
            <a:r>
              <a:rPr sz="2400" b="1" spc="-5" dirty="0">
                <a:latin typeface="Arial Narrow"/>
                <a:cs typeface="Arial Narrow"/>
              </a:rPr>
              <a:t>s</a:t>
            </a:r>
            <a:r>
              <a:rPr sz="2400" b="1" dirty="0">
                <a:latin typeface="Arial Narrow"/>
                <a:cs typeface="Arial Narrow"/>
              </a:rPr>
              <a:t>ize</a:t>
            </a:r>
            <a:r>
              <a:rPr sz="2400" b="1" spc="10" dirty="0">
                <a:latin typeface="Arial Narrow"/>
                <a:cs typeface="Arial Narrow"/>
              </a:rPr>
              <a:t> </a:t>
            </a:r>
            <a:r>
              <a:rPr sz="2400" b="1" dirty="0">
                <a:latin typeface="Arial Narrow"/>
                <a:cs typeface="Arial Narrow"/>
              </a:rPr>
              <a:t>=</a:t>
            </a:r>
            <a:r>
              <a:rPr sz="2400" b="1" spc="5" dirty="0">
                <a:latin typeface="Arial Narrow"/>
                <a:cs typeface="Arial Narrow"/>
              </a:rPr>
              <a:t> </a:t>
            </a:r>
            <a:r>
              <a:rPr sz="2400" b="1" spc="-5" dirty="0">
                <a:latin typeface="Arial Narrow"/>
                <a:cs typeface="Arial Narrow"/>
              </a:rPr>
              <a:t>32</a:t>
            </a:r>
            <a:r>
              <a:rPr sz="2400" b="1" dirty="0">
                <a:latin typeface="Arial Narrow"/>
                <a:cs typeface="Arial Narrow"/>
              </a:rPr>
              <a:t>B</a:t>
            </a:r>
            <a:r>
              <a:rPr sz="2400" b="1" spc="20" dirty="0">
                <a:latin typeface="Arial Narrow"/>
                <a:cs typeface="Arial Narrow"/>
              </a:rPr>
              <a:t> </a:t>
            </a:r>
            <a:r>
              <a:rPr sz="2400" b="1" dirty="0">
                <a:latin typeface="Arial Narrow"/>
                <a:cs typeface="Arial Narrow"/>
              </a:rPr>
              <a:t>(f</a:t>
            </a:r>
            <a:r>
              <a:rPr sz="2400" b="1" spc="-5" dirty="0">
                <a:latin typeface="Arial Narrow"/>
                <a:cs typeface="Arial Narrow"/>
              </a:rPr>
              <a:t>ou</a:t>
            </a:r>
            <a:r>
              <a:rPr sz="2400" b="1" dirty="0">
                <a:latin typeface="Arial Narrow"/>
                <a:cs typeface="Arial Narrow"/>
              </a:rPr>
              <a:t>r</a:t>
            </a:r>
            <a:r>
              <a:rPr sz="2400" b="1" spc="-30" dirty="0">
                <a:latin typeface="Arial Narrow"/>
                <a:cs typeface="Arial Narrow"/>
              </a:rPr>
              <a:t> </a:t>
            </a:r>
            <a:r>
              <a:rPr sz="2400" b="1" spc="-5" dirty="0">
                <a:latin typeface="Arial Narrow"/>
                <a:cs typeface="Arial Narrow"/>
              </a:rPr>
              <a:t>doub</a:t>
            </a:r>
            <a:r>
              <a:rPr sz="2400" b="1" dirty="0">
                <a:latin typeface="Arial Narrow"/>
                <a:cs typeface="Arial Narrow"/>
              </a:rPr>
              <a:t>l</a:t>
            </a:r>
            <a:r>
              <a:rPr sz="2400" b="1" spc="-5" dirty="0">
                <a:latin typeface="Arial Narrow"/>
                <a:cs typeface="Arial Narrow"/>
              </a:rPr>
              <a:t>es)</a:t>
            </a:r>
            <a:endParaRPr sz="24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74650" y="346210"/>
            <a:ext cx="7591425" cy="812531"/>
          </a:xfrm>
          <a:prstGeom prst="rect">
            <a:avLst/>
          </a:prstGeom>
        </p:spPr>
        <p:txBody>
          <a:bodyPr vert="horz" wrap="square" lIns="0" tIns="256033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zh-CN" altLang="en-US" spc="-20" dirty="0"/>
              <a:t>矩阵乘法</a:t>
            </a:r>
            <a:r>
              <a:rPr spc="-20" dirty="0"/>
              <a:t>(</a:t>
            </a:r>
            <a:r>
              <a:rPr dirty="0">
                <a:latin typeface="Courier New"/>
                <a:cs typeface="Courier New"/>
              </a:rPr>
              <a:t>kij</a:t>
            </a:r>
            <a:r>
              <a:rPr spc="-5" dirty="0"/>
              <a:t>)</a:t>
            </a:r>
          </a:p>
        </p:txBody>
      </p:sp>
      <p:sp>
        <p:nvSpPr>
          <p:cNvPr id="4" name="object 4"/>
          <p:cNvSpPr/>
          <p:nvPr/>
        </p:nvSpPr>
        <p:spPr>
          <a:xfrm>
            <a:off x="457200" y="1773936"/>
            <a:ext cx="4407407" cy="26593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16051" y="1685556"/>
            <a:ext cx="4910327" cy="281938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52437" y="1770062"/>
            <a:ext cx="4264025" cy="2515870"/>
          </a:xfrm>
          <a:custGeom>
            <a:avLst/>
            <a:gdLst/>
            <a:ahLst/>
            <a:cxnLst/>
            <a:rect l="l" t="t" r="r" b="b"/>
            <a:pathLst>
              <a:path w="4264025" h="2515870">
                <a:moveTo>
                  <a:pt x="0" y="0"/>
                </a:moveTo>
                <a:lnTo>
                  <a:pt x="4264025" y="0"/>
                </a:lnTo>
                <a:lnTo>
                  <a:pt x="4264025" y="2515819"/>
                </a:lnTo>
                <a:lnTo>
                  <a:pt x="0" y="2515819"/>
                </a:lnTo>
                <a:lnTo>
                  <a:pt x="0" y="0"/>
                </a:lnTo>
                <a:close/>
              </a:path>
            </a:pathLst>
          </a:custGeom>
          <a:solidFill>
            <a:srgbClr val="F6F5B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52437" y="1770062"/>
            <a:ext cx="4264025" cy="2515870"/>
          </a:xfrm>
          <a:custGeom>
            <a:avLst/>
            <a:gdLst/>
            <a:ahLst/>
            <a:cxnLst/>
            <a:rect l="l" t="t" r="r" b="b"/>
            <a:pathLst>
              <a:path w="4264025" h="2515870">
                <a:moveTo>
                  <a:pt x="0" y="0"/>
                </a:moveTo>
                <a:lnTo>
                  <a:pt x="4264025" y="0"/>
                </a:lnTo>
                <a:lnTo>
                  <a:pt x="4264025" y="2515819"/>
                </a:lnTo>
                <a:lnTo>
                  <a:pt x="0" y="2515819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42696" y="1776051"/>
            <a:ext cx="3959225" cy="2121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  <a:tabLst>
                <a:tab pos="956944" algn="l"/>
              </a:tabLst>
            </a:pPr>
            <a:r>
              <a:rPr sz="1800" b="1" dirty="0">
                <a:latin typeface="Courier New"/>
                <a:cs typeface="Courier New"/>
              </a:rPr>
              <a:t>/*</a:t>
            </a:r>
            <a:r>
              <a:rPr sz="1800" b="1" spc="-1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k</a:t>
            </a:r>
            <a:r>
              <a:rPr sz="1800" b="1" spc="-15" dirty="0">
                <a:latin typeface="Courier New"/>
                <a:cs typeface="Courier New"/>
              </a:rPr>
              <a:t>i</a:t>
            </a:r>
            <a:r>
              <a:rPr sz="1800" b="1" dirty="0">
                <a:latin typeface="Courier New"/>
                <a:cs typeface="Courier New"/>
              </a:rPr>
              <a:t>j	</a:t>
            </a:r>
            <a:r>
              <a:rPr sz="1800" b="1" spc="-15" dirty="0">
                <a:latin typeface="Courier New"/>
                <a:cs typeface="Courier New"/>
              </a:rPr>
              <a:t>*/</a:t>
            </a:r>
            <a:endParaRPr sz="1800">
              <a:latin typeface="Courier New"/>
              <a:cs typeface="Courier New"/>
            </a:endParaRPr>
          </a:p>
          <a:p>
            <a:pPr marL="274320" marR="812165" indent="-274320">
              <a:lnSpc>
                <a:spcPct val="114999"/>
              </a:lnSpc>
            </a:pPr>
            <a:r>
              <a:rPr sz="1800" b="1" dirty="0">
                <a:latin typeface="Courier New"/>
                <a:cs typeface="Courier New"/>
              </a:rPr>
              <a:t>for</a:t>
            </a:r>
            <a:r>
              <a:rPr sz="1800" b="1" spc="-15" dirty="0">
                <a:latin typeface="Courier New"/>
                <a:cs typeface="Courier New"/>
              </a:rPr>
              <a:t> (</a:t>
            </a:r>
            <a:r>
              <a:rPr sz="1800" b="1" dirty="0">
                <a:latin typeface="Courier New"/>
                <a:cs typeface="Courier New"/>
              </a:rPr>
              <a:t>k=</a:t>
            </a:r>
            <a:r>
              <a:rPr sz="1800" b="1" spc="-15" dirty="0">
                <a:latin typeface="Courier New"/>
                <a:cs typeface="Courier New"/>
              </a:rPr>
              <a:t>0</a:t>
            </a:r>
            <a:r>
              <a:rPr sz="1800" b="1" dirty="0">
                <a:latin typeface="Courier New"/>
                <a:cs typeface="Courier New"/>
              </a:rPr>
              <a:t>;</a:t>
            </a:r>
            <a:r>
              <a:rPr sz="1800" b="1" spc="-15" dirty="0">
                <a:latin typeface="Courier New"/>
                <a:cs typeface="Courier New"/>
              </a:rPr>
              <a:t> k</a:t>
            </a:r>
            <a:r>
              <a:rPr sz="1800" b="1" dirty="0">
                <a:latin typeface="Courier New"/>
                <a:cs typeface="Courier New"/>
              </a:rPr>
              <a:t>&lt;n;</a:t>
            </a:r>
            <a:r>
              <a:rPr sz="1800" b="1" spc="-15" dirty="0">
                <a:latin typeface="Courier New"/>
                <a:cs typeface="Courier New"/>
              </a:rPr>
              <a:t> k</a:t>
            </a:r>
            <a:r>
              <a:rPr sz="1800" b="1" dirty="0">
                <a:latin typeface="Courier New"/>
                <a:cs typeface="Courier New"/>
              </a:rPr>
              <a:t>++)</a:t>
            </a:r>
            <a:r>
              <a:rPr sz="1800" b="1" spc="-1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{ </a:t>
            </a:r>
            <a:r>
              <a:rPr sz="1800" b="1" spc="-15" dirty="0">
                <a:latin typeface="Courier New"/>
                <a:cs typeface="Courier New"/>
              </a:rPr>
              <a:t>f</a:t>
            </a:r>
            <a:r>
              <a:rPr sz="1800" b="1" dirty="0">
                <a:latin typeface="Courier New"/>
                <a:cs typeface="Courier New"/>
              </a:rPr>
              <a:t>or</a:t>
            </a:r>
            <a:r>
              <a:rPr sz="1800" b="1" spc="-1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(</a:t>
            </a:r>
            <a:r>
              <a:rPr sz="1800" b="1" spc="-15" dirty="0">
                <a:latin typeface="Courier New"/>
                <a:cs typeface="Courier New"/>
              </a:rPr>
              <a:t>i</a:t>
            </a:r>
            <a:r>
              <a:rPr sz="1800" b="1" dirty="0">
                <a:latin typeface="Courier New"/>
                <a:cs typeface="Courier New"/>
              </a:rPr>
              <a:t>=</a:t>
            </a:r>
            <a:r>
              <a:rPr sz="1800" b="1" spc="-15" dirty="0">
                <a:latin typeface="Courier New"/>
                <a:cs typeface="Courier New"/>
              </a:rPr>
              <a:t>0</a:t>
            </a:r>
            <a:r>
              <a:rPr sz="1800" b="1" dirty="0">
                <a:latin typeface="Courier New"/>
                <a:cs typeface="Courier New"/>
              </a:rPr>
              <a:t>;</a:t>
            </a:r>
            <a:r>
              <a:rPr sz="1800" b="1" spc="-1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i</a:t>
            </a:r>
            <a:r>
              <a:rPr sz="1800" b="1" spc="-15" dirty="0">
                <a:latin typeface="Courier New"/>
                <a:cs typeface="Courier New"/>
              </a:rPr>
              <a:t>&lt;</a:t>
            </a:r>
            <a:r>
              <a:rPr sz="1800" b="1" dirty="0">
                <a:latin typeface="Courier New"/>
                <a:cs typeface="Courier New"/>
              </a:rPr>
              <a:t>n;</a:t>
            </a:r>
            <a:r>
              <a:rPr sz="1800" b="1" spc="-1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i</a:t>
            </a:r>
            <a:r>
              <a:rPr sz="1800" b="1" spc="-15" dirty="0">
                <a:latin typeface="Courier New"/>
                <a:cs typeface="Courier New"/>
              </a:rPr>
              <a:t>+</a:t>
            </a:r>
            <a:r>
              <a:rPr sz="1800" b="1" dirty="0">
                <a:latin typeface="Courier New"/>
                <a:cs typeface="Courier New"/>
              </a:rPr>
              <a:t>+)</a:t>
            </a:r>
            <a:r>
              <a:rPr sz="1800" b="1" spc="-3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  <a:p>
            <a:pPr marL="546735">
              <a:lnSpc>
                <a:spcPct val="100000"/>
              </a:lnSpc>
              <a:spcBef>
                <a:spcPts val="320"/>
              </a:spcBef>
            </a:pPr>
            <a:r>
              <a:rPr sz="1800" b="1" dirty="0">
                <a:latin typeface="Courier New"/>
                <a:cs typeface="Courier New"/>
              </a:rPr>
              <a:t>r</a:t>
            </a:r>
            <a:r>
              <a:rPr sz="1800" b="1" spc="-1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=</a:t>
            </a:r>
            <a:r>
              <a:rPr sz="1800" b="1" spc="-1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a</a:t>
            </a:r>
            <a:r>
              <a:rPr sz="1800" b="1" spc="-15" dirty="0">
                <a:latin typeface="Courier New"/>
                <a:cs typeface="Courier New"/>
              </a:rPr>
              <a:t>[i</a:t>
            </a:r>
            <a:r>
              <a:rPr sz="1800" b="1" dirty="0">
                <a:latin typeface="Courier New"/>
                <a:cs typeface="Courier New"/>
              </a:rPr>
              <a:t>][</a:t>
            </a:r>
            <a:r>
              <a:rPr sz="1800" b="1" spc="-15" dirty="0">
                <a:latin typeface="Courier New"/>
                <a:cs typeface="Courier New"/>
              </a:rPr>
              <a:t>k</a:t>
            </a:r>
            <a:r>
              <a:rPr sz="1800" b="1" dirty="0">
                <a:latin typeface="Courier New"/>
                <a:cs typeface="Courier New"/>
              </a:rPr>
              <a:t>];</a:t>
            </a:r>
            <a:endParaRPr sz="1800">
              <a:latin typeface="Courier New"/>
              <a:cs typeface="Courier New"/>
            </a:endParaRPr>
          </a:p>
          <a:p>
            <a:pPr marL="819785" indent="-273050">
              <a:lnSpc>
                <a:spcPct val="114999"/>
              </a:lnSpc>
            </a:pPr>
            <a:r>
              <a:rPr sz="1800" b="1" spc="-15" dirty="0">
                <a:latin typeface="Courier New"/>
                <a:cs typeface="Courier New"/>
              </a:rPr>
              <a:t>f</a:t>
            </a:r>
            <a:r>
              <a:rPr sz="1800" b="1" dirty="0">
                <a:latin typeface="Courier New"/>
                <a:cs typeface="Courier New"/>
              </a:rPr>
              <a:t>or</a:t>
            </a:r>
            <a:r>
              <a:rPr sz="1800" b="1" spc="-1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(</a:t>
            </a:r>
            <a:r>
              <a:rPr sz="1800" b="1" spc="-15" dirty="0">
                <a:latin typeface="Courier New"/>
                <a:cs typeface="Courier New"/>
              </a:rPr>
              <a:t>j=</a:t>
            </a:r>
            <a:r>
              <a:rPr sz="1800" b="1" dirty="0">
                <a:latin typeface="Courier New"/>
                <a:cs typeface="Courier New"/>
              </a:rPr>
              <a:t>0;</a:t>
            </a:r>
            <a:r>
              <a:rPr sz="1800" b="1" spc="-1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j</a:t>
            </a:r>
            <a:r>
              <a:rPr sz="1800" b="1" spc="-15" dirty="0">
                <a:latin typeface="Courier New"/>
                <a:cs typeface="Courier New"/>
              </a:rPr>
              <a:t>&lt;</a:t>
            </a:r>
            <a:r>
              <a:rPr sz="1800" b="1" dirty="0">
                <a:latin typeface="Courier New"/>
                <a:cs typeface="Courier New"/>
              </a:rPr>
              <a:t>n;</a:t>
            </a:r>
            <a:r>
              <a:rPr sz="1800" b="1" spc="-1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j</a:t>
            </a:r>
            <a:r>
              <a:rPr sz="1800" b="1" spc="-15" dirty="0">
                <a:latin typeface="Courier New"/>
                <a:cs typeface="Courier New"/>
              </a:rPr>
              <a:t>++</a:t>
            </a:r>
            <a:r>
              <a:rPr sz="1800" b="1" dirty="0">
                <a:latin typeface="Courier New"/>
                <a:cs typeface="Courier New"/>
              </a:rPr>
              <a:t>) </a:t>
            </a:r>
            <a:r>
              <a:rPr sz="1800" b="1" dirty="0">
                <a:solidFill>
                  <a:srgbClr val="C00000"/>
                </a:solidFill>
                <a:latin typeface="Courier New"/>
                <a:cs typeface="Courier New"/>
              </a:rPr>
              <a:t>c</a:t>
            </a:r>
            <a:r>
              <a:rPr sz="1800" b="1" spc="-15" dirty="0">
                <a:solidFill>
                  <a:srgbClr val="C00000"/>
                </a:solidFill>
                <a:latin typeface="Courier New"/>
                <a:cs typeface="Courier New"/>
              </a:rPr>
              <a:t>[</a:t>
            </a:r>
            <a:r>
              <a:rPr sz="1800" b="1" dirty="0">
                <a:solidFill>
                  <a:srgbClr val="C00000"/>
                </a:solidFill>
                <a:latin typeface="Courier New"/>
                <a:cs typeface="Courier New"/>
              </a:rPr>
              <a:t>i</a:t>
            </a:r>
            <a:r>
              <a:rPr sz="1800" b="1" spc="-15" dirty="0">
                <a:solidFill>
                  <a:srgbClr val="C00000"/>
                </a:solidFill>
                <a:latin typeface="Courier New"/>
                <a:cs typeface="Courier New"/>
              </a:rPr>
              <a:t>][</a:t>
            </a:r>
            <a:r>
              <a:rPr sz="1800" b="1" dirty="0">
                <a:solidFill>
                  <a:srgbClr val="C00000"/>
                </a:solidFill>
                <a:latin typeface="Courier New"/>
                <a:cs typeface="Courier New"/>
              </a:rPr>
              <a:t>j]</a:t>
            </a:r>
            <a:r>
              <a:rPr sz="1800" b="1" spc="-1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ourier New"/>
                <a:cs typeface="Courier New"/>
              </a:rPr>
              <a:t>+=</a:t>
            </a:r>
            <a:r>
              <a:rPr sz="1800" b="1" spc="-1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ourier New"/>
                <a:cs typeface="Courier New"/>
              </a:rPr>
              <a:t>r</a:t>
            </a:r>
            <a:r>
              <a:rPr sz="1800" b="1" spc="-1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ourier New"/>
                <a:cs typeface="Courier New"/>
              </a:rPr>
              <a:t>*</a:t>
            </a:r>
            <a:r>
              <a:rPr sz="1800" b="1" spc="-15" dirty="0">
                <a:solidFill>
                  <a:srgbClr val="C00000"/>
                </a:solidFill>
                <a:latin typeface="Courier New"/>
                <a:cs typeface="Courier New"/>
              </a:rPr>
              <a:t> b</a:t>
            </a:r>
            <a:r>
              <a:rPr sz="1800" b="1" dirty="0">
                <a:solidFill>
                  <a:srgbClr val="C00000"/>
                </a:solidFill>
                <a:latin typeface="Courier New"/>
                <a:cs typeface="Courier New"/>
              </a:rPr>
              <a:t>[k</a:t>
            </a:r>
            <a:r>
              <a:rPr sz="1800" b="1" spc="-15" dirty="0">
                <a:solidFill>
                  <a:srgbClr val="C00000"/>
                </a:solidFill>
                <a:latin typeface="Courier New"/>
                <a:cs typeface="Courier New"/>
              </a:rPr>
              <a:t>]</a:t>
            </a:r>
            <a:r>
              <a:rPr sz="1800" b="1" dirty="0">
                <a:solidFill>
                  <a:srgbClr val="C00000"/>
                </a:solidFill>
                <a:latin typeface="Courier New"/>
                <a:cs typeface="Courier New"/>
              </a:rPr>
              <a:t>[</a:t>
            </a:r>
            <a:r>
              <a:rPr sz="1800" b="1" spc="-15" dirty="0">
                <a:solidFill>
                  <a:srgbClr val="C00000"/>
                </a:solidFill>
                <a:latin typeface="Courier New"/>
                <a:cs typeface="Courier New"/>
              </a:rPr>
              <a:t>j</a:t>
            </a:r>
            <a:r>
              <a:rPr sz="1800" b="1" dirty="0">
                <a:solidFill>
                  <a:srgbClr val="C00000"/>
                </a:solidFill>
                <a:latin typeface="Courier New"/>
                <a:cs typeface="Courier New"/>
              </a:rPr>
              <a:t>];</a:t>
            </a:r>
            <a:endParaRPr sz="1800">
              <a:latin typeface="Courier New"/>
              <a:cs typeface="Courier New"/>
            </a:endParaRPr>
          </a:p>
          <a:p>
            <a:pPr marL="274320">
              <a:lnSpc>
                <a:spcPct val="100000"/>
              </a:lnSpc>
              <a:spcBef>
                <a:spcPts val="325"/>
              </a:spcBef>
            </a:pPr>
            <a:r>
              <a:rPr sz="1800" b="1" dirty="0"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42696" y="3984327"/>
            <a:ext cx="137160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1800" b="1" dirty="0"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559550" y="2378075"/>
            <a:ext cx="596900" cy="520700"/>
          </a:xfrm>
          <a:custGeom>
            <a:avLst/>
            <a:gdLst/>
            <a:ahLst/>
            <a:cxnLst/>
            <a:rect l="l" t="t" r="r" b="b"/>
            <a:pathLst>
              <a:path w="596900" h="520700">
                <a:moveTo>
                  <a:pt x="0" y="0"/>
                </a:moveTo>
                <a:lnTo>
                  <a:pt x="596900" y="0"/>
                </a:lnTo>
                <a:lnTo>
                  <a:pt x="596900" y="520700"/>
                </a:lnTo>
                <a:lnTo>
                  <a:pt x="0" y="5207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727950" y="2378075"/>
            <a:ext cx="596900" cy="520700"/>
          </a:xfrm>
          <a:custGeom>
            <a:avLst/>
            <a:gdLst/>
            <a:ahLst/>
            <a:cxnLst/>
            <a:rect l="l" t="t" r="r" b="b"/>
            <a:pathLst>
              <a:path w="596900" h="520700">
                <a:moveTo>
                  <a:pt x="0" y="0"/>
                </a:moveTo>
                <a:lnTo>
                  <a:pt x="596900" y="0"/>
                </a:lnTo>
                <a:lnTo>
                  <a:pt x="596900" y="520700"/>
                </a:lnTo>
                <a:lnTo>
                  <a:pt x="0" y="5207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549900" y="3037713"/>
            <a:ext cx="172720" cy="28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dirty="0">
                <a:latin typeface="Calibri"/>
                <a:cs typeface="Calibri"/>
              </a:rPr>
              <a:t>A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769248" y="3037713"/>
            <a:ext cx="163830" cy="28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dirty="0">
                <a:latin typeface="Calibri"/>
                <a:cs typeface="Calibri"/>
              </a:rPr>
              <a:t>B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926496" y="3037713"/>
            <a:ext cx="161290" cy="28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dirty="0">
                <a:latin typeface="Calibri"/>
                <a:cs typeface="Calibri"/>
              </a:rPr>
              <a:t>C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734300" y="2752725"/>
            <a:ext cx="584200" cy="0"/>
          </a:xfrm>
          <a:custGeom>
            <a:avLst/>
            <a:gdLst/>
            <a:ahLst/>
            <a:cxnLst/>
            <a:rect l="l" t="t" r="r" b="b"/>
            <a:pathLst>
              <a:path w="584200">
                <a:moveTo>
                  <a:pt x="0" y="0"/>
                </a:moveTo>
                <a:lnTo>
                  <a:pt x="584200" y="0"/>
                </a:lnTo>
              </a:path>
            </a:pathLst>
          </a:custGeom>
          <a:ln w="5715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422900" y="2790825"/>
            <a:ext cx="50800" cy="0"/>
          </a:xfrm>
          <a:custGeom>
            <a:avLst/>
            <a:gdLst/>
            <a:ahLst/>
            <a:cxnLst/>
            <a:rect l="l" t="t" r="r" b="b"/>
            <a:pathLst>
              <a:path w="50800">
                <a:moveTo>
                  <a:pt x="0" y="0"/>
                </a:moveTo>
                <a:lnTo>
                  <a:pt x="50800" y="0"/>
                </a:lnTo>
              </a:path>
            </a:pathLst>
          </a:custGeom>
          <a:ln w="508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422900" y="2765425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50800" y="0"/>
                </a:lnTo>
                <a:lnTo>
                  <a:pt x="508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ln w="5715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565900" y="2524125"/>
            <a:ext cx="584200" cy="0"/>
          </a:xfrm>
          <a:custGeom>
            <a:avLst/>
            <a:gdLst/>
            <a:ahLst/>
            <a:cxnLst/>
            <a:rect l="l" t="t" r="r" b="b"/>
            <a:pathLst>
              <a:path w="584200">
                <a:moveTo>
                  <a:pt x="0" y="0"/>
                </a:moveTo>
                <a:lnTo>
                  <a:pt x="584200" y="0"/>
                </a:lnTo>
              </a:path>
            </a:pathLst>
          </a:custGeom>
          <a:ln w="5715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5461000" y="1894713"/>
            <a:ext cx="3362960" cy="1042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5" dirty="0">
                <a:latin typeface="Calibri"/>
                <a:cs typeface="Calibri"/>
              </a:rPr>
              <a:t>I</a:t>
            </a:r>
            <a:r>
              <a:rPr sz="2000" dirty="0">
                <a:latin typeface="Calibri"/>
                <a:cs typeface="Calibri"/>
              </a:rPr>
              <a:t>nn</a:t>
            </a:r>
            <a:r>
              <a:rPr sz="2000" spc="-5" dirty="0">
                <a:latin typeface="Calibri"/>
                <a:cs typeface="Calibri"/>
              </a:rPr>
              <a:t>e</a:t>
            </a:r>
            <a:r>
              <a:rPr sz="2000" dirty="0">
                <a:latin typeface="Calibri"/>
                <a:cs typeface="Calibri"/>
              </a:rPr>
              <a:t>r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loo</a:t>
            </a:r>
            <a:r>
              <a:rPr sz="2000" dirty="0">
                <a:latin typeface="Calibri"/>
                <a:cs typeface="Calibri"/>
              </a:rPr>
              <a:t>p:</a:t>
            </a:r>
            <a:endParaRPr sz="2000">
              <a:latin typeface="Calibri"/>
              <a:cs typeface="Calibri"/>
            </a:endParaRPr>
          </a:p>
          <a:p>
            <a:pPr marL="654050" algn="ctr">
              <a:lnSpc>
                <a:spcPts val="2100"/>
              </a:lnSpc>
              <a:spcBef>
                <a:spcPts val="1800"/>
              </a:spcBef>
            </a:pPr>
            <a:r>
              <a:rPr sz="2000" dirty="0">
                <a:latin typeface="Calibri"/>
                <a:cs typeface="Calibri"/>
              </a:rPr>
              <a:t>(k,</a:t>
            </a:r>
            <a:r>
              <a:rPr sz="2000" spc="-5" dirty="0">
                <a:latin typeface="Calibri"/>
                <a:cs typeface="Calibri"/>
              </a:rPr>
              <a:t>*</a:t>
            </a:r>
            <a:r>
              <a:rPr sz="2000" dirty="0">
                <a:latin typeface="Calibri"/>
                <a:cs typeface="Calibri"/>
              </a:rPr>
              <a:t>)</a:t>
            </a:r>
            <a:endParaRPr sz="2000">
              <a:latin typeface="Calibri"/>
              <a:cs typeface="Calibri"/>
            </a:endParaRPr>
          </a:p>
          <a:p>
            <a:pPr marR="5080" algn="r">
              <a:lnSpc>
                <a:spcPts val="2100"/>
              </a:lnSpc>
            </a:pPr>
            <a:r>
              <a:rPr sz="2000" dirty="0">
                <a:latin typeface="Calibri"/>
                <a:cs typeface="Calibri"/>
              </a:rPr>
              <a:t>(</a:t>
            </a:r>
            <a:r>
              <a:rPr sz="2000" spc="-5" dirty="0">
                <a:latin typeface="Calibri"/>
                <a:cs typeface="Calibri"/>
              </a:rPr>
              <a:t>i</a:t>
            </a:r>
            <a:r>
              <a:rPr sz="2000" dirty="0">
                <a:latin typeface="Calibri"/>
                <a:cs typeface="Calibri"/>
              </a:rPr>
              <a:t>,</a:t>
            </a:r>
            <a:r>
              <a:rPr sz="2000" spc="-5" dirty="0">
                <a:latin typeface="Calibri"/>
                <a:cs typeface="Calibri"/>
              </a:rPr>
              <a:t>*</a:t>
            </a:r>
            <a:r>
              <a:rPr sz="2000" dirty="0">
                <a:latin typeface="Calibri"/>
                <a:cs typeface="Calibri"/>
              </a:rPr>
              <a:t>)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340350" y="2378075"/>
            <a:ext cx="596900" cy="5207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33020">
              <a:lnSpc>
                <a:spcPct val="100000"/>
              </a:lnSpc>
            </a:pPr>
            <a:r>
              <a:rPr sz="2000" dirty="0">
                <a:latin typeface="Calibri"/>
                <a:cs typeface="Calibri"/>
              </a:rPr>
              <a:t>(</a:t>
            </a:r>
            <a:r>
              <a:rPr sz="2000" spc="-5" dirty="0">
                <a:latin typeface="Calibri"/>
                <a:cs typeface="Calibri"/>
              </a:rPr>
              <a:t>i</a:t>
            </a:r>
            <a:r>
              <a:rPr sz="2000" dirty="0">
                <a:latin typeface="Calibri"/>
                <a:cs typeface="Calibri"/>
              </a:rPr>
              <a:t>,k)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404461" y="3942484"/>
            <a:ext cx="1016000" cy="28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35" dirty="0">
                <a:latin typeface="Calibri"/>
                <a:cs typeface="Calibri"/>
              </a:rPr>
              <a:t>R</a:t>
            </a:r>
            <a:r>
              <a:rPr sz="2000" spc="-15" dirty="0">
                <a:latin typeface="Calibri"/>
                <a:cs typeface="Calibri"/>
              </a:rPr>
              <a:t>o</a:t>
            </a:r>
            <a:r>
              <a:rPr sz="2000" spc="-10" dirty="0">
                <a:latin typeface="Calibri"/>
                <a:cs typeface="Calibri"/>
              </a:rPr>
              <a:t>w</a:t>
            </a:r>
            <a:r>
              <a:rPr sz="2000" spc="-5" dirty="0">
                <a:latin typeface="Calibri"/>
                <a:cs typeface="Calibri"/>
              </a:rPr>
              <a:t>-wise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6881814" y="3416300"/>
            <a:ext cx="0" cy="563880"/>
          </a:xfrm>
          <a:custGeom>
            <a:avLst/>
            <a:gdLst/>
            <a:ahLst/>
            <a:cxnLst/>
            <a:rect l="l" t="t" r="r" b="b"/>
            <a:pathLst>
              <a:path h="563879">
                <a:moveTo>
                  <a:pt x="0" y="563562"/>
                </a:moveTo>
                <a:lnTo>
                  <a:pt x="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6843717" y="3352798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0" y="76200"/>
                </a:lnTo>
                <a:lnTo>
                  <a:pt x="76200" y="76200"/>
                </a:lnTo>
                <a:lnTo>
                  <a:pt x="381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7547385" y="3942588"/>
            <a:ext cx="1016000" cy="28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35" dirty="0">
                <a:latin typeface="Calibri"/>
                <a:cs typeface="Calibri"/>
              </a:rPr>
              <a:t>R</a:t>
            </a:r>
            <a:r>
              <a:rPr sz="2000" spc="-15" dirty="0">
                <a:latin typeface="Calibri"/>
                <a:cs typeface="Calibri"/>
              </a:rPr>
              <a:t>o</a:t>
            </a:r>
            <a:r>
              <a:rPr sz="2000" spc="-10" dirty="0">
                <a:latin typeface="Calibri"/>
                <a:cs typeface="Calibri"/>
              </a:rPr>
              <a:t>w</a:t>
            </a:r>
            <a:r>
              <a:rPr sz="2000" spc="-5" dirty="0">
                <a:latin typeface="Calibri"/>
                <a:cs typeface="Calibri"/>
              </a:rPr>
              <a:t>-wise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8024814" y="3416300"/>
            <a:ext cx="0" cy="563880"/>
          </a:xfrm>
          <a:custGeom>
            <a:avLst/>
            <a:gdLst/>
            <a:ahLst/>
            <a:cxnLst/>
            <a:rect l="l" t="t" r="r" b="b"/>
            <a:pathLst>
              <a:path h="563879">
                <a:moveTo>
                  <a:pt x="0" y="563562"/>
                </a:moveTo>
                <a:lnTo>
                  <a:pt x="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7986717" y="3352798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0" y="76200"/>
                </a:lnTo>
                <a:lnTo>
                  <a:pt x="76200" y="76200"/>
                </a:lnTo>
                <a:lnTo>
                  <a:pt x="381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5374697" y="3950525"/>
            <a:ext cx="564515" cy="28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dirty="0">
                <a:latin typeface="Calibri"/>
                <a:cs typeface="Calibri"/>
              </a:rPr>
              <a:t>F</a:t>
            </a:r>
            <a:r>
              <a:rPr sz="2000" spc="-5" dirty="0">
                <a:latin typeface="Calibri"/>
                <a:cs typeface="Calibri"/>
              </a:rPr>
              <a:t>i</a:t>
            </a:r>
            <a:r>
              <a:rPr sz="2000" spc="-55" dirty="0">
                <a:latin typeface="Calibri"/>
                <a:cs typeface="Calibri"/>
              </a:rPr>
              <a:t>x</a:t>
            </a:r>
            <a:r>
              <a:rPr sz="2000" spc="-5" dirty="0">
                <a:latin typeface="Calibri"/>
                <a:cs typeface="Calibri"/>
              </a:rPr>
              <a:t>e</a:t>
            </a:r>
            <a:r>
              <a:rPr sz="2000" dirty="0">
                <a:latin typeface="Calibri"/>
                <a:cs typeface="Calibri"/>
              </a:rPr>
              <a:t>d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5632451" y="3424237"/>
            <a:ext cx="0" cy="563880"/>
          </a:xfrm>
          <a:custGeom>
            <a:avLst/>
            <a:gdLst/>
            <a:ahLst/>
            <a:cxnLst/>
            <a:rect l="l" t="t" r="r" b="b"/>
            <a:pathLst>
              <a:path h="563879">
                <a:moveTo>
                  <a:pt x="0" y="563562"/>
                </a:moveTo>
                <a:lnTo>
                  <a:pt x="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5594355" y="3360736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0" y="76200"/>
                </a:lnTo>
                <a:lnTo>
                  <a:pt x="76200" y="76200"/>
                </a:lnTo>
                <a:lnTo>
                  <a:pt x="381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522287" y="4957000"/>
            <a:ext cx="3897629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u="heavy" dirty="0">
                <a:latin typeface="Calibri"/>
                <a:cs typeface="Calibri"/>
              </a:rPr>
              <a:t>Mi</a:t>
            </a:r>
            <a:r>
              <a:rPr sz="2400" u="heavy" spc="-10" dirty="0">
                <a:latin typeface="Calibri"/>
                <a:cs typeface="Calibri"/>
              </a:rPr>
              <a:t>ss</a:t>
            </a:r>
            <a:r>
              <a:rPr sz="2400" u="heavy" dirty="0">
                <a:latin typeface="Calibri"/>
                <a:cs typeface="Calibri"/>
              </a:rPr>
              <a:t>es</a:t>
            </a:r>
            <a:r>
              <a:rPr sz="2400" u="heavy" spc="-10" dirty="0">
                <a:latin typeface="Calibri"/>
                <a:cs typeface="Calibri"/>
              </a:rPr>
              <a:t> </a:t>
            </a:r>
            <a:r>
              <a:rPr sz="2400" u="heavy" spc="-5" dirty="0">
                <a:latin typeface="Calibri"/>
                <a:cs typeface="Calibri"/>
              </a:rPr>
              <a:t>p</a:t>
            </a:r>
            <a:r>
              <a:rPr sz="2400" u="heavy" dirty="0">
                <a:latin typeface="Calibri"/>
                <a:cs typeface="Calibri"/>
              </a:rPr>
              <a:t>e</a:t>
            </a:r>
            <a:r>
              <a:rPr sz="2400" u="heavy" spc="-5" dirty="0">
                <a:latin typeface="Calibri"/>
                <a:cs typeface="Calibri"/>
              </a:rPr>
              <a:t>r</a:t>
            </a:r>
            <a:r>
              <a:rPr sz="2400" u="heavy" dirty="0">
                <a:latin typeface="Calibri"/>
                <a:cs typeface="Calibri"/>
              </a:rPr>
              <a:t> i</a:t>
            </a:r>
            <a:r>
              <a:rPr sz="2400" u="heavy" spc="-5" dirty="0">
                <a:latin typeface="Calibri"/>
                <a:cs typeface="Calibri"/>
              </a:rPr>
              <a:t>nn</a:t>
            </a:r>
            <a:r>
              <a:rPr sz="2400" u="heavy" spc="5" dirty="0">
                <a:latin typeface="Calibri"/>
                <a:cs typeface="Calibri"/>
              </a:rPr>
              <a:t>e</a:t>
            </a:r>
            <a:r>
              <a:rPr sz="2400" u="heavy" spc="-5" dirty="0">
                <a:latin typeface="Calibri"/>
                <a:cs typeface="Calibri"/>
              </a:rPr>
              <a:t>r</a:t>
            </a:r>
            <a:r>
              <a:rPr sz="2400" u="heavy" spc="-15" dirty="0">
                <a:latin typeface="Calibri"/>
                <a:cs typeface="Calibri"/>
              </a:rPr>
              <a:t> </a:t>
            </a:r>
            <a:r>
              <a:rPr sz="2400" u="heavy" dirty="0">
                <a:latin typeface="Calibri"/>
                <a:cs typeface="Calibri"/>
              </a:rPr>
              <a:t>l</a:t>
            </a:r>
            <a:r>
              <a:rPr sz="2400" u="heavy" spc="-10" dirty="0">
                <a:latin typeface="Calibri"/>
                <a:cs typeface="Calibri"/>
              </a:rPr>
              <a:t>oo</a:t>
            </a:r>
            <a:r>
              <a:rPr sz="2400" u="heavy" dirty="0">
                <a:latin typeface="Calibri"/>
                <a:cs typeface="Calibri"/>
              </a:rPr>
              <a:t>p</a:t>
            </a:r>
            <a:r>
              <a:rPr sz="2400" u="heavy" spc="5" dirty="0">
                <a:latin typeface="Calibri"/>
                <a:cs typeface="Calibri"/>
              </a:rPr>
              <a:t> </a:t>
            </a:r>
            <a:r>
              <a:rPr sz="2400" u="heavy" dirty="0">
                <a:latin typeface="Calibri"/>
                <a:cs typeface="Calibri"/>
              </a:rPr>
              <a:t>i</a:t>
            </a:r>
            <a:r>
              <a:rPr sz="2400" u="heavy" spc="-25" dirty="0">
                <a:latin typeface="Calibri"/>
                <a:cs typeface="Calibri"/>
              </a:rPr>
              <a:t>t</a:t>
            </a:r>
            <a:r>
              <a:rPr sz="2400" u="heavy" dirty="0">
                <a:latin typeface="Calibri"/>
                <a:cs typeface="Calibri"/>
              </a:rPr>
              <a:t>e</a:t>
            </a:r>
            <a:r>
              <a:rPr sz="2400" u="heavy" spc="-50" dirty="0">
                <a:latin typeface="Calibri"/>
                <a:cs typeface="Calibri"/>
              </a:rPr>
              <a:t>r</a:t>
            </a:r>
            <a:r>
              <a:rPr sz="2400" u="heavy" spc="-25" dirty="0">
                <a:latin typeface="Calibri"/>
                <a:cs typeface="Calibri"/>
              </a:rPr>
              <a:t>a</a:t>
            </a:r>
            <a:r>
              <a:rPr sz="2400" u="heavy" dirty="0">
                <a:latin typeface="Calibri"/>
                <a:cs typeface="Calibri"/>
              </a:rPr>
              <a:t>ti</a:t>
            </a:r>
            <a:r>
              <a:rPr sz="2400" u="heavy" spc="-10" dirty="0">
                <a:latin typeface="Calibri"/>
                <a:cs typeface="Calibri"/>
              </a:rPr>
              <a:t>o</a:t>
            </a:r>
            <a:r>
              <a:rPr sz="2400" u="heavy" spc="-5" dirty="0">
                <a:latin typeface="Calibri"/>
                <a:cs typeface="Calibri"/>
              </a:rPr>
              <a:t>n: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302575" y="5322760"/>
            <a:ext cx="410209" cy="695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103505">
              <a:lnSpc>
                <a:spcPct val="100000"/>
              </a:lnSpc>
            </a:pPr>
            <a:r>
              <a:rPr sz="2400" u="heavy" spc="-5" dirty="0">
                <a:latin typeface="Calibri"/>
                <a:cs typeface="Calibri"/>
              </a:rPr>
              <a:t>A</a:t>
            </a:r>
            <a:r>
              <a:rPr sz="2400" spc="-5" dirty="0">
                <a:latin typeface="Calibri"/>
                <a:cs typeface="Calibri"/>
              </a:rPr>
              <a:t> 0.0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597975" y="5322760"/>
            <a:ext cx="563880" cy="695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185420">
              <a:lnSpc>
                <a:spcPct val="100000"/>
              </a:lnSpc>
            </a:pPr>
            <a:r>
              <a:rPr sz="2400" u="heavy" spc="-5" dirty="0">
                <a:latin typeface="Calibri"/>
                <a:cs typeface="Calibri"/>
              </a:rPr>
              <a:t>B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0.25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911663" y="5322760"/>
            <a:ext cx="563880" cy="695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187325">
              <a:lnSpc>
                <a:spcPct val="100000"/>
              </a:lnSpc>
            </a:pPr>
            <a:r>
              <a:rPr sz="2400" u="heavy" dirty="0">
                <a:latin typeface="Calibri"/>
                <a:cs typeface="Calibri"/>
              </a:rPr>
              <a:t>C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0.25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985599" y="4030174"/>
            <a:ext cx="1637030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1800" b="1" i="1" dirty="0">
                <a:solidFill>
                  <a:srgbClr val="808080"/>
                </a:solidFill>
                <a:latin typeface="Courier New"/>
                <a:cs typeface="Courier New"/>
              </a:rPr>
              <a:t>ma</a:t>
            </a:r>
            <a:r>
              <a:rPr sz="1800" b="1" i="1" spc="-15" dirty="0">
                <a:solidFill>
                  <a:srgbClr val="808080"/>
                </a:solidFill>
                <a:latin typeface="Courier New"/>
                <a:cs typeface="Courier New"/>
              </a:rPr>
              <a:t>t</a:t>
            </a:r>
            <a:r>
              <a:rPr sz="1800" b="1" i="1" dirty="0">
                <a:solidFill>
                  <a:srgbClr val="808080"/>
                </a:solidFill>
                <a:latin typeface="Courier New"/>
                <a:cs typeface="Courier New"/>
              </a:rPr>
              <a:t>m</a:t>
            </a:r>
            <a:r>
              <a:rPr sz="1800" b="1" i="1" spc="-15" dirty="0">
                <a:solidFill>
                  <a:srgbClr val="808080"/>
                </a:solidFill>
                <a:latin typeface="Courier New"/>
                <a:cs typeface="Courier New"/>
              </a:rPr>
              <a:t>u</a:t>
            </a:r>
            <a:r>
              <a:rPr sz="1800" b="1" i="1" dirty="0">
                <a:solidFill>
                  <a:srgbClr val="808080"/>
                </a:solidFill>
                <a:latin typeface="Courier New"/>
                <a:cs typeface="Courier New"/>
              </a:rPr>
              <a:t>lt</a:t>
            </a:r>
            <a:r>
              <a:rPr sz="1800" b="1" i="1" spc="-15" dirty="0">
                <a:solidFill>
                  <a:srgbClr val="808080"/>
                </a:solidFill>
                <a:latin typeface="Courier New"/>
                <a:cs typeface="Courier New"/>
              </a:rPr>
              <a:t>/</a:t>
            </a:r>
            <a:r>
              <a:rPr sz="1800" b="1" i="1" dirty="0">
                <a:solidFill>
                  <a:srgbClr val="808080"/>
                </a:solidFill>
                <a:latin typeface="Courier New"/>
                <a:cs typeface="Courier New"/>
              </a:rPr>
              <a:t>m</a:t>
            </a:r>
            <a:r>
              <a:rPr sz="1800" b="1" i="1" spc="-15" dirty="0">
                <a:solidFill>
                  <a:srgbClr val="808080"/>
                </a:solidFill>
                <a:latin typeface="Courier New"/>
                <a:cs typeface="Courier New"/>
              </a:rPr>
              <a:t>m.c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122227" y="6098375"/>
            <a:ext cx="374459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Arial Narrow"/>
                <a:cs typeface="Arial Narrow"/>
              </a:rPr>
              <a:t>B</a:t>
            </a:r>
            <a:r>
              <a:rPr sz="2400" b="1" dirty="0">
                <a:latin typeface="Arial Narrow"/>
                <a:cs typeface="Arial Narrow"/>
              </a:rPr>
              <a:t>l</a:t>
            </a:r>
            <a:r>
              <a:rPr sz="2400" b="1" spc="-5" dirty="0">
                <a:latin typeface="Arial Narrow"/>
                <a:cs typeface="Arial Narrow"/>
              </a:rPr>
              <a:t>oc</a:t>
            </a:r>
            <a:r>
              <a:rPr sz="2400" b="1" dirty="0">
                <a:latin typeface="Arial Narrow"/>
                <a:cs typeface="Arial Narrow"/>
              </a:rPr>
              <a:t>k</a:t>
            </a:r>
            <a:r>
              <a:rPr sz="2400" b="1" spc="25" dirty="0">
                <a:latin typeface="Arial Narrow"/>
                <a:cs typeface="Arial Narrow"/>
              </a:rPr>
              <a:t> </a:t>
            </a:r>
            <a:r>
              <a:rPr sz="2400" b="1" spc="-5" dirty="0">
                <a:latin typeface="Arial Narrow"/>
                <a:cs typeface="Arial Narrow"/>
              </a:rPr>
              <a:t>s</a:t>
            </a:r>
            <a:r>
              <a:rPr sz="2400" b="1" dirty="0">
                <a:latin typeface="Arial Narrow"/>
                <a:cs typeface="Arial Narrow"/>
              </a:rPr>
              <a:t>ize</a:t>
            </a:r>
            <a:r>
              <a:rPr sz="2400" b="1" spc="10" dirty="0">
                <a:latin typeface="Arial Narrow"/>
                <a:cs typeface="Arial Narrow"/>
              </a:rPr>
              <a:t> </a:t>
            </a:r>
            <a:r>
              <a:rPr sz="2400" b="1" dirty="0">
                <a:latin typeface="Arial Narrow"/>
                <a:cs typeface="Arial Narrow"/>
              </a:rPr>
              <a:t>=</a:t>
            </a:r>
            <a:r>
              <a:rPr sz="2400" b="1" spc="5" dirty="0">
                <a:latin typeface="Arial Narrow"/>
                <a:cs typeface="Arial Narrow"/>
              </a:rPr>
              <a:t> </a:t>
            </a:r>
            <a:r>
              <a:rPr sz="2400" b="1" spc="-5" dirty="0">
                <a:latin typeface="Arial Narrow"/>
                <a:cs typeface="Arial Narrow"/>
              </a:rPr>
              <a:t>32</a:t>
            </a:r>
            <a:r>
              <a:rPr sz="2400" b="1" dirty="0">
                <a:latin typeface="Arial Narrow"/>
                <a:cs typeface="Arial Narrow"/>
              </a:rPr>
              <a:t>B</a:t>
            </a:r>
            <a:r>
              <a:rPr sz="2400" b="1" spc="20" dirty="0">
                <a:latin typeface="Arial Narrow"/>
                <a:cs typeface="Arial Narrow"/>
              </a:rPr>
              <a:t> </a:t>
            </a:r>
            <a:r>
              <a:rPr sz="2400" b="1" dirty="0">
                <a:latin typeface="Arial Narrow"/>
                <a:cs typeface="Arial Narrow"/>
              </a:rPr>
              <a:t>(f</a:t>
            </a:r>
            <a:r>
              <a:rPr sz="2400" b="1" spc="-5" dirty="0">
                <a:latin typeface="Arial Narrow"/>
                <a:cs typeface="Arial Narrow"/>
              </a:rPr>
              <a:t>ou</a:t>
            </a:r>
            <a:r>
              <a:rPr sz="2400" b="1" dirty="0">
                <a:latin typeface="Arial Narrow"/>
                <a:cs typeface="Arial Narrow"/>
              </a:rPr>
              <a:t>r</a:t>
            </a:r>
            <a:r>
              <a:rPr sz="2400" b="1" spc="-30" dirty="0">
                <a:latin typeface="Arial Narrow"/>
                <a:cs typeface="Arial Narrow"/>
              </a:rPr>
              <a:t> </a:t>
            </a:r>
            <a:r>
              <a:rPr sz="2400" b="1" spc="-5" dirty="0">
                <a:latin typeface="Arial Narrow"/>
                <a:cs typeface="Arial Narrow"/>
              </a:rPr>
              <a:t>doub</a:t>
            </a:r>
            <a:r>
              <a:rPr sz="2400" b="1" dirty="0">
                <a:latin typeface="Arial Narrow"/>
                <a:cs typeface="Arial Narrow"/>
              </a:rPr>
              <a:t>l</a:t>
            </a:r>
            <a:r>
              <a:rPr sz="2400" b="1" spc="-5" dirty="0">
                <a:latin typeface="Arial Narrow"/>
                <a:cs typeface="Arial Narrow"/>
              </a:rPr>
              <a:t>es)</a:t>
            </a:r>
            <a:endParaRPr sz="24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74650" y="346210"/>
            <a:ext cx="7591425" cy="812531"/>
          </a:xfrm>
          <a:prstGeom prst="rect">
            <a:avLst/>
          </a:prstGeom>
        </p:spPr>
        <p:txBody>
          <a:bodyPr vert="horz" wrap="square" lIns="0" tIns="256033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zh-CN" altLang="en-US" spc="-20" dirty="0"/>
              <a:t>矩阵乘法</a:t>
            </a:r>
            <a:r>
              <a:rPr spc="-20" dirty="0"/>
              <a:t>(</a:t>
            </a:r>
            <a:r>
              <a:rPr dirty="0">
                <a:latin typeface="Courier New"/>
                <a:cs typeface="Courier New"/>
              </a:rPr>
              <a:t>ikj</a:t>
            </a:r>
            <a:r>
              <a:rPr spc="-5" dirty="0"/>
              <a:t>)</a:t>
            </a:r>
          </a:p>
        </p:txBody>
      </p:sp>
      <p:sp>
        <p:nvSpPr>
          <p:cNvPr id="4" name="object 4"/>
          <p:cNvSpPr/>
          <p:nvPr/>
        </p:nvSpPr>
        <p:spPr>
          <a:xfrm>
            <a:off x="495300" y="1761744"/>
            <a:ext cx="4457698" cy="265937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54152" y="1671840"/>
            <a:ext cx="4500371" cy="281938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90537" y="1757362"/>
            <a:ext cx="4314825" cy="2515870"/>
          </a:xfrm>
          <a:custGeom>
            <a:avLst/>
            <a:gdLst/>
            <a:ahLst/>
            <a:cxnLst/>
            <a:rect l="l" t="t" r="r" b="b"/>
            <a:pathLst>
              <a:path w="4314825" h="2515870">
                <a:moveTo>
                  <a:pt x="0" y="0"/>
                </a:moveTo>
                <a:lnTo>
                  <a:pt x="4314825" y="0"/>
                </a:lnTo>
                <a:lnTo>
                  <a:pt x="4314825" y="2515819"/>
                </a:lnTo>
                <a:lnTo>
                  <a:pt x="0" y="2515819"/>
                </a:lnTo>
                <a:lnTo>
                  <a:pt x="0" y="0"/>
                </a:lnTo>
                <a:close/>
              </a:path>
            </a:pathLst>
          </a:custGeom>
          <a:solidFill>
            <a:srgbClr val="F6F5B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90537" y="1757362"/>
            <a:ext cx="4314825" cy="2515870"/>
          </a:xfrm>
          <a:custGeom>
            <a:avLst/>
            <a:gdLst/>
            <a:ahLst/>
            <a:cxnLst/>
            <a:rect l="l" t="t" r="r" b="b"/>
            <a:pathLst>
              <a:path w="4314825" h="2515870">
                <a:moveTo>
                  <a:pt x="0" y="0"/>
                </a:moveTo>
                <a:lnTo>
                  <a:pt x="4314825" y="0"/>
                </a:lnTo>
                <a:lnTo>
                  <a:pt x="4314825" y="2515819"/>
                </a:lnTo>
                <a:lnTo>
                  <a:pt x="0" y="2515819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80796" y="1763351"/>
            <a:ext cx="3959225" cy="2121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  <a:tabLst>
                <a:tab pos="956944" algn="l"/>
              </a:tabLst>
            </a:pPr>
            <a:r>
              <a:rPr sz="1800" b="1" dirty="0">
                <a:latin typeface="Courier New"/>
                <a:cs typeface="Courier New"/>
              </a:rPr>
              <a:t>/*</a:t>
            </a:r>
            <a:r>
              <a:rPr sz="1800" b="1" spc="-1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i</a:t>
            </a:r>
            <a:r>
              <a:rPr sz="1800" b="1" spc="-15" dirty="0">
                <a:latin typeface="Courier New"/>
                <a:cs typeface="Courier New"/>
              </a:rPr>
              <a:t>k</a:t>
            </a:r>
            <a:r>
              <a:rPr sz="1800" b="1" dirty="0">
                <a:latin typeface="Courier New"/>
                <a:cs typeface="Courier New"/>
              </a:rPr>
              <a:t>j	</a:t>
            </a:r>
            <a:r>
              <a:rPr sz="1800" b="1" spc="-15" dirty="0">
                <a:latin typeface="Courier New"/>
                <a:cs typeface="Courier New"/>
              </a:rPr>
              <a:t>*/</a:t>
            </a:r>
            <a:endParaRPr sz="1800">
              <a:latin typeface="Courier New"/>
              <a:cs typeface="Courier New"/>
            </a:endParaRPr>
          </a:p>
          <a:p>
            <a:pPr marL="274320" marR="812165" indent="-274320">
              <a:lnSpc>
                <a:spcPct val="114999"/>
              </a:lnSpc>
            </a:pPr>
            <a:r>
              <a:rPr sz="1800" b="1" dirty="0">
                <a:latin typeface="Courier New"/>
                <a:cs typeface="Courier New"/>
              </a:rPr>
              <a:t>for</a:t>
            </a:r>
            <a:r>
              <a:rPr sz="1800" b="1" spc="-15" dirty="0">
                <a:latin typeface="Courier New"/>
                <a:cs typeface="Courier New"/>
              </a:rPr>
              <a:t> (</a:t>
            </a:r>
            <a:r>
              <a:rPr sz="1800" b="1" dirty="0">
                <a:latin typeface="Courier New"/>
                <a:cs typeface="Courier New"/>
              </a:rPr>
              <a:t>i=</a:t>
            </a:r>
            <a:r>
              <a:rPr sz="1800" b="1" spc="-15" dirty="0">
                <a:latin typeface="Courier New"/>
                <a:cs typeface="Courier New"/>
              </a:rPr>
              <a:t>0</a:t>
            </a:r>
            <a:r>
              <a:rPr sz="1800" b="1" dirty="0">
                <a:latin typeface="Courier New"/>
                <a:cs typeface="Courier New"/>
              </a:rPr>
              <a:t>;</a:t>
            </a:r>
            <a:r>
              <a:rPr sz="1800" b="1" spc="-15" dirty="0">
                <a:latin typeface="Courier New"/>
                <a:cs typeface="Courier New"/>
              </a:rPr>
              <a:t> i</a:t>
            </a:r>
            <a:r>
              <a:rPr sz="1800" b="1" dirty="0">
                <a:latin typeface="Courier New"/>
                <a:cs typeface="Courier New"/>
              </a:rPr>
              <a:t>&lt;n;</a:t>
            </a:r>
            <a:r>
              <a:rPr sz="1800" b="1" spc="-15" dirty="0">
                <a:latin typeface="Courier New"/>
                <a:cs typeface="Courier New"/>
              </a:rPr>
              <a:t> i</a:t>
            </a:r>
            <a:r>
              <a:rPr sz="1800" b="1" dirty="0">
                <a:latin typeface="Courier New"/>
                <a:cs typeface="Courier New"/>
              </a:rPr>
              <a:t>++)</a:t>
            </a:r>
            <a:r>
              <a:rPr sz="1800" b="1" spc="-1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{ </a:t>
            </a:r>
            <a:r>
              <a:rPr sz="1800" b="1" spc="-15" dirty="0">
                <a:latin typeface="Courier New"/>
                <a:cs typeface="Courier New"/>
              </a:rPr>
              <a:t>f</a:t>
            </a:r>
            <a:r>
              <a:rPr sz="1800" b="1" dirty="0">
                <a:latin typeface="Courier New"/>
                <a:cs typeface="Courier New"/>
              </a:rPr>
              <a:t>or</a:t>
            </a:r>
            <a:r>
              <a:rPr sz="1800" b="1" spc="-1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(</a:t>
            </a:r>
            <a:r>
              <a:rPr sz="1800" b="1" spc="-15" dirty="0">
                <a:latin typeface="Courier New"/>
                <a:cs typeface="Courier New"/>
              </a:rPr>
              <a:t>k</a:t>
            </a:r>
            <a:r>
              <a:rPr sz="1800" b="1" dirty="0">
                <a:latin typeface="Courier New"/>
                <a:cs typeface="Courier New"/>
              </a:rPr>
              <a:t>=</a:t>
            </a:r>
            <a:r>
              <a:rPr sz="1800" b="1" spc="-15" dirty="0">
                <a:latin typeface="Courier New"/>
                <a:cs typeface="Courier New"/>
              </a:rPr>
              <a:t>0</a:t>
            </a:r>
            <a:r>
              <a:rPr sz="1800" b="1" dirty="0">
                <a:latin typeface="Courier New"/>
                <a:cs typeface="Courier New"/>
              </a:rPr>
              <a:t>;</a:t>
            </a:r>
            <a:r>
              <a:rPr sz="1800" b="1" spc="-1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k</a:t>
            </a:r>
            <a:r>
              <a:rPr sz="1800" b="1" spc="-15" dirty="0">
                <a:latin typeface="Courier New"/>
                <a:cs typeface="Courier New"/>
              </a:rPr>
              <a:t>&lt;</a:t>
            </a:r>
            <a:r>
              <a:rPr sz="1800" b="1" dirty="0">
                <a:latin typeface="Courier New"/>
                <a:cs typeface="Courier New"/>
              </a:rPr>
              <a:t>n;</a:t>
            </a:r>
            <a:r>
              <a:rPr sz="1800" b="1" spc="-1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k</a:t>
            </a:r>
            <a:r>
              <a:rPr sz="1800" b="1" spc="-15" dirty="0">
                <a:latin typeface="Courier New"/>
                <a:cs typeface="Courier New"/>
              </a:rPr>
              <a:t>+</a:t>
            </a:r>
            <a:r>
              <a:rPr sz="1800" b="1" dirty="0">
                <a:latin typeface="Courier New"/>
                <a:cs typeface="Courier New"/>
              </a:rPr>
              <a:t>+)</a:t>
            </a:r>
            <a:r>
              <a:rPr sz="1800" b="1" spc="-2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  <a:p>
            <a:pPr marL="546735">
              <a:lnSpc>
                <a:spcPct val="100000"/>
              </a:lnSpc>
              <a:spcBef>
                <a:spcPts val="320"/>
              </a:spcBef>
            </a:pPr>
            <a:r>
              <a:rPr sz="1800" b="1" dirty="0">
                <a:latin typeface="Courier New"/>
                <a:cs typeface="Courier New"/>
              </a:rPr>
              <a:t>r</a:t>
            </a:r>
            <a:r>
              <a:rPr sz="1800" b="1" spc="-1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=</a:t>
            </a:r>
            <a:r>
              <a:rPr sz="1800" b="1" spc="-1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a</a:t>
            </a:r>
            <a:r>
              <a:rPr sz="1800" b="1" spc="-15" dirty="0">
                <a:latin typeface="Courier New"/>
                <a:cs typeface="Courier New"/>
              </a:rPr>
              <a:t>[i</a:t>
            </a:r>
            <a:r>
              <a:rPr sz="1800" b="1" dirty="0">
                <a:latin typeface="Courier New"/>
                <a:cs typeface="Courier New"/>
              </a:rPr>
              <a:t>][</a:t>
            </a:r>
            <a:r>
              <a:rPr sz="1800" b="1" spc="-15" dirty="0">
                <a:latin typeface="Courier New"/>
                <a:cs typeface="Courier New"/>
              </a:rPr>
              <a:t>k</a:t>
            </a:r>
            <a:r>
              <a:rPr sz="1800" b="1" dirty="0">
                <a:latin typeface="Courier New"/>
                <a:cs typeface="Courier New"/>
              </a:rPr>
              <a:t>];</a:t>
            </a:r>
            <a:endParaRPr sz="1800">
              <a:latin typeface="Courier New"/>
              <a:cs typeface="Courier New"/>
            </a:endParaRPr>
          </a:p>
          <a:p>
            <a:pPr marL="819785" indent="-273050">
              <a:lnSpc>
                <a:spcPct val="114999"/>
              </a:lnSpc>
            </a:pPr>
            <a:r>
              <a:rPr sz="1800" b="1" spc="-15" dirty="0">
                <a:latin typeface="Courier New"/>
                <a:cs typeface="Courier New"/>
              </a:rPr>
              <a:t>f</a:t>
            </a:r>
            <a:r>
              <a:rPr sz="1800" b="1" dirty="0">
                <a:latin typeface="Courier New"/>
                <a:cs typeface="Courier New"/>
              </a:rPr>
              <a:t>or</a:t>
            </a:r>
            <a:r>
              <a:rPr sz="1800" b="1" spc="-1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(</a:t>
            </a:r>
            <a:r>
              <a:rPr sz="1800" b="1" spc="-15" dirty="0">
                <a:latin typeface="Courier New"/>
                <a:cs typeface="Courier New"/>
              </a:rPr>
              <a:t>j=</a:t>
            </a:r>
            <a:r>
              <a:rPr sz="1800" b="1" dirty="0">
                <a:latin typeface="Courier New"/>
                <a:cs typeface="Courier New"/>
              </a:rPr>
              <a:t>0;</a:t>
            </a:r>
            <a:r>
              <a:rPr sz="1800" b="1" spc="-1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j</a:t>
            </a:r>
            <a:r>
              <a:rPr sz="1800" b="1" spc="-15" dirty="0">
                <a:latin typeface="Courier New"/>
                <a:cs typeface="Courier New"/>
              </a:rPr>
              <a:t>&lt;</a:t>
            </a:r>
            <a:r>
              <a:rPr sz="1800" b="1" dirty="0">
                <a:latin typeface="Courier New"/>
                <a:cs typeface="Courier New"/>
              </a:rPr>
              <a:t>n;</a:t>
            </a:r>
            <a:r>
              <a:rPr sz="1800" b="1" spc="-1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j</a:t>
            </a:r>
            <a:r>
              <a:rPr sz="1800" b="1" spc="-15" dirty="0">
                <a:latin typeface="Courier New"/>
                <a:cs typeface="Courier New"/>
              </a:rPr>
              <a:t>++</a:t>
            </a:r>
            <a:r>
              <a:rPr sz="1800" b="1" dirty="0">
                <a:latin typeface="Courier New"/>
                <a:cs typeface="Courier New"/>
              </a:rPr>
              <a:t>) </a:t>
            </a:r>
            <a:r>
              <a:rPr sz="1800" b="1" dirty="0">
                <a:solidFill>
                  <a:srgbClr val="C00000"/>
                </a:solidFill>
                <a:latin typeface="Courier New"/>
                <a:cs typeface="Courier New"/>
              </a:rPr>
              <a:t>c</a:t>
            </a:r>
            <a:r>
              <a:rPr sz="1800" b="1" spc="-15" dirty="0">
                <a:solidFill>
                  <a:srgbClr val="C00000"/>
                </a:solidFill>
                <a:latin typeface="Courier New"/>
                <a:cs typeface="Courier New"/>
              </a:rPr>
              <a:t>[</a:t>
            </a:r>
            <a:r>
              <a:rPr sz="1800" b="1" dirty="0">
                <a:solidFill>
                  <a:srgbClr val="C00000"/>
                </a:solidFill>
                <a:latin typeface="Courier New"/>
                <a:cs typeface="Courier New"/>
              </a:rPr>
              <a:t>i</a:t>
            </a:r>
            <a:r>
              <a:rPr sz="1800" b="1" spc="-15" dirty="0">
                <a:solidFill>
                  <a:srgbClr val="C00000"/>
                </a:solidFill>
                <a:latin typeface="Courier New"/>
                <a:cs typeface="Courier New"/>
              </a:rPr>
              <a:t>][</a:t>
            </a:r>
            <a:r>
              <a:rPr sz="1800" b="1" dirty="0">
                <a:solidFill>
                  <a:srgbClr val="C00000"/>
                </a:solidFill>
                <a:latin typeface="Courier New"/>
                <a:cs typeface="Courier New"/>
              </a:rPr>
              <a:t>j]</a:t>
            </a:r>
            <a:r>
              <a:rPr sz="1800" b="1" spc="-1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ourier New"/>
                <a:cs typeface="Courier New"/>
              </a:rPr>
              <a:t>+=</a:t>
            </a:r>
            <a:r>
              <a:rPr sz="1800" b="1" spc="-1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ourier New"/>
                <a:cs typeface="Courier New"/>
              </a:rPr>
              <a:t>r</a:t>
            </a:r>
            <a:r>
              <a:rPr sz="1800" b="1" spc="-1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ourier New"/>
                <a:cs typeface="Courier New"/>
              </a:rPr>
              <a:t>*</a:t>
            </a:r>
            <a:r>
              <a:rPr sz="1800" b="1" spc="-15" dirty="0">
                <a:solidFill>
                  <a:srgbClr val="C00000"/>
                </a:solidFill>
                <a:latin typeface="Courier New"/>
                <a:cs typeface="Courier New"/>
              </a:rPr>
              <a:t> b</a:t>
            </a:r>
            <a:r>
              <a:rPr sz="1800" b="1" dirty="0">
                <a:solidFill>
                  <a:srgbClr val="C00000"/>
                </a:solidFill>
                <a:latin typeface="Courier New"/>
                <a:cs typeface="Courier New"/>
              </a:rPr>
              <a:t>[k</a:t>
            </a:r>
            <a:r>
              <a:rPr sz="1800" b="1" spc="-15" dirty="0">
                <a:solidFill>
                  <a:srgbClr val="C00000"/>
                </a:solidFill>
                <a:latin typeface="Courier New"/>
                <a:cs typeface="Courier New"/>
              </a:rPr>
              <a:t>]</a:t>
            </a:r>
            <a:r>
              <a:rPr sz="1800" b="1" dirty="0">
                <a:solidFill>
                  <a:srgbClr val="C00000"/>
                </a:solidFill>
                <a:latin typeface="Courier New"/>
                <a:cs typeface="Courier New"/>
              </a:rPr>
              <a:t>[</a:t>
            </a:r>
            <a:r>
              <a:rPr sz="1800" b="1" spc="-15" dirty="0">
                <a:solidFill>
                  <a:srgbClr val="C00000"/>
                </a:solidFill>
                <a:latin typeface="Courier New"/>
                <a:cs typeface="Courier New"/>
              </a:rPr>
              <a:t>j</a:t>
            </a:r>
            <a:r>
              <a:rPr sz="1800" b="1" dirty="0">
                <a:solidFill>
                  <a:srgbClr val="C00000"/>
                </a:solidFill>
                <a:latin typeface="Courier New"/>
                <a:cs typeface="Courier New"/>
              </a:rPr>
              <a:t>];</a:t>
            </a:r>
            <a:endParaRPr sz="1800">
              <a:latin typeface="Courier New"/>
              <a:cs typeface="Courier New"/>
            </a:endParaRPr>
          </a:p>
          <a:p>
            <a:pPr marL="274320">
              <a:lnSpc>
                <a:spcPct val="100000"/>
              </a:lnSpc>
              <a:spcBef>
                <a:spcPts val="325"/>
              </a:spcBef>
            </a:pPr>
            <a:r>
              <a:rPr sz="1800" b="1" dirty="0"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80796" y="3971627"/>
            <a:ext cx="137160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1800" b="1" dirty="0"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559550" y="2378075"/>
            <a:ext cx="596900" cy="520700"/>
          </a:xfrm>
          <a:custGeom>
            <a:avLst/>
            <a:gdLst/>
            <a:ahLst/>
            <a:cxnLst/>
            <a:rect l="l" t="t" r="r" b="b"/>
            <a:pathLst>
              <a:path w="596900" h="520700">
                <a:moveTo>
                  <a:pt x="0" y="0"/>
                </a:moveTo>
                <a:lnTo>
                  <a:pt x="596900" y="0"/>
                </a:lnTo>
                <a:lnTo>
                  <a:pt x="596900" y="520700"/>
                </a:lnTo>
                <a:lnTo>
                  <a:pt x="0" y="5207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727950" y="2378075"/>
            <a:ext cx="596900" cy="520700"/>
          </a:xfrm>
          <a:custGeom>
            <a:avLst/>
            <a:gdLst/>
            <a:ahLst/>
            <a:cxnLst/>
            <a:rect l="l" t="t" r="r" b="b"/>
            <a:pathLst>
              <a:path w="596900" h="520700">
                <a:moveTo>
                  <a:pt x="0" y="0"/>
                </a:moveTo>
                <a:lnTo>
                  <a:pt x="596900" y="0"/>
                </a:lnTo>
                <a:lnTo>
                  <a:pt x="596900" y="520700"/>
                </a:lnTo>
                <a:lnTo>
                  <a:pt x="0" y="5207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549900" y="3037713"/>
            <a:ext cx="172720" cy="28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dirty="0">
                <a:latin typeface="Calibri"/>
                <a:cs typeface="Calibri"/>
              </a:rPr>
              <a:t>A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769248" y="3037713"/>
            <a:ext cx="163830" cy="28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dirty="0">
                <a:latin typeface="Calibri"/>
                <a:cs typeface="Calibri"/>
              </a:rPr>
              <a:t>B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926496" y="3037713"/>
            <a:ext cx="161290" cy="28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dirty="0">
                <a:latin typeface="Calibri"/>
                <a:cs typeface="Calibri"/>
              </a:rPr>
              <a:t>C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394790" y="2656714"/>
            <a:ext cx="428625" cy="28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dirty="0">
                <a:latin typeface="Calibri"/>
                <a:cs typeface="Calibri"/>
              </a:rPr>
              <a:t>(</a:t>
            </a:r>
            <a:r>
              <a:rPr sz="2000" spc="-5" dirty="0">
                <a:latin typeface="Calibri"/>
                <a:cs typeface="Calibri"/>
              </a:rPr>
              <a:t>i</a:t>
            </a:r>
            <a:r>
              <a:rPr sz="2000" dirty="0">
                <a:latin typeface="Calibri"/>
                <a:cs typeface="Calibri"/>
              </a:rPr>
              <a:t>,</a:t>
            </a:r>
            <a:r>
              <a:rPr sz="2000" spc="-5" dirty="0">
                <a:latin typeface="Calibri"/>
                <a:cs typeface="Calibri"/>
              </a:rPr>
              <a:t>*</a:t>
            </a:r>
            <a:r>
              <a:rPr sz="2000" dirty="0">
                <a:latin typeface="Calibri"/>
                <a:cs typeface="Calibri"/>
              </a:rPr>
              <a:t>)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734300" y="2752725"/>
            <a:ext cx="584200" cy="0"/>
          </a:xfrm>
          <a:custGeom>
            <a:avLst/>
            <a:gdLst/>
            <a:ahLst/>
            <a:cxnLst/>
            <a:rect l="l" t="t" r="r" b="b"/>
            <a:pathLst>
              <a:path w="584200">
                <a:moveTo>
                  <a:pt x="0" y="0"/>
                </a:moveTo>
                <a:lnTo>
                  <a:pt x="584200" y="0"/>
                </a:lnTo>
              </a:path>
            </a:pathLst>
          </a:custGeom>
          <a:ln w="5715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422900" y="2790825"/>
            <a:ext cx="50800" cy="0"/>
          </a:xfrm>
          <a:custGeom>
            <a:avLst/>
            <a:gdLst/>
            <a:ahLst/>
            <a:cxnLst/>
            <a:rect l="l" t="t" r="r" b="b"/>
            <a:pathLst>
              <a:path w="50800">
                <a:moveTo>
                  <a:pt x="0" y="0"/>
                </a:moveTo>
                <a:lnTo>
                  <a:pt x="50800" y="0"/>
                </a:lnTo>
              </a:path>
            </a:pathLst>
          </a:custGeom>
          <a:ln w="508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422900" y="2765425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50800" y="0"/>
                </a:lnTo>
                <a:lnTo>
                  <a:pt x="508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ln w="5715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5340350" y="2378075"/>
            <a:ext cx="596900" cy="5207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5875">
              <a:lnSpc>
                <a:spcPct val="100000"/>
              </a:lnSpc>
            </a:pPr>
            <a:r>
              <a:rPr sz="2000" dirty="0">
                <a:latin typeface="Calibri"/>
                <a:cs typeface="Calibri"/>
              </a:rPr>
              <a:t>(</a:t>
            </a:r>
            <a:r>
              <a:rPr sz="2000" spc="-5" dirty="0">
                <a:latin typeface="Calibri"/>
                <a:cs typeface="Calibri"/>
              </a:rPr>
              <a:t>i</a:t>
            </a:r>
            <a:r>
              <a:rPr sz="2000" dirty="0">
                <a:latin typeface="Calibri"/>
                <a:cs typeface="Calibri"/>
              </a:rPr>
              <a:t>,k)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226362" y="2428113"/>
            <a:ext cx="487045" cy="28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dirty="0">
                <a:latin typeface="Calibri"/>
                <a:cs typeface="Calibri"/>
              </a:rPr>
              <a:t>(k,</a:t>
            </a:r>
            <a:r>
              <a:rPr sz="2000" spc="-5" dirty="0">
                <a:latin typeface="Calibri"/>
                <a:cs typeface="Calibri"/>
              </a:rPr>
              <a:t>*</a:t>
            </a:r>
            <a:r>
              <a:rPr sz="2000" dirty="0">
                <a:latin typeface="Calibri"/>
                <a:cs typeface="Calibri"/>
              </a:rPr>
              <a:t>)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6565900" y="2524125"/>
            <a:ext cx="584200" cy="0"/>
          </a:xfrm>
          <a:custGeom>
            <a:avLst/>
            <a:gdLst/>
            <a:ahLst/>
            <a:cxnLst/>
            <a:rect l="l" t="t" r="r" b="b"/>
            <a:pathLst>
              <a:path w="584200">
                <a:moveTo>
                  <a:pt x="0" y="0"/>
                </a:moveTo>
                <a:lnTo>
                  <a:pt x="584200" y="0"/>
                </a:lnTo>
              </a:path>
            </a:pathLst>
          </a:custGeom>
          <a:ln w="5715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5461000" y="1894713"/>
            <a:ext cx="1157605" cy="28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5" dirty="0">
                <a:latin typeface="Calibri"/>
                <a:cs typeface="Calibri"/>
              </a:rPr>
              <a:t>I</a:t>
            </a:r>
            <a:r>
              <a:rPr sz="2000" dirty="0">
                <a:latin typeface="Calibri"/>
                <a:cs typeface="Calibri"/>
              </a:rPr>
              <a:t>nn</a:t>
            </a:r>
            <a:r>
              <a:rPr sz="2000" spc="-5" dirty="0">
                <a:latin typeface="Calibri"/>
                <a:cs typeface="Calibri"/>
              </a:rPr>
              <a:t>e</a:t>
            </a:r>
            <a:r>
              <a:rPr sz="2000" dirty="0">
                <a:latin typeface="Calibri"/>
                <a:cs typeface="Calibri"/>
              </a:rPr>
              <a:t>r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loo</a:t>
            </a:r>
            <a:r>
              <a:rPr sz="2000" dirty="0">
                <a:latin typeface="Calibri"/>
                <a:cs typeface="Calibri"/>
              </a:rPr>
              <a:t>p: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402425" y="4094934"/>
            <a:ext cx="1016000" cy="28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35" dirty="0">
                <a:latin typeface="Calibri"/>
                <a:cs typeface="Calibri"/>
              </a:rPr>
              <a:t>R</a:t>
            </a:r>
            <a:r>
              <a:rPr sz="2000" spc="-15" dirty="0">
                <a:latin typeface="Calibri"/>
                <a:cs typeface="Calibri"/>
              </a:rPr>
              <a:t>o</a:t>
            </a:r>
            <a:r>
              <a:rPr sz="2000" spc="-10" dirty="0">
                <a:latin typeface="Calibri"/>
                <a:cs typeface="Calibri"/>
              </a:rPr>
              <a:t>w</a:t>
            </a:r>
            <a:r>
              <a:rPr sz="2000" spc="-5" dirty="0">
                <a:latin typeface="Calibri"/>
                <a:cs typeface="Calibri"/>
              </a:rPr>
              <a:t>-wise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6881814" y="3416300"/>
            <a:ext cx="0" cy="563880"/>
          </a:xfrm>
          <a:custGeom>
            <a:avLst/>
            <a:gdLst/>
            <a:ahLst/>
            <a:cxnLst/>
            <a:rect l="l" t="t" r="r" b="b"/>
            <a:pathLst>
              <a:path h="563879">
                <a:moveTo>
                  <a:pt x="0" y="563562"/>
                </a:moveTo>
                <a:lnTo>
                  <a:pt x="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843717" y="3352798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0" y="76200"/>
                </a:lnTo>
                <a:lnTo>
                  <a:pt x="76200" y="76200"/>
                </a:lnTo>
                <a:lnTo>
                  <a:pt x="381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7545385" y="4094988"/>
            <a:ext cx="1016000" cy="28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35" dirty="0">
                <a:latin typeface="Calibri"/>
                <a:cs typeface="Calibri"/>
              </a:rPr>
              <a:t>R</a:t>
            </a:r>
            <a:r>
              <a:rPr sz="2000" spc="-15" dirty="0">
                <a:latin typeface="Calibri"/>
                <a:cs typeface="Calibri"/>
              </a:rPr>
              <a:t>o</a:t>
            </a:r>
            <a:r>
              <a:rPr sz="2000" spc="-10" dirty="0">
                <a:latin typeface="Calibri"/>
                <a:cs typeface="Calibri"/>
              </a:rPr>
              <a:t>w</a:t>
            </a:r>
            <a:r>
              <a:rPr sz="2000" spc="-5" dirty="0">
                <a:latin typeface="Calibri"/>
                <a:cs typeface="Calibri"/>
              </a:rPr>
              <a:t>-wise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8024814" y="3416300"/>
            <a:ext cx="0" cy="563880"/>
          </a:xfrm>
          <a:custGeom>
            <a:avLst/>
            <a:gdLst/>
            <a:ahLst/>
            <a:cxnLst/>
            <a:rect l="l" t="t" r="r" b="b"/>
            <a:pathLst>
              <a:path h="563879">
                <a:moveTo>
                  <a:pt x="0" y="563562"/>
                </a:moveTo>
                <a:lnTo>
                  <a:pt x="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7986717" y="3352798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0" y="76200"/>
                </a:lnTo>
                <a:lnTo>
                  <a:pt x="76200" y="76200"/>
                </a:lnTo>
                <a:lnTo>
                  <a:pt x="381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5305425" y="4102925"/>
            <a:ext cx="564515" cy="28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dirty="0">
                <a:latin typeface="Calibri"/>
                <a:cs typeface="Calibri"/>
              </a:rPr>
              <a:t>F</a:t>
            </a:r>
            <a:r>
              <a:rPr sz="2000" spc="-5" dirty="0">
                <a:latin typeface="Calibri"/>
                <a:cs typeface="Calibri"/>
              </a:rPr>
              <a:t>i</a:t>
            </a:r>
            <a:r>
              <a:rPr sz="2000" spc="-55" dirty="0">
                <a:latin typeface="Calibri"/>
                <a:cs typeface="Calibri"/>
              </a:rPr>
              <a:t>x</a:t>
            </a:r>
            <a:r>
              <a:rPr sz="2000" spc="-5" dirty="0">
                <a:latin typeface="Calibri"/>
                <a:cs typeface="Calibri"/>
              </a:rPr>
              <a:t>e</a:t>
            </a:r>
            <a:r>
              <a:rPr sz="2000" dirty="0">
                <a:latin typeface="Calibri"/>
                <a:cs typeface="Calibri"/>
              </a:rPr>
              <a:t>d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5632450" y="3424237"/>
            <a:ext cx="0" cy="563880"/>
          </a:xfrm>
          <a:custGeom>
            <a:avLst/>
            <a:gdLst/>
            <a:ahLst/>
            <a:cxnLst/>
            <a:rect l="l" t="t" r="r" b="b"/>
            <a:pathLst>
              <a:path h="563879">
                <a:moveTo>
                  <a:pt x="0" y="563562"/>
                </a:moveTo>
                <a:lnTo>
                  <a:pt x="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5594353" y="3360736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0" y="76200"/>
                </a:lnTo>
                <a:lnTo>
                  <a:pt x="76200" y="76200"/>
                </a:lnTo>
                <a:lnTo>
                  <a:pt x="381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522287" y="4957000"/>
            <a:ext cx="3897629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u="heavy" dirty="0">
                <a:latin typeface="Calibri"/>
                <a:cs typeface="Calibri"/>
              </a:rPr>
              <a:t>Mi</a:t>
            </a:r>
            <a:r>
              <a:rPr sz="2400" u="heavy" spc="-10" dirty="0">
                <a:latin typeface="Calibri"/>
                <a:cs typeface="Calibri"/>
              </a:rPr>
              <a:t>ss</a:t>
            </a:r>
            <a:r>
              <a:rPr sz="2400" u="heavy" dirty="0">
                <a:latin typeface="Calibri"/>
                <a:cs typeface="Calibri"/>
              </a:rPr>
              <a:t>es</a:t>
            </a:r>
            <a:r>
              <a:rPr sz="2400" u="heavy" spc="-10" dirty="0">
                <a:latin typeface="Calibri"/>
                <a:cs typeface="Calibri"/>
              </a:rPr>
              <a:t> </a:t>
            </a:r>
            <a:r>
              <a:rPr sz="2400" u="heavy" spc="-5" dirty="0">
                <a:latin typeface="Calibri"/>
                <a:cs typeface="Calibri"/>
              </a:rPr>
              <a:t>p</a:t>
            </a:r>
            <a:r>
              <a:rPr sz="2400" u="heavy" dirty="0">
                <a:latin typeface="Calibri"/>
                <a:cs typeface="Calibri"/>
              </a:rPr>
              <a:t>e</a:t>
            </a:r>
            <a:r>
              <a:rPr sz="2400" u="heavy" spc="-5" dirty="0">
                <a:latin typeface="Calibri"/>
                <a:cs typeface="Calibri"/>
              </a:rPr>
              <a:t>r</a:t>
            </a:r>
            <a:r>
              <a:rPr sz="2400" u="heavy" dirty="0">
                <a:latin typeface="Calibri"/>
                <a:cs typeface="Calibri"/>
              </a:rPr>
              <a:t> i</a:t>
            </a:r>
            <a:r>
              <a:rPr sz="2400" u="heavy" spc="-5" dirty="0">
                <a:latin typeface="Calibri"/>
                <a:cs typeface="Calibri"/>
              </a:rPr>
              <a:t>nn</a:t>
            </a:r>
            <a:r>
              <a:rPr sz="2400" u="heavy" spc="5" dirty="0">
                <a:latin typeface="Calibri"/>
                <a:cs typeface="Calibri"/>
              </a:rPr>
              <a:t>e</a:t>
            </a:r>
            <a:r>
              <a:rPr sz="2400" u="heavy" spc="-5" dirty="0">
                <a:latin typeface="Calibri"/>
                <a:cs typeface="Calibri"/>
              </a:rPr>
              <a:t>r</a:t>
            </a:r>
            <a:r>
              <a:rPr sz="2400" u="heavy" spc="-15" dirty="0">
                <a:latin typeface="Calibri"/>
                <a:cs typeface="Calibri"/>
              </a:rPr>
              <a:t> </a:t>
            </a:r>
            <a:r>
              <a:rPr sz="2400" u="heavy" dirty="0">
                <a:latin typeface="Calibri"/>
                <a:cs typeface="Calibri"/>
              </a:rPr>
              <a:t>l</a:t>
            </a:r>
            <a:r>
              <a:rPr sz="2400" u="heavy" spc="-10" dirty="0">
                <a:latin typeface="Calibri"/>
                <a:cs typeface="Calibri"/>
              </a:rPr>
              <a:t>oo</a:t>
            </a:r>
            <a:r>
              <a:rPr sz="2400" u="heavy" dirty="0">
                <a:latin typeface="Calibri"/>
                <a:cs typeface="Calibri"/>
              </a:rPr>
              <a:t>p</a:t>
            </a:r>
            <a:r>
              <a:rPr sz="2400" u="heavy" spc="5" dirty="0">
                <a:latin typeface="Calibri"/>
                <a:cs typeface="Calibri"/>
              </a:rPr>
              <a:t> </a:t>
            </a:r>
            <a:r>
              <a:rPr sz="2400" u="heavy" dirty="0">
                <a:latin typeface="Calibri"/>
                <a:cs typeface="Calibri"/>
              </a:rPr>
              <a:t>i</a:t>
            </a:r>
            <a:r>
              <a:rPr sz="2400" u="heavy" spc="-25" dirty="0">
                <a:latin typeface="Calibri"/>
                <a:cs typeface="Calibri"/>
              </a:rPr>
              <a:t>t</a:t>
            </a:r>
            <a:r>
              <a:rPr sz="2400" u="heavy" dirty="0">
                <a:latin typeface="Calibri"/>
                <a:cs typeface="Calibri"/>
              </a:rPr>
              <a:t>e</a:t>
            </a:r>
            <a:r>
              <a:rPr sz="2400" u="heavy" spc="-50" dirty="0">
                <a:latin typeface="Calibri"/>
                <a:cs typeface="Calibri"/>
              </a:rPr>
              <a:t>r</a:t>
            </a:r>
            <a:r>
              <a:rPr sz="2400" u="heavy" spc="-25" dirty="0">
                <a:latin typeface="Calibri"/>
                <a:cs typeface="Calibri"/>
              </a:rPr>
              <a:t>a</a:t>
            </a:r>
            <a:r>
              <a:rPr sz="2400" u="heavy" dirty="0">
                <a:latin typeface="Calibri"/>
                <a:cs typeface="Calibri"/>
              </a:rPr>
              <a:t>ti</a:t>
            </a:r>
            <a:r>
              <a:rPr sz="2400" u="heavy" spc="-10" dirty="0">
                <a:latin typeface="Calibri"/>
                <a:cs typeface="Calibri"/>
              </a:rPr>
              <a:t>o</a:t>
            </a:r>
            <a:r>
              <a:rPr sz="2400" u="heavy" spc="-5" dirty="0">
                <a:latin typeface="Calibri"/>
                <a:cs typeface="Calibri"/>
              </a:rPr>
              <a:t>n: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302575" y="5322760"/>
            <a:ext cx="410209" cy="695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103505">
              <a:lnSpc>
                <a:spcPct val="100000"/>
              </a:lnSpc>
            </a:pPr>
            <a:r>
              <a:rPr sz="2400" u="heavy" spc="-5" dirty="0">
                <a:latin typeface="Calibri"/>
                <a:cs typeface="Calibri"/>
              </a:rPr>
              <a:t>A</a:t>
            </a:r>
            <a:r>
              <a:rPr sz="2400" spc="-5" dirty="0">
                <a:latin typeface="Calibri"/>
                <a:cs typeface="Calibri"/>
              </a:rPr>
              <a:t> 0.0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597975" y="5322760"/>
            <a:ext cx="563880" cy="695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185420">
              <a:lnSpc>
                <a:spcPct val="100000"/>
              </a:lnSpc>
            </a:pPr>
            <a:r>
              <a:rPr sz="2400" u="heavy" spc="-5" dirty="0">
                <a:latin typeface="Calibri"/>
                <a:cs typeface="Calibri"/>
              </a:rPr>
              <a:t>B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0.25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911663" y="5322760"/>
            <a:ext cx="563880" cy="695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187325">
              <a:lnSpc>
                <a:spcPct val="100000"/>
              </a:lnSpc>
            </a:pPr>
            <a:r>
              <a:rPr sz="2400" u="heavy" dirty="0">
                <a:latin typeface="Calibri"/>
                <a:cs typeface="Calibri"/>
              </a:rPr>
              <a:t>C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0.25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061799" y="4030174"/>
            <a:ext cx="1637030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1800" b="1" i="1" dirty="0">
                <a:solidFill>
                  <a:srgbClr val="808080"/>
                </a:solidFill>
                <a:latin typeface="Courier New"/>
                <a:cs typeface="Courier New"/>
              </a:rPr>
              <a:t>ma</a:t>
            </a:r>
            <a:r>
              <a:rPr sz="1800" b="1" i="1" spc="-15" dirty="0">
                <a:solidFill>
                  <a:srgbClr val="808080"/>
                </a:solidFill>
                <a:latin typeface="Courier New"/>
                <a:cs typeface="Courier New"/>
              </a:rPr>
              <a:t>t</a:t>
            </a:r>
            <a:r>
              <a:rPr sz="1800" b="1" i="1" dirty="0">
                <a:solidFill>
                  <a:srgbClr val="808080"/>
                </a:solidFill>
                <a:latin typeface="Courier New"/>
                <a:cs typeface="Courier New"/>
              </a:rPr>
              <a:t>m</a:t>
            </a:r>
            <a:r>
              <a:rPr sz="1800" b="1" i="1" spc="-15" dirty="0">
                <a:solidFill>
                  <a:srgbClr val="808080"/>
                </a:solidFill>
                <a:latin typeface="Courier New"/>
                <a:cs typeface="Courier New"/>
              </a:rPr>
              <a:t>u</a:t>
            </a:r>
            <a:r>
              <a:rPr sz="1800" b="1" i="1" dirty="0">
                <a:solidFill>
                  <a:srgbClr val="808080"/>
                </a:solidFill>
                <a:latin typeface="Courier New"/>
                <a:cs typeface="Courier New"/>
              </a:rPr>
              <a:t>lt</a:t>
            </a:r>
            <a:r>
              <a:rPr sz="1800" b="1" i="1" spc="-15" dirty="0">
                <a:solidFill>
                  <a:srgbClr val="808080"/>
                </a:solidFill>
                <a:latin typeface="Courier New"/>
                <a:cs typeface="Courier New"/>
              </a:rPr>
              <a:t>/</a:t>
            </a:r>
            <a:r>
              <a:rPr sz="1800" b="1" i="1" dirty="0">
                <a:solidFill>
                  <a:srgbClr val="808080"/>
                </a:solidFill>
                <a:latin typeface="Courier New"/>
                <a:cs typeface="Courier New"/>
              </a:rPr>
              <a:t>m</a:t>
            </a:r>
            <a:r>
              <a:rPr sz="1800" b="1" i="1" spc="-15" dirty="0">
                <a:solidFill>
                  <a:srgbClr val="808080"/>
                </a:solidFill>
                <a:latin typeface="Courier New"/>
                <a:cs typeface="Courier New"/>
              </a:rPr>
              <a:t>m.c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122227" y="6098375"/>
            <a:ext cx="374459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Arial Narrow"/>
                <a:cs typeface="Arial Narrow"/>
              </a:rPr>
              <a:t>B</a:t>
            </a:r>
            <a:r>
              <a:rPr sz="2400" b="1" dirty="0">
                <a:latin typeface="Arial Narrow"/>
                <a:cs typeface="Arial Narrow"/>
              </a:rPr>
              <a:t>l</a:t>
            </a:r>
            <a:r>
              <a:rPr sz="2400" b="1" spc="-5" dirty="0">
                <a:latin typeface="Arial Narrow"/>
                <a:cs typeface="Arial Narrow"/>
              </a:rPr>
              <a:t>oc</a:t>
            </a:r>
            <a:r>
              <a:rPr sz="2400" b="1" dirty="0">
                <a:latin typeface="Arial Narrow"/>
                <a:cs typeface="Arial Narrow"/>
              </a:rPr>
              <a:t>k</a:t>
            </a:r>
            <a:r>
              <a:rPr sz="2400" b="1" spc="25" dirty="0">
                <a:latin typeface="Arial Narrow"/>
                <a:cs typeface="Arial Narrow"/>
              </a:rPr>
              <a:t> </a:t>
            </a:r>
            <a:r>
              <a:rPr sz="2400" b="1" spc="-5" dirty="0">
                <a:latin typeface="Arial Narrow"/>
                <a:cs typeface="Arial Narrow"/>
              </a:rPr>
              <a:t>s</a:t>
            </a:r>
            <a:r>
              <a:rPr sz="2400" b="1" dirty="0">
                <a:latin typeface="Arial Narrow"/>
                <a:cs typeface="Arial Narrow"/>
              </a:rPr>
              <a:t>ize</a:t>
            </a:r>
            <a:r>
              <a:rPr sz="2400" b="1" spc="10" dirty="0">
                <a:latin typeface="Arial Narrow"/>
                <a:cs typeface="Arial Narrow"/>
              </a:rPr>
              <a:t> </a:t>
            </a:r>
            <a:r>
              <a:rPr sz="2400" b="1" dirty="0">
                <a:latin typeface="Arial Narrow"/>
                <a:cs typeface="Arial Narrow"/>
              </a:rPr>
              <a:t>=</a:t>
            </a:r>
            <a:r>
              <a:rPr sz="2400" b="1" spc="5" dirty="0">
                <a:latin typeface="Arial Narrow"/>
                <a:cs typeface="Arial Narrow"/>
              </a:rPr>
              <a:t> </a:t>
            </a:r>
            <a:r>
              <a:rPr sz="2400" b="1" spc="-5" dirty="0">
                <a:latin typeface="Arial Narrow"/>
                <a:cs typeface="Arial Narrow"/>
              </a:rPr>
              <a:t>32</a:t>
            </a:r>
            <a:r>
              <a:rPr sz="2400" b="1" dirty="0">
                <a:latin typeface="Arial Narrow"/>
                <a:cs typeface="Arial Narrow"/>
              </a:rPr>
              <a:t>B</a:t>
            </a:r>
            <a:r>
              <a:rPr sz="2400" b="1" spc="20" dirty="0">
                <a:latin typeface="Arial Narrow"/>
                <a:cs typeface="Arial Narrow"/>
              </a:rPr>
              <a:t> </a:t>
            </a:r>
            <a:r>
              <a:rPr sz="2400" b="1" dirty="0">
                <a:latin typeface="Arial Narrow"/>
                <a:cs typeface="Arial Narrow"/>
              </a:rPr>
              <a:t>(f</a:t>
            </a:r>
            <a:r>
              <a:rPr sz="2400" b="1" spc="-5" dirty="0">
                <a:latin typeface="Arial Narrow"/>
                <a:cs typeface="Arial Narrow"/>
              </a:rPr>
              <a:t>ou</a:t>
            </a:r>
            <a:r>
              <a:rPr sz="2400" b="1" dirty="0">
                <a:latin typeface="Arial Narrow"/>
                <a:cs typeface="Arial Narrow"/>
              </a:rPr>
              <a:t>r</a:t>
            </a:r>
            <a:r>
              <a:rPr sz="2400" b="1" spc="-30" dirty="0">
                <a:latin typeface="Arial Narrow"/>
                <a:cs typeface="Arial Narrow"/>
              </a:rPr>
              <a:t> </a:t>
            </a:r>
            <a:r>
              <a:rPr sz="2400" b="1" spc="-5" dirty="0">
                <a:latin typeface="Arial Narrow"/>
                <a:cs typeface="Arial Narrow"/>
              </a:rPr>
              <a:t>doub</a:t>
            </a:r>
            <a:r>
              <a:rPr sz="2400" b="1" dirty="0">
                <a:latin typeface="Arial Narrow"/>
                <a:cs typeface="Arial Narrow"/>
              </a:rPr>
              <a:t>l</a:t>
            </a:r>
            <a:r>
              <a:rPr sz="2400" b="1" spc="-5" dirty="0">
                <a:latin typeface="Arial Narrow"/>
                <a:cs typeface="Arial Narrow"/>
              </a:rPr>
              <a:t>es)</a:t>
            </a:r>
            <a:endParaRPr sz="24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74650" y="346210"/>
            <a:ext cx="7591425" cy="812531"/>
          </a:xfrm>
          <a:prstGeom prst="rect">
            <a:avLst/>
          </a:prstGeom>
        </p:spPr>
        <p:txBody>
          <a:bodyPr vert="horz" wrap="square" lIns="0" tIns="256033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zh-CN" altLang="en-US" spc="-20" dirty="0"/>
              <a:t>矩阵乘法</a:t>
            </a:r>
            <a:r>
              <a:rPr spc="-20" dirty="0"/>
              <a:t>(</a:t>
            </a:r>
            <a:r>
              <a:rPr dirty="0">
                <a:latin typeface="Courier New"/>
                <a:cs typeface="Courier New"/>
              </a:rPr>
              <a:t>jki</a:t>
            </a:r>
            <a:r>
              <a:rPr spc="-5" dirty="0"/>
              <a:t>)</a:t>
            </a:r>
          </a:p>
        </p:txBody>
      </p:sp>
      <p:sp>
        <p:nvSpPr>
          <p:cNvPr id="4" name="object 4"/>
          <p:cNvSpPr/>
          <p:nvPr/>
        </p:nvSpPr>
        <p:spPr>
          <a:xfrm>
            <a:off x="571500" y="1770888"/>
            <a:ext cx="4495799" cy="265937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30352" y="1682496"/>
            <a:ext cx="4500371" cy="28193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66737" y="1766887"/>
            <a:ext cx="4352925" cy="2515870"/>
          </a:xfrm>
          <a:custGeom>
            <a:avLst/>
            <a:gdLst/>
            <a:ahLst/>
            <a:cxnLst/>
            <a:rect l="l" t="t" r="r" b="b"/>
            <a:pathLst>
              <a:path w="4352925" h="2515870">
                <a:moveTo>
                  <a:pt x="0" y="0"/>
                </a:moveTo>
                <a:lnTo>
                  <a:pt x="4352925" y="0"/>
                </a:lnTo>
                <a:lnTo>
                  <a:pt x="4352925" y="2515819"/>
                </a:lnTo>
                <a:lnTo>
                  <a:pt x="0" y="2515819"/>
                </a:lnTo>
                <a:lnTo>
                  <a:pt x="0" y="0"/>
                </a:lnTo>
                <a:close/>
              </a:path>
            </a:pathLst>
          </a:custGeom>
          <a:solidFill>
            <a:srgbClr val="F6F5B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66737" y="1766887"/>
            <a:ext cx="4352925" cy="2515870"/>
          </a:xfrm>
          <a:custGeom>
            <a:avLst/>
            <a:gdLst/>
            <a:ahLst/>
            <a:cxnLst/>
            <a:rect l="l" t="t" r="r" b="b"/>
            <a:pathLst>
              <a:path w="4352925" h="2515870">
                <a:moveTo>
                  <a:pt x="0" y="0"/>
                </a:moveTo>
                <a:lnTo>
                  <a:pt x="4352925" y="0"/>
                </a:lnTo>
                <a:lnTo>
                  <a:pt x="4352925" y="2515819"/>
                </a:lnTo>
                <a:lnTo>
                  <a:pt x="0" y="2515819"/>
                </a:lnTo>
                <a:lnTo>
                  <a:pt x="0" y="0"/>
                </a:lnTo>
                <a:close/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56996" y="1772876"/>
            <a:ext cx="3959860" cy="2121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  <a:tabLst>
                <a:tab pos="956944" algn="l"/>
              </a:tabLst>
            </a:pPr>
            <a:r>
              <a:rPr sz="1800" b="1" dirty="0">
                <a:latin typeface="Courier New"/>
                <a:cs typeface="Courier New"/>
              </a:rPr>
              <a:t>/*</a:t>
            </a:r>
            <a:r>
              <a:rPr sz="1800" b="1" spc="-1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j</a:t>
            </a:r>
            <a:r>
              <a:rPr sz="1800" b="1" spc="-15" dirty="0">
                <a:latin typeface="Courier New"/>
                <a:cs typeface="Courier New"/>
              </a:rPr>
              <a:t>k</a:t>
            </a:r>
            <a:r>
              <a:rPr sz="1800" b="1" dirty="0">
                <a:latin typeface="Courier New"/>
                <a:cs typeface="Courier New"/>
              </a:rPr>
              <a:t>i	</a:t>
            </a:r>
            <a:r>
              <a:rPr sz="1800" b="1" spc="-15" dirty="0">
                <a:latin typeface="Courier New"/>
                <a:cs typeface="Courier New"/>
              </a:rPr>
              <a:t>*/</a:t>
            </a:r>
            <a:endParaRPr sz="1800">
              <a:latin typeface="Courier New"/>
              <a:cs typeface="Courier New"/>
            </a:endParaRPr>
          </a:p>
          <a:p>
            <a:pPr marL="274320" marR="812165" indent="-274955">
              <a:lnSpc>
                <a:spcPct val="114999"/>
              </a:lnSpc>
            </a:pPr>
            <a:r>
              <a:rPr sz="1800" b="1" dirty="0">
                <a:latin typeface="Courier New"/>
                <a:cs typeface="Courier New"/>
              </a:rPr>
              <a:t>for</a:t>
            </a:r>
            <a:r>
              <a:rPr sz="1800" b="1" spc="-15" dirty="0">
                <a:latin typeface="Courier New"/>
                <a:cs typeface="Courier New"/>
              </a:rPr>
              <a:t> (</a:t>
            </a:r>
            <a:r>
              <a:rPr sz="1800" b="1" dirty="0">
                <a:latin typeface="Courier New"/>
                <a:cs typeface="Courier New"/>
              </a:rPr>
              <a:t>j=</a:t>
            </a:r>
            <a:r>
              <a:rPr sz="1800" b="1" spc="-15" dirty="0">
                <a:latin typeface="Courier New"/>
                <a:cs typeface="Courier New"/>
              </a:rPr>
              <a:t>0</a:t>
            </a:r>
            <a:r>
              <a:rPr sz="1800" b="1" dirty="0">
                <a:latin typeface="Courier New"/>
                <a:cs typeface="Courier New"/>
              </a:rPr>
              <a:t>;</a:t>
            </a:r>
            <a:r>
              <a:rPr sz="1800" b="1" spc="-15" dirty="0">
                <a:latin typeface="Courier New"/>
                <a:cs typeface="Courier New"/>
              </a:rPr>
              <a:t> j</a:t>
            </a:r>
            <a:r>
              <a:rPr sz="1800" b="1" dirty="0">
                <a:latin typeface="Courier New"/>
                <a:cs typeface="Courier New"/>
              </a:rPr>
              <a:t>&lt;n;</a:t>
            </a:r>
            <a:r>
              <a:rPr sz="1800" b="1" spc="-15" dirty="0">
                <a:latin typeface="Courier New"/>
                <a:cs typeface="Courier New"/>
              </a:rPr>
              <a:t> j</a:t>
            </a:r>
            <a:r>
              <a:rPr sz="1800" b="1" dirty="0">
                <a:latin typeface="Courier New"/>
                <a:cs typeface="Courier New"/>
              </a:rPr>
              <a:t>++)</a:t>
            </a:r>
            <a:r>
              <a:rPr sz="1800" b="1" spc="-1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{ </a:t>
            </a:r>
            <a:r>
              <a:rPr sz="1800" b="1" spc="-15" dirty="0">
                <a:latin typeface="Courier New"/>
                <a:cs typeface="Courier New"/>
              </a:rPr>
              <a:t>f</a:t>
            </a:r>
            <a:r>
              <a:rPr sz="1800" b="1" dirty="0">
                <a:latin typeface="Courier New"/>
                <a:cs typeface="Courier New"/>
              </a:rPr>
              <a:t>or</a:t>
            </a:r>
            <a:r>
              <a:rPr sz="1800" b="1" spc="-1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(</a:t>
            </a:r>
            <a:r>
              <a:rPr sz="1800" b="1" spc="-15" dirty="0">
                <a:latin typeface="Courier New"/>
                <a:cs typeface="Courier New"/>
              </a:rPr>
              <a:t>k</a:t>
            </a:r>
            <a:r>
              <a:rPr sz="1800" b="1" dirty="0">
                <a:latin typeface="Courier New"/>
                <a:cs typeface="Courier New"/>
              </a:rPr>
              <a:t>=</a:t>
            </a:r>
            <a:r>
              <a:rPr sz="1800" b="1" spc="-15" dirty="0">
                <a:latin typeface="Courier New"/>
                <a:cs typeface="Courier New"/>
              </a:rPr>
              <a:t>0</a:t>
            </a:r>
            <a:r>
              <a:rPr sz="1800" b="1" dirty="0">
                <a:latin typeface="Courier New"/>
                <a:cs typeface="Courier New"/>
              </a:rPr>
              <a:t>;</a:t>
            </a:r>
            <a:r>
              <a:rPr sz="1800" b="1" spc="-1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k</a:t>
            </a:r>
            <a:r>
              <a:rPr sz="1800" b="1" spc="-15" dirty="0">
                <a:latin typeface="Courier New"/>
                <a:cs typeface="Courier New"/>
              </a:rPr>
              <a:t>&lt;</a:t>
            </a:r>
            <a:r>
              <a:rPr sz="1800" b="1" dirty="0">
                <a:latin typeface="Courier New"/>
                <a:cs typeface="Courier New"/>
              </a:rPr>
              <a:t>n;</a:t>
            </a:r>
            <a:r>
              <a:rPr sz="1800" b="1" spc="-1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k</a:t>
            </a:r>
            <a:r>
              <a:rPr sz="1800" b="1" spc="-15" dirty="0">
                <a:latin typeface="Courier New"/>
                <a:cs typeface="Courier New"/>
              </a:rPr>
              <a:t>+</a:t>
            </a:r>
            <a:r>
              <a:rPr sz="1800" b="1" dirty="0">
                <a:latin typeface="Courier New"/>
                <a:cs typeface="Courier New"/>
              </a:rPr>
              <a:t>+)</a:t>
            </a:r>
            <a:r>
              <a:rPr sz="1800" b="1" spc="-3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  <a:p>
            <a:pPr marL="546735">
              <a:lnSpc>
                <a:spcPct val="100000"/>
              </a:lnSpc>
              <a:spcBef>
                <a:spcPts val="320"/>
              </a:spcBef>
            </a:pPr>
            <a:r>
              <a:rPr sz="1800" b="1" dirty="0">
                <a:latin typeface="Courier New"/>
                <a:cs typeface="Courier New"/>
              </a:rPr>
              <a:t>r</a:t>
            </a:r>
            <a:r>
              <a:rPr sz="1800" b="1" spc="-1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=</a:t>
            </a:r>
            <a:r>
              <a:rPr sz="1800" b="1" spc="-1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b</a:t>
            </a:r>
            <a:r>
              <a:rPr sz="1800" b="1" spc="-15" dirty="0">
                <a:latin typeface="Courier New"/>
                <a:cs typeface="Courier New"/>
              </a:rPr>
              <a:t>[k</a:t>
            </a:r>
            <a:r>
              <a:rPr sz="1800" b="1" dirty="0">
                <a:latin typeface="Courier New"/>
                <a:cs typeface="Courier New"/>
              </a:rPr>
              <a:t>][</a:t>
            </a:r>
            <a:r>
              <a:rPr sz="1800" b="1" spc="-15" dirty="0">
                <a:latin typeface="Courier New"/>
                <a:cs typeface="Courier New"/>
              </a:rPr>
              <a:t>j</a:t>
            </a:r>
            <a:r>
              <a:rPr sz="1800" b="1" dirty="0">
                <a:latin typeface="Courier New"/>
                <a:cs typeface="Courier New"/>
              </a:rPr>
              <a:t>];</a:t>
            </a:r>
            <a:endParaRPr sz="1800">
              <a:latin typeface="Courier New"/>
              <a:cs typeface="Courier New"/>
            </a:endParaRPr>
          </a:p>
          <a:p>
            <a:pPr marL="819785" indent="-273050">
              <a:lnSpc>
                <a:spcPct val="114999"/>
              </a:lnSpc>
            </a:pPr>
            <a:r>
              <a:rPr sz="1800" b="1" spc="-15" dirty="0">
                <a:latin typeface="Courier New"/>
                <a:cs typeface="Courier New"/>
              </a:rPr>
              <a:t>f</a:t>
            </a:r>
            <a:r>
              <a:rPr sz="1800" b="1" dirty="0">
                <a:latin typeface="Courier New"/>
                <a:cs typeface="Courier New"/>
              </a:rPr>
              <a:t>or</a:t>
            </a:r>
            <a:r>
              <a:rPr sz="1800" b="1" spc="-1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(</a:t>
            </a:r>
            <a:r>
              <a:rPr sz="1800" b="1" spc="-15" dirty="0">
                <a:latin typeface="Courier New"/>
                <a:cs typeface="Courier New"/>
              </a:rPr>
              <a:t>i=</a:t>
            </a:r>
            <a:r>
              <a:rPr sz="1800" b="1" dirty="0">
                <a:latin typeface="Courier New"/>
                <a:cs typeface="Courier New"/>
              </a:rPr>
              <a:t>0;</a:t>
            </a:r>
            <a:r>
              <a:rPr sz="1800" b="1" spc="-1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i</a:t>
            </a:r>
            <a:r>
              <a:rPr sz="1800" b="1" spc="-15" dirty="0">
                <a:latin typeface="Courier New"/>
                <a:cs typeface="Courier New"/>
              </a:rPr>
              <a:t>&lt;</a:t>
            </a:r>
            <a:r>
              <a:rPr sz="1800" b="1" dirty="0">
                <a:latin typeface="Courier New"/>
                <a:cs typeface="Courier New"/>
              </a:rPr>
              <a:t>n;</a:t>
            </a:r>
            <a:r>
              <a:rPr sz="1800" b="1" spc="-1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i</a:t>
            </a:r>
            <a:r>
              <a:rPr sz="1800" b="1" spc="-15" dirty="0">
                <a:latin typeface="Courier New"/>
                <a:cs typeface="Courier New"/>
              </a:rPr>
              <a:t>++) </a:t>
            </a:r>
            <a:r>
              <a:rPr sz="1800" b="1" dirty="0">
                <a:solidFill>
                  <a:srgbClr val="C00000"/>
                </a:solidFill>
                <a:latin typeface="Courier New"/>
                <a:cs typeface="Courier New"/>
              </a:rPr>
              <a:t>c</a:t>
            </a:r>
            <a:r>
              <a:rPr sz="1800" b="1" spc="-15" dirty="0">
                <a:solidFill>
                  <a:srgbClr val="C00000"/>
                </a:solidFill>
                <a:latin typeface="Courier New"/>
                <a:cs typeface="Courier New"/>
              </a:rPr>
              <a:t>[</a:t>
            </a:r>
            <a:r>
              <a:rPr sz="1800" b="1" dirty="0">
                <a:solidFill>
                  <a:srgbClr val="C00000"/>
                </a:solidFill>
                <a:latin typeface="Courier New"/>
                <a:cs typeface="Courier New"/>
              </a:rPr>
              <a:t>i</a:t>
            </a:r>
            <a:r>
              <a:rPr sz="1800" b="1" spc="-15" dirty="0">
                <a:solidFill>
                  <a:srgbClr val="C00000"/>
                </a:solidFill>
                <a:latin typeface="Courier New"/>
                <a:cs typeface="Courier New"/>
              </a:rPr>
              <a:t>][</a:t>
            </a:r>
            <a:r>
              <a:rPr sz="1800" b="1" dirty="0">
                <a:solidFill>
                  <a:srgbClr val="C00000"/>
                </a:solidFill>
                <a:latin typeface="Courier New"/>
                <a:cs typeface="Courier New"/>
              </a:rPr>
              <a:t>j]</a:t>
            </a:r>
            <a:r>
              <a:rPr sz="1800" b="1" spc="-1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ourier New"/>
                <a:cs typeface="Courier New"/>
              </a:rPr>
              <a:t>+=</a:t>
            </a:r>
            <a:r>
              <a:rPr sz="1800" b="1" spc="-1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ourier New"/>
                <a:cs typeface="Courier New"/>
              </a:rPr>
              <a:t>a</a:t>
            </a:r>
            <a:r>
              <a:rPr sz="1800" b="1" spc="-15" dirty="0">
                <a:solidFill>
                  <a:srgbClr val="C00000"/>
                </a:solidFill>
                <a:latin typeface="Courier New"/>
                <a:cs typeface="Courier New"/>
              </a:rPr>
              <a:t>[</a:t>
            </a:r>
            <a:r>
              <a:rPr sz="1800" b="1" dirty="0">
                <a:solidFill>
                  <a:srgbClr val="C00000"/>
                </a:solidFill>
                <a:latin typeface="Courier New"/>
                <a:cs typeface="Courier New"/>
              </a:rPr>
              <a:t>i</a:t>
            </a:r>
            <a:r>
              <a:rPr sz="1800" b="1" spc="-15" dirty="0">
                <a:solidFill>
                  <a:srgbClr val="C00000"/>
                </a:solidFill>
                <a:latin typeface="Courier New"/>
                <a:cs typeface="Courier New"/>
              </a:rPr>
              <a:t>][</a:t>
            </a:r>
            <a:r>
              <a:rPr sz="1800" b="1" dirty="0">
                <a:solidFill>
                  <a:srgbClr val="C00000"/>
                </a:solidFill>
                <a:latin typeface="Courier New"/>
                <a:cs typeface="Courier New"/>
              </a:rPr>
              <a:t>k]</a:t>
            </a:r>
            <a:r>
              <a:rPr sz="1800" b="1" spc="-1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ourier New"/>
                <a:cs typeface="Courier New"/>
              </a:rPr>
              <a:t>*</a:t>
            </a:r>
            <a:r>
              <a:rPr sz="1800" b="1" spc="-1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ourier New"/>
                <a:cs typeface="Courier New"/>
              </a:rPr>
              <a:t>r;</a:t>
            </a:r>
            <a:endParaRPr sz="1800">
              <a:latin typeface="Courier New"/>
              <a:cs typeface="Courier New"/>
            </a:endParaRPr>
          </a:p>
          <a:p>
            <a:pPr marL="274320">
              <a:lnSpc>
                <a:spcPct val="100000"/>
              </a:lnSpc>
              <a:spcBef>
                <a:spcPts val="325"/>
              </a:spcBef>
            </a:pPr>
            <a:r>
              <a:rPr sz="1800" b="1" dirty="0"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57453" y="3981152"/>
            <a:ext cx="137160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1800" b="1" dirty="0"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340350" y="2432050"/>
            <a:ext cx="596900" cy="520700"/>
          </a:xfrm>
          <a:custGeom>
            <a:avLst/>
            <a:gdLst/>
            <a:ahLst/>
            <a:cxnLst/>
            <a:rect l="l" t="t" r="r" b="b"/>
            <a:pathLst>
              <a:path w="596900" h="520700">
                <a:moveTo>
                  <a:pt x="0" y="0"/>
                </a:moveTo>
                <a:lnTo>
                  <a:pt x="596900" y="0"/>
                </a:lnTo>
                <a:lnTo>
                  <a:pt x="596900" y="520700"/>
                </a:lnTo>
                <a:lnTo>
                  <a:pt x="0" y="5207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727950" y="2432050"/>
            <a:ext cx="596900" cy="520700"/>
          </a:xfrm>
          <a:custGeom>
            <a:avLst/>
            <a:gdLst/>
            <a:ahLst/>
            <a:cxnLst/>
            <a:rect l="l" t="t" r="r" b="b"/>
            <a:pathLst>
              <a:path w="596900" h="520700">
                <a:moveTo>
                  <a:pt x="0" y="0"/>
                </a:moveTo>
                <a:lnTo>
                  <a:pt x="596900" y="0"/>
                </a:lnTo>
                <a:lnTo>
                  <a:pt x="596900" y="520700"/>
                </a:lnTo>
                <a:lnTo>
                  <a:pt x="0" y="5207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549900" y="3037713"/>
            <a:ext cx="172720" cy="28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dirty="0">
                <a:latin typeface="Calibri"/>
                <a:cs typeface="Calibri"/>
              </a:rPr>
              <a:t>A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769248" y="3037713"/>
            <a:ext cx="163830" cy="28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dirty="0">
                <a:latin typeface="Calibri"/>
                <a:cs typeface="Calibri"/>
              </a:rPr>
              <a:t>B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926496" y="3037713"/>
            <a:ext cx="161290" cy="28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dirty="0">
                <a:latin typeface="Calibri"/>
                <a:cs typeface="Calibri"/>
              </a:rPr>
              <a:t>C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734341" y="2135991"/>
            <a:ext cx="431800" cy="28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dirty="0">
                <a:latin typeface="Calibri"/>
                <a:cs typeface="Calibri"/>
              </a:rPr>
              <a:t>(</a:t>
            </a:r>
            <a:r>
              <a:rPr sz="2000" spc="-5" dirty="0">
                <a:latin typeface="Calibri"/>
                <a:cs typeface="Calibri"/>
              </a:rPr>
              <a:t>*</a:t>
            </a:r>
            <a:r>
              <a:rPr sz="2000" dirty="0">
                <a:latin typeface="Calibri"/>
                <a:cs typeface="Calibri"/>
              </a:rPr>
              <a:t>,</a:t>
            </a:r>
            <a:r>
              <a:rPr sz="2000" spc="-5" dirty="0">
                <a:latin typeface="Calibri"/>
                <a:cs typeface="Calibri"/>
              </a:rPr>
              <a:t>j</a:t>
            </a:r>
            <a:r>
              <a:rPr sz="2000" dirty="0">
                <a:latin typeface="Calibri"/>
                <a:cs typeface="Calibri"/>
              </a:rPr>
              <a:t>)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692900" y="2857500"/>
            <a:ext cx="50800" cy="0"/>
          </a:xfrm>
          <a:custGeom>
            <a:avLst/>
            <a:gdLst/>
            <a:ahLst/>
            <a:cxnLst/>
            <a:rect l="l" t="t" r="r" b="b"/>
            <a:pathLst>
              <a:path w="50800">
                <a:moveTo>
                  <a:pt x="0" y="0"/>
                </a:moveTo>
                <a:lnTo>
                  <a:pt x="50800" y="0"/>
                </a:lnTo>
              </a:path>
            </a:pathLst>
          </a:custGeom>
          <a:ln w="508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692900" y="28321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50800" y="0"/>
                </a:lnTo>
                <a:lnTo>
                  <a:pt x="508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ln w="5715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6559550" y="2432050"/>
            <a:ext cx="596900" cy="5207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000" dirty="0">
                <a:latin typeface="Calibri"/>
                <a:cs typeface="Calibri"/>
              </a:rPr>
              <a:t>(k,j)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803900" y="2425700"/>
            <a:ext cx="0" cy="533400"/>
          </a:xfrm>
          <a:custGeom>
            <a:avLst/>
            <a:gdLst/>
            <a:ahLst/>
            <a:cxnLst/>
            <a:rect l="l" t="t" r="r" b="b"/>
            <a:pathLst>
              <a:path h="533400">
                <a:moveTo>
                  <a:pt x="0" y="533400"/>
                </a:moveTo>
                <a:lnTo>
                  <a:pt x="0" y="0"/>
                </a:lnTo>
              </a:path>
            </a:pathLst>
          </a:custGeom>
          <a:ln w="5715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886700" y="2438400"/>
            <a:ext cx="0" cy="533400"/>
          </a:xfrm>
          <a:custGeom>
            <a:avLst/>
            <a:gdLst/>
            <a:ahLst/>
            <a:cxnLst/>
            <a:rect l="l" t="t" r="r" b="b"/>
            <a:pathLst>
              <a:path h="533400">
                <a:moveTo>
                  <a:pt x="0" y="533400"/>
                </a:moveTo>
                <a:lnTo>
                  <a:pt x="0" y="0"/>
                </a:lnTo>
              </a:path>
            </a:pathLst>
          </a:custGeom>
          <a:ln w="5715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5346577" y="1678835"/>
            <a:ext cx="1157605" cy="737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6700" marR="5080" indent="-254635">
              <a:lnSpc>
                <a:spcPct val="150000"/>
              </a:lnSpc>
            </a:pPr>
            <a:r>
              <a:rPr sz="2000" spc="-5" dirty="0">
                <a:latin typeface="Calibri"/>
                <a:cs typeface="Calibri"/>
              </a:rPr>
              <a:t>I</a:t>
            </a:r>
            <a:r>
              <a:rPr sz="2000" dirty="0">
                <a:latin typeface="Calibri"/>
                <a:cs typeface="Calibri"/>
              </a:rPr>
              <a:t>nn</a:t>
            </a:r>
            <a:r>
              <a:rPr sz="2000" spc="-5" dirty="0">
                <a:latin typeface="Calibri"/>
                <a:cs typeface="Calibri"/>
              </a:rPr>
              <a:t>e</a:t>
            </a:r>
            <a:r>
              <a:rPr sz="2000" dirty="0">
                <a:latin typeface="Calibri"/>
                <a:cs typeface="Calibri"/>
              </a:rPr>
              <a:t>r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loo</a:t>
            </a:r>
            <a:r>
              <a:rPr sz="2000" dirty="0">
                <a:latin typeface="Calibri"/>
                <a:cs typeface="Calibri"/>
              </a:rPr>
              <a:t>p: (</a:t>
            </a:r>
            <a:r>
              <a:rPr sz="2000" spc="-5" dirty="0">
                <a:latin typeface="Calibri"/>
                <a:cs typeface="Calibri"/>
              </a:rPr>
              <a:t>*</a:t>
            </a:r>
            <a:r>
              <a:rPr sz="2000" dirty="0">
                <a:latin typeface="Calibri"/>
                <a:cs typeface="Calibri"/>
              </a:rPr>
              <a:t>,k)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216647" y="3945310"/>
            <a:ext cx="902335" cy="28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5" dirty="0">
                <a:latin typeface="Calibri"/>
                <a:cs typeface="Calibri"/>
              </a:rPr>
              <a:t>Col</a:t>
            </a:r>
            <a:r>
              <a:rPr sz="2000" dirty="0">
                <a:latin typeface="Calibri"/>
                <a:cs typeface="Calibri"/>
              </a:rPr>
              <a:t>u</a:t>
            </a:r>
            <a:r>
              <a:rPr sz="2000" spc="-5" dirty="0">
                <a:latin typeface="Calibri"/>
                <a:cs typeface="Calibri"/>
              </a:rPr>
              <a:t>m</a:t>
            </a:r>
            <a:r>
              <a:rPr sz="2000" dirty="0">
                <a:latin typeface="Calibri"/>
                <a:cs typeface="Calibri"/>
              </a:rPr>
              <a:t>n-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422289" y="4250211"/>
            <a:ext cx="490220" cy="28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5" dirty="0">
                <a:latin typeface="Calibri"/>
                <a:cs typeface="Calibri"/>
              </a:rPr>
              <a:t>wise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5638800" y="3399483"/>
            <a:ext cx="0" cy="563880"/>
          </a:xfrm>
          <a:custGeom>
            <a:avLst/>
            <a:gdLst/>
            <a:ahLst/>
            <a:cxnLst/>
            <a:rect l="l" t="t" r="r" b="b"/>
            <a:pathLst>
              <a:path h="563879">
                <a:moveTo>
                  <a:pt x="0" y="563562"/>
                </a:moveTo>
                <a:lnTo>
                  <a:pt x="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600703" y="3335981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0" y="76200"/>
                </a:lnTo>
                <a:lnTo>
                  <a:pt x="76200" y="76200"/>
                </a:lnTo>
                <a:lnTo>
                  <a:pt x="381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7550390" y="3945291"/>
            <a:ext cx="902335" cy="28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5" dirty="0">
                <a:latin typeface="Calibri"/>
                <a:cs typeface="Calibri"/>
              </a:rPr>
              <a:t>Col</a:t>
            </a:r>
            <a:r>
              <a:rPr sz="2000" dirty="0">
                <a:latin typeface="Calibri"/>
                <a:cs typeface="Calibri"/>
              </a:rPr>
              <a:t>u</a:t>
            </a:r>
            <a:r>
              <a:rPr sz="2000" spc="-5" dirty="0">
                <a:latin typeface="Calibri"/>
                <a:cs typeface="Calibri"/>
              </a:rPr>
              <a:t>m</a:t>
            </a:r>
            <a:r>
              <a:rPr sz="2000" dirty="0">
                <a:latin typeface="Calibri"/>
                <a:cs typeface="Calibri"/>
              </a:rPr>
              <a:t>n-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756032" y="4250192"/>
            <a:ext cx="490220" cy="28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5" dirty="0">
                <a:latin typeface="Calibri"/>
                <a:cs typeface="Calibri"/>
              </a:rPr>
              <a:t>wise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8024814" y="3399483"/>
            <a:ext cx="0" cy="563880"/>
          </a:xfrm>
          <a:custGeom>
            <a:avLst/>
            <a:gdLst/>
            <a:ahLst/>
            <a:cxnLst/>
            <a:rect l="l" t="t" r="r" b="b"/>
            <a:pathLst>
              <a:path h="563879">
                <a:moveTo>
                  <a:pt x="0" y="563562"/>
                </a:moveTo>
                <a:lnTo>
                  <a:pt x="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7986717" y="3335981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0" y="76200"/>
                </a:lnTo>
                <a:lnTo>
                  <a:pt x="76200" y="76200"/>
                </a:lnTo>
                <a:lnTo>
                  <a:pt x="381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6558030" y="3945291"/>
            <a:ext cx="564515" cy="28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dirty="0">
                <a:latin typeface="Calibri"/>
                <a:cs typeface="Calibri"/>
              </a:rPr>
              <a:t>F</a:t>
            </a:r>
            <a:r>
              <a:rPr sz="2000" spc="-5" dirty="0">
                <a:latin typeface="Calibri"/>
                <a:cs typeface="Calibri"/>
              </a:rPr>
              <a:t>i</a:t>
            </a:r>
            <a:r>
              <a:rPr sz="2000" spc="-55" dirty="0">
                <a:latin typeface="Calibri"/>
                <a:cs typeface="Calibri"/>
              </a:rPr>
              <a:t>x</a:t>
            </a:r>
            <a:r>
              <a:rPr sz="2000" spc="-5" dirty="0">
                <a:latin typeface="Calibri"/>
                <a:cs typeface="Calibri"/>
              </a:rPr>
              <a:t>e</a:t>
            </a:r>
            <a:r>
              <a:rPr sz="2000" dirty="0">
                <a:latin typeface="Calibri"/>
                <a:cs typeface="Calibri"/>
              </a:rPr>
              <a:t>d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6815785" y="3407420"/>
            <a:ext cx="0" cy="563880"/>
          </a:xfrm>
          <a:custGeom>
            <a:avLst/>
            <a:gdLst/>
            <a:ahLst/>
            <a:cxnLst/>
            <a:rect l="l" t="t" r="r" b="b"/>
            <a:pathLst>
              <a:path h="563879">
                <a:moveTo>
                  <a:pt x="0" y="563562"/>
                </a:moveTo>
                <a:lnTo>
                  <a:pt x="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6777688" y="3343918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0" y="76200"/>
                </a:lnTo>
                <a:lnTo>
                  <a:pt x="76200" y="76200"/>
                </a:lnTo>
                <a:lnTo>
                  <a:pt x="381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522287" y="4957000"/>
            <a:ext cx="3897629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u="heavy" dirty="0">
                <a:latin typeface="Calibri"/>
                <a:cs typeface="Calibri"/>
              </a:rPr>
              <a:t>Mi</a:t>
            </a:r>
            <a:r>
              <a:rPr sz="2400" u="heavy" spc="-10" dirty="0">
                <a:latin typeface="Calibri"/>
                <a:cs typeface="Calibri"/>
              </a:rPr>
              <a:t>ss</a:t>
            </a:r>
            <a:r>
              <a:rPr sz="2400" u="heavy" dirty="0">
                <a:latin typeface="Calibri"/>
                <a:cs typeface="Calibri"/>
              </a:rPr>
              <a:t>es</a:t>
            </a:r>
            <a:r>
              <a:rPr sz="2400" u="heavy" spc="-10" dirty="0">
                <a:latin typeface="Calibri"/>
                <a:cs typeface="Calibri"/>
              </a:rPr>
              <a:t> </a:t>
            </a:r>
            <a:r>
              <a:rPr sz="2400" u="heavy" spc="-5" dirty="0">
                <a:latin typeface="Calibri"/>
                <a:cs typeface="Calibri"/>
              </a:rPr>
              <a:t>p</a:t>
            </a:r>
            <a:r>
              <a:rPr sz="2400" u="heavy" dirty="0">
                <a:latin typeface="Calibri"/>
                <a:cs typeface="Calibri"/>
              </a:rPr>
              <a:t>e</a:t>
            </a:r>
            <a:r>
              <a:rPr sz="2400" u="heavy" spc="-5" dirty="0">
                <a:latin typeface="Calibri"/>
                <a:cs typeface="Calibri"/>
              </a:rPr>
              <a:t>r</a:t>
            </a:r>
            <a:r>
              <a:rPr sz="2400" u="heavy" dirty="0">
                <a:latin typeface="Calibri"/>
                <a:cs typeface="Calibri"/>
              </a:rPr>
              <a:t> i</a:t>
            </a:r>
            <a:r>
              <a:rPr sz="2400" u="heavy" spc="-5" dirty="0">
                <a:latin typeface="Calibri"/>
                <a:cs typeface="Calibri"/>
              </a:rPr>
              <a:t>nn</a:t>
            </a:r>
            <a:r>
              <a:rPr sz="2400" u="heavy" spc="5" dirty="0">
                <a:latin typeface="Calibri"/>
                <a:cs typeface="Calibri"/>
              </a:rPr>
              <a:t>e</a:t>
            </a:r>
            <a:r>
              <a:rPr sz="2400" u="heavy" spc="-5" dirty="0">
                <a:latin typeface="Calibri"/>
                <a:cs typeface="Calibri"/>
              </a:rPr>
              <a:t>r</a:t>
            </a:r>
            <a:r>
              <a:rPr sz="2400" u="heavy" spc="-15" dirty="0">
                <a:latin typeface="Calibri"/>
                <a:cs typeface="Calibri"/>
              </a:rPr>
              <a:t> </a:t>
            </a:r>
            <a:r>
              <a:rPr sz="2400" u="heavy" dirty="0">
                <a:latin typeface="Calibri"/>
                <a:cs typeface="Calibri"/>
              </a:rPr>
              <a:t>l</a:t>
            </a:r>
            <a:r>
              <a:rPr sz="2400" u="heavy" spc="-10" dirty="0">
                <a:latin typeface="Calibri"/>
                <a:cs typeface="Calibri"/>
              </a:rPr>
              <a:t>oo</a:t>
            </a:r>
            <a:r>
              <a:rPr sz="2400" u="heavy" dirty="0">
                <a:latin typeface="Calibri"/>
                <a:cs typeface="Calibri"/>
              </a:rPr>
              <a:t>p</a:t>
            </a:r>
            <a:r>
              <a:rPr sz="2400" u="heavy" spc="5" dirty="0">
                <a:latin typeface="Calibri"/>
                <a:cs typeface="Calibri"/>
              </a:rPr>
              <a:t> </a:t>
            </a:r>
            <a:r>
              <a:rPr sz="2400" u="heavy" dirty="0">
                <a:latin typeface="Calibri"/>
                <a:cs typeface="Calibri"/>
              </a:rPr>
              <a:t>i</a:t>
            </a:r>
            <a:r>
              <a:rPr sz="2400" u="heavy" spc="-25" dirty="0">
                <a:latin typeface="Calibri"/>
                <a:cs typeface="Calibri"/>
              </a:rPr>
              <a:t>t</a:t>
            </a:r>
            <a:r>
              <a:rPr sz="2400" u="heavy" dirty="0">
                <a:latin typeface="Calibri"/>
                <a:cs typeface="Calibri"/>
              </a:rPr>
              <a:t>e</a:t>
            </a:r>
            <a:r>
              <a:rPr sz="2400" u="heavy" spc="-50" dirty="0">
                <a:latin typeface="Calibri"/>
                <a:cs typeface="Calibri"/>
              </a:rPr>
              <a:t>r</a:t>
            </a:r>
            <a:r>
              <a:rPr sz="2400" u="heavy" spc="-25" dirty="0">
                <a:latin typeface="Calibri"/>
                <a:cs typeface="Calibri"/>
              </a:rPr>
              <a:t>a</a:t>
            </a:r>
            <a:r>
              <a:rPr sz="2400" u="heavy" dirty="0">
                <a:latin typeface="Calibri"/>
                <a:cs typeface="Calibri"/>
              </a:rPr>
              <a:t>ti</a:t>
            </a:r>
            <a:r>
              <a:rPr sz="2400" u="heavy" spc="-10" dirty="0">
                <a:latin typeface="Calibri"/>
                <a:cs typeface="Calibri"/>
              </a:rPr>
              <a:t>o</a:t>
            </a:r>
            <a:r>
              <a:rPr sz="2400" u="heavy" spc="-5" dirty="0">
                <a:latin typeface="Calibri"/>
                <a:cs typeface="Calibri"/>
              </a:rPr>
              <a:t>n: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302575" y="5322760"/>
            <a:ext cx="410209" cy="695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103505">
              <a:lnSpc>
                <a:spcPct val="100000"/>
              </a:lnSpc>
            </a:pPr>
            <a:r>
              <a:rPr sz="2400" u="heavy" spc="-5" dirty="0">
                <a:latin typeface="Calibri"/>
                <a:cs typeface="Calibri"/>
              </a:rPr>
              <a:t>A</a:t>
            </a:r>
            <a:r>
              <a:rPr sz="2400" spc="-5" dirty="0">
                <a:latin typeface="Calibri"/>
                <a:cs typeface="Calibri"/>
              </a:rPr>
              <a:t> 1.0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674175" y="5322760"/>
            <a:ext cx="410209" cy="695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109220">
              <a:lnSpc>
                <a:spcPct val="100000"/>
              </a:lnSpc>
            </a:pPr>
            <a:r>
              <a:rPr sz="2400" u="heavy" spc="-5" dirty="0">
                <a:latin typeface="Calibri"/>
                <a:cs typeface="Calibri"/>
              </a:rPr>
              <a:t>B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0.0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987863" y="5322760"/>
            <a:ext cx="410209" cy="695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111125">
              <a:lnSpc>
                <a:spcPct val="100000"/>
              </a:lnSpc>
            </a:pPr>
            <a:r>
              <a:rPr sz="2400" u="heavy" dirty="0">
                <a:latin typeface="Calibri"/>
                <a:cs typeface="Calibri"/>
              </a:rPr>
              <a:t>C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1.0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212837" y="4053511"/>
            <a:ext cx="1637030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1800" b="1" i="1" dirty="0">
                <a:solidFill>
                  <a:srgbClr val="808080"/>
                </a:solidFill>
                <a:latin typeface="Courier New"/>
                <a:cs typeface="Courier New"/>
              </a:rPr>
              <a:t>ma</a:t>
            </a:r>
            <a:r>
              <a:rPr sz="1800" b="1" i="1" spc="-15" dirty="0">
                <a:solidFill>
                  <a:srgbClr val="808080"/>
                </a:solidFill>
                <a:latin typeface="Courier New"/>
                <a:cs typeface="Courier New"/>
              </a:rPr>
              <a:t>t</a:t>
            </a:r>
            <a:r>
              <a:rPr sz="1800" b="1" i="1" dirty="0">
                <a:solidFill>
                  <a:srgbClr val="808080"/>
                </a:solidFill>
                <a:latin typeface="Courier New"/>
                <a:cs typeface="Courier New"/>
              </a:rPr>
              <a:t>m</a:t>
            </a:r>
            <a:r>
              <a:rPr sz="1800" b="1" i="1" spc="-15" dirty="0">
                <a:solidFill>
                  <a:srgbClr val="808080"/>
                </a:solidFill>
                <a:latin typeface="Courier New"/>
                <a:cs typeface="Courier New"/>
              </a:rPr>
              <a:t>u</a:t>
            </a:r>
            <a:r>
              <a:rPr sz="1800" b="1" i="1" dirty="0">
                <a:solidFill>
                  <a:srgbClr val="808080"/>
                </a:solidFill>
                <a:latin typeface="Courier New"/>
                <a:cs typeface="Courier New"/>
              </a:rPr>
              <a:t>lt</a:t>
            </a:r>
            <a:r>
              <a:rPr sz="1800" b="1" i="1" spc="-15" dirty="0">
                <a:solidFill>
                  <a:srgbClr val="808080"/>
                </a:solidFill>
                <a:latin typeface="Courier New"/>
                <a:cs typeface="Courier New"/>
              </a:rPr>
              <a:t>/</a:t>
            </a:r>
            <a:r>
              <a:rPr sz="1800" b="1" i="1" dirty="0">
                <a:solidFill>
                  <a:srgbClr val="808080"/>
                </a:solidFill>
                <a:latin typeface="Courier New"/>
                <a:cs typeface="Courier New"/>
              </a:rPr>
              <a:t>m</a:t>
            </a:r>
            <a:r>
              <a:rPr sz="1800" b="1" i="1" spc="-15" dirty="0">
                <a:solidFill>
                  <a:srgbClr val="808080"/>
                </a:solidFill>
                <a:latin typeface="Courier New"/>
                <a:cs typeface="Courier New"/>
              </a:rPr>
              <a:t>m.c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5122227" y="6098375"/>
            <a:ext cx="374459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Arial Narrow"/>
                <a:cs typeface="Arial Narrow"/>
              </a:rPr>
              <a:t>B</a:t>
            </a:r>
            <a:r>
              <a:rPr sz="2400" b="1" dirty="0">
                <a:latin typeface="Arial Narrow"/>
                <a:cs typeface="Arial Narrow"/>
              </a:rPr>
              <a:t>l</a:t>
            </a:r>
            <a:r>
              <a:rPr sz="2400" b="1" spc="-5" dirty="0">
                <a:latin typeface="Arial Narrow"/>
                <a:cs typeface="Arial Narrow"/>
              </a:rPr>
              <a:t>oc</a:t>
            </a:r>
            <a:r>
              <a:rPr sz="2400" b="1" dirty="0">
                <a:latin typeface="Arial Narrow"/>
                <a:cs typeface="Arial Narrow"/>
              </a:rPr>
              <a:t>k</a:t>
            </a:r>
            <a:r>
              <a:rPr sz="2400" b="1" spc="25" dirty="0">
                <a:latin typeface="Arial Narrow"/>
                <a:cs typeface="Arial Narrow"/>
              </a:rPr>
              <a:t> </a:t>
            </a:r>
            <a:r>
              <a:rPr sz="2400" b="1" spc="-5" dirty="0">
                <a:latin typeface="Arial Narrow"/>
                <a:cs typeface="Arial Narrow"/>
              </a:rPr>
              <a:t>s</a:t>
            </a:r>
            <a:r>
              <a:rPr sz="2400" b="1" dirty="0">
                <a:latin typeface="Arial Narrow"/>
                <a:cs typeface="Arial Narrow"/>
              </a:rPr>
              <a:t>ize</a:t>
            </a:r>
            <a:r>
              <a:rPr sz="2400" b="1" spc="10" dirty="0">
                <a:latin typeface="Arial Narrow"/>
                <a:cs typeface="Arial Narrow"/>
              </a:rPr>
              <a:t> </a:t>
            </a:r>
            <a:r>
              <a:rPr sz="2400" b="1" dirty="0">
                <a:latin typeface="Arial Narrow"/>
                <a:cs typeface="Arial Narrow"/>
              </a:rPr>
              <a:t>=</a:t>
            </a:r>
            <a:r>
              <a:rPr sz="2400" b="1" spc="5" dirty="0">
                <a:latin typeface="Arial Narrow"/>
                <a:cs typeface="Arial Narrow"/>
              </a:rPr>
              <a:t> </a:t>
            </a:r>
            <a:r>
              <a:rPr sz="2400" b="1" spc="-5" dirty="0">
                <a:latin typeface="Arial Narrow"/>
                <a:cs typeface="Arial Narrow"/>
              </a:rPr>
              <a:t>32</a:t>
            </a:r>
            <a:r>
              <a:rPr sz="2400" b="1" dirty="0">
                <a:latin typeface="Arial Narrow"/>
                <a:cs typeface="Arial Narrow"/>
              </a:rPr>
              <a:t>B</a:t>
            </a:r>
            <a:r>
              <a:rPr sz="2400" b="1" spc="20" dirty="0">
                <a:latin typeface="Arial Narrow"/>
                <a:cs typeface="Arial Narrow"/>
              </a:rPr>
              <a:t> </a:t>
            </a:r>
            <a:r>
              <a:rPr sz="2400" b="1" dirty="0">
                <a:latin typeface="Arial Narrow"/>
                <a:cs typeface="Arial Narrow"/>
              </a:rPr>
              <a:t>(f</a:t>
            </a:r>
            <a:r>
              <a:rPr sz="2400" b="1" spc="-5" dirty="0">
                <a:latin typeface="Arial Narrow"/>
                <a:cs typeface="Arial Narrow"/>
              </a:rPr>
              <a:t>ou</a:t>
            </a:r>
            <a:r>
              <a:rPr sz="2400" b="1" dirty="0">
                <a:latin typeface="Arial Narrow"/>
                <a:cs typeface="Arial Narrow"/>
              </a:rPr>
              <a:t>r</a:t>
            </a:r>
            <a:r>
              <a:rPr sz="2400" b="1" spc="-30" dirty="0">
                <a:latin typeface="Arial Narrow"/>
                <a:cs typeface="Arial Narrow"/>
              </a:rPr>
              <a:t> </a:t>
            </a:r>
            <a:r>
              <a:rPr sz="2400" b="1" spc="-5" dirty="0">
                <a:latin typeface="Arial Narrow"/>
                <a:cs typeface="Arial Narrow"/>
              </a:rPr>
              <a:t>doub</a:t>
            </a:r>
            <a:r>
              <a:rPr sz="2400" b="1" dirty="0">
                <a:latin typeface="Arial Narrow"/>
                <a:cs typeface="Arial Narrow"/>
              </a:rPr>
              <a:t>l</a:t>
            </a:r>
            <a:r>
              <a:rPr sz="2400" b="1" spc="-5" dirty="0">
                <a:latin typeface="Arial Narrow"/>
                <a:cs typeface="Arial Narrow"/>
              </a:rPr>
              <a:t>es)</a:t>
            </a:r>
            <a:endParaRPr sz="24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74650" y="346210"/>
            <a:ext cx="7591425" cy="812531"/>
          </a:xfrm>
          <a:prstGeom prst="rect">
            <a:avLst/>
          </a:prstGeom>
        </p:spPr>
        <p:txBody>
          <a:bodyPr vert="horz" wrap="square" lIns="0" tIns="256033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zh-CN" altLang="en-US" spc="-20" dirty="0"/>
              <a:t>矩阵乘法</a:t>
            </a:r>
            <a:r>
              <a:rPr spc="-20" dirty="0"/>
              <a:t>(</a:t>
            </a:r>
            <a:r>
              <a:rPr dirty="0">
                <a:latin typeface="Courier New"/>
                <a:cs typeface="Courier New"/>
              </a:rPr>
              <a:t>kji</a:t>
            </a:r>
            <a:r>
              <a:rPr spc="-5" dirty="0"/>
              <a:t>)</a:t>
            </a:r>
          </a:p>
        </p:txBody>
      </p:sp>
      <p:sp>
        <p:nvSpPr>
          <p:cNvPr id="4" name="object 4"/>
          <p:cNvSpPr/>
          <p:nvPr/>
        </p:nvSpPr>
        <p:spPr>
          <a:xfrm>
            <a:off x="621791" y="1787651"/>
            <a:ext cx="4661915" cy="26593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82168" y="1697736"/>
            <a:ext cx="4500371" cy="28193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17537" y="1782762"/>
            <a:ext cx="4518025" cy="2515870"/>
          </a:xfrm>
          <a:custGeom>
            <a:avLst/>
            <a:gdLst/>
            <a:ahLst/>
            <a:cxnLst/>
            <a:rect l="l" t="t" r="r" b="b"/>
            <a:pathLst>
              <a:path w="4518025" h="2515870">
                <a:moveTo>
                  <a:pt x="0" y="0"/>
                </a:moveTo>
                <a:lnTo>
                  <a:pt x="4518025" y="0"/>
                </a:lnTo>
                <a:lnTo>
                  <a:pt x="4518025" y="2515819"/>
                </a:lnTo>
                <a:lnTo>
                  <a:pt x="0" y="2515819"/>
                </a:lnTo>
                <a:lnTo>
                  <a:pt x="0" y="0"/>
                </a:lnTo>
                <a:close/>
              </a:path>
            </a:pathLst>
          </a:custGeom>
          <a:solidFill>
            <a:srgbClr val="F6F5B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17537" y="1782762"/>
            <a:ext cx="4518025" cy="2515870"/>
          </a:xfrm>
          <a:custGeom>
            <a:avLst/>
            <a:gdLst/>
            <a:ahLst/>
            <a:cxnLst/>
            <a:rect l="l" t="t" r="r" b="b"/>
            <a:pathLst>
              <a:path w="4518025" h="2515870">
                <a:moveTo>
                  <a:pt x="0" y="0"/>
                </a:moveTo>
                <a:lnTo>
                  <a:pt x="4518025" y="0"/>
                </a:lnTo>
                <a:lnTo>
                  <a:pt x="4518025" y="2515819"/>
                </a:lnTo>
                <a:lnTo>
                  <a:pt x="0" y="2515819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07796" y="1788751"/>
            <a:ext cx="3959860" cy="2121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  <a:tabLst>
                <a:tab pos="956944" algn="l"/>
              </a:tabLst>
            </a:pPr>
            <a:r>
              <a:rPr sz="1800" b="1" dirty="0">
                <a:latin typeface="Courier New"/>
                <a:cs typeface="Courier New"/>
              </a:rPr>
              <a:t>/*</a:t>
            </a:r>
            <a:r>
              <a:rPr sz="1800" b="1" spc="-1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k</a:t>
            </a:r>
            <a:r>
              <a:rPr sz="1800" b="1" spc="-15" dirty="0">
                <a:latin typeface="Courier New"/>
                <a:cs typeface="Courier New"/>
              </a:rPr>
              <a:t>j</a:t>
            </a:r>
            <a:r>
              <a:rPr sz="1800" b="1" dirty="0">
                <a:latin typeface="Courier New"/>
                <a:cs typeface="Courier New"/>
              </a:rPr>
              <a:t>i	</a:t>
            </a:r>
            <a:r>
              <a:rPr sz="1800" b="1" spc="-15" dirty="0">
                <a:latin typeface="Courier New"/>
                <a:cs typeface="Courier New"/>
              </a:rPr>
              <a:t>*/</a:t>
            </a:r>
            <a:endParaRPr sz="1800">
              <a:latin typeface="Courier New"/>
              <a:cs typeface="Courier New"/>
            </a:endParaRPr>
          </a:p>
          <a:p>
            <a:pPr marL="274320" marR="812165" indent="-274320">
              <a:lnSpc>
                <a:spcPct val="114999"/>
              </a:lnSpc>
            </a:pPr>
            <a:r>
              <a:rPr sz="1800" b="1" dirty="0">
                <a:latin typeface="Courier New"/>
                <a:cs typeface="Courier New"/>
              </a:rPr>
              <a:t>for</a:t>
            </a:r>
            <a:r>
              <a:rPr sz="1800" b="1" spc="-15" dirty="0">
                <a:latin typeface="Courier New"/>
                <a:cs typeface="Courier New"/>
              </a:rPr>
              <a:t> (</a:t>
            </a:r>
            <a:r>
              <a:rPr sz="1800" b="1" dirty="0">
                <a:latin typeface="Courier New"/>
                <a:cs typeface="Courier New"/>
              </a:rPr>
              <a:t>k=</a:t>
            </a:r>
            <a:r>
              <a:rPr sz="1800" b="1" spc="-15" dirty="0">
                <a:latin typeface="Courier New"/>
                <a:cs typeface="Courier New"/>
              </a:rPr>
              <a:t>0</a:t>
            </a:r>
            <a:r>
              <a:rPr sz="1800" b="1" dirty="0">
                <a:latin typeface="Courier New"/>
                <a:cs typeface="Courier New"/>
              </a:rPr>
              <a:t>;</a:t>
            </a:r>
            <a:r>
              <a:rPr sz="1800" b="1" spc="-15" dirty="0">
                <a:latin typeface="Courier New"/>
                <a:cs typeface="Courier New"/>
              </a:rPr>
              <a:t> k</a:t>
            </a:r>
            <a:r>
              <a:rPr sz="1800" b="1" dirty="0">
                <a:latin typeface="Courier New"/>
                <a:cs typeface="Courier New"/>
              </a:rPr>
              <a:t>&lt;n;</a:t>
            </a:r>
            <a:r>
              <a:rPr sz="1800" b="1" spc="-15" dirty="0">
                <a:latin typeface="Courier New"/>
                <a:cs typeface="Courier New"/>
              </a:rPr>
              <a:t> k</a:t>
            </a:r>
            <a:r>
              <a:rPr sz="1800" b="1" dirty="0">
                <a:latin typeface="Courier New"/>
                <a:cs typeface="Courier New"/>
              </a:rPr>
              <a:t>++)</a:t>
            </a:r>
            <a:r>
              <a:rPr sz="1800" b="1" spc="-1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{ </a:t>
            </a:r>
            <a:r>
              <a:rPr sz="1800" b="1" spc="-15" dirty="0">
                <a:latin typeface="Courier New"/>
                <a:cs typeface="Courier New"/>
              </a:rPr>
              <a:t>f</a:t>
            </a:r>
            <a:r>
              <a:rPr sz="1800" b="1" dirty="0">
                <a:latin typeface="Courier New"/>
                <a:cs typeface="Courier New"/>
              </a:rPr>
              <a:t>or</a:t>
            </a:r>
            <a:r>
              <a:rPr sz="1800" b="1" spc="-1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(</a:t>
            </a:r>
            <a:r>
              <a:rPr sz="1800" b="1" spc="-15" dirty="0">
                <a:latin typeface="Courier New"/>
                <a:cs typeface="Courier New"/>
              </a:rPr>
              <a:t>j</a:t>
            </a:r>
            <a:r>
              <a:rPr sz="1800" b="1" dirty="0">
                <a:latin typeface="Courier New"/>
                <a:cs typeface="Courier New"/>
              </a:rPr>
              <a:t>=</a:t>
            </a:r>
            <a:r>
              <a:rPr sz="1800" b="1" spc="-15" dirty="0">
                <a:latin typeface="Courier New"/>
                <a:cs typeface="Courier New"/>
              </a:rPr>
              <a:t>0</a:t>
            </a:r>
            <a:r>
              <a:rPr sz="1800" b="1" dirty="0">
                <a:latin typeface="Courier New"/>
                <a:cs typeface="Courier New"/>
              </a:rPr>
              <a:t>;</a:t>
            </a:r>
            <a:r>
              <a:rPr sz="1800" b="1" spc="-1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j</a:t>
            </a:r>
            <a:r>
              <a:rPr sz="1800" b="1" spc="-15" dirty="0">
                <a:latin typeface="Courier New"/>
                <a:cs typeface="Courier New"/>
              </a:rPr>
              <a:t>&lt;</a:t>
            </a:r>
            <a:r>
              <a:rPr sz="1800" b="1" dirty="0">
                <a:latin typeface="Courier New"/>
                <a:cs typeface="Courier New"/>
              </a:rPr>
              <a:t>n;</a:t>
            </a:r>
            <a:r>
              <a:rPr sz="1800" b="1" spc="-1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j</a:t>
            </a:r>
            <a:r>
              <a:rPr sz="1800" b="1" spc="-15" dirty="0">
                <a:latin typeface="Courier New"/>
                <a:cs typeface="Courier New"/>
              </a:rPr>
              <a:t>+</a:t>
            </a:r>
            <a:r>
              <a:rPr sz="1800" b="1" spc="5" dirty="0">
                <a:latin typeface="Courier New"/>
                <a:cs typeface="Courier New"/>
              </a:rPr>
              <a:t>+</a:t>
            </a:r>
            <a:r>
              <a:rPr sz="1800" b="1" dirty="0">
                <a:latin typeface="Courier New"/>
                <a:cs typeface="Courier New"/>
              </a:rPr>
              <a:t>)</a:t>
            </a:r>
            <a:r>
              <a:rPr sz="1800" b="1" spc="-30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  <a:p>
            <a:pPr marL="546735">
              <a:lnSpc>
                <a:spcPct val="100000"/>
              </a:lnSpc>
              <a:spcBef>
                <a:spcPts val="320"/>
              </a:spcBef>
            </a:pPr>
            <a:r>
              <a:rPr sz="1800" b="1" dirty="0">
                <a:latin typeface="Courier New"/>
                <a:cs typeface="Courier New"/>
              </a:rPr>
              <a:t>r</a:t>
            </a:r>
            <a:r>
              <a:rPr sz="1800" b="1" spc="-1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=</a:t>
            </a:r>
            <a:r>
              <a:rPr sz="1800" b="1" spc="-1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b</a:t>
            </a:r>
            <a:r>
              <a:rPr sz="1800" b="1" spc="-15" dirty="0">
                <a:latin typeface="Courier New"/>
                <a:cs typeface="Courier New"/>
              </a:rPr>
              <a:t>[k</a:t>
            </a:r>
            <a:r>
              <a:rPr sz="1800" b="1" dirty="0">
                <a:latin typeface="Courier New"/>
                <a:cs typeface="Courier New"/>
              </a:rPr>
              <a:t>][</a:t>
            </a:r>
            <a:r>
              <a:rPr sz="1800" b="1" spc="-15" dirty="0">
                <a:latin typeface="Courier New"/>
                <a:cs typeface="Courier New"/>
              </a:rPr>
              <a:t>j</a:t>
            </a:r>
            <a:r>
              <a:rPr sz="1800" b="1" dirty="0">
                <a:latin typeface="Courier New"/>
                <a:cs typeface="Courier New"/>
              </a:rPr>
              <a:t>];</a:t>
            </a:r>
            <a:endParaRPr sz="1800">
              <a:latin typeface="Courier New"/>
              <a:cs typeface="Courier New"/>
            </a:endParaRPr>
          </a:p>
          <a:p>
            <a:pPr marL="819785" indent="-273050">
              <a:lnSpc>
                <a:spcPct val="114999"/>
              </a:lnSpc>
            </a:pPr>
            <a:r>
              <a:rPr sz="1800" b="1" spc="-15" dirty="0">
                <a:latin typeface="Courier New"/>
                <a:cs typeface="Courier New"/>
              </a:rPr>
              <a:t>f</a:t>
            </a:r>
            <a:r>
              <a:rPr sz="1800" b="1" dirty="0">
                <a:latin typeface="Courier New"/>
                <a:cs typeface="Courier New"/>
              </a:rPr>
              <a:t>or</a:t>
            </a:r>
            <a:r>
              <a:rPr sz="1800" b="1" spc="-1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(</a:t>
            </a:r>
            <a:r>
              <a:rPr sz="1800" b="1" spc="-15" dirty="0">
                <a:latin typeface="Courier New"/>
                <a:cs typeface="Courier New"/>
              </a:rPr>
              <a:t>i=</a:t>
            </a:r>
            <a:r>
              <a:rPr sz="1800" b="1" dirty="0">
                <a:latin typeface="Courier New"/>
                <a:cs typeface="Courier New"/>
              </a:rPr>
              <a:t>0;</a:t>
            </a:r>
            <a:r>
              <a:rPr sz="1800" b="1" spc="-1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i</a:t>
            </a:r>
            <a:r>
              <a:rPr sz="1800" b="1" spc="-15" dirty="0">
                <a:latin typeface="Courier New"/>
                <a:cs typeface="Courier New"/>
              </a:rPr>
              <a:t>&lt;</a:t>
            </a:r>
            <a:r>
              <a:rPr sz="1800" b="1" dirty="0">
                <a:latin typeface="Courier New"/>
                <a:cs typeface="Courier New"/>
              </a:rPr>
              <a:t>n;</a:t>
            </a:r>
            <a:r>
              <a:rPr sz="1800" b="1" spc="-15" dirty="0">
                <a:latin typeface="Courier New"/>
                <a:cs typeface="Courier New"/>
              </a:rPr>
              <a:t> </a:t>
            </a:r>
            <a:r>
              <a:rPr sz="1800" b="1" dirty="0">
                <a:latin typeface="Courier New"/>
                <a:cs typeface="Courier New"/>
              </a:rPr>
              <a:t>i</a:t>
            </a:r>
            <a:r>
              <a:rPr sz="1800" b="1" spc="-15" dirty="0">
                <a:latin typeface="Courier New"/>
                <a:cs typeface="Courier New"/>
              </a:rPr>
              <a:t>++</a:t>
            </a:r>
            <a:r>
              <a:rPr sz="1800" b="1" dirty="0">
                <a:latin typeface="Courier New"/>
                <a:cs typeface="Courier New"/>
              </a:rPr>
              <a:t>) </a:t>
            </a:r>
            <a:r>
              <a:rPr sz="1800" b="1" dirty="0">
                <a:solidFill>
                  <a:srgbClr val="C00000"/>
                </a:solidFill>
                <a:latin typeface="Courier New"/>
                <a:cs typeface="Courier New"/>
              </a:rPr>
              <a:t>c</a:t>
            </a:r>
            <a:r>
              <a:rPr sz="1800" b="1" spc="-15" dirty="0">
                <a:solidFill>
                  <a:srgbClr val="C00000"/>
                </a:solidFill>
                <a:latin typeface="Courier New"/>
                <a:cs typeface="Courier New"/>
              </a:rPr>
              <a:t>[</a:t>
            </a:r>
            <a:r>
              <a:rPr sz="1800" b="1" dirty="0">
                <a:solidFill>
                  <a:srgbClr val="C00000"/>
                </a:solidFill>
                <a:latin typeface="Courier New"/>
                <a:cs typeface="Courier New"/>
              </a:rPr>
              <a:t>i</a:t>
            </a:r>
            <a:r>
              <a:rPr sz="1800" b="1" spc="-15" dirty="0">
                <a:solidFill>
                  <a:srgbClr val="C00000"/>
                </a:solidFill>
                <a:latin typeface="Courier New"/>
                <a:cs typeface="Courier New"/>
              </a:rPr>
              <a:t>][</a:t>
            </a:r>
            <a:r>
              <a:rPr sz="1800" b="1" dirty="0">
                <a:solidFill>
                  <a:srgbClr val="C00000"/>
                </a:solidFill>
                <a:latin typeface="Courier New"/>
                <a:cs typeface="Courier New"/>
              </a:rPr>
              <a:t>j]</a:t>
            </a:r>
            <a:r>
              <a:rPr sz="1800" b="1" spc="-1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ourier New"/>
                <a:cs typeface="Courier New"/>
              </a:rPr>
              <a:t>+=</a:t>
            </a:r>
            <a:r>
              <a:rPr sz="1800" b="1" spc="-1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ourier New"/>
                <a:cs typeface="Courier New"/>
              </a:rPr>
              <a:t>a</a:t>
            </a:r>
            <a:r>
              <a:rPr sz="1800" b="1" spc="-15" dirty="0">
                <a:solidFill>
                  <a:srgbClr val="C00000"/>
                </a:solidFill>
                <a:latin typeface="Courier New"/>
                <a:cs typeface="Courier New"/>
              </a:rPr>
              <a:t>[</a:t>
            </a:r>
            <a:r>
              <a:rPr sz="1800" b="1" dirty="0">
                <a:solidFill>
                  <a:srgbClr val="C00000"/>
                </a:solidFill>
                <a:latin typeface="Courier New"/>
                <a:cs typeface="Courier New"/>
              </a:rPr>
              <a:t>i</a:t>
            </a:r>
            <a:r>
              <a:rPr sz="1800" b="1" spc="-15" dirty="0">
                <a:solidFill>
                  <a:srgbClr val="C00000"/>
                </a:solidFill>
                <a:latin typeface="Courier New"/>
                <a:cs typeface="Courier New"/>
              </a:rPr>
              <a:t>][</a:t>
            </a:r>
            <a:r>
              <a:rPr sz="1800" b="1" dirty="0">
                <a:solidFill>
                  <a:srgbClr val="C00000"/>
                </a:solidFill>
                <a:latin typeface="Courier New"/>
                <a:cs typeface="Courier New"/>
              </a:rPr>
              <a:t>k]</a:t>
            </a:r>
            <a:r>
              <a:rPr sz="1800" b="1" spc="-1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ourier New"/>
                <a:cs typeface="Courier New"/>
              </a:rPr>
              <a:t>*</a:t>
            </a:r>
            <a:r>
              <a:rPr sz="1800" b="1" spc="-15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C00000"/>
                </a:solidFill>
                <a:latin typeface="Courier New"/>
                <a:cs typeface="Courier New"/>
              </a:rPr>
              <a:t>r;</a:t>
            </a:r>
            <a:endParaRPr sz="1800">
              <a:latin typeface="Courier New"/>
              <a:cs typeface="Courier New"/>
            </a:endParaRPr>
          </a:p>
          <a:p>
            <a:pPr marL="274320">
              <a:lnSpc>
                <a:spcPct val="100000"/>
              </a:lnSpc>
              <a:spcBef>
                <a:spcPts val="325"/>
              </a:spcBef>
            </a:pPr>
            <a:r>
              <a:rPr sz="1800" b="1" dirty="0"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08025" y="3997027"/>
            <a:ext cx="137160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1800" b="1" dirty="0"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657850" y="2606675"/>
            <a:ext cx="596900" cy="520700"/>
          </a:xfrm>
          <a:custGeom>
            <a:avLst/>
            <a:gdLst/>
            <a:ahLst/>
            <a:cxnLst/>
            <a:rect l="l" t="t" r="r" b="b"/>
            <a:pathLst>
              <a:path w="596900" h="520700">
                <a:moveTo>
                  <a:pt x="0" y="0"/>
                </a:moveTo>
                <a:lnTo>
                  <a:pt x="596900" y="0"/>
                </a:lnTo>
                <a:lnTo>
                  <a:pt x="596900" y="520700"/>
                </a:lnTo>
                <a:lnTo>
                  <a:pt x="0" y="5207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045450" y="2606675"/>
            <a:ext cx="596900" cy="520700"/>
          </a:xfrm>
          <a:custGeom>
            <a:avLst/>
            <a:gdLst/>
            <a:ahLst/>
            <a:cxnLst/>
            <a:rect l="l" t="t" r="r" b="b"/>
            <a:pathLst>
              <a:path w="596900" h="520700">
                <a:moveTo>
                  <a:pt x="0" y="0"/>
                </a:moveTo>
                <a:lnTo>
                  <a:pt x="596900" y="0"/>
                </a:lnTo>
                <a:lnTo>
                  <a:pt x="596900" y="520700"/>
                </a:lnTo>
                <a:lnTo>
                  <a:pt x="0" y="52070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867400" y="3202813"/>
            <a:ext cx="172720" cy="28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dirty="0">
                <a:latin typeface="Calibri"/>
                <a:cs typeface="Calibri"/>
              </a:rPr>
              <a:t>A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086748" y="3202813"/>
            <a:ext cx="163830" cy="28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dirty="0">
                <a:latin typeface="Calibri"/>
                <a:cs typeface="Calibri"/>
              </a:rPr>
              <a:t>B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307622" y="3202813"/>
            <a:ext cx="161290" cy="28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dirty="0">
                <a:latin typeface="Calibri"/>
                <a:cs typeface="Calibri"/>
              </a:rPr>
              <a:t>C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052096" y="2351992"/>
            <a:ext cx="431800" cy="28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dirty="0">
                <a:latin typeface="Calibri"/>
                <a:cs typeface="Calibri"/>
              </a:rPr>
              <a:t>(</a:t>
            </a:r>
            <a:r>
              <a:rPr sz="2000" spc="-5" dirty="0">
                <a:latin typeface="Calibri"/>
                <a:cs typeface="Calibri"/>
              </a:rPr>
              <a:t>*</a:t>
            </a:r>
            <a:r>
              <a:rPr sz="2000" dirty="0">
                <a:latin typeface="Calibri"/>
                <a:cs typeface="Calibri"/>
              </a:rPr>
              <a:t>,j)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010400" y="3032125"/>
            <a:ext cx="50800" cy="0"/>
          </a:xfrm>
          <a:custGeom>
            <a:avLst/>
            <a:gdLst/>
            <a:ahLst/>
            <a:cxnLst/>
            <a:rect l="l" t="t" r="r" b="b"/>
            <a:pathLst>
              <a:path w="50800">
                <a:moveTo>
                  <a:pt x="0" y="0"/>
                </a:moveTo>
                <a:lnTo>
                  <a:pt x="50800" y="0"/>
                </a:lnTo>
              </a:path>
            </a:pathLst>
          </a:custGeom>
          <a:ln w="508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010400" y="3006725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50800" y="0"/>
                </a:lnTo>
                <a:lnTo>
                  <a:pt x="508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ln w="5715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6877050" y="2606675"/>
            <a:ext cx="596900" cy="52070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000" dirty="0">
                <a:latin typeface="Calibri"/>
                <a:cs typeface="Calibri"/>
              </a:rPr>
              <a:t>(k,j)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6121400" y="2600325"/>
            <a:ext cx="0" cy="533400"/>
          </a:xfrm>
          <a:custGeom>
            <a:avLst/>
            <a:gdLst/>
            <a:ahLst/>
            <a:cxnLst/>
            <a:rect l="l" t="t" r="r" b="b"/>
            <a:pathLst>
              <a:path h="533400">
                <a:moveTo>
                  <a:pt x="0" y="533400"/>
                </a:moveTo>
                <a:lnTo>
                  <a:pt x="0" y="0"/>
                </a:lnTo>
              </a:path>
            </a:pathLst>
          </a:custGeom>
          <a:ln w="5715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8204200" y="2613025"/>
            <a:ext cx="0" cy="533400"/>
          </a:xfrm>
          <a:custGeom>
            <a:avLst/>
            <a:gdLst/>
            <a:ahLst/>
            <a:cxnLst/>
            <a:rect l="l" t="t" r="r" b="b"/>
            <a:pathLst>
              <a:path h="533400">
                <a:moveTo>
                  <a:pt x="0" y="533400"/>
                </a:moveTo>
                <a:lnTo>
                  <a:pt x="0" y="0"/>
                </a:lnTo>
              </a:path>
            </a:pathLst>
          </a:custGeom>
          <a:ln w="5715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5664076" y="1907416"/>
            <a:ext cx="1157605" cy="7245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6700" marR="5080" indent="-254635">
              <a:lnSpc>
                <a:spcPct val="145800"/>
              </a:lnSpc>
            </a:pPr>
            <a:r>
              <a:rPr sz="2000" spc="-5" dirty="0">
                <a:latin typeface="Calibri"/>
                <a:cs typeface="Calibri"/>
              </a:rPr>
              <a:t>I</a:t>
            </a:r>
            <a:r>
              <a:rPr sz="2000" dirty="0">
                <a:latin typeface="Calibri"/>
                <a:cs typeface="Calibri"/>
              </a:rPr>
              <a:t>nn</a:t>
            </a:r>
            <a:r>
              <a:rPr sz="2000" spc="-5" dirty="0">
                <a:latin typeface="Calibri"/>
                <a:cs typeface="Calibri"/>
              </a:rPr>
              <a:t>e</a:t>
            </a:r>
            <a:r>
              <a:rPr sz="2000" dirty="0">
                <a:latin typeface="Calibri"/>
                <a:cs typeface="Calibri"/>
              </a:rPr>
              <a:t>r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loo</a:t>
            </a:r>
            <a:r>
              <a:rPr sz="2000" dirty="0">
                <a:latin typeface="Calibri"/>
                <a:cs typeface="Calibri"/>
              </a:rPr>
              <a:t>p: (</a:t>
            </a:r>
            <a:r>
              <a:rPr sz="2000" spc="-5" dirty="0">
                <a:latin typeface="Calibri"/>
                <a:cs typeface="Calibri"/>
              </a:rPr>
              <a:t>*</a:t>
            </a:r>
            <a:r>
              <a:rPr sz="2000" dirty="0">
                <a:latin typeface="Calibri"/>
                <a:cs typeface="Calibri"/>
              </a:rPr>
              <a:t>,k)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898819" y="4244180"/>
            <a:ext cx="564515" cy="28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dirty="0">
                <a:latin typeface="Calibri"/>
                <a:cs typeface="Calibri"/>
              </a:rPr>
              <a:t>F</a:t>
            </a:r>
            <a:r>
              <a:rPr sz="2000" spc="-5" dirty="0">
                <a:latin typeface="Calibri"/>
                <a:cs typeface="Calibri"/>
              </a:rPr>
              <a:t>i</a:t>
            </a:r>
            <a:r>
              <a:rPr sz="2000" spc="-55" dirty="0">
                <a:latin typeface="Calibri"/>
                <a:cs typeface="Calibri"/>
              </a:rPr>
              <a:t>x</a:t>
            </a:r>
            <a:r>
              <a:rPr sz="2000" spc="-5" dirty="0">
                <a:latin typeface="Calibri"/>
                <a:cs typeface="Calibri"/>
              </a:rPr>
              <a:t>e</a:t>
            </a:r>
            <a:r>
              <a:rPr sz="2000" dirty="0">
                <a:latin typeface="Calibri"/>
                <a:cs typeface="Calibri"/>
              </a:rPr>
              <a:t>d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7156451" y="3573462"/>
            <a:ext cx="0" cy="563880"/>
          </a:xfrm>
          <a:custGeom>
            <a:avLst/>
            <a:gdLst/>
            <a:ahLst/>
            <a:cxnLst/>
            <a:rect l="l" t="t" r="r" b="b"/>
            <a:pathLst>
              <a:path h="563879">
                <a:moveTo>
                  <a:pt x="0" y="563562"/>
                </a:moveTo>
                <a:lnTo>
                  <a:pt x="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7118355" y="3509961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0" y="76200"/>
                </a:lnTo>
                <a:lnTo>
                  <a:pt x="76200" y="76200"/>
                </a:lnTo>
                <a:lnTo>
                  <a:pt x="381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5492989" y="4244213"/>
            <a:ext cx="902335" cy="584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7804" marR="5080" indent="-205740">
              <a:lnSpc>
                <a:spcPct val="100000"/>
              </a:lnSpc>
            </a:pPr>
            <a:r>
              <a:rPr sz="2000" spc="-5" dirty="0">
                <a:latin typeface="Calibri"/>
                <a:cs typeface="Calibri"/>
              </a:rPr>
              <a:t>Col</a:t>
            </a:r>
            <a:r>
              <a:rPr sz="2000" dirty="0">
                <a:latin typeface="Calibri"/>
                <a:cs typeface="Calibri"/>
              </a:rPr>
              <a:t>u</a:t>
            </a:r>
            <a:r>
              <a:rPr sz="2000" spc="-5" dirty="0">
                <a:latin typeface="Calibri"/>
                <a:cs typeface="Calibri"/>
              </a:rPr>
              <a:t>m</a:t>
            </a:r>
            <a:r>
              <a:rPr sz="2000" dirty="0">
                <a:latin typeface="Calibri"/>
                <a:cs typeface="Calibri"/>
              </a:rPr>
              <a:t>n- </a:t>
            </a:r>
            <a:r>
              <a:rPr sz="2000" spc="-5" dirty="0">
                <a:latin typeface="Calibri"/>
                <a:cs typeface="Calibri"/>
              </a:rPr>
              <a:t>wise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5967412" y="3565525"/>
            <a:ext cx="0" cy="563880"/>
          </a:xfrm>
          <a:custGeom>
            <a:avLst/>
            <a:gdLst/>
            <a:ahLst/>
            <a:cxnLst/>
            <a:rect l="l" t="t" r="r" b="b"/>
            <a:pathLst>
              <a:path h="563879">
                <a:moveTo>
                  <a:pt x="0" y="563562"/>
                </a:moveTo>
                <a:lnTo>
                  <a:pt x="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929316" y="3502022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0" y="76200"/>
                </a:lnTo>
                <a:lnTo>
                  <a:pt x="76200" y="76200"/>
                </a:lnTo>
                <a:lnTo>
                  <a:pt x="381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8006791" y="4244213"/>
            <a:ext cx="902335" cy="584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17804" marR="5080" indent="-205740">
              <a:lnSpc>
                <a:spcPct val="100000"/>
              </a:lnSpc>
            </a:pPr>
            <a:r>
              <a:rPr sz="2000" spc="-5" dirty="0">
                <a:latin typeface="Calibri"/>
                <a:cs typeface="Calibri"/>
              </a:rPr>
              <a:t>Col</a:t>
            </a:r>
            <a:r>
              <a:rPr sz="2000" dirty="0">
                <a:latin typeface="Calibri"/>
                <a:cs typeface="Calibri"/>
              </a:rPr>
              <a:t>u</a:t>
            </a:r>
            <a:r>
              <a:rPr sz="2000" spc="-5" dirty="0">
                <a:latin typeface="Calibri"/>
                <a:cs typeface="Calibri"/>
              </a:rPr>
              <a:t>m</a:t>
            </a:r>
            <a:r>
              <a:rPr sz="2000" dirty="0">
                <a:latin typeface="Calibri"/>
                <a:cs typeface="Calibri"/>
              </a:rPr>
              <a:t>n- </a:t>
            </a:r>
            <a:r>
              <a:rPr sz="2000" spc="-5" dirty="0">
                <a:latin typeface="Calibri"/>
                <a:cs typeface="Calibri"/>
              </a:rPr>
              <a:t>wise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8405814" y="3565525"/>
            <a:ext cx="0" cy="563880"/>
          </a:xfrm>
          <a:custGeom>
            <a:avLst/>
            <a:gdLst/>
            <a:ahLst/>
            <a:cxnLst/>
            <a:rect l="l" t="t" r="r" b="b"/>
            <a:pathLst>
              <a:path h="563879">
                <a:moveTo>
                  <a:pt x="0" y="563562"/>
                </a:moveTo>
                <a:lnTo>
                  <a:pt x="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8367717" y="3502022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0" y="76200"/>
                </a:lnTo>
                <a:lnTo>
                  <a:pt x="76200" y="76200"/>
                </a:lnTo>
                <a:lnTo>
                  <a:pt x="381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522287" y="4957000"/>
            <a:ext cx="3897629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u="heavy" dirty="0">
                <a:latin typeface="Calibri"/>
                <a:cs typeface="Calibri"/>
              </a:rPr>
              <a:t>Mi</a:t>
            </a:r>
            <a:r>
              <a:rPr sz="2400" u="heavy" spc="-10" dirty="0">
                <a:latin typeface="Calibri"/>
                <a:cs typeface="Calibri"/>
              </a:rPr>
              <a:t>ss</a:t>
            </a:r>
            <a:r>
              <a:rPr sz="2400" u="heavy" dirty="0">
                <a:latin typeface="Calibri"/>
                <a:cs typeface="Calibri"/>
              </a:rPr>
              <a:t>es</a:t>
            </a:r>
            <a:r>
              <a:rPr sz="2400" u="heavy" spc="-10" dirty="0">
                <a:latin typeface="Calibri"/>
                <a:cs typeface="Calibri"/>
              </a:rPr>
              <a:t> </a:t>
            </a:r>
            <a:r>
              <a:rPr sz="2400" u="heavy" spc="-5" dirty="0">
                <a:latin typeface="Calibri"/>
                <a:cs typeface="Calibri"/>
              </a:rPr>
              <a:t>p</a:t>
            </a:r>
            <a:r>
              <a:rPr sz="2400" u="heavy" spc="5" dirty="0">
                <a:latin typeface="Calibri"/>
                <a:cs typeface="Calibri"/>
              </a:rPr>
              <a:t>e</a:t>
            </a:r>
            <a:r>
              <a:rPr sz="2400" u="heavy" spc="-5" dirty="0">
                <a:latin typeface="Calibri"/>
                <a:cs typeface="Calibri"/>
              </a:rPr>
              <a:t>r</a:t>
            </a:r>
            <a:r>
              <a:rPr sz="2400" u="heavy" dirty="0">
                <a:latin typeface="Calibri"/>
                <a:cs typeface="Calibri"/>
              </a:rPr>
              <a:t> i</a:t>
            </a:r>
            <a:r>
              <a:rPr sz="2400" u="heavy" spc="-5" dirty="0">
                <a:latin typeface="Calibri"/>
                <a:cs typeface="Calibri"/>
              </a:rPr>
              <a:t>nn</a:t>
            </a:r>
            <a:r>
              <a:rPr sz="2400" u="heavy" spc="5" dirty="0">
                <a:latin typeface="Calibri"/>
                <a:cs typeface="Calibri"/>
              </a:rPr>
              <a:t>e</a:t>
            </a:r>
            <a:r>
              <a:rPr sz="2400" u="heavy" spc="-5" dirty="0">
                <a:latin typeface="Calibri"/>
                <a:cs typeface="Calibri"/>
              </a:rPr>
              <a:t>r</a:t>
            </a:r>
            <a:r>
              <a:rPr sz="2400" u="heavy" spc="-15" dirty="0">
                <a:latin typeface="Calibri"/>
                <a:cs typeface="Calibri"/>
              </a:rPr>
              <a:t> </a:t>
            </a:r>
            <a:r>
              <a:rPr sz="2400" u="heavy" dirty="0">
                <a:latin typeface="Calibri"/>
                <a:cs typeface="Calibri"/>
              </a:rPr>
              <a:t>l</a:t>
            </a:r>
            <a:r>
              <a:rPr sz="2400" u="heavy" spc="-10" dirty="0">
                <a:latin typeface="Calibri"/>
                <a:cs typeface="Calibri"/>
              </a:rPr>
              <a:t>oo</a:t>
            </a:r>
            <a:r>
              <a:rPr sz="2400" u="heavy" dirty="0">
                <a:latin typeface="Calibri"/>
                <a:cs typeface="Calibri"/>
              </a:rPr>
              <a:t>p</a:t>
            </a:r>
            <a:r>
              <a:rPr sz="2400" u="heavy" spc="5" dirty="0">
                <a:latin typeface="Calibri"/>
                <a:cs typeface="Calibri"/>
              </a:rPr>
              <a:t> </a:t>
            </a:r>
            <a:r>
              <a:rPr sz="2400" u="heavy" dirty="0">
                <a:latin typeface="Calibri"/>
                <a:cs typeface="Calibri"/>
              </a:rPr>
              <a:t>i</a:t>
            </a:r>
            <a:r>
              <a:rPr sz="2400" u="heavy" spc="-25" dirty="0">
                <a:latin typeface="Calibri"/>
                <a:cs typeface="Calibri"/>
              </a:rPr>
              <a:t>t</a:t>
            </a:r>
            <a:r>
              <a:rPr sz="2400" u="heavy" dirty="0">
                <a:latin typeface="Calibri"/>
                <a:cs typeface="Calibri"/>
              </a:rPr>
              <a:t>e</a:t>
            </a:r>
            <a:r>
              <a:rPr sz="2400" u="heavy" spc="-50" dirty="0">
                <a:latin typeface="Calibri"/>
                <a:cs typeface="Calibri"/>
              </a:rPr>
              <a:t>r</a:t>
            </a:r>
            <a:r>
              <a:rPr sz="2400" u="heavy" spc="-25" dirty="0">
                <a:latin typeface="Calibri"/>
                <a:cs typeface="Calibri"/>
              </a:rPr>
              <a:t>a</a:t>
            </a:r>
            <a:r>
              <a:rPr sz="2400" u="heavy" dirty="0">
                <a:latin typeface="Calibri"/>
                <a:cs typeface="Calibri"/>
              </a:rPr>
              <a:t>ti</a:t>
            </a:r>
            <a:r>
              <a:rPr sz="2400" u="heavy" spc="-10" dirty="0">
                <a:latin typeface="Calibri"/>
                <a:cs typeface="Calibri"/>
              </a:rPr>
              <a:t>o</a:t>
            </a:r>
            <a:r>
              <a:rPr sz="2400" u="heavy" spc="-5" dirty="0">
                <a:latin typeface="Calibri"/>
                <a:cs typeface="Calibri"/>
              </a:rPr>
              <a:t>n: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302575" y="5322760"/>
            <a:ext cx="410209" cy="695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103505">
              <a:lnSpc>
                <a:spcPct val="100000"/>
              </a:lnSpc>
            </a:pPr>
            <a:r>
              <a:rPr sz="2400" u="heavy" spc="-5" dirty="0">
                <a:latin typeface="Calibri"/>
                <a:cs typeface="Calibri"/>
              </a:rPr>
              <a:t>A</a:t>
            </a:r>
            <a:r>
              <a:rPr sz="2400" spc="-5" dirty="0">
                <a:latin typeface="Calibri"/>
                <a:cs typeface="Calibri"/>
              </a:rPr>
              <a:t> 1.0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674175" y="5322760"/>
            <a:ext cx="410209" cy="695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109220">
              <a:lnSpc>
                <a:spcPct val="100000"/>
              </a:lnSpc>
            </a:pPr>
            <a:r>
              <a:rPr sz="2400" u="heavy" spc="-5" dirty="0">
                <a:latin typeface="Calibri"/>
                <a:cs typeface="Calibri"/>
              </a:rPr>
              <a:t>B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0.0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987863" y="5322760"/>
            <a:ext cx="410209" cy="695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111125">
              <a:lnSpc>
                <a:spcPct val="100000"/>
              </a:lnSpc>
            </a:pPr>
            <a:r>
              <a:rPr sz="2400" u="heavy" dirty="0">
                <a:latin typeface="Calibri"/>
                <a:cs typeface="Calibri"/>
              </a:rPr>
              <a:t>C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1.0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373173" y="4030174"/>
            <a:ext cx="1637030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1800" b="1" i="1" dirty="0">
                <a:solidFill>
                  <a:srgbClr val="808080"/>
                </a:solidFill>
                <a:latin typeface="Courier New"/>
                <a:cs typeface="Courier New"/>
              </a:rPr>
              <a:t>ma</a:t>
            </a:r>
            <a:r>
              <a:rPr sz="1800" b="1" i="1" spc="-15" dirty="0">
                <a:solidFill>
                  <a:srgbClr val="808080"/>
                </a:solidFill>
                <a:latin typeface="Courier New"/>
                <a:cs typeface="Courier New"/>
              </a:rPr>
              <a:t>t</a:t>
            </a:r>
            <a:r>
              <a:rPr sz="1800" b="1" i="1" dirty="0">
                <a:solidFill>
                  <a:srgbClr val="808080"/>
                </a:solidFill>
                <a:latin typeface="Courier New"/>
                <a:cs typeface="Courier New"/>
              </a:rPr>
              <a:t>m</a:t>
            </a:r>
            <a:r>
              <a:rPr sz="1800" b="1" i="1" spc="-15" dirty="0">
                <a:solidFill>
                  <a:srgbClr val="808080"/>
                </a:solidFill>
                <a:latin typeface="Courier New"/>
                <a:cs typeface="Courier New"/>
              </a:rPr>
              <a:t>u</a:t>
            </a:r>
            <a:r>
              <a:rPr sz="1800" b="1" i="1" dirty="0">
                <a:solidFill>
                  <a:srgbClr val="808080"/>
                </a:solidFill>
                <a:latin typeface="Courier New"/>
                <a:cs typeface="Courier New"/>
              </a:rPr>
              <a:t>lt</a:t>
            </a:r>
            <a:r>
              <a:rPr sz="1800" b="1" i="1" spc="-15" dirty="0">
                <a:solidFill>
                  <a:srgbClr val="808080"/>
                </a:solidFill>
                <a:latin typeface="Courier New"/>
                <a:cs typeface="Courier New"/>
              </a:rPr>
              <a:t>/</a:t>
            </a:r>
            <a:r>
              <a:rPr sz="1800" b="1" i="1" dirty="0">
                <a:solidFill>
                  <a:srgbClr val="808080"/>
                </a:solidFill>
                <a:latin typeface="Courier New"/>
                <a:cs typeface="Courier New"/>
              </a:rPr>
              <a:t>m</a:t>
            </a:r>
            <a:r>
              <a:rPr sz="1800" b="1" i="1" spc="-15" dirty="0">
                <a:solidFill>
                  <a:srgbClr val="808080"/>
                </a:solidFill>
                <a:latin typeface="Courier New"/>
                <a:cs typeface="Courier New"/>
              </a:rPr>
              <a:t>m.c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122227" y="6098375"/>
            <a:ext cx="374459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latin typeface="Arial Narrow"/>
                <a:cs typeface="Arial Narrow"/>
              </a:rPr>
              <a:t>B</a:t>
            </a:r>
            <a:r>
              <a:rPr sz="2400" b="1" dirty="0">
                <a:latin typeface="Arial Narrow"/>
                <a:cs typeface="Arial Narrow"/>
              </a:rPr>
              <a:t>l</a:t>
            </a:r>
            <a:r>
              <a:rPr sz="2400" b="1" spc="-5" dirty="0">
                <a:latin typeface="Arial Narrow"/>
                <a:cs typeface="Arial Narrow"/>
              </a:rPr>
              <a:t>oc</a:t>
            </a:r>
            <a:r>
              <a:rPr sz="2400" b="1" dirty="0">
                <a:latin typeface="Arial Narrow"/>
                <a:cs typeface="Arial Narrow"/>
              </a:rPr>
              <a:t>k</a:t>
            </a:r>
            <a:r>
              <a:rPr sz="2400" b="1" spc="25" dirty="0">
                <a:latin typeface="Arial Narrow"/>
                <a:cs typeface="Arial Narrow"/>
              </a:rPr>
              <a:t> </a:t>
            </a:r>
            <a:r>
              <a:rPr sz="2400" b="1" spc="-5" dirty="0">
                <a:latin typeface="Arial Narrow"/>
                <a:cs typeface="Arial Narrow"/>
              </a:rPr>
              <a:t>s</a:t>
            </a:r>
            <a:r>
              <a:rPr sz="2400" b="1" dirty="0">
                <a:latin typeface="Arial Narrow"/>
                <a:cs typeface="Arial Narrow"/>
              </a:rPr>
              <a:t>ize</a:t>
            </a:r>
            <a:r>
              <a:rPr sz="2400" b="1" spc="10" dirty="0">
                <a:latin typeface="Arial Narrow"/>
                <a:cs typeface="Arial Narrow"/>
              </a:rPr>
              <a:t> </a:t>
            </a:r>
            <a:r>
              <a:rPr sz="2400" b="1" dirty="0">
                <a:latin typeface="Arial Narrow"/>
                <a:cs typeface="Arial Narrow"/>
              </a:rPr>
              <a:t>=</a:t>
            </a:r>
            <a:r>
              <a:rPr sz="2400" b="1" spc="5" dirty="0">
                <a:latin typeface="Arial Narrow"/>
                <a:cs typeface="Arial Narrow"/>
              </a:rPr>
              <a:t> </a:t>
            </a:r>
            <a:r>
              <a:rPr sz="2400" b="1" spc="-5" dirty="0">
                <a:latin typeface="Arial Narrow"/>
                <a:cs typeface="Arial Narrow"/>
              </a:rPr>
              <a:t>32</a:t>
            </a:r>
            <a:r>
              <a:rPr sz="2400" b="1" dirty="0">
                <a:latin typeface="Arial Narrow"/>
                <a:cs typeface="Arial Narrow"/>
              </a:rPr>
              <a:t>B</a:t>
            </a:r>
            <a:r>
              <a:rPr sz="2400" b="1" spc="20" dirty="0">
                <a:latin typeface="Arial Narrow"/>
                <a:cs typeface="Arial Narrow"/>
              </a:rPr>
              <a:t> </a:t>
            </a:r>
            <a:r>
              <a:rPr sz="2400" b="1" dirty="0">
                <a:latin typeface="Arial Narrow"/>
                <a:cs typeface="Arial Narrow"/>
              </a:rPr>
              <a:t>(f</a:t>
            </a:r>
            <a:r>
              <a:rPr sz="2400" b="1" spc="-5" dirty="0">
                <a:latin typeface="Arial Narrow"/>
                <a:cs typeface="Arial Narrow"/>
              </a:rPr>
              <a:t>ou</a:t>
            </a:r>
            <a:r>
              <a:rPr sz="2400" b="1" dirty="0">
                <a:latin typeface="Arial Narrow"/>
                <a:cs typeface="Arial Narrow"/>
              </a:rPr>
              <a:t>r</a:t>
            </a:r>
            <a:r>
              <a:rPr sz="2400" b="1" spc="-30" dirty="0">
                <a:latin typeface="Arial Narrow"/>
                <a:cs typeface="Arial Narrow"/>
              </a:rPr>
              <a:t> </a:t>
            </a:r>
            <a:r>
              <a:rPr sz="2400" b="1" spc="-5" dirty="0">
                <a:latin typeface="Arial Narrow"/>
                <a:cs typeface="Arial Narrow"/>
              </a:rPr>
              <a:t>doub</a:t>
            </a:r>
            <a:r>
              <a:rPr sz="2400" b="1" dirty="0">
                <a:latin typeface="Arial Narrow"/>
                <a:cs typeface="Arial Narrow"/>
              </a:rPr>
              <a:t>l</a:t>
            </a:r>
            <a:r>
              <a:rPr sz="2400" b="1" spc="-5" dirty="0">
                <a:latin typeface="Arial Narrow"/>
                <a:cs typeface="Arial Narrow"/>
              </a:rPr>
              <a:t>es)</a:t>
            </a:r>
            <a:endParaRPr sz="24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62732" y="6686384"/>
            <a:ext cx="120332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-10" dirty="0">
                <a:latin typeface="Calibri"/>
                <a:cs typeface="Calibri"/>
              </a:rPr>
              <a:t>B</a:t>
            </a:r>
            <a:r>
              <a:rPr sz="1000" spc="-5" dirty="0">
                <a:latin typeface="Calibri"/>
                <a:cs typeface="Calibri"/>
              </a:rPr>
              <a:t>r</a:t>
            </a:r>
            <a:r>
              <a:rPr sz="1000" dirty="0">
                <a:latin typeface="Calibri"/>
                <a:cs typeface="Calibri"/>
              </a:rPr>
              <a:t>y</a:t>
            </a:r>
            <a:r>
              <a:rPr sz="1000" spc="-5" dirty="0">
                <a:latin typeface="Calibri"/>
                <a:cs typeface="Calibri"/>
              </a:rPr>
              <a:t>ant</a:t>
            </a:r>
            <a:r>
              <a:rPr sz="1000" dirty="0">
                <a:latin typeface="Calibri"/>
                <a:cs typeface="Calibri"/>
              </a:rPr>
              <a:t> </a:t>
            </a:r>
            <a:r>
              <a:rPr sz="1000" spc="-5" dirty="0">
                <a:latin typeface="Calibri"/>
                <a:cs typeface="Calibri"/>
              </a:rPr>
              <a:t>and O’Ha</a:t>
            </a:r>
            <a:r>
              <a:rPr sz="1000" spc="-10" dirty="0">
                <a:latin typeface="Calibri"/>
                <a:cs typeface="Calibri"/>
              </a:rPr>
              <a:t>ll</a:t>
            </a:r>
            <a:r>
              <a:rPr sz="1000" spc="-5" dirty="0">
                <a:latin typeface="Calibri"/>
                <a:cs typeface="Calibri"/>
              </a:rPr>
              <a:t>aron,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79358" y="5073650"/>
            <a:ext cx="3497579" cy="1784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1000" spc="-10" dirty="0">
                <a:latin typeface="Calibri"/>
                <a:cs typeface="Calibri"/>
              </a:rPr>
              <a:t>C</a:t>
            </a:r>
            <a:r>
              <a:rPr sz="1000" spc="-5" dirty="0">
                <a:latin typeface="Calibri"/>
                <a:cs typeface="Calibri"/>
              </a:rPr>
              <a:t>o</a:t>
            </a:r>
            <a:r>
              <a:rPr sz="1000" spc="-10" dirty="0">
                <a:latin typeface="Calibri"/>
                <a:cs typeface="Calibri"/>
              </a:rPr>
              <a:t>m</a:t>
            </a:r>
            <a:r>
              <a:rPr sz="1000" spc="-5" dirty="0">
                <a:latin typeface="Calibri"/>
                <a:cs typeface="Calibri"/>
              </a:rPr>
              <a:t>put</a:t>
            </a:r>
            <a:r>
              <a:rPr sz="1000" spc="-10" dirty="0">
                <a:latin typeface="Calibri"/>
                <a:cs typeface="Calibri"/>
              </a:rPr>
              <a:t>e</a:t>
            </a:r>
            <a:r>
              <a:rPr sz="1000" spc="-5" dirty="0">
                <a:latin typeface="Calibri"/>
                <a:cs typeface="Calibri"/>
              </a:rPr>
              <a:t>r</a:t>
            </a:r>
            <a:r>
              <a:rPr sz="1000" spc="10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S</a:t>
            </a:r>
            <a:r>
              <a:rPr sz="1000" dirty="0">
                <a:latin typeface="Calibri"/>
                <a:cs typeface="Calibri"/>
              </a:rPr>
              <a:t>y</a:t>
            </a:r>
            <a:r>
              <a:rPr sz="1000" spc="-15" dirty="0">
                <a:latin typeface="Calibri"/>
                <a:cs typeface="Calibri"/>
              </a:rPr>
              <a:t>s</a:t>
            </a:r>
            <a:r>
              <a:rPr sz="1000" spc="-5" dirty="0">
                <a:latin typeface="Calibri"/>
                <a:cs typeface="Calibri"/>
              </a:rPr>
              <a:t>t</a:t>
            </a:r>
            <a:r>
              <a:rPr sz="1000" spc="-10" dirty="0">
                <a:latin typeface="Calibri"/>
                <a:cs typeface="Calibri"/>
              </a:rPr>
              <a:t>em</a:t>
            </a:r>
            <a:r>
              <a:rPr sz="1000" spc="-15" dirty="0">
                <a:latin typeface="Calibri"/>
                <a:cs typeface="Calibri"/>
              </a:rPr>
              <a:t>s</a:t>
            </a:r>
            <a:r>
              <a:rPr sz="1000" spc="-5" dirty="0">
                <a:latin typeface="Calibri"/>
                <a:cs typeface="Calibri"/>
              </a:rPr>
              <a:t>:</a:t>
            </a:r>
            <a:r>
              <a:rPr sz="1000" spc="20" dirty="0">
                <a:latin typeface="Calibri"/>
                <a:cs typeface="Calibri"/>
              </a:rPr>
              <a:t> </a:t>
            </a:r>
            <a:r>
              <a:rPr sz="1000" spc="-5" dirty="0">
                <a:latin typeface="Calibri"/>
                <a:cs typeface="Calibri"/>
              </a:rPr>
              <a:t>A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spc="-5" dirty="0">
                <a:latin typeface="Calibri"/>
                <a:cs typeface="Calibri"/>
              </a:rPr>
              <a:t>Pro</a:t>
            </a:r>
            <a:r>
              <a:rPr sz="1000" spc="-10" dirty="0">
                <a:latin typeface="Calibri"/>
                <a:cs typeface="Calibri"/>
              </a:rPr>
              <a:t>g</a:t>
            </a:r>
            <a:r>
              <a:rPr sz="1000" spc="-5" dirty="0">
                <a:latin typeface="Calibri"/>
                <a:cs typeface="Calibri"/>
              </a:rPr>
              <a:t>ra</a:t>
            </a:r>
            <a:r>
              <a:rPr sz="1000" spc="-10" dirty="0">
                <a:latin typeface="Calibri"/>
                <a:cs typeface="Calibri"/>
              </a:rPr>
              <a:t>mme</a:t>
            </a:r>
            <a:r>
              <a:rPr sz="1000" spc="-5" dirty="0">
                <a:latin typeface="Calibri"/>
                <a:cs typeface="Calibri"/>
              </a:rPr>
              <a:t>r’s</a:t>
            </a:r>
            <a:r>
              <a:rPr sz="1000" spc="20" dirty="0">
                <a:latin typeface="Calibri"/>
                <a:cs typeface="Calibri"/>
              </a:rPr>
              <a:t> </a:t>
            </a:r>
            <a:r>
              <a:rPr sz="1000" spc="-5" dirty="0">
                <a:latin typeface="Calibri"/>
                <a:cs typeface="Calibri"/>
              </a:rPr>
              <a:t>P</a:t>
            </a:r>
            <a:r>
              <a:rPr sz="1000" spc="-10" dirty="0">
                <a:latin typeface="Calibri"/>
                <a:cs typeface="Calibri"/>
              </a:rPr>
              <a:t>e</a:t>
            </a:r>
            <a:r>
              <a:rPr sz="1000" spc="-5" dirty="0">
                <a:latin typeface="Calibri"/>
                <a:cs typeface="Calibri"/>
              </a:rPr>
              <a:t>r</a:t>
            </a:r>
            <a:r>
              <a:rPr sz="1000" spc="-15" dirty="0">
                <a:latin typeface="Calibri"/>
                <a:cs typeface="Calibri"/>
              </a:rPr>
              <a:t>s</a:t>
            </a:r>
            <a:r>
              <a:rPr sz="1000" spc="-5" dirty="0">
                <a:latin typeface="Calibri"/>
                <a:cs typeface="Calibri"/>
              </a:rPr>
              <a:t>p</a:t>
            </a:r>
            <a:r>
              <a:rPr sz="1000" spc="-10" dirty="0">
                <a:latin typeface="Calibri"/>
                <a:cs typeface="Calibri"/>
              </a:rPr>
              <a:t>ec</a:t>
            </a:r>
            <a:r>
              <a:rPr sz="1000" spc="-5" dirty="0">
                <a:latin typeface="Calibri"/>
                <a:cs typeface="Calibri"/>
              </a:rPr>
              <a:t>t</a:t>
            </a:r>
            <a:r>
              <a:rPr sz="1000" spc="-10" dirty="0">
                <a:latin typeface="Calibri"/>
                <a:cs typeface="Calibri"/>
              </a:rPr>
              <a:t>i</a:t>
            </a:r>
            <a:r>
              <a:rPr sz="1000" spc="-15" dirty="0">
                <a:latin typeface="Calibri"/>
                <a:cs typeface="Calibri"/>
              </a:rPr>
              <a:t>v</a:t>
            </a:r>
            <a:r>
              <a:rPr sz="1000" spc="-10" dirty="0">
                <a:latin typeface="Calibri"/>
                <a:cs typeface="Calibri"/>
              </a:rPr>
              <a:t>e</a:t>
            </a:r>
            <a:r>
              <a:rPr sz="1000" spc="-5" dirty="0">
                <a:latin typeface="Calibri"/>
                <a:cs typeface="Calibri"/>
              </a:rPr>
              <a:t>,</a:t>
            </a:r>
            <a:r>
              <a:rPr sz="1000" spc="40" dirty="0">
                <a:latin typeface="Calibri"/>
                <a:cs typeface="Calibri"/>
              </a:rPr>
              <a:t> </a:t>
            </a:r>
            <a:r>
              <a:rPr sz="1000" spc="-15" dirty="0">
                <a:latin typeface="Calibri"/>
                <a:cs typeface="Calibri"/>
              </a:rPr>
              <a:t>T</a:t>
            </a:r>
            <a:r>
              <a:rPr sz="1000" spc="-5" dirty="0">
                <a:latin typeface="Calibri"/>
                <a:cs typeface="Calibri"/>
              </a:rPr>
              <a:t>h</a:t>
            </a:r>
            <a:r>
              <a:rPr sz="1000" spc="-10" dirty="0">
                <a:latin typeface="Calibri"/>
                <a:cs typeface="Calibri"/>
              </a:rPr>
              <a:t>i</a:t>
            </a:r>
            <a:r>
              <a:rPr sz="1000" spc="-5" dirty="0">
                <a:latin typeface="Calibri"/>
                <a:cs typeface="Calibri"/>
              </a:rPr>
              <a:t>rd</a:t>
            </a:r>
            <a:r>
              <a:rPr sz="1000" spc="-1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E</a:t>
            </a:r>
            <a:r>
              <a:rPr sz="1000" spc="-5" dirty="0">
                <a:latin typeface="Calibri"/>
                <a:cs typeface="Calibri"/>
              </a:rPr>
              <a:t>d</a:t>
            </a:r>
            <a:r>
              <a:rPr sz="1000" spc="-10" dirty="0">
                <a:latin typeface="Calibri"/>
                <a:cs typeface="Calibri"/>
              </a:rPr>
              <a:t>i</a:t>
            </a:r>
            <a:r>
              <a:rPr sz="1000" spc="-5" dirty="0">
                <a:latin typeface="Calibri"/>
                <a:cs typeface="Calibri"/>
              </a:rPr>
              <a:t>t</a:t>
            </a:r>
            <a:r>
              <a:rPr sz="1000" spc="-10" dirty="0">
                <a:latin typeface="Calibri"/>
                <a:cs typeface="Calibri"/>
              </a:rPr>
              <a:t>i</a:t>
            </a:r>
            <a:r>
              <a:rPr sz="1000" spc="-5" dirty="0">
                <a:latin typeface="Calibri"/>
                <a:cs typeface="Calibri"/>
              </a:rPr>
              <a:t>on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74650" y="403054"/>
            <a:ext cx="7591425" cy="698841"/>
          </a:xfrm>
          <a:prstGeom prst="rect">
            <a:avLst/>
          </a:prstGeom>
        </p:spPr>
        <p:txBody>
          <a:bodyPr vert="horz" wrap="square" lIns="0" tIns="143442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zh-CN" altLang="en-US" spc="-20" dirty="0"/>
              <a:t>矩阵乘法总结</a:t>
            </a:r>
            <a:endParaRPr spc="-5" dirty="0"/>
          </a:p>
        </p:txBody>
      </p:sp>
      <p:sp>
        <p:nvSpPr>
          <p:cNvPr id="7" name="object 7"/>
          <p:cNvSpPr txBox="1"/>
          <p:nvPr/>
        </p:nvSpPr>
        <p:spPr>
          <a:xfrm>
            <a:off x="5564187" y="1439544"/>
            <a:ext cx="3579813" cy="936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5" dirty="0">
                <a:latin typeface="Courier New"/>
                <a:cs typeface="Courier New"/>
              </a:rPr>
              <a:t>ij</a:t>
            </a:r>
            <a:r>
              <a:rPr sz="2000" b="1" dirty="0">
                <a:latin typeface="Courier New"/>
                <a:cs typeface="Courier New"/>
              </a:rPr>
              <a:t>k</a:t>
            </a:r>
            <a:r>
              <a:rPr sz="2000" b="1" spc="-760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alibri"/>
                <a:cs typeface="Calibri"/>
              </a:rPr>
              <a:t>(</a:t>
            </a:r>
            <a:r>
              <a:rPr sz="2000" b="1" dirty="0">
                <a:latin typeface="Calibri"/>
                <a:cs typeface="Calibri"/>
              </a:rPr>
              <a:t>&amp;</a:t>
            </a:r>
            <a:r>
              <a:rPr sz="2000" b="1" spc="5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jik</a:t>
            </a:r>
            <a:r>
              <a:rPr sz="2000" b="1" spc="-5" dirty="0">
                <a:latin typeface="Calibri"/>
                <a:cs typeface="Calibri"/>
              </a:rPr>
              <a:t>)</a:t>
            </a:r>
            <a:r>
              <a:rPr sz="2000" b="1" dirty="0">
                <a:latin typeface="Calibri"/>
                <a:cs typeface="Calibri"/>
              </a:rPr>
              <a:t>:</a:t>
            </a:r>
            <a:endParaRPr sz="2000" dirty="0">
              <a:latin typeface="Calibri"/>
              <a:cs typeface="Calibri"/>
            </a:endParaRPr>
          </a:p>
          <a:p>
            <a:pPr marL="309880" indent="-182880">
              <a:lnSpc>
                <a:spcPct val="100000"/>
              </a:lnSpc>
              <a:spcBef>
                <a:spcPts val="80"/>
              </a:spcBef>
              <a:buFont typeface="Calibri"/>
              <a:buChar char="•"/>
              <a:tabLst>
                <a:tab pos="310515" algn="l"/>
              </a:tabLst>
            </a:pPr>
            <a:r>
              <a:rPr sz="2000" dirty="0">
                <a:latin typeface="Calibri"/>
                <a:cs typeface="Calibri"/>
              </a:rPr>
              <a:t>2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lang="zh-CN" altLang="en-US" sz="2000" spc="-5" dirty="0">
                <a:latin typeface="Calibri"/>
                <a:cs typeface="Calibri"/>
              </a:rPr>
              <a:t>次加载</a:t>
            </a:r>
            <a:r>
              <a:rPr sz="2000" dirty="0">
                <a:latin typeface="Calibri"/>
                <a:cs typeface="Calibri"/>
              </a:rPr>
              <a:t>,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0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lang="zh-CN" altLang="en-US" sz="2000" spc="-5" dirty="0">
                <a:latin typeface="Calibri"/>
                <a:cs typeface="Calibri"/>
              </a:rPr>
              <a:t>次存储</a:t>
            </a:r>
            <a:endParaRPr sz="2000" dirty="0">
              <a:latin typeface="Calibri"/>
              <a:cs typeface="Calibri"/>
            </a:endParaRPr>
          </a:p>
          <a:p>
            <a:pPr marL="309880" indent="-182880">
              <a:lnSpc>
                <a:spcPct val="100000"/>
              </a:lnSpc>
              <a:buFont typeface="Calibri"/>
              <a:buChar char="•"/>
              <a:tabLst>
                <a:tab pos="310515" algn="l"/>
              </a:tabLst>
            </a:pPr>
            <a:r>
              <a:rPr lang="zh-CN" altLang="en-US" sz="2000" spc="50" dirty="0">
                <a:latin typeface="Calibri"/>
                <a:cs typeface="Calibri"/>
              </a:rPr>
              <a:t>每次迭代未命中次数</a:t>
            </a:r>
            <a:r>
              <a:rPr sz="2000" spc="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= </a:t>
            </a:r>
            <a:r>
              <a:rPr sz="2000" b="1" dirty="0">
                <a:latin typeface="Calibri"/>
                <a:cs typeface="Calibri"/>
              </a:rPr>
              <a:t>1.25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564468" y="3380964"/>
            <a:ext cx="3427131" cy="936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5" dirty="0">
                <a:latin typeface="Courier New"/>
                <a:cs typeface="Courier New"/>
              </a:rPr>
              <a:t>ki</a:t>
            </a:r>
            <a:r>
              <a:rPr sz="2000" b="1" dirty="0">
                <a:latin typeface="Courier New"/>
                <a:cs typeface="Courier New"/>
              </a:rPr>
              <a:t>j</a:t>
            </a:r>
            <a:r>
              <a:rPr sz="2000" b="1" spc="-760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alibri"/>
                <a:cs typeface="Calibri"/>
              </a:rPr>
              <a:t>(</a:t>
            </a:r>
            <a:r>
              <a:rPr sz="2000" b="1" dirty="0">
                <a:latin typeface="Calibri"/>
                <a:cs typeface="Calibri"/>
              </a:rPr>
              <a:t>&amp;</a:t>
            </a:r>
            <a:r>
              <a:rPr sz="2000" b="1" spc="5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ikj</a:t>
            </a:r>
            <a:r>
              <a:rPr sz="2000" b="1" spc="-5" dirty="0">
                <a:latin typeface="Calibri"/>
                <a:cs typeface="Calibri"/>
              </a:rPr>
              <a:t>)</a:t>
            </a:r>
            <a:r>
              <a:rPr sz="2000" b="1" dirty="0">
                <a:latin typeface="Calibri"/>
                <a:cs typeface="Calibri"/>
              </a:rPr>
              <a:t>:</a:t>
            </a:r>
            <a:endParaRPr sz="2000" dirty="0">
              <a:latin typeface="Calibri"/>
              <a:cs typeface="Calibri"/>
            </a:endParaRPr>
          </a:p>
          <a:p>
            <a:pPr marL="309245" indent="-182880">
              <a:lnSpc>
                <a:spcPct val="100000"/>
              </a:lnSpc>
              <a:spcBef>
                <a:spcPts val="85"/>
              </a:spcBef>
              <a:buFont typeface="Calibri"/>
              <a:buChar char="•"/>
              <a:tabLst>
                <a:tab pos="309880" algn="l"/>
              </a:tabLst>
            </a:pPr>
            <a:r>
              <a:rPr lang="en-US" altLang="zh-CN" sz="2000" dirty="0">
                <a:latin typeface="Calibri"/>
                <a:cs typeface="Calibri"/>
              </a:rPr>
              <a:t>2</a:t>
            </a:r>
            <a:r>
              <a:rPr lang="zh-CN" altLang="en-US" sz="2000" spc="-5" dirty="0">
                <a:latin typeface="Calibri"/>
                <a:cs typeface="Calibri"/>
              </a:rPr>
              <a:t> 次加载</a:t>
            </a:r>
            <a:r>
              <a:rPr lang="en-US" altLang="zh-CN" sz="2000" dirty="0">
                <a:latin typeface="Calibri"/>
                <a:cs typeface="Calibri"/>
              </a:rPr>
              <a:t>,</a:t>
            </a:r>
            <a:r>
              <a:rPr lang="zh-CN" altLang="en-US" sz="2000" spc="5" dirty="0">
                <a:latin typeface="Calibri"/>
                <a:cs typeface="Calibri"/>
              </a:rPr>
              <a:t> </a:t>
            </a:r>
            <a:r>
              <a:rPr lang="en-US" altLang="zh-CN" sz="2000" spc="-5" dirty="0">
                <a:latin typeface="Calibri"/>
                <a:cs typeface="Calibri"/>
              </a:rPr>
              <a:t>1</a:t>
            </a:r>
            <a:r>
              <a:rPr lang="zh-CN" altLang="en-US" sz="2000" spc="-5" dirty="0">
                <a:latin typeface="Calibri"/>
                <a:cs typeface="Calibri"/>
              </a:rPr>
              <a:t>次存储</a:t>
            </a:r>
            <a:endParaRPr sz="2000" dirty="0">
              <a:latin typeface="Calibri"/>
              <a:cs typeface="Calibri"/>
            </a:endParaRPr>
          </a:p>
          <a:p>
            <a:pPr marL="309245" indent="-182880">
              <a:lnSpc>
                <a:spcPct val="100000"/>
              </a:lnSpc>
              <a:buFont typeface="Calibri"/>
              <a:buChar char="•"/>
              <a:tabLst>
                <a:tab pos="309880" algn="l"/>
              </a:tabLst>
            </a:pPr>
            <a:r>
              <a:rPr lang="zh-CN" altLang="en-US" sz="2000" spc="50" dirty="0">
                <a:latin typeface="Calibri"/>
                <a:cs typeface="Calibri"/>
              </a:rPr>
              <a:t>每次迭代未命中次数 </a:t>
            </a:r>
            <a:r>
              <a:rPr sz="2000" dirty="0">
                <a:latin typeface="Calibri"/>
                <a:cs typeface="Calibri"/>
              </a:rPr>
              <a:t>= </a:t>
            </a:r>
            <a:r>
              <a:rPr sz="2000" b="1" dirty="0">
                <a:latin typeface="Calibri"/>
                <a:cs typeface="Calibri"/>
              </a:rPr>
              <a:t>0.5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564469" y="5252741"/>
            <a:ext cx="3427130" cy="936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5" dirty="0">
                <a:latin typeface="Courier New"/>
                <a:cs typeface="Courier New"/>
              </a:rPr>
              <a:t>jk</a:t>
            </a:r>
            <a:r>
              <a:rPr sz="2000" b="1" dirty="0">
                <a:latin typeface="Courier New"/>
                <a:cs typeface="Courier New"/>
              </a:rPr>
              <a:t>i</a:t>
            </a:r>
            <a:r>
              <a:rPr sz="2000" b="1" spc="-760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alibri"/>
                <a:cs typeface="Calibri"/>
              </a:rPr>
              <a:t>(</a:t>
            </a:r>
            <a:r>
              <a:rPr sz="2000" b="1" dirty="0">
                <a:latin typeface="Calibri"/>
                <a:cs typeface="Calibri"/>
              </a:rPr>
              <a:t>&amp;</a:t>
            </a:r>
            <a:r>
              <a:rPr sz="2000" b="1" spc="5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kji</a:t>
            </a:r>
            <a:r>
              <a:rPr sz="2000" b="1" spc="-5" dirty="0">
                <a:latin typeface="Calibri"/>
                <a:cs typeface="Calibri"/>
              </a:rPr>
              <a:t>)</a:t>
            </a:r>
            <a:r>
              <a:rPr sz="2000" b="1" dirty="0">
                <a:latin typeface="Calibri"/>
                <a:cs typeface="Calibri"/>
              </a:rPr>
              <a:t>:</a:t>
            </a:r>
            <a:endParaRPr sz="2000" dirty="0">
              <a:latin typeface="Calibri"/>
              <a:cs typeface="Calibri"/>
            </a:endParaRPr>
          </a:p>
          <a:p>
            <a:pPr marL="309245" indent="-182880">
              <a:lnSpc>
                <a:spcPct val="100000"/>
              </a:lnSpc>
              <a:spcBef>
                <a:spcPts val="80"/>
              </a:spcBef>
              <a:buFont typeface="Calibri"/>
              <a:buChar char="•"/>
              <a:tabLst>
                <a:tab pos="309880" algn="l"/>
              </a:tabLst>
            </a:pPr>
            <a:r>
              <a:rPr lang="en-US" altLang="zh-CN" sz="2000" dirty="0">
                <a:latin typeface="Calibri"/>
                <a:cs typeface="Calibri"/>
              </a:rPr>
              <a:t>2</a:t>
            </a:r>
            <a:r>
              <a:rPr lang="zh-CN" altLang="en-US" sz="2000" spc="-5" dirty="0">
                <a:latin typeface="Calibri"/>
                <a:cs typeface="Calibri"/>
              </a:rPr>
              <a:t> 次加载</a:t>
            </a:r>
            <a:r>
              <a:rPr lang="en-US" altLang="zh-CN" sz="2000" dirty="0">
                <a:latin typeface="Calibri"/>
                <a:cs typeface="Calibri"/>
              </a:rPr>
              <a:t>,</a:t>
            </a:r>
            <a:r>
              <a:rPr lang="zh-CN" altLang="en-US" sz="2000" spc="5" dirty="0">
                <a:latin typeface="Calibri"/>
                <a:cs typeface="Calibri"/>
              </a:rPr>
              <a:t> </a:t>
            </a:r>
            <a:r>
              <a:rPr lang="en-US" altLang="zh-CN" sz="2000" spc="-5" dirty="0">
                <a:latin typeface="Calibri"/>
                <a:cs typeface="Calibri"/>
              </a:rPr>
              <a:t>1</a:t>
            </a:r>
            <a:r>
              <a:rPr lang="zh-CN" altLang="en-US" sz="2000" spc="-5" dirty="0">
                <a:latin typeface="Calibri"/>
                <a:cs typeface="Calibri"/>
              </a:rPr>
              <a:t>次存储</a:t>
            </a:r>
            <a:endParaRPr sz="2000" dirty="0">
              <a:latin typeface="Calibri"/>
              <a:cs typeface="Calibri"/>
            </a:endParaRPr>
          </a:p>
          <a:p>
            <a:pPr marL="309245" indent="-182880">
              <a:lnSpc>
                <a:spcPct val="100000"/>
              </a:lnSpc>
              <a:buFont typeface="Calibri"/>
              <a:buChar char="•"/>
              <a:tabLst>
                <a:tab pos="309880" algn="l"/>
              </a:tabLst>
            </a:pPr>
            <a:r>
              <a:rPr lang="zh-CN" altLang="en-US" sz="2000" spc="50" dirty="0">
                <a:latin typeface="Calibri"/>
                <a:cs typeface="Calibri"/>
              </a:rPr>
              <a:t>每次迭代未命中次数 </a:t>
            </a:r>
            <a:r>
              <a:rPr sz="2000" dirty="0">
                <a:latin typeface="Calibri"/>
                <a:cs typeface="Calibri"/>
              </a:rPr>
              <a:t>= </a:t>
            </a:r>
            <a:r>
              <a:rPr sz="2000" b="1" dirty="0">
                <a:latin typeface="Calibri"/>
                <a:cs typeface="Calibri"/>
              </a:rPr>
              <a:t>2.0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95400" y="1058862"/>
            <a:ext cx="3481704" cy="2082800"/>
          </a:xfrm>
          <a:prstGeom prst="rect">
            <a:avLst/>
          </a:prstGeom>
          <a:solidFill>
            <a:srgbClr val="F6F5BD"/>
          </a:solidFill>
          <a:ln w="127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97180" marR="929005" indent="-213360">
              <a:lnSpc>
                <a:spcPct val="120000"/>
              </a:lnSpc>
            </a:pPr>
            <a:r>
              <a:rPr sz="1400" b="1" spc="-5" dirty="0">
                <a:latin typeface="Courier New"/>
                <a:cs typeface="Courier New"/>
              </a:rPr>
              <a:t>fo</a:t>
            </a:r>
            <a:r>
              <a:rPr sz="1400" b="1" dirty="0">
                <a:latin typeface="Courier New"/>
                <a:cs typeface="Courier New"/>
              </a:rPr>
              <a:t>r</a:t>
            </a:r>
            <a:r>
              <a:rPr sz="1400" b="1" spc="-5" dirty="0">
                <a:latin typeface="Courier New"/>
                <a:cs typeface="Courier New"/>
              </a:rPr>
              <a:t> (i</a:t>
            </a:r>
            <a:r>
              <a:rPr sz="1400" b="1" spc="-15" dirty="0">
                <a:latin typeface="Courier New"/>
                <a:cs typeface="Courier New"/>
              </a:rPr>
              <a:t>=</a:t>
            </a:r>
            <a:r>
              <a:rPr sz="1400" b="1" spc="-5" dirty="0">
                <a:latin typeface="Courier New"/>
                <a:cs typeface="Courier New"/>
              </a:rPr>
              <a:t>0</a:t>
            </a:r>
            <a:r>
              <a:rPr sz="1400" b="1" dirty="0">
                <a:latin typeface="Courier New"/>
                <a:cs typeface="Courier New"/>
              </a:rPr>
              <a:t>;</a:t>
            </a:r>
            <a:r>
              <a:rPr sz="1400" b="1" spc="-5" dirty="0">
                <a:latin typeface="Courier New"/>
                <a:cs typeface="Courier New"/>
              </a:rPr>
              <a:t> </a:t>
            </a:r>
            <a:r>
              <a:rPr sz="1400" b="1" spc="-15" dirty="0">
                <a:latin typeface="Courier New"/>
                <a:cs typeface="Courier New"/>
              </a:rPr>
              <a:t>i</a:t>
            </a:r>
            <a:r>
              <a:rPr sz="1400" b="1" spc="-5" dirty="0">
                <a:latin typeface="Courier New"/>
                <a:cs typeface="Courier New"/>
              </a:rPr>
              <a:t>&lt;n</a:t>
            </a:r>
            <a:r>
              <a:rPr sz="1400" b="1" dirty="0">
                <a:latin typeface="Courier New"/>
                <a:cs typeface="Courier New"/>
              </a:rPr>
              <a:t>;</a:t>
            </a:r>
            <a:r>
              <a:rPr sz="1400" b="1" spc="-15" dirty="0">
                <a:latin typeface="Courier New"/>
                <a:cs typeface="Courier New"/>
              </a:rPr>
              <a:t> </a:t>
            </a:r>
            <a:r>
              <a:rPr sz="1400" b="1" spc="-5" dirty="0">
                <a:latin typeface="Courier New"/>
                <a:cs typeface="Courier New"/>
              </a:rPr>
              <a:t>i++</a:t>
            </a:r>
            <a:r>
              <a:rPr sz="1400" b="1" dirty="0">
                <a:latin typeface="Courier New"/>
                <a:cs typeface="Courier New"/>
              </a:rPr>
              <a:t>)</a:t>
            </a:r>
            <a:r>
              <a:rPr sz="1400" b="1" spc="-5" dirty="0">
                <a:latin typeface="Courier New"/>
                <a:cs typeface="Courier New"/>
              </a:rPr>
              <a:t> </a:t>
            </a:r>
            <a:r>
              <a:rPr sz="1400" b="1" dirty="0">
                <a:latin typeface="Courier New"/>
                <a:cs typeface="Courier New"/>
              </a:rPr>
              <a:t>{ </a:t>
            </a:r>
            <a:r>
              <a:rPr sz="1400" b="1" spc="-5" dirty="0">
                <a:latin typeface="Courier New"/>
                <a:cs typeface="Courier New"/>
              </a:rPr>
              <a:t>fo</a:t>
            </a:r>
            <a:r>
              <a:rPr sz="1400" b="1" dirty="0">
                <a:latin typeface="Courier New"/>
                <a:cs typeface="Courier New"/>
              </a:rPr>
              <a:t>r</a:t>
            </a:r>
            <a:r>
              <a:rPr sz="1400" b="1" spc="-5" dirty="0">
                <a:latin typeface="Courier New"/>
                <a:cs typeface="Courier New"/>
              </a:rPr>
              <a:t> </a:t>
            </a:r>
            <a:r>
              <a:rPr sz="1400" b="1" spc="-15" dirty="0">
                <a:latin typeface="Courier New"/>
                <a:cs typeface="Courier New"/>
              </a:rPr>
              <a:t>(</a:t>
            </a:r>
            <a:r>
              <a:rPr sz="1400" b="1" spc="-5" dirty="0">
                <a:latin typeface="Courier New"/>
                <a:cs typeface="Courier New"/>
              </a:rPr>
              <a:t>j=0</a:t>
            </a:r>
            <a:r>
              <a:rPr sz="1400" b="1" dirty="0">
                <a:latin typeface="Courier New"/>
                <a:cs typeface="Courier New"/>
              </a:rPr>
              <a:t>;</a:t>
            </a:r>
            <a:r>
              <a:rPr sz="1400" b="1" spc="-15" dirty="0">
                <a:latin typeface="Courier New"/>
                <a:cs typeface="Courier New"/>
              </a:rPr>
              <a:t> </a:t>
            </a:r>
            <a:r>
              <a:rPr sz="1400" b="1" spc="-5" dirty="0">
                <a:latin typeface="Courier New"/>
                <a:cs typeface="Courier New"/>
              </a:rPr>
              <a:t>j</a:t>
            </a:r>
            <a:r>
              <a:rPr sz="1400" b="1" spc="-15" dirty="0">
                <a:latin typeface="Courier New"/>
                <a:cs typeface="Courier New"/>
              </a:rPr>
              <a:t>&lt;</a:t>
            </a:r>
            <a:r>
              <a:rPr sz="1400" b="1" spc="-5" dirty="0">
                <a:latin typeface="Courier New"/>
                <a:cs typeface="Courier New"/>
              </a:rPr>
              <a:t>n</a:t>
            </a:r>
            <a:r>
              <a:rPr sz="1400" b="1" dirty="0">
                <a:latin typeface="Courier New"/>
                <a:cs typeface="Courier New"/>
              </a:rPr>
              <a:t>;</a:t>
            </a:r>
            <a:r>
              <a:rPr sz="1400" b="1" spc="-5" dirty="0">
                <a:latin typeface="Courier New"/>
                <a:cs typeface="Courier New"/>
              </a:rPr>
              <a:t> j++</a:t>
            </a:r>
            <a:r>
              <a:rPr sz="1400" b="1" dirty="0">
                <a:latin typeface="Courier New"/>
                <a:cs typeface="Courier New"/>
              </a:rPr>
              <a:t>)</a:t>
            </a:r>
            <a:r>
              <a:rPr sz="1400" b="1" spc="-15" dirty="0">
                <a:latin typeface="Courier New"/>
                <a:cs typeface="Courier New"/>
              </a:rPr>
              <a:t> </a:t>
            </a:r>
            <a:r>
              <a:rPr sz="1400" b="1" dirty="0">
                <a:latin typeface="Courier New"/>
                <a:cs typeface="Courier New"/>
              </a:rPr>
              <a:t>{ </a:t>
            </a:r>
            <a:r>
              <a:rPr sz="1400" b="1" spc="-5" dirty="0">
                <a:latin typeface="Courier New"/>
                <a:cs typeface="Courier New"/>
              </a:rPr>
              <a:t>su</a:t>
            </a:r>
            <a:r>
              <a:rPr sz="1400" b="1" dirty="0">
                <a:latin typeface="Courier New"/>
                <a:cs typeface="Courier New"/>
              </a:rPr>
              <a:t>m</a:t>
            </a:r>
            <a:r>
              <a:rPr sz="1400" b="1" spc="-15" dirty="0">
                <a:latin typeface="Courier New"/>
                <a:cs typeface="Courier New"/>
              </a:rPr>
              <a:t> </a:t>
            </a:r>
            <a:r>
              <a:rPr sz="1400" b="1" dirty="0">
                <a:latin typeface="Courier New"/>
                <a:cs typeface="Courier New"/>
              </a:rPr>
              <a:t>=</a:t>
            </a:r>
            <a:r>
              <a:rPr sz="1400" b="1" spc="-5" dirty="0">
                <a:latin typeface="Courier New"/>
                <a:cs typeface="Courier New"/>
              </a:rPr>
              <a:t> 0</a:t>
            </a:r>
            <a:r>
              <a:rPr sz="1400" b="1" spc="-15" dirty="0">
                <a:latin typeface="Courier New"/>
                <a:cs typeface="Courier New"/>
              </a:rPr>
              <a:t>.</a:t>
            </a:r>
            <a:r>
              <a:rPr sz="1400" b="1" spc="-5" dirty="0">
                <a:latin typeface="Courier New"/>
                <a:cs typeface="Courier New"/>
              </a:rPr>
              <a:t>0;</a:t>
            </a:r>
            <a:endParaRPr sz="1400">
              <a:latin typeface="Courier New"/>
              <a:cs typeface="Courier New"/>
            </a:endParaRPr>
          </a:p>
          <a:p>
            <a:pPr marL="403225">
              <a:lnSpc>
                <a:spcPct val="100000"/>
              </a:lnSpc>
              <a:spcBef>
                <a:spcPts val="335"/>
              </a:spcBef>
            </a:pPr>
            <a:r>
              <a:rPr sz="1400" b="1" spc="-5" dirty="0">
                <a:latin typeface="Courier New"/>
                <a:cs typeface="Courier New"/>
              </a:rPr>
              <a:t>fo</a:t>
            </a:r>
            <a:r>
              <a:rPr sz="1400" b="1" dirty="0">
                <a:latin typeface="Courier New"/>
                <a:cs typeface="Courier New"/>
              </a:rPr>
              <a:t>r</a:t>
            </a:r>
            <a:r>
              <a:rPr sz="1400" b="1" spc="-15" dirty="0">
                <a:latin typeface="Courier New"/>
                <a:cs typeface="Courier New"/>
              </a:rPr>
              <a:t> </a:t>
            </a:r>
            <a:r>
              <a:rPr sz="1400" b="1" spc="-5" dirty="0">
                <a:latin typeface="Courier New"/>
                <a:cs typeface="Courier New"/>
              </a:rPr>
              <a:t>(</a:t>
            </a:r>
            <a:r>
              <a:rPr sz="1400" b="1" dirty="0">
                <a:latin typeface="Courier New"/>
                <a:cs typeface="Courier New"/>
              </a:rPr>
              <a:t>k</a:t>
            </a:r>
            <a:r>
              <a:rPr sz="1400" b="1" spc="-5" dirty="0">
                <a:latin typeface="Courier New"/>
                <a:cs typeface="Courier New"/>
              </a:rPr>
              <a:t>=</a:t>
            </a:r>
            <a:r>
              <a:rPr sz="1400" b="1" spc="-15" dirty="0">
                <a:latin typeface="Courier New"/>
                <a:cs typeface="Courier New"/>
              </a:rPr>
              <a:t>0</a:t>
            </a:r>
            <a:r>
              <a:rPr sz="1400" b="1" dirty="0">
                <a:latin typeface="Courier New"/>
                <a:cs typeface="Courier New"/>
              </a:rPr>
              <a:t>;</a:t>
            </a:r>
            <a:r>
              <a:rPr sz="1400" b="1" spc="-5" dirty="0">
                <a:latin typeface="Courier New"/>
                <a:cs typeface="Courier New"/>
              </a:rPr>
              <a:t> </a:t>
            </a:r>
            <a:r>
              <a:rPr sz="1400" b="1" spc="-15" dirty="0">
                <a:latin typeface="Courier New"/>
                <a:cs typeface="Courier New"/>
              </a:rPr>
              <a:t>k</a:t>
            </a:r>
            <a:r>
              <a:rPr sz="1400" b="1" spc="-5" dirty="0">
                <a:latin typeface="Courier New"/>
                <a:cs typeface="Courier New"/>
              </a:rPr>
              <a:t>&lt;n</a:t>
            </a:r>
            <a:r>
              <a:rPr sz="1400" b="1" dirty="0">
                <a:latin typeface="Courier New"/>
                <a:cs typeface="Courier New"/>
              </a:rPr>
              <a:t>;</a:t>
            </a:r>
            <a:r>
              <a:rPr sz="1400" b="1" spc="-5" dirty="0">
                <a:latin typeface="Courier New"/>
                <a:cs typeface="Courier New"/>
              </a:rPr>
              <a:t> k+</a:t>
            </a:r>
            <a:r>
              <a:rPr sz="1400" b="1" spc="-15" dirty="0">
                <a:latin typeface="Courier New"/>
                <a:cs typeface="Courier New"/>
              </a:rPr>
              <a:t>+</a:t>
            </a:r>
            <a:r>
              <a:rPr sz="1400" b="1" dirty="0">
                <a:latin typeface="Courier New"/>
                <a:cs typeface="Courier New"/>
              </a:rPr>
              <a:t>)</a:t>
            </a:r>
            <a:endParaRPr sz="1400">
              <a:latin typeface="Courier New"/>
              <a:cs typeface="Courier New"/>
            </a:endParaRPr>
          </a:p>
          <a:p>
            <a:pPr marL="403225" marR="186055" indent="212725">
              <a:lnSpc>
                <a:spcPct val="120000"/>
              </a:lnSpc>
            </a:pPr>
            <a:r>
              <a:rPr sz="1400" b="1" spc="-5" dirty="0">
                <a:latin typeface="Courier New"/>
                <a:cs typeface="Courier New"/>
              </a:rPr>
              <a:t>s</a:t>
            </a:r>
            <a:r>
              <a:rPr sz="1400" b="1" spc="-15" dirty="0">
                <a:latin typeface="Courier New"/>
                <a:cs typeface="Courier New"/>
              </a:rPr>
              <a:t>u</a:t>
            </a:r>
            <a:r>
              <a:rPr sz="1400" b="1" dirty="0">
                <a:latin typeface="Courier New"/>
                <a:cs typeface="Courier New"/>
              </a:rPr>
              <a:t>m</a:t>
            </a:r>
            <a:r>
              <a:rPr sz="1400" b="1" spc="-5" dirty="0">
                <a:latin typeface="Courier New"/>
                <a:cs typeface="Courier New"/>
              </a:rPr>
              <a:t> +</a:t>
            </a:r>
            <a:r>
              <a:rPr sz="1400" b="1" dirty="0">
                <a:latin typeface="Courier New"/>
                <a:cs typeface="Courier New"/>
              </a:rPr>
              <a:t>=</a:t>
            </a:r>
            <a:r>
              <a:rPr sz="1400" b="1" spc="-15" dirty="0">
                <a:latin typeface="Courier New"/>
                <a:cs typeface="Courier New"/>
              </a:rPr>
              <a:t> </a:t>
            </a:r>
            <a:r>
              <a:rPr sz="1400" b="1" spc="-5" dirty="0">
                <a:latin typeface="Courier New"/>
                <a:cs typeface="Courier New"/>
              </a:rPr>
              <a:t>a</a:t>
            </a:r>
            <a:r>
              <a:rPr sz="1400" b="1" spc="-15" dirty="0">
                <a:latin typeface="Courier New"/>
                <a:cs typeface="Courier New"/>
              </a:rPr>
              <a:t>[</a:t>
            </a:r>
            <a:r>
              <a:rPr sz="1400" b="1" spc="-5" dirty="0">
                <a:latin typeface="Courier New"/>
                <a:cs typeface="Courier New"/>
              </a:rPr>
              <a:t>i][k</a:t>
            </a:r>
            <a:r>
              <a:rPr sz="1400" b="1" dirty="0">
                <a:latin typeface="Courier New"/>
                <a:cs typeface="Courier New"/>
              </a:rPr>
              <a:t>]</a:t>
            </a:r>
            <a:r>
              <a:rPr sz="1400" b="1" spc="-5" dirty="0">
                <a:latin typeface="Courier New"/>
                <a:cs typeface="Courier New"/>
              </a:rPr>
              <a:t> </a:t>
            </a:r>
            <a:r>
              <a:rPr sz="1400" b="1" dirty="0">
                <a:latin typeface="Courier New"/>
                <a:cs typeface="Courier New"/>
              </a:rPr>
              <a:t>*</a:t>
            </a:r>
            <a:r>
              <a:rPr sz="1400" b="1" spc="-15" dirty="0">
                <a:latin typeface="Courier New"/>
                <a:cs typeface="Courier New"/>
              </a:rPr>
              <a:t> </a:t>
            </a:r>
            <a:r>
              <a:rPr sz="1400" b="1" spc="-5" dirty="0">
                <a:latin typeface="Courier New"/>
                <a:cs typeface="Courier New"/>
              </a:rPr>
              <a:t>b[</a:t>
            </a:r>
            <a:r>
              <a:rPr sz="1400" b="1" spc="-15" dirty="0">
                <a:latin typeface="Courier New"/>
                <a:cs typeface="Courier New"/>
              </a:rPr>
              <a:t>k</a:t>
            </a:r>
            <a:r>
              <a:rPr sz="1400" b="1" spc="-5" dirty="0">
                <a:latin typeface="Courier New"/>
                <a:cs typeface="Courier New"/>
              </a:rPr>
              <a:t>][</a:t>
            </a:r>
            <a:r>
              <a:rPr sz="1400" b="1" spc="-10" dirty="0">
                <a:latin typeface="Courier New"/>
                <a:cs typeface="Courier New"/>
              </a:rPr>
              <a:t>j</a:t>
            </a:r>
            <a:r>
              <a:rPr sz="1400" b="1" spc="-5" dirty="0">
                <a:latin typeface="Courier New"/>
                <a:cs typeface="Courier New"/>
              </a:rPr>
              <a:t>]; c[i</a:t>
            </a:r>
            <a:r>
              <a:rPr sz="1400" b="1" spc="-15" dirty="0">
                <a:latin typeface="Courier New"/>
                <a:cs typeface="Courier New"/>
              </a:rPr>
              <a:t>]</a:t>
            </a:r>
            <a:r>
              <a:rPr sz="1400" b="1" spc="-5" dirty="0">
                <a:latin typeface="Courier New"/>
                <a:cs typeface="Courier New"/>
              </a:rPr>
              <a:t>[j</a:t>
            </a:r>
            <a:r>
              <a:rPr sz="1400" b="1" dirty="0">
                <a:latin typeface="Courier New"/>
                <a:cs typeface="Courier New"/>
              </a:rPr>
              <a:t>]</a:t>
            </a:r>
            <a:r>
              <a:rPr sz="1400" b="1" spc="-15" dirty="0">
                <a:latin typeface="Courier New"/>
                <a:cs typeface="Courier New"/>
              </a:rPr>
              <a:t> </a:t>
            </a:r>
            <a:r>
              <a:rPr sz="1400" b="1" dirty="0">
                <a:latin typeface="Courier New"/>
                <a:cs typeface="Courier New"/>
              </a:rPr>
              <a:t>=</a:t>
            </a:r>
            <a:r>
              <a:rPr sz="1400" b="1" spc="-5" dirty="0">
                <a:latin typeface="Courier New"/>
                <a:cs typeface="Courier New"/>
              </a:rPr>
              <a:t> </a:t>
            </a:r>
            <a:r>
              <a:rPr sz="1400" b="1" spc="-15" dirty="0">
                <a:latin typeface="Courier New"/>
                <a:cs typeface="Courier New"/>
              </a:rPr>
              <a:t>s</a:t>
            </a:r>
            <a:r>
              <a:rPr sz="1400" b="1" spc="-5" dirty="0">
                <a:latin typeface="Courier New"/>
                <a:cs typeface="Courier New"/>
              </a:rPr>
              <a:t>um;</a:t>
            </a:r>
            <a:endParaRPr sz="1400">
              <a:latin typeface="Courier New"/>
              <a:cs typeface="Courier New"/>
            </a:endParaRPr>
          </a:p>
          <a:p>
            <a:pPr marL="189865">
              <a:lnSpc>
                <a:spcPct val="100000"/>
              </a:lnSpc>
              <a:spcBef>
                <a:spcPts val="335"/>
              </a:spcBef>
            </a:pPr>
            <a:r>
              <a:rPr sz="1400" b="1" dirty="0">
                <a:latin typeface="Courier New"/>
                <a:cs typeface="Courier New"/>
              </a:rPr>
              <a:t>}</a:t>
            </a:r>
            <a:endParaRPr sz="1400">
              <a:latin typeface="Courier New"/>
              <a:cs typeface="Courier New"/>
            </a:endParaRPr>
          </a:p>
          <a:p>
            <a:pPr marL="83185">
              <a:lnSpc>
                <a:spcPct val="100000"/>
              </a:lnSpc>
              <a:spcBef>
                <a:spcPts val="335"/>
              </a:spcBef>
            </a:pPr>
            <a:r>
              <a:rPr sz="1400" b="1" dirty="0">
                <a:latin typeface="Courier New"/>
                <a:cs typeface="Courier New"/>
              </a:rPr>
              <a:t>}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95400" y="3221037"/>
            <a:ext cx="3481704" cy="1784350"/>
          </a:xfrm>
          <a:prstGeom prst="rect">
            <a:avLst/>
          </a:prstGeom>
          <a:solidFill>
            <a:srgbClr val="F6F5BD"/>
          </a:solidFill>
          <a:ln w="127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90500" marR="1036319" indent="-106680">
              <a:lnSpc>
                <a:spcPct val="120000"/>
              </a:lnSpc>
            </a:pPr>
            <a:r>
              <a:rPr sz="1400" b="1" spc="-5" dirty="0">
                <a:latin typeface="Courier New"/>
                <a:cs typeface="Courier New"/>
              </a:rPr>
              <a:t>fo</a:t>
            </a:r>
            <a:r>
              <a:rPr sz="1400" b="1" dirty="0">
                <a:latin typeface="Courier New"/>
                <a:cs typeface="Courier New"/>
              </a:rPr>
              <a:t>r</a:t>
            </a:r>
            <a:r>
              <a:rPr sz="1400" b="1" spc="-5" dirty="0">
                <a:latin typeface="Courier New"/>
                <a:cs typeface="Courier New"/>
              </a:rPr>
              <a:t> (k</a:t>
            </a:r>
            <a:r>
              <a:rPr sz="1400" b="1" spc="-15" dirty="0">
                <a:latin typeface="Courier New"/>
                <a:cs typeface="Courier New"/>
              </a:rPr>
              <a:t>=</a:t>
            </a:r>
            <a:r>
              <a:rPr sz="1400" b="1" spc="-5" dirty="0">
                <a:latin typeface="Courier New"/>
                <a:cs typeface="Courier New"/>
              </a:rPr>
              <a:t>0</a:t>
            </a:r>
            <a:r>
              <a:rPr sz="1400" b="1" dirty="0">
                <a:latin typeface="Courier New"/>
                <a:cs typeface="Courier New"/>
              </a:rPr>
              <a:t>;</a:t>
            </a:r>
            <a:r>
              <a:rPr sz="1400" b="1" spc="-5" dirty="0">
                <a:latin typeface="Courier New"/>
                <a:cs typeface="Courier New"/>
              </a:rPr>
              <a:t> </a:t>
            </a:r>
            <a:r>
              <a:rPr sz="1400" b="1" spc="-15" dirty="0">
                <a:latin typeface="Courier New"/>
                <a:cs typeface="Courier New"/>
              </a:rPr>
              <a:t>k</a:t>
            </a:r>
            <a:r>
              <a:rPr sz="1400" b="1" spc="-5" dirty="0">
                <a:latin typeface="Courier New"/>
                <a:cs typeface="Courier New"/>
              </a:rPr>
              <a:t>&lt;n</a:t>
            </a:r>
            <a:r>
              <a:rPr sz="1400" b="1" dirty="0">
                <a:latin typeface="Courier New"/>
                <a:cs typeface="Courier New"/>
              </a:rPr>
              <a:t>;</a:t>
            </a:r>
            <a:r>
              <a:rPr sz="1400" b="1" spc="-15" dirty="0">
                <a:latin typeface="Courier New"/>
                <a:cs typeface="Courier New"/>
              </a:rPr>
              <a:t> </a:t>
            </a:r>
            <a:r>
              <a:rPr sz="1400" b="1" spc="-5" dirty="0">
                <a:latin typeface="Courier New"/>
                <a:cs typeface="Courier New"/>
              </a:rPr>
              <a:t>k++</a:t>
            </a:r>
            <a:r>
              <a:rPr sz="1400" b="1" dirty="0">
                <a:latin typeface="Courier New"/>
                <a:cs typeface="Courier New"/>
              </a:rPr>
              <a:t>)</a:t>
            </a:r>
            <a:r>
              <a:rPr sz="1400" b="1" spc="-5" dirty="0">
                <a:latin typeface="Courier New"/>
                <a:cs typeface="Courier New"/>
              </a:rPr>
              <a:t> </a:t>
            </a:r>
            <a:r>
              <a:rPr sz="1400" b="1" dirty="0">
                <a:latin typeface="Courier New"/>
                <a:cs typeface="Courier New"/>
              </a:rPr>
              <a:t>{ </a:t>
            </a:r>
            <a:r>
              <a:rPr sz="1400" b="1" spc="-5" dirty="0">
                <a:latin typeface="Courier New"/>
                <a:cs typeface="Courier New"/>
              </a:rPr>
              <a:t>fo</a:t>
            </a:r>
            <a:r>
              <a:rPr sz="1400" b="1" dirty="0">
                <a:latin typeface="Courier New"/>
                <a:cs typeface="Courier New"/>
              </a:rPr>
              <a:t>r</a:t>
            </a:r>
            <a:r>
              <a:rPr sz="1400" b="1" spc="-5" dirty="0">
                <a:latin typeface="Courier New"/>
                <a:cs typeface="Courier New"/>
              </a:rPr>
              <a:t> (</a:t>
            </a:r>
            <a:r>
              <a:rPr sz="1400" b="1" spc="-15" dirty="0">
                <a:latin typeface="Courier New"/>
                <a:cs typeface="Courier New"/>
              </a:rPr>
              <a:t>i</a:t>
            </a:r>
            <a:r>
              <a:rPr sz="1400" b="1" spc="-5" dirty="0">
                <a:latin typeface="Courier New"/>
                <a:cs typeface="Courier New"/>
              </a:rPr>
              <a:t>=0</a:t>
            </a:r>
            <a:r>
              <a:rPr sz="1400" b="1" dirty="0">
                <a:latin typeface="Courier New"/>
                <a:cs typeface="Courier New"/>
              </a:rPr>
              <a:t>;</a:t>
            </a:r>
            <a:r>
              <a:rPr sz="1400" b="1" spc="-15" dirty="0">
                <a:latin typeface="Courier New"/>
                <a:cs typeface="Courier New"/>
              </a:rPr>
              <a:t> </a:t>
            </a:r>
            <a:r>
              <a:rPr sz="1400" b="1" spc="-5" dirty="0">
                <a:latin typeface="Courier New"/>
                <a:cs typeface="Courier New"/>
              </a:rPr>
              <a:t>i&lt;</a:t>
            </a:r>
            <a:r>
              <a:rPr sz="1400" b="1" spc="-15" dirty="0">
                <a:latin typeface="Courier New"/>
                <a:cs typeface="Courier New"/>
              </a:rPr>
              <a:t>n</a:t>
            </a:r>
            <a:r>
              <a:rPr sz="1400" b="1" dirty="0">
                <a:latin typeface="Courier New"/>
                <a:cs typeface="Courier New"/>
              </a:rPr>
              <a:t>;</a:t>
            </a:r>
            <a:r>
              <a:rPr sz="1400" b="1" spc="-5" dirty="0">
                <a:latin typeface="Courier New"/>
                <a:cs typeface="Courier New"/>
              </a:rPr>
              <a:t> i++</a:t>
            </a:r>
            <a:r>
              <a:rPr sz="1400" b="1" dirty="0">
                <a:latin typeface="Courier New"/>
                <a:cs typeface="Courier New"/>
              </a:rPr>
              <a:t>)</a:t>
            </a:r>
            <a:r>
              <a:rPr sz="1400" b="1" spc="-15" dirty="0">
                <a:latin typeface="Courier New"/>
                <a:cs typeface="Courier New"/>
              </a:rPr>
              <a:t> </a:t>
            </a:r>
            <a:r>
              <a:rPr sz="1400" b="1" dirty="0">
                <a:latin typeface="Courier New"/>
                <a:cs typeface="Courier New"/>
              </a:rPr>
              <a:t>{ r</a:t>
            </a:r>
            <a:r>
              <a:rPr sz="1400" b="1" spc="-5" dirty="0">
                <a:latin typeface="Courier New"/>
                <a:cs typeface="Courier New"/>
              </a:rPr>
              <a:t> </a:t>
            </a:r>
            <a:r>
              <a:rPr sz="1400" b="1" dirty="0">
                <a:latin typeface="Courier New"/>
                <a:cs typeface="Courier New"/>
              </a:rPr>
              <a:t>=</a:t>
            </a:r>
            <a:r>
              <a:rPr sz="1400" b="1" spc="-5" dirty="0">
                <a:latin typeface="Courier New"/>
                <a:cs typeface="Courier New"/>
              </a:rPr>
              <a:t> </a:t>
            </a:r>
            <a:r>
              <a:rPr sz="1400" b="1" spc="-15" dirty="0">
                <a:latin typeface="Courier New"/>
                <a:cs typeface="Courier New"/>
              </a:rPr>
              <a:t>a</a:t>
            </a:r>
            <a:r>
              <a:rPr sz="1400" b="1" spc="-5" dirty="0">
                <a:latin typeface="Courier New"/>
                <a:cs typeface="Courier New"/>
              </a:rPr>
              <a:t>[i]</a:t>
            </a:r>
            <a:r>
              <a:rPr sz="1400" b="1" spc="-15" dirty="0">
                <a:latin typeface="Courier New"/>
                <a:cs typeface="Courier New"/>
              </a:rPr>
              <a:t>[</a:t>
            </a:r>
            <a:r>
              <a:rPr sz="1400" b="1" spc="-5" dirty="0">
                <a:latin typeface="Courier New"/>
                <a:cs typeface="Courier New"/>
              </a:rPr>
              <a:t>k];</a:t>
            </a:r>
            <a:endParaRPr sz="1400">
              <a:latin typeface="Courier New"/>
              <a:cs typeface="Courier New"/>
            </a:endParaRPr>
          </a:p>
          <a:p>
            <a:pPr marL="403225" marR="611505" indent="-106680">
              <a:lnSpc>
                <a:spcPct val="120000"/>
              </a:lnSpc>
            </a:pPr>
            <a:r>
              <a:rPr sz="1400" b="1" spc="-5" dirty="0">
                <a:latin typeface="Courier New"/>
                <a:cs typeface="Courier New"/>
              </a:rPr>
              <a:t>fo</a:t>
            </a:r>
            <a:r>
              <a:rPr sz="1400" b="1" dirty="0">
                <a:latin typeface="Courier New"/>
                <a:cs typeface="Courier New"/>
              </a:rPr>
              <a:t>r</a:t>
            </a:r>
            <a:r>
              <a:rPr sz="1400" b="1" spc="-5" dirty="0">
                <a:latin typeface="Courier New"/>
                <a:cs typeface="Courier New"/>
              </a:rPr>
              <a:t> </a:t>
            </a:r>
            <a:r>
              <a:rPr sz="1400" b="1" spc="-15" dirty="0">
                <a:latin typeface="Courier New"/>
                <a:cs typeface="Courier New"/>
              </a:rPr>
              <a:t>(</a:t>
            </a:r>
            <a:r>
              <a:rPr sz="1400" b="1" spc="-5" dirty="0">
                <a:latin typeface="Courier New"/>
                <a:cs typeface="Courier New"/>
              </a:rPr>
              <a:t>j=0</a:t>
            </a:r>
            <a:r>
              <a:rPr sz="1400" b="1" dirty="0">
                <a:latin typeface="Courier New"/>
                <a:cs typeface="Courier New"/>
              </a:rPr>
              <a:t>;</a:t>
            </a:r>
            <a:r>
              <a:rPr sz="1400" b="1" spc="-15" dirty="0">
                <a:latin typeface="Courier New"/>
                <a:cs typeface="Courier New"/>
              </a:rPr>
              <a:t> </a:t>
            </a:r>
            <a:r>
              <a:rPr sz="1400" b="1" spc="-5" dirty="0">
                <a:latin typeface="Courier New"/>
                <a:cs typeface="Courier New"/>
              </a:rPr>
              <a:t>j</a:t>
            </a:r>
            <a:r>
              <a:rPr sz="1400" b="1" spc="-15" dirty="0">
                <a:latin typeface="Courier New"/>
                <a:cs typeface="Courier New"/>
              </a:rPr>
              <a:t>&lt;</a:t>
            </a:r>
            <a:r>
              <a:rPr sz="1400" b="1" spc="-5" dirty="0">
                <a:latin typeface="Courier New"/>
                <a:cs typeface="Courier New"/>
              </a:rPr>
              <a:t>n</a:t>
            </a:r>
            <a:r>
              <a:rPr sz="1400" b="1" dirty="0">
                <a:latin typeface="Courier New"/>
                <a:cs typeface="Courier New"/>
              </a:rPr>
              <a:t>;</a:t>
            </a:r>
            <a:r>
              <a:rPr sz="1400" b="1" spc="-5" dirty="0">
                <a:latin typeface="Courier New"/>
                <a:cs typeface="Courier New"/>
              </a:rPr>
              <a:t> j++) c[i</a:t>
            </a:r>
            <a:r>
              <a:rPr sz="1400" b="1" spc="-15" dirty="0">
                <a:latin typeface="Courier New"/>
                <a:cs typeface="Courier New"/>
              </a:rPr>
              <a:t>]</a:t>
            </a:r>
            <a:r>
              <a:rPr sz="1400" b="1" spc="-5" dirty="0">
                <a:latin typeface="Courier New"/>
                <a:cs typeface="Courier New"/>
              </a:rPr>
              <a:t>[j</a:t>
            </a:r>
            <a:r>
              <a:rPr sz="1400" b="1" dirty="0">
                <a:latin typeface="Courier New"/>
                <a:cs typeface="Courier New"/>
              </a:rPr>
              <a:t>]</a:t>
            </a:r>
            <a:r>
              <a:rPr sz="1400" b="1" spc="-15" dirty="0">
                <a:latin typeface="Courier New"/>
                <a:cs typeface="Courier New"/>
              </a:rPr>
              <a:t> </a:t>
            </a:r>
            <a:r>
              <a:rPr sz="1400" b="1" spc="-5" dirty="0">
                <a:latin typeface="Courier New"/>
                <a:cs typeface="Courier New"/>
              </a:rPr>
              <a:t>+</a:t>
            </a:r>
            <a:r>
              <a:rPr sz="1400" b="1" dirty="0">
                <a:latin typeface="Courier New"/>
                <a:cs typeface="Courier New"/>
              </a:rPr>
              <a:t>=</a:t>
            </a:r>
            <a:r>
              <a:rPr sz="1400" b="1" spc="-15" dirty="0">
                <a:latin typeface="Courier New"/>
                <a:cs typeface="Courier New"/>
              </a:rPr>
              <a:t> </a:t>
            </a:r>
            <a:r>
              <a:rPr sz="1400" b="1" dirty="0">
                <a:latin typeface="Courier New"/>
                <a:cs typeface="Courier New"/>
              </a:rPr>
              <a:t>r</a:t>
            </a:r>
            <a:r>
              <a:rPr sz="1400" b="1" spc="-5" dirty="0">
                <a:latin typeface="Courier New"/>
                <a:cs typeface="Courier New"/>
              </a:rPr>
              <a:t> </a:t>
            </a:r>
            <a:r>
              <a:rPr sz="1400" b="1" dirty="0">
                <a:latin typeface="Courier New"/>
                <a:cs typeface="Courier New"/>
              </a:rPr>
              <a:t>*</a:t>
            </a:r>
            <a:r>
              <a:rPr sz="1400" b="1" spc="-5" dirty="0">
                <a:latin typeface="Courier New"/>
                <a:cs typeface="Courier New"/>
              </a:rPr>
              <a:t> b[</a:t>
            </a:r>
            <a:r>
              <a:rPr sz="1400" b="1" spc="-15" dirty="0">
                <a:latin typeface="Courier New"/>
                <a:cs typeface="Courier New"/>
              </a:rPr>
              <a:t>k</a:t>
            </a:r>
            <a:r>
              <a:rPr sz="1400" b="1" spc="-5" dirty="0">
                <a:latin typeface="Courier New"/>
                <a:cs typeface="Courier New"/>
              </a:rPr>
              <a:t>][j</a:t>
            </a:r>
            <a:r>
              <a:rPr sz="1400" b="1" spc="-15" dirty="0">
                <a:latin typeface="Courier New"/>
                <a:cs typeface="Courier New"/>
              </a:rPr>
              <a:t>]</a:t>
            </a:r>
            <a:r>
              <a:rPr sz="1400" b="1" dirty="0">
                <a:latin typeface="Courier New"/>
                <a:cs typeface="Courier New"/>
              </a:rPr>
              <a:t>;</a:t>
            </a:r>
            <a:endParaRPr sz="1400">
              <a:latin typeface="Courier New"/>
              <a:cs typeface="Courier New"/>
            </a:endParaRPr>
          </a:p>
          <a:p>
            <a:pPr marL="190500">
              <a:lnSpc>
                <a:spcPct val="100000"/>
              </a:lnSpc>
              <a:spcBef>
                <a:spcPts val="335"/>
              </a:spcBef>
            </a:pPr>
            <a:r>
              <a:rPr sz="1400" b="1" dirty="0">
                <a:latin typeface="Courier New"/>
                <a:cs typeface="Courier New"/>
              </a:rPr>
              <a:t>}</a:t>
            </a:r>
            <a:endParaRPr sz="1400">
              <a:latin typeface="Courier New"/>
              <a:cs typeface="Courier New"/>
            </a:endParaRPr>
          </a:p>
          <a:p>
            <a:pPr marL="83185">
              <a:lnSpc>
                <a:spcPct val="100000"/>
              </a:lnSpc>
              <a:spcBef>
                <a:spcPts val="335"/>
              </a:spcBef>
            </a:pPr>
            <a:r>
              <a:rPr sz="1400" b="1" dirty="0">
                <a:latin typeface="Courier New"/>
                <a:cs typeface="Courier New"/>
              </a:rPr>
              <a:t>}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95400" y="5073650"/>
            <a:ext cx="3481704" cy="1784350"/>
          </a:xfrm>
          <a:prstGeom prst="rect">
            <a:avLst/>
          </a:prstGeom>
          <a:solidFill>
            <a:srgbClr val="F6F5BD"/>
          </a:solidFill>
          <a:ln w="127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90500" marR="1036319" indent="-106680">
              <a:lnSpc>
                <a:spcPct val="120000"/>
              </a:lnSpc>
            </a:pPr>
            <a:r>
              <a:rPr sz="1400" b="1" spc="-5" dirty="0">
                <a:latin typeface="Courier New"/>
                <a:cs typeface="Courier New"/>
              </a:rPr>
              <a:t>fo</a:t>
            </a:r>
            <a:r>
              <a:rPr sz="1400" b="1" dirty="0">
                <a:latin typeface="Courier New"/>
                <a:cs typeface="Courier New"/>
              </a:rPr>
              <a:t>r</a:t>
            </a:r>
            <a:r>
              <a:rPr sz="1400" b="1" spc="-5" dirty="0">
                <a:latin typeface="Courier New"/>
                <a:cs typeface="Courier New"/>
              </a:rPr>
              <a:t> (j</a:t>
            </a:r>
            <a:r>
              <a:rPr sz="1400" b="1" spc="-15" dirty="0">
                <a:latin typeface="Courier New"/>
                <a:cs typeface="Courier New"/>
              </a:rPr>
              <a:t>=</a:t>
            </a:r>
            <a:r>
              <a:rPr sz="1400" b="1" spc="-5" dirty="0">
                <a:latin typeface="Courier New"/>
                <a:cs typeface="Courier New"/>
              </a:rPr>
              <a:t>0</a:t>
            </a:r>
            <a:r>
              <a:rPr sz="1400" b="1" dirty="0">
                <a:latin typeface="Courier New"/>
                <a:cs typeface="Courier New"/>
              </a:rPr>
              <a:t>;</a:t>
            </a:r>
            <a:r>
              <a:rPr sz="1400" b="1" spc="-5" dirty="0">
                <a:latin typeface="Courier New"/>
                <a:cs typeface="Courier New"/>
              </a:rPr>
              <a:t> </a:t>
            </a:r>
            <a:r>
              <a:rPr sz="1400" b="1" spc="-15" dirty="0">
                <a:latin typeface="Courier New"/>
                <a:cs typeface="Courier New"/>
              </a:rPr>
              <a:t>j</a:t>
            </a:r>
            <a:r>
              <a:rPr sz="1400" b="1" spc="-5" dirty="0">
                <a:latin typeface="Courier New"/>
                <a:cs typeface="Courier New"/>
              </a:rPr>
              <a:t>&lt;n</a:t>
            </a:r>
            <a:r>
              <a:rPr sz="1400" b="1" dirty="0">
                <a:latin typeface="Courier New"/>
                <a:cs typeface="Courier New"/>
              </a:rPr>
              <a:t>;</a:t>
            </a:r>
            <a:r>
              <a:rPr sz="1400" b="1" spc="-15" dirty="0">
                <a:latin typeface="Courier New"/>
                <a:cs typeface="Courier New"/>
              </a:rPr>
              <a:t> </a:t>
            </a:r>
            <a:r>
              <a:rPr sz="1400" b="1" spc="-5" dirty="0">
                <a:latin typeface="Courier New"/>
                <a:cs typeface="Courier New"/>
              </a:rPr>
              <a:t>j++</a:t>
            </a:r>
            <a:r>
              <a:rPr sz="1400" b="1" dirty="0">
                <a:latin typeface="Courier New"/>
                <a:cs typeface="Courier New"/>
              </a:rPr>
              <a:t>)</a:t>
            </a:r>
            <a:r>
              <a:rPr sz="1400" b="1" spc="-5" dirty="0">
                <a:latin typeface="Courier New"/>
                <a:cs typeface="Courier New"/>
              </a:rPr>
              <a:t> </a:t>
            </a:r>
            <a:r>
              <a:rPr sz="1400" b="1" dirty="0">
                <a:latin typeface="Courier New"/>
                <a:cs typeface="Courier New"/>
              </a:rPr>
              <a:t>{ </a:t>
            </a:r>
            <a:r>
              <a:rPr sz="1400" b="1" spc="-5" dirty="0">
                <a:latin typeface="Courier New"/>
                <a:cs typeface="Courier New"/>
              </a:rPr>
              <a:t>fo</a:t>
            </a:r>
            <a:r>
              <a:rPr sz="1400" b="1" dirty="0">
                <a:latin typeface="Courier New"/>
                <a:cs typeface="Courier New"/>
              </a:rPr>
              <a:t>r</a:t>
            </a:r>
            <a:r>
              <a:rPr sz="1400" b="1" spc="-5" dirty="0">
                <a:latin typeface="Courier New"/>
                <a:cs typeface="Courier New"/>
              </a:rPr>
              <a:t> (</a:t>
            </a:r>
            <a:r>
              <a:rPr sz="1400" b="1" spc="-15" dirty="0">
                <a:latin typeface="Courier New"/>
                <a:cs typeface="Courier New"/>
              </a:rPr>
              <a:t>k</a:t>
            </a:r>
            <a:r>
              <a:rPr sz="1400" b="1" spc="-5" dirty="0">
                <a:latin typeface="Courier New"/>
                <a:cs typeface="Courier New"/>
              </a:rPr>
              <a:t>=0</a:t>
            </a:r>
            <a:r>
              <a:rPr sz="1400" b="1" dirty="0">
                <a:latin typeface="Courier New"/>
                <a:cs typeface="Courier New"/>
              </a:rPr>
              <a:t>;</a:t>
            </a:r>
            <a:r>
              <a:rPr sz="1400" b="1" spc="-15" dirty="0">
                <a:latin typeface="Courier New"/>
                <a:cs typeface="Courier New"/>
              </a:rPr>
              <a:t> </a:t>
            </a:r>
            <a:r>
              <a:rPr sz="1400" b="1" spc="-5" dirty="0">
                <a:latin typeface="Courier New"/>
                <a:cs typeface="Courier New"/>
              </a:rPr>
              <a:t>k&lt;</a:t>
            </a:r>
            <a:r>
              <a:rPr sz="1400" b="1" spc="-15" dirty="0">
                <a:latin typeface="Courier New"/>
                <a:cs typeface="Courier New"/>
              </a:rPr>
              <a:t>n</a:t>
            </a:r>
            <a:r>
              <a:rPr sz="1400" b="1" dirty="0">
                <a:latin typeface="Courier New"/>
                <a:cs typeface="Courier New"/>
              </a:rPr>
              <a:t>;</a:t>
            </a:r>
            <a:r>
              <a:rPr sz="1400" b="1" spc="-5" dirty="0">
                <a:latin typeface="Courier New"/>
                <a:cs typeface="Courier New"/>
              </a:rPr>
              <a:t> k++</a:t>
            </a:r>
            <a:r>
              <a:rPr sz="1400" b="1" dirty="0">
                <a:latin typeface="Courier New"/>
                <a:cs typeface="Courier New"/>
              </a:rPr>
              <a:t>)</a:t>
            </a:r>
            <a:r>
              <a:rPr sz="1400" b="1" spc="-15" dirty="0">
                <a:latin typeface="Courier New"/>
                <a:cs typeface="Courier New"/>
              </a:rPr>
              <a:t> </a:t>
            </a:r>
            <a:r>
              <a:rPr sz="1400" b="1" dirty="0">
                <a:latin typeface="Courier New"/>
                <a:cs typeface="Courier New"/>
              </a:rPr>
              <a:t>{</a:t>
            </a:r>
            <a:endParaRPr sz="1400">
              <a:latin typeface="Courier New"/>
              <a:cs typeface="Courier New"/>
            </a:endParaRPr>
          </a:p>
          <a:p>
            <a:pPr marL="403225">
              <a:lnSpc>
                <a:spcPct val="100000"/>
              </a:lnSpc>
              <a:spcBef>
                <a:spcPts val="335"/>
              </a:spcBef>
            </a:pPr>
            <a:r>
              <a:rPr sz="1400" b="1" dirty="0">
                <a:latin typeface="Courier New"/>
                <a:cs typeface="Courier New"/>
              </a:rPr>
              <a:t>r</a:t>
            </a:r>
            <a:r>
              <a:rPr sz="1400" b="1" spc="-5" dirty="0">
                <a:latin typeface="Courier New"/>
                <a:cs typeface="Courier New"/>
              </a:rPr>
              <a:t> </a:t>
            </a:r>
            <a:r>
              <a:rPr sz="1400" b="1" dirty="0">
                <a:latin typeface="Courier New"/>
                <a:cs typeface="Courier New"/>
              </a:rPr>
              <a:t>=</a:t>
            </a:r>
            <a:r>
              <a:rPr sz="1400" b="1" spc="-15" dirty="0">
                <a:latin typeface="Courier New"/>
                <a:cs typeface="Courier New"/>
              </a:rPr>
              <a:t> </a:t>
            </a:r>
            <a:r>
              <a:rPr sz="1400" b="1" spc="-5" dirty="0">
                <a:latin typeface="Courier New"/>
                <a:cs typeface="Courier New"/>
              </a:rPr>
              <a:t>b[k</a:t>
            </a:r>
            <a:r>
              <a:rPr sz="1400" b="1" spc="-15" dirty="0">
                <a:latin typeface="Courier New"/>
                <a:cs typeface="Courier New"/>
              </a:rPr>
              <a:t>]</a:t>
            </a:r>
            <a:r>
              <a:rPr sz="1400" b="1" spc="-5" dirty="0">
                <a:latin typeface="Courier New"/>
                <a:cs typeface="Courier New"/>
              </a:rPr>
              <a:t>[j</a:t>
            </a:r>
            <a:r>
              <a:rPr sz="1400" b="1" spc="-15" dirty="0">
                <a:latin typeface="Courier New"/>
                <a:cs typeface="Courier New"/>
              </a:rPr>
              <a:t>]</a:t>
            </a:r>
            <a:r>
              <a:rPr sz="1400" b="1" dirty="0">
                <a:latin typeface="Courier New"/>
                <a:cs typeface="Courier New"/>
              </a:rPr>
              <a:t>;</a:t>
            </a:r>
            <a:endParaRPr sz="1400">
              <a:latin typeface="Courier New"/>
              <a:cs typeface="Courier New"/>
            </a:endParaRPr>
          </a:p>
          <a:p>
            <a:pPr marL="509905" marR="505459" indent="-106680">
              <a:lnSpc>
                <a:spcPct val="120000"/>
              </a:lnSpc>
            </a:pPr>
            <a:r>
              <a:rPr sz="1400" b="1" spc="-5" dirty="0">
                <a:latin typeface="Courier New"/>
                <a:cs typeface="Courier New"/>
              </a:rPr>
              <a:t>fo</a:t>
            </a:r>
            <a:r>
              <a:rPr sz="1400" b="1" dirty="0">
                <a:latin typeface="Courier New"/>
                <a:cs typeface="Courier New"/>
              </a:rPr>
              <a:t>r</a:t>
            </a:r>
            <a:r>
              <a:rPr sz="1400" b="1" spc="-15" dirty="0">
                <a:latin typeface="Courier New"/>
                <a:cs typeface="Courier New"/>
              </a:rPr>
              <a:t> </a:t>
            </a:r>
            <a:r>
              <a:rPr sz="1400" b="1" spc="-5" dirty="0">
                <a:latin typeface="Courier New"/>
                <a:cs typeface="Courier New"/>
              </a:rPr>
              <a:t>(i=</a:t>
            </a:r>
            <a:r>
              <a:rPr sz="1400" b="1" spc="-15" dirty="0">
                <a:latin typeface="Courier New"/>
                <a:cs typeface="Courier New"/>
              </a:rPr>
              <a:t>0</a:t>
            </a:r>
            <a:r>
              <a:rPr sz="1400" b="1" dirty="0">
                <a:latin typeface="Courier New"/>
                <a:cs typeface="Courier New"/>
              </a:rPr>
              <a:t>;</a:t>
            </a:r>
            <a:r>
              <a:rPr sz="1400" b="1" spc="-5" dirty="0">
                <a:latin typeface="Courier New"/>
                <a:cs typeface="Courier New"/>
              </a:rPr>
              <a:t> </a:t>
            </a:r>
            <a:r>
              <a:rPr sz="1400" b="1" spc="-15" dirty="0">
                <a:latin typeface="Courier New"/>
                <a:cs typeface="Courier New"/>
              </a:rPr>
              <a:t>i</a:t>
            </a:r>
            <a:r>
              <a:rPr sz="1400" b="1" spc="-5" dirty="0">
                <a:latin typeface="Courier New"/>
                <a:cs typeface="Courier New"/>
              </a:rPr>
              <a:t>&lt;n</a:t>
            </a:r>
            <a:r>
              <a:rPr sz="1400" b="1" dirty="0">
                <a:latin typeface="Courier New"/>
                <a:cs typeface="Courier New"/>
              </a:rPr>
              <a:t>;</a:t>
            </a:r>
            <a:r>
              <a:rPr sz="1400" b="1" spc="-5" dirty="0">
                <a:latin typeface="Courier New"/>
                <a:cs typeface="Courier New"/>
              </a:rPr>
              <a:t> i+</a:t>
            </a:r>
            <a:r>
              <a:rPr sz="1400" b="1" spc="-15" dirty="0">
                <a:latin typeface="Courier New"/>
                <a:cs typeface="Courier New"/>
              </a:rPr>
              <a:t>+</a:t>
            </a:r>
            <a:r>
              <a:rPr sz="1400" b="1" dirty="0">
                <a:latin typeface="Courier New"/>
                <a:cs typeface="Courier New"/>
              </a:rPr>
              <a:t>) </a:t>
            </a:r>
            <a:r>
              <a:rPr sz="1400" b="1" spc="-5" dirty="0">
                <a:latin typeface="Courier New"/>
                <a:cs typeface="Courier New"/>
              </a:rPr>
              <a:t>c[</a:t>
            </a:r>
            <a:r>
              <a:rPr sz="1400" b="1" spc="-15" dirty="0">
                <a:latin typeface="Courier New"/>
                <a:cs typeface="Courier New"/>
              </a:rPr>
              <a:t>i</a:t>
            </a:r>
            <a:r>
              <a:rPr sz="1400" b="1" spc="-5" dirty="0">
                <a:latin typeface="Courier New"/>
                <a:cs typeface="Courier New"/>
              </a:rPr>
              <a:t>][j</a:t>
            </a:r>
            <a:r>
              <a:rPr sz="1400" b="1" dirty="0">
                <a:latin typeface="Courier New"/>
                <a:cs typeface="Courier New"/>
              </a:rPr>
              <a:t>]</a:t>
            </a:r>
            <a:r>
              <a:rPr sz="1400" b="1" spc="-15" dirty="0">
                <a:latin typeface="Courier New"/>
                <a:cs typeface="Courier New"/>
              </a:rPr>
              <a:t> </a:t>
            </a:r>
            <a:r>
              <a:rPr sz="1400" b="1" spc="-5" dirty="0">
                <a:latin typeface="Courier New"/>
                <a:cs typeface="Courier New"/>
              </a:rPr>
              <a:t>+</a:t>
            </a:r>
            <a:r>
              <a:rPr sz="1400" b="1" dirty="0">
                <a:latin typeface="Courier New"/>
                <a:cs typeface="Courier New"/>
              </a:rPr>
              <a:t>=</a:t>
            </a:r>
            <a:r>
              <a:rPr sz="1400" b="1" spc="-15" dirty="0">
                <a:latin typeface="Courier New"/>
                <a:cs typeface="Courier New"/>
              </a:rPr>
              <a:t> </a:t>
            </a:r>
            <a:r>
              <a:rPr sz="1400" b="1" spc="-5" dirty="0">
                <a:latin typeface="Courier New"/>
                <a:cs typeface="Courier New"/>
              </a:rPr>
              <a:t>a[i][</a:t>
            </a:r>
            <a:r>
              <a:rPr sz="1400" b="1" spc="-15" dirty="0">
                <a:latin typeface="Courier New"/>
                <a:cs typeface="Courier New"/>
              </a:rPr>
              <a:t>k</a:t>
            </a:r>
            <a:r>
              <a:rPr sz="1400" b="1" dirty="0">
                <a:latin typeface="Courier New"/>
                <a:cs typeface="Courier New"/>
              </a:rPr>
              <a:t>]</a:t>
            </a:r>
            <a:r>
              <a:rPr sz="1400" b="1" spc="-5" dirty="0">
                <a:latin typeface="Courier New"/>
                <a:cs typeface="Courier New"/>
              </a:rPr>
              <a:t> </a:t>
            </a:r>
            <a:r>
              <a:rPr sz="1400" b="1" dirty="0">
                <a:latin typeface="Courier New"/>
                <a:cs typeface="Courier New"/>
              </a:rPr>
              <a:t>*</a:t>
            </a:r>
            <a:r>
              <a:rPr sz="1400" b="1" spc="-15" dirty="0">
                <a:latin typeface="Courier New"/>
                <a:cs typeface="Courier New"/>
              </a:rPr>
              <a:t> </a:t>
            </a:r>
            <a:r>
              <a:rPr sz="1400" b="1" spc="-5" dirty="0">
                <a:latin typeface="Courier New"/>
                <a:cs typeface="Courier New"/>
              </a:rPr>
              <a:t>r;</a:t>
            </a:r>
            <a:endParaRPr sz="1400">
              <a:latin typeface="Courier New"/>
              <a:cs typeface="Courier New"/>
            </a:endParaRPr>
          </a:p>
          <a:p>
            <a:pPr marL="190500">
              <a:lnSpc>
                <a:spcPct val="100000"/>
              </a:lnSpc>
              <a:spcBef>
                <a:spcPts val="335"/>
              </a:spcBef>
            </a:pPr>
            <a:r>
              <a:rPr sz="1400" b="1" dirty="0">
                <a:latin typeface="Courier New"/>
                <a:cs typeface="Courier New"/>
              </a:rPr>
              <a:t>}</a:t>
            </a:r>
            <a:endParaRPr sz="1400">
              <a:latin typeface="Courier New"/>
              <a:cs typeface="Courier New"/>
            </a:endParaRPr>
          </a:p>
          <a:p>
            <a:pPr marL="83820">
              <a:lnSpc>
                <a:spcPct val="100000"/>
              </a:lnSpc>
              <a:spcBef>
                <a:spcPts val="335"/>
              </a:spcBef>
            </a:pPr>
            <a:r>
              <a:rPr sz="1400" b="1" dirty="0">
                <a:latin typeface="Courier New"/>
                <a:cs typeface="Courier New"/>
              </a:rPr>
              <a:t>}</a:t>
            </a:r>
            <a:endParaRPr sz="1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57018" y="401179"/>
            <a:ext cx="7592093" cy="830998"/>
          </a:xfrm>
          <a:prstGeom prst="rect">
            <a:avLst/>
          </a:prstGeom>
        </p:spPr>
        <p:txBody>
          <a:bodyPr vert="horz" wrap="square" lIns="0" tIns="274321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C</a:t>
            </a:r>
            <a:r>
              <a:rPr spc="-10" dirty="0"/>
              <a:t>o</a:t>
            </a:r>
            <a:r>
              <a:rPr dirty="0"/>
              <a:t>re</a:t>
            </a:r>
            <a:r>
              <a:rPr spc="-15" dirty="0"/>
              <a:t> </a:t>
            </a:r>
            <a:r>
              <a:rPr spc="-5" dirty="0"/>
              <a:t>i7</a:t>
            </a:r>
            <a:r>
              <a:rPr dirty="0"/>
              <a:t> </a:t>
            </a:r>
            <a:r>
              <a:rPr lang="zh-CN" altLang="en-US" dirty="0"/>
              <a:t>矩阵乘法性能</a:t>
            </a:r>
            <a:endParaRPr dirty="0"/>
          </a:p>
        </p:txBody>
      </p:sp>
      <p:sp>
        <p:nvSpPr>
          <p:cNvPr id="4" name="object 4"/>
          <p:cNvSpPr/>
          <p:nvPr/>
        </p:nvSpPr>
        <p:spPr>
          <a:xfrm>
            <a:off x="745236" y="1604772"/>
            <a:ext cx="7940040" cy="4439920"/>
          </a:xfrm>
          <a:custGeom>
            <a:avLst/>
            <a:gdLst/>
            <a:ahLst/>
            <a:cxnLst/>
            <a:rect l="l" t="t" r="r" b="b"/>
            <a:pathLst>
              <a:path w="7940040" h="4439920">
                <a:moveTo>
                  <a:pt x="0" y="0"/>
                </a:moveTo>
                <a:lnTo>
                  <a:pt x="7940040" y="0"/>
                </a:lnTo>
                <a:lnTo>
                  <a:pt x="7940040" y="4439412"/>
                </a:lnTo>
                <a:lnTo>
                  <a:pt x="0" y="4439412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45236" y="5375147"/>
            <a:ext cx="7940040" cy="0"/>
          </a:xfrm>
          <a:custGeom>
            <a:avLst/>
            <a:gdLst/>
            <a:ahLst/>
            <a:cxnLst/>
            <a:rect l="l" t="t" r="r" b="b"/>
            <a:pathLst>
              <a:path w="7940040">
                <a:moveTo>
                  <a:pt x="0" y="0"/>
                </a:moveTo>
                <a:lnTo>
                  <a:pt x="7940040" y="0"/>
                </a:lnTo>
              </a:path>
            </a:pathLst>
          </a:custGeom>
          <a:ln w="2438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45236" y="4985003"/>
            <a:ext cx="7940040" cy="0"/>
          </a:xfrm>
          <a:custGeom>
            <a:avLst/>
            <a:gdLst/>
            <a:ahLst/>
            <a:cxnLst/>
            <a:rect l="l" t="t" r="r" b="b"/>
            <a:pathLst>
              <a:path w="7940040">
                <a:moveTo>
                  <a:pt x="0" y="0"/>
                </a:moveTo>
                <a:lnTo>
                  <a:pt x="7940040" y="0"/>
                </a:lnTo>
              </a:path>
            </a:pathLst>
          </a:custGeom>
          <a:ln w="2438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45236" y="4707635"/>
            <a:ext cx="7940040" cy="0"/>
          </a:xfrm>
          <a:custGeom>
            <a:avLst/>
            <a:gdLst/>
            <a:ahLst/>
            <a:cxnLst/>
            <a:rect l="l" t="t" r="r" b="b"/>
            <a:pathLst>
              <a:path w="7940040">
                <a:moveTo>
                  <a:pt x="0" y="0"/>
                </a:moveTo>
                <a:lnTo>
                  <a:pt x="7940040" y="0"/>
                </a:lnTo>
              </a:path>
            </a:pathLst>
          </a:custGeom>
          <a:ln w="2438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45236" y="4492752"/>
            <a:ext cx="7940040" cy="0"/>
          </a:xfrm>
          <a:custGeom>
            <a:avLst/>
            <a:gdLst/>
            <a:ahLst/>
            <a:cxnLst/>
            <a:rect l="l" t="t" r="r" b="b"/>
            <a:pathLst>
              <a:path w="7940040">
                <a:moveTo>
                  <a:pt x="0" y="0"/>
                </a:moveTo>
                <a:lnTo>
                  <a:pt x="7940040" y="0"/>
                </a:lnTo>
              </a:path>
            </a:pathLst>
          </a:custGeom>
          <a:ln w="2438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45236" y="4315967"/>
            <a:ext cx="7940040" cy="0"/>
          </a:xfrm>
          <a:custGeom>
            <a:avLst/>
            <a:gdLst/>
            <a:ahLst/>
            <a:cxnLst/>
            <a:rect l="l" t="t" r="r" b="b"/>
            <a:pathLst>
              <a:path w="7940040">
                <a:moveTo>
                  <a:pt x="0" y="0"/>
                </a:moveTo>
                <a:lnTo>
                  <a:pt x="7940040" y="0"/>
                </a:lnTo>
              </a:path>
            </a:pathLst>
          </a:custGeom>
          <a:ln w="2438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45236" y="4168140"/>
            <a:ext cx="7940040" cy="0"/>
          </a:xfrm>
          <a:custGeom>
            <a:avLst/>
            <a:gdLst/>
            <a:ahLst/>
            <a:cxnLst/>
            <a:rect l="l" t="t" r="r" b="b"/>
            <a:pathLst>
              <a:path w="7940040">
                <a:moveTo>
                  <a:pt x="0" y="0"/>
                </a:moveTo>
                <a:lnTo>
                  <a:pt x="7940040" y="0"/>
                </a:lnTo>
              </a:path>
            </a:pathLst>
          </a:custGeom>
          <a:ln w="2438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45236" y="4038600"/>
            <a:ext cx="7940040" cy="0"/>
          </a:xfrm>
          <a:custGeom>
            <a:avLst/>
            <a:gdLst/>
            <a:ahLst/>
            <a:cxnLst/>
            <a:rect l="l" t="t" r="r" b="b"/>
            <a:pathLst>
              <a:path w="7940040">
                <a:moveTo>
                  <a:pt x="0" y="0"/>
                </a:moveTo>
                <a:lnTo>
                  <a:pt x="7940040" y="0"/>
                </a:lnTo>
              </a:path>
            </a:pathLst>
          </a:custGeom>
          <a:ln w="2438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45236" y="3925823"/>
            <a:ext cx="7940040" cy="0"/>
          </a:xfrm>
          <a:custGeom>
            <a:avLst/>
            <a:gdLst/>
            <a:ahLst/>
            <a:cxnLst/>
            <a:rect l="l" t="t" r="r" b="b"/>
            <a:pathLst>
              <a:path w="7940040">
                <a:moveTo>
                  <a:pt x="0" y="0"/>
                </a:moveTo>
                <a:lnTo>
                  <a:pt x="7940040" y="0"/>
                </a:lnTo>
              </a:path>
            </a:pathLst>
          </a:custGeom>
          <a:ln w="2438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45236" y="3156204"/>
            <a:ext cx="7940040" cy="0"/>
          </a:xfrm>
          <a:custGeom>
            <a:avLst/>
            <a:gdLst/>
            <a:ahLst/>
            <a:cxnLst/>
            <a:rect l="l" t="t" r="r" b="b"/>
            <a:pathLst>
              <a:path w="7940040">
                <a:moveTo>
                  <a:pt x="0" y="0"/>
                </a:moveTo>
                <a:lnTo>
                  <a:pt x="7940040" y="0"/>
                </a:lnTo>
              </a:path>
            </a:pathLst>
          </a:custGeom>
          <a:ln w="2438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45236" y="2764535"/>
            <a:ext cx="7940040" cy="0"/>
          </a:xfrm>
          <a:custGeom>
            <a:avLst/>
            <a:gdLst/>
            <a:ahLst/>
            <a:cxnLst/>
            <a:rect l="l" t="t" r="r" b="b"/>
            <a:pathLst>
              <a:path w="7940040">
                <a:moveTo>
                  <a:pt x="0" y="0"/>
                </a:moveTo>
                <a:lnTo>
                  <a:pt x="7940040" y="0"/>
                </a:lnTo>
              </a:path>
            </a:pathLst>
          </a:custGeom>
          <a:ln w="2438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45236" y="2487167"/>
            <a:ext cx="7940040" cy="0"/>
          </a:xfrm>
          <a:custGeom>
            <a:avLst/>
            <a:gdLst/>
            <a:ahLst/>
            <a:cxnLst/>
            <a:rect l="l" t="t" r="r" b="b"/>
            <a:pathLst>
              <a:path w="7940040">
                <a:moveTo>
                  <a:pt x="0" y="0"/>
                </a:moveTo>
                <a:lnTo>
                  <a:pt x="7940040" y="0"/>
                </a:lnTo>
              </a:path>
            </a:pathLst>
          </a:custGeom>
          <a:ln w="2438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45236" y="2272283"/>
            <a:ext cx="7940040" cy="0"/>
          </a:xfrm>
          <a:custGeom>
            <a:avLst/>
            <a:gdLst/>
            <a:ahLst/>
            <a:cxnLst/>
            <a:rect l="l" t="t" r="r" b="b"/>
            <a:pathLst>
              <a:path w="7940040">
                <a:moveTo>
                  <a:pt x="0" y="0"/>
                </a:moveTo>
                <a:lnTo>
                  <a:pt x="7940040" y="0"/>
                </a:lnTo>
              </a:path>
            </a:pathLst>
          </a:custGeom>
          <a:ln w="2438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45236" y="2097023"/>
            <a:ext cx="7940040" cy="0"/>
          </a:xfrm>
          <a:custGeom>
            <a:avLst/>
            <a:gdLst/>
            <a:ahLst/>
            <a:cxnLst/>
            <a:rect l="l" t="t" r="r" b="b"/>
            <a:pathLst>
              <a:path w="7940040">
                <a:moveTo>
                  <a:pt x="0" y="0"/>
                </a:moveTo>
                <a:lnTo>
                  <a:pt x="7940040" y="0"/>
                </a:lnTo>
              </a:path>
            </a:pathLst>
          </a:custGeom>
          <a:ln w="2438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45236" y="1947672"/>
            <a:ext cx="7940040" cy="0"/>
          </a:xfrm>
          <a:custGeom>
            <a:avLst/>
            <a:gdLst/>
            <a:ahLst/>
            <a:cxnLst/>
            <a:rect l="l" t="t" r="r" b="b"/>
            <a:pathLst>
              <a:path w="7940040">
                <a:moveTo>
                  <a:pt x="0" y="0"/>
                </a:moveTo>
                <a:lnTo>
                  <a:pt x="7940040" y="0"/>
                </a:lnTo>
              </a:path>
            </a:pathLst>
          </a:custGeom>
          <a:ln w="2438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745236" y="1819655"/>
            <a:ext cx="7940040" cy="0"/>
          </a:xfrm>
          <a:custGeom>
            <a:avLst/>
            <a:gdLst/>
            <a:ahLst/>
            <a:cxnLst/>
            <a:rect l="l" t="t" r="r" b="b"/>
            <a:pathLst>
              <a:path w="7940040">
                <a:moveTo>
                  <a:pt x="0" y="0"/>
                </a:moveTo>
                <a:lnTo>
                  <a:pt x="7940040" y="0"/>
                </a:lnTo>
              </a:path>
            </a:pathLst>
          </a:custGeom>
          <a:ln w="2438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45236" y="1705355"/>
            <a:ext cx="7940040" cy="0"/>
          </a:xfrm>
          <a:custGeom>
            <a:avLst/>
            <a:gdLst/>
            <a:ahLst/>
            <a:cxnLst/>
            <a:rect l="l" t="t" r="r" b="b"/>
            <a:pathLst>
              <a:path w="7940040">
                <a:moveTo>
                  <a:pt x="0" y="0"/>
                </a:moveTo>
                <a:lnTo>
                  <a:pt x="7940040" y="0"/>
                </a:lnTo>
              </a:path>
            </a:pathLst>
          </a:custGeom>
          <a:ln w="2438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45236" y="6044184"/>
            <a:ext cx="7940040" cy="0"/>
          </a:xfrm>
          <a:custGeom>
            <a:avLst/>
            <a:gdLst/>
            <a:ahLst/>
            <a:cxnLst/>
            <a:rect l="l" t="t" r="r" b="b"/>
            <a:pathLst>
              <a:path w="7940040">
                <a:moveTo>
                  <a:pt x="0" y="0"/>
                </a:moveTo>
                <a:lnTo>
                  <a:pt x="7940040" y="0"/>
                </a:lnTo>
              </a:path>
            </a:pathLst>
          </a:custGeom>
          <a:ln w="2438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45236" y="3823715"/>
            <a:ext cx="7940040" cy="0"/>
          </a:xfrm>
          <a:custGeom>
            <a:avLst/>
            <a:gdLst/>
            <a:ahLst/>
            <a:cxnLst/>
            <a:rect l="l" t="t" r="r" b="b"/>
            <a:pathLst>
              <a:path w="7940040">
                <a:moveTo>
                  <a:pt x="0" y="0"/>
                </a:moveTo>
                <a:lnTo>
                  <a:pt x="7940040" y="0"/>
                </a:lnTo>
              </a:path>
            </a:pathLst>
          </a:custGeom>
          <a:ln w="2438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745236" y="1604772"/>
            <a:ext cx="7940040" cy="0"/>
          </a:xfrm>
          <a:custGeom>
            <a:avLst/>
            <a:gdLst/>
            <a:ahLst/>
            <a:cxnLst/>
            <a:rect l="l" t="t" r="r" b="b"/>
            <a:pathLst>
              <a:path w="7940040">
                <a:moveTo>
                  <a:pt x="0" y="0"/>
                </a:moveTo>
                <a:lnTo>
                  <a:pt x="7940040" y="0"/>
                </a:lnTo>
              </a:path>
            </a:pathLst>
          </a:custGeom>
          <a:ln w="2438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745236" y="6044184"/>
            <a:ext cx="7940040" cy="0"/>
          </a:xfrm>
          <a:custGeom>
            <a:avLst/>
            <a:gdLst/>
            <a:ahLst/>
            <a:cxnLst/>
            <a:rect l="l" t="t" r="r" b="b"/>
            <a:pathLst>
              <a:path w="7940040">
                <a:moveTo>
                  <a:pt x="0" y="0"/>
                </a:moveTo>
                <a:lnTo>
                  <a:pt x="7940040" y="0"/>
                </a:lnTo>
              </a:path>
            </a:pathLst>
          </a:custGeom>
          <a:ln w="30480">
            <a:solidFill>
              <a:srgbClr val="87878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745236" y="6044184"/>
            <a:ext cx="0" cy="64135"/>
          </a:xfrm>
          <a:custGeom>
            <a:avLst/>
            <a:gdLst/>
            <a:ahLst/>
            <a:cxnLst/>
            <a:rect l="l" t="t" r="r" b="b"/>
            <a:pathLst>
              <a:path h="64135">
                <a:moveTo>
                  <a:pt x="0" y="0"/>
                </a:moveTo>
                <a:lnTo>
                  <a:pt x="0" y="64007"/>
                </a:lnTo>
              </a:path>
            </a:pathLst>
          </a:custGeom>
          <a:ln w="30480">
            <a:solidFill>
              <a:srgbClr val="87878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356360" y="6044184"/>
            <a:ext cx="0" cy="64135"/>
          </a:xfrm>
          <a:custGeom>
            <a:avLst/>
            <a:gdLst/>
            <a:ahLst/>
            <a:cxnLst/>
            <a:rect l="l" t="t" r="r" b="b"/>
            <a:pathLst>
              <a:path h="64135">
                <a:moveTo>
                  <a:pt x="0" y="0"/>
                </a:moveTo>
                <a:lnTo>
                  <a:pt x="0" y="64007"/>
                </a:lnTo>
              </a:path>
            </a:pathLst>
          </a:custGeom>
          <a:ln w="30480">
            <a:solidFill>
              <a:srgbClr val="87878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965960" y="6044184"/>
            <a:ext cx="0" cy="64135"/>
          </a:xfrm>
          <a:custGeom>
            <a:avLst/>
            <a:gdLst/>
            <a:ahLst/>
            <a:cxnLst/>
            <a:rect l="l" t="t" r="r" b="b"/>
            <a:pathLst>
              <a:path h="64135">
                <a:moveTo>
                  <a:pt x="0" y="0"/>
                </a:moveTo>
                <a:lnTo>
                  <a:pt x="0" y="64007"/>
                </a:lnTo>
              </a:path>
            </a:pathLst>
          </a:custGeom>
          <a:ln w="30480">
            <a:solidFill>
              <a:srgbClr val="87878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2577083" y="6044184"/>
            <a:ext cx="0" cy="64135"/>
          </a:xfrm>
          <a:custGeom>
            <a:avLst/>
            <a:gdLst/>
            <a:ahLst/>
            <a:cxnLst/>
            <a:rect l="l" t="t" r="r" b="b"/>
            <a:pathLst>
              <a:path h="64135">
                <a:moveTo>
                  <a:pt x="0" y="0"/>
                </a:moveTo>
                <a:lnTo>
                  <a:pt x="0" y="64007"/>
                </a:lnTo>
              </a:path>
            </a:pathLst>
          </a:custGeom>
          <a:ln w="30480">
            <a:solidFill>
              <a:srgbClr val="87878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188207" y="6044184"/>
            <a:ext cx="0" cy="64135"/>
          </a:xfrm>
          <a:custGeom>
            <a:avLst/>
            <a:gdLst/>
            <a:ahLst/>
            <a:cxnLst/>
            <a:rect l="l" t="t" r="r" b="b"/>
            <a:pathLst>
              <a:path h="64135">
                <a:moveTo>
                  <a:pt x="0" y="0"/>
                </a:moveTo>
                <a:lnTo>
                  <a:pt x="0" y="64007"/>
                </a:lnTo>
              </a:path>
            </a:pathLst>
          </a:custGeom>
          <a:ln w="30480">
            <a:solidFill>
              <a:srgbClr val="87878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3799332" y="6044184"/>
            <a:ext cx="0" cy="64135"/>
          </a:xfrm>
          <a:custGeom>
            <a:avLst/>
            <a:gdLst/>
            <a:ahLst/>
            <a:cxnLst/>
            <a:rect l="l" t="t" r="r" b="b"/>
            <a:pathLst>
              <a:path h="64135">
                <a:moveTo>
                  <a:pt x="0" y="0"/>
                </a:moveTo>
                <a:lnTo>
                  <a:pt x="0" y="64007"/>
                </a:lnTo>
              </a:path>
            </a:pathLst>
          </a:custGeom>
          <a:ln w="30480">
            <a:solidFill>
              <a:srgbClr val="87878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408932" y="6044184"/>
            <a:ext cx="0" cy="64135"/>
          </a:xfrm>
          <a:custGeom>
            <a:avLst/>
            <a:gdLst/>
            <a:ahLst/>
            <a:cxnLst/>
            <a:rect l="l" t="t" r="r" b="b"/>
            <a:pathLst>
              <a:path h="64135">
                <a:moveTo>
                  <a:pt x="0" y="0"/>
                </a:moveTo>
                <a:lnTo>
                  <a:pt x="0" y="64007"/>
                </a:lnTo>
              </a:path>
            </a:pathLst>
          </a:custGeom>
          <a:ln w="30480">
            <a:solidFill>
              <a:srgbClr val="87878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5020055" y="6044184"/>
            <a:ext cx="0" cy="64135"/>
          </a:xfrm>
          <a:custGeom>
            <a:avLst/>
            <a:gdLst/>
            <a:ahLst/>
            <a:cxnLst/>
            <a:rect l="l" t="t" r="r" b="b"/>
            <a:pathLst>
              <a:path h="64135">
                <a:moveTo>
                  <a:pt x="0" y="0"/>
                </a:moveTo>
                <a:lnTo>
                  <a:pt x="0" y="64007"/>
                </a:lnTo>
              </a:path>
            </a:pathLst>
          </a:custGeom>
          <a:ln w="30480">
            <a:solidFill>
              <a:srgbClr val="87878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5631179" y="6044184"/>
            <a:ext cx="0" cy="64135"/>
          </a:xfrm>
          <a:custGeom>
            <a:avLst/>
            <a:gdLst/>
            <a:ahLst/>
            <a:cxnLst/>
            <a:rect l="l" t="t" r="r" b="b"/>
            <a:pathLst>
              <a:path h="64135">
                <a:moveTo>
                  <a:pt x="0" y="0"/>
                </a:moveTo>
                <a:lnTo>
                  <a:pt x="0" y="64007"/>
                </a:lnTo>
              </a:path>
            </a:pathLst>
          </a:custGeom>
          <a:ln w="30480">
            <a:solidFill>
              <a:srgbClr val="87878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6242303" y="6044184"/>
            <a:ext cx="0" cy="64135"/>
          </a:xfrm>
          <a:custGeom>
            <a:avLst/>
            <a:gdLst/>
            <a:ahLst/>
            <a:cxnLst/>
            <a:rect l="l" t="t" r="r" b="b"/>
            <a:pathLst>
              <a:path h="64135">
                <a:moveTo>
                  <a:pt x="0" y="0"/>
                </a:moveTo>
                <a:lnTo>
                  <a:pt x="0" y="64007"/>
                </a:lnTo>
              </a:path>
            </a:pathLst>
          </a:custGeom>
          <a:ln w="30480">
            <a:solidFill>
              <a:srgbClr val="87878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6851904" y="6044184"/>
            <a:ext cx="0" cy="64135"/>
          </a:xfrm>
          <a:custGeom>
            <a:avLst/>
            <a:gdLst/>
            <a:ahLst/>
            <a:cxnLst/>
            <a:rect l="l" t="t" r="r" b="b"/>
            <a:pathLst>
              <a:path h="64135">
                <a:moveTo>
                  <a:pt x="0" y="0"/>
                </a:moveTo>
                <a:lnTo>
                  <a:pt x="0" y="64007"/>
                </a:lnTo>
              </a:path>
            </a:pathLst>
          </a:custGeom>
          <a:ln w="30480">
            <a:solidFill>
              <a:srgbClr val="87878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7463028" y="6044184"/>
            <a:ext cx="0" cy="64135"/>
          </a:xfrm>
          <a:custGeom>
            <a:avLst/>
            <a:gdLst/>
            <a:ahLst/>
            <a:cxnLst/>
            <a:rect l="l" t="t" r="r" b="b"/>
            <a:pathLst>
              <a:path h="64135">
                <a:moveTo>
                  <a:pt x="0" y="0"/>
                </a:moveTo>
                <a:lnTo>
                  <a:pt x="0" y="64007"/>
                </a:lnTo>
              </a:path>
            </a:pathLst>
          </a:custGeom>
          <a:ln w="30480">
            <a:solidFill>
              <a:srgbClr val="87878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8074152" y="6044184"/>
            <a:ext cx="0" cy="64135"/>
          </a:xfrm>
          <a:custGeom>
            <a:avLst/>
            <a:gdLst/>
            <a:ahLst/>
            <a:cxnLst/>
            <a:rect l="l" t="t" r="r" b="b"/>
            <a:pathLst>
              <a:path h="64135">
                <a:moveTo>
                  <a:pt x="0" y="0"/>
                </a:moveTo>
                <a:lnTo>
                  <a:pt x="0" y="64007"/>
                </a:lnTo>
              </a:path>
            </a:pathLst>
          </a:custGeom>
          <a:ln w="30480">
            <a:solidFill>
              <a:srgbClr val="87878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8685276" y="6044184"/>
            <a:ext cx="0" cy="64135"/>
          </a:xfrm>
          <a:custGeom>
            <a:avLst/>
            <a:gdLst/>
            <a:ahLst/>
            <a:cxnLst/>
            <a:rect l="l" t="t" r="r" b="b"/>
            <a:pathLst>
              <a:path h="64135">
                <a:moveTo>
                  <a:pt x="0" y="0"/>
                </a:moveTo>
                <a:lnTo>
                  <a:pt x="0" y="64007"/>
                </a:lnTo>
              </a:path>
            </a:pathLst>
          </a:custGeom>
          <a:ln w="30480">
            <a:solidFill>
              <a:srgbClr val="87878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2484120" y="4460760"/>
            <a:ext cx="185927" cy="1859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640079" y="4443984"/>
            <a:ext cx="207263" cy="20726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1251203" y="4466843"/>
            <a:ext cx="207263" cy="20726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1862327" y="4482084"/>
            <a:ext cx="207263" cy="20726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2473451" y="4472940"/>
            <a:ext cx="207263" cy="20726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3083051" y="4110227"/>
            <a:ext cx="207263" cy="20726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3694176" y="3345179"/>
            <a:ext cx="207263" cy="20726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4305300" y="2953512"/>
            <a:ext cx="207263" cy="20726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4916423" y="2709671"/>
            <a:ext cx="207263" cy="20726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5526023" y="2400300"/>
            <a:ext cx="207263" cy="20726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6137147" y="2065019"/>
            <a:ext cx="207263" cy="20726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6748271" y="2007108"/>
            <a:ext cx="207263" cy="20726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7359395" y="1962912"/>
            <a:ext cx="207263" cy="20726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7968995" y="1929383"/>
            <a:ext cx="207263" cy="20726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8580119" y="1901952"/>
            <a:ext cx="207263" cy="20726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650748" y="4698504"/>
            <a:ext cx="185927" cy="18591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1261872" y="4617719"/>
            <a:ext cx="185927" cy="18592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1872995" y="4559808"/>
            <a:ext cx="185915" cy="18592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2484120" y="4533912"/>
            <a:ext cx="185927" cy="18591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3093720" y="4533912"/>
            <a:ext cx="185915" cy="18591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3704844" y="4533912"/>
            <a:ext cx="185927" cy="18591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4315967" y="4533912"/>
            <a:ext cx="185927" cy="18591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4927091" y="4529340"/>
            <a:ext cx="185915" cy="18591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5536691" y="4002023"/>
            <a:ext cx="185927" cy="18592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6147815" y="3145535"/>
            <a:ext cx="185915" cy="18592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6758940" y="3067812"/>
            <a:ext cx="185927" cy="18592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7370064" y="3008375"/>
            <a:ext cx="185927" cy="18592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7979664" y="2959607"/>
            <a:ext cx="185927" cy="18592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8590788" y="2921507"/>
            <a:ext cx="185927" cy="18592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670559" y="4674107"/>
            <a:ext cx="146303" cy="144779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1281683" y="4623815"/>
            <a:ext cx="146303" cy="144779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1892807" y="4575060"/>
            <a:ext cx="146303" cy="144767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2503931" y="4550663"/>
            <a:ext cx="146303" cy="144779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3113531" y="4539996"/>
            <a:ext cx="146303" cy="144779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3724655" y="4530852"/>
            <a:ext cx="146303" cy="144779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4335779" y="4529340"/>
            <a:ext cx="146303" cy="144767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4946903" y="4523231"/>
            <a:ext cx="146303" cy="144779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5556503" y="3994416"/>
            <a:ext cx="146303" cy="144767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6167628" y="3153168"/>
            <a:ext cx="146303" cy="144767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6778752" y="3078479"/>
            <a:ext cx="146303" cy="144779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7389876" y="3020580"/>
            <a:ext cx="146303" cy="144767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7999476" y="2974860"/>
            <a:ext cx="146303" cy="144767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8610600" y="2938284"/>
            <a:ext cx="146303" cy="144767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650748" y="5375160"/>
            <a:ext cx="185927" cy="18591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2484120" y="5169420"/>
            <a:ext cx="185927" cy="18591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3093720" y="5199888"/>
            <a:ext cx="185915" cy="18592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3704844" y="5221223"/>
            <a:ext cx="185927" cy="18592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4315967" y="5239511"/>
            <a:ext cx="185927" cy="18592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4927091" y="5248655"/>
            <a:ext cx="185915" cy="18592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5536691" y="5248655"/>
            <a:ext cx="185927" cy="18592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6147815" y="5244084"/>
            <a:ext cx="185915" cy="18592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6758940" y="5244083"/>
            <a:ext cx="185927" cy="18592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7370064" y="5239511"/>
            <a:ext cx="185927" cy="18592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7979664" y="5230367"/>
            <a:ext cx="185927" cy="18592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8590788" y="5204459"/>
            <a:ext cx="185927" cy="18592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650748" y="5416308"/>
            <a:ext cx="185927" cy="1859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1261872" y="5405627"/>
            <a:ext cx="185927" cy="19659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1872995" y="5239511"/>
            <a:ext cx="185915" cy="195071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2484119" y="5289803"/>
            <a:ext cx="185927" cy="18592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3093720" y="5323332"/>
            <a:ext cx="185915" cy="18592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3704844" y="5344667"/>
            <a:ext cx="185927" cy="18592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4315967" y="5358383"/>
            <a:ext cx="185927" cy="18592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4927091" y="5375160"/>
            <a:ext cx="185915" cy="1859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5536691" y="5375160"/>
            <a:ext cx="185927" cy="1859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6147815" y="5364479"/>
            <a:ext cx="185915" cy="18592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6758940" y="5358383"/>
            <a:ext cx="185927" cy="18592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7370064" y="5353811"/>
            <a:ext cx="185927" cy="18592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7979664" y="5349239"/>
            <a:ext cx="185927" cy="18592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8590788" y="5329440"/>
            <a:ext cx="185927" cy="1859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744473" y="1983485"/>
            <a:ext cx="7940040" cy="2578735"/>
          </a:xfrm>
          <a:custGeom>
            <a:avLst/>
            <a:gdLst/>
            <a:ahLst/>
            <a:cxnLst/>
            <a:rect l="l" t="t" r="r" b="b"/>
            <a:pathLst>
              <a:path w="7940040" h="2578735">
                <a:moveTo>
                  <a:pt x="0" y="2548128"/>
                </a:moveTo>
                <a:lnTo>
                  <a:pt x="611124" y="2572511"/>
                </a:lnTo>
                <a:lnTo>
                  <a:pt x="1222248" y="2578608"/>
                </a:lnTo>
                <a:lnTo>
                  <a:pt x="1833372" y="2548128"/>
                </a:lnTo>
                <a:lnTo>
                  <a:pt x="2442972" y="2206752"/>
                </a:lnTo>
                <a:lnTo>
                  <a:pt x="3054096" y="1447799"/>
                </a:lnTo>
                <a:lnTo>
                  <a:pt x="3665220" y="1046987"/>
                </a:lnTo>
                <a:lnTo>
                  <a:pt x="4276344" y="801623"/>
                </a:lnTo>
                <a:lnTo>
                  <a:pt x="4885944" y="495300"/>
                </a:lnTo>
                <a:lnTo>
                  <a:pt x="5497068" y="161544"/>
                </a:lnTo>
                <a:lnTo>
                  <a:pt x="6108192" y="105155"/>
                </a:lnTo>
                <a:lnTo>
                  <a:pt x="6719316" y="60959"/>
                </a:lnTo>
                <a:lnTo>
                  <a:pt x="7328916" y="27431"/>
                </a:lnTo>
                <a:lnTo>
                  <a:pt x="7940040" y="0"/>
                </a:lnTo>
              </a:path>
            </a:pathLst>
          </a:custGeom>
          <a:ln w="381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691895" y="4479048"/>
            <a:ext cx="103631" cy="103619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1303019" y="4503419"/>
            <a:ext cx="103631" cy="103631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11"/>
          <p:cNvSpPr/>
          <p:nvPr/>
        </p:nvSpPr>
        <p:spPr>
          <a:xfrm>
            <a:off x="1914144" y="4509515"/>
            <a:ext cx="103619" cy="103631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2525267" y="4479048"/>
            <a:ext cx="103631" cy="103619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3"/>
          <p:cNvSpPr/>
          <p:nvPr/>
        </p:nvSpPr>
        <p:spPr>
          <a:xfrm>
            <a:off x="3134867" y="4137659"/>
            <a:ext cx="103619" cy="103631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4"/>
          <p:cNvSpPr/>
          <p:nvPr/>
        </p:nvSpPr>
        <p:spPr>
          <a:xfrm>
            <a:off x="3745991" y="3378708"/>
            <a:ext cx="103631" cy="103631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15"/>
          <p:cNvSpPr/>
          <p:nvPr/>
        </p:nvSpPr>
        <p:spPr>
          <a:xfrm>
            <a:off x="4357115" y="2977895"/>
            <a:ext cx="103631" cy="103631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16"/>
          <p:cNvSpPr/>
          <p:nvPr/>
        </p:nvSpPr>
        <p:spPr>
          <a:xfrm>
            <a:off x="4968240" y="2732544"/>
            <a:ext cx="103619" cy="103619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17"/>
          <p:cNvSpPr/>
          <p:nvPr/>
        </p:nvSpPr>
        <p:spPr>
          <a:xfrm>
            <a:off x="5577840" y="2426220"/>
            <a:ext cx="103631" cy="103619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object 118"/>
          <p:cNvSpPr/>
          <p:nvPr/>
        </p:nvSpPr>
        <p:spPr>
          <a:xfrm>
            <a:off x="6188964" y="2092464"/>
            <a:ext cx="103619" cy="103619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119"/>
          <p:cNvSpPr/>
          <p:nvPr/>
        </p:nvSpPr>
        <p:spPr>
          <a:xfrm>
            <a:off x="6800088" y="2036064"/>
            <a:ext cx="103631" cy="103631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object 120"/>
          <p:cNvSpPr/>
          <p:nvPr/>
        </p:nvSpPr>
        <p:spPr>
          <a:xfrm>
            <a:off x="7411211" y="1991880"/>
            <a:ext cx="103631" cy="103619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121"/>
          <p:cNvSpPr/>
          <p:nvPr/>
        </p:nvSpPr>
        <p:spPr>
          <a:xfrm>
            <a:off x="8020811" y="1958339"/>
            <a:ext cx="103631" cy="103631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object 122"/>
          <p:cNvSpPr/>
          <p:nvPr/>
        </p:nvSpPr>
        <p:spPr>
          <a:xfrm>
            <a:off x="8631935" y="1930908"/>
            <a:ext cx="103631" cy="103631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object 123"/>
          <p:cNvSpPr/>
          <p:nvPr/>
        </p:nvSpPr>
        <p:spPr>
          <a:xfrm>
            <a:off x="744473" y="1983485"/>
            <a:ext cx="7940040" cy="2580640"/>
          </a:xfrm>
          <a:custGeom>
            <a:avLst/>
            <a:gdLst/>
            <a:ahLst/>
            <a:cxnLst/>
            <a:rect l="l" t="t" r="r" b="b"/>
            <a:pathLst>
              <a:path w="7940040" h="2580640">
                <a:moveTo>
                  <a:pt x="0" y="2542032"/>
                </a:moveTo>
                <a:lnTo>
                  <a:pt x="611124" y="2564892"/>
                </a:lnTo>
                <a:lnTo>
                  <a:pt x="1222248" y="2580132"/>
                </a:lnTo>
                <a:lnTo>
                  <a:pt x="1833372" y="2570988"/>
                </a:lnTo>
                <a:lnTo>
                  <a:pt x="2442972" y="2208276"/>
                </a:lnTo>
                <a:lnTo>
                  <a:pt x="3054096" y="1443228"/>
                </a:lnTo>
                <a:lnTo>
                  <a:pt x="3665220" y="1051560"/>
                </a:lnTo>
                <a:lnTo>
                  <a:pt x="4276344" y="807719"/>
                </a:lnTo>
                <a:lnTo>
                  <a:pt x="4885944" y="498348"/>
                </a:lnTo>
                <a:lnTo>
                  <a:pt x="5497068" y="163068"/>
                </a:lnTo>
                <a:lnTo>
                  <a:pt x="6108192" y="105156"/>
                </a:lnTo>
                <a:lnTo>
                  <a:pt x="6719316" y="60959"/>
                </a:lnTo>
                <a:lnTo>
                  <a:pt x="7328916" y="27431"/>
                </a:lnTo>
                <a:lnTo>
                  <a:pt x="7940040" y="0"/>
                </a:lnTo>
              </a:path>
            </a:pathLst>
          </a:custGeom>
          <a:ln w="381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object 124"/>
          <p:cNvSpPr/>
          <p:nvPr/>
        </p:nvSpPr>
        <p:spPr>
          <a:xfrm>
            <a:off x="679704" y="4460747"/>
            <a:ext cx="128015" cy="128015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" name="object 125"/>
          <p:cNvSpPr/>
          <p:nvPr/>
        </p:nvSpPr>
        <p:spPr>
          <a:xfrm>
            <a:off x="1290827" y="4483608"/>
            <a:ext cx="128015" cy="128015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1901951" y="4498847"/>
            <a:ext cx="128015" cy="128015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" name="object 127"/>
          <p:cNvSpPr/>
          <p:nvPr/>
        </p:nvSpPr>
        <p:spPr>
          <a:xfrm>
            <a:off x="2513075" y="4489703"/>
            <a:ext cx="128015" cy="128015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" name="object 128"/>
          <p:cNvSpPr/>
          <p:nvPr/>
        </p:nvSpPr>
        <p:spPr>
          <a:xfrm>
            <a:off x="3122676" y="4126991"/>
            <a:ext cx="128015" cy="128015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" name="object 129"/>
          <p:cNvSpPr/>
          <p:nvPr/>
        </p:nvSpPr>
        <p:spPr>
          <a:xfrm>
            <a:off x="3733800" y="3361944"/>
            <a:ext cx="128015" cy="128015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" name="object 130"/>
          <p:cNvSpPr/>
          <p:nvPr/>
        </p:nvSpPr>
        <p:spPr>
          <a:xfrm>
            <a:off x="4344923" y="2970275"/>
            <a:ext cx="128015" cy="128015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" name="object 131"/>
          <p:cNvSpPr/>
          <p:nvPr/>
        </p:nvSpPr>
        <p:spPr>
          <a:xfrm>
            <a:off x="4956047" y="2726435"/>
            <a:ext cx="128015" cy="128015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" name="object 132"/>
          <p:cNvSpPr/>
          <p:nvPr/>
        </p:nvSpPr>
        <p:spPr>
          <a:xfrm>
            <a:off x="5565647" y="2417063"/>
            <a:ext cx="128015" cy="128015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" name="object 133"/>
          <p:cNvSpPr/>
          <p:nvPr/>
        </p:nvSpPr>
        <p:spPr>
          <a:xfrm>
            <a:off x="6176771" y="2081783"/>
            <a:ext cx="128015" cy="128015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" name="object 134"/>
          <p:cNvSpPr/>
          <p:nvPr/>
        </p:nvSpPr>
        <p:spPr>
          <a:xfrm>
            <a:off x="6787895" y="2023871"/>
            <a:ext cx="128015" cy="128015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" name="object 135"/>
          <p:cNvSpPr/>
          <p:nvPr/>
        </p:nvSpPr>
        <p:spPr>
          <a:xfrm>
            <a:off x="7399019" y="1979675"/>
            <a:ext cx="128015" cy="128015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" name="object 136"/>
          <p:cNvSpPr/>
          <p:nvPr/>
        </p:nvSpPr>
        <p:spPr>
          <a:xfrm>
            <a:off x="8008619" y="1946147"/>
            <a:ext cx="128015" cy="128015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" name="object 137"/>
          <p:cNvSpPr/>
          <p:nvPr/>
        </p:nvSpPr>
        <p:spPr>
          <a:xfrm>
            <a:off x="8619743" y="1918715"/>
            <a:ext cx="128015" cy="128015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" name="object 138"/>
          <p:cNvSpPr/>
          <p:nvPr/>
        </p:nvSpPr>
        <p:spPr>
          <a:xfrm>
            <a:off x="744473" y="2992373"/>
            <a:ext cx="7940040" cy="1777364"/>
          </a:xfrm>
          <a:custGeom>
            <a:avLst/>
            <a:gdLst/>
            <a:ahLst/>
            <a:cxnLst/>
            <a:rect l="l" t="t" r="r" b="b"/>
            <a:pathLst>
              <a:path w="7940040" h="1777364">
                <a:moveTo>
                  <a:pt x="0" y="1776983"/>
                </a:moveTo>
                <a:lnTo>
                  <a:pt x="611124" y="1696211"/>
                </a:lnTo>
                <a:lnTo>
                  <a:pt x="1222248" y="1638300"/>
                </a:lnTo>
                <a:lnTo>
                  <a:pt x="1833372" y="1612391"/>
                </a:lnTo>
                <a:lnTo>
                  <a:pt x="2442972" y="1612391"/>
                </a:lnTo>
                <a:lnTo>
                  <a:pt x="3054096" y="1612391"/>
                </a:lnTo>
                <a:lnTo>
                  <a:pt x="3665220" y="1612391"/>
                </a:lnTo>
                <a:lnTo>
                  <a:pt x="4276344" y="1607820"/>
                </a:lnTo>
                <a:lnTo>
                  <a:pt x="4885944" y="1080515"/>
                </a:lnTo>
                <a:lnTo>
                  <a:pt x="5497068" y="224027"/>
                </a:lnTo>
                <a:lnTo>
                  <a:pt x="6108192" y="146303"/>
                </a:lnTo>
                <a:lnTo>
                  <a:pt x="6719316" y="86867"/>
                </a:lnTo>
                <a:lnTo>
                  <a:pt x="7328916" y="38100"/>
                </a:lnTo>
                <a:lnTo>
                  <a:pt x="7940040" y="0"/>
                </a:lnTo>
              </a:path>
            </a:pathLst>
          </a:custGeom>
          <a:ln w="38100">
            <a:solidFill>
              <a:srgbClr val="3366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" name="object 139"/>
          <p:cNvSpPr/>
          <p:nvPr/>
        </p:nvSpPr>
        <p:spPr>
          <a:xfrm>
            <a:off x="691895" y="4716792"/>
            <a:ext cx="103631" cy="103619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" name="object 140"/>
          <p:cNvSpPr/>
          <p:nvPr/>
        </p:nvSpPr>
        <p:spPr>
          <a:xfrm>
            <a:off x="1303019" y="4636008"/>
            <a:ext cx="103631" cy="103631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" name="object 141"/>
          <p:cNvSpPr/>
          <p:nvPr/>
        </p:nvSpPr>
        <p:spPr>
          <a:xfrm>
            <a:off x="1914144" y="4578096"/>
            <a:ext cx="103619" cy="103631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" name="object 142"/>
          <p:cNvSpPr/>
          <p:nvPr/>
        </p:nvSpPr>
        <p:spPr>
          <a:xfrm>
            <a:off x="2525267" y="4552200"/>
            <a:ext cx="103631" cy="103619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" name="object 143"/>
          <p:cNvSpPr/>
          <p:nvPr/>
        </p:nvSpPr>
        <p:spPr>
          <a:xfrm>
            <a:off x="3134867" y="4552200"/>
            <a:ext cx="103619" cy="103619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" name="object 144"/>
          <p:cNvSpPr/>
          <p:nvPr/>
        </p:nvSpPr>
        <p:spPr>
          <a:xfrm>
            <a:off x="3745991" y="4552200"/>
            <a:ext cx="103631" cy="103619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" name="object 145"/>
          <p:cNvSpPr/>
          <p:nvPr/>
        </p:nvSpPr>
        <p:spPr>
          <a:xfrm>
            <a:off x="4357115" y="4552200"/>
            <a:ext cx="103631" cy="103619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" name="object 146"/>
          <p:cNvSpPr/>
          <p:nvPr/>
        </p:nvSpPr>
        <p:spPr>
          <a:xfrm>
            <a:off x="4968240" y="4547628"/>
            <a:ext cx="103619" cy="103619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7" name="object 147"/>
          <p:cNvSpPr/>
          <p:nvPr/>
        </p:nvSpPr>
        <p:spPr>
          <a:xfrm>
            <a:off x="5577839" y="4020311"/>
            <a:ext cx="103631" cy="103631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8" name="object 148"/>
          <p:cNvSpPr/>
          <p:nvPr/>
        </p:nvSpPr>
        <p:spPr>
          <a:xfrm>
            <a:off x="6188964" y="3163823"/>
            <a:ext cx="103619" cy="103631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9" name="object 149"/>
          <p:cNvSpPr/>
          <p:nvPr/>
        </p:nvSpPr>
        <p:spPr>
          <a:xfrm>
            <a:off x="6800088" y="3086100"/>
            <a:ext cx="103631" cy="103631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0" name="object 150"/>
          <p:cNvSpPr/>
          <p:nvPr/>
        </p:nvSpPr>
        <p:spPr>
          <a:xfrm>
            <a:off x="7411211" y="3026663"/>
            <a:ext cx="103631" cy="103631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1" name="object 151"/>
          <p:cNvSpPr/>
          <p:nvPr/>
        </p:nvSpPr>
        <p:spPr>
          <a:xfrm>
            <a:off x="8020811" y="2977895"/>
            <a:ext cx="103631" cy="103631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2" name="object 152"/>
          <p:cNvSpPr/>
          <p:nvPr/>
        </p:nvSpPr>
        <p:spPr>
          <a:xfrm>
            <a:off x="8631935" y="2939795"/>
            <a:ext cx="103631" cy="103631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3" name="object 153"/>
          <p:cNvSpPr/>
          <p:nvPr/>
        </p:nvSpPr>
        <p:spPr>
          <a:xfrm>
            <a:off x="744473" y="2987801"/>
            <a:ext cx="7940040" cy="1736089"/>
          </a:xfrm>
          <a:custGeom>
            <a:avLst/>
            <a:gdLst/>
            <a:ahLst/>
            <a:cxnLst/>
            <a:rect l="l" t="t" r="r" b="b"/>
            <a:pathLst>
              <a:path w="7940040" h="1736089">
                <a:moveTo>
                  <a:pt x="0" y="1735836"/>
                </a:moveTo>
                <a:lnTo>
                  <a:pt x="611124" y="1685544"/>
                </a:lnTo>
                <a:lnTo>
                  <a:pt x="1222248" y="1636776"/>
                </a:lnTo>
                <a:lnTo>
                  <a:pt x="1833372" y="1612392"/>
                </a:lnTo>
                <a:lnTo>
                  <a:pt x="2442972" y="1601724"/>
                </a:lnTo>
                <a:lnTo>
                  <a:pt x="3054096" y="1592580"/>
                </a:lnTo>
                <a:lnTo>
                  <a:pt x="3665220" y="1591056"/>
                </a:lnTo>
                <a:lnTo>
                  <a:pt x="4276344" y="1584960"/>
                </a:lnTo>
                <a:lnTo>
                  <a:pt x="4885944" y="1056132"/>
                </a:lnTo>
                <a:lnTo>
                  <a:pt x="5497068" y="214884"/>
                </a:lnTo>
                <a:lnTo>
                  <a:pt x="6108192" y="140208"/>
                </a:lnTo>
                <a:lnTo>
                  <a:pt x="6719316" y="82296"/>
                </a:lnTo>
                <a:lnTo>
                  <a:pt x="7328916" y="36575"/>
                </a:lnTo>
                <a:lnTo>
                  <a:pt x="7940040" y="0"/>
                </a:lnTo>
              </a:path>
            </a:pathLst>
          </a:custGeom>
          <a:ln w="38100">
            <a:solidFill>
              <a:srgbClr val="3366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4" name="object 154"/>
          <p:cNvSpPr/>
          <p:nvPr/>
        </p:nvSpPr>
        <p:spPr>
          <a:xfrm>
            <a:off x="711707" y="4690871"/>
            <a:ext cx="65531" cy="65531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5" name="object 155"/>
          <p:cNvSpPr/>
          <p:nvPr/>
        </p:nvSpPr>
        <p:spPr>
          <a:xfrm>
            <a:off x="1322831" y="4640579"/>
            <a:ext cx="65531" cy="65531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6" name="object 156"/>
          <p:cNvSpPr/>
          <p:nvPr/>
        </p:nvSpPr>
        <p:spPr>
          <a:xfrm>
            <a:off x="1933955" y="4591811"/>
            <a:ext cx="65531" cy="65531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7" name="object 157"/>
          <p:cNvSpPr/>
          <p:nvPr/>
        </p:nvSpPr>
        <p:spPr>
          <a:xfrm>
            <a:off x="2545079" y="4567428"/>
            <a:ext cx="65531" cy="65531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8" name="object 158"/>
          <p:cNvSpPr/>
          <p:nvPr/>
        </p:nvSpPr>
        <p:spPr>
          <a:xfrm>
            <a:off x="3154680" y="4556759"/>
            <a:ext cx="65531" cy="65531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9" name="object 159"/>
          <p:cNvSpPr/>
          <p:nvPr/>
        </p:nvSpPr>
        <p:spPr>
          <a:xfrm>
            <a:off x="3765803" y="4547615"/>
            <a:ext cx="65531" cy="65531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0" name="object 160"/>
          <p:cNvSpPr/>
          <p:nvPr/>
        </p:nvSpPr>
        <p:spPr>
          <a:xfrm>
            <a:off x="4376927" y="4546091"/>
            <a:ext cx="65531" cy="65531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1" name="object 161"/>
          <p:cNvSpPr/>
          <p:nvPr/>
        </p:nvSpPr>
        <p:spPr>
          <a:xfrm>
            <a:off x="4988051" y="4539996"/>
            <a:ext cx="65531" cy="65531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2" name="object 162"/>
          <p:cNvSpPr/>
          <p:nvPr/>
        </p:nvSpPr>
        <p:spPr>
          <a:xfrm>
            <a:off x="5597651" y="4011167"/>
            <a:ext cx="65531" cy="65531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3" name="object 163"/>
          <p:cNvSpPr/>
          <p:nvPr/>
        </p:nvSpPr>
        <p:spPr>
          <a:xfrm>
            <a:off x="6208775" y="3169919"/>
            <a:ext cx="65531" cy="65531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4" name="object 164"/>
          <p:cNvSpPr/>
          <p:nvPr/>
        </p:nvSpPr>
        <p:spPr>
          <a:xfrm>
            <a:off x="6819900" y="3095244"/>
            <a:ext cx="65531" cy="65531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5" name="object 165"/>
          <p:cNvSpPr/>
          <p:nvPr/>
        </p:nvSpPr>
        <p:spPr>
          <a:xfrm>
            <a:off x="7431023" y="3037331"/>
            <a:ext cx="65531" cy="65531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6" name="object 166"/>
          <p:cNvSpPr/>
          <p:nvPr/>
        </p:nvSpPr>
        <p:spPr>
          <a:xfrm>
            <a:off x="8040623" y="2991612"/>
            <a:ext cx="65531" cy="65531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7" name="object 167"/>
          <p:cNvSpPr/>
          <p:nvPr/>
        </p:nvSpPr>
        <p:spPr>
          <a:xfrm>
            <a:off x="8651747" y="2955035"/>
            <a:ext cx="65531" cy="65531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8" name="object 168"/>
          <p:cNvSpPr/>
          <p:nvPr/>
        </p:nvSpPr>
        <p:spPr>
          <a:xfrm>
            <a:off x="744473" y="5240273"/>
            <a:ext cx="7940040" cy="247015"/>
          </a:xfrm>
          <a:custGeom>
            <a:avLst/>
            <a:gdLst/>
            <a:ahLst/>
            <a:cxnLst/>
            <a:rect l="l" t="t" r="r" b="b"/>
            <a:pathLst>
              <a:path w="7940040" h="247014">
                <a:moveTo>
                  <a:pt x="0" y="205739"/>
                </a:moveTo>
                <a:lnTo>
                  <a:pt x="611124" y="246887"/>
                </a:lnTo>
                <a:lnTo>
                  <a:pt x="1222248" y="70103"/>
                </a:lnTo>
                <a:lnTo>
                  <a:pt x="1833372" y="0"/>
                </a:lnTo>
                <a:lnTo>
                  <a:pt x="2442972" y="30479"/>
                </a:lnTo>
                <a:lnTo>
                  <a:pt x="3054096" y="51815"/>
                </a:lnTo>
                <a:lnTo>
                  <a:pt x="3665220" y="70103"/>
                </a:lnTo>
                <a:lnTo>
                  <a:pt x="4276344" y="79247"/>
                </a:lnTo>
                <a:lnTo>
                  <a:pt x="4885944" y="79247"/>
                </a:lnTo>
                <a:lnTo>
                  <a:pt x="5497068" y="74675"/>
                </a:lnTo>
                <a:lnTo>
                  <a:pt x="6108192" y="74675"/>
                </a:lnTo>
                <a:lnTo>
                  <a:pt x="6719316" y="70103"/>
                </a:lnTo>
                <a:lnTo>
                  <a:pt x="7328916" y="60959"/>
                </a:lnTo>
                <a:lnTo>
                  <a:pt x="7940040" y="35051"/>
                </a:lnTo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9" name="object 169"/>
          <p:cNvSpPr/>
          <p:nvPr/>
        </p:nvSpPr>
        <p:spPr>
          <a:xfrm>
            <a:off x="691895" y="5393448"/>
            <a:ext cx="103631" cy="103619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0" name="object 170"/>
          <p:cNvSpPr/>
          <p:nvPr/>
        </p:nvSpPr>
        <p:spPr>
          <a:xfrm>
            <a:off x="1303019" y="5434596"/>
            <a:ext cx="103631" cy="103619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1" name="object 171"/>
          <p:cNvSpPr/>
          <p:nvPr/>
        </p:nvSpPr>
        <p:spPr>
          <a:xfrm>
            <a:off x="1914144" y="5257800"/>
            <a:ext cx="103619" cy="103631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2" name="object 172"/>
          <p:cNvSpPr/>
          <p:nvPr/>
        </p:nvSpPr>
        <p:spPr>
          <a:xfrm>
            <a:off x="2525267" y="5187708"/>
            <a:ext cx="103631" cy="103619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3" name="object 173"/>
          <p:cNvSpPr/>
          <p:nvPr/>
        </p:nvSpPr>
        <p:spPr>
          <a:xfrm>
            <a:off x="3134867" y="5218176"/>
            <a:ext cx="103619" cy="103631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4" name="object 174"/>
          <p:cNvSpPr/>
          <p:nvPr/>
        </p:nvSpPr>
        <p:spPr>
          <a:xfrm>
            <a:off x="3745991" y="5239511"/>
            <a:ext cx="103631" cy="103631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5" name="object 175"/>
          <p:cNvSpPr/>
          <p:nvPr/>
        </p:nvSpPr>
        <p:spPr>
          <a:xfrm>
            <a:off x="4357115" y="5257800"/>
            <a:ext cx="103631" cy="103631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6" name="object 176"/>
          <p:cNvSpPr/>
          <p:nvPr/>
        </p:nvSpPr>
        <p:spPr>
          <a:xfrm>
            <a:off x="4968240" y="5266944"/>
            <a:ext cx="103619" cy="103631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7" name="object 177"/>
          <p:cNvSpPr/>
          <p:nvPr/>
        </p:nvSpPr>
        <p:spPr>
          <a:xfrm>
            <a:off x="5577839" y="5266944"/>
            <a:ext cx="103631" cy="103631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8" name="object 178"/>
          <p:cNvSpPr/>
          <p:nvPr/>
        </p:nvSpPr>
        <p:spPr>
          <a:xfrm>
            <a:off x="6188964" y="5262371"/>
            <a:ext cx="103619" cy="103631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9" name="object 179"/>
          <p:cNvSpPr/>
          <p:nvPr/>
        </p:nvSpPr>
        <p:spPr>
          <a:xfrm>
            <a:off x="6800088" y="5262371"/>
            <a:ext cx="103631" cy="103631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0" name="object 180"/>
          <p:cNvSpPr/>
          <p:nvPr/>
        </p:nvSpPr>
        <p:spPr>
          <a:xfrm>
            <a:off x="7411211" y="5257800"/>
            <a:ext cx="103631" cy="103631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1" name="object 181"/>
          <p:cNvSpPr/>
          <p:nvPr/>
        </p:nvSpPr>
        <p:spPr>
          <a:xfrm>
            <a:off x="8020811" y="5248655"/>
            <a:ext cx="103631" cy="103631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2" name="object 182"/>
          <p:cNvSpPr/>
          <p:nvPr/>
        </p:nvSpPr>
        <p:spPr>
          <a:xfrm>
            <a:off x="8631935" y="5222747"/>
            <a:ext cx="103631" cy="103631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3" name="object 183"/>
          <p:cNvSpPr/>
          <p:nvPr/>
        </p:nvSpPr>
        <p:spPr>
          <a:xfrm>
            <a:off x="744473" y="5319521"/>
            <a:ext cx="7940040" cy="167640"/>
          </a:xfrm>
          <a:custGeom>
            <a:avLst/>
            <a:gdLst/>
            <a:ahLst/>
            <a:cxnLst/>
            <a:rect l="l" t="t" r="r" b="b"/>
            <a:pathLst>
              <a:path w="7940040" h="167639">
                <a:moveTo>
                  <a:pt x="0" y="167639"/>
                </a:moveTo>
                <a:lnTo>
                  <a:pt x="611124" y="156971"/>
                </a:lnTo>
                <a:lnTo>
                  <a:pt x="1222248" y="0"/>
                </a:lnTo>
                <a:lnTo>
                  <a:pt x="1833372" y="41147"/>
                </a:lnTo>
                <a:lnTo>
                  <a:pt x="2442972" y="74675"/>
                </a:lnTo>
                <a:lnTo>
                  <a:pt x="3054096" y="96011"/>
                </a:lnTo>
                <a:lnTo>
                  <a:pt x="3665220" y="109727"/>
                </a:lnTo>
                <a:lnTo>
                  <a:pt x="4276344" y="126491"/>
                </a:lnTo>
                <a:lnTo>
                  <a:pt x="4885944" y="126491"/>
                </a:lnTo>
                <a:lnTo>
                  <a:pt x="5497068" y="115823"/>
                </a:lnTo>
                <a:lnTo>
                  <a:pt x="6108192" y="109727"/>
                </a:lnTo>
                <a:lnTo>
                  <a:pt x="6719316" y="105155"/>
                </a:lnTo>
                <a:lnTo>
                  <a:pt x="7328916" y="100583"/>
                </a:lnTo>
                <a:lnTo>
                  <a:pt x="7940040" y="80771"/>
                </a:lnTo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4" name="object 184"/>
          <p:cNvSpPr/>
          <p:nvPr/>
        </p:nvSpPr>
        <p:spPr>
          <a:xfrm>
            <a:off x="691895" y="5434596"/>
            <a:ext cx="103631" cy="103619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5" name="object 185"/>
          <p:cNvSpPr/>
          <p:nvPr/>
        </p:nvSpPr>
        <p:spPr>
          <a:xfrm>
            <a:off x="1303019" y="5423915"/>
            <a:ext cx="103631" cy="103631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6" name="object 186"/>
          <p:cNvSpPr/>
          <p:nvPr/>
        </p:nvSpPr>
        <p:spPr>
          <a:xfrm>
            <a:off x="1914144" y="5266944"/>
            <a:ext cx="103619" cy="103631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7" name="object 187"/>
          <p:cNvSpPr/>
          <p:nvPr/>
        </p:nvSpPr>
        <p:spPr>
          <a:xfrm>
            <a:off x="2525267" y="5308091"/>
            <a:ext cx="103631" cy="103631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8" name="object 188"/>
          <p:cNvSpPr/>
          <p:nvPr/>
        </p:nvSpPr>
        <p:spPr>
          <a:xfrm>
            <a:off x="3134867" y="5341620"/>
            <a:ext cx="103619" cy="103631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9" name="object 189"/>
          <p:cNvSpPr/>
          <p:nvPr/>
        </p:nvSpPr>
        <p:spPr>
          <a:xfrm>
            <a:off x="3745991" y="5362955"/>
            <a:ext cx="103631" cy="103631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0" name="object 190"/>
          <p:cNvSpPr/>
          <p:nvPr/>
        </p:nvSpPr>
        <p:spPr>
          <a:xfrm>
            <a:off x="4357115" y="5376671"/>
            <a:ext cx="103631" cy="103631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1" name="object 191"/>
          <p:cNvSpPr/>
          <p:nvPr/>
        </p:nvSpPr>
        <p:spPr>
          <a:xfrm>
            <a:off x="4968240" y="5393448"/>
            <a:ext cx="103619" cy="103619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2" name="object 192"/>
          <p:cNvSpPr/>
          <p:nvPr/>
        </p:nvSpPr>
        <p:spPr>
          <a:xfrm>
            <a:off x="5577840" y="5393448"/>
            <a:ext cx="103631" cy="103619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3" name="object 193"/>
          <p:cNvSpPr/>
          <p:nvPr/>
        </p:nvSpPr>
        <p:spPr>
          <a:xfrm>
            <a:off x="6188964" y="5382767"/>
            <a:ext cx="103619" cy="103631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4" name="object 194"/>
          <p:cNvSpPr/>
          <p:nvPr/>
        </p:nvSpPr>
        <p:spPr>
          <a:xfrm>
            <a:off x="6800088" y="5376671"/>
            <a:ext cx="103631" cy="103631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5" name="object 195"/>
          <p:cNvSpPr/>
          <p:nvPr/>
        </p:nvSpPr>
        <p:spPr>
          <a:xfrm>
            <a:off x="7411211" y="5372100"/>
            <a:ext cx="103631" cy="103631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6" name="object 196"/>
          <p:cNvSpPr/>
          <p:nvPr/>
        </p:nvSpPr>
        <p:spPr>
          <a:xfrm>
            <a:off x="8020811" y="5367527"/>
            <a:ext cx="103631" cy="103631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7" name="object 197"/>
          <p:cNvSpPr/>
          <p:nvPr/>
        </p:nvSpPr>
        <p:spPr>
          <a:xfrm>
            <a:off x="8631935" y="5347728"/>
            <a:ext cx="103631" cy="103619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8" name="object 198"/>
          <p:cNvSpPr/>
          <p:nvPr/>
        </p:nvSpPr>
        <p:spPr>
          <a:xfrm>
            <a:off x="1399794" y="2172461"/>
            <a:ext cx="243840" cy="0"/>
          </a:xfrm>
          <a:custGeom>
            <a:avLst/>
            <a:gdLst/>
            <a:ahLst/>
            <a:cxnLst/>
            <a:rect l="l" t="t" r="r" b="b"/>
            <a:pathLst>
              <a:path w="243839">
                <a:moveTo>
                  <a:pt x="0" y="0"/>
                </a:moveTo>
                <a:lnTo>
                  <a:pt x="243840" y="0"/>
                </a:lnTo>
              </a:path>
            </a:pathLst>
          </a:custGeom>
          <a:ln w="381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9" name="object 199"/>
          <p:cNvSpPr/>
          <p:nvPr/>
        </p:nvSpPr>
        <p:spPr>
          <a:xfrm>
            <a:off x="1470660" y="2121865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50800" y="0"/>
                </a:moveTo>
                <a:lnTo>
                  <a:pt x="0" y="101600"/>
                </a:lnTo>
                <a:lnTo>
                  <a:pt x="101600" y="101600"/>
                </a:lnTo>
                <a:lnTo>
                  <a:pt x="5080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0" name="object 200"/>
          <p:cNvSpPr/>
          <p:nvPr/>
        </p:nvSpPr>
        <p:spPr>
          <a:xfrm>
            <a:off x="1399794" y="2419350"/>
            <a:ext cx="243840" cy="0"/>
          </a:xfrm>
          <a:custGeom>
            <a:avLst/>
            <a:gdLst/>
            <a:ahLst/>
            <a:cxnLst/>
            <a:rect l="l" t="t" r="r" b="b"/>
            <a:pathLst>
              <a:path w="243839">
                <a:moveTo>
                  <a:pt x="0" y="0"/>
                </a:moveTo>
                <a:lnTo>
                  <a:pt x="243840" y="0"/>
                </a:lnTo>
              </a:path>
            </a:pathLst>
          </a:custGeom>
          <a:ln w="381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1" name="object 201"/>
          <p:cNvSpPr/>
          <p:nvPr/>
        </p:nvSpPr>
        <p:spPr>
          <a:xfrm>
            <a:off x="1464310" y="2362644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0" y="57150"/>
                </a:lnTo>
                <a:lnTo>
                  <a:pt x="57150" y="114300"/>
                </a:lnTo>
                <a:lnTo>
                  <a:pt x="114300" y="57150"/>
                </a:lnTo>
                <a:lnTo>
                  <a:pt x="5715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2" name="object 202"/>
          <p:cNvSpPr/>
          <p:nvPr/>
        </p:nvSpPr>
        <p:spPr>
          <a:xfrm>
            <a:off x="1464310" y="2362644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114300" y="57150"/>
                </a:lnTo>
                <a:lnTo>
                  <a:pt x="57150" y="114300"/>
                </a:lnTo>
                <a:lnTo>
                  <a:pt x="0" y="57150"/>
                </a:lnTo>
              </a:path>
            </a:pathLst>
          </a:custGeom>
          <a:ln w="9144">
            <a:solidFill>
              <a:srgbClr val="A8423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3" name="object 203"/>
          <p:cNvSpPr/>
          <p:nvPr/>
        </p:nvSpPr>
        <p:spPr>
          <a:xfrm>
            <a:off x="1399794" y="2666238"/>
            <a:ext cx="243840" cy="0"/>
          </a:xfrm>
          <a:custGeom>
            <a:avLst/>
            <a:gdLst/>
            <a:ahLst/>
            <a:cxnLst/>
            <a:rect l="l" t="t" r="r" b="b"/>
            <a:pathLst>
              <a:path w="243839">
                <a:moveTo>
                  <a:pt x="0" y="0"/>
                </a:moveTo>
                <a:lnTo>
                  <a:pt x="243840" y="0"/>
                </a:lnTo>
              </a:path>
            </a:pathLst>
          </a:custGeom>
          <a:ln w="38100">
            <a:solidFill>
              <a:srgbClr val="3366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4" name="object 204"/>
          <p:cNvSpPr/>
          <p:nvPr/>
        </p:nvSpPr>
        <p:spPr>
          <a:xfrm>
            <a:off x="1470660" y="2616122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50800" y="0"/>
                </a:moveTo>
                <a:lnTo>
                  <a:pt x="0" y="50800"/>
                </a:lnTo>
                <a:lnTo>
                  <a:pt x="50800" y="101600"/>
                </a:lnTo>
                <a:lnTo>
                  <a:pt x="101600" y="50800"/>
                </a:lnTo>
                <a:lnTo>
                  <a:pt x="50800" y="0"/>
                </a:lnTo>
                <a:close/>
              </a:path>
            </a:pathLst>
          </a:custGeom>
          <a:solidFill>
            <a:srgbClr val="33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5" name="object 205"/>
          <p:cNvSpPr/>
          <p:nvPr/>
        </p:nvSpPr>
        <p:spPr>
          <a:xfrm>
            <a:off x="1399794" y="2914650"/>
            <a:ext cx="243840" cy="0"/>
          </a:xfrm>
          <a:custGeom>
            <a:avLst/>
            <a:gdLst/>
            <a:ahLst/>
            <a:cxnLst/>
            <a:rect l="l" t="t" r="r" b="b"/>
            <a:pathLst>
              <a:path w="243839">
                <a:moveTo>
                  <a:pt x="0" y="0"/>
                </a:moveTo>
                <a:lnTo>
                  <a:pt x="243840" y="0"/>
                </a:lnTo>
              </a:path>
            </a:pathLst>
          </a:custGeom>
          <a:ln w="38100">
            <a:solidFill>
              <a:srgbClr val="3366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6" name="object 206"/>
          <p:cNvSpPr/>
          <p:nvPr/>
        </p:nvSpPr>
        <p:spPr>
          <a:xfrm>
            <a:off x="1489710" y="2882301"/>
            <a:ext cx="63500" cy="63500"/>
          </a:xfrm>
          <a:custGeom>
            <a:avLst/>
            <a:gdLst/>
            <a:ahLst/>
            <a:cxnLst/>
            <a:rect l="l" t="t" r="r" b="b"/>
            <a:pathLst>
              <a:path w="63500" h="63500">
                <a:moveTo>
                  <a:pt x="31750" y="0"/>
                </a:moveTo>
                <a:lnTo>
                  <a:pt x="0" y="63500"/>
                </a:lnTo>
                <a:lnTo>
                  <a:pt x="63500" y="63500"/>
                </a:lnTo>
                <a:lnTo>
                  <a:pt x="31750" y="0"/>
                </a:lnTo>
                <a:close/>
              </a:path>
            </a:pathLst>
          </a:custGeom>
          <a:solidFill>
            <a:srgbClr val="33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7" name="object 207"/>
          <p:cNvSpPr/>
          <p:nvPr/>
        </p:nvSpPr>
        <p:spPr>
          <a:xfrm>
            <a:off x="1399794" y="3161538"/>
            <a:ext cx="243840" cy="0"/>
          </a:xfrm>
          <a:custGeom>
            <a:avLst/>
            <a:gdLst/>
            <a:ahLst/>
            <a:cxnLst/>
            <a:rect l="l" t="t" r="r" b="b"/>
            <a:pathLst>
              <a:path w="243839">
                <a:moveTo>
                  <a:pt x="0" y="0"/>
                </a:moveTo>
                <a:lnTo>
                  <a:pt x="243840" y="0"/>
                </a:lnTo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8" name="object 208"/>
          <p:cNvSpPr/>
          <p:nvPr/>
        </p:nvSpPr>
        <p:spPr>
          <a:xfrm>
            <a:off x="1470660" y="3110381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50800" y="0"/>
                </a:moveTo>
                <a:lnTo>
                  <a:pt x="0" y="50800"/>
                </a:lnTo>
                <a:lnTo>
                  <a:pt x="50800" y="101600"/>
                </a:lnTo>
                <a:lnTo>
                  <a:pt x="101600" y="50800"/>
                </a:lnTo>
                <a:lnTo>
                  <a:pt x="50800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9" name="object 209"/>
          <p:cNvSpPr/>
          <p:nvPr/>
        </p:nvSpPr>
        <p:spPr>
          <a:xfrm>
            <a:off x="1399794" y="3408426"/>
            <a:ext cx="243840" cy="0"/>
          </a:xfrm>
          <a:custGeom>
            <a:avLst/>
            <a:gdLst/>
            <a:ahLst/>
            <a:cxnLst/>
            <a:rect l="l" t="t" r="r" b="b"/>
            <a:pathLst>
              <a:path w="243839">
                <a:moveTo>
                  <a:pt x="0" y="0"/>
                </a:moveTo>
                <a:lnTo>
                  <a:pt x="243840" y="0"/>
                </a:lnTo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0" name="object 210"/>
          <p:cNvSpPr/>
          <p:nvPr/>
        </p:nvSpPr>
        <p:spPr>
          <a:xfrm>
            <a:off x="1470660" y="3357509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50800" y="0"/>
                </a:moveTo>
                <a:lnTo>
                  <a:pt x="0" y="101600"/>
                </a:lnTo>
                <a:lnTo>
                  <a:pt x="101600" y="101600"/>
                </a:lnTo>
                <a:lnTo>
                  <a:pt x="50800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1" name="object 211"/>
          <p:cNvSpPr txBox="1"/>
          <p:nvPr/>
        </p:nvSpPr>
        <p:spPr>
          <a:xfrm>
            <a:off x="440944" y="5479405"/>
            <a:ext cx="7830820" cy="686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>
              <a:lnSpc>
                <a:spcPct val="100000"/>
              </a:lnSpc>
            </a:pPr>
            <a:r>
              <a:rPr sz="2000" b="1" spc="-5" dirty="0">
                <a:solidFill>
                  <a:srgbClr val="008000"/>
                </a:solidFill>
                <a:latin typeface="Courier New"/>
                <a:cs typeface="Courier New"/>
              </a:rPr>
              <a:t>ki</a:t>
            </a:r>
            <a:r>
              <a:rPr sz="2000" b="1" dirty="0">
                <a:solidFill>
                  <a:srgbClr val="008000"/>
                </a:solidFill>
                <a:latin typeface="Courier New"/>
                <a:cs typeface="Courier New"/>
              </a:rPr>
              <a:t>j</a:t>
            </a:r>
            <a:r>
              <a:rPr sz="2000" b="1" spc="-76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2000" b="1" dirty="0">
                <a:solidFill>
                  <a:srgbClr val="008000"/>
                </a:solidFill>
                <a:latin typeface="Calibri"/>
                <a:cs typeface="Calibri"/>
              </a:rPr>
              <a:t>/</a:t>
            </a:r>
            <a:r>
              <a:rPr sz="2000" b="1" spc="5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008000"/>
                </a:solidFill>
                <a:latin typeface="Courier New"/>
                <a:cs typeface="Courier New"/>
              </a:rPr>
              <a:t>ikj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295"/>
              </a:spcBef>
            </a:pPr>
            <a:r>
              <a:rPr sz="1600" b="1" spc="-5" dirty="0">
                <a:latin typeface="Calibri"/>
                <a:cs typeface="Calibri"/>
              </a:rPr>
              <a:t>1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12" name="object 212"/>
          <p:cNvSpPr txBox="1"/>
          <p:nvPr/>
        </p:nvSpPr>
        <p:spPr>
          <a:xfrm>
            <a:off x="337976" y="3717547"/>
            <a:ext cx="233045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dirty="0">
                <a:latin typeface="Calibri"/>
                <a:cs typeface="Calibri"/>
              </a:rPr>
              <a:t>10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13" name="object 213"/>
          <p:cNvSpPr txBox="1"/>
          <p:nvPr/>
        </p:nvSpPr>
        <p:spPr>
          <a:xfrm>
            <a:off x="235008" y="1497867"/>
            <a:ext cx="333375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dirty="0">
                <a:latin typeface="Calibri"/>
                <a:cs typeface="Calibri"/>
              </a:rPr>
              <a:t>1</a:t>
            </a:r>
            <a:r>
              <a:rPr sz="1600" b="1" spc="-10" dirty="0">
                <a:latin typeface="Calibri"/>
                <a:cs typeface="Calibri"/>
              </a:rPr>
              <a:t>00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14" name="object 214"/>
          <p:cNvSpPr txBox="1"/>
          <p:nvPr/>
        </p:nvSpPr>
        <p:spPr>
          <a:xfrm>
            <a:off x="629447" y="6201334"/>
            <a:ext cx="4580255" cy="4693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27940" algn="r">
              <a:lnSpc>
                <a:spcPct val="100000"/>
              </a:lnSpc>
              <a:tabLst>
                <a:tab pos="558800" algn="l"/>
                <a:tab pos="1169670" algn="l"/>
                <a:tab pos="1780539" algn="l"/>
                <a:tab pos="2390775" algn="l"/>
                <a:tab pos="3001645" algn="l"/>
                <a:tab pos="3612515" algn="l"/>
                <a:tab pos="4223385" algn="l"/>
              </a:tabLst>
            </a:pPr>
            <a:r>
              <a:rPr sz="1600" b="1" dirty="0">
                <a:latin typeface="Calibri"/>
                <a:cs typeface="Calibri"/>
              </a:rPr>
              <a:t>5</a:t>
            </a:r>
            <a:r>
              <a:rPr sz="1600" b="1" spc="-5" dirty="0">
                <a:latin typeface="Calibri"/>
                <a:cs typeface="Calibri"/>
              </a:rPr>
              <a:t>0</a:t>
            </a:r>
            <a:r>
              <a:rPr sz="1600" b="1" dirty="0">
                <a:latin typeface="Calibri"/>
                <a:cs typeface="Calibri"/>
              </a:rPr>
              <a:t>	1</a:t>
            </a:r>
            <a:r>
              <a:rPr sz="1600" b="1" spc="-10" dirty="0">
                <a:latin typeface="Calibri"/>
                <a:cs typeface="Calibri"/>
              </a:rPr>
              <a:t>0</a:t>
            </a:r>
            <a:r>
              <a:rPr sz="1600" b="1" spc="-5" dirty="0">
                <a:latin typeface="Calibri"/>
                <a:cs typeface="Calibri"/>
              </a:rPr>
              <a:t>0</a:t>
            </a:r>
            <a:r>
              <a:rPr sz="1600" b="1" dirty="0">
                <a:latin typeface="Calibri"/>
                <a:cs typeface="Calibri"/>
              </a:rPr>
              <a:t>	1</a:t>
            </a:r>
            <a:r>
              <a:rPr sz="1600" b="1" spc="-10" dirty="0">
                <a:latin typeface="Calibri"/>
                <a:cs typeface="Calibri"/>
              </a:rPr>
              <a:t>5</a:t>
            </a:r>
            <a:r>
              <a:rPr sz="1600" b="1" spc="-5" dirty="0">
                <a:latin typeface="Calibri"/>
                <a:cs typeface="Calibri"/>
              </a:rPr>
              <a:t>0</a:t>
            </a:r>
            <a:r>
              <a:rPr sz="1600" b="1" dirty="0">
                <a:latin typeface="Calibri"/>
                <a:cs typeface="Calibri"/>
              </a:rPr>
              <a:t>	2</a:t>
            </a:r>
            <a:r>
              <a:rPr sz="1600" b="1" spc="-10" dirty="0">
                <a:latin typeface="Calibri"/>
                <a:cs typeface="Calibri"/>
              </a:rPr>
              <a:t>0</a:t>
            </a:r>
            <a:r>
              <a:rPr sz="1600" b="1" spc="-5" dirty="0">
                <a:latin typeface="Calibri"/>
                <a:cs typeface="Calibri"/>
              </a:rPr>
              <a:t>0</a:t>
            </a:r>
            <a:r>
              <a:rPr sz="1600" b="1" dirty="0">
                <a:latin typeface="Calibri"/>
                <a:cs typeface="Calibri"/>
              </a:rPr>
              <a:t>	2</a:t>
            </a:r>
            <a:r>
              <a:rPr sz="1600" b="1" spc="-10" dirty="0">
                <a:latin typeface="Calibri"/>
                <a:cs typeface="Calibri"/>
              </a:rPr>
              <a:t>5</a:t>
            </a:r>
            <a:r>
              <a:rPr sz="1600" b="1" spc="-5" dirty="0">
                <a:latin typeface="Calibri"/>
                <a:cs typeface="Calibri"/>
              </a:rPr>
              <a:t>0</a:t>
            </a:r>
            <a:r>
              <a:rPr sz="1600" b="1" dirty="0">
                <a:latin typeface="Calibri"/>
                <a:cs typeface="Calibri"/>
              </a:rPr>
              <a:t>	3</a:t>
            </a:r>
            <a:r>
              <a:rPr sz="1600" b="1" spc="-10" dirty="0">
                <a:latin typeface="Calibri"/>
                <a:cs typeface="Calibri"/>
              </a:rPr>
              <a:t>0</a:t>
            </a:r>
            <a:r>
              <a:rPr sz="1600" b="1" spc="-5" dirty="0">
                <a:latin typeface="Calibri"/>
                <a:cs typeface="Calibri"/>
              </a:rPr>
              <a:t>0</a:t>
            </a:r>
            <a:r>
              <a:rPr sz="1600" b="1" dirty="0">
                <a:latin typeface="Calibri"/>
                <a:cs typeface="Calibri"/>
              </a:rPr>
              <a:t>	3</a:t>
            </a:r>
            <a:r>
              <a:rPr sz="1600" b="1" spc="-10" dirty="0">
                <a:latin typeface="Calibri"/>
                <a:cs typeface="Calibri"/>
              </a:rPr>
              <a:t>5</a:t>
            </a:r>
            <a:r>
              <a:rPr sz="1600" b="1" spc="-5" dirty="0">
                <a:latin typeface="Calibri"/>
                <a:cs typeface="Calibri"/>
              </a:rPr>
              <a:t>0</a:t>
            </a:r>
            <a:r>
              <a:rPr sz="1600" b="1" dirty="0">
                <a:latin typeface="Calibri"/>
                <a:cs typeface="Calibri"/>
              </a:rPr>
              <a:t>	4</a:t>
            </a:r>
            <a:r>
              <a:rPr sz="1600" b="1" spc="-10" dirty="0">
                <a:latin typeface="Calibri"/>
                <a:cs typeface="Calibri"/>
              </a:rPr>
              <a:t>00</a:t>
            </a:r>
            <a:endParaRPr sz="1600" dirty="0">
              <a:latin typeface="Calibri"/>
              <a:cs typeface="Calibri"/>
            </a:endParaRPr>
          </a:p>
          <a:p>
            <a:pPr marR="5080" algn="r">
              <a:lnSpc>
                <a:spcPct val="100000"/>
              </a:lnSpc>
              <a:spcBef>
                <a:spcPts val="335"/>
              </a:spcBef>
            </a:pPr>
            <a:r>
              <a:rPr lang="zh-CN" altLang="en-US" sz="1200" b="1" spc="-5" dirty="0">
                <a:latin typeface="Arial"/>
                <a:cs typeface="Arial"/>
              </a:rPr>
              <a:t>数组大小 </a:t>
            </a:r>
            <a:r>
              <a:rPr sz="1200" b="1" spc="-5" dirty="0">
                <a:latin typeface="Arial"/>
                <a:cs typeface="Arial"/>
              </a:rPr>
              <a:t>(n</a:t>
            </a:r>
            <a:r>
              <a:rPr sz="1200" b="1" dirty="0">
                <a:latin typeface="Arial"/>
                <a:cs typeface="Arial"/>
              </a:rPr>
              <a:t>)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215" name="object 215"/>
          <p:cNvSpPr txBox="1"/>
          <p:nvPr/>
        </p:nvSpPr>
        <p:spPr>
          <a:xfrm>
            <a:off x="5463651" y="6201334"/>
            <a:ext cx="3387090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622935" algn="l"/>
                <a:tab pos="1233805" algn="l"/>
                <a:tab pos="1844675" algn="l"/>
                <a:tab pos="2454910" algn="l"/>
                <a:tab pos="3065780" algn="l"/>
              </a:tabLst>
            </a:pPr>
            <a:r>
              <a:rPr sz="1600" b="1" dirty="0">
                <a:latin typeface="Calibri"/>
                <a:cs typeface="Calibri"/>
              </a:rPr>
              <a:t>4</a:t>
            </a:r>
            <a:r>
              <a:rPr sz="1600" b="1" spc="-10" dirty="0">
                <a:latin typeface="Calibri"/>
                <a:cs typeface="Calibri"/>
              </a:rPr>
              <a:t>5</a:t>
            </a:r>
            <a:r>
              <a:rPr sz="1600" b="1" spc="-5" dirty="0">
                <a:latin typeface="Calibri"/>
                <a:cs typeface="Calibri"/>
              </a:rPr>
              <a:t>0</a:t>
            </a:r>
            <a:r>
              <a:rPr sz="1600" b="1" dirty="0">
                <a:latin typeface="Calibri"/>
                <a:cs typeface="Calibri"/>
              </a:rPr>
              <a:t>	5</a:t>
            </a:r>
            <a:r>
              <a:rPr sz="1600" b="1" spc="-10" dirty="0">
                <a:latin typeface="Calibri"/>
                <a:cs typeface="Calibri"/>
              </a:rPr>
              <a:t>0</a:t>
            </a:r>
            <a:r>
              <a:rPr sz="1600" b="1" spc="-5" dirty="0">
                <a:latin typeface="Calibri"/>
                <a:cs typeface="Calibri"/>
              </a:rPr>
              <a:t>0</a:t>
            </a:r>
            <a:r>
              <a:rPr sz="1600" b="1" dirty="0">
                <a:latin typeface="Calibri"/>
                <a:cs typeface="Calibri"/>
              </a:rPr>
              <a:t>	5</a:t>
            </a:r>
            <a:r>
              <a:rPr sz="1600" b="1" spc="-10" dirty="0">
                <a:latin typeface="Calibri"/>
                <a:cs typeface="Calibri"/>
              </a:rPr>
              <a:t>5</a:t>
            </a:r>
            <a:r>
              <a:rPr sz="1600" b="1" spc="-5" dirty="0">
                <a:latin typeface="Calibri"/>
                <a:cs typeface="Calibri"/>
              </a:rPr>
              <a:t>0</a:t>
            </a:r>
            <a:r>
              <a:rPr sz="1600" b="1" dirty="0">
                <a:latin typeface="Calibri"/>
                <a:cs typeface="Calibri"/>
              </a:rPr>
              <a:t>	6</a:t>
            </a:r>
            <a:r>
              <a:rPr sz="1600" b="1" spc="-10" dirty="0">
                <a:latin typeface="Calibri"/>
                <a:cs typeface="Calibri"/>
              </a:rPr>
              <a:t>0</a:t>
            </a:r>
            <a:r>
              <a:rPr sz="1600" b="1" spc="-5" dirty="0">
                <a:latin typeface="Calibri"/>
                <a:cs typeface="Calibri"/>
              </a:rPr>
              <a:t>0</a:t>
            </a:r>
            <a:r>
              <a:rPr sz="1600" b="1" dirty="0">
                <a:latin typeface="Calibri"/>
                <a:cs typeface="Calibri"/>
              </a:rPr>
              <a:t>	6</a:t>
            </a:r>
            <a:r>
              <a:rPr sz="1600" b="1" spc="-10" dirty="0">
                <a:latin typeface="Calibri"/>
                <a:cs typeface="Calibri"/>
              </a:rPr>
              <a:t>5</a:t>
            </a:r>
            <a:r>
              <a:rPr sz="1600" b="1" spc="-5" dirty="0">
                <a:latin typeface="Calibri"/>
                <a:cs typeface="Calibri"/>
              </a:rPr>
              <a:t>0</a:t>
            </a:r>
            <a:r>
              <a:rPr sz="1600" b="1" dirty="0">
                <a:latin typeface="Calibri"/>
                <a:cs typeface="Calibri"/>
              </a:rPr>
              <a:t>	7</a:t>
            </a:r>
            <a:r>
              <a:rPr sz="1600" b="1" spc="-10" dirty="0">
                <a:latin typeface="Calibri"/>
                <a:cs typeface="Calibri"/>
              </a:rPr>
              <a:t>00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16" name="object 216"/>
          <p:cNvSpPr txBox="1"/>
          <p:nvPr/>
        </p:nvSpPr>
        <p:spPr>
          <a:xfrm>
            <a:off x="1656397" y="2058326"/>
            <a:ext cx="391160" cy="9696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101299"/>
              </a:lnSpc>
            </a:pPr>
            <a:r>
              <a:rPr sz="1600" b="1" spc="-5" dirty="0">
                <a:latin typeface="Courier New"/>
                <a:cs typeface="Courier New"/>
              </a:rPr>
              <a:t>jki kji ijk jik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217" name="object 217"/>
          <p:cNvSpPr txBox="1"/>
          <p:nvPr/>
        </p:nvSpPr>
        <p:spPr>
          <a:xfrm>
            <a:off x="1656397" y="3046842"/>
            <a:ext cx="391160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spc="-5" dirty="0">
                <a:latin typeface="Courier New"/>
                <a:cs typeface="Courier New"/>
              </a:rPr>
              <a:t>kij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218" name="object 218"/>
          <p:cNvSpPr txBox="1"/>
          <p:nvPr/>
        </p:nvSpPr>
        <p:spPr>
          <a:xfrm>
            <a:off x="1656397" y="3293972"/>
            <a:ext cx="391160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b="1" spc="-5" dirty="0">
                <a:latin typeface="Courier New"/>
                <a:cs typeface="Courier New"/>
              </a:rPr>
              <a:t>ikj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219" name="object 219"/>
          <p:cNvSpPr txBox="1"/>
          <p:nvPr/>
        </p:nvSpPr>
        <p:spPr>
          <a:xfrm>
            <a:off x="6492241" y="3193414"/>
            <a:ext cx="1164590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5" dirty="0">
                <a:solidFill>
                  <a:srgbClr val="336699"/>
                </a:solidFill>
                <a:latin typeface="Courier New"/>
                <a:cs typeface="Courier New"/>
              </a:rPr>
              <a:t>ij</a:t>
            </a:r>
            <a:r>
              <a:rPr sz="2000" b="1" dirty="0">
                <a:solidFill>
                  <a:srgbClr val="336699"/>
                </a:solidFill>
                <a:latin typeface="Courier New"/>
                <a:cs typeface="Courier New"/>
              </a:rPr>
              <a:t>k</a:t>
            </a:r>
            <a:r>
              <a:rPr sz="2000" b="1" spc="-760" dirty="0">
                <a:solidFill>
                  <a:srgbClr val="336699"/>
                </a:solidFill>
                <a:latin typeface="Courier New"/>
                <a:cs typeface="Courier New"/>
              </a:rPr>
              <a:t> </a:t>
            </a:r>
            <a:r>
              <a:rPr sz="2000" b="1" dirty="0">
                <a:solidFill>
                  <a:srgbClr val="336699"/>
                </a:solidFill>
                <a:latin typeface="Calibri"/>
                <a:cs typeface="Calibri"/>
              </a:rPr>
              <a:t>/</a:t>
            </a:r>
            <a:r>
              <a:rPr sz="2000" b="1" spc="5" dirty="0">
                <a:solidFill>
                  <a:srgbClr val="336699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336699"/>
                </a:solidFill>
                <a:latin typeface="Courier New"/>
                <a:cs typeface="Courier New"/>
              </a:rPr>
              <a:t>jik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220" name="object 220"/>
          <p:cNvSpPr txBox="1"/>
          <p:nvPr/>
        </p:nvSpPr>
        <p:spPr>
          <a:xfrm>
            <a:off x="5641421" y="1619028"/>
            <a:ext cx="1164590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-5" dirty="0">
                <a:solidFill>
                  <a:srgbClr val="C00000"/>
                </a:solidFill>
                <a:latin typeface="Courier New"/>
                <a:cs typeface="Courier New"/>
              </a:rPr>
              <a:t>jk</a:t>
            </a:r>
            <a:r>
              <a:rPr sz="2000" b="1" dirty="0">
                <a:solidFill>
                  <a:srgbClr val="C00000"/>
                </a:solidFill>
                <a:latin typeface="Courier New"/>
                <a:cs typeface="Courier New"/>
              </a:rPr>
              <a:t>i</a:t>
            </a:r>
            <a:r>
              <a:rPr sz="2000" b="1" spc="-760" dirty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2000" b="1" dirty="0">
                <a:solidFill>
                  <a:srgbClr val="C00000"/>
                </a:solidFill>
                <a:latin typeface="Calibri"/>
                <a:cs typeface="Calibri"/>
              </a:rPr>
              <a:t>/</a:t>
            </a:r>
            <a:r>
              <a:rPr sz="2000" b="1" spc="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C00000"/>
                </a:solidFill>
                <a:latin typeface="Courier New"/>
                <a:cs typeface="Courier New"/>
              </a:rPr>
              <a:t>kji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221" name="object 221"/>
          <p:cNvSpPr txBox="1"/>
          <p:nvPr/>
        </p:nvSpPr>
        <p:spPr>
          <a:xfrm>
            <a:off x="231140" y="1222155"/>
            <a:ext cx="2244725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zh-CN" altLang="en-US" sz="1400" dirty="0">
                <a:latin typeface="Calibri"/>
                <a:cs typeface="Calibri"/>
              </a:rPr>
              <a:t>周期</a:t>
            </a:r>
            <a:r>
              <a:rPr lang="en-US" altLang="zh-CN" sz="1400" dirty="0">
                <a:latin typeface="Calibri"/>
                <a:cs typeface="Calibri"/>
              </a:rPr>
              <a:t>/</a:t>
            </a:r>
            <a:r>
              <a:rPr lang="zh-CN" altLang="en-US" sz="1400" dirty="0">
                <a:latin typeface="Calibri"/>
                <a:cs typeface="Calibri"/>
              </a:rPr>
              <a:t>迭代</a:t>
            </a:r>
            <a:endParaRPr sz="1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57018" y="394767"/>
            <a:ext cx="7592093" cy="843822"/>
          </a:xfrm>
          <a:prstGeom prst="rect">
            <a:avLst/>
          </a:prstGeom>
        </p:spPr>
        <p:txBody>
          <a:bodyPr vert="horz" wrap="square" lIns="0" tIns="287021" rIns="0" bIns="0" rtlCol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lang="zh-CN" altLang="en-US" dirty="0">
                <a:ea typeface="宋体" pitchFamily="2" charset="-122"/>
              </a:rPr>
              <a:t>高速缓存存储器</a:t>
            </a:r>
            <a:endParaRPr spc="-5" dirty="0"/>
          </a:p>
        </p:txBody>
      </p:sp>
      <p:sp>
        <p:nvSpPr>
          <p:cNvPr id="4" name="object 4"/>
          <p:cNvSpPr txBox="1"/>
          <p:nvPr/>
        </p:nvSpPr>
        <p:spPr>
          <a:xfrm>
            <a:off x="475615" y="1464183"/>
            <a:ext cx="5361940" cy="1854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990000"/>
              </a:buClr>
              <a:buSzPct val="60416"/>
              <a:buFont typeface="Wingdings 2"/>
              <a:buChar char=""/>
              <a:tabLst>
                <a:tab pos="355600" algn="l"/>
              </a:tabLst>
            </a:pPr>
            <a:r>
              <a:rPr lang="zh-CN" altLang="en-US" sz="2400" b="1" dirty="0">
                <a:solidFill>
                  <a:srgbClr val="C0C0C0"/>
                </a:solidFill>
                <a:latin typeface="Calibri"/>
                <a:cs typeface="Calibri"/>
              </a:rPr>
              <a:t>高速缓存的结构和操作</a:t>
            </a:r>
          </a:p>
          <a:p>
            <a:pPr marL="355600" indent="-342900">
              <a:lnSpc>
                <a:spcPct val="100000"/>
              </a:lnSpc>
              <a:buClr>
                <a:srgbClr val="990000"/>
              </a:buClr>
              <a:buSzPct val="60416"/>
              <a:buFont typeface="Wingdings 2"/>
              <a:buChar char=""/>
              <a:tabLst>
                <a:tab pos="355600" algn="l"/>
              </a:tabLst>
            </a:pPr>
            <a:r>
              <a:rPr lang="zh-CN" altLang="en-US" sz="2400" b="1" dirty="0">
                <a:latin typeface="Calibri"/>
                <a:cs typeface="Calibri"/>
              </a:rPr>
              <a:t>高速缓存对性能的影响</a:t>
            </a:r>
          </a:p>
          <a:p>
            <a:pPr marL="756285" lvl="1" indent="-286385">
              <a:lnSpc>
                <a:spcPct val="100000"/>
              </a:lnSpc>
              <a:spcBef>
                <a:spcPts val="505"/>
              </a:spcBef>
              <a:buClr>
                <a:srgbClr val="990000"/>
              </a:buClr>
              <a:buSzPct val="110000"/>
              <a:buFont typeface="Wingdings"/>
              <a:buChar char=""/>
              <a:tabLst>
                <a:tab pos="756920" algn="l"/>
              </a:tabLst>
            </a:pPr>
            <a:r>
              <a:rPr lang="zh-CN" altLang="en-US" sz="2000" spc="-5" dirty="0">
                <a:solidFill>
                  <a:srgbClr val="C0C0C0"/>
                </a:solidFill>
                <a:latin typeface="Calibri"/>
                <a:cs typeface="Calibri"/>
              </a:rPr>
              <a:t>存储器山</a:t>
            </a:r>
          </a:p>
          <a:p>
            <a:pPr marL="756285" lvl="1" indent="-286385">
              <a:lnSpc>
                <a:spcPct val="100000"/>
              </a:lnSpc>
              <a:spcBef>
                <a:spcPts val="505"/>
              </a:spcBef>
              <a:buClr>
                <a:srgbClr val="990000"/>
              </a:buClr>
              <a:buSzPct val="110000"/>
              <a:buFont typeface="Wingdings"/>
              <a:buChar char=""/>
              <a:tabLst>
                <a:tab pos="756920" algn="l"/>
              </a:tabLst>
            </a:pPr>
            <a:r>
              <a:rPr lang="zh-CN" altLang="en-US" sz="2000" spc="-5" dirty="0">
                <a:solidFill>
                  <a:srgbClr val="C0C0C0"/>
                </a:solidFill>
                <a:latin typeface="Calibri"/>
                <a:cs typeface="Calibri"/>
              </a:rPr>
              <a:t>重新排列循环以提高空间局部性</a:t>
            </a:r>
          </a:p>
          <a:p>
            <a:pPr marL="756285" lvl="1" indent="-286385">
              <a:lnSpc>
                <a:spcPct val="100000"/>
              </a:lnSpc>
              <a:spcBef>
                <a:spcPts val="505"/>
              </a:spcBef>
              <a:buClr>
                <a:srgbClr val="990000"/>
              </a:buClr>
              <a:buSzPct val="110000"/>
              <a:buFont typeface="Wingdings"/>
              <a:buChar char=""/>
              <a:tabLst>
                <a:tab pos="756920" algn="l"/>
              </a:tabLst>
            </a:pPr>
            <a:r>
              <a:rPr lang="zh-CN" altLang="en-US" sz="2000" spc="-5" dirty="0">
                <a:latin typeface="Calibri"/>
                <a:cs typeface="Calibri"/>
              </a:rPr>
              <a:t>使用分块以提高时间局部性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57018" y="396438"/>
            <a:ext cx="7592093" cy="840480"/>
          </a:xfrm>
          <a:prstGeom prst="rect">
            <a:avLst/>
          </a:prstGeom>
        </p:spPr>
        <p:txBody>
          <a:bodyPr vert="horz" wrap="square" lIns="0" tIns="283712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dirty="0"/>
              <a:t>例子</a:t>
            </a:r>
            <a:r>
              <a:rPr dirty="0"/>
              <a:t>:</a:t>
            </a:r>
            <a:r>
              <a:rPr lang="zh-CN" altLang="en-US" spc="-20" dirty="0"/>
              <a:t>矩阵乘法</a:t>
            </a:r>
            <a:endParaRPr spc="-5" dirty="0"/>
          </a:p>
        </p:txBody>
      </p:sp>
      <p:sp>
        <p:nvSpPr>
          <p:cNvPr id="4" name="object 4"/>
          <p:cNvSpPr/>
          <p:nvPr/>
        </p:nvSpPr>
        <p:spPr>
          <a:xfrm>
            <a:off x="2284666" y="4572000"/>
            <a:ext cx="1143000" cy="827405"/>
          </a:xfrm>
          <a:custGeom>
            <a:avLst/>
            <a:gdLst/>
            <a:ahLst/>
            <a:cxnLst/>
            <a:rect l="l" t="t" r="r" b="b"/>
            <a:pathLst>
              <a:path w="1143000" h="827404">
                <a:moveTo>
                  <a:pt x="0" y="827087"/>
                </a:moveTo>
                <a:lnTo>
                  <a:pt x="1142999" y="827087"/>
                </a:lnTo>
                <a:lnTo>
                  <a:pt x="1142999" y="0"/>
                </a:lnTo>
                <a:lnTo>
                  <a:pt x="0" y="0"/>
                </a:lnTo>
                <a:lnTo>
                  <a:pt x="0" y="827087"/>
                </a:lnTo>
                <a:close/>
              </a:path>
            </a:pathLst>
          </a:custGeom>
          <a:solidFill>
            <a:srgbClr val="DADA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284666" y="5457825"/>
            <a:ext cx="1143000" cy="257175"/>
          </a:xfrm>
          <a:custGeom>
            <a:avLst/>
            <a:gdLst/>
            <a:ahLst/>
            <a:cxnLst/>
            <a:rect l="l" t="t" r="r" b="b"/>
            <a:pathLst>
              <a:path w="1143000" h="257175">
                <a:moveTo>
                  <a:pt x="0" y="257175"/>
                </a:moveTo>
                <a:lnTo>
                  <a:pt x="1142999" y="257175"/>
                </a:lnTo>
                <a:lnTo>
                  <a:pt x="1142999" y="0"/>
                </a:lnTo>
                <a:lnTo>
                  <a:pt x="0" y="0"/>
                </a:lnTo>
                <a:lnTo>
                  <a:pt x="0" y="257175"/>
                </a:lnTo>
                <a:close/>
              </a:path>
            </a:pathLst>
          </a:custGeom>
          <a:solidFill>
            <a:srgbClr val="DADA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599240" y="4572000"/>
            <a:ext cx="428625" cy="1143000"/>
          </a:xfrm>
          <a:custGeom>
            <a:avLst/>
            <a:gdLst/>
            <a:ahLst/>
            <a:cxnLst/>
            <a:rect l="l" t="t" r="r" b="b"/>
            <a:pathLst>
              <a:path w="428625" h="1143000">
                <a:moveTo>
                  <a:pt x="0" y="1143000"/>
                </a:moveTo>
                <a:lnTo>
                  <a:pt x="428626" y="1143000"/>
                </a:lnTo>
                <a:lnTo>
                  <a:pt x="428626" y="0"/>
                </a:lnTo>
                <a:lnTo>
                  <a:pt x="0" y="0"/>
                </a:lnTo>
                <a:lnTo>
                  <a:pt x="0" y="1143000"/>
                </a:lnTo>
                <a:close/>
              </a:path>
            </a:pathLst>
          </a:custGeom>
          <a:solidFill>
            <a:srgbClr val="DADA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884866" y="4572000"/>
            <a:ext cx="655955" cy="1143000"/>
          </a:xfrm>
          <a:custGeom>
            <a:avLst/>
            <a:gdLst/>
            <a:ahLst/>
            <a:cxnLst/>
            <a:rect l="l" t="t" r="r" b="b"/>
            <a:pathLst>
              <a:path w="655954" h="1143000">
                <a:moveTo>
                  <a:pt x="0" y="1143000"/>
                </a:moveTo>
                <a:lnTo>
                  <a:pt x="655636" y="1143000"/>
                </a:lnTo>
                <a:lnTo>
                  <a:pt x="655636" y="0"/>
                </a:lnTo>
                <a:lnTo>
                  <a:pt x="0" y="0"/>
                </a:lnTo>
                <a:lnTo>
                  <a:pt x="0" y="1143000"/>
                </a:lnTo>
                <a:close/>
              </a:path>
            </a:pathLst>
          </a:custGeom>
          <a:solidFill>
            <a:srgbClr val="DADA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284665" y="5427662"/>
            <a:ext cx="1143000" cy="1905"/>
          </a:xfrm>
          <a:custGeom>
            <a:avLst/>
            <a:gdLst/>
            <a:ahLst/>
            <a:cxnLst/>
            <a:rect l="l" t="t" r="r" b="b"/>
            <a:pathLst>
              <a:path w="1143000" h="1904">
                <a:moveTo>
                  <a:pt x="0" y="0"/>
                </a:moveTo>
                <a:lnTo>
                  <a:pt x="1143000" y="1587"/>
                </a:lnTo>
              </a:path>
            </a:pathLst>
          </a:custGeom>
          <a:ln w="5715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569077" y="4572000"/>
            <a:ext cx="1905" cy="1143000"/>
          </a:xfrm>
          <a:custGeom>
            <a:avLst/>
            <a:gdLst/>
            <a:ahLst/>
            <a:cxnLst/>
            <a:rect l="l" t="t" r="r" b="b"/>
            <a:pathLst>
              <a:path w="1904" h="1143000">
                <a:moveTo>
                  <a:pt x="1587" y="0"/>
                </a:moveTo>
                <a:lnTo>
                  <a:pt x="0" y="1143000"/>
                </a:lnTo>
              </a:path>
            </a:pathLst>
          </a:custGeom>
          <a:ln w="5715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136139" y="5308759"/>
            <a:ext cx="16256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dirty="0">
                <a:latin typeface="Courier New"/>
                <a:cs typeface="Courier New"/>
              </a:rPr>
              <a:t>i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99529" y="4572000"/>
            <a:ext cx="1143000" cy="1143000"/>
          </a:xfrm>
          <a:custGeom>
            <a:avLst/>
            <a:gdLst/>
            <a:ahLst/>
            <a:cxnLst/>
            <a:rect l="l" t="t" r="r" b="b"/>
            <a:pathLst>
              <a:path w="1143000" h="1143000">
                <a:moveTo>
                  <a:pt x="0" y="0"/>
                </a:moveTo>
                <a:lnTo>
                  <a:pt x="1143000" y="0"/>
                </a:lnTo>
                <a:lnTo>
                  <a:pt x="1143000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solidFill>
            <a:srgbClr val="DADA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99529" y="4572000"/>
            <a:ext cx="3642360" cy="1143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1440">
              <a:lnSpc>
                <a:spcPct val="100000"/>
              </a:lnSpc>
              <a:tabLst>
                <a:tab pos="1876425" algn="l"/>
                <a:tab pos="3476625" algn="l"/>
              </a:tabLst>
            </a:pPr>
            <a:r>
              <a:rPr sz="2000" b="1" dirty="0">
                <a:latin typeface="Courier New"/>
                <a:cs typeface="Courier New"/>
              </a:rPr>
              <a:t>c	a	b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498263" y="4268858"/>
            <a:ext cx="16256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dirty="0">
                <a:latin typeface="Courier New"/>
                <a:cs typeface="Courier New"/>
              </a:rPr>
              <a:t>j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548736" y="4934263"/>
            <a:ext cx="212725" cy="432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>
                <a:latin typeface="Calibri"/>
                <a:cs typeface="Calibri"/>
              </a:rPr>
              <a:t>x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844522" y="4985639"/>
            <a:ext cx="228600" cy="432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>
                <a:latin typeface="Calibri"/>
                <a:cs typeface="Calibri"/>
              </a:rPr>
              <a:t>=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185329" y="54102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76200" y="0"/>
                </a:lnTo>
                <a:lnTo>
                  <a:pt x="762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499529" y="1413510"/>
            <a:ext cx="6893559" cy="2797810"/>
          </a:xfrm>
          <a:prstGeom prst="rect">
            <a:avLst/>
          </a:prstGeom>
          <a:solidFill>
            <a:srgbClr val="F6F5BD"/>
          </a:solidFill>
          <a:ln w="127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83820">
              <a:lnSpc>
                <a:spcPct val="100000"/>
              </a:lnSpc>
            </a:pPr>
            <a:r>
              <a:rPr sz="1600" b="1" spc="-5" dirty="0">
                <a:latin typeface="Courier New"/>
                <a:cs typeface="Courier New"/>
              </a:rPr>
              <a:t>c = (d</a:t>
            </a:r>
            <a:r>
              <a:rPr sz="1600" b="1" spc="0" dirty="0">
                <a:latin typeface="Courier New"/>
                <a:cs typeface="Courier New"/>
              </a:rPr>
              <a:t>o</a:t>
            </a:r>
            <a:r>
              <a:rPr sz="1600" b="1" spc="-5" dirty="0">
                <a:latin typeface="Courier New"/>
                <a:cs typeface="Courier New"/>
              </a:rPr>
              <a:t>uble</a:t>
            </a:r>
            <a:r>
              <a:rPr sz="1600" b="1" spc="10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*)</a:t>
            </a:r>
            <a:r>
              <a:rPr sz="1600" b="1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cal</a:t>
            </a:r>
            <a:r>
              <a:rPr sz="1600" b="1" spc="0" dirty="0">
                <a:latin typeface="Courier New"/>
                <a:cs typeface="Courier New"/>
              </a:rPr>
              <a:t>l</a:t>
            </a:r>
            <a:r>
              <a:rPr sz="1600" b="1" spc="-5" dirty="0">
                <a:latin typeface="Courier New"/>
                <a:cs typeface="Courier New"/>
              </a:rPr>
              <a:t>oc</a:t>
            </a:r>
            <a:r>
              <a:rPr sz="1600" b="1" spc="5" dirty="0">
                <a:latin typeface="Courier New"/>
                <a:cs typeface="Courier New"/>
              </a:rPr>
              <a:t>(</a:t>
            </a:r>
            <a:r>
              <a:rPr sz="1600" b="1" spc="-5" dirty="0">
                <a:latin typeface="Courier New"/>
                <a:cs typeface="Courier New"/>
              </a:rPr>
              <a:t>s</a:t>
            </a:r>
            <a:r>
              <a:rPr sz="1600" b="1" spc="0" dirty="0">
                <a:latin typeface="Courier New"/>
                <a:cs typeface="Courier New"/>
              </a:rPr>
              <a:t>i</a:t>
            </a:r>
            <a:r>
              <a:rPr sz="1600" b="1" spc="-5" dirty="0">
                <a:latin typeface="Courier New"/>
                <a:cs typeface="Courier New"/>
              </a:rPr>
              <a:t>zeof(d</a:t>
            </a:r>
            <a:r>
              <a:rPr sz="1600" b="1" spc="0" dirty="0">
                <a:latin typeface="Courier New"/>
                <a:cs typeface="Courier New"/>
              </a:rPr>
              <a:t>o</a:t>
            </a:r>
            <a:r>
              <a:rPr sz="1600" b="1" spc="-5" dirty="0">
                <a:latin typeface="Courier New"/>
                <a:cs typeface="Courier New"/>
              </a:rPr>
              <a:t>uble</a:t>
            </a:r>
            <a:r>
              <a:rPr sz="1600" b="1" spc="0" dirty="0">
                <a:latin typeface="Courier New"/>
                <a:cs typeface="Courier New"/>
              </a:rPr>
              <a:t>)</a:t>
            </a:r>
            <a:r>
              <a:rPr sz="1600" b="1" spc="-5" dirty="0">
                <a:latin typeface="Courier New"/>
                <a:cs typeface="Courier New"/>
              </a:rPr>
              <a:t>,</a:t>
            </a:r>
            <a:r>
              <a:rPr sz="1600" b="1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n*n);</a:t>
            </a:r>
            <a:endParaRPr sz="16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2"/>
              </a:spcBef>
            </a:pPr>
            <a:endParaRPr sz="1650">
              <a:latin typeface="Times New Roman"/>
              <a:cs typeface="Times New Roman"/>
            </a:endParaRPr>
          </a:p>
          <a:p>
            <a:pPr marL="83820">
              <a:lnSpc>
                <a:spcPct val="100000"/>
              </a:lnSpc>
              <a:tabLst>
                <a:tab pos="4482465" algn="l"/>
              </a:tabLst>
            </a:pPr>
            <a:r>
              <a:rPr sz="1600" b="1" spc="-5" dirty="0">
                <a:solidFill>
                  <a:srgbClr val="990000"/>
                </a:solidFill>
                <a:latin typeface="Courier New"/>
                <a:cs typeface="Courier New"/>
              </a:rPr>
              <a:t>/* Mul</a:t>
            </a:r>
            <a:r>
              <a:rPr sz="1600" b="1" spc="0" dirty="0">
                <a:solidFill>
                  <a:srgbClr val="990000"/>
                </a:solidFill>
                <a:latin typeface="Courier New"/>
                <a:cs typeface="Courier New"/>
              </a:rPr>
              <a:t>t</a:t>
            </a:r>
            <a:r>
              <a:rPr sz="1600" b="1" spc="-5" dirty="0">
                <a:solidFill>
                  <a:srgbClr val="990000"/>
                </a:solidFill>
                <a:latin typeface="Courier New"/>
                <a:cs typeface="Courier New"/>
              </a:rPr>
              <a:t>iply</a:t>
            </a:r>
            <a:r>
              <a:rPr sz="1600" b="1" spc="10" dirty="0">
                <a:solidFill>
                  <a:srgbClr val="990000"/>
                </a:solidFill>
                <a:latin typeface="Courier New"/>
                <a:cs typeface="Courier New"/>
              </a:rPr>
              <a:t> </a:t>
            </a:r>
            <a:r>
              <a:rPr sz="1600" b="1" spc="-5" dirty="0">
                <a:solidFill>
                  <a:srgbClr val="990000"/>
                </a:solidFill>
                <a:latin typeface="Courier New"/>
                <a:cs typeface="Courier New"/>
              </a:rPr>
              <a:t>n</a:t>
            </a:r>
            <a:r>
              <a:rPr sz="1600" b="1" dirty="0">
                <a:solidFill>
                  <a:srgbClr val="990000"/>
                </a:solidFill>
                <a:latin typeface="Courier New"/>
                <a:cs typeface="Courier New"/>
              </a:rPr>
              <a:t> </a:t>
            </a:r>
            <a:r>
              <a:rPr sz="1600" b="1" spc="-5" dirty="0">
                <a:solidFill>
                  <a:srgbClr val="990000"/>
                </a:solidFill>
                <a:latin typeface="Courier New"/>
                <a:cs typeface="Courier New"/>
              </a:rPr>
              <a:t>x</a:t>
            </a:r>
            <a:r>
              <a:rPr sz="1600" b="1" dirty="0">
                <a:solidFill>
                  <a:srgbClr val="990000"/>
                </a:solidFill>
                <a:latin typeface="Courier New"/>
                <a:cs typeface="Courier New"/>
              </a:rPr>
              <a:t> </a:t>
            </a:r>
            <a:r>
              <a:rPr sz="1600" b="1" spc="-5" dirty="0">
                <a:solidFill>
                  <a:srgbClr val="990000"/>
                </a:solidFill>
                <a:latin typeface="Courier New"/>
                <a:cs typeface="Courier New"/>
              </a:rPr>
              <a:t>n</a:t>
            </a:r>
            <a:r>
              <a:rPr sz="1600" b="1" spc="10" dirty="0">
                <a:solidFill>
                  <a:srgbClr val="990000"/>
                </a:solidFill>
                <a:latin typeface="Courier New"/>
                <a:cs typeface="Courier New"/>
              </a:rPr>
              <a:t> </a:t>
            </a:r>
            <a:r>
              <a:rPr sz="1600" b="1" spc="0" dirty="0">
                <a:solidFill>
                  <a:srgbClr val="990000"/>
                </a:solidFill>
                <a:latin typeface="Courier New"/>
                <a:cs typeface="Courier New"/>
              </a:rPr>
              <a:t>m</a:t>
            </a:r>
            <a:r>
              <a:rPr sz="1600" b="1" spc="-5" dirty="0">
                <a:solidFill>
                  <a:srgbClr val="990000"/>
                </a:solidFill>
                <a:latin typeface="Courier New"/>
                <a:cs typeface="Courier New"/>
              </a:rPr>
              <a:t>atri</a:t>
            </a:r>
            <a:r>
              <a:rPr sz="1600" b="1" spc="0" dirty="0">
                <a:solidFill>
                  <a:srgbClr val="990000"/>
                </a:solidFill>
                <a:latin typeface="Courier New"/>
                <a:cs typeface="Courier New"/>
              </a:rPr>
              <a:t>c</a:t>
            </a:r>
            <a:r>
              <a:rPr sz="1600" b="1" spc="-5" dirty="0">
                <a:solidFill>
                  <a:srgbClr val="990000"/>
                </a:solidFill>
                <a:latin typeface="Courier New"/>
                <a:cs typeface="Courier New"/>
              </a:rPr>
              <a:t>es</a:t>
            </a:r>
            <a:r>
              <a:rPr sz="1600" b="1" dirty="0">
                <a:solidFill>
                  <a:srgbClr val="990000"/>
                </a:solidFill>
                <a:latin typeface="Courier New"/>
                <a:cs typeface="Courier New"/>
              </a:rPr>
              <a:t> </a:t>
            </a:r>
            <a:r>
              <a:rPr sz="1600" b="1" spc="-5" dirty="0">
                <a:solidFill>
                  <a:srgbClr val="990000"/>
                </a:solidFill>
                <a:latin typeface="Courier New"/>
                <a:cs typeface="Courier New"/>
              </a:rPr>
              <a:t>a</a:t>
            </a:r>
            <a:r>
              <a:rPr sz="1600" b="1" dirty="0">
                <a:solidFill>
                  <a:srgbClr val="990000"/>
                </a:solidFill>
                <a:latin typeface="Courier New"/>
                <a:cs typeface="Courier New"/>
              </a:rPr>
              <a:t> </a:t>
            </a:r>
            <a:r>
              <a:rPr sz="1600" b="1" spc="-5" dirty="0">
                <a:solidFill>
                  <a:srgbClr val="990000"/>
                </a:solidFill>
                <a:latin typeface="Courier New"/>
                <a:cs typeface="Courier New"/>
              </a:rPr>
              <a:t>a</a:t>
            </a:r>
            <a:r>
              <a:rPr sz="1600" b="1" spc="0" dirty="0">
                <a:solidFill>
                  <a:srgbClr val="990000"/>
                </a:solidFill>
                <a:latin typeface="Courier New"/>
                <a:cs typeface="Courier New"/>
              </a:rPr>
              <a:t>n</a:t>
            </a:r>
            <a:r>
              <a:rPr sz="1600" b="1" spc="-5" dirty="0">
                <a:solidFill>
                  <a:srgbClr val="990000"/>
                </a:solidFill>
                <a:latin typeface="Courier New"/>
                <a:cs typeface="Courier New"/>
              </a:rPr>
              <a:t>d</a:t>
            </a:r>
            <a:r>
              <a:rPr sz="1600" b="1" dirty="0">
                <a:solidFill>
                  <a:srgbClr val="990000"/>
                </a:solidFill>
                <a:latin typeface="Courier New"/>
                <a:cs typeface="Courier New"/>
              </a:rPr>
              <a:t> </a:t>
            </a:r>
            <a:r>
              <a:rPr sz="1600" b="1" spc="-5" dirty="0">
                <a:solidFill>
                  <a:srgbClr val="990000"/>
                </a:solidFill>
                <a:latin typeface="Courier New"/>
                <a:cs typeface="Courier New"/>
              </a:rPr>
              <a:t>b</a:t>
            </a:r>
            <a:r>
              <a:rPr sz="1600" b="1" dirty="0">
                <a:solidFill>
                  <a:srgbClr val="990000"/>
                </a:solidFill>
                <a:latin typeface="Courier New"/>
                <a:cs typeface="Courier New"/>
              </a:rPr>
              <a:t>	</a:t>
            </a:r>
            <a:r>
              <a:rPr sz="1600" b="1" spc="-5" dirty="0">
                <a:solidFill>
                  <a:srgbClr val="990000"/>
                </a:solidFill>
                <a:latin typeface="Courier New"/>
                <a:cs typeface="Courier New"/>
              </a:rPr>
              <a:t>*/</a:t>
            </a:r>
            <a:endParaRPr sz="1600">
              <a:latin typeface="Courier New"/>
              <a:cs typeface="Courier New"/>
            </a:endParaRPr>
          </a:p>
          <a:p>
            <a:pPr marL="571500" marR="680085" indent="-487680">
              <a:lnSpc>
                <a:spcPct val="100000"/>
              </a:lnSpc>
            </a:pPr>
            <a:r>
              <a:rPr sz="1600" b="1" spc="-5" dirty="0">
                <a:latin typeface="Courier New"/>
                <a:cs typeface="Courier New"/>
              </a:rPr>
              <a:t>void</a:t>
            </a:r>
            <a:r>
              <a:rPr sz="1600" b="1" spc="5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m</a:t>
            </a:r>
            <a:r>
              <a:rPr sz="1600" b="1" spc="0" dirty="0">
                <a:latin typeface="Courier New"/>
                <a:cs typeface="Courier New"/>
              </a:rPr>
              <a:t>m</a:t>
            </a:r>
            <a:r>
              <a:rPr sz="1600" b="1" spc="-5" dirty="0">
                <a:latin typeface="Courier New"/>
                <a:cs typeface="Courier New"/>
              </a:rPr>
              <a:t>m(do</a:t>
            </a:r>
            <a:r>
              <a:rPr sz="1600" b="1" spc="0" dirty="0">
                <a:latin typeface="Courier New"/>
                <a:cs typeface="Courier New"/>
              </a:rPr>
              <a:t>u</a:t>
            </a:r>
            <a:r>
              <a:rPr sz="1600" b="1" spc="-5" dirty="0">
                <a:latin typeface="Courier New"/>
                <a:cs typeface="Courier New"/>
              </a:rPr>
              <a:t>ble</a:t>
            </a:r>
            <a:r>
              <a:rPr sz="1600" b="1" spc="5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*a,</a:t>
            </a:r>
            <a:r>
              <a:rPr sz="1600" b="1" spc="10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dou</a:t>
            </a:r>
            <a:r>
              <a:rPr sz="1600" b="1" spc="0" dirty="0">
                <a:latin typeface="Courier New"/>
                <a:cs typeface="Courier New"/>
              </a:rPr>
              <a:t>b</a:t>
            </a:r>
            <a:r>
              <a:rPr sz="1600" b="1" spc="-5" dirty="0">
                <a:latin typeface="Courier New"/>
                <a:cs typeface="Courier New"/>
              </a:rPr>
              <a:t>le</a:t>
            </a:r>
            <a:r>
              <a:rPr sz="1600" b="1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*b,</a:t>
            </a:r>
            <a:r>
              <a:rPr sz="1600" b="1" spc="20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doub</a:t>
            </a:r>
            <a:r>
              <a:rPr sz="1600" b="1" spc="0" dirty="0">
                <a:latin typeface="Courier New"/>
                <a:cs typeface="Courier New"/>
              </a:rPr>
              <a:t>l</a:t>
            </a:r>
            <a:r>
              <a:rPr sz="1600" b="1" spc="-5" dirty="0">
                <a:latin typeface="Courier New"/>
                <a:cs typeface="Courier New"/>
              </a:rPr>
              <a:t>e</a:t>
            </a:r>
            <a:r>
              <a:rPr sz="1600" b="1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*c,</a:t>
            </a:r>
            <a:r>
              <a:rPr sz="1600" b="1" dirty="0">
                <a:latin typeface="Courier New"/>
                <a:cs typeface="Courier New"/>
              </a:rPr>
              <a:t> </a:t>
            </a:r>
            <a:r>
              <a:rPr sz="1600" b="1" spc="0" dirty="0">
                <a:latin typeface="Courier New"/>
                <a:cs typeface="Courier New"/>
              </a:rPr>
              <a:t>i</a:t>
            </a:r>
            <a:r>
              <a:rPr sz="1600" b="1" spc="-5" dirty="0">
                <a:latin typeface="Courier New"/>
                <a:cs typeface="Courier New"/>
              </a:rPr>
              <a:t>nt</a:t>
            </a:r>
            <a:r>
              <a:rPr sz="1600" b="1" spc="10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n)</a:t>
            </a:r>
            <a:r>
              <a:rPr sz="1600" b="1" spc="10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{ int</a:t>
            </a:r>
            <a:r>
              <a:rPr sz="1600" b="1" spc="20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i,</a:t>
            </a:r>
            <a:r>
              <a:rPr sz="1600" b="1" dirty="0">
                <a:latin typeface="Courier New"/>
                <a:cs typeface="Courier New"/>
              </a:rPr>
              <a:t> </a:t>
            </a:r>
            <a:r>
              <a:rPr sz="1600" b="1" spc="0" dirty="0">
                <a:latin typeface="Courier New"/>
                <a:cs typeface="Courier New"/>
              </a:rPr>
              <a:t>j</a:t>
            </a:r>
            <a:r>
              <a:rPr sz="1600" b="1" spc="-5" dirty="0">
                <a:latin typeface="Courier New"/>
                <a:cs typeface="Courier New"/>
              </a:rPr>
              <a:t>,</a:t>
            </a:r>
            <a:r>
              <a:rPr sz="1600" b="1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k;</a:t>
            </a:r>
            <a:endParaRPr sz="1600">
              <a:latin typeface="Courier New"/>
              <a:cs typeface="Courier New"/>
            </a:endParaRPr>
          </a:p>
          <a:p>
            <a:pPr marL="999490" marR="3066415" indent="-427990">
              <a:lnSpc>
                <a:spcPct val="100000"/>
              </a:lnSpc>
            </a:pPr>
            <a:r>
              <a:rPr sz="1600" b="1" spc="-5" dirty="0">
                <a:latin typeface="Courier New"/>
                <a:cs typeface="Courier New"/>
              </a:rPr>
              <a:t>for</a:t>
            </a:r>
            <a:r>
              <a:rPr sz="1600" b="1" spc="10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(i</a:t>
            </a:r>
            <a:r>
              <a:rPr sz="1600" b="1" spc="10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=</a:t>
            </a:r>
            <a:r>
              <a:rPr sz="1600" b="1" spc="10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0;</a:t>
            </a:r>
            <a:r>
              <a:rPr sz="1600" b="1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i</a:t>
            </a:r>
            <a:r>
              <a:rPr sz="1600" b="1" spc="5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&lt;</a:t>
            </a:r>
            <a:r>
              <a:rPr sz="1600" b="1" spc="10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n;</a:t>
            </a:r>
            <a:r>
              <a:rPr sz="1600" b="1" dirty="0">
                <a:latin typeface="Courier New"/>
                <a:cs typeface="Courier New"/>
              </a:rPr>
              <a:t> </a:t>
            </a:r>
            <a:r>
              <a:rPr sz="1600" b="1" spc="5" dirty="0">
                <a:latin typeface="Courier New"/>
                <a:cs typeface="Courier New"/>
              </a:rPr>
              <a:t>i</a:t>
            </a:r>
            <a:r>
              <a:rPr sz="1600" b="1" spc="-5" dirty="0">
                <a:latin typeface="Courier New"/>
                <a:cs typeface="Courier New"/>
              </a:rPr>
              <a:t>++) for</a:t>
            </a:r>
            <a:r>
              <a:rPr sz="1600" b="1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(j</a:t>
            </a:r>
            <a:r>
              <a:rPr sz="1600" b="1" spc="10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=</a:t>
            </a:r>
            <a:r>
              <a:rPr sz="1600" b="1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0;</a:t>
            </a:r>
            <a:r>
              <a:rPr sz="1600" b="1" spc="10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j</a:t>
            </a:r>
            <a:r>
              <a:rPr sz="1600" b="1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&lt;</a:t>
            </a:r>
            <a:r>
              <a:rPr sz="1600" b="1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n;</a:t>
            </a:r>
            <a:r>
              <a:rPr sz="1600" b="1" spc="10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j++)</a:t>
            </a:r>
            <a:endParaRPr sz="1600">
              <a:latin typeface="Courier New"/>
              <a:cs typeface="Courier New"/>
            </a:endParaRPr>
          </a:p>
          <a:p>
            <a:pPr marL="1671955">
              <a:lnSpc>
                <a:spcPct val="100000"/>
              </a:lnSpc>
            </a:pPr>
            <a:r>
              <a:rPr sz="1600" b="1" spc="-5" dirty="0">
                <a:latin typeface="Courier New"/>
                <a:cs typeface="Courier New"/>
              </a:rPr>
              <a:t>for (k</a:t>
            </a:r>
            <a:r>
              <a:rPr sz="1600" b="1" spc="10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=</a:t>
            </a:r>
            <a:r>
              <a:rPr sz="1600" b="1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0;</a:t>
            </a:r>
            <a:r>
              <a:rPr sz="1600" b="1" spc="10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k</a:t>
            </a:r>
            <a:r>
              <a:rPr sz="1600" b="1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&lt;</a:t>
            </a:r>
            <a:r>
              <a:rPr sz="1600" b="1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n;</a:t>
            </a:r>
            <a:r>
              <a:rPr sz="1600" b="1" spc="10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k++)</a:t>
            </a:r>
            <a:endParaRPr sz="1600">
              <a:latin typeface="Courier New"/>
              <a:cs typeface="Courier New"/>
            </a:endParaRPr>
          </a:p>
          <a:p>
            <a:pPr marL="2097405">
              <a:lnSpc>
                <a:spcPct val="100000"/>
              </a:lnSpc>
            </a:pPr>
            <a:r>
              <a:rPr sz="1600" b="1" spc="-5" dirty="0">
                <a:latin typeface="Courier New"/>
                <a:cs typeface="Courier New"/>
              </a:rPr>
              <a:t>c[</a:t>
            </a:r>
            <a:r>
              <a:rPr sz="1600" b="1" spc="10" dirty="0">
                <a:latin typeface="Courier New"/>
                <a:cs typeface="Courier New"/>
              </a:rPr>
              <a:t>i</a:t>
            </a:r>
            <a:r>
              <a:rPr sz="1600" b="1" spc="-5" dirty="0">
                <a:latin typeface="Courier New"/>
                <a:cs typeface="Courier New"/>
              </a:rPr>
              <a:t>*n</a:t>
            </a:r>
            <a:r>
              <a:rPr sz="1600" b="1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+</a:t>
            </a:r>
            <a:r>
              <a:rPr sz="1600" b="1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j]</a:t>
            </a:r>
            <a:r>
              <a:rPr sz="1600" b="1" spc="10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+=</a:t>
            </a:r>
            <a:r>
              <a:rPr sz="1600" b="1" dirty="0">
                <a:latin typeface="Courier New"/>
                <a:cs typeface="Courier New"/>
              </a:rPr>
              <a:t> </a:t>
            </a:r>
            <a:r>
              <a:rPr sz="1600" b="1" spc="0" dirty="0">
                <a:latin typeface="Courier New"/>
                <a:cs typeface="Courier New"/>
              </a:rPr>
              <a:t>a</a:t>
            </a:r>
            <a:r>
              <a:rPr sz="1600" b="1" spc="-5" dirty="0">
                <a:latin typeface="Courier New"/>
                <a:cs typeface="Courier New"/>
              </a:rPr>
              <a:t>[</a:t>
            </a:r>
            <a:r>
              <a:rPr sz="1600" b="1" spc="0" dirty="0">
                <a:latin typeface="Courier New"/>
                <a:cs typeface="Courier New"/>
              </a:rPr>
              <a:t>i</a:t>
            </a:r>
            <a:r>
              <a:rPr sz="1600" b="1" spc="-5" dirty="0">
                <a:latin typeface="Courier New"/>
                <a:cs typeface="Courier New"/>
              </a:rPr>
              <a:t>*n</a:t>
            </a:r>
            <a:r>
              <a:rPr sz="1600" b="1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+</a:t>
            </a:r>
            <a:r>
              <a:rPr sz="1600" b="1" spc="15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k]</a:t>
            </a:r>
            <a:r>
              <a:rPr sz="1600" b="1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*</a:t>
            </a:r>
            <a:r>
              <a:rPr sz="1600" b="1" spc="10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b[k*n</a:t>
            </a:r>
            <a:r>
              <a:rPr sz="1600" b="1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+</a:t>
            </a:r>
            <a:r>
              <a:rPr sz="1600" b="1" spc="10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j];</a:t>
            </a:r>
            <a:endParaRPr sz="1600">
              <a:latin typeface="Courier New"/>
              <a:cs typeface="Courier New"/>
            </a:endParaRPr>
          </a:p>
          <a:p>
            <a:pPr marL="85090">
              <a:lnSpc>
                <a:spcPct val="100000"/>
              </a:lnSpc>
            </a:pPr>
            <a:r>
              <a:rPr sz="1600" b="1" spc="-5" dirty="0"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57018" y="394767"/>
            <a:ext cx="7592093" cy="843822"/>
          </a:xfrm>
          <a:prstGeom prst="rect">
            <a:avLst/>
          </a:prstGeom>
        </p:spPr>
        <p:txBody>
          <a:bodyPr vert="horz" wrap="square" lIns="0" tIns="287021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zh-CN" altLang="en-US" spc="-5" dirty="0"/>
              <a:t>高速缓存不命中分析</a:t>
            </a:r>
            <a:endParaRPr spc="-5" dirty="0"/>
          </a:p>
        </p:txBody>
      </p:sp>
      <p:sp>
        <p:nvSpPr>
          <p:cNvPr id="4" name="object 4"/>
          <p:cNvSpPr/>
          <p:nvPr/>
        </p:nvSpPr>
        <p:spPr>
          <a:xfrm>
            <a:off x="5710364" y="3687763"/>
            <a:ext cx="1143000" cy="1113155"/>
          </a:xfrm>
          <a:custGeom>
            <a:avLst/>
            <a:gdLst/>
            <a:ahLst/>
            <a:cxnLst/>
            <a:rect l="l" t="t" r="r" b="b"/>
            <a:pathLst>
              <a:path w="1143000" h="1113154">
                <a:moveTo>
                  <a:pt x="0" y="1112836"/>
                </a:moveTo>
                <a:lnTo>
                  <a:pt x="1143000" y="1112836"/>
                </a:lnTo>
                <a:lnTo>
                  <a:pt x="1143000" y="0"/>
                </a:lnTo>
                <a:lnTo>
                  <a:pt x="0" y="0"/>
                </a:lnTo>
                <a:lnTo>
                  <a:pt x="0" y="1112836"/>
                </a:lnTo>
                <a:close/>
              </a:path>
            </a:pathLst>
          </a:custGeom>
          <a:solidFill>
            <a:srgbClr val="DADA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342065" y="3657600"/>
            <a:ext cx="1111885" cy="1143000"/>
          </a:xfrm>
          <a:custGeom>
            <a:avLst/>
            <a:gdLst/>
            <a:ahLst/>
            <a:cxnLst/>
            <a:rect l="l" t="t" r="r" b="b"/>
            <a:pathLst>
              <a:path w="1111884" h="1143000">
                <a:moveTo>
                  <a:pt x="0" y="1143000"/>
                </a:moveTo>
                <a:lnTo>
                  <a:pt x="1111498" y="1143000"/>
                </a:lnTo>
                <a:lnTo>
                  <a:pt x="1111498" y="0"/>
                </a:lnTo>
                <a:lnTo>
                  <a:pt x="0" y="0"/>
                </a:lnTo>
                <a:lnTo>
                  <a:pt x="0" y="1143000"/>
                </a:lnTo>
                <a:close/>
              </a:path>
            </a:pathLst>
          </a:custGeom>
          <a:solidFill>
            <a:srgbClr val="DADA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10366" y="3657601"/>
            <a:ext cx="1143000" cy="1905"/>
          </a:xfrm>
          <a:custGeom>
            <a:avLst/>
            <a:gdLst/>
            <a:ahLst/>
            <a:cxnLst/>
            <a:rect l="l" t="t" r="r" b="b"/>
            <a:pathLst>
              <a:path w="1143000" h="1904">
                <a:moveTo>
                  <a:pt x="0" y="0"/>
                </a:moveTo>
                <a:lnTo>
                  <a:pt x="1143000" y="1587"/>
                </a:lnTo>
              </a:path>
            </a:pathLst>
          </a:custGeom>
          <a:ln w="5715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311903" y="3657600"/>
            <a:ext cx="1905" cy="1143000"/>
          </a:xfrm>
          <a:custGeom>
            <a:avLst/>
            <a:gdLst/>
            <a:ahLst/>
            <a:cxnLst/>
            <a:rect l="l" t="t" r="r" b="b"/>
            <a:pathLst>
              <a:path w="1904" h="1143000">
                <a:moveTo>
                  <a:pt x="1587" y="0"/>
                </a:moveTo>
                <a:lnTo>
                  <a:pt x="0" y="1143000"/>
                </a:lnTo>
              </a:path>
            </a:pathLst>
          </a:custGeom>
          <a:ln w="5715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925239" y="3657600"/>
            <a:ext cx="1143000" cy="1143000"/>
          </a:xfrm>
          <a:custGeom>
            <a:avLst/>
            <a:gdLst/>
            <a:ahLst/>
            <a:cxnLst/>
            <a:rect l="l" t="t" r="r" b="b"/>
            <a:pathLst>
              <a:path w="1143000" h="1143000">
                <a:moveTo>
                  <a:pt x="0" y="0"/>
                </a:moveTo>
                <a:lnTo>
                  <a:pt x="1143000" y="0"/>
                </a:lnTo>
                <a:lnTo>
                  <a:pt x="1143000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solidFill>
            <a:srgbClr val="DADA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925239" y="36576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76200" y="0"/>
                </a:lnTo>
                <a:lnTo>
                  <a:pt x="762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298309" y="3279219"/>
            <a:ext cx="1143000" cy="226060"/>
          </a:xfrm>
          <a:custGeom>
            <a:avLst/>
            <a:gdLst/>
            <a:ahLst/>
            <a:cxnLst/>
            <a:rect l="l" t="t" r="r" b="b"/>
            <a:pathLst>
              <a:path w="1143000" h="226060">
                <a:moveTo>
                  <a:pt x="1142955" y="225980"/>
                </a:moveTo>
                <a:lnTo>
                  <a:pt x="1129841" y="182057"/>
                </a:lnTo>
                <a:lnTo>
                  <a:pt x="1094023" y="146021"/>
                </a:lnTo>
                <a:lnTo>
                  <a:pt x="1055443" y="126290"/>
                </a:lnTo>
                <a:lnTo>
                  <a:pt x="1009298" y="114466"/>
                </a:lnTo>
                <a:lnTo>
                  <a:pt x="742905" y="111680"/>
                </a:lnTo>
                <a:lnTo>
                  <a:pt x="725615" y="111106"/>
                </a:lnTo>
                <a:lnTo>
                  <a:pt x="677023" y="102938"/>
                </a:lnTo>
                <a:lnTo>
                  <a:pt x="635084" y="86256"/>
                </a:lnTo>
                <a:lnTo>
                  <a:pt x="602030" y="62548"/>
                </a:lnTo>
                <a:lnTo>
                  <a:pt x="575634" y="22577"/>
                </a:lnTo>
                <a:lnTo>
                  <a:pt x="571500" y="0"/>
                </a:lnTo>
                <a:lnTo>
                  <a:pt x="570619" y="11147"/>
                </a:lnTo>
                <a:lnTo>
                  <a:pt x="551057" y="52379"/>
                </a:lnTo>
                <a:lnTo>
                  <a:pt x="521904" y="78097"/>
                </a:lnTo>
                <a:lnTo>
                  <a:pt x="482867" y="97555"/>
                </a:lnTo>
                <a:lnTo>
                  <a:pt x="436220" y="109132"/>
                </a:lnTo>
                <a:lnTo>
                  <a:pt x="171405" y="111680"/>
                </a:lnTo>
                <a:lnTo>
                  <a:pt x="154115" y="112254"/>
                </a:lnTo>
                <a:lnTo>
                  <a:pt x="105523" y="120423"/>
                </a:lnTo>
                <a:lnTo>
                  <a:pt x="63584" y="137105"/>
                </a:lnTo>
                <a:lnTo>
                  <a:pt x="30530" y="160813"/>
                </a:lnTo>
                <a:lnTo>
                  <a:pt x="4134" y="200784"/>
                </a:lnTo>
                <a:lnTo>
                  <a:pt x="1243" y="211902"/>
                </a:lnTo>
                <a:lnTo>
                  <a:pt x="0" y="223361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75615" y="1311783"/>
            <a:ext cx="7470775" cy="2754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990000"/>
              </a:buClr>
              <a:buSzPct val="60416"/>
              <a:buFont typeface="Wingdings 2"/>
              <a:buChar char=""/>
              <a:tabLst>
                <a:tab pos="355600" algn="l"/>
              </a:tabLst>
            </a:pPr>
            <a:r>
              <a:rPr lang="zh-CN" altLang="en-US" sz="2400" b="1" spc="-5" dirty="0">
                <a:latin typeface="Calibri"/>
                <a:cs typeface="Calibri"/>
              </a:rPr>
              <a:t>假设</a:t>
            </a:r>
            <a:r>
              <a:rPr sz="2400" b="1" spc="-5" dirty="0">
                <a:latin typeface="Calibri"/>
                <a:cs typeface="Calibri"/>
              </a:rPr>
              <a:t>:</a:t>
            </a:r>
            <a:endParaRPr sz="2400" dirty="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505"/>
              </a:spcBef>
              <a:buClr>
                <a:srgbClr val="990000"/>
              </a:buClr>
              <a:buSzPct val="110000"/>
              <a:buFont typeface="Wingdings"/>
              <a:buChar char=""/>
              <a:tabLst>
                <a:tab pos="756920" algn="l"/>
              </a:tabLst>
            </a:pPr>
            <a:r>
              <a:rPr lang="zh-CN" altLang="en-US" sz="2000" dirty="0">
                <a:latin typeface="Calibri"/>
                <a:cs typeface="Calibri"/>
              </a:rPr>
              <a:t>矩阵元素都是</a:t>
            </a:r>
            <a:r>
              <a:rPr sz="2000" dirty="0">
                <a:latin typeface="Calibri"/>
                <a:cs typeface="Calibri"/>
              </a:rPr>
              <a:t>d</a:t>
            </a:r>
            <a:r>
              <a:rPr sz="2000" spc="-5" dirty="0">
                <a:latin typeface="Calibri"/>
                <a:cs typeface="Calibri"/>
              </a:rPr>
              <a:t>o</a:t>
            </a:r>
            <a:r>
              <a:rPr sz="2000" dirty="0">
                <a:latin typeface="Calibri"/>
                <a:cs typeface="Calibri"/>
              </a:rPr>
              <a:t>ub</a:t>
            </a:r>
            <a:r>
              <a:rPr sz="2000" spc="-5" dirty="0">
                <a:latin typeface="Calibri"/>
                <a:cs typeface="Calibri"/>
              </a:rPr>
              <a:t>le</a:t>
            </a:r>
            <a:r>
              <a:rPr lang="zh-CN" altLang="en-US" sz="2000" spc="-5" dirty="0">
                <a:latin typeface="Calibri"/>
                <a:cs typeface="Calibri"/>
              </a:rPr>
              <a:t>类型</a:t>
            </a:r>
            <a:endParaRPr sz="2000" dirty="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lr>
                <a:srgbClr val="990000"/>
              </a:buClr>
              <a:buSzPct val="110000"/>
              <a:buFont typeface="Wingdings"/>
              <a:buChar char=""/>
              <a:tabLst>
                <a:tab pos="756920" algn="l"/>
              </a:tabLst>
            </a:pPr>
            <a:r>
              <a:rPr lang="zh-CN" altLang="en-US" sz="2000" dirty="0">
                <a:latin typeface="Calibri"/>
                <a:cs typeface="Calibri"/>
              </a:rPr>
              <a:t>高速缓存块 </a:t>
            </a:r>
            <a:r>
              <a:rPr sz="2000" dirty="0">
                <a:latin typeface="Calibri"/>
                <a:cs typeface="Calibri"/>
              </a:rPr>
              <a:t>= 8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</a:t>
            </a:r>
            <a:r>
              <a:rPr sz="2000" spc="-5" dirty="0">
                <a:latin typeface="Calibri"/>
                <a:cs typeface="Calibri"/>
              </a:rPr>
              <a:t>o</a:t>
            </a:r>
            <a:r>
              <a:rPr sz="2000" dirty="0">
                <a:latin typeface="Calibri"/>
                <a:cs typeface="Calibri"/>
              </a:rPr>
              <a:t>ub</a:t>
            </a:r>
            <a:r>
              <a:rPr sz="2000" spc="-5" dirty="0">
                <a:latin typeface="Calibri"/>
                <a:cs typeface="Calibri"/>
              </a:rPr>
              <a:t>le</a:t>
            </a:r>
            <a:r>
              <a:rPr sz="2000" dirty="0">
                <a:latin typeface="Calibri"/>
                <a:cs typeface="Calibri"/>
              </a:rPr>
              <a:t>s</a:t>
            </a: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lr>
                <a:srgbClr val="990000"/>
              </a:buClr>
              <a:buSzPct val="110000"/>
              <a:buFont typeface="Wingdings"/>
              <a:buChar char=""/>
              <a:tabLst>
                <a:tab pos="756920" algn="l"/>
              </a:tabLst>
            </a:pPr>
            <a:r>
              <a:rPr lang="zh-CN" altLang="en-US" sz="2000" dirty="0">
                <a:latin typeface="Calibri"/>
                <a:cs typeface="Calibri"/>
              </a:rPr>
              <a:t>高速缓存大小 </a:t>
            </a:r>
            <a:r>
              <a:rPr sz="2000" dirty="0">
                <a:latin typeface="Calibri"/>
                <a:cs typeface="Calibri"/>
              </a:rPr>
              <a:t>C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&lt;</a:t>
            </a:r>
            <a:r>
              <a:rPr sz="2000" dirty="0">
                <a:latin typeface="Calibri"/>
                <a:cs typeface="Calibri"/>
              </a:rPr>
              <a:t>&lt;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n</a:t>
            </a:r>
            <a:r>
              <a:rPr sz="2000" i="1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</a:t>
            </a:r>
            <a:r>
              <a:rPr lang="zh-CN" altLang="en-US" sz="2000" dirty="0">
                <a:latin typeface="Calibri"/>
                <a:cs typeface="Calibri"/>
              </a:rPr>
              <a:t>远小于 </a:t>
            </a:r>
            <a:r>
              <a:rPr sz="2000" i="1" dirty="0">
                <a:latin typeface="Calibri"/>
                <a:cs typeface="Calibri"/>
              </a:rPr>
              <a:t>n</a:t>
            </a:r>
            <a:r>
              <a:rPr sz="2000" dirty="0">
                <a:latin typeface="Calibri"/>
                <a:cs typeface="Calibri"/>
              </a:rPr>
              <a:t>)</a:t>
            </a:r>
          </a:p>
          <a:p>
            <a:pPr marR="5080" algn="r">
              <a:lnSpc>
                <a:spcPts val="2155"/>
              </a:lnSpc>
              <a:spcBef>
                <a:spcPts val="1855"/>
              </a:spcBef>
            </a:pPr>
            <a:r>
              <a:rPr sz="1800" b="1" i="1" dirty="0">
                <a:latin typeface="Calibri"/>
                <a:cs typeface="Calibri"/>
              </a:rPr>
              <a:t>n</a:t>
            </a:r>
            <a:endParaRPr sz="1800" dirty="0">
              <a:latin typeface="Calibri"/>
              <a:cs typeface="Calibri"/>
            </a:endParaRPr>
          </a:p>
          <a:p>
            <a:pPr marL="355600" indent="-342900">
              <a:lnSpc>
                <a:spcPts val="2875"/>
              </a:lnSpc>
              <a:buClr>
                <a:srgbClr val="990000"/>
              </a:buClr>
              <a:buSzPct val="58333"/>
              <a:buFont typeface="Wingdings 2"/>
              <a:buChar char=""/>
              <a:tabLst>
                <a:tab pos="355600" algn="l"/>
              </a:tabLst>
            </a:pPr>
            <a:r>
              <a:rPr lang="zh-CN" altLang="en-US" sz="2400" b="1" spc="-10" dirty="0">
                <a:latin typeface="Calibri"/>
                <a:cs typeface="Calibri"/>
              </a:rPr>
              <a:t>第一次迭代</a:t>
            </a:r>
            <a:r>
              <a:rPr sz="2400" b="1" spc="-10" dirty="0">
                <a:latin typeface="Calibri"/>
                <a:cs typeface="Calibri"/>
              </a:rPr>
              <a:t>:</a:t>
            </a:r>
            <a:endParaRPr sz="2400" dirty="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505"/>
              </a:spcBef>
              <a:buClr>
                <a:srgbClr val="990000"/>
              </a:buClr>
              <a:buSzPct val="110000"/>
              <a:buFont typeface="Wingdings"/>
              <a:buChar char=""/>
              <a:tabLst>
                <a:tab pos="756920" algn="l"/>
              </a:tabLst>
            </a:pPr>
            <a:r>
              <a:rPr sz="2000" i="1" dirty="0">
                <a:latin typeface="Calibri"/>
                <a:cs typeface="Calibri"/>
              </a:rPr>
              <a:t>n</a:t>
            </a:r>
            <a:r>
              <a:rPr sz="2000" spc="5" dirty="0">
                <a:latin typeface="Calibri"/>
                <a:cs typeface="Calibri"/>
              </a:rPr>
              <a:t>/</a:t>
            </a:r>
            <a:r>
              <a:rPr sz="2000" dirty="0">
                <a:latin typeface="Calibri"/>
                <a:cs typeface="Calibri"/>
              </a:rPr>
              <a:t>8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+ n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= 9</a:t>
            </a:r>
            <a:r>
              <a:rPr sz="2000" i="1" dirty="0">
                <a:latin typeface="Calibri"/>
                <a:cs typeface="Calibri"/>
              </a:rPr>
              <a:t>n</a:t>
            </a:r>
            <a:r>
              <a:rPr sz="2000" spc="5" dirty="0">
                <a:latin typeface="Calibri"/>
                <a:cs typeface="Calibri"/>
              </a:rPr>
              <a:t>/</a:t>
            </a:r>
            <a:r>
              <a:rPr sz="2000" dirty="0">
                <a:latin typeface="Calibri"/>
                <a:cs typeface="Calibri"/>
              </a:rPr>
              <a:t>8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lang="zh-CN" altLang="en-US" sz="2000" spc="-30" dirty="0">
                <a:latin typeface="Calibri"/>
                <a:cs typeface="Calibri"/>
              </a:rPr>
              <a:t>不命中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32814" y="4753656"/>
            <a:ext cx="2437765" cy="6155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9085" marR="5080" indent="-286385">
              <a:lnSpc>
                <a:spcPct val="100000"/>
              </a:lnSpc>
              <a:buClr>
                <a:srgbClr val="990000"/>
              </a:buClr>
              <a:buSzPct val="110000"/>
              <a:buFont typeface="Wingdings"/>
              <a:buChar char=""/>
              <a:tabLst>
                <a:tab pos="299720" algn="l"/>
              </a:tabLst>
            </a:pPr>
            <a:r>
              <a:rPr lang="zh-CN" altLang="en-US" sz="2000" spc="-5" dirty="0">
                <a:solidFill>
                  <a:srgbClr val="C00000"/>
                </a:solidFill>
                <a:latin typeface="Calibri"/>
                <a:cs typeface="Calibri"/>
              </a:rPr>
              <a:t>缓存后</a:t>
            </a:r>
            <a:r>
              <a:rPr sz="2000" dirty="0">
                <a:solidFill>
                  <a:srgbClr val="C00000"/>
                </a:solidFill>
                <a:latin typeface="Calibri"/>
                <a:cs typeface="Calibri"/>
              </a:rPr>
              <a:t>: </a:t>
            </a:r>
            <a:endParaRPr lang="en-US" sz="2000" dirty="0">
              <a:solidFill>
                <a:srgbClr val="C00000"/>
              </a:solidFill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buClr>
                <a:srgbClr val="990000"/>
              </a:buClr>
              <a:buSzPct val="110000"/>
              <a:tabLst>
                <a:tab pos="299720" algn="l"/>
              </a:tabLst>
            </a:pPr>
            <a:r>
              <a:rPr sz="2000" dirty="0">
                <a:latin typeface="Calibri"/>
                <a:cs typeface="Calibri"/>
              </a:rPr>
              <a:t>(</a:t>
            </a:r>
            <a:r>
              <a:rPr lang="zh-CN" altLang="en-US" sz="2000" dirty="0">
                <a:latin typeface="Calibri"/>
                <a:cs typeface="Calibri"/>
              </a:rPr>
              <a:t>示意图</a:t>
            </a:r>
            <a:r>
              <a:rPr sz="2000" dirty="0">
                <a:latin typeface="Calibri"/>
                <a:cs typeface="Calibri"/>
              </a:rPr>
              <a:t>)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974438" y="4071239"/>
            <a:ext cx="212725" cy="432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>
                <a:latin typeface="Calibri"/>
                <a:cs typeface="Calibri"/>
              </a:rPr>
              <a:t>x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270224" y="4071239"/>
            <a:ext cx="228600" cy="432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>
                <a:latin typeface="Calibri"/>
                <a:cs typeface="Calibri"/>
              </a:rPr>
              <a:t>=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715000" y="5287963"/>
            <a:ext cx="1143000" cy="1113155"/>
          </a:xfrm>
          <a:custGeom>
            <a:avLst/>
            <a:gdLst/>
            <a:ahLst/>
            <a:cxnLst/>
            <a:rect l="l" t="t" r="r" b="b"/>
            <a:pathLst>
              <a:path w="1143000" h="1113154">
                <a:moveTo>
                  <a:pt x="0" y="1112836"/>
                </a:moveTo>
                <a:lnTo>
                  <a:pt x="1143000" y="1112836"/>
                </a:lnTo>
                <a:lnTo>
                  <a:pt x="1143000" y="0"/>
                </a:lnTo>
                <a:lnTo>
                  <a:pt x="0" y="0"/>
                </a:lnTo>
                <a:lnTo>
                  <a:pt x="0" y="1112836"/>
                </a:lnTo>
                <a:close/>
              </a:path>
            </a:pathLst>
          </a:custGeom>
          <a:solidFill>
            <a:srgbClr val="DADA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346698" y="5257800"/>
            <a:ext cx="1111885" cy="1143000"/>
          </a:xfrm>
          <a:custGeom>
            <a:avLst/>
            <a:gdLst/>
            <a:ahLst/>
            <a:cxnLst/>
            <a:rect l="l" t="t" r="r" b="b"/>
            <a:pathLst>
              <a:path w="1111884" h="1143000">
                <a:moveTo>
                  <a:pt x="0" y="1143000"/>
                </a:moveTo>
                <a:lnTo>
                  <a:pt x="1111501" y="1143000"/>
                </a:lnTo>
                <a:lnTo>
                  <a:pt x="1111501" y="0"/>
                </a:lnTo>
                <a:lnTo>
                  <a:pt x="0" y="0"/>
                </a:lnTo>
                <a:lnTo>
                  <a:pt x="0" y="1143000"/>
                </a:lnTo>
                <a:close/>
              </a:path>
            </a:pathLst>
          </a:custGeom>
          <a:solidFill>
            <a:srgbClr val="DADA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715000" y="5257801"/>
            <a:ext cx="1143000" cy="1905"/>
          </a:xfrm>
          <a:custGeom>
            <a:avLst/>
            <a:gdLst/>
            <a:ahLst/>
            <a:cxnLst/>
            <a:rect l="l" t="t" r="r" b="b"/>
            <a:pathLst>
              <a:path w="1143000" h="1904">
                <a:moveTo>
                  <a:pt x="0" y="0"/>
                </a:moveTo>
                <a:lnTo>
                  <a:pt x="1143000" y="1587"/>
                </a:lnTo>
              </a:path>
            </a:pathLst>
          </a:custGeom>
          <a:ln w="5715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316536" y="5257800"/>
            <a:ext cx="1905" cy="1143000"/>
          </a:xfrm>
          <a:custGeom>
            <a:avLst/>
            <a:gdLst/>
            <a:ahLst/>
            <a:cxnLst/>
            <a:rect l="l" t="t" r="r" b="b"/>
            <a:pathLst>
              <a:path w="1904" h="1143000">
                <a:moveTo>
                  <a:pt x="1587" y="0"/>
                </a:moveTo>
                <a:lnTo>
                  <a:pt x="0" y="1143000"/>
                </a:lnTo>
              </a:path>
            </a:pathLst>
          </a:custGeom>
          <a:ln w="5715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6979071" y="5696263"/>
            <a:ext cx="212725" cy="432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>
                <a:latin typeface="Calibri"/>
                <a:cs typeface="Calibri"/>
              </a:rPr>
              <a:t>x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929862" y="5257800"/>
            <a:ext cx="1143000" cy="1143000"/>
          </a:xfrm>
          <a:custGeom>
            <a:avLst/>
            <a:gdLst/>
            <a:ahLst/>
            <a:cxnLst/>
            <a:rect l="l" t="t" r="r" b="b"/>
            <a:pathLst>
              <a:path w="1143000" h="1143000">
                <a:moveTo>
                  <a:pt x="0" y="0"/>
                </a:moveTo>
                <a:lnTo>
                  <a:pt x="1143000" y="0"/>
                </a:lnTo>
                <a:lnTo>
                  <a:pt x="1143000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solidFill>
            <a:srgbClr val="DADA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5274857" y="5671439"/>
            <a:ext cx="228600" cy="432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>
                <a:latin typeface="Calibri"/>
                <a:cs typeface="Calibri"/>
              </a:rPr>
              <a:t>=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3929862" y="52578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76200" y="0"/>
                </a:lnTo>
                <a:lnTo>
                  <a:pt x="762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6477000" y="5257800"/>
            <a:ext cx="381000" cy="635"/>
          </a:xfrm>
          <a:custGeom>
            <a:avLst/>
            <a:gdLst/>
            <a:ahLst/>
            <a:cxnLst/>
            <a:rect l="l" t="t" r="r" b="b"/>
            <a:pathLst>
              <a:path w="381000" h="635">
                <a:moveTo>
                  <a:pt x="0" y="0"/>
                </a:moveTo>
                <a:lnTo>
                  <a:pt x="381000" y="533"/>
                </a:lnTo>
              </a:path>
            </a:pathLst>
          </a:custGeom>
          <a:ln w="5715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7292251" y="6155842"/>
            <a:ext cx="245745" cy="254000"/>
          </a:xfrm>
          <a:custGeom>
            <a:avLst/>
            <a:gdLst/>
            <a:ahLst/>
            <a:cxnLst/>
            <a:rect l="l" t="t" r="r" b="b"/>
            <a:pathLst>
              <a:path w="245745" h="254000">
                <a:moveTo>
                  <a:pt x="0" y="0"/>
                </a:moveTo>
                <a:lnTo>
                  <a:pt x="245529" y="0"/>
                </a:lnTo>
                <a:lnTo>
                  <a:pt x="245529" y="253428"/>
                </a:lnTo>
                <a:lnTo>
                  <a:pt x="0" y="253428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7173804" y="6466204"/>
            <a:ext cx="51752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dirty="0">
                <a:solidFill>
                  <a:srgbClr val="C00000"/>
                </a:solidFill>
                <a:latin typeface="Calibri"/>
                <a:cs typeface="Calibri"/>
              </a:rPr>
              <a:t>8</a:t>
            </a:r>
            <a:r>
              <a:rPr sz="1400" b="1" spc="-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400" b="1" spc="-5" dirty="0">
                <a:solidFill>
                  <a:srgbClr val="C00000"/>
                </a:solidFill>
                <a:latin typeface="Calibri"/>
                <a:cs typeface="Calibri"/>
              </a:rPr>
              <a:t>w</a:t>
            </a:r>
            <a:r>
              <a:rPr sz="1400" b="1" dirty="0">
                <a:solidFill>
                  <a:srgbClr val="C00000"/>
                </a:solidFill>
                <a:latin typeface="Calibri"/>
                <a:cs typeface="Calibri"/>
              </a:rPr>
              <a:t>ide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57018" y="394767"/>
            <a:ext cx="7592093" cy="843822"/>
          </a:xfrm>
          <a:prstGeom prst="rect">
            <a:avLst/>
          </a:prstGeom>
        </p:spPr>
        <p:txBody>
          <a:bodyPr vert="horz" wrap="square" lIns="0" tIns="287021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zh-CN" altLang="en-US" spc="-5" dirty="0"/>
              <a:t>高速缓存不命中分析</a:t>
            </a:r>
            <a:endParaRPr spc="-5" dirty="0"/>
          </a:p>
        </p:txBody>
      </p:sp>
      <p:sp>
        <p:nvSpPr>
          <p:cNvPr id="4" name="object 4"/>
          <p:cNvSpPr/>
          <p:nvPr/>
        </p:nvSpPr>
        <p:spPr>
          <a:xfrm>
            <a:off x="7298309" y="3279219"/>
            <a:ext cx="1143000" cy="226060"/>
          </a:xfrm>
          <a:custGeom>
            <a:avLst/>
            <a:gdLst/>
            <a:ahLst/>
            <a:cxnLst/>
            <a:rect l="l" t="t" r="r" b="b"/>
            <a:pathLst>
              <a:path w="1143000" h="226060">
                <a:moveTo>
                  <a:pt x="1142955" y="225980"/>
                </a:moveTo>
                <a:lnTo>
                  <a:pt x="1129841" y="182057"/>
                </a:lnTo>
                <a:lnTo>
                  <a:pt x="1094023" y="146021"/>
                </a:lnTo>
                <a:lnTo>
                  <a:pt x="1055443" y="126290"/>
                </a:lnTo>
                <a:lnTo>
                  <a:pt x="1009298" y="114466"/>
                </a:lnTo>
                <a:lnTo>
                  <a:pt x="742905" y="111680"/>
                </a:lnTo>
                <a:lnTo>
                  <a:pt x="725615" y="111106"/>
                </a:lnTo>
                <a:lnTo>
                  <a:pt x="677023" y="102938"/>
                </a:lnTo>
                <a:lnTo>
                  <a:pt x="635084" y="86256"/>
                </a:lnTo>
                <a:lnTo>
                  <a:pt x="602030" y="62548"/>
                </a:lnTo>
                <a:lnTo>
                  <a:pt x="575634" y="22577"/>
                </a:lnTo>
                <a:lnTo>
                  <a:pt x="571500" y="0"/>
                </a:lnTo>
                <a:lnTo>
                  <a:pt x="570619" y="11147"/>
                </a:lnTo>
                <a:lnTo>
                  <a:pt x="551057" y="52379"/>
                </a:lnTo>
                <a:lnTo>
                  <a:pt x="521904" y="78097"/>
                </a:lnTo>
                <a:lnTo>
                  <a:pt x="482867" y="97555"/>
                </a:lnTo>
                <a:lnTo>
                  <a:pt x="436220" y="109132"/>
                </a:lnTo>
                <a:lnTo>
                  <a:pt x="171405" y="111680"/>
                </a:lnTo>
                <a:lnTo>
                  <a:pt x="154115" y="112254"/>
                </a:lnTo>
                <a:lnTo>
                  <a:pt x="105523" y="120423"/>
                </a:lnTo>
                <a:lnTo>
                  <a:pt x="63584" y="137105"/>
                </a:lnTo>
                <a:lnTo>
                  <a:pt x="30530" y="160813"/>
                </a:lnTo>
                <a:lnTo>
                  <a:pt x="4134" y="200784"/>
                </a:lnTo>
                <a:lnTo>
                  <a:pt x="1243" y="211902"/>
                </a:lnTo>
                <a:lnTo>
                  <a:pt x="0" y="223361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75615" y="1311783"/>
            <a:ext cx="7473315" cy="23827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990000"/>
              </a:buClr>
              <a:buSzPct val="60416"/>
              <a:buFont typeface="Wingdings 2"/>
              <a:buChar char=""/>
              <a:tabLst>
                <a:tab pos="355600" algn="l"/>
              </a:tabLst>
            </a:pPr>
            <a:r>
              <a:rPr lang="zh-CN" altLang="en-US" sz="2400" b="1" spc="-5" dirty="0">
                <a:latin typeface="Calibri"/>
                <a:cs typeface="Calibri"/>
              </a:rPr>
              <a:t>假设</a:t>
            </a:r>
            <a:r>
              <a:rPr lang="en-US" altLang="zh-CN" sz="2400" b="1" spc="-5" dirty="0">
                <a:latin typeface="Calibri"/>
                <a:cs typeface="Calibri"/>
              </a:rPr>
              <a:t>:</a:t>
            </a:r>
            <a:endParaRPr lang="zh-CN" altLang="en-US" sz="2400" dirty="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505"/>
              </a:spcBef>
              <a:buClr>
                <a:srgbClr val="990000"/>
              </a:buClr>
              <a:buSzPct val="110000"/>
              <a:buFont typeface="Wingdings"/>
              <a:buChar char=""/>
              <a:tabLst>
                <a:tab pos="756920" algn="l"/>
              </a:tabLst>
            </a:pPr>
            <a:r>
              <a:rPr lang="zh-CN" altLang="en-US" sz="2000" dirty="0">
                <a:latin typeface="Calibri"/>
                <a:cs typeface="Calibri"/>
              </a:rPr>
              <a:t>矩阵元素都是</a:t>
            </a:r>
            <a:r>
              <a:rPr lang="en-US" altLang="zh-CN" sz="2000" dirty="0">
                <a:latin typeface="Calibri"/>
                <a:cs typeface="Calibri"/>
              </a:rPr>
              <a:t>d</a:t>
            </a:r>
            <a:r>
              <a:rPr lang="en-US" altLang="zh-CN" sz="2000" spc="-5" dirty="0">
                <a:latin typeface="Calibri"/>
                <a:cs typeface="Calibri"/>
              </a:rPr>
              <a:t>o</a:t>
            </a:r>
            <a:r>
              <a:rPr lang="en-US" altLang="zh-CN" sz="2000" dirty="0">
                <a:latin typeface="Calibri"/>
                <a:cs typeface="Calibri"/>
              </a:rPr>
              <a:t>ub</a:t>
            </a:r>
            <a:r>
              <a:rPr lang="en-US" altLang="zh-CN" sz="2000" spc="-5" dirty="0">
                <a:latin typeface="Calibri"/>
                <a:cs typeface="Calibri"/>
              </a:rPr>
              <a:t>le</a:t>
            </a:r>
            <a:r>
              <a:rPr lang="zh-CN" altLang="en-US" sz="2000" spc="-5" dirty="0">
                <a:latin typeface="Calibri"/>
                <a:cs typeface="Calibri"/>
              </a:rPr>
              <a:t>类型</a:t>
            </a:r>
            <a:endParaRPr lang="zh-CN" altLang="en-US" sz="2000" dirty="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lr>
                <a:srgbClr val="990000"/>
              </a:buClr>
              <a:buSzPct val="110000"/>
              <a:buFont typeface="Wingdings"/>
              <a:buChar char=""/>
              <a:tabLst>
                <a:tab pos="756920" algn="l"/>
              </a:tabLst>
            </a:pPr>
            <a:r>
              <a:rPr lang="zh-CN" altLang="en-US" sz="2000" dirty="0">
                <a:latin typeface="Calibri"/>
                <a:cs typeface="Calibri"/>
              </a:rPr>
              <a:t>高速缓存块 </a:t>
            </a:r>
            <a:r>
              <a:rPr lang="en-US" altLang="zh-CN" sz="2000" dirty="0">
                <a:latin typeface="Calibri"/>
                <a:cs typeface="Calibri"/>
              </a:rPr>
              <a:t>= 8</a:t>
            </a:r>
            <a:r>
              <a:rPr lang="zh-CN" altLang="en-US" sz="2000" spc="-5" dirty="0">
                <a:latin typeface="Calibri"/>
                <a:cs typeface="Calibri"/>
              </a:rPr>
              <a:t> </a:t>
            </a:r>
            <a:r>
              <a:rPr lang="en-US" altLang="zh-CN" sz="2000" dirty="0">
                <a:latin typeface="Calibri"/>
                <a:cs typeface="Calibri"/>
              </a:rPr>
              <a:t>d</a:t>
            </a:r>
            <a:r>
              <a:rPr lang="en-US" altLang="zh-CN" sz="2000" spc="-5" dirty="0">
                <a:latin typeface="Calibri"/>
                <a:cs typeface="Calibri"/>
              </a:rPr>
              <a:t>o</a:t>
            </a:r>
            <a:r>
              <a:rPr lang="en-US" altLang="zh-CN" sz="2000" dirty="0">
                <a:latin typeface="Calibri"/>
                <a:cs typeface="Calibri"/>
              </a:rPr>
              <a:t>ub</a:t>
            </a:r>
            <a:r>
              <a:rPr lang="en-US" altLang="zh-CN" sz="2000" spc="-5" dirty="0">
                <a:latin typeface="Calibri"/>
                <a:cs typeface="Calibri"/>
              </a:rPr>
              <a:t>le</a:t>
            </a:r>
            <a:r>
              <a:rPr lang="en-US" altLang="zh-CN" sz="2000" dirty="0">
                <a:latin typeface="Calibri"/>
                <a:cs typeface="Calibri"/>
              </a:rPr>
              <a:t>s</a:t>
            </a: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lr>
                <a:srgbClr val="990000"/>
              </a:buClr>
              <a:buSzPct val="110000"/>
              <a:buFont typeface="Wingdings"/>
              <a:buChar char=""/>
              <a:tabLst>
                <a:tab pos="756920" algn="l"/>
              </a:tabLst>
            </a:pPr>
            <a:r>
              <a:rPr lang="zh-CN" altLang="en-US" sz="2000" dirty="0">
                <a:latin typeface="Calibri"/>
                <a:cs typeface="Calibri"/>
              </a:rPr>
              <a:t>高速缓存大小 </a:t>
            </a:r>
            <a:r>
              <a:rPr lang="en-US" altLang="zh-CN" sz="2000" dirty="0">
                <a:latin typeface="Calibri"/>
                <a:cs typeface="Calibri"/>
              </a:rPr>
              <a:t>C</a:t>
            </a:r>
            <a:r>
              <a:rPr lang="en-US" altLang="zh-CN" sz="2000" spc="-10" dirty="0">
                <a:latin typeface="Calibri"/>
                <a:cs typeface="Calibri"/>
              </a:rPr>
              <a:t> </a:t>
            </a:r>
            <a:r>
              <a:rPr lang="en-US" altLang="zh-CN" sz="2000" spc="-5" dirty="0">
                <a:latin typeface="Calibri"/>
                <a:cs typeface="Calibri"/>
              </a:rPr>
              <a:t>&lt;</a:t>
            </a:r>
            <a:r>
              <a:rPr lang="en-US" altLang="zh-CN" sz="2000" dirty="0">
                <a:latin typeface="Calibri"/>
                <a:cs typeface="Calibri"/>
              </a:rPr>
              <a:t>&lt;</a:t>
            </a:r>
            <a:r>
              <a:rPr lang="en-US" altLang="zh-CN" sz="2000" spc="-5" dirty="0">
                <a:latin typeface="Calibri"/>
                <a:cs typeface="Calibri"/>
              </a:rPr>
              <a:t> </a:t>
            </a:r>
            <a:r>
              <a:rPr lang="en-US" altLang="zh-CN" sz="2000" i="1" dirty="0">
                <a:latin typeface="Calibri"/>
                <a:cs typeface="Calibri"/>
              </a:rPr>
              <a:t>n</a:t>
            </a:r>
            <a:r>
              <a:rPr lang="en-US" altLang="zh-CN" sz="2000" i="1" spc="-10" dirty="0">
                <a:latin typeface="Calibri"/>
                <a:cs typeface="Calibri"/>
              </a:rPr>
              <a:t> </a:t>
            </a:r>
            <a:r>
              <a:rPr lang="en-US" altLang="zh-CN" sz="2000" dirty="0">
                <a:latin typeface="Calibri"/>
                <a:cs typeface="Calibri"/>
              </a:rPr>
              <a:t>(</a:t>
            </a:r>
            <a:r>
              <a:rPr lang="zh-CN" altLang="en-US" sz="2000" dirty="0">
                <a:latin typeface="Calibri"/>
                <a:cs typeface="Calibri"/>
              </a:rPr>
              <a:t>远小于 </a:t>
            </a:r>
            <a:r>
              <a:rPr lang="en-US" altLang="zh-CN" sz="2000" i="1" dirty="0">
                <a:latin typeface="Calibri"/>
                <a:cs typeface="Calibri"/>
              </a:rPr>
              <a:t>n</a:t>
            </a:r>
            <a:r>
              <a:rPr lang="en-US" altLang="zh-CN" sz="2000" dirty="0">
                <a:latin typeface="Calibri"/>
                <a:cs typeface="Calibri"/>
              </a:rPr>
              <a:t>)</a:t>
            </a:r>
          </a:p>
          <a:p>
            <a:pPr marR="5080" algn="r">
              <a:lnSpc>
                <a:spcPts val="2155"/>
              </a:lnSpc>
              <a:spcBef>
                <a:spcPts val="1855"/>
              </a:spcBef>
            </a:pPr>
            <a:r>
              <a:rPr sz="1800" b="1" spc="-5" dirty="0">
                <a:latin typeface="Calibri"/>
                <a:cs typeface="Calibri"/>
              </a:rPr>
              <a:t>n</a:t>
            </a:r>
            <a:endParaRPr sz="1800" dirty="0">
              <a:latin typeface="Calibri"/>
              <a:cs typeface="Calibri"/>
            </a:endParaRPr>
          </a:p>
          <a:p>
            <a:pPr marL="355600" indent="-342900">
              <a:lnSpc>
                <a:spcPts val="2875"/>
              </a:lnSpc>
              <a:buClr>
                <a:srgbClr val="990000"/>
              </a:buClr>
              <a:buSzPct val="58333"/>
              <a:buFont typeface="Wingdings 2"/>
              <a:buChar char=""/>
              <a:tabLst>
                <a:tab pos="355600" algn="l"/>
              </a:tabLst>
            </a:pPr>
            <a:r>
              <a:rPr lang="zh-CN" altLang="en-US" sz="2400" b="1" spc="-5" dirty="0">
                <a:latin typeface="Calibri"/>
                <a:cs typeface="Calibri"/>
              </a:rPr>
              <a:t>第二次迭代</a:t>
            </a:r>
            <a:r>
              <a:rPr sz="2400" b="1" spc="-5" dirty="0">
                <a:latin typeface="Calibri"/>
                <a:cs typeface="Calibri"/>
              </a:rPr>
              <a:t>: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32814" y="3656376"/>
            <a:ext cx="2648586" cy="6155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buClr>
                <a:srgbClr val="990000"/>
              </a:buClr>
              <a:buSzPct val="110000"/>
              <a:buFont typeface="Wingdings"/>
              <a:buChar char=""/>
              <a:tabLst>
                <a:tab pos="299720" algn="l"/>
              </a:tabLst>
            </a:pPr>
            <a:r>
              <a:rPr lang="zh-CN" altLang="en-US" sz="2000" dirty="0">
                <a:latin typeface="Calibri"/>
                <a:cs typeface="Calibri"/>
              </a:rPr>
              <a:t>继续</a:t>
            </a:r>
            <a:r>
              <a:rPr sz="2000" dirty="0">
                <a:latin typeface="Calibri"/>
                <a:cs typeface="Calibri"/>
              </a:rPr>
              <a:t>:</a:t>
            </a:r>
          </a:p>
          <a:p>
            <a:pPr marL="299085">
              <a:lnSpc>
                <a:spcPct val="100000"/>
              </a:lnSpc>
            </a:pPr>
            <a:r>
              <a:rPr sz="2000" i="1" dirty="0">
                <a:latin typeface="Calibri"/>
                <a:cs typeface="Calibri"/>
              </a:rPr>
              <a:t>n</a:t>
            </a:r>
            <a:r>
              <a:rPr sz="2000" spc="5" dirty="0">
                <a:latin typeface="Calibri"/>
                <a:cs typeface="Calibri"/>
              </a:rPr>
              <a:t>/</a:t>
            </a:r>
            <a:r>
              <a:rPr sz="2000" dirty="0">
                <a:latin typeface="Calibri"/>
                <a:cs typeface="Calibri"/>
              </a:rPr>
              <a:t>8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+ </a:t>
            </a:r>
            <a:r>
              <a:rPr sz="2000" i="1" dirty="0">
                <a:latin typeface="Calibri"/>
                <a:cs typeface="Calibri"/>
              </a:rPr>
              <a:t>n</a:t>
            </a:r>
            <a:r>
              <a:rPr sz="2000" i="1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=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9</a:t>
            </a:r>
            <a:r>
              <a:rPr sz="2000" i="1" dirty="0">
                <a:latin typeface="Calibri"/>
                <a:cs typeface="Calibri"/>
              </a:rPr>
              <a:t>n</a:t>
            </a:r>
            <a:r>
              <a:rPr sz="2000" spc="5" dirty="0">
                <a:latin typeface="Calibri"/>
                <a:cs typeface="Calibri"/>
              </a:rPr>
              <a:t>/</a:t>
            </a:r>
            <a:r>
              <a:rPr sz="2000" dirty="0">
                <a:latin typeface="Calibri"/>
                <a:cs typeface="Calibri"/>
              </a:rPr>
              <a:t>8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lang="zh-CN" altLang="en-US" sz="2000" spc="-15" dirty="0">
                <a:latin typeface="Calibri"/>
                <a:cs typeface="Calibri"/>
              </a:rPr>
              <a:t>不命中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715000" y="3684786"/>
            <a:ext cx="1143000" cy="1113155"/>
          </a:xfrm>
          <a:custGeom>
            <a:avLst/>
            <a:gdLst/>
            <a:ahLst/>
            <a:cxnLst/>
            <a:rect l="l" t="t" r="r" b="b"/>
            <a:pathLst>
              <a:path w="1143000" h="1113154">
                <a:moveTo>
                  <a:pt x="0" y="1112841"/>
                </a:moveTo>
                <a:lnTo>
                  <a:pt x="1143000" y="1112841"/>
                </a:lnTo>
                <a:lnTo>
                  <a:pt x="1143000" y="0"/>
                </a:lnTo>
                <a:lnTo>
                  <a:pt x="0" y="0"/>
                </a:lnTo>
                <a:lnTo>
                  <a:pt x="0" y="1112841"/>
                </a:lnTo>
                <a:close/>
              </a:path>
            </a:pathLst>
          </a:custGeom>
          <a:solidFill>
            <a:srgbClr val="DADA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436908" y="3654628"/>
            <a:ext cx="1021715" cy="1143000"/>
          </a:xfrm>
          <a:custGeom>
            <a:avLst/>
            <a:gdLst/>
            <a:ahLst/>
            <a:cxnLst/>
            <a:rect l="l" t="t" r="r" b="b"/>
            <a:pathLst>
              <a:path w="1021715" h="1143000">
                <a:moveTo>
                  <a:pt x="0" y="1143000"/>
                </a:moveTo>
                <a:lnTo>
                  <a:pt x="1021292" y="1143000"/>
                </a:lnTo>
                <a:lnTo>
                  <a:pt x="1021292" y="0"/>
                </a:lnTo>
                <a:lnTo>
                  <a:pt x="0" y="0"/>
                </a:lnTo>
                <a:lnTo>
                  <a:pt x="0" y="1143000"/>
                </a:lnTo>
                <a:close/>
              </a:path>
            </a:pathLst>
          </a:custGeom>
          <a:solidFill>
            <a:srgbClr val="DADA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315200" y="3654628"/>
            <a:ext cx="63500" cy="898525"/>
          </a:xfrm>
          <a:custGeom>
            <a:avLst/>
            <a:gdLst/>
            <a:ahLst/>
            <a:cxnLst/>
            <a:rect l="l" t="t" r="r" b="b"/>
            <a:pathLst>
              <a:path w="63500" h="898525">
                <a:moveTo>
                  <a:pt x="0" y="898042"/>
                </a:moveTo>
                <a:lnTo>
                  <a:pt x="62970" y="898042"/>
                </a:lnTo>
                <a:lnTo>
                  <a:pt x="62970" y="0"/>
                </a:lnTo>
                <a:lnTo>
                  <a:pt x="0" y="0"/>
                </a:lnTo>
                <a:lnTo>
                  <a:pt x="0" y="898042"/>
                </a:lnTo>
                <a:close/>
              </a:path>
            </a:pathLst>
          </a:custGeom>
          <a:solidFill>
            <a:srgbClr val="DADA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715000" y="3654624"/>
            <a:ext cx="1143000" cy="1905"/>
          </a:xfrm>
          <a:custGeom>
            <a:avLst/>
            <a:gdLst/>
            <a:ahLst/>
            <a:cxnLst/>
            <a:rect l="l" t="t" r="r" b="b"/>
            <a:pathLst>
              <a:path w="1143000" h="1904">
                <a:moveTo>
                  <a:pt x="0" y="0"/>
                </a:moveTo>
                <a:lnTo>
                  <a:pt x="1143000" y="1587"/>
                </a:lnTo>
              </a:path>
            </a:pathLst>
          </a:custGeom>
          <a:ln w="5715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407539" y="3626048"/>
            <a:ext cx="0" cy="927100"/>
          </a:xfrm>
          <a:custGeom>
            <a:avLst/>
            <a:gdLst/>
            <a:ahLst/>
            <a:cxnLst/>
            <a:rect l="l" t="t" r="r" b="b"/>
            <a:pathLst>
              <a:path h="927100">
                <a:moveTo>
                  <a:pt x="0" y="0"/>
                </a:moveTo>
                <a:lnTo>
                  <a:pt x="0" y="926622"/>
                </a:lnTo>
              </a:path>
            </a:pathLst>
          </a:custGeom>
          <a:ln w="5715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378170" y="4816148"/>
            <a:ext cx="59055" cy="0"/>
          </a:xfrm>
          <a:custGeom>
            <a:avLst/>
            <a:gdLst/>
            <a:ahLst/>
            <a:cxnLst/>
            <a:rect l="l" t="t" r="r" b="b"/>
            <a:pathLst>
              <a:path w="59054">
                <a:moveTo>
                  <a:pt x="0" y="0"/>
                </a:moveTo>
                <a:lnTo>
                  <a:pt x="58737" y="0"/>
                </a:lnTo>
              </a:path>
            </a:pathLst>
          </a:custGeom>
          <a:ln w="5715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929862" y="3654628"/>
            <a:ext cx="1143000" cy="1143000"/>
          </a:xfrm>
          <a:custGeom>
            <a:avLst/>
            <a:gdLst/>
            <a:ahLst/>
            <a:cxnLst/>
            <a:rect l="l" t="t" r="r" b="b"/>
            <a:pathLst>
              <a:path w="1143000" h="1143000">
                <a:moveTo>
                  <a:pt x="0" y="0"/>
                </a:moveTo>
                <a:lnTo>
                  <a:pt x="1143000" y="0"/>
                </a:lnTo>
                <a:lnTo>
                  <a:pt x="1143000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solidFill>
            <a:srgbClr val="DADA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475615" y="4863027"/>
            <a:ext cx="7216140" cy="10002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>
              <a:lnSpc>
                <a:spcPct val="100000"/>
              </a:lnSpc>
            </a:pPr>
            <a:r>
              <a:rPr sz="1400" b="1" dirty="0">
                <a:solidFill>
                  <a:srgbClr val="C00000"/>
                </a:solidFill>
                <a:latin typeface="Calibri"/>
                <a:cs typeface="Calibri"/>
              </a:rPr>
              <a:t>8</a:t>
            </a:r>
            <a:r>
              <a:rPr sz="1400" b="1" spc="-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400" b="1" spc="-5" dirty="0">
                <a:solidFill>
                  <a:srgbClr val="C00000"/>
                </a:solidFill>
                <a:latin typeface="Calibri"/>
                <a:cs typeface="Calibri"/>
              </a:rPr>
              <a:t>w</a:t>
            </a:r>
            <a:r>
              <a:rPr sz="1400" b="1" dirty="0">
                <a:solidFill>
                  <a:srgbClr val="C00000"/>
                </a:solidFill>
                <a:latin typeface="Calibri"/>
                <a:cs typeface="Calibri"/>
              </a:rPr>
              <a:t>ide</a:t>
            </a:r>
            <a:endParaRPr sz="14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0"/>
              </a:spcBef>
              <a:buClr>
                <a:srgbClr val="990000"/>
              </a:buClr>
              <a:buSzPct val="58333"/>
              <a:buFont typeface="Wingdings 2"/>
              <a:buChar char=""/>
              <a:tabLst>
                <a:tab pos="355600" algn="l"/>
              </a:tabLst>
            </a:pPr>
            <a:r>
              <a:rPr lang="zh-CN" altLang="en-US" sz="2400" b="1" spc="-5" dirty="0">
                <a:latin typeface="Calibri"/>
                <a:cs typeface="Calibri"/>
              </a:rPr>
              <a:t>不命中总数</a:t>
            </a:r>
            <a:r>
              <a:rPr sz="2400" b="1" spc="-5" dirty="0">
                <a:latin typeface="Calibri"/>
                <a:cs typeface="Calibri"/>
              </a:rPr>
              <a:t>:</a:t>
            </a:r>
            <a:endParaRPr sz="2400" dirty="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505"/>
              </a:spcBef>
              <a:tabLst>
                <a:tab pos="756285" algn="l"/>
              </a:tabLst>
            </a:pPr>
            <a:r>
              <a:rPr sz="2200" spc="-5" dirty="0">
                <a:solidFill>
                  <a:srgbClr val="990000"/>
                </a:solidFill>
                <a:latin typeface="Wingdings"/>
                <a:cs typeface="Wingdings"/>
              </a:rPr>
              <a:t></a:t>
            </a:r>
            <a:r>
              <a:rPr sz="2200" spc="-5" dirty="0">
                <a:solidFill>
                  <a:srgbClr val="990000"/>
                </a:solidFill>
                <a:latin typeface="Times New Roman"/>
                <a:cs typeface="Times New Roman"/>
              </a:rPr>
              <a:t>	</a:t>
            </a:r>
            <a:r>
              <a:rPr sz="2000" dirty="0">
                <a:latin typeface="Calibri"/>
                <a:cs typeface="Calibri"/>
              </a:rPr>
              <a:t>9</a:t>
            </a:r>
            <a:r>
              <a:rPr sz="2000" i="1" dirty="0">
                <a:latin typeface="Calibri"/>
                <a:cs typeface="Calibri"/>
              </a:rPr>
              <a:t>n</a:t>
            </a:r>
            <a:r>
              <a:rPr sz="2000" spc="5" dirty="0">
                <a:latin typeface="Calibri"/>
                <a:cs typeface="Calibri"/>
              </a:rPr>
              <a:t>/</a:t>
            </a:r>
            <a:r>
              <a:rPr sz="2000" dirty="0">
                <a:latin typeface="Calibri"/>
                <a:cs typeface="Calibri"/>
              </a:rPr>
              <a:t>8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n</a:t>
            </a:r>
            <a:r>
              <a:rPr sz="1950" spc="22" baseline="25641" dirty="0">
                <a:latin typeface="Calibri"/>
                <a:cs typeface="Calibri"/>
              </a:rPr>
              <a:t>2</a:t>
            </a:r>
            <a:r>
              <a:rPr sz="1950" baseline="25641" dirty="0">
                <a:latin typeface="Calibri"/>
                <a:cs typeface="Calibri"/>
              </a:rPr>
              <a:t> </a:t>
            </a:r>
            <a:r>
              <a:rPr sz="1950" spc="-225" baseline="25641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= (9</a:t>
            </a:r>
            <a:r>
              <a:rPr sz="2000" spc="5" dirty="0">
                <a:latin typeface="Calibri"/>
                <a:cs typeface="Calibri"/>
              </a:rPr>
              <a:t>/</a:t>
            </a:r>
            <a:r>
              <a:rPr sz="2000" dirty="0">
                <a:latin typeface="Calibri"/>
                <a:cs typeface="Calibri"/>
              </a:rPr>
              <a:t>8)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n</a:t>
            </a:r>
            <a:r>
              <a:rPr sz="1950" spc="22" baseline="25641" dirty="0">
                <a:latin typeface="Calibri"/>
                <a:cs typeface="Calibri"/>
              </a:rPr>
              <a:t>3</a:t>
            </a:r>
            <a:endParaRPr sz="1950" baseline="25641" dirty="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979071" y="4096063"/>
            <a:ext cx="212725" cy="432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>
                <a:latin typeface="Calibri"/>
                <a:cs typeface="Calibri"/>
              </a:rPr>
              <a:t>x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274857" y="4068262"/>
            <a:ext cx="228600" cy="432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>
                <a:latin typeface="Calibri"/>
                <a:cs typeface="Calibri"/>
              </a:rPr>
              <a:t>=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004729" y="3654628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76200" y="0"/>
                </a:lnTo>
                <a:lnTo>
                  <a:pt x="762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477000" y="3654623"/>
            <a:ext cx="381000" cy="635"/>
          </a:xfrm>
          <a:custGeom>
            <a:avLst/>
            <a:gdLst/>
            <a:ahLst/>
            <a:cxnLst/>
            <a:rect l="l" t="t" r="r" b="b"/>
            <a:pathLst>
              <a:path w="381000" h="635">
                <a:moveTo>
                  <a:pt x="0" y="0"/>
                </a:moveTo>
                <a:lnTo>
                  <a:pt x="381000" y="533"/>
                </a:lnTo>
              </a:path>
            </a:pathLst>
          </a:custGeom>
          <a:ln w="5715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7298270" y="4552670"/>
            <a:ext cx="245745" cy="254000"/>
          </a:xfrm>
          <a:custGeom>
            <a:avLst/>
            <a:gdLst/>
            <a:ahLst/>
            <a:cxnLst/>
            <a:rect l="l" t="t" r="r" b="b"/>
            <a:pathLst>
              <a:path w="245745" h="254000">
                <a:moveTo>
                  <a:pt x="0" y="0"/>
                </a:moveTo>
                <a:lnTo>
                  <a:pt x="245529" y="0"/>
                </a:lnTo>
                <a:lnTo>
                  <a:pt x="245529" y="253428"/>
                </a:lnTo>
                <a:lnTo>
                  <a:pt x="0" y="253428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52400" y="1143000"/>
            <a:ext cx="8839200" cy="3536950"/>
          </a:xfrm>
          <a:custGeom>
            <a:avLst/>
            <a:gdLst/>
            <a:ahLst/>
            <a:cxnLst/>
            <a:rect l="l" t="t" r="r" b="b"/>
            <a:pathLst>
              <a:path w="8839200" h="3536950">
                <a:moveTo>
                  <a:pt x="0" y="0"/>
                </a:moveTo>
                <a:lnTo>
                  <a:pt x="8839200" y="0"/>
                </a:lnTo>
                <a:lnTo>
                  <a:pt x="8839200" y="3536861"/>
                </a:lnTo>
                <a:lnTo>
                  <a:pt x="0" y="3536861"/>
                </a:lnTo>
                <a:lnTo>
                  <a:pt x="0" y="0"/>
                </a:lnTo>
                <a:close/>
              </a:path>
            </a:pathLst>
          </a:custGeom>
          <a:solidFill>
            <a:srgbClr val="F6F5B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46050" y="4682490"/>
            <a:ext cx="8851900" cy="0"/>
          </a:xfrm>
          <a:custGeom>
            <a:avLst/>
            <a:gdLst/>
            <a:ahLst/>
            <a:cxnLst/>
            <a:rect l="l" t="t" r="r" b="b"/>
            <a:pathLst>
              <a:path w="8851900">
                <a:moveTo>
                  <a:pt x="0" y="0"/>
                </a:moveTo>
                <a:lnTo>
                  <a:pt x="8851900" y="0"/>
                </a:lnTo>
              </a:path>
            </a:pathLst>
          </a:custGeom>
          <a:ln w="76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49860" y="1144269"/>
            <a:ext cx="0" cy="3534410"/>
          </a:xfrm>
          <a:custGeom>
            <a:avLst/>
            <a:gdLst/>
            <a:ahLst/>
            <a:cxnLst/>
            <a:rect l="l" t="t" r="r" b="b"/>
            <a:pathLst>
              <a:path h="3534410">
                <a:moveTo>
                  <a:pt x="0" y="0"/>
                </a:moveTo>
                <a:lnTo>
                  <a:pt x="0" y="3534410"/>
                </a:lnTo>
              </a:path>
            </a:pathLst>
          </a:custGeom>
          <a:ln w="76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46050" y="1140460"/>
            <a:ext cx="8851900" cy="0"/>
          </a:xfrm>
          <a:custGeom>
            <a:avLst/>
            <a:gdLst/>
            <a:ahLst/>
            <a:cxnLst/>
            <a:rect l="l" t="t" r="r" b="b"/>
            <a:pathLst>
              <a:path w="8851900">
                <a:moveTo>
                  <a:pt x="0" y="0"/>
                </a:moveTo>
                <a:lnTo>
                  <a:pt x="8851900" y="0"/>
                </a:lnTo>
              </a:path>
            </a:pathLst>
          </a:custGeom>
          <a:ln w="76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994140" y="1144269"/>
            <a:ext cx="0" cy="3534410"/>
          </a:xfrm>
          <a:custGeom>
            <a:avLst/>
            <a:gdLst/>
            <a:ahLst/>
            <a:cxnLst/>
            <a:rect l="l" t="t" r="r" b="b"/>
            <a:pathLst>
              <a:path h="3534410">
                <a:moveTo>
                  <a:pt x="0" y="0"/>
                </a:moveTo>
                <a:lnTo>
                  <a:pt x="0" y="3534321"/>
                </a:lnTo>
              </a:path>
            </a:pathLst>
          </a:custGeom>
          <a:ln w="76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56210" y="4674870"/>
            <a:ext cx="8831580" cy="0"/>
          </a:xfrm>
          <a:custGeom>
            <a:avLst/>
            <a:gdLst/>
            <a:ahLst/>
            <a:cxnLst/>
            <a:rect l="l" t="t" r="r" b="b"/>
            <a:pathLst>
              <a:path w="8831580">
                <a:moveTo>
                  <a:pt x="0" y="0"/>
                </a:moveTo>
                <a:lnTo>
                  <a:pt x="883158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57479" y="1149350"/>
            <a:ext cx="0" cy="3524250"/>
          </a:xfrm>
          <a:custGeom>
            <a:avLst/>
            <a:gdLst/>
            <a:ahLst/>
            <a:cxnLst/>
            <a:rect l="l" t="t" r="r" b="b"/>
            <a:pathLst>
              <a:path h="3524250">
                <a:moveTo>
                  <a:pt x="0" y="0"/>
                </a:moveTo>
                <a:lnTo>
                  <a:pt x="0" y="352425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56210" y="1148080"/>
            <a:ext cx="8831580" cy="0"/>
          </a:xfrm>
          <a:custGeom>
            <a:avLst/>
            <a:gdLst/>
            <a:ahLst/>
            <a:cxnLst/>
            <a:rect l="l" t="t" r="r" b="b"/>
            <a:pathLst>
              <a:path w="8831580">
                <a:moveTo>
                  <a:pt x="0" y="0"/>
                </a:moveTo>
                <a:lnTo>
                  <a:pt x="883158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986519" y="1149350"/>
            <a:ext cx="0" cy="3524250"/>
          </a:xfrm>
          <a:custGeom>
            <a:avLst/>
            <a:gdLst/>
            <a:ahLst/>
            <a:cxnLst/>
            <a:rect l="l" t="t" r="r" b="b"/>
            <a:pathLst>
              <a:path h="3524250">
                <a:moveTo>
                  <a:pt x="0" y="0"/>
                </a:moveTo>
                <a:lnTo>
                  <a:pt x="0" y="3524161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99529" y="5181600"/>
            <a:ext cx="1143000" cy="1143000"/>
          </a:xfrm>
          <a:custGeom>
            <a:avLst/>
            <a:gdLst/>
            <a:ahLst/>
            <a:cxnLst/>
            <a:rect l="l" t="t" r="r" b="b"/>
            <a:pathLst>
              <a:path w="1143000" h="1143000">
                <a:moveTo>
                  <a:pt x="0" y="0"/>
                </a:moveTo>
                <a:lnTo>
                  <a:pt x="1143000" y="0"/>
                </a:lnTo>
                <a:lnTo>
                  <a:pt x="1143000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solidFill>
            <a:srgbClr val="DADA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143000" y="5969000"/>
            <a:ext cx="186690" cy="186690"/>
          </a:xfrm>
          <a:custGeom>
            <a:avLst/>
            <a:gdLst/>
            <a:ahLst/>
            <a:cxnLst/>
            <a:rect l="l" t="t" r="r" b="b"/>
            <a:pathLst>
              <a:path w="186690" h="186689">
                <a:moveTo>
                  <a:pt x="0" y="0"/>
                </a:moveTo>
                <a:lnTo>
                  <a:pt x="186270" y="0"/>
                </a:lnTo>
                <a:lnTo>
                  <a:pt x="186270" y="186270"/>
                </a:lnTo>
                <a:lnTo>
                  <a:pt x="0" y="186270"/>
                </a:lnTo>
                <a:lnTo>
                  <a:pt x="0" y="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3756914" y="6488658"/>
            <a:ext cx="1628139" cy="369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065">
              <a:lnSpc>
                <a:spcPct val="100000"/>
              </a:lnSpc>
            </a:pPr>
            <a:r>
              <a:rPr sz="1000" spc="-5" dirty="0">
                <a:latin typeface="Calibri"/>
                <a:cs typeface="Calibri"/>
              </a:rPr>
              <a:t>,</a:t>
            </a:r>
            <a:r>
              <a:rPr sz="1000" spc="40" dirty="0">
                <a:latin typeface="Calibri"/>
                <a:cs typeface="Calibri"/>
              </a:rPr>
              <a:t> </a:t>
            </a:r>
            <a:r>
              <a:rPr sz="1000" spc="-15" dirty="0">
                <a:latin typeface="Calibri"/>
                <a:cs typeface="Calibri"/>
              </a:rPr>
              <a:t>T</a:t>
            </a:r>
            <a:r>
              <a:rPr sz="1000" spc="-5" dirty="0">
                <a:latin typeface="Calibri"/>
                <a:cs typeface="Calibri"/>
              </a:rPr>
              <a:t>h</a:t>
            </a:r>
            <a:r>
              <a:rPr sz="1000" spc="-10" dirty="0">
                <a:latin typeface="Calibri"/>
                <a:cs typeface="Calibri"/>
              </a:rPr>
              <a:t>i</a:t>
            </a:r>
            <a:r>
              <a:rPr sz="1000" spc="-5" dirty="0">
                <a:latin typeface="Calibri"/>
                <a:cs typeface="Calibri"/>
              </a:rPr>
              <a:t>rd</a:t>
            </a:r>
            <a:r>
              <a:rPr sz="1000" spc="-1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E</a:t>
            </a:r>
            <a:r>
              <a:rPr sz="1000" spc="-5" dirty="0">
                <a:latin typeface="Calibri"/>
                <a:cs typeface="Calibri"/>
              </a:rPr>
              <a:t>d</a:t>
            </a:r>
            <a:r>
              <a:rPr sz="1000" spc="-10" dirty="0">
                <a:latin typeface="Calibri"/>
                <a:cs typeface="Calibri"/>
              </a:rPr>
              <a:t>i</a:t>
            </a:r>
            <a:r>
              <a:rPr sz="1000" spc="-5" dirty="0">
                <a:latin typeface="Calibri"/>
                <a:cs typeface="Calibri"/>
              </a:rPr>
              <a:t>t</a:t>
            </a:r>
            <a:r>
              <a:rPr sz="1000" spc="-10" dirty="0">
                <a:latin typeface="Calibri"/>
                <a:cs typeface="Calibri"/>
              </a:rPr>
              <a:t>i</a:t>
            </a:r>
            <a:r>
              <a:rPr sz="1000" spc="-5" dirty="0">
                <a:latin typeface="Calibri"/>
                <a:cs typeface="Calibri"/>
              </a:rPr>
              <a:t>on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357018" y="401179"/>
            <a:ext cx="7592093" cy="830998"/>
          </a:xfrm>
          <a:prstGeom prst="rect">
            <a:avLst/>
          </a:prstGeom>
        </p:spPr>
        <p:txBody>
          <a:bodyPr vert="horz" wrap="square" lIns="0" tIns="274321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zh-CN" altLang="en-US" spc="-5" dirty="0"/>
              <a:t>分块矩阵乘法</a:t>
            </a:r>
            <a:endParaRPr spc="-5" dirty="0"/>
          </a:p>
        </p:txBody>
      </p:sp>
      <p:sp>
        <p:nvSpPr>
          <p:cNvPr id="18" name="object 18"/>
          <p:cNvSpPr txBox="1"/>
          <p:nvPr/>
        </p:nvSpPr>
        <p:spPr>
          <a:xfrm>
            <a:off x="242887" y="1218320"/>
            <a:ext cx="5250180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1600" b="1" spc="-5" dirty="0">
                <a:latin typeface="Courier New"/>
                <a:cs typeface="Courier New"/>
              </a:rPr>
              <a:t>c = (d</a:t>
            </a:r>
            <a:r>
              <a:rPr sz="1600" b="1" spc="0" dirty="0">
                <a:latin typeface="Courier New"/>
                <a:cs typeface="Courier New"/>
              </a:rPr>
              <a:t>o</a:t>
            </a:r>
            <a:r>
              <a:rPr sz="1600" b="1" spc="-5" dirty="0">
                <a:latin typeface="Courier New"/>
                <a:cs typeface="Courier New"/>
              </a:rPr>
              <a:t>uble</a:t>
            </a:r>
            <a:r>
              <a:rPr sz="1600" b="1" spc="10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*)</a:t>
            </a:r>
            <a:r>
              <a:rPr sz="1600" b="1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cal</a:t>
            </a:r>
            <a:r>
              <a:rPr sz="1600" b="1" spc="0" dirty="0">
                <a:latin typeface="Courier New"/>
                <a:cs typeface="Courier New"/>
              </a:rPr>
              <a:t>l</a:t>
            </a:r>
            <a:r>
              <a:rPr sz="1600" b="1" spc="-5" dirty="0">
                <a:latin typeface="Courier New"/>
                <a:cs typeface="Courier New"/>
              </a:rPr>
              <a:t>oc</a:t>
            </a:r>
            <a:r>
              <a:rPr sz="1600" b="1" spc="5" dirty="0">
                <a:latin typeface="Courier New"/>
                <a:cs typeface="Courier New"/>
              </a:rPr>
              <a:t>(</a:t>
            </a:r>
            <a:r>
              <a:rPr sz="1600" b="1" spc="-5" dirty="0">
                <a:latin typeface="Courier New"/>
                <a:cs typeface="Courier New"/>
              </a:rPr>
              <a:t>s</a:t>
            </a:r>
            <a:r>
              <a:rPr sz="1600" b="1" spc="0" dirty="0">
                <a:latin typeface="Courier New"/>
                <a:cs typeface="Courier New"/>
              </a:rPr>
              <a:t>i</a:t>
            </a:r>
            <a:r>
              <a:rPr sz="1600" b="1" spc="-5" dirty="0">
                <a:latin typeface="Courier New"/>
                <a:cs typeface="Courier New"/>
              </a:rPr>
              <a:t>zeof(d</a:t>
            </a:r>
            <a:r>
              <a:rPr sz="1600" b="1" spc="0" dirty="0">
                <a:latin typeface="Courier New"/>
                <a:cs typeface="Courier New"/>
              </a:rPr>
              <a:t>o</a:t>
            </a:r>
            <a:r>
              <a:rPr sz="1600" b="1" spc="-5" dirty="0">
                <a:latin typeface="Courier New"/>
                <a:cs typeface="Courier New"/>
              </a:rPr>
              <a:t>uble</a:t>
            </a:r>
            <a:r>
              <a:rPr sz="1600" b="1" spc="0" dirty="0">
                <a:latin typeface="Courier New"/>
                <a:cs typeface="Courier New"/>
              </a:rPr>
              <a:t>)</a:t>
            </a:r>
            <a:r>
              <a:rPr sz="1600" b="1" spc="-5" dirty="0">
                <a:latin typeface="Courier New"/>
                <a:cs typeface="Courier New"/>
              </a:rPr>
              <a:t>,</a:t>
            </a:r>
            <a:r>
              <a:rPr sz="1600" b="1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n*n);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43090" y="1705997"/>
            <a:ext cx="6712584" cy="264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  <a:tabLst>
                <a:tab pos="4398010" algn="l"/>
              </a:tabLst>
            </a:pPr>
            <a:r>
              <a:rPr sz="1600" b="1" spc="-5" dirty="0">
                <a:solidFill>
                  <a:srgbClr val="990000"/>
                </a:solidFill>
                <a:latin typeface="Courier New"/>
                <a:cs typeface="Courier New"/>
              </a:rPr>
              <a:t>/* Mul</a:t>
            </a:r>
            <a:r>
              <a:rPr sz="1600" b="1" spc="0" dirty="0">
                <a:solidFill>
                  <a:srgbClr val="990000"/>
                </a:solidFill>
                <a:latin typeface="Courier New"/>
                <a:cs typeface="Courier New"/>
              </a:rPr>
              <a:t>t</a:t>
            </a:r>
            <a:r>
              <a:rPr sz="1600" b="1" spc="-5" dirty="0">
                <a:solidFill>
                  <a:srgbClr val="990000"/>
                </a:solidFill>
                <a:latin typeface="Courier New"/>
                <a:cs typeface="Courier New"/>
              </a:rPr>
              <a:t>iply</a:t>
            </a:r>
            <a:r>
              <a:rPr sz="1600" b="1" spc="10" dirty="0">
                <a:solidFill>
                  <a:srgbClr val="990000"/>
                </a:solidFill>
                <a:latin typeface="Courier New"/>
                <a:cs typeface="Courier New"/>
              </a:rPr>
              <a:t> </a:t>
            </a:r>
            <a:r>
              <a:rPr sz="1600" b="1" spc="-5" dirty="0">
                <a:solidFill>
                  <a:srgbClr val="990000"/>
                </a:solidFill>
                <a:latin typeface="Courier New"/>
                <a:cs typeface="Courier New"/>
              </a:rPr>
              <a:t>n</a:t>
            </a:r>
            <a:r>
              <a:rPr sz="1600" b="1" dirty="0">
                <a:solidFill>
                  <a:srgbClr val="990000"/>
                </a:solidFill>
                <a:latin typeface="Courier New"/>
                <a:cs typeface="Courier New"/>
              </a:rPr>
              <a:t> </a:t>
            </a:r>
            <a:r>
              <a:rPr sz="1600" b="1" spc="-5" dirty="0">
                <a:solidFill>
                  <a:srgbClr val="990000"/>
                </a:solidFill>
                <a:latin typeface="Courier New"/>
                <a:cs typeface="Courier New"/>
              </a:rPr>
              <a:t>x</a:t>
            </a:r>
            <a:r>
              <a:rPr sz="1600" b="1" dirty="0">
                <a:solidFill>
                  <a:srgbClr val="990000"/>
                </a:solidFill>
                <a:latin typeface="Courier New"/>
                <a:cs typeface="Courier New"/>
              </a:rPr>
              <a:t> </a:t>
            </a:r>
            <a:r>
              <a:rPr sz="1600" b="1" spc="-5" dirty="0">
                <a:solidFill>
                  <a:srgbClr val="990000"/>
                </a:solidFill>
                <a:latin typeface="Courier New"/>
                <a:cs typeface="Courier New"/>
              </a:rPr>
              <a:t>n</a:t>
            </a:r>
            <a:r>
              <a:rPr sz="1600" b="1" spc="10" dirty="0">
                <a:solidFill>
                  <a:srgbClr val="990000"/>
                </a:solidFill>
                <a:latin typeface="Courier New"/>
                <a:cs typeface="Courier New"/>
              </a:rPr>
              <a:t> </a:t>
            </a:r>
            <a:r>
              <a:rPr sz="1600" b="1" spc="0" dirty="0">
                <a:solidFill>
                  <a:srgbClr val="990000"/>
                </a:solidFill>
                <a:latin typeface="Courier New"/>
                <a:cs typeface="Courier New"/>
              </a:rPr>
              <a:t>m</a:t>
            </a:r>
            <a:r>
              <a:rPr sz="1600" b="1" spc="-5" dirty="0">
                <a:solidFill>
                  <a:srgbClr val="990000"/>
                </a:solidFill>
                <a:latin typeface="Courier New"/>
                <a:cs typeface="Courier New"/>
              </a:rPr>
              <a:t>atri</a:t>
            </a:r>
            <a:r>
              <a:rPr sz="1600" b="1" spc="0" dirty="0">
                <a:solidFill>
                  <a:srgbClr val="990000"/>
                </a:solidFill>
                <a:latin typeface="Courier New"/>
                <a:cs typeface="Courier New"/>
              </a:rPr>
              <a:t>c</a:t>
            </a:r>
            <a:r>
              <a:rPr sz="1600" b="1" spc="-5" dirty="0">
                <a:solidFill>
                  <a:srgbClr val="990000"/>
                </a:solidFill>
                <a:latin typeface="Courier New"/>
                <a:cs typeface="Courier New"/>
              </a:rPr>
              <a:t>es</a:t>
            </a:r>
            <a:r>
              <a:rPr sz="1600" b="1" dirty="0">
                <a:solidFill>
                  <a:srgbClr val="990000"/>
                </a:solidFill>
                <a:latin typeface="Courier New"/>
                <a:cs typeface="Courier New"/>
              </a:rPr>
              <a:t> </a:t>
            </a:r>
            <a:r>
              <a:rPr sz="1600" b="1" spc="-5" dirty="0">
                <a:solidFill>
                  <a:srgbClr val="990000"/>
                </a:solidFill>
                <a:latin typeface="Courier New"/>
                <a:cs typeface="Courier New"/>
              </a:rPr>
              <a:t>a</a:t>
            </a:r>
            <a:r>
              <a:rPr sz="1600" b="1" dirty="0">
                <a:solidFill>
                  <a:srgbClr val="990000"/>
                </a:solidFill>
                <a:latin typeface="Courier New"/>
                <a:cs typeface="Courier New"/>
              </a:rPr>
              <a:t> </a:t>
            </a:r>
            <a:r>
              <a:rPr sz="1600" b="1" spc="-5" dirty="0">
                <a:solidFill>
                  <a:srgbClr val="990000"/>
                </a:solidFill>
                <a:latin typeface="Courier New"/>
                <a:cs typeface="Courier New"/>
              </a:rPr>
              <a:t>a</a:t>
            </a:r>
            <a:r>
              <a:rPr sz="1600" b="1" spc="0" dirty="0">
                <a:solidFill>
                  <a:srgbClr val="990000"/>
                </a:solidFill>
                <a:latin typeface="Courier New"/>
                <a:cs typeface="Courier New"/>
              </a:rPr>
              <a:t>n</a:t>
            </a:r>
            <a:r>
              <a:rPr sz="1600" b="1" spc="-5" dirty="0">
                <a:solidFill>
                  <a:srgbClr val="990000"/>
                </a:solidFill>
                <a:latin typeface="Courier New"/>
                <a:cs typeface="Courier New"/>
              </a:rPr>
              <a:t>d</a:t>
            </a:r>
            <a:r>
              <a:rPr sz="1600" b="1" dirty="0">
                <a:solidFill>
                  <a:srgbClr val="990000"/>
                </a:solidFill>
                <a:latin typeface="Courier New"/>
                <a:cs typeface="Courier New"/>
              </a:rPr>
              <a:t> </a:t>
            </a:r>
            <a:r>
              <a:rPr sz="1600" b="1" spc="-5" dirty="0">
                <a:solidFill>
                  <a:srgbClr val="990000"/>
                </a:solidFill>
                <a:latin typeface="Courier New"/>
                <a:cs typeface="Courier New"/>
              </a:rPr>
              <a:t>b</a:t>
            </a:r>
            <a:r>
              <a:rPr sz="1600" b="1" dirty="0">
                <a:solidFill>
                  <a:srgbClr val="990000"/>
                </a:solidFill>
                <a:latin typeface="Courier New"/>
                <a:cs typeface="Courier New"/>
              </a:rPr>
              <a:t>	</a:t>
            </a:r>
            <a:r>
              <a:rPr sz="1600" b="1" spc="-5" dirty="0">
                <a:solidFill>
                  <a:srgbClr val="990000"/>
                </a:solidFill>
                <a:latin typeface="Courier New"/>
                <a:cs typeface="Courier New"/>
              </a:rPr>
              <a:t>*/</a:t>
            </a:r>
            <a:endParaRPr sz="1600">
              <a:latin typeface="Courier New"/>
              <a:cs typeface="Courier New"/>
            </a:endParaRPr>
          </a:p>
          <a:p>
            <a:pPr marL="487045" marR="596265" indent="-487680">
              <a:lnSpc>
                <a:spcPct val="100000"/>
              </a:lnSpc>
            </a:pPr>
            <a:r>
              <a:rPr sz="1600" b="1" spc="-5" dirty="0">
                <a:latin typeface="Courier New"/>
                <a:cs typeface="Courier New"/>
              </a:rPr>
              <a:t>void</a:t>
            </a:r>
            <a:r>
              <a:rPr sz="1600" b="1" spc="5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m</a:t>
            </a:r>
            <a:r>
              <a:rPr sz="1600" b="1" spc="0" dirty="0">
                <a:latin typeface="Courier New"/>
                <a:cs typeface="Courier New"/>
              </a:rPr>
              <a:t>m</a:t>
            </a:r>
            <a:r>
              <a:rPr sz="1600" b="1" spc="-5" dirty="0">
                <a:latin typeface="Courier New"/>
                <a:cs typeface="Courier New"/>
              </a:rPr>
              <a:t>m(do</a:t>
            </a:r>
            <a:r>
              <a:rPr sz="1600" b="1" spc="0" dirty="0">
                <a:latin typeface="Courier New"/>
                <a:cs typeface="Courier New"/>
              </a:rPr>
              <a:t>u</a:t>
            </a:r>
            <a:r>
              <a:rPr sz="1600" b="1" spc="-5" dirty="0">
                <a:latin typeface="Courier New"/>
                <a:cs typeface="Courier New"/>
              </a:rPr>
              <a:t>ble</a:t>
            </a:r>
            <a:r>
              <a:rPr sz="1600" b="1" spc="5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*a,</a:t>
            </a:r>
            <a:r>
              <a:rPr sz="1600" b="1" spc="10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dou</a:t>
            </a:r>
            <a:r>
              <a:rPr sz="1600" b="1" spc="0" dirty="0">
                <a:latin typeface="Courier New"/>
                <a:cs typeface="Courier New"/>
              </a:rPr>
              <a:t>b</a:t>
            </a:r>
            <a:r>
              <a:rPr sz="1600" b="1" spc="-5" dirty="0">
                <a:latin typeface="Courier New"/>
                <a:cs typeface="Courier New"/>
              </a:rPr>
              <a:t>le</a:t>
            </a:r>
            <a:r>
              <a:rPr sz="1600" b="1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*b,</a:t>
            </a:r>
            <a:r>
              <a:rPr sz="1600" b="1" spc="20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doub</a:t>
            </a:r>
            <a:r>
              <a:rPr sz="1600" b="1" spc="0" dirty="0">
                <a:latin typeface="Courier New"/>
                <a:cs typeface="Courier New"/>
              </a:rPr>
              <a:t>l</a:t>
            </a:r>
            <a:r>
              <a:rPr sz="1600" b="1" spc="-5" dirty="0">
                <a:latin typeface="Courier New"/>
                <a:cs typeface="Courier New"/>
              </a:rPr>
              <a:t>e</a:t>
            </a:r>
            <a:r>
              <a:rPr sz="1600" b="1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*c,</a:t>
            </a:r>
            <a:r>
              <a:rPr sz="1600" b="1" dirty="0">
                <a:latin typeface="Courier New"/>
                <a:cs typeface="Courier New"/>
              </a:rPr>
              <a:t> </a:t>
            </a:r>
            <a:r>
              <a:rPr sz="1600" b="1" spc="0" dirty="0">
                <a:latin typeface="Courier New"/>
                <a:cs typeface="Courier New"/>
              </a:rPr>
              <a:t>i</a:t>
            </a:r>
            <a:r>
              <a:rPr sz="1600" b="1" spc="-5" dirty="0">
                <a:latin typeface="Courier New"/>
                <a:cs typeface="Courier New"/>
              </a:rPr>
              <a:t>nt</a:t>
            </a:r>
            <a:r>
              <a:rPr sz="1600" b="1" spc="10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n)</a:t>
            </a:r>
            <a:r>
              <a:rPr sz="1600" b="1" spc="10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{ int</a:t>
            </a:r>
            <a:r>
              <a:rPr sz="1600" b="1" spc="20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i,</a:t>
            </a:r>
            <a:r>
              <a:rPr sz="1600" b="1" dirty="0">
                <a:latin typeface="Courier New"/>
                <a:cs typeface="Courier New"/>
              </a:rPr>
              <a:t> </a:t>
            </a:r>
            <a:r>
              <a:rPr sz="1600" b="1" spc="0" dirty="0">
                <a:latin typeface="Courier New"/>
                <a:cs typeface="Courier New"/>
              </a:rPr>
              <a:t>j</a:t>
            </a:r>
            <a:r>
              <a:rPr sz="1600" b="1" spc="-5" dirty="0">
                <a:latin typeface="Courier New"/>
                <a:cs typeface="Courier New"/>
              </a:rPr>
              <a:t>,</a:t>
            </a:r>
            <a:r>
              <a:rPr sz="1600" b="1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k;</a:t>
            </a:r>
            <a:endParaRPr sz="1600">
              <a:latin typeface="Courier New"/>
              <a:cs typeface="Courier New"/>
            </a:endParaRPr>
          </a:p>
          <a:p>
            <a:pPr marL="915035" marR="2858770" indent="-427990">
              <a:lnSpc>
                <a:spcPct val="100000"/>
              </a:lnSpc>
            </a:pPr>
            <a:r>
              <a:rPr sz="1600" b="1" spc="-5" dirty="0">
                <a:latin typeface="Courier New"/>
                <a:cs typeface="Courier New"/>
              </a:rPr>
              <a:t>for</a:t>
            </a:r>
            <a:r>
              <a:rPr sz="1600" b="1" spc="10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(i</a:t>
            </a:r>
            <a:r>
              <a:rPr sz="1600" b="1" spc="10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=</a:t>
            </a:r>
            <a:r>
              <a:rPr sz="1600" b="1" spc="10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0;</a:t>
            </a:r>
            <a:r>
              <a:rPr sz="1600" b="1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i</a:t>
            </a:r>
            <a:r>
              <a:rPr sz="1600" b="1" spc="5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&lt;</a:t>
            </a:r>
            <a:r>
              <a:rPr sz="1600" b="1" spc="10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n;</a:t>
            </a:r>
            <a:r>
              <a:rPr sz="1600" b="1" dirty="0">
                <a:latin typeface="Courier New"/>
                <a:cs typeface="Courier New"/>
              </a:rPr>
              <a:t> </a:t>
            </a:r>
            <a:r>
              <a:rPr sz="1600" b="1" spc="5" dirty="0">
                <a:latin typeface="Courier New"/>
                <a:cs typeface="Courier New"/>
              </a:rPr>
              <a:t>i</a:t>
            </a:r>
            <a:r>
              <a:rPr sz="1600" b="1" spc="-5" dirty="0">
                <a:latin typeface="Courier New"/>
                <a:cs typeface="Courier New"/>
              </a:rPr>
              <a:t>+=B) for</a:t>
            </a:r>
            <a:r>
              <a:rPr sz="1600" b="1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(j</a:t>
            </a:r>
            <a:r>
              <a:rPr sz="1600" b="1" spc="15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=</a:t>
            </a:r>
            <a:r>
              <a:rPr sz="1600" b="1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0;</a:t>
            </a:r>
            <a:r>
              <a:rPr sz="1600" b="1" spc="15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j</a:t>
            </a:r>
            <a:r>
              <a:rPr sz="1600" b="1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&lt;</a:t>
            </a:r>
            <a:r>
              <a:rPr sz="1600" b="1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n;</a:t>
            </a:r>
            <a:r>
              <a:rPr sz="1600" b="1" spc="15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j+=B)</a:t>
            </a:r>
            <a:endParaRPr sz="1600">
              <a:latin typeface="Courier New"/>
              <a:cs typeface="Courier New"/>
            </a:endParaRPr>
          </a:p>
          <a:p>
            <a:pPr marL="1587500">
              <a:lnSpc>
                <a:spcPct val="100000"/>
              </a:lnSpc>
            </a:pPr>
            <a:r>
              <a:rPr sz="1600" b="1" spc="-5" dirty="0">
                <a:latin typeface="Courier New"/>
                <a:cs typeface="Courier New"/>
              </a:rPr>
              <a:t>for (k</a:t>
            </a:r>
            <a:r>
              <a:rPr sz="1600" b="1" spc="10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=</a:t>
            </a:r>
            <a:r>
              <a:rPr sz="1600" b="1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0;</a:t>
            </a:r>
            <a:r>
              <a:rPr sz="1600" b="1" spc="10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k</a:t>
            </a:r>
            <a:r>
              <a:rPr sz="1600" b="1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&lt;</a:t>
            </a:r>
            <a:r>
              <a:rPr sz="1600" b="1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n;</a:t>
            </a:r>
            <a:r>
              <a:rPr sz="1600" b="1" spc="10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k+=</a:t>
            </a:r>
            <a:r>
              <a:rPr sz="1600" b="1" spc="0" dirty="0">
                <a:latin typeface="Courier New"/>
                <a:cs typeface="Courier New"/>
              </a:rPr>
              <a:t>B</a:t>
            </a:r>
            <a:r>
              <a:rPr sz="1600" b="1" spc="-5" dirty="0">
                <a:latin typeface="Courier New"/>
                <a:cs typeface="Courier New"/>
              </a:rPr>
              <a:t>)</a:t>
            </a:r>
            <a:endParaRPr sz="1600">
              <a:latin typeface="Courier New"/>
              <a:cs typeface="Courier New"/>
            </a:endParaRPr>
          </a:p>
          <a:p>
            <a:pPr marL="2196465" indent="-245745">
              <a:lnSpc>
                <a:spcPct val="100000"/>
              </a:lnSpc>
            </a:pPr>
            <a:r>
              <a:rPr sz="1600" b="1" spc="-5" dirty="0">
                <a:solidFill>
                  <a:srgbClr val="990000"/>
                </a:solidFill>
                <a:latin typeface="Courier New"/>
                <a:cs typeface="Courier New"/>
              </a:rPr>
              <a:t>/* B x</a:t>
            </a:r>
            <a:r>
              <a:rPr sz="1600" b="1" spc="10" dirty="0">
                <a:solidFill>
                  <a:srgbClr val="990000"/>
                </a:solidFill>
                <a:latin typeface="Courier New"/>
                <a:cs typeface="Courier New"/>
              </a:rPr>
              <a:t> </a:t>
            </a:r>
            <a:r>
              <a:rPr sz="1600" b="1" spc="-5" dirty="0">
                <a:solidFill>
                  <a:srgbClr val="990000"/>
                </a:solidFill>
                <a:latin typeface="Courier New"/>
                <a:cs typeface="Courier New"/>
              </a:rPr>
              <a:t>B</a:t>
            </a:r>
            <a:r>
              <a:rPr sz="1600" b="1" dirty="0">
                <a:solidFill>
                  <a:srgbClr val="990000"/>
                </a:solidFill>
                <a:latin typeface="Courier New"/>
                <a:cs typeface="Courier New"/>
              </a:rPr>
              <a:t> </a:t>
            </a:r>
            <a:r>
              <a:rPr sz="1600" b="1" spc="-5" dirty="0">
                <a:solidFill>
                  <a:srgbClr val="990000"/>
                </a:solidFill>
                <a:latin typeface="Courier New"/>
                <a:cs typeface="Courier New"/>
              </a:rPr>
              <a:t>m</a:t>
            </a:r>
            <a:r>
              <a:rPr sz="1600" b="1" spc="0" dirty="0">
                <a:solidFill>
                  <a:srgbClr val="990000"/>
                </a:solidFill>
                <a:latin typeface="Courier New"/>
                <a:cs typeface="Courier New"/>
              </a:rPr>
              <a:t>i</a:t>
            </a:r>
            <a:r>
              <a:rPr sz="1600" b="1" spc="-5" dirty="0">
                <a:solidFill>
                  <a:srgbClr val="990000"/>
                </a:solidFill>
                <a:latin typeface="Courier New"/>
                <a:cs typeface="Courier New"/>
              </a:rPr>
              <a:t>ni</a:t>
            </a:r>
            <a:r>
              <a:rPr sz="1600" b="1" dirty="0">
                <a:solidFill>
                  <a:srgbClr val="990000"/>
                </a:solidFill>
                <a:latin typeface="Courier New"/>
                <a:cs typeface="Courier New"/>
              </a:rPr>
              <a:t> </a:t>
            </a:r>
            <a:r>
              <a:rPr sz="1600" b="1" spc="-5" dirty="0">
                <a:solidFill>
                  <a:srgbClr val="990000"/>
                </a:solidFill>
                <a:latin typeface="Courier New"/>
                <a:cs typeface="Courier New"/>
              </a:rPr>
              <a:t>mat</a:t>
            </a:r>
            <a:r>
              <a:rPr sz="1600" b="1" spc="0" dirty="0">
                <a:solidFill>
                  <a:srgbClr val="990000"/>
                </a:solidFill>
                <a:latin typeface="Courier New"/>
                <a:cs typeface="Courier New"/>
              </a:rPr>
              <a:t>r</a:t>
            </a:r>
            <a:r>
              <a:rPr sz="1600" b="1" spc="-5" dirty="0">
                <a:solidFill>
                  <a:srgbClr val="990000"/>
                </a:solidFill>
                <a:latin typeface="Courier New"/>
                <a:cs typeface="Courier New"/>
              </a:rPr>
              <a:t>ix</a:t>
            </a:r>
            <a:r>
              <a:rPr sz="1600" b="1" dirty="0">
                <a:solidFill>
                  <a:srgbClr val="990000"/>
                </a:solidFill>
                <a:latin typeface="Courier New"/>
                <a:cs typeface="Courier New"/>
              </a:rPr>
              <a:t> </a:t>
            </a:r>
            <a:r>
              <a:rPr sz="1600" b="1" spc="-5" dirty="0">
                <a:solidFill>
                  <a:srgbClr val="990000"/>
                </a:solidFill>
                <a:latin typeface="Courier New"/>
                <a:cs typeface="Courier New"/>
              </a:rPr>
              <a:t>m</a:t>
            </a:r>
            <a:r>
              <a:rPr sz="1600" b="1" spc="0" dirty="0">
                <a:solidFill>
                  <a:srgbClr val="990000"/>
                </a:solidFill>
                <a:latin typeface="Courier New"/>
                <a:cs typeface="Courier New"/>
              </a:rPr>
              <a:t>u</a:t>
            </a:r>
            <a:r>
              <a:rPr sz="1600" b="1" spc="-5" dirty="0">
                <a:solidFill>
                  <a:srgbClr val="990000"/>
                </a:solidFill>
                <a:latin typeface="Courier New"/>
                <a:cs typeface="Courier New"/>
              </a:rPr>
              <a:t>ltipli</a:t>
            </a:r>
            <a:r>
              <a:rPr sz="1600" b="1" spc="0" dirty="0">
                <a:solidFill>
                  <a:srgbClr val="990000"/>
                </a:solidFill>
                <a:latin typeface="Courier New"/>
                <a:cs typeface="Courier New"/>
              </a:rPr>
              <a:t>c</a:t>
            </a:r>
            <a:r>
              <a:rPr sz="1600" b="1" spc="-5" dirty="0">
                <a:solidFill>
                  <a:srgbClr val="990000"/>
                </a:solidFill>
                <a:latin typeface="Courier New"/>
                <a:cs typeface="Courier New"/>
              </a:rPr>
              <a:t>atio</a:t>
            </a:r>
            <a:r>
              <a:rPr sz="1600" b="1" spc="0" dirty="0">
                <a:solidFill>
                  <a:srgbClr val="990000"/>
                </a:solidFill>
                <a:latin typeface="Courier New"/>
                <a:cs typeface="Courier New"/>
              </a:rPr>
              <a:t>n</a:t>
            </a:r>
            <a:r>
              <a:rPr sz="1600" b="1" spc="-5" dirty="0">
                <a:solidFill>
                  <a:srgbClr val="990000"/>
                </a:solidFill>
                <a:latin typeface="Courier New"/>
                <a:cs typeface="Courier New"/>
              </a:rPr>
              <a:t>s</a:t>
            </a:r>
            <a:r>
              <a:rPr sz="1600" b="1" dirty="0">
                <a:solidFill>
                  <a:srgbClr val="990000"/>
                </a:solidFill>
                <a:latin typeface="Courier New"/>
                <a:cs typeface="Courier New"/>
              </a:rPr>
              <a:t> </a:t>
            </a:r>
            <a:r>
              <a:rPr sz="1600" b="1" spc="-5" dirty="0">
                <a:solidFill>
                  <a:srgbClr val="990000"/>
                </a:solidFill>
                <a:latin typeface="Courier New"/>
                <a:cs typeface="Courier New"/>
              </a:rPr>
              <a:t>*/ </a:t>
            </a:r>
            <a:r>
              <a:rPr sz="1600" b="1" spc="0" dirty="0">
                <a:latin typeface="Courier New"/>
                <a:cs typeface="Courier New"/>
              </a:rPr>
              <a:t>f</a:t>
            </a:r>
            <a:r>
              <a:rPr sz="1600" b="1" spc="-5" dirty="0">
                <a:latin typeface="Courier New"/>
                <a:cs typeface="Courier New"/>
              </a:rPr>
              <a:t>or</a:t>
            </a:r>
            <a:r>
              <a:rPr sz="1600" b="1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(</a:t>
            </a:r>
            <a:r>
              <a:rPr sz="1600" b="1" spc="0" dirty="0">
                <a:latin typeface="Courier New"/>
                <a:cs typeface="Courier New"/>
              </a:rPr>
              <a:t>i</a:t>
            </a:r>
            <a:r>
              <a:rPr sz="1600" b="1" spc="-5" dirty="0">
                <a:latin typeface="Courier New"/>
                <a:cs typeface="Courier New"/>
              </a:rPr>
              <a:t>1</a:t>
            </a:r>
            <a:r>
              <a:rPr sz="1600" b="1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=</a:t>
            </a:r>
            <a:r>
              <a:rPr sz="1600" b="1" dirty="0">
                <a:latin typeface="Courier New"/>
                <a:cs typeface="Courier New"/>
              </a:rPr>
              <a:t> </a:t>
            </a:r>
            <a:r>
              <a:rPr sz="1600" b="1" spc="10" dirty="0">
                <a:latin typeface="Courier New"/>
                <a:cs typeface="Courier New"/>
              </a:rPr>
              <a:t>i</a:t>
            </a:r>
            <a:r>
              <a:rPr sz="1600" b="1" spc="-5" dirty="0">
                <a:latin typeface="Courier New"/>
                <a:cs typeface="Courier New"/>
              </a:rPr>
              <a:t>;</a:t>
            </a:r>
            <a:r>
              <a:rPr sz="1600" b="1" spc="10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i1</a:t>
            </a:r>
            <a:r>
              <a:rPr sz="1600" b="1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&lt;</a:t>
            </a:r>
            <a:r>
              <a:rPr sz="1600" b="1" spc="15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i+B;</a:t>
            </a:r>
            <a:r>
              <a:rPr sz="1600" b="1" spc="5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i</a:t>
            </a:r>
            <a:r>
              <a:rPr sz="1600" b="1" spc="0" dirty="0">
                <a:latin typeface="Courier New"/>
                <a:cs typeface="Courier New"/>
              </a:rPr>
              <a:t>+</a:t>
            </a:r>
            <a:r>
              <a:rPr sz="1600" b="1" spc="-5" dirty="0">
                <a:latin typeface="Courier New"/>
                <a:cs typeface="Courier New"/>
              </a:rPr>
              <a:t>+)</a:t>
            </a:r>
            <a:endParaRPr sz="1600">
              <a:latin typeface="Courier New"/>
              <a:cs typeface="Courier New"/>
            </a:endParaRPr>
          </a:p>
          <a:p>
            <a:pPr marL="3175000" marR="717550" indent="-488950">
              <a:lnSpc>
                <a:spcPct val="100000"/>
              </a:lnSpc>
            </a:pPr>
            <a:r>
              <a:rPr sz="1600" b="1" spc="-5" dirty="0">
                <a:latin typeface="Courier New"/>
                <a:cs typeface="Courier New"/>
              </a:rPr>
              <a:t>f</a:t>
            </a:r>
            <a:r>
              <a:rPr sz="1600" b="1" spc="0" dirty="0">
                <a:latin typeface="Courier New"/>
                <a:cs typeface="Courier New"/>
              </a:rPr>
              <a:t>o</a:t>
            </a:r>
            <a:r>
              <a:rPr sz="1600" b="1" spc="-5" dirty="0">
                <a:latin typeface="Courier New"/>
                <a:cs typeface="Courier New"/>
              </a:rPr>
              <a:t>r</a:t>
            </a:r>
            <a:r>
              <a:rPr sz="1600" b="1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(j1</a:t>
            </a:r>
            <a:r>
              <a:rPr sz="1600" b="1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=</a:t>
            </a:r>
            <a:r>
              <a:rPr sz="1600" b="1" spc="10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j;</a:t>
            </a:r>
            <a:r>
              <a:rPr sz="1600" b="1" dirty="0">
                <a:latin typeface="Courier New"/>
                <a:cs typeface="Courier New"/>
              </a:rPr>
              <a:t> </a:t>
            </a:r>
            <a:r>
              <a:rPr sz="1600" b="1" spc="0" dirty="0">
                <a:latin typeface="Courier New"/>
                <a:cs typeface="Courier New"/>
              </a:rPr>
              <a:t>j</a:t>
            </a:r>
            <a:r>
              <a:rPr sz="1600" b="1" spc="-5" dirty="0">
                <a:latin typeface="Courier New"/>
                <a:cs typeface="Courier New"/>
              </a:rPr>
              <a:t>1</a:t>
            </a:r>
            <a:r>
              <a:rPr sz="1600" b="1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&lt;</a:t>
            </a:r>
            <a:r>
              <a:rPr sz="1600" b="1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j+</a:t>
            </a:r>
            <a:r>
              <a:rPr sz="1600" b="1" spc="30" dirty="0">
                <a:latin typeface="Courier New"/>
                <a:cs typeface="Courier New"/>
              </a:rPr>
              <a:t>B</a:t>
            </a:r>
            <a:r>
              <a:rPr sz="1600" b="1" spc="-5" dirty="0">
                <a:latin typeface="Courier New"/>
                <a:cs typeface="Courier New"/>
              </a:rPr>
              <a:t>;</a:t>
            </a:r>
            <a:r>
              <a:rPr sz="1600" b="1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j+</a:t>
            </a:r>
            <a:r>
              <a:rPr sz="1600" b="1" spc="0" dirty="0">
                <a:latin typeface="Courier New"/>
                <a:cs typeface="Courier New"/>
              </a:rPr>
              <a:t>+</a:t>
            </a:r>
            <a:r>
              <a:rPr sz="1600" b="1" spc="-5" dirty="0">
                <a:latin typeface="Courier New"/>
                <a:cs typeface="Courier New"/>
              </a:rPr>
              <a:t>) for</a:t>
            </a:r>
            <a:r>
              <a:rPr sz="1600" b="1" dirty="0">
                <a:latin typeface="Courier New"/>
                <a:cs typeface="Courier New"/>
              </a:rPr>
              <a:t> </a:t>
            </a:r>
            <a:r>
              <a:rPr sz="1600" b="1" spc="0" dirty="0">
                <a:latin typeface="Courier New"/>
                <a:cs typeface="Courier New"/>
              </a:rPr>
              <a:t>(</a:t>
            </a:r>
            <a:r>
              <a:rPr sz="1600" b="1" spc="-5" dirty="0">
                <a:latin typeface="Courier New"/>
                <a:cs typeface="Courier New"/>
              </a:rPr>
              <a:t>k1</a:t>
            </a:r>
            <a:r>
              <a:rPr sz="1600" b="1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=</a:t>
            </a:r>
            <a:r>
              <a:rPr sz="1600" b="1" spc="10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k;</a:t>
            </a:r>
            <a:r>
              <a:rPr sz="1600" b="1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k1</a:t>
            </a:r>
            <a:r>
              <a:rPr sz="1600" b="1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&lt;</a:t>
            </a:r>
            <a:endParaRPr sz="1600">
              <a:latin typeface="Courier New"/>
              <a:cs typeface="Courier New"/>
            </a:endParaRPr>
          </a:p>
          <a:p>
            <a:pPr marL="3600450">
              <a:lnSpc>
                <a:spcPct val="100000"/>
              </a:lnSpc>
            </a:pPr>
            <a:r>
              <a:rPr sz="1600" b="1" spc="-5" dirty="0">
                <a:latin typeface="Courier New"/>
                <a:cs typeface="Courier New"/>
              </a:rPr>
              <a:t>c</a:t>
            </a:r>
            <a:r>
              <a:rPr sz="1600" b="1" spc="0" dirty="0">
                <a:latin typeface="Courier New"/>
                <a:cs typeface="Courier New"/>
              </a:rPr>
              <a:t>[</a:t>
            </a:r>
            <a:r>
              <a:rPr sz="1600" b="1" spc="-5" dirty="0">
                <a:latin typeface="Courier New"/>
                <a:cs typeface="Courier New"/>
              </a:rPr>
              <a:t>i1*n+j</a:t>
            </a:r>
            <a:r>
              <a:rPr sz="1600" b="1" spc="0" dirty="0">
                <a:latin typeface="Courier New"/>
                <a:cs typeface="Courier New"/>
              </a:rPr>
              <a:t>1</a:t>
            </a:r>
            <a:r>
              <a:rPr sz="1600" b="1" spc="-5" dirty="0">
                <a:latin typeface="Courier New"/>
                <a:cs typeface="Courier New"/>
              </a:rPr>
              <a:t>]</a:t>
            </a:r>
            <a:r>
              <a:rPr sz="1600" b="1" spc="20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+=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557066" y="3900544"/>
            <a:ext cx="3319145" cy="7397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8419">
              <a:lnSpc>
                <a:spcPct val="100000"/>
              </a:lnSpc>
            </a:pPr>
            <a:r>
              <a:rPr sz="1600" b="1" spc="-5" dirty="0">
                <a:latin typeface="Courier New"/>
                <a:cs typeface="Courier New"/>
              </a:rPr>
              <a:t>k+B;</a:t>
            </a:r>
            <a:r>
              <a:rPr sz="1600" b="1" spc="10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k++)</a:t>
            </a:r>
            <a:endParaRPr sz="16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1600" b="1" spc="-5" dirty="0">
                <a:latin typeface="Courier New"/>
                <a:cs typeface="Courier New"/>
              </a:rPr>
              <a:t>a[i1*n</a:t>
            </a:r>
            <a:r>
              <a:rPr sz="1600" b="1" spc="15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+</a:t>
            </a:r>
            <a:r>
              <a:rPr sz="1600" b="1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k1</a:t>
            </a:r>
            <a:r>
              <a:rPr sz="1600" b="1" spc="0" dirty="0">
                <a:latin typeface="Courier New"/>
                <a:cs typeface="Courier New"/>
              </a:rPr>
              <a:t>]</a:t>
            </a:r>
            <a:r>
              <a:rPr sz="1600" b="1" spc="-5" dirty="0">
                <a:latin typeface="Courier New"/>
                <a:cs typeface="Courier New"/>
              </a:rPr>
              <a:t>*b[k1*n</a:t>
            </a:r>
            <a:r>
              <a:rPr sz="1600" b="1" spc="10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+</a:t>
            </a:r>
            <a:r>
              <a:rPr sz="1600" b="1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j</a:t>
            </a:r>
            <a:r>
              <a:rPr sz="1600" b="1" spc="0" dirty="0">
                <a:latin typeface="Courier New"/>
                <a:cs typeface="Courier New"/>
              </a:rPr>
              <a:t>1</a:t>
            </a:r>
            <a:r>
              <a:rPr sz="1600" b="1" spc="-5" dirty="0">
                <a:latin typeface="Courier New"/>
                <a:cs typeface="Courier New"/>
              </a:rPr>
              <a:t>];</a:t>
            </a:r>
            <a:endParaRPr sz="1600">
              <a:latin typeface="Courier New"/>
              <a:cs typeface="Courier New"/>
            </a:endParaRPr>
          </a:p>
          <a:p>
            <a:pPr marL="1543050">
              <a:lnSpc>
                <a:spcPct val="100000"/>
              </a:lnSpc>
              <a:spcBef>
                <a:spcPts val="130"/>
              </a:spcBef>
            </a:pPr>
            <a:r>
              <a:rPr sz="1800" b="1" i="1" dirty="0">
                <a:solidFill>
                  <a:srgbClr val="808080"/>
                </a:solidFill>
                <a:latin typeface="Courier New"/>
                <a:cs typeface="Courier New"/>
              </a:rPr>
              <a:t>ma</a:t>
            </a:r>
            <a:r>
              <a:rPr sz="1800" b="1" i="1" spc="-15" dirty="0">
                <a:solidFill>
                  <a:srgbClr val="808080"/>
                </a:solidFill>
                <a:latin typeface="Courier New"/>
                <a:cs typeface="Courier New"/>
              </a:rPr>
              <a:t>t</a:t>
            </a:r>
            <a:r>
              <a:rPr sz="1800" b="1" i="1" dirty="0">
                <a:solidFill>
                  <a:srgbClr val="808080"/>
                </a:solidFill>
                <a:latin typeface="Courier New"/>
                <a:cs typeface="Courier New"/>
              </a:rPr>
              <a:t>m</a:t>
            </a:r>
            <a:r>
              <a:rPr sz="1800" b="1" i="1" spc="-15" dirty="0">
                <a:solidFill>
                  <a:srgbClr val="808080"/>
                </a:solidFill>
                <a:latin typeface="Courier New"/>
                <a:cs typeface="Courier New"/>
              </a:rPr>
              <a:t>u</a:t>
            </a:r>
            <a:r>
              <a:rPr sz="1800" b="1" i="1" dirty="0">
                <a:solidFill>
                  <a:srgbClr val="808080"/>
                </a:solidFill>
                <a:latin typeface="Courier New"/>
                <a:cs typeface="Courier New"/>
              </a:rPr>
              <a:t>lt</a:t>
            </a:r>
            <a:r>
              <a:rPr sz="1800" b="1" i="1" spc="-15" dirty="0">
                <a:solidFill>
                  <a:srgbClr val="808080"/>
                </a:solidFill>
                <a:latin typeface="Courier New"/>
                <a:cs typeface="Courier New"/>
              </a:rPr>
              <a:t>/</a:t>
            </a:r>
            <a:r>
              <a:rPr sz="1800" b="1" i="1" dirty="0">
                <a:solidFill>
                  <a:srgbClr val="808080"/>
                </a:solidFill>
                <a:latin typeface="Courier New"/>
                <a:cs typeface="Courier New"/>
              </a:rPr>
              <a:t>b</a:t>
            </a:r>
            <a:r>
              <a:rPr sz="1800" b="1" i="1" spc="-15" dirty="0">
                <a:solidFill>
                  <a:srgbClr val="808080"/>
                </a:solidFill>
                <a:latin typeface="Courier New"/>
                <a:cs typeface="Courier New"/>
              </a:rPr>
              <a:t>mm</a:t>
            </a:r>
            <a:r>
              <a:rPr sz="1800" b="1" i="1" dirty="0">
                <a:solidFill>
                  <a:srgbClr val="808080"/>
                </a:solidFill>
                <a:latin typeface="Courier New"/>
                <a:cs typeface="Courier New"/>
              </a:rPr>
              <a:t>.c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44306" y="4388220"/>
            <a:ext cx="121920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1600" b="1" spc="-5" dirty="0"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844522" y="5583206"/>
            <a:ext cx="3576320" cy="610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435"/>
              </a:lnSpc>
              <a:tabLst>
                <a:tab pos="1716405" algn="l"/>
                <a:tab pos="3360420" algn="l"/>
              </a:tabLst>
            </a:pPr>
            <a:r>
              <a:rPr sz="3200" b="1" dirty="0">
                <a:latin typeface="Calibri"/>
                <a:cs typeface="Calibri"/>
              </a:rPr>
              <a:t>=	</a:t>
            </a:r>
            <a:r>
              <a:rPr sz="4800" b="1" baseline="1736" dirty="0">
                <a:latin typeface="Calibri"/>
                <a:cs typeface="Calibri"/>
              </a:rPr>
              <a:t>x	</a:t>
            </a:r>
            <a:r>
              <a:rPr sz="3200" b="1" dirty="0">
                <a:latin typeface="Calibri"/>
                <a:cs typeface="Calibri"/>
              </a:rPr>
              <a:t>+</a:t>
            </a:r>
            <a:endParaRPr sz="3200">
              <a:latin typeface="Calibri"/>
              <a:cs typeface="Calibri"/>
            </a:endParaRPr>
          </a:p>
          <a:p>
            <a:pPr marL="151765">
              <a:lnSpc>
                <a:spcPts val="1755"/>
              </a:lnSpc>
            </a:pPr>
            <a:r>
              <a:rPr sz="1800" b="1" dirty="0">
                <a:latin typeface="Courier New"/>
                <a:cs typeface="Courier New"/>
              </a:rPr>
              <a:t>i1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472965" y="4726012"/>
            <a:ext cx="29972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dirty="0">
                <a:latin typeface="Courier New"/>
                <a:cs typeface="Courier New"/>
              </a:rPr>
              <a:t>j1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99529" y="5181600"/>
            <a:ext cx="1143000" cy="1143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1440">
              <a:lnSpc>
                <a:spcPct val="100000"/>
              </a:lnSpc>
            </a:pPr>
            <a:r>
              <a:rPr sz="2000" b="1" dirty="0">
                <a:latin typeface="Courier New"/>
                <a:cs typeface="Courier New"/>
              </a:rPr>
              <a:t>c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528729" y="5181600"/>
            <a:ext cx="1143000" cy="1143000"/>
          </a:xfrm>
          <a:prstGeom prst="rect">
            <a:avLst/>
          </a:prstGeom>
          <a:solidFill>
            <a:srgbClr val="DADADA"/>
          </a:solidFill>
        </p:spPr>
        <p:txBody>
          <a:bodyPr vert="horz" wrap="square" lIns="0" tIns="0" rIns="0" bIns="0" rtlCol="0">
            <a:spAutoFit/>
          </a:bodyPr>
          <a:lstStyle/>
          <a:p>
            <a:pPr marL="91440">
              <a:lnSpc>
                <a:spcPct val="100000"/>
              </a:lnSpc>
            </a:pPr>
            <a:r>
              <a:rPr sz="2000" b="1" dirty="0">
                <a:latin typeface="Courier New"/>
                <a:cs typeface="Courier New"/>
              </a:rPr>
              <a:t>c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3756914" y="6488658"/>
            <a:ext cx="1628139" cy="369570"/>
          </a:xfrm>
          <a:custGeom>
            <a:avLst/>
            <a:gdLst/>
            <a:ahLst/>
            <a:cxnLst/>
            <a:rect l="l" t="t" r="r" b="b"/>
            <a:pathLst>
              <a:path w="1628139" h="369570">
                <a:moveTo>
                  <a:pt x="0" y="369341"/>
                </a:moveTo>
                <a:lnTo>
                  <a:pt x="1627886" y="369341"/>
                </a:lnTo>
                <a:lnTo>
                  <a:pt x="1627886" y="0"/>
                </a:lnTo>
                <a:lnTo>
                  <a:pt x="0" y="0"/>
                </a:lnTo>
                <a:lnTo>
                  <a:pt x="0" y="36934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4568242" y="6349742"/>
            <a:ext cx="3175" cy="139065"/>
          </a:xfrm>
          <a:custGeom>
            <a:avLst/>
            <a:gdLst/>
            <a:ahLst/>
            <a:cxnLst/>
            <a:rect l="l" t="t" r="r" b="b"/>
            <a:pathLst>
              <a:path w="3175" h="139064">
                <a:moveTo>
                  <a:pt x="2616" y="138925"/>
                </a:moveTo>
                <a:lnTo>
                  <a:pt x="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525228" y="6349737"/>
            <a:ext cx="88900" cy="77470"/>
          </a:xfrm>
          <a:custGeom>
            <a:avLst/>
            <a:gdLst/>
            <a:ahLst/>
            <a:cxnLst/>
            <a:rect l="l" t="t" r="r" b="b"/>
            <a:pathLst>
              <a:path w="88900" h="77470">
                <a:moveTo>
                  <a:pt x="0" y="77025"/>
                </a:moveTo>
                <a:lnTo>
                  <a:pt x="43014" y="0"/>
                </a:lnTo>
                <a:lnTo>
                  <a:pt x="88887" y="75361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2" name="object 22"/>
          <p:cNvGraphicFramePr>
            <a:graphicFrameLocks noGrp="1"/>
          </p:cNvGraphicFramePr>
          <p:nvPr/>
        </p:nvGraphicFramePr>
        <p:xfrm>
          <a:off x="2284666" y="5181600"/>
          <a:ext cx="1142998" cy="1371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37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54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0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0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62000">
                <a:tc gridSpan="5"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Courier New"/>
                          <a:cs typeface="Courier New"/>
                        </a:rPr>
                        <a:t>a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DADAD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26987">
                      <a:solidFill>
                        <a:srgbClr val="FFFFFF"/>
                      </a:solidFill>
                      <a:prstDash val="solid"/>
                    </a:lnR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26987">
                      <a:solidFill>
                        <a:srgbClr val="FFFFFF"/>
                      </a:solidFill>
                      <a:prstDash val="solid"/>
                    </a:lnL>
                    <a:lnR w="26987">
                      <a:solidFill>
                        <a:srgbClr val="FFFFFF"/>
                      </a:solidFill>
                      <a:prstDash val="solid"/>
                    </a:lnR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26987">
                      <a:solidFill>
                        <a:srgbClr val="FFFFFF"/>
                      </a:solidFill>
                      <a:prstDash val="solid"/>
                    </a:lnL>
                    <a:lnR w="26987">
                      <a:solidFill>
                        <a:srgbClr val="FFFFFF"/>
                      </a:solidFill>
                      <a:prstDash val="solid"/>
                    </a:lnR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26987">
                      <a:solidFill>
                        <a:srgbClr val="FFFFFF"/>
                      </a:solidFill>
                      <a:prstDash val="solid"/>
                    </a:lnL>
                    <a:lnR w="26987">
                      <a:solidFill>
                        <a:srgbClr val="FFFFFF"/>
                      </a:solidFill>
                      <a:prstDash val="solid"/>
                    </a:lnR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26987">
                      <a:solidFill>
                        <a:srgbClr val="FFFFFF"/>
                      </a:solidFill>
                      <a:prstDash val="solid"/>
                    </a:lnL>
                    <a:solidFill>
                      <a:srgbClr val="808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2400">
                <a:tc gridSpan="5">
                  <a:txBody>
                    <a:bodyPr/>
                    <a:lstStyle/>
                    <a:p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DADAD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3" name="object 23"/>
          <p:cNvGraphicFramePr>
            <a:graphicFrameLocks noGrp="1"/>
          </p:cNvGraphicFramePr>
          <p:nvPr/>
        </p:nvGraphicFramePr>
        <p:xfrm>
          <a:off x="3884866" y="5181600"/>
          <a:ext cx="1142999" cy="1524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86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57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9393">
                <a:tc rowSpan="5"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Courier New"/>
                          <a:cs typeface="Courier New"/>
                        </a:rPr>
                        <a:t>b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26987">
                      <a:solidFill>
                        <a:srgbClr val="FFFFFF"/>
                      </a:solidFill>
                      <a:prstDash val="solid"/>
                    </a:lnB>
                    <a:solidFill>
                      <a:srgbClr val="808080"/>
                    </a:solidFill>
                  </a:tcPr>
                </a:tc>
                <a:tc rowSpan="5">
                  <a:txBody>
                    <a:bodyPr/>
                    <a:lstStyle/>
                    <a:p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DADA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T w="26987">
                      <a:solidFill>
                        <a:srgbClr val="FFFFFF"/>
                      </a:solidFill>
                      <a:prstDash val="solid"/>
                    </a:lnT>
                    <a:lnB w="26987">
                      <a:solidFill>
                        <a:srgbClr val="FFFFFF"/>
                      </a:solidFill>
                      <a:prstDash val="solid"/>
                    </a:lnB>
                    <a:solidFill>
                      <a:srgbClr val="80808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solidFill>
                      <a:srgbClr val="DADA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547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T w="26987">
                      <a:solidFill>
                        <a:srgbClr val="FFFFFF"/>
                      </a:solidFill>
                      <a:prstDash val="solid"/>
                    </a:lnT>
                    <a:lnB w="26987">
                      <a:solidFill>
                        <a:srgbClr val="FFFFFF"/>
                      </a:solidFill>
                      <a:prstDash val="solid"/>
                    </a:lnB>
                    <a:solidFill>
                      <a:srgbClr val="80808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solidFill>
                      <a:srgbClr val="DADA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067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T w="26987">
                      <a:solidFill>
                        <a:srgbClr val="FFFFFF"/>
                      </a:solidFill>
                      <a:prstDash val="solid"/>
                    </a:lnT>
                    <a:lnB w="26987">
                      <a:solidFill>
                        <a:srgbClr val="FFFFFF"/>
                      </a:solidFill>
                      <a:prstDash val="solid"/>
                    </a:lnB>
                    <a:solidFill>
                      <a:srgbClr val="80808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solidFill>
                      <a:srgbClr val="DADA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245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T w="26987">
                      <a:solidFill>
                        <a:srgbClr val="FFFFFF"/>
                      </a:solidFill>
                      <a:prstDash val="solid"/>
                    </a:lnT>
                    <a:solidFill>
                      <a:srgbClr val="80808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solidFill>
                      <a:srgbClr val="DADA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57018" y="394767"/>
            <a:ext cx="7592093" cy="843822"/>
          </a:xfrm>
          <a:prstGeom prst="rect">
            <a:avLst/>
          </a:prstGeom>
        </p:spPr>
        <p:txBody>
          <a:bodyPr vert="horz" wrap="square" lIns="0" tIns="287021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zh-CN" altLang="en-US" spc="-5" dirty="0"/>
              <a:t>高速缓存不命中分析</a:t>
            </a:r>
            <a:endParaRPr spc="-5" dirty="0"/>
          </a:p>
        </p:txBody>
      </p:sp>
      <p:sp>
        <p:nvSpPr>
          <p:cNvPr id="4" name="object 4"/>
          <p:cNvSpPr txBox="1"/>
          <p:nvPr/>
        </p:nvSpPr>
        <p:spPr>
          <a:xfrm>
            <a:off x="475615" y="1324483"/>
            <a:ext cx="4858385" cy="14850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990000"/>
              </a:buClr>
              <a:buSzPct val="60416"/>
              <a:buFont typeface="Wingdings 2"/>
              <a:buChar char=""/>
              <a:tabLst>
                <a:tab pos="355600" algn="l"/>
              </a:tabLst>
            </a:pPr>
            <a:r>
              <a:rPr lang="zh-CN" altLang="en-US" sz="2400" b="1" spc="-5" dirty="0">
                <a:latin typeface="Calibri"/>
                <a:cs typeface="Calibri"/>
              </a:rPr>
              <a:t>假设</a:t>
            </a:r>
            <a:r>
              <a:rPr lang="en-US" altLang="zh-CN" sz="2400" b="1" spc="-5" dirty="0">
                <a:latin typeface="Calibri"/>
                <a:cs typeface="Calibri"/>
              </a:rPr>
              <a:t>:</a:t>
            </a:r>
            <a:endParaRPr lang="zh-CN" altLang="en-US" sz="2400" dirty="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lr>
                <a:srgbClr val="990000"/>
              </a:buClr>
              <a:buSzPct val="110000"/>
              <a:buFont typeface="Wingdings"/>
              <a:buChar char=""/>
              <a:tabLst>
                <a:tab pos="756920" algn="l"/>
              </a:tabLst>
            </a:pPr>
            <a:r>
              <a:rPr lang="zh-CN" altLang="en-US" sz="2000" dirty="0">
                <a:latin typeface="Calibri"/>
                <a:cs typeface="Calibri"/>
              </a:rPr>
              <a:t>高速缓存块 </a:t>
            </a:r>
            <a:r>
              <a:rPr lang="en-US" altLang="zh-CN" sz="2000" dirty="0">
                <a:latin typeface="Calibri"/>
                <a:cs typeface="Calibri"/>
              </a:rPr>
              <a:t>= 8</a:t>
            </a:r>
            <a:r>
              <a:rPr lang="zh-CN" altLang="en-US" sz="2000" spc="-5" dirty="0">
                <a:latin typeface="Calibri"/>
                <a:cs typeface="Calibri"/>
              </a:rPr>
              <a:t> </a:t>
            </a:r>
            <a:r>
              <a:rPr lang="en-US" altLang="zh-CN" sz="2000" dirty="0">
                <a:latin typeface="Calibri"/>
                <a:cs typeface="Calibri"/>
              </a:rPr>
              <a:t>d</a:t>
            </a:r>
            <a:r>
              <a:rPr lang="en-US" altLang="zh-CN" sz="2000" spc="-5" dirty="0">
                <a:latin typeface="Calibri"/>
                <a:cs typeface="Calibri"/>
              </a:rPr>
              <a:t>o</a:t>
            </a:r>
            <a:r>
              <a:rPr lang="en-US" altLang="zh-CN" sz="2000" dirty="0">
                <a:latin typeface="Calibri"/>
                <a:cs typeface="Calibri"/>
              </a:rPr>
              <a:t>ub</a:t>
            </a:r>
            <a:r>
              <a:rPr lang="en-US" altLang="zh-CN" sz="2000" spc="-5" dirty="0">
                <a:latin typeface="Calibri"/>
                <a:cs typeface="Calibri"/>
              </a:rPr>
              <a:t>le</a:t>
            </a:r>
            <a:r>
              <a:rPr lang="en-US" altLang="zh-CN" sz="2000" dirty="0">
                <a:latin typeface="Calibri"/>
                <a:cs typeface="Calibri"/>
              </a:rPr>
              <a:t>s</a:t>
            </a: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lr>
                <a:srgbClr val="990000"/>
              </a:buClr>
              <a:buSzPct val="110000"/>
              <a:buFont typeface="Wingdings"/>
              <a:buChar char=""/>
              <a:tabLst>
                <a:tab pos="756920" algn="l"/>
              </a:tabLst>
            </a:pPr>
            <a:r>
              <a:rPr lang="zh-CN" altLang="en-US" sz="2000" dirty="0">
                <a:latin typeface="Calibri"/>
                <a:cs typeface="Calibri"/>
              </a:rPr>
              <a:t>高速缓存大小 </a:t>
            </a:r>
            <a:r>
              <a:rPr lang="en-US" altLang="zh-CN" sz="2000" dirty="0">
                <a:latin typeface="Calibri"/>
                <a:cs typeface="Calibri"/>
              </a:rPr>
              <a:t>C</a:t>
            </a:r>
            <a:r>
              <a:rPr lang="en-US" altLang="zh-CN" sz="2000" spc="-10" dirty="0">
                <a:latin typeface="Calibri"/>
                <a:cs typeface="Calibri"/>
              </a:rPr>
              <a:t> </a:t>
            </a:r>
            <a:r>
              <a:rPr lang="en-US" altLang="zh-CN" sz="2000" spc="-5" dirty="0">
                <a:latin typeface="Calibri"/>
                <a:cs typeface="Calibri"/>
              </a:rPr>
              <a:t>&lt;</a:t>
            </a:r>
            <a:r>
              <a:rPr lang="en-US" altLang="zh-CN" sz="2000" dirty="0">
                <a:latin typeface="Calibri"/>
                <a:cs typeface="Calibri"/>
              </a:rPr>
              <a:t>&lt;</a:t>
            </a:r>
            <a:r>
              <a:rPr lang="en-US" altLang="zh-CN" sz="2000" spc="-5" dirty="0">
                <a:latin typeface="Calibri"/>
                <a:cs typeface="Calibri"/>
              </a:rPr>
              <a:t> </a:t>
            </a:r>
            <a:r>
              <a:rPr lang="en-US" altLang="zh-CN" sz="2000" i="1" dirty="0">
                <a:latin typeface="Calibri"/>
                <a:cs typeface="Calibri"/>
              </a:rPr>
              <a:t>n</a:t>
            </a:r>
            <a:r>
              <a:rPr lang="en-US" altLang="zh-CN" sz="2000" i="1" spc="-10" dirty="0">
                <a:latin typeface="Calibri"/>
                <a:cs typeface="Calibri"/>
              </a:rPr>
              <a:t> </a:t>
            </a:r>
            <a:r>
              <a:rPr lang="en-US" altLang="zh-CN" sz="2000" dirty="0">
                <a:latin typeface="Calibri"/>
                <a:cs typeface="Calibri"/>
              </a:rPr>
              <a:t>(</a:t>
            </a:r>
            <a:r>
              <a:rPr lang="zh-CN" altLang="en-US" sz="2000" dirty="0">
                <a:latin typeface="Calibri"/>
                <a:cs typeface="Calibri"/>
              </a:rPr>
              <a:t>远小于 </a:t>
            </a:r>
            <a:r>
              <a:rPr lang="en-US" altLang="zh-CN" sz="2000" i="1" dirty="0">
                <a:latin typeface="Calibri"/>
                <a:cs typeface="Calibri"/>
              </a:rPr>
              <a:t>n</a:t>
            </a:r>
            <a:r>
              <a:rPr lang="en-US" altLang="zh-CN" sz="2000" dirty="0">
                <a:latin typeface="Calibri"/>
                <a:cs typeface="Calibri"/>
              </a:rPr>
              <a:t>)</a:t>
            </a: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lr>
                <a:srgbClr val="990000"/>
              </a:buClr>
              <a:buSzPct val="110000"/>
              <a:buFont typeface="Wingdings"/>
              <a:buChar char=""/>
              <a:tabLst>
                <a:tab pos="756920" algn="l"/>
                <a:tab pos="2463165" algn="l"/>
              </a:tabLst>
            </a:pPr>
            <a:r>
              <a:rPr sz="2000" dirty="0">
                <a:latin typeface="Calibri"/>
                <a:cs typeface="Calibri"/>
              </a:rPr>
              <a:t>	</a:t>
            </a:r>
            <a:r>
              <a:rPr lang="zh-CN" altLang="en-US" sz="2000" dirty="0">
                <a:latin typeface="Calibri"/>
                <a:cs typeface="Calibri"/>
              </a:rPr>
              <a:t>放入缓存中的三个块     </a:t>
            </a:r>
            <a:r>
              <a:rPr sz="2000" dirty="0">
                <a:latin typeface="Calibri"/>
                <a:cs typeface="Calibri"/>
              </a:rPr>
              <a:t>: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3B</a:t>
            </a:r>
            <a:r>
              <a:rPr sz="1950" spc="22" baseline="25641" dirty="0">
                <a:latin typeface="Calibri"/>
                <a:cs typeface="Calibri"/>
              </a:rPr>
              <a:t>2</a:t>
            </a:r>
            <a:r>
              <a:rPr sz="1950" baseline="25641" dirty="0">
                <a:latin typeface="Calibri"/>
                <a:cs typeface="Calibri"/>
              </a:rPr>
              <a:t> </a:t>
            </a:r>
            <a:r>
              <a:rPr sz="1950" spc="-225" baseline="25641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&lt; C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75615" y="3274186"/>
            <a:ext cx="3105785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990000"/>
              </a:buClr>
              <a:buSzPct val="58333"/>
              <a:buFont typeface="Wingdings 2"/>
              <a:buChar char=""/>
              <a:tabLst>
                <a:tab pos="355600" algn="l"/>
              </a:tabLst>
            </a:pPr>
            <a:r>
              <a:rPr lang="zh-CN" altLang="en-US" sz="2400" b="1" spc="-10" dirty="0">
                <a:latin typeface="Calibri"/>
                <a:cs typeface="Calibri"/>
              </a:rPr>
              <a:t>第一次</a:t>
            </a:r>
            <a:r>
              <a:rPr sz="2400" b="1" spc="-10" dirty="0">
                <a:latin typeface="Calibri"/>
                <a:cs typeface="Calibri"/>
              </a:rPr>
              <a:t>(</a:t>
            </a:r>
            <a:r>
              <a:rPr lang="zh-CN" altLang="en-US" sz="2400" b="1" spc="-10" dirty="0">
                <a:latin typeface="Calibri"/>
                <a:cs typeface="Calibri"/>
              </a:rPr>
              <a:t>块</a:t>
            </a:r>
            <a:r>
              <a:rPr sz="2400" b="1" spc="-5" dirty="0">
                <a:latin typeface="Calibri"/>
                <a:cs typeface="Calibri"/>
              </a:rPr>
              <a:t>)</a:t>
            </a:r>
            <a:r>
              <a:rPr sz="2400" b="1" spc="-10" dirty="0">
                <a:latin typeface="Calibri"/>
                <a:cs typeface="Calibri"/>
              </a:rPr>
              <a:t> </a:t>
            </a:r>
            <a:r>
              <a:rPr lang="zh-CN" altLang="en-US" sz="2400" b="1" spc="-10" dirty="0">
                <a:latin typeface="Calibri"/>
                <a:cs typeface="Calibri"/>
              </a:rPr>
              <a:t>迭代</a:t>
            </a:r>
            <a:r>
              <a:rPr sz="2400" b="1" spc="-5" dirty="0">
                <a:latin typeface="Calibri"/>
                <a:cs typeface="Calibri"/>
              </a:rPr>
              <a:t>: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32814" y="3656376"/>
            <a:ext cx="3021330" cy="9541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buClr>
                <a:srgbClr val="990000"/>
              </a:buClr>
              <a:buSzPct val="110000"/>
              <a:buFont typeface="Wingdings"/>
              <a:buChar char=""/>
              <a:tabLst>
                <a:tab pos="299720" algn="l"/>
              </a:tabLst>
            </a:pPr>
            <a:r>
              <a:rPr lang="zh-CN" altLang="en-US" sz="2000" spc="-15" dirty="0">
                <a:latin typeface="Calibri"/>
                <a:cs typeface="Calibri"/>
              </a:rPr>
              <a:t>每块有</a:t>
            </a:r>
            <a:r>
              <a:rPr lang="en-US" altLang="zh-CN" sz="2000" dirty="0">
                <a:latin typeface="Calibri"/>
                <a:cs typeface="Calibri"/>
              </a:rPr>
              <a:t>B</a:t>
            </a:r>
            <a:r>
              <a:rPr lang="en-US" altLang="zh-CN" sz="1950" spc="15" baseline="25641" dirty="0">
                <a:latin typeface="Calibri"/>
                <a:cs typeface="Calibri"/>
              </a:rPr>
              <a:t>2</a:t>
            </a:r>
            <a:r>
              <a:rPr lang="en-US" altLang="zh-CN" sz="2000" spc="5" dirty="0">
                <a:latin typeface="Calibri"/>
                <a:cs typeface="Calibri"/>
              </a:rPr>
              <a:t>/</a:t>
            </a:r>
            <a:r>
              <a:rPr lang="en-US" altLang="zh-CN" sz="2000" dirty="0">
                <a:latin typeface="Calibri"/>
                <a:cs typeface="Calibri"/>
              </a:rPr>
              <a:t>8</a:t>
            </a:r>
            <a:r>
              <a:rPr lang="zh-CN" altLang="en-US" sz="2000" dirty="0">
                <a:latin typeface="Calibri"/>
                <a:cs typeface="Calibri"/>
              </a:rPr>
              <a:t>不命中</a:t>
            </a:r>
            <a:endParaRPr lang="en-US" altLang="zh-CN" sz="2000" spc="-15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buClr>
                <a:srgbClr val="990000"/>
              </a:buClr>
              <a:buSzPct val="110000"/>
              <a:tabLst>
                <a:tab pos="299720" algn="l"/>
              </a:tabLst>
            </a:pPr>
            <a:r>
              <a:rPr sz="2200" spc="-5" dirty="0">
                <a:solidFill>
                  <a:srgbClr val="990000"/>
                </a:solidFill>
                <a:latin typeface="Wingdings"/>
                <a:cs typeface="Wingdings"/>
              </a:rPr>
              <a:t></a:t>
            </a:r>
            <a:r>
              <a:rPr sz="2200" spc="-5" dirty="0">
                <a:solidFill>
                  <a:srgbClr val="990000"/>
                </a:solidFill>
                <a:latin typeface="Times New Roman"/>
                <a:cs typeface="Times New Roman"/>
              </a:rPr>
              <a:t>	</a:t>
            </a:r>
            <a:r>
              <a:rPr sz="2000" dirty="0">
                <a:latin typeface="Calibri"/>
                <a:cs typeface="Calibri"/>
              </a:rPr>
              <a:t>2</a:t>
            </a:r>
            <a:r>
              <a:rPr sz="2000" i="1" dirty="0">
                <a:latin typeface="Calibri"/>
                <a:cs typeface="Calibri"/>
              </a:rPr>
              <a:t>n</a:t>
            </a:r>
            <a:r>
              <a:rPr sz="2000" spc="5" dirty="0">
                <a:latin typeface="Calibri"/>
                <a:cs typeface="Calibri"/>
              </a:rPr>
              <a:t>/</a:t>
            </a:r>
            <a:r>
              <a:rPr sz="2000" dirty="0">
                <a:latin typeface="Calibri"/>
                <a:cs typeface="Calibri"/>
              </a:rPr>
              <a:t>B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x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</a:t>
            </a:r>
            <a:r>
              <a:rPr sz="1950" spc="15" baseline="25641" dirty="0">
                <a:latin typeface="Calibri"/>
                <a:cs typeface="Calibri"/>
              </a:rPr>
              <a:t>2</a:t>
            </a:r>
            <a:r>
              <a:rPr sz="2000" spc="5" dirty="0">
                <a:latin typeface="Calibri"/>
                <a:cs typeface="Calibri"/>
              </a:rPr>
              <a:t>/</a:t>
            </a:r>
            <a:r>
              <a:rPr sz="2000" dirty="0">
                <a:latin typeface="Calibri"/>
                <a:cs typeface="Calibri"/>
              </a:rPr>
              <a:t>8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= </a:t>
            </a:r>
            <a:r>
              <a:rPr sz="2000" dirty="0" err="1">
                <a:latin typeface="Calibri"/>
                <a:cs typeface="Calibri"/>
              </a:rPr>
              <a:t>nB</a:t>
            </a:r>
            <a:r>
              <a:rPr sz="2000" spc="5" dirty="0">
                <a:latin typeface="Calibri"/>
                <a:cs typeface="Calibri"/>
              </a:rPr>
              <a:t>/4</a:t>
            </a:r>
            <a:endParaRPr lang="en-US" sz="2000" spc="5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buClr>
                <a:srgbClr val="990000"/>
              </a:buClr>
              <a:buSzPct val="110000"/>
              <a:tabLst>
                <a:tab pos="299720" algn="l"/>
              </a:tabLst>
            </a:pP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</a:t>
            </a:r>
            <a:r>
              <a:rPr lang="zh-CN" altLang="en-US" sz="2000" dirty="0">
                <a:latin typeface="Calibri"/>
                <a:cs typeface="Calibri"/>
              </a:rPr>
              <a:t>省略矩阵</a:t>
            </a:r>
            <a:r>
              <a:rPr sz="2000" dirty="0">
                <a:latin typeface="Calibri"/>
                <a:cs typeface="Calibri"/>
              </a:rPr>
              <a:t>c)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32814" y="5424216"/>
            <a:ext cx="2370455" cy="620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9085" marR="5080" indent="-286385">
              <a:lnSpc>
                <a:spcPct val="100000"/>
              </a:lnSpc>
              <a:buClr>
                <a:srgbClr val="990000"/>
              </a:buClr>
              <a:buSzPct val="110000"/>
              <a:buFont typeface="Wingdings"/>
              <a:buChar char=""/>
              <a:tabLst>
                <a:tab pos="299720" algn="l"/>
              </a:tabLst>
            </a:pPr>
            <a:r>
              <a:rPr lang="zh-CN" altLang="en-US" sz="2000" spc="-5" dirty="0">
                <a:solidFill>
                  <a:srgbClr val="C00000"/>
                </a:solidFill>
                <a:latin typeface="Calibri"/>
                <a:cs typeface="Calibri"/>
              </a:rPr>
              <a:t>缓存后</a:t>
            </a:r>
            <a:r>
              <a:rPr lang="en-US" altLang="zh-CN" sz="2000" dirty="0">
                <a:solidFill>
                  <a:srgbClr val="C00000"/>
                </a:solidFill>
                <a:latin typeface="Calibri"/>
                <a:cs typeface="Calibri"/>
              </a:rPr>
              <a:t>: </a:t>
            </a:r>
            <a:endParaRPr lang="zh-CN" altLang="en-US" sz="2000" dirty="0">
              <a:solidFill>
                <a:srgbClr val="C00000"/>
              </a:solidFill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buClr>
                <a:srgbClr val="990000"/>
              </a:buClr>
              <a:buSzPct val="110000"/>
              <a:tabLst>
                <a:tab pos="299720" algn="l"/>
              </a:tabLst>
            </a:pPr>
            <a:r>
              <a:rPr lang="en-US" altLang="zh-CN" sz="2000" dirty="0">
                <a:latin typeface="Calibri"/>
                <a:cs typeface="Calibri"/>
              </a:rPr>
              <a:t>(</a:t>
            </a:r>
            <a:r>
              <a:rPr lang="zh-CN" altLang="en-US" sz="2000" dirty="0">
                <a:latin typeface="Calibri"/>
                <a:cs typeface="Calibri"/>
              </a:rPr>
              <a:t>示意图</a:t>
            </a:r>
            <a:r>
              <a:rPr lang="en-US" altLang="zh-CN" sz="2000" dirty="0">
                <a:latin typeface="Calibri"/>
                <a:cs typeface="Calibri"/>
              </a:rPr>
              <a:t>)</a:t>
            </a:r>
            <a:endParaRPr lang="zh-CN" altLang="en-US" sz="2000" dirty="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899937" y="5789333"/>
            <a:ext cx="1143000" cy="916305"/>
          </a:xfrm>
          <a:custGeom>
            <a:avLst/>
            <a:gdLst/>
            <a:ahLst/>
            <a:cxnLst/>
            <a:rect l="l" t="t" r="r" b="b"/>
            <a:pathLst>
              <a:path w="1143000" h="916304">
                <a:moveTo>
                  <a:pt x="0" y="916266"/>
                </a:moveTo>
                <a:lnTo>
                  <a:pt x="1143000" y="916266"/>
                </a:lnTo>
                <a:lnTo>
                  <a:pt x="1143000" y="0"/>
                </a:lnTo>
                <a:lnTo>
                  <a:pt x="0" y="0"/>
                </a:lnTo>
                <a:lnTo>
                  <a:pt x="0" y="916266"/>
                </a:lnTo>
                <a:close/>
              </a:path>
            </a:pathLst>
          </a:custGeom>
          <a:solidFill>
            <a:srgbClr val="DADA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715415" y="5562600"/>
            <a:ext cx="927735" cy="1143000"/>
          </a:xfrm>
          <a:custGeom>
            <a:avLst/>
            <a:gdLst/>
            <a:ahLst/>
            <a:cxnLst/>
            <a:rect l="l" t="t" r="r" b="b"/>
            <a:pathLst>
              <a:path w="927734" h="1143000">
                <a:moveTo>
                  <a:pt x="0" y="1143000"/>
                </a:moveTo>
                <a:lnTo>
                  <a:pt x="927722" y="1143000"/>
                </a:lnTo>
                <a:lnTo>
                  <a:pt x="927722" y="0"/>
                </a:lnTo>
                <a:lnTo>
                  <a:pt x="0" y="0"/>
                </a:lnTo>
                <a:lnTo>
                  <a:pt x="0" y="1143000"/>
                </a:lnTo>
                <a:close/>
              </a:path>
            </a:pathLst>
          </a:custGeom>
          <a:solidFill>
            <a:srgbClr val="DADA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7164003" y="5976239"/>
            <a:ext cx="212725" cy="432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>
                <a:latin typeface="Calibri"/>
                <a:cs typeface="Calibri"/>
              </a:rPr>
              <a:t>x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114800" y="5562600"/>
            <a:ext cx="1143000" cy="1143000"/>
          </a:xfrm>
          <a:custGeom>
            <a:avLst/>
            <a:gdLst/>
            <a:ahLst/>
            <a:cxnLst/>
            <a:rect l="l" t="t" r="r" b="b"/>
            <a:pathLst>
              <a:path w="1143000" h="1143000">
                <a:moveTo>
                  <a:pt x="0" y="0"/>
                </a:moveTo>
                <a:lnTo>
                  <a:pt x="1143000" y="0"/>
                </a:lnTo>
                <a:lnTo>
                  <a:pt x="1143000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solidFill>
            <a:srgbClr val="DADA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459789" y="5976239"/>
            <a:ext cx="228600" cy="432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>
                <a:latin typeface="Calibri"/>
                <a:cs typeface="Calibri"/>
              </a:rPr>
              <a:t>=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114800" y="5562600"/>
            <a:ext cx="1905" cy="186690"/>
          </a:xfrm>
          <a:custGeom>
            <a:avLst/>
            <a:gdLst/>
            <a:ahLst/>
            <a:cxnLst/>
            <a:rect l="l" t="t" r="r" b="b"/>
            <a:pathLst>
              <a:path w="1904" h="186689">
                <a:moveTo>
                  <a:pt x="0" y="186270"/>
                </a:moveTo>
                <a:lnTo>
                  <a:pt x="1333" y="186270"/>
                </a:lnTo>
                <a:lnTo>
                  <a:pt x="1333" y="0"/>
                </a:lnTo>
                <a:lnTo>
                  <a:pt x="0" y="0"/>
                </a:lnTo>
                <a:lnTo>
                  <a:pt x="0" y="18627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486815" y="5562600"/>
            <a:ext cx="228600" cy="931544"/>
          </a:xfrm>
          <a:custGeom>
            <a:avLst/>
            <a:gdLst/>
            <a:ahLst/>
            <a:cxnLst/>
            <a:rect l="l" t="t" r="r" b="b"/>
            <a:pathLst>
              <a:path w="228600" h="931545">
                <a:moveTo>
                  <a:pt x="0" y="931329"/>
                </a:moveTo>
                <a:lnTo>
                  <a:pt x="228600" y="931329"/>
                </a:lnTo>
                <a:lnTo>
                  <a:pt x="228600" y="0"/>
                </a:lnTo>
                <a:lnTo>
                  <a:pt x="0" y="0"/>
                </a:lnTo>
                <a:lnTo>
                  <a:pt x="0" y="931329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478352" y="6255279"/>
            <a:ext cx="228600" cy="1905"/>
          </a:xfrm>
          <a:custGeom>
            <a:avLst/>
            <a:gdLst/>
            <a:ahLst/>
            <a:cxnLst/>
            <a:rect l="l" t="t" r="r" b="b"/>
            <a:pathLst>
              <a:path w="228600" h="1904">
                <a:moveTo>
                  <a:pt x="228600" y="1587"/>
                </a:moveTo>
                <a:lnTo>
                  <a:pt x="0" y="0"/>
                </a:lnTo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478352" y="6492345"/>
            <a:ext cx="228600" cy="1905"/>
          </a:xfrm>
          <a:custGeom>
            <a:avLst/>
            <a:gdLst/>
            <a:ahLst/>
            <a:cxnLst/>
            <a:rect l="l" t="t" r="r" b="b"/>
            <a:pathLst>
              <a:path w="228600" h="1904">
                <a:moveTo>
                  <a:pt x="228600" y="1587"/>
                </a:moveTo>
                <a:lnTo>
                  <a:pt x="0" y="0"/>
                </a:lnTo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478352" y="5791200"/>
            <a:ext cx="228600" cy="1905"/>
          </a:xfrm>
          <a:custGeom>
            <a:avLst/>
            <a:gdLst/>
            <a:ahLst/>
            <a:cxnLst/>
            <a:rect l="l" t="t" r="r" b="b"/>
            <a:pathLst>
              <a:path w="228600" h="1904">
                <a:moveTo>
                  <a:pt x="228600" y="1587"/>
                </a:moveTo>
                <a:lnTo>
                  <a:pt x="0" y="0"/>
                </a:lnTo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478352" y="6019800"/>
            <a:ext cx="228600" cy="1905"/>
          </a:xfrm>
          <a:custGeom>
            <a:avLst/>
            <a:gdLst/>
            <a:ahLst/>
            <a:cxnLst/>
            <a:rect l="l" t="t" r="r" b="b"/>
            <a:pathLst>
              <a:path w="228600" h="1904">
                <a:moveTo>
                  <a:pt x="228600" y="1587"/>
                </a:moveTo>
                <a:lnTo>
                  <a:pt x="0" y="0"/>
                </a:lnTo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5899937" y="3960533"/>
            <a:ext cx="1143000" cy="916305"/>
          </a:xfrm>
          <a:custGeom>
            <a:avLst/>
            <a:gdLst/>
            <a:ahLst/>
            <a:cxnLst/>
            <a:rect l="l" t="t" r="r" b="b"/>
            <a:pathLst>
              <a:path w="1143000" h="916304">
                <a:moveTo>
                  <a:pt x="0" y="916266"/>
                </a:moveTo>
                <a:lnTo>
                  <a:pt x="1143000" y="916266"/>
                </a:lnTo>
                <a:lnTo>
                  <a:pt x="1143000" y="0"/>
                </a:lnTo>
                <a:lnTo>
                  <a:pt x="0" y="0"/>
                </a:lnTo>
                <a:lnTo>
                  <a:pt x="0" y="916266"/>
                </a:lnTo>
                <a:close/>
              </a:path>
            </a:pathLst>
          </a:custGeom>
          <a:solidFill>
            <a:srgbClr val="DADA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696200" y="3733800"/>
            <a:ext cx="947419" cy="1143000"/>
          </a:xfrm>
          <a:custGeom>
            <a:avLst/>
            <a:gdLst/>
            <a:ahLst/>
            <a:cxnLst/>
            <a:rect l="l" t="t" r="r" b="b"/>
            <a:pathLst>
              <a:path w="947420" h="1143000">
                <a:moveTo>
                  <a:pt x="0" y="1143000"/>
                </a:moveTo>
                <a:lnTo>
                  <a:pt x="946937" y="1143000"/>
                </a:lnTo>
                <a:lnTo>
                  <a:pt x="946937" y="0"/>
                </a:lnTo>
                <a:lnTo>
                  <a:pt x="0" y="0"/>
                </a:lnTo>
                <a:lnTo>
                  <a:pt x="0" y="1143000"/>
                </a:lnTo>
                <a:close/>
              </a:path>
            </a:pathLst>
          </a:custGeom>
          <a:solidFill>
            <a:srgbClr val="DADA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7164003" y="4147439"/>
            <a:ext cx="212725" cy="432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>
                <a:latin typeface="Calibri"/>
                <a:cs typeface="Calibri"/>
              </a:rPr>
              <a:t>x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4114800" y="3733800"/>
            <a:ext cx="1143000" cy="1143000"/>
          </a:xfrm>
          <a:custGeom>
            <a:avLst/>
            <a:gdLst/>
            <a:ahLst/>
            <a:cxnLst/>
            <a:rect l="l" t="t" r="r" b="b"/>
            <a:pathLst>
              <a:path w="1143000" h="1143000">
                <a:moveTo>
                  <a:pt x="0" y="0"/>
                </a:moveTo>
                <a:lnTo>
                  <a:pt x="1143000" y="0"/>
                </a:lnTo>
                <a:lnTo>
                  <a:pt x="1143000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solidFill>
            <a:srgbClr val="DADA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5459789" y="4147439"/>
            <a:ext cx="228600" cy="432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>
                <a:latin typeface="Calibri"/>
                <a:cs typeface="Calibri"/>
              </a:rPr>
              <a:t>=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4114800" y="3733800"/>
            <a:ext cx="186690" cy="186690"/>
          </a:xfrm>
          <a:custGeom>
            <a:avLst/>
            <a:gdLst/>
            <a:ahLst/>
            <a:cxnLst/>
            <a:rect l="l" t="t" r="r" b="b"/>
            <a:pathLst>
              <a:path w="186689" h="186689">
                <a:moveTo>
                  <a:pt x="0" y="0"/>
                </a:moveTo>
                <a:lnTo>
                  <a:pt x="186270" y="0"/>
                </a:lnTo>
                <a:lnTo>
                  <a:pt x="186270" y="186270"/>
                </a:lnTo>
                <a:lnTo>
                  <a:pt x="0" y="186270"/>
                </a:lnTo>
                <a:lnTo>
                  <a:pt x="0" y="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899937" y="3731933"/>
            <a:ext cx="1143000" cy="228600"/>
          </a:xfrm>
          <a:custGeom>
            <a:avLst/>
            <a:gdLst/>
            <a:ahLst/>
            <a:cxnLst/>
            <a:rect l="l" t="t" r="r" b="b"/>
            <a:pathLst>
              <a:path w="1143000" h="228600">
                <a:moveTo>
                  <a:pt x="0" y="0"/>
                </a:moveTo>
                <a:lnTo>
                  <a:pt x="1143000" y="0"/>
                </a:lnTo>
                <a:lnTo>
                  <a:pt x="1143000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7467600" y="3733800"/>
            <a:ext cx="228600" cy="1143000"/>
          </a:xfrm>
          <a:custGeom>
            <a:avLst/>
            <a:gdLst/>
            <a:ahLst/>
            <a:cxnLst/>
            <a:rect l="l" t="t" r="r" b="b"/>
            <a:pathLst>
              <a:path w="228600" h="1143000">
                <a:moveTo>
                  <a:pt x="228600" y="1143000"/>
                </a:moveTo>
                <a:lnTo>
                  <a:pt x="0" y="1143000"/>
                </a:lnTo>
                <a:lnTo>
                  <a:pt x="0" y="0"/>
                </a:lnTo>
                <a:lnTo>
                  <a:pt x="228600" y="0"/>
                </a:lnTo>
                <a:lnTo>
                  <a:pt x="228600" y="114300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6577016" y="3723467"/>
            <a:ext cx="1905" cy="228600"/>
          </a:xfrm>
          <a:custGeom>
            <a:avLst/>
            <a:gdLst/>
            <a:ahLst/>
            <a:cxnLst/>
            <a:rect l="l" t="t" r="r" b="b"/>
            <a:pathLst>
              <a:path w="1904" h="228600">
                <a:moveTo>
                  <a:pt x="1587" y="0"/>
                </a:moveTo>
                <a:lnTo>
                  <a:pt x="0" y="228600"/>
                </a:lnTo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6814083" y="3723467"/>
            <a:ext cx="1905" cy="228600"/>
          </a:xfrm>
          <a:custGeom>
            <a:avLst/>
            <a:gdLst/>
            <a:ahLst/>
            <a:cxnLst/>
            <a:rect l="l" t="t" r="r" b="b"/>
            <a:pathLst>
              <a:path w="1904" h="228600">
                <a:moveTo>
                  <a:pt x="1587" y="0"/>
                </a:moveTo>
                <a:lnTo>
                  <a:pt x="0" y="228600"/>
                </a:lnTo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112938" y="3723467"/>
            <a:ext cx="1905" cy="228600"/>
          </a:xfrm>
          <a:custGeom>
            <a:avLst/>
            <a:gdLst/>
            <a:ahLst/>
            <a:cxnLst/>
            <a:rect l="l" t="t" r="r" b="b"/>
            <a:pathLst>
              <a:path w="1904" h="228600">
                <a:moveTo>
                  <a:pt x="1587" y="0"/>
                </a:moveTo>
                <a:lnTo>
                  <a:pt x="0" y="228600"/>
                </a:lnTo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6341538" y="3723467"/>
            <a:ext cx="1905" cy="228600"/>
          </a:xfrm>
          <a:custGeom>
            <a:avLst/>
            <a:gdLst/>
            <a:ahLst/>
            <a:cxnLst/>
            <a:rect l="l" t="t" r="r" b="b"/>
            <a:pathLst>
              <a:path w="1904" h="228600">
                <a:moveTo>
                  <a:pt x="1587" y="0"/>
                </a:moveTo>
                <a:lnTo>
                  <a:pt x="0" y="228600"/>
                </a:lnTo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7467759" y="4426479"/>
            <a:ext cx="228600" cy="1905"/>
          </a:xfrm>
          <a:custGeom>
            <a:avLst/>
            <a:gdLst/>
            <a:ahLst/>
            <a:cxnLst/>
            <a:rect l="l" t="t" r="r" b="b"/>
            <a:pathLst>
              <a:path w="228600" h="1904">
                <a:moveTo>
                  <a:pt x="228600" y="1587"/>
                </a:moveTo>
                <a:lnTo>
                  <a:pt x="0" y="0"/>
                </a:lnTo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7467759" y="4663546"/>
            <a:ext cx="228600" cy="1905"/>
          </a:xfrm>
          <a:custGeom>
            <a:avLst/>
            <a:gdLst/>
            <a:ahLst/>
            <a:cxnLst/>
            <a:rect l="l" t="t" r="r" b="b"/>
            <a:pathLst>
              <a:path w="228600" h="1904">
                <a:moveTo>
                  <a:pt x="228600" y="1587"/>
                </a:moveTo>
                <a:lnTo>
                  <a:pt x="0" y="0"/>
                </a:lnTo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7467759" y="3962400"/>
            <a:ext cx="228600" cy="1905"/>
          </a:xfrm>
          <a:custGeom>
            <a:avLst/>
            <a:gdLst/>
            <a:ahLst/>
            <a:cxnLst/>
            <a:rect l="l" t="t" r="r" b="b"/>
            <a:pathLst>
              <a:path w="228600" h="1904">
                <a:moveTo>
                  <a:pt x="228600" y="1587"/>
                </a:moveTo>
                <a:lnTo>
                  <a:pt x="0" y="0"/>
                </a:lnTo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7467759" y="4191000"/>
            <a:ext cx="228600" cy="1905"/>
          </a:xfrm>
          <a:custGeom>
            <a:avLst/>
            <a:gdLst/>
            <a:ahLst/>
            <a:cxnLst/>
            <a:rect l="l" t="t" r="r" b="b"/>
            <a:pathLst>
              <a:path w="228600" h="1904">
                <a:moveTo>
                  <a:pt x="228600" y="1587"/>
                </a:moveTo>
                <a:lnTo>
                  <a:pt x="0" y="0"/>
                </a:lnTo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7137658" y="5327463"/>
            <a:ext cx="145415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10" dirty="0">
                <a:solidFill>
                  <a:srgbClr val="595958"/>
                </a:solidFill>
                <a:latin typeface="Calibri"/>
                <a:cs typeface="Calibri"/>
              </a:rPr>
              <a:t>B</a:t>
            </a:r>
            <a:r>
              <a:rPr sz="1800" b="1" spc="-5" dirty="0">
                <a:solidFill>
                  <a:srgbClr val="595958"/>
                </a:solidFill>
                <a:latin typeface="Calibri"/>
                <a:cs typeface="Calibri"/>
              </a:rPr>
              <a:t>lo</a:t>
            </a:r>
            <a:r>
              <a:rPr sz="1800" b="1" dirty="0">
                <a:solidFill>
                  <a:srgbClr val="595958"/>
                </a:solidFill>
                <a:latin typeface="Calibri"/>
                <a:cs typeface="Calibri"/>
              </a:rPr>
              <a:t>ck</a:t>
            </a:r>
            <a:r>
              <a:rPr sz="1800" b="1" spc="-15" dirty="0">
                <a:solidFill>
                  <a:srgbClr val="595958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595958"/>
                </a:solidFill>
                <a:latin typeface="Calibri"/>
                <a:cs typeface="Calibri"/>
              </a:rPr>
              <a:t>si</a:t>
            </a:r>
            <a:r>
              <a:rPr sz="1800" b="1" spc="-35" dirty="0">
                <a:solidFill>
                  <a:srgbClr val="595958"/>
                </a:solidFill>
                <a:latin typeface="Calibri"/>
                <a:cs typeface="Calibri"/>
              </a:rPr>
              <a:t>z</a:t>
            </a:r>
            <a:r>
              <a:rPr sz="1800" b="1" dirty="0">
                <a:solidFill>
                  <a:srgbClr val="595958"/>
                </a:solidFill>
                <a:latin typeface="Calibri"/>
                <a:cs typeface="Calibri"/>
              </a:rPr>
              <a:t>e</a:t>
            </a:r>
            <a:r>
              <a:rPr sz="1800" b="1" spc="-20" dirty="0">
                <a:solidFill>
                  <a:srgbClr val="595958"/>
                </a:solidFill>
                <a:latin typeface="Calibri"/>
                <a:cs typeface="Calibri"/>
              </a:rPr>
              <a:t> </a:t>
            </a:r>
            <a:r>
              <a:rPr sz="1800" b="1" spc="-5" dirty="0">
                <a:solidFill>
                  <a:srgbClr val="595958"/>
                </a:solidFill>
                <a:latin typeface="Calibri"/>
                <a:cs typeface="Calibri"/>
              </a:rPr>
              <a:t>B</a:t>
            </a:r>
            <a:r>
              <a:rPr sz="1800" b="1" dirty="0">
                <a:solidFill>
                  <a:srgbClr val="595958"/>
                </a:solidFill>
                <a:latin typeface="Calibri"/>
                <a:cs typeface="Calibri"/>
              </a:rPr>
              <a:t> x </a:t>
            </a:r>
            <a:r>
              <a:rPr sz="1800" b="1" spc="-5" dirty="0">
                <a:solidFill>
                  <a:srgbClr val="595958"/>
                </a:solidFill>
                <a:latin typeface="Calibri"/>
                <a:cs typeface="Calibri"/>
              </a:rPr>
              <a:t>B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7544006" y="4896679"/>
            <a:ext cx="3175" cy="356235"/>
          </a:xfrm>
          <a:custGeom>
            <a:avLst/>
            <a:gdLst/>
            <a:ahLst/>
            <a:cxnLst/>
            <a:rect l="l" t="t" r="r" b="b"/>
            <a:pathLst>
              <a:path w="3175" h="356235">
                <a:moveTo>
                  <a:pt x="2882" y="355854"/>
                </a:moveTo>
                <a:lnTo>
                  <a:pt x="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7500173" y="4896681"/>
            <a:ext cx="88900" cy="76835"/>
          </a:xfrm>
          <a:custGeom>
            <a:avLst/>
            <a:gdLst/>
            <a:ahLst/>
            <a:cxnLst/>
            <a:rect l="l" t="t" r="r" b="b"/>
            <a:pathLst>
              <a:path w="88900" h="76835">
                <a:moveTo>
                  <a:pt x="88900" y="75831"/>
                </a:moveTo>
                <a:lnTo>
                  <a:pt x="43827" y="0"/>
                </a:lnTo>
                <a:lnTo>
                  <a:pt x="0" y="76555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7484578" y="3419950"/>
            <a:ext cx="1143000" cy="226060"/>
          </a:xfrm>
          <a:custGeom>
            <a:avLst/>
            <a:gdLst/>
            <a:ahLst/>
            <a:cxnLst/>
            <a:rect l="l" t="t" r="r" b="b"/>
            <a:pathLst>
              <a:path w="1143000" h="226060">
                <a:moveTo>
                  <a:pt x="1142955" y="225980"/>
                </a:moveTo>
                <a:lnTo>
                  <a:pt x="1129841" y="182057"/>
                </a:lnTo>
                <a:lnTo>
                  <a:pt x="1094023" y="146021"/>
                </a:lnTo>
                <a:lnTo>
                  <a:pt x="1055443" y="126290"/>
                </a:lnTo>
                <a:lnTo>
                  <a:pt x="1009298" y="114466"/>
                </a:lnTo>
                <a:lnTo>
                  <a:pt x="742905" y="111680"/>
                </a:lnTo>
                <a:lnTo>
                  <a:pt x="725615" y="111106"/>
                </a:lnTo>
                <a:lnTo>
                  <a:pt x="677023" y="102938"/>
                </a:lnTo>
                <a:lnTo>
                  <a:pt x="635084" y="86256"/>
                </a:lnTo>
                <a:lnTo>
                  <a:pt x="602030" y="62548"/>
                </a:lnTo>
                <a:lnTo>
                  <a:pt x="575634" y="22577"/>
                </a:lnTo>
                <a:lnTo>
                  <a:pt x="571500" y="0"/>
                </a:lnTo>
                <a:lnTo>
                  <a:pt x="570619" y="11147"/>
                </a:lnTo>
                <a:lnTo>
                  <a:pt x="551057" y="52379"/>
                </a:lnTo>
                <a:lnTo>
                  <a:pt x="521904" y="78097"/>
                </a:lnTo>
                <a:lnTo>
                  <a:pt x="482867" y="97555"/>
                </a:lnTo>
                <a:lnTo>
                  <a:pt x="436220" y="109132"/>
                </a:lnTo>
                <a:lnTo>
                  <a:pt x="171405" y="111680"/>
                </a:lnTo>
                <a:lnTo>
                  <a:pt x="154115" y="112254"/>
                </a:lnTo>
                <a:lnTo>
                  <a:pt x="105523" y="120423"/>
                </a:lnTo>
                <a:lnTo>
                  <a:pt x="63584" y="137105"/>
                </a:lnTo>
                <a:lnTo>
                  <a:pt x="30530" y="160813"/>
                </a:lnTo>
                <a:lnTo>
                  <a:pt x="4134" y="200784"/>
                </a:lnTo>
                <a:lnTo>
                  <a:pt x="1243" y="211902"/>
                </a:lnTo>
                <a:lnTo>
                  <a:pt x="0" y="223361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7901938" y="3122929"/>
            <a:ext cx="1023619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i="1" spc="-5" dirty="0">
                <a:latin typeface="Calibri"/>
                <a:cs typeface="Calibri"/>
              </a:rPr>
              <a:t>n</a:t>
            </a:r>
            <a:r>
              <a:rPr sz="1800" b="1" spc="-15" dirty="0">
                <a:latin typeface="Calibri"/>
                <a:cs typeface="Calibri"/>
              </a:rPr>
              <a:t>/</a:t>
            </a:r>
            <a:r>
              <a:rPr sz="1800" b="1" spc="-5" dirty="0">
                <a:latin typeface="Calibri"/>
                <a:cs typeface="Calibri"/>
              </a:rPr>
              <a:t>B</a:t>
            </a:r>
            <a:r>
              <a:rPr sz="1800" b="1" spc="1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b</a:t>
            </a:r>
            <a:r>
              <a:rPr sz="1800" b="1" spc="-5" dirty="0">
                <a:latin typeface="Calibri"/>
                <a:cs typeface="Calibri"/>
              </a:rPr>
              <a:t>l</a:t>
            </a:r>
            <a:r>
              <a:rPr sz="1800" b="1" dirty="0">
                <a:latin typeface="Calibri"/>
                <a:cs typeface="Calibri"/>
              </a:rPr>
              <a:t>oc</a:t>
            </a:r>
            <a:r>
              <a:rPr sz="1800" b="1" spc="-15" dirty="0">
                <a:latin typeface="Calibri"/>
                <a:cs typeface="Calibri"/>
              </a:rPr>
              <a:t>k</a:t>
            </a:r>
            <a:r>
              <a:rPr sz="1800" b="1" spc="-5" dirty="0">
                <a:latin typeface="Calibri"/>
                <a:cs typeface="Calibri"/>
              </a:rPr>
              <a:t>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7488161" y="6493929"/>
            <a:ext cx="227329" cy="227329"/>
          </a:xfrm>
          <a:custGeom>
            <a:avLst/>
            <a:gdLst/>
            <a:ahLst/>
            <a:cxnLst/>
            <a:rect l="l" t="t" r="r" b="b"/>
            <a:pathLst>
              <a:path w="227329" h="227329">
                <a:moveTo>
                  <a:pt x="0" y="0"/>
                </a:moveTo>
                <a:lnTo>
                  <a:pt x="227266" y="0"/>
                </a:lnTo>
                <a:lnTo>
                  <a:pt x="227266" y="226898"/>
                </a:lnTo>
                <a:lnTo>
                  <a:pt x="0" y="226898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4116133" y="5560733"/>
            <a:ext cx="227329" cy="227329"/>
          </a:xfrm>
          <a:custGeom>
            <a:avLst/>
            <a:gdLst/>
            <a:ahLst/>
            <a:cxnLst/>
            <a:rect l="l" t="t" r="r" b="b"/>
            <a:pathLst>
              <a:path w="227329" h="227329">
                <a:moveTo>
                  <a:pt x="0" y="0"/>
                </a:moveTo>
                <a:lnTo>
                  <a:pt x="227266" y="0"/>
                </a:lnTo>
                <a:lnTo>
                  <a:pt x="227266" y="226898"/>
                </a:lnTo>
                <a:lnTo>
                  <a:pt x="0" y="226898"/>
                </a:ln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0" name="object 20"/>
          <p:cNvGraphicFramePr>
            <a:graphicFrameLocks noGrp="1"/>
          </p:cNvGraphicFramePr>
          <p:nvPr/>
        </p:nvGraphicFramePr>
        <p:xfrm>
          <a:off x="5899937" y="5560733"/>
          <a:ext cx="1142205" cy="487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37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54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0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72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R w="26987">
                      <a:solidFill>
                        <a:srgbClr val="FFFFFF"/>
                      </a:solidFill>
                      <a:prstDash val="solid"/>
                    </a:lnR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6987">
                      <a:solidFill>
                        <a:srgbClr val="FFFFFF"/>
                      </a:solidFill>
                      <a:prstDash val="solid"/>
                    </a:lnL>
                    <a:lnR w="26987">
                      <a:solidFill>
                        <a:srgbClr val="FFFFFF"/>
                      </a:solidFill>
                      <a:prstDash val="solid"/>
                    </a:lnR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6987">
                      <a:solidFill>
                        <a:srgbClr val="FFFFFF"/>
                      </a:solidFill>
                      <a:prstDash val="solid"/>
                    </a:lnL>
                    <a:lnR w="26987">
                      <a:solidFill>
                        <a:srgbClr val="FFFFFF"/>
                      </a:solidFill>
                      <a:prstDash val="solid"/>
                    </a:lnR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6987">
                      <a:solidFill>
                        <a:srgbClr val="FFFFFF"/>
                      </a:solidFill>
                      <a:prstDash val="solid"/>
                    </a:lnL>
                    <a:lnR w="26987">
                      <a:solidFill>
                        <a:srgbClr val="FFFFFF"/>
                      </a:solidFill>
                      <a:prstDash val="solid"/>
                    </a:lnR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6987">
                      <a:solidFill>
                        <a:srgbClr val="FFFFFF"/>
                      </a:solidFill>
                      <a:prstDash val="solid"/>
                    </a:lnL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4" name="object 19"/>
          <p:cNvSpPr/>
          <p:nvPr/>
        </p:nvSpPr>
        <p:spPr>
          <a:xfrm>
            <a:off x="3581400" y="2490241"/>
            <a:ext cx="186690" cy="186690"/>
          </a:xfrm>
          <a:custGeom>
            <a:avLst/>
            <a:gdLst/>
            <a:ahLst/>
            <a:cxnLst/>
            <a:rect l="l" t="t" r="r" b="b"/>
            <a:pathLst>
              <a:path w="186689" h="186689">
                <a:moveTo>
                  <a:pt x="0" y="0"/>
                </a:moveTo>
                <a:lnTo>
                  <a:pt x="186270" y="0"/>
                </a:lnTo>
                <a:lnTo>
                  <a:pt x="186270" y="186270"/>
                </a:lnTo>
                <a:lnTo>
                  <a:pt x="0" y="186270"/>
                </a:lnTo>
                <a:lnTo>
                  <a:pt x="0" y="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57018" y="394767"/>
            <a:ext cx="7592093" cy="843822"/>
          </a:xfrm>
          <a:prstGeom prst="rect">
            <a:avLst/>
          </a:prstGeom>
        </p:spPr>
        <p:txBody>
          <a:bodyPr vert="horz" wrap="square" lIns="0" tIns="287021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zh-CN" altLang="en-US" spc="-5" dirty="0"/>
              <a:t>高速缓存不命中分析</a:t>
            </a:r>
            <a:endParaRPr spc="-5" dirty="0"/>
          </a:p>
        </p:txBody>
      </p:sp>
      <p:sp>
        <p:nvSpPr>
          <p:cNvPr id="5" name="object 5"/>
          <p:cNvSpPr txBox="1"/>
          <p:nvPr/>
        </p:nvSpPr>
        <p:spPr>
          <a:xfrm>
            <a:off x="475615" y="3274186"/>
            <a:ext cx="3470275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990000"/>
              </a:buClr>
              <a:buSzPct val="58333"/>
              <a:buFont typeface="Wingdings 2"/>
              <a:buChar char=""/>
              <a:tabLst>
                <a:tab pos="355600" algn="l"/>
              </a:tabLst>
            </a:pPr>
            <a:r>
              <a:rPr lang="zh-CN" altLang="en-US" sz="2400" b="1" spc="-10" dirty="0">
                <a:latin typeface="Calibri"/>
                <a:cs typeface="Calibri"/>
              </a:rPr>
              <a:t>第二次</a:t>
            </a:r>
            <a:r>
              <a:rPr lang="en-US" altLang="zh-CN" sz="2400" b="1" spc="-10" dirty="0">
                <a:latin typeface="Calibri"/>
                <a:cs typeface="Calibri"/>
              </a:rPr>
              <a:t>(</a:t>
            </a:r>
            <a:r>
              <a:rPr lang="zh-CN" altLang="en-US" sz="2400" b="1" spc="-10" dirty="0">
                <a:latin typeface="Calibri"/>
                <a:cs typeface="Calibri"/>
              </a:rPr>
              <a:t>块</a:t>
            </a:r>
            <a:r>
              <a:rPr lang="en-US" altLang="zh-CN" sz="2400" b="1" spc="-5" dirty="0">
                <a:latin typeface="Calibri"/>
                <a:cs typeface="Calibri"/>
              </a:rPr>
              <a:t>)</a:t>
            </a:r>
            <a:r>
              <a:rPr lang="zh-CN" altLang="en-US" sz="2400" b="1" spc="-10" dirty="0">
                <a:latin typeface="Calibri"/>
                <a:cs typeface="Calibri"/>
              </a:rPr>
              <a:t> 迭代</a:t>
            </a:r>
            <a:r>
              <a:rPr sz="2400" b="1" spc="-5" dirty="0">
                <a:latin typeface="Calibri"/>
                <a:cs typeface="Calibri"/>
              </a:rPr>
              <a:t>: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32814" y="3656376"/>
            <a:ext cx="2577465" cy="7104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buClr>
                <a:srgbClr val="990000"/>
              </a:buClr>
              <a:buSzPct val="110000"/>
              <a:buFont typeface="Wingdings"/>
              <a:buChar char=""/>
              <a:tabLst>
                <a:tab pos="299720" algn="l"/>
              </a:tabLst>
            </a:pPr>
            <a:r>
              <a:rPr lang="zh-CN" altLang="en-US" sz="2000" spc="-5" dirty="0">
                <a:latin typeface="Calibri"/>
                <a:cs typeface="Calibri"/>
              </a:rPr>
              <a:t>和第一次相同</a:t>
            </a:r>
            <a:endParaRPr sz="20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  <a:tabLst>
                <a:tab pos="299085" algn="l"/>
              </a:tabLst>
            </a:pPr>
            <a:r>
              <a:rPr sz="2200" spc="-5" dirty="0">
                <a:solidFill>
                  <a:srgbClr val="990000"/>
                </a:solidFill>
                <a:latin typeface="Wingdings"/>
                <a:cs typeface="Wingdings"/>
              </a:rPr>
              <a:t></a:t>
            </a:r>
            <a:r>
              <a:rPr sz="2200" spc="-5" dirty="0">
                <a:solidFill>
                  <a:srgbClr val="990000"/>
                </a:solidFill>
                <a:latin typeface="Times New Roman"/>
                <a:cs typeface="Times New Roman"/>
              </a:rPr>
              <a:t>	</a:t>
            </a:r>
            <a:r>
              <a:rPr sz="2000" dirty="0">
                <a:latin typeface="Calibri"/>
                <a:cs typeface="Calibri"/>
              </a:rPr>
              <a:t>2</a:t>
            </a:r>
            <a:r>
              <a:rPr sz="2000" i="1" dirty="0">
                <a:latin typeface="Calibri"/>
                <a:cs typeface="Calibri"/>
              </a:rPr>
              <a:t>n</a:t>
            </a:r>
            <a:r>
              <a:rPr sz="2000" spc="5" dirty="0">
                <a:latin typeface="Calibri"/>
                <a:cs typeface="Calibri"/>
              </a:rPr>
              <a:t>/</a:t>
            </a:r>
            <a:r>
              <a:rPr sz="2000" dirty="0">
                <a:latin typeface="Calibri"/>
                <a:cs typeface="Calibri"/>
              </a:rPr>
              <a:t>B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x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</a:t>
            </a:r>
            <a:r>
              <a:rPr sz="1950" spc="15" baseline="25641" dirty="0">
                <a:latin typeface="Calibri"/>
                <a:cs typeface="Calibri"/>
              </a:rPr>
              <a:t>2</a:t>
            </a:r>
            <a:r>
              <a:rPr sz="2000" spc="5" dirty="0">
                <a:latin typeface="Calibri"/>
                <a:cs typeface="Calibri"/>
              </a:rPr>
              <a:t>/</a:t>
            </a:r>
            <a:r>
              <a:rPr sz="2000" dirty="0">
                <a:latin typeface="Calibri"/>
                <a:cs typeface="Calibri"/>
              </a:rPr>
              <a:t>8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= </a:t>
            </a:r>
            <a:r>
              <a:rPr sz="2000" i="1" dirty="0">
                <a:latin typeface="Calibri"/>
                <a:cs typeface="Calibri"/>
              </a:rPr>
              <a:t>n</a:t>
            </a:r>
            <a:r>
              <a:rPr sz="2000" dirty="0">
                <a:latin typeface="Calibri"/>
                <a:cs typeface="Calibri"/>
              </a:rPr>
              <a:t>B</a:t>
            </a:r>
            <a:r>
              <a:rPr sz="2000" spc="5" dirty="0">
                <a:latin typeface="Calibri"/>
                <a:cs typeface="Calibri"/>
              </a:rPr>
              <a:t>/4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75615" y="5176139"/>
            <a:ext cx="2010410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990000"/>
              </a:buClr>
              <a:buSzPct val="58333"/>
              <a:buFont typeface="Wingdings 2"/>
              <a:buChar char=""/>
              <a:tabLst>
                <a:tab pos="355600" algn="l"/>
              </a:tabLst>
            </a:pPr>
            <a:r>
              <a:rPr lang="zh-CN" altLang="en-US" sz="2400" b="1" spc="-5" dirty="0">
                <a:latin typeface="Calibri"/>
                <a:cs typeface="Calibri"/>
              </a:rPr>
              <a:t>不命中总数</a:t>
            </a:r>
            <a:r>
              <a:rPr sz="2400" b="1" spc="-5" dirty="0">
                <a:latin typeface="Calibri"/>
                <a:cs typeface="Calibri"/>
              </a:rPr>
              <a:t>: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32814" y="5558328"/>
            <a:ext cx="2637155" cy="314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99085" algn="l"/>
              </a:tabLst>
            </a:pPr>
            <a:r>
              <a:rPr sz="2200" spc="-5" dirty="0">
                <a:solidFill>
                  <a:srgbClr val="990000"/>
                </a:solidFill>
                <a:latin typeface="Wingdings"/>
                <a:cs typeface="Wingdings"/>
              </a:rPr>
              <a:t></a:t>
            </a:r>
            <a:r>
              <a:rPr sz="2200" spc="-5" dirty="0">
                <a:solidFill>
                  <a:srgbClr val="990000"/>
                </a:solidFill>
                <a:latin typeface="Times New Roman"/>
                <a:cs typeface="Times New Roman"/>
              </a:rPr>
              <a:t>	</a:t>
            </a:r>
            <a:r>
              <a:rPr sz="2000" i="1" dirty="0">
                <a:latin typeface="Calibri"/>
                <a:cs typeface="Calibri"/>
              </a:rPr>
              <a:t>n</a:t>
            </a:r>
            <a:r>
              <a:rPr sz="2000" dirty="0">
                <a:latin typeface="Calibri"/>
                <a:cs typeface="Calibri"/>
              </a:rPr>
              <a:t>B</a:t>
            </a:r>
            <a:r>
              <a:rPr sz="2000" spc="5" dirty="0">
                <a:latin typeface="Calibri"/>
                <a:cs typeface="Calibri"/>
              </a:rPr>
              <a:t>/</a:t>
            </a:r>
            <a:r>
              <a:rPr sz="2000" dirty="0">
                <a:latin typeface="Calibri"/>
                <a:cs typeface="Calibri"/>
              </a:rPr>
              <a:t>4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* (</a:t>
            </a:r>
            <a:r>
              <a:rPr sz="2000" i="1" dirty="0">
                <a:latin typeface="Calibri"/>
                <a:cs typeface="Calibri"/>
              </a:rPr>
              <a:t>n</a:t>
            </a:r>
            <a:r>
              <a:rPr sz="2000" spc="5" dirty="0">
                <a:latin typeface="Calibri"/>
                <a:cs typeface="Calibri"/>
              </a:rPr>
              <a:t>/</a:t>
            </a:r>
            <a:r>
              <a:rPr sz="2000" dirty="0">
                <a:latin typeface="Calibri"/>
                <a:cs typeface="Calibri"/>
              </a:rPr>
              <a:t>B)</a:t>
            </a:r>
            <a:r>
              <a:rPr sz="1950" spc="22" baseline="25641" dirty="0">
                <a:latin typeface="Calibri"/>
                <a:cs typeface="Calibri"/>
              </a:rPr>
              <a:t>2</a:t>
            </a:r>
            <a:r>
              <a:rPr sz="1950" baseline="25641" dirty="0">
                <a:latin typeface="Calibri"/>
                <a:cs typeface="Calibri"/>
              </a:rPr>
              <a:t> </a:t>
            </a:r>
            <a:r>
              <a:rPr sz="1950" spc="-225" baseline="25641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= </a:t>
            </a:r>
            <a:r>
              <a:rPr sz="2000" i="1" spc="-5" dirty="0">
                <a:latin typeface="Calibri"/>
                <a:cs typeface="Calibri"/>
              </a:rPr>
              <a:t>n</a:t>
            </a:r>
            <a:r>
              <a:rPr sz="1950" spc="15" baseline="25641" dirty="0">
                <a:latin typeface="Calibri"/>
                <a:cs typeface="Calibri"/>
              </a:rPr>
              <a:t>3</a:t>
            </a:r>
            <a:r>
              <a:rPr sz="2000" spc="5" dirty="0">
                <a:latin typeface="Calibri"/>
                <a:cs typeface="Calibri"/>
              </a:rPr>
              <a:t>/</a:t>
            </a:r>
            <a:r>
              <a:rPr sz="2000" dirty="0">
                <a:latin typeface="Calibri"/>
                <a:cs typeface="Calibri"/>
              </a:rPr>
              <a:t>(4B)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899937" y="3733800"/>
            <a:ext cx="1143000" cy="6985"/>
          </a:xfrm>
          <a:custGeom>
            <a:avLst/>
            <a:gdLst/>
            <a:ahLst/>
            <a:cxnLst/>
            <a:rect l="l" t="t" r="r" b="b"/>
            <a:pathLst>
              <a:path w="1143000" h="6985">
                <a:moveTo>
                  <a:pt x="0" y="6756"/>
                </a:moveTo>
                <a:lnTo>
                  <a:pt x="1143000" y="6756"/>
                </a:lnTo>
                <a:lnTo>
                  <a:pt x="1143000" y="0"/>
                </a:lnTo>
                <a:lnTo>
                  <a:pt x="0" y="0"/>
                </a:lnTo>
                <a:lnTo>
                  <a:pt x="0" y="6756"/>
                </a:lnTo>
                <a:close/>
              </a:path>
            </a:pathLst>
          </a:custGeom>
          <a:solidFill>
            <a:srgbClr val="DADA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899937" y="3969156"/>
            <a:ext cx="1143000" cy="908050"/>
          </a:xfrm>
          <a:custGeom>
            <a:avLst/>
            <a:gdLst/>
            <a:ahLst/>
            <a:cxnLst/>
            <a:rect l="l" t="t" r="r" b="b"/>
            <a:pathLst>
              <a:path w="1143000" h="908050">
                <a:moveTo>
                  <a:pt x="0" y="907643"/>
                </a:moveTo>
                <a:lnTo>
                  <a:pt x="1143000" y="907643"/>
                </a:lnTo>
                <a:lnTo>
                  <a:pt x="1143000" y="0"/>
                </a:lnTo>
                <a:lnTo>
                  <a:pt x="0" y="0"/>
                </a:lnTo>
                <a:lnTo>
                  <a:pt x="0" y="907643"/>
                </a:lnTo>
                <a:close/>
              </a:path>
            </a:pathLst>
          </a:custGeom>
          <a:solidFill>
            <a:srgbClr val="DADA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950200" y="3733800"/>
            <a:ext cx="693420" cy="1143000"/>
          </a:xfrm>
          <a:custGeom>
            <a:avLst/>
            <a:gdLst/>
            <a:ahLst/>
            <a:cxnLst/>
            <a:rect l="l" t="t" r="r" b="b"/>
            <a:pathLst>
              <a:path w="693420" h="1143000">
                <a:moveTo>
                  <a:pt x="0" y="1143000"/>
                </a:moveTo>
                <a:lnTo>
                  <a:pt x="692937" y="1143000"/>
                </a:lnTo>
                <a:lnTo>
                  <a:pt x="692937" y="0"/>
                </a:lnTo>
                <a:lnTo>
                  <a:pt x="0" y="0"/>
                </a:lnTo>
                <a:lnTo>
                  <a:pt x="0" y="1143000"/>
                </a:lnTo>
                <a:close/>
              </a:path>
            </a:pathLst>
          </a:custGeom>
          <a:solidFill>
            <a:srgbClr val="DADA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500137" y="3733800"/>
            <a:ext cx="221615" cy="1143000"/>
          </a:xfrm>
          <a:custGeom>
            <a:avLst/>
            <a:gdLst/>
            <a:ahLst/>
            <a:cxnLst/>
            <a:rect l="l" t="t" r="r" b="b"/>
            <a:pathLst>
              <a:path w="221615" h="1143000">
                <a:moveTo>
                  <a:pt x="0" y="1143000"/>
                </a:moveTo>
                <a:lnTo>
                  <a:pt x="221462" y="1143000"/>
                </a:lnTo>
                <a:lnTo>
                  <a:pt x="221462" y="0"/>
                </a:lnTo>
                <a:lnTo>
                  <a:pt x="0" y="0"/>
                </a:lnTo>
                <a:lnTo>
                  <a:pt x="0" y="1143000"/>
                </a:lnTo>
                <a:close/>
              </a:path>
            </a:pathLst>
          </a:custGeom>
          <a:solidFill>
            <a:srgbClr val="DADA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7164003" y="4113350"/>
            <a:ext cx="212725" cy="432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>
                <a:latin typeface="Calibri"/>
                <a:cs typeface="Calibri"/>
              </a:rPr>
              <a:t>x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114800" y="3733800"/>
            <a:ext cx="1143000" cy="1143000"/>
          </a:xfrm>
          <a:custGeom>
            <a:avLst/>
            <a:gdLst/>
            <a:ahLst/>
            <a:cxnLst/>
            <a:rect l="l" t="t" r="r" b="b"/>
            <a:pathLst>
              <a:path w="1143000" h="1143000">
                <a:moveTo>
                  <a:pt x="0" y="0"/>
                </a:moveTo>
                <a:lnTo>
                  <a:pt x="1143000" y="0"/>
                </a:lnTo>
                <a:lnTo>
                  <a:pt x="1143000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solidFill>
            <a:srgbClr val="DADA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5459789" y="4147439"/>
            <a:ext cx="228600" cy="4324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>
                <a:latin typeface="Calibri"/>
                <a:cs typeface="Calibri"/>
              </a:rPr>
              <a:t>=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343400" y="3733800"/>
            <a:ext cx="186690" cy="186690"/>
          </a:xfrm>
          <a:custGeom>
            <a:avLst/>
            <a:gdLst/>
            <a:ahLst/>
            <a:cxnLst/>
            <a:rect l="l" t="t" r="r" b="b"/>
            <a:pathLst>
              <a:path w="186689" h="186689">
                <a:moveTo>
                  <a:pt x="0" y="0"/>
                </a:moveTo>
                <a:lnTo>
                  <a:pt x="186270" y="0"/>
                </a:lnTo>
                <a:lnTo>
                  <a:pt x="186270" y="186270"/>
                </a:lnTo>
                <a:lnTo>
                  <a:pt x="0" y="186270"/>
                </a:lnTo>
                <a:lnTo>
                  <a:pt x="0" y="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899937" y="3740556"/>
            <a:ext cx="1143000" cy="228600"/>
          </a:xfrm>
          <a:custGeom>
            <a:avLst/>
            <a:gdLst/>
            <a:ahLst/>
            <a:cxnLst/>
            <a:rect l="l" t="t" r="r" b="b"/>
            <a:pathLst>
              <a:path w="1143000" h="228600">
                <a:moveTo>
                  <a:pt x="0" y="0"/>
                </a:moveTo>
                <a:lnTo>
                  <a:pt x="1143000" y="0"/>
                </a:lnTo>
                <a:lnTo>
                  <a:pt x="1143000" y="228599"/>
                </a:lnTo>
                <a:lnTo>
                  <a:pt x="0" y="228599"/>
                </a:lnTo>
                <a:lnTo>
                  <a:pt x="0" y="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721600" y="3733800"/>
            <a:ext cx="228600" cy="1143000"/>
          </a:xfrm>
          <a:custGeom>
            <a:avLst/>
            <a:gdLst/>
            <a:ahLst/>
            <a:cxnLst/>
            <a:rect l="l" t="t" r="r" b="b"/>
            <a:pathLst>
              <a:path w="228600" h="1143000">
                <a:moveTo>
                  <a:pt x="228600" y="1143000"/>
                </a:moveTo>
                <a:lnTo>
                  <a:pt x="0" y="1143000"/>
                </a:lnTo>
                <a:lnTo>
                  <a:pt x="0" y="0"/>
                </a:lnTo>
                <a:lnTo>
                  <a:pt x="228600" y="0"/>
                </a:lnTo>
                <a:lnTo>
                  <a:pt x="228600" y="114300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577016" y="3732093"/>
            <a:ext cx="1905" cy="228600"/>
          </a:xfrm>
          <a:custGeom>
            <a:avLst/>
            <a:gdLst/>
            <a:ahLst/>
            <a:cxnLst/>
            <a:rect l="l" t="t" r="r" b="b"/>
            <a:pathLst>
              <a:path w="1904" h="228600">
                <a:moveTo>
                  <a:pt x="1587" y="0"/>
                </a:moveTo>
                <a:lnTo>
                  <a:pt x="0" y="228600"/>
                </a:lnTo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814083" y="3732093"/>
            <a:ext cx="1905" cy="228600"/>
          </a:xfrm>
          <a:custGeom>
            <a:avLst/>
            <a:gdLst/>
            <a:ahLst/>
            <a:cxnLst/>
            <a:rect l="l" t="t" r="r" b="b"/>
            <a:pathLst>
              <a:path w="1904" h="228600">
                <a:moveTo>
                  <a:pt x="1587" y="0"/>
                </a:moveTo>
                <a:lnTo>
                  <a:pt x="0" y="228600"/>
                </a:lnTo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112938" y="3732093"/>
            <a:ext cx="1905" cy="228600"/>
          </a:xfrm>
          <a:custGeom>
            <a:avLst/>
            <a:gdLst/>
            <a:ahLst/>
            <a:cxnLst/>
            <a:rect l="l" t="t" r="r" b="b"/>
            <a:pathLst>
              <a:path w="1904" h="228600">
                <a:moveTo>
                  <a:pt x="1587" y="0"/>
                </a:moveTo>
                <a:lnTo>
                  <a:pt x="0" y="228600"/>
                </a:lnTo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6341538" y="3732093"/>
            <a:ext cx="1905" cy="228600"/>
          </a:xfrm>
          <a:custGeom>
            <a:avLst/>
            <a:gdLst/>
            <a:ahLst/>
            <a:cxnLst/>
            <a:rect l="l" t="t" r="r" b="b"/>
            <a:pathLst>
              <a:path w="1904" h="228600">
                <a:moveTo>
                  <a:pt x="1587" y="0"/>
                </a:moveTo>
                <a:lnTo>
                  <a:pt x="0" y="228600"/>
                </a:lnTo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7713133" y="4426479"/>
            <a:ext cx="228600" cy="1905"/>
          </a:xfrm>
          <a:custGeom>
            <a:avLst/>
            <a:gdLst/>
            <a:ahLst/>
            <a:cxnLst/>
            <a:rect l="l" t="t" r="r" b="b"/>
            <a:pathLst>
              <a:path w="228600" h="1904">
                <a:moveTo>
                  <a:pt x="228600" y="1587"/>
                </a:moveTo>
                <a:lnTo>
                  <a:pt x="0" y="0"/>
                </a:lnTo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7713133" y="4663546"/>
            <a:ext cx="228600" cy="1905"/>
          </a:xfrm>
          <a:custGeom>
            <a:avLst/>
            <a:gdLst/>
            <a:ahLst/>
            <a:cxnLst/>
            <a:rect l="l" t="t" r="r" b="b"/>
            <a:pathLst>
              <a:path w="228600" h="1904">
                <a:moveTo>
                  <a:pt x="228600" y="1587"/>
                </a:moveTo>
                <a:lnTo>
                  <a:pt x="0" y="0"/>
                </a:lnTo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7713133" y="3962400"/>
            <a:ext cx="228600" cy="1905"/>
          </a:xfrm>
          <a:custGeom>
            <a:avLst/>
            <a:gdLst/>
            <a:ahLst/>
            <a:cxnLst/>
            <a:rect l="l" t="t" r="r" b="b"/>
            <a:pathLst>
              <a:path w="228600" h="1904">
                <a:moveTo>
                  <a:pt x="228600" y="1587"/>
                </a:moveTo>
                <a:lnTo>
                  <a:pt x="0" y="0"/>
                </a:lnTo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7713133" y="4191000"/>
            <a:ext cx="228600" cy="1905"/>
          </a:xfrm>
          <a:custGeom>
            <a:avLst/>
            <a:gdLst/>
            <a:ahLst/>
            <a:cxnLst/>
            <a:rect l="l" t="t" r="r" b="b"/>
            <a:pathLst>
              <a:path w="228600" h="1904">
                <a:moveTo>
                  <a:pt x="228600" y="1587"/>
                </a:moveTo>
                <a:lnTo>
                  <a:pt x="0" y="0"/>
                </a:lnTo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7095322" y="5327463"/>
            <a:ext cx="145415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10" dirty="0">
                <a:solidFill>
                  <a:srgbClr val="595958"/>
                </a:solidFill>
                <a:latin typeface="Calibri"/>
                <a:cs typeface="Calibri"/>
              </a:rPr>
              <a:t>B</a:t>
            </a:r>
            <a:r>
              <a:rPr sz="1800" b="1" spc="-5" dirty="0">
                <a:solidFill>
                  <a:srgbClr val="595958"/>
                </a:solidFill>
                <a:latin typeface="Calibri"/>
                <a:cs typeface="Calibri"/>
              </a:rPr>
              <a:t>lo</a:t>
            </a:r>
            <a:r>
              <a:rPr sz="1800" b="1" dirty="0">
                <a:solidFill>
                  <a:srgbClr val="595958"/>
                </a:solidFill>
                <a:latin typeface="Calibri"/>
                <a:cs typeface="Calibri"/>
              </a:rPr>
              <a:t>ck</a:t>
            </a:r>
            <a:r>
              <a:rPr sz="1800" b="1" spc="-15" dirty="0">
                <a:solidFill>
                  <a:srgbClr val="595958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595958"/>
                </a:solidFill>
                <a:latin typeface="Calibri"/>
                <a:cs typeface="Calibri"/>
              </a:rPr>
              <a:t>si</a:t>
            </a:r>
            <a:r>
              <a:rPr sz="1800" b="1" spc="-35" dirty="0">
                <a:solidFill>
                  <a:srgbClr val="595958"/>
                </a:solidFill>
                <a:latin typeface="Calibri"/>
                <a:cs typeface="Calibri"/>
              </a:rPr>
              <a:t>z</a:t>
            </a:r>
            <a:r>
              <a:rPr sz="1800" b="1" dirty="0">
                <a:solidFill>
                  <a:srgbClr val="595958"/>
                </a:solidFill>
                <a:latin typeface="Calibri"/>
                <a:cs typeface="Calibri"/>
              </a:rPr>
              <a:t>e</a:t>
            </a:r>
            <a:r>
              <a:rPr sz="1800" b="1" spc="-20" dirty="0">
                <a:solidFill>
                  <a:srgbClr val="595958"/>
                </a:solidFill>
                <a:latin typeface="Calibri"/>
                <a:cs typeface="Calibri"/>
              </a:rPr>
              <a:t> </a:t>
            </a:r>
            <a:r>
              <a:rPr sz="1800" b="1" spc="-5" dirty="0">
                <a:solidFill>
                  <a:srgbClr val="595958"/>
                </a:solidFill>
                <a:latin typeface="Calibri"/>
                <a:cs typeface="Calibri"/>
              </a:rPr>
              <a:t>B</a:t>
            </a:r>
            <a:r>
              <a:rPr sz="1800" b="1" dirty="0">
                <a:solidFill>
                  <a:srgbClr val="595958"/>
                </a:solidFill>
                <a:latin typeface="Calibri"/>
                <a:cs typeface="Calibri"/>
              </a:rPr>
              <a:t> x </a:t>
            </a:r>
            <a:r>
              <a:rPr sz="1800" b="1" spc="-5" dirty="0">
                <a:solidFill>
                  <a:srgbClr val="595958"/>
                </a:solidFill>
                <a:latin typeface="Calibri"/>
                <a:cs typeface="Calibri"/>
              </a:rPr>
              <a:t>B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7827640" y="4896679"/>
            <a:ext cx="3175" cy="356235"/>
          </a:xfrm>
          <a:custGeom>
            <a:avLst/>
            <a:gdLst/>
            <a:ahLst/>
            <a:cxnLst/>
            <a:rect l="l" t="t" r="r" b="b"/>
            <a:pathLst>
              <a:path w="3175" h="356235">
                <a:moveTo>
                  <a:pt x="2882" y="355854"/>
                </a:moveTo>
                <a:lnTo>
                  <a:pt x="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7783808" y="4896681"/>
            <a:ext cx="88900" cy="76835"/>
          </a:xfrm>
          <a:custGeom>
            <a:avLst/>
            <a:gdLst/>
            <a:ahLst/>
            <a:cxnLst/>
            <a:rect l="l" t="t" r="r" b="b"/>
            <a:pathLst>
              <a:path w="88900" h="76835">
                <a:moveTo>
                  <a:pt x="88900" y="75831"/>
                </a:moveTo>
                <a:lnTo>
                  <a:pt x="43827" y="0"/>
                </a:lnTo>
                <a:lnTo>
                  <a:pt x="0" y="76555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3569969" y="2583228"/>
            <a:ext cx="186690" cy="186690"/>
          </a:xfrm>
          <a:custGeom>
            <a:avLst/>
            <a:gdLst/>
            <a:ahLst/>
            <a:cxnLst/>
            <a:rect l="l" t="t" r="r" b="b"/>
            <a:pathLst>
              <a:path w="186689" h="186689">
                <a:moveTo>
                  <a:pt x="0" y="0"/>
                </a:moveTo>
                <a:lnTo>
                  <a:pt x="186270" y="0"/>
                </a:lnTo>
                <a:lnTo>
                  <a:pt x="186270" y="186270"/>
                </a:lnTo>
                <a:lnTo>
                  <a:pt x="0" y="186270"/>
                </a:lnTo>
                <a:lnTo>
                  <a:pt x="0" y="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7484578" y="3419950"/>
            <a:ext cx="1143000" cy="226060"/>
          </a:xfrm>
          <a:custGeom>
            <a:avLst/>
            <a:gdLst/>
            <a:ahLst/>
            <a:cxnLst/>
            <a:rect l="l" t="t" r="r" b="b"/>
            <a:pathLst>
              <a:path w="1143000" h="226060">
                <a:moveTo>
                  <a:pt x="1142955" y="225980"/>
                </a:moveTo>
                <a:lnTo>
                  <a:pt x="1129841" y="182057"/>
                </a:lnTo>
                <a:lnTo>
                  <a:pt x="1094023" y="146021"/>
                </a:lnTo>
                <a:lnTo>
                  <a:pt x="1055443" y="126290"/>
                </a:lnTo>
                <a:lnTo>
                  <a:pt x="1009298" y="114466"/>
                </a:lnTo>
                <a:lnTo>
                  <a:pt x="742905" y="111680"/>
                </a:lnTo>
                <a:lnTo>
                  <a:pt x="725615" y="111106"/>
                </a:lnTo>
                <a:lnTo>
                  <a:pt x="677023" y="102938"/>
                </a:lnTo>
                <a:lnTo>
                  <a:pt x="635084" y="86256"/>
                </a:lnTo>
                <a:lnTo>
                  <a:pt x="602030" y="62548"/>
                </a:lnTo>
                <a:lnTo>
                  <a:pt x="575634" y="22577"/>
                </a:lnTo>
                <a:lnTo>
                  <a:pt x="571500" y="0"/>
                </a:lnTo>
                <a:lnTo>
                  <a:pt x="570619" y="11147"/>
                </a:lnTo>
                <a:lnTo>
                  <a:pt x="551057" y="52379"/>
                </a:lnTo>
                <a:lnTo>
                  <a:pt x="521904" y="78097"/>
                </a:lnTo>
                <a:lnTo>
                  <a:pt x="482867" y="97555"/>
                </a:lnTo>
                <a:lnTo>
                  <a:pt x="436220" y="109132"/>
                </a:lnTo>
                <a:lnTo>
                  <a:pt x="171405" y="111680"/>
                </a:lnTo>
                <a:lnTo>
                  <a:pt x="154115" y="112254"/>
                </a:lnTo>
                <a:lnTo>
                  <a:pt x="105523" y="120423"/>
                </a:lnTo>
                <a:lnTo>
                  <a:pt x="63584" y="137105"/>
                </a:lnTo>
                <a:lnTo>
                  <a:pt x="30530" y="160813"/>
                </a:lnTo>
                <a:lnTo>
                  <a:pt x="4134" y="200784"/>
                </a:lnTo>
                <a:lnTo>
                  <a:pt x="1243" y="211902"/>
                </a:lnTo>
                <a:lnTo>
                  <a:pt x="0" y="223361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7901938" y="3122929"/>
            <a:ext cx="1026794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dirty="0">
                <a:latin typeface="Calibri"/>
                <a:cs typeface="Calibri"/>
              </a:rPr>
              <a:t>n</a:t>
            </a:r>
            <a:r>
              <a:rPr sz="1800" b="1" spc="-15" dirty="0">
                <a:latin typeface="Calibri"/>
                <a:cs typeface="Calibri"/>
              </a:rPr>
              <a:t>/</a:t>
            </a:r>
            <a:r>
              <a:rPr sz="1800" b="1" spc="-5" dirty="0">
                <a:latin typeface="Calibri"/>
                <a:cs typeface="Calibri"/>
              </a:rPr>
              <a:t>B</a:t>
            </a:r>
            <a:r>
              <a:rPr sz="1800" b="1" spc="1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b</a:t>
            </a:r>
            <a:r>
              <a:rPr sz="1800" b="1" spc="-5" dirty="0">
                <a:latin typeface="Calibri"/>
                <a:cs typeface="Calibri"/>
              </a:rPr>
              <a:t>l</a:t>
            </a:r>
            <a:r>
              <a:rPr sz="1800" b="1" dirty="0">
                <a:latin typeface="Calibri"/>
                <a:cs typeface="Calibri"/>
              </a:rPr>
              <a:t>oc</a:t>
            </a:r>
            <a:r>
              <a:rPr sz="1800" b="1" spc="-15" dirty="0">
                <a:latin typeface="Calibri"/>
                <a:cs typeface="Calibri"/>
              </a:rPr>
              <a:t>k</a:t>
            </a:r>
            <a:r>
              <a:rPr sz="1800" b="1" spc="-5" dirty="0">
                <a:latin typeface="Calibri"/>
                <a:cs typeface="Calibri"/>
              </a:rPr>
              <a:t>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4" name="object 4"/>
          <p:cNvSpPr txBox="1"/>
          <p:nvPr/>
        </p:nvSpPr>
        <p:spPr>
          <a:xfrm>
            <a:off x="475615" y="1324483"/>
            <a:ext cx="4858385" cy="14850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990000"/>
              </a:buClr>
              <a:buSzPct val="60416"/>
              <a:buFont typeface="Wingdings 2"/>
              <a:buChar char=""/>
              <a:tabLst>
                <a:tab pos="355600" algn="l"/>
              </a:tabLst>
            </a:pPr>
            <a:r>
              <a:rPr lang="zh-CN" altLang="en-US" sz="2400" b="1" spc="-5" dirty="0">
                <a:latin typeface="Calibri"/>
                <a:cs typeface="Calibri"/>
              </a:rPr>
              <a:t>假设</a:t>
            </a:r>
            <a:r>
              <a:rPr lang="en-US" altLang="zh-CN" sz="2400" b="1" spc="-5" dirty="0">
                <a:latin typeface="Calibri"/>
                <a:cs typeface="Calibri"/>
              </a:rPr>
              <a:t>:</a:t>
            </a:r>
            <a:endParaRPr lang="zh-CN" altLang="en-US" sz="2400" dirty="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lr>
                <a:srgbClr val="990000"/>
              </a:buClr>
              <a:buSzPct val="110000"/>
              <a:buFont typeface="Wingdings"/>
              <a:buChar char=""/>
              <a:tabLst>
                <a:tab pos="756920" algn="l"/>
              </a:tabLst>
            </a:pPr>
            <a:r>
              <a:rPr lang="zh-CN" altLang="en-US" sz="2000" dirty="0">
                <a:latin typeface="Calibri"/>
                <a:cs typeface="Calibri"/>
              </a:rPr>
              <a:t>高速缓存块 </a:t>
            </a:r>
            <a:r>
              <a:rPr lang="en-US" altLang="zh-CN" sz="2000" dirty="0">
                <a:latin typeface="Calibri"/>
                <a:cs typeface="Calibri"/>
              </a:rPr>
              <a:t>= 8</a:t>
            </a:r>
            <a:r>
              <a:rPr lang="zh-CN" altLang="en-US" sz="2000" spc="-5" dirty="0">
                <a:latin typeface="Calibri"/>
                <a:cs typeface="Calibri"/>
              </a:rPr>
              <a:t> </a:t>
            </a:r>
            <a:r>
              <a:rPr lang="en-US" altLang="zh-CN" sz="2000" dirty="0">
                <a:latin typeface="Calibri"/>
                <a:cs typeface="Calibri"/>
              </a:rPr>
              <a:t>d</a:t>
            </a:r>
            <a:r>
              <a:rPr lang="en-US" altLang="zh-CN" sz="2000" spc="-5" dirty="0">
                <a:latin typeface="Calibri"/>
                <a:cs typeface="Calibri"/>
              </a:rPr>
              <a:t>o</a:t>
            </a:r>
            <a:r>
              <a:rPr lang="en-US" altLang="zh-CN" sz="2000" dirty="0">
                <a:latin typeface="Calibri"/>
                <a:cs typeface="Calibri"/>
              </a:rPr>
              <a:t>ub</a:t>
            </a:r>
            <a:r>
              <a:rPr lang="en-US" altLang="zh-CN" sz="2000" spc="-5" dirty="0">
                <a:latin typeface="Calibri"/>
                <a:cs typeface="Calibri"/>
              </a:rPr>
              <a:t>le</a:t>
            </a:r>
            <a:r>
              <a:rPr lang="en-US" altLang="zh-CN" sz="2000" dirty="0">
                <a:latin typeface="Calibri"/>
                <a:cs typeface="Calibri"/>
              </a:rPr>
              <a:t>s</a:t>
            </a: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lr>
                <a:srgbClr val="990000"/>
              </a:buClr>
              <a:buSzPct val="110000"/>
              <a:buFont typeface="Wingdings"/>
              <a:buChar char=""/>
              <a:tabLst>
                <a:tab pos="756920" algn="l"/>
              </a:tabLst>
            </a:pPr>
            <a:r>
              <a:rPr lang="zh-CN" altLang="en-US" sz="2000" dirty="0">
                <a:latin typeface="Calibri"/>
                <a:cs typeface="Calibri"/>
              </a:rPr>
              <a:t>高速缓存大小 </a:t>
            </a:r>
            <a:r>
              <a:rPr lang="en-US" altLang="zh-CN" sz="2000" dirty="0">
                <a:latin typeface="Calibri"/>
                <a:cs typeface="Calibri"/>
              </a:rPr>
              <a:t>C</a:t>
            </a:r>
            <a:r>
              <a:rPr lang="en-US" altLang="zh-CN" sz="2000" spc="-10" dirty="0">
                <a:latin typeface="Calibri"/>
                <a:cs typeface="Calibri"/>
              </a:rPr>
              <a:t> </a:t>
            </a:r>
            <a:r>
              <a:rPr lang="en-US" altLang="zh-CN" sz="2000" spc="-5" dirty="0">
                <a:latin typeface="Calibri"/>
                <a:cs typeface="Calibri"/>
              </a:rPr>
              <a:t>&lt;</a:t>
            </a:r>
            <a:r>
              <a:rPr lang="en-US" altLang="zh-CN" sz="2000" dirty="0">
                <a:latin typeface="Calibri"/>
                <a:cs typeface="Calibri"/>
              </a:rPr>
              <a:t>&lt;</a:t>
            </a:r>
            <a:r>
              <a:rPr lang="en-US" altLang="zh-CN" sz="2000" spc="-5" dirty="0">
                <a:latin typeface="Calibri"/>
                <a:cs typeface="Calibri"/>
              </a:rPr>
              <a:t> </a:t>
            </a:r>
            <a:r>
              <a:rPr lang="en-US" altLang="zh-CN" sz="2000" i="1" dirty="0">
                <a:latin typeface="Calibri"/>
                <a:cs typeface="Calibri"/>
              </a:rPr>
              <a:t>n</a:t>
            </a:r>
            <a:r>
              <a:rPr lang="en-US" altLang="zh-CN" sz="2000" i="1" spc="-10" dirty="0">
                <a:latin typeface="Calibri"/>
                <a:cs typeface="Calibri"/>
              </a:rPr>
              <a:t> </a:t>
            </a:r>
            <a:r>
              <a:rPr lang="en-US" altLang="zh-CN" sz="2000" dirty="0">
                <a:latin typeface="Calibri"/>
                <a:cs typeface="Calibri"/>
              </a:rPr>
              <a:t>(</a:t>
            </a:r>
            <a:r>
              <a:rPr lang="zh-CN" altLang="en-US" sz="2000" dirty="0">
                <a:latin typeface="Calibri"/>
                <a:cs typeface="Calibri"/>
              </a:rPr>
              <a:t>远小于 </a:t>
            </a:r>
            <a:r>
              <a:rPr lang="en-US" altLang="zh-CN" sz="2000" i="1" dirty="0">
                <a:latin typeface="Calibri"/>
                <a:cs typeface="Calibri"/>
              </a:rPr>
              <a:t>n</a:t>
            </a:r>
            <a:r>
              <a:rPr lang="en-US" altLang="zh-CN" sz="2000" dirty="0">
                <a:latin typeface="Calibri"/>
                <a:cs typeface="Calibri"/>
              </a:rPr>
              <a:t>)</a:t>
            </a: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lr>
                <a:srgbClr val="990000"/>
              </a:buClr>
              <a:buSzPct val="110000"/>
              <a:buFont typeface="Wingdings"/>
              <a:buChar char=""/>
              <a:tabLst>
                <a:tab pos="756920" algn="l"/>
                <a:tab pos="2463165" algn="l"/>
              </a:tabLst>
            </a:pPr>
            <a:r>
              <a:rPr sz="2000" dirty="0">
                <a:latin typeface="Calibri"/>
                <a:cs typeface="Calibri"/>
              </a:rPr>
              <a:t>	</a:t>
            </a:r>
            <a:r>
              <a:rPr lang="zh-CN" altLang="en-US" sz="2000" dirty="0">
                <a:latin typeface="Calibri"/>
                <a:cs typeface="Calibri"/>
              </a:rPr>
              <a:t>放入缓存中的三个块     </a:t>
            </a:r>
            <a:r>
              <a:rPr sz="2000" dirty="0">
                <a:latin typeface="Calibri"/>
                <a:cs typeface="Calibri"/>
              </a:rPr>
              <a:t>: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3B</a:t>
            </a:r>
            <a:r>
              <a:rPr sz="1950" spc="22" baseline="25641" dirty="0">
                <a:latin typeface="Calibri"/>
                <a:cs typeface="Calibri"/>
              </a:rPr>
              <a:t>2</a:t>
            </a:r>
            <a:r>
              <a:rPr sz="1950" baseline="25641" dirty="0">
                <a:latin typeface="Calibri"/>
                <a:cs typeface="Calibri"/>
              </a:rPr>
              <a:t> </a:t>
            </a:r>
            <a:r>
              <a:rPr sz="1950" spc="-225" baseline="25641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&lt; C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57018" y="394767"/>
            <a:ext cx="7592093" cy="843822"/>
          </a:xfrm>
          <a:prstGeom prst="rect">
            <a:avLst/>
          </a:prstGeom>
        </p:spPr>
        <p:txBody>
          <a:bodyPr vert="horz" wrap="square" lIns="0" tIns="287021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zh-CN" altLang="en-US" spc="-5" dirty="0"/>
              <a:t>分块</a:t>
            </a:r>
            <a:r>
              <a:rPr lang="en-US" altLang="zh-CN" spc="-5" dirty="0"/>
              <a:t>(blocking)</a:t>
            </a:r>
            <a:r>
              <a:rPr lang="zh-CN" altLang="en-US" spc="-5" dirty="0"/>
              <a:t>小结</a:t>
            </a:r>
            <a:endParaRPr spc="-5" dirty="0"/>
          </a:p>
        </p:txBody>
      </p:sp>
      <p:sp>
        <p:nvSpPr>
          <p:cNvPr id="4" name="object 4"/>
          <p:cNvSpPr txBox="1"/>
          <p:nvPr/>
        </p:nvSpPr>
        <p:spPr>
          <a:xfrm>
            <a:off x="475615" y="1449324"/>
            <a:ext cx="7179945" cy="41190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990000"/>
              </a:buClr>
              <a:buSzPct val="60416"/>
              <a:buFont typeface="Wingdings 2"/>
              <a:buChar char=""/>
              <a:tabLst>
                <a:tab pos="355600" algn="l"/>
              </a:tabLst>
            </a:pPr>
            <a:r>
              <a:rPr lang="zh-CN" altLang="en-US" sz="2400" b="1" spc="-5" dirty="0">
                <a:latin typeface="Calibri"/>
                <a:cs typeface="Calibri"/>
              </a:rPr>
              <a:t>没有分块</a:t>
            </a:r>
            <a:r>
              <a:rPr sz="2400" b="1" spc="-5" dirty="0">
                <a:latin typeface="Calibri"/>
                <a:cs typeface="Calibri"/>
              </a:rPr>
              <a:t>:</a:t>
            </a:r>
            <a:r>
              <a:rPr sz="2400" b="1" spc="-2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(9</a:t>
            </a:r>
            <a:r>
              <a:rPr sz="2400" b="1" spc="-5" dirty="0">
                <a:latin typeface="Calibri"/>
                <a:cs typeface="Calibri"/>
              </a:rPr>
              <a:t>/</a:t>
            </a:r>
            <a:r>
              <a:rPr sz="2400" b="1" spc="-10" dirty="0">
                <a:latin typeface="Calibri"/>
                <a:cs typeface="Calibri"/>
              </a:rPr>
              <a:t>8</a:t>
            </a:r>
            <a:r>
              <a:rPr sz="2400" b="1" spc="-5" dirty="0">
                <a:latin typeface="Calibri"/>
                <a:cs typeface="Calibri"/>
              </a:rPr>
              <a:t>)</a:t>
            </a:r>
            <a:r>
              <a:rPr sz="2400" b="1" spc="5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n</a:t>
            </a:r>
            <a:r>
              <a:rPr sz="2400" b="1" spc="-7" baseline="24305" dirty="0">
                <a:latin typeface="Calibri"/>
                <a:cs typeface="Calibri"/>
              </a:rPr>
              <a:t>3</a:t>
            </a:r>
            <a:endParaRPr sz="2400" baseline="24305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Clr>
                <a:srgbClr val="990000"/>
              </a:buClr>
              <a:buSzPct val="60416"/>
              <a:buFont typeface="Wingdings 2"/>
              <a:buChar char=""/>
              <a:tabLst>
                <a:tab pos="355600" algn="l"/>
              </a:tabLst>
            </a:pPr>
            <a:r>
              <a:rPr lang="zh-CN" altLang="en-US" sz="2400" b="1" spc="-10" dirty="0">
                <a:latin typeface="Calibri"/>
                <a:cs typeface="Calibri"/>
              </a:rPr>
              <a:t>分块</a:t>
            </a:r>
            <a:r>
              <a:rPr sz="2400" b="1" spc="-5" dirty="0">
                <a:latin typeface="Calibri"/>
                <a:cs typeface="Calibri"/>
              </a:rPr>
              <a:t>:</a:t>
            </a:r>
            <a:r>
              <a:rPr sz="2400" b="1" spc="-2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1</a:t>
            </a:r>
            <a:r>
              <a:rPr sz="2400" b="1" spc="-5" dirty="0">
                <a:latin typeface="Calibri"/>
                <a:cs typeface="Calibri"/>
              </a:rPr>
              <a:t>/</a:t>
            </a:r>
            <a:r>
              <a:rPr sz="2400" b="1" spc="-10" dirty="0">
                <a:latin typeface="Calibri"/>
                <a:cs typeface="Calibri"/>
              </a:rPr>
              <a:t>(4B</a:t>
            </a:r>
            <a:r>
              <a:rPr sz="2400" b="1" spc="-5" dirty="0">
                <a:latin typeface="Calibri"/>
                <a:cs typeface="Calibri"/>
              </a:rPr>
              <a:t>)</a:t>
            </a:r>
            <a:r>
              <a:rPr sz="2400" b="1" spc="15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n</a:t>
            </a:r>
            <a:r>
              <a:rPr sz="2400" b="1" spc="-7" baseline="24305" dirty="0">
                <a:latin typeface="Calibri"/>
                <a:cs typeface="Calibri"/>
              </a:rPr>
              <a:t>3</a:t>
            </a:r>
            <a:endParaRPr sz="2400" baseline="24305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"/>
              </a:spcBef>
              <a:buFont typeface="Wingdings 2"/>
              <a:buChar char=""/>
            </a:pPr>
            <a:endParaRPr sz="35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Clr>
                <a:srgbClr val="990000"/>
              </a:buClr>
              <a:buSzPct val="60416"/>
              <a:buFont typeface="Wingdings 2"/>
              <a:buChar char=""/>
              <a:tabLst>
                <a:tab pos="355600" algn="l"/>
              </a:tabLst>
            </a:pPr>
            <a:r>
              <a:rPr lang="zh-CN" altLang="en-US" sz="2400" b="1" dirty="0">
                <a:latin typeface="Calibri"/>
                <a:cs typeface="Calibri"/>
              </a:rPr>
              <a:t>建议最大可能的块大小</a:t>
            </a:r>
            <a:r>
              <a:rPr lang="en-US" altLang="zh-CN" sz="2400" b="1" dirty="0">
                <a:latin typeface="Calibri"/>
                <a:cs typeface="Calibri"/>
              </a:rPr>
              <a:t>B</a:t>
            </a:r>
            <a:r>
              <a:rPr lang="zh-CN" altLang="en-US" sz="2400" b="1" dirty="0">
                <a:latin typeface="Calibri"/>
                <a:cs typeface="Calibri"/>
              </a:rPr>
              <a:t>，但 </a:t>
            </a:r>
            <a:r>
              <a:rPr sz="2400" b="1" spc="-10" dirty="0">
                <a:latin typeface="Calibri"/>
                <a:cs typeface="Calibri"/>
              </a:rPr>
              <a:t>3B</a:t>
            </a:r>
            <a:r>
              <a:rPr sz="2400" b="1" spc="-7" baseline="24305" dirty="0">
                <a:latin typeface="Calibri"/>
                <a:cs typeface="Calibri"/>
              </a:rPr>
              <a:t>2</a:t>
            </a:r>
            <a:r>
              <a:rPr sz="2400" b="1" baseline="24305" dirty="0">
                <a:latin typeface="Calibri"/>
                <a:cs typeface="Calibri"/>
              </a:rPr>
              <a:t> </a:t>
            </a:r>
            <a:r>
              <a:rPr sz="2400" b="1" spc="-270" baseline="2430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&lt; C!</a:t>
            </a:r>
            <a:endParaRPr sz="2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"/>
              </a:spcBef>
              <a:buFont typeface="Wingdings 2"/>
              <a:buChar char=""/>
            </a:pPr>
            <a:endParaRPr sz="35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Clr>
                <a:srgbClr val="990000"/>
              </a:buClr>
              <a:buSzPct val="58333"/>
              <a:buFont typeface="Wingdings 2"/>
              <a:buChar char=""/>
              <a:tabLst>
                <a:tab pos="355600" algn="l"/>
              </a:tabLst>
            </a:pPr>
            <a:r>
              <a:rPr lang="zh-CN" altLang="en-US" sz="2400" b="1" dirty="0">
                <a:latin typeface="Calibri"/>
                <a:cs typeface="Calibri"/>
              </a:rPr>
              <a:t>戏剧性差异的原因</a:t>
            </a:r>
            <a:r>
              <a:rPr sz="2400" b="1" dirty="0">
                <a:latin typeface="Calibri"/>
                <a:cs typeface="Calibri"/>
              </a:rPr>
              <a:t>:</a:t>
            </a:r>
            <a:endParaRPr sz="2400" dirty="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505"/>
              </a:spcBef>
              <a:buClr>
                <a:srgbClr val="990000"/>
              </a:buClr>
              <a:buSzPct val="110000"/>
              <a:buFont typeface="Wingdings"/>
              <a:buChar char=""/>
              <a:tabLst>
                <a:tab pos="756920" algn="l"/>
              </a:tabLst>
            </a:pPr>
            <a:r>
              <a:rPr lang="zh-CN" altLang="en-US" sz="2000" dirty="0">
                <a:latin typeface="Calibri"/>
                <a:cs typeface="Calibri"/>
              </a:rPr>
              <a:t>矩阵乘法具有固有的时间局部性</a:t>
            </a:r>
            <a:r>
              <a:rPr sz="2000" dirty="0">
                <a:latin typeface="Calibri"/>
                <a:cs typeface="Calibri"/>
              </a:rPr>
              <a:t>:</a:t>
            </a:r>
          </a:p>
          <a:p>
            <a:pPr marL="1155700" lvl="2" indent="-228600">
              <a:lnSpc>
                <a:spcPct val="100000"/>
              </a:lnSpc>
              <a:spcBef>
                <a:spcPts val="480"/>
              </a:spcBef>
              <a:buSzPct val="80000"/>
              <a:buFont typeface="Wingdings"/>
              <a:buChar char=""/>
              <a:tabLst>
                <a:tab pos="1155700" algn="l"/>
              </a:tabLst>
            </a:pPr>
            <a:r>
              <a:rPr lang="zh-CN" altLang="en-US" sz="2000" dirty="0">
                <a:latin typeface="Calibri"/>
                <a:cs typeface="Calibri"/>
              </a:rPr>
              <a:t>输入数据</a:t>
            </a:r>
            <a:r>
              <a:rPr sz="2000" dirty="0">
                <a:latin typeface="Calibri"/>
                <a:cs typeface="Calibri"/>
              </a:rPr>
              <a:t>: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5" dirty="0">
                <a:latin typeface="Calibri"/>
                <a:cs typeface="Calibri"/>
              </a:rPr>
              <a:t>3</a:t>
            </a:r>
            <a:r>
              <a:rPr sz="2000" i="1" dirty="0">
                <a:latin typeface="Calibri"/>
                <a:cs typeface="Calibri"/>
              </a:rPr>
              <a:t>n</a:t>
            </a:r>
            <a:r>
              <a:rPr sz="1950" spc="15" baseline="25641" dirty="0">
                <a:latin typeface="Calibri"/>
                <a:cs typeface="Calibri"/>
              </a:rPr>
              <a:t>2</a:t>
            </a:r>
            <a:r>
              <a:rPr sz="2000" dirty="0">
                <a:latin typeface="Calibri"/>
                <a:cs typeface="Calibri"/>
              </a:rPr>
              <a:t>,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lang="zh-CN" altLang="en-US" sz="2000" spc="-5" dirty="0">
                <a:latin typeface="Calibri"/>
                <a:cs typeface="Calibri"/>
              </a:rPr>
              <a:t>计算 </a:t>
            </a:r>
            <a:r>
              <a:rPr sz="2000" dirty="0">
                <a:latin typeface="Calibri"/>
                <a:cs typeface="Calibri"/>
              </a:rPr>
              <a:t>2</a:t>
            </a:r>
            <a:r>
              <a:rPr sz="2000" i="1" dirty="0">
                <a:latin typeface="Calibri"/>
                <a:cs typeface="Calibri"/>
              </a:rPr>
              <a:t>n</a:t>
            </a:r>
            <a:r>
              <a:rPr sz="1950" spc="22" baseline="25641" dirty="0">
                <a:latin typeface="Calibri"/>
                <a:cs typeface="Calibri"/>
              </a:rPr>
              <a:t>3</a:t>
            </a:r>
            <a:endParaRPr sz="1950" baseline="25641" dirty="0">
              <a:latin typeface="Calibri"/>
              <a:cs typeface="Calibri"/>
            </a:endParaRPr>
          </a:p>
          <a:p>
            <a:pPr marL="1155700" lvl="2" indent="-228600">
              <a:lnSpc>
                <a:spcPct val="100000"/>
              </a:lnSpc>
              <a:spcBef>
                <a:spcPts val="480"/>
              </a:spcBef>
              <a:buSzPct val="80000"/>
              <a:buFont typeface="Wingdings"/>
              <a:buChar char=""/>
              <a:tabLst>
                <a:tab pos="1155700" algn="l"/>
              </a:tabLst>
            </a:pPr>
            <a:r>
              <a:rPr lang="zh-CN" altLang="en-US" sz="2000" spc="5" dirty="0">
                <a:latin typeface="Calibri"/>
                <a:cs typeface="Calibri"/>
              </a:rPr>
              <a:t>每个数组元素使用 </a:t>
            </a:r>
            <a:r>
              <a:rPr sz="2000" spc="5" dirty="0">
                <a:latin typeface="Calibri"/>
                <a:cs typeface="Calibri"/>
              </a:rPr>
              <a:t>O</a:t>
            </a:r>
            <a:r>
              <a:rPr sz="2000" dirty="0">
                <a:latin typeface="Calibri"/>
                <a:cs typeface="Calibri"/>
              </a:rPr>
              <a:t>(</a:t>
            </a:r>
            <a:r>
              <a:rPr sz="2000" i="1" dirty="0">
                <a:latin typeface="Calibri"/>
                <a:cs typeface="Calibri"/>
              </a:rPr>
              <a:t>n</a:t>
            </a:r>
            <a:r>
              <a:rPr sz="2000" dirty="0">
                <a:latin typeface="Calibri"/>
                <a:cs typeface="Calibri"/>
              </a:rPr>
              <a:t>)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lang="zh-CN" altLang="en-US" sz="2000" spc="-5" dirty="0">
                <a:latin typeface="Calibri"/>
                <a:cs typeface="Calibri"/>
              </a:rPr>
              <a:t>次</a:t>
            </a:r>
            <a:r>
              <a:rPr sz="2000" spc="-5" dirty="0">
                <a:latin typeface="Calibri"/>
                <a:cs typeface="Calibri"/>
              </a:rPr>
              <a:t>!</a:t>
            </a:r>
            <a:endParaRPr sz="2000" dirty="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lr>
                <a:srgbClr val="990000"/>
              </a:buClr>
              <a:buSzPct val="110000"/>
              <a:buFont typeface="Wingdings"/>
              <a:buChar char=""/>
              <a:tabLst>
                <a:tab pos="756920" algn="l"/>
              </a:tabLst>
            </a:pPr>
            <a:r>
              <a:rPr lang="zh-CN" altLang="en-US" sz="2000" dirty="0">
                <a:latin typeface="Calibri"/>
                <a:cs typeface="Calibri"/>
              </a:rPr>
              <a:t>但是程序必须正确编写</a:t>
            </a:r>
            <a:endParaRPr sz="2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57018" y="394767"/>
            <a:ext cx="7592093" cy="843822"/>
          </a:xfrm>
          <a:prstGeom prst="rect">
            <a:avLst/>
          </a:prstGeom>
        </p:spPr>
        <p:txBody>
          <a:bodyPr vert="horz" wrap="square" lIns="0" tIns="287021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zh-CN" altLang="en-US" spc="-5" dirty="0"/>
              <a:t>高速缓存小结</a:t>
            </a:r>
            <a:endParaRPr spc="-5" dirty="0"/>
          </a:p>
        </p:txBody>
      </p:sp>
      <p:sp>
        <p:nvSpPr>
          <p:cNvPr id="4" name="object 4"/>
          <p:cNvSpPr txBox="1"/>
          <p:nvPr/>
        </p:nvSpPr>
        <p:spPr>
          <a:xfrm>
            <a:off x="475615" y="1464183"/>
            <a:ext cx="7707630" cy="33162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990000"/>
              </a:buClr>
              <a:buSzPct val="60416"/>
              <a:buFont typeface="Wingdings 2"/>
              <a:buChar char=""/>
              <a:tabLst>
                <a:tab pos="355600" algn="l"/>
              </a:tabLst>
            </a:pPr>
            <a:r>
              <a:rPr lang="zh-CN" altLang="en-US" sz="2400" b="1" spc="-10" dirty="0">
                <a:latin typeface="Calibri"/>
                <a:cs typeface="Calibri"/>
              </a:rPr>
              <a:t>高速缓存、内存对性能有显著的影响</a:t>
            </a:r>
            <a:endParaRPr sz="2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"/>
              </a:spcBef>
              <a:buClr>
                <a:srgbClr val="990000"/>
              </a:buClr>
              <a:buFont typeface="Wingdings 2"/>
              <a:buChar char=""/>
            </a:pPr>
            <a:endParaRPr sz="35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Clr>
                <a:srgbClr val="990000"/>
              </a:buClr>
              <a:buSzPct val="60416"/>
              <a:buFont typeface="Wingdings 2"/>
              <a:buChar char=""/>
              <a:tabLst>
                <a:tab pos="355600" algn="l"/>
              </a:tabLst>
            </a:pPr>
            <a:r>
              <a:rPr lang="zh-CN" altLang="en-US" sz="2400" b="1" spc="-5" dirty="0">
                <a:latin typeface="Calibri"/>
                <a:cs typeface="Calibri"/>
              </a:rPr>
              <a:t>使用以下技术来编写程序：</a:t>
            </a:r>
            <a:endParaRPr sz="2400" dirty="0">
              <a:latin typeface="Calibri"/>
              <a:cs typeface="Calibri"/>
            </a:endParaRPr>
          </a:p>
          <a:p>
            <a:pPr marL="756285" marR="5080" lvl="1" indent="-286385">
              <a:lnSpc>
                <a:spcPct val="100000"/>
              </a:lnSpc>
              <a:spcBef>
                <a:spcPts val="505"/>
              </a:spcBef>
              <a:buClr>
                <a:srgbClr val="990000"/>
              </a:buClr>
              <a:buSzPct val="110000"/>
              <a:buFont typeface="Wingdings"/>
              <a:buChar char=""/>
              <a:tabLst>
                <a:tab pos="756920" algn="l"/>
              </a:tabLst>
            </a:pPr>
            <a:r>
              <a:rPr lang="zh-CN" altLang="en-US" sz="2000" dirty="0">
                <a:latin typeface="Calibri"/>
                <a:cs typeface="Calibri"/>
              </a:rPr>
              <a:t>将你的注意力集中在内循环上，大部分计算和内存访问都发生在这里。</a:t>
            </a:r>
            <a:endParaRPr sz="2000" dirty="0">
              <a:latin typeface="Calibri"/>
              <a:cs typeface="Calibri"/>
            </a:endParaRPr>
          </a:p>
          <a:p>
            <a:pPr marL="756285" marR="779145" lvl="1" indent="-286385">
              <a:lnSpc>
                <a:spcPct val="100000"/>
              </a:lnSpc>
              <a:spcBef>
                <a:spcPts val="480"/>
              </a:spcBef>
              <a:buClr>
                <a:srgbClr val="990000"/>
              </a:buClr>
              <a:buSzPct val="110000"/>
              <a:buFont typeface="Wingdings"/>
              <a:buChar char=""/>
              <a:tabLst>
                <a:tab pos="756920" algn="l"/>
              </a:tabLst>
            </a:pPr>
            <a:r>
              <a:rPr lang="zh-CN" altLang="en-US" sz="2000" dirty="0">
                <a:latin typeface="Calibri"/>
                <a:cs typeface="Calibri"/>
              </a:rPr>
              <a:t>通过按照数据对象存储在内存中的顺序、以步长为</a:t>
            </a:r>
            <a:r>
              <a:rPr lang="en-US" altLang="zh-CN" sz="2000" dirty="0">
                <a:latin typeface="Calibri"/>
                <a:cs typeface="Calibri"/>
              </a:rPr>
              <a:t> 1 </a:t>
            </a:r>
            <a:r>
              <a:rPr lang="zh-CN" altLang="en-US" sz="2000" dirty="0">
                <a:latin typeface="Calibri"/>
                <a:cs typeface="Calibri"/>
              </a:rPr>
              <a:t>来读数据，从而使得你的程序中的空间局部性最大。</a:t>
            </a:r>
            <a:endParaRPr sz="2000" dirty="0">
              <a:latin typeface="Calibri"/>
              <a:cs typeface="Calibri"/>
            </a:endParaRPr>
          </a:p>
          <a:p>
            <a:pPr marL="756285" marR="11430" lvl="1" indent="-286385">
              <a:lnSpc>
                <a:spcPct val="100000"/>
              </a:lnSpc>
              <a:spcBef>
                <a:spcPts val="480"/>
              </a:spcBef>
              <a:buClr>
                <a:srgbClr val="990000"/>
              </a:buClr>
              <a:buSzPct val="110000"/>
              <a:buFont typeface="Wingdings"/>
              <a:buChar char=""/>
              <a:tabLst>
                <a:tab pos="756920" algn="l"/>
              </a:tabLst>
            </a:pPr>
            <a:r>
              <a:rPr lang="zh-CN" altLang="en-US" sz="2000" dirty="0">
                <a:latin typeface="Calibri"/>
                <a:cs typeface="Calibri"/>
              </a:rPr>
              <a:t>一旦从存储器中读入了一个数据对象，就尽可能多地使用它，从而使得程序中的时间局部性最大。</a:t>
            </a:r>
            <a:endParaRPr sz="2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plate2007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00000"/>
      </a:hlink>
      <a:folHlink>
        <a:srgbClr val="C00000"/>
      </a:folHlink>
    </a:clrScheme>
    <a:fontScheme name="Custom 1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2">
            <a:lumMod val="20000"/>
            <a:lumOff val="80000"/>
          </a:schemeClr>
        </a:solidFill>
        <a:ln w="2857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</a:spPr>
      <a:bodyPr vert="horz" wrap="square" lIns="91440" tIns="45720" rIns="91440" bIns="45720" numCol="1" rtlCol="0" anchor="ctr" anchorCtr="1" compatLnSpc="1"/>
      <a:lstStyle>
        <a:defPPr marL="0" marR="0" indent="0" algn="ctr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Tx/>
          <a:buNone/>
          <a:defRPr dirty="0" smtClean="0">
            <a:latin typeface="Calibri" pitchFamily="34" charset="0"/>
          </a:defRPr>
        </a:defPPr>
      </a:lstStyle>
    </a:spDef>
    <a:lnDef>
      <a:spPr bwMode="auto"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/>
      <a:lstStyle/>
    </a:lnDef>
    <a:txDef>
      <a:spPr>
        <a:noFill/>
      </a:spPr>
      <a:bodyPr wrap="none" rtlCol="0">
        <a:spAutoFit/>
      </a:bodyPr>
      <a:lstStyle>
        <a:defPPr>
          <a:defRPr sz="1800" dirty="0" smtClean="0">
            <a:latin typeface="Calibri" pitchFamily="34" charset="0"/>
          </a:defRPr>
        </a:defPPr>
      </a:lstStyle>
    </a:txDef>
  </a:objectDefaults>
  <a:extraClrSchemeLst>
    <a:extraClrScheme>
      <a:clrScheme name="class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lass1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清风素材 https://12sc.taobao.com/">
  <a:themeElements>
    <a:clrScheme name="自定义 75">
      <a:dk1>
        <a:srgbClr val="000000"/>
      </a:dk1>
      <a:lt1>
        <a:srgbClr val="FFFFFF"/>
      </a:lt1>
      <a:dk2>
        <a:srgbClr val="000000"/>
      </a:dk2>
      <a:lt2>
        <a:srgbClr val="FFFDFD"/>
      </a:lt2>
      <a:accent1>
        <a:srgbClr val="D078A5"/>
      </a:accent1>
      <a:accent2>
        <a:srgbClr val="7E4460"/>
      </a:accent2>
      <a:accent3>
        <a:srgbClr val="F3D06C"/>
      </a:accent3>
      <a:accent4>
        <a:srgbClr val="F4445A"/>
      </a:accent4>
      <a:accent5>
        <a:srgbClr val="E4DBCD"/>
      </a:accent5>
      <a:accent6>
        <a:srgbClr val="515151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846</TotalTime>
  <Words>4904</Words>
  <Application>Microsoft Office PowerPoint</Application>
  <PresentationFormat>全屏显示(4:3)</PresentationFormat>
  <Paragraphs>1114</Paragraphs>
  <Slides>54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54</vt:i4>
      </vt:variant>
    </vt:vector>
  </HeadingPairs>
  <TitlesOfParts>
    <vt:vector size="64" baseType="lpstr">
      <vt:lpstr>Arial</vt:lpstr>
      <vt:lpstr>Arial Narrow</vt:lpstr>
      <vt:lpstr>Calibri</vt:lpstr>
      <vt:lpstr>Century Gothic</vt:lpstr>
      <vt:lpstr>Courier New</vt:lpstr>
      <vt:lpstr>Times New Roman</vt:lpstr>
      <vt:lpstr>Wingdings</vt:lpstr>
      <vt:lpstr>Wingdings 2</vt:lpstr>
      <vt:lpstr>template2007</vt:lpstr>
      <vt:lpstr>清风素材 https://12sc.taobao.com/</vt:lpstr>
      <vt:lpstr>PowerPoint 演示文稿</vt:lpstr>
      <vt:lpstr>高速缓存存储器</vt:lpstr>
      <vt:lpstr>局部性</vt:lpstr>
      <vt:lpstr>存储器 层次结构举例</vt:lpstr>
      <vt:lpstr>高速缓存基本概念</vt:lpstr>
      <vt:lpstr>基本高速缓存概念: 命中</vt:lpstr>
      <vt:lpstr>基本高速缓存概念: 不命中</vt:lpstr>
      <vt:lpstr>基本高速缓存概念: 多类缓存不命中</vt:lpstr>
      <vt:lpstr>高速缓存存储器</vt:lpstr>
      <vt:lpstr>重读第10讲: 现代 CPU 设计</vt:lpstr>
      <vt:lpstr>它看起来如何</vt:lpstr>
      <vt:lpstr>它看起来是什么样子（续）</vt:lpstr>
      <vt:lpstr>高速缓存(S, E, B)的通用组织</vt:lpstr>
      <vt:lpstr>PowerPoint 演示文稿</vt:lpstr>
      <vt:lpstr>例子: 直接映射高级缓存(E = 1)</vt:lpstr>
      <vt:lpstr>例子: 直接映射高级缓存(E = 1)</vt:lpstr>
      <vt:lpstr>例子: 直接映射高级缓存(E = 1)</vt:lpstr>
      <vt:lpstr>直接映射高速缓存仿真</vt:lpstr>
      <vt:lpstr>E 路组相联高速缓存 ( E = 2)</vt:lpstr>
      <vt:lpstr>E 路组相联高速缓存 ( E = 2)</vt:lpstr>
      <vt:lpstr>E 路组相联高速缓存 ( E = 2)</vt:lpstr>
      <vt:lpstr>2路组相联高速缓存仿真</vt:lpstr>
      <vt:lpstr>有关写的问题</vt:lpstr>
      <vt:lpstr>Intel Core i7 的高速缓存层次结构</vt:lpstr>
      <vt:lpstr>例子: Core i7 L1 Data Cache</vt:lpstr>
      <vt:lpstr>例子: Core i7 L1 Data Cache</vt:lpstr>
      <vt:lpstr>高速缓存参数的性能影响</vt:lpstr>
      <vt:lpstr>考虑这些数字</vt:lpstr>
      <vt:lpstr>编写高速缓存友好的代码</vt:lpstr>
      <vt:lpstr>高速缓存存储器</vt:lpstr>
      <vt:lpstr>存储器山</vt:lpstr>
      <vt:lpstr>存储器山test程序 long data[MAXELEMS]; /* Global array to traverse */</vt:lpstr>
      <vt:lpstr>PowerPoint 演示文稿</vt:lpstr>
      <vt:lpstr>高速缓存存储器</vt:lpstr>
      <vt:lpstr>矩阵相乘问题</vt:lpstr>
      <vt:lpstr>矩阵乘法的不命中率分析</vt:lpstr>
      <vt:lpstr>内存中C数组的布局（综述）</vt:lpstr>
      <vt:lpstr>矩阵乘法(ijk)</vt:lpstr>
      <vt:lpstr>矩阵乘法(jik)</vt:lpstr>
      <vt:lpstr>矩阵乘法(kij)</vt:lpstr>
      <vt:lpstr>矩阵乘法(ikj)</vt:lpstr>
      <vt:lpstr>矩阵乘法(jki)</vt:lpstr>
      <vt:lpstr>矩阵乘法(kji)</vt:lpstr>
      <vt:lpstr>矩阵乘法总结</vt:lpstr>
      <vt:lpstr>Core i7 矩阵乘法性能</vt:lpstr>
      <vt:lpstr>高速缓存存储器</vt:lpstr>
      <vt:lpstr>例子:矩阵乘法</vt:lpstr>
      <vt:lpstr>高速缓存不命中分析</vt:lpstr>
      <vt:lpstr>高速缓存不命中分析</vt:lpstr>
      <vt:lpstr>分块矩阵乘法</vt:lpstr>
      <vt:lpstr>高速缓存不命中分析</vt:lpstr>
      <vt:lpstr>高速缓存不命中分析</vt:lpstr>
      <vt:lpstr>分块(blocking)小结</vt:lpstr>
      <vt:lpstr>高速缓存小结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Computer Systems 15-213/18-243, spring 2009</dc:title>
  <dc:creator>Markus Pueschel</dc:creator>
  <cp:lastModifiedBy>王锦鸿</cp:lastModifiedBy>
  <cp:revision>40</cp:revision>
  <dcterms:created xsi:type="dcterms:W3CDTF">2018-04-21T22:14:36Z</dcterms:created>
  <dcterms:modified xsi:type="dcterms:W3CDTF">2024-06-28T03:54:06Z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2017-02-23T00:00:00Z</vt:filetime>
  </property>
  <property fmtid="{D5CDD505-2E9C-101B-9397-08002B2CF9AE}" pid="3" name="Creator">
    <vt:lpwstr>Acrobat PDFMaker 11 for PowerPoint</vt:lpwstr>
  </property>
  <property fmtid="{D5CDD505-2E9C-101B-9397-08002B2CF9AE}" pid="4" name="LastSaved">
    <vt:filetime>2018-04-21T00:00:00Z</vt:filetime>
  </property>
</Properties>
</file>