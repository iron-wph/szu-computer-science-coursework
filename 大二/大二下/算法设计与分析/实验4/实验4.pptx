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56" r:id="rId3"/>
    <p:sldId id="276" r:id="rId4"/>
    <p:sldId id="268" r:id="rId5"/>
    <p:sldId id="277" r:id="rId6"/>
    <p:sldId id="269" r:id="rId7"/>
    <p:sldId id="278" r:id="rId8"/>
    <p:sldId id="272" r:id="rId9"/>
    <p:sldId id="284" r:id="rId10"/>
    <p:sldId id="285" r:id="rId11"/>
    <p:sldId id="273" r:id="rId12"/>
    <p:sldId id="280" r:id="rId13"/>
    <p:sldId id="286" r:id="rId14"/>
    <p:sldId id="282" r:id="rId15"/>
    <p:sldId id="274" r:id="rId16"/>
    <p:sldId id="283" r:id="rId17"/>
    <p:sldId id="281" r:id="rId18"/>
    <p:sldId id="287" r:id="rId19"/>
    <p:sldId id="288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5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37C349-BDA9-4F93-93C7-C8B74D666A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16AEFE14-BD83-427A-A0F4-E6DCE3CF6C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88CCDDE-1D1C-49AF-A749-337826D603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8CB13F-EA2A-4BD5-A76F-0C9762AD38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D4108-CC38-4B87-BA98-BEB9B400C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1643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C5808AB-486B-46D2-BC85-A9A439E47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9FF502A-CB40-4703-894E-FFE3F8B806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D8E7BB-8651-44E6-8328-75CE616CB87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FC5276-50E9-44D2-A104-97A5E7A74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94839C-D7EE-4C0F-9533-5AB04012E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7384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DDC85A-FE36-4B23-A9C5-89E2B273A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B41B4BD-56CC-4D4D-9363-B6E1A1FA25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05C48D7-5CB8-4F24-B8AA-D11915D1410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91A837-AB0B-4541-943A-EFE1E1518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DEE57A-2D31-4810-B9BD-AFA043866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7065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6C40642-0EDA-435A-9082-3BE6CE204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F8F9350-0298-495E-ABBC-36DFD46417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5E086B7-84FA-4506-9B27-39E9993A39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B737C1-DEB1-45AC-A70E-FDD8DCBDFB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A905D58-8290-4134-81C9-E83E2AFA2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F944B8-1DA0-411A-A27C-EE3454B96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84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343FDB-620A-4C67-B8C3-66EB581AA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1C1A758-57D8-4DA6-B418-DEF0B086C9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71E98A-47B1-43E8-89EE-B30E6A03B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C6E5758E-C53B-4958-AD84-DD8D62D792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5081761-6B4E-410E-9AFA-2BEE365EF5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3CB9141-BF6A-460A-A0E0-8059661D6F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59D9BA9-EC27-4482-8C3F-F2F2161091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D560E5-9B63-47F0-B74E-08BEC7240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30493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83260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391191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6BC1256-FAAC-4584-9258-E9C3C8C61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E2EE2FB-2E87-4B85-8906-60967F1047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700D4DE-3935-4391-8F15-3414CB43BC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EB32C6-4F09-44EE-B4D5-5E31BC12FE7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42B0B64-F689-4CE8-82F6-9BD859EF0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4FBECB2-38C4-4FF5-A8D3-910712283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17722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E63B88-5A81-4EC0-820F-5636DFD97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E17D9E7-AD8E-46E6-9C8C-E9625C0E3F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546388D-FC30-47BD-9F7E-6AA3FE8355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B1EE99F-E182-4603-824B-BE555B0BCF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74BE833-1760-4F13-867E-CF8A85F65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2D620A5-86D4-48AA-AA19-74B8ACF6E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640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7C9765-8218-456C-BC29-90200BE81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819ED52-7424-4C60-9A1F-CD686BB817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9673240-A0AF-4BBF-AC78-EC05914514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D80F9C-C69B-4BED-A367-346DEC49E8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D41206B-8BAE-48F7-9BAF-D46B2FC6A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269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56688B3-A49C-4A97-8F2A-A855D9D2F0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E99B4B-FEBF-41D4-BD16-ED9B2E1098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455440E-FF61-4C3A-884D-809434BF81E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822291D-74BB-4671-879C-BAFC519B0F87}" type="datetimeFigureOut">
              <a:rPr lang="zh-CN" altLang="en-US" smtClean="0"/>
              <a:t>2024/5/18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4723F5-EA0E-4C21-A08E-F161FFD23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1456444-2264-46D3-A70A-DCD171063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A9587EC-CE82-43B3-8108-682B92DF5C8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2537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FE977D2F-95B7-42BD-A340-19A9ECB29DB8}"/>
              </a:ext>
            </a:extLst>
          </p:cNvPr>
          <p:cNvSpPr/>
          <p:nvPr userDrawn="1"/>
        </p:nvSpPr>
        <p:spPr>
          <a:xfrm>
            <a:off x="1136072" y="295564"/>
            <a:ext cx="11055928" cy="550402"/>
          </a:xfrm>
          <a:prstGeom prst="rect">
            <a:avLst/>
          </a:prstGeom>
          <a:solidFill>
            <a:srgbClr val="00B0F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square" rtlCol="0" anchor="ctr">
            <a:no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思源黑体 CN Heavy" panose="020B0A00000000000000" pitchFamily="34" charset="-122"/>
              <a:ea typeface="思源黑体 CN Heavy" panose="020B0A00000000000000" pitchFamily="34" charset="-122"/>
              <a:cs typeface="+mn-ea"/>
              <a:sym typeface="+mn-lt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1354AC49-1201-45C2-B880-79278C47FB48}"/>
              </a:ext>
            </a:extLst>
          </p:cNvPr>
          <p:cNvGrpSpPr/>
          <p:nvPr userDrawn="1"/>
        </p:nvGrpSpPr>
        <p:grpSpPr>
          <a:xfrm>
            <a:off x="9814110" y="267547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52361D6-C8DA-4047-B02F-D9656F44025F}"/>
                </a:ext>
              </a:extLst>
            </p:cNvPr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7D241B31-D374-4B2A-91E7-68B75DB43DC3}"/>
                </a:ext>
              </a:extLst>
            </p:cNvPr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F23EEA69-6200-435F-8E39-8B5557397CA5}"/>
                </a:ext>
              </a:extLst>
            </p:cNvPr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A9C52D3-12E1-4A4E-B5D9-C8ADAA2CD9AC}"/>
                </a:ext>
              </a:extLst>
            </p:cNvPr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B7094F9-ECDB-4599-A721-ACF5AAA77C1E}"/>
                </a:ext>
              </a:extLst>
            </p:cNvPr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90C0ACC2-AAA2-44DE-9758-3A62F7F2186F}"/>
                </a:ext>
              </a:extLst>
            </p:cNvPr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B7BABDCE-2E8B-4D42-86DC-C7980DCC96C6}"/>
                </a:ext>
              </a:extLst>
            </p:cNvPr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440795A-EB9C-4DA6-8ED3-6F3F3684EABC}"/>
                </a:ext>
              </a:extLst>
            </p:cNvPr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18B3F813-BD57-4345-9CD7-018684504D96}"/>
                </a:ext>
              </a:extLst>
            </p:cNvPr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3EAEA18B-2142-4E76-8190-D8937C99DEE5}"/>
                </a:ext>
              </a:extLst>
            </p:cNvPr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7B6BE10C-8B57-4328-832E-030BE42C6D34}"/>
                </a:ext>
              </a:extLst>
            </p:cNvPr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16">
              <a:extLst>
                <a:ext uri="{FF2B5EF4-FFF2-40B4-BE49-F238E27FC236}">
                  <a16:creationId xmlns:a16="http://schemas.microsoft.com/office/drawing/2014/main" id="{29BB24DA-4A1F-47FB-9F3D-BF18C6B68ED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170D3F8A-BA2B-4783-A2EE-A055245378E6}"/>
                </a:ext>
              </a:extLst>
            </p:cNvPr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0AF7D654-FB23-4049-AAC7-6B2BE6E7FD18}"/>
                </a:ext>
              </a:extLst>
            </p:cNvPr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777FA42F-2CCE-4FD9-82F2-AB1ED968E34C}"/>
                </a:ext>
              </a:extLst>
            </p:cNvPr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92CC3B07-73DB-4FED-81A5-C30F4E225E2C}"/>
                </a:ext>
              </a:extLst>
            </p:cNvPr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21">
              <a:extLst>
                <a:ext uri="{FF2B5EF4-FFF2-40B4-BE49-F238E27FC236}">
                  <a16:creationId xmlns:a16="http://schemas.microsoft.com/office/drawing/2014/main" id="{BD71A83F-8866-4908-9192-A7711FCEEAE9}"/>
                </a:ext>
              </a:extLst>
            </p:cNvPr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100B47D7-3427-4FC6-9ED8-E2C332ED23F4}"/>
                </a:ext>
              </a:extLst>
            </p:cNvPr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B4BA8230-2397-4D20-9767-46721709CCD5}"/>
                </a:ext>
              </a:extLst>
            </p:cNvPr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071C4E1F-1987-4E82-91AB-C1A258DC7F4F}"/>
                </a:ext>
              </a:extLst>
            </p:cNvPr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28C26DCD-237D-48F9-85A3-C2D50674BD51}"/>
                </a:ext>
              </a:extLst>
            </p:cNvPr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E4C659DA-45BE-4C56-AB50-FE8D4967FC6F}"/>
                </a:ext>
              </a:extLst>
            </p:cNvPr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85CEF46C-7919-4878-AE1B-4F0EAB595BF0}"/>
                </a:ext>
              </a:extLst>
            </p:cNvPr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7E3FC73A-3369-494B-A263-18727A2F50D0}"/>
                </a:ext>
              </a:extLst>
            </p:cNvPr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449A2405-E31C-4C34-B584-FD9D219372CC}"/>
                </a:ext>
              </a:extLst>
            </p:cNvPr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4251401-68F4-4C5F-83C2-5A9B53AECFD0}"/>
                </a:ext>
              </a:extLst>
            </p:cNvPr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FF1FF145-10FD-46E8-965B-6258DC5B22D4}"/>
                </a:ext>
              </a:extLst>
            </p:cNvPr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32">
              <a:extLst>
                <a:ext uri="{FF2B5EF4-FFF2-40B4-BE49-F238E27FC236}">
                  <a16:creationId xmlns:a16="http://schemas.microsoft.com/office/drawing/2014/main" id="{B38523D1-6342-4B0B-A9A7-456A63106324}"/>
                </a:ext>
              </a:extLst>
            </p:cNvPr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33">
              <a:extLst>
                <a:ext uri="{FF2B5EF4-FFF2-40B4-BE49-F238E27FC236}">
                  <a16:creationId xmlns:a16="http://schemas.microsoft.com/office/drawing/2014/main" id="{5B3CE43A-FC64-41AC-95C2-84699AE0082C}"/>
                </a:ext>
              </a:extLst>
            </p:cNvPr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9EE1880F-C29D-4F18-8CEF-DF9B16C216F6}"/>
                </a:ext>
              </a:extLst>
            </p:cNvPr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35">
              <a:extLst>
                <a:ext uri="{FF2B5EF4-FFF2-40B4-BE49-F238E27FC236}">
                  <a16:creationId xmlns:a16="http://schemas.microsoft.com/office/drawing/2014/main" id="{9BEDCB24-280E-4029-99F4-98D7C56AA8C2}"/>
                </a:ext>
              </a:extLst>
            </p:cNvPr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ADBDC1D7-52A9-4F5F-9EA6-8573EBEA0DBE}"/>
                </a:ext>
              </a:extLst>
            </p:cNvPr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3" name="Freeform 37">
              <a:extLst>
                <a:ext uri="{FF2B5EF4-FFF2-40B4-BE49-F238E27FC236}">
                  <a16:creationId xmlns:a16="http://schemas.microsoft.com/office/drawing/2014/main" id="{24E2FE99-D537-4E2F-8A35-664F801EA338}"/>
                </a:ext>
              </a:extLst>
            </p:cNvPr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74F123F4-052C-4AE4-AF28-B0F4ABB98317}"/>
                </a:ext>
              </a:extLst>
            </p:cNvPr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39">
              <a:extLst>
                <a:ext uri="{FF2B5EF4-FFF2-40B4-BE49-F238E27FC236}">
                  <a16:creationId xmlns:a16="http://schemas.microsoft.com/office/drawing/2014/main" id="{EF8BC823-6EFB-4968-96FE-838D86752414}"/>
                </a:ext>
              </a:extLst>
            </p:cNvPr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D6F5C211-8BEA-4AD8-B631-018C6B61B00E}"/>
                </a:ext>
              </a:extLst>
            </p:cNvPr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41">
              <a:extLst>
                <a:ext uri="{FF2B5EF4-FFF2-40B4-BE49-F238E27FC236}">
                  <a16:creationId xmlns:a16="http://schemas.microsoft.com/office/drawing/2014/main" id="{EA626CE7-AD88-4103-92C7-E6EB2B33F3AE}"/>
                </a:ext>
              </a:extLst>
            </p:cNvPr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42">
              <a:extLst>
                <a:ext uri="{FF2B5EF4-FFF2-40B4-BE49-F238E27FC236}">
                  <a16:creationId xmlns:a16="http://schemas.microsoft.com/office/drawing/2014/main" id="{D324E5F6-0D6A-4D56-B8AF-88C2F9995B1C}"/>
                </a:ext>
              </a:extLst>
            </p:cNvPr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43">
              <a:extLst>
                <a:ext uri="{FF2B5EF4-FFF2-40B4-BE49-F238E27FC236}">
                  <a16:creationId xmlns:a16="http://schemas.microsoft.com/office/drawing/2014/main" id="{563A7E6E-0721-469B-BE1D-ED4882F54020}"/>
                </a:ext>
              </a:extLst>
            </p:cNvPr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44">
              <a:extLst>
                <a:ext uri="{FF2B5EF4-FFF2-40B4-BE49-F238E27FC236}">
                  <a16:creationId xmlns:a16="http://schemas.microsoft.com/office/drawing/2014/main" id="{0BA0130F-22C4-4B9E-9416-9E6F24EA54C0}"/>
                </a:ext>
              </a:extLst>
            </p:cNvPr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1" name="Freeform 45">
              <a:extLst>
                <a:ext uri="{FF2B5EF4-FFF2-40B4-BE49-F238E27FC236}">
                  <a16:creationId xmlns:a16="http://schemas.microsoft.com/office/drawing/2014/main" id="{E7CE8D92-D47A-46B2-A2AE-04EE0A368B33}"/>
                </a:ext>
              </a:extLst>
            </p:cNvPr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A58AD9BC-C77B-49B3-9BC8-A6D952DF71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3" name="Freeform 47">
              <a:extLst>
                <a:ext uri="{FF2B5EF4-FFF2-40B4-BE49-F238E27FC236}">
                  <a16:creationId xmlns:a16="http://schemas.microsoft.com/office/drawing/2014/main" id="{44041724-5E0F-49E7-AC5F-E24427F0B380}"/>
                </a:ext>
              </a:extLst>
            </p:cNvPr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548E3603-EA75-4D7A-890F-CE53AFCCF851}"/>
                </a:ext>
              </a:extLst>
            </p:cNvPr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5" name="Freeform 49">
              <a:extLst>
                <a:ext uri="{FF2B5EF4-FFF2-40B4-BE49-F238E27FC236}">
                  <a16:creationId xmlns:a16="http://schemas.microsoft.com/office/drawing/2014/main" id="{610838C2-6090-4B6B-8740-10528F934644}"/>
                </a:ext>
              </a:extLst>
            </p:cNvPr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FC158CDF-7CEA-4848-99DA-075CD1168953}"/>
                </a:ext>
              </a:extLst>
            </p:cNvPr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7" name="Freeform 51">
              <a:extLst>
                <a:ext uri="{FF2B5EF4-FFF2-40B4-BE49-F238E27FC236}">
                  <a16:creationId xmlns:a16="http://schemas.microsoft.com/office/drawing/2014/main" id="{DFEEC8D9-806E-4EA1-B8E8-0951D90C17BF}"/>
                </a:ext>
              </a:extLst>
            </p:cNvPr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8" name="Freeform 52">
              <a:extLst>
                <a:ext uri="{FF2B5EF4-FFF2-40B4-BE49-F238E27FC236}">
                  <a16:creationId xmlns:a16="http://schemas.microsoft.com/office/drawing/2014/main" id="{6AD8D228-A3E3-49E6-981E-4A7EC10A2A60}"/>
                </a:ext>
              </a:extLst>
            </p:cNvPr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9" name="Freeform 53">
              <a:extLst>
                <a:ext uri="{FF2B5EF4-FFF2-40B4-BE49-F238E27FC236}">
                  <a16:creationId xmlns:a16="http://schemas.microsoft.com/office/drawing/2014/main" id="{D0236750-DE1A-4D83-835E-C7F12A27965C}"/>
                </a:ext>
              </a:extLst>
            </p:cNvPr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54">
              <a:extLst>
                <a:ext uri="{FF2B5EF4-FFF2-40B4-BE49-F238E27FC236}">
                  <a16:creationId xmlns:a16="http://schemas.microsoft.com/office/drawing/2014/main" id="{A927E730-CDF8-438B-8E76-1CBF12891C34}"/>
                </a:ext>
              </a:extLst>
            </p:cNvPr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55">
              <a:extLst>
                <a:ext uri="{FF2B5EF4-FFF2-40B4-BE49-F238E27FC236}">
                  <a16:creationId xmlns:a16="http://schemas.microsoft.com/office/drawing/2014/main" id="{1F754AF5-0CAD-49EC-9981-D7236A398277}"/>
                </a:ext>
              </a:extLst>
            </p:cNvPr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56">
              <a:extLst>
                <a:ext uri="{FF2B5EF4-FFF2-40B4-BE49-F238E27FC236}">
                  <a16:creationId xmlns:a16="http://schemas.microsoft.com/office/drawing/2014/main" id="{2E7BE24D-5076-4DF1-98DE-BFC4E20E14CA}"/>
                </a:ext>
              </a:extLst>
            </p:cNvPr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Freeform 57">
              <a:extLst>
                <a:ext uri="{FF2B5EF4-FFF2-40B4-BE49-F238E27FC236}">
                  <a16:creationId xmlns:a16="http://schemas.microsoft.com/office/drawing/2014/main" id="{041FC061-A743-49D5-BB3F-65C2FD09DC8C}"/>
                </a:ext>
              </a:extLst>
            </p:cNvPr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58">
              <a:extLst>
                <a:ext uri="{FF2B5EF4-FFF2-40B4-BE49-F238E27FC236}">
                  <a16:creationId xmlns:a16="http://schemas.microsoft.com/office/drawing/2014/main" id="{8C4376A3-79FC-4F58-82A5-3C0AC3D8FC73}"/>
                </a:ext>
              </a:extLst>
            </p:cNvPr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Oval 59">
              <a:extLst>
                <a:ext uri="{FF2B5EF4-FFF2-40B4-BE49-F238E27FC236}">
                  <a16:creationId xmlns:a16="http://schemas.microsoft.com/office/drawing/2014/main" id="{55A80D05-0E2F-4A31-9367-E4C462D4CB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Oval 60">
              <a:extLst>
                <a:ext uri="{FF2B5EF4-FFF2-40B4-BE49-F238E27FC236}">
                  <a16:creationId xmlns:a16="http://schemas.microsoft.com/office/drawing/2014/main" id="{D8F74EA7-0FC3-4711-850B-2209D6489E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61">
              <a:extLst>
                <a:ext uri="{FF2B5EF4-FFF2-40B4-BE49-F238E27FC236}">
                  <a16:creationId xmlns:a16="http://schemas.microsoft.com/office/drawing/2014/main" id="{E2DE3B58-5FEC-4DB5-A885-577BC6878AB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62">
              <a:extLst>
                <a:ext uri="{FF2B5EF4-FFF2-40B4-BE49-F238E27FC236}">
                  <a16:creationId xmlns:a16="http://schemas.microsoft.com/office/drawing/2014/main" id="{58628AC1-4726-406F-9AB6-16F2AAEAF6DC}"/>
                </a:ext>
              </a:extLst>
            </p:cNvPr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63">
              <a:extLst>
                <a:ext uri="{FF2B5EF4-FFF2-40B4-BE49-F238E27FC236}">
                  <a16:creationId xmlns:a16="http://schemas.microsoft.com/office/drawing/2014/main" id="{F9F1E16F-B362-4E11-910B-09FAD18D9F4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64">
              <a:extLst>
                <a:ext uri="{FF2B5EF4-FFF2-40B4-BE49-F238E27FC236}">
                  <a16:creationId xmlns:a16="http://schemas.microsoft.com/office/drawing/2014/main" id="{A7C8617B-49FA-405E-ACFE-D2D2DE1199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65">
              <a:extLst>
                <a:ext uri="{FF2B5EF4-FFF2-40B4-BE49-F238E27FC236}">
                  <a16:creationId xmlns:a16="http://schemas.microsoft.com/office/drawing/2014/main" id="{E63B2141-526C-43E6-9C96-B176FDB127E5}"/>
                </a:ext>
              </a:extLst>
            </p:cNvPr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66">
              <a:extLst>
                <a:ext uri="{FF2B5EF4-FFF2-40B4-BE49-F238E27FC236}">
                  <a16:creationId xmlns:a16="http://schemas.microsoft.com/office/drawing/2014/main" id="{44179A2A-F7C6-4404-BA11-309F41E3D1FF}"/>
                </a:ext>
              </a:extLst>
            </p:cNvPr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67">
              <a:extLst>
                <a:ext uri="{FF2B5EF4-FFF2-40B4-BE49-F238E27FC236}">
                  <a16:creationId xmlns:a16="http://schemas.microsoft.com/office/drawing/2014/main" id="{FC21599B-C4DD-4370-BDC4-F48CB83CA128}"/>
                </a:ext>
              </a:extLst>
            </p:cNvPr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68">
              <a:extLst>
                <a:ext uri="{FF2B5EF4-FFF2-40B4-BE49-F238E27FC236}">
                  <a16:creationId xmlns:a16="http://schemas.microsoft.com/office/drawing/2014/main" id="{9D1A6E9A-5F31-4722-AA41-7BB04F4EF3F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Freeform 69">
              <a:extLst>
                <a:ext uri="{FF2B5EF4-FFF2-40B4-BE49-F238E27FC236}">
                  <a16:creationId xmlns:a16="http://schemas.microsoft.com/office/drawing/2014/main" id="{A61E7DA7-61E7-4D45-BA05-776288326C99}"/>
                </a:ext>
              </a:extLst>
            </p:cNvPr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6" name="Freeform 70">
              <a:extLst>
                <a:ext uri="{FF2B5EF4-FFF2-40B4-BE49-F238E27FC236}">
                  <a16:creationId xmlns:a16="http://schemas.microsoft.com/office/drawing/2014/main" id="{09F620D9-C586-4C5D-8C27-3885AFDFA72D}"/>
                </a:ext>
              </a:extLst>
            </p:cNvPr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grpSp>
        <p:nvGrpSpPr>
          <p:cNvPr id="77" name="组合 76">
            <a:extLst>
              <a:ext uri="{FF2B5EF4-FFF2-40B4-BE49-F238E27FC236}">
                <a16:creationId xmlns:a16="http://schemas.microsoft.com/office/drawing/2014/main" id="{38F1E69E-3243-48F8-BA51-C842D750B44A}"/>
              </a:ext>
            </a:extLst>
          </p:cNvPr>
          <p:cNvGrpSpPr/>
          <p:nvPr userDrawn="1"/>
        </p:nvGrpSpPr>
        <p:grpSpPr>
          <a:xfrm>
            <a:off x="0" y="-18269"/>
            <a:ext cx="1136073" cy="864235"/>
            <a:chOff x="0" y="-18269"/>
            <a:chExt cx="1136073" cy="864235"/>
          </a:xfrm>
          <a:solidFill>
            <a:srgbClr val="79D6F3"/>
          </a:solidFill>
        </p:grpSpPr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4B9E58A8-09B1-464B-8A78-82333F8B7EED}"/>
                </a:ext>
              </a:extLst>
            </p:cNvPr>
            <p:cNvSpPr/>
            <p:nvPr/>
          </p:nvSpPr>
          <p:spPr>
            <a:xfrm>
              <a:off x="0" y="551919"/>
              <a:ext cx="1136072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D8B5D318-9D03-4BFE-989B-3710E07F3EFF}"/>
                </a:ext>
              </a:extLst>
            </p:cNvPr>
            <p:cNvSpPr/>
            <p:nvPr/>
          </p:nvSpPr>
          <p:spPr>
            <a:xfrm>
              <a:off x="323274" y="300434"/>
              <a:ext cx="364736" cy="545532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17030750-A69D-41AB-8978-34804091313E}"/>
                </a:ext>
              </a:extLst>
            </p:cNvPr>
            <p:cNvSpPr/>
            <p:nvPr/>
          </p:nvSpPr>
          <p:spPr>
            <a:xfrm>
              <a:off x="688011" y="-18269"/>
              <a:ext cx="448062" cy="57018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81" name="矩形 80">
              <a:extLst>
                <a:ext uri="{FF2B5EF4-FFF2-40B4-BE49-F238E27FC236}">
                  <a16:creationId xmlns:a16="http://schemas.microsoft.com/office/drawing/2014/main" id="{10B3A516-2132-4A26-A93E-7EA24E966C4E}"/>
                </a:ext>
              </a:extLst>
            </p:cNvPr>
            <p:cNvSpPr/>
            <p:nvPr/>
          </p:nvSpPr>
          <p:spPr>
            <a:xfrm>
              <a:off x="688010" y="295565"/>
              <a:ext cx="448062" cy="256354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  <p:sp>
          <p:nvSpPr>
            <p:cNvPr id="82" name="矩形 81">
              <a:extLst>
                <a:ext uri="{FF2B5EF4-FFF2-40B4-BE49-F238E27FC236}">
                  <a16:creationId xmlns:a16="http://schemas.microsoft.com/office/drawing/2014/main" id="{A8D903BB-7CF2-446B-8919-B2C12F9E7BCC}"/>
                </a:ext>
              </a:extLst>
            </p:cNvPr>
            <p:cNvSpPr/>
            <p:nvPr/>
          </p:nvSpPr>
          <p:spPr>
            <a:xfrm>
              <a:off x="688010" y="551918"/>
              <a:ext cx="448061" cy="294047"/>
            </a:xfrm>
            <a:prstGeom prst="rect">
              <a:avLst/>
            </a:prstGeom>
            <a:grpFill/>
            <a:ln w="12700" cap="flat" cmpd="sng" algn="ctr">
              <a:noFill/>
              <a:prstDash val="solid"/>
              <a:miter lim="800000"/>
            </a:ln>
            <a:effectLst/>
          </p:spPr>
          <p:txBody>
            <a:bodyPr wrap="square" rtlCol="0" anchor="ctr">
              <a:no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61224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76" t="88" r="64" b="12548"/>
          <a:stretch>
            <a:fillRect/>
          </a:stretch>
        </p:blipFill>
        <p:spPr>
          <a:xfrm>
            <a:off x="482" y="9525"/>
            <a:ext cx="12191999" cy="8267612"/>
          </a:xfrm>
          <a:prstGeom prst="rect">
            <a:avLst/>
          </a:prstGeom>
        </p:spPr>
      </p:pic>
      <p:sp>
        <p:nvSpPr>
          <p:cNvPr id="76" name="任意多边形: 形状 75"/>
          <p:cNvSpPr/>
          <p:nvPr/>
        </p:nvSpPr>
        <p:spPr>
          <a:xfrm rot="20940000">
            <a:off x="-230645" y="-1192196"/>
            <a:ext cx="12770482" cy="3627778"/>
          </a:xfrm>
          <a:custGeom>
            <a:avLst/>
            <a:gdLst>
              <a:gd name="connsiteX0" fmla="*/ 12770482 w 12770482"/>
              <a:gd name="connsiteY0" fmla="*/ 3571764 h 3627778"/>
              <a:gd name="connsiteX1" fmla="*/ 12770482 w 12770482"/>
              <a:gd name="connsiteY1" fmla="*/ 3627778 h 3627778"/>
              <a:gd name="connsiteX2" fmla="*/ 12759594 w 12770482"/>
              <a:gd name="connsiteY2" fmla="*/ 3627778 h 3627778"/>
              <a:gd name="connsiteX3" fmla="*/ 456753 w 12770482"/>
              <a:gd name="connsiteY3" fmla="*/ 0 h 3627778"/>
              <a:gd name="connsiteX4" fmla="*/ 12424752 w 12770482"/>
              <a:gd name="connsiteY4" fmla="*/ 2326343 h 3627778"/>
              <a:gd name="connsiteX5" fmla="*/ 12171778 w 12770482"/>
              <a:gd name="connsiteY5" fmla="*/ 3627778 h 3627778"/>
              <a:gd name="connsiteX6" fmla="*/ 1031105 w 12770482"/>
              <a:gd name="connsiteY6" fmla="*/ 3627778 h 3627778"/>
              <a:gd name="connsiteX7" fmla="*/ 0 w 12770482"/>
              <a:gd name="connsiteY7" fmla="*/ 2349789 h 36277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770482" h="3627778">
                <a:moveTo>
                  <a:pt x="12770482" y="3571764"/>
                </a:moveTo>
                <a:lnTo>
                  <a:pt x="12770482" y="3627778"/>
                </a:lnTo>
                <a:lnTo>
                  <a:pt x="12759594" y="3627778"/>
                </a:lnTo>
                <a:close/>
                <a:moveTo>
                  <a:pt x="456753" y="0"/>
                </a:moveTo>
                <a:lnTo>
                  <a:pt x="12424752" y="2326343"/>
                </a:lnTo>
                <a:lnTo>
                  <a:pt x="12171778" y="3627778"/>
                </a:lnTo>
                <a:lnTo>
                  <a:pt x="1031105" y="3627778"/>
                </a:lnTo>
                <a:lnTo>
                  <a:pt x="0" y="234978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37" name="任意多边形: 形状 36"/>
          <p:cNvSpPr/>
          <p:nvPr/>
        </p:nvSpPr>
        <p:spPr>
          <a:xfrm rot="600000">
            <a:off x="46696" y="2800202"/>
            <a:ext cx="821674" cy="797295"/>
          </a:xfrm>
          <a:custGeom>
            <a:avLst/>
            <a:gdLst>
              <a:gd name="connsiteX0" fmla="*/ 293485 w 821674"/>
              <a:gd name="connsiteY0" fmla="*/ 0 h 797295"/>
              <a:gd name="connsiteX1" fmla="*/ 821674 w 821674"/>
              <a:gd name="connsiteY1" fmla="*/ 797295 h 797295"/>
              <a:gd name="connsiteX2" fmla="*/ 62470 w 821674"/>
              <a:gd name="connsiteY2" fmla="*/ 797295 h 797295"/>
              <a:gd name="connsiteX3" fmla="*/ 0 w 821674"/>
              <a:gd name="connsiteY3" fmla="*/ 443012 h 7972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1674" h="797295">
                <a:moveTo>
                  <a:pt x="293485" y="0"/>
                </a:moveTo>
                <a:lnTo>
                  <a:pt x="821674" y="797295"/>
                </a:lnTo>
                <a:lnTo>
                  <a:pt x="62470" y="797295"/>
                </a:lnTo>
                <a:lnTo>
                  <a:pt x="0" y="443012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just"/>
            <a:endParaRPr lang="zh-CN" altLang="en-US" u="sng" dirty="0"/>
          </a:p>
        </p:txBody>
      </p:sp>
      <p:sp>
        <p:nvSpPr>
          <p:cNvPr id="43" name="任意多边形: 形状 42"/>
          <p:cNvSpPr/>
          <p:nvPr/>
        </p:nvSpPr>
        <p:spPr>
          <a:xfrm rot="10141441">
            <a:off x="-107012" y="2843366"/>
            <a:ext cx="12466655" cy="244769"/>
          </a:xfrm>
          <a:custGeom>
            <a:avLst/>
            <a:gdLst>
              <a:gd name="connsiteX0" fmla="*/ 9485248 w 12466655"/>
              <a:gd name="connsiteY0" fmla="*/ 244769 h 244769"/>
              <a:gd name="connsiteX1" fmla="*/ 9424055 w 12466655"/>
              <a:gd name="connsiteY1" fmla="*/ 0 h 244769"/>
              <a:gd name="connsiteX2" fmla="*/ 12466655 w 12466655"/>
              <a:gd name="connsiteY2" fmla="*/ 0 h 244769"/>
              <a:gd name="connsiteX3" fmla="*/ 12419183 w 12466655"/>
              <a:gd name="connsiteY3" fmla="*/ 244769 h 244769"/>
              <a:gd name="connsiteX4" fmla="*/ 0 w 12466655"/>
              <a:gd name="connsiteY4" fmla="*/ 244769 h 244769"/>
              <a:gd name="connsiteX5" fmla="*/ 47472 w 12466655"/>
              <a:gd name="connsiteY5" fmla="*/ 0 h 244769"/>
              <a:gd name="connsiteX6" fmla="*/ 8762326 w 12466655"/>
              <a:gd name="connsiteY6" fmla="*/ 0 h 244769"/>
              <a:gd name="connsiteX7" fmla="*/ 8823518 w 12466655"/>
              <a:gd name="connsiteY7" fmla="*/ 244769 h 244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466655" h="244769">
                <a:moveTo>
                  <a:pt x="9485248" y="244769"/>
                </a:moveTo>
                <a:lnTo>
                  <a:pt x="9424055" y="0"/>
                </a:lnTo>
                <a:lnTo>
                  <a:pt x="12466655" y="0"/>
                </a:lnTo>
                <a:lnTo>
                  <a:pt x="12419183" y="244769"/>
                </a:lnTo>
                <a:close/>
                <a:moveTo>
                  <a:pt x="0" y="244769"/>
                </a:moveTo>
                <a:lnTo>
                  <a:pt x="47472" y="0"/>
                </a:lnTo>
                <a:lnTo>
                  <a:pt x="8762326" y="0"/>
                </a:lnTo>
                <a:lnTo>
                  <a:pt x="8823518" y="244769"/>
                </a:lnTo>
                <a:close/>
              </a:path>
            </a:pathLst>
          </a:custGeom>
          <a:solidFill>
            <a:srgbClr val="E2F4FA">
              <a:alpha val="70000"/>
            </a:srgbClr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cxnSp>
        <p:nvCxnSpPr>
          <p:cNvPr id="51" name="直接连接符 50"/>
          <p:cNvCxnSpPr/>
          <p:nvPr/>
        </p:nvCxnSpPr>
        <p:spPr>
          <a:xfrm flipV="1">
            <a:off x="6096000" y="5919133"/>
            <a:ext cx="6224454" cy="955312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V="1">
            <a:off x="6819900" y="6062052"/>
            <a:ext cx="5380251" cy="825746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/>
          <p:nvPr/>
        </p:nvCxnSpPr>
        <p:spPr>
          <a:xfrm flipV="1">
            <a:off x="7581900" y="6162507"/>
            <a:ext cx="4720884" cy="72454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53"/>
          <p:cNvCxnSpPr/>
          <p:nvPr/>
        </p:nvCxnSpPr>
        <p:spPr>
          <a:xfrm flipV="1">
            <a:off x="8067675" y="6243073"/>
            <a:ext cx="4295954" cy="659331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>
          <a:xfrm flipV="1">
            <a:off x="9016734" y="6374495"/>
            <a:ext cx="3373781" cy="517798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>
          <a:xfrm flipV="1">
            <a:off x="9686925" y="6473754"/>
            <a:ext cx="2660415" cy="408313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连接符 56"/>
          <p:cNvCxnSpPr/>
          <p:nvPr/>
        </p:nvCxnSpPr>
        <p:spPr>
          <a:xfrm flipV="1">
            <a:off x="10325100" y="6594881"/>
            <a:ext cx="2007411" cy="308090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连接符 57"/>
          <p:cNvCxnSpPr/>
          <p:nvPr/>
        </p:nvCxnSpPr>
        <p:spPr>
          <a:xfrm flipV="1">
            <a:off x="11239500" y="6716292"/>
            <a:ext cx="1063284" cy="163189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/>
          <p:nvPr/>
        </p:nvCxnSpPr>
        <p:spPr>
          <a:xfrm flipV="1">
            <a:off x="11677650" y="6804013"/>
            <a:ext cx="756042" cy="116034"/>
          </a:xfrm>
          <a:prstGeom prst="line">
            <a:avLst/>
          </a:prstGeom>
          <a:ln w="25400">
            <a:solidFill>
              <a:srgbClr val="E2F4F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组合 16"/>
          <p:cNvGrpSpPr/>
          <p:nvPr/>
        </p:nvGrpSpPr>
        <p:grpSpPr>
          <a:xfrm>
            <a:off x="9814110" y="169889"/>
            <a:ext cx="2096408" cy="605580"/>
            <a:chOff x="3854450" y="4787900"/>
            <a:chExt cx="4462463" cy="1289050"/>
          </a:xfrm>
          <a:solidFill>
            <a:srgbClr val="C00000"/>
          </a:solidFill>
        </p:grpSpPr>
        <p:sp>
          <p:nvSpPr>
            <p:cNvPr id="18" name="Freeform 5"/>
            <p:cNvSpPr/>
            <p:nvPr/>
          </p:nvSpPr>
          <p:spPr bwMode="auto">
            <a:xfrm>
              <a:off x="7772400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0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8 w 20"/>
                <a:gd name="T21" fmla="*/ 9 h 28"/>
                <a:gd name="T22" fmla="*/ 18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9 w 20"/>
                <a:gd name="T35" fmla="*/ 28 h 28"/>
                <a:gd name="T36" fmla="*/ 2 w 20"/>
                <a:gd name="T37" fmla="*/ 26 h 28"/>
                <a:gd name="T38" fmla="*/ 0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0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4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6" y="1"/>
                    <a:pt x="17" y="1"/>
                  </a:cubicBezTo>
                  <a:cubicBezTo>
                    <a:pt x="17" y="1"/>
                    <a:pt x="18" y="1"/>
                    <a:pt x="18" y="2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10"/>
                    <a:pt x="18" y="10"/>
                    <a:pt x="18" y="10"/>
                  </a:cubicBezTo>
                  <a:cubicBezTo>
                    <a:pt x="18" y="10"/>
                    <a:pt x="18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5" y="4"/>
                    <a:pt x="13" y="2"/>
                    <a:pt x="9" y="2"/>
                  </a:cubicBezTo>
                  <a:cubicBezTo>
                    <a:pt x="6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5" y="28"/>
                    <a:pt x="9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0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0" name="Freeform 6"/>
            <p:cNvSpPr/>
            <p:nvPr/>
          </p:nvSpPr>
          <p:spPr bwMode="auto">
            <a:xfrm>
              <a:off x="7435850" y="5832475"/>
              <a:ext cx="134938" cy="153988"/>
            </a:xfrm>
            <a:custGeom>
              <a:avLst/>
              <a:gdLst>
                <a:gd name="T0" fmla="*/ 4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7 w 24"/>
                <a:gd name="T7" fmla="*/ 0 h 27"/>
                <a:gd name="T8" fmla="*/ 21 w 24"/>
                <a:gd name="T9" fmla="*/ 0 h 27"/>
                <a:gd name="T10" fmla="*/ 23 w 24"/>
                <a:gd name="T11" fmla="*/ 7 h 27"/>
                <a:gd name="T12" fmla="*/ 23 w 24"/>
                <a:gd name="T13" fmla="*/ 8 h 27"/>
                <a:gd name="T14" fmla="*/ 22 w 24"/>
                <a:gd name="T15" fmla="*/ 9 h 27"/>
                <a:gd name="T16" fmla="*/ 21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6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6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3 w 24"/>
                <a:gd name="T45" fmla="*/ 25 h 27"/>
                <a:gd name="T46" fmla="*/ 23 w 24"/>
                <a:gd name="T47" fmla="*/ 17 h 27"/>
                <a:gd name="T48" fmla="*/ 24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7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4 w 24"/>
                <a:gd name="T63" fmla="*/ 23 h 27"/>
                <a:gd name="T64" fmla="*/ 4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4" y="3"/>
                  </a:move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7" y="0"/>
                  </a:cubicBezTo>
                  <a:cubicBezTo>
                    <a:pt x="11" y="0"/>
                    <a:pt x="16" y="0"/>
                    <a:pt x="21" y="0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3" y="8"/>
                  </a:cubicBezTo>
                  <a:cubicBezTo>
                    <a:pt x="23" y="9"/>
                    <a:pt x="23" y="9"/>
                    <a:pt x="22" y="9"/>
                  </a:cubicBezTo>
                  <a:cubicBezTo>
                    <a:pt x="22" y="9"/>
                    <a:pt x="22" y="8"/>
                    <a:pt x="21" y="5"/>
                  </a:cubicBezTo>
                  <a:cubicBezTo>
                    <a:pt x="19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6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1" y="25"/>
                    <a:pt x="13" y="25"/>
                  </a:cubicBezTo>
                  <a:cubicBezTo>
                    <a:pt x="18" y="25"/>
                    <a:pt x="22" y="21"/>
                    <a:pt x="23" y="17"/>
                  </a:cubicBezTo>
                  <a:cubicBezTo>
                    <a:pt x="24" y="17"/>
                    <a:pt x="24" y="16"/>
                    <a:pt x="24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7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lnTo>
                    <a:pt x="4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1" name="Freeform 7"/>
            <p:cNvSpPr/>
            <p:nvPr/>
          </p:nvSpPr>
          <p:spPr bwMode="auto">
            <a:xfrm>
              <a:off x="6999288" y="5832475"/>
              <a:ext cx="161925" cy="158750"/>
            </a:xfrm>
            <a:custGeom>
              <a:avLst/>
              <a:gdLst>
                <a:gd name="T0" fmla="*/ 7 w 29"/>
                <a:gd name="T1" fmla="*/ 21 h 28"/>
                <a:gd name="T2" fmla="*/ 9 w 29"/>
                <a:gd name="T3" fmla="*/ 26 h 28"/>
                <a:gd name="T4" fmla="*/ 11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7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9" y="26"/>
                  </a:cubicBezTo>
                  <a:cubicBezTo>
                    <a:pt x="10" y="26"/>
                    <a:pt x="11" y="26"/>
                    <a:pt x="11" y="26"/>
                  </a:cubicBezTo>
                  <a:cubicBezTo>
                    <a:pt x="11" y="27"/>
                    <a:pt x="11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3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3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22" y="0"/>
                    <a:pt x="24" y="0"/>
                  </a:cubicBezTo>
                  <a:cubicBezTo>
                    <a:pt x="25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2" name="Freeform 8"/>
            <p:cNvSpPr/>
            <p:nvPr/>
          </p:nvSpPr>
          <p:spPr bwMode="auto">
            <a:xfrm>
              <a:off x="5440363" y="5827713"/>
              <a:ext cx="112713" cy="158750"/>
            </a:xfrm>
            <a:custGeom>
              <a:avLst/>
              <a:gdLst>
                <a:gd name="T0" fmla="*/ 0 w 20"/>
                <a:gd name="T1" fmla="*/ 16 h 28"/>
                <a:gd name="T2" fmla="*/ 1 w 20"/>
                <a:gd name="T3" fmla="*/ 16 h 28"/>
                <a:gd name="T4" fmla="*/ 1 w 20"/>
                <a:gd name="T5" fmla="*/ 17 h 28"/>
                <a:gd name="T6" fmla="*/ 10 w 20"/>
                <a:gd name="T7" fmla="*/ 27 h 28"/>
                <a:gd name="T8" fmla="*/ 16 w 20"/>
                <a:gd name="T9" fmla="*/ 22 h 28"/>
                <a:gd name="T10" fmla="*/ 0 w 20"/>
                <a:gd name="T11" fmla="*/ 8 h 28"/>
                <a:gd name="T12" fmla="*/ 9 w 20"/>
                <a:gd name="T13" fmla="*/ 0 h 28"/>
                <a:gd name="T14" fmla="*/ 16 w 20"/>
                <a:gd name="T15" fmla="*/ 2 h 28"/>
                <a:gd name="T16" fmla="*/ 17 w 20"/>
                <a:gd name="T17" fmla="*/ 1 h 28"/>
                <a:gd name="T18" fmla="*/ 18 w 20"/>
                <a:gd name="T19" fmla="*/ 2 h 28"/>
                <a:gd name="T20" fmla="*/ 19 w 20"/>
                <a:gd name="T21" fmla="*/ 9 h 28"/>
                <a:gd name="T22" fmla="*/ 19 w 20"/>
                <a:gd name="T23" fmla="*/ 10 h 28"/>
                <a:gd name="T24" fmla="*/ 18 w 20"/>
                <a:gd name="T25" fmla="*/ 11 h 28"/>
                <a:gd name="T26" fmla="*/ 17 w 20"/>
                <a:gd name="T27" fmla="*/ 8 h 28"/>
                <a:gd name="T28" fmla="*/ 9 w 20"/>
                <a:gd name="T29" fmla="*/ 2 h 28"/>
                <a:gd name="T30" fmla="*/ 4 w 20"/>
                <a:gd name="T31" fmla="*/ 6 h 28"/>
                <a:gd name="T32" fmla="*/ 20 w 20"/>
                <a:gd name="T33" fmla="*/ 19 h 28"/>
                <a:gd name="T34" fmla="*/ 10 w 20"/>
                <a:gd name="T35" fmla="*/ 28 h 28"/>
                <a:gd name="T36" fmla="*/ 2 w 20"/>
                <a:gd name="T37" fmla="*/ 26 h 28"/>
                <a:gd name="T38" fmla="*/ 1 w 20"/>
                <a:gd name="T39" fmla="*/ 28 h 28"/>
                <a:gd name="T40" fmla="*/ 0 w 20"/>
                <a:gd name="T41" fmla="*/ 27 h 28"/>
                <a:gd name="T42" fmla="*/ 0 w 20"/>
                <a:gd name="T43" fmla="*/ 16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28">
                  <a:moveTo>
                    <a:pt x="0" y="16"/>
                  </a:moveTo>
                  <a:cubicBezTo>
                    <a:pt x="0" y="16"/>
                    <a:pt x="0" y="16"/>
                    <a:pt x="1" y="16"/>
                  </a:cubicBezTo>
                  <a:cubicBezTo>
                    <a:pt x="1" y="16"/>
                    <a:pt x="1" y="16"/>
                    <a:pt x="1" y="17"/>
                  </a:cubicBezTo>
                  <a:cubicBezTo>
                    <a:pt x="2" y="22"/>
                    <a:pt x="5" y="27"/>
                    <a:pt x="10" y="27"/>
                  </a:cubicBezTo>
                  <a:cubicBezTo>
                    <a:pt x="13" y="27"/>
                    <a:pt x="16" y="25"/>
                    <a:pt x="16" y="22"/>
                  </a:cubicBezTo>
                  <a:cubicBezTo>
                    <a:pt x="16" y="14"/>
                    <a:pt x="0" y="18"/>
                    <a:pt x="0" y="8"/>
                  </a:cubicBezTo>
                  <a:cubicBezTo>
                    <a:pt x="0" y="4"/>
                    <a:pt x="4" y="0"/>
                    <a:pt x="9" y="0"/>
                  </a:cubicBezTo>
                  <a:cubicBezTo>
                    <a:pt x="13" y="0"/>
                    <a:pt x="15" y="2"/>
                    <a:pt x="16" y="2"/>
                  </a:cubicBezTo>
                  <a:cubicBezTo>
                    <a:pt x="17" y="2"/>
                    <a:pt x="17" y="1"/>
                    <a:pt x="17" y="1"/>
                  </a:cubicBezTo>
                  <a:cubicBezTo>
                    <a:pt x="18" y="1"/>
                    <a:pt x="18" y="1"/>
                    <a:pt x="18" y="2"/>
                  </a:cubicBezTo>
                  <a:cubicBezTo>
                    <a:pt x="19" y="9"/>
                    <a:pt x="19" y="9"/>
                    <a:pt x="19" y="9"/>
                  </a:cubicBezTo>
                  <a:cubicBezTo>
                    <a:pt x="19" y="10"/>
                    <a:pt x="19" y="10"/>
                    <a:pt x="19" y="10"/>
                  </a:cubicBezTo>
                  <a:cubicBezTo>
                    <a:pt x="19" y="10"/>
                    <a:pt x="19" y="11"/>
                    <a:pt x="18" y="11"/>
                  </a:cubicBezTo>
                  <a:cubicBezTo>
                    <a:pt x="18" y="11"/>
                    <a:pt x="18" y="10"/>
                    <a:pt x="17" y="8"/>
                  </a:cubicBezTo>
                  <a:cubicBezTo>
                    <a:pt x="16" y="4"/>
                    <a:pt x="13" y="2"/>
                    <a:pt x="9" y="2"/>
                  </a:cubicBezTo>
                  <a:cubicBezTo>
                    <a:pt x="7" y="2"/>
                    <a:pt x="4" y="3"/>
                    <a:pt x="4" y="6"/>
                  </a:cubicBezTo>
                  <a:cubicBezTo>
                    <a:pt x="4" y="12"/>
                    <a:pt x="20" y="8"/>
                    <a:pt x="20" y="19"/>
                  </a:cubicBezTo>
                  <a:cubicBezTo>
                    <a:pt x="20" y="24"/>
                    <a:pt x="16" y="28"/>
                    <a:pt x="10" y="28"/>
                  </a:cubicBezTo>
                  <a:cubicBezTo>
                    <a:pt x="6" y="28"/>
                    <a:pt x="4" y="26"/>
                    <a:pt x="2" y="26"/>
                  </a:cubicBezTo>
                  <a:cubicBezTo>
                    <a:pt x="1" y="26"/>
                    <a:pt x="1" y="28"/>
                    <a:pt x="1" y="28"/>
                  </a:cubicBezTo>
                  <a:cubicBezTo>
                    <a:pt x="0" y="28"/>
                    <a:pt x="0" y="28"/>
                    <a:pt x="0" y="27"/>
                  </a:cubicBezTo>
                  <a:lnTo>
                    <a:pt x="0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3" name="Freeform 9"/>
            <p:cNvSpPr/>
            <p:nvPr/>
          </p:nvSpPr>
          <p:spPr bwMode="auto">
            <a:xfrm>
              <a:off x="5580063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4" name="Freeform 10"/>
            <p:cNvSpPr/>
            <p:nvPr/>
          </p:nvSpPr>
          <p:spPr bwMode="auto">
            <a:xfrm>
              <a:off x="5765800" y="5832475"/>
              <a:ext cx="134938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5" name="Freeform 11"/>
            <p:cNvSpPr/>
            <p:nvPr/>
          </p:nvSpPr>
          <p:spPr bwMode="auto">
            <a:xfrm>
              <a:off x="5916613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6" name="Freeform 12"/>
            <p:cNvSpPr/>
            <p:nvPr/>
          </p:nvSpPr>
          <p:spPr bwMode="auto">
            <a:xfrm>
              <a:off x="6096000" y="5832475"/>
              <a:ext cx="119063" cy="153988"/>
            </a:xfrm>
            <a:custGeom>
              <a:avLst/>
              <a:gdLst>
                <a:gd name="T0" fmla="*/ 10 w 21"/>
                <a:gd name="T1" fmla="*/ 25 h 27"/>
                <a:gd name="T2" fmla="*/ 19 w 21"/>
                <a:gd name="T3" fmla="*/ 21 h 27"/>
                <a:gd name="T4" fmla="*/ 21 w 21"/>
                <a:gd name="T5" fmla="*/ 16 h 27"/>
                <a:gd name="T6" fmla="*/ 21 w 21"/>
                <a:gd name="T7" fmla="*/ 17 h 27"/>
                <a:gd name="T8" fmla="*/ 21 w 21"/>
                <a:gd name="T9" fmla="*/ 18 h 27"/>
                <a:gd name="T10" fmla="*/ 19 w 21"/>
                <a:gd name="T11" fmla="*/ 27 h 27"/>
                <a:gd name="T12" fmla="*/ 10 w 21"/>
                <a:gd name="T13" fmla="*/ 27 h 27"/>
                <a:gd name="T14" fmla="*/ 0 w 21"/>
                <a:gd name="T15" fmla="*/ 27 h 27"/>
                <a:gd name="T16" fmla="*/ 0 w 21"/>
                <a:gd name="T17" fmla="*/ 26 h 27"/>
                <a:gd name="T18" fmla="*/ 0 w 21"/>
                <a:gd name="T19" fmla="*/ 25 h 27"/>
                <a:gd name="T20" fmla="*/ 14 w 21"/>
                <a:gd name="T21" fmla="*/ 2 h 27"/>
                <a:gd name="T22" fmla="*/ 12 w 21"/>
                <a:gd name="T23" fmla="*/ 2 h 27"/>
                <a:gd name="T24" fmla="*/ 3 w 21"/>
                <a:gd name="T25" fmla="*/ 5 h 27"/>
                <a:gd name="T26" fmla="*/ 1 w 21"/>
                <a:gd name="T27" fmla="*/ 9 h 27"/>
                <a:gd name="T28" fmla="*/ 1 w 21"/>
                <a:gd name="T29" fmla="*/ 8 h 27"/>
                <a:gd name="T30" fmla="*/ 1 w 21"/>
                <a:gd name="T31" fmla="*/ 7 h 27"/>
                <a:gd name="T32" fmla="*/ 3 w 21"/>
                <a:gd name="T33" fmla="*/ 0 h 27"/>
                <a:gd name="T34" fmla="*/ 12 w 21"/>
                <a:gd name="T35" fmla="*/ 0 h 27"/>
                <a:gd name="T36" fmla="*/ 21 w 21"/>
                <a:gd name="T37" fmla="*/ 0 h 27"/>
                <a:gd name="T38" fmla="*/ 21 w 21"/>
                <a:gd name="T39" fmla="*/ 0 h 27"/>
                <a:gd name="T40" fmla="*/ 21 w 21"/>
                <a:gd name="T41" fmla="*/ 1 h 27"/>
                <a:gd name="T42" fmla="*/ 7 w 21"/>
                <a:gd name="T43" fmla="*/ 25 h 27"/>
                <a:gd name="T44" fmla="*/ 10 w 21"/>
                <a:gd name="T45" fmla="*/ 2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1" h="27">
                  <a:moveTo>
                    <a:pt x="10" y="25"/>
                  </a:moveTo>
                  <a:cubicBezTo>
                    <a:pt x="16" y="25"/>
                    <a:pt x="17" y="24"/>
                    <a:pt x="19" y="21"/>
                  </a:cubicBezTo>
                  <a:cubicBezTo>
                    <a:pt x="20" y="19"/>
                    <a:pt x="20" y="16"/>
                    <a:pt x="21" y="16"/>
                  </a:cubicBezTo>
                  <a:cubicBezTo>
                    <a:pt x="21" y="16"/>
                    <a:pt x="21" y="17"/>
                    <a:pt x="21" y="17"/>
                  </a:cubicBezTo>
                  <a:cubicBezTo>
                    <a:pt x="21" y="17"/>
                    <a:pt x="21" y="18"/>
                    <a:pt x="21" y="18"/>
                  </a:cubicBezTo>
                  <a:cubicBezTo>
                    <a:pt x="19" y="27"/>
                    <a:pt x="19" y="27"/>
                    <a:pt x="19" y="27"/>
                  </a:cubicBezTo>
                  <a:cubicBezTo>
                    <a:pt x="16" y="27"/>
                    <a:pt x="13" y="27"/>
                    <a:pt x="10" y="27"/>
                  </a:cubicBezTo>
                  <a:cubicBezTo>
                    <a:pt x="7" y="27"/>
                    <a:pt x="3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0" y="26"/>
                    <a:pt x="0" y="25"/>
                  </a:cubicBezTo>
                  <a:cubicBezTo>
                    <a:pt x="14" y="2"/>
                    <a:pt x="14" y="2"/>
                    <a:pt x="14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6" y="2"/>
                    <a:pt x="5" y="2"/>
                    <a:pt x="3" y="5"/>
                  </a:cubicBezTo>
                  <a:cubicBezTo>
                    <a:pt x="2" y="8"/>
                    <a:pt x="2" y="9"/>
                    <a:pt x="1" y="9"/>
                  </a:cubicBezTo>
                  <a:cubicBezTo>
                    <a:pt x="1" y="9"/>
                    <a:pt x="1" y="9"/>
                    <a:pt x="1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6" y="0"/>
                    <a:pt x="9" y="0"/>
                    <a:pt x="12" y="0"/>
                  </a:cubicBezTo>
                  <a:cubicBezTo>
                    <a:pt x="15" y="0"/>
                    <a:pt x="18" y="0"/>
                    <a:pt x="21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1" y="0"/>
                    <a:pt x="21" y="1"/>
                    <a:pt x="21" y="1"/>
                  </a:cubicBezTo>
                  <a:cubicBezTo>
                    <a:pt x="7" y="25"/>
                    <a:pt x="7" y="25"/>
                    <a:pt x="7" y="25"/>
                  </a:cubicBezTo>
                  <a:lnTo>
                    <a:pt x="10" y="2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7" name="Freeform 13"/>
            <p:cNvSpPr/>
            <p:nvPr/>
          </p:nvSpPr>
          <p:spPr bwMode="auto">
            <a:xfrm>
              <a:off x="6837363" y="5832475"/>
              <a:ext cx="150813" cy="153988"/>
            </a:xfrm>
            <a:custGeom>
              <a:avLst/>
              <a:gdLst>
                <a:gd name="T0" fmla="*/ 23 w 27"/>
                <a:gd name="T1" fmla="*/ 18 h 27"/>
                <a:gd name="T2" fmla="*/ 13 w 27"/>
                <a:gd name="T3" fmla="*/ 27 h 27"/>
                <a:gd name="T4" fmla="*/ 3 w 27"/>
                <a:gd name="T5" fmla="*/ 20 h 27"/>
                <a:gd name="T6" fmla="*/ 3 w 27"/>
                <a:gd name="T7" fmla="*/ 3 h 27"/>
                <a:gd name="T8" fmla="*/ 0 w 27"/>
                <a:gd name="T9" fmla="*/ 0 h 27"/>
                <a:gd name="T10" fmla="*/ 1 w 27"/>
                <a:gd name="T11" fmla="*/ 0 h 27"/>
                <a:gd name="T12" fmla="*/ 6 w 27"/>
                <a:gd name="T13" fmla="*/ 0 h 27"/>
                <a:gd name="T14" fmla="*/ 12 w 27"/>
                <a:gd name="T15" fmla="*/ 0 h 27"/>
                <a:gd name="T16" fmla="*/ 12 w 27"/>
                <a:gd name="T17" fmla="*/ 0 h 27"/>
                <a:gd name="T18" fmla="*/ 9 w 27"/>
                <a:gd name="T19" fmla="*/ 3 h 27"/>
                <a:gd name="T20" fmla="*/ 9 w 27"/>
                <a:gd name="T21" fmla="*/ 20 h 27"/>
                <a:gd name="T22" fmla="*/ 15 w 27"/>
                <a:gd name="T23" fmla="*/ 26 h 27"/>
                <a:gd name="T24" fmla="*/ 21 w 27"/>
                <a:gd name="T25" fmla="*/ 19 h 27"/>
                <a:gd name="T26" fmla="*/ 21 w 27"/>
                <a:gd name="T27" fmla="*/ 7 h 27"/>
                <a:gd name="T28" fmla="*/ 18 w 27"/>
                <a:gd name="T29" fmla="*/ 1 h 27"/>
                <a:gd name="T30" fmla="*/ 17 w 27"/>
                <a:gd name="T31" fmla="*/ 0 h 27"/>
                <a:gd name="T32" fmla="*/ 17 w 27"/>
                <a:gd name="T33" fmla="*/ 0 h 27"/>
                <a:gd name="T34" fmla="*/ 22 w 27"/>
                <a:gd name="T35" fmla="*/ 0 h 27"/>
                <a:gd name="T36" fmla="*/ 27 w 27"/>
                <a:gd name="T37" fmla="*/ 0 h 27"/>
                <a:gd name="T38" fmla="*/ 27 w 27"/>
                <a:gd name="T39" fmla="*/ 0 h 27"/>
                <a:gd name="T40" fmla="*/ 26 w 27"/>
                <a:gd name="T41" fmla="*/ 1 h 27"/>
                <a:gd name="T42" fmla="*/ 23 w 27"/>
                <a:gd name="T43" fmla="*/ 7 h 27"/>
                <a:gd name="T44" fmla="*/ 23 w 27"/>
                <a:gd name="T45" fmla="*/ 18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7" h="27">
                  <a:moveTo>
                    <a:pt x="23" y="18"/>
                  </a:moveTo>
                  <a:cubicBezTo>
                    <a:pt x="23" y="24"/>
                    <a:pt x="19" y="27"/>
                    <a:pt x="13" y="27"/>
                  </a:cubicBezTo>
                  <a:cubicBezTo>
                    <a:pt x="7" y="27"/>
                    <a:pt x="3" y="24"/>
                    <a:pt x="3" y="2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0"/>
                    <a:pt x="9" y="20"/>
                    <a:pt x="9" y="20"/>
                  </a:cubicBezTo>
                  <a:cubicBezTo>
                    <a:pt x="9" y="24"/>
                    <a:pt x="12" y="26"/>
                    <a:pt x="15" y="26"/>
                  </a:cubicBezTo>
                  <a:cubicBezTo>
                    <a:pt x="18" y="26"/>
                    <a:pt x="21" y="23"/>
                    <a:pt x="21" y="19"/>
                  </a:cubicBezTo>
                  <a:cubicBezTo>
                    <a:pt x="21" y="7"/>
                    <a:pt x="21" y="7"/>
                    <a:pt x="21" y="7"/>
                  </a:cubicBezTo>
                  <a:cubicBezTo>
                    <a:pt x="21" y="3"/>
                    <a:pt x="20" y="1"/>
                    <a:pt x="18" y="1"/>
                  </a:cubicBezTo>
                  <a:cubicBezTo>
                    <a:pt x="17" y="1"/>
                    <a:pt x="17" y="1"/>
                    <a:pt x="17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18" y="0"/>
                    <a:pt x="21" y="0"/>
                    <a:pt x="22" y="0"/>
                  </a:cubicBezTo>
                  <a:cubicBezTo>
                    <a:pt x="24" y="0"/>
                    <a:pt x="26" y="0"/>
                    <a:pt x="27" y="0"/>
                  </a:cubicBezTo>
                  <a:cubicBezTo>
                    <a:pt x="27" y="0"/>
                    <a:pt x="27" y="0"/>
                    <a:pt x="27" y="0"/>
                  </a:cubicBezTo>
                  <a:cubicBezTo>
                    <a:pt x="27" y="1"/>
                    <a:pt x="26" y="1"/>
                    <a:pt x="26" y="1"/>
                  </a:cubicBezTo>
                  <a:cubicBezTo>
                    <a:pt x="24" y="1"/>
                    <a:pt x="23" y="3"/>
                    <a:pt x="23" y="7"/>
                  </a:cubicBezTo>
                  <a:lnTo>
                    <a:pt x="23" y="1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8" name="Freeform 14"/>
            <p:cNvSpPr/>
            <p:nvPr/>
          </p:nvSpPr>
          <p:spPr bwMode="auto">
            <a:xfrm>
              <a:off x="7178675" y="5832475"/>
              <a:ext cx="73025" cy="153988"/>
            </a:xfrm>
            <a:custGeom>
              <a:avLst/>
              <a:gdLst>
                <a:gd name="T0" fmla="*/ 3 w 13"/>
                <a:gd name="T1" fmla="*/ 3 h 27"/>
                <a:gd name="T2" fmla="*/ 0 w 13"/>
                <a:gd name="T3" fmla="*/ 0 h 27"/>
                <a:gd name="T4" fmla="*/ 1 w 13"/>
                <a:gd name="T5" fmla="*/ 0 h 27"/>
                <a:gd name="T6" fmla="*/ 6 w 13"/>
                <a:gd name="T7" fmla="*/ 0 h 27"/>
                <a:gd name="T8" fmla="*/ 12 w 13"/>
                <a:gd name="T9" fmla="*/ 0 h 27"/>
                <a:gd name="T10" fmla="*/ 13 w 13"/>
                <a:gd name="T11" fmla="*/ 0 h 27"/>
                <a:gd name="T12" fmla="*/ 9 w 13"/>
                <a:gd name="T13" fmla="*/ 3 h 27"/>
                <a:gd name="T14" fmla="*/ 9 w 13"/>
                <a:gd name="T15" fmla="*/ 23 h 27"/>
                <a:gd name="T16" fmla="*/ 13 w 13"/>
                <a:gd name="T17" fmla="*/ 26 h 27"/>
                <a:gd name="T18" fmla="*/ 12 w 13"/>
                <a:gd name="T19" fmla="*/ 27 h 27"/>
                <a:gd name="T20" fmla="*/ 6 w 13"/>
                <a:gd name="T21" fmla="*/ 27 h 27"/>
                <a:gd name="T22" fmla="*/ 1 w 13"/>
                <a:gd name="T23" fmla="*/ 27 h 27"/>
                <a:gd name="T24" fmla="*/ 0 w 13"/>
                <a:gd name="T25" fmla="*/ 26 h 27"/>
                <a:gd name="T26" fmla="*/ 3 w 13"/>
                <a:gd name="T27" fmla="*/ 23 h 27"/>
                <a:gd name="T28" fmla="*/ 3 w 13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3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29" name="Freeform 15"/>
            <p:cNvSpPr/>
            <p:nvPr/>
          </p:nvSpPr>
          <p:spPr bwMode="auto">
            <a:xfrm>
              <a:off x="7267575" y="5832475"/>
              <a:ext cx="157163" cy="153988"/>
            </a:xfrm>
            <a:custGeom>
              <a:avLst/>
              <a:gdLst>
                <a:gd name="T0" fmla="*/ 20 w 28"/>
                <a:gd name="T1" fmla="*/ 7 h 27"/>
                <a:gd name="T2" fmla="*/ 20 w 28"/>
                <a:gd name="T3" fmla="*/ 4 h 27"/>
                <a:gd name="T4" fmla="*/ 17 w 28"/>
                <a:gd name="T5" fmla="*/ 0 h 27"/>
                <a:gd name="T6" fmla="*/ 18 w 28"/>
                <a:gd name="T7" fmla="*/ 0 h 27"/>
                <a:gd name="T8" fmla="*/ 21 w 28"/>
                <a:gd name="T9" fmla="*/ 0 h 27"/>
                <a:gd name="T10" fmla="*/ 27 w 28"/>
                <a:gd name="T11" fmla="*/ 0 h 27"/>
                <a:gd name="T12" fmla="*/ 28 w 28"/>
                <a:gd name="T13" fmla="*/ 0 h 27"/>
                <a:gd name="T14" fmla="*/ 23 w 28"/>
                <a:gd name="T15" fmla="*/ 6 h 27"/>
                <a:gd name="T16" fmla="*/ 14 w 28"/>
                <a:gd name="T17" fmla="*/ 26 h 27"/>
                <a:gd name="T18" fmla="*/ 13 w 28"/>
                <a:gd name="T19" fmla="*/ 27 h 27"/>
                <a:gd name="T20" fmla="*/ 13 w 28"/>
                <a:gd name="T21" fmla="*/ 26 h 27"/>
                <a:gd name="T22" fmla="*/ 3 w 28"/>
                <a:gd name="T23" fmla="*/ 3 h 27"/>
                <a:gd name="T24" fmla="*/ 0 w 28"/>
                <a:gd name="T25" fmla="*/ 0 h 27"/>
                <a:gd name="T26" fmla="*/ 0 w 28"/>
                <a:gd name="T27" fmla="*/ 0 h 27"/>
                <a:gd name="T28" fmla="*/ 6 w 28"/>
                <a:gd name="T29" fmla="*/ 0 h 27"/>
                <a:gd name="T30" fmla="*/ 11 w 28"/>
                <a:gd name="T31" fmla="*/ 0 h 27"/>
                <a:gd name="T32" fmla="*/ 12 w 28"/>
                <a:gd name="T33" fmla="*/ 0 h 27"/>
                <a:gd name="T34" fmla="*/ 9 w 28"/>
                <a:gd name="T35" fmla="*/ 2 h 27"/>
                <a:gd name="T36" fmla="*/ 10 w 28"/>
                <a:gd name="T37" fmla="*/ 4 h 27"/>
                <a:gd name="T38" fmla="*/ 15 w 28"/>
                <a:gd name="T39" fmla="*/ 18 h 27"/>
                <a:gd name="T40" fmla="*/ 20 w 28"/>
                <a:gd name="T41" fmla="*/ 7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8" h="27">
                  <a:moveTo>
                    <a:pt x="20" y="7"/>
                  </a:moveTo>
                  <a:cubicBezTo>
                    <a:pt x="20" y="6"/>
                    <a:pt x="20" y="5"/>
                    <a:pt x="20" y="4"/>
                  </a:cubicBezTo>
                  <a:cubicBezTo>
                    <a:pt x="20" y="0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1" y="0"/>
                  </a:cubicBezTo>
                  <a:cubicBezTo>
                    <a:pt x="23" y="0"/>
                    <a:pt x="25" y="0"/>
                    <a:pt x="27" y="0"/>
                  </a:cubicBezTo>
                  <a:cubicBezTo>
                    <a:pt x="27" y="0"/>
                    <a:pt x="28" y="0"/>
                    <a:pt x="28" y="0"/>
                  </a:cubicBezTo>
                  <a:cubicBezTo>
                    <a:pt x="28" y="2"/>
                    <a:pt x="25" y="0"/>
                    <a:pt x="23" y="6"/>
                  </a:cubicBezTo>
                  <a:cubicBezTo>
                    <a:pt x="14" y="26"/>
                    <a:pt x="14" y="26"/>
                    <a:pt x="14" y="26"/>
                  </a:cubicBezTo>
                  <a:cubicBezTo>
                    <a:pt x="14" y="27"/>
                    <a:pt x="14" y="27"/>
                    <a:pt x="13" y="27"/>
                  </a:cubicBezTo>
                  <a:cubicBezTo>
                    <a:pt x="13" y="27"/>
                    <a:pt x="13" y="27"/>
                    <a:pt x="13" y="26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8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2"/>
                  </a:cubicBezTo>
                  <a:cubicBezTo>
                    <a:pt x="9" y="3"/>
                    <a:pt x="10" y="3"/>
                    <a:pt x="10" y="4"/>
                  </a:cubicBezTo>
                  <a:cubicBezTo>
                    <a:pt x="15" y="18"/>
                    <a:pt x="15" y="18"/>
                    <a:pt x="15" y="18"/>
                  </a:cubicBezTo>
                  <a:lnTo>
                    <a:pt x="20" y="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0" name="Freeform 16"/>
            <p:cNvSpPr>
              <a:spLocks noEditPoints="1"/>
            </p:cNvSpPr>
            <p:nvPr/>
          </p:nvSpPr>
          <p:spPr bwMode="auto">
            <a:xfrm>
              <a:off x="7599363" y="5832475"/>
              <a:ext cx="157163" cy="153988"/>
            </a:xfrm>
            <a:custGeom>
              <a:avLst/>
              <a:gdLst>
                <a:gd name="T0" fmla="*/ 14 w 28"/>
                <a:gd name="T1" fmla="*/ 17 h 27"/>
                <a:gd name="T2" fmla="*/ 9 w 28"/>
                <a:gd name="T3" fmla="*/ 14 h 27"/>
                <a:gd name="T4" fmla="*/ 9 w 28"/>
                <a:gd name="T5" fmla="*/ 23 h 27"/>
                <a:gd name="T6" fmla="*/ 13 w 28"/>
                <a:gd name="T7" fmla="*/ 26 h 27"/>
                <a:gd name="T8" fmla="*/ 12 w 28"/>
                <a:gd name="T9" fmla="*/ 27 h 27"/>
                <a:gd name="T10" fmla="*/ 6 w 28"/>
                <a:gd name="T11" fmla="*/ 27 h 27"/>
                <a:gd name="T12" fmla="*/ 1 w 28"/>
                <a:gd name="T13" fmla="*/ 27 h 27"/>
                <a:gd name="T14" fmla="*/ 0 w 28"/>
                <a:gd name="T15" fmla="*/ 26 h 27"/>
                <a:gd name="T16" fmla="*/ 4 w 28"/>
                <a:gd name="T17" fmla="*/ 23 h 27"/>
                <a:gd name="T18" fmla="*/ 4 w 28"/>
                <a:gd name="T19" fmla="*/ 3 h 27"/>
                <a:gd name="T20" fmla="*/ 0 w 28"/>
                <a:gd name="T21" fmla="*/ 0 h 27"/>
                <a:gd name="T22" fmla="*/ 1 w 28"/>
                <a:gd name="T23" fmla="*/ 0 h 27"/>
                <a:gd name="T24" fmla="*/ 6 w 28"/>
                <a:gd name="T25" fmla="*/ 0 h 27"/>
                <a:gd name="T26" fmla="*/ 13 w 28"/>
                <a:gd name="T27" fmla="*/ 0 h 27"/>
                <a:gd name="T28" fmla="*/ 23 w 28"/>
                <a:gd name="T29" fmla="*/ 7 h 27"/>
                <a:gd name="T30" fmla="*/ 13 w 28"/>
                <a:gd name="T31" fmla="*/ 14 h 27"/>
                <a:gd name="T32" fmla="*/ 13 w 28"/>
                <a:gd name="T33" fmla="*/ 14 h 27"/>
                <a:gd name="T34" fmla="*/ 21 w 28"/>
                <a:gd name="T35" fmla="*/ 18 h 27"/>
                <a:gd name="T36" fmla="*/ 24 w 28"/>
                <a:gd name="T37" fmla="*/ 24 h 27"/>
                <a:gd name="T38" fmla="*/ 28 w 28"/>
                <a:gd name="T39" fmla="*/ 26 h 27"/>
                <a:gd name="T40" fmla="*/ 28 w 28"/>
                <a:gd name="T41" fmla="*/ 27 h 27"/>
                <a:gd name="T42" fmla="*/ 23 w 28"/>
                <a:gd name="T43" fmla="*/ 27 h 27"/>
                <a:gd name="T44" fmla="*/ 19 w 28"/>
                <a:gd name="T45" fmla="*/ 27 h 27"/>
                <a:gd name="T46" fmla="*/ 14 w 28"/>
                <a:gd name="T47" fmla="*/ 17 h 27"/>
                <a:gd name="T48" fmla="*/ 9 w 28"/>
                <a:gd name="T49" fmla="*/ 12 h 27"/>
                <a:gd name="T50" fmla="*/ 11 w 28"/>
                <a:gd name="T51" fmla="*/ 12 h 27"/>
                <a:gd name="T52" fmla="*/ 17 w 28"/>
                <a:gd name="T53" fmla="*/ 7 h 27"/>
                <a:gd name="T54" fmla="*/ 12 w 28"/>
                <a:gd name="T55" fmla="*/ 2 h 27"/>
                <a:gd name="T56" fmla="*/ 9 w 28"/>
                <a:gd name="T57" fmla="*/ 2 h 27"/>
                <a:gd name="T58" fmla="*/ 9 w 28"/>
                <a:gd name="T59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8" h="27">
                  <a:moveTo>
                    <a:pt x="14" y="17"/>
                  </a:moveTo>
                  <a:cubicBezTo>
                    <a:pt x="13" y="15"/>
                    <a:pt x="12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3" y="25"/>
                    <a:pt x="13" y="26"/>
                  </a:cubicBezTo>
                  <a:cubicBezTo>
                    <a:pt x="13" y="27"/>
                    <a:pt x="13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4" y="27"/>
                    <a:pt x="4" y="23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4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3" y="0"/>
                  </a:cubicBezTo>
                  <a:cubicBezTo>
                    <a:pt x="19" y="0"/>
                    <a:pt x="23" y="3"/>
                    <a:pt x="23" y="7"/>
                  </a:cubicBezTo>
                  <a:cubicBezTo>
                    <a:pt x="23" y="10"/>
                    <a:pt x="21" y="13"/>
                    <a:pt x="13" y="14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7" y="14"/>
                    <a:pt x="19" y="15"/>
                    <a:pt x="21" y="18"/>
                  </a:cubicBezTo>
                  <a:cubicBezTo>
                    <a:pt x="24" y="24"/>
                    <a:pt x="24" y="24"/>
                    <a:pt x="24" y="24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5" y="27"/>
                    <a:pt x="23" y="27"/>
                  </a:cubicBezTo>
                  <a:cubicBezTo>
                    <a:pt x="19" y="27"/>
                    <a:pt x="19" y="27"/>
                    <a:pt x="19" y="27"/>
                  </a:cubicBezTo>
                  <a:lnTo>
                    <a:pt x="14" y="17"/>
                  </a:lnTo>
                  <a:close/>
                  <a:moveTo>
                    <a:pt x="9" y="12"/>
                  </a:moveTo>
                  <a:cubicBezTo>
                    <a:pt x="11" y="12"/>
                    <a:pt x="11" y="12"/>
                    <a:pt x="11" y="12"/>
                  </a:cubicBezTo>
                  <a:cubicBezTo>
                    <a:pt x="15" y="12"/>
                    <a:pt x="17" y="10"/>
                    <a:pt x="17" y="7"/>
                  </a:cubicBezTo>
                  <a:cubicBezTo>
                    <a:pt x="17" y="3"/>
                    <a:pt x="15" y="2"/>
                    <a:pt x="12" y="2"/>
                  </a:cubicBezTo>
                  <a:cubicBezTo>
                    <a:pt x="9" y="2"/>
                    <a:pt x="9" y="2"/>
                    <a:pt x="9" y="2"/>
                  </a:cubicBezTo>
                  <a:lnTo>
                    <a:pt x="9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1" name="Freeform 17"/>
            <p:cNvSpPr/>
            <p:nvPr/>
          </p:nvSpPr>
          <p:spPr bwMode="auto">
            <a:xfrm>
              <a:off x="7913688" y="5832475"/>
              <a:ext cx="66675" cy="153988"/>
            </a:xfrm>
            <a:custGeom>
              <a:avLst/>
              <a:gdLst>
                <a:gd name="T0" fmla="*/ 3 w 12"/>
                <a:gd name="T1" fmla="*/ 3 h 27"/>
                <a:gd name="T2" fmla="*/ 0 w 12"/>
                <a:gd name="T3" fmla="*/ 0 h 27"/>
                <a:gd name="T4" fmla="*/ 0 w 12"/>
                <a:gd name="T5" fmla="*/ 0 h 27"/>
                <a:gd name="T6" fmla="*/ 6 w 12"/>
                <a:gd name="T7" fmla="*/ 0 h 27"/>
                <a:gd name="T8" fmla="*/ 11 w 12"/>
                <a:gd name="T9" fmla="*/ 0 h 27"/>
                <a:gd name="T10" fmla="*/ 12 w 12"/>
                <a:gd name="T11" fmla="*/ 0 h 27"/>
                <a:gd name="T12" fmla="*/ 9 w 12"/>
                <a:gd name="T13" fmla="*/ 3 h 27"/>
                <a:gd name="T14" fmla="*/ 9 w 12"/>
                <a:gd name="T15" fmla="*/ 23 h 27"/>
                <a:gd name="T16" fmla="*/ 12 w 12"/>
                <a:gd name="T17" fmla="*/ 26 h 27"/>
                <a:gd name="T18" fmla="*/ 11 w 12"/>
                <a:gd name="T19" fmla="*/ 27 h 27"/>
                <a:gd name="T20" fmla="*/ 6 w 12"/>
                <a:gd name="T21" fmla="*/ 27 h 27"/>
                <a:gd name="T22" fmla="*/ 0 w 12"/>
                <a:gd name="T23" fmla="*/ 27 h 27"/>
                <a:gd name="T24" fmla="*/ 0 w 12"/>
                <a:gd name="T25" fmla="*/ 26 h 27"/>
                <a:gd name="T26" fmla="*/ 3 w 12"/>
                <a:gd name="T27" fmla="*/ 23 h 27"/>
                <a:gd name="T28" fmla="*/ 3 w 12"/>
                <a:gd name="T29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" y="0"/>
                    <a:pt x="4" y="0"/>
                    <a:pt x="6" y="0"/>
                  </a:cubicBezTo>
                  <a:cubicBezTo>
                    <a:pt x="7" y="0"/>
                    <a:pt x="9" y="0"/>
                    <a:pt x="11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9" y="27"/>
                    <a:pt x="7" y="27"/>
                    <a:pt x="6" y="27"/>
                  </a:cubicBezTo>
                  <a:cubicBezTo>
                    <a:pt x="4" y="27"/>
                    <a:pt x="2" y="27"/>
                    <a:pt x="0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2" name="Freeform 18"/>
            <p:cNvSpPr/>
            <p:nvPr/>
          </p:nvSpPr>
          <p:spPr bwMode="auto">
            <a:xfrm>
              <a:off x="8002588" y="5827713"/>
              <a:ext cx="134938" cy="158750"/>
            </a:xfrm>
            <a:custGeom>
              <a:avLst/>
              <a:gdLst>
                <a:gd name="T0" fmla="*/ 9 w 24"/>
                <a:gd name="T1" fmla="*/ 2 h 28"/>
                <a:gd name="T2" fmla="*/ 0 w 24"/>
                <a:gd name="T3" fmla="*/ 10 h 28"/>
                <a:gd name="T4" fmla="*/ 0 w 24"/>
                <a:gd name="T5" fmla="*/ 10 h 28"/>
                <a:gd name="T6" fmla="*/ 0 w 24"/>
                <a:gd name="T7" fmla="*/ 8 h 28"/>
                <a:gd name="T8" fmla="*/ 1 w 24"/>
                <a:gd name="T9" fmla="*/ 1 h 28"/>
                <a:gd name="T10" fmla="*/ 1 w 24"/>
                <a:gd name="T11" fmla="*/ 0 h 28"/>
                <a:gd name="T12" fmla="*/ 2 w 24"/>
                <a:gd name="T13" fmla="*/ 1 h 28"/>
                <a:gd name="T14" fmla="*/ 3 w 24"/>
                <a:gd name="T15" fmla="*/ 1 h 28"/>
                <a:gd name="T16" fmla="*/ 21 w 24"/>
                <a:gd name="T17" fmla="*/ 1 h 28"/>
                <a:gd name="T18" fmla="*/ 22 w 24"/>
                <a:gd name="T19" fmla="*/ 1 h 28"/>
                <a:gd name="T20" fmla="*/ 22 w 24"/>
                <a:gd name="T21" fmla="*/ 0 h 28"/>
                <a:gd name="T22" fmla="*/ 23 w 24"/>
                <a:gd name="T23" fmla="*/ 1 h 28"/>
                <a:gd name="T24" fmla="*/ 24 w 24"/>
                <a:gd name="T25" fmla="*/ 8 h 28"/>
                <a:gd name="T26" fmla="*/ 24 w 24"/>
                <a:gd name="T27" fmla="*/ 10 h 28"/>
                <a:gd name="T28" fmla="*/ 24 w 24"/>
                <a:gd name="T29" fmla="*/ 10 h 28"/>
                <a:gd name="T30" fmla="*/ 15 w 24"/>
                <a:gd name="T31" fmla="*/ 2 h 28"/>
                <a:gd name="T32" fmla="*/ 15 w 24"/>
                <a:gd name="T33" fmla="*/ 24 h 28"/>
                <a:gd name="T34" fmla="*/ 18 w 24"/>
                <a:gd name="T35" fmla="*/ 27 h 28"/>
                <a:gd name="T36" fmla="*/ 19 w 24"/>
                <a:gd name="T37" fmla="*/ 27 h 28"/>
                <a:gd name="T38" fmla="*/ 18 w 24"/>
                <a:gd name="T39" fmla="*/ 28 h 28"/>
                <a:gd name="T40" fmla="*/ 12 w 24"/>
                <a:gd name="T41" fmla="*/ 28 h 28"/>
                <a:gd name="T42" fmla="*/ 6 w 24"/>
                <a:gd name="T43" fmla="*/ 28 h 28"/>
                <a:gd name="T44" fmla="*/ 5 w 24"/>
                <a:gd name="T45" fmla="*/ 27 h 28"/>
                <a:gd name="T46" fmla="*/ 6 w 24"/>
                <a:gd name="T47" fmla="*/ 27 h 28"/>
                <a:gd name="T48" fmla="*/ 9 w 24"/>
                <a:gd name="T49" fmla="*/ 24 h 28"/>
                <a:gd name="T50" fmla="*/ 9 w 24"/>
                <a:gd name="T51" fmla="*/ 2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4" h="28">
                  <a:moveTo>
                    <a:pt x="9" y="2"/>
                  </a:moveTo>
                  <a:cubicBezTo>
                    <a:pt x="1" y="5"/>
                    <a:pt x="1" y="10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0" y="10"/>
                    <a:pt x="0" y="9"/>
                    <a:pt x="0" y="8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2" y="0"/>
                    <a:pt x="2" y="0"/>
                    <a:pt x="2" y="1"/>
                  </a:cubicBezTo>
                  <a:cubicBezTo>
                    <a:pt x="2" y="1"/>
                    <a:pt x="3" y="1"/>
                    <a:pt x="3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21" y="1"/>
                    <a:pt x="22" y="1"/>
                    <a:pt x="22" y="1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3" y="0"/>
                    <a:pt x="23" y="1"/>
                  </a:cubicBezTo>
                  <a:cubicBezTo>
                    <a:pt x="24" y="8"/>
                    <a:pt x="24" y="8"/>
                    <a:pt x="24" y="8"/>
                  </a:cubicBezTo>
                  <a:cubicBezTo>
                    <a:pt x="24" y="9"/>
                    <a:pt x="24" y="10"/>
                    <a:pt x="24" y="10"/>
                  </a:cubicBezTo>
                  <a:cubicBezTo>
                    <a:pt x="24" y="10"/>
                    <a:pt x="24" y="10"/>
                    <a:pt x="24" y="10"/>
                  </a:cubicBezTo>
                  <a:cubicBezTo>
                    <a:pt x="23" y="10"/>
                    <a:pt x="23" y="5"/>
                    <a:pt x="15" y="2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6"/>
                    <a:pt x="16" y="27"/>
                    <a:pt x="18" y="27"/>
                  </a:cubicBezTo>
                  <a:cubicBezTo>
                    <a:pt x="18" y="27"/>
                    <a:pt x="19" y="27"/>
                    <a:pt x="19" y="27"/>
                  </a:cubicBezTo>
                  <a:cubicBezTo>
                    <a:pt x="19" y="28"/>
                    <a:pt x="18" y="28"/>
                    <a:pt x="18" y="28"/>
                  </a:cubicBezTo>
                  <a:cubicBezTo>
                    <a:pt x="16" y="28"/>
                    <a:pt x="14" y="28"/>
                    <a:pt x="12" y="28"/>
                  </a:cubicBezTo>
                  <a:cubicBezTo>
                    <a:pt x="10" y="28"/>
                    <a:pt x="8" y="28"/>
                    <a:pt x="6" y="28"/>
                  </a:cubicBezTo>
                  <a:cubicBezTo>
                    <a:pt x="5" y="28"/>
                    <a:pt x="5" y="28"/>
                    <a:pt x="5" y="27"/>
                  </a:cubicBezTo>
                  <a:cubicBezTo>
                    <a:pt x="5" y="27"/>
                    <a:pt x="5" y="27"/>
                    <a:pt x="6" y="27"/>
                  </a:cubicBezTo>
                  <a:cubicBezTo>
                    <a:pt x="8" y="27"/>
                    <a:pt x="9" y="26"/>
                    <a:pt x="9" y="24"/>
                  </a:cubicBezTo>
                  <a:lnTo>
                    <a:pt x="9" y="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3" name="Freeform 19"/>
            <p:cNvSpPr/>
            <p:nvPr/>
          </p:nvSpPr>
          <p:spPr bwMode="auto">
            <a:xfrm>
              <a:off x="8148638" y="5832475"/>
              <a:ext cx="146050" cy="153988"/>
            </a:xfrm>
            <a:custGeom>
              <a:avLst/>
              <a:gdLst>
                <a:gd name="T0" fmla="*/ 15 w 26"/>
                <a:gd name="T1" fmla="*/ 12 h 27"/>
                <a:gd name="T2" fmla="*/ 18 w 26"/>
                <a:gd name="T3" fmla="*/ 8 h 27"/>
                <a:gd name="T4" fmla="*/ 19 w 26"/>
                <a:gd name="T5" fmla="*/ 3 h 27"/>
                <a:gd name="T6" fmla="*/ 17 w 26"/>
                <a:gd name="T7" fmla="*/ 0 h 27"/>
                <a:gd name="T8" fmla="*/ 18 w 26"/>
                <a:gd name="T9" fmla="*/ 0 h 27"/>
                <a:gd name="T10" fmla="*/ 22 w 26"/>
                <a:gd name="T11" fmla="*/ 0 h 27"/>
                <a:gd name="T12" fmla="*/ 26 w 26"/>
                <a:gd name="T13" fmla="*/ 0 h 27"/>
                <a:gd name="T14" fmla="*/ 26 w 26"/>
                <a:gd name="T15" fmla="*/ 0 h 27"/>
                <a:gd name="T16" fmla="*/ 21 w 26"/>
                <a:gd name="T17" fmla="*/ 6 h 27"/>
                <a:gd name="T18" fmla="*/ 16 w 26"/>
                <a:gd name="T19" fmla="*/ 14 h 27"/>
                <a:gd name="T20" fmla="*/ 16 w 26"/>
                <a:gd name="T21" fmla="*/ 23 h 27"/>
                <a:gd name="T22" fmla="*/ 19 w 26"/>
                <a:gd name="T23" fmla="*/ 26 h 27"/>
                <a:gd name="T24" fmla="*/ 18 w 26"/>
                <a:gd name="T25" fmla="*/ 27 h 27"/>
                <a:gd name="T26" fmla="*/ 13 w 26"/>
                <a:gd name="T27" fmla="*/ 27 h 27"/>
                <a:gd name="T28" fmla="*/ 8 w 26"/>
                <a:gd name="T29" fmla="*/ 27 h 27"/>
                <a:gd name="T30" fmla="*/ 7 w 26"/>
                <a:gd name="T31" fmla="*/ 26 h 27"/>
                <a:gd name="T32" fmla="*/ 10 w 26"/>
                <a:gd name="T33" fmla="*/ 23 h 27"/>
                <a:gd name="T34" fmla="*/ 10 w 26"/>
                <a:gd name="T35" fmla="*/ 15 h 27"/>
                <a:gd name="T36" fmla="*/ 4 w 26"/>
                <a:gd name="T37" fmla="*/ 3 h 27"/>
                <a:gd name="T38" fmla="*/ 0 w 26"/>
                <a:gd name="T39" fmla="*/ 0 h 27"/>
                <a:gd name="T40" fmla="*/ 1 w 26"/>
                <a:gd name="T41" fmla="*/ 0 h 27"/>
                <a:gd name="T42" fmla="*/ 6 w 26"/>
                <a:gd name="T43" fmla="*/ 0 h 27"/>
                <a:gd name="T44" fmla="*/ 12 w 26"/>
                <a:gd name="T45" fmla="*/ 0 h 27"/>
                <a:gd name="T46" fmla="*/ 13 w 26"/>
                <a:gd name="T47" fmla="*/ 0 h 27"/>
                <a:gd name="T48" fmla="*/ 10 w 26"/>
                <a:gd name="T49" fmla="*/ 2 h 27"/>
                <a:gd name="T50" fmla="*/ 11 w 26"/>
                <a:gd name="T51" fmla="*/ 5 h 27"/>
                <a:gd name="T52" fmla="*/ 15 w 26"/>
                <a:gd name="T53" fmla="*/ 12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6" h="27">
                  <a:moveTo>
                    <a:pt x="15" y="12"/>
                  </a:moveTo>
                  <a:cubicBezTo>
                    <a:pt x="18" y="8"/>
                    <a:pt x="18" y="8"/>
                    <a:pt x="18" y="8"/>
                  </a:cubicBezTo>
                  <a:cubicBezTo>
                    <a:pt x="19" y="6"/>
                    <a:pt x="19" y="4"/>
                    <a:pt x="19" y="3"/>
                  </a:cubicBezTo>
                  <a:cubicBezTo>
                    <a:pt x="19" y="1"/>
                    <a:pt x="17" y="1"/>
                    <a:pt x="17" y="0"/>
                  </a:cubicBezTo>
                  <a:cubicBezTo>
                    <a:pt x="17" y="0"/>
                    <a:pt x="17" y="0"/>
                    <a:pt x="18" y="0"/>
                  </a:cubicBezTo>
                  <a:cubicBezTo>
                    <a:pt x="19" y="0"/>
                    <a:pt x="20" y="0"/>
                    <a:pt x="22" y="0"/>
                  </a:cubicBezTo>
                  <a:cubicBezTo>
                    <a:pt x="23" y="0"/>
                    <a:pt x="25" y="0"/>
                    <a:pt x="26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26" y="1"/>
                    <a:pt x="24" y="0"/>
                    <a:pt x="21" y="6"/>
                  </a:cubicBezTo>
                  <a:cubicBezTo>
                    <a:pt x="16" y="14"/>
                    <a:pt x="16" y="14"/>
                    <a:pt x="16" y="14"/>
                  </a:cubicBezTo>
                  <a:cubicBezTo>
                    <a:pt x="16" y="23"/>
                    <a:pt x="16" y="23"/>
                    <a:pt x="16" y="23"/>
                  </a:cubicBezTo>
                  <a:cubicBezTo>
                    <a:pt x="16" y="27"/>
                    <a:pt x="19" y="25"/>
                    <a:pt x="19" y="26"/>
                  </a:cubicBezTo>
                  <a:cubicBezTo>
                    <a:pt x="19" y="27"/>
                    <a:pt x="19" y="27"/>
                    <a:pt x="18" y="27"/>
                  </a:cubicBezTo>
                  <a:cubicBezTo>
                    <a:pt x="16" y="27"/>
                    <a:pt x="15" y="27"/>
                    <a:pt x="13" y="27"/>
                  </a:cubicBezTo>
                  <a:cubicBezTo>
                    <a:pt x="11" y="27"/>
                    <a:pt x="10" y="27"/>
                    <a:pt x="8" y="27"/>
                  </a:cubicBezTo>
                  <a:cubicBezTo>
                    <a:pt x="7" y="27"/>
                    <a:pt x="7" y="27"/>
                    <a:pt x="7" y="26"/>
                  </a:cubicBezTo>
                  <a:cubicBezTo>
                    <a:pt x="7" y="25"/>
                    <a:pt x="10" y="27"/>
                    <a:pt x="10" y="23"/>
                  </a:cubicBezTo>
                  <a:cubicBezTo>
                    <a:pt x="10" y="15"/>
                    <a:pt x="10" y="15"/>
                    <a:pt x="10" y="15"/>
                  </a:cubicBezTo>
                  <a:cubicBezTo>
                    <a:pt x="4" y="3"/>
                    <a:pt x="4" y="3"/>
                    <a:pt x="4" y="3"/>
                  </a:cubicBezTo>
                  <a:cubicBezTo>
                    <a:pt x="2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4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1"/>
                    <a:pt x="10" y="0"/>
                    <a:pt x="10" y="2"/>
                  </a:cubicBezTo>
                  <a:cubicBezTo>
                    <a:pt x="10" y="3"/>
                    <a:pt x="10" y="4"/>
                    <a:pt x="11" y="5"/>
                  </a:cubicBezTo>
                  <a:lnTo>
                    <a:pt x="15" y="1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4" name="Freeform 20"/>
            <p:cNvSpPr/>
            <p:nvPr/>
          </p:nvSpPr>
          <p:spPr bwMode="auto">
            <a:xfrm>
              <a:off x="6242050" y="5832475"/>
              <a:ext cx="157163" cy="153988"/>
            </a:xfrm>
            <a:custGeom>
              <a:avLst/>
              <a:gdLst>
                <a:gd name="T0" fmla="*/ 3 w 28"/>
                <a:gd name="T1" fmla="*/ 3 h 27"/>
                <a:gd name="T2" fmla="*/ 0 w 28"/>
                <a:gd name="T3" fmla="*/ 0 h 27"/>
                <a:gd name="T4" fmla="*/ 1 w 28"/>
                <a:gd name="T5" fmla="*/ 0 h 27"/>
                <a:gd name="T6" fmla="*/ 6 w 28"/>
                <a:gd name="T7" fmla="*/ 0 h 27"/>
                <a:gd name="T8" fmla="*/ 12 w 28"/>
                <a:gd name="T9" fmla="*/ 0 h 27"/>
                <a:gd name="T10" fmla="*/ 12 w 28"/>
                <a:gd name="T11" fmla="*/ 0 h 27"/>
                <a:gd name="T12" fmla="*/ 9 w 28"/>
                <a:gd name="T13" fmla="*/ 3 h 27"/>
                <a:gd name="T14" fmla="*/ 9 w 28"/>
                <a:gd name="T15" fmla="*/ 12 h 27"/>
                <a:gd name="T16" fmla="*/ 19 w 28"/>
                <a:gd name="T17" fmla="*/ 12 h 27"/>
                <a:gd name="T18" fmla="*/ 19 w 28"/>
                <a:gd name="T19" fmla="*/ 3 h 27"/>
                <a:gd name="T20" fmla="*/ 16 w 28"/>
                <a:gd name="T21" fmla="*/ 0 h 27"/>
                <a:gd name="T22" fmla="*/ 17 w 28"/>
                <a:gd name="T23" fmla="*/ 0 h 27"/>
                <a:gd name="T24" fmla="*/ 22 w 28"/>
                <a:gd name="T25" fmla="*/ 0 h 27"/>
                <a:gd name="T26" fmla="*/ 28 w 28"/>
                <a:gd name="T27" fmla="*/ 0 h 27"/>
                <a:gd name="T28" fmla="*/ 28 w 28"/>
                <a:gd name="T29" fmla="*/ 0 h 27"/>
                <a:gd name="T30" fmla="*/ 25 w 28"/>
                <a:gd name="T31" fmla="*/ 3 h 27"/>
                <a:gd name="T32" fmla="*/ 25 w 28"/>
                <a:gd name="T33" fmla="*/ 23 h 27"/>
                <a:gd name="T34" fmla="*/ 28 w 28"/>
                <a:gd name="T35" fmla="*/ 26 h 27"/>
                <a:gd name="T36" fmla="*/ 28 w 28"/>
                <a:gd name="T37" fmla="*/ 27 h 27"/>
                <a:gd name="T38" fmla="*/ 22 w 28"/>
                <a:gd name="T39" fmla="*/ 27 h 27"/>
                <a:gd name="T40" fmla="*/ 17 w 28"/>
                <a:gd name="T41" fmla="*/ 27 h 27"/>
                <a:gd name="T42" fmla="*/ 16 w 28"/>
                <a:gd name="T43" fmla="*/ 26 h 27"/>
                <a:gd name="T44" fmla="*/ 19 w 28"/>
                <a:gd name="T45" fmla="*/ 23 h 27"/>
                <a:gd name="T46" fmla="*/ 19 w 28"/>
                <a:gd name="T47" fmla="*/ 14 h 27"/>
                <a:gd name="T48" fmla="*/ 9 w 28"/>
                <a:gd name="T49" fmla="*/ 14 h 27"/>
                <a:gd name="T50" fmla="*/ 9 w 28"/>
                <a:gd name="T51" fmla="*/ 23 h 27"/>
                <a:gd name="T52" fmla="*/ 12 w 28"/>
                <a:gd name="T53" fmla="*/ 26 h 27"/>
                <a:gd name="T54" fmla="*/ 12 w 28"/>
                <a:gd name="T55" fmla="*/ 27 h 27"/>
                <a:gd name="T56" fmla="*/ 6 w 28"/>
                <a:gd name="T57" fmla="*/ 27 h 27"/>
                <a:gd name="T58" fmla="*/ 1 w 28"/>
                <a:gd name="T59" fmla="*/ 27 h 27"/>
                <a:gd name="T60" fmla="*/ 0 w 28"/>
                <a:gd name="T61" fmla="*/ 26 h 27"/>
                <a:gd name="T62" fmla="*/ 3 w 28"/>
                <a:gd name="T63" fmla="*/ 23 h 27"/>
                <a:gd name="T64" fmla="*/ 3 w 28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8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8" y="0"/>
                    <a:pt x="10" y="0"/>
                    <a:pt x="12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2" y="1"/>
                    <a:pt x="9" y="0"/>
                    <a:pt x="9" y="3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9" y="12"/>
                    <a:pt x="19" y="12"/>
                    <a:pt x="19" y="12"/>
                  </a:cubicBezTo>
                  <a:cubicBezTo>
                    <a:pt x="19" y="3"/>
                    <a:pt x="19" y="3"/>
                    <a:pt x="19" y="3"/>
                  </a:cubicBezTo>
                  <a:cubicBezTo>
                    <a:pt x="19" y="0"/>
                    <a:pt x="16" y="1"/>
                    <a:pt x="16" y="0"/>
                  </a:cubicBezTo>
                  <a:cubicBezTo>
                    <a:pt x="16" y="0"/>
                    <a:pt x="16" y="0"/>
                    <a:pt x="17" y="0"/>
                  </a:cubicBezTo>
                  <a:cubicBezTo>
                    <a:pt x="19" y="0"/>
                    <a:pt x="21" y="0"/>
                    <a:pt x="22" y="0"/>
                  </a:cubicBezTo>
                  <a:cubicBezTo>
                    <a:pt x="24" y="0"/>
                    <a:pt x="26" y="0"/>
                    <a:pt x="28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1"/>
                    <a:pt x="25" y="0"/>
                    <a:pt x="25" y="3"/>
                  </a:cubicBezTo>
                  <a:cubicBezTo>
                    <a:pt x="25" y="23"/>
                    <a:pt x="25" y="23"/>
                    <a:pt x="25" y="23"/>
                  </a:cubicBezTo>
                  <a:cubicBezTo>
                    <a:pt x="25" y="27"/>
                    <a:pt x="28" y="25"/>
                    <a:pt x="28" y="26"/>
                  </a:cubicBezTo>
                  <a:cubicBezTo>
                    <a:pt x="28" y="27"/>
                    <a:pt x="28" y="27"/>
                    <a:pt x="28" y="27"/>
                  </a:cubicBezTo>
                  <a:cubicBezTo>
                    <a:pt x="26" y="27"/>
                    <a:pt x="24" y="27"/>
                    <a:pt x="22" y="27"/>
                  </a:cubicBezTo>
                  <a:cubicBezTo>
                    <a:pt x="21" y="27"/>
                    <a:pt x="19" y="27"/>
                    <a:pt x="17" y="27"/>
                  </a:cubicBezTo>
                  <a:cubicBezTo>
                    <a:pt x="16" y="27"/>
                    <a:pt x="16" y="27"/>
                    <a:pt x="16" y="26"/>
                  </a:cubicBezTo>
                  <a:cubicBezTo>
                    <a:pt x="16" y="25"/>
                    <a:pt x="19" y="27"/>
                    <a:pt x="19" y="23"/>
                  </a:cubicBezTo>
                  <a:cubicBezTo>
                    <a:pt x="19" y="14"/>
                    <a:pt x="19" y="14"/>
                    <a:pt x="19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7"/>
                    <a:pt x="12" y="25"/>
                    <a:pt x="12" y="26"/>
                  </a:cubicBezTo>
                  <a:cubicBezTo>
                    <a:pt x="12" y="27"/>
                    <a:pt x="12" y="27"/>
                    <a:pt x="12" y="27"/>
                  </a:cubicBezTo>
                  <a:cubicBezTo>
                    <a:pt x="10" y="27"/>
                    <a:pt x="8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5" name="Freeform 21"/>
            <p:cNvSpPr/>
            <p:nvPr/>
          </p:nvSpPr>
          <p:spPr bwMode="auto">
            <a:xfrm>
              <a:off x="6427788" y="5832475"/>
              <a:ext cx="133350" cy="153988"/>
            </a:xfrm>
            <a:custGeom>
              <a:avLst/>
              <a:gdLst>
                <a:gd name="T0" fmla="*/ 3 w 24"/>
                <a:gd name="T1" fmla="*/ 3 h 27"/>
                <a:gd name="T2" fmla="*/ 0 w 24"/>
                <a:gd name="T3" fmla="*/ 0 h 27"/>
                <a:gd name="T4" fmla="*/ 1 w 24"/>
                <a:gd name="T5" fmla="*/ 0 h 27"/>
                <a:gd name="T6" fmla="*/ 6 w 24"/>
                <a:gd name="T7" fmla="*/ 0 h 27"/>
                <a:gd name="T8" fmla="*/ 20 w 24"/>
                <a:gd name="T9" fmla="*/ 0 h 27"/>
                <a:gd name="T10" fmla="*/ 22 w 24"/>
                <a:gd name="T11" fmla="*/ 7 h 27"/>
                <a:gd name="T12" fmla="*/ 22 w 24"/>
                <a:gd name="T13" fmla="*/ 8 h 27"/>
                <a:gd name="T14" fmla="*/ 22 w 24"/>
                <a:gd name="T15" fmla="*/ 9 h 27"/>
                <a:gd name="T16" fmla="*/ 20 w 24"/>
                <a:gd name="T17" fmla="*/ 5 h 27"/>
                <a:gd name="T18" fmla="*/ 11 w 24"/>
                <a:gd name="T19" fmla="*/ 1 h 27"/>
                <a:gd name="T20" fmla="*/ 9 w 24"/>
                <a:gd name="T21" fmla="*/ 1 h 27"/>
                <a:gd name="T22" fmla="*/ 9 w 24"/>
                <a:gd name="T23" fmla="*/ 12 h 27"/>
                <a:gd name="T24" fmla="*/ 10 w 24"/>
                <a:gd name="T25" fmla="*/ 12 h 27"/>
                <a:gd name="T26" fmla="*/ 15 w 24"/>
                <a:gd name="T27" fmla="*/ 7 h 27"/>
                <a:gd name="T28" fmla="*/ 15 w 24"/>
                <a:gd name="T29" fmla="*/ 6 h 27"/>
                <a:gd name="T30" fmla="*/ 16 w 24"/>
                <a:gd name="T31" fmla="*/ 7 h 27"/>
                <a:gd name="T32" fmla="*/ 16 w 24"/>
                <a:gd name="T33" fmla="*/ 19 h 27"/>
                <a:gd name="T34" fmla="*/ 15 w 24"/>
                <a:gd name="T35" fmla="*/ 19 h 27"/>
                <a:gd name="T36" fmla="*/ 15 w 24"/>
                <a:gd name="T37" fmla="*/ 18 h 27"/>
                <a:gd name="T38" fmla="*/ 10 w 24"/>
                <a:gd name="T39" fmla="*/ 14 h 27"/>
                <a:gd name="T40" fmla="*/ 9 w 24"/>
                <a:gd name="T41" fmla="*/ 14 h 27"/>
                <a:gd name="T42" fmla="*/ 9 w 24"/>
                <a:gd name="T43" fmla="*/ 23 h 27"/>
                <a:gd name="T44" fmla="*/ 12 w 24"/>
                <a:gd name="T45" fmla="*/ 25 h 27"/>
                <a:gd name="T46" fmla="*/ 23 w 24"/>
                <a:gd name="T47" fmla="*/ 17 h 27"/>
                <a:gd name="T48" fmla="*/ 23 w 24"/>
                <a:gd name="T49" fmla="*/ 16 h 27"/>
                <a:gd name="T50" fmla="*/ 24 w 24"/>
                <a:gd name="T51" fmla="*/ 17 h 27"/>
                <a:gd name="T52" fmla="*/ 24 w 24"/>
                <a:gd name="T53" fmla="*/ 18 h 27"/>
                <a:gd name="T54" fmla="*/ 22 w 24"/>
                <a:gd name="T55" fmla="*/ 27 h 27"/>
                <a:gd name="T56" fmla="*/ 6 w 24"/>
                <a:gd name="T57" fmla="*/ 27 h 27"/>
                <a:gd name="T58" fmla="*/ 1 w 24"/>
                <a:gd name="T59" fmla="*/ 27 h 27"/>
                <a:gd name="T60" fmla="*/ 0 w 24"/>
                <a:gd name="T61" fmla="*/ 26 h 27"/>
                <a:gd name="T62" fmla="*/ 3 w 24"/>
                <a:gd name="T63" fmla="*/ 23 h 27"/>
                <a:gd name="T64" fmla="*/ 3 w 24"/>
                <a:gd name="T65" fmla="*/ 3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7">
                  <a:moveTo>
                    <a:pt x="3" y="3"/>
                  </a:moveTo>
                  <a:cubicBezTo>
                    <a:pt x="3" y="0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3" y="0"/>
                    <a:pt x="5" y="0"/>
                    <a:pt x="6" y="0"/>
                  </a:cubicBezTo>
                  <a:cubicBezTo>
                    <a:pt x="11" y="0"/>
                    <a:pt x="16" y="0"/>
                    <a:pt x="20" y="0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2" y="8"/>
                    <a:pt x="22" y="8"/>
                    <a:pt x="22" y="8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2" y="9"/>
                    <a:pt x="22" y="8"/>
                    <a:pt x="20" y="5"/>
                  </a:cubicBezTo>
                  <a:cubicBezTo>
                    <a:pt x="18" y="2"/>
                    <a:pt x="16" y="1"/>
                    <a:pt x="11" y="1"/>
                  </a:cubicBezTo>
                  <a:cubicBezTo>
                    <a:pt x="9" y="1"/>
                    <a:pt x="9" y="1"/>
                    <a:pt x="9" y="1"/>
                  </a:cubicBezTo>
                  <a:cubicBezTo>
                    <a:pt x="9" y="12"/>
                    <a:pt x="9" y="12"/>
                    <a:pt x="9" y="12"/>
                  </a:cubicBezTo>
                  <a:cubicBezTo>
                    <a:pt x="10" y="12"/>
                    <a:pt x="10" y="12"/>
                    <a:pt x="10" y="12"/>
                  </a:cubicBezTo>
                  <a:cubicBezTo>
                    <a:pt x="13" y="12"/>
                    <a:pt x="15" y="10"/>
                    <a:pt x="15" y="7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6"/>
                    <a:pt x="16" y="6"/>
                    <a:pt x="16" y="7"/>
                  </a:cubicBezTo>
                  <a:cubicBezTo>
                    <a:pt x="16" y="19"/>
                    <a:pt x="16" y="19"/>
                    <a:pt x="16" y="19"/>
                  </a:cubicBezTo>
                  <a:cubicBezTo>
                    <a:pt x="16" y="19"/>
                    <a:pt x="16" y="19"/>
                    <a:pt x="15" y="19"/>
                  </a:cubicBezTo>
                  <a:cubicBezTo>
                    <a:pt x="15" y="19"/>
                    <a:pt x="15" y="19"/>
                    <a:pt x="15" y="18"/>
                  </a:cubicBezTo>
                  <a:cubicBezTo>
                    <a:pt x="15" y="15"/>
                    <a:pt x="13" y="14"/>
                    <a:pt x="10" y="14"/>
                  </a:cubicBezTo>
                  <a:cubicBezTo>
                    <a:pt x="9" y="14"/>
                    <a:pt x="9" y="14"/>
                    <a:pt x="9" y="14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9" y="25"/>
                    <a:pt x="10" y="25"/>
                    <a:pt x="12" y="25"/>
                  </a:cubicBezTo>
                  <a:cubicBezTo>
                    <a:pt x="17" y="25"/>
                    <a:pt x="22" y="21"/>
                    <a:pt x="23" y="17"/>
                  </a:cubicBezTo>
                  <a:cubicBezTo>
                    <a:pt x="23" y="17"/>
                    <a:pt x="23" y="16"/>
                    <a:pt x="23" y="16"/>
                  </a:cubicBezTo>
                  <a:cubicBezTo>
                    <a:pt x="24" y="16"/>
                    <a:pt x="24" y="17"/>
                    <a:pt x="24" y="17"/>
                  </a:cubicBezTo>
                  <a:cubicBezTo>
                    <a:pt x="24" y="17"/>
                    <a:pt x="24" y="18"/>
                    <a:pt x="24" y="18"/>
                  </a:cubicBezTo>
                  <a:cubicBezTo>
                    <a:pt x="22" y="27"/>
                    <a:pt x="22" y="27"/>
                    <a:pt x="22" y="27"/>
                  </a:cubicBezTo>
                  <a:cubicBezTo>
                    <a:pt x="17" y="27"/>
                    <a:pt x="12" y="27"/>
                    <a:pt x="6" y="27"/>
                  </a:cubicBezTo>
                  <a:cubicBezTo>
                    <a:pt x="5" y="27"/>
                    <a:pt x="3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5"/>
                    <a:pt x="3" y="27"/>
                    <a:pt x="3" y="23"/>
                  </a:cubicBezTo>
                  <a:lnTo>
                    <a:pt x="3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6" name="Freeform 22"/>
            <p:cNvSpPr/>
            <p:nvPr/>
          </p:nvSpPr>
          <p:spPr bwMode="auto">
            <a:xfrm>
              <a:off x="6578600" y="5832475"/>
              <a:ext cx="163513" cy="158750"/>
            </a:xfrm>
            <a:custGeom>
              <a:avLst/>
              <a:gdLst>
                <a:gd name="T0" fmla="*/ 7 w 29"/>
                <a:gd name="T1" fmla="*/ 21 h 28"/>
                <a:gd name="T2" fmla="*/ 10 w 29"/>
                <a:gd name="T3" fmla="*/ 26 h 28"/>
                <a:gd name="T4" fmla="*/ 12 w 29"/>
                <a:gd name="T5" fmla="*/ 26 h 28"/>
                <a:gd name="T6" fmla="*/ 11 w 29"/>
                <a:gd name="T7" fmla="*/ 27 h 28"/>
                <a:gd name="T8" fmla="*/ 5 w 29"/>
                <a:gd name="T9" fmla="*/ 27 h 28"/>
                <a:gd name="T10" fmla="*/ 1 w 29"/>
                <a:gd name="T11" fmla="*/ 27 h 28"/>
                <a:gd name="T12" fmla="*/ 0 w 29"/>
                <a:gd name="T13" fmla="*/ 26 h 28"/>
                <a:gd name="T14" fmla="*/ 2 w 29"/>
                <a:gd name="T15" fmla="*/ 26 h 28"/>
                <a:gd name="T16" fmla="*/ 5 w 29"/>
                <a:gd name="T17" fmla="*/ 21 h 28"/>
                <a:gd name="T18" fmla="*/ 5 w 29"/>
                <a:gd name="T19" fmla="*/ 3 h 28"/>
                <a:gd name="T20" fmla="*/ 1 w 29"/>
                <a:gd name="T21" fmla="*/ 1 h 28"/>
                <a:gd name="T22" fmla="*/ 0 w 29"/>
                <a:gd name="T23" fmla="*/ 0 h 28"/>
                <a:gd name="T24" fmla="*/ 1 w 29"/>
                <a:gd name="T25" fmla="*/ 0 h 28"/>
                <a:gd name="T26" fmla="*/ 5 w 29"/>
                <a:gd name="T27" fmla="*/ 0 h 28"/>
                <a:gd name="T28" fmla="*/ 9 w 29"/>
                <a:gd name="T29" fmla="*/ 0 h 28"/>
                <a:gd name="T30" fmla="*/ 22 w 29"/>
                <a:gd name="T31" fmla="*/ 15 h 28"/>
                <a:gd name="T32" fmla="*/ 22 w 29"/>
                <a:gd name="T33" fmla="*/ 16 h 28"/>
                <a:gd name="T34" fmla="*/ 22 w 29"/>
                <a:gd name="T35" fmla="*/ 6 h 28"/>
                <a:gd name="T36" fmla="*/ 20 w 29"/>
                <a:gd name="T37" fmla="*/ 1 h 28"/>
                <a:gd name="T38" fmla="*/ 18 w 29"/>
                <a:gd name="T39" fmla="*/ 0 h 28"/>
                <a:gd name="T40" fmla="*/ 18 w 29"/>
                <a:gd name="T41" fmla="*/ 0 h 28"/>
                <a:gd name="T42" fmla="*/ 24 w 29"/>
                <a:gd name="T43" fmla="*/ 0 h 28"/>
                <a:gd name="T44" fmla="*/ 28 w 29"/>
                <a:gd name="T45" fmla="*/ 0 h 28"/>
                <a:gd name="T46" fmla="*/ 29 w 29"/>
                <a:gd name="T47" fmla="*/ 0 h 28"/>
                <a:gd name="T48" fmla="*/ 27 w 29"/>
                <a:gd name="T49" fmla="*/ 1 h 28"/>
                <a:gd name="T50" fmla="*/ 24 w 29"/>
                <a:gd name="T51" fmla="*/ 6 h 28"/>
                <a:gd name="T52" fmla="*/ 24 w 29"/>
                <a:gd name="T53" fmla="*/ 26 h 28"/>
                <a:gd name="T54" fmla="*/ 24 w 29"/>
                <a:gd name="T55" fmla="*/ 28 h 28"/>
                <a:gd name="T56" fmla="*/ 23 w 29"/>
                <a:gd name="T57" fmla="*/ 27 h 28"/>
                <a:gd name="T58" fmla="*/ 7 w 29"/>
                <a:gd name="T59" fmla="*/ 7 h 28"/>
                <a:gd name="T60" fmla="*/ 7 w 29"/>
                <a:gd name="T61" fmla="*/ 6 h 28"/>
                <a:gd name="T62" fmla="*/ 7 w 29"/>
                <a:gd name="T63" fmla="*/ 21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9" h="28">
                  <a:moveTo>
                    <a:pt x="7" y="21"/>
                  </a:moveTo>
                  <a:cubicBezTo>
                    <a:pt x="7" y="24"/>
                    <a:pt x="8" y="25"/>
                    <a:pt x="10" y="26"/>
                  </a:cubicBezTo>
                  <a:cubicBezTo>
                    <a:pt x="11" y="26"/>
                    <a:pt x="12" y="26"/>
                    <a:pt x="12" y="26"/>
                  </a:cubicBezTo>
                  <a:cubicBezTo>
                    <a:pt x="12" y="27"/>
                    <a:pt x="12" y="27"/>
                    <a:pt x="11" y="27"/>
                  </a:cubicBezTo>
                  <a:cubicBezTo>
                    <a:pt x="10" y="27"/>
                    <a:pt x="7" y="27"/>
                    <a:pt x="5" y="27"/>
                  </a:cubicBezTo>
                  <a:cubicBezTo>
                    <a:pt x="4" y="27"/>
                    <a:pt x="2" y="27"/>
                    <a:pt x="1" y="27"/>
                  </a:cubicBezTo>
                  <a:cubicBezTo>
                    <a:pt x="0" y="27"/>
                    <a:pt x="0" y="27"/>
                    <a:pt x="0" y="26"/>
                  </a:cubicBezTo>
                  <a:cubicBezTo>
                    <a:pt x="0" y="26"/>
                    <a:pt x="1" y="26"/>
                    <a:pt x="2" y="26"/>
                  </a:cubicBezTo>
                  <a:cubicBezTo>
                    <a:pt x="4" y="25"/>
                    <a:pt x="5" y="24"/>
                    <a:pt x="5" y="21"/>
                  </a:cubicBezTo>
                  <a:cubicBezTo>
                    <a:pt x="5" y="3"/>
                    <a:pt x="5" y="3"/>
                    <a:pt x="5" y="3"/>
                  </a:cubicBezTo>
                  <a:cubicBezTo>
                    <a:pt x="3" y="1"/>
                    <a:pt x="2" y="1"/>
                    <a:pt x="1" y="1"/>
                  </a:cubicBezTo>
                  <a:cubicBezTo>
                    <a:pt x="0" y="1"/>
                    <a:pt x="0" y="1"/>
                    <a:pt x="0" y="0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0"/>
                    <a:pt x="3" y="0"/>
                    <a:pt x="5" y="0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6"/>
                    <a:pt x="22" y="16"/>
                    <a:pt x="22" y="16"/>
                  </a:cubicBezTo>
                  <a:cubicBezTo>
                    <a:pt x="22" y="6"/>
                    <a:pt x="22" y="6"/>
                    <a:pt x="22" y="6"/>
                  </a:cubicBezTo>
                  <a:cubicBezTo>
                    <a:pt x="22" y="3"/>
                    <a:pt x="21" y="2"/>
                    <a:pt x="20" y="1"/>
                  </a:cubicBezTo>
                  <a:cubicBezTo>
                    <a:pt x="19" y="1"/>
                    <a:pt x="18" y="1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20" y="0"/>
                    <a:pt x="22" y="0"/>
                    <a:pt x="24" y="0"/>
                  </a:cubicBezTo>
                  <a:cubicBezTo>
                    <a:pt x="26" y="0"/>
                    <a:pt x="27" y="0"/>
                    <a:pt x="28" y="0"/>
                  </a:cubicBezTo>
                  <a:cubicBezTo>
                    <a:pt x="29" y="0"/>
                    <a:pt x="29" y="0"/>
                    <a:pt x="29" y="0"/>
                  </a:cubicBezTo>
                  <a:cubicBezTo>
                    <a:pt x="29" y="1"/>
                    <a:pt x="28" y="1"/>
                    <a:pt x="27" y="1"/>
                  </a:cubicBezTo>
                  <a:cubicBezTo>
                    <a:pt x="26" y="2"/>
                    <a:pt x="24" y="3"/>
                    <a:pt x="24" y="6"/>
                  </a:cubicBezTo>
                  <a:cubicBezTo>
                    <a:pt x="24" y="26"/>
                    <a:pt x="24" y="26"/>
                    <a:pt x="24" y="26"/>
                  </a:cubicBezTo>
                  <a:cubicBezTo>
                    <a:pt x="24" y="27"/>
                    <a:pt x="24" y="28"/>
                    <a:pt x="24" y="28"/>
                  </a:cubicBezTo>
                  <a:cubicBezTo>
                    <a:pt x="24" y="28"/>
                    <a:pt x="23" y="27"/>
                    <a:pt x="23" y="27"/>
                  </a:cubicBezTo>
                  <a:cubicBezTo>
                    <a:pt x="7" y="7"/>
                    <a:pt x="7" y="7"/>
                    <a:pt x="7" y="7"/>
                  </a:cubicBezTo>
                  <a:cubicBezTo>
                    <a:pt x="7" y="6"/>
                    <a:pt x="7" y="6"/>
                    <a:pt x="7" y="6"/>
                  </a:cubicBezTo>
                  <a:lnTo>
                    <a:pt x="7" y="2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8" name="Freeform 23"/>
            <p:cNvSpPr/>
            <p:nvPr/>
          </p:nvSpPr>
          <p:spPr bwMode="auto">
            <a:xfrm>
              <a:off x="5614988" y="5475288"/>
              <a:ext cx="117475" cy="136525"/>
            </a:xfrm>
            <a:custGeom>
              <a:avLst/>
              <a:gdLst>
                <a:gd name="T0" fmla="*/ 11 w 21"/>
                <a:gd name="T1" fmla="*/ 2 h 24"/>
                <a:gd name="T2" fmla="*/ 1 w 21"/>
                <a:gd name="T3" fmla="*/ 13 h 24"/>
                <a:gd name="T4" fmla="*/ 11 w 21"/>
                <a:gd name="T5" fmla="*/ 24 h 24"/>
                <a:gd name="T6" fmla="*/ 14 w 21"/>
                <a:gd name="T7" fmla="*/ 22 h 24"/>
                <a:gd name="T8" fmla="*/ 21 w 21"/>
                <a:gd name="T9" fmla="*/ 9 h 24"/>
                <a:gd name="T10" fmla="*/ 21 w 21"/>
                <a:gd name="T11" fmla="*/ 8 h 24"/>
                <a:gd name="T12" fmla="*/ 11 w 21"/>
                <a:gd name="T13" fmla="*/ 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24">
                  <a:moveTo>
                    <a:pt x="11" y="2"/>
                  </a:moveTo>
                  <a:cubicBezTo>
                    <a:pt x="6" y="4"/>
                    <a:pt x="2" y="9"/>
                    <a:pt x="1" y="13"/>
                  </a:cubicBezTo>
                  <a:cubicBezTo>
                    <a:pt x="0" y="20"/>
                    <a:pt x="6" y="22"/>
                    <a:pt x="11" y="24"/>
                  </a:cubicBezTo>
                  <a:cubicBezTo>
                    <a:pt x="12" y="24"/>
                    <a:pt x="13" y="24"/>
                    <a:pt x="14" y="22"/>
                  </a:cubicBezTo>
                  <a:cubicBezTo>
                    <a:pt x="15" y="17"/>
                    <a:pt x="17" y="13"/>
                    <a:pt x="21" y="9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0" y="1"/>
                    <a:pt x="15" y="0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39" name="Freeform 24"/>
            <p:cNvSpPr/>
            <p:nvPr/>
          </p:nvSpPr>
          <p:spPr bwMode="auto">
            <a:xfrm>
              <a:off x="5440363" y="5140325"/>
              <a:ext cx="146050" cy="442913"/>
            </a:xfrm>
            <a:custGeom>
              <a:avLst/>
              <a:gdLst>
                <a:gd name="T0" fmla="*/ 20 w 26"/>
                <a:gd name="T1" fmla="*/ 52 h 78"/>
                <a:gd name="T2" fmla="*/ 18 w 26"/>
                <a:gd name="T3" fmla="*/ 25 h 78"/>
                <a:gd name="T4" fmla="*/ 22 w 26"/>
                <a:gd name="T5" fmla="*/ 7 h 78"/>
                <a:gd name="T6" fmla="*/ 10 w 26"/>
                <a:gd name="T7" fmla="*/ 4 h 78"/>
                <a:gd name="T8" fmla="*/ 1 w 26"/>
                <a:gd name="T9" fmla="*/ 48 h 78"/>
                <a:gd name="T10" fmla="*/ 11 w 26"/>
                <a:gd name="T11" fmla="*/ 78 h 78"/>
                <a:gd name="T12" fmla="*/ 25 w 26"/>
                <a:gd name="T13" fmla="*/ 51 h 78"/>
                <a:gd name="T14" fmla="*/ 20 w 26"/>
                <a:gd name="T15" fmla="*/ 52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6" h="78">
                  <a:moveTo>
                    <a:pt x="20" y="52"/>
                  </a:moveTo>
                  <a:cubicBezTo>
                    <a:pt x="14" y="49"/>
                    <a:pt x="17" y="30"/>
                    <a:pt x="18" y="25"/>
                  </a:cubicBezTo>
                  <a:cubicBezTo>
                    <a:pt x="20" y="20"/>
                    <a:pt x="22" y="12"/>
                    <a:pt x="22" y="7"/>
                  </a:cubicBezTo>
                  <a:cubicBezTo>
                    <a:pt x="17" y="0"/>
                    <a:pt x="15" y="1"/>
                    <a:pt x="10" y="4"/>
                  </a:cubicBezTo>
                  <a:cubicBezTo>
                    <a:pt x="0" y="17"/>
                    <a:pt x="1" y="30"/>
                    <a:pt x="1" y="48"/>
                  </a:cubicBezTo>
                  <a:cubicBezTo>
                    <a:pt x="2" y="57"/>
                    <a:pt x="2" y="73"/>
                    <a:pt x="11" y="78"/>
                  </a:cubicBezTo>
                  <a:cubicBezTo>
                    <a:pt x="19" y="77"/>
                    <a:pt x="26" y="60"/>
                    <a:pt x="25" y="51"/>
                  </a:cubicBezTo>
                  <a:cubicBezTo>
                    <a:pt x="24" y="47"/>
                    <a:pt x="23" y="52"/>
                    <a:pt x="20" y="5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0" name="Freeform 25"/>
            <p:cNvSpPr/>
            <p:nvPr/>
          </p:nvSpPr>
          <p:spPr bwMode="auto">
            <a:xfrm>
              <a:off x="5614988" y="4902200"/>
              <a:ext cx="323850" cy="782638"/>
            </a:xfrm>
            <a:custGeom>
              <a:avLst/>
              <a:gdLst>
                <a:gd name="T0" fmla="*/ 44 w 58"/>
                <a:gd name="T1" fmla="*/ 72 h 138"/>
                <a:gd name="T2" fmla="*/ 48 w 58"/>
                <a:gd name="T3" fmla="*/ 70 h 138"/>
                <a:gd name="T4" fmla="*/ 50 w 58"/>
                <a:gd name="T5" fmla="*/ 62 h 138"/>
                <a:gd name="T6" fmla="*/ 48 w 58"/>
                <a:gd name="T7" fmla="*/ 62 h 138"/>
                <a:gd name="T8" fmla="*/ 32 w 58"/>
                <a:gd name="T9" fmla="*/ 58 h 138"/>
                <a:gd name="T10" fmla="*/ 42 w 58"/>
                <a:gd name="T11" fmla="*/ 40 h 138"/>
                <a:gd name="T12" fmla="*/ 38 w 58"/>
                <a:gd name="T13" fmla="*/ 33 h 138"/>
                <a:gd name="T14" fmla="*/ 39 w 58"/>
                <a:gd name="T15" fmla="*/ 32 h 138"/>
                <a:gd name="T16" fmla="*/ 48 w 58"/>
                <a:gd name="T17" fmla="*/ 23 h 138"/>
                <a:gd name="T18" fmla="*/ 54 w 58"/>
                <a:gd name="T19" fmla="*/ 16 h 138"/>
                <a:gd name="T20" fmla="*/ 48 w 58"/>
                <a:gd name="T21" fmla="*/ 1 h 138"/>
                <a:gd name="T22" fmla="*/ 34 w 58"/>
                <a:gd name="T23" fmla="*/ 2 h 138"/>
                <a:gd name="T24" fmla="*/ 24 w 58"/>
                <a:gd name="T25" fmla="*/ 8 h 138"/>
                <a:gd name="T26" fmla="*/ 22 w 58"/>
                <a:gd name="T27" fmla="*/ 10 h 138"/>
                <a:gd name="T28" fmla="*/ 28 w 58"/>
                <a:gd name="T29" fmla="*/ 18 h 138"/>
                <a:gd name="T30" fmla="*/ 41 w 58"/>
                <a:gd name="T31" fmla="*/ 13 h 138"/>
                <a:gd name="T32" fmla="*/ 41 w 58"/>
                <a:gd name="T33" fmla="*/ 15 h 138"/>
                <a:gd name="T34" fmla="*/ 41 w 58"/>
                <a:gd name="T35" fmla="*/ 15 h 138"/>
                <a:gd name="T36" fmla="*/ 29 w 58"/>
                <a:gd name="T37" fmla="*/ 30 h 138"/>
                <a:gd name="T38" fmla="*/ 30 w 58"/>
                <a:gd name="T39" fmla="*/ 46 h 138"/>
                <a:gd name="T40" fmla="*/ 29 w 58"/>
                <a:gd name="T41" fmla="*/ 51 h 138"/>
                <a:gd name="T42" fmla="*/ 18 w 58"/>
                <a:gd name="T43" fmla="*/ 65 h 138"/>
                <a:gd name="T44" fmla="*/ 12 w 58"/>
                <a:gd name="T45" fmla="*/ 72 h 138"/>
                <a:gd name="T46" fmla="*/ 11 w 58"/>
                <a:gd name="T47" fmla="*/ 73 h 138"/>
                <a:gd name="T48" fmla="*/ 0 w 58"/>
                <a:gd name="T49" fmla="*/ 84 h 138"/>
                <a:gd name="T50" fmla="*/ 0 w 58"/>
                <a:gd name="T51" fmla="*/ 85 h 138"/>
                <a:gd name="T52" fmla="*/ 11 w 58"/>
                <a:gd name="T53" fmla="*/ 89 h 138"/>
                <a:gd name="T54" fmla="*/ 13 w 58"/>
                <a:gd name="T55" fmla="*/ 89 h 138"/>
                <a:gd name="T56" fmla="*/ 14 w 58"/>
                <a:gd name="T57" fmla="*/ 89 h 138"/>
                <a:gd name="T58" fmla="*/ 14 w 58"/>
                <a:gd name="T59" fmla="*/ 88 h 138"/>
                <a:gd name="T60" fmla="*/ 14 w 58"/>
                <a:gd name="T61" fmla="*/ 87 h 138"/>
                <a:gd name="T62" fmla="*/ 27 w 58"/>
                <a:gd name="T63" fmla="*/ 77 h 138"/>
                <a:gd name="T64" fmla="*/ 28 w 58"/>
                <a:gd name="T65" fmla="*/ 114 h 138"/>
                <a:gd name="T66" fmla="*/ 25 w 58"/>
                <a:gd name="T67" fmla="*/ 115 h 138"/>
                <a:gd name="T68" fmla="*/ 25 w 58"/>
                <a:gd name="T69" fmla="*/ 116 h 138"/>
                <a:gd name="T70" fmla="*/ 22 w 58"/>
                <a:gd name="T71" fmla="*/ 120 h 138"/>
                <a:gd name="T72" fmla="*/ 22 w 58"/>
                <a:gd name="T73" fmla="*/ 120 h 138"/>
                <a:gd name="T74" fmla="*/ 30 w 58"/>
                <a:gd name="T75" fmla="*/ 138 h 138"/>
                <a:gd name="T76" fmla="*/ 39 w 58"/>
                <a:gd name="T77" fmla="*/ 126 h 138"/>
                <a:gd name="T78" fmla="*/ 39 w 58"/>
                <a:gd name="T79" fmla="*/ 74 h 138"/>
                <a:gd name="T80" fmla="*/ 44 w 58"/>
                <a:gd name="T81" fmla="*/ 72 h 1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58" h="138">
                  <a:moveTo>
                    <a:pt x="44" y="72"/>
                  </a:moveTo>
                  <a:cubicBezTo>
                    <a:pt x="45" y="71"/>
                    <a:pt x="47" y="71"/>
                    <a:pt x="48" y="70"/>
                  </a:cubicBezTo>
                  <a:cubicBezTo>
                    <a:pt x="51" y="68"/>
                    <a:pt x="54" y="66"/>
                    <a:pt x="50" y="62"/>
                  </a:cubicBezTo>
                  <a:cubicBezTo>
                    <a:pt x="50" y="62"/>
                    <a:pt x="49" y="62"/>
                    <a:pt x="48" y="62"/>
                  </a:cubicBezTo>
                  <a:cubicBezTo>
                    <a:pt x="42" y="62"/>
                    <a:pt x="32" y="66"/>
                    <a:pt x="32" y="58"/>
                  </a:cubicBezTo>
                  <a:cubicBezTo>
                    <a:pt x="35" y="53"/>
                    <a:pt x="42" y="45"/>
                    <a:pt x="42" y="40"/>
                  </a:cubicBezTo>
                  <a:cubicBezTo>
                    <a:pt x="38" y="38"/>
                    <a:pt x="38" y="37"/>
                    <a:pt x="38" y="33"/>
                  </a:cubicBezTo>
                  <a:cubicBezTo>
                    <a:pt x="39" y="33"/>
                    <a:pt x="39" y="33"/>
                    <a:pt x="39" y="32"/>
                  </a:cubicBezTo>
                  <a:cubicBezTo>
                    <a:pt x="42" y="30"/>
                    <a:pt x="45" y="27"/>
                    <a:pt x="48" y="23"/>
                  </a:cubicBezTo>
                  <a:cubicBezTo>
                    <a:pt x="50" y="21"/>
                    <a:pt x="52" y="18"/>
                    <a:pt x="54" y="16"/>
                  </a:cubicBezTo>
                  <a:cubicBezTo>
                    <a:pt x="58" y="6"/>
                    <a:pt x="54" y="2"/>
                    <a:pt x="48" y="1"/>
                  </a:cubicBezTo>
                  <a:cubicBezTo>
                    <a:pt x="44" y="0"/>
                    <a:pt x="38" y="1"/>
                    <a:pt x="34" y="2"/>
                  </a:cubicBezTo>
                  <a:cubicBezTo>
                    <a:pt x="32" y="3"/>
                    <a:pt x="24" y="6"/>
                    <a:pt x="24" y="8"/>
                  </a:cubicBezTo>
                  <a:cubicBezTo>
                    <a:pt x="23" y="9"/>
                    <a:pt x="22" y="9"/>
                    <a:pt x="22" y="10"/>
                  </a:cubicBezTo>
                  <a:cubicBezTo>
                    <a:pt x="19" y="16"/>
                    <a:pt x="22" y="18"/>
                    <a:pt x="28" y="18"/>
                  </a:cubicBezTo>
                  <a:cubicBezTo>
                    <a:pt x="31" y="17"/>
                    <a:pt x="37" y="8"/>
                    <a:pt x="41" y="13"/>
                  </a:cubicBezTo>
                  <a:cubicBezTo>
                    <a:pt x="41" y="13"/>
                    <a:pt x="40" y="14"/>
                    <a:pt x="41" y="15"/>
                  </a:cubicBezTo>
                  <a:cubicBezTo>
                    <a:pt x="40" y="15"/>
                    <a:pt x="41" y="15"/>
                    <a:pt x="41" y="15"/>
                  </a:cubicBezTo>
                  <a:cubicBezTo>
                    <a:pt x="39" y="19"/>
                    <a:pt x="31" y="27"/>
                    <a:pt x="29" y="30"/>
                  </a:cubicBezTo>
                  <a:cubicBezTo>
                    <a:pt x="26" y="35"/>
                    <a:pt x="30" y="40"/>
                    <a:pt x="30" y="46"/>
                  </a:cubicBezTo>
                  <a:cubicBezTo>
                    <a:pt x="30" y="48"/>
                    <a:pt x="29" y="49"/>
                    <a:pt x="29" y="51"/>
                  </a:cubicBezTo>
                  <a:cubicBezTo>
                    <a:pt x="25" y="55"/>
                    <a:pt x="22" y="62"/>
                    <a:pt x="18" y="65"/>
                  </a:cubicBezTo>
                  <a:cubicBezTo>
                    <a:pt x="16" y="67"/>
                    <a:pt x="13" y="70"/>
                    <a:pt x="12" y="72"/>
                  </a:cubicBezTo>
                  <a:cubicBezTo>
                    <a:pt x="12" y="72"/>
                    <a:pt x="11" y="73"/>
                    <a:pt x="11" y="73"/>
                  </a:cubicBezTo>
                  <a:cubicBezTo>
                    <a:pt x="7" y="77"/>
                    <a:pt x="4" y="81"/>
                    <a:pt x="0" y="84"/>
                  </a:cubicBezTo>
                  <a:cubicBezTo>
                    <a:pt x="0" y="84"/>
                    <a:pt x="0" y="85"/>
                    <a:pt x="0" y="85"/>
                  </a:cubicBezTo>
                  <a:cubicBezTo>
                    <a:pt x="2" y="87"/>
                    <a:pt x="7" y="88"/>
                    <a:pt x="11" y="89"/>
                  </a:cubicBezTo>
                  <a:cubicBezTo>
                    <a:pt x="12" y="89"/>
                    <a:pt x="12" y="89"/>
                    <a:pt x="13" y="89"/>
                  </a:cubicBezTo>
                  <a:cubicBezTo>
                    <a:pt x="13" y="89"/>
                    <a:pt x="14" y="89"/>
                    <a:pt x="14" y="89"/>
                  </a:cubicBezTo>
                  <a:cubicBezTo>
                    <a:pt x="14" y="88"/>
                    <a:pt x="14" y="88"/>
                    <a:pt x="14" y="88"/>
                  </a:cubicBezTo>
                  <a:cubicBezTo>
                    <a:pt x="14" y="88"/>
                    <a:pt x="14" y="87"/>
                    <a:pt x="14" y="87"/>
                  </a:cubicBezTo>
                  <a:cubicBezTo>
                    <a:pt x="18" y="82"/>
                    <a:pt x="20" y="78"/>
                    <a:pt x="27" y="77"/>
                  </a:cubicBezTo>
                  <a:cubicBezTo>
                    <a:pt x="27" y="78"/>
                    <a:pt x="27" y="84"/>
                    <a:pt x="28" y="114"/>
                  </a:cubicBezTo>
                  <a:cubicBezTo>
                    <a:pt x="27" y="114"/>
                    <a:pt x="28" y="114"/>
                    <a:pt x="25" y="115"/>
                  </a:cubicBezTo>
                  <a:cubicBezTo>
                    <a:pt x="25" y="115"/>
                    <a:pt x="25" y="116"/>
                    <a:pt x="25" y="116"/>
                  </a:cubicBezTo>
                  <a:cubicBezTo>
                    <a:pt x="23" y="117"/>
                    <a:pt x="22" y="118"/>
                    <a:pt x="22" y="120"/>
                  </a:cubicBezTo>
                  <a:cubicBezTo>
                    <a:pt x="22" y="120"/>
                    <a:pt x="22" y="120"/>
                    <a:pt x="22" y="120"/>
                  </a:cubicBezTo>
                  <a:cubicBezTo>
                    <a:pt x="22" y="127"/>
                    <a:pt x="23" y="133"/>
                    <a:pt x="30" y="138"/>
                  </a:cubicBezTo>
                  <a:cubicBezTo>
                    <a:pt x="35" y="137"/>
                    <a:pt x="37" y="131"/>
                    <a:pt x="39" y="126"/>
                  </a:cubicBezTo>
                  <a:cubicBezTo>
                    <a:pt x="39" y="119"/>
                    <a:pt x="39" y="119"/>
                    <a:pt x="39" y="74"/>
                  </a:cubicBezTo>
                  <a:cubicBezTo>
                    <a:pt x="41" y="73"/>
                    <a:pt x="42" y="72"/>
                    <a:pt x="44" y="7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1" name="Freeform 26"/>
            <p:cNvSpPr/>
            <p:nvPr/>
          </p:nvSpPr>
          <p:spPr bwMode="auto">
            <a:xfrm>
              <a:off x="5843588" y="5413375"/>
              <a:ext cx="141288" cy="152400"/>
            </a:xfrm>
            <a:custGeom>
              <a:avLst/>
              <a:gdLst>
                <a:gd name="T0" fmla="*/ 8 w 25"/>
                <a:gd name="T1" fmla="*/ 1 h 27"/>
                <a:gd name="T2" fmla="*/ 7 w 25"/>
                <a:gd name="T3" fmla="*/ 1 h 27"/>
                <a:gd name="T4" fmla="*/ 6 w 25"/>
                <a:gd name="T5" fmla="*/ 10 h 27"/>
                <a:gd name="T6" fmla="*/ 0 w 25"/>
                <a:gd name="T7" fmla="*/ 25 h 27"/>
                <a:gd name="T8" fmla="*/ 0 w 25"/>
                <a:gd name="T9" fmla="*/ 26 h 27"/>
                <a:gd name="T10" fmla="*/ 3 w 25"/>
                <a:gd name="T11" fmla="*/ 27 h 27"/>
                <a:gd name="T12" fmla="*/ 7 w 25"/>
                <a:gd name="T13" fmla="*/ 26 h 27"/>
                <a:gd name="T14" fmla="*/ 23 w 25"/>
                <a:gd name="T15" fmla="*/ 11 h 27"/>
                <a:gd name="T16" fmla="*/ 8 w 25"/>
                <a:gd name="T17" fmla="*/ 1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5" h="27">
                  <a:moveTo>
                    <a:pt x="8" y="1"/>
                  </a:moveTo>
                  <a:cubicBezTo>
                    <a:pt x="8" y="1"/>
                    <a:pt x="8" y="1"/>
                    <a:pt x="7" y="1"/>
                  </a:cubicBezTo>
                  <a:cubicBezTo>
                    <a:pt x="4" y="3"/>
                    <a:pt x="2" y="7"/>
                    <a:pt x="6" y="10"/>
                  </a:cubicBezTo>
                  <a:cubicBezTo>
                    <a:pt x="8" y="18"/>
                    <a:pt x="2" y="20"/>
                    <a:pt x="0" y="25"/>
                  </a:cubicBezTo>
                  <a:cubicBezTo>
                    <a:pt x="0" y="25"/>
                    <a:pt x="0" y="26"/>
                    <a:pt x="0" y="26"/>
                  </a:cubicBezTo>
                  <a:cubicBezTo>
                    <a:pt x="1" y="26"/>
                    <a:pt x="2" y="27"/>
                    <a:pt x="3" y="27"/>
                  </a:cubicBezTo>
                  <a:cubicBezTo>
                    <a:pt x="4" y="27"/>
                    <a:pt x="6" y="26"/>
                    <a:pt x="7" y="26"/>
                  </a:cubicBezTo>
                  <a:cubicBezTo>
                    <a:pt x="15" y="24"/>
                    <a:pt x="25" y="21"/>
                    <a:pt x="23" y="11"/>
                  </a:cubicBezTo>
                  <a:cubicBezTo>
                    <a:pt x="19" y="2"/>
                    <a:pt x="15" y="0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2" name="Freeform 27"/>
            <p:cNvSpPr/>
            <p:nvPr/>
          </p:nvSpPr>
          <p:spPr bwMode="auto">
            <a:xfrm>
              <a:off x="5435600" y="4975225"/>
              <a:ext cx="144463" cy="136525"/>
            </a:xfrm>
            <a:custGeom>
              <a:avLst/>
              <a:gdLst>
                <a:gd name="T0" fmla="*/ 14 w 26"/>
                <a:gd name="T1" fmla="*/ 24 h 24"/>
                <a:gd name="T2" fmla="*/ 25 w 26"/>
                <a:gd name="T3" fmla="*/ 20 h 24"/>
                <a:gd name="T4" fmla="*/ 25 w 26"/>
                <a:gd name="T5" fmla="*/ 20 h 24"/>
                <a:gd name="T6" fmla="*/ 25 w 26"/>
                <a:gd name="T7" fmla="*/ 19 h 24"/>
                <a:gd name="T8" fmla="*/ 22 w 26"/>
                <a:gd name="T9" fmla="*/ 7 h 24"/>
                <a:gd name="T10" fmla="*/ 14 w 26"/>
                <a:gd name="T11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6" h="24">
                  <a:moveTo>
                    <a:pt x="14" y="24"/>
                  </a:moveTo>
                  <a:cubicBezTo>
                    <a:pt x="20" y="24"/>
                    <a:pt x="21" y="24"/>
                    <a:pt x="25" y="20"/>
                  </a:cubicBezTo>
                  <a:cubicBezTo>
                    <a:pt x="25" y="20"/>
                    <a:pt x="25" y="20"/>
                    <a:pt x="25" y="20"/>
                  </a:cubicBezTo>
                  <a:cubicBezTo>
                    <a:pt x="25" y="20"/>
                    <a:pt x="25" y="20"/>
                    <a:pt x="25" y="19"/>
                  </a:cubicBezTo>
                  <a:cubicBezTo>
                    <a:pt x="26" y="13"/>
                    <a:pt x="23" y="8"/>
                    <a:pt x="22" y="7"/>
                  </a:cubicBezTo>
                  <a:cubicBezTo>
                    <a:pt x="9" y="0"/>
                    <a:pt x="0" y="17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4" name="Freeform 28"/>
            <p:cNvSpPr/>
            <p:nvPr/>
          </p:nvSpPr>
          <p:spPr bwMode="auto">
            <a:xfrm>
              <a:off x="5603875" y="5032375"/>
              <a:ext cx="106363" cy="114300"/>
            </a:xfrm>
            <a:custGeom>
              <a:avLst/>
              <a:gdLst>
                <a:gd name="T0" fmla="*/ 9 w 19"/>
                <a:gd name="T1" fmla="*/ 20 h 20"/>
                <a:gd name="T2" fmla="*/ 11 w 19"/>
                <a:gd name="T3" fmla="*/ 19 h 20"/>
                <a:gd name="T4" fmla="*/ 13 w 19"/>
                <a:gd name="T5" fmla="*/ 18 h 20"/>
                <a:gd name="T6" fmla="*/ 16 w 19"/>
                <a:gd name="T7" fmla="*/ 1 h 20"/>
                <a:gd name="T8" fmla="*/ 13 w 19"/>
                <a:gd name="T9" fmla="*/ 0 h 20"/>
                <a:gd name="T10" fmla="*/ 9 w 19"/>
                <a:gd name="T11" fmla="*/ 20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9" h="20">
                  <a:moveTo>
                    <a:pt x="9" y="20"/>
                  </a:moveTo>
                  <a:cubicBezTo>
                    <a:pt x="10" y="20"/>
                    <a:pt x="10" y="20"/>
                    <a:pt x="11" y="19"/>
                  </a:cubicBezTo>
                  <a:cubicBezTo>
                    <a:pt x="12" y="19"/>
                    <a:pt x="12" y="18"/>
                    <a:pt x="13" y="18"/>
                  </a:cubicBezTo>
                  <a:cubicBezTo>
                    <a:pt x="16" y="13"/>
                    <a:pt x="19" y="5"/>
                    <a:pt x="16" y="1"/>
                  </a:cubicBezTo>
                  <a:cubicBezTo>
                    <a:pt x="15" y="0"/>
                    <a:pt x="14" y="0"/>
                    <a:pt x="13" y="0"/>
                  </a:cubicBezTo>
                  <a:cubicBezTo>
                    <a:pt x="6" y="1"/>
                    <a:pt x="0" y="14"/>
                    <a:pt x="9" y="2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5" name="Freeform 29"/>
            <p:cNvSpPr/>
            <p:nvPr/>
          </p:nvSpPr>
          <p:spPr bwMode="auto">
            <a:xfrm>
              <a:off x="6230938" y="5043488"/>
              <a:ext cx="212725" cy="504825"/>
            </a:xfrm>
            <a:custGeom>
              <a:avLst/>
              <a:gdLst>
                <a:gd name="T0" fmla="*/ 33 w 38"/>
                <a:gd name="T1" fmla="*/ 59 h 89"/>
                <a:gd name="T2" fmla="*/ 24 w 38"/>
                <a:gd name="T3" fmla="*/ 44 h 89"/>
                <a:gd name="T4" fmla="*/ 38 w 38"/>
                <a:gd name="T5" fmla="*/ 30 h 89"/>
                <a:gd name="T6" fmla="*/ 38 w 38"/>
                <a:gd name="T7" fmla="*/ 30 h 89"/>
                <a:gd name="T8" fmla="*/ 38 w 38"/>
                <a:gd name="T9" fmla="*/ 30 h 89"/>
                <a:gd name="T10" fmla="*/ 38 w 38"/>
                <a:gd name="T11" fmla="*/ 30 h 89"/>
                <a:gd name="T12" fmla="*/ 38 w 38"/>
                <a:gd name="T13" fmla="*/ 30 h 89"/>
                <a:gd name="T14" fmla="*/ 38 w 38"/>
                <a:gd name="T15" fmla="*/ 30 h 89"/>
                <a:gd name="T16" fmla="*/ 38 w 38"/>
                <a:gd name="T17" fmla="*/ 30 h 89"/>
                <a:gd name="T18" fmla="*/ 38 w 38"/>
                <a:gd name="T19" fmla="*/ 30 h 89"/>
                <a:gd name="T20" fmla="*/ 38 w 38"/>
                <a:gd name="T21" fmla="*/ 30 h 89"/>
                <a:gd name="T22" fmla="*/ 38 w 38"/>
                <a:gd name="T23" fmla="*/ 30 h 89"/>
                <a:gd name="T24" fmla="*/ 38 w 38"/>
                <a:gd name="T25" fmla="*/ 29 h 89"/>
                <a:gd name="T26" fmla="*/ 38 w 38"/>
                <a:gd name="T27" fmla="*/ 29 h 89"/>
                <a:gd name="T28" fmla="*/ 38 w 38"/>
                <a:gd name="T29" fmla="*/ 29 h 89"/>
                <a:gd name="T30" fmla="*/ 38 w 38"/>
                <a:gd name="T31" fmla="*/ 29 h 89"/>
                <a:gd name="T32" fmla="*/ 38 w 38"/>
                <a:gd name="T33" fmla="*/ 29 h 89"/>
                <a:gd name="T34" fmla="*/ 38 w 38"/>
                <a:gd name="T35" fmla="*/ 29 h 89"/>
                <a:gd name="T36" fmla="*/ 38 w 38"/>
                <a:gd name="T37" fmla="*/ 29 h 89"/>
                <a:gd name="T38" fmla="*/ 38 w 38"/>
                <a:gd name="T39" fmla="*/ 29 h 89"/>
                <a:gd name="T40" fmla="*/ 38 w 38"/>
                <a:gd name="T41" fmla="*/ 29 h 89"/>
                <a:gd name="T42" fmla="*/ 38 w 38"/>
                <a:gd name="T43" fmla="*/ 29 h 89"/>
                <a:gd name="T44" fmla="*/ 38 w 38"/>
                <a:gd name="T45" fmla="*/ 29 h 89"/>
                <a:gd name="T46" fmla="*/ 38 w 38"/>
                <a:gd name="T47" fmla="*/ 29 h 89"/>
                <a:gd name="T48" fmla="*/ 38 w 38"/>
                <a:gd name="T49" fmla="*/ 29 h 89"/>
                <a:gd name="T50" fmla="*/ 38 w 38"/>
                <a:gd name="T51" fmla="*/ 29 h 89"/>
                <a:gd name="T52" fmla="*/ 38 w 38"/>
                <a:gd name="T53" fmla="*/ 29 h 89"/>
                <a:gd name="T54" fmla="*/ 38 w 38"/>
                <a:gd name="T55" fmla="*/ 29 h 89"/>
                <a:gd name="T56" fmla="*/ 38 w 38"/>
                <a:gd name="T57" fmla="*/ 29 h 89"/>
                <a:gd name="T58" fmla="*/ 38 w 38"/>
                <a:gd name="T59" fmla="*/ 29 h 89"/>
                <a:gd name="T60" fmla="*/ 38 w 38"/>
                <a:gd name="T61" fmla="*/ 29 h 89"/>
                <a:gd name="T62" fmla="*/ 38 w 38"/>
                <a:gd name="T63" fmla="*/ 29 h 89"/>
                <a:gd name="T64" fmla="*/ 38 w 38"/>
                <a:gd name="T65" fmla="*/ 28 h 89"/>
                <a:gd name="T66" fmla="*/ 38 w 38"/>
                <a:gd name="T67" fmla="*/ 28 h 89"/>
                <a:gd name="T68" fmla="*/ 38 w 38"/>
                <a:gd name="T69" fmla="*/ 28 h 89"/>
                <a:gd name="T70" fmla="*/ 29 w 38"/>
                <a:gd name="T71" fmla="*/ 19 h 89"/>
                <a:gd name="T72" fmla="*/ 17 w 38"/>
                <a:gd name="T73" fmla="*/ 8 h 89"/>
                <a:gd name="T74" fmla="*/ 3 w 38"/>
                <a:gd name="T75" fmla="*/ 37 h 89"/>
                <a:gd name="T76" fmla="*/ 7 w 38"/>
                <a:gd name="T77" fmla="*/ 68 h 89"/>
                <a:gd name="T78" fmla="*/ 37 w 38"/>
                <a:gd name="T79" fmla="*/ 57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" h="89">
                  <a:moveTo>
                    <a:pt x="33" y="58"/>
                  </a:moveTo>
                  <a:cubicBezTo>
                    <a:pt x="33" y="58"/>
                    <a:pt x="33" y="58"/>
                    <a:pt x="33" y="59"/>
                  </a:cubicBezTo>
                  <a:cubicBezTo>
                    <a:pt x="30" y="61"/>
                    <a:pt x="26" y="69"/>
                    <a:pt x="22" y="70"/>
                  </a:cubicBezTo>
                  <a:cubicBezTo>
                    <a:pt x="21" y="61"/>
                    <a:pt x="23" y="52"/>
                    <a:pt x="24" y="44"/>
                  </a:cubicBezTo>
                  <a:cubicBezTo>
                    <a:pt x="26" y="39"/>
                    <a:pt x="27" y="39"/>
                    <a:pt x="32" y="37"/>
                  </a:cubicBezTo>
                  <a:cubicBezTo>
                    <a:pt x="35" y="35"/>
                    <a:pt x="37" y="33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30"/>
                    <a:pt x="38" y="30"/>
                    <a:pt x="38" y="30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9"/>
                    <a:pt x="38" y="29"/>
                    <a:pt x="38" y="29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8" y="28"/>
                    <a:pt x="38" y="28"/>
                    <a:pt x="38" y="28"/>
                  </a:cubicBezTo>
                  <a:cubicBezTo>
                    <a:pt x="37" y="21"/>
                    <a:pt x="35" y="20"/>
                    <a:pt x="29" y="19"/>
                  </a:cubicBezTo>
                  <a:cubicBezTo>
                    <a:pt x="28" y="14"/>
                    <a:pt x="29" y="9"/>
                    <a:pt x="28" y="4"/>
                  </a:cubicBezTo>
                  <a:cubicBezTo>
                    <a:pt x="25" y="0"/>
                    <a:pt x="19" y="5"/>
                    <a:pt x="17" y="8"/>
                  </a:cubicBezTo>
                  <a:cubicBezTo>
                    <a:pt x="10" y="13"/>
                    <a:pt x="15" y="20"/>
                    <a:pt x="14" y="29"/>
                  </a:cubicBezTo>
                  <a:cubicBezTo>
                    <a:pt x="11" y="31"/>
                    <a:pt x="6" y="34"/>
                    <a:pt x="3" y="37"/>
                  </a:cubicBezTo>
                  <a:cubicBezTo>
                    <a:pt x="0" y="45"/>
                    <a:pt x="1" y="47"/>
                    <a:pt x="9" y="50"/>
                  </a:cubicBezTo>
                  <a:cubicBezTo>
                    <a:pt x="10" y="54"/>
                    <a:pt x="7" y="64"/>
                    <a:pt x="7" y="68"/>
                  </a:cubicBezTo>
                  <a:cubicBezTo>
                    <a:pt x="7" y="74"/>
                    <a:pt x="6" y="85"/>
                    <a:pt x="13" y="89"/>
                  </a:cubicBezTo>
                  <a:cubicBezTo>
                    <a:pt x="21" y="87"/>
                    <a:pt x="38" y="67"/>
                    <a:pt x="37" y="57"/>
                  </a:cubicBezTo>
                  <a:cubicBezTo>
                    <a:pt x="36" y="57"/>
                    <a:pt x="35" y="57"/>
                    <a:pt x="33" y="58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6" name="Freeform 30"/>
            <p:cNvSpPr/>
            <p:nvPr/>
          </p:nvSpPr>
          <p:spPr bwMode="auto">
            <a:xfrm>
              <a:off x="6443663" y="5140325"/>
              <a:ext cx="101600" cy="352425"/>
            </a:xfrm>
            <a:custGeom>
              <a:avLst/>
              <a:gdLst>
                <a:gd name="T0" fmla="*/ 4 w 18"/>
                <a:gd name="T1" fmla="*/ 10 h 62"/>
                <a:gd name="T2" fmla="*/ 3 w 18"/>
                <a:gd name="T3" fmla="*/ 43 h 62"/>
                <a:gd name="T4" fmla="*/ 0 w 18"/>
                <a:gd name="T5" fmla="*/ 57 h 62"/>
                <a:gd name="T6" fmla="*/ 0 w 18"/>
                <a:gd name="T7" fmla="*/ 59 h 62"/>
                <a:gd name="T8" fmla="*/ 1 w 18"/>
                <a:gd name="T9" fmla="*/ 62 h 62"/>
                <a:gd name="T10" fmla="*/ 10 w 18"/>
                <a:gd name="T11" fmla="*/ 56 h 62"/>
                <a:gd name="T12" fmla="*/ 16 w 18"/>
                <a:gd name="T13" fmla="*/ 9 h 62"/>
                <a:gd name="T14" fmla="*/ 4 w 18"/>
                <a:gd name="T15" fmla="*/ 10 h 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8" h="62">
                  <a:moveTo>
                    <a:pt x="4" y="10"/>
                  </a:moveTo>
                  <a:cubicBezTo>
                    <a:pt x="5" y="21"/>
                    <a:pt x="5" y="32"/>
                    <a:pt x="3" y="43"/>
                  </a:cubicBezTo>
                  <a:cubicBezTo>
                    <a:pt x="2" y="47"/>
                    <a:pt x="0" y="52"/>
                    <a:pt x="0" y="57"/>
                  </a:cubicBezTo>
                  <a:cubicBezTo>
                    <a:pt x="0" y="57"/>
                    <a:pt x="0" y="58"/>
                    <a:pt x="0" y="59"/>
                  </a:cubicBezTo>
                  <a:cubicBezTo>
                    <a:pt x="0" y="60"/>
                    <a:pt x="0" y="61"/>
                    <a:pt x="1" y="62"/>
                  </a:cubicBezTo>
                  <a:cubicBezTo>
                    <a:pt x="4" y="62"/>
                    <a:pt x="7" y="60"/>
                    <a:pt x="10" y="56"/>
                  </a:cubicBezTo>
                  <a:cubicBezTo>
                    <a:pt x="16" y="43"/>
                    <a:pt x="18" y="23"/>
                    <a:pt x="16" y="9"/>
                  </a:cubicBezTo>
                  <a:cubicBezTo>
                    <a:pt x="13" y="0"/>
                    <a:pt x="7" y="4"/>
                    <a:pt x="4" y="1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7" name="Freeform 31"/>
            <p:cNvSpPr/>
            <p:nvPr/>
          </p:nvSpPr>
          <p:spPr bwMode="auto">
            <a:xfrm>
              <a:off x="6640513" y="4999038"/>
              <a:ext cx="84138" cy="681038"/>
            </a:xfrm>
            <a:custGeom>
              <a:avLst/>
              <a:gdLst>
                <a:gd name="T0" fmla="*/ 11 w 15"/>
                <a:gd name="T1" fmla="*/ 2 h 120"/>
                <a:gd name="T2" fmla="*/ 2 w 15"/>
                <a:gd name="T3" fmla="*/ 4 h 120"/>
                <a:gd name="T4" fmla="*/ 2 w 15"/>
                <a:gd name="T5" fmla="*/ 6 h 120"/>
                <a:gd name="T6" fmla="*/ 2 w 15"/>
                <a:gd name="T7" fmla="*/ 113 h 120"/>
                <a:gd name="T8" fmla="*/ 4 w 15"/>
                <a:gd name="T9" fmla="*/ 120 h 120"/>
                <a:gd name="T10" fmla="*/ 15 w 15"/>
                <a:gd name="T11" fmla="*/ 107 h 120"/>
                <a:gd name="T12" fmla="*/ 15 w 15"/>
                <a:gd name="T13" fmla="*/ 69 h 120"/>
                <a:gd name="T14" fmla="*/ 15 w 15"/>
                <a:gd name="T15" fmla="*/ 55 h 120"/>
                <a:gd name="T16" fmla="*/ 15 w 15"/>
                <a:gd name="T17" fmla="*/ 6 h 120"/>
                <a:gd name="T18" fmla="*/ 11 w 15"/>
                <a:gd name="T19" fmla="*/ 2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5" h="120">
                  <a:moveTo>
                    <a:pt x="11" y="2"/>
                  </a:moveTo>
                  <a:cubicBezTo>
                    <a:pt x="7" y="0"/>
                    <a:pt x="5" y="2"/>
                    <a:pt x="2" y="4"/>
                  </a:cubicBezTo>
                  <a:cubicBezTo>
                    <a:pt x="2" y="5"/>
                    <a:pt x="2" y="6"/>
                    <a:pt x="2" y="6"/>
                  </a:cubicBezTo>
                  <a:cubicBezTo>
                    <a:pt x="3" y="41"/>
                    <a:pt x="4" y="77"/>
                    <a:pt x="2" y="113"/>
                  </a:cubicBezTo>
                  <a:cubicBezTo>
                    <a:pt x="1" y="116"/>
                    <a:pt x="0" y="118"/>
                    <a:pt x="4" y="120"/>
                  </a:cubicBezTo>
                  <a:cubicBezTo>
                    <a:pt x="12" y="120"/>
                    <a:pt x="13" y="116"/>
                    <a:pt x="15" y="107"/>
                  </a:cubicBezTo>
                  <a:cubicBezTo>
                    <a:pt x="15" y="99"/>
                    <a:pt x="15" y="69"/>
                    <a:pt x="15" y="69"/>
                  </a:cubicBezTo>
                  <a:cubicBezTo>
                    <a:pt x="15" y="66"/>
                    <a:pt x="15" y="56"/>
                    <a:pt x="15" y="55"/>
                  </a:cubicBezTo>
                  <a:cubicBezTo>
                    <a:pt x="15" y="26"/>
                    <a:pt x="15" y="26"/>
                    <a:pt x="15" y="6"/>
                  </a:cubicBezTo>
                  <a:cubicBezTo>
                    <a:pt x="14" y="4"/>
                    <a:pt x="13" y="3"/>
                    <a:pt x="11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8" name="Freeform 32"/>
            <p:cNvSpPr/>
            <p:nvPr/>
          </p:nvSpPr>
          <p:spPr bwMode="auto">
            <a:xfrm>
              <a:off x="6538913" y="5157788"/>
              <a:ext cx="101600" cy="260350"/>
            </a:xfrm>
            <a:custGeom>
              <a:avLst/>
              <a:gdLst>
                <a:gd name="T0" fmla="*/ 15 w 18"/>
                <a:gd name="T1" fmla="*/ 3 h 46"/>
                <a:gd name="T2" fmla="*/ 6 w 18"/>
                <a:gd name="T3" fmla="*/ 16 h 46"/>
                <a:gd name="T4" fmla="*/ 8 w 18"/>
                <a:gd name="T5" fmla="*/ 46 h 46"/>
                <a:gd name="T6" fmla="*/ 13 w 18"/>
                <a:gd name="T7" fmla="*/ 44 h 46"/>
                <a:gd name="T8" fmla="*/ 18 w 18"/>
                <a:gd name="T9" fmla="*/ 6 h 46"/>
                <a:gd name="T10" fmla="*/ 15 w 18"/>
                <a:gd name="T11" fmla="*/ 3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8" h="46">
                  <a:moveTo>
                    <a:pt x="15" y="3"/>
                  </a:moveTo>
                  <a:cubicBezTo>
                    <a:pt x="9" y="0"/>
                    <a:pt x="8" y="11"/>
                    <a:pt x="6" y="16"/>
                  </a:cubicBezTo>
                  <a:cubicBezTo>
                    <a:pt x="5" y="22"/>
                    <a:pt x="0" y="42"/>
                    <a:pt x="8" y="46"/>
                  </a:cubicBezTo>
                  <a:cubicBezTo>
                    <a:pt x="10" y="46"/>
                    <a:pt x="12" y="45"/>
                    <a:pt x="13" y="44"/>
                  </a:cubicBezTo>
                  <a:cubicBezTo>
                    <a:pt x="18" y="32"/>
                    <a:pt x="17" y="18"/>
                    <a:pt x="18" y="6"/>
                  </a:cubicBezTo>
                  <a:cubicBezTo>
                    <a:pt x="17" y="5"/>
                    <a:pt x="16" y="4"/>
                    <a:pt x="15" y="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49" name="Freeform 33"/>
            <p:cNvSpPr/>
            <p:nvPr/>
          </p:nvSpPr>
          <p:spPr bwMode="auto">
            <a:xfrm>
              <a:off x="7262813" y="5356225"/>
              <a:ext cx="285750" cy="255588"/>
            </a:xfrm>
            <a:custGeom>
              <a:avLst/>
              <a:gdLst>
                <a:gd name="T0" fmla="*/ 37 w 51"/>
                <a:gd name="T1" fmla="*/ 29 h 45"/>
                <a:gd name="T2" fmla="*/ 36 w 51"/>
                <a:gd name="T3" fmla="*/ 29 h 45"/>
                <a:gd name="T4" fmla="*/ 36 w 51"/>
                <a:gd name="T5" fmla="*/ 28 h 45"/>
                <a:gd name="T6" fmla="*/ 35 w 51"/>
                <a:gd name="T7" fmla="*/ 28 h 45"/>
                <a:gd name="T8" fmla="*/ 29 w 51"/>
                <a:gd name="T9" fmla="*/ 23 h 45"/>
                <a:gd name="T10" fmla="*/ 27 w 51"/>
                <a:gd name="T11" fmla="*/ 22 h 45"/>
                <a:gd name="T12" fmla="*/ 24 w 51"/>
                <a:gd name="T13" fmla="*/ 19 h 45"/>
                <a:gd name="T14" fmla="*/ 22 w 51"/>
                <a:gd name="T15" fmla="*/ 17 h 45"/>
                <a:gd name="T16" fmla="*/ 18 w 51"/>
                <a:gd name="T17" fmla="*/ 14 h 45"/>
                <a:gd name="T18" fmla="*/ 18 w 51"/>
                <a:gd name="T19" fmla="*/ 14 h 45"/>
                <a:gd name="T20" fmla="*/ 13 w 51"/>
                <a:gd name="T21" fmla="*/ 8 h 45"/>
                <a:gd name="T22" fmla="*/ 7 w 51"/>
                <a:gd name="T23" fmla="*/ 0 h 45"/>
                <a:gd name="T24" fmla="*/ 1 w 51"/>
                <a:gd name="T25" fmla="*/ 6 h 45"/>
                <a:gd name="T26" fmla="*/ 13 w 51"/>
                <a:gd name="T27" fmla="*/ 28 h 45"/>
                <a:gd name="T28" fmla="*/ 32 w 51"/>
                <a:gd name="T29" fmla="*/ 44 h 45"/>
                <a:gd name="T30" fmla="*/ 50 w 51"/>
                <a:gd name="T31" fmla="*/ 39 h 45"/>
                <a:gd name="T32" fmla="*/ 50 w 51"/>
                <a:gd name="T33" fmla="*/ 36 h 45"/>
                <a:gd name="T34" fmla="*/ 37 w 51"/>
                <a:gd name="T35" fmla="*/ 29 h 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51" h="45">
                  <a:moveTo>
                    <a:pt x="37" y="29"/>
                  </a:moveTo>
                  <a:cubicBezTo>
                    <a:pt x="37" y="29"/>
                    <a:pt x="36" y="29"/>
                    <a:pt x="36" y="29"/>
                  </a:cubicBezTo>
                  <a:cubicBezTo>
                    <a:pt x="35" y="28"/>
                    <a:pt x="36" y="28"/>
                    <a:pt x="36" y="28"/>
                  </a:cubicBezTo>
                  <a:cubicBezTo>
                    <a:pt x="35" y="28"/>
                    <a:pt x="35" y="28"/>
                    <a:pt x="35" y="28"/>
                  </a:cubicBezTo>
                  <a:cubicBezTo>
                    <a:pt x="33" y="27"/>
                    <a:pt x="30" y="24"/>
                    <a:pt x="29" y="23"/>
                  </a:cubicBezTo>
                  <a:cubicBezTo>
                    <a:pt x="29" y="23"/>
                    <a:pt x="27" y="22"/>
                    <a:pt x="27" y="22"/>
                  </a:cubicBezTo>
                  <a:cubicBezTo>
                    <a:pt x="25" y="21"/>
                    <a:pt x="25" y="20"/>
                    <a:pt x="24" y="19"/>
                  </a:cubicBezTo>
                  <a:cubicBezTo>
                    <a:pt x="23" y="18"/>
                    <a:pt x="23" y="18"/>
                    <a:pt x="22" y="17"/>
                  </a:cubicBezTo>
                  <a:cubicBezTo>
                    <a:pt x="20" y="16"/>
                    <a:pt x="19" y="15"/>
                    <a:pt x="18" y="14"/>
                  </a:cubicBezTo>
                  <a:cubicBezTo>
                    <a:pt x="18" y="14"/>
                    <a:pt x="18" y="14"/>
                    <a:pt x="18" y="14"/>
                  </a:cubicBezTo>
                  <a:cubicBezTo>
                    <a:pt x="16" y="11"/>
                    <a:pt x="14" y="9"/>
                    <a:pt x="13" y="8"/>
                  </a:cubicBezTo>
                  <a:cubicBezTo>
                    <a:pt x="11" y="5"/>
                    <a:pt x="9" y="3"/>
                    <a:pt x="7" y="0"/>
                  </a:cubicBezTo>
                  <a:cubicBezTo>
                    <a:pt x="3" y="0"/>
                    <a:pt x="0" y="2"/>
                    <a:pt x="1" y="6"/>
                  </a:cubicBezTo>
                  <a:cubicBezTo>
                    <a:pt x="3" y="14"/>
                    <a:pt x="7" y="21"/>
                    <a:pt x="13" y="28"/>
                  </a:cubicBezTo>
                  <a:cubicBezTo>
                    <a:pt x="18" y="35"/>
                    <a:pt x="25" y="41"/>
                    <a:pt x="32" y="44"/>
                  </a:cubicBezTo>
                  <a:cubicBezTo>
                    <a:pt x="39" y="44"/>
                    <a:pt x="45" y="45"/>
                    <a:pt x="50" y="39"/>
                  </a:cubicBezTo>
                  <a:cubicBezTo>
                    <a:pt x="50" y="38"/>
                    <a:pt x="51" y="37"/>
                    <a:pt x="50" y="36"/>
                  </a:cubicBezTo>
                  <a:cubicBezTo>
                    <a:pt x="45" y="33"/>
                    <a:pt x="41" y="31"/>
                    <a:pt x="37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50" name="Freeform 34"/>
            <p:cNvSpPr/>
            <p:nvPr/>
          </p:nvSpPr>
          <p:spPr bwMode="auto">
            <a:xfrm>
              <a:off x="7016750" y="4999038"/>
              <a:ext cx="392113" cy="595313"/>
            </a:xfrm>
            <a:custGeom>
              <a:avLst/>
              <a:gdLst>
                <a:gd name="T0" fmla="*/ 57 w 70"/>
                <a:gd name="T1" fmla="*/ 41 h 105"/>
                <a:gd name="T2" fmla="*/ 68 w 70"/>
                <a:gd name="T3" fmla="*/ 25 h 105"/>
                <a:gd name="T4" fmla="*/ 60 w 70"/>
                <a:gd name="T5" fmla="*/ 19 h 105"/>
                <a:gd name="T6" fmla="*/ 57 w 70"/>
                <a:gd name="T7" fmla="*/ 21 h 105"/>
                <a:gd name="T8" fmla="*/ 52 w 70"/>
                <a:gd name="T9" fmla="*/ 24 h 105"/>
                <a:gd name="T10" fmla="*/ 51 w 70"/>
                <a:gd name="T11" fmla="*/ 8 h 105"/>
                <a:gd name="T12" fmla="*/ 41 w 70"/>
                <a:gd name="T13" fmla="*/ 0 h 105"/>
                <a:gd name="T14" fmla="*/ 39 w 70"/>
                <a:gd name="T15" fmla="*/ 9 h 105"/>
                <a:gd name="T16" fmla="*/ 39 w 70"/>
                <a:gd name="T17" fmla="*/ 28 h 105"/>
                <a:gd name="T18" fmla="*/ 18 w 70"/>
                <a:gd name="T19" fmla="*/ 39 h 105"/>
                <a:gd name="T20" fmla="*/ 14 w 70"/>
                <a:gd name="T21" fmla="*/ 49 h 105"/>
                <a:gd name="T22" fmla="*/ 28 w 70"/>
                <a:gd name="T23" fmla="*/ 54 h 105"/>
                <a:gd name="T24" fmla="*/ 27 w 70"/>
                <a:gd name="T25" fmla="*/ 62 h 105"/>
                <a:gd name="T26" fmla="*/ 21 w 70"/>
                <a:gd name="T27" fmla="*/ 76 h 105"/>
                <a:gd name="T28" fmla="*/ 1 w 70"/>
                <a:gd name="T29" fmla="*/ 96 h 105"/>
                <a:gd name="T30" fmla="*/ 0 w 70"/>
                <a:gd name="T31" fmla="*/ 98 h 105"/>
                <a:gd name="T32" fmla="*/ 8 w 70"/>
                <a:gd name="T33" fmla="*/ 105 h 105"/>
                <a:gd name="T34" fmla="*/ 20 w 70"/>
                <a:gd name="T35" fmla="*/ 102 h 105"/>
                <a:gd name="T36" fmla="*/ 39 w 70"/>
                <a:gd name="T37" fmla="*/ 67 h 105"/>
                <a:gd name="T38" fmla="*/ 39 w 70"/>
                <a:gd name="T39" fmla="*/ 66 h 105"/>
                <a:gd name="T40" fmla="*/ 50 w 70"/>
                <a:gd name="T41" fmla="*/ 44 h 105"/>
                <a:gd name="T42" fmla="*/ 57 w 70"/>
                <a:gd name="T43" fmla="*/ 41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70" h="105">
                  <a:moveTo>
                    <a:pt x="57" y="41"/>
                  </a:moveTo>
                  <a:cubicBezTo>
                    <a:pt x="63" y="38"/>
                    <a:pt x="70" y="36"/>
                    <a:pt x="68" y="25"/>
                  </a:cubicBezTo>
                  <a:cubicBezTo>
                    <a:pt x="65" y="21"/>
                    <a:pt x="64" y="20"/>
                    <a:pt x="60" y="19"/>
                  </a:cubicBezTo>
                  <a:cubicBezTo>
                    <a:pt x="59" y="20"/>
                    <a:pt x="58" y="20"/>
                    <a:pt x="57" y="21"/>
                  </a:cubicBezTo>
                  <a:cubicBezTo>
                    <a:pt x="53" y="23"/>
                    <a:pt x="52" y="24"/>
                    <a:pt x="52" y="24"/>
                  </a:cubicBezTo>
                  <a:cubicBezTo>
                    <a:pt x="51" y="18"/>
                    <a:pt x="51" y="13"/>
                    <a:pt x="51" y="8"/>
                  </a:cubicBezTo>
                  <a:cubicBezTo>
                    <a:pt x="48" y="1"/>
                    <a:pt x="47" y="0"/>
                    <a:pt x="41" y="0"/>
                  </a:cubicBezTo>
                  <a:cubicBezTo>
                    <a:pt x="36" y="1"/>
                    <a:pt x="31" y="6"/>
                    <a:pt x="39" y="9"/>
                  </a:cubicBezTo>
                  <a:cubicBezTo>
                    <a:pt x="42" y="12"/>
                    <a:pt x="41" y="25"/>
                    <a:pt x="39" y="28"/>
                  </a:cubicBezTo>
                  <a:cubicBezTo>
                    <a:pt x="32" y="32"/>
                    <a:pt x="25" y="35"/>
                    <a:pt x="18" y="39"/>
                  </a:cubicBezTo>
                  <a:cubicBezTo>
                    <a:pt x="15" y="42"/>
                    <a:pt x="14" y="45"/>
                    <a:pt x="14" y="49"/>
                  </a:cubicBezTo>
                  <a:cubicBezTo>
                    <a:pt x="16" y="59"/>
                    <a:pt x="21" y="52"/>
                    <a:pt x="28" y="54"/>
                  </a:cubicBezTo>
                  <a:cubicBezTo>
                    <a:pt x="29" y="55"/>
                    <a:pt x="28" y="61"/>
                    <a:pt x="27" y="62"/>
                  </a:cubicBezTo>
                  <a:cubicBezTo>
                    <a:pt x="27" y="65"/>
                    <a:pt x="22" y="75"/>
                    <a:pt x="21" y="76"/>
                  </a:cubicBezTo>
                  <a:cubicBezTo>
                    <a:pt x="19" y="84"/>
                    <a:pt x="7" y="92"/>
                    <a:pt x="1" y="96"/>
                  </a:cubicBezTo>
                  <a:cubicBezTo>
                    <a:pt x="1" y="96"/>
                    <a:pt x="0" y="97"/>
                    <a:pt x="0" y="98"/>
                  </a:cubicBezTo>
                  <a:cubicBezTo>
                    <a:pt x="0" y="103"/>
                    <a:pt x="4" y="105"/>
                    <a:pt x="8" y="105"/>
                  </a:cubicBezTo>
                  <a:cubicBezTo>
                    <a:pt x="13" y="105"/>
                    <a:pt x="16" y="105"/>
                    <a:pt x="20" y="102"/>
                  </a:cubicBezTo>
                  <a:cubicBezTo>
                    <a:pt x="27" y="91"/>
                    <a:pt x="34" y="79"/>
                    <a:pt x="39" y="67"/>
                  </a:cubicBezTo>
                  <a:cubicBezTo>
                    <a:pt x="39" y="67"/>
                    <a:pt x="39" y="66"/>
                    <a:pt x="39" y="66"/>
                  </a:cubicBezTo>
                  <a:cubicBezTo>
                    <a:pt x="41" y="59"/>
                    <a:pt x="46" y="50"/>
                    <a:pt x="50" y="44"/>
                  </a:cubicBezTo>
                  <a:cubicBezTo>
                    <a:pt x="52" y="43"/>
                    <a:pt x="54" y="42"/>
                    <a:pt x="57" y="4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0" name="Freeform 35"/>
            <p:cNvSpPr/>
            <p:nvPr/>
          </p:nvSpPr>
          <p:spPr bwMode="auto">
            <a:xfrm>
              <a:off x="7951788" y="4906963"/>
              <a:ext cx="90488" cy="239713"/>
            </a:xfrm>
            <a:custGeom>
              <a:avLst/>
              <a:gdLst>
                <a:gd name="T0" fmla="*/ 5 w 16"/>
                <a:gd name="T1" fmla="*/ 42 h 42"/>
                <a:gd name="T2" fmla="*/ 9 w 16"/>
                <a:gd name="T3" fmla="*/ 41 h 42"/>
                <a:gd name="T4" fmla="*/ 11 w 16"/>
                <a:gd name="T5" fmla="*/ 37 h 42"/>
                <a:gd name="T6" fmla="*/ 16 w 16"/>
                <a:gd name="T7" fmla="*/ 10 h 42"/>
                <a:gd name="T8" fmla="*/ 14 w 16"/>
                <a:gd name="T9" fmla="*/ 1 h 42"/>
                <a:gd name="T10" fmla="*/ 9 w 16"/>
                <a:gd name="T11" fmla="*/ 2 h 42"/>
                <a:gd name="T12" fmla="*/ 7 w 16"/>
                <a:gd name="T13" fmla="*/ 5 h 42"/>
                <a:gd name="T14" fmla="*/ 2 w 16"/>
                <a:gd name="T15" fmla="*/ 29 h 42"/>
                <a:gd name="T16" fmla="*/ 5 w 16"/>
                <a:gd name="T17" fmla="*/ 42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6" h="42">
                  <a:moveTo>
                    <a:pt x="5" y="42"/>
                  </a:moveTo>
                  <a:cubicBezTo>
                    <a:pt x="7" y="42"/>
                    <a:pt x="8" y="42"/>
                    <a:pt x="9" y="41"/>
                  </a:cubicBezTo>
                  <a:cubicBezTo>
                    <a:pt x="10" y="40"/>
                    <a:pt x="11" y="39"/>
                    <a:pt x="11" y="37"/>
                  </a:cubicBezTo>
                  <a:cubicBezTo>
                    <a:pt x="13" y="28"/>
                    <a:pt x="15" y="20"/>
                    <a:pt x="16" y="10"/>
                  </a:cubicBezTo>
                  <a:cubicBezTo>
                    <a:pt x="16" y="7"/>
                    <a:pt x="15" y="4"/>
                    <a:pt x="14" y="1"/>
                  </a:cubicBezTo>
                  <a:cubicBezTo>
                    <a:pt x="11" y="0"/>
                    <a:pt x="9" y="1"/>
                    <a:pt x="9" y="2"/>
                  </a:cubicBezTo>
                  <a:cubicBezTo>
                    <a:pt x="8" y="3"/>
                    <a:pt x="7" y="4"/>
                    <a:pt x="7" y="5"/>
                  </a:cubicBezTo>
                  <a:cubicBezTo>
                    <a:pt x="5" y="13"/>
                    <a:pt x="3" y="21"/>
                    <a:pt x="2" y="29"/>
                  </a:cubicBezTo>
                  <a:cubicBezTo>
                    <a:pt x="2" y="34"/>
                    <a:pt x="0" y="39"/>
                    <a:pt x="5" y="4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1" name="Freeform 36"/>
            <p:cNvSpPr/>
            <p:nvPr/>
          </p:nvSpPr>
          <p:spPr bwMode="auto">
            <a:xfrm>
              <a:off x="7907338" y="4845050"/>
              <a:ext cx="392113" cy="425450"/>
            </a:xfrm>
            <a:custGeom>
              <a:avLst/>
              <a:gdLst>
                <a:gd name="T0" fmla="*/ 31 w 70"/>
                <a:gd name="T1" fmla="*/ 43 h 75"/>
                <a:gd name="T2" fmla="*/ 31 w 70"/>
                <a:gd name="T3" fmla="*/ 49 h 75"/>
                <a:gd name="T4" fmla="*/ 29 w 70"/>
                <a:gd name="T5" fmla="*/ 52 h 75"/>
                <a:gd name="T6" fmla="*/ 27 w 70"/>
                <a:gd name="T7" fmla="*/ 55 h 75"/>
                <a:gd name="T8" fmla="*/ 20 w 70"/>
                <a:gd name="T9" fmla="*/ 59 h 75"/>
                <a:gd name="T10" fmla="*/ 16 w 70"/>
                <a:gd name="T11" fmla="*/ 62 h 75"/>
                <a:gd name="T12" fmla="*/ 4 w 70"/>
                <a:gd name="T13" fmla="*/ 69 h 75"/>
                <a:gd name="T14" fmla="*/ 4 w 70"/>
                <a:gd name="T15" fmla="*/ 69 h 75"/>
                <a:gd name="T16" fmla="*/ 0 w 70"/>
                <a:gd name="T17" fmla="*/ 71 h 75"/>
                <a:gd name="T18" fmla="*/ 4 w 70"/>
                <a:gd name="T19" fmla="*/ 73 h 75"/>
                <a:gd name="T20" fmla="*/ 9 w 70"/>
                <a:gd name="T21" fmla="*/ 72 h 75"/>
                <a:gd name="T22" fmla="*/ 17 w 70"/>
                <a:gd name="T23" fmla="*/ 69 h 75"/>
                <a:gd name="T24" fmla="*/ 33 w 70"/>
                <a:gd name="T25" fmla="*/ 64 h 75"/>
                <a:gd name="T26" fmla="*/ 48 w 70"/>
                <a:gd name="T27" fmla="*/ 61 h 75"/>
                <a:gd name="T28" fmla="*/ 53 w 70"/>
                <a:gd name="T29" fmla="*/ 62 h 75"/>
                <a:gd name="T30" fmla="*/ 46 w 70"/>
                <a:gd name="T31" fmla="*/ 73 h 75"/>
                <a:gd name="T32" fmla="*/ 49 w 70"/>
                <a:gd name="T33" fmla="*/ 75 h 75"/>
                <a:gd name="T34" fmla="*/ 70 w 70"/>
                <a:gd name="T35" fmla="*/ 62 h 75"/>
                <a:gd name="T36" fmla="*/ 57 w 70"/>
                <a:gd name="T37" fmla="*/ 50 h 75"/>
                <a:gd name="T38" fmla="*/ 46 w 70"/>
                <a:gd name="T39" fmla="*/ 51 h 75"/>
                <a:gd name="T40" fmla="*/ 36 w 70"/>
                <a:gd name="T41" fmla="*/ 53 h 75"/>
                <a:gd name="T42" fmla="*/ 43 w 70"/>
                <a:gd name="T43" fmla="*/ 47 h 75"/>
                <a:gd name="T44" fmla="*/ 39 w 70"/>
                <a:gd name="T45" fmla="*/ 40 h 75"/>
                <a:gd name="T46" fmla="*/ 49 w 70"/>
                <a:gd name="T47" fmla="*/ 30 h 75"/>
                <a:gd name="T48" fmla="*/ 45 w 70"/>
                <a:gd name="T49" fmla="*/ 26 h 75"/>
                <a:gd name="T50" fmla="*/ 41 w 70"/>
                <a:gd name="T51" fmla="*/ 24 h 75"/>
                <a:gd name="T52" fmla="*/ 47 w 70"/>
                <a:gd name="T53" fmla="*/ 19 h 75"/>
                <a:gd name="T54" fmla="*/ 47 w 70"/>
                <a:gd name="T55" fmla="*/ 3 h 75"/>
                <a:gd name="T56" fmla="*/ 36 w 70"/>
                <a:gd name="T57" fmla="*/ 4 h 75"/>
                <a:gd name="T58" fmla="*/ 36 w 70"/>
                <a:gd name="T59" fmla="*/ 4 h 75"/>
                <a:gd name="T60" fmla="*/ 36 w 70"/>
                <a:gd name="T61" fmla="*/ 16 h 75"/>
                <a:gd name="T62" fmla="*/ 33 w 70"/>
                <a:gd name="T63" fmla="*/ 17 h 75"/>
                <a:gd name="T64" fmla="*/ 31 w 70"/>
                <a:gd name="T65" fmla="*/ 19 h 75"/>
                <a:gd name="T66" fmla="*/ 30 w 70"/>
                <a:gd name="T67" fmla="*/ 27 h 75"/>
                <a:gd name="T68" fmla="*/ 29 w 70"/>
                <a:gd name="T69" fmla="*/ 29 h 75"/>
                <a:gd name="T70" fmla="*/ 25 w 70"/>
                <a:gd name="T71" fmla="*/ 40 h 75"/>
                <a:gd name="T72" fmla="*/ 31 w 70"/>
                <a:gd name="T73" fmla="*/ 43 h 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70" h="75">
                  <a:moveTo>
                    <a:pt x="31" y="43"/>
                  </a:moveTo>
                  <a:cubicBezTo>
                    <a:pt x="32" y="44"/>
                    <a:pt x="31" y="48"/>
                    <a:pt x="31" y="49"/>
                  </a:cubicBezTo>
                  <a:cubicBezTo>
                    <a:pt x="31" y="50"/>
                    <a:pt x="30" y="51"/>
                    <a:pt x="29" y="52"/>
                  </a:cubicBezTo>
                  <a:cubicBezTo>
                    <a:pt x="29" y="52"/>
                    <a:pt x="27" y="54"/>
                    <a:pt x="27" y="55"/>
                  </a:cubicBezTo>
                  <a:cubicBezTo>
                    <a:pt x="24" y="58"/>
                    <a:pt x="23" y="57"/>
                    <a:pt x="20" y="59"/>
                  </a:cubicBezTo>
                  <a:cubicBezTo>
                    <a:pt x="19" y="60"/>
                    <a:pt x="17" y="61"/>
                    <a:pt x="16" y="62"/>
                  </a:cubicBezTo>
                  <a:cubicBezTo>
                    <a:pt x="13" y="65"/>
                    <a:pt x="9" y="66"/>
                    <a:pt x="4" y="69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9"/>
                    <a:pt x="2" y="71"/>
                    <a:pt x="0" y="71"/>
                  </a:cubicBezTo>
                  <a:cubicBezTo>
                    <a:pt x="0" y="73"/>
                    <a:pt x="2" y="74"/>
                    <a:pt x="4" y="73"/>
                  </a:cubicBezTo>
                  <a:cubicBezTo>
                    <a:pt x="6" y="73"/>
                    <a:pt x="8" y="72"/>
                    <a:pt x="9" y="72"/>
                  </a:cubicBezTo>
                  <a:cubicBezTo>
                    <a:pt x="12" y="71"/>
                    <a:pt x="14" y="70"/>
                    <a:pt x="17" y="69"/>
                  </a:cubicBezTo>
                  <a:cubicBezTo>
                    <a:pt x="22" y="67"/>
                    <a:pt x="27" y="65"/>
                    <a:pt x="33" y="64"/>
                  </a:cubicBezTo>
                  <a:cubicBezTo>
                    <a:pt x="36" y="64"/>
                    <a:pt x="43" y="62"/>
                    <a:pt x="48" y="61"/>
                  </a:cubicBezTo>
                  <a:cubicBezTo>
                    <a:pt x="50" y="61"/>
                    <a:pt x="51" y="62"/>
                    <a:pt x="53" y="62"/>
                  </a:cubicBezTo>
                  <a:cubicBezTo>
                    <a:pt x="55" y="67"/>
                    <a:pt x="48" y="71"/>
                    <a:pt x="46" y="73"/>
                  </a:cubicBezTo>
                  <a:cubicBezTo>
                    <a:pt x="46" y="74"/>
                    <a:pt x="48" y="74"/>
                    <a:pt x="49" y="75"/>
                  </a:cubicBezTo>
                  <a:cubicBezTo>
                    <a:pt x="57" y="74"/>
                    <a:pt x="68" y="73"/>
                    <a:pt x="70" y="62"/>
                  </a:cubicBezTo>
                  <a:cubicBezTo>
                    <a:pt x="70" y="52"/>
                    <a:pt x="63" y="51"/>
                    <a:pt x="57" y="50"/>
                  </a:cubicBezTo>
                  <a:cubicBezTo>
                    <a:pt x="55" y="50"/>
                    <a:pt x="51" y="50"/>
                    <a:pt x="46" y="51"/>
                  </a:cubicBezTo>
                  <a:cubicBezTo>
                    <a:pt x="43" y="51"/>
                    <a:pt x="37" y="53"/>
                    <a:pt x="36" y="53"/>
                  </a:cubicBezTo>
                  <a:cubicBezTo>
                    <a:pt x="38" y="51"/>
                    <a:pt x="41" y="49"/>
                    <a:pt x="43" y="47"/>
                  </a:cubicBezTo>
                  <a:cubicBezTo>
                    <a:pt x="43" y="43"/>
                    <a:pt x="41" y="43"/>
                    <a:pt x="39" y="40"/>
                  </a:cubicBezTo>
                  <a:cubicBezTo>
                    <a:pt x="37" y="32"/>
                    <a:pt x="46" y="35"/>
                    <a:pt x="49" y="30"/>
                  </a:cubicBezTo>
                  <a:cubicBezTo>
                    <a:pt x="49" y="28"/>
                    <a:pt x="47" y="27"/>
                    <a:pt x="45" y="26"/>
                  </a:cubicBezTo>
                  <a:cubicBezTo>
                    <a:pt x="43" y="25"/>
                    <a:pt x="42" y="24"/>
                    <a:pt x="41" y="24"/>
                  </a:cubicBezTo>
                  <a:cubicBezTo>
                    <a:pt x="41" y="20"/>
                    <a:pt x="44" y="20"/>
                    <a:pt x="47" y="19"/>
                  </a:cubicBezTo>
                  <a:cubicBezTo>
                    <a:pt x="52" y="16"/>
                    <a:pt x="49" y="7"/>
                    <a:pt x="47" y="3"/>
                  </a:cubicBezTo>
                  <a:cubicBezTo>
                    <a:pt x="44" y="1"/>
                    <a:pt x="37" y="0"/>
                    <a:pt x="36" y="4"/>
                  </a:cubicBezTo>
                  <a:cubicBezTo>
                    <a:pt x="36" y="4"/>
                    <a:pt x="36" y="4"/>
                    <a:pt x="36" y="4"/>
                  </a:cubicBezTo>
                  <a:cubicBezTo>
                    <a:pt x="37" y="8"/>
                    <a:pt x="38" y="11"/>
                    <a:pt x="36" y="16"/>
                  </a:cubicBezTo>
                  <a:cubicBezTo>
                    <a:pt x="35" y="16"/>
                    <a:pt x="34" y="16"/>
                    <a:pt x="33" y="17"/>
                  </a:cubicBezTo>
                  <a:cubicBezTo>
                    <a:pt x="32" y="17"/>
                    <a:pt x="31" y="18"/>
                    <a:pt x="31" y="19"/>
                  </a:cubicBezTo>
                  <a:cubicBezTo>
                    <a:pt x="30" y="22"/>
                    <a:pt x="31" y="26"/>
                    <a:pt x="30" y="27"/>
                  </a:cubicBezTo>
                  <a:cubicBezTo>
                    <a:pt x="30" y="28"/>
                    <a:pt x="29" y="29"/>
                    <a:pt x="29" y="29"/>
                  </a:cubicBezTo>
                  <a:cubicBezTo>
                    <a:pt x="27" y="32"/>
                    <a:pt x="24" y="36"/>
                    <a:pt x="25" y="40"/>
                  </a:cubicBezTo>
                  <a:cubicBezTo>
                    <a:pt x="26" y="43"/>
                    <a:pt x="29" y="40"/>
                    <a:pt x="31" y="4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2" name="Freeform 37"/>
            <p:cNvSpPr/>
            <p:nvPr/>
          </p:nvSpPr>
          <p:spPr bwMode="auto">
            <a:xfrm>
              <a:off x="7856538" y="4941888"/>
              <a:ext cx="95250" cy="209550"/>
            </a:xfrm>
            <a:custGeom>
              <a:avLst/>
              <a:gdLst>
                <a:gd name="T0" fmla="*/ 10 w 17"/>
                <a:gd name="T1" fmla="*/ 37 h 37"/>
                <a:gd name="T2" fmla="*/ 13 w 17"/>
                <a:gd name="T3" fmla="*/ 37 h 37"/>
                <a:gd name="T4" fmla="*/ 16 w 17"/>
                <a:gd name="T5" fmla="*/ 35 h 37"/>
                <a:gd name="T6" fmla="*/ 13 w 17"/>
                <a:gd name="T7" fmla="*/ 28 h 37"/>
                <a:gd name="T8" fmla="*/ 13 w 17"/>
                <a:gd name="T9" fmla="*/ 28 h 37"/>
                <a:gd name="T10" fmla="*/ 13 w 17"/>
                <a:gd name="T11" fmla="*/ 18 h 37"/>
                <a:gd name="T12" fmla="*/ 17 w 17"/>
                <a:gd name="T13" fmla="*/ 8 h 37"/>
                <a:gd name="T14" fmla="*/ 14 w 17"/>
                <a:gd name="T15" fmla="*/ 0 h 37"/>
                <a:gd name="T16" fmla="*/ 13 w 17"/>
                <a:gd name="T17" fmla="*/ 0 h 37"/>
                <a:gd name="T18" fmla="*/ 5 w 17"/>
                <a:gd name="T19" fmla="*/ 7 h 37"/>
                <a:gd name="T20" fmla="*/ 2 w 17"/>
                <a:gd name="T21" fmla="*/ 15 h 37"/>
                <a:gd name="T22" fmla="*/ 2 w 17"/>
                <a:gd name="T23" fmla="*/ 31 h 37"/>
                <a:gd name="T24" fmla="*/ 10 w 17"/>
                <a:gd name="T25" fmla="*/ 37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7" h="37">
                  <a:moveTo>
                    <a:pt x="10" y="37"/>
                  </a:moveTo>
                  <a:cubicBezTo>
                    <a:pt x="11" y="37"/>
                    <a:pt x="12" y="37"/>
                    <a:pt x="13" y="37"/>
                  </a:cubicBezTo>
                  <a:cubicBezTo>
                    <a:pt x="14" y="37"/>
                    <a:pt x="15" y="36"/>
                    <a:pt x="16" y="35"/>
                  </a:cubicBezTo>
                  <a:cubicBezTo>
                    <a:pt x="16" y="32"/>
                    <a:pt x="14" y="30"/>
                    <a:pt x="13" y="28"/>
                  </a:cubicBezTo>
                  <a:cubicBezTo>
                    <a:pt x="13" y="28"/>
                    <a:pt x="13" y="28"/>
                    <a:pt x="13" y="28"/>
                  </a:cubicBezTo>
                  <a:cubicBezTo>
                    <a:pt x="12" y="24"/>
                    <a:pt x="13" y="21"/>
                    <a:pt x="13" y="18"/>
                  </a:cubicBezTo>
                  <a:cubicBezTo>
                    <a:pt x="14" y="15"/>
                    <a:pt x="16" y="12"/>
                    <a:pt x="17" y="8"/>
                  </a:cubicBezTo>
                  <a:cubicBezTo>
                    <a:pt x="17" y="3"/>
                    <a:pt x="17" y="1"/>
                    <a:pt x="14" y="0"/>
                  </a:cubicBezTo>
                  <a:cubicBezTo>
                    <a:pt x="14" y="0"/>
                    <a:pt x="14" y="0"/>
                    <a:pt x="13" y="0"/>
                  </a:cubicBezTo>
                  <a:cubicBezTo>
                    <a:pt x="8" y="0"/>
                    <a:pt x="7" y="2"/>
                    <a:pt x="5" y="7"/>
                  </a:cubicBezTo>
                  <a:cubicBezTo>
                    <a:pt x="4" y="9"/>
                    <a:pt x="3" y="12"/>
                    <a:pt x="2" y="15"/>
                  </a:cubicBezTo>
                  <a:cubicBezTo>
                    <a:pt x="1" y="20"/>
                    <a:pt x="0" y="26"/>
                    <a:pt x="2" y="31"/>
                  </a:cubicBezTo>
                  <a:cubicBezTo>
                    <a:pt x="4" y="34"/>
                    <a:pt x="6" y="36"/>
                    <a:pt x="10" y="3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3" name="Freeform 38"/>
            <p:cNvSpPr/>
            <p:nvPr/>
          </p:nvSpPr>
          <p:spPr bwMode="auto">
            <a:xfrm>
              <a:off x="7862888" y="5270500"/>
              <a:ext cx="454025" cy="442913"/>
            </a:xfrm>
            <a:custGeom>
              <a:avLst/>
              <a:gdLst>
                <a:gd name="T0" fmla="*/ 50 w 81"/>
                <a:gd name="T1" fmla="*/ 29 h 78"/>
                <a:gd name="T2" fmla="*/ 41 w 81"/>
                <a:gd name="T3" fmla="*/ 28 h 78"/>
                <a:gd name="T4" fmla="*/ 39 w 81"/>
                <a:gd name="T5" fmla="*/ 26 h 78"/>
                <a:gd name="T6" fmla="*/ 41 w 81"/>
                <a:gd name="T7" fmla="*/ 22 h 78"/>
                <a:gd name="T8" fmla="*/ 46 w 81"/>
                <a:gd name="T9" fmla="*/ 15 h 78"/>
                <a:gd name="T10" fmla="*/ 41 w 81"/>
                <a:gd name="T11" fmla="*/ 2 h 78"/>
                <a:gd name="T12" fmla="*/ 40 w 81"/>
                <a:gd name="T13" fmla="*/ 1 h 78"/>
                <a:gd name="T14" fmla="*/ 33 w 81"/>
                <a:gd name="T15" fmla="*/ 0 h 78"/>
                <a:gd name="T16" fmla="*/ 26 w 81"/>
                <a:gd name="T17" fmla="*/ 2 h 78"/>
                <a:gd name="T18" fmla="*/ 25 w 81"/>
                <a:gd name="T19" fmla="*/ 6 h 78"/>
                <a:gd name="T20" fmla="*/ 32 w 81"/>
                <a:gd name="T21" fmla="*/ 9 h 78"/>
                <a:gd name="T22" fmla="*/ 35 w 81"/>
                <a:gd name="T23" fmla="*/ 15 h 78"/>
                <a:gd name="T24" fmla="*/ 32 w 81"/>
                <a:gd name="T25" fmla="*/ 30 h 78"/>
                <a:gd name="T26" fmla="*/ 25 w 81"/>
                <a:gd name="T27" fmla="*/ 32 h 78"/>
                <a:gd name="T28" fmla="*/ 15 w 81"/>
                <a:gd name="T29" fmla="*/ 37 h 78"/>
                <a:gd name="T30" fmla="*/ 12 w 81"/>
                <a:gd name="T31" fmla="*/ 38 h 78"/>
                <a:gd name="T32" fmla="*/ 1 w 81"/>
                <a:gd name="T33" fmla="*/ 39 h 78"/>
                <a:gd name="T34" fmla="*/ 0 w 81"/>
                <a:gd name="T35" fmla="*/ 39 h 78"/>
                <a:gd name="T36" fmla="*/ 1 w 81"/>
                <a:gd name="T37" fmla="*/ 43 h 78"/>
                <a:gd name="T38" fmla="*/ 8 w 81"/>
                <a:gd name="T39" fmla="*/ 47 h 78"/>
                <a:gd name="T40" fmla="*/ 14 w 81"/>
                <a:gd name="T41" fmla="*/ 46 h 78"/>
                <a:gd name="T42" fmla="*/ 25 w 81"/>
                <a:gd name="T43" fmla="*/ 43 h 78"/>
                <a:gd name="T44" fmla="*/ 36 w 81"/>
                <a:gd name="T45" fmla="*/ 44 h 78"/>
                <a:gd name="T46" fmla="*/ 32 w 81"/>
                <a:gd name="T47" fmla="*/ 60 h 78"/>
                <a:gd name="T48" fmla="*/ 25 w 81"/>
                <a:gd name="T49" fmla="*/ 58 h 78"/>
                <a:gd name="T50" fmla="*/ 25 w 81"/>
                <a:gd name="T51" fmla="*/ 58 h 78"/>
                <a:gd name="T52" fmla="*/ 19 w 81"/>
                <a:gd name="T53" fmla="*/ 53 h 78"/>
                <a:gd name="T54" fmla="*/ 20 w 81"/>
                <a:gd name="T55" fmla="*/ 67 h 78"/>
                <a:gd name="T56" fmla="*/ 25 w 81"/>
                <a:gd name="T57" fmla="*/ 76 h 78"/>
                <a:gd name="T58" fmla="*/ 28 w 81"/>
                <a:gd name="T59" fmla="*/ 78 h 78"/>
                <a:gd name="T60" fmla="*/ 41 w 81"/>
                <a:gd name="T61" fmla="*/ 69 h 78"/>
                <a:gd name="T62" fmla="*/ 41 w 81"/>
                <a:gd name="T63" fmla="*/ 69 h 78"/>
                <a:gd name="T64" fmla="*/ 41 w 81"/>
                <a:gd name="T65" fmla="*/ 68 h 78"/>
                <a:gd name="T66" fmla="*/ 48 w 81"/>
                <a:gd name="T67" fmla="*/ 42 h 78"/>
                <a:gd name="T68" fmla="*/ 63 w 81"/>
                <a:gd name="T69" fmla="*/ 41 h 78"/>
                <a:gd name="T70" fmla="*/ 70 w 81"/>
                <a:gd name="T71" fmla="*/ 44 h 78"/>
                <a:gd name="T72" fmla="*/ 76 w 81"/>
                <a:gd name="T73" fmla="*/ 27 h 78"/>
                <a:gd name="T74" fmla="*/ 50 w 81"/>
                <a:gd name="T75" fmla="*/ 29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1" h="78">
                  <a:moveTo>
                    <a:pt x="50" y="29"/>
                  </a:moveTo>
                  <a:cubicBezTo>
                    <a:pt x="46" y="29"/>
                    <a:pt x="43" y="30"/>
                    <a:pt x="41" y="28"/>
                  </a:cubicBezTo>
                  <a:cubicBezTo>
                    <a:pt x="40" y="27"/>
                    <a:pt x="40" y="27"/>
                    <a:pt x="39" y="26"/>
                  </a:cubicBezTo>
                  <a:cubicBezTo>
                    <a:pt x="39" y="25"/>
                    <a:pt x="40" y="23"/>
                    <a:pt x="41" y="22"/>
                  </a:cubicBezTo>
                  <a:cubicBezTo>
                    <a:pt x="42" y="20"/>
                    <a:pt x="45" y="17"/>
                    <a:pt x="46" y="15"/>
                  </a:cubicBezTo>
                  <a:cubicBezTo>
                    <a:pt x="48" y="7"/>
                    <a:pt x="46" y="6"/>
                    <a:pt x="41" y="2"/>
                  </a:cubicBezTo>
                  <a:cubicBezTo>
                    <a:pt x="40" y="1"/>
                    <a:pt x="40" y="1"/>
                    <a:pt x="40" y="1"/>
                  </a:cubicBezTo>
                  <a:cubicBezTo>
                    <a:pt x="38" y="0"/>
                    <a:pt x="35" y="0"/>
                    <a:pt x="33" y="0"/>
                  </a:cubicBezTo>
                  <a:cubicBezTo>
                    <a:pt x="33" y="0"/>
                    <a:pt x="27" y="0"/>
                    <a:pt x="26" y="2"/>
                  </a:cubicBezTo>
                  <a:cubicBezTo>
                    <a:pt x="26" y="3"/>
                    <a:pt x="26" y="5"/>
                    <a:pt x="25" y="6"/>
                  </a:cubicBezTo>
                  <a:cubicBezTo>
                    <a:pt x="25" y="7"/>
                    <a:pt x="30" y="6"/>
                    <a:pt x="32" y="9"/>
                  </a:cubicBezTo>
                  <a:cubicBezTo>
                    <a:pt x="34" y="11"/>
                    <a:pt x="35" y="12"/>
                    <a:pt x="35" y="15"/>
                  </a:cubicBezTo>
                  <a:cubicBezTo>
                    <a:pt x="31" y="21"/>
                    <a:pt x="29" y="23"/>
                    <a:pt x="32" y="30"/>
                  </a:cubicBezTo>
                  <a:cubicBezTo>
                    <a:pt x="30" y="31"/>
                    <a:pt x="27" y="31"/>
                    <a:pt x="25" y="32"/>
                  </a:cubicBezTo>
                  <a:cubicBezTo>
                    <a:pt x="18" y="35"/>
                    <a:pt x="16" y="36"/>
                    <a:pt x="15" y="37"/>
                  </a:cubicBezTo>
                  <a:cubicBezTo>
                    <a:pt x="14" y="37"/>
                    <a:pt x="12" y="37"/>
                    <a:pt x="12" y="38"/>
                  </a:cubicBezTo>
                  <a:cubicBezTo>
                    <a:pt x="11" y="38"/>
                    <a:pt x="10" y="38"/>
                    <a:pt x="1" y="39"/>
                  </a:cubicBezTo>
                  <a:cubicBezTo>
                    <a:pt x="1" y="39"/>
                    <a:pt x="0" y="39"/>
                    <a:pt x="0" y="39"/>
                  </a:cubicBezTo>
                  <a:cubicBezTo>
                    <a:pt x="0" y="40"/>
                    <a:pt x="0" y="41"/>
                    <a:pt x="1" y="43"/>
                  </a:cubicBezTo>
                  <a:cubicBezTo>
                    <a:pt x="3" y="46"/>
                    <a:pt x="4" y="46"/>
                    <a:pt x="8" y="47"/>
                  </a:cubicBezTo>
                  <a:cubicBezTo>
                    <a:pt x="8" y="47"/>
                    <a:pt x="13" y="47"/>
                    <a:pt x="14" y="46"/>
                  </a:cubicBezTo>
                  <a:cubicBezTo>
                    <a:pt x="18" y="46"/>
                    <a:pt x="21" y="44"/>
                    <a:pt x="25" y="43"/>
                  </a:cubicBezTo>
                  <a:cubicBezTo>
                    <a:pt x="29" y="43"/>
                    <a:pt x="34" y="43"/>
                    <a:pt x="36" y="44"/>
                  </a:cubicBezTo>
                  <a:cubicBezTo>
                    <a:pt x="37" y="48"/>
                    <a:pt x="34" y="56"/>
                    <a:pt x="32" y="60"/>
                  </a:cubicBezTo>
                  <a:cubicBezTo>
                    <a:pt x="29" y="63"/>
                    <a:pt x="27" y="62"/>
                    <a:pt x="25" y="58"/>
                  </a:cubicBezTo>
                  <a:cubicBezTo>
                    <a:pt x="25" y="58"/>
                    <a:pt x="25" y="58"/>
                    <a:pt x="25" y="58"/>
                  </a:cubicBezTo>
                  <a:cubicBezTo>
                    <a:pt x="23" y="53"/>
                    <a:pt x="23" y="52"/>
                    <a:pt x="19" y="53"/>
                  </a:cubicBezTo>
                  <a:cubicBezTo>
                    <a:pt x="18" y="57"/>
                    <a:pt x="19" y="62"/>
                    <a:pt x="20" y="67"/>
                  </a:cubicBezTo>
                  <a:cubicBezTo>
                    <a:pt x="21" y="72"/>
                    <a:pt x="21" y="74"/>
                    <a:pt x="25" y="76"/>
                  </a:cubicBezTo>
                  <a:cubicBezTo>
                    <a:pt x="25" y="77"/>
                    <a:pt x="26" y="77"/>
                    <a:pt x="28" y="78"/>
                  </a:cubicBezTo>
                  <a:cubicBezTo>
                    <a:pt x="34" y="77"/>
                    <a:pt x="37" y="75"/>
                    <a:pt x="41" y="69"/>
                  </a:cubicBezTo>
                  <a:cubicBezTo>
                    <a:pt x="41" y="69"/>
                    <a:pt x="41" y="69"/>
                    <a:pt x="41" y="69"/>
                  </a:cubicBezTo>
                  <a:cubicBezTo>
                    <a:pt x="41" y="68"/>
                    <a:pt x="41" y="69"/>
                    <a:pt x="41" y="68"/>
                  </a:cubicBezTo>
                  <a:cubicBezTo>
                    <a:pt x="46" y="60"/>
                    <a:pt x="49" y="52"/>
                    <a:pt x="48" y="42"/>
                  </a:cubicBezTo>
                  <a:cubicBezTo>
                    <a:pt x="50" y="40"/>
                    <a:pt x="60" y="40"/>
                    <a:pt x="63" y="41"/>
                  </a:cubicBezTo>
                  <a:cubicBezTo>
                    <a:pt x="65" y="42"/>
                    <a:pt x="68" y="42"/>
                    <a:pt x="70" y="44"/>
                  </a:cubicBezTo>
                  <a:cubicBezTo>
                    <a:pt x="76" y="44"/>
                    <a:pt x="81" y="34"/>
                    <a:pt x="76" y="27"/>
                  </a:cubicBezTo>
                  <a:cubicBezTo>
                    <a:pt x="67" y="25"/>
                    <a:pt x="59" y="27"/>
                    <a:pt x="50" y="2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4" name="Freeform 39"/>
            <p:cNvSpPr/>
            <p:nvPr/>
          </p:nvSpPr>
          <p:spPr bwMode="auto">
            <a:xfrm>
              <a:off x="7767638" y="5180013"/>
              <a:ext cx="117475" cy="209550"/>
            </a:xfrm>
            <a:custGeom>
              <a:avLst/>
              <a:gdLst>
                <a:gd name="T0" fmla="*/ 18 w 21"/>
                <a:gd name="T1" fmla="*/ 21 h 37"/>
                <a:gd name="T2" fmla="*/ 19 w 21"/>
                <a:gd name="T3" fmla="*/ 2 h 37"/>
                <a:gd name="T4" fmla="*/ 18 w 21"/>
                <a:gd name="T5" fmla="*/ 2 h 37"/>
                <a:gd name="T6" fmla="*/ 4 w 21"/>
                <a:gd name="T7" fmla="*/ 18 h 37"/>
                <a:gd name="T8" fmla="*/ 11 w 21"/>
                <a:gd name="T9" fmla="*/ 37 h 37"/>
                <a:gd name="T10" fmla="*/ 18 w 21"/>
                <a:gd name="T11" fmla="*/ 24 h 37"/>
                <a:gd name="T12" fmla="*/ 18 w 21"/>
                <a:gd name="T13" fmla="*/ 21 h 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1" h="37">
                  <a:moveTo>
                    <a:pt x="18" y="21"/>
                  </a:moveTo>
                  <a:cubicBezTo>
                    <a:pt x="19" y="15"/>
                    <a:pt x="21" y="6"/>
                    <a:pt x="19" y="2"/>
                  </a:cubicBezTo>
                  <a:cubicBezTo>
                    <a:pt x="18" y="2"/>
                    <a:pt x="18" y="2"/>
                    <a:pt x="18" y="2"/>
                  </a:cubicBezTo>
                  <a:cubicBezTo>
                    <a:pt x="12" y="0"/>
                    <a:pt x="6" y="14"/>
                    <a:pt x="4" y="18"/>
                  </a:cubicBezTo>
                  <a:cubicBezTo>
                    <a:pt x="2" y="29"/>
                    <a:pt x="0" y="33"/>
                    <a:pt x="11" y="37"/>
                  </a:cubicBezTo>
                  <a:cubicBezTo>
                    <a:pt x="16" y="35"/>
                    <a:pt x="17" y="29"/>
                    <a:pt x="18" y="24"/>
                  </a:cubicBezTo>
                  <a:cubicBezTo>
                    <a:pt x="18" y="23"/>
                    <a:pt x="18" y="22"/>
                    <a:pt x="18" y="2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5" name="Freeform 40"/>
            <p:cNvSpPr/>
            <p:nvPr/>
          </p:nvSpPr>
          <p:spPr bwMode="auto">
            <a:xfrm>
              <a:off x="5664200" y="5089525"/>
              <a:ext cx="90488" cy="141288"/>
            </a:xfrm>
            <a:custGeom>
              <a:avLst/>
              <a:gdLst>
                <a:gd name="T0" fmla="*/ 2 w 16"/>
                <a:gd name="T1" fmla="*/ 14 h 25"/>
                <a:gd name="T2" fmla="*/ 2 w 16"/>
                <a:gd name="T3" fmla="*/ 14 h 25"/>
                <a:gd name="T4" fmla="*/ 2 w 16"/>
                <a:gd name="T5" fmla="*/ 14 h 25"/>
                <a:gd name="T6" fmla="*/ 1 w 16"/>
                <a:gd name="T7" fmla="*/ 15 h 25"/>
                <a:gd name="T8" fmla="*/ 1 w 16"/>
                <a:gd name="T9" fmla="*/ 21 h 25"/>
                <a:gd name="T10" fmla="*/ 1 w 16"/>
                <a:gd name="T11" fmla="*/ 21 h 25"/>
                <a:gd name="T12" fmla="*/ 1 w 16"/>
                <a:gd name="T13" fmla="*/ 21 h 25"/>
                <a:gd name="T14" fmla="*/ 2 w 16"/>
                <a:gd name="T15" fmla="*/ 22 h 25"/>
                <a:gd name="T16" fmla="*/ 3 w 16"/>
                <a:gd name="T17" fmla="*/ 23 h 25"/>
                <a:gd name="T18" fmla="*/ 3 w 16"/>
                <a:gd name="T19" fmla="*/ 23 h 25"/>
                <a:gd name="T20" fmla="*/ 3 w 16"/>
                <a:gd name="T21" fmla="*/ 23 h 25"/>
                <a:gd name="T22" fmla="*/ 3 w 16"/>
                <a:gd name="T23" fmla="*/ 23 h 25"/>
                <a:gd name="T24" fmla="*/ 3 w 16"/>
                <a:gd name="T25" fmla="*/ 23 h 25"/>
                <a:gd name="T26" fmla="*/ 7 w 16"/>
                <a:gd name="T27" fmla="*/ 25 h 25"/>
                <a:gd name="T28" fmla="*/ 16 w 16"/>
                <a:gd name="T29" fmla="*/ 10 h 25"/>
                <a:gd name="T30" fmla="*/ 2 w 16"/>
                <a:gd name="T31" fmla="*/ 14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6" h="25">
                  <a:moveTo>
                    <a:pt x="2" y="14"/>
                  </a:move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4"/>
                    <a:pt x="1" y="15"/>
                    <a:pt x="1" y="15"/>
                  </a:cubicBezTo>
                  <a:cubicBezTo>
                    <a:pt x="0" y="18"/>
                    <a:pt x="0" y="20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1"/>
                    <a:pt x="1" y="21"/>
                    <a:pt x="1" y="21"/>
                  </a:cubicBezTo>
                  <a:cubicBezTo>
                    <a:pt x="1" y="22"/>
                    <a:pt x="2" y="22"/>
                    <a:pt x="2" y="22"/>
                  </a:cubicBezTo>
                  <a:cubicBezTo>
                    <a:pt x="2" y="22"/>
                    <a:pt x="2" y="22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4" y="23"/>
                    <a:pt x="5" y="24"/>
                    <a:pt x="7" y="25"/>
                  </a:cubicBezTo>
                  <a:cubicBezTo>
                    <a:pt x="13" y="23"/>
                    <a:pt x="15" y="17"/>
                    <a:pt x="16" y="10"/>
                  </a:cubicBezTo>
                  <a:cubicBezTo>
                    <a:pt x="15" y="0"/>
                    <a:pt x="5" y="8"/>
                    <a:pt x="2" y="1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6" name="Freeform 41"/>
            <p:cNvSpPr/>
            <p:nvPr/>
          </p:nvSpPr>
          <p:spPr bwMode="auto">
            <a:xfrm>
              <a:off x="4525963" y="4856163"/>
              <a:ext cx="112713" cy="125413"/>
            </a:xfrm>
            <a:custGeom>
              <a:avLst/>
              <a:gdLst>
                <a:gd name="T0" fmla="*/ 14 w 20"/>
                <a:gd name="T1" fmla="*/ 16 h 22"/>
                <a:gd name="T2" fmla="*/ 7 w 20"/>
                <a:gd name="T3" fmla="*/ 21 h 22"/>
                <a:gd name="T4" fmla="*/ 0 w 20"/>
                <a:gd name="T5" fmla="*/ 15 h 22"/>
                <a:gd name="T6" fmla="*/ 2 w 20"/>
                <a:gd name="T7" fmla="*/ 3 h 22"/>
                <a:gd name="T8" fmla="*/ 0 w 20"/>
                <a:gd name="T9" fmla="*/ 1 h 22"/>
                <a:gd name="T10" fmla="*/ 1 w 20"/>
                <a:gd name="T11" fmla="*/ 0 h 22"/>
                <a:gd name="T12" fmla="*/ 5 w 20"/>
                <a:gd name="T13" fmla="*/ 1 h 22"/>
                <a:gd name="T14" fmla="*/ 9 w 20"/>
                <a:gd name="T15" fmla="*/ 2 h 22"/>
                <a:gd name="T16" fmla="*/ 9 w 20"/>
                <a:gd name="T17" fmla="*/ 2 h 22"/>
                <a:gd name="T18" fmla="*/ 6 w 20"/>
                <a:gd name="T19" fmla="*/ 4 h 22"/>
                <a:gd name="T20" fmla="*/ 4 w 20"/>
                <a:gd name="T21" fmla="*/ 16 h 22"/>
                <a:gd name="T22" fmla="*/ 8 w 20"/>
                <a:gd name="T23" fmla="*/ 20 h 22"/>
                <a:gd name="T24" fmla="*/ 14 w 20"/>
                <a:gd name="T25" fmla="*/ 16 h 22"/>
                <a:gd name="T26" fmla="*/ 15 w 20"/>
                <a:gd name="T27" fmla="*/ 8 h 22"/>
                <a:gd name="T28" fmla="*/ 14 w 20"/>
                <a:gd name="T29" fmla="*/ 3 h 22"/>
                <a:gd name="T30" fmla="*/ 13 w 20"/>
                <a:gd name="T31" fmla="*/ 3 h 22"/>
                <a:gd name="T32" fmla="*/ 13 w 20"/>
                <a:gd name="T33" fmla="*/ 2 h 22"/>
                <a:gd name="T34" fmla="*/ 16 w 20"/>
                <a:gd name="T35" fmla="*/ 3 h 22"/>
                <a:gd name="T36" fmla="*/ 19 w 20"/>
                <a:gd name="T37" fmla="*/ 3 h 22"/>
                <a:gd name="T38" fmla="*/ 19 w 20"/>
                <a:gd name="T39" fmla="*/ 4 h 22"/>
                <a:gd name="T40" fmla="*/ 19 w 20"/>
                <a:gd name="T41" fmla="*/ 4 h 22"/>
                <a:gd name="T42" fmla="*/ 16 w 20"/>
                <a:gd name="T43" fmla="*/ 8 h 22"/>
                <a:gd name="T44" fmla="*/ 14 w 20"/>
                <a:gd name="T45" fmla="*/ 16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0" h="22">
                  <a:moveTo>
                    <a:pt x="14" y="16"/>
                  </a:moveTo>
                  <a:cubicBezTo>
                    <a:pt x="14" y="20"/>
                    <a:pt x="11" y="22"/>
                    <a:pt x="7" y="21"/>
                  </a:cubicBezTo>
                  <a:cubicBezTo>
                    <a:pt x="2" y="20"/>
                    <a:pt x="0" y="18"/>
                    <a:pt x="0" y="15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3" y="1"/>
                    <a:pt x="0" y="1"/>
                    <a:pt x="0" y="1"/>
                  </a:cubicBezTo>
                  <a:cubicBezTo>
                    <a:pt x="0" y="0"/>
                    <a:pt x="0" y="0"/>
                    <a:pt x="1" y="0"/>
                  </a:cubicBezTo>
                  <a:cubicBezTo>
                    <a:pt x="2" y="1"/>
                    <a:pt x="4" y="1"/>
                    <a:pt x="5" y="1"/>
                  </a:cubicBezTo>
                  <a:cubicBezTo>
                    <a:pt x="6" y="1"/>
                    <a:pt x="7" y="1"/>
                    <a:pt x="9" y="2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3"/>
                    <a:pt x="7" y="1"/>
                    <a:pt x="6" y="4"/>
                  </a:cubicBezTo>
                  <a:cubicBezTo>
                    <a:pt x="4" y="16"/>
                    <a:pt x="4" y="16"/>
                    <a:pt x="4" y="16"/>
                  </a:cubicBezTo>
                  <a:cubicBezTo>
                    <a:pt x="4" y="18"/>
                    <a:pt x="6" y="20"/>
                    <a:pt x="8" y="20"/>
                  </a:cubicBezTo>
                  <a:cubicBezTo>
                    <a:pt x="11" y="21"/>
                    <a:pt x="13" y="19"/>
                    <a:pt x="14" y="16"/>
                  </a:cubicBezTo>
                  <a:cubicBezTo>
                    <a:pt x="15" y="8"/>
                    <a:pt x="15" y="8"/>
                    <a:pt x="15" y="8"/>
                  </a:cubicBezTo>
                  <a:cubicBezTo>
                    <a:pt x="15" y="5"/>
                    <a:pt x="15" y="4"/>
                    <a:pt x="14" y="3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3" y="2"/>
                    <a:pt x="13" y="2"/>
                    <a:pt x="13" y="2"/>
                  </a:cubicBezTo>
                  <a:cubicBezTo>
                    <a:pt x="14" y="2"/>
                    <a:pt x="15" y="3"/>
                    <a:pt x="16" y="3"/>
                  </a:cubicBezTo>
                  <a:cubicBezTo>
                    <a:pt x="17" y="3"/>
                    <a:pt x="18" y="3"/>
                    <a:pt x="19" y="3"/>
                  </a:cubicBezTo>
                  <a:cubicBezTo>
                    <a:pt x="19" y="3"/>
                    <a:pt x="20" y="3"/>
                    <a:pt x="19" y="4"/>
                  </a:cubicBezTo>
                  <a:cubicBezTo>
                    <a:pt x="19" y="4"/>
                    <a:pt x="19" y="4"/>
                    <a:pt x="19" y="4"/>
                  </a:cubicBezTo>
                  <a:cubicBezTo>
                    <a:pt x="17" y="4"/>
                    <a:pt x="16" y="5"/>
                    <a:pt x="16" y="8"/>
                  </a:cubicBezTo>
                  <a:lnTo>
                    <a:pt x="14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7" name="Freeform 42"/>
            <p:cNvSpPr/>
            <p:nvPr/>
          </p:nvSpPr>
          <p:spPr bwMode="auto">
            <a:xfrm>
              <a:off x="4627563" y="4884738"/>
              <a:ext cx="146050" cy="142875"/>
            </a:xfrm>
            <a:custGeom>
              <a:avLst/>
              <a:gdLst>
                <a:gd name="T0" fmla="*/ 5 w 26"/>
                <a:gd name="T1" fmla="*/ 15 h 25"/>
                <a:gd name="T2" fmla="*/ 5 w 26"/>
                <a:gd name="T3" fmla="*/ 19 h 25"/>
                <a:gd name="T4" fmla="*/ 6 w 26"/>
                <a:gd name="T5" fmla="*/ 20 h 25"/>
                <a:gd name="T6" fmla="*/ 6 w 26"/>
                <a:gd name="T7" fmla="*/ 20 h 25"/>
                <a:gd name="T8" fmla="*/ 3 w 26"/>
                <a:gd name="T9" fmla="*/ 19 h 25"/>
                <a:gd name="T10" fmla="*/ 0 w 26"/>
                <a:gd name="T11" fmla="*/ 18 h 25"/>
                <a:gd name="T12" fmla="*/ 0 w 26"/>
                <a:gd name="T13" fmla="*/ 17 h 25"/>
                <a:gd name="T14" fmla="*/ 1 w 26"/>
                <a:gd name="T15" fmla="*/ 17 h 25"/>
                <a:gd name="T16" fmla="*/ 4 w 26"/>
                <a:gd name="T17" fmla="*/ 15 h 25"/>
                <a:gd name="T18" fmla="*/ 9 w 26"/>
                <a:gd name="T19" fmla="*/ 4 h 25"/>
                <a:gd name="T20" fmla="*/ 8 w 26"/>
                <a:gd name="T21" fmla="*/ 1 h 25"/>
                <a:gd name="T22" fmla="*/ 7 w 26"/>
                <a:gd name="T23" fmla="*/ 0 h 25"/>
                <a:gd name="T24" fmla="*/ 8 w 26"/>
                <a:gd name="T25" fmla="*/ 0 h 25"/>
                <a:gd name="T26" fmla="*/ 10 w 26"/>
                <a:gd name="T27" fmla="*/ 1 h 25"/>
                <a:gd name="T28" fmla="*/ 13 w 26"/>
                <a:gd name="T29" fmla="*/ 3 h 25"/>
                <a:gd name="T30" fmla="*/ 17 w 26"/>
                <a:gd name="T31" fmla="*/ 18 h 25"/>
                <a:gd name="T32" fmla="*/ 17 w 26"/>
                <a:gd name="T33" fmla="*/ 18 h 25"/>
                <a:gd name="T34" fmla="*/ 21 w 26"/>
                <a:gd name="T35" fmla="*/ 11 h 25"/>
                <a:gd name="T36" fmla="*/ 21 w 26"/>
                <a:gd name="T37" fmla="*/ 7 h 25"/>
                <a:gd name="T38" fmla="*/ 19 w 26"/>
                <a:gd name="T39" fmla="*/ 6 h 25"/>
                <a:gd name="T40" fmla="*/ 20 w 26"/>
                <a:gd name="T41" fmla="*/ 6 h 25"/>
                <a:gd name="T42" fmla="*/ 23 w 26"/>
                <a:gd name="T43" fmla="*/ 7 h 25"/>
                <a:gd name="T44" fmla="*/ 26 w 26"/>
                <a:gd name="T45" fmla="*/ 8 h 25"/>
                <a:gd name="T46" fmla="*/ 26 w 26"/>
                <a:gd name="T47" fmla="*/ 9 h 25"/>
                <a:gd name="T48" fmla="*/ 24 w 26"/>
                <a:gd name="T49" fmla="*/ 8 h 25"/>
                <a:gd name="T50" fmla="*/ 21 w 26"/>
                <a:gd name="T51" fmla="*/ 11 h 25"/>
                <a:gd name="T52" fmla="*/ 15 w 26"/>
                <a:gd name="T53" fmla="*/ 24 h 25"/>
                <a:gd name="T54" fmla="*/ 15 w 26"/>
                <a:gd name="T55" fmla="*/ 25 h 25"/>
                <a:gd name="T56" fmla="*/ 14 w 26"/>
                <a:gd name="T57" fmla="*/ 24 h 25"/>
                <a:gd name="T58" fmla="*/ 10 w 26"/>
                <a:gd name="T59" fmla="*/ 5 h 25"/>
                <a:gd name="T60" fmla="*/ 9 w 26"/>
                <a:gd name="T61" fmla="*/ 5 h 25"/>
                <a:gd name="T62" fmla="*/ 5 w 26"/>
                <a:gd name="T63" fmla="*/ 1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6" h="25">
                  <a:moveTo>
                    <a:pt x="5" y="15"/>
                  </a:moveTo>
                  <a:cubicBezTo>
                    <a:pt x="4" y="17"/>
                    <a:pt x="4" y="18"/>
                    <a:pt x="5" y="19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6" y="20"/>
                    <a:pt x="6" y="20"/>
                    <a:pt x="6" y="20"/>
                  </a:cubicBezTo>
                  <a:cubicBezTo>
                    <a:pt x="5" y="20"/>
                    <a:pt x="4" y="19"/>
                    <a:pt x="3" y="19"/>
                  </a:cubicBezTo>
                  <a:cubicBezTo>
                    <a:pt x="2" y="18"/>
                    <a:pt x="1" y="18"/>
                    <a:pt x="0" y="18"/>
                  </a:cubicBezTo>
                  <a:cubicBezTo>
                    <a:pt x="0" y="18"/>
                    <a:pt x="0" y="17"/>
                    <a:pt x="0" y="17"/>
                  </a:cubicBezTo>
                  <a:cubicBezTo>
                    <a:pt x="0" y="17"/>
                    <a:pt x="0" y="17"/>
                    <a:pt x="1" y="17"/>
                  </a:cubicBezTo>
                  <a:cubicBezTo>
                    <a:pt x="2" y="17"/>
                    <a:pt x="3" y="17"/>
                    <a:pt x="4" y="15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2"/>
                    <a:pt x="8" y="1"/>
                    <a:pt x="8" y="1"/>
                  </a:cubicBezTo>
                  <a:cubicBezTo>
                    <a:pt x="7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8" y="0"/>
                    <a:pt x="9" y="1"/>
                    <a:pt x="10" y="1"/>
                  </a:cubicBezTo>
                  <a:cubicBezTo>
                    <a:pt x="13" y="3"/>
                    <a:pt x="13" y="3"/>
                    <a:pt x="13" y="3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9"/>
                    <a:pt x="21" y="7"/>
                    <a:pt x="21" y="7"/>
                  </a:cubicBezTo>
                  <a:cubicBezTo>
                    <a:pt x="20" y="6"/>
                    <a:pt x="19" y="6"/>
                    <a:pt x="19" y="6"/>
                  </a:cubicBezTo>
                  <a:cubicBezTo>
                    <a:pt x="19" y="6"/>
                    <a:pt x="20" y="5"/>
                    <a:pt x="20" y="6"/>
                  </a:cubicBezTo>
                  <a:cubicBezTo>
                    <a:pt x="21" y="6"/>
                    <a:pt x="22" y="6"/>
                    <a:pt x="23" y="7"/>
                  </a:cubicBezTo>
                  <a:cubicBezTo>
                    <a:pt x="24" y="7"/>
                    <a:pt x="25" y="8"/>
                    <a:pt x="26" y="8"/>
                  </a:cubicBezTo>
                  <a:cubicBezTo>
                    <a:pt x="26" y="8"/>
                    <a:pt x="26" y="8"/>
                    <a:pt x="26" y="9"/>
                  </a:cubicBezTo>
                  <a:cubicBezTo>
                    <a:pt x="26" y="9"/>
                    <a:pt x="25" y="8"/>
                    <a:pt x="24" y="8"/>
                  </a:cubicBezTo>
                  <a:cubicBezTo>
                    <a:pt x="23" y="8"/>
                    <a:pt x="22" y="9"/>
                    <a:pt x="21" y="11"/>
                  </a:cubicBezTo>
                  <a:cubicBezTo>
                    <a:pt x="15" y="24"/>
                    <a:pt x="15" y="24"/>
                    <a:pt x="15" y="24"/>
                  </a:cubicBezTo>
                  <a:cubicBezTo>
                    <a:pt x="15" y="25"/>
                    <a:pt x="15" y="25"/>
                    <a:pt x="15" y="25"/>
                  </a:cubicBezTo>
                  <a:cubicBezTo>
                    <a:pt x="15" y="25"/>
                    <a:pt x="15" y="24"/>
                    <a:pt x="14" y="24"/>
                  </a:cubicBezTo>
                  <a:cubicBezTo>
                    <a:pt x="10" y="5"/>
                    <a:pt x="10" y="5"/>
                    <a:pt x="10" y="5"/>
                  </a:cubicBezTo>
                  <a:cubicBezTo>
                    <a:pt x="9" y="5"/>
                    <a:pt x="9" y="5"/>
                    <a:pt x="9" y="5"/>
                  </a:cubicBezTo>
                  <a:lnTo>
                    <a:pt x="5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8" name="Freeform 43"/>
            <p:cNvSpPr/>
            <p:nvPr/>
          </p:nvSpPr>
          <p:spPr bwMode="auto">
            <a:xfrm>
              <a:off x="4740275" y="4953000"/>
              <a:ext cx="100013" cy="114300"/>
            </a:xfrm>
            <a:custGeom>
              <a:avLst/>
              <a:gdLst>
                <a:gd name="T0" fmla="*/ 12 w 18"/>
                <a:gd name="T1" fmla="*/ 3 h 20"/>
                <a:gd name="T2" fmla="*/ 11 w 18"/>
                <a:gd name="T3" fmla="*/ 0 h 20"/>
                <a:gd name="T4" fmla="*/ 11 w 18"/>
                <a:gd name="T5" fmla="*/ 0 h 20"/>
                <a:gd name="T6" fmla="*/ 15 w 18"/>
                <a:gd name="T7" fmla="*/ 2 h 20"/>
                <a:gd name="T8" fmla="*/ 18 w 18"/>
                <a:gd name="T9" fmla="*/ 5 h 20"/>
                <a:gd name="T10" fmla="*/ 18 w 18"/>
                <a:gd name="T11" fmla="*/ 5 h 20"/>
                <a:gd name="T12" fmla="*/ 15 w 18"/>
                <a:gd name="T13" fmla="*/ 5 h 20"/>
                <a:gd name="T14" fmla="*/ 6 w 18"/>
                <a:gd name="T15" fmla="*/ 17 h 20"/>
                <a:gd name="T16" fmla="*/ 7 w 18"/>
                <a:gd name="T17" fmla="*/ 20 h 20"/>
                <a:gd name="T18" fmla="*/ 7 w 18"/>
                <a:gd name="T19" fmla="*/ 20 h 20"/>
                <a:gd name="T20" fmla="*/ 3 w 18"/>
                <a:gd name="T21" fmla="*/ 18 h 20"/>
                <a:gd name="T22" fmla="*/ 0 w 18"/>
                <a:gd name="T23" fmla="*/ 16 h 20"/>
                <a:gd name="T24" fmla="*/ 0 w 18"/>
                <a:gd name="T25" fmla="*/ 15 h 20"/>
                <a:gd name="T26" fmla="*/ 3 w 18"/>
                <a:gd name="T27" fmla="*/ 15 h 20"/>
                <a:gd name="T28" fmla="*/ 12 w 18"/>
                <a:gd name="T29" fmla="*/ 3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8" h="20">
                  <a:moveTo>
                    <a:pt x="12" y="3"/>
                  </a:moveTo>
                  <a:cubicBezTo>
                    <a:pt x="13" y="1"/>
                    <a:pt x="10" y="1"/>
                    <a:pt x="11" y="0"/>
                  </a:cubicBezTo>
                  <a:cubicBezTo>
                    <a:pt x="11" y="0"/>
                    <a:pt x="11" y="0"/>
                    <a:pt x="11" y="0"/>
                  </a:cubicBezTo>
                  <a:cubicBezTo>
                    <a:pt x="13" y="1"/>
                    <a:pt x="14" y="2"/>
                    <a:pt x="15" y="2"/>
                  </a:cubicBezTo>
                  <a:cubicBezTo>
                    <a:pt x="15" y="3"/>
                    <a:pt x="17" y="4"/>
                    <a:pt x="18" y="5"/>
                  </a:cubicBezTo>
                  <a:cubicBezTo>
                    <a:pt x="18" y="5"/>
                    <a:pt x="18" y="5"/>
                    <a:pt x="18" y="5"/>
                  </a:cubicBezTo>
                  <a:cubicBezTo>
                    <a:pt x="18" y="6"/>
                    <a:pt x="16" y="4"/>
                    <a:pt x="15" y="5"/>
                  </a:cubicBezTo>
                  <a:cubicBezTo>
                    <a:pt x="6" y="17"/>
                    <a:pt x="6" y="17"/>
                    <a:pt x="6" y="17"/>
                  </a:cubicBezTo>
                  <a:cubicBezTo>
                    <a:pt x="5" y="19"/>
                    <a:pt x="8" y="20"/>
                    <a:pt x="7" y="20"/>
                  </a:cubicBezTo>
                  <a:cubicBezTo>
                    <a:pt x="7" y="20"/>
                    <a:pt x="7" y="20"/>
                    <a:pt x="7" y="20"/>
                  </a:cubicBezTo>
                  <a:cubicBezTo>
                    <a:pt x="5" y="19"/>
                    <a:pt x="4" y="19"/>
                    <a:pt x="3" y="18"/>
                  </a:cubicBezTo>
                  <a:cubicBezTo>
                    <a:pt x="3" y="17"/>
                    <a:pt x="1" y="17"/>
                    <a:pt x="0" y="16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14"/>
                    <a:pt x="2" y="17"/>
                    <a:pt x="3" y="15"/>
                  </a:cubicBezTo>
                  <a:lnTo>
                    <a:pt x="12" y="3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69" name="Freeform 44"/>
            <p:cNvSpPr/>
            <p:nvPr/>
          </p:nvSpPr>
          <p:spPr bwMode="auto">
            <a:xfrm>
              <a:off x="4824413" y="4999038"/>
              <a:ext cx="117475" cy="119063"/>
            </a:xfrm>
            <a:custGeom>
              <a:avLst/>
              <a:gdLst>
                <a:gd name="T0" fmla="*/ 14 w 21"/>
                <a:gd name="T1" fmla="*/ 14 h 21"/>
                <a:gd name="T2" fmla="*/ 16 w 21"/>
                <a:gd name="T3" fmla="*/ 13 h 21"/>
                <a:gd name="T4" fmla="*/ 16 w 21"/>
                <a:gd name="T5" fmla="*/ 10 h 21"/>
                <a:gd name="T6" fmla="*/ 17 w 21"/>
                <a:gd name="T7" fmla="*/ 10 h 21"/>
                <a:gd name="T8" fmla="*/ 19 w 21"/>
                <a:gd name="T9" fmla="*/ 12 h 21"/>
                <a:gd name="T10" fmla="*/ 21 w 21"/>
                <a:gd name="T11" fmla="*/ 14 h 21"/>
                <a:gd name="T12" fmla="*/ 21 w 21"/>
                <a:gd name="T13" fmla="*/ 15 h 21"/>
                <a:gd name="T14" fmla="*/ 16 w 21"/>
                <a:gd name="T15" fmla="*/ 15 h 21"/>
                <a:gd name="T16" fmla="*/ 1 w 21"/>
                <a:gd name="T17" fmla="*/ 20 h 21"/>
                <a:gd name="T18" fmla="*/ 0 w 21"/>
                <a:gd name="T19" fmla="*/ 21 h 21"/>
                <a:gd name="T20" fmla="*/ 0 w 21"/>
                <a:gd name="T21" fmla="*/ 20 h 21"/>
                <a:gd name="T22" fmla="*/ 7 w 21"/>
                <a:gd name="T23" fmla="*/ 4 h 21"/>
                <a:gd name="T24" fmla="*/ 7 w 21"/>
                <a:gd name="T25" fmla="*/ 0 h 21"/>
                <a:gd name="T26" fmla="*/ 8 w 21"/>
                <a:gd name="T27" fmla="*/ 0 h 21"/>
                <a:gd name="T28" fmla="*/ 10 w 21"/>
                <a:gd name="T29" fmla="*/ 3 h 21"/>
                <a:gd name="T30" fmla="*/ 13 w 21"/>
                <a:gd name="T31" fmla="*/ 6 h 21"/>
                <a:gd name="T32" fmla="*/ 13 w 21"/>
                <a:gd name="T33" fmla="*/ 7 h 21"/>
                <a:gd name="T34" fmla="*/ 11 w 21"/>
                <a:gd name="T35" fmla="*/ 6 h 21"/>
                <a:gd name="T36" fmla="*/ 10 w 21"/>
                <a:gd name="T37" fmla="*/ 7 h 21"/>
                <a:gd name="T38" fmla="*/ 5 w 21"/>
                <a:gd name="T39" fmla="*/ 18 h 21"/>
                <a:gd name="T40" fmla="*/ 14 w 21"/>
                <a:gd name="T41" fmla="*/ 14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" h="21">
                  <a:moveTo>
                    <a:pt x="14" y="14"/>
                  </a:moveTo>
                  <a:cubicBezTo>
                    <a:pt x="15" y="14"/>
                    <a:pt x="15" y="14"/>
                    <a:pt x="16" y="13"/>
                  </a:cubicBezTo>
                  <a:cubicBezTo>
                    <a:pt x="18" y="12"/>
                    <a:pt x="16" y="10"/>
                    <a:pt x="16" y="10"/>
                  </a:cubicBezTo>
                  <a:cubicBezTo>
                    <a:pt x="16" y="10"/>
                    <a:pt x="17" y="10"/>
                    <a:pt x="17" y="10"/>
                  </a:cubicBezTo>
                  <a:cubicBezTo>
                    <a:pt x="17" y="11"/>
                    <a:pt x="18" y="11"/>
                    <a:pt x="19" y="12"/>
                  </a:cubicBezTo>
                  <a:cubicBezTo>
                    <a:pt x="19" y="13"/>
                    <a:pt x="20" y="13"/>
                    <a:pt x="21" y="14"/>
                  </a:cubicBezTo>
                  <a:cubicBezTo>
                    <a:pt x="21" y="14"/>
                    <a:pt x="21" y="15"/>
                    <a:pt x="21" y="15"/>
                  </a:cubicBezTo>
                  <a:cubicBezTo>
                    <a:pt x="20" y="15"/>
                    <a:pt x="20" y="13"/>
                    <a:pt x="16" y="15"/>
                  </a:cubicBezTo>
                  <a:cubicBezTo>
                    <a:pt x="1" y="20"/>
                    <a:pt x="1" y="20"/>
                    <a:pt x="1" y="20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7" y="4"/>
                    <a:pt x="7" y="4"/>
                    <a:pt x="7" y="4"/>
                  </a:cubicBezTo>
                  <a:cubicBezTo>
                    <a:pt x="8" y="1"/>
                    <a:pt x="7" y="1"/>
                    <a:pt x="7" y="0"/>
                  </a:cubicBezTo>
                  <a:cubicBezTo>
                    <a:pt x="7" y="0"/>
                    <a:pt x="7" y="0"/>
                    <a:pt x="8" y="0"/>
                  </a:cubicBezTo>
                  <a:cubicBezTo>
                    <a:pt x="9" y="1"/>
                    <a:pt x="9" y="2"/>
                    <a:pt x="10" y="3"/>
                  </a:cubicBezTo>
                  <a:cubicBezTo>
                    <a:pt x="11" y="4"/>
                    <a:pt x="12" y="5"/>
                    <a:pt x="13" y="6"/>
                  </a:cubicBezTo>
                  <a:cubicBezTo>
                    <a:pt x="13" y="6"/>
                    <a:pt x="13" y="6"/>
                    <a:pt x="13" y="7"/>
                  </a:cubicBezTo>
                  <a:cubicBezTo>
                    <a:pt x="13" y="7"/>
                    <a:pt x="12" y="5"/>
                    <a:pt x="11" y="6"/>
                  </a:cubicBezTo>
                  <a:cubicBezTo>
                    <a:pt x="11" y="6"/>
                    <a:pt x="10" y="7"/>
                    <a:pt x="10" y="7"/>
                  </a:cubicBezTo>
                  <a:cubicBezTo>
                    <a:pt x="5" y="18"/>
                    <a:pt x="5" y="18"/>
                    <a:pt x="5" y="18"/>
                  </a:cubicBezTo>
                  <a:lnTo>
                    <a:pt x="14" y="1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0" name="Freeform 45"/>
            <p:cNvSpPr/>
            <p:nvPr/>
          </p:nvSpPr>
          <p:spPr bwMode="auto">
            <a:xfrm>
              <a:off x="4862513" y="5094288"/>
              <a:ext cx="134938" cy="136525"/>
            </a:xfrm>
            <a:custGeom>
              <a:avLst/>
              <a:gdLst>
                <a:gd name="T0" fmla="*/ 15 w 24"/>
                <a:gd name="T1" fmla="*/ 4 h 24"/>
                <a:gd name="T2" fmla="*/ 16 w 24"/>
                <a:gd name="T3" fmla="*/ 1 h 24"/>
                <a:gd name="T4" fmla="*/ 16 w 24"/>
                <a:gd name="T5" fmla="*/ 1 h 24"/>
                <a:gd name="T6" fmla="*/ 18 w 24"/>
                <a:gd name="T7" fmla="*/ 4 h 24"/>
                <a:gd name="T8" fmla="*/ 24 w 24"/>
                <a:gd name="T9" fmla="*/ 13 h 24"/>
                <a:gd name="T10" fmla="*/ 20 w 24"/>
                <a:gd name="T11" fmla="*/ 17 h 24"/>
                <a:gd name="T12" fmla="*/ 19 w 24"/>
                <a:gd name="T13" fmla="*/ 17 h 24"/>
                <a:gd name="T14" fmla="*/ 19 w 24"/>
                <a:gd name="T15" fmla="*/ 17 h 24"/>
                <a:gd name="T16" fmla="*/ 20 w 24"/>
                <a:gd name="T17" fmla="*/ 15 h 24"/>
                <a:gd name="T18" fmla="*/ 20 w 24"/>
                <a:gd name="T19" fmla="*/ 8 h 24"/>
                <a:gd name="T20" fmla="*/ 19 w 24"/>
                <a:gd name="T21" fmla="*/ 6 h 24"/>
                <a:gd name="T22" fmla="*/ 12 w 24"/>
                <a:gd name="T23" fmla="*/ 10 h 24"/>
                <a:gd name="T24" fmla="*/ 12 w 24"/>
                <a:gd name="T25" fmla="*/ 11 h 24"/>
                <a:gd name="T26" fmla="*/ 17 w 24"/>
                <a:gd name="T27" fmla="*/ 12 h 24"/>
                <a:gd name="T28" fmla="*/ 18 w 24"/>
                <a:gd name="T29" fmla="*/ 12 h 24"/>
                <a:gd name="T30" fmla="*/ 18 w 24"/>
                <a:gd name="T31" fmla="*/ 13 h 24"/>
                <a:gd name="T32" fmla="*/ 10 w 24"/>
                <a:gd name="T33" fmla="*/ 17 h 24"/>
                <a:gd name="T34" fmla="*/ 10 w 24"/>
                <a:gd name="T35" fmla="*/ 17 h 24"/>
                <a:gd name="T36" fmla="*/ 10 w 24"/>
                <a:gd name="T37" fmla="*/ 16 h 24"/>
                <a:gd name="T38" fmla="*/ 12 w 24"/>
                <a:gd name="T39" fmla="*/ 11 h 24"/>
                <a:gd name="T40" fmla="*/ 11 w 24"/>
                <a:gd name="T41" fmla="*/ 11 h 24"/>
                <a:gd name="T42" fmla="*/ 5 w 24"/>
                <a:gd name="T43" fmla="*/ 14 h 24"/>
                <a:gd name="T44" fmla="*/ 5 w 24"/>
                <a:gd name="T45" fmla="*/ 17 h 24"/>
                <a:gd name="T46" fmla="*/ 14 w 24"/>
                <a:gd name="T47" fmla="*/ 21 h 24"/>
                <a:gd name="T48" fmla="*/ 15 w 24"/>
                <a:gd name="T49" fmla="*/ 21 h 24"/>
                <a:gd name="T50" fmla="*/ 15 w 24"/>
                <a:gd name="T51" fmla="*/ 21 h 24"/>
                <a:gd name="T52" fmla="*/ 14 w 24"/>
                <a:gd name="T53" fmla="*/ 22 h 24"/>
                <a:gd name="T54" fmla="*/ 8 w 24"/>
                <a:gd name="T55" fmla="*/ 24 h 24"/>
                <a:gd name="T56" fmla="*/ 2 w 24"/>
                <a:gd name="T57" fmla="*/ 14 h 24"/>
                <a:gd name="T58" fmla="*/ 0 w 24"/>
                <a:gd name="T59" fmla="*/ 11 h 24"/>
                <a:gd name="T60" fmla="*/ 0 w 24"/>
                <a:gd name="T61" fmla="*/ 10 h 24"/>
                <a:gd name="T62" fmla="*/ 3 w 24"/>
                <a:gd name="T63" fmla="*/ 11 h 24"/>
                <a:gd name="T64" fmla="*/ 15 w 24"/>
                <a:gd name="T65" fmla="*/ 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15" y="4"/>
                  </a:moveTo>
                  <a:cubicBezTo>
                    <a:pt x="17" y="2"/>
                    <a:pt x="15" y="1"/>
                    <a:pt x="16" y="1"/>
                  </a:cubicBezTo>
                  <a:cubicBezTo>
                    <a:pt x="16" y="0"/>
                    <a:pt x="16" y="0"/>
                    <a:pt x="16" y="1"/>
                  </a:cubicBezTo>
                  <a:cubicBezTo>
                    <a:pt x="17" y="2"/>
                    <a:pt x="18" y="3"/>
                    <a:pt x="18" y="4"/>
                  </a:cubicBezTo>
                  <a:cubicBezTo>
                    <a:pt x="20" y="7"/>
                    <a:pt x="22" y="10"/>
                    <a:pt x="24" y="13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19" y="17"/>
                  </a:cubicBezTo>
                  <a:cubicBezTo>
                    <a:pt x="19" y="17"/>
                    <a:pt x="19" y="17"/>
                    <a:pt x="20" y="15"/>
                  </a:cubicBezTo>
                  <a:cubicBezTo>
                    <a:pt x="21" y="13"/>
                    <a:pt x="21" y="11"/>
                    <a:pt x="20" y="8"/>
                  </a:cubicBezTo>
                  <a:cubicBezTo>
                    <a:pt x="19" y="6"/>
                    <a:pt x="19" y="6"/>
                    <a:pt x="19" y="6"/>
                  </a:cubicBezTo>
                  <a:cubicBezTo>
                    <a:pt x="12" y="10"/>
                    <a:pt x="12" y="10"/>
                    <a:pt x="12" y="10"/>
                  </a:cubicBezTo>
                  <a:cubicBezTo>
                    <a:pt x="12" y="11"/>
                    <a:pt x="12" y="11"/>
                    <a:pt x="12" y="11"/>
                  </a:cubicBezTo>
                  <a:cubicBezTo>
                    <a:pt x="13" y="13"/>
                    <a:pt x="15" y="13"/>
                    <a:pt x="17" y="12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12"/>
                    <a:pt x="18" y="13"/>
                    <a:pt x="18" y="13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7"/>
                  </a:cubicBezTo>
                  <a:cubicBezTo>
                    <a:pt x="10" y="17"/>
                    <a:pt x="10" y="17"/>
                    <a:pt x="10" y="16"/>
                  </a:cubicBezTo>
                  <a:cubicBezTo>
                    <a:pt x="12" y="15"/>
                    <a:pt x="13" y="13"/>
                    <a:pt x="12" y="11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5" y="14"/>
                    <a:pt x="5" y="14"/>
                    <a:pt x="5" y="14"/>
                  </a:cubicBezTo>
                  <a:cubicBezTo>
                    <a:pt x="4" y="15"/>
                    <a:pt x="4" y="16"/>
                    <a:pt x="5" y="17"/>
                  </a:cubicBezTo>
                  <a:cubicBezTo>
                    <a:pt x="7" y="21"/>
                    <a:pt x="11" y="22"/>
                    <a:pt x="14" y="21"/>
                  </a:cubicBezTo>
                  <a:cubicBezTo>
                    <a:pt x="14" y="21"/>
                    <a:pt x="15" y="21"/>
                    <a:pt x="15" y="21"/>
                  </a:cubicBezTo>
                  <a:cubicBezTo>
                    <a:pt x="15" y="21"/>
                    <a:pt x="15" y="21"/>
                    <a:pt x="15" y="21"/>
                  </a:cubicBezTo>
                  <a:cubicBezTo>
                    <a:pt x="14" y="21"/>
                    <a:pt x="14" y="22"/>
                    <a:pt x="14" y="22"/>
                  </a:cubicBezTo>
                  <a:cubicBezTo>
                    <a:pt x="8" y="24"/>
                    <a:pt x="8" y="24"/>
                    <a:pt x="8" y="24"/>
                  </a:cubicBezTo>
                  <a:cubicBezTo>
                    <a:pt x="6" y="21"/>
                    <a:pt x="4" y="17"/>
                    <a:pt x="2" y="14"/>
                  </a:cubicBezTo>
                  <a:cubicBezTo>
                    <a:pt x="1" y="13"/>
                    <a:pt x="1" y="12"/>
                    <a:pt x="0" y="1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10"/>
                    <a:pt x="1" y="12"/>
                    <a:pt x="3" y="11"/>
                  </a:cubicBezTo>
                  <a:lnTo>
                    <a:pt x="15" y="4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1" name="Freeform 46"/>
            <p:cNvSpPr>
              <a:spLocks noEditPoints="1"/>
            </p:cNvSpPr>
            <p:nvPr/>
          </p:nvSpPr>
          <p:spPr bwMode="auto">
            <a:xfrm>
              <a:off x="4919663" y="5219700"/>
              <a:ext cx="122238" cy="141288"/>
            </a:xfrm>
            <a:custGeom>
              <a:avLst/>
              <a:gdLst>
                <a:gd name="T0" fmla="*/ 9 w 22"/>
                <a:gd name="T1" fmla="*/ 13 h 25"/>
                <a:gd name="T2" fmla="*/ 10 w 22"/>
                <a:gd name="T3" fmla="*/ 9 h 25"/>
                <a:gd name="T4" fmla="*/ 4 w 22"/>
                <a:gd name="T5" fmla="*/ 11 h 25"/>
                <a:gd name="T6" fmla="*/ 3 w 22"/>
                <a:gd name="T7" fmla="*/ 14 h 25"/>
                <a:gd name="T8" fmla="*/ 2 w 22"/>
                <a:gd name="T9" fmla="*/ 14 h 25"/>
                <a:gd name="T10" fmla="*/ 1 w 22"/>
                <a:gd name="T11" fmla="*/ 10 h 25"/>
                <a:gd name="T12" fmla="*/ 0 w 22"/>
                <a:gd name="T13" fmla="*/ 6 h 25"/>
                <a:gd name="T14" fmla="*/ 0 w 22"/>
                <a:gd name="T15" fmla="*/ 6 h 25"/>
                <a:gd name="T16" fmla="*/ 3 w 22"/>
                <a:gd name="T17" fmla="*/ 7 h 25"/>
                <a:gd name="T18" fmla="*/ 17 w 22"/>
                <a:gd name="T19" fmla="*/ 3 h 25"/>
                <a:gd name="T20" fmla="*/ 18 w 22"/>
                <a:gd name="T21" fmla="*/ 0 h 25"/>
                <a:gd name="T22" fmla="*/ 18 w 22"/>
                <a:gd name="T23" fmla="*/ 1 h 25"/>
                <a:gd name="T24" fmla="*/ 19 w 22"/>
                <a:gd name="T25" fmla="*/ 5 h 25"/>
                <a:gd name="T26" fmla="*/ 21 w 22"/>
                <a:gd name="T27" fmla="*/ 9 h 25"/>
                <a:gd name="T28" fmla="*/ 18 w 22"/>
                <a:gd name="T29" fmla="*/ 17 h 25"/>
                <a:gd name="T30" fmla="*/ 11 w 22"/>
                <a:gd name="T31" fmla="*/ 12 h 25"/>
                <a:gd name="T32" fmla="*/ 11 w 22"/>
                <a:gd name="T33" fmla="*/ 12 h 25"/>
                <a:gd name="T34" fmla="*/ 10 w 22"/>
                <a:gd name="T35" fmla="*/ 18 h 25"/>
                <a:gd name="T36" fmla="*/ 7 w 22"/>
                <a:gd name="T37" fmla="*/ 21 h 25"/>
                <a:gd name="T38" fmla="*/ 6 w 22"/>
                <a:gd name="T39" fmla="*/ 25 h 25"/>
                <a:gd name="T40" fmla="*/ 5 w 22"/>
                <a:gd name="T41" fmla="*/ 25 h 25"/>
                <a:gd name="T42" fmla="*/ 4 w 22"/>
                <a:gd name="T43" fmla="*/ 22 h 25"/>
                <a:gd name="T44" fmla="*/ 4 w 22"/>
                <a:gd name="T45" fmla="*/ 19 h 25"/>
                <a:gd name="T46" fmla="*/ 9 w 22"/>
                <a:gd name="T47" fmla="*/ 13 h 25"/>
                <a:gd name="T48" fmla="*/ 11 w 22"/>
                <a:gd name="T49" fmla="*/ 9 h 25"/>
                <a:gd name="T50" fmla="*/ 11 w 22"/>
                <a:gd name="T51" fmla="*/ 10 h 25"/>
                <a:gd name="T52" fmla="*/ 17 w 22"/>
                <a:gd name="T53" fmla="*/ 13 h 25"/>
                <a:gd name="T54" fmla="*/ 20 w 22"/>
                <a:gd name="T55" fmla="*/ 8 h 25"/>
                <a:gd name="T56" fmla="*/ 19 w 22"/>
                <a:gd name="T57" fmla="*/ 7 h 25"/>
                <a:gd name="T58" fmla="*/ 11 w 22"/>
                <a:gd name="T59" fmla="*/ 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" h="25">
                  <a:moveTo>
                    <a:pt x="9" y="13"/>
                  </a:moveTo>
                  <a:cubicBezTo>
                    <a:pt x="11" y="12"/>
                    <a:pt x="11" y="11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3" y="14"/>
                    <a:pt x="3" y="14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2" y="12"/>
                    <a:pt x="1" y="11"/>
                    <a:pt x="1" y="10"/>
                  </a:cubicBezTo>
                  <a:cubicBezTo>
                    <a:pt x="1" y="9"/>
                    <a:pt x="0" y="8"/>
                    <a:pt x="0" y="6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5"/>
                    <a:pt x="0" y="8"/>
                    <a:pt x="3" y="7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3"/>
                    <a:pt x="17" y="1"/>
                    <a:pt x="18" y="0"/>
                  </a:cubicBezTo>
                  <a:cubicBezTo>
                    <a:pt x="18" y="0"/>
                    <a:pt x="18" y="0"/>
                    <a:pt x="18" y="1"/>
                  </a:cubicBezTo>
                  <a:cubicBezTo>
                    <a:pt x="19" y="2"/>
                    <a:pt x="19" y="4"/>
                    <a:pt x="19" y="5"/>
                  </a:cubicBezTo>
                  <a:cubicBezTo>
                    <a:pt x="20" y="6"/>
                    <a:pt x="20" y="7"/>
                    <a:pt x="21" y="9"/>
                  </a:cubicBezTo>
                  <a:cubicBezTo>
                    <a:pt x="22" y="13"/>
                    <a:pt x="21" y="17"/>
                    <a:pt x="18" y="17"/>
                  </a:cubicBezTo>
                  <a:cubicBezTo>
                    <a:pt x="16" y="18"/>
                    <a:pt x="13" y="17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2" y="15"/>
                    <a:pt x="12" y="16"/>
                    <a:pt x="10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5" y="23"/>
                    <a:pt x="6" y="24"/>
                    <a:pt x="6" y="25"/>
                  </a:cubicBezTo>
                  <a:cubicBezTo>
                    <a:pt x="6" y="25"/>
                    <a:pt x="5" y="25"/>
                    <a:pt x="5" y="25"/>
                  </a:cubicBezTo>
                  <a:cubicBezTo>
                    <a:pt x="5" y="24"/>
                    <a:pt x="5" y="23"/>
                    <a:pt x="4" y="22"/>
                  </a:cubicBezTo>
                  <a:cubicBezTo>
                    <a:pt x="4" y="19"/>
                    <a:pt x="4" y="19"/>
                    <a:pt x="4" y="19"/>
                  </a:cubicBezTo>
                  <a:lnTo>
                    <a:pt x="9" y="13"/>
                  </a:lnTo>
                  <a:close/>
                  <a:moveTo>
                    <a:pt x="11" y="9"/>
                  </a:moveTo>
                  <a:cubicBezTo>
                    <a:pt x="11" y="10"/>
                    <a:pt x="11" y="10"/>
                    <a:pt x="11" y="10"/>
                  </a:cubicBezTo>
                  <a:cubicBezTo>
                    <a:pt x="12" y="13"/>
                    <a:pt x="14" y="14"/>
                    <a:pt x="17" y="13"/>
                  </a:cubicBezTo>
                  <a:cubicBezTo>
                    <a:pt x="20" y="13"/>
                    <a:pt x="21" y="11"/>
                    <a:pt x="20" y="8"/>
                  </a:cubicBezTo>
                  <a:cubicBezTo>
                    <a:pt x="19" y="7"/>
                    <a:pt x="19" y="7"/>
                    <a:pt x="19" y="7"/>
                  </a:cubicBezTo>
                  <a:lnTo>
                    <a:pt x="11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2" name="Freeform 47"/>
            <p:cNvSpPr/>
            <p:nvPr/>
          </p:nvSpPr>
          <p:spPr bwMode="auto">
            <a:xfrm>
              <a:off x="4946650" y="5367338"/>
              <a:ext cx="112713" cy="85725"/>
            </a:xfrm>
            <a:custGeom>
              <a:avLst/>
              <a:gdLst>
                <a:gd name="T0" fmla="*/ 8 w 20"/>
                <a:gd name="T1" fmla="*/ 0 h 15"/>
                <a:gd name="T2" fmla="*/ 9 w 20"/>
                <a:gd name="T3" fmla="*/ 0 h 15"/>
                <a:gd name="T4" fmla="*/ 8 w 20"/>
                <a:gd name="T5" fmla="*/ 1 h 15"/>
                <a:gd name="T6" fmla="*/ 1 w 20"/>
                <a:gd name="T7" fmla="*/ 7 h 15"/>
                <a:gd name="T8" fmla="*/ 5 w 20"/>
                <a:gd name="T9" fmla="*/ 12 h 15"/>
                <a:gd name="T10" fmla="*/ 14 w 20"/>
                <a:gd name="T11" fmla="*/ 0 h 15"/>
                <a:gd name="T12" fmla="*/ 20 w 20"/>
                <a:gd name="T13" fmla="*/ 6 h 15"/>
                <a:gd name="T14" fmla="*/ 19 w 20"/>
                <a:gd name="T15" fmla="*/ 11 h 15"/>
                <a:gd name="T16" fmla="*/ 20 w 20"/>
                <a:gd name="T17" fmla="*/ 12 h 15"/>
                <a:gd name="T18" fmla="*/ 19 w 20"/>
                <a:gd name="T19" fmla="*/ 12 h 15"/>
                <a:gd name="T20" fmla="*/ 14 w 20"/>
                <a:gd name="T21" fmla="*/ 13 h 15"/>
                <a:gd name="T22" fmla="*/ 13 w 20"/>
                <a:gd name="T23" fmla="*/ 13 h 15"/>
                <a:gd name="T24" fmla="*/ 13 w 20"/>
                <a:gd name="T25" fmla="*/ 13 h 15"/>
                <a:gd name="T26" fmla="*/ 15 w 20"/>
                <a:gd name="T27" fmla="*/ 12 h 15"/>
                <a:gd name="T28" fmla="*/ 19 w 20"/>
                <a:gd name="T29" fmla="*/ 6 h 15"/>
                <a:gd name="T30" fmla="*/ 16 w 20"/>
                <a:gd name="T31" fmla="*/ 3 h 15"/>
                <a:gd name="T32" fmla="*/ 7 w 20"/>
                <a:gd name="T33" fmla="*/ 14 h 15"/>
                <a:gd name="T34" fmla="*/ 0 w 20"/>
                <a:gd name="T35" fmla="*/ 7 h 15"/>
                <a:gd name="T36" fmla="*/ 1 w 20"/>
                <a:gd name="T37" fmla="*/ 2 h 15"/>
                <a:gd name="T38" fmla="*/ 0 w 20"/>
                <a:gd name="T39" fmla="*/ 1 h 15"/>
                <a:gd name="T40" fmla="*/ 0 w 20"/>
                <a:gd name="T41" fmla="*/ 1 h 15"/>
                <a:gd name="T42" fmla="*/ 8 w 20"/>
                <a:gd name="T43" fmla="*/ 0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" h="15">
                  <a:moveTo>
                    <a:pt x="8" y="0"/>
                  </a:moveTo>
                  <a:cubicBezTo>
                    <a:pt x="9" y="0"/>
                    <a:pt x="9" y="0"/>
                    <a:pt x="9" y="0"/>
                  </a:cubicBezTo>
                  <a:cubicBezTo>
                    <a:pt x="9" y="1"/>
                    <a:pt x="8" y="1"/>
                    <a:pt x="8" y="1"/>
                  </a:cubicBezTo>
                  <a:cubicBezTo>
                    <a:pt x="4" y="2"/>
                    <a:pt x="1" y="3"/>
                    <a:pt x="1" y="7"/>
                  </a:cubicBezTo>
                  <a:cubicBezTo>
                    <a:pt x="1" y="10"/>
                    <a:pt x="2" y="12"/>
                    <a:pt x="5" y="12"/>
                  </a:cubicBezTo>
                  <a:cubicBezTo>
                    <a:pt x="10" y="11"/>
                    <a:pt x="7" y="0"/>
                    <a:pt x="14" y="0"/>
                  </a:cubicBezTo>
                  <a:cubicBezTo>
                    <a:pt x="17" y="0"/>
                    <a:pt x="20" y="3"/>
                    <a:pt x="20" y="6"/>
                  </a:cubicBezTo>
                  <a:cubicBezTo>
                    <a:pt x="20" y="9"/>
                    <a:pt x="19" y="10"/>
                    <a:pt x="19" y="11"/>
                  </a:cubicBezTo>
                  <a:cubicBezTo>
                    <a:pt x="19" y="12"/>
                    <a:pt x="20" y="11"/>
                    <a:pt x="20" y="12"/>
                  </a:cubicBezTo>
                  <a:cubicBezTo>
                    <a:pt x="20" y="12"/>
                    <a:pt x="20" y="12"/>
                    <a:pt x="19" y="12"/>
                  </a:cubicBezTo>
                  <a:cubicBezTo>
                    <a:pt x="14" y="13"/>
                    <a:pt x="14" y="13"/>
                    <a:pt x="14" y="13"/>
                  </a:cubicBezTo>
                  <a:cubicBezTo>
                    <a:pt x="14" y="13"/>
                    <a:pt x="13" y="13"/>
                    <a:pt x="13" y="13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13" y="13"/>
                    <a:pt x="14" y="13"/>
                    <a:pt x="15" y="12"/>
                  </a:cubicBezTo>
                  <a:cubicBezTo>
                    <a:pt x="18" y="11"/>
                    <a:pt x="20" y="9"/>
                    <a:pt x="19" y="6"/>
                  </a:cubicBezTo>
                  <a:cubicBezTo>
                    <a:pt x="19" y="4"/>
                    <a:pt x="18" y="2"/>
                    <a:pt x="16" y="3"/>
                  </a:cubicBezTo>
                  <a:cubicBezTo>
                    <a:pt x="12" y="3"/>
                    <a:pt x="15" y="14"/>
                    <a:pt x="7" y="14"/>
                  </a:cubicBezTo>
                  <a:cubicBezTo>
                    <a:pt x="3" y="15"/>
                    <a:pt x="0" y="12"/>
                    <a:pt x="0" y="7"/>
                  </a:cubicBezTo>
                  <a:cubicBezTo>
                    <a:pt x="0" y="5"/>
                    <a:pt x="1" y="3"/>
                    <a:pt x="1" y="2"/>
                  </a:cubicBezTo>
                  <a:cubicBezTo>
                    <a:pt x="1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lnTo>
                    <a:pt x="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3" name="Freeform 48"/>
            <p:cNvSpPr/>
            <p:nvPr/>
          </p:nvSpPr>
          <p:spPr bwMode="auto">
            <a:xfrm>
              <a:off x="4941888" y="5468938"/>
              <a:ext cx="111125" cy="63500"/>
            </a:xfrm>
            <a:custGeom>
              <a:avLst/>
              <a:gdLst>
                <a:gd name="T0" fmla="*/ 18 w 20"/>
                <a:gd name="T1" fmla="*/ 5 h 11"/>
                <a:gd name="T2" fmla="*/ 20 w 20"/>
                <a:gd name="T3" fmla="*/ 2 h 11"/>
                <a:gd name="T4" fmla="*/ 20 w 20"/>
                <a:gd name="T5" fmla="*/ 3 h 11"/>
                <a:gd name="T6" fmla="*/ 20 w 20"/>
                <a:gd name="T7" fmla="*/ 7 h 11"/>
                <a:gd name="T8" fmla="*/ 19 w 20"/>
                <a:gd name="T9" fmla="*/ 11 h 11"/>
                <a:gd name="T10" fmla="*/ 19 w 20"/>
                <a:gd name="T11" fmla="*/ 11 h 11"/>
                <a:gd name="T12" fmla="*/ 17 w 20"/>
                <a:gd name="T13" fmla="*/ 9 h 11"/>
                <a:gd name="T14" fmla="*/ 3 w 20"/>
                <a:gd name="T15" fmla="*/ 7 h 11"/>
                <a:gd name="T16" fmla="*/ 1 w 20"/>
                <a:gd name="T17" fmla="*/ 9 h 11"/>
                <a:gd name="T18" fmla="*/ 0 w 20"/>
                <a:gd name="T19" fmla="*/ 8 h 11"/>
                <a:gd name="T20" fmla="*/ 1 w 20"/>
                <a:gd name="T21" fmla="*/ 4 h 11"/>
                <a:gd name="T22" fmla="*/ 1 w 20"/>
                <a:gd name="T23" fmla="*/ 1 h 11"/>
                <a:gd name="T24" fmla="*/ 2 w 20"/>
                <a:gd name="T25" fmla="*/ 0 h 11"/>
                <a:gd name="T26" fmla="*/ 3 w 20"/>
                <a:gd name="T27" fmla="*/ 3 h 11"/>
                <a:gd name="T28" fmla="*/ 18 w 20"/>
                <a:gd name="T29" fmla="*/ 5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20" h="11">
                  <a:moveTo>
                    <a:pt x="18" y="5"/>
                  </a:moveTo>
                  <a:cubicBezTo>
                    <a:pt x="20" y="5"/>
                    <a:pt x="19" y="2"/>
                    <a:pt x="20" y="2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20" y="5"/>
                    <a:pt x="20" y="6"/>
                    <a:pt x="20" y="7"/>
                  </a:cubicBezTo>
                  <a:cubicBezTo>
                    <a:pt x="20" y="8"/>
                    <a:pt x="20" y="9"/>
                    <a:pt x="19" y="11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8" y="11"/>
                    <a:pt x="20" y="9"/>
                    <a:pt x="17" y="9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6"/>
                    <a:pt x="1" y="9"/>
                    <a:pt x="1" y="9"/>
                  </a:cubicBezTo>
                  <a:cubicBezTo>
                    <a:pt x="0" y="9"/>
                    <a:pt x="0" y="9"/>
                    <a:pt x="0" y="8"/>
                  </a:cubicBezTo>
                  <a:cubicBezTo>
                    <a:pt x="1" y="7"/>
                    <a:pt x="1" y="6"/>
                    <a:pt x="1" y="4"/>
                  </a:cubicBezTo>
                  <a:cubicBezTo>
                    <a:pt x="1" y="3"/>
                    <a:pt x="1" y="2"/>
                    <a:pt x="1" y="1"/>
                  </a:cubicBezTo>
                  <a:cubicBezTo>
                    <a:pt x="1" y="0"/>
                    <a:pt x="2" y="0"/>
                    <a:pt x="2" y="0"/>
                  </a:cubicBezTo>
                  <a:cubicBezTo>
                    <a:pt x="3" y="0"/>
                    <a:pt x="1" y="2"/>
                    <a:pt x="3" y="3"/>
                  </a:cubicBezTo>
                  <a:lnTo>
                    <a:pt x="18" y="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4" name="Freeform 49"/>
            <p:cNvSpPr/>
            <p:nvPr/>
          </p:nvSpPr>
          <p:spPr bwMode="auto">
            <a:xfrm>
              <a:off x="4919663" y="5554663"/>
              <a:ext cx="122238" cy="101600"/>
            </a:xfrm>
            <a:custGeom>
              <a:avLst/>
              <a:gdLst>
                <a:gd name="T0" fmla="*/ 19 w 22"/>
                <a:gd name="T1" fmla="*/ 8 h 18"/>
                <a:gd name="T2" fmla="*/ 16 w 22"/>
                <a:gd name="T3" fmla="*/ 0 h 18"/>
                <a:gd name="T4" fmla="*/ 16 w 22"/>
                <a:gd name="T5" fmla="*/ 0 h 18"/>
                <a:gd name="T6" fmla="*/ 17 w 22"/>
                <a:gd name="T7" fmla="*/ 1 h 18"/>
                <a:gd name="T8" fmla="*/ 22 w 22"/>
                <a:gd name="T9" fmla="*/ 3 h 18"/>
                <a:gd name="T10" fmla="*/ 22 w 22"/>
                <a:gd name="T11" fmla="*/ 4 h 18"/>
                <a:gd name="T12" fmla="*/ 22 w 22"/>
                <a:gd name="T13" fmla="*/ 4 h 18"/>
                <a:gd name="T14" fmla="*/ 21 w 22"/>
                <a:gd name="T15" fmla="*/ 5 h 18"/>
                <a:gd name="T16" fmla="*/ 17 w 22"/>
                <a:gd name="T17" fmla="*/ 17 h 18"/>
                <a:gd name="T18" fmla="*/ 17 w 22"/>
                <a:gd name="T19" fmla="*/ 17 h 18"/>
                <a:gd name="T20" fmla="*/ 18 w 22"/>
                <a:gd name="T21" fmla="*/ 18 h 18"/>
                <a:gd name="T22" fmla="*/ 17 w 22"/>
                <a:gd name="T23" fmla="*/ 18 h 18"/>
                <a:gd name="T24" fmla="*/ 12 w 22"/>
                <a:gd name="T25" fmla="*/ 17 h 18"/>
                <a:gd name="T26" fmla="*/ 11 w 22"/>
                <a:gd name="T27" fmla="*/ 17 h 18"/>
                <a:gd name="T28" fmla="*/ 11 w 22"/>
                <a:gd name="T29" fmla="*/ 17 h 18"/>
                <a:gd name="T30" fmla="*/ 18 w 22"/>
                <a:gd name="T31" fmla="*/ 12 h 18"/>
                <a:gd name="T32" fmla="*/ 3 w 22"/>
                <a:gd name="T33" fmla="*/ 7 h 18"/>
                <a:gd name="T34" fmla="*/ 1 w 22"/>
                <a:gd name="T35" fmla="*/ 9 h 18"/>
                <a:gd name="T36" fmla="*/ 0 w 22"/>
                <a:gd name="T37" fmla="*/ 9 h 18"/>
                <a:gd name="T38" fmla="*/ 0 w 22"/>
                <a:gd name="T39" fmla="*/ 9 h 18"/>
                <a:gd name="T40" fmla="*/ 1 w 22"/>
                <a:gd name="T41" fmla="*/ 4 h 18"/>
                <a:gd name="T42" fmla="*/ 3 w 22"/>
                <a:gd name="T43" fmla="*/ 0 h 18"/>
                <a:gd name="T44" fmla="*/ 3 w 22"/>
                <a:gd name="T45" fmla="*/ 0 h 18"/>
                <a:gd name="T46" fmla="*/ 3 w 22"/>
                <a:gd name="T47" fmla="*/ 1 h 18"/>
                <a:gd name="T48" fmla="*/ 5 w 22"/>
                <a:gd name="T49" fmla="*/ 3 h 18"/>
                <a:gd name="T50" fmla="*/ 19 w 22"/>
                <a:gd name="T5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2" h="18">
                  <a:moveTo>
                    <a:pt x="19" y="8"/>
                  </a:moveTo>
                  <a:cubicBezTo>
                    <a:pt x="20" y="3"/>
                    <a:pt x="16" y="1"/>
                    <a:pt x="16" y="0"/>
                  </a:cubicBezTo>
                  <a:cubicBezTo>
                    <a:pt x="16" y="0"/>
                    <a:pt x="16" y="0"/>
                    <a:pt x="16" y="0"/>
                  </a:cubicBezTo>
                  <a:cubicBezTo>
                    <a:pt x="16" y="0"/>
                    <a:pt x="17" y="0"/>
                    <a:pt x="17" y="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2" y="3"/>
                    <a:pt x="22" y="4"/>
                    <a:pt x="22" y="4"/>
                  </a:cubicBezTo>
                  <a:cubicBezTo>
                    <a:pt x="22" y="4"/>
                    <a:pt x="22" y="4"/>
                    <a:pt x="22" y="4"/>
                  </a:cubicBezTo>
                  <a:cubicBezTo>
                    <a:pt x="22" y="4"/>
                    <a:pt x="22" y="4"/>
                    <a:pt x="21" y="5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8"/>
                    <a:pt x="18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2" y="17"/>
                    <a:pt x="12" y="17"/>
                    <a:pt x="12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7"/>
                    <a:pt x="11" y="17"/>
                    <a:pt x="11" y="17"/>
                  </a:cubicBezTo>
                  <a:cubicBezTo>
                    <a:pt x="11" y="16"/>
                    <a:pt x="15" y="17"/>
                    <a:pt x="18" y="12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2" y="7"/>
                    <a:pt x="1" y="7"/>
                    <a:pt x="1" y="9"/>
                  </a:cubicBezTo>
                  <a:cubicBezTo>
                    <a:pt x="1" y="9"/>
                    <a:pt x="0" y="9"/>
                    <a:pt x="0" y="9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0" y="7"/>
                    <a:pt x="1" y="6"/>
                    <a:pt x="1" y="4"/>
                  </a:cubicBezTo>
                  <a:cubicBezTo>
                    <a:pt x="2" y="3"/>
                    <a:pt x="2" y="2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0"/>
                    <a:pt x="3" y="0"/>
                    <a:pt x="3" y="1"/>
                  </a:cubicBezTo>
                  <a:cubicBezTo>
                    <a:pt x="3" y="2"/>
                    <a:pt x="3" y="3"/>
                    <a:pt x="5" y="3"/>
                  </a:cubicBezTo>
                  <a:lnTo>
                    <a:pt x="19" y="8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5" name="Freeform 50"/>
            <p:cNvSpPr/>
            <p:nvPr/>
          </p:nvSpPr>
          <p:spPr bwMode="auto">
            <a:xfrm>
              <a:off x="4868863" y="5656263"/>
              <a:ext cx="128588" cy="125413"/>
            </a:xfrm>
            <a:custGeom>
              <a:avLst/>
              <a:gdLst>
                <a:gd name="T0" fmla="*/ 10 w 23"/>
                <a:gd name="T1" fmla="*/ 10 h 22"/>
                <a:gd name="T2" fmla="*/ 12 w 23"/>
                <a:gd name="T3" fmla="*/ 14 h 22"/>
                <a:gd name="T4" fmla="*/ 14 w 23"/>
                <a:gd name="T5" fmla="*/ 17 h 22"/>
                <a:gd name="T6" fmla="*/ 17 w 23"/>
                <a:gd name="T7" fmla="*/ 16 h 22"/>
                <a:gd name="T8" fmla="*/ 17 w 23"/>
                <a:gd name="T9" fmla="*/ 17 h 22"/>
                <a:gd name="T10" fmla="*/ 15 w 23"/>
                <a:gd name="T11" fmla="*/ 19 h 22"/>
                <a:gd name="T12" fmla="*/ 14 w 23"/>
                <a:gd name="T13" fmla="*/ 21 h 22"/>
                <a:gd name="T14" fmla="*/ 13 w 23"/>
                <a:gd name="T15" fmla="*/ 22 h 22"/>
                <a:gd name="T16" fmla="*/ 12 w 23"/>
                <a:gd name="T17" fmla="*/ 16 h 22"/>
                <a:gd name="T18" fmla="*/ 9 w 23"/>
                <a:gd name="T19" fmla="*/ 10 h 22"/>
                <a:gd name="T20" fmla="*/ 3 w 23"/>
                <a:gd name="T21" fmla="*/ 7 h 22"/>
                <a:gd name="T22" fmla="*/ 0 w 23"/>
                <a:gd name="T23" fmla="*/ 8 h 22"/>
                <a:gd name="T24" fmla="*/ 0 w 23"/>
                <a:gd name="T25" fmla="*/ 7 h 22"/>
                <a:gd name="T26" fmla="*/ 2 w 23"/>
                <a:gd name="T27" fmla="*/ 4 h 22"/>
                <a:gd name="T28" fmla="*/ 4 w 23"/>
                <a:gd name="T29" fmla="*/ 0 h 22"/>
                <a:gd name="T30" fmla="*/ 5 w 23"/>
                <a:gd name="T31" fmla="*/ 0 h 22"/>
                <a:gd name="T32" fmla="*/ 5 w 23"/>
                <a:gd name="T33" fmla="*/ 3 h 22"/>
                <a:gd name="T34" fmla="*/ 11 w 23"/>
                <a:gd name="T35" fmla="*/ 6 h 22"/>
                <a:gd name="T36" fmla="*/ 20 w 23"/>
                <a:gd name="T37" fmla="*/ 7 h 22"/>
                <a:gd name="T38" fmla="*/ 23 w 23"/>
                <a:gd name="T39" fmla="*/ 6 h 22"/>
                <a:gd name="T40" fmla="*/ 23 w 23"/>
                <a:gd name="T41" fmla="*/ 6 h 22"/>
                <a:gd name="T42" fmla="*/ 21 w 23"/>
                <a:gd name="T43" fmla="*/ 10 h 22"/>
                <a:gd name="T44" fmla="*/ 19 w 23"/>
                <a:gd name="T45" fmla="*/ 13 h 22"/>
                <a:gd name="T46" fmla="*/ 18 w 23"/>
                <a:gd name="T47" fmla="*/ 13 h 22"/>
                <a:gd name="T48" fmla="*/ 18 w 23"/>
                <a:gd name="T49" fmla="*/ 11 h 22"/>
                <a:gd name="T50" fmla="*/ 17 w 23"/>
                <a:gd name="T51" fmla="*/ 11 h 22"/>
                <a:gd name="T52" fmla="*/ 10 w 23"/>
                <a:gd name="T53" fmla="*/ 10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3" h="22">
                  <a:moveTo>
                    <a:pt x="10" y="10"/>
                  </a:moveTo>
                  <a:cubicBezTo>
                    <a:pt x="12" y="14"/>
                    <a:pt x="12" y="14"/>
                    <a:pt x="12" y="14"/>
                  </a:cubicBezTo>
                  <a:cubicBezTo>
                    <a:pt x="12" y="15"/>
                    <a:pt x="13" y="16"/>
                    <a:pt x="14" y="17"/>
                  </a:cubicBezTo>
                  <a:cubicBezTo>
                    <a:pt x="16" y="18"/>
                    <a:pt x="16" y="16"/>
                    <a:pt x="17" y="16"/>
                  </a:cubicBezTo>
                  <a:cubicBezTo>
                    <a:pt x="17" y="16"/>
                    <a:pt x="17" y="17"/>
                    <a:pt x="17" y="17"/>
                  </a:cubicBezTo>
                  <a:cubicBezTo>
                    <a:pt x="16" y="18"/>
                    <a:pt x="16" y="18"/>
                    <a:pt x="15" y="19"/>
                  </a:cubicBezTo>
                  <a:cubicBezTo>
                    <a:pt x="15" y="20"/>
                    <a:pt x="14" y="21"/>
                    <a:pt x="14" y="21"/>
                  </a:cubicBezTo>
                  <a:cubicBezTo>
                    <a:pt x="14" y="22"/>
                    <a:pt x="14" y="22"/>
                    <a:pt x="13" y="22"/>
                  </a:cubicBezTo>
                  <a:cubicBezTo>
                    <a:pt x="13" y="21"/>
                    <a:pt x="14" y="21"/>
                    <a:pt x="12" y="16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3" y="7"/>
                    <a:pt x="3" y="7"/>
                    <a:pt x="3" y="7"/>
                  </a:cubicBezTo>
                  <a:cubicBezTo>
                    <a:pt x="1" y="5"/>
                    <a:pt x="1" y="8"/>
                    <a:pt x="0" y="8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5"/>
                    <a:pt x="2" y="4"/>
                  </a:cubicBezTo>
                  <a:cubicBezTo>
                    <a:pt x="3" y="3"/>
                    <a:pt x="4" y="1"/>
                    <a:pt x="4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6" y="0"/>
                    <a:pt x="3" y="2"/>
                    <a:pt x="5" y="3"/>
                  </a:cubicBezTo>
                  <a:cubicBezTo>
                    <a:pt x="11" y="6"/>
                    <a:pt x="11" y="6"/>
                    <a:pt x="11" y="6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3" y="7"/>
                    <a:pt x="23" y="5"/>
                    <a:pt x="23" y="6"/>
                  </a:cubicBezTo>
                  <a:cubicBezTo>
                    <a:pt x="23" y="6"/>
                    <a:pt x="23" y="6"/>
                    <a:pt x="23" y="6"/>
                  </a:cubicBezTo>
                  <a:cubicBezTo>
                    <a:pt x="23" y="7"/>
                    <a:pt x="22" y="8"/>
                    <a:pt x="21" y="10"/>
                  </a:cubicBezTo>
                  <a:cubicBezTo>
                    <a:pt x="20" y="11"/>
                    <a:pt x="20" y="12"/>
                    <a:pt x="19" y="13"/>
                  </a:cubicBezTo>
                  <a:cubicBezTo>
                    <a:pt x="19" y="13"/>
                    <a:pt x="19" y="13"/>
                    <a:pt x="18" y="13"/>
                  </a:cubicBezTo>
                  <a:cubicBezTo>
                    <a:pt x="18" y="13"/>
                    <a:pt x="20" y="12"/>
                    <a:pt x="18" y="11"/>
                  </a:cubicBezTo>
                  <a:cubicBezTo>
                    <a:pt x="18" y="11"/>
                    <a:pt x="17" y="11"/>
                    <a:pt x="17" y="11"/>
                  </a:cubicBezTo>
                  <a:lnTo>
                    <a:pt x="10" y="1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7" name="Freeform 51"/>
            <p:cNvSpPr/>
            <p:nvPr/>
          </p:nvSpPr>
          <p:spPr bwMode="auto">
            <a:xfrm>
              <a:off x="4005263" y="5662613"/>
              <a:ext cx="128588" cy="112713"/>
            </a:xfrm>
            <a:custGeom>
              <a:avLst/>
              <a:gdLst>
                <a:gd name="T0" fmla="*/ 16 w 23"/>
                <a:gd name="T1" fmla="*/ 15 h 20"/>
                <a:gd name="T2" fmla="*/ 15 w 23"/>
                <a:gd name="T3" fmla="*/ 15 h 20"/>
                <a:gd name="T4" fmla="*/ 16 w 23"/>
                <a:gd name="T5" fmla="*/ 14 h 20"/>
                <a:gd name="T6" fmla="*/ 19 w 23"/>
                <a:gd name="T7" fmla="*/ 5 h 20"/>
                <a:gd name="T8" fmla="*/ 13 w 23"/>
                <a:gd name="T9" fmla="*/ 3 h 20"/>
                <a:gd name="T10" fmla="*/ 11 w 23"/>
                <a:gd name="T11" fmla="*/ 18 h 20"/>
                <a:gd name="T12" fmla="*/ 3 w 23"/>
                <a:gd name="T13" fmla="*/ 16 h 20"/>
                <a:gd name="T14" fmla="*/ 1 w 23"/>
                <a:gd name="T15" fmla="*/ 11 h 20"/>
                <a:gd name="T16" fmla="*/ 0 w 23"/>
                <a:gd name="T17" fmla="*/ 11 h 20"/>
                <a:gd name="T18" fmla="*/ 0 w 23"/>
                <a:gd name="T19" fmla="*/ 10 h 20"/>
                <a:gd name="T20" fmla="*/ 4 w 23"/>
                <a:gd name="T21" fmla="*/ 7 h 20"/>
                <a:gd name="T22" fmla="*/ 5 w 23"/>
                <a:gd name="T23" fmla="*/ 6 h 20"/>
                <a:gd name="T24" fmla="*/ 5 w 23"/>
                <a:gd name="T25" fmla="*/ 7 h 20"/>
                <a:gd name="T26" fmla="*/ 4 w 23"/>
                <a:gd name="T27" fmla="*/ 8 h 20"/>
                <a:gd name="T28" fmla="*/ 3 w 23"/>
                <a:gd name="T29" fmla="*/ 16 h 20"/>
                <a:gd name="T30" fmla="*/ 8 w 23"/>
                <a:gd name="T31" fmla="*/ 17 h 20"/>
                <a:gd name="T32" fmla="*/ 10 w 23"/>
                <a:gd name="T33" fmla="*/ 2 h 20"/>
                <a:gd name="T34" fmla="*/ 19 w 23"/>
                <a:gd name="T35" fmla="*/ 5 h 20"/>
                <a:gd name="T36" fmla="*/ 21 w 23"/>
                <a:gd name="T37" fmla="*/ 10 h 20"/>
                <a:gd name="T38" fmla="*/ 23 w 23"/>
                <a:gd name="T39" fmla="*/ 10 h 20"/>
                <a:gd name="T40" fmla="*/ 22 w 23"/>
                <a:gd name="T41" fmla="*/ 11 h 20"/>
                <a:gd name="T42" fmla="*/ 16 w 23"/>
                <a:gd name="T43" fmla="*/ 15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3" h="20">
                  <a:moveTo>
                    <a:pt x="16" y="15"/>
                  </a:moveTo>
                  <a:cubicBezTo>
                    <a:pt x="16" y="15"/>
                    <a:pt x="16" y="15"/>
                    <a:pt x="15" y="15"/>
                  </a:cubicBezTo>
                  <a:cubicBezTo>
                    <a:pt x="15" y="15"/>
                    <a:pt x="16" y="15"/>
                    <a:pt x="16" y="14"/>
                  </a:cubicBezTo>
                  <a:cubicBezTo>
                    <a:pt x="19" y="12"/>
                    <a:pt x="21" y="8"/>
                    <a:pt x="19" y="5"/>
                  </a:cubicBezTo>
                  <a:cubicBezTo>
                    <a:pt x="17" y="3"/>
                    <a:pt x="15" y="2"/>
                    <a:pt x="13" y="3"/>
                  </a:cubicBezTo>
                  <a:cubicBezTo>
                    <a:pt x="8" y="6"/>
                    <a:pt x="17" y="14"/>
                    <a:pt x="11" y="18"/>
                  </a:cubicBezTo>
                  <a:cubicBezTo>
                    <a:pt x="8" y="20"/>
                    <a:pt x="5" y="19"/>
                    <a:pt x="3" y="16"/>
                  </a:cubicBezTo>
                  <a:cubicBezTo>
                    <a:pt x="1" y="14"/>
                    <a:pt x="1" y="12"/>
                    <a:pt x="1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0" y="11"/>
                    <a:pt x="0" y="11"/>
                    <a:pt x="0" y="10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5" y="7"/>
                    <a:pt x="5" y="7"/>
                    <a:pt x="5" y="6"/>
                  </a:cubicBezTo>
                  <a:cubicBezTo>
                    <a:pt x="5" y="6"/>
                    <a:pt x="5" y="6"/>
                    <a:pt x="5" y="7"/>
                  </a:cubicBezTo>
                  <a:cubicBezTo>
                    <a:pt x="5" y="7"/>
                    <a:pt x="5" y="7"/>
                    <a:pt x="4" y="8"/>
                  </a:cubicBezTo>
                  <a:cubicBezTo>
                    <a:pt x="2" y="11"/>
                    <a:pt x="2" y="13"/>
                    <a:pt x="3" y="16"/>
                  </a:cubicBezTo>
                  <a:cubicBezTo>
                    <a:pt x="4" y="17"/>
                    <a:pt x="6" y="18"/>
                    <a:pt x="8" y="17"/>
                  </a:cubicBezTo>
                  <a:cubicBezTo>
                    <a:pt x="12" y="14"/>
                    <a:pt x="3" y="6"/>
                    <a:pt x="10" y="2"/>
                  </a:cubicBezTo>
                  <a:cubicBezTo>
                    <a:pt x="13" y="0"/>
                    <a:pt x="17" y="1"/>
                    <a:pt x="19" y="5"/>
                  </a:cubicBezTo>
                  <a:cubicBezTo>
                    <a:pt x="21" y="7"/>
                    <a:pt x="20" y="9"/>
                    <a:pt x="21" y="10"/>
                  </a:cubicBezTo>
                  <a:cubicBezTo>
                    <a:pt x="22" y="11"/>
                    <a:pt x="22" y="10"/>
                    <a:pt x="23" y="10"/>
                  </a:cubicBezTo>
                  <a:cubicBezTo>
                    <a:pt x="23" y="10"/>
                    <a:pt x="23" y="11"/>
                    <a:pt x="22" y="11"/>
                  </a:cubicBezTo>
                  <a:lnTo>
                    <a:pt x="16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8" name="Freeform 52"/>
            <p:cNvSpPr/>
            <p:nvPr/>
          </p:nvSpPr>
          <p:spPr bwMode="auto">
            <a:xfrm>
              <a:off x="3938588" y="5526088"/>
              <a:ext cx="139700" cy="141288"/>
            </a:xfrm>
            <a:custGeom>
              <a:avLst/>
              <a:gdLst>
                <a:gd name="T0" fmla="*/ 8 w 25"/>
                <a:gd name="T1" fmla="*/ 22 h 25"/>
                <a:gd name="T2" fmla="*/ 7 w 25"/>
                <a:gd name="T3" fmla="*/ 25 h 25"/>
                <a:gd name="T4" fmla="*/ 6 w 25"/>
                <a:gd name="T5" fmla="*/ 25 h 25"/>
                <a:gd name="T6" fmla="*/ 5 w 25"/>
                <a:gd name="T7" fmla="*/ 21 h 25"/>
                <a:gd name="T8" fmla="*/ 4 w 25"/>
                <a:gd name="T9" fmla="*/ 17 h 25"/>
                <a:gd name="T10" fmla="*/ 4 w 25"/>
                <a:gd name="T11" fmla="*/ 17 h 25"/>
                <a:gd name="T12" fmla="*/ 7 w 25"/>
                <a:gd name="T13" fmla="*/ 18 h 25"/>
                <a:gd name="T14" fmla="*/ 13 w 25"/>
                <a:gd name="T15" fmla="*/ 16 h 25"/>
                <a:gd name="T16" fmla="*/ 10 w 25"/>
                <a:gd name="T17" fmla="*/ 9 h 25"/>
                <a:gd name="T18" fmla="*/ 4 w 25"/>
                <a:gd name="T19" fmla="*/ 11 h 25"/>
                <a:gd name="T20" fmla="*/ 3 w 25"/>
                <a:gd name="T21" fmla="*/ 14 h 25"/>
                <a:gd name="T22" fmla="*/ 3 w 25"/>
                <a:gd name="T23" fmla="*/ 14 h 25"/>
                <a:gd name="T24" fmla="*/ 1 w 25"/>
                <a:gd name="T25" fmla="*/ 10 h 25"/>
                <a:gd name="T26" fmla="*/ 0 w 25"/>
                <a:gd name="T27" fmla="*/ 7 h 25"/>
                <a:gd name="T28" fmla="*/ 0 w 25"/>
                <a:gd name="T29" fmla="*/ 6 h 25"/>
                <a:gd name="T30" fmla="*/ 3 w 25"/>
                <a:gd name="T31" fmla="*/ 8 h 25"/>
                <a:gd name="T32" fmla="*/ 17 w 25"/>
                <a:gd name="T33" fmla="*/ 3 h 25"/>
                <a:gd name="T34" fmla="*/ 18 w 25"/>
                <a:gd name="T35" fmla="*/ 0 h 25"/>
                <a:gd name="T36" fmla="*/ 18 w 25"/>
                <a:gd name="T37" fmla="*/ 0 h 25"/>
                <a:gd name="T38" fmla="*/ 19 w 25"/>
                <a:gd name="T39" fmla="*/ 4 h 25"/>
                <a:gd name="T40" fmla="*/ 21 w 25"/>
                <a:gd name="T41" fmla="*/ 8 h 25"/>
                <a:gd name="T42" fmla="*/ 21 w 25"/>
                <a:gd name="T43" fmla="*/ 9 h 25"/>
                <a:gd name="T44" fmla="*/ 18 w 25"/>
                <a:gd name="T45" fmla="*/ 7 h 25"/>
                <a:gd name="T46" fmla="*/ 11 w 25"/>
                <a:gd name="T47" fmla="*/ 9 h 25"/>
                <a:gd name="T48" fmla="*/ 13 w 25"/>
                <a:gd name="T49" fmla="*/ 16 h 25"/>
                <a:gd name="T50" fmla="*/ 20 w 25"/>
                <a:gd name="T51" fmla="*/ 14 h 25"/>
                <a:gd name="T52" fmla="*/ 21 w 25"/>
                <a:gd name="T53" fmla="*/ 11 h 25"/>
                <a:gd name="T54" fmla="*/ 22 w 25"/>
                <a:gd name="T55" fmla="*/ 11 h 25"/>
                <a:gd name="T56" fmla="*/ 23 w 25"/>
                <a:gd name="T57" fmla="*/ 15 h 25"/>
                <a:gd name="T58" fmla="*/ 24 w 25"/>
                <a:gd name="T59" fmla="*/ 19 h 25"/>
                <a:gd name="T60" fmla="*/ 24 w 25"/>
                <a:gd name="T61" fmla="*/ 19 h 25"/>
                <a:gd name="T62" fmla="*/ 22 w 25"/>
                <a:gd name="T63" fmla="*/ 18 h 25"/>
                <a:gd name="T64" fmla="*/ 8 w 25"/>
                <a:gd name="T65" fmla="*/ 22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" h="25">
                  <a:moveTo>
                    <a:pt x="8" y="22"/>
                  </a:moveTo>
                  <a:cubicBezTo>
                    <a:pt x="6" y="23"/>
                    <a:pt x="8" y="25"/>
                    <a:pt x="7" y="25"/>
                  </a:cubicBezTo>
                  <a:cubicBezTo>
                    <a:pt x="7" y="25"/>
                    <a:pt x="6" y="25"/>
                    <a:pt x="6" y="25"/>
                  </a:cubicBezTo>
                  <a:cubicBezTo>
                    <a:pt x="6" y="24"/>
                    <a:pt x="5" y="22"/>
                    <a:pt x="5" y="21"/>
                  </a:cubicBezTo>
                  <a:cubicBezTo>
                    <a:pt x="5" y="20"/>
                    <a:pt x="4" y="19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5" y="17"/>
                    <a:pt x="4" y="19"/>
                    <a:pt x="7" y="18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0" y="9"/>
                    <a:pt x="10" y="9"/>
                    <a:pt x="10" y="9"/>
                  </a:cubicBezTo>
                  <a:cubicBezTo>
                    <a:pt x="4" y="11"/>
                    <a:pt x="4" y="11"/>
                    <a:pt x="4" y="11"/>
                  </a:cubicBezTo>
                  <a:cubicBezTo>
                    <a:pt x="2" y="12"/>
                    <a:pt x="4" y="14"/>
                    <a:pt x="3" y="14"/>
                  </a:cubicBezTo>
                  <a:cubicBezTo>
                    <a:pt x="3" y="14"/>
                    <a:pt x="3" y="14"/>
                    <a:pt x="3" y="14"/>
                  </a:cubicBezTo>
                  <a:cubicBezTo>
                    <a:pt x="2" y="13"/>
                    <a:pt x="2" y="11"/>
                    <a:pt x="1" y="10"/>
                  </a:cubicBezTo>
                  <a:cubicBezTo>
                    <a:pt x="1" y="9"/>
                    <a:pt x="1" y="8"/>
                    <a:pt x="0" y="7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1" y="6"/>
                    <a:pt x="1" y="8"/>
                    <a:pt x="3" y="8"/>
                  </a:cubicBezTo>
                  <a:cubicBezTo>
                    <a:pt x="17" y="3"/>
                    <a:pt x="17" y="3"/>
                    <a:pt x="17" y="3"/>
                  </a:cubicBezTo>
                  <a:cubicBezTo>
                    <a:pt x="19" y="2"/>
                    <a:pt x="17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9" y="2"/>
                    <a:pt x="19" y="3"/>
                    <a:pt x="19" y="4"/>
                  </a:cubicBezTo>
                  <a:cubicBezTo>
                    <a:pt x="20" y="5"/>
                    <a:pt x="20" y="7"/>
                    <a:pt x="21" y="8"/>
                  </a:cubicBezTo>
                  <a:cubicBezTo>
                    <a:pt x="21" y="8"/>
                    <a:pt x="21" y="8"/>
                    <a:pt x="21" y="9"/>
                  </a:cubicBezTo>
                  <a:cubicBezTo>
                    <a:pt x="20" y="9"/>
                    <a:pt x="20" y="6"/>
                    <a:pt x="18" y="7"/>
                  </a:cubicBezTo>
                  <a:cubicBezTo>
                    <a:pt x="11" y="9"/>
                    <a:pt x="11" y="9"/>
                    <a:pt x="11" y="9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20" y="14"/>
                    <a:pt x="20" y="14"/>
                    <a:pt x="20" y="14"/>
                  </a:cubicBezTo>
                  <a:cubicBezTo>
                    <a:pt x="22" y="13"/>
                    <a:pt x="21" y="11"/>
                    <a:pt x="21" y="11"/>
                  </a:cubicBezTo>
                  <a:cubicBezTo>
                    <a:pt x="22" y="11"/>
                    <a:pt x="22" y="11"/>
                    <a:pt x="22" y="11"/>
                  </a:cubicBezTo>
                  <a:cubicBezTo>
                    <a:pt x="22" y="13"/>
                    <a:pt x="23" y="14"/>
                    <a:pt x="23" y="15"/>
                  </a:cubicBezTo>
                  <a:cubicBezTo>
                    <a:pt x="23" y="16"/>
                    <a:pt x="24" y="17"/>
                    <a:pt x="24" y="19"/>
                  </a:cubicBezTo>
                  <a:cubicBezTo>
                    <a:pt x="25" y="19"/>
                    <a:pt x="24" y="19"/>
                    <a:pt x="24" y="19"/>
                  </a:cubicBezTo>
                  <a:cubicBezTo>
                    <a:pt x="24" y="20"/>
                    <a:pt x="24" y="17"/>
                    <a:pt x="22" y="18"/>
                  </a:cubicBezTo>
                  <a:lnTo>
                    <a:pt x="8" y="22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79" name="Freeform 53"/>
            <p:cNvSpPr/>
            <p:nvPr/>
          </p:nvSpPr>
          <p:spPr bwMode="auto">
            <a:xfrm>
              <a:off x="3927475" y="5407025"/>
              <a:ext cx="111125" cy="101600"/>
            </a:xfrm>
            <a:custGeom>
              <a:avLst/>
              <a:gdLst>
                <a:gd name="T0" fmla="*/ 3 w 20"/>
                <a:gd name="T1" fmla="*/ 16 h 18"/>
                <a:gd name="T2" fmla="*/ 1 w 20"/>
                <a:gd name="T3" fmla="*/ 18 h 18"/>
                <a:gd name="T4" fmla="*/ 0 w 20"/>
                <a:gd name="T5" fmla="*/ 18 h 18"/>
                <a:gd name="T6" fmla="*/ 0 w 20"/>
                <a:gd name="T7" fmla="*/ 14 h 18"/>
                <a:gd name="T8" fmla="*/ 0 w 20"/>
                <a:gd name="T9" fmla="*/ 4 h 18"/>
                <a:gd name="T10" fmla="*/ 5 w 20"/>
                <a:gd name="T11" fmla="*/ 2 h 18"/>
                <a:gd name="T12" fmla="*/ 6 w 20"/>
                <a:gd name="T13" fmla="*/ 2 h 18"/>
                <a:gd name="T14" fmla="*/ 6 w 20"/>
                <a:gd name="T15" fmla="*/ 2 h 18"/>
                <a:gd name="T16" fmla="*/ 4 w 20"/>
                <a:gd name="T17" fmla="*/ 3 h 18"/>
                <a:gd name="T18" fmla="*/ 1 w 20"/>
                <a:gd name="T19" fmla="*/ 10 h 18"/>
                <a:gd name="T20" fmla="*/ 1 w 20"/>
                <a:gd name="T21" fmla="*/ 12 h 18"/>
                <a:gd name="T22" fmla="*/ 9 w 20"/>
                <a:gd name="T23" fmla="*/ 11 h 18"/>
                <a:gd name="T24" fmla="*/ 9 w 20"/>
                <a:gd name="T25" fmla="*/ 11 h 18"/>
                <a:gd name="T26" fmla="*/ 5 w 20"/>
                <a:gd name="T27" fmla="*/ 7 h 18"/>
                <a:gd name="T28" fmla="*/ 5 w 20"/>
                <a:gd name="T29" fmla="*/ 7 h 18"/>
                <a:gd name="T30" fmla="*/ 5 w 20"/>
                <a:gd name="T31" fmla="*/ 7 h 18"/>
                <a:gd name="T32" fmla="*/ 13 w 20"/>
                <a:gd name="T33" fmla="*/ 6 h 18"/>
                <a:gd name="T34" fmla="*/ 14 w 20"/>
                <a:gd name="T35" fmla="*/ 6 h 18"/>
                <a:gd name="T36" fmla="*/ 13 w 20"/>
                <a:gd name="T37" fmla="*/ 7 h 18"/>
                <a:gd name="T38" fmla="*/ 10 w 20"/>
                <a:gd name="T39" fmla="*/ 10 h 18"/>
                <a:gd name="T40" fmla="*/ 10 w 20"/>
                <a:gd name="T41" fmla="*/ 11 h 18"/>
                <a:gd name="T42" fmla="*/ 17 w 20"/>
                <a:gd name="T43" fmla="*/ 11 h 18"/>
                <a:gd name="T44" fmla="*/ 19 w 20"/>
                <a:gd name="T45" fmla="*/ 8 h 18"/>
                <a:gd name="T46" fmla="*/ 12 w 20"/>
                <a:gd name="T47" fmla="*/ 1 h 18"/>
                <a:gd name="T48" fmla="*/ 11 w 20"/>
                <a:gd name="T49" fmla="*/ 1 h 18"/>
                <a:gd name="T50" fmla="*/ 12 w 20"/>
                <a:gd name="T51" fmla="*/ 0 h 18"/>
                <a:gd name="T52" fmla="*/ 13 w 20"/>
                <a:gd name="T53" fmla="*/ 0 h 18"/>
                <a:gd name="T54" fmla="*/ 19 w 20"/>
                <a:gd name="T55" fmla="*/ 1 h 18"/>
                <a:gd name="T56" fmla="*/ 19 w 20"/>
                <a:gd name="T57" fmla="*/ 13 h 18"/>
                <a:gd name="T58" fmla="*/ 20 w 20"/>
                <a:gd name="T59" fmla="*/ 17 h 18"/>
                <a:gd name="T60" fmla="*/ 19 w 20"/>
                <a:gd name="T61" fmla="*/ 17 h 18"/>
                <a:gd name="T62" fmla="*/ 17 w 20"/>
                <a:gd name="T63" fmla="*/ 15 h 18"/>
                <a:gd name="T64" fmla="*/ 3 w 20"/>
                <a:gd name="T65" fmla="*/ 16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0" h="18">
                  <a:moveTo>
                    <a:pt x="3" y="16"/>
                  </a:moveTo>
                  <a:cubicBezTo>
                    <a:pt x="0" y="16"/>
                    <a:pt x="2" y="18"/>
                    <a:pt x="1" y="18"/>
                  </a:cubicBezTo>
                  <a:cubicBezTo>
                    <a:pt x="1" y="18"/>
                    <a:pt x="0" y="18"/>
                    <a:pt x="0" y="18"/>
                  </a:cubicBezTo>
                  <a:cubicBezTo>
                    <a:pt x="0" y="16"/>
                    <a:pt x="0" y="15"/>
                    <a:pt x="0" y="14"/>
                  </a:cubicBezTo>
                  <a:cubicBezTo>
                    <a:pt x="0" y="10"/>
                    <a:pt x="0" y="7"/>
                    <a:pt x="0" y="4"/>
                  </a:cubicBezTo>
                  <a:cubicBezTo>
                    <a:pt x="5" y="2"/>
                    <a:pt x="5" y="2"/>
                    <a:pt x="5" y="2"/>
                  </a:cubicBezTo>
                  <a:cubicBezTo>
                    <a:pt x="5" y="2"/>
                    <a:pt x="6" y="2"/>
                    <a:pt x="6" y="2"/>
                  </a:cubicBezTo>
                  <a:cubicBezTo>
                    <a:pt x="6" y="2"/>
                    <a:pt x="6" y="2"/>
                    <a:pt x="6" y="2"/>
                  </a:cubicBezTo>
                  <a:cubicBezTo>
                    <a:pt x="6" y="2"/>
                    <a:pt x="6" y="2"/>
                    <a:pt x="4" y="3"/>
                  </a:cubicBezTo>
                  <a:cubicBezTo>
                    <a:pt x="2" y="5"/>
                    <a:pt x="1" y="7"/>
                    <a:pt x="1" y="10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9" y="9"/>
                    <a:pt x="7" y="7"/>
                    <a:pt x="5" y="7"/>
                  </a:cubicBezTo>
                  <a:cubicBezTo>
                    <a:pt x="5" y="7"/>
                    <a:pt x="5" y="7"/>
                    <a:pt x="5" y="7"/>
                  </a:cubicBezTo>
                  <a:cubicBezTo>
                    <a:pt x="4" y="7"/>
                    <a:pt x="5" y="7"/>
                    <a:pt x="5" y="7"/>
                  </a:cubicBezTo>
                  <a:cubicBezTo>
                    <a:pt x="13" y="6"/>
                    <a:pt x="13" y="6"/>
                    <a:pt x="13" y="6"/>
                  </a:cubicBezTo>
                  <a:cubicBezTo>
                    <a:pt x="14" y="6"/>
                    <a:pt x="14" y="6"/>
                    <a:pt x="14" y="6"/>
                  </a:cubicBezTo>
                  <a:cubicBezTo>
                    <a:pt x="14" y="7"/>
                    <a:pt x="14" y="7"/>
                    <a:pt x="13" y="7"/>
                  </a:cubicBezTo>
                  <a:cubicBezTo>
                    <a:pt x="11" y="7"/>
                    <a:pt x="9" y="9"/>
                    <a:pt x="10" y="10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18" y="11"/>
                    <a:pt x="19" y="10"/>
                    <a:pt x="19" y="8"/>
                  </a:cubicBezTo>
                  <a:cubicBezTo>
                    <a:pt x="18" y="4"/>
                    <a:pt x="15" y="2"/>
                    <a:pt x="12" y="1"/>
                  </a:cubicBezTo>
                  <a:cubicBezTo>
                    <a:pt x="12" y="1"/>
                    <a:pt x="11" y="1"/>
                    <a:pt x="11" y="1"/>
                  </a:cubicBezTo>
                  <a:cubicBezTo>
                    <a:pt x="11" y="1"/>
                    <a:pt x="12" y="0"/>
                    <a:pt x="12" y="0"/>
                  </a:cubicBezTo>
                  <a:cubicBezTo>
                    <a:pt x="12" y="0"/>
                    <a:pt x="12" y="0"/>
                    <a:pt x="13" y="0"/>
                  </a:cubicBezTo>
                  <a:cubicBezTo>
                    <a:pt x="19" y="1"/>
                    <a:pt x="19" y="1"/>
                    <a:pt x="19" y="1"/>
                  </a:cubicBezTo>
                  <a:cubicBezTo>
                    <a:pt x="19" y="5"/>
                    <a:pt x="19" y="9"/>
                    <a:pt x="19" y="13"/>
                  </a:cubicBezTo>
                  <a:cubicBezTo>
                    <a:pt x="19" y="14"/>
                    <a:pt x="20" y="15"/>
                    <a:pt x="20" y="17"/>
                  </a:cubicBezTo>
                  <a:cubicBezTo>
                    <a:pt x="20" y="17"/>
                    <a:pt x="19" y="17"/>
                    <a:pt x="19" y="17"/>
                  </a:cubicBezTo>
                  <a:cubicBezTo>
                    <a:pt x="18" y="17"/>
                    <a:pt x="19" y="15"/>
                    <a:pt x="17" y="15"/>
                  </a:cubicBezTo>
                  <a:lnTo>
                    <a:pt x="3" y="16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0" name="Freeform 54"/>
            <p:cNvSpPr/>
            <p:nvPr/>
          </p:nvSpPr>
          <p:spPr bwMode="auto">
            <a:xfrm>
              <a:off x="3927475" y="5253038"/>
              <a:ext cx="128588" cy="136525"/>
            </a:xfrm>
            <a:custGeom>
              <a:avLst/>
              <a:gdLst>
                <a:gd name="T0" fmla="*/ 15 w 23"/>
                <a:gd name="T1" fmla="*/ 19 h 24"/>
                <a:gd name="T2" fmla="*/ 19 w 23"/>
                <a:gd name="T3" fmla="*/ 18 h 24"/>
                <a:gd name="T4" fmla="*/ 20 w 23"/>
                <a:gd name="T5" fmla="*/ 17 h 24"/>
                <a:gd name="T6" fmla="*/ 20 w 23"/>
                <a:gd name="T7" fmla="*/ 17 h 24"/>
                <a:gd name="T8" fmla="*/ 20 w 23"/>
                <a:gd name="T9" fmla="*/ 21 h 24"/>
                <a:gd name="T10" fmla="*/ 19 w 23"/>
                <a:gd name="T11" fmla="*/ 24 h 24"/>
                <a:gd name="T12" fmla="*/ 18 w 23"/>
                <a:gd name="T13" fmla="*/ 24 h 24"/>
                <a:gd name="T14" fmla="*/ 18 w 23"/>
                <a:gd name="T15" fmla="*/ 22 h 24"/>
                <a:gd name="T16" fmla="*/ 15 w 23"/>
                <a:gd name="T17" fmla="*/ 20 h 24"/>
                <a:gd name="T18" fmla="*/ 3 w 23"/>
                <a:gd name="T19" fmla="*/ 17 h 24"/>
                <a:gd name="T20" fmla="*/ 1 w 23"/>
                <a:gd name="T21" fmla="*/ 19 h 24"/>
                <a:gd name="T22" fmla="*/ 0 w 23"/>
                <a:gd name="T23" fmla="*/ 20 h 24"/>
                <a:gd name="T24" fmla="*/ 0 w 23"/>
                <a:gd name="T25" fmla="*/ 20 h 24"/>
                <a:gd name="T26" fmla="*/ 1 w 23"/>
                <a:gd name="T27" fmla="*/ 17 h 24"/>
                <a:gd name="T28" fmla="*/ 2 w 23"/>
                <a:gd name="T29" fmla="*/ 14 h 24"/>
                <a:gd name="T30" fmla="*/ 16 w 23"/>
                <a:gd name="T31" fmla="*/ 6 h 24"/>
                <a:gd name="T32" fmla="*/ 16 w 23"/>
                <a:gd name="T33" fmla="*/ 6 h 24"/>
                <a:gd name="T34" fmla="*/ 8 w 23"/>
                <a:gd name="T35" fmla="*/ 5 h 24"/>
                <a:gd name="T36" fmla="*/ 4 w 23"/>
                <a:gd name="T37" fmla="*/ 6 h 24"/>
                <a:gd name="T38" fmla="*/ 3 w 23"/>
                <a:gd name="T39" fmla="*/ 7 h 24"/>
                <a:gd name="T40" fmla="*/ 3 w 23"/>
                <a:gd name="T41" fmla="*/ 6 h 24"/>
                <a:gd name="T42" fmla="*/ 4 w 23"/>
                <a:gd name="T43" fmla="*/ 3 h 24"/>
                <a:gd name="T44" fmla="*/ 4 w 23"/>
                <a:gd name="T45" fmla="*/ 0 h 24"/>
                <a:gd name="T46" fmla="*/ 5 w 23"/>
                <a:gd name="T47" fmla="*/ 0 h 24"/>
                <a:gd name="T48" fmla="*/ 5 w 23"/>
                <a:gd name="T49" fmla="*/ 1 h 24"/>
                <a:gd name="T50" fmla="*/ 8 w 23"/>
                <a:gd name="T51" fmla="*/ 4 h 24"/>
                <a:gd name="T52" fmla="*/ 22 w 23"/>
                <a:gd name="T53" fmla="*/ 7 h 24"/>
                <a:gd name="T54" fmla="*/ 23 w 23"/>
                <a:gd name="T55" fmla="*/ 7 h 24"/>
                <a:gd name="T56" fmla="*/ 22 w 23"/>
                <a:gd name="T57" fmla="*/ 8 h 24"/>
                <a:gd name="T58" fmla="*/ 4 w 23"/>
                <a:gd name="T59" fmla="*/ 17 h 24"/>
                <a:gd name="T60" fmla="*/ 4 w 23"/>
                <a:gd name="T61" fmla="*/ 17 h 24"/>
                <a:gd name="T62" fmla="*/ 15 w 23"/>
                <a:gd name="T63" fmla="*/ 1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4">
                  <a:moveTo>
                    <a:pt x="15" y="19"/>
                  </a:moveTo>
                  <a:cubicBezTo>
                    <a:pt x="18" y="20"/>
                    <a:pt x="19" y="19"/>
                    <a:pt x="19" y="18"/>
                  </a:cubicBezTo>
                  <a:cubicBezTo>
                    <a:pt x="20" y="18"/>
                    <a:pt x="20" y="17"/>
                    <a:pt x="20" y="17"/>
                  </a:cubicBezTo>
                  <a:cubicBezTo>
                    <a:pt x="20" y="17"/>
                    <a:pt x="20" y="17"/>
                    <a:pt x="20" y="17"/>
                  </a:cubicBezTo>
                  <a:cubicBezTo>
                    <a:pt x="20" y="18"/>
                    <a:pt x="20" y="19"/>
                    <a:pt x="20" y="21"/>
                  </a:cubicBezTo>
                  <a:cubicBezTo>
                    <a:pt x="19" y="22"/>
                    <a:pt x="19" y="23"/>
                    <a:pt x="19" y="24"/>
                  </a:cubicBezTo>
                  <a:cubicBezTo>
                    <a:pt x="19" y="24"/>
                    <a:pt x="19" y="24"/>
                    <a:pt x="18" y="24"/>
                  </a:cubicBezTo>
                  <a:cubicBezTo>
                    <a:pt x="18" y="24"/>
                    <a:pt x="18" y="23"/>
                    <a:pt x="18" y="22"/>
                  </a:cubicBezTo>
                  <a:cubicBezTo>
                    <a:pt x="18" y="21"/>
                    <a:pt x="17" y="20"/>
                    <a:pt x="15" y="20"/>
                  </a:cubicBezTo>
                  <a:cubicBezTo>
                    <a:pt x="3" y="17"/>
                    <a:pt x="3" y="17"/>
                    <a:pt x="3" y="17"/>
                  </a:cubicBezTo>
                  <a:cubicBezTo>
                    <a:pt x="2" y="18"/>
                    <a:pt x="1" y="19"/>
                    <a:pt x="1" y="19"/>
                  </a:cubicBezTo>
                  <a:cubicBezTo>
                    <a:pt x="1" y="20"/>
                    <a:pt x="1" y="20"/>
                    <a:pt x="0" y="20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9"/>
                    <a:pt x="1" y="18"/>
                    <a:pt x="1" y="1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16" y="6"/>
                    <a:pt x="16" y="6"/>
                    <a:pt x="16" y="6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6" y="4"/>
                    <a:pt x="5" y="5"/>
                    <a:pt x="4" y="6"/>
                  </a:cubicBezTo>
                  <a:cubicBezTo>
                    <a:pt x="4" y="6"/>
                    <a:pt x="4" y="7"/>
                    <a:pt x="3" y="7"/>
                  </a:cubicBezTo>
                  <a:cubicBezTo>
                    <a:pt x="3" y="7"/>
                    <a:pt x="3" y="7"/>
                    <a:pt x="3" y="6"/>
                  </a:cubicBezTo>
                  <a:cubicBezTo>
                    <a:pt x="3" y="6"/>
                    <a:pt x="4" y="4"/>
                    <a:pt x="4" y="3"/>
                  </a:cubicBezTo>
                  <a:cubicBezTo>
                    <a:pt x="4" y="2"/>
                    <a:pt x="4" y="1"/>
                    <a:pt x="4" y="0"/>
                  </a:cubicBezTo>
                  <a:cubicBezTo>
                    <a:pt x="4" y="0"/>
                    <a:pt x="5" y="0"/>
                    <a:pt x="5" y="0"/>
                  </a:cubicBezTo>
                  <a:cubicBezTo>
                    <a:pt x="5" y="0"/>
                    <a:pt x="5" y="1"/>
                    <a:pt x="5" y="1"/>
                  </a:cubicBezTo>
                  <a:cubicBezTo>
                    <a:pt x="5" y="2"/>
                    <a:pt x="6" y="3"/>
                    <a:pt x="8" y="4"/>
                  </a:cubicBezTo>
                  <a:cubicBezTo>
                    <a:pt x="22" y="7"/>
                    <a:pt x="22" y="7"/>
                    <a:pt x="22" y="7"/>
                  </a:cubicBezTo>
                  <a:cubicBezTo>
                    <a:pt x="23" y="7"/>
                    <a:pt x="23" y="7"/>
                    <a:pt x="23" y="7"/>
                  </a:cubicBezTo>
                  <a:cubicBezTo>
                    <a:pt x="23" y="8"/>
                    <a:pt x="23" y="8"/>
                    <a:pt x="22" y="8"/>
                  </a:cubicBezTo>
                  <a:cubicBezTo>
                    <a:pt x="4" y="17"/>
                    <a:pt x="4" y="17"/>
                    <a:pt x="4" y="17"/>
                  </a:cubicBezTo>
                  <a:cubicBezTo>
                    <a:pt x="4" y="17"/>
                    <a:pt x="4" y="17"/>
                    <a:pt x="4" y="17"/>
                  </a:cubicBezTo>
                  <a:lnTo>
                    <a:pt x="15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1" name="Freeform 55"/>
            <p:cNvSpPr/>
            <p:nvPr/>
          </p:nvSpPr>
          <p:spPr bwMode="auto">
            <a:xfrm>
              <a:off x="3965575" y="5151438"/>
              <a:ext cx="123825" cy="125413"/>
            </a:xfrm>
            <a:custGeom>
              <a:avLst/>
              <a:gdLst>
                <a:gd name="T0" fmla="*/ 19 w 22"/>
                <a:gd name="T1" fmla="*/ 15 h 22"/>
                <a:gd name="T2" fmla="*/ 19 w 22"/>
                <a:gd name="T3" fmla="*/ 8 h 22"/>
                <a:gd name="T4" fmla="*/ 16 w 22"/>
                <a:gd name="T5" fmla="*/ 5 h 22"/>
                <a:gd name="T6" fmla="*/ 17 w 22"/>
                <a:gd name="T7" fmla="*/ 5 h 22"/>
                <a:gd name="T8" fmla="*/ 18 w 22"/>
                <a:gd name="T9" fmla="*/ 6 h 22"/>
                <a:gd name="T10" fmla="*/ 22 w 22"/>
                <a:gd name="T11" fmla="*/ 9 h 22"/>
                <a:gd name="T12" fmla="*/ 19 w 22"/>
                <a:gd name="T13" fmla="*/ 16 h 22"/>
                <a:gd name="T14" fmla="*/ 17 w 22"/>
                <a:gd name="T15" fmla="*/ 22 h 22"/>
                <a:gd name="T16" fmla="*/ 16 w 22"/>
                <a:gd name="T17" fmla="*/ 22 h 22"/>
                <a:gd name="T18" fmla="*/ 16 w 22"/>
                <a:gd name="T19" fmla="*/ 21 h 22"/>
                <a:gd name="T20" fmla="*/ 4 w 22"/>
                <a:gd name="T21" fmla="*/ 4 h 22"/>
                <a:gd name="T22" fmla="*/ 4 w 22"/>
                <a:gd name="T23" fmla="*/ 6 h 22"/>
                <a:gd name="T24" fmla="*/ 4 w 22"/>
                <a:gd name="T25" fmla="*/ 13 h 22"/>
                <a:gd name="T26" fmla="*/ 5 w 22"/>
                <a:gd name="T27" fmla="*/ 15 h 22"/>
                <a:gd name="T28" fmla="*/ 5 w 22"/>
                <a:gd name="T29" fmla="*/ 16 h 22"/>
                <a:gd name="T30" fmla="*/ 4 w 22"/>
                <a:gd name="T31" fmla="*/ 15 h 22"/>
                <a:gd name="T32" fmla="*/ 0 w 22"/>
                <a:gd name="T33" fmla="*/ 12 h 22"/>
                <a:gd name="T34" fmla="*/ 3 w 22"/>
                <a:gd name="T35" fmla="*/ 6 h 22"/>
                <a:gd name="T36" fmla="*/ 5 w 22"/>
                <a:gd name="T37" fmla="*/ 0 h 22"/>
                <a:gd name="T38" fmla="*/ 6 w 22"/>
                <a:gd name="T39" fmla="*/ 0 h 22"/>
                <a:gd name="T40" fmla="*/ 6 w 22"/>
                <a:gd name="T41" fmla="*/ 1 h 22"/>
                <a:gd name="T42" fmla="*/ 18 w 22"/>
                <a:gd name="T43" fmla="*/ 17 h 22"/>
                <a:gd name="T44" fmla="*/ 19 w 22"/>
                <a:gd name="T45" fmla="*/ 15 h 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22" h="22">
                  <a:moveTo>
                    <a:pt x="19" y="15"/>
                  </a:moveTo>
                  <a:cubicBezTo>
                    <a:pt x="20" y="12"/>
                    <a:pt x="20" y="10"/>
                    <a:pt x="19" y="8"/>
                  </a:cubicBezTo>
                  <a:cubicBezTo>
                    <a:pt x="18" y="6"/>
                    <a:pt x="16" y="6"/>
                    <a:pt x="16" y="5"/>
                  </a:cubicBezTo>
                  <a:cubicBezTo>
                    <a:pt x="16" y="5"/>
                    <a:pt x="16" y="5"/>
                    <a:pt x="17" y="5"/>
                  </a:cubicBezTo>
                  <a:cubicBezTo>
                    <a:pt x="17" y="5"/>
                    <a:pt x="17" y="5"/>
                    <a:pt x="18" y="6"/>
                  </a:cubicBezTo>
                  <a:cubicBezTo>
                    <a:pt x="22" y="9"/>
                    <a:pt x="22" y="9"/>
                    <a:pt x="22" y="9"/>
                  </a:cubicBezTo>
                  <a:cubicBezTo>
                    <a:pt x="21" y="11"/>
                    <a:pt x="20" y="13"/>
                    <a:pt x="19" y="16"/>
                  </a:cubicBezTo>
                  <a:cubicBezTo>
                    <a:pt x="18" y="18"/>
                    <a:pt x="18" y="20"/>
                    <a:pt x="17" y="22"/>
                  </a:cubicBezTo>
                  <a:cubicBezTo>
                    <a:pt x="16" y="22"/>
                    <a:pt x="16" y="22"/>
                    <a:pt x="16" y="22"/>
                  </a:cubicBezTo>
                  <a:cubicBezTo>
                    <a:pt x="16" y="22"/>
                    <a:pt x="16" y="22"/>
                    <a:pt x="16" y="21"/>
                  </a:cubicBezTo>
                  <a:cubicBezTo>
                    <a:pt x="4" y="4"/>
                    <a:pt x="4" y="4"/>
                    <a:pt x="4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2" y="9"/>
                    <a:pt x="2" y="11"/>
                    <a:pt x="4" y="13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5" y="15"/>
                    <a:pt x="4" y="15"/>
                  </a:cubicBezTo>
                  <a:cubicBezTo>
                    <a:pt x="0" y="12"/>
                    <a:pt x="0" y="12"/>
                    <a:pt x="0" y="12"/>
                  </a:cubicBezTo>
                  <a:cubicBezTo>
                    <a:pt x="1" y="10"/>
                    <a:pt x="2" y="8"/>
                    <a:pt x="3" y="6"/>
                  </a:cubicBezTo>
                  <a:cubicBezTo>
                    <a:pt x="4" y="4"/>
                    <a:pt x="5" y="2"/>
                    <a:pt x="5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6" y="0"/>
                    <a:pt x="6" y="0"/>
                    <a:pt x="6" y="1"/>
                  </a:cubicBezTo>
                  <a:cubicBezTo>
                    <a:pt x="18" y="17"/>
                    <a:pt x="18" y="17"/>
                    <a:pt x="18" y="17"/>
                  </a:cubicBezTo>
                  <a:lnTo>
                    <a:pt x="19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2" name="Freeform 56"/>
            <p:cNvSpPr/>
            <p:nvPr/>
          </p:nvSpPr>
          <p:spPr bwMode="auto">
            <a:xfrm>
              <a:off x="4016375" y="5032375"/>
              <a:ext cx="150813" cy="153988"/>
            </a:xfrm>
            <a:custGeom>
              <a:avLst/>
              <a:gdLst>
                <a:gd name="T0" fmla="*/ 3 w 27"/>
                <a:gd name="T1" fmla="*/ 15 h 27"/>
                <a:gd name="T2" fmla="*/ 0 w 27"/>
                <a:gd name="T3" fmla="*/ 16 h 27"/>
                <a:gd name="T4" fmla="*/ 0 w 27"/>
                <a:gd name="T5" fmla="*/ 15 h 27"/>
                <a:gd name="T6" fmla="*/ 3 w 27"/>
                <a:gd name="T7" fmla="*/ 12 h 27"/>
                <a:gd name="T8" fmla="*/ 5 w 27"/>
                <a:gd name="T9" fmla="*/ 9 h 27"/>
                <a:gd name="T10" fmla="*/ 6 w 27"/>
                <a:gd name="T11" fmla="*/ 9 h 27"/>
                <a:gd name="T12" fmla="*/ 6 w 27"/>
                <a:gd name="T13" fmla="*/ 12 h 27"/>
                <a:gd name="T14" fmla="*/ 11 w 27"/>
                <a:gd name="T15" fmla="*/ 16 h 27"/>
                <a:gd name="T16" fmla="*/ 15 w 27"/>
                <a:gd name="T17" fmla="*/ 10 h 27"/>
                <a:gd name="T18" fmla="*/ 10 w 27"/>
                <a:gd name="T19" fmla="*/ 6 h 27"/>
                <a:gd name="T20" fmla="*/ 7 w 27"/>
                <a:gd name="T21" fmla="*/ 7 h 27"/>
                <a:gd name="T22" fmla="*/ 7 w 27"/>
                <a:gd name="T23" fmla="*/ 6 h 27"/>
                <a:gd name="T24" fmla="*/ 10 w 27"/>
                <a:gd name="T25" fmla="*/ 3 h 27"/>
                <a:gd name="T26" fmla="*/ 12 w 27"/>
                <a:gd name="T27" fmla="*/ 0 h 27"/>
                <a:gd name="T28" fmla="*/ 13 w 27"/>
                <a:gd name="T29" fmla="*/ 0 h 27"/>
                <a:gd name="T30" fmla="*/ 13 w 27"/>
                <a:gd name="T31" fmla="*/ 3 h 27"/>
                <a:gd name="T32" fmla="*/ 24 w 27"/>
                <a:gd name="T33" fmla="*/ 12 h 27"/>
                <a:gd name="T34" fmla="*/ 27 w 27"/>
                <a:gd name="T35" fmla="*/ 11 h 27"/>
                <a:gd name="T36" fmla="*/ 27 w 27"/>
                <a:gd name="T37" fmla="*/ 12 h 27"/>
                <a:gd name="T38" fmla="*/ 25 w 27"/>
                <a:gd name="T39" fmla="*/ 15 h 27"/>
                <a:gd name="T40" fmla="*/ 22 w 27"/>
                <a:gd name="T41" fmla="*/ 18 h 27"/>
                <a:gd name="T42" fmla="*/ 22 w 27"/>
                <a:gd name="T43" fmla="*/ 18 h 27"/>
                <a:gd name="T44" fmla="*/ 22 w 27"/>
                <a:gd name="T45" fmla="*/ 15 h 27"/>
                <a:gd name="T46" fmla="*/ 16 w 27"/>
                <a:gd name="T47" fmla="*/ 11 h 27"/>
                <a:gd name="T48" fmla="*/ 11 w 27"/>
                <a:gd name="T49" fmla="*/ 16 h 27"/>
                <a:gd name="T50" fmla="*/ 17 w 27"/>
                <a:gd name="T51" fmla="*/ 21 h 27"/>
                <a:gd name="T52" fmla="*/ 20 w 27"/>
                <a:gd name="T53" fmla="*/ 20 h 27"/>
                <a:gd name="T54" fmla="*/ 20 w 27"/>
                <a:gd name="T55" fmla="*/ 21 h 27"/>
                <a:gd name="T56" fmla="*/ 17 w 27"/>
                <a:gd name="T57" fmla="*/ 24 h 27"/>
                <a:gd name="T58" fmla="*/ 15 w 27"/>
                <a:gd name="T59" fmla="*/ 27 h 27"/>
                <a:gd name="T60" fmla="*/ 14 w 27"/>
                <a:gd name="T61" fmla="*/ 27 h 27"/>
                <a:gd name="T62" fmla="*/ 14 w 27"/>
                <a:gd name="T63" fmla="*/ 24 h 27"/>
                <a:gd name="T64" fmla="*/ 3 w 27"/>
                <a:gd name="T65" fmla="*/ 15 h 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7" h="27">
                  <a:moveTo>
                    <a:pt x="3" y="15"/>
                  </a:moveTo>
                  <a:cubicBezTo>
                    <a:pt x="1" y="14"/>
                    <a:pt x="1" y="16"/>
                    <a:pt x="0" y="16"/>
                  </a:cubicBezTo>
                  <a:cubicBezTo>
                    <a:pt x="0" y="16"/>
                    <a:pt x="0" y="15"/>
                    <a:pt x="0" y="15"/>
                  </a:cubicBezTo>
                  <a:cubicBezTo>
                    <a:pt x="1" y="14"/>
                    <a:pt x="2" y="13"/>
                    <a:pt x="3" y="12"/>
                  </a:cubicBezTo>
                  <a:cubicBezTo>
                    <a:pt x="3" y="11"/>
                    <a:pt x="4" y="10"/>
                    <a:pt x="5" y="9"/>
                  </a:cubicBezTo>
                  <a:cubicBezTo>
                    <a:pt x="5" y="9"/>
                    <a:pt x="5" y="9"/>
                    <a:pt x="6" y="9"/>
                  </a:cubicBezTo>
                  <a:cubicBezTo>
                    <a:pt x="6" y="9"/>
                    <a:pt x="4" y="10"/>
                    <a:pt x="6" y="12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5" y="10"/>
                    <a:pt x="15" y="10"/>
                    <a:pt x="15" y="10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8" y="5"/>
                    <a:pt x="8" y="7"/>
                    <a:pt x="7" y="7"/>
                  </a:cubicBezTo>
                  <a:cubicBezTo>
                    <a:pt x="7" y="7"/>
                    <a:pt x="7" y="6"/>
                    <a:pt x="7" y="6"/>
                  </a:cubicBezTo>
                  <a:cubicBezTo>
                    <a:pt x="8" y="5"/>
                    <a:pt x="9" y="4"/>
                    <a:pt x="10" y="3"/>
                  </a:cubicBezTo>
                  <a:cubicBezTo>
                    <a:pt x="10" y="2"/>
                    <a:pt x="11" y="1"/>
                    <a:pt x="12" y="0"/>
                  </a:cubicBezTo>
                  <a:cubicBezTo>
                    <a:pt x="12" y="0"/>
                    <a:pt x="13" y="0"/>
                    <a:pt x="13" y="0"/>
                  </a:cubicBezTo>
                  <a:cubicBezTo>
                    <a:pt x="13" y="0"/>
                    <a:pt x="11" y="1"/>
                    <a:pt x="13" y="3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26" y="13"/>
                    <a:pt x="27" y="11"/>
                    <a:pt x="27" y="11"/>
                  </a:cubicBezTo>
                  <a:cubicBezTo>
                    <a:pt x="27" y="11"/>
                    <a:pt x="27" y="12"/>
                    <a:pt x="27" y="12"/>
                  </a:cubicBezTo>
                  <a:cubicBezTo>
                    <a:pt x="26" y="13"/>
                    <a:pt x="25" y="14"/>
                    <a:pt x="25" y="15"/>
                  </a:cubicBezTo>
                  <a:cubicBezTo>
                    <a:pt x="24" y="16"/>
                    <a:pt x="23" y="17"/>
                    <a:pt x="22" y="18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1" y="18"/>
                    <a:pt x="23" y="17"/>
                    <a:pt x="22" y="15"/>
                  </a:cubicBezTo>
                  <a:cubicBezTo>
                    <a:pt x="16" y="11"/>
                    <a:pt x="16" y="11"/>
                    <a:pt x="16" y="11"/>
                  </a:cubicBezTo>
                  <a:cubicBezTo>
                    <a:pt x="11" y="16"/>
                    <a:pt x="11" y="16"/>
                    <a:pt x="11" y="16"/>
                  </a:cubicBezTo>
                  <a:cubicBezTo>
                    <a:pt x="17" y="21"/>
                    <a:pt x="17" y="21"/>
                    <a:pt x="17" y="21"/>
                  </a:cubicBezTo>
                  <a:cubicBezTo>
                    <a:pt x="19" y="22"/>
                    <a:pt x="19" y="20"/>
                    <a:pt x="20" y="20"/>
                  </a:cubicBezTo>
                  <a:cubicBezTo>
                    <a:pt x="20" y="20"/>
                    <a:pt x="20" y="21"/>
                    <a:pt x="20" y="21"/>
                  </a:cubicBezTo>
                  <a:cubicBezTo>
                    <a:pt x="19" y="22"/>
                    <a:pt x="18" y="23"/>
                    <a:pt x="17" y="24"/>
                  </a:cubicBezTo>
                  <a:cubicBezTo>
                    <a:pt x="17" y="25"/>
                    <a:pt x="16" y="26"/>
                    <a:pt x="15" y="27"/>
                  </a:cubicBezTo>
                  <a:cubicBezTo>
                    <a:pt x="15" y="27"/>
                    <a:pt x="15" y="27"/>
                    <a:pt x="14" y="27"/>
                  </a:cubicBezTo>
                  <a:cubicBezTo>
                    <a:pt x="14" y="27"/>
                    <a:pt x="16" y="26"/>
                    <a:pt x="14" y="24"/>
                  </a:cubicBezTo>
                  <a:lnTo>
                    <a:pt x="3" y="15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3" name="Freeform 57"/>
            <p:cNvSpPr/>
            <p:nvPr/>
          </p:nvSpPr>
          <p:spPr bwMode="auto">
            <a:xfrm>
              <a:off x="4122738" y="4946650"/>
              <a:ext cx="134938" cy="136525"/>
            </a:xfrm>
            <a:custGeom>
              <a:avLst/>
              <a:gdLst>
                <a:gd name="T0" fmla="*/ 3 w 24"/>
                <a:gd name="T1" fmla="*/ 9 h 24"/>
                <a:gd name="T2" fmla="*/ 0 w 24"/>
                <a:gd name="T3" fmla="*/ 9 h 24"/>
                <a:gd name="T4" fmla="*/ 1 w 24"/>
                <a:gd name="T5" fmla="*/ 8 h 24"/>
                <a:gd name="T6" fmla="*/ 4 w 24"/>
                <a:gd name="T7" fmla="*/ 6 h 24"/>
                <a:gd name="T8" fmla="*/ 12 w 24"/>
                <a:gd name="T9" fmla="*/ 0 h 24"/>
                <a:gd name="T10" fmla="*/ 16 w 24"/>
                <a:gd name="T11" fmla="*/ 4 h 24"/>
                <a:gd name="T12" fmla="*/ 17 w 24"/>
                <a:gd name="T13" fmla="*/ 4 h 24"/>
                <a:gd name="T14" fmla="*/ 17 w 24"/>
                <a:gd name="T15" fmla="*/ 4 h 24"/>
                <a:gd name="T16" fmla="*/ 14 w 24"/>
                <a:gd name="T17" fmla="*/ 3 h 24"/>
                <a:gd name="T18" fmla="*/ 7 w 24"/>
                <a:gd name="T19" fmla="*/ 4 h 24"/>
                <a:gd name="T20" fmla="*/ 6 w 24"/>
                <a:gd name="T21" fmla="*/ 5 h 24"/>
                <a:gd name="T22" fmla="*/ 11 w 24"/>
                <a:gd name="T23" fmla="*/ 12 h 24"/>
                <a:gd name="T24" fmla="*/ 11 w 24"/>
                <a:gd name="T25" fmla="*/ 11 h 24"/>
                <a:gd name="T26" fmla="*/ 12 w 24"/>
                <a:gd name="T27" fmla="*/ 7 h 24"/>
                <a:gd name="T28" fmla="*/ 12 w 24"/>
                <a:gd name="T29" fmla="*/ 6 h 24"/>
                <a:gd name="T30" fmla="*/ 12 w 24"/>
                <a:gd name="T31" fmla="*/ 6 h 24"/>
                <a:gd name="T32" fmla="*/ 17 w 24"/>
                <a:gd name="T33" fmla="*/ 13 h 24"/>
                <a:gd name="T34" fmla="*/ 17 w 24"/>
                <a:gd name="T35" fmla="*/ 13 h 24"/>
                <a:gd name="T36" fmla="*/ 17 w 24"/>
                <a:gd name="T37" fmla="*/ 13 h 24"/>
                <a:gd name="T38" fmla="*/ 11 w 24"/>
                <a:gd name="T39" fmla="*/ 12 h 24"/>
                <a:gd name="T40" fmla="*/ 11 w 24"/>
                <a:gd name="T41" fmla="*/ 12 h 24"/>
                <a:gd name="T42" fmla="*/ 15 w 24"/>
                <a:gd name="T43" fmla="*/ 18 h 24"/>
                <a:gd name="T44" fmla="*/ 18 w 24"/>
                <a:gd name="T45" fmla="*/ 18 h 24"/>
                <a:gd name="T46" fmla="*/ 21 w 24"/>
                <a:gd name="T47" fmla="*/ 9 h 24"/>
                <a:gd name="T48" fmla="*/ 21 w 24"/>
                <a:gd name="T49" fmla="*/ 8 h 24"/>
                <a:gd name="T50" fmla="*/ 21 w 24"/>
                <a:gd name="T51" fmla="*/ 8 h 24"/>
                <a:gd name="T52" fmla="*/ 22 w 24"/>
                <a:gd name="T53" fmla="*/ 9 h 24"/>
                <a:gd name="T54" fmla="*/ 24 w 24"/>
                <a:gd name="T55" fmla="*/ 15 h 24"/>
                <a:gd name="T56" fmla="*/ 15 w 24"/>
                <a:gd name="T57" fmla="*/ 21 h 24"/>
                <a:gd name="T58" fmla="*/ 12 w 24"/>
                <a:gd name="T59" fmla="*/ 24 h 24"/>
                <a:gd name="T60" fmla="*/ 11 w 24"/>
                <a:gd name="T61" fmla="*/ 24 h 24"/>
                <a:gd name="T62" fmla="*/ 12 w 24"/>
                <a:gd name="T63" fmla="*/ 21 h 24"/>
                <a:gd name="T64" fmla="*/ 3 w 24"/>
                <a:gd name="T65" fmla="*/ 9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4" h="24">
                  <a:moveTo>
                    <a:pt x="3" y="9"/>
                  </a:moveTo>
                  <a:cubicBezTo>
                    <a:pt x="2" y="7"/>
                    <a:pt x="1" y="9"/>
                    <a:pt x="0" y="9"/>
                  </a:cubicBezTo>
                  <a:cubicBezTo>
                    <a:pt x="0" y="9"/>
                    <a:pt x="0" y="8"/>
                    <a:pt x="1" y="8"/>
                  </a:cubicBezTo>
                  <a:cubicBezTo>
                    <a:pt x="2" y="7"/>
                    <a:pt x="3" y="7"/>
                    <a:pt x="4" y="6"/>
                  </a:cubicBezTo>
                  <a:cubicBezTo>
                    <a:pt x="7" y="4"/>
                    <a:pt x="9" y="2"/>
                    <a:pt x="12" y="0"/>
                  </a:cubicBezTo>
                  <a:cubicBezTo>
                    <a:pt x="16" y="4"/>
                    <a:pt x="16" y="4"/>
                    <a:pt x="16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7" y="5"/>
                    <a:pt x="16" y="4"/>
                    <a:pt x="14" y="3"/>
                  </a:cubicBezTo>
                  <a:cubicBezTo>
                    <a:pt x="12" y="2"/>
                    <a:pt x="10" y="2"/>
                    <a:pt x="7" y="4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3" y="10"/>
                    <a:pt x="13" y="8"/>
                    <a:pt x="12" y="7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2" y="6"/>
                    <a:pt x="12" y="6"/>
                    <a:pt x="12" y="6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3"/>
                    <a:pt x="17" y="13"/>
                    <a:pt x="17" y="13"/>
                  </a:cubicBezTo>
                  <a:cubicBezTo>
                    <a:pt x="17" y="14"/>
                    <a:pt x="17" y="13"/>
                    <a:pt x="17" y="13"/>
                  </a:cubicBezTo>
                  <a:cubicBezTo>
                    <a:pt x="15" y="11"/>
                    <a:pt x="13" y="11"/>
                    <a:pt x="11" y="12"/>
                  </a:cubicBezTo>
                  <a:cubicBezTo>
                    <a:pt x="11" y="12"/>
                    <a:pt x="11" y="12"/>
                    <a:pt x="11" y="12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6" y="19"/>
                    <a:pt x="17" y="19"/>
                    <a:pt x="18" y="18"/>
                  </a:cubicBezTo>
                  <a:cubicBezTo>
                    <a:pt x="22" y="16"/>
                    <a:pt x="22" y="12"/>
                    <a:pt x="21" y="9"/>
                  </a:cubicBezTo>
                  <a:cubicBezTo>
                    <a:pt x="21" y="9"/>
                    <a:pt x="21" y="8"/>
                    <a:pt x="21" y="8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21" y="9"/>
                    <a:pt x="21" y="9"/>
                    <a:pt x="22" y="9"/>
                  </a:cubicBezTo>
                  <a:cubicBezTo>
                    <a:pt x="24" y="15"/>
                    <a:pt x="24" y="15"/>
                    <a:pt x="24" y="15"/>
                  </a:cubicBezTo>
                  <a:cubicBezTo>
                    <a:pt x="21" y="17"/>
                    <a:pt x="18" y="19"/>
                    <a:pt x="15" y="21"/>
                  </a:cubicBezTo>
                  <a:cubicBezTo>
                    <a:pt x="14" y="22"/>
                    <a:pt x="13" y="23"/>
                    <a:pt x="12" y="24"/>
                  </a:cubicBezTo>
                  <a:cubicBezTo>
                    <a:pt x="11" y="24"/>
                    <a:pt x="11" y="24"/>
                    <a:pt x="11" y="24"/>
                  </a:cubicBezTo>
                  <a:cubicBezTo>
                    <a:pt x="11" y="23"/>
                    <a:pt x="13" y="23"/>
                    <a:pt x="12" y="21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4" name="Freeform 58"/>
            <p:cNvSpPr/>
            <p:nvPr/>
          </p:nvSpPr>
          <p:spPr bwMode="auto">
            <a:xfrm>
              <a:off x="4240213" y="4879975"/>
              <a:ext cx="130175" cy="141288"/>
            </a:xfrm>
            <a:custGeom>
              <a:avLst/>
              <a:gdLst>
                <a:gd name="T0" fmla="*/ 8 w 23"/>
                <a:gd name="T1" fmla="*/ 19 h 25"/>
                <a:gd name="T2" fmla="*/ 11 w 23"/>
                <a:gd name="T3" fmla="*/ 22 h 25"/>
                <a:gd name="T4" fmla="*/ 13 w 23"/>
                <a:gd name="T5" fmla="*/ 22 h 25"/>
                <a:gd name="T6" fmla="*/ 13 w 23"/>
                <a:gd name="T7" fmla="*/ 22 h 25"/>
                <a:gd name="T8" fmla="*/ 10 w 23"/>
                <a:gd name="T9" fmla="*/ 23 h 25"/>
                <a:gd name="T10" fmla="*/ 7 w 23"/>
                <a:gd name="T11" fmla="*/ 25 h 25"/>
                <a:gd name="T12" fmla="*/ 6 w 23"/>
                <a:gd name="T13" fmla="*/ 24 h 25"/>
                <a:gd name="T14" fmla="*/ 7 w 23"/>
                <a:gd name="T15" fmla="*/ 23 h 25"/>
                <a:gd name="T16" fmla="*/ 8 w 23"/>
                <a:gd name="T17" fmla="*/ 19 h 25"/>
                <a:gd name="T18" fmla="*/ 3 w 23"/>
                <a:gd name="T19" fmla="*/ 8 h 25"/>
                <a:gd name="T20" fmla="*/ 0 w 23"/>
                <a:gd name="T21" fmla="*/ 7 h 25"/>
                <a:gd name="T22" fmla="*/ 0 w 23"/>
                <a:gd name="T23" fmla="*/ 7 h 25"/>
                <a:gd name="T24" fmla="*/ 0 w 23"/>
                <a:gd name="T25" fmla="*/ 7 h 25"/>
                <a:gd name="T26" fmla="*/ 3 w 23"/>
                <a:gd name="T27" fmla="*/ 6 h 25"/>
                <a:gd name="T28" fmla="*/ 6 w 23"/>
                <a:gd name="T29" fmla="*/ 5 h 25"/>
                <a:gd name="T30" fmla="*/ 20 w 23"/>
                <a:gd name="T31" fmla="*/ 13 h 25"/>
                <a:gd name="T32" fmla="*/ 20 w 23"/>
                <a:gd name="T33" fmla="*/ 13 h 25"/>
                <a:gd name="T34" fmla="*/ 17 w 23"/>
                <a:gd name="T35" fmla="*/ 5 h 25"/>
                <a:gd name="T36" fmla="*/ 14 w 23"/>
                <a:gd name="T37" fmla="*/ 2 h 25"/>
                <a:gd name="T38" fmla="*/ 12 w 23"/>
                <a:gd name="T39" fmla="*/ 2 h 25"/>
                <a:gd name="T40" fmla="*/ 12 w 23"/>
                <a:gd name="T41" fmla="*/ 2 h 25"/>
                <a:gd name="T42" fmla="*/ 15 w 23"/>
                <a:gd name="T43" fmla="*/ 1 h 25"/>
                <a:gd name="T44" fmla="*/ 18 w 23"/>
                <a:gd name="T45" fmla="*/ 0 h 25"/>
                <a:gd name="T46" fmla="*/ 19 w 23"/>
                <a:gd name="T47" fmla="*/ 0 h 25"/>
                <a:gd name="T48" fmla="*/ 18 w 23"/>
                <a:gd name="T49" fmla="*/ 1 h 25"/>
                <a:gd name="T50" fmla="*/ 17 w 23"/>
                <a:gd name="T51" fmla="*/ 5 h 25"/>
                <a:gd name="T52" fmla="*/ 22 w 23"/>
                <a:gd name="T53" fmla="*/ 18 h 25"/>
                <a:gd name="T54" fmla="*/ 23 w 23"/>
                <a:gd name="T55" fmla="*/ 19 h 25"/>
                <a:gd name="T56" fmla="*/ 22 w 23"/>
                <a:gd name="T57" fmla="*/ 19 h 25"/>
                <a:gd name="T58" fmla="*/ 4 w 23"/>
                <a:gd name="T59" fmla="*/ 9 h 25"/>
                <a:gd name="T60" fmla="*/ 4 w 23"/>
                <a:gd name="T61" fmla="*/ 9 h 25"/>
                <a:gd name="T62" fmla="*/ 8 w 23"/>
                <a:gd name="T63" fmla="*/ 19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" h="25">
                  <a:moveTo>
                    <a:pt x="8" y="19"/>
                  </a:moveTo>
                  <a:cubicBezTo>
                    <a:pt x="9" y="21"/>
                    <a:pt x="10" y="22"/>
                    <a:pt x="11" y="22"/>
                  </a:cubicBezTo>
                  <a:cubicBezTo>
                    <a:pt x="12" y="22"/>
                    <a:pt x="13" y="21"/>
                    <a:pt x="13" y="22"/>
                  </a:cubicBezTo>
                  <a:cubicBezTo>
                    <a:pt x="13" y="22"/>
                    <a:pt x="13" y="22"/>
                    <a:pt x="13" y="22"/>
                  </a:cubicBezTo>
                  <a:cubicBezTo>
                    <a:pt x="12" y="23"/>
                    <a:pt x="11" y="23"/>
                    <a:pt x="10" y="23"/>
                  </a:cubicBezTo>
                  <a:cubicBezTo>
                    <a:pt x="9" y="24"/>
                    <a:pt x="8" y="24"/>
                    <a:pt x="7" y="25"/>
                  </a:cubicBezTo>
                  <a:cubicBezTo>
                    <a:pt x="6" y="25"/>
                    <a:pt x="6" y="25"/>
                    <a:pt x="6" y="24"/>
                  </a:cubicBezTo>
                  <a:cubicBezTo>
                    <a:pt x="6" y="24"/>
                    <a:pt x="7" y="24"/>
                    <a:pt x="7" y="23"/>
                  </a:cubicBezTo>
                  <a:cubicBezTo>
                    <a:pt x="8" y="23"/>
                    <a:pt x="9" y="22"/>
                    <a:pt x="8" y="19"/>
                  </a:cubicBezTo>
                  <a:cubicBezTo>
                    <a:pt x="3" y="8"/>
                    <a:pt x="3" y="8"/>
                    <a:pt x="3" y="8"/>
                  </a:cubicBezTo>
                  <a:cubicBezTo>
                    <a:pt x="2" y="7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6"/>
                    <a:pt x="2" y="6"/>
                    <a:pt x="3" y="6"/>
                  </a:cubicBezTo>
                  <a:cubicBezTo>
                    <a:pt x="6" y="5"/>
                    <a:pt x="6" y="5"/>
                    <a:pt x="6" y="5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20" y="13"/>
                    <a:pt x="20" y="13"/>
                    <a:pt x="20" y="13"/>
                  </a:cubicBezTo>
                  <a:cubicBezTo>
                    <a:pt x="17" y="5"/>
                    <a:pt x="17" y="5"/>
                    <a:pt x="17" y="5"/>
                  </a:cubicBezTo>
                  <a:cubicBezTo>
                    <a:pt x="16" y="3"/>
                    <a:pt x="15" y="2"/>
                    <a:pt x="14" y="2"/>
                  </a:cubicBezTo>
                  <a:cubicBezTo>
                    <a:pt x="13" y="2"/>
                    <a:pt x="12" y="3"/>
                    <a:pt x="12" y="2"/>
                  </a:cubicBezTo>
                  <a:cubicBezTo>
                    <a:pt x="12" y="2"/>
                    <a:pt x="12" y="2"/>
                    <a:pt x="12" y="2"/>
                  </a:cubicBezTo>
                  <a:cubicBezTo>
                    <a:pt x="13" y="2"/>
                    <a:pt x="14" y="1"/>
                    <a:pt x="15" y="1"/>
                  </a:cubicBezTo>
                  <a:cubicBezTo>
                    <a:pt x="17" y="0"/>
                    <a:pt x="18" y="0"/>
                    <a:pt x="18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9" y="0"/>
                    <a:pt x="18" y="0"/>
                    <a:pt x="18" y="1"/>
                  </a:cubicBezTo>
                  <a:cubicBezTo>
                    <a:pt x="17" y="1"/>
                    <a:pt x="17" y="3"/>
                    <a:pt x="17" y="5"/>
                  </a:cubicBezTo>
                  <a:cubicBezTo>
                    <a:pt x="22" y="18"/>
                    <a:pt x="22" y="18"/>
                    <a:pt x="22" y="18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2" y="19"/>
                    <a:pt x="22" y="19"/>
                    <a:pt x="22" y="19"/>
                  </a:cubicBezTo>
                  <a:cubicBezTo>
                    <a:pt x="4" y="9"/>
                    <a:pt x="4" y="9"/>
                    <a:pt x="4" y="9"/>
                  </a:cubicBezTo>
                  <a:cubicBezTo>
                    <a:pt x="4" y="9"/>
                    <a:pt x="4" y="9"/>
                    <a:pt x="4" y="9"/>
                  </a:cubicBezTo>
                  <a:lnTo>
                    <a:pt x="8" y="19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5" name="Oval 59"/>
            <p:cNvSpPr>
              <a:spLocks noChangeArrowheads="1"/>
            </p:cNvSpPr>
            <p:nvPr/>
          </p:nvSpPr>
          <p:spPr bwMode="auto">
            <a:xfrm>
              <a:off x="4195763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6" name="Oval 60"/>
            <p:cNvSpPr>
              <a:spLocks noChangeArrowheads="1"/>
            </p:cNvSpPr>
            <p:nvPr/>
          </p:nvSpPr>
          <p:spPr bwMode="auto">
            <a:xfrm>
              <a:off x="4756150" y="5861050"/>
              <a:ext cx="28575" cy="28575"/>
            </a:xfrm>
            <a:prstGeom prst="ellipse">
              <a:avLst/>
            </a:pr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7" name="Freeform 61"/>
            <p:cNvSpPr>
              <a:spLocks noEditPoints="1"/>
            </p:cNvSpPr>
            <p:nvPr/>
          </p:nvSpPr>
          <p:spPr bwMode="auto">
            <a:xfrm>
              <a:off x="3854450" y="4787900"/>
              <a:ext cx="1271588" cy="1289050"/>
            </a:xfrm>
            <a:custGeom>
              <a:avLst/>
              <a:gdLst>
                <a:gd name="T0" fmla="*/ 114 w 227"/>
                <a:gd name="T1" fmla="*/ 227 h 227"/>
                <a:gd name="T2" fmla="*/ 70 w 227"/>
                <a:gd name="T3" fmla="*/ 218 h 227"/>
                <a:gd name="T4" fmla="*/ 34 w 227"/>
                <a:gd name="T5" fmla="*/ 194 h 227"/>
                <a:gd name="T6" fmla="*/ 9 w 227"/>
                <a:gd name="T7" fmla="*/ 158 h 227"/>
                <a:gd name="T8" fmla="*/ 0 w 227"/>
                <a:gd name="T9" fmla="*/ 114 h 227"/>
                <a:gd name="T10" fmla="*/ 9 w 227"/>
                <a:gd name="T11" fmla="*/ 69 h 227"/>
                <a:gd name="T12" fmla="*/ 34 w 227"/>
                <a:gd name="T13" fmla="*/ 33 h 227"/>
                <a:gd name="T14" fmla="*/ 70 w 227"/>
                <a:gd name="T15" fmla="*/ 9 h 227"/>
                <a:gd name="T16" fmla="*/ 114 w 227"/>
                <a:gd name="T17" fmla="*/ 0 h 227"/>
                <a:gd name="T18" fmla="*/ 158 w 227"/>
                <a:gd name="T19" fmla="*/ 9 h 227"/>
                <a:gd name="T20" fmla="*/ 194 w 227"/>
                <a:gd name="T21" fmla="*/ 33 h 227"/>
                <a:gd name="T22" fmla="*/ 218 w 227"/>
                <a:gd name="T23" fmla="*/ 69 h 227"/>
                <a:gd name="T24" fmla="*/ 227 w 227"/>
                <a:gd name="T25" fmla="*/ 114 h 227"/>
                <a:gd name="T26" fmla="*/ 218 w 227"/>
                <a:gd name="T27" fmla="*/ 158 h 227"/>
                <a:gd name="T28" fmla="*/ 194 w 227"/>
                <a:gd name="T29" fmla="*/ 194 h 227"/>
                <a:gd name="T30" fmla="*/ 158 w 227"/>
                <a:gd name="T31" fmla="*/ 218 h 227"/>
                <a:gd name="T32" fmla="*/ 114 w 227"/>
                <a:gd name="T33" fmla="*/ 227 h 227"/>
                <a:gd name="T34" fmla="*/ 114 w 227"/>
                <a:gd name="T35" fmla="*/ 5 h 227"/>
                <a:gd name="T36" fmla="*/ 6 w 227"/>
                <a:gd name="T37" fmla="*/ 114 h 227"/>
                <a:gd name="T38" fmla="*/ 114 w 227"/>
                <a:gd name="T39" fmla="*/ 222 h 227"/>
                <a:gd name="T40" fmla="*/ 222 w 227"/>
                <a:gd name="T41" fmla="*/ 114 h 227"/>
                <a:gd name="T42" fmla="*/ 114 w 227"/>
                <a:gd name="T43" fmla="*/ 5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27" h="227">
                  <a:moveTo>
                    <a:pt x="114" y="227"/>
                  </a:moveTo>
                  <a:cubicBezTo>
                    <a:pt x="98" y="227"/>
                    <a:pt x="84" y="224"/>
                    <a:pt x="70" y="218"/>
                  </a:cubicBezTo>
                  <a:cubicBezTo>
                    <a:pt x="56" y="212"/>
                    <a:pt x="44" y="204"/>
                    <a:pt x="34" y="194"/>
                  </a:cubicBezTo>
                  <a:cubicBezTo>
                    <a:pt x="23" y="183"/>
                    <a:pt x="15" y="171"/>
                    <a:pt x="9" y="158"/>
                  </a:cubicBezTo>
                  <a:cubicBezTo>
                    <a:pt x="3" y="144"/>
                    <a:pt x="0" y="129"/>
                    <a:pt x="0" y="114"/>
                  </a:cubicBezTo>
                  <a:cubicBezTo>
                    <a:pt x="0" y="98"/>
                    <a:pt x="3" y="83"/>
                    <a:pt x="9" y="69"/>
                  </a:cubicBezTo>
                  <a:cubicBezTo>
                    <a:pt x="15" y="56"/>
                    <a:pt x="23" y="44"/>
                    <a:pt x="34" y="33"/>
                  </a:cubicBezTo>
                  <a:cubicBezTo>
                    <a:pt x="44" y="23"/>
                    <a:pt x="56" y="15"/>
                    <a:pt x="70" y="9"/>
                  </a:cubicBezTo>
                  <a:cubicBezTo>
                    <a:pt x="84" y="3"/>
                    <a:pt x="98" y="0"/>
                    <a:pt x="114" y="0"/>
                  </a:cubicBezTo>
                  <a:cubicBezTo>
                    <a:pt x="129" y="0"/>
                    <a:pt x="144" y="3"/>
                    <a:pt x="158" y="9"/>
                  </a:cubicBezTo>
                  <a:cubicBezTo>
                    <a:pt x="171" y="15"/>
                    <a:pt x="184" y="23"/>
                    <a:pt x="194" y="33"/>
                  </a:cubicBezTo>
                  <a:cubicBezTo>
                    <a:pt x="204" y="44"/>
                    <a:pt x="213" y="56"/>
                    <a:pt x="218" y="69"/>
                  </a:cubicBezTo>
                  <a:cubicBezTo>
                    <a:pt x="224" y="83"/>
                    <a:pt x="227" y="98"/>
                    <a:pt x="227" y="114"/>
                  </a:cubicBezTo>
                  <a:cubicBezTo>
                    <a:pt x="227" y="129"/>
                    <a:pt x="224" y="144"/>
                    <a:pt x="218" y="158"/>
                  </a:cubicBezTo>
                  <a:cubicBezTo>
                    <a:pt x="213" y="171"/>
                    <a:pt x="204" y="183"/>
                    <a:pt x="194" y="194"/>
                  </a:cubicBezTo>
                  <a:cubicBezTo>
                    <a:pt x="184" y="204"/>
                    <a:pt x="171" y="212"/>
                    <a:pt x="158" y="218"/>
                  </a:cubicBezTo>
                  <a:cubicBezTo>
                    <a:pt x="144" y="224"/>
                    <a:pt x="129" y="227"/>
                    <a:pt x="114" y="227"/>
                  </a:cubicBezTo>
                  <a:close/>
                  <a:moveTo>
                    <a:pt x="114" y="5"/>
                  </a:moveTo>
                  <a:cubicBezTo>
                    <a:pt x="54" y="5"/>
                    <a:pt x="6" y="54"/>
                    <a:pt x="6" y="114"/>
                  </a:cubicBezTo>
                  <a:cubicBezTo>
                    <a:pt x="6" y="173"/>
                    <a:pt x="54" y="222"/>
                    <a:pt x="114" y="222"/>
                  </a:cubicBezTo>
                  <a:cubicBezTo>
                    <a:pt x="173" y="222"/>
                    <a:pt x="222" y="173"/>
                    <a:pt x="222" y="114"/>
                  </a:cubicBezTo>
                  <a:cubicBezTo>
                    <a:pt x="222" y="54"/>
                    <a:pt x="173" y="5"/>
                    <a:pt x="114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8" name="Freeform 62"/>
            <p:cNvSpPr/>
            <p:nvPr/>
          </p:nvSpPr>
          <p:spPr bwMode="auto">
            <a:xfrm>
              <a:off x="4279900" y="5867400"/>
              <a:ext cx="73025" cy="119063"/>
            </a:xfrm>
            <a:custGeom>
              <a:avLst/>
              <a:gdLst>
                <a:gd name="T0" fmla="*/ 8 w 13"/>
                <a:gd name="T1" fmla="*/ 17 h 21"/>
                <a:gd name="T2" fmla="*/ 10 w 13"/>
                <a:gd name="T3" fmla="*/ 20 h 21"/>
                <a:gd name="T4" fmla="*/ 11 w 13"/>
                <a:gd name="T5" fmla="*/ 21 h 21"/>
                <a:gd name="T6" fmla="*/ 11 w 13"/>
                <a:gd name="T7" fmla="*/ 21 h 21"/>
                <a:gd name="T8" fmla="*/ 5 w 13"/>
                <a:gd name="T9" fmla="*/ 19 h 21"/>
                <a:gd name="T10" fmla="*/ 0 w 13"/>
                <a:gd name="T11" fmla="*/ 17 h 21"/>
                <a:gd name="T12" fmla="*/ 0 w 13"/>
                <a:gd name="T13" fmla="*/ 17 h 21"/>
                <a:gd name="T14" fmla="*/ 2 w 13"/>
                <a:gd name="T15" fmla="*/ 17 h 21"/>
                <a:gd name="T16" fmla="*/ 4 w 13"/>
                <a:gd name="T17" fmla="*/ 16 h 21"/>
                <a:gd name="T18" fmla="*/ 9 w 13"/>
                <a:gd name="T19" fmla="*/ 3 h 21"/>
                <a:gd name="T20" fmla="*/ 8 w 13"/>
                <a:gd name="T21" fmla="*/ 2 h 21"/>
                <a:gd name="T22" fmla="*/ 4 w 13"/>
                <a:gd name="T23" fmla="*/ 1 h 21"/>
                <a:gd name="T24" fmla="*/ 4 w 13"/>
                <a:gd name="T25" fmla="*/ 1 h 21"/>
                <a:gd name="T26" fmla="*/ 7 w 13"/>
                <a:gd name="T27" fmla="*/ 1 h 21"/>
                <a:gd name="T28" fmla="*/ 13 w 13"/>
                <a:gd name="T29" fmla="*/ 1 h 21"/>
                <a:gd name="T30" fmla="*/ 13 w 13"/>
                <a:gd name="T31" fmla="*/ 2 h 21"/>
                <a:gd name="T32" fmla="*/ 8 w 13"/>
                <a:gd name="T33" fmla="*/ 1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3" h="21">
                  <a:moveTo>
                    <a:pt x="8" y="17"/>
                  </a:moveTo>
                  <a:cubicBezTo>
                    <a:pt x="8" y="18"/>
                    <a:pt x="8" y="19"/>
                    <a:pt x="10" y="20"/>
                  </a:cubicBezTo>
                  <a:cubicBezTo>
                    <a:pt x="11" y="20"/>
                    <a:pt x="11" y="20"/>
                    <a:pt x="11" y="21"/>
                  </a:cubicBezTo>
                  <a:cubicBezTo>
                    <a:pt x="11" y="21"/>
                    <a:pt x="11" y="21"/>
                    <a:pt x="11" y="21"/>
                  </a:cubicBezTo>
                  <a:cubicBezTo>
                    <a:pt x="9" y="20"/>
                    <a:pt x="7" y="20"/>
                    <a:pt x="5" y="19"/>
                  </a:cubicBezTo>
                  <a:cubicBezTo>
                    <a:pt x="4" y="18"/>
                    <a:pt x="2" y="18"/>
                    <a:pt x="0" y="17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16"/>
                    <a:pt x="0" y="16"/>
                    <a:pt x="2" y="17"/>
                  </a:cubicBezTo>
                  <a:cubicBezTo>
                    <a:pt x="3" y="17"/>
                    <a:pt x="4" y="17"/>
                    <a:pt x="4" y="16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3"/>
                    <a:pt x="9" y="3"/>
                    <a:pt x="8" y="2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5" y="1"/>
                    <a:pt x="7" y="1"/>
                  </a:cubicBezTo>
                  <a:cubicBezTo>
                    <a:pt x="11" y="2"/>
                    <a:pt x="13" y="1"/>
                    <a:pt x="13" y="1"/>
                  </a:cubicBezTo>
                  <a:cubicBezTo>
                    <a:pt x="13" y="1"/>
                    <a:pt x="13" y="1"/>
                    <a:pt x="13" y="2"/>
                  </a:cubicBezTo>
                  <a:lnTo>
                    <a:pt x="8" y="17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89" name="Freeform 63"/>
            <p:cNvSpPr>
              <a:spLocks noEditPoints="1"/>
            </p:cNvSpPr>
            <p:nvPr/>
          </p:nvSpPr>
          <p:spPr bwMode="auto">
            <a:xfrm>
              <a:off x="4392613" y="5889625"/>
              <a:ext cx="84138" cy="107950"/>
            </a:xfrm>
            <a:custGeom>
              <a:avLst/>
              <a:gdLst>
                <a:gd name="T0" fmla="*/ 8 w 15"/>
                <a:gd name="T1" fmla="*/ 0 h 19"/>
                <a:gd name="T2" fmla="*/ 14 w 15"/>
                <a:gd name="T3" fmla="*/ 9 h 19"/>
                <a:gd name="T4" fmla="*/ 2 w 15"/>
                <a:gd name="T5" fmla="*/ 19 h 19"/>
                <a:gd name="T6" fmla="*/ 2 w 15"/>
                <a:gd name="T7" fmla="*/ 19 h 19"/>
                <a:gd name="T8" fmla="*/ 10 w 15"/>
                <a:gd name="T9" fmla="*/ 11 h 19"/>
                <a:gd name="T10" fmla="*/ 6 w 15"/>
                <a:gd name="T11" fmla="*/ 12 h 19"/>
                <a:gd name="T12" fmla="*/ 0 w 15"/>
                <a:gd name="T13" fmla="*/ 5 h 19"/>
                <a:gd name="T14" fmla="*/ 8 w 15"/>
                <a:gd name="T15" fmla="*/ 0 h 19"/>
                <a:gd name="T16" fmla="*/ 7 w 15"/>
                <a:gd name="T17" fmla="*/ 11 h 19"/>
                <a:gd name="T18" fmla="*/ 10 w 15"/>
                <a:gd name="T19" fmla="*/ 10 h 19"/>
                <a:gd name="T20" fmla="*/ 11 w 15"/>
                <a:gd name="T21" fmla="*/ 7 h 19"/>
                <a:gd name="T22" fmla="*/ 8 w 15"/>
                <a:gd name="T23" fmla="*/ 1 h 19"/>
                <a:gd name="T24" fmla="*/ 4 w 15"/>
                <a:gd name="T25" fmla="*/ 6 h 19"/>
                <a:gd name="T26" fmla="*/ 7 w 15"/>
                <a:gd name="T27" fmla="*/ 11 h 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" h="19">
                  <a:moveTo>
                    <a:pt x="8" y="0"/>
                  </a:moveTo>
                  <a:cubicBezTo>
                    <a:pt x="12" y="1"/>
                    <a:pt x="15" y="4"/>
                    <a:pt x="14" y="9"/>
                  </a:cubicBezTo>
                  <a:cubicBezTo>
                    <a:pt x="13" y="17"/>
                    <a:pt x="3" y="19"/>
                    <a:pt x="2" y="19"/>
                  </a:cubicBezTo>
                  <a:cubicBezTo>
                    <a:pt x="2" y="19"/>
                    <a:pt x="1" y="19"/>
                    <a:pt x="2" y="19"/>
                  </a:cubicBezTo>
                  <a:cubicBezTo>
                    <a:pt x="2" y="18"/>
                    <a:pt x="7" y="18"/>
                    <a:pt x="10" y="11"/>
                  </a:cubicBezTo>
                  <a:cubicBezTo>
                    <a:pt x="9" y="11"/>
                    <a:pt x="7" y="12"/>
                    <a:pt x="6" y="12"/>
                  </a:cubicBezTo>
                  <a:cubicBezTo>
                    <a:pt x="1" y="11"/>
                    <a:pt x="0" y="8"/>
                    <a:pt x="0" y="5"/>
                  </a:cubicBezTo>
                  <a:cubicBezTo>
                    <a:pt x="0" y="2"/>
                    <a:pt x="3" y="0"/>
                    <a:pt x="8" y="0"/>
                  </a:cubicBezTo>
                  <a:close/>
                  <a:moveTo>
                    <a:pt x="7" y="11"/>
                  </a:moveTo>
                  <a:cubicBezTo>
                    <a:pt x="8" y="11"/>
                    <a:pt x="10" y="10"/>
                    <a:pt x="10" y="10"/>
                  </a:cubicBezTo>
                  <a:cubicBezTo>
                    <a:pt x="10" y="10"/>
                    <a:pt x="10" y="9"/>
                    <a:pt x="11" y="7"/>
                  </a:cubicBezTo>
                  <a:cubicBezTo>
                    <a:pt x="11" y="2"/>
                    <a:pt x="10" y="1"/>
                    <a:pt x="8" y="1"/>
                  </a:cubicBezTo>
                  <a:cubicBezTo>
                    <a:pt x="6" y="0"/>
                    <a:pt x="4" y="1"/>
                    <a:pt x="4" y="6"/>
                  </a:cubicBezTo>
                  <a:cubicBezTo>
                    <a:pt x="3" y="9"/>
                    <a:pt x="5" y="11"/>
                    <a:pt x="7" y="1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0" name="Freeform 64"/>
            <p:cNvSpPr>
              <a:spLocks noEditPoints="1"/>
            </p:cNvSpPr>
            <p:nvPr/>
          </p:nvSpPr>
          <p:spPr bwMode="auto">
            <a:xfrm>
              <a:off x="4503738" y="5889625"/>
              <a:ext cx="79375" cy="112713"/>
            </a:xfrm>
            <a:custGeom>
              <a:avLst/>
              <a:gdLst>
                <a:gd name="T0" fmla="*/ 3 w 14"/>
                <a:gd name="T1" fmla="*/ 10 h 20"/>
                <a:gd name="T2" fmla="*/ 0 w 14"/>
                <a:gd name="T3" fmla="*/ 6 h 20"/>
                <a:gd name="T4" fmla="*/ 6 w 14"/>
                <a:gd name="T5" fmla="*/ 0 h 20"/>
                <a:gd name="T6" fmla="*/ 12 w 14"/>
                <a:gd name="T7" fmla="*/ 4 h 20"/>
                <a:gd name="T8" fmla="*/ 10 w 14"/>
                <a:gd name="T9" fmla="*/ 8 h 20"/>
                <a:gd name="T10" fmla="*/ 14 w 14"/>
                <a:gd name="T11" fmla="*/ 13 h 20"/>
                <a:gd name="T12" fmla="*/ 7 w 14"/>
                <a:gd name="T13" fmla="*/ 20 h 20"/>
                <a:gd name="T14" fmla="*/ 0 w 14"/>
                <a:gd name="T15" fmla="*/ 15 h 20"/>
                <a:gd name="T16" fmla="*/ 3 w 14"/>
                <a:gd name="T17" fmla="*/ 10 h 20"/>
                <a:gd name="T18" fmla="*/ 7 w 14"/>
                <a:gd name="T19" fmla="*/ 19 h 20"/>
                <a:gd name="T20" fmla="*/ 11 w 14"/>
                <a:gd name="T21" fmla="*/ 15 h 20"/>
                <a:gd name="T22" fmla="*/ 7 w 14"/>
                <a:gd name="T23" fmla="*/ 12 h 20"/>
                <a:gd name="T24" fmla="*/ 3 w 14"/>
                <a:gd name="T25" fmla="*/ 11 h 20"/>
                <a:gd name="T26" fmla="*/ 2 w 14"/>
                <a:gd name="T27" fmla="*/ 15 h 20"/>
                <a:gd name="T28" fmla="*/ 7 w 14"/>
                <a:gd name="T29" fmla="*/ 19 h 20"/>
                <a:gd name="T30" fmla="*/ 6 w 14"/>
                <a:gd name="T31" fmla="*/ 1 h 20"/>
                <a:gd name="T32" fmla="*/ 3 w 14"/>
                <a:gd name="T33" fmla="*/ 4 h 20"/>
                <a:gd name="T34" fmla="*/ 10 w 14"/>
                <a:gd name="T35" fmla="*/ 8 h 20"/>
                <a:gd name="T36" fmla="*/ 11 w 14"/>
                <a:gd name="T37" fmla="*/ 5 h 20"/>
                <a:gd name="T38" fmla="*/ 6 w 14"/>
                <a:gd name="T39" fmla="*/ 1 h 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4" h="20">
                  <a:moveTo>
                    <a:pt x="3" y="10"/>
                  </a:moveTo>
                  <a:cubicBezTo>
                    <a:pt x="1" y="9"/>
                    <a:pt x="0" y="8"/>
                    <a:pt x="0" y="6"/>
                  </a:cubicBezTo>
                  <a:cubicBezTo>
                    <a:pt x="0" y="3"/>
                    <a:pt x="2" y="1"/>
                    <a:pt x="6" y="0"/>
                  </a:cubicBezTo>
                  <a:cubicBezTo>
                    <a:pt x="9" y="0"/>
                    <a:pt x="12" y="2"/>
                    <a:pt x="12" y="4"/>
                  </a:cubicBezTo>
                  <a:cubicBezTo>
                    <a:pt x="12" y="6"/>
                    <a:pt x="12" y="7"/>
                    <a:pt x="10" y="8"/>
                  </a:cubicBezTo>
                  <a:cubicBezTo>
                    <a:pt x="13" y="9"/>
                    <a:pt x="14" y="11"/>
                    <a:pt x="14" y="13"/>
                  </a:cubicBezTo>
                  <a:cubicBezTo>
                    <a:pt x="14" y="17"/>
                    <a:pt x="11" y="19"/>
                    <a:pt x="7" y="20"/>
                  </a:cubicBezTo>
                  <a:cubicBezTo>
                    <a:pt x="3" y="20"/>
                    <a:pt x="0" y="18"/>
                    <a:pt x="0" y="15"/>
                  </a:cubicBezTo>
                  <a:cubicBezTo>
                    <a:pt x="0" y="14"/>
                    <a:pt x="1" y="12"/>
                    <a:pt x="3" y="10"/>
                  </a:cubicBezTo>
                  <a:close/>
                  <a:moveTo>
                    <a:pt x="7" y="19"/>
                  </a:moveTo>
                  <a:cubicBezTo>
                    <a:pt x="10" y="19"/>
                    <a:pt x="11" y="17"/>
                    <a:pt x="11" y="15"/>
                  </a:cubicBezTo>
                  <a:cubicBezTo>
                    <a:pt x="11" y="14"/>
                    <a:pt x="10" y="12"/>
                    <a:pt x="7" y="12"/>
                  </a:cubicBezTo>
                  <a:cubicBezTo>
                    <a:pt x="4" y="11"/>
                    <a:pt x="4" y="10"/>
                    <a:pt x="3" y="11"/>
                  </a:cubicBezTo>
                  <a:cubicBezTo>
                    <a:pt x="3" y="11"/>
                    <a:pt x="1" y="12"/>
                    <a:pt x="2" y="15"/>
                  </a:cubicBezTo>
                  <a:cubicBezTo>
                    <a:pt x="2" y="18"/>
                    <a:pt x="4" y="20"/>
                    <a:pt x="7" y="19"/>
                  </a:cubicBezTo>
                  <a:close/>
                  <a:moveTo>
                    <a:pt x="6" y="1"/>
                  </a:moveTo>
                  <a:cubicBezTo>
                    <a:pt x="4" y="1"/>
                    <a:pt x="3" y="2"/>
                    <a:pt x="3" y="4"/>
                  </a:cubicBezTo>
                  <a:cubicBezTo>
                    <a:pt x="4" y="7"/>
                    <a:pt x="8" y="8"/>
                    <a:pt x="10" y="8"/>
                  </a:cubicBezTo>
                  <a:cubicBezTo>
                    <a:pt x="11" y="8"/>
                    <a:pt x="11" y="7"/>
                    <a:pt x="11" y="5"/>
                  </a:cubicBezTo>
                  <a:cubicBezTo>
                    <a:pt x="11" y="2"/>
                    <a:pt x="9" y="1"/>
                    <a:pt x="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1" name="Freeform 65"/>
            <p:cNvSpPr/>
            <p:nvPr/>
          </p:nvSpPr>
          <p:spPr bwMode="auto">
            <a:xfrm>
              <a:off x="4605338" y="5867400"/>
              <a:ext cx="88900" cy="119063"/>
            </a:xfrm>
            <a:custGeom>
              <a:avLst/>
              <a:gdLst>
                <a:gd name="T0" fmla="*/ 11 w 16"/>
                <a:gd name="T1" fmla="*/ 7 h 21"/>
                <a:gd name="T2" fmla="*/ 15 w 16"/>
                <a:gd name="T3" fmla="*/ 11 h 21"/>
                <a:gd name="T4" fmla="*/ 10 w 16"/>
                <a:gd name="T5" fmla="*/ 20 h 21"/>
                <a:gd name="T6" fmla="*/ 2 w 16"/>
                <a:gd name="T7" fmla="*/ 18 h 21"/>
                <a:gd name="T8" fmla="*/ 4 w 16"/>
                <a:gd name="T9" fmla="*/ 16 h 21"/>
                <a:gd name="T10" fmla="*/ 6 w 16"/>
                <a:gd name="T11" fmla="*/ 18 h 21"/>
                <a:gd name="T12" fmla="*/ 10 w 16"/>
                <a:gd name="T13" fmla="*/ 19 h 21"/>
                <a:gd name="T14" fmla="*/ 12 w 16"/>
                <a:gd name="T15" fmla="*/ 14 h 21"/>
                <a:gd name="T16" fmla="*/ 8 w 16"/>
                <a:gd name="T17" fmla="*/ 10 h 21"/>
                <a:gd name="T18" fmla="*/ 5 w 16"/>
                <a:gd name="T19" fmla="*/ 11 h 21"/>
                <a:gd name="T20" fmla="*/ 8 w 16"/>
                <a:gd name="T21" fmla="*/ 9 h 21"/>
                <a:gd name="T22" fmla="*/ 8 w 16"/>
                <a:gd name="T23" fmla="*/ 6 h 21"/>
                <a:gd name="T24" fmla="*/ 3 w 16"/>
                <a:gd name="T25" fmla="*/ 4 h 21"/>
                <a:gd name="T26" fmla="*/ 0 w 16"/>
                <a:gd name="T27" fmla="*/ 7 h 21"/>
                <a:gd name="T28" fmla="*/ 0 w 16"/>
                <a:gd name="T29" fmla="*/ 7 h 21"/>
                <a:gd name="T30" fmla="*/ 5 w 16"/>
                <a:gd name="T31" fmla="*/ 1 h 21"/>
                <a:gd name="T32" fmla="*/ 11 w 16"/>
                <a:gd name="T33" fmla="*/ 4 h 21"/>
                <a:gd name="T34" fmla="*/ 11 w 16"/>
                <a:gd name="T35" fmla="*/ 7 h 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6" h="21">
                  <a:moveTo>
                    <a:pt x="11" y="7"/>
                  </a:moveTo>
                  <a:cubicBezTo>
                    <a:pt x="13" y="8"/>
                    <a:pt x="14" y="9"/>
                    <a:pt x="15" y="11"/>
                  </a:cubicBezTo>
                  <a:cubicBezTo>
                    <a:pt x="16" y="15"/>
                    <a:pt x="14" y="19"/>
                    <a:pt x="10" y="20"/>
                  </a:cubicBezTo>
                  <a:cubicBezTo>
                    <a:pt x="6" y="21"/>
                    <a:pt x="3" y="20"/>
                    <a:pt x="2" y="18"/>
                  </a:cubicBezTo>
                  <a:cubicBezTo>
                    <a:pt x="2" y="17"/>
                    <a:pt x="2" y="16"/>
                    <a:pt x="4" y="16"/>
                  </a:cubicBezTo>
                  <a:cubicBezTo>
                    <a:pt x="5" y="15"/>
                    <a:pt x="6" y="16"/>
                    <a:pt x="6" y="18"/>
                  </a:cubicBezTo>
                  <a:cubicBezTo>
                    <a:pt x="7" y="19"/>
                    <a:pt x="8" y="20"/>
                    <a:pt x="10" y="19"/>
                  </a:cubicBezTo>
                  <a:cubicBezTo>
                    <a:pt x="12" y="19"/>
                    <a:pt x="13" y="17"/>
                    <a:pt x="12" y="14"/>
                  </a:cubicBezTo>
                  <a:cubicBezTo>
                    <a:pt x="11" y="12"/>
                    <a:pt x="9" y="10"/>
                    <a:pt x="8" y="10"/>
                  </a:cubicBezTo>
                  <a:cubicBezTo>
                    <a:pt x="7" y="10"/>
                    <a:pt x="5" y="11"/>
                    <a:pt x="5" y="11"/>
                  </a:cubicBezTo>
                  <a:cubicBezTo>
                    <a:pt x="5" y="10"/>
                    <a:pt x="6" y="10"/>
                    <a:pt x="8" y="9"/>
                  </a:cubicBezTo>
                  <a:cubicBezTo>
                    <a:pt x="8" y="8"/>
                    <a:pt x="8" y="7"/>
                    <a:pt x="8" y="6"/>
                  </a:cubicBezTo>
                  <a:cubicBezTo>
                    <a:pt x="7" y="4"/>
                    <a:pt x="6" y="3"/>
                    <a:pt x="3" y="4"/>
                  </a:cubicBezTo>
                  <a:cubicBezTo>
                    <a:pt x="1" y="4"/>
                    <a:pt x="1" y="7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6"/>
                    <a:pt x="1" y="2"/>
                    <a:pt x="5" y="1"/>
                  </a:cubicBezTo>
                  <a:cubicBezTo>
                    <a:pt x="7" y="0"/>
                    <a:pt x="10" y="1"/>
                    <a:pt x="11" y="4"/>
                  </a:cubicBezTo>
                  <a:cubicBezTo>
                    <a:pt x="12" y="5"/>
                    <a:pt x="11" y="6"/>
                    <a:pt x="11" y="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2" name="Freeform 66"/>
            <p:cNvSpPr/>
            <p:nvPr/>
          </p:nvSpPr>
          <p:spPr bwMode="auto">
            <a:xfrm>
              <a:off x="4375150" y="5480050"/>
              <a:ext cx="22225" cy="6350"/>
            </a:xfrm>
            <a:custGeom>
              <a:avLst/>
              <a:gdLst>
                <a:gd name="T0" fmla="*/ 1 w 4"/>
                <a:gd name="T1" fmla="*/ 1 h 1"/>
                <a:gd name="T2" fmla="*/ 2 w 4"/>
                <a:gd name="T3" fmla="*/ 1 h 1"/>
                <a:gd name="T4" fmla="*/ 4 w 4"/>
                <a:gd name="T5" fmla="*/ 1 h 1"/>
                <a:gd name="T6" fmla="*/ 4 w 4"/>
                <a:gd name="T7" fmla="*/ 1 h 1"/>
                <a:gd name="T8" fmla="*/ 2 w 4"/>
                <a:gd name="T9" fmla="*/ 0 h 1"/>
                <a:gd name="T10" fmla="*/ 0 w 4"/>
                <a:gd name="T11" fmla="*/ 1 h 1"/>
                <a:gd name="T12" fmla="*/ 1 w 4"/>
                <a:gd name="T13" fmla="*/ 1 h 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" h="1">
                  <a:moveTo>
                    <a:pt x="1" y="1"/>
                  </a:moveTo>
                  <a:cubicBezTo>
                    <a:pt x="2" y="1"/>
                    <a:pt x="2" y="1"/>
                    <a:pt x="2" y="1"/>
                  </a:cubicBezTo>
                  <a:cubicBezTo>
                    <a:pt x="3" y="1"/>
                    <a:pt x="3" y="1"/>
                    <a:pt x="4" y="1"/>
                  </a:cubicBezTo>
                  <a:cubicBezTo>
                    <a:pt x="4" y="1"/>
                    <a:pt x="4" y="1"/>
                    <a:pt x="4" y="1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0"/>
                    <a:pt x="0" y="0"/>
                    <a:pt x="0" y="1"/>
                  </a:cubicBezTo>
                  <a:cubicBezTo>
                    <a:pt x="0" y="1"/>
                    <a:pt x="1" y="1"/>
                    <a:pt x="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3" name="Freeform 67"/>
            <p:cNvSpPr/>
            <p:nvPr/>
          </p:nvSpPr>
          <p:spPr bwMode="auto">
            <a:xfrm>
              <a:off x="4346575" y="5554663"/>
              <a:ext cx="73025" cy="17463"/>
            </a:xfrm>
            <a:custGeom>
              <a:avLst/>
              <a:gdLst>
                <a:gd name="T0" fmla="*/ 13 w 13"/>
                <a:gd name="T1" fmla="*/ 2 h 3"/>
                <a:gd name="T2" fmla="*/ 9 w 13"/>
                <a:gd name="T3" fmla="*/ 1 h 3"/>
                <a:gd name="T4" fmla="*/ 1 w 13"/>
                <a:gd name="T5" fmla="*/ 1 h 3"/>
                <a:gd name="T6" fmla="*/ 0 w 13"/>
                <a:gd name="T7" fmla="*/ 2 h 3"/>
                <a:gd name="T8" fmla="*/ 6 w 13"/>
                <a:gd name="T9" fmla="*/ 3 h 3"/>
                <a:gd name="T10" fmla="*/ 8 w 13"/>
                <a:gd name="T11" fmla="*/ 3 h 3"/>
                <a:gd name="T12" fmla="*/ 13 w 13"/>
                <a:gd name="T13" fmla="*/ 2 h 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" h="3">
                  <a:moveTo>
                    <a:pt x="13" y="2"/>
                  </a:moveTo>
                  <a:cubicBezTo>
                    <a:pt x="13" y="0"/>
                    <a:pt x="13" y="1"/>
                    <a:pt x="9" y="1"/>
                  </a:cubicBezTo>
                  <a:cubicBezTo>
                    <a:pt x="8" y="1"/>
                    <a:pt x="2" y="1"/>
                    <a:pt x="1" y="1"/>
                  </a:cubicBezTo>
                  <a:cubicBezTo>
                    <a:pt x="0" y="1"/>
                    <a:pt x="0" y="2"/>
                    <a:pt x="0" y="2"/>
                  </a:cubicBezTo>
                  <a:cubicBezTo>
                    <a:pt x="0" y="3"/>
                    <a:pt x="0" y="3"/>
                    <a:pt x="6" y="3"/>
                  </a:cubicBezTo>
                  <a:cubicBezTo>
                    <a:pt x="8" y="3"/>
                    <a:pt x="8" y="3"/>
                    <a:pt x="8" y="3"/>
                  </a:cubicBezTo>
                  <a:cubicBezTo>
                    <a:pt x="12" y="3"/>
                    <a:pt x="12" y="3"/>
                    <a:pt x="13" y="2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4" name="Freeform 68"/>
            <p:cNvSpPr>
              <a:spLocks noEditPoints="1"/>
            </p:cNvSpPr>
            <p:nvPr/>
          </p:nvSpPr>
          <p:spPr bwMode="auto">
            <a:xfrm>
              <a:off x="4106863" y="5043488"/>
              <a:ext cx="766763" cy="777875"/>
            </a:xfrm>
            <a:custGeom>
              <a:avLst/>
              <a:gdLst>
                <a:gd name="T0" fmla="*/ 137 w 137"/>
                <a:gd name="T1" fmla="*/ 42 h 137"/>
                <a:gd name="T2" fmla="*/ 91 w 137"/>
                <a:gd name="T3" fmla="*/ 1 h 137"/>
                <a:gd name="T4" fmla="*/ 50 w 137"/>
                <a:gd name="T5" fmla="*/ 4 h 137"/>
                <a:gd name="T6" fmla="*/ 42 w 137"/>
                <a:gd name="T7" fmla="*/ 0 h 137"/>
                <a:gd name="T8" fmla="*/ 20 w 137"/>
                <a:gd name="T9" fmla="*/ 43 h 137"/>
                <a:gd name="T10" fmla="*/ 2 w 137"/>
                <a:gd name="T11" fmla="*/ 64 h 137"/>
                <a:gd name="T12" fmla="*/ 20 w 137"/>
                <a:gd name="T13" fmla="*/ 67 h 137"/>
                <a:gd name="T14" fmla="*/ 2 w 137"/>
                <a:gd name="T15" fmla="*/ 88 h 137"/>
                <a:gd name="T16" fmla="*/ 21 w 137"/>
                <a:gd name="T17" fmla="*/ 87 h 137"/>
                <a:gd name="T18" fmla="*/ 47 w 137"/>
                <a:gd name="T19" fmla="*/ 121 h 137"/>
                <a:gd name="T20" fmla="*/ 42 w 137"/>
                <a:gd name="T21" fmla="*/ 137 h 137"/>
                <a:gd name="T22" fmla="*/ 63 w 137"/>
                <a:gd name="T23" fmla="*/ 121 h 137"/>
                <a:gd name="T24" fmla="*/ 74 w 137"/>
                <a:gd name="T25" fmla="*/ 119 h 137"/>
                <a:gd name="T26" fmla="*/ 84 w 137"/>
                <a:gd name="T27" fmla="*/ 119 h 137"/>
                <a:gd name="T28" fmla="*/ 118 w 137"/>
                <a:gd name="T29" fmla="*/ 94 h 137"/>
                <a:gd name="T30" fmla="*/ 136 w 137"/>
                <a:gd name="T31" fmla="*/ 98 h 137"/>
                <a:gd name="T32" fmla="*/ 116 w 137"/>
                <a:gd name="T33" fmla="*/ 66 h 137"/>
                <a:gd name="T34" fmla="*/ 137 w 137"/>
                <a:gd name="T35" fmla="*/ 88 h 137"/>
                <a:gd name="T36" fmla="*/ 116 w 137"/>
                <a:gd name="T37" fmla="*/ 41 h 137"/>
                <a:gd name="T38" fmla="*/ 103 w 137"/>
                <a:gd name="T39" fmla="*/ 44 h 137"/>
                <a:gd name="T40" fmla="*/ 80 w 137"/>
                <a:gd name="T41" fmla="*/ 35 h 137"/>
                <a:gd name="T42" fmla="*/ 80 w 137"/>
                <a:gd name="T43" fmla="*/ 35 h 137"/>
                <a:gd name="T44" fmla="*/ 79 w 137"/>
                <a:gd name="T45" fmla="*/ 52 h 137"/>
                <a:gd name="T46" fmla="*/ 77 w 137"/>
                <a:gd name="T47" fmla="*/ 53 h 137"/>
                <a:gd name="T48" fmla="*/ 73 w 137"/>
                <a:gd name="T49" fmla="*/ 34 h 137"/>
                <a:gd name="T50" fmla="*/ 73 w 137"/>
                <a:gd name="T51" fmla="*/ 59 h 137"/>
                <a:gd name="T52" fmla="*/ 53 w 137"/>
                <a:gd name="T53" fmla="*/ 104 h 137"/>
                <a:gd name="T54" fmla="*/ 39 w 137"/>
                <a:gd name="T55" fmla="*/ 100 h 137"/>
                <a:gd name="T56" fmla="*/ 39 w 137"/>
                <a:gd name="T57" fmla="*/ 92 h 137"/>
                <a:gd name="T58" fmla="*/ 61 w 137"/>
                <a:gd name="T59" fmla="*/ 98 h 137"/>
                <a:gd name="T60" fmla="*/ 32 w 137"/>
                <a:gd name="T61" fmla="*/ 94 h 137"/>
                <a:gd name="T62" fmla="*/ 40 w 137"/>
                <a:gd name="T63" fmla="*/ 77 h 137"/>
                <a:gd name="T64" fmla="*/ 34 w 137"/>
                <a:gd name="T65" fmla="*/ 83 h 137"/>
                <a:gd name="T66" fmla="*/ 45 w 137"/>
                <a:gd name="T67" fmla="*/ 73 h 137"/>
                <a:gd name="T68" fmla="*/ 53 w 137"/>
                <a:gd name="T69" fmla="*/ 75 h 137"/>
                <a:gd name="T70" fmla="*/ 54 w 137"/>
                <a:gd name="T71" fmla="*/ 83 h 137"/>
                <a:gd name="T72" fmla="*/ 44 w 137"/>
                <a:gd name="T73" fmla="*/ 78 h 137"/>
                <a:gd name="T74" fmla="*/ 60 w 137"/>
                <a:gd name="T75" fmla="*/ 81 h 137"/>
                <a:gd name="T76" fmla="*/ 58 w 137"/>
                <a:gd name="T77" fmla="*/ 74 h 137"/>
                <a:gd name="T78" fmla="*/ 50 w 137"/>
                <a:gd name="T79" fmla="*/ 56 h 137"/>
                <a:gd name="T80" fmla="*/ 37 w 137"/>
                <a:gd name="T81" fmla="*/ 45 h 137"/>
                <a:gd name="T82" fmla="*/ 49 w 137"/>
                <a:gd name="T83" fmla="*/ 32 h 137"/>
                <a:gd name="T84" fmla="*/ 61 w 137"/>
                <a:gd name="T85" fmla="*/ 42 h 137"/>
                <a:gd name="T86" fmla="*/ 52 w 137"/>
                <a:gd name="T87" fmla="*/ 21 h 137"/>
                <a:gd name="T88" fmla="*/ 79 w 137"/>
                <a:gd name="T89" fmla="*/ 97 h 137"/>
                <a:gd name="T90" fmla="*/ 75 w 137"/>
                <a:gd name="T91" fmla="*/ 97 h 137"/>
                <a:gd name="T92" fmla="*/ 75 w 137"/>
                <a:gd name="T93" fmla="*/ 88 h 137"/>
                <a:gd name="T94" fmla="*/ 84 w 137"/>
                <a:gd name="T95" fmla="*/ 78 h 137"/>
                <a:gd name="T96" fmla="*/ 85 w 137"/>
                <a:gd name="T97" fmla="*/ 98 h 137"/>
                <a:gd name="T98" fmla="*/ 91 w 137"/>
                <a:gd name="T99" fmla="*/ 73 h 137"/>
                <a:gd name="T100" fmla="*/ 98 w 137"/>
                <a:gd name="T101" fmla="*/ 107 h 137"/>
                <a:gd name="T102" fmla="*/ 97 w 137"/>
                <a:gd name="T103" fmla="*/ 72 h 137"/>
                <a:gd name="T104" fmla="*/ 104 w 137"/>
                <a:gd name="T105" fmla="*/ 102 h 137"/>
                <a:gd name="T106" fmla="*/ 102 w 137"/>
                <a:gd name="T107" fmla="*/ 72 h 137"/>
                <a:gd name="T108" fmla="*/ 96 w 137"/>
                <a:gd name="T109" fmla="*/ 66 h 137"/>
                <a:gd name="T110" fmla="*/ 83 w 137"/>
                <a:gd name="T111" fmla="*/ 68 h 137"/>
                <a:gd name="T112" fmla="*/ 86 w 137"/>
                <a:gd name="T113" fmla="*/ 47 h 137"/>
                <a:gd name="T114" fmla="*/ 105 w 137"/>
                <a:gd name="T115" fmla="*/ 47 h 137"/>
                <a:gd name="T116" fmla="*/ 106 w 137"/>
                <a:gd name="T117" fmla="*/ 65 h 1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37" h="137">
                  <a:moveTo>
                    <a:pt x="116" y="39"/>
                  </a:moveTo>
                  <a:cubicBezTo>
                    <a:pt x="116" y="40"/>
                    <a:pt x="117" y="42"/>
                    <a:pt x="118" y="43"/>
                  </a:cubicBezTo>
                  <a:cubicBezTo>
                    <a:pt x="118" y="43"/>
                    <a:pt x="118" y="43"/>
                    <a:pt x="118" y="43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6" y="61"/>
                    <a:pt x="136" y="61"/>
                    <a:pt x="136" y="61"/>
                  </a:cubicBezTo>
                  <a:cubicBezTo>
                    <a:pt x="137" y="61"/>
                    <a:pt x="137" y="63"/>
                    <a:pt x="137" y="64"/>
                  </a:cubicBezTo>
                  <a:cubicBezTo>
                    <a:pt x="137" y="42"/>
                    <a:pt x="137" y="42"/>
                    <a:pt x="137" y="42"/>
                  </a:cubicBezTo>
                  <a:cubicBezTo>
                    <a:pt x="137" y="41"/>
                    <a:pt x="137" y="39"/>
                    <a:pt x="136" y="39"/>
                  </a:cubicBezTo>
                  <a:cubicBezTo>
                    <a:pt x="99" y="1"/>
                    <a:pt x="99" y="1"/>
                    <a:pt x="99" y="1"/>
                  </a:cubicBezTo>
                  <a:cubicBezTo>
                    <a:pt x="98" y="0"/>
                    <a:pt x="96" y="0"/>
                    <a:pt x="95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3" y="0"/>
                    <a:pt x="93" y="0"/>
                    <a:pt x="93" y="0"/>
                  </a:cubicBezTo>
                  <a:cubicBezTo>
                    <a:pt x="92" y="0"/>
                    <a:pt x="91" y="0"/>
                    <a:pt x="91" y="1"/>
                  </a:cubicBezTo>
                  <a:cubicBezTo>
                    <a:pt x="91" y="19"/>
                    <a:pt x="91" y="19"/>
                    <a:pt x="91" y="19"/>
                  </a:cubicBezTo>
                  <a:cubicBezTo>
                    <a:pt x="91" y="20"/>
                    <a:pt x="90" y="21"/>
                    <a:pt x="89" y="21"/>
                  </a:cubicBezTo>
                  <a:cubicBezTo>
                    <a:pt x="87" y="21"/>
                    <a:pt x="87" y="21"/>
                    <a:pt x="87" y="21"/>
                  </a:cubicBezTo>
                  <a:cubicBezTo>
                    <a:pt x="87" y="4"/>
                    <a:pt x="87" y="4"/>
                    <a:pt x="87" y="4"/>
                  </a:cubicBezTo>
                  <a:cubicBezTo>
                    <a:pt x="87" y="2"/>
                    <a:pt x="85" y="0"/>
                    <a:pt x="83" y="0"/>
                  </a:cubicBezTo>
                  <a:cubicBezTo>
                    <a:pt x="54" y="0"/>
                    <a:pt x="54" y="0"/>
                    <a:pt x="54" y="0"/>
                  </a:cubicBezTo>
                  <a:cubicBezTo>
                    <a:pt x="52" y="0"/>
                    <a:pt x="50" y="2"/>
                    <a:pt x="50" y="4"/>
                  </a:cubicBezTo>
                  <a:cubicBezTo>
                    <a:pt x="50" y="21"/>
                    <a:pt x="50" y="21"/>
                    <a:pt x="50" y="21"/>
                  </a:cubicBezTo>
                  <a:cubicBezTo>
                    <a:pt x="48" y="21"/>
                    <a:pt x="48" y="21"/>
                    <a:pt x="48" y="21"/>
                  </a:cubicBezTo>
                  <a:cubicBezTo>
                    <a:pt x="47" y="21"/>
                    <a:pt x="46" y="20"/>
                    <a:pt x="46" y="19"/>
                  </a:cubicBezTo>
                  <a:cubicBezTo>
                    <a:pt x="46" y="1"/>
                    <a:pt x="46" y="1"/>
                    <a:pt x="46" y="1"/>
                  </a:cubicBezTo>
                  <a:cubicBezTo>
                    <a:pt x="46" y="0"/>
                    <a:pt x="46" y="0"/>
                    <a:pt x="45" y="0"/>
                  </a:cubicBezTo>
                  <a:cubicBezTo>
                    <a:pt x="45" y="0"/>
                    <a:pt x="45" y="0"/>
                    <a:pt x="4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1" y="0"/>
                    <a:pt x="40" y="0"/>
                    <a:pt x="39" y="1"/>
                  </a:cubicBezTo>
                  <a:cubicBezTo>
                    <a:pt x="2" y="39"/>
                    <a:pt x="2" y="39"/>
                    <a:pt x="2" y="39"/>
                  </a:cubicBezTo>
                  <a:cubicBezTo>
                    <a:pt x="1" y="39"/>
                    <a:pt x="0" y="41"/>
                    <a:pt x="0" y="42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0" y="63"/>
                    <a:pt x="1" y="61"/>
                    <a:pt x="2" y="61"/>
                  </a:cubicBezTo>
                  <a:cubicBezTo>
                    <a:pt x="2" y="61"/>
                    <a:pt x="2" y="61"/>
                    <a:pt x="2" y="61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21" y="42"/>
                    <a:pt x="21" y="40"/>
                    <a:pt x="21" y="39"/>
                  </a:cubicBezTo>
                  <a:cubicBezTo>
                    <a:pt x="21" y="41"/>
                    <a:pt x="21" y="41"/>
                    <a:pt x="21" y="41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1" y="44"/>
                    <a:pt x="21" y="45"/>
                    <a:pt x="20" y="46"/>
                  </a:cubicBezTo>
                  <a:cubicBezTo>
                    <a:pt x="20" y="46"/>
                    <a:pt x="20" y="46"/>
                    <a:pt x="20" y="46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2" y="64"/>
                    <a:pt x="2" y="64"/>
                    <a:pt x="2" y="64"/>
                  </a:cubicBezTo>
                  <a:cubicBezTo>
                    <a:pt x="1" y="65"/>
                    <a:pt x="0" y="66"/>
                    <a:pt x="0" y="68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0" y="87"/>
                    <a:pt x="1" y="85"/>
                    <a:pt x="2" y="84"/>
                  </a:cubicBezTo>
                  <a:cubicBezTo>
                    <a:pt x="2" y="84"/>
                    <a:pt x="2" y="84"/>
                    <a:pt x="2" y="84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0" y="67"/>
                    <a:pt x="20" y="67"/>
                    <a:pt x="20" y="67"/>
                  </a:cubicBezTo>
                  <a:cubicBezTo>
                    <a:pt x="21" y="66"/>
                    <a:pt x="21" y="64"/>
                    <a:pt x="21" y="63"/>
                  </a:cubicBezTo>
                  <a:cubicBezTo>
                    <a:pt x="21" y="65"/>
                    <a:pt x="21" y="65"/>
                    <a:pt x="21" y="65"/>
                  </a:cubicBezTo>
                  <a:cubicBezTo>
                    <a:pt x="21" y="66"/>
                    <a:pt x="21" y="66"/>
                    <a:pt x="21" y="66"/>
                  </a:cubicBezTo>
                  <a:cubicBezTo>
                    <a:pt x="21" y="68"/>
                    <a:pt x="21" y="69"/>
                    <a:pt x="20" y="70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2" y="88"/>
                    <a:pt x="2" y="88"/>
                    <a:pt x="2" y="88"/>
                  </a:cubicBezTo>
                  <a:cubicBezTo>
                    <a:pt x="1" y="89"/>
                    <a:pt x="0" y="90"/>
                    <a:pt x="0" y="92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0" y="96"/>
                    <a:pt x="1" y="97"/>
                    <a:pt x="2" y="98"/>
                  </a:cubicBezTo>
                  <a:cubicBezTo>
                    <a:pt x="7" y="103"/>
                    <a:pt x="7" y="103"/>
                    <a:pt x="7" y="103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0" y="91"/>
                    <a:pt x="20" y="91"/>
                    <a:pt x="20" y="91"/>
                  </a:cubicBezTo>
                  <a:cubicBezTo>
                    <a:pt x="21" y="90"/>
                    <a:pt x="21" y="88"/>
                    <a:pt x="21" y="87"/>
                  </a:cubicBezTo>
                  <a:cubicBezTo>
                    <a:pt x="21" y="89"/>
                    <a:pt x="21" y="89"/>
                    <a:pt x="21" y="89"/>
                  </a:cubicBezTo>
                  <a:cubicBezTo>
                    <a:pt x="21" y="90"/>
                    <a:pt x="21" y="90"/>
                    <a:pt x="21" y="90"/>
                  </a:cubicBezTo>
                  <a:cubicBezTo>
                    <a:pt x="21" y="92"/>
                    <a:pt x="21" y="93"/>
                    <a:pt x="20" y="94"/>
                  </a:cubicBezTo>
                  <a:cubicBezTo>
                    <a:pt x="20" y="94"/>
                    <a:pt x="20" y="94"/>
                    <a:pt x="20" y="94"/>
                  </a:cubicBezTo>
                  <a:cubicBezTo>
                    <a:pt x="9" y="105"/>
                    <a:pt x="9" y="105"/>
                    <a:pt x="9" y="105"/>
                  </a:cubicBezTo>
                  <a:cubicBezTo>
                    <a:pt x="39" y="135"/>
                    <a:pt x="39" y="135"/>
                    <a:pt x="39" y="135"/>
                  </a:cubicBezTo>
                  <a:cubicBezTo>
                    <a:pt x="47" y="121"/>
                    <a:pt x="47" y="121"/>
                    <a:pt x="47" y="121"/>
                  </a:cubicBezTo>
                  <a:cubicBezTo>
                    <a:pt x="48" y="119"/>
                    <a:pt x="49" y="119"/>
                    <a:pt x="51" y="119"/>
                  </a:cubicBezTo>
                  <a:cubicBezTo>
                    <a:pt x="52" y="119"/>
                    <a:pt x="52" y="119"/>
                    <a:pt x="52" y="119"/>
                  </a:cubicBezTo>
                  <a:cubicBezTo>
                    <a:pt x="54" y="119"/>
                    <a:pt x="54" y="119"/>
                    <a:pt x="54" y="119"/>
                  </a:cubicBezTo>
                  <a:cubicBezTo>
                    <a:pt x="52" y="119"/>
                    <a:pt x="51" y="119"/>
                    <a:pt x="50" y="121"/>
                  </a:cubicBezTo>
                  <a:cubicBezTo>
                    <a:pt x="50" y="121"/>
                    <a:pt x="50" y="121"/>
                    <a:pt x="50" y="121"/>
                  </a:cubicBezTo>
                  <a:cubicBezTo>
                    <a:pt x="41" y="137"/>
                    <a:pt x="41" y="137"/>
                    <a:pt x="41" y="137"/>
                  </a:cubicBezTo>
                  <a:cubicBezTo>
                    <a:pt x="42" y="137"/>
                    <a:pt x="42" y="137"/>
                    <a:pt x="42" y="137"/>
                  </a:cubicBezTo>
                  <a:cubicBezTo>
                    <a:pt x="58" y="137"/>
                    <a:pt x="58" y="137"/>
                    <a:pt x="58" y="137"/>
                  </a:cubicBezTo>
                  <a:cubicBezTo>
                    <a:pt x="61" y="121"/>
                    <a:pt x="61" y="121"/>
                    <a:pt x="61" y="121"/>
                  </a:cubicBezTo>
                  <a:cubicBezTo>
                    <a:pt x="61" y="119"/>
                    <a:pt x="62" y="119"/>
                    <a:pt x="63" y="119"/>
                  </a:cubicBezTo>
                  <a:cubicBezTo>
                    <a:pt x="63" y="119"/>
                    <a:pt x="63" y="119"/>
                    <a:pt x="63" y="119"/>
                  </a:cubicBezTo>
                  <a:cubicBezTo>
                    <a:pt x="64" y="119"/>
                    <a:pt x="64" y="119"/>
                    <a:pt x="64" y="119"/>
                  </a:cubicBezTo>
                  <a:cubicBezTo>
                    <a:pt x="66" y="119"/>
                    <a:pt x="66" y="119"/>
                    <a:pt x="66" y="119"/>
                  </a:cubicBezTo>
                  <a:cubicBezTo>
                    <a:pt x="65" y="119"/>
                    <a:pt x="64" y="119"/>
                    <a:pt x="63" y="121"/>
                  </a:cubicBezTo>
                  <a:cubicBezTo>
                    <a:pt x="60" y="137"/>
                    <a:pt x="60" y="137"/>
                    <a:pt x="60" y="137"/>
                  </a:cubicBezTo>
                  <a:cubicBezTo>
                    <a:pt x="77" y="137"/>
                    <a:pt x="77" y="137"/>
                    <a:pt x="77" y="137"/>
                  </a:cubicBezTo>
                  <a:cubicBezTo>
                    <a:pt x="74" y="121"/>
                    <a:pt x="74" y="121"/>
                    <a:pt x="74" y="121"/>
                  </a:cubicBezTo>
                  <a:cubicBezTo>
                    <a:pt x="74" y="119"/>
                    <a:pt x="73" y="119"/>
                    <a:pt x="72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4" y="119"/>
                    <a:pt x="74" y="119"/>
                    <a:pt x="74" y="119"/>
                  </a:cubicBezTo>
                  <a:cubicBezTo>
                    <a:pt x="76" y="119"/>
                    <a:pt x="77" y="119"/>
                    <a:pt x="77" y="121"/>
                  </a:cubicBezTo>
                  <a:cubicBezTo>
                    <a:pt x="80" y="137"/>
                    <a:pt x="80" y="137"/>
                    <a:pt x="80" y="137"/>
                  </a:cubicBezTo>
                  <a:cubicBezTo>
                    <a:pt x="95" y="137"/>
                    <a:pt x="95" y="137"/>
                    <a:pt x="95" y="137"/>
                  </a:cubicBezTo>
                  <a:cubicBezTo>
                    <a:pt x="96" y="137"/>
                    <a:pt x="96" y="137"/>
                    <a:pt x="97" y="137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8" y="121"/>
                    <a:pt x="88" y="121"/>
                    <a:pt x="88" y="121"/>
                  </a:cubicBezTo>
                  <a:cubicBezTo>
                    <a:pt x="87" y="119"/>
                    <a:pt x="86" y="119"/>
                    <a:pt x="84" y="119"/>
                  </a:cubicBezTo>
                  <a:cubicBezTo>
                    <a:pt x="86" y="119"/>
                    <a:pt x="86" y="119"/>
                    <a:pt x="86" y="119"/>
                  </a:cubicBezTo>
                  <a:cubicBezTo>
                    <a:pt x="87" y="119"/>
                    <a:pt x="87" y="119"/>
                    <a:pt x="87" y="119"/>
                  </a:cubicBezTo>
                  <a:cubicBezTo>
                    <a:pt x="89" y="119"/>
                    <a:pt x="90" y="119"/>
                    <a:pt x="91" y="121"/>
                  </a:cubicBezTo>
                  <a:cubicBezTo>
                    <a:pt x="99" y="135"/>
                    <a:pt x="99" y="135"/>
                    <a:pt x="99" y="135"/>
                  </a:cubicBezTo>
                  <a:cubicBezTo>
                    <a:pt x="129" y="105"/>
                    <a:pt x="129" y="105"/>
                    <a:pt x="129" y="105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8" y="94"/>
                    <a:pt x="118" y="94"/>
                    <a:pt x="118" y="94"/>
                  </a:cubicBezTo>
                  <a:cubicBezTo>
                    <a:pt x="117" y="93"/>
                    <a:pt x="116" y="92"/>
                    <a:pt x="116" y="90"/>
                  </a:cubicBezTo>
                  <a:cubicBezTo>
                    <a:pt x="116" y="89"/>
                    <a:pt x="116" y="89"/>
                    <a:pt x="116" y="89"/>
                  </a:cubicBezTo>
                  <a:cubicBezTo>
                    <a:pt x="116" y="87"/>
                    <a:pt x="116" y="87"/>
                    <a:pt x="116" y="87"/>
                  </a:cubicBezTo>
                  <a:cubicBezTo>
                    <a:pt x="116" y="88"/>
                    <a:pt x="117" y="90"/>
                    <a:pt x="118" y="91"/>
                  </a:cubicBezTo>
                  <a:cubicBezTo>
                    <a:pt x="118" y="91"/>
                    <a:pt x="118" y="91"/>
                    <a:pt x="118" y="91"/>
                  </a:cubicBezTo>
                  <a:cubicBezTo>
                    <a:pt x="131" y="103"/>
                    <a:pt x="131" y="103"/>
                    <a:pt x="131" y="103"/>
                  </a:cubicBezTo>
                  <a:cubicBezTo>
                    <a:pt x="136" y="98"/>
                    <a:pt x="136" y="98"/>
                    <a:pt x="136" y="98"/>
                  </a:cubicBezTo>
                  <a:cubicBezTo>
                    <a:pt x="137" y="97"/>
                    <a:pt x="137" y="96"/>
                    <a:pt x="137" y="95"/>
                  </a:cubicBezTo>
                  <a:cubicBezTo>
                    <a:pt x="137" y="92"/>
                    <a:pt x="137" y="92"/>
                    <a:pt x="137" y="92"/>
                  </a:cubicBezTo>
                  <a:cubicBezTo>
                    <a:pt x="137" y="90"/>
                    <a:pt x="137" y="89"/>
                    <a:pt x="136" y="88"/>
                  </a:cubicBezTo>
                  <a:cubicBezTo>
                    <a:pt x="136" y="88"/>
                    <a:pt x="136" y="88"/>
                    <a:pt x="136" y="88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8" y="70"/>
                    <a:pt x="118" y="70"/>
                    <a:pt x="118" y="70"/>
                  </a:cubicBezTo>
                  <a:cubicBezTo>
                    <a:pt x="117" y="69"/>
                    <a:pt x="116" y="68"/>
                    <a:pt x="116" y="66"/>
                  </a:cubicBezTo>
                  <a:cubicBezTo>
                    <a:pt x="116" y="65"/>
                    <a:pt x="116" y="65"/>
                    <a:pt x="116" y="65"/>
                  </a:cubicBezTo>
                  <a:cubicBezTo>
                    <a:pt x="116" y="63"/>
                    <a:pt x="116" y="63"/>
                    <a:pt x="116" y="63"/>
                  </a:cubicBezTo>
                  <a:cubicBezTo>
                    <a:pt x="116" y="64"/>
                    <a:pt x="117" y="66"/>
                    <a:pt x="118" y="67"/>
                  </a:cubicBezTo>
                  <a:cubicBezTo>
                    <a:pt x="118" y="67"/>
                    <a:pt x="118" y="67"/>
                    <a:pt x="118" y="67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6" y="84"/>
                    <a:pt x="136" y="84"/>
                    <a:pt x="136" y="84"/>
                  </a:cubicBezTo>
                  <a:cubicBezTo>
                    <a:pt x="137" y="85"/>
                    <a:pt x="137" y="87"/>
                    <a:pt x="137" y="88"/>
                  </a:cubicBezTo>
                  <a:cubicBezTo>
                    <a:pt x="137" y="68"/>
                    <a:pt x="137" y="68"/>
                    <a:pt x="137" y="68"/>
                  </a:cubicBezTo>
                  <a:cubicBezTo>
                    <a:pt x="137" y="66"/>
                    <a:pt x="137" y="65"/>
                    <a:pt x="136" y="64"/>
                  </a:cubicBezTo>
                  <a:cubicBezTo>
                    <a:pt x="136" y="64"/>
                    <a:pt x="136" y="64"/>
                    <a:pt x="136" y="64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8" y="46"/>
                    <a:pt x="118" y="46"/>
                    <a:pt x="118" y="46"/>
                  </a:cubicBezTo>
                  <a:cubicBezTo>
                    <a:pt x="117" y="45"/>
                    <a:pt x="116" y="44"/>
                    <a:pt x="116" y="43"/>
                  </a:cubicBezTo>
                  <a:cubicBezTo>
                    <a:pt x="116" y="41"/>
                    <a:pt x="116" y="41"/>
                    <a:pt x="116" y="41"/>
                  </a:cubicBezTo>
                  <a:lnTo>
                    <a:pt x="116" y="39"/>
                  </a:lnTo>
                  <a:close/>
                  <a:moveTo>
                    <a:pt x="83" y="40"/>
                  </a:moveTo>
                  <a:cubicBezTo>
                    <a:pt x="84" y="35"/>
                    <a:pt x="84" y="35"/>
                    <a:pt x="87" y="34"/>
                  </a:cubicBezTo>
                  <a:cubicBezTo>
                    <a:pt x="91" y="33"/>
                    <a:pt x="93" y="33"/>
                    <a:pt x="95" y="33"/>
                  </a:cubicBezTo>
                  <a:cubicBezTo>
                    <a:pt x="97" y="33"/>
                    <a:pt x="101" y="33"/>
                    <a:pt x="105" y="34"/>
                  </a:cubicBezTo>
                  <a:cubicBezTo>
                    <a:pt x="106" y="35"/>
                    <a:pt x="106" y="36"/>
                    <a:pt x="106" y="42"/>
                  </a:cubicBezTo>
                  <a:cubicBezTo>
                    <a:pt x="106" y="44"/>
                    <a:pt x="105" y="44"/>
                    <a:pt x="103" y="44"/>
                  </a:cubicBezTo>
                  <a:cubicBezTo>
                    <a:pt x="101" y="44"/>
                    <a:pt x="100" y="44"/>
                    <a:pt x="97" y="44"/>
                  </a:cubicBezTo>
                  <a:cubicBezTo>
                    <a:pt x="96" y="42"/>
                    <a:pt x="95" y="37"/>
                    <a:pt x="94" y="38"/>
                  </a:cubicBezTo>
                  <a:cubicBezTo>
                    <a:pt x="93" y="38"/>
                    <a:pt x="94" y="38"/>
                    <a:pt x="92" y="41"/>
                  </a:cubicBezTo>
                  <a:cubicBezTo>
                    <a:pt x="92" y="41"/>
                    <a:pt x="91" y="43"/>
                    <a:pt x="91" y="43"/>
                  </a:cubicBezTo>
                  <a:cubicBezTo>
                    <a:pt x="89" y="44"/>
                    <a:pt x="87" y="44"/>
                    <a:pt x="85" y="44"/>
                  </a:cubicBezTo>
                  <a:cubicBezTo>
                    <a:pt x="83" y="44"/>
                    <a:pt x="83" y="43"/>
                    <a:pt x="83" y="40"/>
                  </a:cubicBezTo>
                  <a:close/>
                  <a:moveTo>
                    <a:pt x="80" y="35"/>
                  </a:moveTo>
                  <a:cubicBezTo>
                    <a:pt x="80" y="34"/>
                    <a:pt x="80" y="34"/>
                    <a:pt x="80" y="34"/>
                  </a:cubicBezTo>
                  <a:cubicBezTo>
                    <a:pt x="82" y="34"/>
                    <a:pt x="82" y="34"/>
                    <a:pt x="82" y="35"/>
                  </a:cubicBezTo>
                  <a:cubicBezTo>
                    <a:pt x="82" y="36"/>
                    <a:pt x="82" y="39"/>
                    <a:pt x="82" y="41"/>
                  </a:cubicBezTo>
                  <a:cubicBezTo>
                    <a:pt x="82" y="43"/>
                    <a:pt x="82" y="45"/>
                    <a:pt x="81" y="46"/>
                  </a:cubicBezTo>
                  <a:cubicBezTo>
                    <a:pt x="80" y="46"/>
                    <a:pt x="79" y="46"/>
                    <a:pt x="79" y="45"/>
                  </a:cubicBezTo>
                  <a:cubicBezTo>
                    <a:pt x="79" y="44"/>
                    <a:pt x="79" y="43"/>
                    <a:pt x="80" y="42"/>
                  </a:cubicBezTo>
                  <a:cubicBezTo>
                    <a:pt x="80" y="40"/>
                    <a:pt x="80" y="37"/>
                    <a:pt x="80" y="35"/>
                  </a:cubicBezTo>
                  <a:close/>
                  <a:moveTo>
                    <a:pt x="80" y="49"/>
                  </a:moveTo>
                  <a:cubicBezTo>
                    <a:pt x="82" y="50"/>
                    <a:pt x="82" y="54"/>
                    <a:pt x="82" y="54"/>
                  </a:cubicBezTo>
                  <a:cubicBezTo>
                    <a:pt x="82" y="55"/>
                    <a:pt x="82" y="59"/>
                    <a:pt x="82" y="60"/>
                  </a:cubicBezTo>
                  <a:cubicBezTo>
                    <a:pt x="82" y="61"/>
                    <a:pt x="82" y="62"/>
                    <a:pt x="82" y="63"/>
                  </a:cubicBezTo>
                  <a:cubicBezTo>
                    <a:pt x="81" y="63"/>
                    <a:pt x="81" y="63"/>
                    <a:pt x="80" y="63"/>
                  </a:cubicBezTo>
                  <a:cubicBezTo>
                    <a:pt x="79" y="63"/>
                    <a:pt x="79" y="59"/>
                    <a:pt x="79" y="58"/>
                  </a:cubicBezTo>
                  <a:cubicBezTo>
                    <a:pt x="79" y="57"/>
                    <a:pt x="79" y="54"/>
                    <a:pt x="79" y="52"/>
                  </a:cubicBezTo>
                  <a:cubicBezTo>
                    <a:pt x="78" y="49"/>
                    <a:pt x="79" y="50"/>
                    <a:pt x="80" y="49"/>
                  </a:cubicBezTo>
                  <a:close/>
                  <a:moveTo>
                    <a:pt x="75" y="47"/>
                  </a:moveTo>
                  <a:cubicBezTo>
                    <a:pt x="75" y="45"/>
                    <a:pt x="76" y="39"/>
                    <a:pt x="75" y="37"/>
                  </a:cubicBezTo>
                  <a:cubicBezTo>
                    <a:pt x="76" y="36"/>
                    <a:pt x="75" y="35"/>
                    <a:pt x="76" y="34"/>
                  </a:cubicBezTo>
                  <a:cubicBezTo>
                    <a:pt x="76" y="33"/>
                    <a:pt x="76" y="33"/>
                    <a:pt x="77" y="33"/>
                  </a:cubicBezTo>
                  <a:cubicBezTo>
                    <a:pt x="79" y="33"/>
                    <a:pt x="78" y="38"/>
                    <a:pt x="78" y="38"/>
                  </a:cubicBezTo>
                  <a:cubicBezTo>
                    <a:pt x="78" y="42"/>
                    <a:pt x="77" y="51"/>
                    <a:pt x="77" y="53"/>
                  </a:cubicBezTo>
                  <a:cubicBezTo>
                    <a:pt x="77" y="57"/>
                    <a:pt x="78" y="67"/>
                    <a:pt x="77" y="68"/>
                  </a:cubicBezTo>
                  <a:cubicBezTo>
                    <a:pt x="77" y="68"/>
                    <a:pt x="76" y="69"/>
                    <a:pt x="76" y="68"/>
                  </a:cubicBezTo>
                  <a:cubicBezTo>
                    <a:pt x="75" y="65"/>
                    <a:pt x="75" y="61"/>
                    <a:pt x="74" y="57"/>
                  </a:cubicBezTo>
                  <a:cubicBezTo>
                    <a:pt x="74" y="53"/>
                    <a:pt x="75" y="49"/>
                    <a:pt x="75" y="47"/>
                  </a:cubicBezTo>
                  <a:close/>
                  <a:moveTo>
                    <a:pt x="71" y="41"/>
                  </a:moveTo>
                  <a:cubicBezTo>
                    <a:pt x="72" y="38"/>
                    <a:pt x="71" y="35"/>
                    <a:pt x="72" y="35"/>
                  </a:cubicBezTo>
                  <a:cubicBezTo>
                    <a:pt x="72" y="34"/>
                    <a:pt x="73" y="34"/>
                    <a:pt x="73" y="34"/>
                  </a:cubicBezTo>
                  <a:cubicBezTo>
                    <a:pt x="74" y="35"/>
                    <a:pt x="75" y="44"/>
                    <a:pt x="72" y="46"/>
                  </a:cubicBezTo>
                  <a:cubicBezTo>
                    <a:pt x="72" y="46"/>
                    <a:pt x="71" y="46"/>
                    <a:pt x="71" y="45"/>
                  </a:cubicBezTo>
                  <a:cubicBezTo>
                    <a:pt x="70" y="45"/>
                    <a:pt x="71" y="43"/>
                    <a:pt x="71" y="41"/>
                  </a:cubicBezTo>
                  <a:close/>
                  <a:moveTo>
                    <a:pt x="70" y="53"/>
                  </a:moveTo>
                  <a:cubicBezTo>
                    <a:pt x="70" y="49"/>
                    <a:pt x="70" y="49"/>
                    <a:pt x="71" y="48"/>
                  </a:cubicBezTo>
                  <a:cubicBezTo>
                    <a:pt x="72" y="47"/>
                    <a:pt x="73" y="48"/>
                    <a:pt x="73" y="48"/>
                  </a:cubicBezTo>
                  <a:cubicBezTo>
                    <a:pt x="74" y="50"/>
                    <a:pt x="73" y="56"/>
                    <a:pt x="73" y="59"/>
                  </a:cubicBezTo>
                  <a:cubicBezTo>
                    <a:pt x="72" y="61"/>
                    <a:pt x="73" y="64"/>
                    <a:pt x="72" y="65"/>
                  </a:cubicBezTo>
                  <a:cubicBezTo>
                    <a:pt x="71" y="65"/>
                    <a:pt x="70" y="65"/>
                    <a:pt x="70" y="64"/>
                  </a:cubicBezTo>
                  <a:cubicBezTo>
                    <a:pt x="70" y="61"/>
                    <a:pt x="70" y="53"/>
                    <a:pt x="70" y="53"/>
                  </a:cubicBezTo>
                  <a:close/>
                  <a:moveTo>
                    <a:pt x="67" y="96"/>
                  </a:moveTo>
                  <a:cubicBezTo>
                    <a:pt x="67" y="101"/>
                    <a:pt x="66" y="101"/>
                    <a:pt x="63" y="101"/>
                  </a:cubicBezTo>
                  <a:cubicBezTo>
                    <a:pt x="60" y="101"/>
                    <a:pt x="53" y="101"/>
                    <a:pt x="53" y="101"/>
                  </a:cubicBezTo>
                  <a:cubicBezTo>
                    <a:pt x="53" y="101"/>
                    <a:pt x="53" y="103"/>
                    <a:pt x="53" y="104"/>
                  </a:cubicBezTo>
                  <a:cubicBezTo>
                    <a:pt x="53" y="106"/>
                    <a:pt x="54" y="106"/>
                    <a:pt x="47" y="107"/>
                  </a:cubicBezTo>
                  <a:cubicBezTo>
                    <a:pt x="45" y="107"/>
                    <a:pt x="34" y="107"/>
                    <a:pt x="33" y="105"/>
                  </a:cubicBezTo>
                  <a:cubicBezTo>
                    <a:pt x="32" y="104"/>
                    <a:pt x="31" y="102"/>
                    <a:pt x="32" y="100"/>
                  </a:cubicBezTo>
                  <a:cubicBezTo>
                    <a:pt x="33" y="101"/>
                    <a:pt x="35" y="102"/>
                    <a:pt x="38" y="103"/>
                  </a:cubicBezTo>
                  <a:cubicBezTo>
                    <a:pt x="41" y="104"/>
                    <a:pt x="45" y="104"/>
                    <a:pt x="48" y="104"/>
                  </a:cubicBezTo>
                  <a:cubicBezTo>
                    <a:pt x="49" y="103"/>
                    <a:pt x="49" y="103"/>
                    <a:pt x="49" y="101"/>
                  </a:cubicBezTo>
                  <a:cubicBezTo>
                    <a:pt x="44" y="101"/>
                    <a:pt x="41" y="100"/>
                    <a:pt x="39" y="100"/>
                  </a:cubicBezTo>
                  <a:cubicBezTo>
                    <a:pt x="37" y="100"/>
                    <a:pt x="37" y="100"/>
                    <a:pt x="37" y="99"/>
                  </a:cubicBezTo>
                  <a:cubicBezTo>
                    <a:pt x="37" y="97"/>
                    <a:pt x="37" y="97"/>
                    <a:pt x="39" y="97"/>
                  </a:cubicBezTo>
                  <a:cubicBezTo>
                    <a:pt x="40" y="97"/>
                    <a:pt x="42" y="98"/>
                    <a:pt x="45" y="98"/>
                  </a:cubicBezTo>
                  <a:cubicBezTo>
                    <a:pt x="47" y="98"/>
                    <a:pt x="49" y="98"/>
                    <a:pt x="49" y="98"/>
                  </a:cubicBezTo>
                  <a:cubicBezTo>
                    <a:pt x="49" y="95"/>
                    <a:pt x="49" y="95"/>
                    <a:pt x="49" y="95"/>
                  </a:cubicBezTo>
                  <a:cubicBezTo>
                    <a:pt x="49" y="95"/>
                    <a:pt x="45" y="95"/>
                    <a:pt x="44" y="95"/>
                  </a:cubicBezTo>
                  <a:cubicBezTo>
                    <a:pt x="39" y="95"/>
                    <a:pt x="40" y="94"/>
                    <a:pt x="39" y="92"/>
                  </a:cubicBezTo>
                  <a:cubicBezTo>
                    <a:pt x="40" y="88"/>
                    <a:pt x="40" y="89"/>
                    <a:pt x="43" y="89"/>
                  </a:cubicBezTo>
                  <a:cubicBezTo>
                    <a:pt x="46" y="89"/>
                    <a:pt x="55" y="89"/>
                    <a:pt x="57" y="89"/>
                  </a:cubicBezTo>
                  <a:cubicBezTo>
                    <a:pt x="60" y="89"/>
                    <a:pt x="60" y="89"/>
                    <a:pt x="60" y="92"/>
                  </a:cubicBezTo>
                  <a:cubicBezTo>
                    <a:pt x="60" y="94"/>
                    <a:pt x="60" y="95"/>
                    <a:pt x="57" y="95"/>
                  </a:cubicBezTo>
                  <a:cubicBezTo>
                    <a:pt x="56" y="95"/>
                    <a:pt x="53" y="95"/>
                    <a:pt x="53" y="95"/>
                  </a:cubicBezTo>
                  <a:cubicBezTo>
                    <a:pt x="53" y="98"/>
                    <a:pt x="53" y="98"/>
                    <a:pt x="53" y="98"/>
                  </a:cubicBezTo>
                  <a:cubicBezTo>
                    <a:pt x="61" y="98"/>
                    <a:pt x="61" y="98"/>
                    <a:pt x="61" y="98"/>
                  </a:cubicBezTo>
                  <a:cubicBezTo>
                    <a:pt x="61" y="98"/>
                    <a:pt x="63" y="98"/>
                    <a:pt x="63" y="95"/>
                  </a:cubicBezTo>
                  <a:cubicBezTo>
                    <a:pt x="63" y="93"/>
                    <a:pt x="64" y="90"/>
                    <a:pt x="64" y="90"/>
                  </a:cubicBezTo>
                  <a:cubicBezTo>
                    <a:pt x="64" y="90"/>
                    <a:pt x="64" y="87"/>
                    <a:pt x="61" y="87"/>
                  </a:cubicBezTo>
                  <a:cubicBezTo>
                    <a:pt x="59" y="87"/>
                    <a:pt x="46" y="87"/>
                    <a:pt x="41" y="87"/>
                  </a:cubicBezTo>
                  <a:cubicBezTo>
                    <a:pt x="37" y="87"/>
                    <a:pt x="37" y="88"/>
                    <a:pt x="36" y="89"/>
                  </a:cubicBezTo>
                  <a:cubicBezTo>
                    <a:pt x="36" y="91"/>
                    <a:pt x="36" y="97"/>
                    <a:pt x="34" y="97"/>
                  </a:cubicBezTo>
                  <a:cubicBezTo>
                    <a:pt x="31" y="96"/>
                    <a:pt x="32" y="96"/>
                    <a:pt x="32" y="94"/>
                  </a:cubicBezTo>
                  <a:cubicBezTo>
                    <a:pt x="32" y="92"/>
                    <a:pt x="33" y="89"/>
                    <a:pt x="33" y="87"/>
                  </a:cubicBezTo>
                  <a:cubicBezTo>
                    <a:pt x="34" y="85"/>
                    <a:pt x="34" y="84"/>
                    <a:pt x="44" y="84"/>
                  </a:cubicBezTo>
                  <a:cubicBezTo>
                    <a:pt x="49" y="84"/>
                    <a:pt x="62" y="84"/>
                    <a:pt x="62" y="84"/>
                  </a:cubicBezTo>
                  <a:cubicBezTo>
                    <a:pt x="65" y="84"/>
                    <a:pt x="66" y="84"/>
                    <a:pt x="67" y="87"/>
                  </a:cubicBezTo>
                  <a:cubicBezTo>
                    <a:pt x="67" y="92"/>
                    <a:pt x="67" y="93"/>
                    <a:pt x="67" y="96"/>
                  </a:cubicBezTo>
                  <a:close/>
                  <a:moveTo>
                    <a:pt x="37" y="76"/>
                  </a:moveTo>
                  <a:cubicBezTo>
                    <a:pt x="37" y="77"/>
                    <a:pt x="38" y="77"/>
                    <a:pt x="40" y="77"/>
                  </a:cubicBezTo>
                  <a:cubicBezTo>
                    <a:pt x="42" y="77"/>
                    <a:pt x="42" y="76"/>
                    <a:pt x="42" y="78"/>
                  </a:cubicBezTo>
                  <a:cubicBezTo>
                    <a:pt x="42" y="78"/>
                    <a:pt x="42" y="79"/>
                    <a:pt x="41" y="79"/>
                  </a:cubicBezTo>
                  <a:cubicBezTo>
                    <a:pt x="36" y="79"/>
                    <a:pt x="37" y="79"/>
                    <a:pt x="37" y="80"/>
                  </a:cubicBezTo>
                  <a:cubicBezTo>
                    <a:pt x="37" y="81"/>
                    <a:pt x="37" y="81"/>
                    <a:pt x="40" y="80"/>
                  </a:cubicBezTo>
                  <a:cubicBezTo>
                    <a:pt x="42" y="80"/>
                    <a:pt x="42" y="80"/>
                    <a:pt x="42" y="81"/>
                  </a:cubicBezTo>
                  <a:cubicBezTo>
                    <a:pt x="43" y="82"/>
                    <a:pt x="42" y="83"/>
                    <a:pt x="42" y="83"/>
                  </a:cubicBezTo>
                  <a:cubicBezTo>
                    <a:pt x="41" y="83"/>
                    <a:pt x="36" y="83"/>
                    <a:pt x="34" y="83"/>
                  </a:cubicBezTo>
                  <a:cubicBezTo>
                    <a:pt x="33" y="83"/>
                    <a:pt x="33" y="83"/>
                    <a:pt x="33" y="80"/>
                  </a:cubicBezTo>
                  <a:cubicBezTo>
                    <a:pt x="33" y="78"/>
                    <a:pt x="33" y="75"/>
                    <a:pt x="34" y="73"/>
                  </a:cubicBezTo>
                  <a:cubicBezTo>
                    <a:pt x="35" y="72"/>
                    <a:pt x="35" y="72"/>
                    <a:pt x="40" y="72"/>
                  </a:cubicBezTo>
                  <a:cubicBezTo>
                    <a:pt x="43" y="72"/>
                    <a:pt x="43" y="72"/>
                    <a:pt x="43" y="74"/>
                  </a:cubicBezTo>
                  <a:cubicBezTo>
                    <a:pt x="43" y="74"/>
                    <a:pt x="43" y="74"/>
                    <a:pt x="38" y="75"/>
                  </a:cubicBezTo>
                  <a:cubicBezTo>
                    <a:pt x="36" y="75"/>
                    <a:pt x="37" y="75"/>
                    <a:pt x="37" y="76"/>
                  </a:cubicBezTo>
                  <a:close/>
                  <a:moveTo>
                    <a:pt x="45" y="73"/>
                  </a:moveTo>
                  <a:cubicBezTo>
                    <a:pt x="44" y="73"/>
                    <a:pt x="45" y="72"/>
                    <a:pt x="46" y="72"/>
                  </a:cubicBezTo>
                  <a:cubicBezTo>
                    <a:pt x="46" y="72"/>
                    <a:pt x="48" y="73"/>
                    <a:pt x="49" y="73"/>
                  </a:cubicBezTo>
                  <a:cubicBezTo>
                    <a:pt x="49" y="73"/>
                    <a:pt x="50" y="73"/>
                    <a:pt x="50" y="74"/>
                  </a:cubicBezTo>
                  <a:cubicBezTo>
                    <a:pt x="51" y="74"/>
                    <a:pt x="51" y="74"/>
                    <a:pt x="51" y="73"/>
                  </a:cubicBezTo>
                  <a:cubicBezTo>
                    <a:pt x="52" y="73"/>
                    <a:pt x="54" y="72"/>
                    <a:pt x="55" y="72"/>
                  </a:cubicBezTo>
                  <a:cubicBezTo>
                    <a:pt x="55" y="72"/>
                    <a:pt x="56" y="73"/>
                    <a:pt x="56" y="74"/>
                  </a:cubicBezTo>
                  <a:cubicBezTo>
                    <a:pt x="55" y="74"/>
                    <a:pt x="54" y="75"/>
                    <a:pt x="53" y="75"/>
                  </a:cubicBezTo>
                  <a:cubicBezTo>
                    <a:pt x="54" y="76"/>
                    <a:pt x="54" y="76"/>
                    <a:pt x="55" y="76"/>
                  </a:cubicBezTo>
                  <a:cubicBezTo>
                    <a:pt x="56" y="77"/>
                    <a:pt x="56" y="77"/>
                    <a:pt x="56" y="78"/>
                  </a:cubicBezTo>
                  <a:cubicBezTo>
                    <a:pt x="56" y="78"/>
                    <a:pt x="55" y="79"/>
                    <a:pt x="55" y="79"/>
                  </a:cubicBezTo>
                  <a:cubicBezTo>
                    <a:pt x="54" y="79"/>
                    <a:pt x="54" y="80"/>
                    <a:pt x="53" y="80"/>
                  </a:cubicBezTo>
                  <a:cubicBezTo>
                    <a:pt x="54" y="80"/>
                    <a:pt x="54" y="80"/>
                    <a:pt x="55" y="81"/>
                  </a:cubicBezTo>
                  <a:cubicBezTo>
                    <a:pt x="57" y="82"/>
                    <a:pt x="57" y="81"/>
                    <a:pt x="56" y="83"/>
                  </a:cubicBezTo>
                  <a:cubicBezTo>
                    <a:pt x="55" y="84"/>
                    <a:pt x="54" y="83"/>
                    <a:pt x="54" y="83"/>
                  </a:cubicBezTo>
                  <a:cubicBezTo>
                    <a:pt x="53" y="83"/>
                    <a:pt x="52" y="82"/>
                    <a:pt x="50" y="81"/>
                  </a:cubicBezTo>
                  <a:cubicBezTo>
                    <a:pt x="49" y="82"/>
                    <a:pt x="48" y="82"/>
                    <a:pt x="47" y="83"/>
                  </a:cubicBezTo>
                  <a:cubicBezTo>
                    <a:pt x="46" y="84"/>
                    <a:pt x="45" y="84"/>
                    <a:pt x="45" y="83"/>
                  </a:cubicBezTo>
                  <a:cubicBezTo>
                    <a:pt x="44" y="82"/>
                    <a:pt x="44" y="82"/>
                    <a:pt x="46" y="81"/>
                  </a:cubicBezTo>
                  <a:cubicBezTo>
                    <a:pt x="46" y="81"/>
                    <a:pt x="47" y="80"/>
                    <a:pt x="47" y="80"/>
                  </a:cubicBezTo>
                  <a:cubicBezTo>
                    <a:pt x="47" y="80"/>
                    <a:pt x="46" y="79"/>
                    <a:pt x="45" y="79"/>
                  </a:cubicBezTo>
                  <a:cubicBezTo>
                    <a:pt x="45" y="79"/>
                    <a:pt x="44" y="78"/>
                    <a:pt x="44" y="78"/>
                  </a:cubicBezTo>
                  <a:cubicBezTo>
                    <a:pt x="44" y="77"/>
                    <a:pt x="44" y="77"/>
                    <a:pt x="46" y="76"/>
                  </a:cubicBezTo>
                  <a:cubicBezTo>
                    <a:pt x="46" y="76"/>
                    <a:pt x="47" y="75"/>
                    <a:pt x="47" y="75"/>
                  </a:cubicBezTo>
                  <a:cubicBezTo>
                    <a:pt x="46" y="75"/>
                    <a:pt x="45" y="74"/>
                    <a:pt x="45" y="73"/>
                  </a:cubicBezTo>
                  <a:close/>
                  <a:moveTo>
                    <a:pt x="66" y="83"/>
                  </a:moveTo>
                  <a:cubicBezTo>
                    <a:pt x="65" y="83"/>
                    <a:pt x="59" y="83"/>
                    <a:pt x="58" y="83"/>
                  </a:cubicBezTo>
                  <a:cubicBezTo>
                    <a:pt x="58" y="83"/>
                    <a:pt x="58" y="83"/>
                    <a:pt x="58" y="82"/>
                  </a:cubicBezTo>
                  <a:cubicBezTo>
                    <a:pt x="58" y="81"/>
                    <a:pt x="58" y="81"/>
                    <a:pt x="60" y="81"/>
                  </a:cubicBezTo>
                  <a:cubicBezTo>
                    <a:pt x="62" y="81"/>
                    <a:pt x="64" y="81"/>
                    <a:pt x="64" y="80"/>
                  </a:cubicBezTo>
                  <a:cubicBezTo>
                    <a:pt x="64" y="79"/>
                    <a:pt x="63" y="79"/>
                    <a:pt x="60" y="79"/>
                  </a:cubicBezTo>
                  <a:cubicBezTo>
                    <a:pt x="58" y="79"/>
                    <a:pt x="58" y="79"/>
                    <a:pt x="58" y="78"/>
                  </a:cubicBezTo>
                  <a:cubicBezTo>
                    <a:pt x="58" y="77"/>
                    <a:pt x="58" y="77"/>
                    <a:pt x="59" y="76"/>
                  </a:cubicBezTo>
                  <a:cubicBezTo>
                    <a:pt x="62" y="76"/>
                    <a:pt x="64" y="76"/>
                    <a:pt x="64" y="76"/>
                  </a:cubicBezTo>
                  <a:cubicBezTo>
                    <a:pt x="64" y="75"/>
                    <a:pt x="64" y="75"/>
                    <a:pt x="62" y="75"/>
                  </a:cubicBezTo>
                  <a:cubicBezTo>
                    <a:pt x="58" y="75"/>
                    <a:pt x="58" y="75"/>
                    <a:pt x="58" y="74"/>
                  </a:cubicBezTo>
                  <a:cubicBezTo>
                    <a:pt x="58" y="73"/>
                    <a:pt x="57" y="72"/>
                    <a:pt x="60" y="72"/>
                  </a:cubicBezTo>
                  <a:cubicBezTo>
                    <a:pt x="63" y="72"/>
                    <a:pt x="66" y="72"/>
                    <a:pt x="66" y="73"/>
                  </a:cubicBezTo>
                  <a:cubicBezTo>
                    <a:pt x="67" y="75"/>
                    <a:pt x="67" y="77"/>
                    <a:pt x="67" y="80"/>
                  </a:cubicBezTo>
                  <a:cubicBezTo>
                    <a:pt x="67" y="83"/>
                    <a:pt x="67" y="83"/>
                    <a:pt x="66" y="83"/>
                  </a:cubicBezTo>
                  <a:close/>
                  <a:moveTo>
                    <a:pt x="65" y="69"/>
                  </a:moveTo>
                  <a:cubicBezTo>
                    <a:pt x="64" y="70"/>
                    <a:pt x="60" y="64"/>
                    <a:pt x="58" y="61"/>
                  </a:cubicBezTo>
                  <a:cubicBezTo>
                    <a:pt x="57" y="59"/>
                    <a:pt x="53" y="56"/>
                    <a:pt x="50" y="56"/>
                  </a:cubicBezTo>
                  <a:cubicBezTo>
                    <a:pt x="45" y="56"/>
                    <a:pt x="38" y="64"/>
                    <a:pt x="37" y="67"/>
                  </a:cubicBezTo>
                  <a:cubicBezTo>
                    <a:pt x="36" y="69"/>
                    <a:pt x="35" y="70"/>
                    <a:pt x="33" y="69"/>
                  </a:cubicBezTo>
                  <a:cubicBezTo>
                    <a:pt x="32" y="68"/>
                    <a:pt x="32" y="68"/>
                    <a:pt x="33" y="66"/>
                  </a:cubicBezTo>
                  <a:cubicBezTo>
                    <a:pt x="34" y="63"/>
                    <a:pt x="40" y="56"/>
                    <a:pt x="43" y="55"/>
                  </a:cubicBezTo>
                  <a:cubicBezTo>
                    <a:pt x="45" y="52"/>
                    <a:pt x="46" y="52"/>
                    <a:pt x="47" y="49"/>
                  </a:cubicBezTo>
                  <a:cubicBezTo>
                    <a:pt x="47" y="43"/>
                    <a:pt x="47" y="42"/>
                    <a:pt x="46" y="42"/>
                  </a:cubicBezTo>
                  <a:cubicBezTo>
                    <a:pt x="44" y="41"/>
                    <a:pt x="37" y="40"/>
                    <a:pt x="37" y="45"/>
                  </a:cubicBezTo>
                  <a:cubicBezTo>
                    <a:pt x="36" y="49"/>
                    <a:pt x="36" y="50"/>
                    <a:pt x="36" y="52"/>
                  </a:cubicBezTo>
                  <a:cubicBezTo>
                    <a:pt x="36" y="54"/>
                    <a:pt x="36" y="54"/>
                    <a:pt x="34" y="54"/>
                  </a:cubicBezTo>
                  <a:cubicBezTo>
                    <a:pt x="33" y="54"/>
                    <a:pt x="33" y="46"/>
                    <a:pt x="33" y="41"/>
                  </a:cubicBezTo>
                  <a:cubicBezTo>
                    <a:pt x="34" y="38"/>
                    <a:pt x="36" y="39"/>
                    <a:pt x="39" y="38"/>
                  </a:cubicBezTo>
                  <a:cubicBezTo>
                    <a:pt x="41" y="38"/>
                    <a:pt x="43" y="38"/>
                    <a:pt x="44" y="38"/>
                  </a:cubicBezTo>
                  <a:cubicBezTo>
                    <a:pt x="46" y="38"/>
                    <a:pt x="47" y="37"/>
                    <a:pt x="47" y="35"/>
                  </a:cubicBezTo>
                  <a:cubicBezTo>
                    <a:pt x="47" y="33"/>
                    <a:pt x="48" y="33"/>
                    <a:pt x="49" y="32"/>
                  </a:cubicBezTo>
                  <a:cubicBezTo>
                    <a:pt x="51" y="32"/>
                    <a:pt x="51" y="33"/>
                    <a:pt x="51" y="35"/>
                  </a:cubicBezTo>
                  <a:cubicBezTo>
                    <a:pt x="52" y="37"/>
                    <a:pt x="51" y="38"/>
                    <a:pt x="54" y="38"/>
                  </a:cubicBezTo>
                  <a:cubicBezTo>
                    <a:pt x="57" y="38"/>
                    <a:pt x="60" y="38"/>
                    <a:pt x="61" y="38"/>
                  </a:cubicBezTo>
                  <a:cubicBezTo>
                    <a:pt x="64" y="38"/>
                    <a:pt x="66" y="38"/>
                    <a:pt x="66" y="43"/>
                  </a:cubicBezTo>
                  <a:cubicBezTo>
                    <a:pt x="66" y="47"/>
                    <a:pt x="67" y="50"/>
                    <a:pt x="66" y="52"/>
                  </a:cubicBezTo>
                  <a:cubicBezTo>
                    <a:pt x="65" y="52"/>
                    <a:pt x="64" y="53"/>
                    <a:pt x="63" y="53"/>
                  </a:cubicBezTo>
                  <a:cubicBezTo>
                    <a:pt x="62" y="52"/>
                    <a:pt x="64" y="44"/>
                    <a:pt x="61" y="42"/>
                  </a:cubicBezTo>
                  <a:cubicBezTo>
                    <a:pt x="59" y="41"/>
                    <a:pt x="54" y="41"/>
                    <a:pt x="52" y="42"/>
                  </a:cubicBezTo>
                  <a:cubicBezTo>
                    <a:pt x="51" y="43"/>
                    <a:pt x="51" y="46"/>
                    <a:pt x="51" y="48"/>
                  </a:cubicBezTo>
                  <a:cubicBezTo>
                    <a:pt x="51" y="50"/>
                    <a:pt x="51" y="51"/>
                    <a:pt x="55" y="54"/>
                  </a:cubicBezTo>
                  <a:cubicBezTo>
                    <a:pt x="58" y="56"/>
                    <a:pt x="62" y="60"/>
                    <a:pt x="65" y="64"/>
                  </a:cubicBezTo>
                  <a:cubicBezTo>
                    <a:pt x="67" y="66"/>
                    <a:pt x="69" y="68"/>
                    <a:pt x="65" y="69"/>
                  </a:cubicBezTo>
                  <a:close/>
                  <a:moveTo>
                    <a:pt x="67" y="21"/>
                  </a:moveTo>
                  <a:cubicBezTo>
                    <a:pt x="52" y="21"/>
                    <a:pt x="52" y="21"/>
                    <a:pt x="52" y="21"/>
                  </a:cubicBezTo>
                  <a:cubicBezTo>
                    <a:pt x="52" y="19"/>
                    <a:pt x="53" y="17"/>
                    <a:pt x="56" y="17"/>
                  </a:cubicBezTo>
                  <a:cubicBezTo>
                    <a:pt x="65" y="17"/>
                    <a:pt x="65" y="17"/>
                    <a:pt x="65" y="17"/>
                  </a:cubicBezTo>
                  <a:cubicBezTo>
                    <a:pt x="67" y="17"/>
                    <a:pt x="67" y="18"/>
                    <a:pt x="67" y="19"/>
                  </a:cubicBezTo>
                  <a:lnTo>
                    <a:pt x="67" y="21"/>
                  </a:lnTo>
                  <a:close/>
                  <a:moveTo>
                    <a:pt x="83" y="89"/>
                  </a:moveTo>
                  <a:cubicBezTo>
                    <a:pt x="82" y="90"/>
                    <a:pt x="80" y="90"/>
                    <a:pt x="79" y="91"/>
                  </a:cubicBezTo>
                  <a:cubicBezTo>
                    <a:pt x="79" y="92"/>
                    <a:pt x="79" y="97"/>
                    <a:pt x="79" y="97"/>
                  </a:cubicBezTo>
                  <a:cubicBezTo>
                    <a:pt x="80" y="98"/>
                    <a:pt x="81" y="97"/>
                    <a:pt x="82" y="97"/>
                  </a:cubicBezTo>
                  <a:cubicBezTo>
                    <a:pt x="84" y="97"/>
                    <a:pt x="84" y="101"/>
                    <a:pt x="83" y="101"/>
                  </a:cubicBezTo>
                  <a:cubicBezTo>
                    <a:pt x="82" y="101"/>
                    <a:pt x="79" y="102"/>
                    <a:pt x="77" y="102"/>
                  </a:cubicBezTo>
                  <a:cubicBezTo>
                    <a:pt x="75" y="102"/>
                    <a:pt x="74" y="102"/>
                    <a:pt x="72" y="102"/>
                  </a:cubicBezTo>
                  <a:cubicBezTo>
                    <a:pt x="70" y="102"/>
                    <a:pt x="70" y="101"/>
                    <a:pt x="70" y="100"/>
                  </a:cubicBezTo>
                  <a:cubicBezTo>
                    <a:pt x="70" y="99"/>
                    <a:pt x="70" y="98"/>
                    <a:pt x="71" y="98"/>
                  </a:cubicBezTo>
                  <a:cubicBezTo>
                    <a:pt x="73" y="98"/>
                    <a:pt x="74" y="98"/>
                    <a:pt x="75" y="97"/>
                  </a:cubicBezTo>
                  <a:cubicBezTo>
                    <a:pt x="76" y="97"/>
                    <a:pt x="75" y="95"/>
                    <a:pt x="75" y="93"/>
                  </a:cubicBezTo>
                  <a:cubicBezTo>
                    <a:pt x="75" y="92"/>
                    <a:pt x="76" y="91"/>
                    <a:pt x="74" y="91"/>
                  </a:cubicBezTo>
                  <a:cubicBezTo>
                    <a:pt x="71" y="92"/>
                    <a:pt x="71" y="92"/>
                    <a:pt x="71" y="88"/>
                  </a:cubicBezTo>
                  <a:cubicBezTo>
                    <a:pt x="71" y="86"/>
                    <a:pt x="71" y="85"/>
                    <a:pt x="71" y="83"/>
                  </a:cubicBezTo>
                  <a:cubicBezTo>
                    <a:pt x="71" y="81"/>
                    <a:pt x="71" y="80"/>
                    <a:pt x="73" y="80"/>
                  </a:cubicBezTo>
                  <a:cubicBezTo>
                    <a:pt x="75" y="79"/>
                    <a:pt x="74" y="83"/>
                    <a:pt x="74" y="85"/>
                  </a:cubicBezTo>
                  <a:cubicBezTo>
                    <a:pt x="74" y="86"/>
                    <a:pt x="74" y="88"/>
                    <a:pt x="75" y="88"/>
                  </a:cubicBezTo>
                  <a:cubicBezTo>
                    <a:pt x="77" y="88"/>
                    <a:pt x="76" y="83"/>
                    <a:pt x="76" y="79"/>
                  </a:cubicBezTo>
                  <a:cubicBezTo>
                    <a:pt x="76" y="76"/>
                    <a:pt x="75" y="75"/>
                    <a:pt x="77" y="74"/>
                  </a:cubicBezTo>
                  <a:cubicBezTo>
                    <a:pt x="79" y="74"/>
                    <a:pt x="79" y="75"/>
                    <a:pt x="79" y="77"/>
                  </a:cubicBezTo>
                  <a:cubicBezTo>
                    <a:pt x="79" y="79"/>
                    <a:pt x="79" y="87"/>
                    <a:pt x="80" y="87"/>
                  </a:cubicBezTo>
                  <a:cubicBezTo>
                    <a:pt x="82" y="87"/>
                    <a:pt x="81" y="80"/>
                    <a:pt x="81" y="79"/>
                  </a:cubicBezTo>
                  <a:cubicBezTo>
                    <a:pt x="81" y="77"/>
                    <a:pt x="81" y="77"/>
                    <a:pt x="83" y="77"/>
                  </a:cubicBezTo>
                  <a:cubicBezTo>
                    <a:pt x="84" y="76"/>
                    <a:pt x="84" y="76"/>
                    <a:pt x="84" y="78"/>
                  </a:cubicBezTo>
                  <a:cubicBezTo>
                    <a:pt x="85" y="79"/>
                    <a:pt x="85" y="81"/>
                    <a:pt x="85" y="82"/>
                  </a:cubicBezTo>
                  <a:cubicBezTo>
                    <a:pt x="84" y="84"/>
                    <a:pt x="84" y="85"/>
                    <a:pt x="84" y="86"/>
                  </a:cubicBezTo>
                  <a:cubicBezTo>
                    <a:pt x="84" y="88"/>
                    <a:pt x="83" y="89"/>
                    <a:pt x="83" y="89"/>
                  </a:cubicBezTo>
                  <a:close/>
                  <a:moveTo>
                    <a:pt x="91" y="107"/>
                  </a:moveTo>
                  <a:cubicBezTo>
                    <a:pt x="90" y="107"/>
                    <a:pt x="89" y="107"/>
                    <a:pt x="88" y="107"/>
                  </a:cubicBezTo>
                  <a:cubicBezTo>
                    <a:pt x="87" y="107"/>
                    <a:pt x="87" y="106"/>
                    <a:pt x="86" y="103"/>
                  </a:cubicBezTo>
                  <a:cubicBezTo>
                    <a:pt x="86" y="102"/>
                    <a:pt x="85" y="101"/>
                    <a:pt x="85" y="98"/>
                  </a:cubicBezTo>
                  <a:cubicBezTo>
                    <a:pt x="85" y="95"/>
                    <a:pt x="84" y="92"/>
                    <a:pt x="85" y="90"/>
                  </a:cubicBezTo>
                  <a:cubicBezTo>
                    <a:pt x="85" y="89"/>
                    <a:pt x="86" y="87"/>
                    <a:pt x="87" y="86"/>
                  </a:cubicBezTo>
                  <a:cubicBezTo>
                    <a:pt x="87" y="85"/>
                    <a:pt x="88" y="84"/>
                    <a:pt x="88" y="81"/>
                  </a:cubicBezTo>
                  <a:cubicBezTo>
                    <a:pt x="89" y="79"/>
                    <a:pt x="89" y="79"/>
                    <a:pt x="88" y="77"/>
                  </a:cubicBezTo>
                  <a:cubicBezTo>
                    <a:pt x="88" y="76"/>
                    <a:pt x="88" y="75"/>
                    <a:pt x="87" y="74"/>
                  </a:cubicBezTo>
                  <a:cubicBezTo>
                    <a:pt x="87" y="72"/>
                    <a:pt x="86" y="72"/>
                    <a:pt x="88" y="71"/>
                  </a:cubicBezTo>
                  <a:cubicBezTo>
                    <a:pt x="90" y="71"/>
                    <a:pt x="90" y="71"/>
                    <a:pt x="91" y="73"/>
                  </a:cubicBezTo>
                  <a:cubicBezTo>
                    <a:pt x="92" y="76"/>
                    <a:pt x="92" y="77"/>
                    <a:pt x="92" y="77"/>
                  </a:cubicBezTo>
                  <a:cubicBezTo>
                    <a:pt x="92" y="79"/>
                    <a:pt x="92" y="82"/>
                    <a:pt x="90" y="86"/>
                  </a:cubicBezTo>
                  <a:cubicBezTo>
                    <a:pt x="89" y="89"/>
                    <a:pt x="88" y="91"/>
                    <a:pt x="88" y="94"/>
                  </a:cubicBezTo>
                  <a:cubicBezTo>
                    <a:pt x="88" y="98"/>
                    <a:pt x="89" y="102"/>
                    <a:pt x="90" y="103"/>
                  </a:cubicBezTo>
                  <a:cubicBezTo>
                    <a:pt x="90" y="104"/>
                    <a:pt x="92" y="107"/>
                    <a:pt x="91" y="107"/>
                  </a:cubicBezTo>
                  <a:close/>
                  <a:moveTo>
                    <a:pt x="97" y="102"/>
                  </a:moveTo>
                  <a:cubicBezTo>
                    <a:pt x="97" y="104"/>
                    <a:pt x="99" y="106"/>
                    <a:pt x="98" y="107"/>
                  </a:cubicBezTo>
                  <a:cubicBezTo>
                    <a:pt x="97" y="107"/>
                    <a:pt x="95" y="107"/>
                    <a:pt x="95" y="106"/>
                  </a:cubicBezTo>
                  <a:cubicBezTo>
                    <a:pt x="94" y="105"/>
                    <a:pt x="93" y="103"/>
                    <a:pt x="92" y="100"/>
                  </a:cubicBezTo>
                  <a:cubicBezTo>
                    <a:pt x="92" y="96"/>
                    <a:pt x="92" y="94"/>
                    <a:pt x="92" y="91"/>
                  </a:cubicBezTo>
                  <a:cubicBezTo>
                    <a:pt x="93" y="86"/>
                    <a:pt x="96" y="85"/>
                    <a:pt x="96" y="81"/>
                  </a:cubicBezTo>
                  <a:cubicBezTo>
                    <a:pt x="96" y="78"/>
                    <a:pt x="96" y="77"/>
                    <a:pt x="95" y="76"/>
                  </a:cubicBezTo>
                  <a:cubicBezTo>
                    <a:pt x="95" y="74"/>
                    <a:pt x="93" y="71"/>
                    <a:pt x="95" y="71"/>
                  </a:cubicBezTo>
                  <a:cubicBezTo>
                    <a:pt x="97" y="71"/>
                    <a:pt x="97" y="72"/>
                    <a:pt x="97" y="72"/>
                  </a:cubicBezTo>
                  <a:cubicBezTo>
                    <a:pt x="98" y="73"/>
                    <a:pt x="100" y="76"/>
                    <a:pt x="100" y="78"/>
                  </a:cubicBezTo>
                  <a:cubicBezTo>
                    <a:pt x="100" y="81"/>
                    <a:pt x="99" y="84"/>
                    <a:pt x="98" y="87"/>
                  </a:cubicBezTo>
                  <a:cubicBezTo>
                    <a:pt x="96" y="90"/>
                    <a:pt x="95" y="91"/>
                    <a:pt x="95" y="94"/>
                  </a:cubicBezTo>
                  <a:cubicBezTo>
                    <a:pt x="96" y="96"/>
                    <a:pt x="96" y="98"/>
                    <a:pt x="97" y="102"/>
                  </a:cubicBezTo>
                  <a:close/>
                  <a:moveTo>
                    <a:pt x="106" y="84"/>
                  </a:moveTo>
                  <a:cubicBezTo>
                    <a:pt x="104" y="89"/>
                    <a:pt x="103" y="88"/>
                    <a:pt x="102" y="93"/>
                  </a:cubicBezTo>
                  <a:cubicBezTo>
                    <a:pt x="102" y="95"/>
                    <a:pt x="103" y="100"/>
                    <a:pt x="104" y="102"/>
                  </a:cubicBezTo>
                  <a:cubicBezTo>
                    <a:pt x="104" y="103"/>
                    <a:pt x="106" y="106"/>
                    <a:pt x="105" y="106"/>
                  </a:cubicBezTo>
                  <a:cubicBezTo>
                    <a:pt x="104" y="107"/>
                    <a:pt x="102" y="106"/>
                    <a:pt x="102" y="106"/>
                  </a:cubicBezTo>
                  <a:cubicBezTo>
                    <a:pt x="101" y="105"/>
                    <a:pt x="100" y="102"/>
                    <a:pt x="100" y="101"/>
                  </a:cubicBezTo>
                  <a:cubicBezTo>
                    <a:pt x="99" y="98"/>
                    <a:pt x="98" y="92"/>
                    <a:pt x="100" y="88"/>
                  </a:cubicBezTo>
                  <a:cubicBezTo>
                    <a:pt x="101" y="87"/>
                    <a:pt x="102" y="85"/>
                    <a:pt x="103" y="81"/>
                  </a:cubicBezTo>
                  <a:cubicBezTo>
                    <a:pt x="103" y="77"/>
                    <a:pt x="102" y="76"/>
                    <a:pt x="102" y="74"/>
                  </a:cubicBezTo>
                  <a:cubicBezTo>
                    <a:pt x="101" y="73"/>
                    <a:pt x="100" y="72"/>
                    <a:pt x="102" y="72"/>
                  </a:cubicBezTo>
                  <a:cubicBezTo>
                    <a:pt x="105" y="72"/>
                    <a:pt x="105" y="73"/>
                    <a:pt x="106" y="75"/>
                  </a:cubicBezTo>
                  <a:cubicBezTo>
                    <a:pt x="106" y="78"/>
                    <a:pt x="106" y="79"/>
                    <a:pt x="106" y="84"/>
                  </a:cubicBezTo>
                  <a:close/>
                  <a:moveTo>
                    <a:pt x="105" y="67"/>
                  </a:moveTo>
                  <a:cubicBezTo>
                    <a:pt x="103" y="68"/>
                    <a:pt x="103" y="67"/>
                    <a:pt x="103" y="64"/>
                  </a:cubicBezTo>
                  <a:cubicBezTo>
                    <a:pt x="103" y="63"/>
                    <a:pt x="103" y="57"/>
                    <a:pt x="101" y="56"/>
                  </a:cubicBezTo>
                  <a:cubicBezTo>
                    <a:pt x="99" y="55"/>
                    <a:pt x="97" y="55"/>
                    <a:pt x="96" y="56"/>
                  </a:cubicBezTo>
                  <a:cubicBezTo>
                    <a:pt x="96" y="56"/>
                    <a:pt x="96" y="66"/>
                    <a:pt x="96" y="66"/>
                  </a:cubicBezTo>
                  <a:cubicBezTo>
                    <a:pt x="96" y="69"/>
                    <a:pt x="95" y="68"/>
                    <a:pt x="94" y="68"/>
                  </a:cubicBezTo>
                  <a:cubicBezTo>
                    <a:pt x="92" y="67"/>
                    <a:pt x="92" y="66"/>
                    <a:pt x="92" y="65"/>
                  </a:cubicBezTo>
                  <a:cubicBezTo>
                    <a:pt x="92" y="63"/>
                    <a:pt x="92" y="56"/>
                    <a:pt x="92" y="56"/>
                  </a:cubicBezTo>
                  <a:cubicBezTo>
                    <a:pt x="92" y="56"/>
                    <a:pt x="88" y="55"/>
                    <a:pt x="87" y="59"/>
                  </a:cubicBezTo>
                  <a:cubicBezTo>
                    <a:pt x="87" y="63"/>
                    <a:pt x="86" y="65"/>
                    <a:pt x="86" y="66"/>
                  </a:cubicBezTo>
                  <a:cubicBezTo>
                    <a:pt x="86" y="67"/>
                    <a:pt x="86" y="67"/>
                    <a:pt x="86" y="67"/>
                  </a:cubicBezTo>
                  <a:cubicBezTo>
                    <a:pt x="85" y="68"/>
                    <a:pt x="84" y="68"/>
                    <a:pt x="83" y="68"/>
                  </a:cubicBezTo>
                  <a:cubicBezTo>
                    <a:pt x="83" y="66"/>
                    <a:pt x="83" y="64"/>
                    <a:pt x="84" y="62"/>
                  </a:cubicBezTo>
                  <a:cubicBezTo>
                    <a:pt x="84" y="59"/>
                    <a:pt x="85" y="57"/>
                    <a:pt x="85" y="55"/>
                  </a:cubicBezTo>
                  <a:cubicBezTo>
                    <a:pt x="86" y="54"/>
                    <a:pt x="89" y="53"/>
                    <a:pt x="92" y="52"/>
                  </a:cubicBezTo>
                  <a:cubicBezTo>
                    <a:pt x="93" y="52"/>
                    <a:pt x="93" y="50"/>
                    <a:pt x="92" y="50"/>
                  </a:cubicBezTo>
                  <a:cubicBezTo>
                    <a:pt x="91" y="49"/>
                    <a:pt x="89" y="50"/>
                    <a:pt x="87" y="50"/>
                  </a:cubicBezTo>
                  <a:cubicBezTo>
                    <a:pt x="86" y="50"/>
                    <a:pt x="85" y="51"/>
                    <a:pt x="84" y="49"/>
                  </a:cubicBezTo>
                  <a:cubicBezTo>
                    <a:pt x="84" y="48"/>
                    <a:pt x="84" y="47"/>
                    <a:pt x="86" y="47"/>
                  </a:cubicBezTo>
                  <a:cubicBezTo>
                    <a:pt x="90" y="47"/>
                    <a:pt x="90" y="47"/>
                    <a:pt x="90" y="47"/>
                  </a:cubicBezTo>
                  <a:cubicBezTo>
                    <a:pt x="90" y="47"/>
                    <a:pt x="92" y="47"/>
                    <a:pt x="92" y="46"/>
                  </a:cubicBezTo>
                  <a:cubicBezTo>
                    <a:pt x="92" y="46"/>
                    <a:pt x="93" y="44"/>
                    <a:pt x="93" y="43"/>
                  </a:cubicBezTo>
                  <a:cubicBezTo>
                    <a:pt x="93" y="43"/>
                    <a:pt x="94" y="43"/>
                    <a:pt x="95" y="43"/>
                  </a:cubicBezTo>
                  <a:cubicBezTo>
                    <a:pt x="96" y="44"/>
                    <a:pt x="96" y="44"/>
                    <a:pt x="96" y="45"/>
                  </a:cubicBezTo>
                  <a:cubicBezTo>
                    <a:pt x="96" y="46"/>
                    <a:pt x="96" y="46"/>
                    <a:pt x="100" y="46"/>
                  </a:cubicBezTo>
                  <a:cubicBezTo>
                    <a:pt x="103" y="46"/>
                    <a:pt x="105" y="46"/>
                    <a:pt x="105" y="47"/>
                  </a:cubicBezTo>
                  <a:cubicBezTo>
                    <a:pt x="105" y="48"/>
                    <a:pt x="105" y="49"/>
                    <a:pt x="105" y="49"/>
                  </a:cubicBezTo>
                  <a:cubicBezTo>
                    <a:pt x="105" y="50"/>
                    <a:pt x="104" y="49"/>
                    <a:pt x="102" y="50"/>
                  </a:cubicBezTo>
                  <a:cubicBezTo>
                    <a:pt x="100" y="50"/>
                    <a:pt x="97" y="50"/>
                    <a:pt x="96" y="50"/>
                  </a:cubicBezTo>
                  <a:cubicBezTo>
                    <a:pt x="96" y="50"/>
                    <a:pt x="96" y="51"/>
                    <a:pt x="96" y="51"/>
                  </a:cubicBezTo>
                  <a:cubicBezTo>
                    <a:pt x="96" y="52"/>
                    <a:pt x="96" y="52"/>
                    <a:pt x="98" y="52"/>
                  </a:cubicBezTo>
                  <a:cubicBezTo>
                    <a:pt x="105" y="54"/>
                    <a:pt x="105" y="54"/>
                    <a:pt x="106" y="58"/>
                  </a:cubicBezTo>
                  <a:cubicBezTo>
                    <a:pt x="106" y="62"/>
                    <a:pt x="106" y="64"/>
                    <a:pt x="106" y="65"/>
                  </a:cubicBezTo>
                  <a:cubicBezTo>
                    <a:pt x="106" y="66"/>
                    <a:pt x="107" y="67"/>
                    <a:pt x="105" y="67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5" name="Freeform 69"/>
            <p:cNvSpPr/>
            <p:nvPr/>
          </p:nvSpPr>
          <p:spPr bwMode="auto">
            <a:xfrm>
              <a:off x="4656138" y="5248275"/>
              <a:ext cx="26988" cy="28575"/>
            </a:xfrm>
            <a:custGeom>
              <a:avLst/>
              <a:gdLst>
                <a:gd name="T0" fmla="*/ 3 w 5"/>
                <a:gd name="T1" fmla="*/ 5 h 5"/>
                <a:gd name="T2" fmla="*/ 4 w 5"/>
                <a:gd name="T3" fmla="*/ 5 h 5"/>
                <a:gd name="T4" fmla="*/ 5 w 5"/>
                <a:gd name="T5" fmla="*/ 1 h 5"/>
                <a:gd name="T6" fmla="*/ 1 w 5"/>
                <a:gd name="T7" fmla="*/ 0 h 5"/>
                <a:gd name="T8" fmla="*/ 0 w 5"/>
                <a:gd name="T9" fmla="*/ 1 h 5"/>
                <a:gd name="T10" fmla="*/ 3 w 5"/>
                <a:gd name="T11" fmla="*/ 5 h 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5">
                  <a:moveTo>
                    <a:pt x="3" y="5"/>
                  </a:moveTo>
                  <a:cubicBezTo>
                    <a:pt x="4" y="5"/>
                    <a:pt x="4" y="5"/>
                    <a:pt x="4" y="5"/>
                  </a:cubicBezTo>
                  <a:cubicBezTo>
                    <a:pt x="5" y="4"/>
                    <a:pt x="5" y="3"/>
                    <a:pt x="5" y="1"/>
                  </a:cubicBezTo>
                  <a:cubicBezTo>
                    <a:pt x="4" y="0"/>
                    <a:pt x="3" y="0"/>
                    <a:pt x="1" y="0"/>
                  </a:cubicBezTo>
                  <a:cubicBezTo>
                    <a:pt x="1" y="0"/>
                    <a:pt x="0" y="0"/>
                    <a:pt x="0" y="1"/>
                  </a:cubicBezTo>
                  <a:cubicBezTo>
                    <a:pt x="1" y="5"/>
                    <a:pt x="1" y="4"/>
                    <a:pt x="3" y="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  <p:sp>
          <p:nvSpPr>
            <p:cNvPr id="96" name="Freeform 70"/>
            <p:cNvSpPr/>
            <p:nvPr/>
          </p:nvSpPr>
          <p:spPr bwMode="auto">
            <a:xfrm>
              <a:off x="4587875" y="5253038"/>
              <a:ext cx="28575" cy="23813"/>
            </a:xfrm>
            <a:custGeom>
              <a:avLst/>
              <a:gdLst>
                <a:gd name="T0" fmla="*/ 1 w 5"/>
                <a:gd name="T1" fmla="*/ 4 h 4"/>
                <a:gd name="T2" fmla="*/ 2 w 5"/>
                <a:gd name="T3" fmla="*/ 4 h 4"/>
                <a:gd name="T4" fmla="*/ 5 w 5"/>
                <a:gd name="T5" fmla="*/ 0 h 4"/>
                <a:gd name="T6" fmla="*/ 2 w 5"/>
                <a:gd name="T7" fmla="*/ 0 h 4"/>
                <a:gd name="T8" fmla="*/ 1 w 5"/>
                <a:gd name="T9" fmla="*/ 1 h 4"/>
                <a:gd name="T10" fmla="*/ 1 w 5"/>
                <a:gd name="T11" fmla="*/ 4 h 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" h="4">
                  <a:moveTo>
                    <a:pt x="1" y="4"/>
                  </a:moveTo>
                  <a:cubicBezTo>
                    <a:pt x="2" y="4"/>
                    <a:pt x="2" y="4"/>
                    <a:pt x="2" y="4"/>
                  </a:cubicBezTo>
                  <a:cubicBezTo>
                    <a:pt x="4" y="4"/>
                    <a:pt x="4" y="2"/>
                    <a:pt x="5" y="0"/>
                  </a:cubicBezTo>
                  <a:cubicBezTo>
                    <a:pt x="5" y="0"/>
                    <a:pt x="3" y="0"/>
                    <a:pt x="2" y="0"/>
                  </a:cubicBezTo>
                  <a:cubicBezTo>
                    <a:pt x="1" y="0"/>
                    <a:pt x="1" y="0"/>
                    <a:pt x="1" y="1"/>
                  </a:cubicBezTo>
                  <a:cubicBezTo>
                    <a:pt x="0" y="2"/>
                    <a:pt x="0" y="4"/>
                    <a:pt x="1" y="4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zh-CN" altLang="en-US"/>
            </a:p>
          </p:txBody>
        </p:sp>
      </p:grpSp>
      <p:sp>
        <p:nvSpPr>
          <p:cNvPr id="98" name="标题 3073"/>
          <p:cNvSpPr txBox="1"/>
          <p:nvPr/>
        </p:nvSpPr>
        <p:spPr>
          <a:xfrm>
            <a:off x="2893993" y="2646242"/>
            <a:ext cx="6404014" cy="1478112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altLang="zh-CN" sz="5400" dirty="0">
              <a:solidFill>
                <a:schemeClr val="accent2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id="{FE997FDA-D907-4803-861F-B12EFB4700F5}"/>
              </a:ext>
            </a:extLst>
          </p:cNvPr>
          <p:cNvSpPr txBox="1"/>
          <p:nvPr/>
        </p:nvSpPr>
        <p:spPr>
          <a:xfrm>
            <a:off x="3736781" y="2646984"/>
            <a:ext cx="641927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800" b="1" kern="100" dirty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宋体" panose="02010600030101010101" pitchFamily="2" charset="-122"/>
              </a:rPr>
              <a:t>鸡蛋掉落问题</a:t>
            </a:r>
            <a:endParaRPr lang="en-US" altLang="zh-CN" sz="4800" b="1" kern="100" dirty="0">
              <a:effectLst/>
              <a:latin typeface="Times New Roman" panose="02020603050405020304" pitchFamily="18" charset="0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</a:t>
            </a:r>
          </a:p>
          <a:p>
            <a:r>
              <a:rPr lang="en-US" altLang="zh-CN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                                    --</a:t>
            </a:r>
            <a:r>
              <a:rPr lang="zh-CN" altLang="en-US" sz="2400" b="1" kern="100" dirty="0">
                <a:latin typeface="Times New Roman" panose="02020603050405020304" pitchFamily="18" charset="0"/>
                <a:ea typeface="宋体" panose="02010600030101010101" pitchFamily="2" charset="-122"/>
              </a:rPr>
              <a:t>王培鸿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99065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249B390-A2B3-475B-822B-37BAD55EBA64}"/>
              </a:ext>
            </a:extLst>
          </p:cNvPr>
          <p:cNvSpPr txBox="1"/>
          <p:nvPr/>
        </p:nvSpPr>
        <p:spPr>
          <a:xfrm>
            <a:off x="4486275" y="1808252"/>
            <a:ext cx="203835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递归求解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0A5383F-A384-49D0-8C1A-31F34489C5BA}"/>
              </a:ext>
            </a:extLst>
          </p:cNvPr>
          <p:cNvSpPr txBox="1"/>
          <p:nvPr/>
        </p:nvSpPr>
        <p:spPr>
          <a:xfrm>
            <a:off x="4486275" y="2686051"/>
            <a:ext cx="2771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递推求解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C3DFBA-61FD-471A-8F81-CBAC5AE95791}"/>
              </a:ext>
            </a:extLst>
          </p:cNvPr>
          <p:cNvSpPr txBox="1"/>
          <p:nvPr/>
        </p:nvSpPr>
        <p:spPr>
          <a:xfrm>
            <a:off x="4486275" y="3587175"/>
            <a:ext cx="3838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空间提升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FCEB838-1B27-4F89-B8CA-16C141AC0171}"/>
              </a:ext>
            </a:extLst>
          </p:cNvPr>
          <p:cNvSpPr txBox="1"/>
          <p:nvPr/>
        </p:nvSpPr>
        <p:spPr>
          <a:xfrm>
            <a:off x="4486275" y="4488299"/>
            <a:ext cx="2771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二分法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143024B-43D7-470E-89C0-85A7C0EB0689}"/>
              </a:ext>
            </a:extLst>
          </p:cNvPr>
          <p:cNvSpPr txBox="1"/>
          <p:nvPr/>
        </p:nvSpPr>
        <p:spPr>
          <a:xfrm>
            <a:off x="4486274" y="5359984"/>
            <a:ext cx="27717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数学等效法</a:t>
            </a:r>
          </a:p>
        </p:txBody>
      </p:sp>
    </p:spTree>
    <p:extLst>
      <p:ext uri="{BB962C8B-B14F-4D97-AF65-F5344CB8AC3E}">
        <p14:creationId xmlns:p14="http://schemas.microsoft.com/office/powerpoint/2010/main" val="31652614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6B1BC7-B6CA-4CF0-9281-DCEB96A355B8}"/>
              </a:ext>
            </a:extLst>
          </p:cNvPr>
          <p:cNvSpPr txBox="1"/>
          <p:nvPr/>
        </p:nvSpPr>
        <p:spPr>
          <a:xfrm>
            <a:off x="1095375" y="228601"/>
            <a:ext cx="27126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递归求解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0AF47E5-241E-45EB-8412-CF97E096D095}"/>
              </a:ext>
            </a:extLst>
          </p:cNvPr>
          <p:cNvSpPr txBox="1"/>
          <p:nvPr/>
        </p:nvSpPr>
        <p:spPr>
          <a:xfrm>
            <a:off x="498059" y="4421753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只有一个鸡蛋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47D80EB-6149-4628-8F69-3FDE3C2705C3}"/>
              </a:ext>
            </a:extLst>
          </p:cNvPr>
          <p:cNvSpPr txBox="1"/>
          <p:nvPr/>
        </p:nvSpPr>
        <p:spPr>
          <a:xfrm>
            <a:off x="3023206" y="4418195"/>
            <a:ext cx="15696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0</a:t>
            </a:r>
            <a:r>
              <a:rPr lang="zh-CN" altLang="en-US" dirty="0"/>
              <a:t>层或一层楼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A71C99A3-318E-4C82-A61C-B3F9D85E1403}"/>
              </a:ext>
            </a:extLst>
          </p:cNvPr>
          <p:cNvSpPr txBox="1"/>
          <p:nvPr/>
        </p:nvSpPr>
        <p:spPr>
          <a:xfrm>
            <a:off x="87424" y="4722212"/>
            <a:ext cx="30289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从低到高试验剩余楼层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B84E90C8-7378-46D0-AD46-A36CBB49819D}"/>
              </a:ext>
            </a:extLst>
          </p:cNvPr>
          <p:cNvGrpSpPr/>
          <p:nvPr/>
        </p:nvGrpSpPr>
        <p:grpSpPr>
          <a:xfrm>
            <a:off x="3474661" y="1359749"/>
            <a:ext cx="906835" cy="3009900"/>
            <a:chOff x="4972050" y="1175083"/>
            <a:chExt cx="1653572" cy="4514850"/>
          </a:xfrm>
        </p:grpSpPr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F937AF08-1724-49D2-A5D1-CA230EA5B45E}"/>
                </a:ext>
              </a:extLst>
            </p:cNvPr>
            <p:cNvSpPr/>
            <p:nvPr/>
          </p:nvSpPr>
          <p:spPr>
            <a:xfrm>
              <a:off x="4972050" y="1175083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6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3B75A9C6-A520-4A13-87A3-1C8C58623DD4}"/>
                </a:ext>
              </a:extLst>
            </p:cNvPr>
            <p:cNvSpPr/>
            <p:nvPr/>
          </p:nvSpPr>
          <p:spPr>
            <a:xfrm>
              <a:off x="4972050" y="1927558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5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BB906B87-67F3-47C3-B1C3-1040C76A8413}"/>
                </a:ext>
              </a:extLst>
            </p:cNvPr>
            <p:cNvSpPr/>
            <p:nvPr/>
          </p:nvSpPr>
          <p:spPr>
            <a:xfrm>
              <a:off x="4972050" y="2680033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4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99BD097C-91CC-48D5-93D6-09F60AB487F4}"/>
                </a:ext>
              </a:extLst>
            </p:cNvPr>
            <p:cNvSpPr/>
            <p:nvPr/>
          </p:nvSpPr>
          <p:spPr>
            <a:xfrm>
              <a:off x="4972050" y="3432508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3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434D692E-F720-4F1B-8A7F-7CCCC5AB12F3}"/>
                </a:ext>
              </a:extLst>
            </p:cNvPr>
            <p:cNvSpPr/>
            <p:nvPr/>
          </p:nvSpPr>
          <p:spPr>
            <a:xfrm>
              <a:off x="4972050" y="4184983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2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83EE7552-F836-4B70-8C53-630C05FDB6A3}"/>
                </a:ext>
              </a:extLst>
            </p:cNvPr>
            <p:cNvSpPr/>
            <p:nvPr/>
          </p:nvSpPr>
          <p:spPr>
            <a:xfrm>
              <a:off x="4972050" y="4937458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1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F524DACC-3944-49BA-BF8F-C64C7386E1F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54097" y="5313698"/>
              <a:ext cx="7715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0CC6F2CD-3DF5-44C6-8A78-B73202AA8E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854097" y="5669631"/>
              <a:ext cx="7715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11A840E0-0EB2-441C-9E19-0AD9AC009CEE}"/>
              </a:ext>
            </a:extLst>
          </p:cNvPr>
          <p:cNvSpPr txBox="1"/>
          <p:nvPr/>
        </p:nvSpPr>
        <p:spPr>
          <a:xfrm>
            <a:off x="2842977" y="4721645"/>
            <a:ext cx="20403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至少试验</a:t>
            </a:r>
            <a:r>
              <a:rPr lang="en-US" altLang="zh-CN" dirty="0"/>
              <a:t>0</a:t>
            </a:r>
            <a:r>
              <a:rPr lang="zh-CN" altLang="en-US" dirty="0"/>
              <a:t>或</a:t>
            </a:r>
            <a:r>
              <a:rPr lang="en-US" altLang="zh-CN" dirty="0"/>
              <a:t>1</a:t>
            </a:r>
            <a:r>
              <a:rPr lang="zh-CN" altLang="en-US" dirty="0"/>
              <a:t>次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0E03AD32-3E6A-428A-BCA4-058339B7B1C5}"/>
              </a:ext>
            </a:extLst>
          </p:cNvPr>
          <p:cNvGrpSpPr/>
          <p:nvPr/>
        </p:nvGrpSpPr>
        <p:grpSpPr>
          <a:xfrm>
            <a:off x="929665" y="1359749"/>
            <a:ext cx="1111474" cy="3009900"/>
            <a:chOff x="708780" y="1154781"/>
            <a:chExt cx="1862970" cy="451485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797D8656-D375-4707-8821-AE50E2BDFB17}"/>
                </a:ext>
              </a:extLst>
            </p:cNvPr>
            <p:cNvSpPr/>
            <p:nvPr/>
          </p:nvSpPr>
          <p:spPr>
            <a:xfrm>
              <a:off x="708780" y="1154781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6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C0E8325D-1368-420F-9A6C-7259C46EBFCC}"/>
                </a:ext>
              </a:extLst>
            </p:cNvPr>
            <p:cNvSpPr/>
            <p:nvPr/>
          </p:nvSpPr>
          <p:spPr>
            <a:xfrm>
              <a:off x="708780" y="1907256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5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B50AC84A-5F69-4A6F-A74E-241ED5E5ACCD}"/>
                </a:ext>
              </a:extLst>
            </p:cNvPr>
            <p:cNvSpPr/>
            <p:nvPr/>
          </p:nvSpPr>
          <p:spPr>
            <a:xfrm>
              <a:off x="708780" y="2659731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4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53FEEF9D-8E98-4713-A703-956603E5E7DF}"/>
                </a:ext>
              </a:extLst>
            </p:cNvPr>
            <p:cNvSpPr/>
            <p:nvPr/>
          </p:nvSpPr>
          <p:spPr>
            <a:xfrm>
              <a:off x="708780" y="3412206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3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24308439-5D38-419C-A09D-3AA3D66CC682}"/>
                </a:ext>
              </a:extLst>
            </p:cNvPr>
            <p:cNvSpPr/>
            <p:nvPr/>
          </p:nvSpPr>
          <p:spPr>
            <a:xfrm>
              <a:off x="708780" y="4164681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2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8409920-13BF-410B-A789-8C7596D929B1}"/>
                </a:ext>
              </a:extLst>
            </p:cNvPr>
            <p:cNvSpPr/>
            <p:nvPr/>
          </p:nvSpPr>
          <p:spPr>
            <a:xfrm>
              <a:off x="708780" y="4917156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1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E5BB5162-7039-4FB7-ABB7-8B2730EA8FB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766" y="5260056"/>
              <a:ext cx="7715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F7464B76-E983-4939-9658-CF04816707A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49766" y="3031206"/>
              <a:ext cx="7715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椭圆 18">
              <a:extLst>
                <a:ext uri="{FF2B5EF4-FFF2-40B4-BE49-F238E27FC236}">
                  <a16:creationId xmlns:a16="http://schemas.microsoft.com/office/drawing/2014/main" id="{AD79F31B-1842-4D6A-89BB-9DD306408F7A}"/>
                </a:ext>
              </a:extLst>
            </p:cNvPr>
            <p:cNvSpPr/>
            <p:nvPr/>
          </p:nvSpPr>
          <p:spPr>
            <a:xfrm>
              <a:off x="2264987" y="5107653"/>
              <a:ext cx="278188" cy="36932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id="{0F345AF4-33CF-4A5C-AA75-D5AE04F7A22A}"/>
                </a:ext>
              </a:extLst>
            </p:cNvPr>
            <p:cNvSpPr/>
            <p:nvPr/>
          </p:nvSpPr>
          <p:spPr>
            <a:xfrm>
              <a:off x="2293562" y="2903007"/>
              <a:ext cx="278188" cy="369329"/>
            </a:xfrm>
            <a:prstGeom prst="ellipse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" name="直接箭头连接符 5">
              <a:extLst>
                <a:ext uri="{FF2B5EF4-FFF2-40B4-BE49-F238E27FC236}">
                  <a16:creationId xmlns:a16="http://schemas.microsoft.com/office/drawing/2014/main" id="{40BDAE57-6D28-40B2-B071-3C61A4F03B7A}"/>
                </a:ext>
              </a:extLst>
            </p:cNvPr>
            <p:cNvCxnSpPr/>
            <p:nvPr/>
          </p:nvCxnSpPr>
          <p:spPr>
            <a:xfrm flipV="1">
              <a:off x="1885950" y="3180347"/>
              <a:ext cx="0" cy="1835317"/>
            </a:xfrm>
            <a:prstGeom prst="straightConnector1">
              <a:avLst/>
            </a:prstGeom>
            <a:ln w="38100">
              <a:prstDash val="sysDot"/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1D9AC8D5-037A-438B-8374-AD03050461E5}"/>
              </a:ext>
            </a:extLst>
          </p:cNvPr>
          <p:cNvSpPr txBox="1"/>
          <p:nvPr/>
        </p:nvSpPr>
        <p:spPr>
          <a:xfrm>
            <a:off x="371475" y="874932"/>
            <a:ext cx="12811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边界条件 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C24D0434-AF16-4A20-B1C4-21AFC7F47A99}"/>
              </a:ext>
            </a:extLst>
          </p:cNvPr>
          <p:cNvGrpSpPr/>
          <p:nvPr/>
        </p:nvGrpSpPr>
        <p:grpSpPr>
          <a:xfrm>
            <a:off x="5987517" y="1346214"/>
            <a:ext cx="1569660" cy="3009900"/>
            <a:chOff x="342900" y="1323975"/>
            <a:chExt cx="2076476" cy="4514850"/>
          </a:xfrm>
        </p:grpSpPr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61FD7FFC-4483-41B5-812A-3CF316A9C759}"/>
                </a:ext>
              </a:extLst>
            </p:cNvPr>
            <p:cNvSpPr/>
            <p:nvPr/>
          </p:nvSpPr>
          <p:spPr>
            <a:xfrm>
              <a:off x="342900" y="1323975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6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id="{1D7B3318-DAF8-4782-8367-23CBED2E8F53}"/>
                </a:ext>
              </a:extLst>
            </p:cNvPr>
            <p:cNvSpPr/>
            <p:nvPr/>
          </p:nvSpPr>
          <p:spPr>
            <a:xfrm>
              <a:off x="342900" y="2076450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5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9B33AE31-3159-43CC-B562-9851E4B3C0F2}"/>
                </a:ext>
              </a:extLst>
            </p:cNvPr>
            <p:cNvSpPr/>
            <p:nvPr/>
          </p:nvSpPr>
          <p:spPr>
            <a:xfrm>
              <a:off x="342900" y="2828925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4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8C33CFDC-DC07-484E-9A32-E44CBAC4D3B1}"/>
                </a:ext>
              </a:extLst>
            </p:cNvPr>
            <p:cNvSpPr/>
            <p:nvPr/>
          </p:nvSpPr>
          <p:spPr>
            <a:xfrm>
              <a:off x="342900" y="3581400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3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55699FA1-DBFB-4210-B157-BD28F9CFCA58}"/>
                </a:ext>
              </a:extLst>
            </p:cNvPr>
            <p:cNvSpPr/>
            <p:nvPr/>
          </p:nvSpPr>
          <p:spPr>
            <a:xfrm>
              <a:off x="342900" y="4333875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2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3391F89D-C298-41E2-AEC6-E4E9277C4E3E}"/>
                </a:ext>
              </a:extLst>
            </p:cNvPr>
            <p:cNvSpPr/>
            <p:nvPr/>
          </p:nvSpPr>
          <p:spPr>
            <a:xfrm>
              <a:off x="342900" y="5086350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1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592F10D6-DB42-4F08-92FB-208C88B9CC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5376" y="3286125"/>
              <a:ext cx="5429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5D5A5C6-E970-4CB9-9784-F41857E7E962}"/>
                </a:ext>
              </a:extLst>
            </p:cNvPr>
            <p:cNvSpPr txBox="1"/>
            <p:nvPr/>
          </p:nvSpPr>
          <p:spPr>
            <a:xfrm>
              <a:off x="1674747" y="3085238"/>
              <a:ext cx="658947" cy="4006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X</a:t>
              </a:r>
              <a:r>
                <a:rPr lang="zh-CN" altLang="en-US" b="1" dirty="0"/>
                <a:t>层</a:t>
              </a:r>
            </a:p>
          </p:txBody>
        </p:sp>
        <p:sp>
          <p:nvSpPr>
            <p:cNvPr id="43" name="右大括号 42">
              <a:extLst>
                <a:ext uri="{FF2B5EF4-FFF2-40B4-BE49-F238E27FC236}">
                  <a16:creationId xmlns:a16="http://schemas.microsoft.com/office/drawing/2014/main" id="{C87BFE43-6347-4C07-A60C-7B406AC846B3}"/>
                </a:ext>
              </a:extLst>
            </p:cNvPr>
            <p:cNvSpPr/>
            <p:nvPr/>
          </p:nvSpPr>
          <p:spPr>
            <a:xfrm>
              <a:off x="1200150" y="3676650"/>
              <a:ext cx="190500" cy="2020668"/>
            </a:xfrm>
            <a:prstGeom prst="rightBrac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右大括号 43">
              <a:extLst>
                <a:ext uri="{FF2B5EF4-FFF2-40B4-BE49-F238E27FC236}">
                  <a16:creationId xmlns:a16="http://schemas.microsoft.com/office/drawing/2014/main" id="{FBEB63FF-9F51-4BF5-8714-1AE9A8D01251}"/>
                </a:ext>
              </a:extLst>
            </p:cNvPr>
            <p:cNvSpPr/>
            <p:nvPr/>
          </p:nvSpPr>
          <p:spPr>
            <a:xfrm>
              <a:off x="1200150" y="1408332"/>
              <a:ext cx="190500" cy="1344392"/>
            </a:xfrm>
            <a:prstGeom prst="rightBrac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35912EA4-1D5A-4399-99A4-5CD6C295879B}"/>
                </a:ext>
              </a:extLst>
            </p:cNvPr>
            <p:cNvSpPr txBox="1"/>
            <p:nvPr/>
          </p:nvSpPr>
          <p:spPr>
            <a:xfrm>
              <a:off x="1581150" y="1895862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6-x</a:t>
              </a:r>
              <a:r>
                <a:rPr lang="zh-CN" altLang="en-US" b="1" dirty="0"/>
                <a:t>层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F3BEA558-285D-424F-BE3E-FDBE9C19100E}"/>
                </a:ext>
              </a:extLst>
            </p:cNvPr>
            <p:cNvSpPr txBox="1"/>
            <p:nvPr/>
          </p:nvSpPr>
          <p:spPr>
            <a:xfrm>
              <a:off x="1504950" y="4491721"/>
              <a:ext cx="914426" cy="4006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x-1</a:t>
              </a:r>
              <a:r>
                <a:rPr lang="zh-CN" altLang="en-US" b="1" dirty="0"/>
                <a:t>层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4D25E155-F0E0-4384-A217-F1EA17931DF1}"/>
                  </a:ext>
                </a:extLst>
              </p:cNvPr>
              <p:cNvSpPr txBox="1"/>
              <p:nvPr/>
            </p:nvSpPr>
            <p:spPr>
              <a:xfrm>
                <a:off x="2771714" y="6117230"/>
                <a:ext cx="724301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𝒏𝒑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</m:fName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𝐦𝐚𝐱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⁡[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𝒏𝒑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𝒏𝒑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)]</m:t>
                          </m:r>
                        </m:e>
                      </m:func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47" name="文本框 46">
                <a:extLst>
                  <a:ext uri="{FF2B5EF4-FFF2-40B4-BE49-F238E27FC236}">
                    <a16:creationId xmlns:a16="http://schemas.microsoft.com/office/drawing/2014/main" id="{4D25E155-F0E0-4384-A217-F1EA17931D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71714" y="6117230"/>
                <a:ext cx="7243012" cy="276999"/>
              </a:xfrm>
              <a:prstGeom prst="rect">
                <a:avLst/>
              </a:prstGeom>
              <a:blipFill>
                <a:blip r:embed="rId2"/>
                <a:stretch>
                  <a:fillRect t="-2174" b="-36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8" name="文本框 47">
            <a:extLst>
              <a:ext uri="{FF2B5EF4-FFF2-40B4-BE49-F238E27FC236}">
                <a16:creationId xmlns:a16="http://schemas.microsoft.com/office/drawing/2014/main" id="{66B5EDF5-A53D-40D8-A196-B60791DCC84C}"/>
              </a:ext>
            </a:extLst>
          </p:cNvPr>
          <p:cNvSpPr txBox="1"/>
          <p:nvPr/>
        </p:nvSpPr>
        <p:spPr>
          <a:xfrm>
            <a:off x="2349341" y="5585037"/>
            <a:ext cx="72763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因此，对于</a:t>
            </a:r>
            <a:r>
              <a:rPr lang="en-US" altLang="zh-CN" dirty="0"/>
              <a:t>N</a:t>
            </a:r>
            <a:r>
              <a:rPr lang="zh-CN" altLang="en-US" dirty="0"/>
              <a:t>层楼，</a:t>
            </a:r>
            <a:r>
              <a:rPr lang="en-US" altLang="zh-CN" dirty="0"/>
              <a:t>K</a:t>
            </a:r>
            <a:r>
              <a:rPr lang="zh-CN" altLang="en-US" dirty="0"/>
              <a:t>个鸡蛋的问题的最小试验次数的动态规划方程为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C07D77CE-E4F7-4CF0-91AC-CD62521C9973}"/>
              </a:ext>
            </a:extLst>
          </p:cNvPr>
          <p:cNvSpPr txBox="1"/>
          <p:nvPr/>
        </p:nvSpPr>
        <p:spPr>
          <a:xfrm>
            <a:off x="7995171" y="1455211"/>
            <a:ext cx="3734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对于第</a:t>
            </a:r>
            <a:r>
              <a:rPr lang="en-US" altLang="zh-CN" dirty="0"/>
              <a:t>x</a:t>
            </a:r>
            <a:r>
              <a:rPr lang="zh-CN" altLang="en-US" dirty="0"/>
              <a:t>层进行测试有两种情况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8B2E42E0-080F-4A9A-B380-B147DEEBD3F4}"/>
              </a:ext>
            </a:extLst>
          </p:cNvPr>
          <p:cNvSpPr txBox="1"/>
          <p:nvPr/>
        </p:nvSpPr>
        <p:spPr>
          <a:xfrm>
            <a:off x="7995170" y="2181023"/>
            <a:ext cx="3921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1.</a:t>
            </a:r>
            <a:r>
              <a:rPr lang="zh-CN" altLang="en-US" b="1" dirty="0"/>
              <a:t>鸡蛋碎了，这时剩下</a:t>
            </a:r>
            <a:r>
              <a:rPr lang="en-US" altLang="zh-CN" b="1" dirty="0"/>
              <a:t>K-1</a:t>
            </a:r>
            <a:r>
              <a:rPr lang="zh-CN" altLang="en-US" b="1" dirty="0"/>
              <a:t>个鸡蛋，应该向下遍历，即剩余</a:t>
            </a:r>
            <a:r>
              <a:rPr lang="en-US" altLang="zh-CN" b="1" dirty="0"/>
              <a:t>x-1</a:t>
            </a:r>
            <a:r>
              <a:rPr lang="zh-CN" altLang="en-US" b="1" dirty="0"/>
              <a:t>层待测试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8233291-D8B8-444C-B316-DB092A5099C1}"/>
              </a:ext>
            </a:extLst>
          </p:cNvPr>
          <p:cNvSpPr txBox="1"/>
          <p:nvPr/>
        </p:nvSpPr>
        <p:spPr>
          <a:xfrm>
            <a:off x="7995170" y="2908785"/>
            <a:ext cx="392152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b="1" dirty="0"/>
              <a:t>2.</a:t>
            </a:r>
            <a:r>
              <a:rPr lang="zh-CN" altLang="en-US" b="1" dirty="0"/>
              <a:t>鸡蛋没碎，这时剩下</a:t>
            </a:r>
            <a:r>
              <a:rPr lang="en-US" altLang="zh-CN" b="1" dirty="0"/>
              <a:t>K</a:t>
            </a:r>
            <a:r>
              <a:rPr lang="zh-CN" altLang="en-US" b="1" dirty="0"/>
              <a:t>个鸡蛋，应该向上遍历，即剩余</a:t>
            </a:r>
            <a:r>
              <a:rPr lang="en-US" altLang="zh-CN" b="1" dirty="0"/>
              <a:t>N-x</a:t>
            </a:r>
            <a:r>
              <a:rPr lang="zh-CN" altLang="en-US" b="1" dirty="0"/>
              <a:t>层待测试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CC44973-A81A-4FED-8AEC-49FBB517C214}"/>
              </a:ext>
            </a:extLst>
          </p:cNvPr>
          <p:cNvSpPr txBox="1"/>
          <p:nvPr/>
        </p:nvSpPr>
        <p:spPr>
          <a:xfrm>
            <a:off x="7980208" y="3637386"/>
            <a:ext cx="2524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两种结果取最坏的情况</a:t>
            </a:r>
          </a:p>
        </p:txBody>
      </p:sp>
    </p:spTree>
    <p:extLst>
      <p:ext uri="{BB962C8B-B14F-4D97-AF65-F5344CB8AC3E}">
        <p14:creationId xmlns:p14="http://schemas.microsoft.com/office/powerpoint/2010/main" val="1543258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6B1BC7-B6CA-4CF0-9281-DCEB96A355B8}"/>
              </a:ext>
            </a:extLst>
          </p:cNvPr>
          <p:cNvSpPr txBox="1"/>
          <p:nvPr/>
        </p:nvSpPr>
        <p:spPr>
          <a:xfrm>
            <a:off x="1095375" y="228601"/>
            <a:ext cx="26860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递归求解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5800371-EFE5-475C-B99D-9A2E56C59E1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34" t="15278" r="7742" b="9027"/>
          <a:stretch/>
        </p:blipFill>
        <p:spPr>
          <a:xfrm>
            <a:off x="772111" y="1884830"/>
            <a:ext cx="4800014" cy="377490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CE6641F-6E3E-4579-9D53-299CFCD1758D}"/>
              </a:ext>
            </a:extLst>
          </p:cNvPr>
          <p:cNvSpPr txBox="1"/>
          <p:nvPr/>
        </p:nvSpPr>
        <p:spPr>
          <a:xfrm>
            <a:off x="590550" y="1217317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伪代码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0003529-CC37-440A-ACBA-80BB4D0CA2F6}"/>
                  </a:ext>
                </a:extLst>
              </p:cNvPr>
              <p:cNvSpPr txBox="1"/>
              <p:nvPr/>
            </p:nvSpPr>
            <p:spPr>
              <a:xfrm>
                <a:off x="6096000" y="2886075"/>
                <a:ext cx="5323889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因为递归树的每一层结点的个数为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，每一层的深度为</a:t>
                </a:r>
                <a:r>
                  <a:rPr lang="en-US" altLang="zh-CN" dirty="0"/>
                  <a:t>e</a:t>
                </a:r>
                <a:r>
                  <a:rPr lang="zh-CN" altLang="en-US" dirty="0"/>
                  <a:t>，所以时间复杂度为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p>
                        </m:sSup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。</m:t>
                    </m:r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3" name="文本框 2">
                <a:extLst>
                  <a:ext uri="{FF2B5EF4-FFF2-40B4-BE49-F238E27FC236}">
                    <a16:creationId xmlns:a16="http://schemas.microsoft.com/office/drawing/2014/main" id="{00003529-CC37-440A-ACBA-80BB4D0CA2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2886075"/>
                <a:ext cx="5323889" cy="646331"/>
              </a:xfrm>
              <a:prstGeom prst="rect">
                <a:avLst/>
              </a:prstGeom>
              <a:blipFill>
                <a:blip r:embed="rId3"/>
                <a:stretch>
                  <a:fillRect l="-916" t="-4717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1963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6B1BC7-B6CA-4CF0-9281-DCEB96A355B8}"/>
              </a:ext>
            </a:extLst>
          </p:cNvPr>
          <p:cNvSpPr txBox="1"/>
          <p:nvPr/>
        </p:nvSpPr>
        <p:spPr>
          <a:xfrm>
            <a:off x="1095375" y="228602"/>
            <a:ext cx="292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递归求解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862A6D-9723-41B0-8A27-6DB65BC6CA1C}"/>
              </a:ext>
            </a:extLst>
          </p:cNvPr>
          <p:cNvSpPr txBox="1"/>
          <p:nvPr/>
        </p:nvSpPr>
        <p:spPr>
          <a:xfrm>
            <a:off x="419100" y="945496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随机规模测试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4DEB37E-5242-4EE6-A0E2-3DAA3D3AFFD8}"/>
              </a:ext>
            </a:extLst>
          </p:cNvPr>
          <p:cNvSpPr txBox="1"/>
          <p:nvPr/>
        </p:nvSpPr>
        <p:spPr>
          <a:xfrm>
            <a:off x="2038350" y="1275050"/>
            <a:ext cx="1786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固定层数</a:t>
            </a:r>
            <a:r>
              <a:rPr lang="en-US" altLang="zh-CN" dirty="0"/>
              <a:t>n==20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9969FA-E002-48AF-BC7C-EB2448C022EC}"/>
              </a:ext>
            </a:extLst>
          </p:cNvPr>
          <p:cNvSpPr txBox="1"/>
          <p:nvPr/>
        </p:nvSpPr>
        <p:spPr>
          <a:xfrm>
            <a:off x="8001000" y="1275050"/>
            <a:ext cx="2008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固定鸡蛋数</a:t>
            </a:r>
            <a:r>
              <a:rPr lang="en-US" altLang="zh-CN" dirty="0"/>
              <a:t>e==10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20B3CD97-F9C6-439C-88FB-6AE6C4BF90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00" y="1675160"/>
            <a:ext cx="5634441" cy="2936739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C076CFB-4CFC-47A9-B250-9EF516FE3A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899" y="1644382"/>
            <a:ext cx="5367143" cy="2936739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5D7FE5A-53FA-4E27-AFB6-3F5B5A9BAD3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383" y="4642678"/>
            <a:ext cx="6010088" cy="2215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563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6B1BC7-B6CA-4CF0-9281-DCEB96A355B8}"/>
              </a:ext>
            </a:extLst>
          </p:cNvPr>
          <p:cNvSpPr txBox="1"/>
          <p:nvPr/>
        </p:nvSpPr>
        <p:spPr>
          <a:xfrm>
            <a:off x="1095375" y="228601"/>
            <a:ext cx="3600450" cy="6476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递推求解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930FD5D-24FC-46E5-9744-01F4805983E1}"/>
              </a:ext>
            </a:extLst>
          </p:cNvPr>
          <p:cNvSpPr txBox="1"/>
          <p:nvPr/>
        </p:nvSpPr>
        <p:spPr>
          <a:xfrm>
            <a:off x="1323975" y="1028700"/>
            <a:ext cx="6308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蛮力法的求解为递归求解，将递归改为自底向上的递推求解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93753B1-68A4-4448-A13A-43FFDFA3AC71}"/>
              </a:ext>
            </a:extLst>
          </p:cNvPr>
          <p:cNvSpPr txBox="1"/>
          <p:nvPr/>
        </p:nvSpPr>
        <p:spPr>
          <a:xfrm>
            <a:off x="1323975" y="1902857"/>
            <a:ext cx="10285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由方程可得，当前问题的解依赖于子问题的前</a:t>
            </a:r>
            <a:r>
              <a:rPr lang="en-US" altLang="zh-CN" dirty="0"/>
              <a:t>2K</a:t>
            </a:r>
            <a:r>
              <a:rPr lang="zh-CN" altLang="en-US" dirty="0"/>
              <a:t>个解；因此可以通过记录结果的方式减少重复计算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ECF0031-BD3E-424D-89A1-D5BFBF1C60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19" t="10695" r="7021" b="6528"/>
          <a:stretch/>
        </p:blipFill>
        <p:spPr>
          <a:xfrm>
            <a:off x="840581" y="2547815"/>
            <a:ext cx="3960019" cy="357706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8F04D0D-4659-4C04-B680-81BCDEBAD4CB}"/>
                  </a:ext>
                </a:extLst>
              </p:cNvPr>
              <p:cNvSpPr txBox="1"/>
              <p:nvPr/>
            </p:nvSpPr>
            <p:spPr>
              <a:xfrm>
                <a:off x="3135018" y="6444669"/>
                <a:ext cx="7018632" cy="369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时间复杂度为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dirty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∗</m:t>
                    </m:r>
                    <m:nary>
                      <m:naryPr>
                        <m:chr m:val="∑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nary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lang="en-US" altLang="zh-CN" i="1">
                                <a:latin typeface="Cambria Math" panose="02040503050406030204" pitchFamily="18" charset="0"/>
                              </a:rPr>
                              <m:t>n</m:t>
                            </m:r>
                          </m:e>
                          <m:sup>
                            <m:r>
                              <a:rPr lang="en-US" altLang="zh-CN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r>
                  <a:rPr lang="zh-CN" altLang="en-US" dirty="0"/>
                  <a:t>，空间复杂度为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D8F04D0D-4659-4C04-B680-81BCDEBAD4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5018" y="6444669"/>
                <a:ext cx="7018632" cy="369460"/>
              </a:xfrm>
              <a:prstGeom prst="rect">
                <a:avLst/>
              </a:prstGeom>
              <a:blipFill>
                <a:blip r:embed="rId3"/>
                <a:stretch>
                  <a:fillRect l="-694" t="-119672" b="-1836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图片 11">
            <a:extLst>
              <a:ext uri="{FF2B5EF4-FFF2-40B4-BE49-F238E27FC236}">
                <a16:creationId xmlns:a16="http://schemas.microsoft.com/office/drawing/2014/main" id="{70A10961-F5E5-4DAD-92E7-9DE7F2C0D8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4076" y="2578347"/>
            <a:ext cx="5042561" cy="347913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F00D649-428B-42CC-B88E-911174DEDF10}"/>
                  </a:ext>
                </a:extLst>
              </p:cNvPr>
              <p:cNvSpPr txBox="1"/>
              <p:nvPr/>
            </p:nvSpPr>
            <p:spPr>
              <a:xfrm>
                <a:off x="2474494" y="1488045"/>
                <a:ext cx="724301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𝒏𝒑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</m:fName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𝐦𝐚𝐱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⁡[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𝒏𝒑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𝒏𝒑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)]</m:t>
                          </m:r>
                        </m:e>
                      </m:func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17" name="文本框 16">
                <a:extLst>
                  <a:ext uri="{FF2B5EF4-FFF2-40B4-BE49-F238E27FC236}">
                    <a16:creationId xmlns:a16="http://schemas.microsoft.com/office/drawing/2014/main" id="{1F00D649-428B-42CC-B88E-911174DED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74494" y="1488045"/>
                <a:ext cx="7243012" cy="276999"/>
              </a:xfrm>
              <a:prstGeom prst="rect">
                <a:avLst/>
              </a:prstGeom>
              <a:blipFill>
                <a:blip r:embed="rId6"/>
                <a:stretch>
                  <a:fillRect t="-2174" b="-36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569117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6B1BC7-B6CA-4CF0-9281-DCEB96A355B8}"/>
              </a:ext>
            </a:extLst>
          </p:cNvPr>
          <p:cNvSpPr txBox="1"/>
          <p:nvPr/>
        </p:nvSpPr>
        <p:spPr>
          <a:xfrm>
            <a:off x="1095375" y="228602"/>
            <a:ext cx="292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递推求解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862A6D-9723-41B0-8A27-6DB65BC6CA1C}"/>
              </a:ext>
            </a:extLst>
          </p:cNvPr>
          <p:cNvSpPr txBox="1"/>
          <p:nvPr/>
        </p:nvSpPr>
        <p:spPr>
          <a:xfrm>
            <a:off x="590550" y="1217317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随机规模测试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4DEB37E-5242-4EE6-A0E2-3DAA3D3AFFD8}"/>
              </a:ext>
            </a:extLst>
          </p:cNvPr>
          <p:cNvSpPr txBox="1"/>
          <p:nvPr/>
        </p:nvSpPr>
        <p:spPr>
          <a:xfrm>
            <a:off x="1571625" y="1959811"/>
            <a:ext cx="198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固定楼层数</a:t>
            </a:r>
            <a:r>
              <a:rPr lang="en-US" altLang="zh-CN" dirty="0"/>
              <a:t>n=500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9969FA-E002-48AF-BC7C-EB2448C022EC}"/>
              </a:ext>
            </a:extLst>
          </p:cNvPr>
          <p:cNvSpPr txBox="1"/>
          <p:nvPr/>
        </p:nvSpPr>
        <p:spPr>
          <a:xfrm>
            <a:off x="8372475" y="1959811"/>
            <a:ext cx="1854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固定鸡蛋数</a:t>
            </a:r>
            <a:r>
              <a:rPr lang="en-US" altLang="zh-CN" dirty="0"/>
              <a:t>e=30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D3B129A-49FD-4F0A-B94A-BAC82308CE2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4394" y="2406711"/>
            <a:ext cx="5577622" cy="32339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2229AB2-4037-4399-914E-5A6232AE9D01}"/>
                  </a:ext>
                </a:extLst>
              </p:cNvPr>
              <p:cNvSpPr txBox="1"/>
              <p:nvPr/>
            </p:nvSpPr>
            <p:spPr>
              <a:xfrm>
                <a:off x="1789020" y="5819775"/>
                <a:ext cx="861396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当楼层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一定时，递推求解算法的时间开销随着鸡蛋数</a:t>
                </a:r>
                <a:r>
                  <a:rPr lang="en-US" altLang="zh-CN" dirty="0"/>
                  <a:t>e</a:t>
                </a:r>
                <a:r>
                  <a:rPr lang="zh-CN" altLang="en-US" dirty="0"/>
                  <a:t>的增大而呈线性增大；</a:t>
                </a:r>
                <a:endParaRPr lang="en-US" altLang="zh-CN" dirty="0"/>
              </a:p>
              <a:p>
                <a:r>
                  <a:rPr lang="zh-CN" altLang="en-US" dirty="0"/>
                  <a:t>当鸡蛋数</a:t>
                </a:r>
                <a:r>
                  <a:rPr lang="en-US" altLang="zh-CN" dirty="0"/>
                  <a:t>e</a:t>
                </a:r>
                <a:r>
                  <a:rPr lang="zh-CN" altLang="en-US" dirty="0"/>
                  <a:t>一定时，递推求解算法的时间开销随着楼层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的增大而呈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dirty="0"/>
                  <a:t>趋势增大</a:t>
                </a:r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52229AB2-4037-4399-914E-5A6232AE9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020" y="5819775"/>
                <a:ext cx="8613961" cy="646331"/>
              </a:xfrm>
              <a:prstGeom prst="rect">
                <a:avLst/>
              </a:prstGeom>
              <a:blipFill>
                <a:blip r:embed="rId4"/>
                <a:stretch>
                  <a:fillRect l="-566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>
            <a:extLst>
              <a:ext uri="{FF2B5EF4-FFF2-40B4-BE49-F238E27FC236}">
                <a16:creationId xmlns:a16="http://schemas.microsoft.com/office/drawing/2014/main" id="{AAA36698-6EDD-4D53-BB09-566CC71CAC0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250" y="2574339"/>
            <a:ext cx="5649319" cy="306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11632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6B1BC7-B6CA-4CF0-9281-DCEB96A355B8}"/>
              </a:ext>
            </a:extLst>
          </p:cNvPr>
          <p:cNvSpPr txBox="1"/>
          <p:nvPr/>
        </p:nvSpPr>
        <p:spPr>
          <a:xfrm>
            <a:off x="1095375" y="228602"/>
            <a:ext cx="32480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空间提升</a:t>
            </a: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ACFD4F27-FCB3-465B-AB4F-FBB2173F91F3}"/>
              </a:ext>
            </a:extLst>
          </p:cNvPr>
          <p:cNvGrpSpPr/>
          <p:nvPr/>
        </p:nvGrpSpPr>
        <p:grpSpPr>
          <a:xfrm>
            <a:off x="361951" y="1085851"/>
            <a:ext cx="5648324" cy="4229100"/>
            <a:chOff x="361950" y="1085850"/>
            <a:chExt cx="6572251" cy="4446032"/>
          </a:xfrm>
        </p:grpSpPr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04E3E888-0A77-4C40-8020-18D14C900A8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1950" y="1085850"/>
              <a:ext cx="5867400" cy="3657600"/>
            </a:xfrm>
            <a:prstGeom prst="rect">
              <a:avLst/>
            </a:prstGeom>
          </p:spPr>
        </p:pic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D01605A0-8580-4937-A404-45C332AC2A1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096001" y="3971925"/>
              <a:ext cx="514349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7B58EBAF-B695-4C34-8B42-51B4C46F931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67176" y="4743451"/>
              <a:ext cx="0" cy="419099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EF89893E-CFAF-4B4A-AF4E-3CE9ABBE007F}"/>
                </a:ext>
              </a:extLst>
            </p:cNvPr>
            <p:cNvSpPr txBox="1"/>
            <p:nvPr/>
          </p:nvSpPr>
          <p:spPr>
            <a:xfrm>
              <a:off x="6581777" y="1522691"/>
              <a:ext cx="352424" cy="369331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/>
                <a:t>按行计算，需要交替更换两列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8E9AAD47-C74D-4572-9C77-94D6D981A90E}"/>
                </a:ext>
              </a:extLst>
            </p:cNvPr>
            <p:cNvSpPr txBox="1"/>
            <p:nvPr/>
          </p:nvSpPr>
          <p:spPr>
            <a:xfrm>
              <a:off x="2243600" y="5162550"/>
              <a:ext cx="364715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/>
                <a:t>按列计算，算完一列后再更改两列</a:t>
              </a:r>
            </a:p>
          </p:txBody>
        </p:sp>
      </p:grpSp>
      <p:sp>
        <p:nvSpPr>
          <p:cNvPr id="20" name="文本框 19">
            <a:extLst>
              <a:ext uri="{FF2B5EF4-FFF2-40B4-BE49-F238E27FC236}">
                <a16:creationId xmlns:a16="http://schemas.microsoft.com/office/drawing/2014/main" id="{BA5A91AD-E22F-4531-842E-2345EC8F5B61}"/>
              </a:ext>
            </a:extLst>
          </p:cNvPr>
          <p:cNvSpPr txBox="1"/>
          <p:nvPr/>
        </p:nvSpPr>
        <p:spPr>
          <a:xfrm>
            <a:off x="6787490" y="1103472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伪代码如下图所示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3A1EE06-6780-4BFF-863D-4EA43B4DFAF6}"/>
                  </a:ext>
                </a:extLst>
              </p:cNvPr>
              <p:cNvSpPr txBox="1"/>
              <p:nvPr/>
            </p:nvSpPr>
            <p:spPr>
              <a:xfrm>
                <a:off x="369972" y="5448983"/>
                <a:ext cx="491993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按列进行填表，需要两个大小为</a:t>
                </a:r>
                <a:r>
                  <a:rPr lang="en-US" altLang="zh-CN" dirty="0"/>
                  <a:t>e</a:t>
                </a:r>
                <a:r>
                  <a:rPr lang="zh-CN" altLang="en-US" dirty="0"/>
                  <a:t>的一维数组，</a:t>
                </a:r>
                <a:endParaRPr lang="en-US" altLang="zh-CN" dirty="0"/>
              </a:p>
              <a:p>
                <a:r>
                  <a:rPr lang="zh-CN" altLang="en-US" dirty="0"/>
                  <a:t>因此，空间复杂度为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63A1EE06-6780-4BFF-863D-4EA43B4DFA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972" y="5448983"/>
                <a:ext cx="4919937" cy="646331"/>
              </a:xfrm>
              <a:prstGeom prst="rect">
                <a:avLst/>
              </a:prstGeom>
              <a:blipFill>
                <a:blip r:embed="rId3"/>
                <a:stretch>
                  <a:fillRect l="-1115" t="-5660" r="-372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图片 22">
            <a:extLst>
              <a:ext uri="{FF2B5EF4-FFF2-40B4-BE49-F238E27FC236}">
                <a16:creationId xmlns:a16="http://schemas.microsoft.com/office/drawing/2014/main" id="{2B7D8F7D-E24D-4325-822D-2F8836E6C2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541" t="12648" r="8906" b="7361"/>
          <a:stretch/>
        </p:blipFill>
        <p:spPr>
          <a:xfrm>
            <a:off x="6730642" y="1501378"/>
            <a:ext cx="4762500" cy="497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0079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6B1BC7-B6CA-4CF0-9281-DCEB96A355B8}"/>
              </a:ext>
            </a:extLst>
          </p:cNvPr>
          <p:cNvSpPr txBox="1"/>
          <p:nvPr/>
        </p:nvSpPr>
        <p:spPr>
          <a:xfrm>
            <a:off x="1095375" y="228602"/>
            <a:ext cx="292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空间提升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862A6D-9723-41B0-8A27-6DB65BC6CA1C}"/>
              </a:ext>
            </a:extLst>
          </p:cNvPr>
          <p:cNvSpPr txBox="1"/>
          <p:nvPr/>
        </p:nvSpPr>
        <p:spPr>
          <a:xfrm>
            <a:off x="590550" y="1217317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随机规模测试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4DEB37E-5242-4EE6-A0E2-3DAA3D3AFFD8}"/>
              </a:ext>
            </a:extLst>
          </p:cNvPr>
          <p:cNvSpPr txBox="1"/>
          <p:nvPr/>
        </p:nvSpPr>
        <p:spPr>
          <a:xfrm>
            <a:off x="1571625" y="1788361"/>
            <a:ext cx="198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固定楼层数</a:t>
            </a:r>
            <a:r>
              <a:rPr lang="en-US" altLang="zh-CN" dirty="0"/>
              <a:t>n=500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9969FA-E002-48AF-BC7C-EB2448C022EC}"/>
              </a:ext>
            </a:extLst>
          </p:cNvPr>
          <p:cNvSpPr txBox="1"/>
          <p:nvPr/>
        </p:nvSpPr>
        <p:spPr>
          <a:xfrm>
            <a:off x="8372475" y="1788361"/>
            <a:ext cx="1854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固定鸡蛋数</a:t>
            </a:r>
            <a:r>
              <a:rPr lang="en-US" altLang="zh-CN" dirty="0"/>
              <a:t>e=30</a:t>
            </a:r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C08B7C5-D790-40FB-943A-B22AB3A4CD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600" y="2157694"/>
            <a:ext cx="5724525" cy="357996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2355DDC-6A5A-42F0-91EE-1E6F65083D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7222" y="2157693"/>
            <a:ext cx="5750201" cy="357996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4B0EE9E-9A3F-4704-B045-5DE21BC14F27}"/>
                  </a:ext>
                </a:extLst>
              </p:cNvPr>
              <p:cNvSpPr txBox="1"/>
              <p:nvPr/>
            </p:nvSpPr>
            <p:spPr>
              <a:xfrm>
                <a:off x="1331363" y="5954758"/>
                <a:ext cx="952927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当楼层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一定时，空间提升后递推求解算法的时间开销随着鸡蛋数</a:t>
                </a:r>
                <a:r>
                  <a:rPr lang="en-US" altLang="zh-CN" dirty="0"/>
                  <a:t>e</a:t>
                </a:r>
                <a:r>
                  <a:rPr lang="zh-CN" altLang="en-US" dirty="0"/>
                  <a:t>的增大而呈线性增大；</a:t>
                </a:r>
                <a:endParaRPr lang="en-US" altLang="zh-CN" dirty="0"/>
              </a:p>
              <a:p>
                <a:r>
                  <a:rPr lang="zh-CN" altLang="en-US" dirty="0"/>
                  <a:t>当鸡蛋数</a:t>
                </a:r>
                <a:r>
                  <a:rPr lang="en-US" altLang="zh-CN" dirty="0"/>
                  <a:t>e</a:t>
                </a:r>
                <a:r>
                  <a:rPr lang="zh-CN" altLang="en-US" dirty="0"/>
                  <a:t>一定时，空间提升后递推求解算法的时间开销随着楼层</a:t>
                </a:r>
                <a:r>
                  <a:rPr lang="en-US" altLang="zh-CN" dirty="0"/>
                  <a:t>n</a:t>
                </a:r>
                <a:r>
                  <a:rPr lang="zh-CN" altLang="en-US" dirty="0"/>
                  <a:t>的增大而呈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zh-CN" altLang="en-US" i="1">
                        <a:latin typeface="Cambria Math" panose="02040503050406030204" pitchFamily="18" charset="0"/>
                      </a:rPr>
                      <m:t>的</m:t>
                    </m:r>
                  </m:oMath>
                </a14:m>
                <a:r>
                  <a:rPr lang="zh-CN" altLang="en-US" dirty="0"/>
                  <a:t>趋势增大</a:t>
                </a: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54B0EE9E-9A3F-4704-B045-5DE21BC14F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31363" y="5954758"/>
                <a:ext cx="9529275" cy="646331"/>
              </a:xfrm>
              <a:prstGeom prst="rect">
                <a:avLst/>
              </a:prstGeom>
              <a:blipFill>
                <a:blip r:embed="rId4"/>
                <a:stretch>
                  <a:fillRect l="-512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46335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6B1BC7-B6CA-4CF0-9281-DCEB96A355B8}"/>
              </a:ext>
            </a:extLst>
          </p:cNvPr>
          <p:cNvSpPr txBox="1"/>
          <p:nvPr/>
        </p:nvSpPr>
        <p:spPr>
          <a:xfrm>
            <a:off x="1095375" y="228602"/>
            <a:ext cx="292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空间提升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862A6D-9723-41B0-8A27-6DB65BC6CA1C}"/>
              </a:ext>
            </a:extLst>
          </p:cNvPr>
          <p:cNvSpPr txBox="1"/>
          <p:nvPr/>
        </p:nvSpPr>
        <p:spPr>
          <a:xfrm>
            <a:off x="590550" y="1217317"/>
            <a:ext cx="223651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空间提升前后对比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4DEB37E-5242-4EE6-A0E2-3DAA3D3AFFD8}"/>
              </a:ext>
            </a:extLst>
          </p:cNvPr>
          <p:cNvSpPr txBox="1"/>
          <p:nvPr/>
        </p:nvSpPr>
        <p:spPr>
          <a:xfrm>
            <a:off x="1571625" y="1712161"/>
            <a:ext cx="198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固定楼层数</a:t>
            </a:r>
            <a:r>
              <a:rPr lang="en-US" altLang="zh-CN" dirty="0"/>
              <a:t>n=500</a:t>
            </a:r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DA9969FA-E002-48AF-BC7C-EB2448C022EC}"/>
              </a:ext>
            </a:extLst>
          </p:cNvPr>
          <p:cNvSpPr txBox="1"/>
          <p:nvPr/>
        </p:nvSpPr>
        <p:spPr>
          <a:xfrm>
            <a:off x="8372475" y="1712161"/>
            <a:ext cx="1854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固定鸡蛋数</a:t>
            </a:r>
            <a:r>
              <a:rPr lang="en-US" altLang="zh-CN" dirty="0"/>
              <a:t>e=30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885E07ED-34AB-4D31-BD21-4EEA1C7F07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343" y="2136499"/>
            <a:ext cx="5906165" cy="372206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96F4031-6FD6-4271-A86A-F1EC263B72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94" y="2136499"/>
            <a:ext cx="5906164" cy="372206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426B451-BA97-4B76-B43F-76C9A971A7A0}"/>
              </a:ext>
            </a:extLst>
          </p:cNvPr>
          <p:cNvSpPr txBox="1"/>
          <p:nvPr/>
        </p:nvSpPr>
        <p:spPr>
          <a:xfrm>
            <a:off x="2228850" y="6032575"/>
            <a:ext cx="77343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使用一维</a:t>
            </a:r>
            <a:r>
              <a:rPr lang="en-US" altLang="zh-CN" dirty="0"/>
              <a:t>DP</a:t>
            </a:r>
            <a:r>
              <a:rPr lang="zh-CN" altLang="en-US" dirty="0"/>
              <a:t>的算法比二维</a:t>
            </a:r>
            <a:r>
              <a:rPr lang="en-US" altLang="zh-CN" dirty="0"/>
              <a:t>DP</a:t>
            </a:r>
            <a:r>
              <a:rPr lang="zh-CN" altLang="en-US" dirty="0"/>
              <a:t>的时间效率高，两者最大相差一倍。</a:t>
            </a:r>
            <a:endParaRPr lang="en-US" altLang="zh-CN" dirty="0"/>
          </a:p>
          <a:p>
            <a:r>
              <a:rPr lang="zh-CN" altLang="en-US" b="1" dirty="0"/>
              <a:t>原因</a:t>
            </a:r>
            <a:r>
              <a:rPr lang="zh-CN" altLang="en-US" dirty="0"/>
              <a:t>是二维</a:t>
            </a:r>
            <a:r>
              <a:rPr lang="en-US" altLang="zh-CN" dirty="0"/>
              <a:t>DP</a:t>
            </a:r>
            <a:r>
              <a:rPr lang="zh-CN" altLang="en-US" dirty="0"/>
              <a:t>的空间开辟和数据访问开销较大</a:t>
            </a:r>
          </a:p>
        </p:txBody>
      </p:sp>
    </p:spTree>
    <p:extLst>
      <p:ext uri="{BB962C8B-B14F-4D97-AF65-F5344CB8AC3E}">
        <p14:creationId xmlns:p14="http://schemas.microsoft.com/office/powerpoint/2010/main" val="321294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6B1BC7-B6CA-4CF0-9281-DCEB96A355B8}"/>
              </a:ext>
            </a:extLst>
          </p:cNvPr>
          <p:cNvSpPr txBox="1"/>
          <p:nvPr/>
        </p:nvSpPr>
        <p:spPr>
          <a:xfrm>
            <a:off x="1095375" y="228601"/>
            <a:ext cx="30003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二分查找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139F8D6-A744-4FF9-952B-6E77CCC74EB2}"/>
              </a:ext>
            </a:extLst>
          </p:cNvPr>
          <p:cNvSpPr txBox="1"/>
          <p:nvPr/>
        </p:nvSpPr>
        <p:spPr>
          <a:xfrm>
            <a:off x="815667" y="1486313"/>
            <a:ext cx="9496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由动态规划方程可得：当楼层数</a:t>
            </a:r>
            <a:r>
              <a:rPr lang="en-US" altLang="zh-CN" dirty="0"/>
              <a:t>N</a:t>
            </a:r>
            <a:r>
              <a:rPr lang="zh-CN" altLang="en-US" dirty="0"/>
              <a:t>增大时，最少试验次数</a:t>
            </a:r>
            <a:r>
              <a:rPr lang="en-US" altLang="zh-CN" dirty="0"/>
              <a:t>np(N, K)</a:t>
            </a:r>
            <a:r>
              <a:rPr lang="zh-CN" altLang="en-US" dirty="0"/>
              <a:t>一定会随着</a:t>
            </a:r>
            <a:r>
              <a:rPr lang="en-US" altLang="zh-CN" dirty="0"/>
              <a:t>N</a:t>
            </a:r>
            <a:r>
              <a:rPr lang="zh-CN" altLang="en-US" dirty="0"/>
              <a:t>增大而增大</a:t>
            </a: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5880A31C-ED8A-4884-9886-60D6D3872E56}"/>
              </a:ext>
            </a:extLst>
          </p:cNvPr>
          <p:cNvCxnSpPr/>
          <p:nvPr/>
        </p:nvCxnSpPr>
        <p:spPr>
          <a:xfrm>
            <a:off x="600075" y="5250006"/>
            <a:ext cx="44100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A95FD13D-CA5F-406F-98D6-D60C5C213185}"/>
              </a:ext>
            </a:extLst>
          </p:cNvPr>
          <p:cNvCxnSpPr/>
          <p:nvPr/>
        </p:nvCxnSpPr>
        <p:spPr>
          <a:xfrm flipV="1">
            <a:off x="1095375" y="2362200"/>
            <a:ext cx="0" cy="3430731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2788BA2F-7699-42BC-B67F-DC5A7FD6F0A7}"/>
              </a:ext>
            </a:extLst>
          </p:cNvPr>
          <p:cNvCxnSpPr>
            <a:cxnSpLocks/>
          </p:cNvCxnSpPr>
          <p:nvPr/>
        </p:nvCxnSpPr>
        <p:spPr>
          <a:xfrm flipV="1">
            <a:off x="1709738" y="3276600"/>
            <a:ext cx="2566988" cy="1466851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D1D043AD-4290-481F-820A-95F9C3858776}"/>
              </a:ext>
            </a:extLst>
          </p:cNvPr>
          <p:cNvCxnSpPr>
            <a:cxnSpLocks/>
          </p:cNvCxnSpPr>
          <p:nvPr/>
        </p:nvCxnSpPr>
        <p:spPr>
          <a:xfrm>
            <a:off x="1766887" y="3276600"/>
            <a:ext cx="2509839" cy="1548629"/>
          </a:xfrm>
          <a:prstGeom prst="line">
            <a:avLst/>
          </a:pr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0" name="文本框 19">
            <a:extLst>
              <a:ext uri="{FF2B5EF4-FFF2-40B4-BE49-F238E27FC236}">
                <a16:creationId xmlns:a16="http://schemas.microsoft.com/office/drawing/2014/main" id="{7BB507AC-CA4F-4B62-B8B6-2A6F97A9761D}"/>
              </a:ext>
            </a:extLst>
          </p:cNvPr>
          <p:cNvSpPr txBox="1"/>
          <p:nvPr/>
        </p:nvSpPr>
        <p:spPr>
          <a:xfrm>
            <a:off x="4967917" y="5250006"/>
            <a:ext cx="31290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b="1" dirty="0"/>
              <a:t>x</a:t>
            </a:r>
            <a:endParaRPr lang="zh-CN" altLang="en-US" sz="2000" b="1" dirty="0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CE47BE3-0691-4CD0-A12B-FEB1F03B101C}"/>
              </a:ext>
            </a:extLst>
          </p:cNvPr>
          <p:cNvSpPr txBox="1"/>
          <p:nvPr/>
        </p:nvSpPr>
        <p:spPr>
          <a:xfrm>
            <a:off x="1136199" y="4723154"/>
            <a:ext cx="123623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np(n-1 , e-1)</a:t>
            </a:r>
            <a:endParaRPr lang="zh-CN" altLang="en-US" sz="1400" b="1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10B5CEA7-74D7-4939-AAEA-04EEFEA2E111}"/>
              </a:ext>
            </a:extLst>
          </p:cNvPr>
          <p:cNvSpPr txBox="1"/>
          <p:nvPr/>
        </p:nvSpPr>
        <p:spPr>
          <a:xfrm>
            <a:off x="1191006" y="2919745"/>
            <a:ext cx="103746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np(n-x , e)</a:t>
            </a:r>
            <a:endParaRPr lang="zh-CN" altLang="en-US" sz="1400" b="1" dirty="0"/>
          </a:p>
        </p:txBody>
      </p: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644D051-FA32-4E2A-938F-A176039B6A4A}"/>
              </a:ext>
            </a:extLst>
          </p:cNvPr>
          <p:cNvCxnSpPr>
            <a:cxnSpLocks/>
          </p:cNvCxnSpPr>
          <p:nvPr/>
        </p:nvCxnSpPr>
        <p:spPr>
          <a:xfrm>
            <a:off x="1795464" y="3234875"/>
            <a:ext cx="1195387" cy="733425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FF570FD7-448D-443D-AAB0-337FD5513CBC}"/>
              </a:ext>
            </a:extLst>
          </p:cNvPr>
          <p:cNvCxnSpPr>
            <a:cxnSpLocks/>
          </p:cNvCxnSpPr>
          <p:nvPr/>
        </p:nvCxnSpPr>
        <p:spPr>
          <a:xfrm flipH="1">
            <a:off x="2989662" y="3227522"/>
            <a:ext cx="1287064" cy="740778"/>
          </a:xfrm>
          <a:prstGeom prst="lin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0" name="文本框 29">
            <a:extLst>
              <a:ext uri="{FF2B5EF4-FFF2-40B4-BE49-F238E27FC236}">
                <a16:creationId xmlns:a16="http://schemas.microsoft.com/office/drawing/2014/main" id="{AAF2EFCB-5DA9-4E7C-BDDF-DFB901D2F51D}"/>
              </a:ext>
            </a:extLst>
          </p:cNvPr>
          <p:cNvSpPr txBox="1"/>
          <p:nvPr/>
        </p:nvSpPr>
        <p:spPr>
          <a:xfrm>
            <a:off x="3371840" y="2919745"/>
            <a:ext cx="40671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max{np(n-1 , e-1), np(n-x , e)}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sp>
        <p:nvSpPr>
          <p:cNvPr id="31" name="流程图: 接点 30">
            <a:extLst>
              <a:ext uri="{FF2B5EF4-FFF2-40B4-BE49-F238E27FC236}">
                <a16:creationId xmlns:a16="http://schemas.microsoft.com/office/drawing/2014/main" id="{47A8199E-C267-433E-8F38-6C16AE029C8C}"/>
              </a:ext>
            </a:extLst>
          </p:cNvPr>
          <p:cNvSpPr/>
          <p:nvPr/>
        </p:nvSpPr>
        <p:spPr>
          <a:xfrm>
            <a:off x="2886073" y="3913706"/>
            <a:ext cx="161927" cy="192637"/>
          </a:xfrm>
          <a:prstGeom prst="flowChartConnector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连接符: 曲线 32">
            <a:extLst>
              <a:ext uri="{FF2B5EF4-FFF2-40B4-BE49-F238E27FC236}">
                <a16:creationId xmlns:a16="http://schemas.microsoft.com/office/drawing/2014/main" id="{3FEC8D4D-7F09-49BA-A41F-16EAEF5CC7FB}"/>
              </a:ext>
            </a:extLst>
          </p:cNvPr>
          <p:cNvCxnSpPr>
            <a:cxnSpLocks/>
          </p:cNvCxnSpPr>
          <p:nvPr/>
        </p:nvCxnSpPr>
        <p:spPr>
          <a:xfrm rot="10800000">
            <a:off x="1537897" y="3234875"/>
            <a:ext cx="533791" cy="366712"/>
          </a:xfrm>
          <a:prstGeom prst="curvedConnector3">
            <a:avLst>
              <a:gd name="adj1" fmla="val 13743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连接符: 曲线 39">
            <a:extLst>
              <a:ext uri="{FF2B5EF4-FFF2-40B4-BE49-F238E27FC236}">
                <a16:creationId xmlns:a16="http://schemas.microsoft.com/office/drawing/2014/main" id="{919D12B1-3D4A-40AA-AD21-48E5AA4482A4}"/>
              </a:ext>
            </a:extLst>
          </p:cNvPr>
          <p:cNvCxnSpPr>
            <a:cxnSpLocks/>
            <a:endCxn id="21" idx="3"/>
          </p:cNvCxnSpPr>
          <p:nvPr/>
        </p:nvCxnSpPr>
        <p:spPr>
          <a:xfrm rot="16200000" flipH="1">
            <a:off x="2152845" y="4657453"/>
            <a:ext cx="270292" cy="168888"/>
          </a:xfrm>
          <a:prstGeom prst="curvedConnector4">
            <a:avLst>
              <a:gd name="adj1" fmla="val 21533"/>
              <a:gd name="adj2" fmla="val 235356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9" name="连接符: 曲线 48">
            <a:extLst>
              <a:ext uri="{FF2B5EF4-FFF2-40B4-BE49-F238E27FC236}">
                <a16:creationId xmlns:a16="http://schemas.microsoft.com/office/drawing/2014/main" id="{3A092B1C-8457-4B94-B841-AEA921C684D8}"/>
              </a:ext>
            </a:extLst>
          </p:cNvPr>
          <p:cNvCxnSpPr>
            <a:cxnSpLocks/>
            <a:endCxn id="30" idx="1"/>
          </p:cNvCxnSpPr>
          <p:nvPr/>
        </p:nvCxnSpPr>
        <p:spPr>
          <a:xfrm rot="16200000" flipV="1">
            <a:off x="3310209" y="3135266"/>
            <a:ext cx="372963" cy="249699"/>
          </a:xfrm>
          <a:prstGeom prst="curvedConnector4">
            <a:avLst>
              <a:gd name="adj1" fmla="val 1277"/>
              <a:gd name="adj2" fmla="val 168662"/>
            </a:avLst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A84005F-8621-4C68-AF8A-76A13309AAED}"/>
              </a:ext>
            </a:extLst>
          </p:cNvPr>
          <p:cNvCxnSpPr/>
          <p:nvPr/>
        </p:nvCxnSpPr>
        <p:spPr>
          <a:xfrm>
            <a:off x="3104125" y="4012812"/>
            <a:ext cx="39256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8" name="文本框 57">
            <a:extLst>
              <a:ext uri="{FF2B5EF4-FFF2-40B4-BE49-F238E27FC236}">
                <a16:creationId xmlns:a16="http://schemas.microsoft.com/office/drawing/2014/main" id="{48FCC8C6-1DE0-4E31-84FA-5B6276AA05E8}"/>
              </a:ext>
            </a:extLst>
          </p:cNvPr>
          <p:cNvSpPr txBox="1"/>
          <p:nvPr/>
        </p:nvSpPr>
        <p:spPr>
          <a:xfrm>
            <a:off x="3496690" y="3855301"/>
            <a:ext cx="8851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>
                <a:solidFill>
                  <a:srgbClr val="FF0000"/>
                </a:solidFill>
              </a:rPr>
              <a:t>min max</a:t>
            </a:r>
            <a:endParaRPr lang="zh-CN" altLang="en-US" sz="1400" b="1" dirty="0">
              <a:solidFill>
                <a:srgbClr val="FF0000"/>
              </a:solidFill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DE330988-F8F3-4336-B963-FDF42402D307}"/>
              </a:ext>
            </a:extLst>
          </p:cNvPr>
          <p:cNvGrpSpPr/>
          <p:nvPr/>
        </p:nvGrpSpPr>
        <p:grpSpPr>
          <a:xfrm>
            <a:off x="6940544" y="1969701"/>
            <a:ext cx="1758894" cy="4162425"/>
            <a:chOff x="342900" y="1323975"/>
            <a:chExt cx="2076476" cy="4514850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C798D78F-6003-4687-8D24-EC7B321B5C0E}"/>
                </a:ext>
              </a:extLst>
            </p:cNvPr>
            <p:cNvSpPr/>
            <p:nvPr/>
          </p:nvSpPr>
          <p:spPr>
            <a:xfrm>
              <a:off x="342900" y="1323975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6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id="{DCCD6B64-B16D-45F9-81B3-6DE3C9ABE239}"/>
                </a:ext>
              </a:extLst>
            </p:cNvPr>
            <p:cNvSpPr/>
            <p:nvPr/>
          </p:nvSpPr>
          <p:spPr>
            <a:xfrm>
              <a:off x="342900" y="2076450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5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DB2A267F-C32E-4A37-82FE-E4E0F5503A5E}"/>
                </a:ext>
              </a:extLst>
            </p:cNvPr>
            <p:cNvSpPr/>
            <p:nvPr/>
          </p:nvSpPr>
          <p:spPr>
            <a:xfrm>
              <a:off x="342900" y="2828925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4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19F415AA-A840-4DFD-95E7-34E5858F3AF7}"/>
                </a:ext>
              </a:extLst>
            </p:cNvPr>
            <p:cNvSpPr/>
            <p:nvPr/>
          </p:nvSpPr>
          <p:spPr>
            <a:xfrm>
              <a:off x="342900" y="3581400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3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58ABF85B-C3CE-4FB6-8ACA-3F4BEA933798}"/>
                </a:ext>
              </a:extLst>
            </p:cNvPr>
            <p:cNvSpPr/>
            <p:nvPr/>
          </p:nvSpPr>
          <p:spPr>
            <a:xfrm>
              <a:off x="342900" y="4333875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2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6745DDC6-7F9F-48A3-A10E-EFFFE286D726}"/>
                </a:ext>
              </a:extLst>
            </p:cNvPr>
            <p:cNvSpPr/>
            <p:nvPr/>
          </p:nvSpPr>
          <p:spPr>
            <a:xfrm>
              <a:off x="342900" y="5086350"/>
              <a:ext cx="666750" cy="752475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 dirty="0">
                  <a:solidFill>
                    <a:schemeClr val="tx1"/>
                  </a:solidFill>
                </a:rPr>
                <a:t>1</a:t>
              </a:r>
              <a:endParaRPr lang="zh-CN" altLang="en-US" b="1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26771765-3C53-4831-BF6E-5523ECA72A0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095376" y="3286125"/>
              <a:ext cx="542924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01E68DD1-96DB-4CAA-B852-C57884890B1A}"/>
                </a:ext>
              </a:extLst>
            </p:cNvPr>
            <p:cNvSpPr txBox="1"/>
            <p:nvPr/>
          </p:nvSpPr>
          <p:spPr>
            <a:xfrm>
              <a:off x="1674747" y="3085238"/>
              <a:ext cx="658947" cy="4006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X</a:t>
              </a:r>
              <a:r>
                <a:rPr lang="zh-CN" altLang="en-US" b="1" dirty="0"/>
                <a:t>层</a:t>
              </a:r>
            </a:p>
          </p:txBody>
        </p:sp>
        <p:sp>
          <p:nvSpPr>
            <p:cNvPr id="37" name="右大括号 36">
              <a:extLst>
                <a:ext uri="{FF2B5EF4-FFF2-40B4-BE49-F238E27FC236}">
                  <a16:creationId xmlns:a16="http://schemas.microsoft.com/office/drawing/2014/main" id="{0069CAEF-1F3C-4D30-925B-0F7F0967E5E8}"/>
                </a:ext>
              </a:extLst>
            </p:cNvPr>
            <p:cNvSpPr/>
            <p:nvPr/>
          </p:nvSpPr>
          <p:spPr>
            <a:xfrm>
              <a:off x="1200150" y="3676650"/>
              <a:ext cx="190500" cy="2020668"/>
            </a:xfrm>
            <a:prstGeom prst="rightBrac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右大括号 37">
              <a:extLst>
                <a:ext uri="{FF2B5EF4-FFF2-40B4-BE49-F238E27FC236}">
                  <a16:creationId xmlns:a16="http://schemas.microsoft.com/office/drawing/2014/main" id="{EC655EC9-9EB9-4888-AE5B-AFF5AC99D321}"/>
                </a:ext>
              </a:extLst>
            </p:cNvPr>
            <p:cNvSpPr/>
            <p:nvPr/>
          </p:nvSpPr>
          <p:spPr>
            <a:xfrm>
              <a:off x="1200150" y="1408332"/>
              <a:ext cx="190500" cy="1344392"/>
            </a:xfrm>
            <a:prstGeom prst="rightBrace">
              <a:avLst/>
            </a:prstGeom>
          </p:spPr>
          <p:style>
            <a:lnRef idx="3">
              <a:schemeClr val="accent2"/>
            </a:lnRef>
            <a:fillRef idx="0">
              <a:schemeClr val="accent2"/>
            </a:fillRef>
            <a:effectRef idx="2">
              <a:schemeClr val="accent2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52E0A92F-16F4-4335-A24B-C0AD8303D135}"/>
                </a:ext>
              </a:extLst>
            </p:cNvPr>
            <p:cNvSpPr txBox="1"/>
            <p:nvPr/>
          </p:nvSpPr>
          <p:spPr>
            <a:xfrm>
              <a:off x="1581150" y="1895862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6-x</a:t>
              </a:r>
              <a:r>
                <a:rPr lang="zh-CN" altLang="en-US" b="1" dirty="0"/>
                <a:t>层</a:t>
              </a:r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44C366B1-DC13-4218-AF9E-2D8F57FAE58F}"/>
                </a:ext>
              </a:extLst>
            </p:cNvPr>
            <p:cNvSpPr txBox="1"/>
            <p:nvPr/>
          </p:nvSpPr>
          <p:spPr>
            <a:xfrm>
              <a:off x="1504950" y="4491721"/>
              <a:ext cx="914426" cy="40060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x-1</a:t>
              </a:r>
              <a:r>
                <a:rPr lang="zh-CN" altLang="en-US" b="1" dirty="0"/>
                <a:t>层</a:t>
              </a: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FD13EC3F-4135-4060-9C5C-D58673F0F84F}"/>
              </a:ext>
            </a:extLst>
          </p:cNvPr>
          <p:cNvSpPr txBox="1"/>
          <p:nvPr/>
        </p:nvSpPr>
        <p:spPr>
          <a:xfrm>
            <a:off x="1049202" y="5787899"/>
            <a:ext cx="383566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600" b="1" dirty="0"/>
              <a:t>同理，</a:t>
            </a:r>
            <a:r>
              <a:rPr lang="en-US" altLang="zh-CN" sz="1600" b="1" dirty="0"/>
              <a:t>np(n-1, e-1)</a:t>
            </a:r>
            <a:r>
              <a:rPr lang="zh-CN" altLang="en-US" sz="1600" b="1" dirty="0"/>
              <a:t>随着</a:t>
            </a:r>
            <a:r>
              <a:rPr lang="en-US" altLang="zh-CN" sz="1600" b="1" dirty="0"/>
              <a:t>x</a:t>
            </a:r>
            <a:r>
              <a:rPr lang="zh-CN" altLang="en-US" sz="1600" b="1" dirty="0"/>
              <a:t>增大而增大；</a:t>
            </a:r>
            <a:endParaRPr lang="en-US" altLang="zh-CN" sz="1600" b="1" dirty="0"/>
          </a:p>
          <a:p>
            <a:r>
              <a:rPr lang="en-US" altLang="zh-CN" sz="1600" b="1" dirty="0"/>
              <a:t>np(n-x, e)</a:t>
            </a:r>
            <a:r>
              <a:rPr lang="zh-CN" altLang="en-US" sz="1600" b="1" dirty="0"/>
              <a:t>随着</a:t>
            </a:r>
            <a:r>
              <a:rPr lang="en-US" altLang="zh-CN" sz="1600" b="1" dirty="0"/>
              <a:t>x</a:t>
            </a:r>
            <a:r>
              <a:rPr lang="zh-CN" altLang="en-US" sz="1600" b="1" dirty="0"/>
              <a:t>增大而减小；</a:t>
            </a:r>
            <a:endParaRPr lang="en-US" altLang="zh-CN" sz="1600" b="1" dirty="0"/>
          </a:p>
          <a:p>
            <a:r>
              <a:rPr lang="en-US" altLang="zh-CN" sz="1600" b="1" dirty="0"/>
              <a:t>np(N, K)</a:t>
            </a:r>
            <a:r>
              <a:rPr lang="zh-CN" altLang="en-US" sz="1600" b="1" dirty="0"/>
              <a:t>即是二者之间的交点（红点部分）</a:t>
            </a:r>
            <a:endParaRPr lang="en-US" altLang="zh-CN" sz="1600" b="1" dirty="0"/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857A7C6E-5F39-443E-B891-6EFCD38A03E4}"/>
              </a:ext>
            </a:extLst>
          </p:cNvPr>
          <p:cNvSpPr/>
          <p:nvPr/>
        </p:nvSpPr>
        <p:spPr>
          <a:xfrm>
            <a:off x="9944876" y="1969701"/>
            <a:ext cx="564775" cy="693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6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F5F1BA3E-87EB-4B1A-9EF1-0D013D0FD77F}"/>
              </a:ext>
            </a:extLst>
          </p:cNvPr>
          <p:cNvSpPr/>
          <p:nvPr/>
        </p:nvSpPr>
        <p:spPr>
          <a:xfrm>
            <a:off x="9944876" y="2663439"/>
            <a:ext cx="564775" cy="693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5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B3A808A0-CD34-473F-B102-CEA7C616D542}"/>
              </a:ext>
            </a:extLst>
          </p:cNvPr>
          <p:cNvSpPr/>
          <p:nvPr/>
        </p:nvSpPr>
        <p:spPr>
          <a:xfrm>
            <a:off x="9944876" y="3357176"/>
            <a:ext cx="564775" cy="693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4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3FFBE769-2E05-41FB-979D-EB41B14AD635}"/>
              </a:ext>
            </a:extLst>
          </p:cNvPr>
          <p:cNvSpPr/>
          <p:nvPr/>
        </p:nvSpPr>
        <p:spPr>
          <a:xfrm>
            <a:off x="9944876" y="4050914"/>
            <a:ext cx="564775" cy="693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3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97B44CF6-4C6F-4BAA-B8DD-398C3516189D}"/>
              </a:ext>
            </a:extLst>
          </p:cNvPr>
          <p:cNvSpPr/>
          <p:nvPr/>
        </p:nvSpPr>
        <p:spPr>
          <a:xfrm>
            <a:off x="9944876" y="4744651"/>
            <a:ext cx="564775" cy="693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2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A8045E31-FA32-4FF6-A493-C768572014F1}"/>
              </a:ext>
            </a:extLst>
          </p:cNvPr>
          <p:cNvSpPr/>
          <p:nvPr/>
        </p:nvSpPr>
        <p:spPr>
          <a:xfrm>
            <a:off x="9944876" y="5438389"/>
            <a:ext cx="564775" cy="69373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chemeClr val="tx1"/>
                </a:solidFill>
              </a:rPr>
              <a:t>1</a:t>
            </a:r>
            <a:endParaRPr lang="zh-CN" altLang="en-US" b="1" dirty="0">
              <a:solidFill>
                <a:schemeClr val="tx1"/>
              </a:solidFill>
            </a:endParaRPr>
          </a:p>
        </p:txBody>
      </p:sp>
      <p:sp>
        <p:nvSpPr>
          <p:cNvPr id="53" name="右大括号 52">
            <a:extLst>
              <a:ext uri="{FF2B5EF4-FFF2-40B4-BE49-F238E27FC236}">
                <a16:creationId xmlns:a16="http://schemas.microsoft.com/office/drawing/2014/main" id="{E6C049ED-6776-4F89-8205-32116AE8CD3B}"/>
              </a:ext>
            </a:extLst>
          </p:cNvPr>
          <p:cNvSpPr/>
          <p:nvPr/>
        </p:nvSpPr>
        <p:spPr>
          <a:xfrm>
            <a:off x="10671016" y="4138728"/>
            <a:ext cx="161364" cy="1862937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右大括号 53">
            <a:extLst>
              <a:ext uri="{FF2B5EF4-FFF2-40B4-BE49-F238E27FC236}">
                <a16:creationId xmlns:a16="http://schemas.microsoft.com/office/drawing/2014/main" id="{42534D2D-4AA1-4B83-9BA3-AEE5550BBA1B}"/>
              </a:ext>
            </a:extLst>
          </p:cNvPr>
          <p:cNvSpPr/>
          <p:nvPr/>
        </p:nvSpPr>
        <p:spPr>
          <a:xfrm>
            <a:off x="10671016" y="2047473"/>
            <a:ext cx="161364" cy="1239450"/>
          </a:xfrm>
          <a:prstGeom prst="rightBrac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4762264-C0D3-433F-8517-373827C1E14A}"/>
              </a:ext>
            </a:extLst>
          </p:cNvPr>
          <p:cNvSpPr txBox="1"/>
          <p:nvPr/>
        </p:nvSpPr>
        <p:spPr>
          <a:xfrm>
            <a:off x="10993745" y="2496947"/>
            <a:ext cx="656106" cy="34050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6-x</a:t>
            </a:r>
            <a:r>
              <a:rPr lang="zh-CN" altLang="en-US" b="1" dirty="0"/>
              <a:t>层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B0983A82-045C-4ABE-8DD6-AA17BB4CC731}"/>
              </a:ext>
            </a:extLst>
          </p:cNvPr>
          <p:cNvSpPr txBox="1"/>
          <p:nvPr/>
        </p:nvSpPr>
        <p:spPr>
          <a:xfrm>
            <a:off x="10929199" y="4890176"/>
            <a:ext cx="7745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x-1</a:t>
            </a:r>
            <a:r>
              <a:rPr lang="zh-CN" altLang="en-US" b="1" dirty="0"/>
              <a:t>层</a:t>
            </a:r>
          </a:p>
        </p:txBody>
      </p:sp>
      <p:sp>
        <p:nvSpPr>
          <p:cNvPr id="8" name="左大括号 7">
            <a:extLst>
              <a:ext uri="{FF2B5EF4-FFF2-40B4-BE49-F238E27FC236}">
                <a16:creationId xmlns:a16="http://schemas.microsoft.com/office/drawing/2014/main" id="{E4FB698E-446D-4A3D-811C-7A95FA6EF193}"/>
              </a:ext>
            </a:extLst>
          </p:cNvPr>
          <p:cNvSpPr/>
          <p:nvPr/>
        </p:nvSpPr>
        <p:spPr>
          <a:xfrm>
            <a:off x="9654421" y="4163078"/>
            <a:ext cx="161364" cy="867853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左大括号 58">
            <a:extLst>
              <a:ext uri="{FF2B5EF4-FFF2-40B4-BE49-F238E27FC236}">
                <a16:creationId xmlns:a16="http://schemas.microsoft.com/office/drawing/2014/main" id="{4E00D41A-86A8-4CD9-A847-D48A7C6AB1FD}"/>
              </a:ext>
            </a:extLst>
          </p:cNvPr>
          <p:cNvSpPr/>
          <p:nvPr/>
        </p:nvSpPr>
        <p:spPr>
          <a:xfrm>
            <a:off x="9654419" y="5497716"/>
            <a:ext cx="129092" cy="618833"/>
          </a:xfrm>
          <a:prstGeom prst="leftBrace">
            <a:avLst/>
          </a:prstGeom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CF01A414-2667-4D7E-9EE4-6D932F771C8B}"/>
              </a:ext>
            </a:extLst>
          </p:cNvPr>
          <p:cNvSpPr txBox="1"/>
          <p:nvPr/>
        </p:nvSpPr>
        <p:spPr>
          <a:xfrm>
            <a:off x="8917568" y="5537565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mid-1</a:t>
            </a:r>
            <a:r>
              <a:rPr lang="zh-CN" altLang="en-US" sz="1400" b="1" dirty="0"/>
              <a:t>层</a:t>
            </a: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827BFE11-5CD9-4A5A-B2A8-FCE5BE638B0D}"/>
              </a:ext>
            </a:extLst>
          </p:cNvPr>
          <p:cNvSpPr txBox="1"/>
          <p:nvPr/>
        </p:nvSpPr>
        <p:spPr>
          <a:xfrm>
            <a:off x="8917567" y="4288092"/>
            <a:ext cx="8659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b="1" dirty="0"/>
              <a:t>3-mid</a:t>
            </a:r>
            <a:r>
              <a:rPr lang="zh-CN" altLang="en-US" sz="1400" b="1" dirty="0"/>
              <a:t>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3EABDF8-B7DA-43B3-A4DD-C4D7CF785F9A}"/>
                  </a:ext>
                </a:extLst>
              </p:cNvPr>
              <p:cNvSpPr txBox="1"/>
              <p:nvPr/>
            </p:nvSpPr>
            <p:spPr>
              <a:xfrm>
                <a:off x="2492091" y="1106282"/>
                <a:ext cx="7243012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𝒏𝒑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</m:e>
                      </m:d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+</m:t>
                      </m:r>
                      <m:func>
                        <m:func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𝒎𝒊𝒏</m:t>
                              </m:r>
                            </m:e>
                            <m:sub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𝒙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≤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𝑵</m:t>
                              </m:r>
                            </m:sub>
                          </m:sSub>
                        </m:fName>
                        <m:e>
                          <m:r>
                            <a:rPr lang="en-US" altLang="zh-CN" b="1" i="0" smtClean="0">
                              <a:latin typeface="Cambria Math" panose="02040503050406030204" pitchFamily="18" charset="0"/>
                            </a:rPr>
                            <m:t>𝐦𝐚𝐱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⁡[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𝒏𝒑</m:t>
                          </m:r>
                          <m:d>
                            <m:dPr>
                              <m:ctrlP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𝑵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𝑲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zh-CN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e>
                          </m:d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𝒏𝒑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𝑵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𝑲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)]</m:t>
                          </m:r>
                        </m:e>
                      </m:func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51" name="文本框 50">
                <a:extLst>
                  <a:ext uri="{FF2B5EF4-FFF2-40B4-BE49-F238E27FC236}">
                    <a16:creationId xmlns:a16="http://schemas.microsoft.com/office/drawing/2014/main" id="{53EABDF8-B7DA-43B3-A4DD-C4D7CF785F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92091" y="1106282"/>
                <a:ext cx="7243012" cy="276999"/>
              </a:xfrm>
              <a:prstGeom prst="rect">
                <a:avLst/>
              </a:prstGeom>
              <a:blipFill>
                <a:blip r:embed="rId2"/>
                <a:stretch>
                  <a:fillRect t="-2174" b="-369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898585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6B1BC7-B6CA-4CF0-9281-DCEB96A355B8}"/>
              </a:ext>
            </a:extLst>
          </p:cNvPr>
          <p:cNvSpPr txBox="1"/>
          <p:nvPr/>
        </p:nvSpPr>
        <p:spPr>
          <a:xfrm>
            <a:off x="1095375" y="228602"/>
            <a:ext cx="292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二分查找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7843735-C35A-45C4-97BB-462E9DD6336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259" t="8627" r="7678" b="5490"/>
          <a:stretch/>
        </p:blipFill>
        <p:spPr>
          <a:xfrm>
            <a:off x="6510338" y="1020304"/>
            <a:ext cx="4019550" cy="553794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A09AE64-31B9-416E-BDBA-FC172A94D126}"/>
                  </a:ext>
                </a:extLst>
              </p:cNvPr>
              <p:cNvSpPr txBox="1"/>
              <p:nvPr/>
            </p:nvSpPr>
            <p:spPr>
              <a:xfrm>
                <a:off x="673325" y="2676992"/>
                <a:ext cx="5560788" cy="12013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时间复杂度为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dirty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CN" dirty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CN" i="1" dirty="0">
                        <a:latin typeface="Cambria Math" panose="02040503050406030204" pitchFamily="18" charset="0"/>
                      </a:rPr>
                      <m:t>∗</m:t>
                    </m:r>
                    <m:nary>
                      <m:naryPr>
                        <m:chr m:val="∑"/>
                        <m:ctrlPr>
                          <a:rPr lang="en-US" altLang="zh-CN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unc>
                          <m:funcPr>
                            <m:ctrlPr>
                              <a:rPr lang="en-US" altLang="zh-CN" i="1" dirty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zh-CN" dirty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func>
                      </m:e>
                    </m:nary>
                    <m:r>
                      <a:rPr lang="en-US" altLang="zh-CN" i="1" dirty="0">
                        <a:latin typeface="Cambria Math" panose="02040503050406030204" pitchFamily="18" charset="0"/>
                      </a:rPr>
                      <m:t>)</m:t>
                    </m:r>
                    <m:r>
                      <a:rPr lang="en-US" altLang="zh-CN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US" altLang="zh-CN" b="0" i="0" dirty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n-US" altLang="zh-CN" b="0" i="0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zh-CN" b="0" i="1" dirty="0">
                        <a:latin typeface="Cambria Math" panose="02040503050406030204" pitchFamily="18" charset="0"/>
                      </a:rPr>
                      <m:t>e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∗</m:t>
                    </m:r>
                    <m:r>
                      <m:rPr>
                        <m:sty m:val="p"/>
                      </m:rPr>
                      <a:rPr lang="en-US" altLang="zh-CN" i="1" dirty="0">
                        <a:latin typeface="Cambria Math" panose="02040503050406030204" pitchFamily="18" charset="0"/>
                      </a:rPr>
                      <m:t>n</m:t>
                    </m:r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∗</m:t>
                    </m:r>
                    <m:func>
                      <m:funcPr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zh-CN" b="0" i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func>
                    <m:r>
                      <a:rPr lang="en-US" altLang="zh-CN" b="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unc>
                          <m:funcPr>
                            <m:ctrlPr>
                              <a:rPr lang="en-US" altLang="zh-CN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a:rPr lang="en-US" altLang="zh-CN" b="0" i="0" smtClean="0">
                                <a:latin typeface="Cambria Math" panose="02040503050406030204" pitchFamily="18" charset="0"/>
                              </a:rPr>
                              <m:t>∗</m:t>
                            </m:r>
                            <m:r>
                              <m:rPr>
                                <m:sty m:val="p"/>
                              </m:rPr>
                              <a:rPr lang="en-US" altLang="zh-CN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zh-CN" altLang="en-US" dirty="0"/>
                  <a:t>，</a:t>
                </a:r>
                <a:endParaRPr lang="en-US" altLang="zh-CN" dirty="0"/>
              </a:p>
              <a:p>
                <a:endParaRPr lang="en-US" altLang="zh-CN" dirty="0"/>
              </a:p>
              <a:p>
                <a:r>
                  <a:rPr lang="zh-CN" altLang="en-US" dirty="0"/>
                  <a:t>空间复杂度为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7A09AE64-31B9-416E-BDBA-FC172A94D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325" y="2676992"/>
                <a:ext cx="5560788" cy="1201355"/>
              </a:xfrm>
              <a:prstGeom prst="rect">
                <a:avLst/>
              </a:prstGeom>
              <a:blipFill>
                <a:blip r:embed="rId3"/>
                <a:stretch>
                  <a:fillRect l="-876" t="-37056" b="-710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122488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6B1BC7-B6CA-4CF0-9281-DCEB96A355B8}"/>
              </a:ext>
            </a:extLst>
          </p:cNvPr>
          <p:cNvSpPr txBox="1"/>
          <p:nvPr/>
        </p:nvSpPr>
        <p:spPr>
          <a:xfrm>
            <a:off x="1095375" y="228602"/>
            <a:ext cx="292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二分查找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862A6D-9723-41B0-8A27-6DB65BC6CA1C}"/>
              </a:ext>
            </a:extLst>
          </p:cNvPr>
          <p:cNvSpPr txBox="1"/>
          <p:nvPr/>
        </p:nvSpPr>
        <p:spPr>
          <a:xfrm>
            <a:off x="590550" y="1217317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随机规模测试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CA59B2-EFCF-4EF2-944A-38BDC8B91C57}"/>
              </a:ext>
            </a:extLst>
          </p:cNvPr>
          <p:cNvSpPr txBox="1"/>
          <p:nvPr/>
        </p:nvSpPr>
        <p:spPr>
          <a:xfrm>
            <a:off x="1571625" y="1883611"/>
            <a:ext cx="198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固定楼层数</a:t>
            </a:r>
            <a:r>
              <a:rPr lang="en-US" altLang="zh-CN" dirty="0"/>
              <a:t>n=500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C3205C-8EF7-4A1A-8D49-C221C492CE9D}"/>
              </a:ext>
            </a:extLst>
          </p:cNvPr>
          <p:cNvSpPr txBox="1"/>
          <p:nvPr/>
        </p:nvSpPr>
        <p:spPr>
          <a:xfrm>
            <a:off x="8372475" y="1883611"/>
            <a:ext cx="1854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固定鸡蛋数</a:t>
            </a:r>
            <a:r>
              <a:rPr lang="en-US" altLang="zh-CN" dirty="0"/>
              <a:t>e=30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783440B9-90D3-4F3C-996D-D12871628D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06" y="2387980"/>
            <a:ext cx="5837831" cy="3408263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39CAAB7-D593-4BB8-B806-09BB07E1E7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7065" y="2387980"/>
            <a:ext cx="5810760" cy="3408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8698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6B1BC7-B6CA-4CF0-9281-DCEB96A355B8}"/>
              </a:ext>
            </a:extLst>
          </p:cNvPr>
          <p:cNvSpPr txBox="1"/>
          <p:nvPr/>
        </p:nvSpPr>
        <p:spPr>
          <a:xfrm>
            <a:off x="1095375" y="228602"/>
            <a:ext cx="292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二分查找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862A6D-9723-41B0-8A27-6DB65BC6CA1C}"/>
              </a:ext>
            </a:extLst>
          </p:cNvPr>
          <p:cNvSpPr txBox="1"/>
          <p:nvPr/>
        </p:nvSpPr>
        <p:spPr>
          <a:xfrm>
            <a:off x="590550" y="1217317"/>
            <a:ext cx="274947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使用二分查找前后对比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0CA59B2-EFCF-4EF2-944A-38BDC8B91C57}"/>
              </a:ext>
            </a:extLst>
          </p:cNvPr>
          <p:cNvSpPr txBox="1"/>
          <p:nvPr/>
        </p:nvSpPr>
        <p:spPr>
          <a:xfrm>
            <a:off x="1571625" y="1883611"/>
            <a:ext cx="198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固定楼层数</a:t>
            </a:r>
            <a:r>
              <a:rPr lang="en-US" altLang="zh-CN" dirty="0"/>
              <a:t>n=500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31C3205C-8EF7-4A1A-8D49-C221C492CE9D}"/>
              </a:ext>
            </a:extLst>
          </p:cNvPr>
          <p:cNvSpPr txBox="1"/>
          <p:nvPr/>
        </p:nvSpPr>
        <p:spPr>
          <a:xfrm>
            <a:off x="8372475" y="1883611"/>
            <a:ext cx="1854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固定鸡蛋数</a:t>
            </a:r>
            <a:r>
              <a:rPr lang="en-US" altLang="zh-CN" dirty="0"/>
              <a:t>e=30</a:t>
            </a:r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9D3FFE7A-D5A0-4C10-B854-F85E78A834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4321" y="2319618"/>
            <a:ext cx="5548452" cy="3747841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789491B8-76A3-4107-9506-1EF3CF15E9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823" y="2319618"/>
            <a:ext cx="5548452" cy="3747841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E8FA4D36-23FA-4043-95B9-C45FC0174A9F}"/>
              </a:ext>
            </a:extLst>
          </p:cNvPr>
          <p:cNvSpPr txBox="1"/>
          <p:nvPr/>
        </p:nvSpPr>
        <p:spPr>
          <a:xfrm>
            <a:off x="1837603" y="6134132"/>
            <a:ext cx="93762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无论是固定楼层数</a:t>
            </a:r>
            <a:r>
              <a:rPr lang="en-US" altLang="zh-CN" dirty="0"/>
              <a:t>n</a:t>
            </a:r>
            <a:r>
              <a:rPr lang="zh-CN" altLang="en-US" dirty="0"/>
              <a:t>还是鸡蛋数</a:t>
            </a:r>
            <a:r>
              <a:rPr lang="en-US" altLang="zh-CN" dirty="0"/>
              <a:t>e</a:t>
            </a:r>
            <a:r>
              <a:rPr lang="zh-CN" altLang="en-US" dirty="0"/>
              <a:t>，二分查找的时间效率均比一维</a:t>
            </a:r>
            <a:r>
              <a:rPr lang="en-US" altLang="zh-CN" dirty="0"/>
              <a:t>DP</a:t>
            </a:r>
            <a:r>
              <a:rPr lang="zh-CN" altLang="en-US" dirty="0"/>
              <a:t>至少高出</a:t>
            </a:r>
            <a:r>
              <a:rPr lang="en-US" altLang="zh-CN" dirty="0"/>
              <a:t>1.5</a:t>
            </a:r>
            <a:r>
              <a:rPr lang="zh-CN" altLang="en-US" dirty="0"/>
              <a:t>个数量级</a:t>
            </a:r>
          </a:p>
        </p:txBody>
      </p:sp>
    </p:spTree>
    <p:extLst>
      <p:ext uri="{BB962C8B-B14F-4D97-AF65-F5344CB8AC3E}">
        <p14:creationId xmlns:p14="http://schemas.microsoft.com/office/powerpoint/2010/main" val="237555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6B1BC7-B6CA-4CF0-9281-DCEB96A355B8}"/>
              </a:ext>
            </a:extLst>
          </p:cNvPr>
          <p:cNvSpPr txBox="1"/>
          <p:nvPr/>
        </p:nvSpPr>
        <p:spPr>
          <a:xfrm>
            <a:off x="1095375" y="228601"/>
            <a:ext cx="3219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数学等效法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8063D0A-7F25-4A69-A418-09C1C2933D36}"/>
              </a:ext>
            </a:extLst>
          </p:cNvPr>
          <p:cNvSpPr txBox="1"/>
          <p:nvPr/>
        </p:nvSpPr>
        <p:spPr>
          <a:xfrm>
            <a:off x="1273526" y="1129115"/>
            <a:ext cx="96449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前面的思路为求出当前楼层</a:t>
            </a:r>
            <a:r>
              <a:rPr lang="en-US" altLang="zh-CN" dirty="0"/>
              <a:t>N</a:t>
            </a:r>
            <a:r>
              <a:rPr lang="zh-CN" altLang="en-US" dirty="0"/>
              <a:t>、鸡蛋数</a:t>
            </a:r>
            <a:r>
              <a:rPr lang="en-US" altLang="zh-CN" dirty="0"/>
              <a:t>K</a:t>
            </a:r>
            <a:r>
              <a:rPr lang="zh-CN" altLang="en-US" dirty="0"/>
              <a:t>下的</a:t>
            </a:r>
            <a:r>
              <a:rPr lang="zh-CN" altLang="en-US" b="1" dirty="0"/>
              <a:t>最小</a:t>
            </a:r>
            <a:r>
              <a:rPr lang="zh-CN" altLang="en-US" dirty="0"/>
              <a:t>试验次数</a:t>
            </a:r>
            <a:r>
              <a:rPr lang="en-US" altLang="zh-CN" dirty="0"/>
              <a:t>m</a:t>
            </a:r>
            <a:r>
              <a:rPr lang="zh-CN" altLang="en-US" dirty="0"/>
              <a:t>；等价于当前鸡蛋数</a:t>
            </a:r>
            <a:r>
              <a:rPr lang="en-US" altLang="zh-CN" dirty="0"/>
              <a:t>K</a:t>
            </a:r>
            <a:r>
              <a:rPr lang="zh-CN" altLang="en-US" dirty="0"/>
              <a:t>、试验次数</a:t>
            </a:r>
            <a:r>
              <a:rPr lang="en-US" altLang="zh-CN" dirty="0"/>
              <a:t>m</a:t>
            </a:r>
            <a:r>
              <a:rPr lang="zh-CN" altLang="en-US" dirty="0"/>
              <a:t>下求出可以试验的</a:t>
            </a:r>
            <a:r>
              <a:rPr lang="zh-CN" altLang="en-US" b="1" dirty="0"/>
              <a:t>最大</a:t>
            </a:r>
            <a:r>
              <a:rPr lang="zh-CN" altLang="en-US" dirty="0"/>
              <a:t>楼层数</a:t>
            </a:r>
            <a:r>
              <a:rPr lang="en-US" altLang="zh-CN" dirty="0"/>
              <a:t>N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9F5233F-51E8-449A-B9DB-83604EAF8E33}"/>
                  </a:ext>
                </a:extLst>
              </p:cNvPr>
              <p:cNvSpPr txBox="1"/>
              <p:nvPr/>
            </p:nvSpPr>
            <p:spPr>
              <a:xfrm>
                <a:off x="915855" y="2056952"/>
                <a:ext cx="626626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dirty="0"/>
                  <a:t>设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</m:d>
                    <m:r>
                      <a:rPr lang="zh-CN" altLang="en-US" i="1">
                        <a:latin typeface="Cambria Math" panose="02040503050406030204" pitchFamily="18" charset="0"/>
                      </a:rPr>
                      <m:t>为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试验</m:t>
                    </m:r>
                  </m:oMath>
                </a14:m>
                <a:r>
                  <a:rPr lang="zh-CN" altLang="en-US" dirty="0"/>
                  <a:t>出的最大楼层数</a:t>
                </a:r>
                <a:r>
                  <a:rPr lang="en-US" altLang="zh-CN" dirty="0"/>
                  <a:t>N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89F5233F-51E8-449A-B9DB-83604EAF8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5855" y="2056952"/>
                <a:ext cx="6266263" cy="369332"/>
              </a:xfrm>
              <a:prstGeom prst="rect">
                <a:avLst/>
              </a:prstGeom>
              <a:blipFill>
                <a:blip r:embed="rId2"/>
                <a:stretch>
                  <a:fillRect l="-778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5CE03B2-5E8C-4B2E-8385-5F047DA8D06F}"/>
                  </a:ext>
                </a:extLst>
              </p:cNvPr>
              <p:cNvSpPr txBox="1"/>
              <p:nvPr/>
            </p:nvSpPr>
            <p:spPr>
              <a:xfrm>
                <a:off x="1613013" y="2538143"/>
                <a:ext cx="6343998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/>
                  <a:t>1.</a:t>
                </a:r>
                <a:r>
                  <a:rPr lang="zh-CN" altLang="en-US" b="1" dirty="0"/>
                  <a:t>鸡蛋碎了，试验次数和鸡蛋数减</a:t>
                </a:r>
                <a:r>
                  <a:rPr lang="en-US" altLang="zh-CN" b="1" dirty="0"/>
                  <a:t>1</a:t>
                </a:r>
                <a:r>
                  <a:rPr lang="zh-CN" altLang="en-US" b="1" dirty="0"/>
                  <a:t>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</m:oMath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A5CE03B2-5E8C-4B2E-8385-5F047DA8D0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013" y="2538143"/>
                <a:ext cx="6343998" cy="369332"/>
              </a:xfrm>
              <a:prstGeom prst="rect">
                <a:avLst/>
              </a:prstGeom>
              <a:blipFill>
                <a:blip r:embed="rId3"/>
                <a:stretch>
                  <a:fillRect l="-865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E75E274-369B-4F73-B1B3-9F10C159743A}"/>
                  </a:ext>
                </a:extLst>
              </p:cNvPr>
              <p:cNvSpPr txBox="1"/>
              <p:nvPr/>
            </p:nvSpPr>
            <p:spPr>
              <a:xfrm>
                <a:off x="1613013" y="3005225"/>
                <a:ext cx="624875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zh-CN" b="1" dirty="0"/>
                  <a:t>2.</a:t>
                </a:r>
                <a:r>
                  <a:rPr lang="zh-CN" altLang="en-US" b="1" dirty="0"/>
                  <a:t>鸡蛋没碎，试验次数减</a:t>
                </a:r>
                <a:r>
                  <a:rPr lang="en-US" altLang="zh-CN" b="1" dirty="0"/>
                  <a:t>1</a:t>
                </a:r>
                <a:r>
                  <a:rPr lang="zh-CN" altLang="en-US" b="1" dirty="0"/>
                  <a:t>，鸡蛋数不变，即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9" name="文本框 8">
                <a:extLst>
                  <a:ext uri="{FF2B5EF4-FFF2-40B4-BE49-F238E27FC236}">
                    <a16:creationId xmlns:a16="http://schemas.microsoft.com/office/drawing/2014/main" id="{AE75E274-369B-4F73-B1B3-9F10C15974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3013" y="3005225"/>
                <a:ext cx="6248750" cy="369332"/>
              </a:xfrm>
              <a:prstGeom prst="rect">
                <a:avLst/>
              </a:prstGeom>
              <a:blipFill>
                <a:blip r:embed="rId4"/>
                <a:stretch>
                  <a:fillRect l="-878" t="-9836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14873E2-D365-4D52-823C-1DC9025F8690}"/>
                  </a:ext>
                </a:extLst>
              </p:cNvPr>
              <p:cNvSpPr txBox="1"/>
              <p:nvPr/>
            </p:nvSpPr>
            <p:spPr>
              <a:xfrm>
                <a:off x="440817" y="3690025"/>
                <a:ext cx="73782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dirty="0"/>
                  <a:t>对应的状态转移方程为    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zh-CN" altLang="en-US" b="1" dirty="0"/>
                  <a:t> </a:t>
                </a:r>
                <a:r>
                  <a:rPr lang="en-US" altLang="zh-CN" b="1" dirty="0"/>
                  <a:t>= 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𝒌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𝟏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b="1" i="1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𝒎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</a:rPr>
                          <m:t>𝒌</m:t>
                        </m:r>
                      </m:e>
                    </m:d>
                  </m:oMath>
                </a14:m>
                <a:r>
                  <a:rPr lang="en-US" altLang="zh-CN" b="1" dirty="0"/>
                  <a:t> +1</a:t>
                </a:r>
                <a:endParaRPr lang="zh-CN" altLang="en-US" b="1" dirty="0"/>
              </a:p>
            </p:txBody>
          </p:sp>
        </mc:Choice>
        <mc:Fallback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814873E2-D365-4D52-823C-1DC9025F86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0817" y="3690025"/>
                <a:ext cx="7378238" cy="369332"/>
              </a:xfrm>
              <a:prstGeom prst="rect">
                <a:avLst/>
              </a:prstGeom>
              <a:blipFill>
                <a:blip r:embed="rId5"/>
                <a:stretch>
                  <a:fillRect l="-661" t="-8197" b="-245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文本框 10">
            <a:extLst>
              <a:ext uri="{FF2B5EF4-FFF2-40B4-BE49-F238E27FC236}">
                <a16:creationId xmlns:a16="http://schemas.microsoft.com/office/drawing/2014/main" id="{2BABD9E9-70E9-43F1-8430-1D982880F6FB}"/>
              </a:ext>
            </a:extLst>
          </p:cNvPr>
          <p:cNvSpPr txBox="1"/>
          <p:nvPr/>
        </p:nvSpPr>
        <p:spPr>
          <a:xfrm>
            <a:off x="1592842" y="4436522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边界条件为</a:t>
            </a:r>
            <a:endParaRPr lang="en-US" altLang="zh-CN" b="0" dirty="0"/>
          </a:p>
        </p:txBody>
      </p: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76F45AAE-CD43-4533-AD31-A06973166252}"/>
              </a:ext>
            </a:extLst>
          </p:cNvPr>
          <p:cNvGrpSpPr/>
          <p:nvPr/>
        </p:nvGrpSpPr>
        <p:grpSpPr>
          <a:xfrm>
            <a:off x="2931670" y="4222324"/>
            <a:ext cx="2881095" cy="773342"/>
            <a:chOff x="2509052" y="4040017"/>
            <a:chExt cx="2881095" cy="7733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E349EF23-0145-4648-93DF-87516C231F23}"/>
                    </a:ext>
                  </a:extLst>
                </p:cNvPr>
                <p:cNvSpPr txBox="1"/>
                <p:nvPr/>
              </p:nvSpPr>
              <p:spPr>
                <a:xfrm>
                  <a:off x="2807929" y="4040017"/>
                  <a:ext cx="252280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𝒎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</m:e>
                        </m:d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𝐦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当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𝐦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;</m:t>
                        </m:r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13" name="文本框 12">
                  <a:extLst>
                    <a:ext uri="{FF2B5EF4-FFF2-40B4-BE49-F238E27FC236}">
                      <a16:creationId xmlns:a16="http://schemas.microsoft.com/office/drawing/2014/main" id="{E349EF23-0145-4648-93DF-87516C231F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07929" y="4040017"/>
                  <a:ext cx="2522808" cy="369332"/>
                </a:xfrm>
                <a:prstGeom prst="rect">
                  <a:avLst/>
                </a:prstGeom>
                <a:blipFill>
                  <a:blip r:embed="rId6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784EE315-C425-45D5-9CE1-772507D0404E}"/>
                    </a:ext>
                  </a:extLst>
                </p:cNvPr>
                <p:cNvSpPr txBox="1"/>
                <p:nvPr/>
              </p:nvSpPr>
              <p:spPr>
                <a:xfrm>
                  <a:off x="2509052" y="4444027"/>
                  <a:ext cx="288109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𝒇</m:t>
                        </m:r>
                        <m:d>
                          <m:dPr>
                            <m:ctrlP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𝟏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altLang="zh-CN" b="1" i="1" smtClean="0">
                                <a:latin typeface="Cambria Math" panose="02040503050406030204" pitchFamily="18" charset="0"/>
                              </a:rPr>
                              <m:t>𝒌</m:t>
                            </m:r>
                          </m:e>
                        </m:d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当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𝐤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≥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b="1" i="0" smtClean="0">
                            <a:latin typeface="Cambria Math" panose="02040503050406030204" pitchFamily="18" charset="0"/>
                          </a:rPr>
                          <m:t>;</m:t>
                        </m:r>
                      </m:oMath>
                    </m:oMathPara>
                  </a14:m>
                  <a:endParaRPr lang="zh-CN" altLang="en-US" b="1" dirty="0"/>
                </a:p>
              </p:txBody>
            </p:sp>
          </mc:Choice>
          <mc:Fallback xmlns="">
            <p:sp>
              <p:nvSpPr>
                <p:cNvPr id="14" name="文本框 13">
                  <a:extLst>
                    <a:ext uri="{FF2B5EF4-FFF2-40B4-BE49-F238E27FC236}">
                      <a16:creationId xmlns:a16="http://schemas.microsoft.com/office/drawing/2014/main" id="{784EE315-C425-45D5-9CE1-772507D0404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09052" y="4444027"/>
                  <a:ext cx="2881095" cy="369332"/>
                </a:xfrm>
                <a:prstGeom prst="rect">
                  <a:avLst/>
                </a:prstGeom>
                <a:blipFill>
                  <a:blip r:embed="rId7"/>
                  <a:stretch>
                    <a:fillRect b="-13333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5" name="左大括号 14">
              <a:extLst>
                <a:ext uri="{FF2B5EF4-FFF2-40B4-BE49-F238E27FC236}">
                  <a16:creationId xmlns:a16="http://schemas.microsoft.com/office/drawing/2014/main" id="{F3DB328F-4E7E-4C79-A647-3395C101E97D}"/>
                </a:ext>
              </a:extLst>
            </p:cNvPr>
            <p:cNvSpPr/>
            <p:nvPr/>
          </p:nvSpPr>
          <p:spPr>
            <a:xfrm>
              <a:off x="2705100" y="4224683"/>
              <a:ext cx="102829" cy="477070"/>
            </a:xfrm>
            <a:prstGeom prst="leftBrace">
              <a:avLst/>
            </a:prstGeom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id="{0F7E3238-A469-4C27-9F53-7540B4DF3FD6}"/>
              </a:ext>
            </a:extLst>
          </p:cNvPr>
          <p:cNvGrpSpPr/>
          <p:nvPr/>
        </p:nvGrpSpPr>
        <p:grpSpPr>
          <a:xfrm>
            <a:off x="7861763" y="2029629"/>
            <a:ext cx="4508709" cy="4514850"/>
            <a:chOff x="7861763" y="2029629"/>
            <a:chExt cx="4508709" cy="4514850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60A82D5-0A66-4C21-8FDC-6D6AC8E9CE8B}"/>
                </a:ext>
              </a:extLst>
            </p:cNvPr>
            <p:cNvGrpSpPr/>
            <p:nvPr/>
          </p:nvGrpSpPr>
          <p:grpSpPr>
            <a:xfrm>
              <a:off x="9269170" y="2029629"/>
              <a:ext cx="666750" cy="4514850"/>
              <a:chOff x="9803651" y="1653391"/>
              <a:chExt cx="666750" cy="4514850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ED5B8252-9528-4790-ACFB-A1E1A7C75D57}"/>
                  </a:ext>
                </a:extLst>
              </p:cNvPr>
              <p:cNvSpPr/>
              <p:nvPr/>
            </p:nvSpPr>
            <p:spPr>
              <a:xfrm>
                <a:off x="9803651" y="1653391"/>
                <a:ext cx="666750" cy="7524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6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CB3E41DE-2C0A-403E-A786-662F26315497}"/>
                  </a:ext>
                </a:extLst>
              </p:cNvPr>
              <p:cNvSpPr/>
              <p:nvPr/>
            </p:nvSpPr>
            <p:spPr>
              <a:xfrm>
                <a:off x="9803651" y="2405866"/>
                <a:ext cx="666750" cy="7524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5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" name="矩形 18">
                <a:extLst>
                  <a:ext uri="{FF2B5EF4-FFF2-40B4-BE49-F238E27FC236}">
                    <a16:creationId xmlns:a16="http://schemas.microsoft.com/office/drawing/2014/main" id="{D39E7049-EB8E-46B0-B85D-C8F43F3D6024}"/>
                  </a:ext>
                </a:extLst>
              </p:cNvPr>
              <p:cNvSpPr/>
              <p:nvPr/>
            </p:nvSpPr>
            <p:spPr>
              <a:xfrm>
                <a:off x="9803651" y="3158341"/>
                <a:ext cx="666750" cy="7524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4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0" name="矩形 19">
                <a:extLst>
                  <a:ext uri="{FF2B5EF4-FFF2-40B4-BE49-F238E27FC236}">
                    <a16:creationId xmlns:a16="http://schemas.microsoft.com/office/drawing/2014/main" id="{3F35FA4E-BB97-4A79-9E80-54EC137ABFB1}"/>
                  </a:ext>
                </a:extLst>
              </p:cNvPr>
              <p:cNvSpPr/>
              <p:nvPr/>
            </p:nvSpPr>
            <p:spPr>
              <a:xfrm>
                <a:off x="9803651" y="3910816"/>
                <a:ext cx="666750" cy="7524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3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矩形 20">
                <a:extLst>
                  <a:ext uri="{FF2B5EF4-FFF2-40B4-BE49-F238E27FC236}">
                    <a16:creationId xmlns:a16="http://schemas.microsoft.com/office/drawing/2014/main" id="{C68C96F9-E0E3-484F-8ABB-806D0ABB3C28}"/>
                  </a:ext>
                </a:extLst>
              </p:cNvPr>
              <p:cNvSpPr/>
              <p:nvPr/>
            </p:nvSpPr>
            <p:spPr>
              <a:xfrm>
                <a:off x="9803651" y="4663291"/>
                <a:ext cx="666750" cy="7524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2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2" name="矩形 21">
                <a:extLst>
                  <a:ext uri="{FF2B5EF4-FFF2-40B4-BE49-F238E27FC236}">
                    <a16:creationId xmlns:a16="http://schemas.microsoft.com/office/drawing/2014/main" id="{9C0B8CEC-4E8C-4FB8-8FF9-90F33CD9D690}"/>
                  </a:ext>
                </a:extLst>
              </p:cNvPr>
              <p:cNvSpPr/>
              <p:nvPr/>
            </p:nvSpPr>
            <p:spPr>
              <a:xfrm>
                <a:off x="9803651" y="5415766"/>
                <a:ext cx="666750" cy="752475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b="1" dirty="0">
                    <a:solidFill>
                      <a:schemeClr val="tx1"/>
                    </a:solidFill>
                  </a:rPr>
                  <a:t>1</a:t>
                </a:r>
                <a:endParaRPr lang="zh-CN" altLang="en-US" b="1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" name="左大括号 5">
              <a:extLst>
                <a:ext uri="{FF2B5EF4-FFF2-40B4-BE49-F238E27FC236}">
                  <a16:creationId xmlns:a16="http://schemas.microsoft.com/office/drawing/2014/main" id="{517EC6E4-6F68-41D8-B7CC-6203C9837B2D}"/>
                </a:ext>
              </a:extLst>
            </p:cNvPr>
            <p:cNvSpPr/>
            <p:nvPr/>
          </p:nvSpPr>
          <p:spPr>
            <a:xfrm>
              <a:off x="9038101" y="2130022"/>
              <a:ext cx="47625" cy="4314063"/>
            </a:xfrm>
            <a:prstGeom prst="leftBrac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C0E7B5DF-C4A6-47FA-B234-4866FCA35543}"/>
                    </a:ext>
                  </a:extLst>
                </p:cNvPr>
                <p:cNvSpPr txBox="1"/>
                <p:nvPr/>
              </p:nvSpPr>
              <p:spPr>
                <a:xfrm>
                  <a:off x="7861763" y="4082694"/>
                  <a:ext cx="120015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</m:oMath>
                  </a14:m>
                  <a:r>
                    <a:rPr lang="zh-CN" altLang="en-US" b="1" dirty="0"/>
                    <a:t>层 </a:t>
                  </a:r>
                  <a:endParaRPr lang="zh-CN" altLang="en-US" dirty="0"/>
                </a:p>
              </p:txBody>
            </p:sp>
          </mc:Choice>
          <mc:Fallback>
            <p:sp>
              <p:nvSpPr>
                <p:cNvPr id="24" name="文本框 23">
                  <a:extLst>
                    <a:ext uri="{FF2B5EF4-FFF2-40B4-BE49-F238E27FC236}">
                      <a16:creationId xmlns:a16="http://schemas.microsoft.com/office/drawing/2014/main" id="{C0E7B5DF-C4A6-47FA-B234-4866FCA355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861763" y="4082694"/>
                  <a:ext cx="1200150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1523" t="-10000" r="-1523" b="-2666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箭头: 左 26">
              <a:extLst>
                <a:ext uri="{FF2B5EF4-FFF2-40B4-BE49-F238E27FC236}">
                  <a16:creationId xmlns:a16="http://schemas.microsoft.com/office/drawing/2014/main" id="{E8C15B7A-0A15-4184-A879-BF8D241632F5}"/>
                </a:ext>
              </a:extLst>
            </p:cNvPr>
            <p:cNvSpPr/>
            <p:nvPr/>
          </p:nvSpPr>
          <p:spPr>
            <a:xfrm>
              <a:off x="10045813" y="3918789"/>
              <a:ext cx="485600" cy="112437"/>
            </a:xfrm>
            <a:prstGeom prst="leftArrow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78E37BD9-425F-4CE5-826A-489A7E4052F5}"/>
                </a:ext>
              </a:extLst>
            </p:cNvPr>
            <p:cNvSpPr txBox="1"/>
            <p:nvPr/>
          </p:nvSpPr>
          <p:spPr>
            <a:xfrm>
              <a:off x="10641306" y="3790341"/>
              <a:ext cx="10054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试验</a:t>
              </a:r>
              <a:r>
                <a:rPr lang="en-US" altLang="zh-CN" b="1" dirty="0"/>
                <a:t>1</a:t>
              </a:r>
              <a:r>
                <a:rPr lang="zh-CN" altLang="en-US" b="1" dirty="0"/>
                <a:t>次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D984D0EC-34D4-4653-9E5A-682359E6A565}"/>
                    </a:ext>
                  </a:extLst>
                </p:cNvPr>
                <p:cNvSpPr txBox="1"/>
                <p:nvPr/>
              </p:nvSpPr>
              <p:spPr>
                <a:xfrm>
                  <a:off x="10304772" y="2767670"/>
                  <a:ext cx="182122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</m:e>
                      </m:d>
                    </m:oMath>
                  </a14:m>
                  <a:r>
                    <a:rPr lang="zh-CN" altLang="en-US" b="1" dirty="0"/>
                    <a:t>层 </a:t>
                  </a:r>
                  <a:endParaRPr lang="zh-CN" altLang="en-US" dirty="0"/>
                </a:p>
              </p:txBody>
            </p:sp>
          </mc:Choice>
          <mc:Fallback>
            <p:sp>
              <p:nvSpPr>
                <p:cNvPr id="30" name="文本框 29">
                  <a:extLst>
                    <a:ext uri="{FF2B5EF4-FFF2-40B4-BE49-F238E27FC236}">
                      <a16:creationId xmlns:a16="http://schemas.microsoft.com/office/drawing/2014/main" id="{D984D0EC-34D4-4653-9E5A-682359E6A56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04772" y="2767670"/>
                  <a:ext cx="1821221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1003" t="-819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1" name="左大括号 30">
              <a:extLst>
                <a:ext uri="{FF2B5EF4-FFF2-40B4-BE49-F238E27FC236}">
                  <a16:creationId xmlns:a16="http://schemas.microsoft.com/office/drawing/2014/main" id="{4C02536C-389F-4373-A4CF-39695E8FB0A0}"/>
                </a:ext>
              </a:extLst>
            </p:cNvPr>
            <p:cNvSpPr/>
            <p:nvPr/>
          </p:nvSpPr>
          <p:spPr>
            <a:xfrm rot="10800000">
              <a:off x="10147553" y="2096943"/>
              <a:ext cx="117498" cy="1356983"/>
            </a:xfrm>
            <a:prstGeom prst="leftBrac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左大括号 31">
              <a:extLst>
                <a:ext uri="{FF2B5EF4-FFF2-40B4-BE49-F238E27FC236}">
                  <a16:creationId xmlns:a16="http://schemas.microsoft.com/office/drawing/2014/main" id="{BCE60C13-1F0F-4200-8E9F-82D4B7F36F4B}"/>
                </a:ext>
              </a:extLst>
            </p:cNvPr>
            <p:cNvSpPr/>
            <p:nvPr/>
          </p:nvSpPr>
          <p:spPr>
            <a:xfrm rot="10800000">
              <a:off x="10160297" y="4287053"/>
              <a:ext cx="92010" cy="2157032"/>
            </a:xfrm>
            <a:prstGeom prst="leftBrace">
              <a:avLst/>
            </a:prstGeom>
          </p:spPr>
          <p:style>
            <a:lnRef idx="3">
              <a:schemeClr val="accent6"/>
            </a:lnRef>
            <a:fillRef idx="0">
              <a:schemeClr val="accent6"/>
            </a:fillRef>
            <a:effectRef idx="2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0E35BA9-4E41-447A-A276-02730E5FA9FE}"/>
                    </a:ext>
                  </a:extLst>
                </p:cNvPr>
                <p:cNvSpPr txBox="1"/>
                <p:nvPr/>
              </p:nvSpPr>
              <p:spPr>
                <a:xfrm>
                  <a:off x="10252307" y="5341307"/>
                  <a:ext cx="2118165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</a:rPr>
                        <m:t>𝒇</m:t>
                      </m:r>
                      <m:d>
                        <m:d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𝒎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1,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𝒌</m:t>
                          </m:r>
                          <m:r>
                            <a:rPr lang="en-US" altLang="zh-CN" b="1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a14:m>
                  <a:r>
                    <a:rPr lang="zh-CN" altLang="en-US" b="1" dirty="0"/>
                    <a:t>层 </a:t>
                  </a:r>
                  <a:endParaRPr lang="zh-CN" altLang="en-US" dirty="0"/>
                </a:p>
              </p:txBody>
            </p:sp>
          </mc:Choice>
          <mc:Fallback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D0E35BA9-4E41-447A-A276-02730E5FA9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252307" y="5341307"/>
                  <a:ext cx="2118165" cy="369332"/>
                </a:xfrm>
                <a:prstGeom prst="rect">
                  <a:avLst/>
                </a:prstGeom>
                <a:blipFill>
                  <a:blip r:embed="rId10"/>
                  <a:stretch>
                    <a:fillRect l="-865" t="-8197" b="-24590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id="{EC45F74B-4263-4194-9F15-83DCFDC4F365}"/>
                </a:ext>
              </a:extLst>
            </p:cNvPr>
            <p:cNvSpPr txBox="1"/>
            <p:nvPr/>
          </p:nvSpPr>
          <p:spPr>
            <a:xfrm>
              <a:off x="10377949" y="4886441"/>
              <a:ext cx="115252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/>
                <a:t>鸡蛋碎了</a:t>
              </a:r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F461744D-6ECC-4169-8A1E-CE71BE9AFB17}"/>
                </a:ext>
              </a:extLst>
            </p:cNvPr>
            <p:cNvSpPr txBox="1"/>
            <p:nvPr/>
          </p:nvSpPr>
          <p:spPr>
            <a:xfrm>
              <a:off x="10287691" y="2330824"/>
              <a:ext cx="150451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/>
                <a:t>鸡蛋没碎</a:t>
              </a:r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178077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C7E13FC-6187-4283-9825-16DBD8AB5E48}"/>
              </a:ext>
            </a:extLst>
          </p:cNvPr>
          <p:cNvSpPr txBox="1"/>
          <p:nvPr/>
        </p:nvSpPr>
        <p:spPr>
          <a:xfrm>
            <a:off x="1095375" y="228601"/>
            <a:ext cx="32194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数学等效法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60042D-F74A-460C-8438-0F69A1EE6794}"/>
              </a:ext>
            </a:extLst>
          </p:cNvPr>
          <p:cNvSpPr txBox="1"/>
          <p:nvPr/>
        </p:nvSpPr>
        <p:spPr>
          <a:xfrm>
            <a:off x="534305" y="4832861"/>
            <a:ext cx="5466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从右到左逆向填表，可以改用一维表存储中间结果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EE9F424-5EEB-47B4-93ED-AE0334557663}"/>
                  </a:ext>
                </a:extLst>
              </p:cNvPr>
              <p:cNvSpPr txBox="1"/>
              <p:nvPr/>
            </p:nvSpPr>
            <p:spPr>
              <a:xfrm>
                <a:off x="2791602" y="5821111"/>
                <a:ext cx="6608797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dirty="0"/>
                  <a:t>时间复杂度粗略为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∗</m:t>
                        </m:r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</m:oMath>
                </a14:m>
                <a:r>
                  <a:rPr lang="zh-CN" altLang="en-US" dirty="0"/>
                  <a:t>，准确为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ad>
                          <m:radPr>
                            <m:ctrl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>
                            <m:r>
                              <m:rPr>
                                <m:brk m:alnAt="7"/>
                              </m:rP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g>
                          <m:e>
                            <m:r>
                              <a:rPr lang="en-US" altLang="zh-CN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rad>
                      </m:e>
                    </m:d>
                  </m:oMath>
                </a14:m>
                <a:r>
                  <a:rPr lang="zh-CN" altLang="en-US" dirty="0"/>
                  <a:t>，空间复杂度为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zh-CN" i="1">
                            <a:latin typeface="Cambria Math" panose="02040503050406030204" pitchFamily="18" charset="0"/>
                          </a:rPr>
                          <m:t>e</m:t>
                        </m:r>
                      </m:e>
                    </m:d>
                  </m:oMath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7EE9F424-5EEB-47B4-93ED-AE03345576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1602" y="5821111"/>
                <a:ext cx="6608797" cy="404983"/>
              </a:xfrm>
              <a:prstGeom prst="rect">
                <a:avLst/>
              </a:prstGeom>
              <a:blipFill>
                <a:blip r:embed="rId2"/>
                <a:stretch>
                  <a:fillRect l="-830" t="-3030" b="-2121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图片 12">
            <a:extLst>
              <a:ext uri="{FF2B5EF4-FFF2-40B4-BE49-F238E27FC236}">
                <a16:creationId xmlns:a16="http://schemas.microsoft.com/office/drawing/2014/main" id="{94622B5F-4915-4B21-863A-2E3F5379D01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38" t="13750" r="11881" b="8333"/>
          <a:stretch/>
        </p:blipFill>
        <p:spPr>
          <a:xfrm>
            <a:off x="7058027" y="1054190"/>
            <a:ext cx="4133848" cy="4498883"/>
          </a:xfrm>
          <a:prstGeom prst="rect">
            <a:avLst/>
          </a:prstGeom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2B12ABCA-CAEC-4EF2-A479-7A81B39325BD}"/>
              </a:ext>
            </a:extLst>
          </p:cNvPr>
          <p:cNvGrpSpPr/>
          <p:nvPr/>
        </p:nvGrpSpPr>
        <p:grpSpPr>
          <a:xfrm>
            <a:off x="723900" y="1425474"/>
            <a:ext cx="4706372" cy="3376613"/>
            <a:chOff x="723900" y="1425474"/>
            <a:chExt cx="4706372" cy="3376613"/>
          </a:xfrm>
        </p:grpSpPr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id="{71C21222-6AF4-4EA8-AA69-4073D8DF28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8275" y="4374892"/>
              <a:ext cx="351472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60ACC9E1-7599-4057-87EF-5469F2190A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23900" y="1425474"/>
              <a:ext cx="4706372" cy="33766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45365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6B1BC7-B6CA-4CF0-9281-DCEB96A355B8}"/>
              </a:ext>
            </a:extLst>
          </p:cNvPr>
          <p:cNvSpPr txBox="1"/>
          <p:nvPr/>
        </p:nvSpPr>
        <p:spPr>
          <a:xfrm>
            <a:off x="1095375" y="228602"/>
            <a:ext cx="292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数学等效法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862A6D-9723-41B0-8A27-6DB65BC6CA1C}"/>
              </a:ext>
            </a:extLst>
          </p:cNvPr>
          <p:cNvSpPr txBox="1"/>
          <p:nvPr/>
        </p:nvSpPr>
        <p:spPr>
          <a:xfrm>
            <a:off x="590550" y="1217317"/>
            <a:ext cx="172354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随机规模测试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1B5382-6678-4DA1-93E2-AA3E9FBFDBE8}"/>
              </a:ext>
            </a:extLst>
          </p:cNvPr>
          <p:cNvSpPr txBox="1"/>
          <p:nvPr/>
        </p:nvSpPr>
        <p:spPr>
          <a:xfrm>
            <a:off x="1571625" y="1617427"/>
            <a:ext cx="198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固定楼层数</a:t>
            </a:r>
            <a:r>
              <a:rPr lang="en-US" altLang="zh-CN" dirty="0"/>
              <a:t>n=500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29F03DA-50C9-4EAD-B385-534C36941906}"/>
              </a:ext>
            </a:extLst>
          </p:cNvPr>
          <p:cNvSpPr txBox="1"/>
          <p:nvPr/>
        </p:nvSpPr>
        <p:spPr>
          <a:xfrm>
            <a:off x="8372475" y="1617427"/>
            <a:ext cx="1854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固定鸡蛋数</a:t>
            </a:r>
            <a:r>
              <a:rPr lang="en-US" altLang="zh-CN" dirty="0"/>
              <a:t>e=30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18BAB6DB-EF53-44E6-A046-CCD5FC4421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5" y="2110067"/>
            <a:ext cx="6029325" cy="371022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47C4B899-FEEE-41C3-9D09-B82107950CCA}"/>
              </a:ext>
            </a:extLst>
          </p:cNvPr>
          <p:cNvSpPr txBox="1"/>
          <p:nvPr/>
        </p:nvSpPr>
        <p:spPr>
          <a:xfrm>
            <a:off x="171451" y="6152632"/>
            <a:ext cx="6134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        在楼层数</a:t>
            </a:r>
            <a:r>
              <a:rPr lang="en-US" altLang="zh-CN" dirty="0"/>
              <a:t>n</a:t>
            </a:r>
            <a:r>
              <a:rPr lang="zh-CN" altLang="en-US" dirty="0"/>
              <a:t>一定时，数学等效法的时间代价随着鸡蛋数的增大而线性增大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43FBEB44-9126-4A74-83A2-BE2B1AAC2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3034" y="2110066"/>
            <a:ext cx="5386044" cy="3710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667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F6B1BC7-B6CA-4CF0-9281-DCEB96A355B8}"/>
              </a:ext>
            </a:extLst>
          </p:cNvPr>
          <p:cNvSpPr txBox="1"/>
          <p:nvPr/>
        </p:nvSpPr>
        <p:spPr>
          <a:xfrm>
            <a:off x="1095375" y="228602"/>
            <a:ext cx="292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数学等效法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0862A6D-9723-41B0-8A27-6DB65BC6CA1C}"/>
              </a:ext>
            </a:extLst>
          </p:cNvPr>
          <p:cNvSpPr txBox="1"/>
          <p:nvPr/>
        </p:nvSpPr>
        <p:spPr>
          <a:xfrm>
            <a:off x="490081" y="95058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/>
              <a:t>算法比较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81B5382-6678-4DA1-93E2-AA3E9FBFDBE8}"/>
              </a:ext>
            </a:extLst>
          </p:cNvPr>
          <p:cNvSpPr txBox="1"/>
          <p:nvPr/>
        </p:nvSpPr>
        <p:spPr>
          <a:xfrm>
            <a:off x="1565042" y="1357883"/>
            <a:ext cx="1984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固定楼层数</a:t>
            </a:r>
            <a:r>
              <a:rPr lang="en-US" altLang="zh-CN" dirty="0"/>
              <a:t>n=500</a:t>
            </a:r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29F03DA-50C9-4EAD-B385-534C36941906}"/>
              </a:ext>
            </a:extLst>
          </p:cNvPr>
          <p:cNvSpPr txBox="1"/>
          <p:nvPr/>
        </p:nvSpPr>
        <p:spPr>
          <a:xfrm>
            <a:off x="8343900" y="1357883"/>
            <a:ext cx="18549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固定鸡蛋数</a:t>
            </a:r>
            <a:r>
              <a:rPr lang="en-US" altLang="zh-CN" dirty="0"/>
              <a:t>e=30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B975F1A-E43C-4382-8D55-121A0456AA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4006" y="2994443"/>
            <a:ext cx="5777994" cy="3581401"/>
          </a:xfrm>
          <a:prstGeom prst="rect">
            <a:avLst/>
          </a:prstGeom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E8CB4FC-98B4-4D0A-A384-818315829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6888901"/>
              </p:ext>
            </p:extLst>
          </p:nvPr>
        </p:nvGraphicFramePr>
        <p:xfrm>
          <a:off x="6766321" y="1777805"/>
          <a:ext cx="5010151" cy="11660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737">
                  <a:extLst>
                    <a:ext uri="{9D8B030D-6E8A-4147-A177-3AD203B41FA5}">
                      <a16:colId xmlns:a16="http://schemas.microsoft.com/office/drawing/2014/main" val="3946063284"/>
                    </a:ext>
                  </a:extLst>
                </a:gridCol>
                <a:gridCol w="657069">
                  <a:extLst>
                    <a:ext uri="{9D8B030D-6E8A-4147-A177-3AD203B41FA5}">
                      <a16:colId xmlns:a16="http://schemas.microsoft.com/office/drawing/2014/main" val="2299748336"/>
                    </a:ext>
                  </a:extLst>
                </a:gridCol>
                <a:gridCol w="657069">
                  <a:extLst>
                    <a:ext uri="{9D8B030D-6E8A-4147-A177-3AD203B41FA5}">
                      <a16:colId xmlns:a16="http://schemas.microsoft.com/office/drawing/2014/main" val="1819648101"/>
                    </a:ext>
                  </a:extLst>
                </a:gridCol>
                <a:gridCol w="657069">
                  <a:extLst>
                    <a:ext uri="{9D8B030D-6E8A-4147-A177-3AD203B41FA5}">
                      <a16:colId xmlns:a16="http://schemas.microsoft.com/office/drawing/2014/main" val="3998328384"/>
                    </a:ext>
                  </a:extLst>
                </a:gridCol>
                <a:gridCol w="657069">
                  <a:extLst>
                    <a:ext uri="{9D8B030D-6E8A-4147-A177-3AD203B41FA5}">
                      <a16:colId xmlns:a16="http://schemas.microsoft.com/office/drawing/2014/main" val="1380577756"/>
                    </a:ext>
                  </a:extLst>
                </a:gridCol>
                <a:gridCol w="657069">
                  <a:extLst>
                    <a:ext uri="{9D8B030D-6E8A-4147-A177-3AD203B41FA5}">
                      <a16:colId xmlns:a16="http://schemas.microsoft.com/office/drawing/2014/main" val="4228975097"/>
                    </a:ext>
                  </a:extLst>
                </a:gridCol>
                <a:gridCol w="657069">
                  <a:extLst>
                    <a:ext uri="{9D8B030D-6E8A-4147-A177-3AD203B41FA5}">
                      <a16:colId xmlns:a16="http://schemas.microsoft.com/office/drawing/2014/main" val="3376047891"/>
                    </a:ext>
                  </a:extLst>
                </a:gridCol>
              </a:tblGrid>
              <a:tr h="236471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</a:rPr>
                        <a:t>楼层数</a:t>
                      </a:r>
                      <a:r>
                        <a:rPr lang="en-US" sz="1400" b="1" u="none" strike="noStrike" dirty="0">
                          <a:effectLst/>
                        </a:rPr>
                        <a:t>n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effectLst/>
                        </a:rPr>
                        <a:t>10000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effectLst/>
                        </a:rPr>
                        <a:t>20000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effectLst/>
                        </a:rPr>
                        <a:t>40000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effectLst/>
                        </a:rPr>
                        <a:t>60000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effectLst/>
                        </a:rPr>
                        <a:t>80000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effectLst/>
                        </a:rPr>
                        <a:t>100000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6824556"/>
                  </a:ext>
                </a:extLst>
              </a:tr>
              <a:tr h="46478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 dirty="0">
                          <a:effectLst/>
                        </a:rPr>
                        <a:t>二分查找</a:t>
                      </a:r>
                      <a:r>
                        <a:rPr lang="en-US" altLang="zh-CN" sz="1400" b="1" u="none" strike="noStrike" dirty="0">
                          <a:effectLst/>
                        </a:rPr>
                        <a:t>(</a:t>
                      </a:r>
                      <a:r>
                        <a:rPr lang="en-US" sz="1400" b="1" u="none" strike="noStrike" dirty="0" err="1">
                          <a:effectLst/>
                        </a:rPr>
                        <a:t>ms</a:t>
                      </a:r>
                      <a:r>
                        <a:rPr lang="en-US" sz="1400" b="1" u="none" strike="noStrike" dirty="0">
                          <a:effectLst/>
                        </a:rPr>
                        <a:t>)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effectLst/>
                        </a:rPr>
                        <a:t>18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effectLst/>
                        </a:rPr>
                        <a:t>34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effectLst/>
                        </a:rPr>
                        <a:t>70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effectLst/>
                        </a:rPr>
                        <a:t>111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effectLst/>
                        </a:rPr>
                        <a:t>152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effectLst/>
                        </a:rPr>
                        <a:t>199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4160254315"/>
                  </a:ext>
                </a:extLst>
              </a:tr>
              <a:tr h="464788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400" b="1" u="none" strike="noStrike">
                          <a:effectLst/>
                        </a:rPr>
                        <a:t>数学等效法</a:t>
                      </a:r>
                      <a:r>
                        <a:rPr lang="en-US" altLang="zh-CN" sz="1400" b="1" u="none" strike="noStrike">
                          <a:effectLst/>
                        </a:rPr>
                        <a:t>(</a:t>
                      </a:r>
                      <a:r>
                        <a:rPr lang="en-US" sz="1400" b="1" u="none" strike="noStrike">
                          <a:effectLst/>
                        </a:rPr>
                        <a:t>ms)</a:t>
                      </a:r>
                      <a:endParaRPr lang="en-US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effectLst/>
                        </a:rPr>
                        <a:t>1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effectLst/>
                        </a:rPr>
                        <a:t>1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effectLst/>
                        </a:rPr>
                        <a:t>1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effectLst/>
                        </a:rPr>
                        <a:t>0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>
                          <a:effectLst/>
                        </a:rPr>
                        <a:t>0</a:t>
                      </a:r>
                      <a:endParaRPr lang="en-US" altLang="zh-CN" sz="14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1" u="none" strike="noStrike" dirty="0">
                          <a:effectLst/>
                        </a:rPr>
                        <a:t>0</a:t>
                      </a:r>
                      <a:endParaRPr lang="en-US" altLang="zh-CN" sz="14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660410562"/>
                  </a:ext>
                </a:extLst>
              </a:tr>
            </a:tbl>
          </a:graphicData>
        </a:graphic>
      </p:graphicFrame>
      <p:pic>
        <p:nvPicPr>
          <p:cNvPr id="11" name="图片 10">
            <a:extLst>
              <a:ext uri="{FF2B5EF4-FFF2-40B4-BE49-F238E27FC236}">
                <a16:creationId xmlns:a16="http://schemas.microsoft.com/office/drawing/2014/main" id="{CD4F4498-501B-4371-9FF6-B6A7800BB2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994443"/>
            <a:ext cx="5777994" cy="3581401"/>
          </a:xfrm>
          <a:prstGeom prst="rect">
            <a:avLst/>
          </a:prstGeom>
        </p:spPr>
      </p:pic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DA0A5DAD-AED3-431B-845D-EBD56B95B3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2033965"/>
              </p:ext>
            </p:extLst>
          </p:nvPr>
        </p:nvGraphicFramePr>
        <p:xfrm>
          <a:off x="241134" y="1764908"/>
          <a:ext cx="5010151" cy="11660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67737">
                  <a:extLst>
                    <a:ext uri="{9D8B030D-6E8A-4147-A177-3AD203B41FA5}">
                      <a16:colId xmlns:a16="http://schemas.microsoft.com/office/drawing/2014/main" val="2675225873"/>
                    </a:ext>
                  </a:extLst>
                </a:gridCol>
                <a:gridCol w="657069">
                  <a:extLst>
                    <a:ext uri="{9D8B030D-6E8A-4147-A177-3AD203B41FA5}">
                      <a16:colId xmlns:a16="http://schemas.microsoft.com/office/drawing/2014/main" val="2101512469"/>
                    </a:ext>
                  </a:extLst>
                </a:gridCol>
                <a:gridCol w="657069">
                  <a:extLst>
                    <a:ext uri="{9D8B030D-6E8A-4147-A177-3AD203B41FA5}">
                      <a16:colId xmlns:a16="http://schemas.microsoft.com/office/drawing/2014/main" val="614323922"/>
                    </a:ext>
                  </a:extLst>
                </a:gridCol>
                <a:gridCol w="657069">
                  <a:extLst>
                    <a:ext uri="{9D8B030D-6E8A-4147-A177-3AD203B41FA5}">
                      <a16:colId xmlns:a16="http://schemas.microsoft.com/office/drawing/2014/main" val="2073455442"/>
                    </a:ext>
                  </a:extLst>
                </a:gridCol>
                <a:gridCol w="657069">
                  <a:extLst>
                    <a:ext uri="{9D8B030D-6E8A-4147-A177-3AD203B41FA5}">
                      <a16:colId xmlns:a16="http://schemas.microsoft.com/office/drawing/2014/main" val="92595645"/>
                    </a:ext>
                  </a:extLst>
                </a:gridCol>
                <a:gridCol w="657069">
                  <a:extLst>
                    <a:ext uri="{9D8B030D-6E8A-4147-A177-3AD203B41FA5}">
                      <a16:colId xmlns:a16="http://schemas.microsoft.com/office/drawing/2014/main" val="2215513851"/>
                    </a:ext>
                  </a:extLst>
                </a:gridCol>
                <a:gridCol w="657069">
                  <a:extLst>
                    <a:ext uri="{9D8B030D-6E8A-4147-A177-3AD203B41FA5}">
                      <a16:colId xmlns:a16="http://schemas.microsoft.com/office/drawing/2014/main" val="3244750997"/>
                    </a:ext>
                  </a:extLst>
                </a:gridCol>
              </a:tblGrid>
              <a:tr h="236471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鸡蛋数</a:t>
                      </a:r>
                      <a:r>
                        <a:rPr lang="en-US" altLang="zh-CN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</a:t>
                      </a:r>
                      <a:endParaRPr lang="en-US" sz="1400" b="1" u="none" strike="noStrike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620" marR="7620" marT="762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10000</a:t>
                      </a:r>
                    </a:p>
                  </a:txBody>
                  <a:tcPr marL="7620" marR="7620" marT="762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20000</a:t>
                      </a:r>
                    </a:p>
                  </a:txBody>
                  <a:tcPr marL="7620" marR="7620" marT="762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30000</a:t>
                      </a:r>
                    </a:p>
                  </a:txBody>
                  <a:tcPr marL="7620" marR="7620" marT="762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40000</a:t>
                      </a:r>
                    </a:p>
                  </a:txBody>
                  <a:tcPr marL="7620" marR="7620" marT="762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50000</a:t>
                      </a:r>
                    </a:p>
                  </a:txBody>
                  <a:tcPr marL="7620" marR="7620" marT="7620" marB="0" anchor="ctr"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60000</a:t>
                      </a:r>
                    </a:p>
                  </a:txBody>
                  <a:tcPr marL="7620" marR="7620" marT="7620" marB="0" anchor="ctr"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3872710"/>
                  </a:ext>
                </a:extLst>
              </a:tr>
              <a:tr h="46478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二分查找</a:t>
                      </a:r>
                      <a:r>
                        <a:rPr lang="en-US" altLang="zh-CN" sz="14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146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292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428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579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866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609529244"/>
                  </a:ext>
                </a:extLst>
              </a:tr>
              <a:tr h="464788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zh-CN" altLang="en-US" sz="14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数学等效法</a:t>
                      </a:r>
                      <a:r>
                        <a:rPr lang="en-US" altLang="zh-CN" sz="14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sz="14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ms)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altLang="zh-CN" sz="1400" b="1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9209974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7375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C313AE1E-7F8F-48E6-95D7-8FCFD99CCE1B}"/>
              </a:ext>
            </a:extLst>
          </p:cNvPr>
          <p:cNvSpPr txBox="1"/>
          <p:nvPr/>
        </p:nvSpPr>
        <p:spPr>
          <a:xfrm>
            <a:off x="1095375" y="228602"/>
            <a:ext cx="292417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/>
              <a:t>小规模测试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9652D390-73C7-4A0C-A0D6-54B5284F7C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673" y="3975956"/>
            <a:ext cx="4877276" cy="2271867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F6005A2-7E9A-4F42-9E8D-DBBD39D6F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24" y="3975956"/>
            <a:ext cx="4877277" cy="227186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55E46F80-659F-4ADA-ADD0-EA82F0FA79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7673" y="1655740"/>
            <a:ext cx="4894570" cy="1887998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5413B2F5-8BAF-498C-8EC4-A6231CACC4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925" y="1541001"/>
            <a:ext cx="5203364" cy="188799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C5BA9DB2-F65E-48DE-88A4-25675CBD7ADB}"/>
              </a:ext>
            </a:extLst>
          </p:cNvPr>
          <p:cNvSpPr txBox="1"/>
          <p:nvPr/>
        </p:nvSpPr>
        <p:spPr>
          <a:xfrm>
            <a:off x="2505729" y="1237225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二维</a:t>
            </a:r>
            <a:r>
              <a:rPr lang="en-US" altLang="zh-CN" dirty="0"/>
              <a:t>DP</a:t>
            </a:r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E4840DF-F7D5-4AEF-AE49-783F2E542E39}"/>
              </a:ext>
            </a:extLst>
          </p:cNvPr>
          <p:cNvSpPr txBox="1"/>
          <p:nvPr/>
        </p:nvSpPr>
        <p:spPr>
          <a:xfrm>
            <a:off x="8880478" y="1254965"/>
            <a:ext cx="9316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一维</a:t>
            </a:r>
            <a:r>
              <a:rPr lang="en-US" altLang="zh-CN" dirty="0"/>
              <a:t>DP</a:t>
            </a:r>
            <a:endParaRPr lang="zh-CN" altLang="en-US" dirty="0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0CF65AD3-3E11-4184-A6DC-9CEF35FBFBE2}"/>
              </a:ext>
            </a:extLst>
          </p:cNvPr>
          <p:cNvSpPr txBox="1"/>
          <p:nvPr/>
        </p:nvSpPr>
        <p:spPr>
          <a:xfrm>
            <a:off x="2505729" y="3565454"/>
            <a:ext cx="11496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二分查找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17A7436-8197-4C1C-8799-54D727C15730}"/>
              </a:ext>
            </a:extLst>
          </p:cNvPr>
          <p:cNvSpPr txBox="1"/>
          <p:nvPr/>
        </p:nvSpPr>
        <p:spPr>
          <a:xfrm>
            <a:off x="8889125" y="3608126"/>
            <a:ext cx="1338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数学等效法</a:t>
            </a:r>
          </a:p>
        </p:txBody>
      </p:sp>
    </p:spTree>
    <p:extLst>
      <p:ext uri="{BB962C8B-B14F-4D97-AF65-F5344CB8AC3E}">
        <p14:creationId xmlns:p14="http://schemas.microsoft.com/office/powerpoint/2010/main" val="2981690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1287</TotalTime>
  <Words>1079</Words>
  <Application>Microsoft Office PowerPoint</Application>
  <PresentationFormat>宽屏</PresentationFormat>
  <Paragraphs>200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6" baseType="lpstr">
      <vt:lpstr>等线</vt:lpstr>
      <vt:lpstr>等线 Light</vt:lpstr>
      <vt:lpstr>思源黑体 CN Heavy</vt:lpstr>
      <vt:lpstr>Arial</vt:lpstr>
      <vt:lpstr>Cambria Math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王锦鸿</dc:creator>
  <cp:lastModifiedBy>王锦鸿</cp:lastModifiedBy>
  <cp:revision>59</cp:revision>
  <dcterms:created xsi:type="dcterms:W3CDTF">2024-05-15T01:23:16Z</dcterms:created>
  <dcterms:modified xsi:type="dcterms:W3CDTF">2024-05-18T03:36:47Z</dcterms:modified>
</cp:coreProperties>
</file>